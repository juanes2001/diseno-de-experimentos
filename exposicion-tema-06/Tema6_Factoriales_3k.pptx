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F4C5C"/>
                </a:solidFill>
              </a:rPr>
              <a:t>A × B</a:t>
            </a:r>
          </a:p>
        </c:rich>
      </c:tx>
      <c:layout/>
      <c:overlay val="0"/>
    </c:title>
    <c:autoTitleDeleted val="0"/>
    <c:plotArea>
      <c:lineChart>
        <c:grouping val="standard"/>
        <c:varyColors val="0"/>
        <c:ser>
          <c:idx val="0"/>
          <c:order val="0"/>
          <c:tx>
            <c:strRef>
              <c:f>Sheet1!$B$1</c:f>
              <c:strCache>
                <c:ptCount val="1"/>
                <c:pt idx="0">
                  <c:v>B = 100 rpm</c:v>
                </c:pt>
              </c:strCache>
            </c:strRef>
          </c:tx>
          <c:spPr>
            <a:ln w="31750">
              <a:solidFill>
                <a:srgbClr val="0F4C5C"/>
              </a:solidFill>
            </a:ln>
          </c:spPr>
          <c:marker>
            <c:symbol val="circle"/>
            <c:size val="9"/>
            <c:spPr>
              <a:solidFill>
                <a:srgbClr val="0F4C5C"/>
              </a:solidFill>
              <a:ln>
                <a:solidFill>
                  <a:srgbClr val="FFFFFF"/>
                </a:solidFill>
              </a:ln>
            </c:spPr>
          </c:marker>
          <c:cat>
            <c:strRef>
              <c:f>Sheet1!$A$2:$A$4</c:f>
              <c:strCache>
                <c:ptCount val="3"/>
                <c:pt idx="0">
                  <c:v>Boquilla 1</c:v>
                </c:pt>
                <c:pt idx="1">
                  <c:v>Boquilla 2</c:v>
                </c:pt>
                <c:pt idx="2">
                  <c:v>Boquilla 3</c:v>
                </c:pt>
              </c:strCache>
            </c:strRef>
          </c:cat>
          <c:val>
            <c:numRef>
              <c:f>Sheet1!$B$2:$B$4</c:f>
              <c:numCache>
                <c:formatCode>General</c:formatCode>
                <c:ptCount val="3"/>
                <c:pt idx="0">
                  <c:v>134</c:v>
                </c:pt>
                <c:pt idx="1">
                  <c:v>188</c:v>
                </c:pt>
                <c:pt idx="2">
                  <c:v>44</c:v>
                </c:pt>
              </c:numCache>
            </c:numRef>
          </c:val>
          <c:smooth val="0"/>
        </c:ser>
        <c:ser>
          <c:idx val="1"/>
          <c:order val="1"/>
          <c:tx>
            <c:strRef>
              <c:f>Sheet1!$C$1</c:f>
              <c:strCache>
                <c:ptCount val="1"/>
                <c:pt idx="0">
                  <c:v>B = 120 rpm</c:v>
                </c:pt>
              </c:strCache>
            </c:strRef>
          </c:tx>
          <c:spPr>
            <a:ln w="31750">
              <a:solidFill>
                <a:srgbClr val="E36414"/>
              </a:solidFill>
            </a:ln>
          </c:spPr>
          <c:marker>
            <c:symbol val="circle"/>
            <c:size val="9"/>
            <c:spPr>
              <a:solidFill>
                <a:srgbClr val="E36414"/>
              </a:solidFill>
              <a:ln>
                <a:solidFill>
                  <a:srgbClr val="FFFFFF"/>
                </a:solidFill>
              </a:ln>
            </c:spPr>
          </c:marker>
          <c:cat>
            <c:strRef>
              <c:f>Sheet1!$A$2:$A$4</c:f>
              <c:strCache>
                <c:ptCount val="3"/>
                <c:pt idx="0">
                  <c:v>Boquilla 1</c:v>
                </c:pt>
                <c:pt idx="1">
                  <c:v>Boquilla 2</c:v>
                </c:pt>
                <c:pt idx="2">
                  <c:v>Boquilla 3</c:v>
                </c:pt>
              </c:strCache>
            </c:strRef>
          </c:cat>
          <c:val>
            <c:numRef>
              <c:f>Sheet1!$C$2:$C$4</c:f>
              <c:numCache>
                <c:formatCode>General</c:formatCode>
                <c:ptCount val="3"/>
                <c:pt idx="0">
                  <c:v>-155</c:v>
                </c:pt>
                <c:pt idx="1">
                  <c:v>-348</c:v>
                </c:pt>
                <c:pt idx="2">
                  <c:v>-289</c:v>
                </c:pt>
              </c:numCache>
            </c:numRef>
          </c:val>
          <c:smooth val="0"/>
        </c:ser>
        <c:ser>
          <c:idx val="2"/>
          <c:order val="2"/>
          <c:tx>
            <c:strRef>
              <c:f>Sheet1!$D$1</c:f>
              <c:strCache>
                <c:ptCount val="1"/>
                <c:pt idx="0">
                  <c:v>B = 140 rpm</c:v>
                </c:pt>
              </c:strCache>
            </c:strRef>
          </c:tx>
          <c:cat>
            <c:strRef>
              <c:f>Sheet1!$A$2:$A$4</c:f>
              <c:strCache>
                <c:ptCount val="3"/>
                <c:pt idx="0">
                  <c:v>Boquilla 1</c:v>
                </c:pt>
                <c:pt idx="1">
                  <c:v>Boquilla 2</c:v>
                </c:pt>
                <c:pt idx="2">
                  <c:v>Boquilla 3</c:v>
                </c:pt>
              </c:strCache>
            </c:strRef>
          </c:cat>
          <c:val>
            <c:numRef>
              <c:f>Sheet1!$D$2:$D$4</c:f>
              <c:numCache>
                <c:formatCode>General</c:formatCode>
                <c:ptCount val="3"/>
                <c:pt idx="0">
                  <c:v>176</c:v>
                </c:pt>
                <c:pt idx="1">
                  <c:v>127</c:v>
                </c:pt>
                <c:pt idx="2">
                  <c:v>288</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9AA8AE"/>
            </a:solidFill>
          </a:ln>
        </c:spPr>
        <c:crossAx val="2140495176"/>
        <c:crosses val="autoZero"/>
        <c:auto val="1"/>
        <c:lblAlgn val="ctr"/>
        <c:lblOffset val="100"/>
        <c:noMultiLvlLbl val="0"/>
      </c:catAx>
      <c:valAx>
        <c:axId val="2140495176"/>
        <c:scaling/>
        <c:delete val="0"/>
        <c:axPos val="l"/>
        <c:majorGridlines>
          <c:spPr>
            <a:ln w="6350">
              <a:solidFill>
                <a:srgbClr val="DDE5E8"/>
              </a:solidFill>
            </a:ln>
          </c:spPr>
        </c:majorGridlines>
        <c:title>
          <c:tx>
            <c:rich>
              <a:bodyPr/>
              <a:lstStyle/>
              <a:p>
                <a:r>
                  <a:rPr sz="1200" b="0">
                    <a:solidFill>
                      <a:srgbClr val="5B6B73"/>
                    </a:solidFill>
                    <a:latin typeface="Calibri"/>
                  </a:rPr>
                  <a:t>Total de celda A × B</a:t>
                </a:r>
              </a:p>
            </c:rich>
          </c:tx>
          <c:layout/>
          <c:overlay val="0"/>
        </c:title>
        <c:majorTickMark val="out"/>
        <c:minorTickMark val="none"/>
        <c:tickLblPos val="nextTo"/>
        <c:spPr>
          <a:ln>
            <a:solidFill>
              <a:srgbClr val="9AA8AE"/>
            </a:solidFill>
          </a:ln>
        </c:spPr>
        <c:crossAx val="2118791784"/>
        <c:crosses val="autoZero"/>
      </c:valAx>
    </c:plotArea>
    <c:legend>
      <c:legendPos val="b"/>
      <c:layout/>
      <c:overlay val="0"/>
      <c:txPr>
        <a:bodyPr/>
        <a:lstStyle/>
        <a:p>
          <a:pPr>
            <a:defRPr sz="1200"/>
          </a:pPr>
        </a:p>
      </c:txPr>
    </c:legend>
    <c:plotVisOnly val="1"/>
    <c:dispBlanksAs val="gap"/>
    <c:showDLblsOverMax val="0"/>
  </c:chart>
  <c:txPr>
    <a:bodyPr/>
    <a:lstStyle/>
    <a:p>
      <a:pPr>
        <a:defRPr sz="1200">
          <a:solidFill>
            <a:srgbClr val="142B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F4C5C"/>
                </a:solidFill>
              </a:rPr>
              <a:t>A × C</a:t>
            </a:r>
          </a:p>
        </c:rich>
      </c:tx>
      <c:layout/>
      <c:overlay val="0"/>
    </c:title>
    <c:autoTitleDeleted val="0"/>
    <c:plotArea>
      <c:lineChart>
        <c:grouping val="standard"/>
        <c:varyColors val="0"/>
        <c:ser>
          <c:idx val="0"/>
          <c:order val="0"/>
          <c:tx>
            <c:strRef>
              <c:f>Sheet1!$B$1</c:f>
              <c:strCache>
                <c:ptCount val="1"/>
                <c:pt idx="0">
                  <c:v>C = 10 psi</c:v>
                </c:pt>
              </c:strCache>
            </c:strRef>
          </c:tx>
          <c:spPr>
            <a:ln w="31750">
              <a:solidFill>
                <a:srgbClr val="0F4C5C"/>
              </a:solidFill>
            </a:ln>
          </c:spPr>
          <c:marker>
            <c:symbol val="circle"/>
            <c:size val="9"/>
            <c:spPr>
              <a:solidFill>
                <a:srgbClr val="0F4C5C"/>
              </a:solidFill>
              <a:ln>
                <a:solidFill>
                  <a:srgbClr val="FFFFFF"/>
                </a:solidFill>
              </a:ln>
            </c:spPr>
          </c:marker>
          <c:cat>
            <c:strRef>
              <c:f>Sheet1!$A$2:$A$4</c:f>
              <c:strCache>
                <c:ptCount val="3"/>
                <c:pt idx="0">
                  <c:v>Boquilla 1</c:v>
                </c:pt>
                <c:pt idx="1">
                  <c:v>Boquilla 2</c:v>
                </c:pt>
                <c:pt idx="2">
                  <c:v>Boquilla 3</c:v>
                </c:pt>
              </c:strCache>
            </c:strRef>
          </c:cat>
          <c:val>
            <c:numRef>
              <c:f>Sheet1!$B$2:$B$4</c:f>
              <c:numCache>
                <c:formatCode>General</c:formatCode>
                <c:ptCount val="3"/>
                <c:pt idx="0">
                  <c:v>-190</c:v>
                </c:pt>
                <c:pt idx="1">
                  <c:v>-58</c:v>
                </c:pt>
                <c:pt idx="2">
                  <c:v>-211</c:v>
                </c:pt>
              </c:numCache>
            </c:numRef>
          </c:val>
          <c:smooth val="0"/>
        </c:ser>
        <c:ser>
          <c:idx val="1"/>
          <c:order val="1"/>
          <c:tx>
            <c:strRef>
              <c:f>Sheet1!$C$1</c:f>
              <c:strCache>
                <c:ptCount val="1"/>
                <c:pt idx="0">
                  <c:v>C = 15 psi</c:v>
                </c:pt>
              </c:strCache>
            </c:strRef>
          </c:tx>
          <c:spPr>
            <a:ln w="31750">
              <a:solidFill>
                <a:srgbClr val="E36414"/>
              </a:solidFill>
            </a:ln>
          </c:spPr>
          <c:marker>
            <c:symbol val="circle"/>
            <c:size val="9"/>
            <c:spPr>
              <a:solidFill>
                <a:srgbClr val="E36414"/>
              </a:solidFill>
              <a:ln>
                <a:solidFill>
                  <a:srgbClr val="FFFFFF"/>
                </a:solidFill>
              </a:ln>
            </c:spPr>
          </c:marker>
          <c:cat>
            <c:strRef>
              <c:f>Sheet1!$A$2:$A$4</c:f>
              <c:strCache>
                <c:ptCount val="3"/>
                <c:pt idx="0">
                  <c:v>Boquilla 1</c:v>
                </c:pt>
                <c:pt idx="1">
                  <c:v>Boquilla 2</c:v>
                </c:pt>
                <c:pt idx="2">
                  <c:v>Boquilla 3</c:v>
                </c:pt>
              </c:strCache>
            </c:strRef>
          </c:cat>
          <c:val>
            <c:numRef>
              <c:f>Sheet1!$C$2:$C$4</c:f>
              <c:numCache>
                <c:formatCode>General</c:formatCode>
                <c:ptCount val="3"/>
                <c:pt idx="0">
                  <c:v>339</c:v>
                </c:pt>
                <c:pt idx="1">
                  <c:v>230</c:v>
                </c:pt>
                <c:pt idx="2">
                  <c:v>394</c:v>
                </c:pt>
              </c:numCache>
            </c:numRef>
          </c:val>
          <c:smooth val="0"/>
        </c:ser>
        <c:ser>
          <c:idx val="2"/>
          <c:order val="2"/>
          <c:tx>
            <c:strRef>
              <c:f>Sheet1!$D$1</c:f>
              <c:strCache>
                <c:ptCount val="1"/>
                <c:pt idx="0">
                  <c:v>C = 20 psi</c:v>
                </c:pt>
              </c:strCache>
            </c:strRef>
          </c:tx>
          <c:cat>
            <c:strRef>
              <c:f>Sheet1!$A$2:$A$4</c:f>
              <c:strCache>
                <c:ptCount val="3"/>
                <c:pt idx="0">
                  <c:v>Boquilla 1</c:v>
                </c:pt>
                <c:pt idx="1">
                  <c:v>Boquilla 2</c:v>
                </c:pt>
                <c:pt idx="2">
                  <c:v>Boquilla 3</c:v>
                </c:pt>
              </c:strCache>
            </c:strRef>
          </c:cat>
          <c:val>
            <c:numRef>
              <c:f>Sheet1!$D$2:$D$4</c:f>
              <c:numCache>
                <c:formatCode>General</c:formatCode>
                <c:ptCount val="3"/>
                <c:pt idx="0">
                  <c:v>6</c:v>
                </c:pt>
                <c:pt idx="1">
                  <c:v>-205</c:v>
                </c:pt>
                <c:pt idx="2">
                  <c:v>-140</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9AA8AE"/>
            </a:solidFill>
          </a:ln>
        </c:spPr>
        <c:crossAx val="2140495176"/>
        <c:crosses val="autoZero"/>
        <c:auto val="1"/>
        <c:lblAlgn val="ctr"/>
        <c:lblOffset val="100"/>
        <c:noMultiLvlLbl val="0"/>
      </c:catAx>
      <c:valAx>
        <c:axId val="2140495176"/>
        <c:scaling/>
        <c:delete val="0"/>
        <c:axPos val="l"/>
        <c:majorGridlines>
          <c:spPr>
            <a:ln w="6350">
              <a:solidFill>
                <a:srgbClr val="DDE5E8"/>
              </a:solidFill>
            </a:ln>
          </c:spPr>
        </c:majorGridlines>
        <c:title>
          <c:tx>
            <c:rich>
              <a:bodyPr/>
              <a:lstStyle/>
              <a:p>
                <a:r>
                  <a:rPr sz="1200" b="0">
                    <a:solidFill>
                      <a:srgbClr val="5B6B73"/>
                    </a:solidFill>
                    <a:latin typeface="Calibri"/>
                  </a:rPr>
                  <a:t>Total de celda A × C</a:t>
                </a:r>
              </a:p>
            </c:rich>
          </c:tx>
          <c:layout/>
          <c:overlay val="0"/>
        </c:title>
        <c:majorTickMark val="out"/>
        <c:minorTickMark val="none"/>
        <c:tickLblPos val="nextTo"/>
        <c:spPr>
          <a:ln>
            <a:solidFill>
              <a:srgbClr val="9AA8AE"/>
            </a:solidFill>
          </a:ln>
        </c:spPr>
        <c:crossAx val="2118791784"/>
        <c:crosses val="autoZero"/>
      </c:valAx>
    </c:plotArea>
    <c:legend>
      <c:legendPos val="b"/>
      <c:layout/>
      <c:overlay val="0"/>
      <c:txPr>
        <a:bodyPr/>
        <a:lstStyle/>
        <a:p>
          <a:pPr>
            <a:defRPr sz="1200"/>
          </a:pPr>
        </a:p>
      </c:txPr>
    </c:legend>
    <c:plotVisOnly val="1"/>
    <c:dispBlanksAs val="gap"/>
    <c:showDLblsOverMax val="0"/>
  </c:chart>
  <c:txPr>
    <a:bodyPr/>
    <a:lstStyle/>
    <a:p>
      <a:pPr>
        <a:defRPr sz="1200">
          <a:solidFill>
            <a:srgbClr val="142B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F4C5C"/>
                </a:solidFill>
              </a:rPr>
              <a:t>B × C</a:t>
            </a:r>
          </a:p>
        </c:rich>
      </c:tx>
      <c:layout/>
      <c:overlay val="0"/>
    </c:title>
    <c:autoTitleDeleted val="0"/>
    <c:plotArea>
      <c:lineChart>
        <c:grouping val="standard"/>
        <c:varyColors val="0"/>
        <c:ser>
          <c:idx val="0"/>
          <c:order val="0"/>
          <c:tx>
            <c:strRef>
              <c:f>Sheet1!$B$1</c:f>
              <c:strCache>
                <c:ptCount val="1"/>
                <c:pt idx="0">
                  <c:v>C = 10 psi</c:v>
                </c:pt>
              </c:strCache>
            </c:strRef>
          </c:tx>
          <c:spPr>
            <a:ln w="31750">
              <a:solidFill>
                <a:srgbClr val="0F4C5C"/>
              </a:solidFill>
            </a:ln>
          </c:spPr>
          <c:marker>
            <c:symbol val="circle"/>
            <c:size val="9"/>
            <c:spPr>
              <a:solidFill>
                <a:srgbClr val="0F4C5C"/>
              </a:solidFill>
              <a:ln>
                <a:solidFill>
                  <a:srgbClr val="FFFFFF"/>
                </a:solidFill>
              </a:ln>
            </c:spPr>
          </c:marker>
          <c:cat>
            <c:strRef>
              <c:f>Sheet1!$A$2:$A$4</c:f>
              <c:strCache>
                <c:ptCount val="3"/>
                <c:pt idx="0">
                  <c:v>100 rpm</c:v>
                </c:pt>
                <c:pt idx="1">
                  <c:v>120 rpm</c:v>
                </c:pt>
                <c:pt idx="2">
                  <c:v>140 rpm</c:v>
                </c:pt>
              </c:strCache>
            </c:strRef>
          </c:cat>
          <c:val>
            <c:numRef>
              <c:f>Sheet1!$B$2:$B$4</c:f>
              <c:numCache>
                <c:formatCode>General</c:formatCode>
                <c:ptCount val="3"/>
                <c:pt idx="0">
                  <c:v>-93</c:v>
                </c:pt>
                <c:pt idx="1">
                  <c:v>-350</c:v>
                </c:pt>
                <c:pt idx="2">
                  <c:v>-16</c:v>
                </c:pt>
              </c:numCache>
            </c:numRef>
          </c:val>
          <c:smooth val="0"/>
        </c:ser>
        <c:ser>
          <c:idx val="1"/>
          <c:order val="1"/>
          <c:tx>
            <c:strRef>
              <c:f>Sheet1!$C$1</c:f>
              <c:strCache>
                <c:ptCount val="1"/>
                <c:pt idx="0">
                  <c:v>C = 15 psi</c:v>
                </c:pt>
              </c:strCache>
            </c:strRef>
          </c:tx>
          <c:spPr>
            <a:ln w="31750">
              <a:solidFill>
                <a:srgbClr val="E36414"/>
              </a:solidFill>
            </a:ln>
          </c:spPr>
          <c:marker>
            <c:symbol val="circle"/>
            <c:size val="9"/>
            <c:spPr>
              <a:solidFill>
                <a:srgbClr val="E36414"/>
              </a:solidFill>
              <a:ln>
                <a:solidFill>
                  <a:srgbClr val="FFFFFF"/>
                </a:solidFill>
              </a:ln>
            </c:spPr>
          </c:marker>
          <c:cat>
            <c:strRef>
              <c:f>Sheet1!$A$2:$A$4</c:f>
              <c:strCache>
                <c:ptCount val="3"/>
                <c:pt idx="0">
                  <c:v>100 rpm</c:v>
                </c:pt>
                <c:pt idx="1">
                  <c:v>120 rpm</c:v>
                </c:pt>
                <c:pt idx="2">
                  <c:v>140 rpm</c:v>
                </c:pt>
              </c:strCache>
            </c:strRef>
          </c:cat>
          <c:val>
            <c:numRef>
              <c:f>Sheet1!$C$2:$C$4</c:f>
              <c:numCache>
                <c:formatCode>General</c:formatCode>
                <c:ptCount val="3"/>
                <c:pt idx="0">
                  <c:v>563</c:v>
                </c:pt>
                <c:pt idx="1">
                  <c:v>-133</c:v>
                </c:pt>
                <c:pt idx="2">
                  <c:v>533</c:v>
                </c:pt>
              </c:numCache>
            </c:numRef>
          </c:val>
          <c:smooth val="0"/>
        </c:ser>
        <c:ser>
          <c:idx val="2"/>
          <c:order val="2"/>
          <c:tx>
            <c:strRef>
              <c:f>Sheet1!$D$1</c:f>
              <c:strCache>
                <c:ptCount val="1"/>
                <c:pt idx="0">
                  <c:v>C = 20 psi</c:v>
                </c:pt>
              </c:strCache>
            </c:strRef>
          </c:tx>
          <c:cat>
            <c:strRef>
              <c:f>Sheet1!$A$2:$A$4</c:f>
              <c:strCache>
                <c:ptCount val="3"/>
                <c:pt idx="0">
                  <c:v>100 rpm</c:v>
                </c:pt>
                <c:pt idx="1">
                  <c:v>120 rpm</c:v>
                </c:pt>
                <c:pt idx="2">
                  <c:v>140 rpm</c:v>
                </c:pt>
              </c:strCache>
            </c:strRef>
          </c:cat>
          <c:val>
            <c:numRef>
              <c:f>Sheet1!$D$2:$D$4</c:f>
              <c:numCache>
                <c:formatCode>General</c:formatCode>
                <c:ptCount val="3"/>
                <c:pt idx="0">
                  <c:v>-104</c:v>
                </c:pt>
                <c:pt idx="1">
                  <c:v>-309</c:v>
                </c:pt>
                <c:pt idx="2">
                  <c:v>74</c:v>
                </c:pt>
              </c:numCache>
            </c:numRef>
          </c:val>
          <c:smooth val="0"/>
        </c:ser>
        <c:marker val="1"/>
        <c:smooth val="0"/>
        <c:axId val="2118791784"/>
        <c:axId val="2140495176"/>
      </c:lineChart>
      <c:catAx>
        <c:axId val="2118791784"/>
        <c:scaling>
          <c:orientation val="minMax"/>
        </c:scaling>
        <c:delete val="0"/>
        <c:axPos val="b"/>
        <c:majorTickMark val="out"/>
        <c:minorTickMark val="none"/>
        <c:tickLblPos val="low"/>
        <c:spPr>
          <a:ln>
            <a:solidFill>
              <a:srgbClr val="9AA8AE"/>
            </a:solidFill>
          </a:ln>
        </c:spPr>
        <c:crossAx val="2140495176"/>
        <c:crosses val="autoZero"/>
        <c:auto val="1"/>
        <c:lblAlgn val="ctr"/>
        <c:lblOffset val="100"/>
        <c:noMultiLvlLbl val="0"/>
      </c:catAx>
      <c:valAx>
        <c:axId val="2140495176"/>
        <c:scaling/>
        <c:delete val="0"/>
        <c:axPos val="l"/>
        <c:majorGridlines>
          <c:spPr>
            <a:ln w="6350">
              <a:solidFill>
                <a:srgbClr val="DDE5E8"/>
              </a:solidFill>
            </a:ln>
          </c:spPr>
        </c:majorGridlines>
        <c:title>
          <c:tx>
            <c:rich>
              <a:bodyPr/>
              <a:lstStyle/>
              <a:p>
                <a:r>
                  <a:rPr sz="1200" b="0">
                    <a:solidFill>
                      <a:srgbClr val="5B6B73"/>
                    </a:solidFill>
                    <a:latin typeface="Calibri"/>
                  </a:rPr>
                  <a:t>Total de celda B × C</a:t>
                </a:r>
              </a:p>
            </c:rich>
          </c:tx>
          <c:layout/>
          <c:overlay val="0"/>
        </c:title>
        <c:majorTickMark val="out"/>
        <c:minorTickMark val="none"/>
        <c:tickLblPos val="nextTo"/>
        <c:spPr>
          <a:ln>
            <a:solidFill>
              <a:srgbClr val="9AA8AE"/>
            </a:solidFill>
          </a:ln>
        </c:spPr>
        <c:crossAx val="2118791784"/>
        <c:crosses val="autoZero"/>
      </c:valAx>
    </c:plotArea>
    <c:legend>
      <c:legendPos val="b"/>
      <c:layout/>
      <c:overlay val="0"/>
      <c:txPr>
        <a:bodyPr/>
        <a:lstStyle/>
        <a:p>
          <a:pPr>
            <a:defRPr sz="1200"/>
          </a:pPr>
        </a:p>
      </c:txPr>
    </c:legend>
    <c:plotVisOnly val="1"/>
    <c:dispBlanksAs val="gap"/>
    <c:showDLblsOverMax val="0"/>
  </c:chart>
  <c:txPr>
    <a:bodyPr/>
    <a:lstStyle/>
    <a:p>
      <a:pPr>
        <a:defRPr sz="1200">
          <a:solidFill>
            <a:srgbClr val="142B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clase sigue el orden del capítulo 9 de Montgomery. Primero el propósito del diseño 3k, su notación y sus grados de libertad. Después los componentes de interacción, que son la idea que organiza todo lo demás: con ellos se construyen los bloques y las fracciones. Luego el análisis completo de los diseños 32 y 33 con dos ejemplos del libro. Siguen la confusión en tres bloques y en nueve o más bloques, la fracción un tercio y la fracción general 3k−p, y por último los diseños con niveles mixtos, que son la recomendación práctica del libro cuando hace falta un factor con tres o cuatro niveles. Cierra con las ideas clave.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dos niveles por factor solo se puede estimar una recta entre el nivel bajo y el alto. Si la respuesta tiene curvatura, por ejemplo un máximo en un valor intermedio, dos niveles no la detectan. El diseño 3k agrega el nivel intermedio y permite ajustar un modelo cuadrático: para dos factores, y = β0 + β1x1 + β2x2 + β12x1x2 + β11x12 + β22x22 + ε (ecuación 9-1 del libro).</a:t>
            </a:r>
          </a:p>
          <a:p/>
          <a:p>
            <a:r>
              <a:t>Hay otro uso, que el libro considera el más razonable: cuando un factor es cualitativo y tiene exactamente tres niveles de interés, como tres tipos de boquilla o tres proveedores. Ahí no hay curvatura que modelar: simplemente existen tres categorías y las tres importan.</a:t>
            </a:r>
          </a:p>
          <a:p/>
          <a:p>
            <a:r>
              <a:t>Un diseño 3k tiene k factores, cada uno con tres niveles, y 3k combinaciones de tratamientos. El tema sigue el mismo esquema del 2k: notación, análisis, confusión en bloques y fracciones; pero cada paso es más complicado, y por eso el libro termina recomendando usar tres niveles solo cuando hacen falta.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Montgomery advierte dos cosas antes de presentar el diseño. Primera: el 3k no es la forma más eficiente de modelar una relación cuadrática. Los diseños de superficie de respuesta del capítulo 11 lo hacen con menos corridas.</a:t>
            </a:r>
          </a:p>
          <a:p/>
          <a:p>
            <a:r>
              <a:t>Segunda: el 2k con puntos centrales, visto en el capítulo 6, da una indicación de la curvatura con un diseño pequeño y simple, y además protege contra ella. Si la curvatura resulta importante, se agregan corridas axiales y se obtiene un diseño central compuesto. Esa estrategia secuencial es, por mucho, más eficiente que correr un 3k con factores cuantitativos.</a:t>
            </a:r>
          </a:p>
          <a:p/>
          <a:p>
            <a:r>
              <a:t>Dicho de otra forma: un 33 cuesta 27 corridas por réplica; un 23 con cuatro puntos centrales cuesta 12 y ya dice si hay curvatura. Solo si la hay se gastan las 6 corridas axiales, para un total de 18 corridas.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tres niveles se llaman bajo, intermedio y alto y se representan con los dígitos 0, 1 y 2. Una combinación de tratamientos se escribe con k dígitos: el primero es el nivel de A, el segundo el de B, y así sucesivamente. En un 32, 00 es A y B bajos y 01 es A bajo con B intermedio. En un 34, 0120 significa A y D bajos, B intermedio y C alto.</a:t>
            </a:r>
          </a:p>
          <a:p/>
          <a:p>
            <a:r>
              <a:t>Esta notación reemplaza a las letras minúsculas del 2k ((1), a, b, ab), que ya no sirven con tres niveles. En el 2k se prefirió ±1 porque facilita la vista geométrica, la regresión, los bloques y las fracciones; con tres niveles la aritmética de bloques y fracciones se hace módulo 3 y por eso conviene 0, 1, 2.</a:t>
            </a:r>
          </a:p>
          <a:p/>
          <a:p>
            <a:r>
              <a:t>Cuando los factores son cuantitativos se usa −1, 0, +1 para ajustar el modelo de regresión. Las dos notaciones son equivalentes: 0 ↔ −1, 1 ↔ 0, 2 ↔ +1.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tres factores hay 27 combinaciones, que se representan como puntos de un cubo con tres cortes por eje (figura 9-2 del libro). Cada vértice, arista, cara y el centro tienen su combinación: 000 es la esquina de todos bajos, 222 la de todos altos y 111 el centro.</a:t>
            </a:r>
          </a:p>
          <a:p/>
          <a:p>
            <a:r>
              <a:t>Esta figura reaparece en bloques y fracciones: confundir un componente de ABC con tres bloques reparte los 27 puntos en tres grupos de 9, y una fracción un tercio se queda con uno de esos grupos.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32 hay 9 combinaciones y 8 grados de libertad entre ellas: 2 para A, 2 para B y 4 para AB. Con n réplicas hay n·32 − 1 grados de libertad totales y 32(n − 1) del error. En un 33 hay 27 combinaciones y 26 grados de libertad: 2 por cada efecto principal, 4 por cada interacción de dos factores y 8 para ABC.</a:t>
            </a:r>
          </a:p>
          <a:p/>
          <a:p>
            <a:r>
              <a:t>La regla general: un efecto principal tiene 3 − 1 = 2 grados de libertad, y una interacción de h factores tiene 2h. Por eso en un 3k con n réplicas hay n·3k − 1 grados de libertad totales y 3k(n − 1) del error.</a:t>
            </a:r>
          </a:p>
          <a:p/>
          <a:p>
            <a:r>
              <a:t>Las sumas de cuadrados se calculan con los métodos usuales de los factoriales del capítulo 5. Lo nuevo del capítulo 9 es cómo se parten esos 2h grados de libertad de las interacciones: en componentes lineales y cuadráticos cuando los factores son cuantitativos, o en componentes de 2 grados de libertad para construir bloques y fracciones.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réplica de un 33 son 27 corridas; de un 34, 81; de un 35, 243. Por eso con frecuencia se corre una sola réplica y las interacciones de orden alto se combinan como estimación del error. Si las interacciones de tres o más factores son insignificantes, una réplica del 33 deja 8 grados de libertad para el error (los de ABC) y una del 34 deja 48 (los de las interacciones de tres y cuatro factores).</a:t>
            </a:r>
          </a:p>
          <a:p/>
          <a:p>
            <a:r>
              <a:t>Aun así el libro es claro: estos diseños siguen siendo grandes para k ≥ 3 y, por consiguiente, son de escasa utilidad. Esa es la motivación de todo lo que sigue: bloques, para no correr 27 combinaciones en condiciones distintas, y fracciones, para no correr tantas.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interacción AB de un 32 tiene 4 grados de libertad. Hay dos maneras de partirla, y es importante no confundirlas.</a:t>
            </a:r>
          </a:p>
          <a:p/>
          <a:p>
            <a:r>
              <a:t>Primera: componentes lineales y cuadráticos. Solo tiene sentido con factores cuantitativos. Cada efecto principal se parte en una parte lineal (AL) y una cuadrática (AQ), de 1 grado de libertad cada una, que corresponden a β1x1 y β11x12 del modelo. La interacción se parte en ABL×L, ABL×Q, ABQ×L y ABQ×Q, también de 1 grado de libertad, que corresponden a los términos x1x2, x1x22, x12x2 y x12x22. Estos sí tienen interpretación: dicen qué forma tiene la superficie.</a:t>
            </a:r>
          </a:p>
          <a:p/>
          <a:p>
            <a:r>
              <a:t>Segunda: los componentes AB y AB2, de 2 grados de libertad cada uno. Se obtienen con dos cuadrados latinos ortogonales y no tienen significado físico; sirven para construir bloques y fracciones. El libro insiste en que no hay ninguna relación entre AB, AB2 y los componentes L×L, L×Q, Q×L, Q×Q.</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tres niveles equiespaciados, el contraste lineal usa los coeficientes (−1, 0, +1) y el cuadrático (+1, −2, +1). Son ortogonales entre sí. La suma de cuadrados de un contraste se calcula como siempre: SS = (Σ ci Ti)2 / (n Σ ci2), con Ti los totales de cada nivel. SS(AL) + SS(AQ) = SSA.</a:t>
            </a:r>
          </a:p>
          <a:p/>
          <a:p>
            <a:r>
              <a:t>Para la interacción se multiplican los coeficientes: ABL×Q usa el producto del contraste lineal de A por el cuadrático de B en cada una de las nueve celdas. Las cuatro combinaciones suman SSAB.</a:t>
            </a:r>
          </a:p>
          <a:p/>
          <a:p>
            <a:r>
              <a:t>En el ejemplo de la vida de la herramienta del capítulo 5 (ejemplo 5-5) el libro obtiene SS(ABL×L) = 8.00, SS(ABL×Q) = 42.67, SS(ABQ×L) = 2.67 y SS(ABQ×Q) = 8.00, que suman SSAB = 61.34. La partición es ortogonal.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toman los totales de las nueve celdas de la tabla A × B (filas A, columnas B) y se les superponen dos cuadrados latinos 3 × 3 ortogonales, con letras Q, R y S. Ortogonales quiere decir que cada letra del primero aparece exactamente una vez con cada letra del segundo.</a:t>
            </a:r>
          </a:p>
          <a:p/>
          <a:p>
            <a:r>
              <a:t>Para cada cuadrado se suman los totales que llevan la misma letra, y se calcula la suma de cuadrados entre los tres totales de letra: SS = (TQ2 + TR2 + TS2) / (3n) − y…2 / (9n), con 2 grados de libertad. La del cuadrado a se llama componente AB; la del cuadrado b, componente AB2.</a:t>
            </a:r>
          </a:p>
          <a:p/>
          <a:p>
            <a:r>
              <a:t>Con los totales del ejemplo 5-5 (n = 2): en el cuadrado a, Q = 18, R = −2 y S = 8, de donde SS = 33.34. En el cuadrado b, Q = 0, R = 6 y S = 18, de donde SS = 28.00. Y 33.34 + 28.00 = 61.34 = SSAB, con 2 + 2 = 4 grados de libertad.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dos cuadrados no son arbitrarios. Si los niveles de A y B son x1 y x2, las letras del cuadrado a se asignan según x1 + x2 (mod 3): Q cuando vale 0, R cuando vale 1 y S cuando vale 2. Las del cuadrado b según x1 + 2x2 (mod 3). Por ejemplo, la celda central tiene x1 = 1 y x2 = 1; en el cuadrado b, 1 + 2(1) = 3 = 0 (mod 3), así que le toca Q.</a:t>
            </a:r>
          </a:p>
          <a:p/>
          <a:p>
            <a:r>
              <a:t>De ahí viene el nombre: el componente AB corresponde a la ecuación x1 + x2, con exponentes 1 y 1; el componente AB2 a x1 + 2x2, con exponentes 1 y 2. Esta correspondencia entre exponentes y coeficientes es la que después construye bloques y fracciones.</a:t>
            </a:r>
          </a:p>
          <a:p/>
          <a:p>
            <a:r>
              <a:t>Yates llamó a estos componentes I y J: I(AB) = AB2 y J(AB) = AB. En las tablas de totales se calculan como diagonales: las diagonales hacia abajo de izquierda a derecha dan AB2 (I) y las de derecha a izquierda dan AB (J).</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escribir componentes de la forma ApBq se establece que el único exponente permitido en la primera letra es 1. Si no lo es, la expresión completa se eleva al cuadrado y los exponentes se reducen módulo 3. Por ejemplo, A2B es lo mismo que AB2, porque (A2B)2 = A4B2 = AB2.</a:t>
            </a:r>
          </a:p>
          <a:p/>
          <a:p>
            <a:r>
              <a:t>La razón es que A2B y AB2 definen la misma partición: x1 + 2x2 y 2x1 + x2 = 2(x1 + 2x2) (mod 3) separan las nueve celdas en los mismos tres grupos, solo con las etiquetas permutadas. Elevar al cuadrado equivale a multiplicar la ecuación por 2.</a:t>
            </a:r>
          </a:p>
          <a:p/>
          <a:p>
            <a:r>
              <a:t>Esta convención se usa en todo el capítulo: al multiplicar palabras para obtener alias o interacciones generalizadas, el resultado siempre se normaliza para que la primera letra tenga exponente 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interacción ABC de un 33 tiene 8 grados de libertad y se parte en cuatro componentes ortogonales de 2 grados de libertad, que el libro llama W, X, Y y Z: W(ABC) = AB2C2, X(ABC) = AB2C, Y(ABC) = ABC2 y Z(ABC) = ABC. Ninguna primera letra tiene exponente distinto de 1.</a:t>
            </a:r>
          </a:p>
          <a:p/>
          <a:p>
            <a:r>
              <a:t>En general, una interacción de h factores tiene 2h grados de libertad y 2h−1 componentes de 2 grados de libertad. ABCD tiene 8: ABCD, ABCD2, ABC2D, AB2CD, ABC2D2, AB2C2D, AB2CD2 y AB2C2D2. Con la convención de exponentes: A2BCD = (A2BCD)2 = AB2C2D2.</a:t>
            </a:r>
          </a:p>
          <a:p/>
          <a:p>
            <a:r>
              <a:t>Igual que AB y AB2, estos componentes no tienen interpretación práctica. Normalmente no se descomponen las interacciones de tres o más factores en la tabla ANOVA; se calculan solo cuando hace falta construir o analizar un diseño en bloques o una fracción.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forma más directa de calcular cualquier componente, de dos o más factores, es la misma regla que define a AB y AB2. Para el componente Aα₁Bα₂Cα₃ se calcula, en cada corrida, L = α1x1 + α2x2 + α3x3 (mod 3). Las corridas se reparten en tres grupos según L = 0, 1 o 2; se suman los totales de cada grupo (T0, T1, T2) y SS = (T02 + T12 + T22) / (N/3) − y…2/N, con N el número total de observaciones y 2 grados de libertad.</a:t>
            </a:r>
          </a:p>
          <a:p/>
          <a:p>
            <a:r>
              <a:t>El libro lo hace de otro modo, por tablas de dos vías (procedimiento de Cochran y Cox y de Davies): primero se calculan los totales I(AB) y J(AB) en cada nivel de C; después se forman las tablas C × I(AB) y C × J(AB) y se toman sus diagonales I y J. Las cuatro diagonales dan W = I[I(AB) × C], X = J[I(AB) × C], Y = I[J(AB) × C] y Z = J[J(AB) × C]. Los dos métodos dan lo mismo; el de L es el que usa el ejemplo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proceso químico se quiere aumentar el rendimiento (%). Se sospecha que la temperatura y la presión influyen y que la relación no es lineal: podría haber un valor intermedio que rinda más.</a:t>
            </a:r>
          </a:p>
          <a:p/>
          <a:p>
            <a:r>
              <a:t>Se estudian los dos factores con tres niveles cada uno: A temperatura (80, 90 y 100 °C) y B presión (100, 120 y 140 psig). Los dos son cuantitativos y equiespaciados.</a:t>
            </a:r>
          </a:p>
          <a:p/>
          <a:p>
            <a:r>
              <a:t>Se corre un 32 con dos réplicas: 18 corridas en orden aleatorio.</a:t>
            </a:r>
          </a:p>
          <a:p/>
          <a:p>
            <a:r>
              <a:t>Objetivo: Saber cómo afectan la temperatura y la presión al rendimiento, si hay curvatura, y dónde conviene operar</a:t>
            </a:r>
          </a:p>
          <a:p/>
          <a:p>
            <a:r>
              <a:t>Se pide: hacer el ANOVA del 32; partir los efectos en componentes lineal y cuadrático; calcular los componentes AB y AB2 y comprobar que suman SSAB; ajustar el modelo cuadrático y recomendar las condiciones. Fuente: Montgomery, problema 9-6.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tabla muestra las 18 observaciones. Hipótesis para cada fuente: H0: el efecto es nulo contra HA: no lo es. El ANOVA es el de cualquier factorial de dos factores con réplicas: 2 grados de libertad para A, 2 para B, 4 para AB y 9 para el error (9 celdas × 1).</a:t>
            </a:r>
          </a:p>
          <a:p/>
          <a:p>
            <a:r>
              <a:t>Resultado: la temperatura es significativa (F0 = 8.25, p = 0.0092) y la presión también (F0 = 6.02, p = 0.0219); la interacción no (p = 0.2536). Con F0.05, 2, 9 = 4.26 y F0.05, 4, 9 = 3.63.</a:t>
            </a:r>
          </a:p>
          <a:p/>
          <a:p>
            <a:r>
              <a:t>Las medias por nivel muestran la curvatura: el rendimiento sube de 80 a 90 °C y apenas cambia de 90 a 100; con la presión pasa algo parecido. Eso es lo que la partición siguiente va a cuantificar. Fuente: Montgomery, problema 9-6; el ANOVA se calculó aquí.</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los dos factores son cuantitativos, cada uno se parte en su componente lineal y cuadrático con los contrastes (−1, 0, +1) y (+1, −2, +1) sobre los totales de nivel. SS(AL) = 1297.92 y SS(AQ) = 205.64, que suman SSA = 1503.56. Para la presión, SS(BL) = 850.76 y SS(BQ) = 246.18.</a:t>
            </a:r>
          </a:p>
          <a:p/>
          <a:p>
            <a:r>
              <a:t>Cada componente tiene 1 grado de libertad y se prueba contra el mismo MSE = 91.11: F0.05, 1, 9 = 5.12. Los dos términos lineales son claramente significativos; los cuadráticos quedan en el límite (AQ: F0 = 2.26; BQ: F0 = 2.70). Hay evidencia de curvatura, más clara en la presión.</a:t>
            </a:r>
          </a:p>
          <a:p/>
          <a:p>
            <a:r>
              <a:t>La interacción se parte en cuatro componentes de 1 grado de libertad. Solo ABL×L = 472.78 es apreciable (F0 = 5.19); los otros tres son pequeños. Esa es la partición que sí se interpreta: dice qué términos del modelo cuadrático hacen falta.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la otra partición, la que no se interpreta pero sirve para bloques y fracciones. Con los totales de las nueve celdas se agrupan las corridas según L = x1 + x2 (mod 3) para el componente AB y según L = x1 + 2x2 (mod 3) para AB2. Cada grupo tiene 6 observaciones.</a:t>
            </a:r>
          </a:p>
          <a:p/>
          <a:p>
            <a:r>
              <a:t>Para AB los totales de grupo son 464.13, 428.10, 490.17 y SSAB = 323.83. Para AB2, 428.67, 473.10, 480.63 y SSAB² = 262.81. La suma es 586.64, que es SSAB del ANOVA, con 2 + 2 = 4 grados de libertad.</a:t>
            </a:r>
          </a:p>
          <a:p/>
          <a:p>
            <a:r>
              <a:t>Observe que estos dos números no coinciden con ninguna combinación de los componentes L × L, L × Q, Q × L y Q × Q: son particiones distintas de la misma suma de cuadrados.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x1 = (temperatura − 90)/10 y x2 = (presión − 120)/20, el ajuste por mínimos cuadrados del modelo de la ecuación 9-1 da ŷ = 86.81 + 10.40 x1 + 8.42 x2 − 7.17 x12 − 7.85 x22 − 7.69 x1x2. El libro reporta el mismo modelo (inciso c del problema; el coeficiente de x22 aparece como −7.86).</a:t>
            </a:r>
          </a:p>
          <a:p/>
          <a:p>
            <a:r>
              <a:t>Los coeficientes cuadráticos negativos dicen que la superficie es un máximo: el rendimiento sube con cada factor hasta cierto punto y luego baja. El término x1x2 negativo dice que el aumento por temperatura es menor cuando la presión es alta.</a:t>
            </a:r>
          </a:p>
          <a:p/>
          <a:p>
            <a:r>
              <a:t>Igualando a cero las derivadas parciales se obtiene el punto estacionario: x1 = 0.59 y x2 = 0.25, es decir temperatura 96 °C y presión 125 psig, con rendimiento estimado 90.9 %. Esa sería la condición recomendada, que conviene confirmar con corridas adicionales. Un diseño central compuesto habría llegado a lo mismo con menos corridas.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máquina llena contenedores metálicos de 5 galones con jarabe para una bebida gaseosa. Al llenar, el jarabe hace espuma y se pierde parte del producto. Se quiere reducir esa pérdida.</a:t>
            </a:r>
          </a:p>
          <a:p/>
          <a:p>
            <a:r>
              <a:t>Se piensa que influyen tres factores: A el diseño de la boquilla (tres tipos: 1, 2 y 3, un factor cualitativo), B la velocidad de llenado (100, 120 y 140 rpm) y C la presión de operación (10, 15 y 20 psi).</a:t>
            </a:r>
          </a:p>
          <a:p/>
          <a:p>
            <a:r>
              <a:t>Se corre un 33 con dos réplicas, 54 observaciones. La respuesta se codifica como centímetros cúbicos perdidos menos 70.</a:t>
            </a:r>
          </a:p>
          <a:p/>
          <a:p>
            <a:r>
              <a:t>Objetivo: Encontrar la boquilla, la velocidad y la presión que minimizan la pérdida de jarabe</a:t>
            </a:r>
          </a:p>
          <a:p/>
          <a:p>
            <a:r>
              <a:t>Se pide: hacer el ANOVA del 33; interpretar las interacciones de dos factores; ajustar un modelo cuadrático por boquilla y leer los contornos; partir ABC en sus componentes W, X, Y, Z con la regla L. Fuente: Montgomery, ejemplo 9-1.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54 observaciones, en cm³ − 70. Las filas son la presión C, las columnas la boquilla A y dentro de cada boquilla la velocidad B; cada celda tiene dos réplicas. Este ejemplo es el caso típico en que el libro considera razonable un 3k: hay un factor cualitativo con tres niveles de interés (la boquilla) y los otros dos son cuantitativos.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Hipótesis para cada fuente: H0: el efecto es nulo. Las sumas de cuadrados se calculan con los métodos usuales. Con 27 celdas y dos réplicas el error tiene 27 grados de libertad.</a:t>
            </a:r>
          </a:p>
          <a:p/>
          <a:p>
            <a:r>
              <a:t>Resultado: la velocidad de llenado (B) y la presión (C) son muy significativas; la boquilla (A) no lo es como efecto principal (p = 0.3271). Las tres interacciones de dos factores sí son significativas: AB (p = 0.0159), AC (p = 0.0072) y BC (p = 0.0003). ABC no (p = 0.2595).</a:t>
            </a:r>
          </a:p>
          <a:p/>
          <a:p>
            <a:r>
              <a:t>Que la boquilla no sea significativa como efecto principal pero sí en sus interacciones significa que el efecto de la boquilla depende de la velocidad y de la presión: hay que mirar las gráficas de interacción. Nota para quien coteje: las SS y los F0 coinciden con la tabla 9-2; los valores p de AB, AC y BC que imprime el libro (0.0383, 0.0222 y 0.0025) no corresponden a esos F con 4 y 27 grados de libertad; los correctos son 0.0159, 0.0072 y 0.0003.</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gráficas usan los totales de celda, como en la figura 9-4 del libro. A × B: con velocidad 120 rpm la pérdida es mucho menor para cualquier boquilla; con 100 o 140 rpm es mayor y la boquilla 2 se comporta distinto. A × C: la presión intermedia (15 psi) da pérdidas altas con las tres boquillas; 10 y 20 psi dan pérdidas bajas. B × C: con cualquier presión, 120 rpm es lo mejor, pero el salto es enorme con 15 psi.</a:t>
            </a:r>
          </a:p>
          <a:p/>
          <a:p>
            <a:r>
              <a:t>Conclusión del libro: el nivel intermedio de la velocidad produce el mejor desempeño, mientras que las boquillas 2 y 3 y la presión baja (10 psi) o alta (20 psi) parecen ser las más efectivas para reducir la pérdida.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la boquilla es cualitativa, no entra en un modelo de regresión. Lo que hace el libro es ajustar, para cada boquilla, un modelo cuadrático en los dos factores cuantitativos, velocidad (x1) y presión (x2), codificados −1, 0, +1. Los modelos de la tabla 9-3 se reproducen aquí por mínimos cuadrados.</a:t>
            </a:r>
          </a:p>
          <a:p/>
          <a:p>
            <a:r>
              <a:t>Las gráficas de contorno muestran que las superficies son muy distintas de una boquilla a otra: la de la boquilla 2 es más alargada. El libro advierte que, cuando se mezclan factores cualitativos y cuantitativos, las condiciones óptimas de los cuantitativos pueden ser muy diferentes en cada nivel del cualitativo.</a:t>
            </a:r>
          </a:p>
          <a:p/>
          <a:p>
            <a:r>
              <a:t>Como el objetivo es minimizar la pérdida, se prefiere la boquilla 3: es la única cuyos contornos llegan a −60. Con ella debe usarse la velocidad cerca de 120 rpm y la presión baja o alta.</a:t>
            </a:r>
          </a:p>
          <a:p/>
          <a:p>
            <a:r>
              <a:t>Nota para quien coteje: los modelos de las boquillas 1 y 3 coinciden con la tabla 9-3. El de la boquilla 2 no: el libro imprime ŷ = 25.6 − 22.8x1 − 12.3x2 + 14.1x12 − 56.9x22 − 0.7x1x2, que no reproduce los datos de la tabla 9-1 (la celda central de la boquilla 2 promedia −49.5 y el modelo del libro da 25.6 en el centro). El modelo de esta diapositiva se ajustó a los datos impresos.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tres superficies lado a lado. Las boquillas 1 y 3 tienen forma de silla, con el mínimo en la banda de 120 rpm y en las presiones extremas; la boquilla 2 tiene una superficie alargada y nunca baja de −20. Cuando hay un factor cualitativo, la forma de la superficie cambia con él, y por eso se ajusta un modelo por nivel.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ilustrar la regla L con tres factores se parte SSABC = 4628.78 en sus cuatro componentes. Con los 27 totales de celda se calcula, para cada componente, L (mod 3) y se agrupan los totales en T0, T1 y T2; cada grupo tiene 18 observaciones, así que SS = (T0² + T1² + T2²)/18 − 165²/54, donde 165 es el gran total.</a:t>
            </a:r>
          </a:p>
          <a:p/>
          <a:p>
            <a:r>
              <a:t>Resultado: W = AB2C2 = 3804.11, X = AB2C = 221.78, Y = ABC2 = 584.11 y Z = ABC = 18.78, que suman 4628.78 = SSABC. El libro obtiene los mismos cuatro números (3804.11, 221.77, 18.77 y 584.11) por el método de las tablas C × I(AB) y C × J(AB).</a:t>
            </a:r>
          </a:p>
          <a:p/>
          <a:p>
            <a:r>
              <a:t>Nota para quien coteje: en el libro los nombres de Y y Z aparecen intercambiados (ABC2 = 18.77 y ABC = 584.11), porque ordena los totales J de 2 a 0 en lugar de 0 a 2; con la definición L = x1 + x2 + 2x3 el componente ABC2 da 584.11. Como estos componentes no tienen interpretación, no se presentan en el ANOVA.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Incluso una sola réplica de un 33 son 27 corridas, y es improbable que puedan hacerse todas en condiciones uniformes: un mismo día, un mismo lote de materia prima, un mismo operario. La solución es la misma del capítulo 7: repartir las corridas en bloques incompletos, aceptando que algún efecto quede confundido con las diferencias entre bloques.</a:t>
            </a:r>
          </a:p>
          <a:p/>
          <a:p>
            <a:r>
              <a:t>El 3k se puede confundir en 3p bloques incompletos, con p &lt; k: tres bloques, nueve bloques, veintisiete, etcétera. Con tres bloques hay 2 grados de libertad entre bloques, así que lo que se confunde es exactamente un componente de interacción de 2 grados de libertad: AB o AB2 en un 32; ABC, ABC2, AB2C o AB2C2 en un 33. Aquí es donde los componentes de la sección 2 muestran su utilidad.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procedimiento es construir la definición de contrastes de la ecuación 9-2: L = α1x1 + α2x2 + ··· + αkxk, donde αi es el exponente del factor i en el componente que se va a confundir (0, 1 o 2, con el primer α distinto de cero igual a 1) y xi es el nivel del factor i en la combinación (0, 1 o 2). Las combinaciones se asignan a los bloques según el valor de L (mod 3): como solo puede valer 0, 1 o 2, quedan tres bloques definidos de manera única.</a:t>
            </a:r>
          </a:p>
          <a:p/>
          <a:p>
            <a:r>
              <a:t>El bloque con L = 0 (mod 3) se llama bloque principal y siempre contiene a la combinación 00…0.</a:t>
            </a:r>
          </a:p>
          <a:p/>
          <a:p>
            <a:r>
              <a:t>Ejemplo: un 32 en tres bloques confundiendo AB2. Los exponentes son 1 y 2, así que L = x1 + 2x2. Para 01: L = 1(0) + 2(1) = 2. Para 11: 1 + 2 = 3 = 0 (mod 3). Para 22: 2 + 4 = 6 = 0 (mod 3). Así se reparten las nueve combinaciones (figura 9-6).</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elementos del bloque principal forman un grupo con respecto a la adición módulo 3, dígito a dígito. En el 32 con AB2 confundida, el bloque principal es {00, 11, 22}: 11 + 11 = 22 y 11 + 22 = 33 = 00. Cualquier suma de dos elementos del bloque principal cae en el bloque principal.</a:t>
            </a:r>
          </a:p>
          <a:p/>
          <a:p>
            <a:r>
              <a:t>Esa propiedad permite construir los demás bloques sin calcular L para cada combinación: se toma cualquier combinación que no esté en el bloque principal y se suma (mod 3) a cada elemento del bloque principal. Con 10: 10 + 00 = 10, 10 + 11 = 21, 10 + 22 = 02, que es el bloque 2. Con 01: 01 + 00 = 01, 01 + 11 = 12, 01 + 22 = 20, que es el bloque 3.</a:t>
            </a:r>
          </a:p>
          <a:p/>
          <a:p>
            <a:r>
              <a:t>Con tres factores el método es el mismo, y es la forma práctica de construir los bloques de 9 corridas del 33.</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corre una sola réplica de un 32 cuyas nueve combinaciones no caben en condiciones homogéneas: hay que repartirlas en tres bloques de tres corridas, por ejemplo tres lotes de material o tres turnos.</a:t>
            </a:r>
          </a:p>
          <a:p/>
          <a:p>
            <a:r>
              <a:t>Se decide confundir el componente AB2 con los bloques, con la definición de contrastes L = x1 + 2x2 de la figura 9-6.</a:t>
            </a:r>
          </a:p>
          <a:p/>
          <a:p>
            <a:r>
              <a:t>Los datos (una observación por combinación) son: bloque 1: 00 = 4, 11 = −4, 22 = 0; bloque 2: 10 = −2, 21 = 1, 02 = 8; bloque 3: 01 = 5, 12 = −5, 20 = 0.</a:t>
            </a:r>
          </a:p>
          <a:p/>
          <a:p>
            <a:r>
              <a:t>Objetivo: Ver cómo se analiza un 3k confundido en bloques y comprobar que SSBloques es exactamente el componente confundido</a:t>
            </a:r>
          </a:p>
          <a:p/>
          <a:p>
            <a:r>
              <a:t>Se pide: calcular SSA y SSB como en un factorial sin bloques; calcular SSBloques con los totales de bloque; calcular el componente AB2 por diagonales y compararlo; armar la tabla ANOVA y decir qué se puede probar. Fuente: Montgomery, ejemplo 9-2.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aplicar los métodos convencionales se encuentra SSA = 131.56 y SSB = 0.22. Los totales de bloque son 0, 7, 0, así que SSBloques = (0² + 7² + 0²)/3 − 7²/9 = 10.89.</a:t>
            </a:r>
          </a:p>
          <a:p/>
          <a:p>
            <a:r>
              <a:t>Ese número es exactamente el componente AB2. Para verlo, se escriben las observaciones en la tabla A × B y se calcula la suma de cuadrados entre los totales de las diagonales de izquierda a derecha, que son 0, 0 y 7: SSAB² = (0² + 0² + 7²)/3 − 7²/9 = 10.89. Confundir AB2 con los bloques significa literalmente que su suma de cuadrados es la de los bloques. El otro componente, AB = 2.89, sí se estima.</a:t>
            </a:r>
          </a:p>
          <a:p/>
          <a:p>
            <a:r>
              <a:t>Como hay una sola réplica, no puede hacerse una prueba formal: no hay grados de libertad para el error. El libro advierte que no es buena idea usar el componente AB como estimación del error.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diseño un poco más complicado: el 33 en tres bloques de nueve corridas, confundiendo el componente AB2C2. La definición de contrastes es L = x1 + 2x2 + 2x3. Es fácil verificar que 000, 012 y 101 están en el bloque principal (L = 0); las demás corridas del bloque principal se generan por sumas: 101 + 101 = 202, 012 + 012 = 021, 101 + 012 = 110, 101 + 021 = 122, 012 + 202 = 211, 021 + 202 = 220.</a:t>
            </a:r>
          </a:p>
          <a:p/>
          <a:p>
            <a:r>
              <a:t>Para el bloque 2 se toma una combinación que no está en el principal, por ejemplo 200, y se suma a cada elemento: 200, 212, 001, 102, 221, 010, 022, 111, 120; todas cumplen L = 2. Para el bloque 3 se usa 100, que no está en los dos primeros: 100, 112, 201, 002, 121, 210, 222, 011, 020, con L = 1. Es la figura 9-7 del libro.</a:t>
            </a:r>
          </a:p>
          <a:p/>
          <a:p>
            <a:r>
              <a:t>El ANOVA (tabla 9-5) conserva información de todos los efectos principales y de las interacciones de dos factores. Los otros tres componentes de ABC (ABC, AB2C y ABC2) se combinan como error, con 6 grados de libertad; su suma de cuadrados se obtiene por sustracción: SSABC calculada de la forma usual menos SSBloques.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embotelladora quiere saber cuánto tarda un empleado en acomodar diez cajas de doce botellas en los aparadores de venta, y qué lo afecta. Se estudian tres factores con tres niveles: A el tipo de botella (plástico, vidrio de 28 mm, vidrio de 38 mm), B el tipo de aparador (anaquel permanente liso, aparador al final del pasillo, refrigerador para refrescos) y C el empleado (tres personas).</a:t>
            </a:r>
          </a:p>
          <a:p/>
          <a:p>
            <a:r>
              <a:t>El experimento completo es un 33 (27 corridas por réplica). El problema 9-9 agrega una restricción: no es posible hacer las 27 observaciones el mismo día; se hacen en tres días, nueve cada día.</a:t>
            </a:r>
          </a:p>
          <a:p/>
          <a:p>
            <a:r>
              <a:t>Se usan los datos de la primera réplica del problema 9-3 (tiempo en minutos) y se confunde el componente AB2C con los días.</a:t>
            </a:r>
          </a:p>
          <a:p/>
          <a:p>
            <a:r>
              <a:t>Objetivo: Repartir las 27 corridas en tres días sin perder los efectos principales ni las interacciones de dos factores, y analizar</a:t>
            </a:r>
          </a:p>
          <a:p/>
          <a:p>
            <a:r>
              <a:t>Se pide: construir los tres bloques con L = x1 + 2x2 + x3; calcular SSBloques y comprobar que es SSAB²C; armar el ANOVA con el error formado por los otros componentes de ABC; concluir qué afecta el tiempo. Fuente: Montgomery, problemas 9-3 y 9-9 (réplica 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AB2C los exponentes son 1, 2 y 1: L = x1 + 2x2 + x3 (mod 3). El bloque principal (L = 0) contiene a 000; se generan los nueve elementos por sumas y los otros dos bloques sumando 100 y 200. Cada día recibe nueve combinaciones, con los tres tipos de botella, los tres aparadores y los tres empleados representados tres veces cada uno: los bloques están balanceados en cada factor.</a:t>
            </a:r>
          </a:p>
          <a:p/>
          <a:p>
            <a:r>
              <a:t>Los totales de los tres días son 44.23, 43.21, 43.18 minutos, muy parecidos, y SSBloques = 0.0794. Si se calcula el componente AB2C con la regla L sobre las 27 observaciones se obtiene exactamente el mismo valor: eso es lo que significa que esté confundido.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ANOVA sigue la tabla 9-5: bloques (AB2C) con 2 grados de libertad, los tres efectos principales con 2, las tres interacciones de dos factores con 4 y el error formado por los otros tres componentes de ABC, con 6 grados de libertad: SSError = SSABC − SSBloques = 0.5104 − 0.0794 = 0.4310.</a:t>
            </a:r>
          </a:p>
          <a:p/>
          <a:p>
            <a:r>
              <a:t>Resultado: el aparador (B) y el empleado (C) afectan mucho el tiempo (F0 = 58.63 y 26.53, con F0.05, 2, 6 = 5.14); el tipo de botella no (p = 0.505). De las interacciones, BC está cerca del límite (p = 0.123): el efecto del aparador podría depender del empleado. Con las dos réplicas del problema 9-3, BC sí resulta significativa.</a:t>
            </a:r>
          </a:p>
          <a:p/>
          <a:p>
            <a:r>
              <a:t>El precio de los bloques fue pequeño: solo se perdió un componente sin interpretación de ABC, y el error quedó con 6 grados de libertad en vez de 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nueve bloques hay 8 grados de libertad entre bloques, es decir cuatro componentes de 2 grados de libertad. Se eligen dos componentes de interacción, P y Q, y como resultado se confunden automáticamente otros dos: sus interacciones generalizadas. En el sistema 3k las interacciones generalizadas de P y Q son PQ y PQ2 (o P2Q, que es lo mismo normalizado).</a:t>
            </a:r>
          </a:p>
          <a:p/>
          <a:p>
            <a:r>
              <a:t>Los dos componentes elegidos producen dos definiciones de contrastes (ecuación 9-3): L1 = α1x1 + ··· + αkxk = u (mod 3) y L2 = β1x1 + ··· + βkxk = h (mod 3), con u y h en {0, 1, 2}. Las combinaciones con el mismo par (L1, L2) van al mismo bloque; hay nueve pares posibles y por eso nueve bloques. El bloque principal es el de L1 = L2 = 0 y, como antes, es un grupo bajo la adición módulo 3 que sirve para generar los demás.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confunden ABC y AB2D2. Sus interacciones generalizadas son (ABC)(AB2D2) = A2B3CD2 = (A2CD2)2 = AC2D y (ABC)(AB2D2)2 = A3B5CD4 = B2CD = (B2CD)2 = BC2D2. Quedan confundidos los cuatro: ABC, AB2D2, AC2D y BC2D2.</a:t>
            </a:r>
          </a:p>
          <a:p/>
          <a:p>
            <a:r>
              <a:t>Las definiciones de contrastes (ecuación 9-4) son L1 = x1 + x2 + x3 y L2 = x1 + 2x2 + 2x4. El bloque principal tiene las nueve combinaciones con L1 = L2 = 0; los otros ocho se generan sumándole combinaciones que no estén en él.</a:t>
            </a:r>
          </a:p>
          <a:p/>
          <a:p>
            <a:r>
              <a:t>Para analizar, los componentes no confundidos de ABC, ABD, ACD y BCD se obtienen restando la SS del componente confundido de la SS de la interacción completa. Nota para quien coteje: en la figura 9-8 algunas etiquetas (L1, L2) impresas bajo los bloques no coinciden con las que da la ecuación 9-4, aunque el contenido de los bloques es correcto.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3k se puede confundir en 3p bloques de 3k−p corridas, con p &lt; k. Se seleccionan p componentes independientes y, como resultado, se confunden automáticamente otros (3p − 2p − 1)/2: todas sus interacciones generalizadas. En total quedan confundidos (3p − 1)/2 componentes, que son los 3p − 1 grados de libertad entre bloques.</a:t>
            </a:r>
          </a:p>
          <a:p/>
          <a:p>
            <a:r>
              <a:t>Con p = 2 la fórmula da (9 − 4 − 1)/2 = 2 adicionales, los PQ y PQ2 de la diapositiva anterior. Con p = 3 da (27 − 6 − 1)/2 = 10 adicionales. El libro ilustra con un 37 en 27 bloques de 81 corridas (2187 observaciones), eligiendo ABC2DG, BCE2F2G y BDEFG; los otros diez salen de los productos de dos y de tres generadores con exponentes 1 y 2. Es un diseño enorme, que el libro muestra solo para ilustrar el método.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réplica completa del 3k puede requerir demasiadas corridas incluso para k moderado, así que interesan las réplicas fraccionadas. La fracción más grande es la un tercio, con 3k−1 corridas: el diseño 3k−1.</a:t>
            </a:r>
          </a:p>
          <a:p/>
          <a:p>
            <a:r>
              <a:t>Para construirlo se elige un componente de interacción de 2 grados de libertad, generalmente de la interacción de orden más alto, y se parte el 3k completo en tres bloques con él. Cada uno de los tres bloques es una fracción 3k−1 y puede usarse cualquiera. Si ABα₂Cα₃···Kαₖ es el componente usado, I = ABα₂Cα₃···Kαₖ es la relación de definición de la fracción.</a:t>
            </a:r>
          </a:p>
          <a:p/>
          <a:p>
            <a:r>
              <a:t>La diferencia con el 2k−p está en los alias: cada efecto principal o componente de interacción tiene dos alias, que se obtienen multiplicando el efecto tanto por I como por I2, módulo 3, y normalizando.</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una fracción un tercio del 33 se puede usar cualquiera de los cuatro componentes de ABC: ABC, AB2C, ABC2 o AB2C2. Cada uno parte el diseño en tres bloques (u = 0, 1, 2), así que hay 4 × 3 = 12 fracciones diferentes, definidas por x1 + α2x2 + α3x3 = u (mod 3), con α = 1 o 2 y u = 0, 1 o 2.</a:t>
            </a:r>
          </a:p>
          <a:p/>
          <a:p>
            <a:r>
              <a:t>Con I = AB2C2, cada fracción contiene las 9 combinaciones que satisfacen x1 + 2x2 + 2x3 = u (mod 3). Son los tres bloques de la figura 9-7, ahora leídos como tres fracciones (figura 9-9). La de u = 0 es la fracción principal.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el efecto A: A·(AB2C2) = A2B2C2, que normalizado es ABC; y A·(AB2C2)2 = A3B4C4 = BC. Así que A es alias de BC y de ABC. Igual para B: B·I = AB3C2 = AC2 y B·I2 = A2B5C4 = ABC2. Para C: AB2 y AB2C. Y para el componente AB: AC y BC2.</a:t>
            </a:r>
          </a:p>
          <a:p/>
          <a:p>
            <a:r>
              <a:t>Los cuatro efectos que de verdad se estiman con los 8 grados de libertad son A + BC + ABC, B + AC2 + ABC2, C + AB2 + AB2C y AB + AC + BC2. Como cada efecto principal es alias de un componente de una interacción de dos factores, es un diseño de resolución III.</a:t>
            </a:r>
          </a:p>
          <a:p/>
          <a:p>
            <a:r>
              <a:t>El libro es tajante: este diseño solo tendría valor práctico si todas las interacciones fueran pequeñas frente a los efectos principales. Si BC es grande, distorsiona la estimación de A, y la interpretación de AB + AC + BC2 se vuelve muy complicada. Es muy difícil ver cómo podría ser útil, a menos que se suponga que todas las interacciones son insignificantes.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en la fracción u = 0 se pone A como renglón y B como columna, y se escribe en cada celda el nivel de C, resulta un cuadrado latino 3 × 3: cada nivel de C aparece exactamente una vez en cada fila y en cada columna. El supuesto de interacciones insignificantes que necesita el 33−1III es el mismo que necesita el cuadrado latino del capítulo 4.</a:t>
            </a:r>
          </a:p>
          <a:p/>
          <a:p>
            <a:r>
              <a:t>Los dos diseños surgen por motivos distintos: uno como consecuencia de la réplica fraccionada y el otro de las restricciones sobre la aleatorización (dos variables de bloque). Pero son el mismo arreglo: por la tabla 4-13 solo hay 12 cuadrados latinos 3 × 3, y cada uno corresponde a una de las 12 fracciones 33−1.</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en el 2k−p, la fracción se puede construir sin pasar por los bloques. Se escriben las 3k−1 corridas del factorial completo en k − 1 factores (el diseño básico) y se introduce el factor k-ésimo igualando sus niveles con el componente apropiado de la interacción de orden más alto: xk = β1x1 + β2x2 + ··· + βk−1xk−1 (mod 3), con βi = (3 − αk)αi (mod 3). Así se obtiene el diseño de resolución más alta posible.</a:t>
            </a:r>
          </a:p>
          <a:p/>
          <a:p>
            <a:r>
              <a:t>Ilustración: el 34−1IV con I = AB2CD. Los exponentes son α1 = α3 = α4 = 1 y α2 = 2, así que β1 = (3 − 1)(1) = 2, β2 = (3 − 1)(2) = 4 = 1 y β3 = (3 − 1)(1) = 2: x4 = 2x1 + x2 + 2x3 (mod 3), la ecuación 9-6. Para 000: 0; para 010: 1; para 110: 2 + 1 = 3 = 0. Las 27 corridas son la tabla 9-6.</a:t>
            </a:r>
          </a:p>
          <a:p/>
          <a:p>
            <a:r>
              <a:t>Los alias de A son A(AB2CD) = ABC2D2 y A(AB2CD)2 = BC2D2. Los cuatro efectos principales quedan separados de los componentes de interacciones de dos factores (resolución IV), pero algunos componentes de interacciones de dos factores son alias entre sí; si una es grande, será muy difícil aislarla.</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Vuelve el experimento de acomodar botellas: A tipo de botella, B aparador, C empleado, respuesta el tiempo en minutos. Suponga que solo hay presupuesto para 9 corridas en lugar de las 27 de una réplica completa.</a:t>
            </a:r>
          </a:p>
          <a:p/>
          <a:p>
            <a:r>
              <a:t>Se decide correr una fracción un tercio 33−1 con I = ABC: la fracción principal, las nueve combinaciones con x1 + x2 + x3 = 0 (mod 3).</a:t>
            </a:r>
          </a:p>
          <a:p/>
          <a:p>
            <a:r>
              <a:t>Como se tienen los datos de la réplica I completa, se puede comparar lo que concluye la fracción con lo que concluye el experimento completo, y ver qué pasa cuando una interacción no es despreciable.</a:t>
            </a:r>
          </a:p>
          <a:p/>
          <a:p>
            <a:r>
              <a:t>Objetivo: Construir la fracción, escribir sus alias, analizarla y ver qué se pierde frente a la réplica completa</a:t>
            </a:r>
          </a:p>
          <a:p/>
          <a:p>
            <a:r>
              <a:t>Se pide: escribir las 9 corridas y comprobar que forman un cuadrado latino; obtener los dos alias de cada efecto; calcular las SS de las cuatro cadenas con la regla L; comparar con el ANOVA de la réplica completa. Fuente: Montgomery, problema 9-12 (réplica I del 9-3).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I = ABC la definición es L = x1 + x2 + x3 = 0 (mod 3). Las nueve corridas son 000, 210, 120, 201, 111, 021, 102, 012, 222. Puestas con A en filas y B en columnas, el nivel de C forma un cuadrado latino.</a:t>
            </a:r>
          </a:p>
          <a:p/>
          <a:p>
            <a:r>
              <a:t>Alias: A·ABC = A2BC → (·)2 = AB2C2, y A·(ABC)2 = A3B2C2 = B2C2 → BC. Así, la cadena de A es A + BC + AB2C2. Del mismo modo B + AC + AB2C, C + AB + ABC2 y AB2 + AC2 + BC2. Cada efecto principal está mezclado con un componente de una interacción de dos factores: resolución III.</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nueve corridas hay 8 grados de libertad: cuatro cadenas de 2 grados de libertad, sin error. Las sumas de cuadrados se calculan con la regla L: para la cadena de A se agrupan las nueve corridas según x1 (que en esta fracción es lo mismo que agrupar por BC). Resultan SS = 0.303 para A + BC + AB2C2, 2.806 para B + AC + AB2C, 2.249 para C + AB + ABC2 y 0.307 para la cadena de interacciones. La lectura ingenua es: el aparador y el empleado importan, la botella no, igual que en el experimento completo.</a:t>
            </a:r>
          </a:p>
          <a:p/>
          <a:p>
            <a:r>
              <a:t>Pero mire las medias. En la fracción, el tiempo medio por tipo de botella es 4.53, 4.98, 4.69; en la réplica completa es 4.75, 4.85, 4.91. La fracción exagera la diferencia entre botellas: SS = 0.303 frente a 0.110 en el experimento completo. La razón es la interacción BC (aparador × empleado), que en la réplica completa tiene SS = 0.812 y con las dos réplicas del problema resulta significativa: en la fracción, BC está aliada con A y se cuela en su estimación.</a:t>
            </a:r>
          </a:p>
          <a:p/>
          <a:p>
            <a:r>
              <a:t>Esa es la advertencia del libro en la práctica: la fracción un tercio solo es confiable si no hay interacciones. Aquí la conclusión cualitativa se salvó, pero la magnitud del efecto de la botella quedó contaminada, y no hay forma de saberlo con las nueve corridas solas.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moderar valores grandes de k conviene un fraccionamiento mayor: una fracción (1/3)p del 3k, con 3k−p corridas. Un 3k−2 es un noveno, un 3k−3 un veintisieteavo.</a:t>
            </a:r>
          </a:p>
          <a:p/>
          <a:p>
            <a:r>
              <a:t>Construcción: se seleccionan p componentes de interacción y se usan para partir las 3k combinaciones en 3p bloques; cada bloque es una fracción 3k−p. La relación de definición I consta de los p componentes elegidos y de sus (3p − 2p − 1)/2 interacciones generalizadas, la misma cuenta de la sección 5. El alias de cualquier efecto se obtiene multiplicándolo, módulo 3, por cada palabra de I y por su cuadrado: dos alias por palabra.</a:t>
            </a:r>
          </a:p>
          <a:p/>
          <a:p>
            <a:r>
              <a:t>También se pueden generar las corridas escribiendo primero un 3k−p completo y agregando los p factores adicionales como componentes de interacción de los primeros, igual que en la sección 6.</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fracción un noveno del 34: nueve corridas para cuatro factores. Se eligen AB2C y BCD. Sus interacciones generalizadas son (AB2C)(BCD) = AB3C2D = AC2D y (AB2C)(BCD)2 = AB4C3D2 = ABD2. La relación de definición completa es I = AB2C = BCD = AC2D = ABD2, y el diseño es de resolución III.</a:t>
            </a:r>
          </a:p>
          <a:p/>
          <a:p>
            <a:r>
              <a:t>Las nueve corridas se obtienen con un 32 completo en A y B y los factores adicionales x3 = 2x1 + x2 y x4 = 2x2 + 2x3 (mod 3): es la tabla 9-7. Equivale a partir el 34 en nueve bloques con AB2C y BCD y tomar el bloque principal.</a:t>
            </a:r>
          </a:p>
          <a:p/>
          <a:p>
            <a:r>
              <a:t>Con 8 grados de libertad solo se estiman los cuatro efectos principales, cada uno con ocho alias (tabla 9-8): cuatro por las palabras de I y cuatro por sus cuadrados. Por ejemplo, A es alias de ABC2, ABCD, ACD2, AB2D, BC2, AB2C2D2, CD2 y BD2. El diseño solo es útil en ausencia de interacciones. Con A en renglones y B en columnas, la tabla 9-7 es además un cuadrado grecolatino.</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Montgomery cierra la sección con una valoración poco favorable. Si k es moderadamente grande, por ejemplo 4 o 5, el tamaño del 3k lleva a considerar fracciones bastante pequeñas, y esas fracciones tienen relaciones de alias que incluyen alias parciales de componentes de interacción con dos grados de libertad. La interpretación resulta difícil, si no imposible, a menos que las interacciones sean insignificantes.</a:t>
            </a:r>
          </a:p>
          <a:p/>
          <a:p>
            <a:r>
              <a:t>Además, no hay esquemas de aumento simples, como el doblez del 2k−p, que permitan combinar dos o más fracciones para aislar las interacciones significativas. Y cuando lo que se busca es curvatura, hay alternativas más eficientes en el capítulo 11.</a:t>
            </a:r>
          </a:p>
          <a:p/>
          <a:p>
            <a:r>
              <a:t>Conclusión textual: los diseños factoriales fraccionados 3k−p son soluciones que causan problemas; no son, en general, buenos diseños. Para diseños concretos con 4 ≤ k ≤ 10 el libro remite al catálogo de Connor y Zelen (National Bureau of Standards).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sistema de dos niveles de los capítulos 6, 7 y 8 es de particular utilidad; el de tres niveles es de utilidad mucho menor, porque los diseños son grandes incluso con pocos factores y la mayoría de las fracciones pequeñas tienen alias complejos. Montgomery lo dice sin rodeos: los factoriales y fraccionados de dos niveles deben ser la piedra angular de la experimentación industrial.</a:t>
            </a:r>
          </a:p>
          <a:p/>
          <a:p>
            <a:r>
              <a:t>Sin embargo hay situaciones en que es necesario incluir un factor con más de dos niveles. Suele ocurrir cuando se mezclan factores cuantitativos y cualitativos y el cualitativo tiene, por ejemplo, tres niveles. Si todos los factores son cuantitativos, lo indicado es un diseño de dos niveles con puntos centrales.</a:t>
            </a:r>
          </a:p>
          <a:p/>
          <a:p>
            <a:r>
              <a:t>La sección 9-4 muestra cómo incorporar factores de tres y de cuatro niveles dentro de un 2k: se aprovecha la tabla de signos del 2k, que ya se sabe analizar, y se sacrifican algunas columnas.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idea es tomar dos columnas de dos niveles, B y C, de la tabla de signos del 2k y combinarlas para formar un factor X de tres niveles: (−, −) es el nivel bajo x1, (+, −) y (−, +) son los dos el nivel intermedio x2, y (+, +) es el nivel alto x3. El nivel intermedio queda repetido.</a:t>
            </a:r>
          </a:p>
          <a:p/>
          <a:p>
            <a:r>
              <a:t>Ejemplo del libro: A con dos niveles y X con tres en un 23 de ocho corridas (tabla 9-10). La fila superior de la tabla indica el efecto real que estima cada columna. X tiene 2 grados de libertad; si es cuantitativo se parte en XL y XQ.</a:t>
            </a:r>
          </a:p>
          <a:p/>
          <a:p>
            <a:r>
              <a:t>XL es la suma de las estimaciones de las columnas B y C, y solo usa las corridas con X bajo o alto (1, 2, 7 y 8). A × XL es la suma de las columnas AB y AC. XQ es la columna BC y A × XQ la columna ABC. La columna BC no puede usarse para otro factor porque contiene el efecto cuadrático de X.</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corridas 3 y 5 son réplicas: las dos tienen A bajo y X intermedio. Con ellas se estima el error con 1 grado de libertad. Las corridas 4 y 6 también son réplicas (A alto, X intermedio) y dan otro grado de libertad. El promedio de las dos varianzas es el cuadrado medio del error con 2 grados de libertad.</a:t>
            </a:r>
          </a:p>
          <a:p/>
          <a:p>
            <a:r>
              <a:t>La tabla ANOVA completa tiene A con 1 grado de libertad, X con 2 (XL + XQ), AX con 2 (A × XL + A × XQ) y error con 2; total 7. Nota para quien coteje: en la tabla 9-11 el cuadrado medio de X aparece impreso como MSB; es MSX.</a:t>
            </a:r>
          </a:p>
          <a:p/>
          <a:p>
            <a:r>
              <a:t>Si se está dispuesto a suponer que las interacciones son insignificantes, este diseño se convierte en una fracción de resolución III con hasta cuatro factores de dos niveles y uno de tres: los de dos niveles se asocian a las columnas A, AB, AC y ABC. El mismo procedimiento sirve en diseños de 16, 32 y 64 corridas: con 16 corridas hay fracciones de resolución V con 2 factores de dos niveles y 2 o 3 de tres niveles, o con 3 de dos niveles y 1 de tres; con 4 de dos niveles y 1 de tres el diseño baja a resolución III.</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quiere medir la adherencia (N) de un recubrimiento. Influyen el tipo de imprimante (A, dos tipos: factor cualitativo de dos niveles) y la temperatura de curado (X, tres niveles: 60, 80 y 100 °C, cuantitativo).</a:t>
            </a:r>
          </a:p>
          <a:p/>
          <a:p>
            <a:r>
              <a:t>Solo se pueden hacer 8 corridas. Un 2 × 3 completo tiene 6 combinaciones; con 8 corridas se usa la tabla 9-10: las columnas B y C de un 23 se colapsan en X y el nivel intermedio queda repetido.</a:t>
            </a:r>
          </a:p>
          <a:p/>
          <a:p>
            <a:r>
              <a:t>Los datos son inventados para que las cuentas sean cortas: corridas 1 a 8 con adherencia 10, 14, 15, 19, 16, 18, 17 y 23.</a:t>
            </a:r>
          </a:p>
          <a:p/>
          <a:p>
            <a:r>
              <a:t>Objetivo: Ver cómo las columnas del 23 se reagrupan en los efectos reales A, XL, XQ y sus interacciones, y de dónde sale el error</a:t>
            </a:r>
          </a:p>
          <a:p/>
          <a:p>
            <a:r>
              <a:t>Se pide: calcular los efectos de las siete columnas del 23; reagruparlos: XL = B + C, XQ = BC, etc.; obtener el error puro con las corridas repetidas; armar la tabla ANOVA de la tabla 9-11. Fuente: ejemplo construido para la clase, con datos inventados.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Primero se calculan los efectos de las siete columnas del 23 como si fuera un factorial de dos niveles. Después se reagrupan según la fila superior de la tabla 9-10.</a:t>
            </a:r>
          </a:p>
          <a:p/>
          <a:p>
            <a:r>
              <a:t>XL: las columnas B y C estiman cada una el efecto lineal de X, y su suma, 4.00 + 4.00 = 8.00, es la diferencia entre la adherencia media con X alto (corridas 7 y 8: 20.0) y con X bajo (corridas 1 y 2: 12.0). Su suma de cuadrados es SSB + SSC = 32.00 + 32.00 = 64.00. XQ es la columna BC: efecto −1.00, SS = 2.00; compara el nivel intermedio con el promedio de los extremos. SSX = 66.00, con 2 grados de libertad, es lo mismo que se obtiene calculando directamente la SS entre los tres niveles de X.</a:t>
            </a:r>
          </a:p>
          <a:p/>
          <a:p>
            <a:r>
              <a:t>A × XL es la suma de AB y AC (SS = 2.00) y A × XQ es ABC (SS = 2.00); juntas, SSAX = 3.00. El error puro sale de los pares repetidos: (15, 16) y (19, 18) dan SSE = 0.5 + 0.5 = 1.0 con 2 grados de libertad. Todo cuadra: 32.00 + 66.00 + 3.00 + 1.0 = 102.00 = SST.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Incorporar un factor con cuatro niveles en un 2k es muy sencillo. Se toman dos columnas de la tabla de signos, P y Q, y sus cuatro combinaciones de signos se hacen corresponder con los cuatro niveles del factor A: (−, −) → a1, (+, −) → a2, (−, +) → a3, (+, +) → a4. Las columnas P, Q y PQ son mutuamente ortogonales y, juntas, representan el efecto de A con 3 grados de libertad.</a:t>
            </a:r>
          </a:p>
          <a:p/>
          <a:p>
            <a:r>
              <a:t>Ejemplo del libro: un factor X de cuatro niveles y dos factores C y D de dos niveles en 16 corridas (tabla 9-13). Se parte de la tabla de signos del 24 y las columnas A y B forman X. Las sumas de cuadrados de las 15 columnas se calculan exactamente igual que en un 24, y después se agrupan: SSX = SSA + SSB + SSAB con 3 grados de libertad; SSXC = SSAC + SSBC + SSABC; SSXD = SSAD + SSBD + SSABD; SSXCD = SSACD + SSBCD + SSABCD; y SSC, SSD y SSCD quedan como están. A este diseño se le llama 4 × 22.</a:t>
            </a:r>
          </a:p>
          <a:p/>
          <a:p>
            <a:r>
              <a:t>Si se ignoran las interacciones de dos factores, pueden asociarse factores adicionales de dos niveles a las columnas de interacción de dos, tres y cuatro factores, excepto AB, que lleva parte del efecto de X. El libro dice «hasta nueve»; descontando A, B, AB, C y D de las 15 columnas quedan diez disponibles.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Siete ideas resumen el capítulo. El 3k agrega el nivel intermedio y permite modelar curvatura, pero crece muy rápido y el libro lo reserva para factores cualitativos con tres niveles. Cada efecto principal tiene 2 grados de libertad y una interacción de h factores tiene 2h, que se parten en 2h−1 componentes de 2 grados de libertad. Esos componentes (AB, AB2, W, X, Y, Z) no se interpretan, pero son la herramienta con que se construyen bloques y fracciones, mediante la regla L = Σ αixi (mod 3). Con factores cuantitativos la partición que sí se interpreta es la lineal y cuadrática. Confundir en 3p bloques cuesta (3p − 1)/2 componentes; una fracción 3k−p es un bloque de ese esquema y cada efecto tiene dos alias por palabra. Y la recomendación final: preferir dos niveles con puntos centrales, y cuando haga falta un factor de tres o cuatro niveles, incorporarlo dentro de un 2k.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errores más comunes al trabajar con 3k: usarlo para factores cuantitativos solo por ver curvatura, cuando un 2k con puntos centrales lo detecta con menos corridas; interpretar los componentes AB y AB2 o W, X, Y, Z como si tuvieran significado físico, o confundirlos con los componentes lineal y cuadrático; olvidar normalizar los exponentes (A2B no es una palabra válida: es AB2); olvidar el segundo alias (× I2) en las fracciones; confundir con los bloques un componente de un efecto principal o de una interacción de dos factores, cuando hay disponibles los de la interacción de orden más alto; y usar un 3k−1 de resolución III cuando se sospecha de interacciones, porque no hay doblez que lo rescate.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Capítulo 9 de Montgomery, en la segunda edición en español: diseños 3k (9-1), confusión (9-2), fracciones 3k−p (9-3) y niveles mixtos (9-4), páginas 363 a 391. Los ejemplos numéricos son el 9-1 (jarabe), el 9-2 (32 en bloques) y los problemas 9-3, 9-6, 9-9 y 9-12; el ejemplo 6 es propio. Para los componentes de la interacción y la tabla de cuadrados latinos se citan además los capítulos 4 y 5, y para el diseño central compuesto el capítulo 6 y el 11.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itle 1"/>
          <p:cNvSpPr>
            <a:spLocks noGrp="1"/>
          </p:cNvSpPr>
          <p:nvPr>
            <p:ph type="title"/>
          </p:nvPr>
        </p:nvSpPr>
        <p:spPr>
          <a:xfrm>
            <a:off x="548640" y="2103120"/>
            <a:ext cx="11094415" cy="1371600"/>
          </a:xfrm>
        </p:spPr>
        <p:txBody>
          <a:bodyPr wrap="square" anchor="b" lIns="0" rIns="0" tIns="0" bIns="0"/>
          <a:lstStyle/>
          <a:p>
            <a:pPr algn="l"/>
            <a:r>
              <a:rPr sz="4600" b="1">
                <a:solidFill>
                  <a:srgbClr val="FFFFFF"/>
                </a:solidFill>
                <a:latin typeface="Cambria"/>
              </a:rPr>
              <a:t>Diseños factoriales 3</a:t>
            </a:r>
            <a:r>
              <a:rPr sz="4600" b="1" baseline="30000">
                <a:solidFill>
                  <a:srgbClr val="FFFFFF"/>
                </a:solidFill>
                <a:latin typeface="Cambria"/>
              </a:rPr>
              <a:t>k</a:t>
            </a:r>
            <a:r>
              <a:rPr sz="4600" b="1">
                <a:solidFill>
                  <a:srgbClr val="FFFFFF"/>
                </a:solidFill>
                <a:latin typeface="Cambria"/>
              </a:rPr>
              <a:t> y con niveles mixtos</a:t>
            </a:r>
          </a:p>
        </p:txBody>
      </p:sp>
      <p:sp>
        <p:nvSpPr>
          <p:cNvPr id="3" name="TextBox 2"/>
          <p:cNvSpPr txBox="1"/>
          <p:nvPr/>
        </p:nvSpPr>
        <p:spPr>
          <a:xfrm>
            <a:off x="548640" y="3657600"/>
            <a:ext cx="11094415" cy="548640"/>
          </a:xfrm>
          <a:prstGeom prst="rect">
            <a:avLst/>
          </a:prstGeom>
          <a:noFill/>
        </p:spPr>
        <p:txBody>
          <a:bodyPr wrap="square" anchor="t" lIns="0" rIns="0" tIns="0" bIns="0">
            <a:spAutoFit/>
          </a:bodyPr>
          <a:lstStyle/>
          <a:p>
            <a:r>
              <a:rPr sz="2200" b="0">
                <a:solidFill>
                  <a:srgbClr val="CFE3E8"/>
                </a:solidFill>
                <a:latin typeface="Calibri"/>
              </a:rPr>
              <a:t>Tema 6 (segunda parte) · Diseño de Experimentos Avanzados (3008475)</a:t>
            </a:r>
          </a:p>
        </p:txBody>
      </p:sp>
      <p:sp>
        <p:nvSpPr>
          <p:cNvPr id="4" name="TextBox 3"/>
          <p:cNvSpPr txBox="1"/>
          <p:nvPr/>
        </p:nvSpPr>
        <p:spPr>
          <a:xfrm>
            <a:off x="548640" y="4846320"/>
            <a:ext cx="11094415" cy="914400"/>
          </a:xfrm>
          <a:prstGeom prst="rect">
            <a:avLst/>
          </a:prstGeom>
          <a:noFill/>
        </p:spPr>
        <p:txBody>
          <a:bodyPr wrap="square" anchor="t" lIns="0" rIns="0" tIns="0" bIns="0">
            <a:spAutoFit/>
          </a:bodyPr>
          <a:lstStyle/>
          <a:p>
            <a:r>
              <a:rPr sz="1600" b="0">
                <a:solidFill>
                  <a:srgbClr val="FFFFFF"/>
                </a:solidFill>
                <a:latin typeface="Calibri"/>
              </a:rPr>
              <a:t>Juan Esteban Rodríguez Ochoa · Sebastián Zapata Henao</a:t>
            </a:r>
          </a:p>
          <a:p>
            <a:r>
              <a:rPr sz="1600" b="0">
                <a:solidFill>
                  <a:srgbClr val="FFFFFF"/>
                </a:solidFill>
                <a:latin typeface="Calibri"/>
              </a:rPr>
              <a:t>Universidad Nacional de Colombia · 31 de octubre de 2026</a:t>
            </a:r>
          </a:p>
        </p:txBody>
      </p:sp>
      <p:sp>
        <p:nvSpPr>
          <p:cNvPr id="5" name="Oval 4"/>
          <p:cNvSpPr/>
          <p:nvPr/>
        </p:nvSpPr>
        <p:spPr>
          <a:xfrm>
            <a:off x="8899855" y="502920"/>
            <a:ext cx="914400" cy="91440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FFFFFF"/>
                </a:solidFill>
                <a:latin typeface="Calibri"/>
              </a:rPr>
              <a:t>+</a:t>
            </a:r>
          </a:p>
        </p:txBody>
      </p:sp>
      <p:sp>
        <p:nvSpPr>
          <p:cNvPr id="6" name="Oval 5"/>
          <p:cNvSpPr/>
          <p:nvPr/>
        </p:nvSpPr>
        <p:spPr>
          <a:xfrm>
            <a:off x="10088575" y="502920"/>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0F4C5C"/>
                </a:solidFill>
                <a:latin typeface="Calibri"/>
              </a:rPr>
              <a:t>−</a:t>
            </a:r>
          </a:p>
        </p:txBody>
      </p:sp>
      <p:sp>
        <p:nvSpPr>
          <p:cNvPr id="7" name="Oval 6"/>
          <p:cNvSpPr/>
          <p:nvPr/>
        </p:nvSpPr>
        <p:spPr>
          <a:xfrm>
            <a:off x="8899855" y="1600200"/>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0F4C5C"/>
                </a:solidFill>
                <a:latin typeface="Calibri"/>
              </a:rPr>
              <a:t>+</a:t>
            </a:r>
          </a:p>
        </p:txBody>
      </p:sp>
      <p:sp>
        <p:nvSpPr>
          <p:cNvPr id="8" name="Oval 7"/>
          <p:cNvSpPr/>
          <p:nvPr/>
        </p:nvSpPr>
        <p:spPr>
          <a:xfrm>
            <a:off x="10088575" y="1600200"/>
            <a:ext cx="914400" cy="91440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FFFFFF"/>
                </a:solidFill>
                <a:latin typeface="Calibri"/>
              </a:rP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Ruta de la clase</a:t>
            </a:r>
          </a:p>
        </p:txBody>
      </p:sp>
      <p:sp>
        <p:nvSpPr>
          <p:cNvPr id="3" name="Rounded Rectangle 2"/>
          <p:cNvSpPr/>
          <p:nvPr/>
        </p:nvSpPr>
        <p:spPr>
          <a:xfrm>
            <a:off x="548640" y="1417320"/>
            <a:ext cx="2036003" cy="2164080"/>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1 · Propósito y vocabulario</a:t>
            </a:r>
          </a:p>
          <a:p>
            <a:pPr algn="l"/>
            <a:r>
              <a:rPr sz="1500" b="0">
                <a:solidFill>
                  <a:srgbClr val="142B33"/>
                </a:solidFill>
                <a:latin typeface="Calibri"/>
              </a:rPr>
              <a:t>Para qué un tercer nivel, notación 0-1-2 y grados de libertad</a:t>
            </a:r>
          </a:p>
        </p:txBody>
      </p:sp>
      <p:sp>
        <p:nvSpPr>
          <p:cNvPr id="4" name="Rounded Rectangle 3"/>
          <p:cNvSpPr/>
          <p:nvPr/>
        </p:nvSpPr>
        <p:spPr>
          <a:xfrm>
            <a:off x="2813243" y="1417320"/>
            <a:ext cx="2036003" cy="2164080"/>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2 · Componentes de interacción</a:t>
            </a:r>
          </a:p>
          <a:p>
            <a:pPr algn="l"/>
            <a:r>
              <a:rPr sz="1500" b="0">
                <a:solidFill>
                  <a:srgbClr val="142B33"/>
                </a:solidFill>
                <a:latin typeface="Calibri"/>
              </a:rPr>
              <a:t>AB, AB</a:t>
            </a:r>
            <a:r>
              <a:rPr sz="1500" b="0" baseline="30000">
                <a:solidFill>
                  <a:srgbClr val="142B33"/>
                </a:solidFill>
                <a:latin typeface="Calibri"/>
              </a:rPr>
              <a:t>2</a:t>
            </a:r>
            <a:r>
              <a:rPr sz="1500" b="0">
                <a:solidFill>
                  <a:srgbClr val="142B33"/>
                </a:solidFill>
                <a:latin typeface="Calibri"/>
              </a:rPr>
              <a:t>, W, X, Y, Z: la herramienta de construcción</a:t>
            </a:r>
          </a:p>
        </p:txBody>
      </p:sp>
      <p:sp>
        <p:nvSpPr>
          <p:cNvPr id="5" name="Rounded Rectangle 4"/>
          <p:cNvSpPr/>
          <p:nvPr/>
        </p:nvSpPr>
        <p:spPr>
          <a:xfrm>
            <a:off x="5077846" y="1417320"/>
            <a:ext cx="2036003" cy="2164080"/>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3 · Los diseños 3</a:t>
            </a:r>
            <a:r>
              <a:rPr sz="1700" b="1" baseline="30000">
                <a:solidFill>
                  <a:srgbClr val="0F4C5C"/>
                </a:solidFill>
                <a:latin typeface="Cambria"/>
              </a:rPr>
              <a:t>2</a:t>
            </a:r>
            <a:r>
              <a:rPr sz="1700" b="1">
                <a:solidFill>
                  <a:srgbClr val="0F4C5C"/>
                </a:solidFill>
                <a:latin typeface="Cambria"/>
              </a:rPr>
              <a:t> y 3</a:t>
            </a:r>
            <a:r>
              <a:rPr sz="1700" b="1" baseline="30000">
                <a:solidFill>
                  <a:srgbClr val="0F4C5C"/>
                </a:solidFill>
                <a:latin typeface="Cambria"/>
              </a:rPr>
              <a:t>3</a:t>
            </a:r>
          </a:p>
          <a:p>
            <a:pPr algn="l"/>
            <a:r>
              <a:rPr sz="1500" b="0">
                <a:solidFill>
                  <a:srgbClr val="142B33"/>
                </a:solidFill>
                <a:latin typeface="Calibri"/>
              </a:rPr>
              <a:t>Análisis completo con dos ejemplos del libro</a:t>
            </a:r>
          </a:p>
        </p:txBody>
      </p:sp>
      <p:sp>
        <p:nvSpPr>
          <p:cNvPr id="6" name="Rounded Rectangle 5"/>
          <p:cNvSpPr/>
          <p:nvPr/>
        </p:nvSpPr>
        <p:spPr>
          <a:xfrm>
            <a:off x="7342449" y="1417320"/>
            <a:ext cx="2036003" cy="2164080"/>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4 · Confusión en tres bloques</a:t>
            </a:r>
          </a:p>
          <a:p>
            <a:pPr algn="l"/>
            <a:r>
              <a:rPr sz="1500" b="0">
                <a:solidFill>
                  <a:srgbClr val="142B33"/>
                </a:solidFill>
                <a:latin typeface="Calibri"/>
              </a:rPr>
              <a:t>Definición de contrastes L mod 3 y dos ejemplos</a:t>
            </a:r>
          </a:p>
        </p:txBody>
      </p:sp>
      <p:sp>
        <p:nvSpPr>
          <p:cNvPr id="7" name="Rounded Rectangle 6"/>
          <p:cNvSpPr/>
          <p:nvPr/>
        </p:nvSpPr>
        <p:spPr>
          <a:xfrm>
            <a:off x="9607052" y="1417320"/>
            <a:ext cx="2036003" cy="2164080"/>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5 · Nueve y 3</a:t>
            </a:r>
            <a:r>
              <a:rPr sz="1700" b="1" baseline="30000">
                <a:solidFill>
                  <a:srgbClr val="0F4C5C"/>
                </a:solidFill>
                <a:latin typeface="Cambria"/>
              </a:rPr>
              <a:t>p</a:t>
            </a:r>
            <a:r>
              <a:rPr sz="1700" b="1">
                <a:solidFill>
                  <a:srgbClr val="0F4C5C"/>
                </a:solidFill>
                <a:latin typeface="Cambria"/>
              </a:rPr>
              <a:t> bloques</a:t>
            </a:r>
          </a:p>
          <a:p>
            <a:pPr algn="l"/>
            <a:r>
              <a:rPr sz="1500" b="0">
                <a:solidFill>
                  <a:srgbClr val="142B33"/>
                </a:solidFill>
                <a:latin typeface="Calibri"/>
              </a:rPr>
              <a:t>Interacciones generalizadas PQ y PQ</a:t>
            </a:r>
            <a:r>
              <a:rPr sz="1500" b="0" baseline="30000">
                <a:solidFill>
                  <a:srgbClr val="142B33"/>
                </a:solidFill>
                <a:latin typeface="Calibri"/>
              </a:rPr>
              <a:t>2</a:t>
            </a:r>
          </a:p>
        </p:txBody>
      </p:sp>
      <p:sp>
        <p:nvSpPr>
          <p:cNvPr id="8" name="Rounded Rectangle 7"/>
          <p:cNvSpPr/>
          <p:nvPr/>
        </p:nvSpPr>
        <p:spPr>
          <a:xfrm>
            <a:off x="548640" y="3810000"/>
            <a:ext cx="2036003" cy="2164080"/>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6 · Fracción un tercio 3</a:t>
            </a:r>
            <a:r>
              <a:rPr sz="1700" b="1" baseline="30000">
                <a:solidFill>
                  <a:srgbClr val="0F4C5C"/>
                </a:solidFill>
                <a:latin typeface="Cambria"/>
              </a:rPr>
              <a:t>k−1</a:t>
            </a:r>
          </a:p>
          <a:p>
            <a:pPr algn="l"/>
            <a:r>
              <a:rPr sz="1500" b="0">
                <a:solidFill>
                  <a:srgbClr val="142B33"/>
                </a:solidFill>
                <a:latin typeface="Calibri"/>
              </a:rPr>
              <a:t>Relación de definición, alias por I e I</a:t>
            </a:r>
            <a:r>
              <a:rPr sz="1500" b="0" baseline="30000">
                <a:solidFill>
                  <a:srgbClr val="142B33"/>
                </a:solidFill>
                <a:latin typeface="Calibri"/>
              </a:rPr>
              <a:t>2</a:t>
            </a:r>
            <a:r>
              <a:rPr sz="1500" b="0">
                <a:solidFill>
                  <a:srgbClr val="142B33"/>
                </a:solidFill>
                <a:latin typeface="Calibri"/>
              </a:rPr>
              <a:t>, un ejemplo</a:t>
            </a:r>
          </a:p>
        </p:txBody>
      </p:sp>
      <p:sp>
        <p:nvSpPr>
          <p:cNvPr id="9" name="Rounded Rectangle 8"/>
          <p:cNvSpPr/>
          <p:nvPr/>
        </p:nvSpPr>
        <p:spPr>
          <a:xfrm>
            <a:off x="2813243" y="3810000"/>
            <a:ext cx="2036003" cy="2164080"/>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7 · Fracción general 3</a:t>
            </a:r>
            <a:r>
              <a:rPr sz="1700" b="1" baseline="30000">
                <a:solidFill>
                  <a:srgbClr val="0F4C5C"/>
                </a:solidFill>
                <a:latin typeface="Cambria"/>
              </a:rPr>
              <a:t>k−p</a:t>
            </a:r>
          </a:p>
          <a:p>
            <a:pPr algn="l"/>
            <a:r>
              <a:rPr sz="1500" b="0">
                <a:solidFill>
                  <a:srgbClr val="142B33"/>
                </a:solidFill>
                <a:latin typeface="Calibri"/>
              </a:rPr>
              <a:t>Construcción, alias y el juicio del libro</a:t>
            </a:r>
          </a:p>
        </p:txBody>
      </p:sp>
      <p:sp>
        <p:nvSpPr>
          <p:cNvPr id="10" name="Rounded Rectangle 9"/>
          <p:cNvSpPr/>
          <p:nvPr/>
        </p:nvSpPr>
        <p:spPr>
          <a:xfrm>
            <a:off x="5077846" y="3810000"/>
            <a:ext cx="2036003" cy="2164080"/>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8 · Niveles mixtos</a:t>
            </a:r>
          </a:p>
          <a:p>
            <a:pPr algn="l"/>
            <a:r>
              <a:rPr sz="1500" b="0">
                <a:solidFill>
                  <a:srgbClr val="142B33"/>
                </a:solidFill>
                <a:latin typeface="Calibri"/>
              </a:rPr>
              <a:t>Factores de tres y cuatro niveles dentro de un 2</a:t>
            </a:r>
            <a:r>
              <a:rPr sz="1500" b="0" baseline="30000">
                <a:solidFill>
                  <a:srgbClr val="142B33"/>
                </a:solidFill>
                <a:latin typeface="Calibri"/>
              </a:rPr>
              <a:t>k</a:t>
            </a:r>
          </a:p>
        </p:txBody>
      </p:sp>
      <p:sp>
        <p:nvSpPr>
          <p:cNvPr id="11" name="Rounded Rectangle 10"/>
          <p:cNvSpPr/>
          <p:nvPr/>
        </p:nvSpPr>
        <p:spPr>
          <a:xfrm>
            <a:off x="7342449" y="3810000"/>
            <a:ext cx="2036003" cy="2164080"/>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9 · Cierre</a:t>
            </a:r>
          </a:p>
          <a:p>
            <a:pPr algn="l"/>
            <a:r>
              <a:rPr sz="1500" b="0">
                <a:solidFill>
                  <a:srgbClr val="142B33"/>
                </a:solidFill>
                <a:latin typeface="Calibri"/>
              </a:rPr>
              <a:t>Ideas clave y errores frecuentes</a:t>
            </a:r>
          </a:p>
        </p:txBody>
      </p:sp>
      <p:sp>
        <p:nvSpPr>
          <p:cNvPr id="12" name="TextBox 11"/>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a:t>
            </a:r>
          </a:p>
        </p:txBody>
      </p:sp>
      <p:sp>
        <p:nvSpPr>
          <p:cNvPr id="13" name="TextBox 12"/>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2</a:t>
            </a:r>
          </a:p>
        </p:txBody>
      </p:sp>
      <p:sp>
        <p:nvSpPr>
          <p:cNvPr id="14" name="Rounded Rectangle 13"/>
          <p:cNvSpPr/>
          <p:nvPr/>
        </p:nvSpPr>
        <p:spPr>
          <a:xfrm>
            <a:off x="548640" y="91440"/>
            <a:ext cx="134416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Introducción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itle 1"/>
          <p:cNvSpPr>
            <a:spLocks noGrp="1"/>
          </p:cNvSpPr>
          <p:nvPr>
            <p:ph type="title"/>
          </p:nvPr>
        </p:nvSpPr>
        <p:spPr>
          <a:xfrm>
            <a:off x="548640" y="3383280"/>
            <a:ext cx="11094415" cy="914400"/>
          </a:xfrm>
        </p:spPr>
        <p:txBody>
          <a:bodyPr wrap="square" anchor="t" lIns="0" rIns="0" tIns="0" bIns="0"/>
          <a:lstStyle/>
          <a:p>
            <a:pPr algn="l"/>
            <a:r>
              <a:rPr sz="4400" b="1">
                <a:solidFill>
                  <a:srgbClr val="FFFFFF"/>
                </a:solidFill>
                <a:latin typeface="Cambria"/>
              </a:rPr>
              <a:t>Propósito y vocabulario</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1</a:t>
            </a:r>
          </a:p>
        </p:txBody>
      </p:sp>
      <p:sp>
        <p:nvSpPr>
          <p:cNvPr id="4" name="TextBox 3"/>
          <p:cNvSpPr txBox="1"/>
          <p:nvPr/>
        </p:nvSpPr>
        <p:spPr>
          <a:xfrm>
            <a:off x="548640" y="4343400"/>
            <a:ext cx="11094415" cy="548640"/>
          </a:xfrm>
          <a:prstGeom prst="rect">
            <a:avLst/>
          </a:prstGeom>
          <a:noFill/>
        </p:spPr>
        <p:txBody>
          <a:bodyPr wrap="square" anchor="t" lIns="0" rIns="0" tIns="0" bIns="0">
            <a:spAutoFit/>
          </a:bodyPr>
          <a:lstStyle/>
          <a:p>
            <a:r>
              <a:rPr sz="2000" b="0">
                <a:solidFill>
                  <a:srgbClr val="CFE3E8"/>
                </a:solidFill>
                <a:latin typeface="Calibri"/>
              </a:rPr>
              <a:t>Para qué sirve un tercer nivel, notación 0-1-2 y grados de libertad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¿Para qué sirve un tercer nivel?</a:t>
            </a:r>
          </a:p>
        </p:txBody>
      </p:sp>
      <p:sp>
        <p:nvSpPr>
          <p:cNvPr id="3" name="Rounded Rectangle 2"/>
          <p:cNvSpPr/>
          <p:nvPr/>
        </p:nvSpPr>
        <p:spPr>
          <a:xfrm>
            <a:off x="548640" y="1417320"/>
            <a:ext cx="5875614" cy="569325"/>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0">
                <a:solidFill>
                  <a:srgbClr val="0F4C5C"/>
                </a:solidFill>
                <a:latin typeface="Cambria Math"/>
              </a:rPr>
              <a:t>y = β</a:t>
            </a:r>
            <a:r>
              <a:rPr sz="1700" b="0" baseline="-25000">
                <a:solidFill>
                  <a:srgbClr val="0F4C5C"/>
                </a:solidFill>
                <a:latin typeface="Cambria Math"/>
              </a:rPr>
              <a:t>0</a:t>
            </a:r>
            <a:r>
              <a:rPr sz="1700" b="0">
                <a:solidFill>
                  <a:srgbClr val="0F4C5C"/>
                </a:solidFill>
                <a:latin typeface="Cambria Math"/>
              </a:rPr>
              <a:t> + β</a:t>
            </a:r>
            <a:r>
              <a:rPr sz="1700" b="0" baseline="-25000">
                <a:solidFill>
                  <a:srgbClr val="0F4C5C"/>
                </a:solidFill>
                <a:latin typeface="Cambria Math"/>
              </a:rPr>
              <a:t>1</a:t>
            </a:r>
            <a:r>
              <a:rPr sz="1700" b="0">
                <a:solidFill>
                  <a:srgbClr val="0F4C5C"/>
                </a:solidFill>
                <a:latin typeface="Cambria Math"/>
              </a:rPr>
              <a:t>x</a:t>
            </a:r>
            <a:r>
              <a:rPr sz="1700" b="0" baseline="-25000">
                <a:solidFill>
                  <a:srgbClr val="0F4C5C"/>
                </a:solidFill>
                <a:latin typeface="Cambria Math"/>
              </a:rPr>
              <a:t>1</a:t>
            </a:r>
            <a:r>
              <a:rPr sz="1700" b="0">
                <a:solidFill>
                  <a:srgbClr val="0F4C5C"/>
                </a:solidFill>
                <a:latin typeface="Cambria Math"/>
              </a:rPr>
              <a:t> + β</a:t>
            </a:r>
            <a:r>
              <a:rPr sz="1700" b="0" baseline="-25000">
                <a:solidFill>
                  <a:srgbClr val="0F4C5C"/>
                </a:solidFill>
                <a:latin typeface="Cambria Math"/>
              </a:rPr>
              <a:t>2</a:t>
            </a:r>
            <a:r>
              <a:rPr sz="1700" b="0">
                <a:solidFill>
                  <a:srgbClr val="0F4C5C"/>
                </a:solidFill>
                <a:latin typeface="Cambria Math"/>
              </a:rPr>
              <a:t>x</a:t>
            </a:r>
            <a:r>
              <a:rPr sz="1700" b="0" baseline="-25000">
                <a:solidFill>
                  <a:srgbClr val="0F4C5C"/>
                </a:solidFill>
                <a:latin typeface="Cambria Math"/>
              </a:rPr>
              <a:t>2</a:t>
            </a:r>
            <a:r>
              <a:rPr sz="1700" b="0">
                <a:solidFill>
                  <a:srgbClr val="0F4C5C"/>
                </a:solidFill>
                <a:latin typeface="Cambria Math"/>
              </a:rPr>
              <a:t> + β</a:t>
            </a:r>
            <a:r>
              <a:rPr sz="1700" b="0" baseline="-25000">
                <a:solidFill>
                  <a:srgbClr val="0F4C5C"/>
                </a:solidFill>
                <a:latin typeface="Cambria Math"/>
              </a:rPr>
              <a:t>12</a:t>
            </a:r>
            <a:r>
              <a:rPr sz="1700" b="0">
                <a:solidFill>
                  <a:srgbClr val="0F4C5C"/>
                </a:solidFill>
                <a:latin typeface="Cambria Math"/>
              </a:rPr>
              <a:t>x</a:t>
            </a:r>
            <a:r>
              <a:rPr sz="1700" b="0" baseline="-25000">
                <a:solidFill>
                  <a:srgbClr val="0F4C5C"/>
                </a:solidFill>
                <a:latin typeface="Cambria Math"/>
              </a:rPr>
              <a:t>1</a:t>
            </a:r>
            <a:r>
              <a:rPr sz="1700" b="0">
                <a:solidFill>
                  <a:srgbClr val="0F4C5C"/>
                </a:solidFill>
                <a:latin typeface="Cambria Math"/>
              </a:rPr>
              <a:t>x</a:t>
            </a:r>
            <a:r>
              <a:rPr sz="1700" b="0" baseline="-25000">
                <a:solidFill>
                  <a:srgbClr val="0F4C5C"/>
                </a:solidFill>
                <a:latin typeface="Cambria Math"/>
              </a:rPr>
              <a:t>2</a:t>
            </a:r>
            <a:r>
              <a:rPr sz="1700" b="0">
                <a:solidFill>
                  <a:srgbClr val="0F4C5C"/>
                </a:solidFill>
                <a:latin typeface="Cambria Math"/>
              </a:rPr>
              <a:t> + β</a:t>
            </a:r>
            <a:r>
              <a:rPr sz="1700" b="0" baseline="-25000">
                <a:solidFill>
                  <a:srgbClr val="0F4C5C"/>
                </a:solidFill>
                <a:latin typeface="Cambria Math"/>
              </a:rPr>
              <a:t>11</a:t>
            </a:r>
            <a:r>
              <a:rPr sz="1700" b="0">
                <a:solidFill>
                  <a:srgbClr val="0F4C5C"/>
                </a:solidFill>
                <a:latin typeface="Cambria Math"/>
              </a:rPr>
              <a:t>x</a:t>
            </a:r>
            <a:r>
              <a:rPr sz="1700" b="0" baseline="-25000">
                <a:solidFill>
                  <a:srgbClr val="0F4C5C"/>
                </a:solidFill>
                <a:latin typeface="Cambria Math"/>
              </a:rPr>
              <a:t>1</a:t>
            </a:r>
            <a:r>
              <a:rPr sz="1700" b="0" baseline="30000">
                <a:solidFill>
                  <a:srgbClr val="0F4C5C"/>
                </a:solidFill>
                <a:latin typeface="Cambria Math"/>
              </a:rPr>
              <a:t>2</a:t>
            </a:r>
            <a:r>
              <a:rPr sz="1700" b="0">
                <a:solidFill>
                  <a:srgbClr val="0F4C5C"/>
                </a:solidFill>
                <a:latin typeface="Cambria Math"/>
              </a:rPr>
              <a:t> + β</a:t>
            </a:r>
            <a:r>
              <a:rPr sz="1700" b="0" baseline="-25000">
                <a:solidFill>
                  <a:srgbClr val="0F4C5C"/>
                </a:solidFill>
                <a:latin typeface="Cambria Math"/>
              </a:rPr>
              <a:t>22</a:t>
            </a:r>
            <a:r>
              <a:rPr sz="1700" b="0">
                <a:solidFill>
                  <a:srgbClr val="0F4C5C"/>
                </a:solidFill>
                <a:latin typeface="Cambria Math"/>
              </a:rPr>
              <a:t>x</a:t>
            </a:r>
            <a:r>
              <a:rPr sz="1700" b="0" baseline="-25000">
                <a:solidFill>
                  <a:srgbClr val="0F4C5C"/>
                </a:solidFill>
                <a:latin typeface="Cambria Math"/>
              </a:rPr>
              <a:t>2</a:t>
            </a:r>
            <a:r>
              <a:rPr sz="1700" b="0" baseline="30000">
                <a:solidFill>
                  <a:srgbClr val="0F4C5C"/>
                </a:solidFill>
                <a:latin typeface="Cambria Math"/>
              </a:rPr>
              <a:t>2</a:t>
            </a:r>
            <a:r>
              <a:rPr sz="1700" b="0">
                <a:solidFill>
                  <a:srgbClr val="0F4C5C"/>
                </a:solidFill>
                <a:latin typeface="Cambria Math"/>
              </a:rPr>
              <a:t> + ε</a:t>
            </a:r>
          </a:p>
        </p:txBody>
      </p:sp>
      <p:sp>
        <p:nvSpPr>
          <p:cNvPr id="4" name="TextBox 3"/>
          <p:cNvSpPr txBox="1"/>
          <p:nvPr/>
        </p:nvSpPr>
        <p:spPr>
          <a:xfrm>
            <a:off x="548640" y="2187813"/>
            <a:ext cx="5875614" cy="1486407"/>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600" b="0">
                <a:solidFill>
                  <a:srgbClr val="142B33"/>
                </a:solidFill>
                <a:latin typeface="Calibri"/>
              </a:rPr>
              <a:t>Dos niveles → una </a:t>
            </a:r>
            <a:r>
              <a:rPr sz="1600" b="1">
                <a:solidFill>
                  <a:srgbClr val="142B33"/>
                </a:solidFill>
                <a:latin typeface="Calibri"/>
              </a:rPr>
              <a:t>recta</a:t>
            </a:r>
            <a:r>
              <a:rPr sz="1600" b="0">
                <a:solidFill>
                  <a:srgbClr val="142B33"/>
                </a:solidFill>
                <a:latin typeface="Calibri"/>
              </a:rPr>
              <a:t>; tres niveles → una </a:t>
            </a:r>
            <a:r>
              <a:rPr sz="1600" b="1">
                <a:solidFill>
                  <a:srgbClr val="142B33"/>
                </a:solidFill>
                <a:latin typeface="Calibri"/>
              </a:rPr>
              <a:t>parábola</a:t>
            </a:r>
            <a:r>
              <a:rPr sz="1600" b="0">
                <a:solidFill>
                  <a:srgbClr val="142B33"/>
                </a:solidFill>
                <a:latin typeface="Calibri"/>
              </a:rPr>
              <a:t>: se puede modelar la </a:t>
            </a:r>
            <a:r>
              <a:rPr sz="1600" b="1">
                <a:solidFill>
                  <a:srgbClr val="142B33"/>
                </a:solidFill>
                <a:latin typeface="Calibri"/>
              </a:rPr>
              <a:t>curvatura</a:t>
            </a:r>
          </a:p>
          <a:p>
            <a:pPr marL="320040" indent="-320040">
              <a:spcAft>
                <a:spcPts val="600"/>
              </a:spcAft>
              <a:buClr>
                <a:srgbClr val="E36414"/>
              </a:buClr>
              <a:buFont typeface="Arial"/>
              <a:buChar char="•"/>
            </a:pPr>
            <a:r>
              <a:rPr sz="1600" b="0">
                <a:solidFill>
                  <a:srgbClr val="142B33"/>
                </a:solidFill>
                <a:latin typeface="Calibri"/>
              </a:rPr>
              <a:t>Factores </a:t>
            </a:r>
            <a:r>
              <a:rPr sz="1600" b="1">
                <a:solidFill>
                  <a:srgbClr val="142B33"/>
                </a:solidFill>
                <a:latin typeface="Calibri"/>
              </a:rPr>
              <a:t>cualitativos</a:t>
            </a:r>
            <a:r>
              <a:rPr sz="1600" b="0">
                <a:solidFill>
                  <a:srgbClr val="142B33"/>
                </a:solidFill>
                <a:latin typeface="Calibri"/>
              </a:rPr>
              <a:t> con tres categorías de interés: boquillas, proveedores, materiales</a:t>
            </a:r>
          </a:p>
          <a:p>
            <a:pPr marL="320040" indent="-320040">
              <a:spcAft>
                <a:spcPts val="600"/>
              </a:spcAft>
              <a:buClr>
                <a:srgbClr val="E36414"/>
              </a:buClr>
              <a:buFont typeface="Arial"/>
              <a:buChar char="•"/>
            </a:pPr>
            <a:r>
              <a:rPr sz="1600" b="1">
                <a:solidFill>
                  <a:srgbClr val="142B33"/>
                </a:solidFill>
                <a:latin typeface="Calibri"/>
              </a:rPr>
              <a:t>k</a:t>
            </a:r>
            <a:r>
              <a:rPr sz="1600" b="0">
                <a:solidFill>
                  <a:srgbClr val="142B33"/>
                </a:solidFill>
                <a:latin typeface="Calibri"/>
              </a:rPr>
              <a:t> factores × </a:t>
            </a:r>
            <a:r>
              <a:rPr sz="1600" b="1">
                <a:solidFill>
                  <a:srgbClr val="142B33"/>
                </a:solidFill>
                <a:latin typeface="Calibri"/>
              </a:rPr>
              <a:t>3</a:t>
            </a:r>
            <a:r>
              <a:rPr sz="1600" b="0">
                <a:solidFill>
                  <a:srgbClr val="142B33"/>
                </a:solidFill>
                <a:latin typeface="Calibri"/>
              </a:rPr>
              <a:t> niveles = </a:t>
            </a:r>
            <a:r>
              <a:rPr sz="1600" b="1">
                <a:solidFill>
                  <a:srgbClr val="142B33"/>
                </a:solidFill>
                <a:latin typeface="Calibri"/>
              </a:rPr>
              <a:t>3</a:t>
            </a:r>
            <a:r>
              <a:rPr sz="1600" b="1" baseline="30000">
                <a:solidFill>
                  <a:srgbClr val="142B33"/>
                </a:solidFill>
                <a:latin typeface="Calibri"/>
              </a:rPr>
              <a:t>k</a:t>
            </a:r>
            <a:r>
              <a:rPr sz="1600" b="0">
                <a:solidFill>
                  <a:srgbClr val="142B33"/>
                </a:solidFill>
                <a:latin typeface="Calibri"/>
              </a:rPr>
              <a:t> combinaciones de tratamientos</a:t>
            </a:r>
          </a:p>
        </p:txBody>
      </p:sp>
      <p:sp>
        <p:nvSpPr>
          <p:cNvPr id="5" name="Rounded Rectangle 4"/>
          <p:cNvSpPr/>
          <p:nvPr/>
        </p:nvSpPr>
        <p:spPr>
          <a:xfrm>
            <a:off x="6835734" y="1417320"/>
            <a:ext cx="4807320" cy="148183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Cuándo sí</a:t>
            </a:r>
          </a:p>
          <a:p>
            <a:pPr algn="l"/>
            <a:r>
              <a:rPr sz="1500" b="0">
                <a:solidFill>
                  <a:srgbClr val="142B33"/>
                </a:solidFill>
                <a:latin typeface="Calibri"/>
              </a:rPr>
              <a:t>Un factor </a:t>
            </a:r>
            <a:r>
              <a:rPr sz="1500" b="1">
                <a:solidFill>
                  <a:srgbClr val="142B33"/>
                </a:solidFill>
                <a:latin typeface="Calibri"/>
              </a:rPr>
              <a:t>cualitativo</a:t>
            </a:r>
            <a:r>
              <a:rPr sz="1500" b="0">
                <a:solidFill>
                  <a:srgbClr val="142B33"/>
                </a:solidFill>
                <a:latin typeface="Calibri"/>
              </a:rPr>
              <a:t> con tres niveles que interesan todos (ejemplo 9-1 del libro)</a:t>
            </a:r>
          </a:p>
        </p:txBody>
      </p:sp>
      <p:sp>
        <p:nvSpPr>
          <p:cNvPr id="6" name="Rounded Rectangle 5"/>
          <p:cNvSpPr/>
          <p:nvPr/>
        </p:nvSpPr>
        <p:spPr>
          <a:xfrm>
            <a:off x="6835734" y="3127756"/>
            <a:ext cx="4807320" cy="148183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Cuándo no</a:t>
            </a:r>
          </a:p>
          <a:p>
            <a:pPr algn="l"/>
            <a:r>
              <a:rPr sz="1500" b="0">
                <a:solidFill>
                  <a:srgbClr val="142B33"/>
                </a:solidFill>
                <a:latin typeface="Calibri"/>
              </a:rPr>
              <a:t>Factores </a:t>
            </a:r>
            <a:r>
              <a:rPr sz="1500" b="1">
                <a:solidFill>
                  <a:srgbClr val="142B33"/>
                </a:solidFill>
                <a:latin typeface="Calibri"/>
              </a:rPr>
              <a:t>cuantitativos</a:t>
            </a:r>
            <a:r>
              <a:rPr sz="1500" b="0">
                <a:solidFill>
                  <a:srgbClr val="142B33"/>
                </a:solidFill>
                <a:latin typeface="Calibri"/>
              </a:rPr>
              <a:t> solo para ver curvatura: hay diseños más eficientes (siguiente diapositiva)</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Propósito y vocabulario</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4</a:t>
            </a:r>
          </a:p>
        </p:txBody>
      </p:sp>
      <p:sp>
        <p:nvSpPr>
          <p:cNvPr id="9" name="Rounded Rectangle 8"/>
          <p:cNvSpPr/>
          <p:nvPr/>
        </p:nvSpPr>
        <p:spPr>
          <a:xfrm>
            <a:off x="548640" y="91440"/>
            <a:ext cx="289864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1 · Propósito y vocabulario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Dos advertencias del libro antes de usar un 3</a:t>
            </a:r>
            <a:r>
              <a:rPr sz="3000" b="1" baseline="30000">
                <a:solidFill>
                  <a:srgbClr val="0F4C5C"/>
                </a:solidFill>
                <a:latin typeface="Cambria"/>
              </a:rPr>
              <a:t>k</a:t>
            </a:r>
          </a:p>
        </p:txBody>
      </p:sp>
      <p:sp>
        <p:nvSpPr>
          <p:cNvPr id="3" name="TextBox 2"/>
          <p:cNvSpPr txBox="1"/>
          <p:nvPr/>
        </p:nvSpPr>
        <p:spPr>
          <a:xfrm>
            <a:off x="548640" y="1417320"/>
            <a:ext cx="5341467" cy="1652015"/>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600" b="0">
                <a:solidFill>
                  <a:srgbClr val="142B33"/>
                </a:solidFill>
                <a:latin typeface="Calibri"/>
              </a:rPr>
              <a:t>El 3</a:t>
            </a:r>
            <a:r>
              <a:rPr sz="1600" b="0" baseline="30000">
                <a:solidFill>
                  <a:srgbClr val="142B33"/>
                </a:solidFill>
                <a:latin typeface="Calibri"/>
              </a:rPr>
              <a:t>k</a:t>
            </a:r>
            <a:r>
              <a:rPr sz="1600" b="0">
                <a:solidFill>
                  <a:srgbClr val="142B33"/>
                </a:solidFill>
                <a:latin typeface="Calibri"/>
              </a:rPr>
              <a:t> </a:t>
            </a:r>
            <a:r>
              <a:rPr sz="1600" b="1">
                <a:solidFill>
                  <a:srgbClr val="142B33"/>
                </a:solidFill>
                <a:latin typeface="Calibri"/>
              </a:rPr>
              <a:t>no es la forma más eficiente</a:t>
            </a:r>
            <a:r>
              <a:rPr sz="1600" b="0">
                <a:solidFill>
                  <a:srgbClr val="142B33"/>
                </a:solidFill>
                <a:latin typeface="Calibri"/>
              </a:rPr>
              <a:t> de modelar una relación cuadrática: los diseños de </a:t>
            </a:r>
            <a:r>
              <a:rPr sz="1600" b="1">
                <a:solidFill>
                  <a:srgbClr val="142B33"/>
                </a:solidFill>
                <a:latin typeface="Calibri"/>
              </a:rPr>
              <a:t>superficie de respuesta</a:t>
            </a:r>
            <a:r>
              <a:rPr sz="1600" b="0">
                <a:solidFill>
                  <a:srgbClr val="142B33"/>
                </a:solidFill>
                <a:latin typeface="Calibri"/>
              </a:rPr>
              <a:t> (cap. 11) son mejores</a:t>
            </a:r>
          </a:p>
          <a:p>
            <a:pPr marL="320040" indent="-320040">
              <a:spcAft>
                <a:spcPts val="600"/>
              </a:spcAft>
              <a:buClr>
                <a:srgbClr val="E36414"/>
              </a:buClr>
              <a:buFont typeface="+mj-lt"/>
              <a:buAutoNum type="arabicPeriod"/>
            </a:pPr>
            <a:r>
              <a:rPr sz="1600" b="0">
                <a:solidFill>
                  <a:srgbClr val="142B33"/>
                </a:solidFill>
                <a:latin typeface="Calibri"/>
              </a:rPr>
              <a:t>El </a:t>
            </a:r>
            <a:r>
              <a:rPr sz="1600" b="1">
                <a:solidFill>
                  <a:srgbClr val="142B33"/>
                </a:solidFill>
                <a:latin typeface="Calibri"/>
              </a:rPr>
              <a:t>2</a:t>
            </a:r>
            <a:r>
              <a:rPr sz="1600" b="1" baseline="30000">
                <a:solidFill>
                  <a:srgbClr val="142B33"/>
                </a:solidFill>
                <a:latin typeface="Calibri"/>
              </a:rPr>
              <a:t>k</a:t>
            </a:r>
            <a:r>
              <a:rPr sz="1600" b="1">
                <a:solidFill>
                  <a:srgbClr val="142B33"/>
                </a:solidFill>
                <a:latin typeface="Calibri"/>
              </a:rPr>
              <a:t> con puntos centrales</a:t>
            </a:r>
            <a:r>
              <a:rPr sz="1600" b="0">
                <a:solidFill>
                  <a:srgbClr val="142B33"/>
                </a:solidFill>
                <a:latin typeface="Calibri"/>
              </a:rPr>
              <a:t> (cap. 6) detecta la curvatura con pocas corridas; si aparece, se agregan </a:t>
            </a:r>
            <a:r>
              <a:rPr sz="1600" b="1">
                <a:solidFill>
                  <a:srgbClr val="142B33"/>
                </a:solidFill>
                <a:latin typeface="Calibri"/>
              </a:rPr>
              <a:t>corridas axiales</a:t>
            </a:r>
            <a:r>
              <a:rPr sz="1600" b="0">
                <a:solidFill>
                  <a:srgbClr val="142B33"/>
                </a:solidFill>
                <a:latin typeface="Calibri"/>
              </a:rPr>
              <a:t> → </a:t>
            </a:r>
            <a:r>
              <a:rPr sz="1600" b="1">
                <a:solidFill>
                  <a:srgbClr val="142B33"/>
                </a:solidFill>
                <a:latin typeface="Calibri"/>
              </a:rPr>
              <a:t>diseño central compuesto</a:t>
            </a:r>
          </a:p>
        </p:txBody>
      </p:sp>
      <p:sp>
        <p:nvSpPr>
          <p:cNvPr id="4" name="Rounded Rectangle 3"/>
          <p:cNvSpPr/>
          <p:nvPr/>
        </p:nvSpPr>
        <p:spPr>
          <a:xfrm>
            <a:off x="548640" y="3270503"/>
            <a:ext cx="5341467"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Estrategia </a:t>
            </a:r>
            <a:r>
              <a:rPr sz="1500" b="1">
                <a:solidFill>
                  <a:srgbClr val="142B33"/>
                </a:solidFill>
                <a:latin typeface="Calibri"/>
              </a:rPr>
              <a:t>secuencial</a:t>
            </a:r>
            <a:r>
              <a:rPr sz="1500" b="0">
                <a:solidFill>
                  <a:srgbClr val="142B33"/>
                </a:solidFill>
                <a:latin typeface="Calibri"/>
              </a:rPr>
              <a:t>: 2</a:t>
            </a:r>
            <a:r>
              <a:rPr sz="1500" b="0" baseline="30000">
                <a:solidFill>
                  <a:srgbClr val="142B33"/>
                </a:solidFill>
                <a:latin typeface="Calibri"/>
              </a:rPr>
              <a:t>k</a:t>
            </a:r>
            <a:r>
              <a:rPr sz="1500" b="0">
                <a:solidFill>
                  <a:srgbClr val="142B33"/>
                </a:solidFill>
                <a:latin typeface="Calibri"/>
              </a:rPr>
              <a:t> + centro → ¿hay curvatura? → axiales. Mucho más eficiente que un 3</a:t>
            </a:r>
            <a:r>
              <a:rPr sz="1500" b="0" baseline="30000">
                <a:solidFill>
                  <a:srgbClr val="142B33"/>
                </a:solidFill>
                <a:latin typeface="Calibri"/>
              </a:rPr>
              <a:t>k</a:t>
            </a:r>
          </a:p>
        </p:txBody>
      </p:sp>
      <p:graphicFrame>
        <p:nvGraphicFramePr>
          <p:cNvPr id="5" name="Table 4"/>
          <p:cNvGraphicFramePr>
            <a:graphicFrameLocks noGrp="1"/>
          </p:cNvGraphicFramePr>
          <p:nvPr/>
        </p:nvGraphicFramePr>
        <p:xfrm>
          <a:off x="6301587" y="1417320"/>
          <a:ext cx="5341466" cy="2453640"/>
        </p:xfrm>
        <a:graphic>
          <a:graphicData uri="http://schemas.openxmlformats.org/drawingml/2006/table">
            <a:tbl>
              <a:tblPr firstRow="0" bandRow="0">
                <a:tableStyleId>{5C22544A-7EE6-4342-B048-85BDC9FD1C3A}</a:tableStyleId>
              </a:tblPr>
              <a:tblGrid>
                <a:gridCol w="2243416"/>
                <a:gridCol w="854634"/>
                <a:gridCol w="1121708"/>
                <a:gridCol w="1121708"/>
              </a:tblGrid>
              <a:tr h="583692">
                <a:tc>
                  <a:txBody>
                    <a:bodyPr/>
                    <a:lstStyle/>
                    <a:p>
                      <a:pPr algn="l"/>
                      <a:r>
                        <a:rPr sz="1500" b="1">
                          <a:solidFill>
                            <a:srgbClr val="FFFFFF"/>
                          </a:solidFill>
                          <a:latin typeface="Calibri"/>
                        </a:rPr>
                        <a:t>Diseño</a:t>
                      </a:r>
                    </a:p>
                  </a:txBody>
                  <a:tcPr marL="73152" marR="73152" marT="27432" marB="27432" anchor="ctr">
                    <a:solidFill>
                      <a:srgbClr val="0F4C5C"/>
                    </a:solidFill>
                  </a:tcPr>
                </a:tc>
                <a:tc>
                  <a:txBody>
                    <a:bodyPr/>
                    <a:lstStyle/>
                    <a:p>
                      <a:pPr algn="ctr"/>
                      <a:r>
                        <a:rPr sz="1500" b="1">
                          <a:solidFill>
                            <a:srgbClr val="FFFFFF"/>
                          </a:solidFill>
                          <a:latin typeface="Calibri"/>
                        </a:rPr>
                        <a:t>Corridas</a:t>
                      </a:r>
                    </a:p>
                  </a:txBody>
                  <a:tcPr marL="73152" marR="73152" marT="27432" marB="27432" anchor="ctr">
                    <a:solidFill>
                      <a:srgbClr val="0F4C5C"/>
                    </a:solidFill>
                  </a:tcPr>
                </a:tc>
                <a:tc>
                  <a:txBody>
                    <a:bodyPr/>
                    <a:lstStyle/>
                    <a:p>
                      <a:pPr algn="ctr"/>
                      <a:r>
                        <a:rPr sz="1500" b="1">
                          <a:solidFill>
                            <a:srgbClr val="FFFFFF"/>
                          </a:solidFill>
                          <a:latin typeface="Calibri"/>
                        </a:rPr>
                        <a:t>Detecta curvatura</a:t>
                      </a:r>
                    </a:p>
                  </a:txBody>
                  <a:tcPr marL="73152" marR="73152" marT="27432" marB="27432" anchor="ctr">
                    <a:solidFill>
                      <a:srgbClr val="0F4C5C"/>
                    </a:solidFill>
                  </a:tcPr>
                </a:tc>
                <a:tc>
                  <a:txBody>
                    <a:bodyPr/>
                    <a:lstStyle/>
                    <a:p>
                      <a:pPr algn="ctr"/>
                      <a:r>
                        <a:rPr sz="1500" b="1">
                          <a:solidFill>
                            <a:srgbClr val="FFFFFF"/>
                          </a:solidFill>
                          <a:latin typeface="Calibri"/>
                        </a:rPr>
                        <a:t>Modela curvatura</a:t>
                      </a:r>
                    </a:p>
                  </a:txBody>
                  <a:tcPr marL="73152" marR="73152" marT="27432" marB="27432" anchor="ctr">
                    <a:solidFill>
                      <a:srgbClr val="0F4C5C"/>
                    </a:solidFill>
                  </a:tcPr>
                </a:tc>
              </a:tr>
              <a:tr h="351282">
                <a:tc>
                  <a:txBody>
                    <a:bodyPr/>
                    <a:lstStyle/>
                    <a:p>
                      <a:pPr algn="l"/>
                      <a:r>
                        <a:rPr sz="1500" b="0">
                          <a:solidFill>
                            <a:srgbClr val="142B33"/>
                          </a:solidFill>
                          <a:latin typeface="Calibri"/>
                        </a:rPr>
                        <a:t>2</a:t>
                      </a:r>
                      <a:r>
                        <a:rPr sz="1500" b="0" baseline="30000">
                          <a:solidFill>
                            <a:srgbClr val="142B33"/>
                          </a:solidFill>
                          <a:latin typeface="Calibri"/>
                        </a:rPr>
                        <a:t>3</a:t>
                      </a:r>
                    </a:p>
                  </a:txBody>
                  <a:tcPr marL="73152" marR="73152" marT="27432" marB="27432" anchor="ctr">
                    <a:solidFill>
                      <a:srgbClr val="FFFFFF"/>
                    </a:solidFill>
                  </a:tcPr>
                </a:tc>
                <a:tc>
                  <a:txBody>
                    <a:bodyPr/>
                    <a:lstStyle/>
                    <a:p>
                      <a:pPr algn="ctr"/>
                      <a:r>
                        <a:rPr sz="1500" b="0">
                          <a:solidFill>
                            <a:srgbClr val="142B33"/>
                          </a:solidFill>
                          <a:latin typeface="Calibri"/>
                        </a:rPr>
                        <a:t>8</a:t>
                      </a:r>
                    </a:p>
                  </a:txBody>
                  <a:tcPr marL="73152" marR="73152" marT="27432" marB="27432" anchor="ctr">
                    <a:solidFill>
                      <a:srgbClr val="FFFFFF"/>
                    </a:solidFill>
                  </a:tcPr>
                </a:tc>
                <a:tc>
                  <a:txBody>
                    <a:bodyPr/>
                    <a:lstStyle/>
                    <a:p>
                      <a:pPr algn="ctr"/>
                      <a:r>
                        <a:rPr sz="1500" b="0">
                          <a:solidFill>
                            <a:srgbClr val="142B33"/>
                          </a:solidFill>
                          <a:latin typeface="Calibri"/>
                        </a:rPr>
                        <a:t>No</a:t>
                      </a:r>
                    </a:p>
                  </a:txBody>
                  <a:tcPr marL="73152" marR="73152" marT="27432" marB="27432" anchor="ctr">
                    <a:solidFill>
                      <a:srgbClr val="FFFFFF"/>
                    </a:solidFill>
                  </a:tcPr>
                </a:tc>
                <a:tc>
                  <a:txBody>
                    <a:bodyPr/>
                    <a:lstStyle/>
                    <a:p>
                      <a:pPr algn="ctr"/>
                      <a:r>
                        <a:rPr sz="1500" b="0">
                          <a:solidFill>
                            <a:srgbClr val="142B33"/>
                          </a:solidFill>
                          <a:latin typeface="Calibri"/>
                        </a:rPr>
                        <a:t>No</a:t>
                      </a:r>
                    </a:p>
                  </a:txBody>
                  <a:tcPr marL="73152" marR="73152" marT="27432" marB="27432" anchor="ctr">
                    <a:solidFill>
                      <a:srgbClr val="FFFFFF"/>
                    </a:solidFill>
                  </a:tcPr>
                </a:tc>
              </a:tr>
              <a:tr h="583692">
                <a:tc>
                  <a:txBody>
                    <a:bodyPr/>
                    <a:lstStyle/>
                    <a:p>
                      <a:pPr algn="l"/>
                      <a:r>
                        <a:rPr sz="1500" b="0">
                          <a:solidFill>
                            <a:srgbClr val="142B33"/>
                          </a:solidFill>
                          <a:latin typeface="Calibri"/>
                        </a:rPr>
                        <a:t>2</a:t>
                      </a:r>
                      <a:r>
                        <a:rPr sz="1500" b="0" baseline="30000">
                          <a:solidFill>
                            <a:srgbClr val="142B33"/>
                          </a:solidFill>
                          <a:latin typeface="Calibri"/>
                        </a:rPr>
                        <a:t>3</a:t>
                      </a:r>
                      <a:r>
                        <a:rPr sz="1500" b="0">
                          <a:solidFill>
                            <a:srgbClr val="142B33"/>
                          </a:solidFill>
                          <a:latin typeface="Calibri"/>
                        </a:rPr>
                        <a:t> + 4 puntos centrales</a:t>
                      </a:r>
                    </a:p>
                  </a:txBody>
                  <a:tcPr marL="73152" marR="73152" marT="27432" marB="27432" anchor="ctr">
                    <a:solidFill>
                      <a:srgbClr val="F4F8F9"/>
                    </a:solidFill>
                  </a:tcPr>
                </a:tc>
                <a:tc>
                  <a:txBody>
                    <a:bodyPr/>
                    <a:lstStyle/>
                    <a:p>
                      <a:pPr algn="ctr"/>
                      <a:r>
                        <a:rPr sz="1500" b="0">
                          <a:solidFill>
                            <a:srgbClr val="142B33"/>
                          </a:solidFill>
                          <a:latin typeface="Calibri"/>
                        </a:rPr>
                        <a:t>12</a:t>
                      </a:r>
                    </a:p>
                  </a:txBody>
                  <a:tcPr marL="73152" marR="73152" marT="27432" marB="27432" anchor="ctr">
                    <a:solidFill>
                      <a:srgbClr val="F4F8F9"/>
                    </a:solidFill>
                  </a:tcPr>
                </a:tc>
                <a:tc>
                  <a:txBody>
                    <a:bodyPr/>
                    <a:lstStyle/>
                    <a:p>
                      <a:pPr algn="ctr"/>
                      <a:r>
                        <a:rPr sz="1500" b="0">
                          <a:solidFill>
                            <a:srgbClr val="142B33"/>
                          </a:solidFill>
                          <a:latin typeface="Calibri"/>
                        </a:rPr>
                        <a:t>Sí</a:t>
                      </a:r>
                    </a:p>
                  </a:txBody>
                  <a:tcPr marL="73152" marR="73152" marT="27432" marB="27432" anchor="ctr">
                    <a:solidFill>
                      <a:srgbClr val="F4F8F9"/>
                    </a:solidFill>
                  </a:tcPr>
                </a:tc>
                <a:tc>
                  <a:txBody>
                    <a:bodyPr/>
                    <a:lstStyle/>
                    <a:p>
                      <a:pPr algn="ctr"/>
                      <a:r>
                        <a:rPr sz="1500" b="0">
                          <a:solidFill>
                            <a:srgbClr val="142B33"/>
                          </a:solidFill>
                          <a:latin typeface="Calibri"/>
                        </a:rPr>
                        <a:t>No</a:t>
                      </a:r>
                    </a:p>
                  </a:txBody>
                  <a:tcPr marL="73152" marR="73152" marT="27432" marB="27432" anchor="ctr">
                    <a:solidFill>
                      <a:srgbClr val="F4F8F9"/>
                    </a:solidFill>
                  </a:tcPr>
                </a:tc>
              </a:tr>
              <a:tr h="583692">
                <a:tc>
                  <a:txBody>
                    <a:bodyPr/>
                    <a:lstStyle/>
                    <a:p>
                      <a:pPr algn="l"/>
                      <a:r>
                        <a:rPr sz="1500" b="0">
                          <a:solidFill>
                            <a:srgbClr val="142B33"/>
                          </a:solidFill>
                          <a:latin typeface="Calibri"/>
                        </a:rPr>
                        <a:t>Central compuesto (+ 6 axiales)</a:t>
                      </a:r>
                    </a:p>
                  </a:txBody>
                  <a:tcPr marL="73152" marR="73152" marT="27432" marB="27432" anchor="ctr">
                    <a:solidFill>
                      <a:srgbClr val="FFFFFF"/>
                    </a:solidFill>
                  </a:tcPr>
                </a:tc>
                <a:tc>
                  <a:txBody>
                    <a:bodyPr/>
                    <a:lstStyle/>
                    <a:p>
                      <a:pPr algn="ctr"/>
                      <a:r>
                        <a:rPr sz="1500" b="0">
                          <a:solidFill>
                            <a:srgbClr val="142B33"/>
                          </a:solidFill>
                          <a:latin typeface="Calibri"/>
                        </a:rPr>
                        <a:t>18</a:t>
                      </a:r>
                    </a:p>
                  </a:txBody>
                  <a:tcPr marL="73152" marR="73152" marT="27432" marB="27432" anchor="ctr">
                    <a:solidFill>
                      <a:srgbClr val="FFFFFF"/>
                    </a:solidFill>
                  </a:tcPr>
                </a:tc>
                <a:tc>
                  <a:txBody>
                    <a:bodyPr/>
                    <a:lstStyle/>
                    <a:p>
                      <a:pPr algn="ctr"/>
                      <a:r>
                        <a:rPr sz="1500" b="0">
                          <a:solidFill>
                            <a:srgbClr val="142B33"/>
                          </a:solidFill>
                          <a:latin typeface="Calibri"/>
                        </a:rPr>
                        <a:t>Sí</a:t>
                      </a:r>
                    </a:p>
                  </a:txBody>
                  <a:tcPr marL="73152" marR="73152" marT="27432" marB="27432" anchor="ctr">
                    <a:solidFill>
                      <a:srgbClr val="FFFFFF"/>
                    </a:solidFill>
                  </a:tcPr>
                </a:tc>
                <a:tc>
                  <a:txBody>
                    <a:bodyPr/>
                    <a:lstStyle/>
                    <a:p>
                      <a:pPr algn="ctr"/>
                      <a:r>
                        <a:rPr sz="1500" b="0">
                          <a:solidFill>
                            <a:srgbClr val="142B33"/>
                          </a:solidFill>
                          <a:latin typeface="Calibri"/>
                        </a:rPr>
                        <a:t>Sí</a:t>
                      </a:r>
                    </a:p>
                  </a:txBody>
                  <a:tcPr marL="73152" marR="73152" marT="27432" marB="27432" anchor="ctr">
                    <a:solidFill>
                      <a:srgbClr val="FFFFFF"/>
                    </a:solidFill>
                  </a:tcPr>
                </a:tc>
              </a:tr>
              <a:tr h="351282">
                <a:tc>
                  <a:txBody>
                    <a:bodyPr/>
                    <a:lstStyle/>
                    <a:p>
                      <a:pPr algn="l"/>
                      <a:r>
                        <a:rPr sz="1500" b="0">
                          <a:solidFill>
                            <a:srgbClr val="142B33"/>
                          </a:solidFill>
                          <a:latin typeface="Calibri"/>
                        </a:rPr>
                        <a:t>3</a:t>
                      </a:r>
                      <a:r>
                        <a:rPr sz="1500" b="0" baseline="30000">
                          <a:solidFill>
                            <a:srgbClr val="142B33"/>
                          </a:solidFill>
                          <a:latin typeface="Calibri"/>
                        </a:rPr>
                        <a:t>3</a:t>
                      </a:r>
                    </a:p>
                  </a:txBody>
                  <a:tcPr marL="73152" marR="73152" marT="27432" marB="27432" anchor="ctr">
                    <a:solidFill>
                      <a:srgbClr val="F4F8F9"/>
                    </a:solidFill>
                  </a:tcPr>
                </a:tc>
                <a:tc>
                  <a:txBody>
                    <a:bodyPr/>
                    <a:lstStyle/>
                    <a:p>
                      <a:pPr algn="ctr"/>
                      <a:r>
                        <a:rPr sz="1500" b="0">
                          <a:solidFill>
                            <a:srgbClr val="142B33"/>
                          </a:solidFill>
                          <a:latin typeface="Calibri"/>
                        </a:rPr>
                        <a:t>27</a:t>
                      </a:r>
                    </a:p>
                  </a:txBody>
                  <a:tcPr marL="73152" marR="73152" marT="27432" marB="27432" anchor="ctr">
                    <a:solidFill>
                      <a:srgbClr val="F4F8F9"/>
                    </a:solidFill>
                  </a:tcPr>
                </a:tc>
                <a:tc>
                  <a:txBody>
                    <a:bodyPr/>
                    <a:lstStyle/>
                    <a:p>
                      <a:pPr algn="ctr"/>
                      <a:r>
                        <a:rPr sz="1500" b="0">
                          <a:solidFill>
                            <a:srgbClr val="142B33"/>
                          </a:solidFill>
                          <a:latin typeface="Calibri"/>
                        </a:rPr>
                        <a:t>Sí</a:t>
                      </a:r>
                    </a:p>
                  </a:txBody>
                  <a:tcPr marL="73152" marR="73152" marT="27432" marB="27432" anchor="ctr">
                    <a:solidFill>
                      <a:srgbClr val="F4F8F9"/>
                    </a:solidFill>
                  </a:tcPr>
                </a:tc>
                <a:tc>
                  <a:txBody>
                    <a:bodyPr/>
                    <a:lstStyle/>
                    <a:p>
                      <a:pPr algn="ctr"/>
                      <a:r>
                        <a:rPr sz="1500" b="0">
                          <a:solidFill>
                            <a:srgbClr val="142B33"/>
                          </a:solidFill>
                          <a:latin typeface="Calibri"/>
                        </a:rPr>
                        <a:t>Sí</a:t>
                      </a:r>
                    </a:p>
                  </a:txBody>
                  <a:tcPr marL="73152" marR="73152" marT="27432" marB="27432" anchor="ctr">
                    <a:solidFill>
                      <a:srgbClr val="F4F8F9"/>
                    </a:solidFill>
                  </a:tcPr>
                </a:tc>
              </a:tr>
            </a:tbl>
          </a:graphicData>
        </a:graphic>
      </p:graphicFrame>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Propósito y vocabulario</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5</a:t>
            </a:r>
          </a:p>
        </p:txBody>
      </p:sp>
      <p:sp>
        <p:nvSpPr>
          <p:cNvPr id="8" name="Rounded Rectangle 7"/>
          <p:cNvSpPr/>
          <p:nvPr/>
        </p:nvSpPr>
        <p:spPr>
          <a:xfrm>
            <a:off x="548640" y="91440"/>
            <a:ext cx="289864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1 · Propósito y vocabulario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Notación: cada combinación es una cadena de dígitos 0, 1, 2</a:t>
            </a:r>
          </a:p>
        </p:txBody>
      </p:sp>
      <p:pic>
        <p:nvPicPr>
          <p:cNvPr id="3" name="Picture 2" descr="3x3.png"/>
          <p:cNvPicPr>
            <a:picLocks noChangeAspect="1"/>
          </p:cNvPicPr>
          <p:nvPr/>
        </p:nvPicPr>
        <p:blipFill>
          <a:blip r:embed="rId2"/>
          <a:stretch>
            <a:fillRect/>
          </a:stretch>
        </p:blipFill>
        <p:spPr>
          <a:xfrm>
            <a:off x="871816" y="1417320"/>
            <a:ext cx="3840480" cy="3566160"/>
          </a:xfrm>
          <a:prstGeom prst="rect">
            <a:avLst/>
          </a:prstGeom>
        </p:spPr>
      </p:pic>
      <p:sp>
        <p:nvSpPr>
          <p:cNvPr id="4" name="TextBox 3"/>
          <p:cNvSpPr txBox="1"/>
          <p:nvPr/>
        </p:nvSpPr>
        <p:spPr>
          <a:xfrm>
            <a:off x="548640" y="5001768"/>
            <a:ext cx="4486832" cy="256032"/>
          </a:xfrm>
          <a:prstGeom prst="rect">
            <a:avLst/>
          </a:prstGeom>
          <a:noFill/>
        </p:spPr>
        <p:txBody>
          <a:bodyPr wrap="square" anchor="t" lIns="0" rIns="0" tIns="0" bIns="0">
            <a:spAutoFit/>
          </a:bodyPr>
          <a:lstStyle/>
          <a:p>
            <a:pPr algn="ctr"/>
            <a:r>
              <a:rPr sz="1100" b="0">
                <a:solidFill>
                  <a:srgbClr val="5B6B73"/>
                </a:solidFill>
                <a:latin typeface="Calibri"/>
              </a:rPr>
              <a:t>Las 9 combinaciones del 3</a:t>
            </a:r>
            <a:r>
              <a:rPr sz="1100" b="0" baseline="30000">
                <a:solidFill>
                  <a:srgbClr val="5B6B73"/>
                </a:solidFill>
                <a:latin typeface="Calibri"/>
              </a:rPr>
              <a:t>2</a:t>
            </a:r>
            <a:r>
              <a:rPr sz="1100" b="0">
                <a:solidFill>
                  <a:srgbClr val="5B6B73"/>
                </a:solidFill>
                <a:latin typeface="Calibri"/>
              </a:rPr>
              <a:t> (fig. 9-1)</a:t>
            </a:r>
          </a:p>
        </p:txBody>
      </p:sp>
      <p:graphicFrame>
        <p:nvGraphicFramePr>
          <p:cNvPr id="5" name="Table 4"/>
          <p:cNvGraphicFramePr>
            <a:graphicFrameLocks noGrp="1"/>
          </p:cNvGraphicFramePr>
          <p:nvPr/>
        </p:nvGraphicFramePr>
        <p:xfrm>
          <a:off x="5446952" y="1417320"/>
          <a:ext cx="6196101" cy="1756410"/>
        </p:xfrm>
        <a:graphic>
          <a:graphicData uri="http://schemas.openxmlformats.org/drawingml/2006/table">
            <a:tbl>
              <a:tblPr firstRow="0" bandRow="0">
                <a:tableStyleId>{5C22544A-7EE6-4342-B048-85BDC9FD1C3A}</a:tableStyleId>
              </a:tblPr>
              <a:tblGrid>
                <a:gridCol w="2168635"/>
                <a:gridCol w="4027466"/>
              </a:tblGrid>
              <a:tr h="351282">
                <a:tc>
                  <a:txBody>
                    <a:bodyPr/>
                    <a:lstStyle/>
                    <a:p>
                      <a:pPr algn="l"/>
                      <a:r>
                        <a:rPr sz="1500" b="1">
                          <a:solidFill>
                            <a:srgbClr val="FFFFFF"/>
                          </a:solidFill>
                          <a:latin typeface="Calibri"/>
                        </a:rPr>
                        <a:t>Combinación</a:t>
                      </a:r>
                    </a:p>
                  </a:txBody>
                  <a:tcPr marL="73152" marR="73152" marT="27432" marB="27432" anchor="ctr">
                    <a:solidFill>
                      <a:srgbClr val="0F4C5C"/>
                    </a:solidFill>
                  </a:tcPr>
                </a:tc>
                <a:tc>
                  <a:txBody>
                    <a:bodyPr/>
                    <a:lstStyle/>
                    <a:p>
                      <a:pPr algn="l"/>
                      <a:r>
                        <a:rPr sz="1500" b="1">
                          <a:solidFill>
                            <a:srgbClr val="FFFFFF"/>
                          </a:solidFill>
                          <a:latin typeface="Calibri"/>
                        </a:rPr>
                        <a:t>Significado</a:t>
                      </a:r>
                    </a:p>
                  </a:txBody>
                  <a:tcPr marL="73152" marR="73152" marT="27432" marB="27432" anchor="ctr">
                    <a:solidFill>
                      <a:srgbClr val="0F4C5C"/>
                    </a:solidFill>
                  </a:tcPr>
                </a:tc>
              </a:tr>
              <a:tr h="351282">
                <a:tc>
                  <a:txBody>
                    <a:bodyPr/>
                    <a:lstStyle/>
                    <a:p>
                      <a:pPr algn="l"/>
                      <a:r>
                        <a:rPr sz="1500" b="0">
                          <a:solidFill>
                            <a:srgbClr val="142B33"/>
                          </a:solidFill>
                          <a:latin typeface="Calibri"/>
                        </a:rPr>
                        <a:t>00</a:t>
                      </a:r>
                    </a:p>
                  </a:txBody>
                  <a:tcPr marL="73152" marR="73152" marT="27432" marB="27432" anchor="ctr">
                    <a:solidFill>
                      <a:srgbClr val="FFFFFF"/>
                    </a:solidFill>
                  </a:tcPr>
                </a:tc>
                <a:tc>
                  <a:txBody>
                    <a:bodyPr/>
                    <a:lstStyle/>
                    <a:p>
                      <a:pPr algn="l"/>
                      <a:r>
                        <a:rPr sz="1500" b="0">
                          <a:solidFill>
                            <a:srgbClr val="142B33"/>
                          </a:solidFill>
                          <a:latin typeface="Calibri"/>
                        </a:rPr>
                        <a:t>A bajo, B bajo</a:t>
                      </a:r>
                    </a:p>
                  </a:txBody>
                  <a:tcPr marL="73152" marR="73152" marT="27432" marB="27432" anchor="ctr">
                    <a:solidFill>
                      <a:srgbClr val="FFFFFF"/>
                    </a:solidFill>
                  </a:tcPr>
                </a:tc>
              </a:tr>
              <a:tr h="351282">
                <a:tc>
                  <a:txBody>
                    <a:bodyPr/>
                    <a:lstStyle/>
                    <a:p>
                      <a:pPr algn="l"/>
                      <a:r>
                        <a:rPr sz="1500" b="0">
                          <a:solidFill>
                            <a:srgbClr val="142B33"/>
                          </a:solidFill>
                          <a:latin typeface="Calibri"/>
                        </a:rPr>
                        <a:t>01</a:t>
                      </a:r>
                    </a:p>
                  </a:txBody>
                  <a:tcPr marL="73152" marR="73152" marT="27432" marB="27432" anchor="ctr">
                    <a:solidFill>
                      <a:srgbClr val="F4F8F9"/>
                    </a:solidFill>
                  </a:tcPr>
                </a:tc>
                <a:tc>
                  <a:txBody>
                    <a:bodyPr/>
                    <a:lstStyle/>
                    <a:p>
                      <a:pPr algn="l"/>
                      <a:r>
                        <a:rPr sz="1500" b="0">
                          <a:solidFill>
                            <a:srgbClr val="142B33"/>
                          </a:solidFill>
                          <a:latin typeface="Calibri"/>
                        </a:rPr>
                        <a:t>A bajo, B intermedio</a:t>
                      </a:r>
                    </a:p>
                  </a:txBody>
                  <a:tcPr marL="73152" marR="73152" marT="27432" marB="27432" anchor="ctr">
                    <a:solidFill>
                      <a:srgbClr val="F4F8F9"/>
                    </a:solidFill>
                  </a:tcPr>
                </a:tc>
              </a:tr>
              <a:tr h="351282">
                <a:tc>
                  <a:txBody>
                    <a:bodyPr/>
                    <a:lstStyle/>
                    <a:p>
                      <a:pPr algn="l"/>
                      <a:r>
                        <a:rPr sz="1500" b="0">
                          <a:solidFill>
                            <a:srgbClr val="142B33"/>
                          </a:solidFill>
                          <a:latin typeface="Calibri"/>
                        </a:rPr>
                        <a:t>21</a:t>
                      </a:r>
                    </a:p>
                  </a:txBody>
                  <a:tcPr marL="73152" marR="73152" marT="27432" marB="27432" anchor="ctr">
                    <a:solidFill>
                      <a:srgbClr val="FFFFFF"/>
                    </a:solidFill>
                  </a:tcPr>
                </a:tc>
                <a:tc>
                  <a:txBody>
                    <a:bodyPr/>
                    <a:lstStyle/>
                    <a:p>
                      <a:pPr algn="l"/>
                      <a:r>
                        <a:rPr sz="1500" b="0">
                          <a:solidFill>
                            <a:srgbClr val="142B33"/>
                          </a:solidFill>
                          <a:latin typeface="Calibri"/>
                        </a:rPr>
                        <a:t>A alto, B intermedio</a:t>
                      </a:r>
                    </a:p>
                  </a:txBody>
                  <a:tcPr marL="73152" marR="73152" marT="27432" marB="27432" anchor="ctr">
                    <a:solidFill>
                      <a:srgbClr val="FFFFFF"/>
                    </a:solidFill>
                  </a:tcPr>
                </a:tc>
              </a:tr>
              <a:tr h="351282">
                <a:tc>
                  <a:txBody>
                    <a:bodyPr/>
                    <a:lstStyle/>
                    <a:p>
                      <a:pPr algn="l"/>
                      <a:r>
                        <a:rPr sz="1500" b="0">
                          <a:solidFill>
                            <a:srgbClr val="142B33"/>
                          </a:solidFill>
                          <a:latin typeface="Calibri"/>
                        </a:rPr>
                        <a:t>0120 (en un 3</a:t>
                      </a:r>
                      <a:r>
                        <a:rPr sz="1500" b="0" baseline="30000">
                          <a:solidFill>
                            <a:srgbClr val="142B33"/>
                          </a:solidFill>
                          <a:latin typeface="Calibri"/>
                        </a:rPr>
                        <a:t>4</a:t>
                      </a:r>
                      <a:r>
                        <a:rPr sz="1500" b="0">
                          <a:solidFill>
                            <a:srgbClr val="142B33"/>
                          </a:solidFill>
                          <a:latin typeface="Calibri"/>
                        </a:rPr>
                        <a:t>)</a:t>
                      </a:r>
                    </a:p>
                  </a:txBody>
                  <a:tcPr marL="73152" marR="73152" marT="27432" marB="27432" anchor="ctr">
                    <a:solidFill>
                      <a:srgbClr val="F4F8F9"/>
                    </a:solidFill>
                  </a:tcPr>
                </a:tc>
                <a:tc>
                  <a:txBody>
                    <a:bodyPr/>
                    <a:lstStyle/>
                    <a:p>
                      <a:pPr algn="l"/>
                      <a:r>
                        <a:rPr sz="1500" b="0">
                          <a:solidFill>
                            <a:srgbClr val="142B33"/>
                          </a:solidFill>
                          <a:latin typeface="Calibri"/>
                        </a:rPr>
                        <a:t>A bajo, B intermedio, C alto, D bajo</a:t>
                      </a:r>
                    </a:p>
                  </a:txBody>
                  <a:tcPr marL="73152" marR="73152" marT="27432" marB="27432" anchor="ctr">
                    <a:solidFill>
                      <a:srgbClr val="F4F8F9"/>
                    </a:solidFill>
                  </a:tcPr>
                </a:tc>
              </a:tr>
            </a:tbl>
          </a:graphicData>
        </a:graphic>
      </p:graphicFrame>
      <p:graphicFrame>
        <p:nvGraphicFramePr>
          <p:cNvPr id="6" name="Table 5"/>
          <p:cNvGraphicFramePr>
            <a:graphicFrameLocks noGrp="1"/>
          </p:cNvGraphicFramePr>
          <p:nvPr/>
        </p:nvGraphicFramePr>
        <p:xfrm>
          <a:off x="5446952" y="3374898"/>
          <a:ext cx="6196101" cy="1405128"/>
        </p:xfrm>
        <a:graphic>
          <a:graphicData uri="http://schemas.openxmlformats.org/drawingml/2006/table">
            <a:tbl>
              <a:tblPr firstRow="0" bandRow="0">
                <a:tableStyleId>{5C22544A-7EE6-4342-B048-85BDC9FD1C3A}</a:tableStyleId>
              </a:tblPr>
              <a:tblGrid>
                <a:gridCol w="1339987"/>
                <a:gridCol w="1104149"/>
                <a:gridCol w="3751965"/>
              </a:tblGrid>
              <a:tr h="351282">
                <a:tc>
                  <a:txBody>
                    <a:bodyPr/>
                    <a:lstStyle/>
                    <a:p>
                      <a:pPr algn="ctr"/>
                      <a:r>
                        <a:rPr sz="1500" b="1">
                          <a:solidFill>
                            <a:srgbClr val="FFFFFF"/>
                          </a:solidFill>
                          <a:latin typeface="Calibri"/>
                        </a:rPr>
                        <a:t>Nivel</a:t>
                      </a:r>
                    </a:p>
                  </a:txBody>
                  <a:tcPr marL="73152" marR="73152" marT="27432" marB="27432" anchor="ctr">
                    <a:solidFill>
                      <a:srgbClr val="0F4C5C"/>
                    </a:solidFill>
                  </a:tcPr>
                </a:tc>
                <a:tc>
                  <a:txBody>
                    <a:bodyPr/>
                    <a:lstStyle/>
                    <a:p>
                      <a:pPr algn="ctr"/>
                      <a:r>
                        <a:rPr sz="1500" b="1">
                          <a:solidFill>
                            <a:srgbClr val="FFFFFF"/>
                          </a:solidFill>
                          <a:latin typeface="Calibri"/>
                        </a:rPr>
                        <a:t>Dígito</a:t>
                      </a:r>
                    </a:p>
                  </a:txBody>
                  <a:tcPr marL="73152" marR="73152" marT="27432" marB="27432" anchor="ctr">
                    <a:solidFill>
                      <a:srgbClr val="0F4C5C"/>
                    </a:solidFill>
                  </a:tcPr>
                </a:tc>
                <a:tc>
                  <a:txBody>
                    <a:bodyPr/>
                    <a:lstStyle/>
                    <a:p>
                      <a:pPr algn="ctr"/>
                      <a:r>
                        <a:rPr sz="1500" b="1">
                          <a:solidFill>
                            <a:srgbClr val="FFFFFF"/>
                          </a:solidFill>
                          <a:latin typeface="Calibri"/>
                        </a:rPr>
                        <a:t>Codificado (cuantitativo)</a:t>
                      </a:r>
                    </a:p>
                  </a:txBody>
                  <a:tcPr marL="73152" marR="73152" marT="27432" marB="27432" anchor="ctr">
                    <a:solidFill>
                      <a:srgbClr val="0F4C5C"/>
                    </a:solidFill>
                  </a:tcPr>
                </a:tc>
              </a:tr>
              <a:tr h="351282">
                <a:tc>
                  <a:txBody>
                    <a:bodyPr/>
                    <a:lstStyle/>
                    <a:p>
                      <a:pPr algn="ctr"/>
                      <a:r>
                        <a:rPr sz="1500" b="0">
                          <a:solidFill>
                            <a:srgbClr val="142B33"/>
                          </a:solidFill>
                          <a:latin typeface="Calibri"/>
                        </a:rPr>
                        <a:t>Bajo</a:t>
                      </a:r>
                    </a:p>
                  </a:txBody>
                  <a:tcPr marL="73152" marR="73152" marT="27432" marB="27432" anchor="ctr">
                    <a:solidFill>
                      <a:srgbClr val="FFFFFF"/>
                    </a:solidFill>
                  </a:tcPr>
                </a:tc>
                <a:tc>
                  <a:txBody>
                    <a:bodyPr/>
                    <a:lstStyle/>
                    <a:p>
                      <a:pPr algn="ctr"/>
                      <a:r>
                        <a:rPr sz="1500" b="0">
                          <a:solidFill>
                            <a:srgbClr val="142B33"/>
                          </a:solidFill>
                          <a:latin typeface="Calibri"/>
                        </a:rPr>
                        <a:t>0</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r>
              <a:tr h="351282">
                <a:tc>
                  <a:txBody>
                    <a:bodyPr/>
                    <a:lstStyle/>
                    <a:p>
                      <a:pPr algn="ctr"/>
                      <a:r>
                        <a:rPr sz="1500" b="0">
                          <a:solidFill>
                            <a:srgbClr val="142B33"/>
                          </a:solidFill>
                          <a:latin typeface="Calibri"/>
                        </a:rPr>
                        <a:t>Intermedio</a:t>
                      </a:r>
                    </a:p>
                  </a:txBody>
                  <a:tcPr marL="73152" marR="73152" marT="27432" marB="27432" anchor="ctr">
                    <a:solidFill>
                      <a:srgbClr val="F4F8F9"/>
                    </a:solidFill>
                  </a:tcPr>
                </a:tc>
                <a:tc>
                  <a:txBody>
                    <a:bodyPr/>
                    <a:lstStyle/>
                    <a:p>
                      <a:pPr algn="ctr"/>
                      <a:r>
                        <a:rPr sz="1500" b="0">
                          <a:solidFill>
                            <a:srgbClr val="142B33"/>
                          </a:solidFill>
                          <a:latin typeface="Calibri"/>
                        </a:rPr>
                        <a:t>1</a:t>
                      </a:r>
                    </a:p>
                  </a:txBody>
                  <a:tcPr marL="73152" marR="73152" marT="27432" marB="27432" anchor="ctr">
                    <a:solidFill>
                      <a:srgbClr val="F4F8F9"/>
                    </a:solidFill>
                  </a:tcPr>
                </a:tc>
                <a:tc>
                  <a:txBody>
                    <a:bodyPr/>
                    <a:lstStyle/>
                    <a:p>
                      <a:pPr algn="ctr"/>
                      <a:r>
                        <a:rPr sz="1500" b="0">
                          <a:solidFill>
                            <a:srgbClr val="142B33"/>
                          </a:solidFill>
                          <a:latin typeface="Calibri"/>
                        </a:rPr>
                        <a:t>0</a:t>
                      </a:r>
                    </a:p>
                  </a:txBody>
                  <a:tcPr marL="73152" marR="73152" marT="27432" marB="27432" anchor="ctr">
                    <a:solidFill>
                      <a:srgbClr val="F4F8F9"/>
                    </a:solidFill>
                  </a:tcPr>
                </a:tc>
              </a:tr>
              <a:tr h="351282">
                <a:tc>
                  <a:txBody>
                    <a:bodyPr/>
                    <a:lstStyle/>
                    <a:p>
                      <a:pPr algn="ctr"/>
                      <a:r>
                        <a:rPr sz="1500" b="0">
                          <a:solidFill>
                            <a:srgbClr val="142B33"/>
                          </a:solidFill>
                          <a:latin typeface="Calibri"/>
                        </a:rPr>
                        <a:t>Alto</a:t>
                      </a:r>
                    </a:p>
                  </a:txBody>
                  <a:tcPr marL="73152" marR="73152" marT="27432" marB="27432" anchor="ctr">
                    <a:solidFill>
                      <a:srgbClr val="FFFFFF"/>
                    </a:solidFill>
                  </a:tcPr>
                </a:tc>
                <a:tc>
                  <a:txBody>
                    <a:bodyPr/>
                    <a:lstStyle/>
                    <a:p>
                      <a:pPr algn="ctr"/>
                      <a:r>
                        <a:rPr sz="1500" b="0">
                          <a:solidFill>
                            <a:srgbClr val="142B33"/>
                          </a:solidFill>
                          <a:latin typeface="Calibri"/>
                        </a:rPr>
                        <a:t>2</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r>
            </a:tbl>
          </a:graphicData>
        </a:graphic>
      </p:graphicFrame>
      <p:sp>
        <p:nvSpPr>
          <p:cNvPr id="7" name="Rounded Rectangle 6"/>
          <p:cNvSpPr/>
          <p:nvPr/>
        </p:nvSpPr>
        <p:spPr>
          <a:xfrm>
            <a:off x="5446952" y="4981194"/>
            <a:ext cx="6196102"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Bloques y fracciones usan la aritmética </a:t>
            </a:r>
            <a:r>
              <a:rPr sz="1400" b="1">
                <a:solidFill>
                  <a:srgbClr val="142B33"/>
                </a:solidFill>
                <a:latin typeface="Calibri"/>
              </a:rPr>
              <a:t>módulo 3</a:t>
            </a:r>
            <a:r>
              <a:rPr sz="1400" b="0">
                <a:solidFill>
                  <a:srgbClr val="142B33"/>
                </a:solidFill>
                <a:latin typeface="Calibri"/>
              </a:rPr>
              <a:t> sobre los dígitos</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Propósito y vocabulario</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6</a:t>
            </a:r>
          </a:p>
        </p:txBody>
      </p:sp>
      <p:sp>
        <p:nvSpPr>
          <p:cNvPr id="10" name="Rounded Rectangle 9"/>
          <p:cNvSpPr/>
          <p:nvPr/>
        </p:nvSpPr>
        <p:spPr>
          <a:xfrm>
            <a:off x="548640" y="91440"/>
            <a:ext cx="289864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1 · Propósito y vocabulario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El 3</a:t>
            </a:r>
            <a:r>
              <a:rPr sz="3000" b="1" baseline="30000">
                <a:solidFill>
                  <a:srgbClr val="0F4C5C"/>
                </a:solidFill>
                <a:latin typeface="Cambria"/>
              </a:rPr>
              <a:t>3</a:t>
            </a:r>
            <a:r>
              <a:rPr sz="3000" b="1">
                <a:solidFill>
                  <a:srgbClr val="0F4C5C"/>
                </a:solidFill>
                <a:latin typeface="Cambria"/>
              </a:rPr>
              <a:t>: 27 combinaciones en un cubo</a:t>
            </a:r>
          </a:p>
        </p:txBody>
      </p:sp>
      <p:pic>
        <p:nvPicPr>
          <p:cNvPr id="3" name="Picture 2" descr="cubo.png"/>
          <p:cNvPicPr>
            <a:picLocks noChangeAspect="1"/>
          </p:cNvPicPr>
          <p:nvPr/>
        </p:nvPicPr>
        <p:blipFill>
          <a:blip r:embed="rId2"/>
          <a:stretch>
            <a:fillRect/>
          </a:stretch>
        </p:blipFill>
        <p:spPr>
          <a:xfrm>
            <a:off x="1109007" y="1417320"/>
            <a:ext cx="4754880" cy="4206240"/>
          </a:xfrm>
          <a:prstGeom prst="rect">
            <a:avLst/>
          </a:prstGeom>
        </p:spPr>
      </p:pic>
      <p:sp>
        <p:nvSpPr>
          <p:cNvPr id="4" name="TextBox 3"/>
          <p:cNvSpPr txBox="1"/>
          <p:nvPr/>
        </p:nvSpPr>
        <p:spPr>
          <a:xfrm>
            <a:off x="548640" y="5641847"/>
            <a:ext cx="5875614" cy="256032"/>
          </a:xfrm>
          <a:prstGeom prst="rect">
            <a:avLst/>
          </a:prstGeom>
          <a:noFill/>
        </p:spPr>
        <p:txBody>
          <a:bodyPr wrap="square" anchor="t" lIns="0" rIns="0" tIns="0" bIns="0">
            <a:spAutoFit/>
          </a:bodyPr>
          <a:lstStyle/>
          <a:p>
            <a:pPr algn="ctr"/>
            <a:r>
              <a:rPr sz="1100" b="0">
                <a:solidFill>
                  <a:srgbClr val="5B6B73"/>
                </a:solidFill>
                <a:latin typeface="Calibri"/>
              </a:rPr>
              <a:t>Las 27 combinaciones del 3</a:t>
            </a:r>
            <a:r>
              <a:rPr sz="1100" b="0" baseline="30000">
                <a:solidFill>
                  <a:srgbClr val="5B6B73"/>
                </a:solidFill>
                <a:latin typeface="Calibri"/>
              </a:rPr>
              <a:t>3</a:t>
            </a:r>
            <a:r>
              <a:rPr sz="1100" b="0">
                <a:solidFill>
                  <a:srgbClr val="5B6B73"/>
                </a:solidFill>
                <a:latin typeface="Calibri"/>
              </a:rPr>
              <a:t> (fig. 9-2)</a:t>
            </a:r>
          </a:p>
        </p:txBody>
      </p:sp>
      <p:sp>
        <p:nvSpPr>
          <p:cNvPr id="5" name="TextBox 4"/>
          <p:cNvSpPr txBox="1"/>
          <p:nvPr/>
        </p:nvSpPr>
        <p:spPr>
          <a:xfrm>
            <a:off x="6835734" y="1417320"/>
            <a:ext cx="4807320" cy="1486407"/>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600" b="1">
                <a:solidFill>
                  <a:srgbClr val="142B33"/>
                </a:solidFill>
                <a:latin typeface="Calibri"/>
              </a:rPr>
              <a:t>000</a:t>
            </a:r>
            <a:r>
              <a:rPr sz="1600" b="0">
                <a:solidFill>
                  <a:srgbClr val="142B33"/>
                </a:solidFill>
                <a:latin typeface="Calibri"/>
              </a:rPr>
              <a:t>: todos bajos · </a:t>
            </a:r>
            <a:r>
              <a:rPr sz="1600" b="1">
                <a:solidFill>
                  <a:srgbClr val="142B33"/>
                </a:solidFill>
                <a:latin typeface="Calibri"/>
              </a:rPr>
              <a:t>222</a:t>
            </a:r>
            <a:r>
              <a:rPr sz="1600" b="0">
                <a:solidFill>
                  <a:srgbClr val="142B33"/>
                </a:solidFill>
                <a:latin typeface="Calibri"/>
              </a:rPr>
              <a:t>: todos altos · </a:t>
            </a:r>
            <a:r>
              <a:rPr sz="1600" b="1">
                <a:solidFill>
                  <a:srgbClr val="142B33"/>
                </a:solidFill>
                <a:latin typeface="Calibri"/>
              </a:rPr>
              <a:t>111</a:t>
            </a:r>
            <a:r>
              <a:rPr sz="1600" b="0">
                <a:solidFill>
                  <a:srgbClr val="142B33"/>
                </a:solidFill>
                <a:latin typeface="Calibri"/>
              </a:rPr>
              <a:t>: el centro</a:t>
            </a:r>
          </a:p>
          <a:p>
            <a:pPr marL="320040" indent="-320040">
              <a:spcAft>
                <a:spcPts val="600"/>
              </a:spcAft>
              <a:buClr>
                <a:srgbClr val="E36414"/>
              </a:buClr>
              <a:buFont typeface="Arial"/>
              <a:buChar char="•"/>
            </a:pPr>
            <a:r>
              <a:rPr sz="1600" b="0">
                <a:solidFill>
                  <a:srgbClr val="142B33"/>
                </a:solidFill>
                <a:latin typeface="Calibri"/>
              </a:rPr>
              <a:t>27 combinaciones = 3 × 3 × 3</a:t>
            </a:r>
          </a:p>
          <a:p>
            <a:pPr marL="320040" indent="-320040">
              <a:spcAft>
                <a:spcPts val="600"/>
              </a:spcAft>
              <a:buClr>
                <a:srgbClr val="E36414"/>
              </a:buClr>
              <a:buFont typeface="Arial"/>
              <a:buChar char="•"/>
            </a:pPr>
            <a:r>
              <a:rPr sz="1600" b="0">
                <a:solidFill>
                  <a:srgbClr val="142B33"/>
                </a:solidFill>
                <a:latin typeface="Calibri"/>
              </a:rPr>
              <a:t>Tres bloques o una fracción un tercio = </a:t>
            </a:r>
            <a:r>
              <a:rPr sz="1600" b="1">
                <a:solidFill>
                  <a:srgbClr val="142B33"/>
                </a:solidFill>
                <a:latin typeface="Calibri"/>
              </a:rPr>
              <a:t>grupos de 9 puntos</a:t>
            </a:r>
            <a:r>
              <a:rPr sz="1600" b="0">
                <a:solidFill>
                  <a:srgbClr val="142B33"/>
                </a:solidFill>
                <a:latin typeface="Calibri"/>
              </a:rPr>
              <a:t> de este cubo</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Propósito y vocabulario</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7</a:t>
            </a:r>
          </a:p>
        </p:txBody>
      </p:sp>
      <p:sp>
        <p:nvSpPr>
          <p:cNvPr id="8" name="Rounded Rectangle 7"/>
          <p:cNvSpPr/>
          <p:nvPr/>
        </p:nvSpPr>
        <p:spPr>
          <a:xfrm>
            <a:off x="548640" y="91440"/>
            <a:ext cx="289864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1 · Propósito y vocabulario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Grados de libertad: cada efecto principal tiene 2 y cada interacción de h factores tiene 2</a:t>
            </a:r>
            <a:r>
              <a:rPr sz="3000" b="1" baseline="30000">
                <a:solidFill>
                  <a:srgbClr val="0F4C5C"/>
                </a:solidFill>
                <a:latin typeface="Cambria"/>
              </a:rPr>
              <a:t>h</a:t>
            </a:r>
          </a:p>
        </p:txBody>
      </p:sp>
      <p:graphicFrame>
        <p:nvGraphicFramePr>
          <p:cNvPr id="3" name="Table 2"/>
          <p:cNvGraphicFramePr>
            <a:graphicFrameLocks noGrp="1"/>
          </p:cNvGraphicFramePr>
          <p:nvPr/>
        </p:nvGraphicFramePr>
        <p:xfrm>
          <a:off x="548640" y="1417320"/>
          <a:ext cx="5875611" cy="3156204"/>
        </p:xfrm>
        <a:graphic>
          <a:graphicData uri="http://schemas.openxmlformats.org/drawingml/2006/table">
            <a:tbl>
              <a:tblPr firstRow="0" bandRow="0">
                <a:tableStyleId>{5C22544A-7EE6-4342-B048-85BDC9FD1C3A}</a:tableStyleId>
              </a:tblPr>
              <a:tblGrid>
                <a:gridCol w="2350245"/>
                <a:gridCol w="1175122"/>
                <a:gridCol w="1175122"/>
                <a:gridCol w="1175122"/>
              </a:tblGrid>
              <a:tr h="351282">
                <a:tc>
                  <a:txBody>
                    <a:bodyPr/>
                    <a:lstStyle/>
                    <a:p>
                      <a:pPr algn="l"/>
                      <a:r>
                        <a:rPr sz="1500" b="1">
                          <a:solidFill>
                            <a:srgbClr val="FFFFFF"/>
                          </a:solidFill>
                          <a:latin typeface="Calibri"/>
                        </a:rPr>
                        <a:t>Fuente</a:t>
                      </a:r>
                    </a:p>
                  </a:txBody>
                  <a:tcPr marL="73152" marR="73152" marT="27432" marB="27432" anchor="ctr">
                    <a:solidFill>
                      <a:srgbClr val="0F4C5C"/>
                    </a:solidFill>
                  </a:tcPr>
                </a:tc>
                <a:tc>
                  <a:txBody>
                    <a:bodyPr/>
                    <a:lstStyle/>
                    <a:p>
                      <a:pPr algn="ctr"/>
                      <a:r>
                        <a:rPr sz="1500" b="1">
                          <a:solidFill>
                            <a:srgbClr val="FFFFFF"/>
                          </a:solidFill>
                          <a:latin typeface="Calibri"/>
                        </a:rPr>
                        <a:t>3</a:t>
                      </a:r>
                      <a:r>
                        <a:rPr sz="1500" b="1" baseline="30000">
                          <a:solidFill>
                            <a:srgbClr val="FFFFFF"/>
                          </a:solidFill>
                          <a:latin typeface="Calibri"/>
                        </a:rPr>
                        <a:t>2</a:t>
                      </a:r>
                    </a:p>
                  </a:txBody>
                  <a:tcPr marL="73152" marR="73152" marT="27432" marB="27432" anchor="ctr">
                    <a:solidFill>
                      <a:srgbClr val="0F4C5C"/>
                    </a:solidFill>
                  </a:tcPr>
                </a:tc>
                <a:tc>
                  <a:txBody>
                    <a:bodyPr/>
                    <a:lstStyle/>
                    <a:p>
                      <a:pPr algn="ctr"/>
                      <a:r>
                        <a:rPr sz="1500" b="1">
                          <a:solidFill>
                            <a:srgbClr val="FFFFFF"/>
                          </a:solidFill>
                          <a:latin typeface="Calibri"/>
                        </a:rPr>
                        <a:t>3</a:t>
                      </a:r>
                      <a:r>
                        <a:rPr sz="1500" b="1" baseline="30000">
                          <a:solidFill>
                            <a:srgbClr val="FFFFFF"/>
                          </a:solidFill>
                          <a:latin typeface="Calibri"/>
                        </a:rPr>
                        <a:t>3</a:t>
                      </a:r>
                    </a:p>
                  </a:txBody>
                  <a:tcPr marL="73152" marR="73152" marT="27432" marB="27432" anchor="ctr">
                    <a:solidFill>
                      <a:srgbClr val="0F4C5C"/>
                    </a:solidFill>
                  </a:tcPr>
                </a:tc>
                <a:tc>
                  <a:txBody>
                    <a:bodyPr/>
                    <a:lstStyle/>
                    <a:p>
                      <a:pPr algn="ctr"/>
                      <a:r>
                        <a:rPr sz="1500" b="1">
                          <a:solidFill>
                            <a:srgbClr val="FFFFFF"/>
                          </a:solidFill>
                          <a:latin typeface="Calibri"/>
                        </a:rPr>
                        <a:t>3</a:t>
                      </a:r>
                      <a:r>
                        <a:rPr sz="1500" b="1" baseline="30000">
                          <a:solidFill>
                            <a:srgbClr val="FFFFFF"/>
                          </a:solidFill>
                          <a:latin typeface="Calibri"/>
                        </a:rPr>
                        <a:t>k</a:t>
                      </a:r>
                    </a:p>
                  </a:txBody>
                  <a:tcPr marL="73152" marR="73152" marT="27432" marB="27432" anchor="ctr">
                    <a:solidFill>
                      <a:srgbClr val="0F4C5C"/>
                    </a:solidFill>
                  </a:tcPr>
                </a:tc>
              </a:tr>
              <a:tr h="351282">
                <a:tc>
                  <a:txBody>
                    <a:bodyPr/>
                    <a:lstStyle/>
                    <a:p>
                      <a:pPr algn="l"/>
                      <a:r>
                        <a:rPr sz="1500" b="0">
                          <a:solidFill>
                            <a:srgbClr val="142B33"/>
                          </a:solidFill>
                          <a:latin typeface="Calibri"/>
                        </a:rPr>
                        <a:t>Efecto principal</a:t>
                      </a:r>
                    </a:p>
                  </a:txBody>
                  <a:tcPr marL="73152" marR="73152" marT="27432" marB="27432" anchor="ctr">
                    <a:solidFill>
                      <a:srgbClr val="FFFFFF"/>
                    </a:solidFill>
                  </a:tcPr>
                </a:tc>
                <a:tc>
                  <a:txBody>
                    <a:bodyPr/>
                    <a:lstStyle/>
                    <a:p>
                      <a:pPr algn="ctr"/>
                      <a:r>
                        <a:rPr sz="1500" b="0">
                          <a:solidFill>
                            <a:srgbClr val="142B33"/>
                          </a:solidFill>
                          <a:latin typeface="Calibri"/>
                        </a:rPr>
                        <a:t>2</a:t>
                      </a:r>
                    </a:p>
                  </a:txBody>
                  <a:tcPr marL="73152" marR="73152" marT="27432" marB="27432" anchor="ctr">
                    <a:solidFill>
                      <a:srgbClr val="FFFFFF"/>
                    </a:solidFill>
                  </a:tcPr>
                </a:tc>
                <a:tc>
                  <a:txBody>
                    <a:bodyPr/>
                    <a:lstStyle/>
                    <a:p>
                      <a:pPr algn="ctr"/>
                      <a:r>
                        <a:rPr sz="1500" b="0">
                          <a:solidFill>
                            <a:srgbClr val="142B33"/>
                          </a:solidFill>
                          <a:latin typeface="Calibri"/>
                        </a:rPr>
                        <a:t>2</a:t>
                      </a:r>
                    </a:p>
                  </a:txBody>
                  <a:tcPr marL="73152" marR="73152" marT="27432" marB="27432" anchor="ctr">
                    <a:solidFill>
                      <a:srgbClr val="FFFFFF"/>
                    </a:solidFill>
                  </a:tcPr>
                </a:tc>
                <a:tc>
                  <a:txBody>
                    <a:bodyPr/>
                    <a:lstStyle/>
                    <a:p>
                      <a:pPr algn="ctr"/>
                      <a:r>
                        <a:rPr sz="1500" b="0">
                          <a:solidFill>
                            <a:srgbClr val="142B33"/>
                          </a:solidFill>
                          <a:latin typeface="Calibri"/>
                        </a:rPr>
                        <a:t>2</a:t>
                      </a:r>
                    </a:p>
                  </a:txBody>
                  <a:tcPr marL="73152" marR="73152" marT="27432" marB="27432" anchor="ctr">
                    <a:solidFill>
                      <a:srgbClr val="FFFFFF"/>
                    </a:solidFill>
                  </a:tcPr>
                </a:tc>
              </a:tr>
              <a:tr h="583692">
                <a:tc>
                  <a:txBody>
                    <a:bodyPr/>
                    <a:lstStyle/>
                    <a:p>
                      <a:pPr algn="l"/>
                      <a:r>
                        <a:rPr sz="1500" b="0">
                          <a:solidFill>
                            <a:srgbClr val="142B33"/>
                          </a:solidFill>
                          <a:latin typeface="Calibri"/>
                        </a:rPr>
                        <a:t>Interacción de 2 factores</a:t>
                      </a:r>
                    </a:p>
                  </a:txBody>
                  <a:tcPr marL="73152" marR="73152" marT="27432" marB="27432" anchor="ctr">
                    <a:solidFill>
                      <a:srgbClr val="F4F8F9"/>
                    </a:solidFill>
                  </a:tcPr>
                </a:tc>
                <a:tc>
                  <a:txBody>
                    <a:bodyPr/>
                    <a:lstStyle/>
                    <a:p>
                      <a:pPr algn="ctr"/>
                      <a:r>
                        <a:rPr sz="1500" b="0">
                          <a:solidFill>
                            <a:srgbClr val="142B33"/>
                          </a:solidFill>
                          <a:latin typeface="Calibri"/>
                        </a:rPr>
                        <a:t>4</a:t>
                      </a:r>
                    </a:p>
                  </a:txBody>
                  <a:tcPr marL="73152" marR="73152" marT="27432" marB="27432" anchor="ctr">
                    <a:solidFill>
                      <a:srgbClr val="F4F8F9"/>
                    </a:solidFill>
                  </a:tcPr>
                </a:tc>
                <a:tc>
                  <a:txBody>
                    <a:bodyPr/>
                    <a:lstStyle/>
                    <a:p>
                      <a:pPr algn="ctr"/>
                      <a:r>
                        <a:rPr sz="1500" b="0">
                          <a:solidFill>
                            <a:srgbClr val="142B33"/>
                          </a:solidFill>
                          <a:latin typeface="Calibri"/>
                        </a:rPr>
                        <a:t>4</a:t>
                      </a:r>
                    </a:p>
                  </a:txBody>
                  <a:tcPr marL="73152" marR="73152" marT="27432" marB="27432" anchor="ctr">
                    <a:solidFill>
                      <a:srgbClr val="F4F8F9"/>
                    </a:solidFill>
                  </a:tcPr>
                </a:tc>
                <a:tc>
                  <a:txBody>
                    <a:bodyPr/>
                    <a:lstStyle/>
                    <a:p>
                      <a:pPr algn="ctr"/>
                      <a:r>
                        <a:rPr sz="1500" b="0">
                          <a:solidFill>
                            <a:srgbClr val="142B33"/>
                          </a:solidFill>
                          <a:latin typeface="Calibri"/>
                        </a:rPr>
                        <a:t>4</a:t>
                      </a:r>
                    </a:p>
                  </a:txBody>
                  <a:tcPr marL="73152" marR="73152" marT="27432" marB="27432" anchor="ctr">
                    <a:solidFill>
                      <a:srgbClr val="F4F8F9"/>
                    </a:solidFill>
                  </a:tcPr>
                </a:tc>
              </a:tr>
              <a:tr h="583692">
                <a:tc>
                  <a:txBody>
                    <a:bodyPr/>
                    <a:lstStyle/>
                    <a:p>
                      <a:pPr algn="l"/>
                      <a:r>
                        <a:rPr sz="1500" b="0">
                          <a:solidFill>
                            <a:srgbClr val="142B33"/>
                          </a:solidFill>
                          <a:latin typeface="Calibri"/>
                        </a:rPr>
                        <a:t>Interacción de 3 factores</a:t>
                      </a:r>
                    </a:p>
                  </a:txBody>
                  <a:tcPr marL="73152" marR="73152" marT="27432" marB="27432" anchor="ctr">
                    <a:solidFill>
                      <a:srgbClr val="FFFFFF"/>
                    </a:solidFill>
                  </a:tcPr>
                </a:tc>
                <a:tc>
                  <a:txBody>
                    <a:bodyPr/>
                    <a:lstStyle/>
                    <a:p>
                      <a:pPr algn="ctr"/>
                      <a:r>
                        <a:rPr sz="1500" b="0">
                          <a:solidFill>
                            <a:srgbClr val="142B33"/>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8</a:t>
                      </a:r>
                    </a:p>
                  </a:txBody>
                  <a:tcPr marL="73152" marR="73152" marT="27432" marB="27432" anchor="ctr">
                    <a:solidFill>
                      <a:srgbClr val="FFFFFF"/>
                    </a:solidFill>
                  </a:tcPr>
                </a:tc>
                <a:tc>
                  <a:txBody>
                    <a:bodyPr/>
                    <a:lstStyle/>
                    <a:p>
                      <a:pPr algn="ctr"/>
                      <a:r>
                        <a:rPr sz="1500" b="0">
                          <a:solidFill>
                            <a:srgbClr val="142B33"/>
                          </a:solidFill>
                          <a:latin typeface="Calibri"/>
                        </a:rPr>
                        <a:t>8</a:t>
                      </a:r>
                    </a:p>
                  </a:txBody>
                  <a:tcPr marL="73152" marR="73152" marT="27432" marB="27432" anchor="ctr">
                    <a:solidFill>
                      <a:srgbClr val="FFFFFF"/>
                    </a:solidFill>
                  </a:tcPr>
                </a:tc>
              </a:tr>
              <a:tr h="583692">
                <a:tc>
                  <a:txBody>
                    <a:bodyPr/>
                    <a:lstStyle/>
                    <a:p>
                      <a:pPr algn="l"/>
                      <a:r>
                        <a:rPr sz="1500" b="0">
                          <a:solidFill>
                            <a:srgbClr val="142B33"/>
                          </a:solidFill>
                          <a:latin typeface="Calibri"/>
                        </a:rPr>
                        <a:t>Interacción de h factores</a:t>
                      </a:r>
                    </a:p>
                  </a:txBody>
                  <a:tcPr marL="73152" marR="73152" marT="27432" marB="27432" anchor="ctr">
                    <a:solidFill>
                      <a:srgbClr val="F4F8F9"/>
                    </a:solidFill>
                  </a:tcPr>
                </a:tc>
                <a:tc>
                  <a:txBody>
                    <a:bodyPr/>
                    <a:lstStyle/>
                    <a:p>
                      <a:pPr algn="ctr"/>
                      <a:r>
                        <a:rPr sz="1500" b="0">
                          <a:solidFill>
                            <a:srgbClr val="142B33"/>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2</a:t>
                      </a:r>
                      <a:r>
                        <a:rPr sz="1500" b="0" baseline="30000">
                          <a:solidFill>
                            <a:srgbClr val="142B33"/>
                          </a:solidFill>
                          <a:latin typeface="Calibri"/>
                        </a:rPr>
                        <a:t>h</a:t>
                      </a:r>
                    </a:p>
                  </a:txBody>
                  <a:tcPr marL="73152" marR="73152" marT="27432" marB="27432" anchor="ctr">
                    <a:solidFill>
                      <a:srgbClr val="F4F8F9"/>
                    </a:solidFill>
                  </a:tcPr>
                </a:tc>
              </a:tr>
              <a:tr h="351282">
                <a:tc>
                  <a:txBody>
                    <a:bodyPr/>
                    <a:lstStyle/>
                    <a:p>
                      <a:pPr algn="l"/>
                      <a:r>
                        <a:rPr sz="1500" b="0">
                          <a:solidFill>
                            <a:srgbClr val="142B33"/>
                          </a:solidFill>
                          <a:latin typeface="Calibri"/>
                        </a:rPr>
                        <a:t>Error (n réplicas)</a:t>
                      </a:r>
                    </a:p>
                  </a:txBody>
                  <a:tcPr marL="73152" marR="73152" marT="27432" marB="27432" anchor="ctr">
                    <a:solidFill>
                      <a:srgbClr val="FFFFFF"/>
                    </a:solidFill>
                  </a:tcPr>
                </a:tc>
                <a:tc>
                  <a:txBody>
                    <a:bodyPr/>
                    <a:lstStyle/>
                    <a:p>
                      <a:pPr algn="ctr"/>
                      <a:r>
                        <a:rPr sz="1500" b="0">
                          <a:solidFill>
                            <a:srgbClr val="142B33"/>
                          </a:solidFill>
                          <a:latin typeface="Calibri"/>
                        </a:rPr>
                        <a:t>9(n − 1)</a:t>
                      </a:r>
                    </a:p>
                  </a:txBody>
                  <a:tcPr marL="73152" marR="73152" marT="27432" marB="27432" anchor="ctr">
                    <a:solidFill>
                      <a:srgbClr val="FFFFFF"/>
                    </a:solidFill>
                  </a:tcPr>
                </a:tc>
                <a:tc>
                  <a:txBody>
                    <a:bodyPr/>
                    <a:lstStyle/>
                    <a:p>
                      <a:pPr algn="ctr"/>
                      <a:r>
                        <a:rPr sz="1500" b="0">
                          <a:solidFill>
                            <a:srgbClr val="142B33"/>
                          </a:solidFill>
                          <a:latin typeface="Calibri"/>
                        </a:rPr>
                        <a:t>27(n − 1)</a:t>
                      </a:r>
                    </a:p>
                  </a:txBody>
                  <a:tcPr marL="73152" marR="73152" marT="27432" marB="27432" anchor="ctr">
                    <a:solidFill>
                      <a:srgbClr val="FFFFFF"/>
                    </a:solidFill>
                  </a:tcPr>
                </a:tc>
                <a:tc>
                  <a:txBody>
                    <a:bodyPr/>
                    <a:lstStyle/>
                    <a:p>
                      <a:pPr algn="ctr"/>
                      <a:r>
                        <a:rPr sz="1500" b="0">
                          <a:solidFill>
                            <a:srgbClr val="142B33"/>
                          </a:solidFill>
                          <a:latin typeface="Calibri"/>
                        </a:rPr>
                        <a:t>3</a:t>
                      </a:r>
                      <a:r>
                        <a:rPr sz="1500" b="0" baseline="30000">
                          <a:solidFill>
                            <a:srgbClr val="142B33"/>
                          </a:solidFill>
                          <a:latin typeface="Calibri"/>
                        </a:rPr>
                        <a:t>k</a:t>
                      </a:r>
                      <a:r>
                        <a:rPr sz="1500" b="0">
                          <a:solidFill>
                            <a:srgbClr val="142B33"/>
                          </a:solidFill>
                          <a:latin typeface="Calibri"/>
                        </a:rPr>
                        <a:t>(n − 1)</a:t>
                      </a:r>
                    </a:p>
                  </a:txBody>
                  <a:tcPr marL="73152" marR="73152" marT="27432" marB="27432" anchor="ctr">
                    <a:solidFill>
                      <a:srgbClr val="FFFFFF"/>
                    </a:solidFill>
                  </a:tcPr>
                </a:tc>
              </a:tr>
              <a:tr h="351282">
                <a:tc>
                  <a:txBody>
                    <a:bodyPr/>
                    <a:lstStyle/>
                    <a:p>
                      <a:pPr algn="l"/>
                      <a:r>
                        <a:rPr sz="1500" b="0">
                          <a:solidFill>
                            <a:srgbClr val="142B33"/>
                          </a:solidFill>
                          <a:latin typeface="Calibri"/>
                        </a:rPr>
                        <a:t>Total</a:t>
                      </a:r>
                    </a:p>
                  </a:txBody>
                  <a:tcPr marL="73152" marR="73152" marT="27432" marB="27432" anchor="ctr">
                    <a:solidFill>
                      <a:srgbClr val="F4F8F9"/>
                    </a:solidFill>
                  </a:tcPr>
                </a:tc>
                <a:tc>
                  <a:txBody>
                    <a:bodyPr/>
                    <a:lstStyle/>
                    <a:p>
                      <a:pPr algn="ctr"/>
                      <a:r>
                        <a:rPr sz="1500" b="0">
                          <a:solidFill>
                            <a:srgbClr val="142B33"/>
                          </a:solidFill>
                          <a:latin typeface="Calibri"/>
                        </a:rPr>
                        <a:t>9n − 1</a:t>
                      </a:r>
                    </a:p>
                  </a:txBody>
                  <a:tcPr marL="73152" marR="73152" marT="27432" marB="27432" anchor="ctr">
                    <a:solidFill>
                      <a:srgbClr val="F4F8F9"/>
                    </a:solidFill>
                  </a:tcPr>
                </a:tc>
                <a:tc>
                  <a:txBody>
                    <a:bodyPr/>
                    <a:lstStyle/>
                    <a:p>
                      <a:pPr algn="ctr"/>
                      <a:r>
                        <a:rPr sz="1500" b="0">
                          <a:solidFill>
                            <a:srgbClr val="142B33"/>
                          </a:solidFill>
                          <a:latin typeface="Calibri"/>
                        </a:rPr>
                        <a:t>27n − 1</a:t>
                      </a:r>
                    </a:p>
                  </a:txBody>
                  <a:tcPr marL="73152" marR="73152" marT="27432" marB="27432" anchor="ctr">
                    <a:solidFill>
                      <a:srgbClr val="F4F8F9"/>
                    </a:solidFill>
                  </a:tcPr>
                </a:tc>
                <a:tc>
                  <a:txBody>
                    <a:bodyPr/>
                    <a:lstStyle/>
                    <a:p>
                      <a:pPr algn="ctr"/>
                      <a:r>
                        <a:rPr sz="1500" b="0">
                          <a:solidFill>
                            <a:srgbClr val="142B33"/>
                          </a:solidFill>
                          <a:latin typeface="Calibri"/>
                        </a:rPr>
                        <a:t>n·3</a:t>
                      </a:r>
                      <a:r>
                        <a:rPr sz="1500" b="0" baseline="30000">
                          <a:solidFill>
                            <a:srgbClr val="142B33"/>
                          </a:solidFill>
                          <a:latin typeface="Calibri"/>
                        </a:rPr>
                        <a:t>k</a:t>
                      </a:r>
                      <a:r>
                        <a:rPr sz="1500" b="0">
                          <a:solidFill>
                            <a:srgbClr val="142B33"/>
                          </a:solidFill>
                          <a:latin typeface="Calibri"/>
                        </a:rPr>
                        <a:t> − 1</a:t>
                      </a:r>
                    </a:p>
                  </a:txBody>
                  <a:tcPr marL="73152" marR="73152" marT="27432" marB="27432" anchor="ctr">
                    <a:solidFill>
                      <a:srgbClr val="F4F8F9"/>
                    </a:solidFill>
                  </a:tcPr>
                </a:tc>
              </a:tr>
            </a:tbl>
          </a:graphicData>
        </a:graphic>
      </p:graphicFrame>
      <p:sp>
        <p:nvSpPr>
          <p:cNvPr id="4" name="Rounded Rectangle 3"/>
          <p:cNvSpPr/>
          <p:nvPr/>
        </p:nvSpPr>
        <p:spPr>
          <a:xfrm>
            <a:off x="6835734" y="1417320"/>
            <a:ext cx="4807320" cy="58667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0">
                <a:solidFill>
                  <a:srgbClr val="0F4C5C"/>
                </a:solidFill>
                <a:latin typeface="Cambria Math"/>
              </a:rPr>
              <a:t>g.l. de una interacción de h factores = 2</a:t>
            </a:r>
            <a:r>
              <a:rPr sz="1800" b="0" baseline="30000">
                <a:solidFill>
                  <a:srgbClr val="0F4C5C"/>
                </a:solidFill>
                <a:latin typeface="Cambria Math"/>
              </a:rPr>
              <a:t>h</a:t>
            </a:r>
          </a:p>
        </p:txBody>
      </p:sp>
      <p:sp>
        <p:nvSpPr>
          <p:cNvPr id="5" name="TextBox 4"/>
          <p:cNvSpPr txBox="1"/>
          <p:nvPr/>
        </p:nvSpPr>
        <p:spPr>
          <a:xfrm>
            <a:off x="6835734" y="2205167"/>
            <a:ext cx="4807320" cy="1156207"/>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600" b="0">
                <a:solidFill>
                  <a:srgbClr val="142B33"/>
                </a:solidFill>
                <a:latin typeface="Calibri"/>
              </a:rPr>
              <a:t>Las SS se calculan como en cualquier factorial (cap. 5)</a:t>
            </a:r>
          </a:p>
          <a:p>
            <a:pPr marL="320040" indent="-320040">
              <a:spcAft>
                <a:spcPts val="600"/>
              </a:spcAft>
              <a:buClr>
                <a:srgbClr val="E36414"/>
              </a:buClr>
              <a:buFont typeface="Arial"/>
              <a:buChar char="•"/>
            </a:pPr>
            <a:r>
              <a:rPr sz="1600" b="0">
                <a:solidFill>
                  <a:srgbClr val="142B33"/>
                </a:solidFill>
                <a:latin typeface="Calibri"/>
              </a:rPr>
              <a:t>Lo nuevo: </a:t>
            </a:r>
            <a:r>
              <a:rPr sz="1600" b="1">
                <a:solidFill>
                  <a:srgbClr val="142B33"/>
                </a:solidFill>
                <a:latin typeface="Calibri"/>
              </a:rPr>
              <a:t>cómo se parten</a:t>
            </a:r>
            <a:r>
              <a:rPr sz="1600" b="0">
                <a:solidFill>
                  <a:srgbClr val="142B33"/>
                </a:solidFill>
                <a:latin typeface="Calibri"/>
              </a:rPr>
              <a:t> los 2</a:t>
            </a:r>
            <a:r>
              <a:rPr sz="1600" b="0" baseline="30000">
                <a:solidFill>
                  <a:srgbClr val="142B33"/>
                </a:solidFill>
                <a:latin typeface="Calibri"/>
              </a:rPr>
              <a:t>h</a:t>
            </a:r>
            <a:r>
              <a:rPr sz="1600" b="0">
                <a:solidFill>
                  <a:srgbClr val="142B33"/>
                </a:solidFill>
                <a:latin typeface="Calibri"/>
              </a:rPr>
              <a:t> g.l. de cada interacción</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Propósito y vocabulario</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8</a:t>
            </a:r>
          </a:p>
        </p:txBody>
      </p:sp>
      <p:sp>
        <p:nvSpPr>
          <p:cNvPr id="8" name="Rounded Rectangle 7"/>
          <p:cNvSpPr/>
          <p:nvPr/>
        </p:nvSpPr>
        <p:spPr>
          <a:xfrm>
            <a:off x="548640" y="91440"/>
            <a:ext cx="289864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1 · Propósito y vocabulario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El tamaño crece muy rápido: 27, 81, 243 corridas</a:t>
            </a:r>
          </a:p>
        </p:txBody>
      </p:sp>
      <p:graphicFrame>
        <p:nvGraphicFramePr>
          <p:cNvPr id="3" name="Table 2"/>
          <p:cNvGraphicFramePr>
            <a:graphicFrameLocks noGrp="1"/>
          </p:cNvGraphicFramePr>
          <p:nvPr/>
        </p:nvGraphicFramePr>
        <p:xfrm>
          <a:off x="548640" y="1417320"/>
          <a:ext cx="5875613" cy="2221230"/>
        </p:xfrm>
        <a:graphic>
          <a:graphicData uri="http://schemas.openxmlformats.org/drawingml/2006/table">
            <a:tbl>
              <a:tblPr firstRow="0" bandRow="0">
                <a:tableStyleId>{5C22544A-7EE6-4342-B048-85BDC9FD1C3A}</a:tableStyleId>
              </a:tblPr>
              <a:tblGrid>
                <a:gridCol w="881342"/>
                <a:gridCol w="1762684"/>
                <a:gridCol w="3231587"/>
              </a:tblGrid>
              <a:tr h="816102">
                <a:tc>
                  <a:txBody>
                    <a:bodyPr/>
                    <a:lstStyle/>
                    <a:p>
                      <a:pPr algn="l"/>
                      <a:r>
                        <a:rPr sz="1500" b="1">
                          <a:solidFill>
                            <a:srgbClr val="FFFFFF"/>
                          </a:solidFill>
                          <a:latin typeface="Calibri"/>
                        </a:rPr>
                        <a:t>Diseño</a:t>
                      </a:r>
                    </a:p>
                  </a:txBody>
                  <a:tcPr marL="73152" marR="73152" marT="27432" marB="27432" anchor="ctr">
                    <a:solidFill>
                      <a:srgbClr val="0F4C5C"/>
                    </a:solidFill>
                  </a:tcPr>
                </a:tc>
                <a:tc>
                  <a:txBody>
                    <a:bodyPr/>
                    <a:lstStyle/>
                    <a:p>
                      <a:pPr algn="ctr"/>
                      <a:r>
                        <a:rPr sz="1500" b="1">
                          <a:solidFill>
                            <a:srgbClr val="FFFFFF"/>
                          </a:solidFill>
                          <a:latin typeface="Calibri"/>
                        </a:rPr>
                        <a:t>Corridas por réplica</a:t>
                      </a:r>
                    </a:p>
                  </a:txBody>
                  <a:tcPr marL="73152" marR="73152" marT="27432" marB="27432" anchor="ctr">
                    <a:solidFill>
                      <a:srgbClr val="0F4C5C"/>
                    </a:solidFill>
                  </a:tcPr>
                </a:tc>
                <a:tc>
                  <a:txBody>
                    <a:bodyPr/>
                    <a:lstStyle/>
                    <a:p>
                      <a:pPr algn="ctr"/>
                      <a:r>
                        <a:rPr sz="1500" b="1">
                          <a:solidFill>
                            <a:srgbClr val="FFFFFF"/>
                          </a:solidFill>
                          <a:latin typeface="Calibri"/>
                        </a:rPr>
                        <a:t>g.l. de error con una réplica (interacciones de 3+ factores)</a:t>
                      </a:r>
                    </a:p>
                  </a:txBody>
                  <a:tcPr marL="73152" marR="73152" marT="27432" marB="27432" anchor="ctr">
                    <a:solidFill>
                      <a:srgbClr val="0F4C5C"/>
                    </a:solidFill>
                  </a:tcPr>
                </a:tc>
              </a:tr>
              <a:tr h="351282">
                <a:tc>
                  <a:txBody>
                    <a:bodyPr/>
                    <a:lstStyle/>
                    <a:p>
                      <a:pPr algn="l"/>
                      <a:r>
                        <a:rPr sz="1500" b="0">
                          <a:solidFill>
                            <a:srgbClr val="142B33"/>
                          </a:solidFill>
                          <a:latin typeface="Calibri"/>
                        </a:rPr>
                        <a:t>3</a:t>
                      </a:r>
                      <a:r>
                        <a:rPr sz="1500" b="0" baseline="30000">
                          <a:solidFill>
                            <a:srgbClr val="142B33"/>
                          </a:solidFill>
                          <a:latin typeface="Calibri"/>
                        </a:rPr>
                        <a:t>2</a:t>
                      </a:r>
                    </a:p>
                  </a:txBody>
                  <a:tcPr marL="73152" marR="73152" marT="27432" marB="27432" anchor="ctr">
                    <a:solidFill>
                      <a:srgbClr val="FFFFFF"/>
                    </a:solidFill>
                  </a:tcPr>
                </a:tc>
                <a:tc>
                  <a:txBody>
                    <a:bodyPr/>
                    <a:lstStyle/>
                    <a:p>
                      <a:pPr algn="ctr"/>
                      <a:r>
                        <a:rPr sz="1500" b="0">
                          <a:solidFill>
                            <a:srgbClr val="142B33"/>
                          </a:solidFill>
                          <a:latin typeface="Calibri"/>
                        </a:rPr>
                        <a:t>9</a:t>
                      </a:r>
                    </a:p>
                  </a:txBody>
                  <a:tcPr marL="73152" marR="73152" marT="27432" marB="27432" anchor="ctr">
                    <a:solidFill>
                      <a:srgbClr val="FFFFFF"/>
                    </a:solidFill>
                  </a:tcPr>
                </a:tc>
                <a:tc>
                  <a:txBody>
                    <a:bodyPr/>
                    <a:lstStyle/>
                    <a:p>
                      <a:pPr algn="ctr"/>
                      <a:r>
                        <a:rPr sz="1500" b="0">
                          <a:solidFill>
                            <a:srgbClr val="142B33"/>
                          </a:solidFill>
                          <a:latin typeface="Calibri"/>
                        </a:rPr>
                        <a:t>0 (hace falta replicar)</a:t>
                      </a:r>
                    </a:p>
                  </a:txBody>
                  <a:tcPr marL="73152" marR="73152" marT="27432" marB="27432" anchor="ctr">
                    <a:solidFill>
                      <a:srgbClr val="FFFFFF"/>
                    </a:solidFill>
                  </a:tcPr>
                </a:tc>
              </a:tr>
              <a:tr h="351282">
                <a:tc>
                  <a:txBody>
                    <a:bodyPr/>
                    <a:lstStyle/>
                    <a:p>
                      <a:pPr algn="l"/>
                      <a:r>
                        <a:rPr sz="1500" b="0">
                          <a:solidFill>
                            <a:srgbClr val="142B33"/>
                          </a:solidFill>
                          <a:latin typeface="Calibri"/>
                        </a:rPr>
                        <a:t>3</a:t>
                      </a:r>
                      <a:r>
                        <a:rPr sz="1500" b="0" baseline="30000">
                          <a:solidFill>
                            <a:srgbClr val="142B33"/>
                          </a:solidFill>
                          <a:latin typeface="Calibri"/>
                        </a:rPr>
                        <a:t>3</a:t>
                      </a:r>
                    </a:p>
                  </a:txBody>
                  <a:tcPr marL="73152" marR="73152" marT="27432" marB="27432" anchor="ctr">
                    <a:solidFill>
                      <a:srgbClr val="F4F8F9"/>
                    </a:solidFill>
                  </a:tcPr>
                </a:tc>
                <a:tc>
                  <a:txBody>
                    <a:bodyPr/>
                    <a:lstStyle/>
                    <a:p>
                      <a:pPr algn="ctr"/>
                      <a:r>
                        <a:rPr sz="1500" b="0">
                          <a:solidFill>
                            <a:srgbClr val="142B33"/>
                          </a:solidFill>
                          <a:latin typeface="Calibri"/>
                        </a:rPr>
                        <a:t>27</a:t>
                      </a:r>
                    </a:p>
                  </a:txBody>
                  <a:tcPr marL="73152" marR="73152" marT="27432" marB="27432" anchor="ctr">
                    <a:solidFill>
                      <a:srgbClr val="F4F8F9"/>
                    </a:solidFill>
                  </a:tcPr>
                </a:tc>
                <a:tc>
                  <a:txBody>
                    <a:bodyPr/>
                    <a:lstStyle/>
                    <a:p>
                      <a:pPr algn="ctr"/>
                      <a:r>
                        <a:rPr sz="1500" b="0">
                          <a:solidFill>
                            <a:srgbClr val="142B33"/>
                          </a:solidFill>
                          <a:latin typeface="Calibri"/>
                        </a:rPr>
                        <a:t>8 (ABC)</a:t>
                      </a:r>
                    </a:p>
                  </a:txBody>
                  <a:tcPr marL="73152" marR="73152" marT="27432" marB="27432" anchor="ctr">
                    <a:solidFill>
                      <a:srgbClr val="F4F8F9"/>
                    </a:solidFill>
                  </a:tcPr>
                </a:tc>
              </a:tr>
              <a:tr h="351282">
                <a:tc>
                  <a:txBody>
                    <a:bodyPr/>
                    <a:lstStyle/>
                    <a:p>
                      <a:pPr algn="l"/>
                      <a:r>
                        <a:rPr sz="1500" b="0">
                          <a:solidFill>
                            <a:srgbClr val="142B33"/>
                          </a:solidFill>
                          <a:latin typeface="Calibri"/>
                        </a:rPr>
                        <a:t>3</a:t>
                      </a:r>
                      <a:r>
                        <a:rPr sz="1500" b="0" baseline="30000">
                          <a:solidFill>
                            <a:srgbClr val="142B33"/>
                          </a:solidFill>
                          <a:latin typeface="Calibri"/>
                        </a:rPr>
                        <a:t>4</a:t>
                      </a:r>
                    </a:p>
                  </a:txBody>
                  <a:tcPr marL="73152" marR="73152" marT="27432" marB="27432" anchor="ctr">
                    <a:solidFill>
                      <a:srgbClr val="FFFFFF"/>
                    </a:solidFill>
                  </a:tcPr>
                </a:tc>
                <a:tc>
                  <a:txBody>
                    <a:bodyPr/>
                    <a:lstStyle/>
                    <a:p>
                      <a:pPr algn="ctr"/>
                      <a:r>
                        <a:rPr sz="1500" b="0">
                          <a:solidFill>
                            <a:srgbClr val="142B33"/>
                          </a:solidFill>
                          <a:latin typeface="Calibri"/>
                        </a:rPr>
                        <a:t>81</a:t>
                      </a:r>
                    </a:p>
                  </a:txBody>
                  <a:tcPr marL="73152" marR="73152" marT="27432" marB="27432" anchor="ctr">
                    <a:solidFill>
                      <a:srgbClr val="FFFFFF"/>
                    </a:solidFill>
                  </a:tcPr>
                </a:tc>
                <a:tc>
                  <a:txBody>
                    <a:bodyPr/>
                    <a:lstStyle/>
                    <a:p>
                      <a:pPr algn="ctr"/>
                      <a:r>
                        <a:rPr sz="1500" b="0">
                          <a:solidFill>
                            <a:srgbClr val="142B33"/>
                          </a:solidFill>
                          <a:latin typeface="Calibri"/>
                        </a:rPr>
                        <a:t>48 (ABC, ABD, ACD, BCD, ABCD)</a:t>
                      </a:r>
                    </a:p>
                  </a:txBody>
                  <a:tcPr marL="73152" marR="73152" marT="27432" marB="27432" anchor="ctr">
                    <a:solidFill>
                      <a:srgbClr val="FFFFFF"/>
                    </a:solidFill>
                  </a:tcPr>
                </a:tc>
              </a:tr>
              <a:tr h="351282">
                <a:tc>
                  <a:txBody>
                    <a:bodyPr/>
                    <a:lstStyle/>
                    <a:p>
                      <a:pPr algn="l"/>
                      <a:r>
                        <a:rPr sz="1500" b="0">
                          <a:solidFill>
                            <a:srgbClr val="142B33"/>
                          </a:solidFill>
                          <a:latin typeface="Calibri"/>
                        </a:rPr>
                        <a:t>3</a:t>
                      </a:r>
                      <a:r>
                        <a:rPr sz="1500" b="0" baseline="30000">
                          <a:solidFill>
                            <a:srgbClr val="142B33"/>
                          </a:solidFill>
                          <a:latin typeface="Calibri"/>
                        </a:rPr>
                        <a:t>5</a:t>
                      </a:r>
                    </a:p>
                  </a:txBody>
                  <a:tcPr marL="73152" marR="73152" marT="27432" marB="27432" anchor="ctr">
                    <a:solidFill>
                      <a:srgbClr val="F4F8F9"/>
                    </a:solidFill>
                  </a:tcPr>
                </a:tc>
                <a:tc>
                  <a:txBody>
                    <a:bodyPr/>
                    <a:lstStyle/>
                    <a:p>
                      <a:pPr algn="ctr"/>
                      <a:r>
                        <a:rPr sz="1500" b="0">
                          <a:solidFill>
                            <a:srgbClr val="142B33"/>
                          </a:solidFill>
                          <a:latin typeface="Calibri"/>
                        </a:rPr>
                        <a:t>243</a:t>
                      </a:r>
                    </a:p>
                  </a:txBody>
                  <a:tcPr marL="73152" marR="73152" marT="27432" marB="27432" anchor="ctr">
                    <a:solidFill>
                      <a:srgbClr val="F4F8F9"/>
                    </a:solidFill>
                  </a:tcPr>
                </a:tc>
                <a:tc>
                  <a:txBody>
                    <a:bodyPr/>
                    <a:lstStyle/>
                    <a:p>
                      <a:pPr algn="ctr"/>
                      <a:r>
                        <a:rPr sz="1500" b="0">
                          <a:solidFill>
                            <a:srgbClr val="142B33"/>
                          </a:solidFill>
                          <a:latin typeface="Calibri"/>
                        </a:rPr>
                        <a:t>192</a:t>
                      </a:r>
                    </a:p>
                  </a:txBody>
                  <a:tcPr marL="73152" marR="73152" marT="27432" marB="27432" anchor="ctr">
                    <a:solidFill>
                      <a:srgbClr val="F4F8F9"/>
                    </a:solidFill>
                  </a:tcPr>
                </a:tc>
              </a:tr>
            </a:tbl>
          </a:graphicData>
        </a:graphic>
      </p:graphicFrame>
      <p:sp>
        <p:nvSpPr>
          <p:cNvPr id="4" name="Rounded Rectangle 3"/>
          <p:cNvSpPr/>
          <p:nvPr/>
        </p:nvSpPr>
        <p:spPr>
          <a:xfrm>
            <a:off x="6835734" y="1417320"/>
            <a:ext cx="4807320" cy="97155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«Siguen siendo diseños grandes para k ≥ 3 y, por consiguiente, de escasa utilidad» (Montgomery)</a:t>
            </a:r>
          </a:p>
        </p:txBody>
      </p:sp>
      <p:sp>
        <p:nvSpPr>
          <p:cNvPr id="5" name="TextBox 4"/>
          <p:cNvSpPr txBox="1"/>
          <p:nvPr/>
        </p:nvSpPr>
        <p:spPr>
          <a:xfrm>
            <a:off x="6835734" y="2590038"/>
            <a:ext cx="4807320" cy="1486407"/>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600" b="0">
                <a:solidFill>
                  <a:srgbClr val="142B33"/>
                </a:solidFill>
                <a:latin typeface="Calibri"/>
              </a:rPr>
              <a:t>Una réplica + interacciones de orden alto como error</a:t>
            </a:r>
          </a:p>
          <a:p>
            <a:pPr marL="320040" indent="-320040">
              <a:spcAft>
                <a:spcPts val="600"/>
              </a:spcAft>
              <a:buClr>
                <a:srgbClr val="E36414"/>
              </a:buClr>
              <a:buFont typeface="Arial"/>
              <a:buChar char="•"/>
            </a:pPr>
            <a:r>
              <a:rPr sz="1600" b="1">
                <a:solidFill>
                  <a:srgbClr val="142B33"/>
                </a:solidFill>
                <a:latin typeface="Calibri"/>
              </a:rPr>
              <a:t>Bloques</a:t>
            </a:r>
            <a:r>
              <a:rPr sz="1600" b="0">
                <a:solidFill>
                  <a:srgbClr val="142B33"/>
                </a:solidFill>
                <a:latin typeface="Calibri"/>
              </a:rPr>
              <a:t>: para no correr las 27 en condiciones distintas</a:t>
            </a:r>
          </a:p>
          <a:p>
            <a:pPr marL="320040" indent="-320040">
              <a:spcAft>
                <a:spcPts val="600"/>
              </a:spcAft>
              <a:buClr>
                <a:srgbClr val="E36414"/>
              </a:buClr>
              <a:buFont typeface="Arial"/>
              <a:buChar char="•"/>
            </a:pPr>
            <a:r>
              <a:rPr sz="1600" b="1">
                <a:solidFill>
                  <a:srgbClr val="142B33"/>
                </a:solidFill>
                <a:latin typeface="Calibri"/>
              </a:rPr>
              <a:t>Fracciones</a:t>
            </a:r>
            <a:r>
              <a:rPr sz="1600" b="0">
                <a:solidFill>
                  <a:srgbClr val="142B33"/>
                </a:solidFill>
                <a:latin typeface="Calibri"/>
              </a:rPr>
              <a:t>: para no correr tantas</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Propósito y vocabulario</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9</a:t>
            </a:r>
          </a:p>
        </p:txBody>
      </p:sp>
      <p:sp>
        <p:nvSpPr>
          <p:cNvPr id="8" name="Rounded Rectangle 7"/>
          <p:cNvSpPr/>
          <p:nvPr/>
        </p:nvSpPr>
        <p:spPr>
          <a:xfrm>
            <a:off x="548640" y="91440"/>
            <a:ext cx="2898648"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1 · Propósito y vocabulario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itle 1"/>
          <p:cNvSpPr>
            <a:spLocks noGrp="1"/>
          </p:cNvSpPr>
          <p:nvPr>
            <p:ph type="title"/>
          </p:nvPr>
        </p:nvSpPr>
        <p:spPr>
          <a:xfrm>
            <a:off x="548640" y="3383280"/>
            <a:ext cx="11094415" cy="914400"/>
          </a:xfrm>
        </p:spPr>
        <p:txBody>
          <a:bodyPr wrap="square" anchor="t" lIns="0" rIns="0" tIns="0" bIns="0"/>
          <a:lstStyle/>
          <a:p>
            <a:pPr algn="l"/>
            <a:r>
              <a:rPr sz="4400" b="1">
                <a:solidFill>
                  <a:srgbClr val="FFFFFF"/>
                </a:solidFill>
                <a:latin typeface="Cambria"/>
              </a:rPr>
              <a:t>Componentes de interacción</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2</a:t>
            </a:r>
          </a:p>
        </p:txBody>
      </p:sp>
      <p:sp>
        <p:nvSpPr>
          <p:cNvPr id="4" name="TextBox 3"/>
          <p:cNvSpPr txBox="1"/>
          <p:nvPr/>
        </p:nvSpPr>
        <p:spPr>
          <a:xfrm>
            <a:off x="548640" y="4343400"/>
            <a:ext cx="11094415" cy="548640"/>
          </a:xfrm>
          <a:prstGeom prst="rect">
            <a:avLst/>
          </a:prstGeom>
          <a:noFill/>
        </p:spPr>
        <p:txBody>
          <a:bodyPr wrap="square" anchor="t" lIns="0" rIns="0" tIns="0" bIns="0">
            <a:spAutoFit/>
          </a:bodyPr>
          <a:lstStyle/>
          <a:p>
            <a:r>
              <a:rPr sz="2000" b="0">
                <a:solidFill>
                  <a:srgbClr val="CFE3E8"/>
                </a:solidFill>
                <a:latin typeface="Calibri"/>
              </a:rPr>
              <a:t>La idea que organiza bloques y fracciones: AB, AB</a:t>
            </a:r>
            <a:r>
              <a:rPr sz="2000" b="0" baseline="30000">
                <a:solidFill>
                  <a:srgbClr val="CFE3E8"/>
                </a:solidFill>
                <a:latin typeface="Calibri"/>
              </a:rPr>
              <a:t>2</a:t>
            </a:r>
            <a:r>
              <a:rPr sz="2000" b="0">
                <a:solidFill>
                  <a:srgbClr val="CFE3E8"/>
                </a:solidFill>
                <a:latin typeface="Calibri"/>
              </a:rPr>
              <a:t>, W, X, Y, Z</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Dos formas de partir una interacción</a:t>
            </a:r>
          </a:p>
        </p:txBody>
      </p:sp>
      <p:sp>
        <p:nvSpPr>
          <p:cNvPr id="3" name="Rounded Rectangle 2"/>
          <p:cNvSpPr/>
          <p:nvPr/>
        </p:nvSpPr>
        <p:spPr>
          <a:xfrm>
            <a:off x="548640" y="1417320"/>
            <a:ext cx="5127808" cy="148183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Lineal y cuadrático</a:t>
            </a:r>
          </a:p>
          <a:p>
            <a:pPr algn="l"/>
            <a:r>
              <a:rPr sz="1500" b="0">
                <a:solidFill>
                  <a:srgbClr val="142B33"/>
                </a:solidFill>
                <a:latin typeface="Calibri"/>
              </a:rPr>
              <a:t>Solo con factores </a:t>
            </a:r>
            <a:r>
              <a:rPr sz="1500" b="1">
                <a:solidFill>
                  <a:srgbClr val="142B33"/>
                </a:solidFill>
                <a:latin typeface="Calibri"/>
              </a:rPr>
              <a:t>cuantitativos</a:t>
            </a:r>
            <a:r>
              <a:rPr sz="1500" b="0">
                <a:solidFill>
                  <a:srgbClr val="142B33"/>
                </a:solidFill>
                <a:latin typeface="Calibri"/>
              </a:rPr>
              <a:t>. A</a:t>
            </a:r>
            <a:r>
              <a:rPr sz="1500" b="0" baseline="-25000">
                <a:solidFill>
                  <a:srgbClr val="142B33"/>
                </a:solidFill>
                <a:latin typeface="Calibri"/>
              </a:rPr>
              <a:t>L</a:t>
            </a:r>
            <a:r>
              <a:rPr sz="1500" b="0">
                <a:solidFill>
                  <a:srgbClr val="142B33"/>
                </a:solidFill>
                <a:latin typeface="Calibri"/>
              </a:rPr>
              <a:t>, A</a:t>
            </a:r>
            <a:r>
              <a:rPr sz="1500" b="0" baseline="-25000">
                <a:solidFill>
                  <a:srgbClr val="142B33"/>
                </a:solidFill>
                <a:latin typeface="Calibri"/>
              </a:rPr>
              <a:t>Q</a:t>
            </a:r>
            <a:r>
              <a:rPr sz="1500" b="0">
                <a:solidFill>
                  <a:srgbClr val="142B33"/>
                </a:solidFill>
                <a:latin typeface="Calibri"/>
              </a:rPr>
              <a:t>; AB</a:t>
            </a:r>
            <a:r>
              <a:rPr sz="1500" b="0" baseline="-25000">
                <a:solidFill>
                  <a:srgbClr val="142B33"/>
                </a:solidFill>
                <a:latin typeface="Calibri"/>
              </a:rPr>
              <a:t>L×L</a:t>
            </a:r>
            <a:r>
              <a:rPr sz="1500" b="0">
                <a:solidFill>
                  <a:srgbClr val="142B33"/>
                </a:solidFill>
                <a:latin typeface="Calibri"/>
              </a:rPr>
              <a:t>, AB</a:t>
            </a:r>
            <a:r>
              <a:rPr sz="1500" b="0" baseline="-25000">
                <a:solidFill>
                  <a:srgbClr val="142B33"/>
                </a:solidFill>
                <a:latin typeface="Calibri"/>
              </a:rPr>
              <a:t>L×Q</a:t>
            </a:r>
            <a:r>
              <a:rPr sz="1500" b="0">
                <a:solidFill>
                  <a:srgbClr val="142B33"/>
                </a:solidFill>
                <a:latin typeface="Calibri"/>
              </a:rPr>
              <a:t>, AB</a:t>
            </a:r>
            <a:r>
              <a:rPr sz="1500" b="0" baseline="-25000">
                <a:solidFill>
                  <a:srgbClr val="142B33"/>
                </a:solidFill>
                <a:latin typeface="Calibri"/>
              </a:rPr>
              <a:t>Q×L</a:t>
            </a:r>
            <a:r>
              <a:rPr sz="1500" b="0">
                <a:solidFill>
                  <a:srgbClr val="142B33"/>
                </a:solidFill>
                <a:latin typeface="Calibri"/>
              </a:rPr>
              <a:t>, AB</a:t>
            </a:r>
            <a:r>
              <a:rPr sz="1500" b="0" baseline="-25000">
                <a:solidFill>
                  <a:srgbClr val="142B33"/>
                </a:solidFill>
                <a:latin typeface="Calibri"/>
              </a:rPr>
              <a:t>Q×Q</a:t>
            </a:r>
            <a:r>
              <a:rPr sz="1500" b="0">
                <a:solidFill>
                  <a:srgbClr val="142B33"/>
                </a:solidFill>
                <a:latin typeface="Calibri"/>
              </a:rPr>
              <a:t>, de </a:t>
            </a:r>
            <a:r>
              <a:rPr sz="1500" b="1">
                <a:solidFill>
                  <a:srgbClr val="142B33"/>
                </a:solidFill>
                <a:latin typeface="Calibri"/>
              </a:rPr>
              <a:t>1 g.l.</a:t>
            </a:r>
            <a:r>
              <a:rPr sz="1500" b="0">
                <a:solidFill>
                  <a:srgbClr val="142B33"/>
                </a:solidFill>
                <a:latin typeface="Calibri"/>
              </a:rPr>
              <a:t> Tienen interpretación: la </a:t>
            </a:r>
            <a:r>
              <a:rPr sz="1500" b="1">
                <a:solidFill>
                  <a:srgbClr val="142B33"/>
                </a:solidFill>
                <a:latin typeface="Calibri"/>
              </a:rPr>
              <a:t>forma</a:t>
            </a:r>
            <a:r>
              <a:rPr sz="1500" b="0">
                <a:solidFill>
                  <a:srgbClr val="142B33"/>
                </a:solidFill>
                <a:latin typeface="Calibri"/>
              </a:rPr>
              <a:t> de la superficie</a:t>
            </a:r>
          </a:p>
        </p:txBody>
      </p:sp>
      <p:sp>
        <p:nvSpPr>
          <p:cNvPr id="4" name="Rounded Rectangle 3"/>
          <p:cNvSpPr/>
          <p:nvPr/>
        </p:nvSpPr>
        <p:spPr>
          <a:xfrm>
            <a:off x="548640" y="3127756"/>
            <a:ext cx="5127808" cy="148183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Componentes AB y AB</a:t>
            </a:r>
            <a:r>
              <a:rPr sz="1700" b="1" baseline="30000">
                <a:solidFill>
                  <a:srgbClr val="0F4C5C"/>
                </a:solidFill>
                <a:latin typeface="Cambria"/>
              </a:rPr>
              <a:t>2</a:t>
            </a:r>
          </a:p>
          <a:p>
            <a:pPr algn="l"/>
            <a:r>
              <a:rPr sz="1500" b="0">
                <a:solidFill>
                  <a:srgbClr val="142B33"/>
                </a:solidFill>
                <a:latin typeface="Calibri"/>
              </a:rPr>
              <a:t>De </a:t>
            </a:r>
            <a:r>
              <a:rPr sz="1500" b="1">
                <a:solidFill>
                  <a:srgbClr val="142B33"/>
                </a:solidFill>
                <a:latin typeface="Calibri"/>
              </a:rPr>
              <a:t>2 g.l.</a:t>
            </a:r>
            <a:r>
              <a:rPr sz="1500" b="0">
                <a:solidFill>
                  <a:srgbClr val="142B33"/>
                </a:solidFill>
                <a:latin typeface="Calibri"/>
              </a:rPr>
              <a:t> cada uno. </a:t>
            </a:r>
            <a:r>
              <a:rPr sz="1500" b="1">
                <a:solidFill>
                  <a:srgbClr val="142B33"/>
                </a:solidFill>
                <a:latin typeface="Calibri"/>
              </a:rPr>
              <a:t>Sin significado físico</a:t>
            </a:r>
            <a:r>
              <a:rPr sz="1500" b="0">
                <a:solidFill>
                  <a:srgbClr val="142B33"/>
                </a:solidFill>
                <a:latin typeface="Calibri"/>
              </a:rPr>
              <a:t>. Sirven para </a:t>
            </a:r>
            <a:r>
              <a:rPr sz="1500" b="1">
                <a:solidFill>
                  <a:srgbClr val="142B33"/>
                </a:solidFill>
                <a:latin typeface="Calibri"/>
              </a:rPr>
              <a:t>construir</a:t>
            </a:r>
            <a:r>
              <a:rPr sz="1500" b="0">
                <a:solidFill>
                  <a:srgbClr val="142B33"/>
                </a:solidFill>
                <a:latin typeface="Calibri"/>
              </a:rPr>
              <a:t> bloques y fracciones</a:t>
            </a:r>
          </a:p>
        </p:txBody>
      </p:sp>
      <p:pic>
        <p:nvPicPr>
          <p:cNvPr id="5" name="Picture 4" descr="lq.png"/>
          <p:cNvPicPr>
            <a:picLocks noChangeAspect="1"/>
          </p:cNvPicPr>
          <p:nvPr/>
        </p:nvPicPr>
        <p:blipFill>
          <a:blip r:embed="rId2"/>
          <a:stretch>
            <a:fillRect/>
          </a:stretch>
        </p:blipFill>
        <p:spPr>
          <a:xfrm>
            <a:off x="6087928" y="1417320"/>
            <a:ext cx="5555126" cy="2517166"/>
          </a:xfrm>
          <a:prstGeom prst="rect">
            <a:avLst/>
          </a:prstGeom>
        </p:spPr>
      </p:pic>
      <p:sp>
        <p:nvSpPr>
          <p:cNvPr id="6" name="TextBox 5"/>
          <p:cNvSpPr txBox="1"/>
          <p:nvPr/>
        </p:nvSpPr>
        <p:spPr>
          <a:xfrm>
            <a:off x="6087928" y="3952774"/>
            <a:ext cx="5555126" cy="256032"/>
          </a:xfrm>
          <a:prstGeom prst="rect">
            <a:avLst/>
          </a:prstGeom>
          <a:noFill/>
        </p:spPr>
        <p:txBody>
          <a:bodyPr wrap="square" anchor="t" lIns="0" rIns="0" tIns="0" bIns="0">
            <a:spAutoFit/>
          </a:bodyPr>
          <a:lstStyle/>
          <a:p>
            <a:pPr algn="ctr"/>
            <a:r>
              <a:rPr sz="1100" b="0">
                <a:solidFill>
                  <a:srgbClr val="5B6B73"/>
                </a:solidFill>
                <a:latin typeface="Calibri"/>
              </a:rPr>
              <a:t>Contrastes lineal y cuadrático sobre los tres niveles</a:t>
            </a:r>
          </a:p>
        </p:txBody>
      </p:sp>
      <p:sp>
        <p:nvSpPr>
          <p:cNvPr id="7" name="Rounded Rectangle 6"/>
          <p:cNvSpPr/>
          <p:nvPr/>
        </p:nvSpPr>
        <p:spPr>
          <a:xfrm>
            <a:off x="6087928" y="4270248"/>
            <a:ext cx="5555126"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No hay relación entre AB, AB</a:t>
            </a:r>
            <a:r>
              <a:rPr sz="1400" b="0" baseline="30000">
                <a:solidFill>
                  <a:srgbClr val="142B33"/>
                </a:solidFill>
                <a:latin typeface="Calibri"/>
              </a:rPr>
              <a:t>2</a:t>
            </a:r>
            <a:r>
              <a:rPr sz="1400" b="0">
                <a:solidFill>
                  <a:srgbClr val="142B33"/>
                </a:solidFill>
                <a:latin typeface="Calibri"/>
              </a:rPr>
              <a:t> y los componentes L × L, L × Q, Q × L, Q × Q</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Componentes de interacción</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11</a:t>
            </a:r>
          </a:p>
        </p:txBody>
      </p:sp>
      <p:sp>
        <p:nvSpPr>
          <p:cNvPr id="10" name="Rounded Rectangle 9"/>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2 · Componentes de interacción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Componentes lineal y cuadrático con contrastes</a:t>
            </a:r>
          </a:p>
        </p:txBody>
      </p:sp>
      <p:graphicFrame>
        <p:nvGraphicFramePr>
          <p:cNvPr id="3" name="Table 2"/>
          <p:cNvGraphicFramePr>
            <a:graphicFrameLocks noGrp="1"/>
          </p:cNvGraphicFramePr>
          <p:nvPr/>
        </p:nvGraphicFramePr>
        <p:xfrm>
          <a:off x="548640" y="1417320"/>
          <a:ext cx="5341467" cy="1467104"/>
        </p:xfrm>
        <a:graphic>
          <a:graphicData uri="http://schemas.openxmlformats.org/drawingml/2006/table">
            <a:tbl>
              <a:tblPr firstRow="0" bandRow="0">
                <a:tableStyleId>{5C22544A-7EE6-4342-B048-85BDC9FD1C3A}</a:tableStyleId>
              </a:tblPr>
              <a:tblGrid>
                <a:gridCol w="2083551"/>
                <a:gridCol w="1300641"/>
                <a:gridCol w="1957275"/>
              </a:tblGrid>
              <a:tr h="366776">
                <a:tc>
                  <a:txBody>
                    <a:bodyPr/>
                    <a:lstStyle/>
                    <a:p>
                      <a:pPr algn="ctr"/>
                      <a:r>
                        <a:rPr sz="1600" b="1">
                          <a:solidFill>
                            <a:srgbClr val="FFFFFF"/>
                          </a:solidFill>
                          <a:latin typeface="Calibri"/>
                        </a:rPr>
                        <a:t>Nivel</a:t>
                      </a:r>
                    </a:p>
                  </a:txBody>
                  <a:tcPr marL="73152" marR="73152" marT="27432" marB="27432" anchor="ctr">
                    <a:solidFill>
                      <a:srgbClr val="0F4C5C"/>
                    </a:solidFill>
                  </a:tcPr>
                </a:tc>
                <a:tc>
                  <a:txBody>
                    <a:bodyPr/>
                    <a:lstStyle/>
                    <a:p>
                      <a:pPr algn="ctr"/>
                      <a:r>
                        <a:rPr sz="1600" b="1">
                          <a:solidFill>
                            <a:srgbClr val="FFFFFF"/>
                          </a:solidFill>
                          <a:latin typeface="Calibri"/>
                        </a:rPr>
                        <a:t>Lineal</a:t>
                      </a:r>
                    </a:p>
                  </a:txBody>
                  <a:tcPr marL="73152" marR="73152" marT="27432" marB="27432" anchor="ctr">
                    <a:solidFill>
                      <a:srgbClr val="0F4C5C"/>
                    </a:solidFill>
                  </a:tcPr>
                </a:tc>
                <a:tc>
                  <a:txBody>
                    <a:bodyPr/>
                    <a:lstStyle/>
                    <a:p>
                      <a:pPr algn="ctr"/>
                      <a:r>
                        <a:rPr sz="1600" b="1">
                          <a:solidFill>
                            <a:srgbClr val="FFFFFF"/>
                          </a:solidFill>
                          <a:latin typeface="Calibri"/>
                        </a:rPr>
                        <a:t>Cuadrático</a:t>
                      </a:r>
                    </a:p>
                  </a:txBody>
                  <a:tcPr marL="73152" marR="73152" marT="27432" marB="27432" anchor="ctr">
                    <a:solidFill>
                      <a:srgbClr val="0F4C5C"/>
                    </a:solidFill>
                  </a:tcPr>
                </a:tc>
              </a:tr>
              <a:tr h="366776">
                <a:tc>
                  <a:txBody>
                    <a:bodyPr/>
                    <a:lstStyle/>
                    <a:p>
                      <a:pPr algn="ctr"/>
                      <a:r>
                        <a:rPr sz="1600" b="0">
                          <a:solidFill>
                            <a:srgbClr val="142B33"/>
                          </a:solidFill>
                          <a:latin typeface="Calibri"/>
                        </a:rPr>
                        <a:t>0 (bajo)</a:t>
                      </a:r>
                    </a:p>
                  </a:txBody>
                  <a:tcPr marL="73152" marR="73152" marT="27432" marB="27432" anchor="ctr">
                    <a:solidFill>
                      <a:srgbClr val="FFFFFF"/>
                    </a:solidFill>
                  </a:tcPr>
                </a:tc>
                <a:tc>
                  <a:txBody>
                    <a:bodyPr/>
                    <a:lstStyle/>
                    <a:p>
                      <a:pPr algn="ctr"/>
                      <a:r>
                        <a:rPr sz="1600" b="0">
                          <a:solidFill>
                            <a:srgbClr val="142B33"/>
                          </a:solidFill>
                          <a:latin typeface="Calibri"/>
                        </a:rPr>
                        <a:t>−1</a:t>
                      </a:r>
                    </a:p>
                  </a:txBody>
                  <a:tcPr marL="73152" marR="73152" marT="27432" marB="27432" anchor="ctr">
                    <a:solidFill>
                      <a:srgbClr val="FFFFFF"/>
                    </a:solidFill>
                  </a:tcPr>
                </a:tc>
                <a:tc>
                  <a:txBody>
                    <a:bodyPr/>
                    <a:lstStyle/>
                    <a:p>
                      <a:pPr algn="ctr"/>
                      <a:r>
                        <a:rPr sz="1600" b="0">
                          <a:solidFill>
                            <a:srgbClr val="142B33"/>
                          </a:solidFill>
                          <a:latin typeface="Calibri"/>
                        </a:rPr>
                        <a:t>+1</a:t>
                      </a:r>
                    </a:p>
                  </a:txBody>
                  <a:tcPr marL="73152" marR="73152" marT="27432" marB="27432" anchor="ctr">
                    <a:solidFill>
                      <a:srgbClr val="FFFFFF"/>
                    </a:solidFill>
                  </a:tcPr>
                </a:tc>
              </a:tr>
              <a:tr h="366776">
                <a:tc>
                  <a:txBody>
                    <a:bodyPr/>
                    <a:lstStyle/>
                    <a:p>
                      <a:pPr algn="ctr"/>
                      <a:r>
                        <a:rPr sz="1600" b="0">
                          <a:solidFill>
                            <a:srgbClr val="142B33"/>
                          </a:solidFill>
                          <a:latin typeface="Calibri"/>
                        </a:rPr>
                        <a:t>1 (intermedio)</a:t>
                      </a:r>
                    </a:p>
                  </a:txBody>
                  <a:tcPr marL="73152" marR="73152" marT="27432" marB="27432" anchor="ctr">
                    <a:solidFill>
                      <a:srgbClr val="F4F8F9"/>
                    </a:solidFill>
                  </a:tcPr>
                </a:tc>
                <a:tc>
                  <a:txBody>
                    <a:bodyPr/>
                    <a:lstStyle/>
                    <a:p>
                      <a:pPr algn="ctr"/>
                      <a:r>
                        <a:rPr sz="1600" b="0">
                          <a:solidFill>
                            <a:srgbClr val="142B33"/>
                          </a:solidFill>
                          <a:latin typeface="Calibri"/>
                        </a:rPr>
                        <a:t>0</a:t>
                      </a:r>
                    </a:p>
                  </a:txBody>
                  <a:tcPr marL="73152" marR="73152" marT="27432" marB="27432" anchor="ctr">
                    <a:solidFill>
                      <a:srgbClr val="F4F8F9"/>
                    </a:solidFill>
                  </a:tcPr>
                </a:tc>
                <a:tc>
                  <a:txBody>
                    <a:bodyPr/>
                    <a:lstStyle/>
                    <a:p>
                      <a:pPr algn="ctr"/>
                      <a:r>
                        <a:rPr sz="1600" b="0">
                          <a:solidFill>
                            <a:srgbClr val="142B33"/>
                          </a:solidFill>
                          <a:latin typeface="Calibri"/>
                        </a:rPr>
                        <a:t>−2</a:t>
                      </a:r>
                    </a:p>
                  </a:txBody>
                  <a:tcPr marL="73152" marR="73152" marT="27432" marB="27432" anchor="ctr">
                    <a:solidFill>
                      <a:srgbClr val="F4F8F9"/>
                    </a:solidFill>
                  </a:tcPr>
                </a:tc>
              </a:tr>
              <a:tr h="366776">
                <a:tc>
                  <a:txBody>
                    <a:bodyPr/>
                    <a:lstStyle/>
                    <a:p>
                      <a:pPr algn="ctr"/>
                      <a:r>
                        <a:rPr sz="1600" b="0">
                          <a:solidFill>
                            <a:srgbClr val="142B33"/>
                          </a:solidFill>
                          <a:latin typeface="Calibri"/>
                        </a:rPr>
                        <a:t>2 (alto)</a:t>
                      </a:r>
                    </a:p>
                  </a:txBody>
                  <a:tcPr marL="73152" marR="73152" marT="27432" marB="27432" anchor="ctr">
                    <a:solidFill>
                      <a:srgbClr val="FFFFFF"/>
                    </a:solidFill>
                  </a:tcPr>
                </a:tc>
                <a:tc>
                  <a:txBody>
                    <a:bodyPr/>
                    <a:lstStyle/>
                    <a:p>
                      <a:pPr algn="ctr"/>
                      <a:r>
                        <a:rPr sz="1600" b="0">
                          <a:solidFill>
                            <a:srgbClr val="142B33"/>
                          </a:solidFill>
                          <a:latin typeface="Calibri"/>
                        </a:rPr>
                        <a:t>+1</a:t>
                      </a:r>
                    </a:p>
                  </a:txBody>
                  <a:tcPr marL="73152" marR="73152" marT="27432" marB="27432" anchor="ctr">
                    <a:solidFill>
                      <a:srgbClr val="FFFFFF"/>
                    </a:solidFill>
                  </a:tcPr>
                </a:tc>
                <a:tc>
                  <a:txBody>
                    <a:bodyPr/>
                    <a:lstStyle/>
                    <a:p>
                      <a:pPr algn="ctr"/>
                      <a:r>
                        <a:rPr sz="1600" b="0">
                          <a:solidFill>
                            <a:srgbClr val="142B33"/>
                          </a:solidFill>
                          <a:latin typeface="Calibri"/>
                        </a:rPr>
                        <a:t>+1</a:t>
                      </a:r>
                    </a:p>
                  </a:txBody>
                  <a:tcPr marL="73152" marR="73152" marT="27432" marB="27432" anchor="ctr">
                    <a:solidFill>
                      <a:srgbClr val="FFFFFF"/>
                    </a:solidFill>
                  </a:tcPr>
                </a:tc>
              </a:tr>
            </a:tbl>
          </a:graphicData>
        </a:graphic>
      </p:graphicFrame>
      <p:sp>
        <p:nvSpPr>
          <p:cNvPr id="4" name="Rounded Rectangle 3"/>
          <p:cNvSpPr/>
          <p:nvPr/>
        </p:nvSpPr>
        <p:spPr>
          <a:xfrm>
            <a:off x="548640" y="3085592"/>
            <a:ext cx="5341467" cy="58667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0">
                <a:solidFill>
                  <a:srgbClr val="0F4C5C"/>
                </a:solidFill>
                <a:latin typeface="Cambria Math"/>
              </a:rPr>
              <a:t>SS</a:t>
            </a:r>
            <a:r>
              <a:rPr sz="1800" b="0" baseline="-25000">
                <a:solidFill>
                  <a:srgbClr val="0F4C5C"/>
                </a:solidFill>
                <a:latin typeface="Cambria Math"/>
              </a:rPr>
              <a:t>contraste</a:t>
            </a:r>
            <a:r>
              <a:rPr sz="1800" b="0">
                <a:solidFill>
                  <a:srgbClr val="0F4C5C"/>
                </a:solidFill>
                <a:latin typeface="Cambria Math"/>
              </a:rPr>
              <a:t> = (Σ c</a:t>
            </a:r>
            <a:r>
              <a:rPr sz="1800" b="0" baseline="-25000">
                <a:solidFill>
                  <a:srgbClr val="0F4C5C"/>
                </a:solidFill>
                <a:latin typeface="Cambria Math"/>
              </a:rPr>
              <a:t>i</a:t>
            </a:r>
            <a:r>
              <a:rPr sz="1800" b="0">
                <a:solidFill>
                  <a:srgbClr val="0F4C5C"/>
                </a:solidFill>
                <a:latin typeface="Cambria Math"/>
              </a:rPr>
              <a:t> T</a:t>
            </a:r>
            <a:r>
              <a:rPr sz="1800" b="0" baseline="-25000">
                <a:solidFill>
                  <a:srgbClr val="0F4C5C"/>
                </a:solidFill>
                <a:latin typeface="Cambria Math"/>
              </a:rPr>
              <a:t>i</a:t>
            </a:r>
            <a:r>
              <a:rPr sz="1800" b="0">
                <a:solidFill>
                  <a:srgbClr val="0F4C5C"/>
                </a:solidFill>
                <a:latin typeface="Cambria Math"/>
              </a:rPr>
              <a:t>)</a:t>
            </a:r>
            <a:r>
              <a:rPr sz="1800" b="0" baseline="30000">
                <a:solidFill>
                  <a:srgbClr val="0F4C5C"/>
                </a:solidFill>
                <a:latin typeface="Cambria Math"/>
              </a:rPr>
              <a:t>2</a:t>
            </a:r>
            <a:r>
              <a:rPr sz="1800" b="0">
                <a:solidFill>
                  <a:srgbClr val="0F4C5C"/>
                </a:solidFill>
                <a:latin typeface="Cambria Math"/>
              </a:rPr>
              <a:t> / (n Σ c</a:t>
            </a:r>
            <a:r>
              <a:rPr sz="1800" b="0" baseline="-25000">
                <a:solidFill>
                  <a:srgbClr val="0F4C5C"/>
                </a:solidFill>
                <a:latin typeface="Cambria Math"/>
              </a:rPr>
              <a:t>i</a:t>
            </a:r>
            <a:r>
              <a:rPr sz="1800" b="0" baseline="30000">
                <a:solidFill>
                  <a:srgbClr val="0F4C5C"/>
                </a:solidFill>
                <a:latin typeface="Cambria Math"/>
              </a:rPr>
              <a:t>2</a:t>
            </a:r>
            <a:r>
              <a:rPr sz="1800" b="0">
                <a:solidFill>
                  <a:srgbClr val="0F4C5C"/>
                </a:solidFill>
                <a:latin typeface="Cambria Math"/>
              </a:rPr>
              <a:t>)</a:t>
            </a:r>
          </a:p>
        </p:txBody>
      </p:sp>
      <p:graphicFrame>
        <p:nvGraphicFramePr>
          <p:cNvPr id="5" name="Table 4"/>
          <p:cNvGraphicFramePr>
            <a:graphicFrameLocks noGrp="1"/>
          </p:cNvGraphicFramePr>
          <p:nvPr/>
        </p:nvGraphicFramePr>
        <p:xfrm>
          <a:off x="6301587" y="1417320"/>
          <a:ext cx="5341466" cy="2107692"/>
        </p:xfrm>
        <a:graphic>
          <a:graphicData uri="http://schemas.openxmlformats.org/drawingml/2006/table">
            <a:tbl>
              <a:tblPr firstRow="0" bandRow="0">
                <a:tableStyleId>{5C22544A-7EE6-4342-B048-85BDC9FD1C3A}</a:tableStyleId>
              </a:tblPr>
              <a:tblGrid>
                <a:gridCol w="2133833"/>
                <a:gridCol w="3207633"/>
              </a:tblGrid>
              <a:tr h="351282">
                <a:tc>
                  <a:txBody>
                    <a:bodyPr/>
                    <a:lstStyle/>
                    <a:p>
                      <a:pPr algn="ctr"/>
                      <a:r>
                        <a:rPr sz="1500" b="1">
                          <a:solidFill>
                            <a:srgbClr val="FFFFFF"/>
                          </a:solidFill>
                          <a:latin typeface="Calibri"/>
                        </a:rPr>
                        <a:t>Componente</a:t>
                      </a:r>
                    </a:p>
                  </a:txBody>
                  <a:tcPr marL="73152" marR="73152" marT="27432" marB="27432" anchor="ctr">
                    <a:solidFill>
                      <a:srgbClr val="0F4C5C"/>
                    </a:solidFill>
                  </a:tcPr>
                </a:tc>
                <a:tc>
                  <a:txBody>
                    <a:bodyPr/>
                    <a:lstStyle/>
                    <a:p>
                      <a:pPr algn="ctr"/>
                      <a:r>
                        <a:rPr sz="1500" b="1">
                          <a:solidFill>
                            <a:srgbClr val="FFFFFF"/>
                          </a:solidFill>
                          <a:latin typeface="Calibri"/>
                        </a:rPr>
                        <a:t>SS (ejemplo 5-5)</a:t>
                      </a:r>
                    </a:p>
                  </a:txBody>
                  <a:tcPr marL="73152" marR="73152" marT="27432" marB="27432" anchor="ctr">
                    <a:solidFill>
                      <a:srgbClr val="0F4C5C"/>
                    </a:solidFill>
                  </a:tcPr>
                </a:tc>
              </a:tr>
              <a:tr h="351282">
                <a:tc>
                  <a:txBody>
                    <a:bodyPr/>
                    <a:lstStyle/>
                    <a:p>
                      <a:pPr algn="ctr"/>
                      <a:r>
                        <a:rPr sz="1500" b="0">
                          <a:solidFill>
                            <a:srgbClr val="142B33"/>
                          </a:solidFill>
                          <a:latin typeface="Calibri"/>
                        </a:rPr>
                        <a:t>AB</a:t>
                      </a:r>
                      <a:r>
                        <a:rPr sz="1500" b="0" baseline="-25000">
                          <a:solidFill>
                            <a:srgbClr val="142B33"/>
                          </a:solidFill>
                          <a:latin typeface="Calibri"/>
                        </a:rPr>
                        <a:t>L×L</a:t>
                      </a:r>
                    </a:p>
                  </a:txBody>
                  <a:tcPr marL="73152" marR="73152" marT="27432" marB="27432" anchor="ctr">
                    <a:solidFill>
                      <a:srgbClr val="FFFFFF"/>
                    </a:solidFill>
                  </a:tcPr>
                </a:tc>
                <a:tc>
                  <a:txBody>
                    <a:bodyPr/>
                    <a:lstStyle/>
                    <a:p>
                      <a:pPr algn="ctr"/>
                      <a:r>
                        <a:rPr sz="1500" b="0">
                          <a:solidFill>
                            <a:srgbClr val="142B33"/>
                          </a:solidFill>
                          <a:latin typeface="Calibri"/>
                        </a:rPr>
                        <a:t>8.00</a:t>
                      </a:r>
                    </a:p>
                  </a:txBody>
                  <a:tcPr marL="73152" marR="73152" marT="27432" marB="27432" anchor="ctr">
                    <a:solidFill>
                      <a:srgbClr val="FFFFFF"/>
                    </a:solidFill>
                  </a:tcPr>
                </a:tc>
              </a:tr>
              <a:tr h="351282">
                <a:tc>
                  <a:txBody>
                    <a:bodyPr/>
                    <a:lstStyle/>
                    <a:p>
                      <a:pPr algn="ctr"/>
                      <a:r>
                        <a:rPr sz="1500" b="0">
                          <a:solidFill>
                            <a:srgbClr val="142B33"/>
                          </a:solidFill>
                          <a:latin typeface="Calibri"/>
                        </a:rPr>
                        <a:t>AB</a:t>
                      </a:r>
                      <a:r>
                        <a:rPr sz="1500" b="0" baseline="-25000">
                          <a:solidFill>
                            <a:srgbClr val="142B33"/>
                          </a:solidFill>
                          <a:latin typeface="Calibri"/>
                        </a:rPr>
                        <a:t>L×Q</a:t>
                      </a:r>
                    </a:p>
                  </a:txBody>
                  <a:tcPr marL="73152" marR="73152" marT="27432" marB="27432" anchor="ctr">
                    <a:solidFill>
                      <a:srgbClr val="F4F8F9"/>
                    </a:solidFill>
                  </a:tcPr>
                </a:tc>
                <a:tc>
                  <a:txBody>
                    <a:bodyPr/>
                    <a:lstStyle/>
                    <a:p>
                      <a:pPr algn="ctr"/>
                      <a:r>
                        <a:rPr sz="1500" b="0">
                          <a:solidFill>
                            <a:srgbClr val="142B33"/>
                          </a:solidFill>
                          <a:latin typeface="Calibri"/>
                        </a:rPr>
                        <a:t>42.67</a:t>
                      </a:r>
                    </a:p>
                  </a:txBody>
                  <a:tcPr marL="73152" marR="73152" marT="27432" marB="27432" anchor="ctr">
                    <a:solidFill>
                      <a:srgbClr val="F4F8F9"/>
                    </a:solidFill>
                  </a:tcPr>
                </a:tc>
              </a:tr>
              <a:tr h="351282">
                <a:tc>
                  <a:txBody>
                    <a:bodyPr/>
                    <a:lstStyle/>
                    <a:p>
                      <a:pPr algn="ctr"/>
                      <a:r>
                        <a:rPr sz="1500" b="0">
                          <a:solidFill>
                            <a:srgbClr val="142B33"/>
                          </a:solidFill>
                          <a:latin typeface="Calibri"/>
                        </a:rPr>
                        <a:t>AB</a:t>
                      </a:r>
                      <a:r>
                        <a:rPr sz="1500" b="0" baseline="-25000">
                          <a:solidFill>
                            <a:srgbClr val="142B33"/>
                          </a:solidFill>
                          <a:latin typeface="Calibri"/>
                        </a:rPr>
                        <a:t>Q×L</a:t>
                      </a:r>
                    </a:p>
                  </a:txBody>
                  <a:tcPr marL="73152" marR="73152" marT="27432" marB="27432" anchor="ctr">
                    <a:solidFill>
                      <a:srgbClr val="FFFFFF"/>
                    </a:solidFill>
                  </a:tcPr>
                </a:tc>
                <a:tc>
                  <a:txBody>
                    <a:bodyPr/>
                    <a:lstStyle/>
                    <a:p>
                      <a:pPr algn="ctr"/>
                      <a:r>
                        <a:rPr sz="1500" b="0">
                          <a:solidFill>
                            <a:srgbClr val="142B33"/>
                          </a:solidFill>
                          <a:latin typeface="Calibri"/>
                        </a:rPr>
                        <a:t>2.67</a:t>
                      </a:r>
                    </a:p>
                  </a:txBody>
                  <a:tcPr marL="73152" marR="73152" marT="27432" marB="27432" anchor="ctr">
                    <a:solidFill>
                      <a:srgbClr val="FFFFFF"/>
                    </a:solidFill>
                  </a:tcPr>
                </a:tc>
              </a:tr>
              <a:tr h="351282">
                <a:tc>
                  <a:txBody>
                    <a:bodyPr/>
                    <a:lstStyle/>
                    <a:p>
                      <a:pPr algn="ctr"/>
                      <a:r>
                        <a:rPr sz="1500" b="0">
                          <a:solidFill>
                            <a:srgbClr val="142B33"/>
                          </a:solidFill>
                          <a:latin typeface="Calibri"/>
                        </a:rPr>
                        <a:t>AB</a:t>
                      </a:r>
                      <a:r>
                        <a:rPr sz="1500" b="0" baseline="-25000">
                          <a:solidFill>
                            <a:srgbClr val="142B33"/>
                          </a:solidFill>
                          <a:latin typeface="Calibri"/>
                        </a:rPr>
                        <a:t>Q×Q</a:t>
                      </a:r>
                    </a:p>
                  </a:txBody>
                  <a:tcPr marL="73152" marR="73152" marT="27432" marB="27432" anchor="ctr">
                    <a:solidFill>
                      <a:srgbClr val="F4F8F9"/>
                    </a:solidFill>
                  </a:tcPr>
                </a:tc>
                <a:tc>
                  <a:txBody>
                    <a:bodyPr/>
                    <a:lstStyle/>
                    <a:p>
                      <a:pPr algn="ctr"/>
                      <a:r>
                        <a:rPr sz="1500" b="0">
                          <a:solidFill>
                            <a:srgbClr val="142B33"/>
                          </a:solidFill>
                          <a:latin typeface="Calibri"/>
                        </a:rPr>
                        <a:t>8.00</a:t>
                      </a:r>
                    </a:p>
                  </a:txBody>
                  <a:tcPr marL="73152" marR="73152" marT="27432" marB="27432" anchor="ctr">
                    <a:solidFill>
                      <a:srgbClr val="F4F8F9"/>
                    </a:solidFill>
                  </a:tcPr>
                </a:tc>
              </a:tr>
              <a:tr h="351282">
                <a:tc>
                  <a:txBody>
                    <a:bodyPr/>
                    <a:lstStyle/>
                    <a:p>
                      <a:pPr algn="ctr"/>
                      <a:r>
                        <a:rPr sz="1500" b="1">
                          <a:solidFill>
                            <a:srgbClr val="142B33"/>
                          </a:solidFill>
                          <a:latin typeface="Calibri"/>
                        </a:rPr>
                        <a:t>Suma = SS</a:t>
                      </a:r>
                      <a:r>
                        <a:rPr sz="1500" b="1" baseline="-25000">
                          <a:solidFill>
                            <a:srgbClr val="142B33"/>
                          </a:solidFill>
                          <a:latin typeface="Calibri"/>
                        </a:rPr>
                        <a:t>AB</a:t>
                      </a:r>
                    </a:p>
                  </a:txBody>
                  <a:tcPr marL="73152" marR="73152" marT="27432" marB="27432" anchor="ctr">
                    <a:solidFill>
                      <a:srgbClr val="FFFFFF"/>
                    </a:solidFill>
                  </a:tcPr>
                </a:tc>
                <a:tc>
                  <a:txBody>
                    <a:bodyPr/>
                    <a:lstStyle/>
                    <a:p>
                      <a:pPr algn="ctr"/>
                      <a:r>
                        <a:rPr sz="1500" b="1">
                          <a:solidFill>
                            <a:srgbClr val="142B33"/>
                          </a:solidFill>
                          <a:latin typeface="Calibri"/>
                        </a:rPr>
                        <a:t>61.34</a:t>
                      </a:r>
                    </a:p>
                  </a:txBody>
                  <a:tcPr marL="73152" marR="73152" marT="27432" marB="27432" anchor="ctr">
                    <a:solidFill>
                      <a:srgbClr val="FFFFFF"/>
                    </a:solidFill>
                  </a:tcPr>
                </a:tc>
              </a:tr>
            </a:tbl>
          </a:graphicData>
        </a:graphic>
      </p:graphicFrame>
      <p:sp>
        <p:nvSpPr>
          <p:cNvPr id="6" name="Rounded Rectangle 5"/>
          <p:cNvSpPr/>
          <p:nvPr/>
        </p:nvSpPr>
        <p:spPr>
          <a:xfrm>
            <a:off x="6301587" y="3726180"/>
            <a:ext cx="5341467" cy="491235"/>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Para AB</a:t>
            </a:r>
            <a:r>
              <a:rPr sz="1400" b="0" baseline="-25000">
                <a:solidFill>
                  <a:srgbClr val="142B33"/>
                </a:solidFill>
                <a:latin typeface="Calibri"/>
              </a:rPr>
              <a:t>L×Q</a:t>
            </a:r>
            <a:r>
              <a:rPr sz="1400" b="0">
                <a:solidFill>
                  <a:srgbClr val="142B33"/>
                </a:solidFill>
                <a:latin typeface="Calibri"/>
              </a:rPr>
              <a:t>: coeficiente de la celda (i, j) = L</a:t>
            </a:r>
            <a:r>
              <a:rPr sz="1400" b="0" baseline="-25000">
                <a:solidFill>
                  <a:srgbClr val="142B33"/>
                </a:solidFill>
                <a:latin typeface="Calibri"/>
              </a:rPr>
              <a:t>i</a:t>
            </a:r>
            <a:r>
              <a:rPr sz="1400" b="0">
                <a:solidFill>
                  <a:srgbClr val="142B33"/>
                </a:solidFill>
                <a:latin typeface="Calibri"/>
              </a:rPr>
              <a:t> · Q</a:t>
            </a:r>
            <a:r>
              <a:rPr sz="1400" b="0" baseline="-25000">
                <a:solidFill>
                  <a:srgbClr val="142B33"/>
                </a:solidFill>
                <a:latin typeface="Calibri"/>
              </a:rPr>
              <a:t>j</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Componentes de interacción</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12</a:t>
            </a:r>
          </a:p>
        </p:txBody>
      </p:sp>
      <p:sp>
        <p:nvSpPr>
          <p:cNvPr id="9" name="Rounded Rectangle 8"/>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2 · Componentes de interacción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Los componentes AB y AB</a:t>
            </a:r>
            <a:r>
              <a:rPr sz="3000" b="1" baseline="30000">
                <a:solidFill>
                  <a:srgbClr val="0F4C5C"/>
                </a:solidFill>
                <a:latin typeface="Cambria"/>
              </a:rPr>
              <a:t>2</a:t>
            </a:r>
            <a:r>
              <a:rPr sz="3000" b="1">
                <a:solidFill>
                  <a:srgbClr val="0F4C5C"/>
                </a:solidFill>
                <a:latin typeface="Cambria"/>
              </a:rPr>
              <a:t>: dos cuadrados latinos ortogonales</a:t>
            </a:r>
          </a:p>
        </p:txBody>
      </p:sp>
      <p:sp>
        <p:nvSpPr>
          <p:cNvPr id="3" name="TextBox 2"/>
          <p:cNvSpPr txBox="1"/>
          <p:nvPr/>
        </p:nvSpPr>
        <p:spPr>
          <a:xfrm>
            <a:off x="548640" y="1417320"/>
            <a:ext cx="4914150" cy="268985"/>
          </a:xfrm>
          <a:prstGeom prst="rect">
            <a:avLst/>
          </a:prstGeom>
          <a:noFill/>
        </p:spPr>
        <p:txBody>
          <a:bodyPr wrap="square" anchor="t" lIns="0" rIns="0" tIns="0" bIns="0">
            <a:spAutoFit/>
          </a:bodyPr>
          <a:lstStyle/>
          <a:p>
            <a:r>
              <a:rPr sz="1500" b="1">
                <a:solidFill>
                  <a:srgbClr val="142B33"/>
                </a:solidFill>
                <a:latin typeface="Calibri"/>
              </a:rPr>
              <a:t>Totales de celda (ej. 5-5) con el cuadrado a</a:t>
            </a:r>
          </a:p>
        </p:txBody>
      </p:sp>
      <p:graphicFrame>
        <p:nvGraphicFramePr>
          <p:cNvPr id="4" name="Table 3"/>
          <p:cNvGraphicFramePr>
            <a:graphicFrameLocks noGrp="1"/>
          </p:cNvGraphicFramePr>
          <p:nvPr/>
        </p:nvGraphicFramePr>
        <p:xfrm>
          <a:off x="548640" y="1887474"/>
          <a:ext cx="4914148" cy="1405128"/>
        </p:xfrm>
        <a:graphic>
          <a:graphicData uri="http://schemas.openxmlformats.org/drawingml/2006/table">
            <a:tbl>
              <a:tblPr firstRow="0" bandRow="0">
                <a:tableStyleId>{5C22544A-7EE6-4342-B048-85BDC9FD1C3A}</a:tableStyleId>
              </a:tblPr>
              <a:tblGrid>
                <a:gridCol w="1281952"/>
                <a:gridCol w="1210732"/>
                <a:gridCol w="1210732"/>
                <a:gridCol w="1210732"/>
              </a:tblGrid>
              <a:tr h="351282">
                <a:tc>
                  <a:txBody>
                    <a:bodyPr/>
                    <a:lstStyle/>
                    <a:p>
                      <a:pPr algn="ctr"/>
                      <a:r>
                        <a:rPr sz="1500" b="1">
                          <a:solidFill>
                            <a:srgbClr val="FFFFFF"/>
                          </a:solidFill>
                          <a:latin typeface="Calibri"/>
                        </a:rPr>
                        <a:t>A \ B</a:t>
                      </a:r>
                    </a:p>
                  </a:txBody>
                  <a:tcPr marL="73152" marR="73152" marT="27432" marB="27432" anchor="ctr">
                    <a:solidFill>
                      <a:srgbClr val="0F4C5C"/>
                    </a:solidFill>
                  </a:tcPr>
                </a:tc>
                <a:tc>
                  <a:txBody>
                    <a:bodyPr/>
                    <a:lstStyle/>
                    <a:p>
                      <a:pPr algn="ctr"/>
                      <a:r>
                        <a:rPr sz="1500" b="1">
                          <a:solidFill>
                            <a:srgbClr val="FFFFFF"/>
                          </a:solidFill>
                          <a:latin typeface="Calibri"/>
                        </a:rPr>
                        <a:t>0</a:t>
                      </a:r>
                    </a:p>
                  </a:txBody>
                  <a:tcPr marL="73152" marR="73152" marT="27432" marB="27432" anchor="ctr">
                    <a:solidFill>
                      <a:srgbClr val="0F4C5C"/>
                    </a:solidFill>
                  </a:tcPr>
                </a:tc>
                <a:tc>
                  <a:txBody>
                    <a:bodyPr/>
                    <a:lstStyle/>
                    <a:p>
                      <a:pPr algn="ctr"/>
                      <a:r>
                        <a:rPr sz="1500" b="1">
                          <a:solidFill>
                            <a:srgbClr val="FFFFFF"/>
                          </a:solidFill>
                          <a:latin typeface="Calibri"/>
                        </a:rPr>
                        <a:t>1</a:t>
                      </a:r>
                    </a:p>
                  </a:txBody>
                  <a:tcPr marL="73152" marR="73152" marT="27432" marB="27432" anchor="ctr">
                    <a:solidFill>
                      <a:srgbClr val="0F4C5C"/>
                    </a:solidFill>
                  </a:tcPr>
                </a:tc>
                <a:tc>
                  <a:txBody>
                    <a:bodyPr/>
                    <a:lstStyle/>
                    <a:p>
                      <a:pPr algn="ctr"/>
                      <a:r>
                        <a:rPr sz="1500" b="1">
                          <a:solidFill>
                            <a:srgbClr val="FFFFFF"/>
                          </a:solidFill>
                          <a:latin typeface="Calibri"/>
                        </a:rPr>
                        <a:t>2</a:t>
                      </a:r>
                    </a:p>
                  </a:txBody>
                  <a:tcPr marL="73152" marR="73152" marT="27432" marB="27432" anchor="ctr">
                    <a:solidFill>
                      <a:srgbClr val="0F4C5C"/>
                    </a:solidFill>
                  </a:tcPr>
                </a:tc>
              </a:tr>
              <a:tr h="351282">
                <a:tc>
                  <a:txBody>
                    <a:bodyPr/>
                    <a:lstStyle/>
                    <a:p>
                      <a:pPr algn="ctr"/>
                      <a:r>
                        <a:rPr sz="1500" b="0">
                          <a:solidFill>
                            <a:srgbClr val="142B33"/>
                          </a:solidFill>
                          <a:latin typeface="Calibri"/>
                        </a:rPr>
                        <a:t>0</a:t>
                      </a:r>
                    </a:p>
                  </a:txBody>
                  <a:tcPr marL="73152" marR="73152" marT="27432" marB="27432" anchor="ctr">
                    <a:solidFill>
                      <a:srgbClr val="FFFFFF"/>
                    </a:solidFill>
                  </a:tcPr>
                </a:tc>
                <a:tc>
                  <a:txBody>
                    <a:bodyPr/>
                    <a:lstStyle/>
                    <a:p>
                      <a:pPr algn="ctr"/>
                      <a:r>
                        <a:rPr sz="1500" b="0">
                          <a:solidFill>
                            <a:srgbClr val="142B33"/>
                          </a:solidFill>
                          <a:latin typeface="Calibri"/>
                        </a:rPr>
                        <a:t>-3 (Q)</a:t>
                      </a:r>
                    </a:p>
                  </a:txBody>
                  <a:tcPr marL="73152" marR="73152" marT="27432" marB="27432" anchor="ctr">
                    <a:solidFill>
                      <a:srgbClr val="FFFFFF"/>
                    </a:solidFill>
                  </a:tcPr>
                </a:tc>
                <a:tc>
                  <a:txBody>
                    <a:bodyPr/>
                    <a:lstStyle/>
                    <a:p>
                      <a:pPr algn="ctr"/>
                      <a:r>
                        <a:rPr sz="1500" b="0">
                          <a:solidFill>
                            <a:srgbClr val="142B33"/>
                          </a:solidFill>
                          <a:latin typeface="Calibri"/>
                        </a:rPr>
                        <a:t>-3 (R)</a:t>
                      </a:r>
                    </a:p>
                  </a:txBody>
                  <a:tcPr marL="73152" marR="73152" marT="27432" marB="27432" anchor="ctr">
                    <a:solidFill>
                      <a:srgbClr val="FFFFFF"/>
                    </a:solidFill>
                  </a:tcPr>
                </a:tc>
                <a:tc>
                  <a:txBody>
                    <a:bodyPr/>
                    <a:lstStyle/>
                    <a:p>
                      <a:pPr algn="ctr"/>
                      <a:r>
                        <a:rPr sz="1500" b="0">
                          <a:solidFill>
                            <a:srgbClr val="142B33"/>
                          </a:solidFill>
                          <a:latin typeface="Calibri"/>
                        </a:rPr>
                        <a:t>5 (S)</a:t>
                      </a:r>
                    </a:p>
                  </a:txBody>
                  <a:tcPr marL="73152" marR="73152" marT="27432" marB="27432" anchor="ctr">
                    <a:solidFill>
                      <a:srgbClr val="FFFFFF"/>
                    </a:solidFill>
                  </a:tcPr>
                </a:tc>
              </a:tr>
              <a:tr h="351282">
                <a:tc>
                  <a:txBody>
                    <a:bodyPr/>
                    <a:lstStyle/>
                    <a:p>
                      <a:pPr algn="ctr"/>
                      <a:r>
                        <a:rPr sz="1500" b="0">
                          <a:solidFill>
                            <a:srgbClr val="142B33"/>
                          </a:solidFill>
                          <a:latin typeface="Calibri"/>
                        </a:rPr>
                        <a:t>1</a:t>
                      </a:r>
                    </a:p>
                  </a:txBody>
                  <a:tcPr marL="73152" marR="73152" marT="27432" marB="27432" anchor="ctr">
                    <a:solidFill>
                      <a:srgbClr val="F4F8F9"/>
                    </a:solidFill>
                  </a:tcPr>
                </a:tc>
                <a:tc>
                  <a:txBody>
                    <a:bodyPr/>
                    <a:lstStyle/>
                    <a:p>
                      <a:pPr algn="ctr"/>
                      <a:r>
                        <a:rPr sz="1500" b="0">
                          <a:solidFill>
                            <a:srgbClr val="142B33"/>
                          </a:solidFill>
                          <a:latin typeface="Calibri"/>
                        </a:rPr>
                        <a:t>2 (R)</a:t>
                      </a:r>
                    </a:p>
                  </a:txBody>
                  <a:tcPr marL="73152" marR="73152" marT="27432" marB="27432" anchor="ctr">
                    <a:solidFill>
                      <a:srgbClr val="F4F8F9"/>
                    </a:solidFill>
                  </a:tcPr>
                </a:tc>
                <a:tc>
                  <a:txBody>
                    <a:bodyPr/>
                    <a:lstStyle/>
                    <a:p>
                      <a:pPr algn="ctr"/>
                      <a:r>
                        <a:rPr sz="1500" b="0">
                          <a:solidFill>
                            <a:srgbClr val="142B33"/>
                          </a:solidFill>
                          <a:latin typeface="Calibri"/>
                        </a:rPr>
                        <a:t>4 (S)</a:t>
                      </a:r>
                    </a:p>
                  </a:txBody>
                  <a:tcPr marL="73152" marR="73152" marT="27432" marB="27432" anchor="ctr">
                    <a:solidFill>
                      <a:srgbClr val="F4F8F9"/>
                    </a:solidFill>
                  </a:tcPr>
                </a:tc>
                <a:tc>
                  <a:txBody>
                    <a:bodyPr/>
                    <a:lstStyle/>
                    <a:p>
                      <a:pPr algn="ctr"/>
                      <a:r>
                        <a:rPr sz="1500" b="0">
                          <a:solidFill>
                            <a:srgbClr val="142B33"/>
                          </a:solidFill>
                          <a:latin typeface="Calibri"/>
                        </a:rPr>
                        <a:t>10 (Q)</a:t>
                      </a:r>
                    </a:p>
                  </a:txBody>
                  <a:tcPr marL="73152" marR="73152" marT="27432" marB="27432" anchor="ctr">
                    <a:solidFill>
                      <a:srgbClr val="F4F8F9"/>
                    </a:solidFill>
                  </a:tcPr>
                </a:tc>
              </a:tr>
              <a:tr h="351282">
                <a:tc>
                  <a:txBody>
                    <a:bodyPr/>
                    <a:lstStyle/>
                    <a:p>
                      <a:pPr algn="ctr"/>
                      <a:r>
                        <a:rPr sz="1500" b="0">
                          <a:solidFill>
                            <a:srgbClr val="142B33"/>
                          </a:solidFill>
                          <a:latin typeface="Calibri"/>
                        </a:rPr>
                        <a:t>2</a:t>
                      </a:r>
                    </a:p>
                  </a:txBody>
                  <a:tcPr marL="73152" marR="73152" marT="27432" marB="27432" anchor="ctr">
                    <a:solidFill>
                      <a:srgbClr val="FFFFFF"/>
                    </a:solidFill>
                  </a:tcPr>
                </a:tc>
                <a:tc>
                  <a:txBody>
                    <a:bodyPr/>
                    <a:lstStyle/>
                    <a:p>
                      <a:pPr algn="ctr"/>
                      <a:r>
                        <a:rPr sz="1500" b="0">
                          <a:solidFill>
                            <a:srgbClr val="142B33"/>
                          </a:solidFill>
                          <a:latin typeface="Calibri"/>
                        </a:rPr>
                        <a:t>-1 (S)</a:t>
                      </a:r>
                    </a:p>
                  </a:txBody>
                  <a:tcPr marL="73152" marR="73152" marT="27432" marB="27432" anchor="ctr">
                    <a:solidFill>
                      <a:srgbClr val="FFFFFF"/>
                    </a:solidFill>
                  </a:tcPr>
                </a:tc>
                <a:tc>
                  <a:txBody>
                    <a:bodyPr/>
                    <a:lstStyle/>
                    <a:p>
                      <a:pPr algn="ctr"/>
                      <a:r>
                        <a:rPr sz="1500" b="0">
                          <a:solidFill>
                            <a:srgbClr val="142B33"/>
                          </a:solidFill>
                          <a:latin typeface="Calibri"/>
                        </a:rPr>
                        <a:t>11 (Q)</a:t>
                      </a:r>
                    </a:p>
                  </a:txBody>
                  <a:tcPr marL="73152" marR="73152" marT="27432" marB="27432" anchor="ctr">
                    <a:solidFill>
                      <a:srgbClr val="FFFFFF"/>
                    </a:solidFill>
                  </a:tcPr>
                </a:tc>
                <a:tc>
                  <a:txBody>
                    <a:bodyPr/>
                    <a:lstStyle/>
                    <a:p>
                      <a:pPr algn="ctr"/>
                      <a:r>
                        <a:rPr sz="1500" b="0">
                          <a:solidFill>
                            <a:srgbClr val="142B33"/>
                          </a:solidFill>
                          <a:latin typeface="Calibri"/>
                        </a:rPr>
                        <a:t>-1 (R)</a:t>
                      </a:r>
                    </a:p>
                  </a:txBody>
                  <a:tcPr marL="73152" marR="73152" marT="27432" marB="27432" anchor="ctr">
                    <a:solidFill>
                      <a:srgbClr val="FFFFFF"/>
                    </a:solidFill>
                  </a:tcPr>
                </a:tc>
              </a:tr>
            </a:tbl>
          </a:graphicData>
        </a:graphic>
      </p:graphicFrame>
      <p:sp>
        <p:nvSpPr>
          <p:cNvPr id="5" name="TextBox 4"/>
          <p:cNvSpPr txBox="1"/>
          <p:nvPr/>
        </p:nvSpPr>
        <p:spPr>
          <a:xfrm>
            <a:off x="548640" y="3493770"/>
            <a:ext cx="4914150" cy="268985"/>
          </a:xfrm>
          <a:prstGeom prst="rect">
            <a:avLst/>
          </a:prstGeom>
          <a:noFill/>
        </p:spPr>
        <p:txBody>
          <a:bodyPr wrap="square" anchor="t" lIns="0" rIns="0" tIns="0" bIns="0">
            <a:spAutoFit/>
          </a:bodyPr>
          <a:lstStyle/>
          <a:p>
            <a:r>
              <a:rPr sz="1500" b="1">
                <a:solidFill>
                  <a:srgbClr val="142B33"/>
                </a:solidFill>
                <a:latin typeface="Calibri"/>
              </a:rPr>
              <a:t>Con el cuadrado b</a:t>
            </a:r>
          </a:p>
        </p:txBody>
      </p:sp>
      <p:graphicFrame>
        <p:nvGraphicFramePr>
          <p:cNvPr id="6" name="Table 5"/>
          <p:cNvGraphicFramePr>
            <a:graphicFrameLocks noGrp="1"/>
          </p:cNvGraphicFramePr>
          <p:nvPr/>
        </p:nvGraphicFramePr>
        <p:xfrm>
          <a:off x="548640" y="3963924"/>
          <a:ext cx="4914148" cy="1405128"/>
        </p:xfrm>
        <a:graphic>
          <a:graphicData uri="http://schemas.openxmlformats.org/drawingml/2006/table">
            <a:tbl>
              <a:tblPr firstRow="0" bandRow="0">
                <a:tableStyleId>{5C22544A-7EE6-4342-B048-85BDC9FD1C3A}</a:tableStyleId>
              </a:tblPr>
              <a:tblGrid>
                <a:gridCol w="1281952"/>
                <a:gridCol w="1210732"/>
                <a:gridCol w="1210732"/>
                <a:gridCol w="1210732"/>
              </a:tblGrid>
              <a:tr h="351282">
                <a:tc>
                  <a:txBody>
                    <a:bodyPr/>
                    <a:lstStyle/>
                    <a:p>
                      <a:pPr algn="ctr"/>
                      <a:r>
                        <a:rPr sz="1500" b="1">
                          <a:solidFill>
                            <a:srgbClr val="FFFFFF"/>
                          </a:solidFill>
                          <a:latin typeface="Calibri"/>
                        </a:rPr>
                        <a:t>A \ B</a:t>
                      </a:r>
                    </a:p>
                  </a:txBody>
                  <a:tcPr marL="73152" marR="73152" marT="27432" marB="27432" anchor="ctr">
                    <a:solidFill>
                      <a:srgbClr val="0F4C5C"/>
                    </a:solidFill>
                  </a:tcPr>
                </a:tc>
                <a:tc>
                  <a:txBody>
                    <a:bodyPr/>
                    <a:lstStyle/>
                    <a:p>
                      <a:pPr algn="ctr"/>
                      <a:r>
                        <a:rPr sz="1500" b="1">
                          <a:solidFill>
                            <a:srgbClr val="FFFFFF"/>
                          </a:solidFill>
                          <a:latin typeface="Calibri"/>
                        </a:rPr>
                        <a:t>0</a:t>
                      </a:r>
                    </a:p>
                  </a:txBody>
                  <a:tcPr marL="73152" marR="73152" marT="27432" marB="27432" anchor="ctr">
                    <a:solidFill>
                      <a:srgbClr val="0F4C5C"/>
                    </a:solidFill>
                  </a:tcPr>
                </a:tc>
                <a:tc>
                  <a:txBody>
                    <a:bodyPr/>
                    <a:lstStyle/>
                    <a:p>
                      <a:pPr algn="ctr"/>
                      <a:r>
                        <a:rPr sz="1500" b="1">
                          <a:solidFill>
                            <a:srgbClr val="FFFFFF"/>
                          </a:solidFill>
                          <a:latin typeface="Calibri"/>
                        </a:rPr>
                        <a:t>1</a:t>
                      </a:r>
                    </a:p>
                  </a:txBody>
                  <a:tcPr marL="73152" marR="73152" marT="27432" marB="27432" anchor="ctr">
                    <a:solidFill>
                      <a:srgbClr val="0F4C5C"/>
                    </a:solidFill>
                  </a:tcPr>
                </a:tc>
                <a:tc>
                  <a:txBody>
                    <a:bodyPr/>
                    <a:lstStyle/>
                    <a:p>
                      <a:pPr algn="ctr"/>
                      <a:r>
                        <a:rPr sz="1500" b="1">
                          <a:solidFill>
                            <a:srgbClr val="FFFFFF"/>
                          </a:solidFill>
                          <a:latin typeface="Calibri"/>
                        </a:rPr>
                        <a:t>2</a:t>
                      </a:r>
                    </a:p>
                  </a:txBody>
                  <a:tcPr marL="73152" marR="73152" marT="27432" marB="27432" anchor="ctr">
                    <a:solidFill>
                      <a:srgbClr val="0F4C5C"/>
                    </a:solidFill>
                  </a:tcPr>
                </a:tc>
              </a:tr>
              <a:tr h="351282">
                <a:tc>
                  <a:txBody>
                    <a:bodyPr/>
                    <a:lstStyle/>
                    <a:p>
                      <a:pPr algn="ctr"/>
                      <a:r>
                        <a:rPr sz="1500" b="0">
                          <a:solidFill>
                            <a:srgbClr val="142B33"/>
                          </a:solidFill>
                          <a:latin typeface="Calibri"/>
                        </a:rPr>
                        <a:t>0</a:t>
                      </a:r>
                    </a:p>
                  </a:txBody>
                  <a:tcPr marL="73152" marR="73152" marT="27432" marB="27432" anchor="ctr">
                    <a:solidFill>
                      <a:srgbClr val="FFFFFF"/>
                    </a:solidFill>
                  </a:tcPr>
                </a:tc>
                <a:tc>
                  <a:txBody>
                    <a:bodyPr/>
                    <a:lstStyle/>
                    <a:p>
                      <a:pPr algn="ctr"/>
                      <a:r>
                        <a:rPr sz="1500" b="0">
                          <a:solidFill>
                            <a:srgbClr val="142B33"/>
                          </a:solidFill>
                          <a:latin typeface="Calibri"/>
                        </a:rPr>
                        <a:t>-3 (Q)</a:t>
                      </a:r>
                    </a:p>
                  </a:txBody>
                  <a:tcPr marL="73152" marR="73152" marT="27432" marB="27432" anchor="ctr">
                    <a:solidFill>
                      <a:srgbClr val="FFFFFF"/>
                    </a:solidFill>
                  </a:tcPr>
                </a:tc>
                <a:tc>
                  <a:txBody>
                    <a:bodyPr/>
                    <a:lstStyle/>
                    <a:p>
                      <a:pPr algn="ctr"/>
                      <a:r>
                        <a:rPr sz="1500" b="0">
                          <a:solidFill>
                            <a:srgbClr val="142B33"/>
                          </a:solidFill>
                          <a:latin typeface="Calibri"/>
                        </a:rPr>
                        <a:t>-3 (S)</a:t>
                      </a:r>
                    </a:p>
                  </a:txBody>
                  <a:tcPr marL="73152" marR="73152" marT="27432" marB="27432" anchor="ctr">
                    <a:solidFill>
                      <a:srgbClr val="FFFFFF"/>
                    </a:solidFill>
                  </a:tcPr>
                </a:tc>
                <a:tc>
                  <a:txBody>
                    <a:bodyPr/>
                    <a:lstStyle/>
                    <a:p>
                      <a:pPr algn="ctr"/>
                      <a:r>
                        <a:rPr sz="1500" b="0">
                          <a:solidFill>
                            <a:srgbClr val="142B33"/>
                          </a:solidFill>
                          <a:latin typeface="Calibri"/>
                        </a:rPr>
                        <a:t>5 (R)</a:t>
                      </a:r>
                    </a:p>
                  </a:txBody>
                  <a:tcPr marL="73152" marR="73152" marT="27432" marB="27432" anchor="ctr">
                    <a:solidFill>
                      <a:srgbClr val="FFFFFF"/>
                    </a:solidFill>
                  </a:tcPr>
                </a:tc>
              </a:tr>
              <a:tr h="351282">
                <a:tc>
                  <a:txBody>
                    <a:bodyPr/>
                    <a:lstStyle/>
                    <a:p>
                      <a:pPr algn="ctr"/>
                      <a:r>
                        <a:rPr sz="1500" b="0">
                          <a:solidFill>
                            <a:srgbClr val="142B33"/>
                          </a:solidFill>
                          <a:latin typeface="Calibri"/>
                        </a:rPr>
                        <a:t>1</a:t>
                      </a:r>
                    </a:p>
                  </a:txBody>
                  <a:tcPr marL="73152" marR="73152" marT="27432" marB="27432" anchor="ctr">
                    <a:solidFill>
                      <a:srgbClr val="F4F8F9"/>
                    </a:solidFill>
                  </a:tcPr>
                </a:tc>
                <a:tc>
                  <a:txBody>
                    <a:bodyPr/>
                    <a:lstStyle/>
                    <a:p>
                      <a:pPr algn="ctr"/>
                      <a:r>
                        <a:rPr sz="1500" b="0">
                          <a:solidFill>
                            <a:srgbClr val="142B33"/>
                          </a:solidFill>
                          <a:latin typeface="Calibri"/>
                        </a:rPr>
                        <a:t>2 (R)</a:t>
                      </a:r>
                    </a:p>
                  </a:txBody>
                  <a:tcPr marL="73152" marR="73152" marT="27432" marB="27432" anchor="ctr">
                    <a:solidFill>
                      <a:srgbClr val="F4F8F9"/>
                    </a:solidFill>
                  </a:tcPr>
                </a:tc>
                <a:tc>
                  <a:txBody>
                    <a:bodyPr/>
                    <a:lstStyle/>
                    <a:p>
                      <a:pPr algn="ctr"/>
                      <a:r>
                        <a:rPr sz="1500" b="0">
                          <a:solidFill>
                            <a:srgbClr val="142B33"/>
                          </a:solidFill>
                          <a:latin typeface="Calibri"/>
                        </a:rPr>
                        <a:t>4 (Q)</a:t>
                      </a:r>
                    </a:p>
                  </a:txBody>
                  <a:tcPr marL="73152" marR="73152" marT="27432" marB="27432" anchor="ctr">
                    <a:solidFill>
                      <a:srgbClr val="F4F8F9"/>
                    </a:solidFill>
                  </a:tcPr>
                </a:tc>
                <a:tc>
                  <a:txBody>
                    <a:bodyPr/>
                    <a:lstStyle/>
                    <a:p>
                      <a:pPr algn="ctr"/>
                      <a:r>
                        <a:rPr sz="1500" b="0">
                          <a:solidFill>
                            <a:srgbClr val="142B33"/>
                          </a:solidFill>
                          <a:latin typeface="Calibri"/>
                        </a:rPr>
                        <a:t>10 (S)</a:t>
                      </a:r>
                    </a:p>
                  </a:txBody>
                  <a:tcPr marL="73152" marR="73152" marT="27432" marB="27432" anchor="ctr">
                    <a:solidFill>
                      <a:srgbClr val="F4F8F9"/>
                    </a:solidFill>
                  </a:tcPr>
                </a:tc>
              </a:tr>
              <a:tr h="351282">
                <a:tc>
                  <a:txBody>
                    <a:bodyPr/>
                    <a:lstStyle/>
                    <a:p>
                      <a:pPr algn="ctr"/>
                      <a:r>
                        <a:rPr sz="1500" b="0">
                          <a:solidFill>
                            <a:srgbClr val="142B33"/>
                          </a:solidFill>
                          <a:latin typeface="Calibri"/>
                        </a:rPr>
                        <a:t>2</a:t>
                      </a:r>
                    </a:p>
                  </a:txBody>
                  <a:tcPr marL="73152" marR="73152" marT="27432" marB="27432" anchor="ctr">
                    <a:solidFill>
                      <a:srgbClr val="FFFFFF"/>
                    </a:solidFill>
                  </a:tcPr>
                </a:tc>
                <a:tc>
                  <a:txBody>
                    <a:bodyPr/>
                    <a:lstStyle/>
                    <a:p>
                      <a:pPr algn="ctr"/>
                      <a:r>
                        <a:rPr sz="1500" b="0">
                          <a:solidFill>
                            <a:srgbClr val="142B33"/>
                          </a:solidFill>
                          <a:latin typeface="Calibri"/>
                        </a:rPr>
                        <a:t>-1 (S)</a:t>
                      </a:r>
                    </a:p>
                  </a:txBody>
                  <a:tcPr marL="73152" marR="73152" marT="27432" marB="27432" anchor="ctr">
                    <a:solidFill>
                      <a:srgbClr val="FFFFFF"/>
                    </a:solidFill>
                  </a:tcPr>
                </a:tc>
                <a:tc>
                  <a:txBody>
                    <a:bodyPr/>
                    <a:lstStyle/>
                    <a:p>
                      <a:pPr algn="ctr"/>
                      <a:r>
                        <a:rPr sz="1500" b="0">
                          <a:solidFill>
                            <a:srgbClr val="142B33"/>
                          </a:solidFill>
                          <a:latin typeface="Calibri"/>
                        </a:rPr>
                        <a:t>11 (R)</a:t>
                      </a:r>
                    </a:p>
                  </a:txBody>
                  <a:tcPr marL="73152" marR="73152" marT="27432" marB="27432" anchor="ctr">
                    <a:solidFill>
                      <a:srgbClr val="FFFFFF"/>
                    </a:solidFill>
                  </a:tcPr>
                </a:tc>
                <a:tc>
                  <a:txBody>
                    <a:bodyPr/>
                    <a:lstStyle/>
                    <a:p>
                      <a:pPr algn="ctr"/>
                      <a:r>
                        <a:rPr sz="1500" b="0">
                          <a:solidFill>
                            <a:srgbClr val="142B33"/>
                          </a:solidFill>
                          <a:latin typeface="Calibri"/>
                        </a:rPr>
                        <a:t>-1 (Q)</a:t>
                      </a:r>
                    </a:p>
                  </a:txBody>
                  <a:tcPr marL="73152" marR="73152" marT="27432" marB="27432" anchor="ctr">
                    <a:solidFill>
                      <a:srgbClr val="FFFFFF"/>
                    </a:solidFill>
                  </a:tcPr>
                </a:tc>
              </a:tr>
            </a:tbl>
          </a:graphicData>
        </a:graphic>
      </p:graphicFrame>
      <p:graphicFrame>
        <p:nvGraphicFramePr>
          <p:cNvPr id="7" name="Table 6"/>
          <p:cNvGraphicFramePr>
            <a:graphicFrameLocks noGrp="1"/>
          </p:cNvGraphicFramePr>
          <p:nvPr/>
        </p:nvGraphicFramePr>
        <p:xfrm>
          <a:off x="5874270" y="1417320"/>
          <a:ext cx="5768784" cy="1895855"/>
        </p:xfrm>
        <a:graphic>
          <a:graphicData uri="http://schemas.openxmlformats.org/drawingml/2006/table">
            <a:tbl>
              <a:tblPr firstRow="0" bandRow="0">
                <a:tableStyleId>{5C22544A-7EE6-4342-B048-85BDC9FD1C3A}</a:tableStyleId>
              </a:tblPr>
              <a:tblGrid>
                <a:gridCol w="576878"/>
                <a:gridCol w="2595953"/>
                <a:gridCol w="2595953"/>
              </a:tblGrid>
              <a:tr h="335788">
                <a:tc>
                  <a:txBody>
                    <a:bodyPr/>
                    <a:lstStyle/>
                    <a:p>
                      <a:pPr algn="ctr"/>
                    </a:p>
                  </a:txBody>
                  <a:tcPr marL="73152" marR="73152" marT="27432" marB="27432" anchor="ctr">
                    <a:solidFill>
                      <a:srgbClr val="0F4C5C"/>
                    </a:solidFill>
                  </a:tcPr>
                </a:tc>
                <a:tc>
                  <a:txBody>
                    <a:bodyPr/>
                    <a:lstStyle/>
                    <a:p>
                      <a:pPr algn="ctr"/>
                      <a:r>
                        <a:rPr sz="1400" b="1">
                          <a:solidFill>
                            <a:srgbClr val="FFFFFF"/>
                          </a:solidFill>
                          <a:latin typeface="Calibri"/>
                        </a:rPr>
                        <a:t>Cuadrado a → AB</a:t>
                      </a:r>
                    </a:p>
                  </a:txBody>
                  <a:tcPr marL="73152" marR="73152" marT="27432" marB="27432" anchor="ctr">
                    <a:solidFill>
                      <a:srgbClr val="0F4C5C"/>
                    </a:solidFill>
                  </a:tcPr>
                </a:tc>
                <a:tc>
                  <a:txBody>
                    <a:bodyPr/>
                    <a:lstStyle/>
                    <a:p>
                      <a:pPr algn="ctr"/>
                      <a:r>
                        <a:rPr sz="1400" b="1">
                          <a:solidFill>
                            <a:srgbClr val="FFFFFF"/>
                          </a:solidFill>
                          <a:latin typeface="Calibri"/>
                        </a:rPr>
                        <a:t>Cuadrado b → AB</a:t>
                      </a:r>
                      <a:r>
                        <a:rPr sz="1400" b="1" baseline="30000">
                          <a:solidFill>
                            <a:srgbClr val="FFFFFF"/>
                          </a:solidFill>
                          <a:latin typeface="Calibri"/>
                        </a:rPr>
                        <a:t>2</a:t>
                      </a:r>
                    </a:p>
                  </a:txBody>
                  <a:tcPr marL="73152" marR="73152" marT="27432" marB="27432" anchor="ctr">
                    <a:solidFill>
                      <a:srgbClr val="0F4C5C"/>
                    </a:solidFill>
                  </a:tcPr>
                </a:tc>
              </a:tr>
              <a:tr h="335788">
                <a:tc>
                  <a:txBody>
                    <a:bodyPr/>
                    <a:lstStyle/>
                    <a:p>
                      <a:pPr algn="ctr"/>
                      <a:r>
                        <a:rPr sz="1400" b="0">
                          <a:solidFill>
                            <a:srgbClr val="142B33"/>
                          </a:solidFill>
                          <a:latin typeface="Calibri"/>
                        </a:rPr>
                        <a:t>Q</a:t>
                      </a:r>
                    </a:p>
                  </a:txBody>
                  <a:tcPr marL="73152" marR="73152" marT="27432" marB="27432" anchor="ctr">
                    <a:solidFill>
                      <a:srgbClr val="FFFFFF"/>
                    </a:solidFill>
                  </a:tcPr>
                </a:tc>
                <a:tc>
                  <a:txBody>
                    <a:bodyPr/>
                    <a:lstStyle/>
                    <a:p>
                      <a:pPr algn="ctr"/>
                      <a:r>
                        <a:rPr sz="1400" b="0">
                          <a:solidFill>
                            <a:srgbClr val="142B33"/>
                          </a:solidFill>
                          <a:latin typeface="Calibri"/>
                        </a:rPr>
                        <a:t>−3 + 10 + 11 = 18</a:t>
                      </a:r>
                    </a:p>
                  </a:txBody>
                  <a:tcPr marL="73152" marR="73152" marT="27432" marB="27432" anchor="ctr">
                    <a:solidFill>
                      <a:srgbClr val="FFFFFF"/>
                    </a:solidFill>
                  </a:tcPr>
                </a:tc>
                <a:tc>
                  <a:txBody>
                    <a:bodyPr/>
                    <a:lstStyle/>
                    <a:p>
                      <a:pPr algn="ctr"/>
                      <a:r>
                        <a:rPr sz="1400" b="0">
                          <a:solidFill>
                            <a:srgbClr val="142B33"/>
                          </a:solidFill>
                          <a:latin typeface="Calibri"/>
                        </a:rPr>
                        <a:t>−3 + 4 − 1 = 0</a:t>
                      </a:r>
                    </a:p>
                  </a:txBody>
                  <a:tcPr marL="73152" marR="73152" marT="27432" marB="27432" anchor="ctr">
                    <a:solidFill>
                      <a:srgbClr val="FFFFFF"/>
                    </a:solidFill>
                  </a:tcPr>
                </a:tc>
              </a:tr>
              <a:tr h="335788">
                <a:tc>
                  <a:txBody>
                    <a:bodyPr/>
                    <a:lstStyle/>
                    <a:p>
                      <a:pPr algn="ctr"/>
                      <a:r>
                        <a:rPr sz="1400" b="0">
                          <a:solidFill>
                            <a:srgbClr val="142B33"/>
                          </a:solidFill>
                          <a:latin typeface="Calibri"/>
                        </a:rPr>
                        <a:t>R</a:t>
                      </a:r>
                    </a:p>
                  </a:txBody>
                  <a:tcPr marL="73152" marR="73152" marT="27432" marB="27432" anchor="ctr">
                    <a:solidFill>
                      <a:srgbClr val="F4F8F9"/>
                    </a:solidFill>
                  </a:tcPr>
                </a:tc>
                <a:tc>
                  <a:txBody>
                    <a:bodyPr/>
                    <a:lstStyle/>
                    <a:p>
                      <a:pPr algn="ctr"/>
                      <a:r>
                        <a:rPr sz="1400" b="0">
                          <a:solidFill>
                            <a:srgbClr val="142B33"/>
                          </a:solidFill>
                          <a:latin typeface="Calibri"/>
                        </a:rPr>
                        <a:t>−3 + 2 − 1 = −2</a:t>
                      </a:r>
                    </a:p>
                  </a:txBody>
                  <a:tcPr marL="73152" marR="73152" marT="27432" marB="27432" anchor="ctr">
                    <a:solidFill>
                      <a:srgbClr val="F4F8F9"/>
                    </a:solidFill>
                  </a:tcPr>
                </a:tc>
                <a:tc>
                  <a:txBody>
                    <a:bodyPr/>
                    <a:lstStyle/>
                    <a:p>
                      <a:pPr algn="ctr"/>
                      <a:r>
                        <a:rPr sz="1400" b="0">
                          <a:solidFill>
                            <a:srgbClr val="142B33"/>
                          </a:solidFill>
                          <a:latin typeface="Calibri"/>
                        </a:rPr>
                        <a:t>5 + 2 − 1 = 6</a:t>
                      </a:r>
                    </a:p>
                  </a:txBody>
                  <a:tcPr marL="73152" marR="73152" marT="27432" marB="27432" anchor="ctr">
                    <a:solidFill>
                      <a:srgbClr val="F4F8F9"/>
                    </a:solidFill>
                  </a:tcPr>
                </a:tc>
              </a:tr>
              <a:tr h="335788">
                <a:tc>
                  <a:txBody>
                    <a:bodyPr/>
                    <a:lstStyle/>
                    <a:p>
                      <a:pPr algn="ctr"/>
                      <a:r>
                        <a:rPr sz="1400" b="0">
                          <a:solidFill>
                            <a:srgbClr val="142B33"/>
                          </a:solidFill>
                          <a:latin typeface="Calibri"/>
                        </a:rPr>
                        <a:t>S</a:t>
                      </a:r>
                    </a:p>
                  </a:txBody>
                  <a:tcPr marL="73152" marR="73152" marT="27432" marB="27432" anchor="ctr">
                    <a:solidFill>
                      <a:srgbClr val="FFFFFF"/>
                    </a:solidFill>
                  </a:tcPr>
                </a:tc>
                <a:tc>
                  <a:txBody>
                    <a:bodyPr/>
                    <a:lstStyle/>
                    <a:p>
                      <a:pPr algn="ctr"/>
                      <a:r>
                        <a:rPr sz="1400" b="0">
                          <a:solidFill>
                            <a:srgbClr val="142B33"/>
                          </a:solidFill>
                          <a:latin typeface="Calibri"/>
                        </a:rPr>
                        <a:t>5 + 4 − 1 = 8</a:t>
                      </a:r>
                    </a:p>
                  </a:txBody>
                  <a:tcPr marL="73152" marR="73152" marT="27432" marB="27432" anchor="ctr">
                    <a:solidFill>
                      <a:srgbClr val="FFFFFF"/>
                    </a:solidFill>
                  </a:tcPr>
                </a:tc>
                <a:tc>
                  <a:txBody>
                    <a:bodyPr/>
                    <a:lstStyle/>
                    <a:p>
                      <a:pPr algn="ctr"/>
                      <a:r>
                        <a:rPr sz="1400" b="0">
                          <a:solidFill>
                            <a:srgbClr val="142B33"/>
                          </a:solidFill>
                          <a:latin typeface="Calibri"/>
                        </a:rPr>
                        <a:t>−3 + 10 + 11 = 18</a:t>
                      </a:r>
                    </a:p>
                  </a:txBody>
                  <a:tcPr marL="73152" marR="73152" marT="27432" marB="27432" anchor="ctr">
                    <a:solidFill>
                      <a:srgbClr val="FFFFFF"/>
                    </a:solidFill>
                  </a:tcPr>
                </a:tc>
              </a:tr>
              <a:tr h="552703">
                <a:tc>
                  <a:txBody>
                    <a:bodyPr/>
                    <a:lstStyle/>
                    <a:p>
                      <a:pPr algn="ctr"/>
                      <a:r>
                        <a:rPr sz="1400" b="0">
                          <a:solidFill>
                            <a:srgbClr val="142B33"/>
                          </a:solidFill>
                          <a:latin typeface="Calibri"/>
                        </a:rPr>
                        <a:t>SS</a:t>
                      </a:r>
                    </a:p>
                  </a:txBody>
                  <a:tcPr marL="73152" marR="73152" marT="27432" marB="27432" anchor="ctr">
                    <a:solidFill>
                      <a:srgbClr val="F4F8F9"/>
                    </a:solidFill>
                  </a:tcPr>
                </a:tc>
                <a:tc>
                  <a:txBody>
                    <a:bodyPr/>
                    <a:lstStyle/>
                    <a:p>
                      <a:pPr algn="ctr"/>
                      <a:r>
                        <a:rPr sz="1400" b="0">
                          <a:solidFill>
                            <a:srgbClr val="142B33"/>
                          </a:solidFill>
                          <a:latin typeface="Calibri"/>
                        </a:rPr>
                        <a:t>(18² + 2² + 8²)/6 − 24²/18 = </a:t>
                      </a:r>
                      <a:r>
                        <a:rPr sz="1400" b="1">
                          <a:solidFill>
                            <a:srgbClr val="142B33"/>
                          </a:solidFill>
                          <a:latin typeface="Calibri"/>
                        </a:rPr>
                        <a:t>33.34</a:t>
                      </a:r>
                    </a:p>
                  </a:txBody>
                  <a:tcPr marL="73152" marR="73152" marT="27432" marB="27432" anchor="ctr">
                    <a:solidFill>
                      <a:srgbClr val="F4F8F9"/>
                    </a:solidFill>
                  </a:tcPr>
                </a:tc>
                <a:tc>
                  <a:txBody>
                    <a:bodyPr/>
                    <a:lstStyle/>
                    <a:p>
                      <a:pPr algn="ctr"/>
                      <a:r>
                        <a:rPr sz="1400" b="0">
                          <a:solidFill>
                            <a:srgbClr val="142B33"/>
                          </a:solidFill>
                          <a:latin typeface="Calibri"/>
                        </a:rPr>
                        <a:t>(0² + 6² + 18²)/6 − 24²/18 = </a:t>
                      </a:r>
                      <a:r>
                        <a:rPr sz="1400" b="1">
                          <a:solidFill>
                            <a:srgbClr val="142B33"/>
                          </a:solidFill>
                          <a:latin typeface="Calibri"/>
                        </a:rPr>
                        <a:t>28.00</a:t>
                      </a:r>
                    </a:p>
                  </a:txBody>
                  <a:tcPr marL="73152" marR="73152" marT="27432" marB="27432" anchor="ctr">
                    <a:solidFill>
                      <a:srgbClr val="F4F8F9"/>
                    </a:solidFill>
                  </a:tcPr>
                </a:tc>
              </a:tr>
            </a:tbl>
          </a:graphicData>
        </a:graphic>
      </p:graphicFrame>
      <p:sp>
        <p:nvSpPr>
          <p:cNvPr id="8" name="Rounded Rectangle 7"/>
          <p:cNvSpPr/>
          <p:nvPr/>
        </p:nvSpPr>
        <p:spPr>
          <a:xfrm>
            <a:off x="5874270" y="3514344"/>
            <a:ext cx="5768785"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33.34 + 28.00 = 61.34 = SS</a:t>
            </a:r>
            <a:r>
              <a:rPr sz="1500" b="0" baseline="-25000">
                <a:solidFill>
                  <a:srgbClr val="142B33"/>
                </a:solidFill>
                <a:latin typeface="Calibri"/>
              </a:rPr>
              <a:t>AB</a:t>
            </a:r>
            <a:r>
              <a:rPr sz="1500" b="0">
                <a:solidFill>
                  <a:srgbClr val="142B33"/>
                </a:solidFill>
                <a:latin typeface="Calibri"/>
              </a:rPr>
              <a:t>  (2 + 2 = 4 g.l.)</a:t>
            </a:r>
          </a:p>
        </p:txBody>
      </p:sp>
      <p:sp>
        <p:nvSpPr>
          <p:cNvPr id="9" name="TextBox 8"/>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Componentes de interacción</a:t>
            </a:r>
          </a:p>
        </p:txBody>
      </p:sp>
      <p:sp>
        <p:nvSpPr>
          <p:cNvPr id="10" name="TextBox 9"/>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13</a:t>
            </a:r>
          </a:p>
        </p:txBody>
      </p:sp>
      <p:sp>
        <p:nvSpPr>
          <p:cNvPr id="11" name="Rounded Rectangle 10"/>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2 · Componentes de interacción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La regla que define cada componente: L = x</a:t>
            </a:r>
            <a:r>
              <a:rPr sz="3000" b="1" baseline="-25000">
                <a:solidFill>
                  <a:srgbClr val="0F4C5C"/>
                </a:solidFill>
                <a:latin typeface="Cambria"/>
              </a:rPr>
              <a:t>1</a:t>
            </a:r>
            <a:r>
              <a:rPr sz="3000" b="1">
                <a:solidFill>
                  <a:srgbClr val="0F4C5C"/>
                </a:solidFill>
                <a:latin typeface="Cambria"/>
              </a:rPr>
              <a:t> + x</a:t>
            </a:r>
            <a:r>
              <a:rPr sz="3000" b="1" baseline="-25000">
                <a:solidFill>
                  <a:srgbClr val="0F4C5C"/>
                </a:solidFill>
                <a:latin typeface="Cambria"/>
              </a:rPr>
              <a:t>2</a:t>
            </a:r>
            <a:r>
              <a:rPr sz="3000" b="1">
                <a:solidFill>
                  <a:srgbClr val="0F4C5C"/>
                </a:solidFill>
                <a:latin typeface="Cambria"/>
              </a:rPr>
              <a:t> y L = x</a:t>
            </a:r>
            <a:r>
              <a:rPr sz="3000" b="1" baseline="-25000">
                <a:solidFill>
                  <a:srgbClr val="0F4C5C"/>
                </a:solidFill>
                <a:latin typeface="Cambria"/>
              </a:rPr>
              <a:t>1</a:t>
            </a:r>
            <a:r>
              <a:rPr sz="3000" b="1">
                <a:solidFill>
                  <a:srgbClr val="0F4C5C"/>
                </a:solidFill>
                <a:latin typeface="Cambria"/>
              </a:rPr>
              <a:t> + 2x</a:t>
            </a:r>
            <a:r>
              <a:rPr sz="3000" b="1" baseline="-25000">
                <a:solidFill>
                  <a:srgbClr val="0F4C5C"/>
                </a:solidFill>
                <a:latin typeface="Cambria"/>
              </a:rPr>
              <a:t>2</a:t>
            </a:r>
            <a:r>
              <a:rPr sz="3000" b="1">
                <a:solidFill>
                  <a:srgbClr val="0F4C5C"/>
                </a:solidFill>
                <a:latin typeface="Cambria"/>
              </a:rPr>
              <a:t> (mod 3)</a:t>
            </a:r>
          </a:p>
        </p:txBody>
      </p:sp>
      <p:graphicFrame>
        <p:nvGraphicFramePr>
          <p:cNvPr id="3" name="Table 2"/>
          <p:cNvGraphicFramePr>
            <a:graphicFrameLocks noGrp="1"/>
          </p:cNvGraphicFramePr>
          <p:nvPr/>
        </p:nvGraphicFramePr>
        <p:xfrm>
          <a:off x="548640" y="1417320"/>
          <a:ext cx="5875614" cy="1405128"/>
        </p:xfrm>
        <a:graphic>
          <a:graphicData uri="http://schemas.openxmlformats.org/drawingml/2006/table">
            <a:tbl>
              <a:tblPr firstRow="0" bandRow="0">
                <a:tableStyleId>{5C22544A-7EE6-4342-B048-85BDC9FD1C3A}</a:tableStyleId>
              </a:tblPr>
              <a:tblGrid>
                <a:gridCol w="2886127"/>
                <a:gridCol w="2989487"/>
              </a:tblGrid>
              <a:tr h="351282">
                <a:tc>
                  <a:txBody>
                    <a:bodyPr/>
                    <a:lstStyle/>
                    <a:p>
                      <a:pPr algn="ctr"/>
                      <a:r>
                        <a:rPr sz="1500" b="1">
                          <a:solidFill>
                            <a:srgbClr val="FFFFFF"/>
                          </a:solidFill>
                          <a:latin typeface="Calibri"/>
                        </a:rPr>
                        <a:t>Cuadrado a → componente AB</a:t>
                      </a:r>
                    </a:p>
                  </a:txBody>
                  <a:tcPr marL="73152" marR="73152" marT="27432" marB="27432" anchor="ctr">
                    <a:solidFill>
                      <a:srgbClr val="0F4C5C"/>
                    </a:solidFill>
                  </a:tcPr>
                </a:tc>
                <a:tc>
                  <a:txBody>
                    <a:bodyPr/>
                    <a:lstStyle/>
                    <a:p>
                      <a:pPr algn="ctr"/>
                      <a:r>
                        <a:rPr sz="1500" b="1">
                          <a:solidFill>
                            <a:srgbClr val="FFFFFF"/>
                          </a:solidFill>
                          <a:latin typeface="Calibri"/>
                        </a:rPr>
                        <a:t>Cuadrado b → componente AB</a:t>
                      </a:r>
                      <a:r>
                        <a:rPr sz="1500" b="1" baseline="30000">
                          <a:solidFill>
                            <a:srgbClr val="FFFFFF"/>
                          </a:solidFill>
                          <a:latin typeface="Calibri"/>
                        </a:rPr>
                        <a:t>2</a:t>
                      </a:r>
                    </a:p>
                  </a:txBody>
                  <a:tcPr marL="73152" marR="73152" marT="27432" marB="27432" anchor="ctr">
                    <a:solidFill>
                      <a:srgbClr val="0F4C5C"/>
                    </a:solidFill>
                  </a:tcPr>
                </a:tc>
              </a:tr>
              <a:tr h="351282">
                <a:tc>
                  <a:txBody>
                    <a:bodyPr/>
                    <a:lstStyle/>
                    <a:p>
                      <a:pPr algn="ctr"/>
                      <a:r>
                        <a:rPr sz="1500" b="0">
                          <a:solidFill>
                            <a:srgbClr val="142B33"/>
                          </a:solidFill>
                          <a:latin typeface="Calibri"/>
                        </a:rPr>
                        <a:t>Q:  x</a:t>
                      </a:r>
                      <a:r>
                        <a:rPr sz="1500" b="0" baseline="-25000">
                          <a:solidFill>
                            <a:srgbClr val="142B33"/>
                          </a:solidFill>
                          <a:latin typeface="Calibri"/>
                        </a:rPr>
                        <a:t>1</a:t>
                      </a:r>
                      <a:r>
                        <a:rPr sz="1500" b="0">
                          <a:solidFill>
                            <a:srgbClr val="142B33"/>
                          </a:solidFill>
                          <a:latin typeface="Calibri"/>
                        </a:rPr>
                        <a:t> + x</a:t>
                      </a:r>
                      <a:r>
                        <a:rPr sz="1500" b="0" baseline="-25000">
                          <a:solidFill>
                            <a:srgbClr val="142B33"/>
                          </a:solidFill>
                          <a:latin typeface="Calibri"/>
                        </a:rPr>
                        <a:t>2</a:t>
                      </a:r>
                      <a:r>
                        <a:rPr sz="1500" b="0">
                          <a:solidFill>
                            <a:srgbClr val="142B33"/>
                          </a:solidFill>
                          <a:latin typeface="Calibri"/>
                        </a:rPr>
                        <a:t> = 0 (mod 3)</a:t>
                      </a:r>
                    </a:p>
                  </a:txBody>
                  <a:tcPr marL="73152" marR="73152" marT="27432" marB="27432" anchor="ctr">
                    <a:solidFill>
                      <a:srgbClr val="FFFFFF"/>
                    </a:solidFill>
                  </a:tcPr>
                </a:tc>
                <a:tc>
                  <a:txBody>
                    <a:bodyPr/>
                    <a:lstStyle/>
                    <a:p>
                      <a:pPr algn="ctr"/>
                      <a:r>
                        <a:rPr sz="1500" b="0">
                          <a:solidFill>
                            <a:srgbClr val="142B33"/>
                          </a:solidFill>
                          <a:latin typeface="Calibri"/>
                        </a:rPr>
                        <a:t>Q:  x</a:t>
                      </a:r>
                      <a:r>
                        <a:rPr sz="1500" b="0" baseline="-25000">
                          <a:solidFill>
                            <a:srgbClr val="142B33"/>
                          </a:solidFill>
                          <a:latin typeface="Calibri"/>
                        </a:rPr>
                        <a:t>1</a:t>
                      </a:r>
                      <a:r>
                        <a:rPr sz="1500" b="0">
                          <a:solidFill>
                            <a:srgbClr val="142B33"/>
                          </a:solidFill>
                          <a:latin typeface="Calibri"/>
                        </a:rPr>
                        <a:t> + 2x</a:t>
                      </a:r>
                      <a:r>
                        <a:rPr sz="1500" b="0" baseline="-25000">
                          <a:solidFill>
                            <a:srgbClr val="142B33"/>
                          </a:solidFill>
                          <a:latin typeface="Calibri"/>
                        </a:rPr>
                        <a:t>2</a:t>
                      </a:r>
                      <a:r>
                        <a:rPr sz="1500" b="0">
                          <a:solidFill>
                            <a:srgbClr val="142B33"/>
                          </a:solidFill>
                          <a:latin typeface="Calibri"/>
                        </a:rPr>
                        <a:t> = 0 (mod 3)</a:t>
                      </a:r>
                    </a:p>
                  </a:txBody>
                  <a:tcPr marL="73152" marR="73152" marT="27432" marB="27432" anchor="ctr">
                    <a:solidFill>
                      <a:srgbClr val="FFFFFF"/>
                    </a:solidFill>
                  </a:tcPr>
                </a:tc>
              </a:tr>
              <a:tr h="351282">
                <a:tc>
                  <a:txBody>
                    <a:bodyPr/>
                    <a:lstStyle/>
                    <a:p>
                      <a:pPr algn="ctr"/>
                      <a:r>
                        <a:rPr sz="1500" b="0">
                          <a:solidFill>
                            <a:srgbClr val="142B33"/>
                          </a:solidFill>
                          <a:latin typeface="Calibri"/>
                        </a:rPr>
                        <a:t>R:  x</a:t>
                      </a:r>
                      <a:r>
                        <a:rPr sz="1500" b="0" baseline="-25000">
                          <a:solidFill>
                            <a:srgbClr val="142B33"/>
                          </a:solidFill>
                          <a:latin typeface="Calibri"/>
                        </a:rPr>
                        <a:t>1</a:t>
                      </a:r>
                      <a:r>
                        <a:rPr sz="1500" b="0">
                          <a:solidFill>
                            <a:srgbClr val="142B33"/>
                          </a:solidFill>
                          <a:latin typeface="Calibri"/>
                        </a:rPr>
                        <a:t> + x</a:t>
                      </a:r>
                      <a:r>
                        <a:rPr sz="1500" b="0" baseline="-25000">
                          <a:solidFill>
                            <a:srgbClr val="142B33"/>
                          </a:solidFill>
                          <a:latin typeface="Calibri"/>
                        </a:rPr>
                        <a:t>2</a:t>
                      </a:r>
                      <a:r>
                        <a:rPr sz="1500" b="0">
                          <a:solidFill>
                            <a:srgbClr val="142B33"/>
                          </a:solidFill>
                          <a:latin typeface="Calibri"/>
                        </a:rPr>
                        <a:t> = 1 (mod 3)</a:t>
                      </a:r>
                    </a:p>
                  </a:txBody>
                  <a:tcPr marL="73152" marR="73152" marT="27432" marB="27432" anchor="ctr">
                    <a:solidFill>
                      <a:srgbClr val="F4F8F9"/>
                    </a:solidFill>
                  </a:tcPr>
                </a:tc>
                <a:tc>
                  <a:txBody>
                    <a:bodyPr/>
                    <a:lstStyle/>
                    <a:p>
                      <a:pPr algn="ctr"/>
                      <a:r>
                        <a:rPr sz="1500" b="0">
                          <a:solidFill>
                            <a:srgbClr val="142B33"/>
                          </a:solidFill>
                          <a:latin typeface="Calibri"/>
                        </a:rPr>
                        <a:t>R:  x</a:t>
                      </a:r>
                      <a:r>
                        <a:rPr sz="1500" b="0" baseline="-25000">
                          <a:solidFill>
                            <a:srgbClr val="142B33"/>
                          </a:solidFill>
                          <a:latin typeface="Calibri"/>
                        </a:rPr>
                        <a:t>1</a:t>
                      </a:r>
                      <a:r>
                        <a:rPr sz="1500" b="0">
                          <a:solidFill>
                            <a:srgbClr val="142B33"/>
                          </a:solidFill>
                          <a:latin typeface="Calibri"/>
                        </a:rPr>
                        <a:t> + 2x</a:t>
                      </a:r>
                      <a:r>
                        <a:rPr sz="1500" b="0" baseline="-25000">
                          <a:solidFill>
                            <a:srgbClr val="142B33"/>
                          </a:solidFill>
                          <a:latin typeface="Calibri"/>
                        </a:rPr>
                        <a:t>2</a:t>
                      </a:r>
                      <a:r>
                        <a:rPr sz="1500" b="0">
                          <a:solidFill>
                            <a:srgbClr val="142B33"/>
                          </a:solidFill>
                          <a:latin typeface="Calibri"/>
                        </a:rPr>
                        <a:t> = 1 (mod 3)</a:t>
                      </a:r>
                    </a:p>
                  </a:txBody>
                  <a:tcPr marL="73152" marR="73152" marT="27432" marB="27432" anchor="ctr">
                    <a:solidFill>
                      <a:srgbClr val="F4F8F9"/>
                    </a:solidFill>
                  </a:tcPr>
                </a:tc>
              </a:tr>
              <a:tr h="351282">
                <a:tc>
                  <a:txBody>
                    <a:bodyPr/>
                    <a:lstStyle/>
                    <a:p>
                      <a:pPr algn="ctr"/>
                      <a:r>
                        <a:rPr sz="1500" b="0">
                          <a:solidFill>
                            <a:srgbClr val="142B33"/>
                          </a:solidFill>
                          <a:latin typeface="Calibri"/>
                        </a:rPr>
                        <a:t>S:  x</a:t>
                      </a:r>
                      <a:r>
                        <a:rPr sz="1500" b="0" baseline="-25000">
                          <a:solidFill>
                            <a:srgbClr val="142B33"/>
                          </a:solidFill>
                          <a:latin typeface="Calibri"/>
                        </a:rPr>
                        <a:t>1</a:t>
                      </a:r>
                      <a:r>
                        <a:rPr sz="1500" b="0">
                          <a:solidFill>
                            <a:srgbClr val="142B33"/>
                          </a:solidFill>
                          <a:latin typeface="Calibri"/>
                        </a:rPr>
                        <a:t> + x</a:t>
                      </a:r>
                      <a:r>
                        <a:rPr sz="1500" b="0" baseline="-25000">
                          <a:solidFill>
                            <a:srgbClr val="142B33"/>
                          </a:solidFill>
                          <a:latin typeface="Calibri"/>
                        </a:rPr>
                        <a:t>2</a:t>
                      </a:r>
                      <a:r>
                        <a:rPr sz="1500" b="0">
                          <a:solidFill>
                            <a:srgbClr val="142B33"/>
                          </a:solidFill>
                          <a:latin typeface="Calibri"/>
                        </a:rPr>
                        <a:t> = 2 (mod 3)</a:t>
                      </a:r>
                    </a:p>
                  </a:txBody>
                  <a:tcPr marL="73152" marR="73152" marT="27432" marB="27432" anchor="ctr">
                    <a:solidFill>
                      <a:srgbClr val="FFFFFF"/>
                    </a:solidFill>
                  </a:tcPr>
                </a:tc>
                <a:tc>
                  <a:txBody>
                    <a:bodyPr/>
                    <a:lstStyle/>
                    <a:p>
                      <a:pPr algn="ctr"/>
                      <a:r>
                        <a:rPr sz="1500" b="0">
                          <a:solidFill>
                            <a:srgbClr val="142B33"/>
                          </a:solidFill>
                          <a:latin typeface="Calibri"/>
                        </a:rPr>
                        <a:t>S:  x</a:t>
                      </a:r>
                      <a:r>
                        <a:rPr sz="1500" b="0" baseline="-25000">
                          <a:solidFill>
                            <a:srgbClr val="142B33"/>
                          </a:solidFill>
                          <a:latin typeface="Calibri"/>
                        </a:rPr>
                        <a:t>1</a:t>
                      </a:r>
                      <a:r>
                        <a:rPr sz="1500" b="0">
                          <a:solidFill>
                            <a:srgbClr val="142B33"/>
                          </a:solidFill>
                          <a:latin typeface="Calibri"/>
                        </a:rPr>
                        <a:t> + 2x</a:t>
                      </a:r>
                      <a:r>
                        <a:rPr sz="1500" b="0" baseline="-25000">
                          <a:solidFill>
                            <a:srgbClr val="142B33"/>
                          </a:solidFill>
                          <a:latin typeface="Calibri"/>
                        </a:rPr>
                        <a:t>2</a:t>
                      </a:r>
                      <a:r>
                        <a:rPr sz="1500" b="0">
                          <a:solidFill>
                            <a:srgbClr val="142B33"/>
                          </a:solidFill>
                          <a:latin typeface="Calibri"/>
                        </a:rPr>
                        <a:t> = 2 (mod 3)</a:t>
                      </a:r>
                    </a:p>
                  </a:txBody>
                  <a:tcPr marL="73152" marR="73152" marT="27432" marB="27432" anchor="ctr">
                    <a:solidFill>
                      <a:srgbClr val="FFFFFF"/>
                    </a:solidFill>
                  </a:tcPr>
                </a:tc>
              </a:tr>
            </a:tbl>
          </a:graphicData>
        </a:graphic>
      </p:graphicFrame>
      <p:sp>
        <p:nvSpPr>
          <p:cNvPr id="4" name="Rounded Rectangle 3"/>
          <p:cNvSpPr/>
          <p:nvPr/>
        </p:nvSpPr>
        <p:spPr>
          <a:xfrm>
            <a:off x="548640" y="3023616"/>
            <a:ext cx="5875614"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Los </a:t>
            </a:r>
            <a:r>
              <a:rPr sz="1500" b="1">
                <a:solidFill>
                  <a:srgbClr val="142B33"/>
                </a:solidFill>
                <a:latin typeface="Calibri"/>
              </a:rPr>
              <a:t>exponentes</a:t>
            </a:r>
            <a:r>
              <a:rPr sz="1500" b="0">
                <a:solidFill>
                  <a:srgbClr val="142B33"/>
                </a:solidFill>
                <a:latin typeface="Calibri"/>
              </a:rPr>
              <a:t> del componente son los </a:t>
            </a:r>
            <a:r>
              <a:rPr sz="1500" b="1">
                <a:solidFill>
                  <a:srgbClr val="142B33"/>
                </a:solidFill>
                <a:latin typeface="Calibri"/>
              </a:rPr>
              <a:t>coeficientes</a:t>
            </a:r>
            <a:r>
              <a:rPr sz="1500" b="0">
                <a:solidFill>
                  <a:srgbClr val="142B33"/>
                </a:solidFill>
                <a:latin typeface="Calibri"/>
              </a:rPr>
              <a:t> de la ecuación: AB</a:t>
            </a:r>
            <a:r>
              <a:rPr sz="1500" b="0" baseline="30000">
                <a:solidFill>
                  <a:srgbClr val="142B33"/>
                </a:solidFill>
                <a:latin typeface="Calibri"/>
              </a:rPr>
              <a:t>2</a:t>
            </a:r>
            <a:r>
              <a:rPr sz="1500" b="0">
                <a:solidFill>
                  <a:srgbClr val="142B33"/>
                </a:solidFill>
                <a:latin typeface="Calibri"/>
              </a:rPr>
              <a:t> ↔ x</a:t>
            </a:r>
            <a:r>
              <a:rPr sz="1500" b="0" baseline="-25000">
                <a:solidFill>
                  <a:srgbClr val="142B33"/>
                </a:solidFill>
                <a:latin typeface="Calibri"/>
              </a:rPr>
              <a:t>1</a:t>
            </a:r>
            <a:r>
              <a:rPr sz="1500" b="0">
                <a:solidFill>
                  <a:srgbClr val="142B33"/>
                </a:solidFill>
                <a:latin typeface="Calibri"/>
              </a:rPr>
              <a:t> + 2x</a:t>
            </a:r>
            <a:r>
              <a:rPr sz="1500" b="0" baseline="-25000">
                <a:solidFill>
                  <a:srgbClr val="142B33"/>
                </a:solidFill>
                <a:latin typeface="Calibri"/>
              </a:rPr>
              <a:t>2</a:t>
            </a:r>
          </a:p>
        </p:txBody>
      </p:sp>
      <p:sp>
        <p:nvSpPr>
          <p:cNvPr id="5" name="Rounded Rectangle 4"/>
          <p:cNvSpPr/>
          <p:nvPr/>
        </p:nvSpPr>
        <p:spPr>
          <a:xfrm>
            <a:off x="6835734" y="1417320"/>
            <a:ext cx="4807320" cy="1037864"/>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2200" b="0">
                <a:solidFill>
                  <a:srgbClr val="0F4C5C"/>
                </a:solidFill>
                <a:latin typeface="Cambria Math"/>
              </a:rPr>
              <a:t>I(AB) = AB</a:t>
            </a:r>
            <a:r>
              <a:rPr sz="2200" b="0" baseline="30000">
                <a:solidFill>
                  <a:srgbClr val="0F4C5C"/>
                </a:solidFill>
                <a:latin typeface="Cambria Math"/>
              </a:rPr>
              <a:t>2</a:t>
            </a:r>
          </a:p>
          <a:p>
            <a:pPr algn="ctr"/>
            <a:r>
              <a:rPr sz="2200" b="0">
                <a:solidFill>
                  <a:srgbClr val="0F4C5C"/>
                </a:solidFill>
                <a:latin typeface="Cambria Math"/>
              </a:rPr>
              <a:t>J(AB) = AB</a:t>
            </a:r>
          </a:p>
        </p:txBody>
      </p:sp>
      <p:sp>
        <p:nvSpPr>
          <p:cNvPr id="6" name="TextBox 5"/>
          <p:cNvSpPr txBox="1"/>
          <p:nvPr/>
        </p:nvSpPr>
        <p:spPr>
          <a:xfrm>
            <a:off x="6835734" y="2656352"/>
            <a:ext cx="4807320" cy="1176528"/>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500" b="0">
                <a:solidFill>
                  <a:srgbClr val="142B33"/>
                </a:solidFill>
                <a:latin typeface="Calibri"/>
              </a:rPr>
              <a:t>Diagonales ↘ (de izquierda a derecha): </a:t>
            </a:r>
            <a:r>
              <a:rPr sz="1500" b="1">
                <a:solidFill>
                  <a:srgbClr val="142B33"/>
                </a:solidFill>
                <a:latin typeface="Calibri"/>
              </a:rPr>
              <a:t>AB</a:t>
            </a:r>
            <a:r>
              <a:rPr sz="1500" b="1" baseline="30000">
                <a:solidFill>
                  <a:srgbClr val="142B33"/>
                </a:solidFill>
                <a:latin typeface="Calibri"/>
              </a:rPr>
              <a:t>2</a:t>
            </a:r>
            <a:r>
              <a:rPr sz="1500" b="0">
                <a:solidFill>
                  <a:srgbClr val="142B33"/>
                </a:solidFill>
                <a:latin typeface="Calibri"/>
              </a:rPr>
              <a:t> (I)</a:t>
            </a:r>
          </a:p>
          <a:p>
            <a:pPr marL="320040" indent="-320040">
              <a:spcAft>
                <a:spcPts val="600"/>
              </a:spcAft>
              <a:buClr>
                <a:srgbClr val="E36414"/>
              </a:buClr>
              <a:buFont typeface="Arial"/>
              <a:buChar char="•"/>
            </a:pPr>
            <a:r>
              <a:rPr sz="1500" b="0">
                <a:solidFill>
                  <a:srgbClr val="142B33"/>
                </a:solidFill>
                <a:latin typeface="Calibri"/>
              </a:rPr>
              <a:t>Diagonales ↙ (de derecha a izquierda): </a:t>
            </a:r>
            <a:r>
              <a:rPr sz="1500" b="1">
                <a:solidFill>
                  <a:srgbClr val="142B33"/>
                </a:solidFill>
                <a:latin typeface="Calibri"/>
              </a:rPr>
              <a:t>AB</a:t>
            </a:r>
            <a:r>
              <a:rPr sz="1500" b="0">
                <a:solidFill>
                  <a:srgbClr val="142B33"/>
                </a:solidFill>
                <a:latin typeface="Calibri"/>
              </a:rPr>
              <a:t> (J)</a:t>
            </a:r>
          </a:p>
          <a:p>
            <a:pPr marL="320040" indent="-320040">
              <a:spcAft>
                <a:spcPts val="600"/>
              </a:spcAft>
              <a:buClr>
                <a:srgbClr val="E36414"/>
              </a:buClr>
              <a:buFont typeface="Arial"/>
              <a:buChar char="•"/>
            </a:pPr>
            <a:r>
              <a:rPr sz="1500" b="0">
                <a:solidFill>
                  <a:srgbClr val="142B33"/>
                </a:solidFill>
                <a:latin typeface="Calibri"/>
              </a:rPr>
              <a:t>Celda central (1, 1): 1 + 2·1 = 0 (mod 3) → Q en el cuadrado b</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Componentes de interacción</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14</a:t>
            </a:r>
          </a:p>
        </p:txBody>
      </p:sp>
      <p:sp>
        <p:nvSpPr>
          <p:cNvPr id="9" name="Rounded Rectangle 8"/>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2 · Componentes de interacción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La convención de exponentes: el primero siempre es 1</a:t>
            </a:r>
          </a:p>
        </p:txBody>
      </p:sp>
      <p:sp>
        <p:nvSpPr>
          <p:cNvPr id="3" name="Rounded Rectangle 2"/>
          <p:cNvSpPr/>
          <p:nvPr/>
        </p:nvSpPr>
        <p:spPr>
          <a:xfrm>
            <a:off x="548640" y="1417320"/>
            <a:ext cx="5341467" cy="656092"/>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2200" b="0">
                <a:solidFill>
                  <a:srgbClr val="0F4C5C"/>
                </a:solidFill>
                <a:latin typeface="Cambria Math"/>
              </a:rPr>
              <a:t>A</a:t>
            </a:r>
            <a:r>
              <a:rPr sz="2200" b="0" baseline="30000">
                <a:solidFill>
                  <a:srgbClr val="0F4C5C"/>
                </a:solidFill>
                <a:latin typeface="Cambria Math"/>
              </a:rPr>
              <a:t>2</a:t>
            </a:r>
            <a:r>
              <a:rPr sz="2200" b="0">
                <a:solidFill>
                  <a:srgbClr val="0F4C5C"/>
                </a:solidFill>
                <a:latin typeface="Cambria Math"/>
              </a:rPr>
              <a:t>B = (A</a:t>
            </a:r>
            <a:r>
              <a:rPr sz="2200" b="0" baseline="30000">
                <a:solidFill>
                  <a:srgbClr val="0F4C5C"/>
                </a:solidFill>
                <a:latin typeface="Cambria Math"/>
              </a:rPr>
              <a:t>2</a:t>
            </a:r>
            <a:r>
              <a:rPr sz="2200" b="0">
                <a:solidFill>
                  <a:srgbClr val="0F4C5C"/>
                </a:solidFill>
                <a:latin typeface="Cambria Math"/>
              </a:rPr>
              <a:t>B)</a:t>
            </a:r>
            <a:r>
              <a:rPr sz="2200" b="0" baseline="30000">
                <a:solidFill>
                  <a:srgbClr val="0F4C5C"/>
                </a:solidFill>
                <a:latin typeface="Cambria Math"/>
              </a:rPr>
              <a:t>2</a:t>
            </a:r>
            <a:r>
              <a:rPr sz="2200" b="0">
                <a:solidFill>
                  <a:srgbClr val="0F4C5C"/>
                </a:solidFill>
                <a:latin typeface="Cambria Math"/>
              </a:rPr>
              <a:t> = A</a:t>
            </a:r>
            <a:r>
              <a:rPr sz="2200" b="0" baseline="30000">
                <a:solidFill>
                  <a:srgbClr val="0F4C5C"/>
                </a:solidFill>
                <a:latin typeface="Cambria Math"/>
              </a:rPr>
              <a:t>4</a:t>
            </a:r>
            <a:r>
              <a:rPr sz="2200" b="0">
                <a:solidFill>
                  <a:srgbClr val="0F4C5C"/>
                </a:solidFill>
                <a:latin typeface="Cambria Math"/>
              </a:rPr>
              <a:t>B</a:t>
            </a:r>
            <a:r>
              <a:rPr sz="2200" b="0" baseline="30000">
                <a:solidFill>
                  <a:srgbClr val="0F4C5C"/>
                </a:solidFill>
                <a:latin typeface="Cambria Math"/>
              </a:rPr>
              <a:t>2</a:t>
            </a:r>
            <a:r>
              <a:rPr sz="2200" b="0">
                <a:solidFill>
                  <a:srgbClr val="0F4C5C"/>
                </a:solidFill>
                <a:latin typeface="Cambria Math"/>
              </a:rPr>
              <a:t> = AB</a:t>
            </a:r>
            <a:r>
              <a:rPr sz="2200" b="0" baseline="30000">
                <a:solidFill>
                  <a:srgbClr val="0F4C5C"/>
                </a:solidFill>
                <a:latin typeface="Cambria Math"/>
              </a:rPr>
              <a:t>2</a:t>
            </a:r>
          </a:p>
        </p:txBody>
      </p:sp>
      <p:sp>
        <p:nvSpPr>
          <p:cNvPr id="4" name="TextBox 3"/>
          <p:cNvSpPr txBox="1"/>
          <p:nvPr/>
        </p:nvSpPr>
        <p:spPr>
          <a:xfrm>
            <a:off x="548640" y="2274580"/>
            <a:ext cx="5341467" cy="1238504"/>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600" b="0">
                <a:solidFill>
                  <a:srgbClr val="142B33"/>
                </a:solidFill>
                <a:latin typeface="Calibri"/>
              </a:rPr>
              <a:t>Multiplicar las letras sumando exponentes</a:t>
            </a:r>
          </a:p>
          <a:p>
            <a:pPr marL="320040" indent="-320040">
              <a:spcAft>
                <a:spcPts val="600"/>
              </a:spcAft>
              <a:buClr>
                <a:srgbClr val="E36414"/>
              </a:buClr>
              <a:buFont typeface="+mj-lt"/>
              <a:buAutoNum type="arabicPeriod"/>
            </a:pPr>
            <a:r>
              <a:rPr sz="1600" b="0">
                <a:solidFill>
                  <a:srgbClr val="142B33"/>
                </a:solidFill>
                <a:latin typeface="Calibri"/>
              </a:rPr>
              <a:t>Reducir cada exponente </a:t>
            </a:r>
            <a:r>
              <a:rPr sz="1600" b="1">
                <a:solidFill>
                  <a:srgbClr val="142B33"/>
                </a:solidFill>
                <a:latin typeface="Calibri"/>
              </a:rPr>
              <a:t>módulo 3</a:t>
            </a:r>
            <a:r>
              <a:rPr sz="1600" b="0">
                <a:solidFill>
                  <a:srgbClr val="142B33"/>
                </a:solidFill>
                <a:latin typeface="Calibri"/>
              </a:rPr>
              <a:t> (A</a:t>
            </a:r>
            <a:r>
              <a:rPr sz="1600" b="0" baseline="30000">
                <a:solidFill>
                  <a:srgbClr val="142B33"/>
                </a:solidFill>
                <a:latin typeface="Calibri"/>
              </a:rPr>
              <a:t>3</a:t>
            </a:r>
            <a:r>
              <a:rPr sz="1600" b="0">
                <a:solidFill>
                  <a:srgbClr val="142B33"/>
                </a:solidFill>
                <a:latin typeface="Calibri"/>
              </a:rPr>
              <a:t> = I desaparece)</a:t>
            </a:r>
          </a:p>
          <a:p>
            <a:pPr marL="320040" indent="-320040">
              <a:spcAft>
                <a:spcPts val="600"/>
              </a:spcAft>
              <a:buClr>
                <a:srgbClr val="E36414"/>
              </a:buClr>
              <a:buFont typeface="+mj-lt"/>
              <a:buAutoNum type="arabicPeriod"/>
            </a:pPr>
            <a:r>
              <a:rPr sz="1600" b="0">
                <a:solidFill>
                  <a:srgbClr val="142B33"/>
                </a:solidFill>
                <a:latin typeface="Calibri"/>
              </a:rPr>
              <a:t>Si la primera letra queda con exponente 2, </a:t>
            </a:r>
            <a:r>
              <a:rPr sz="1600" b="1">
                <a:solidFill>
                  <a:srgbClr val="142B33"/>
                </a:solidFill>
                <a:latin typeface="Calibri"/>
              </a:rPr>
              <a:t>elevar todo al cuadrado</a:t>
            </a:r>
            <a:r>
              <a:rPr sz="1600" b="0">
                <a:solidFill>
                  <a:srgbClr val="142B33"/>
                </a:solidFill>
                <a:latin typeface="Calibri"/>
              </a:rPr>
              <a:t> y reducir otra vez</a:t>
            </a:r>
          </a:p>
        </p:txBody>
      </p:sp>
      <p:graphicFrame>
        <p:nvGraphicFramePr>
          <p:cNvPr id="5" name="Table 4"/>
          <p:cNvGraphicFramePr>
            <a:graphicFrameLocks noGrp="1"/>
          </p:cNvGraphicFramePr>
          <p:nvPr/>
        </p:nvGraphicFramePr>
        <p:xfrm>
          <a:off x="6301587" y="1417320"/>
          <a:ext cx="5341466" cy="1756410"/>
        </p:xfrm>
        <a:graphic>
          <a:graphicData uri="http://schemas.openxmlformats.org/drawingml/2006/table">
            <a:tbl>
              <a:tblPr firstRow="0" bandRow="0">
                <a:tableStyleId>{5C22544A-7EE6-4342-B048-85BDC9FD1C3A}</a:tableStyleId>
              </a:tblPr>
              <a:tblGrid>
                <a:gridCol w="2474481"/>
                <a:gridCol w="2866985"/>
              </a:tblGrid>
              <a:tr h="351282">
                <a:tc>
                  <a:txBody>
                    <a:bodyPr/>
                    <a:lstStyle/>
                    <a:p>
                      <a:pPr algn="ctr"/>
                      <a:r>
                        <a:rPr sz="1500" b="1">
                          <a:solidFill>
                            <a:srgbClr val="FFFFFF"/>
                          </a:solidFill>
                          <a:latin typeface="Calibri"/>
                        </a:rPr>
                        <a:t>Expresión</a:t>
                      </a:r>
                    </a:p>
                  </a:txBody>
                  <a:tcPr marL="73152" marR="73152" marT="27432" marB="27432" anchor="ctr">
                    <a:solidFill>
                      <a:srgbClr val="0F4C5C"/>
                    </a:solidFill>
                  </a:tcPr>
                </a:tc>
                <a:tc>
                  <a:txBody>
                    <a:bodyPr/>
                    <a:lstStyle/>
                    <a:p>
                      <a:pPr algn="ctr"/>
                      <a:r>
                        <a:rPr sz="1500" b="1">
                          <a:solidFill>
                            <a:srgbClr val="FFFFFF"/>
                          </a:solidFill>
                          <a:latin typeface="Calibri"/>
                        </a:rPr>
                        <a:t>Normalizada</a:t>
                      </a:r>
                    </a:p>
                  </a:txBody>
                  <a:tcPr marL="73152" marR="73152" marT="27432" marB="27432" anchor="ctr">
                    <a:solidFill>
                      <a:srgbClr val="0F4C5C"/>
                    </a:solidFill>
                  </a:tcPr>
                </a:tc>
              </a:tr>
              <a:tr h="351282">
                <a:tc>
                  <a:txBody>
                    <a:bodyPr/>
                    <a:lstStyle/>
                    <a:p>
                      <a:pPr algn="ctr"/>
                      <a:r>
                        <a:rPr sz="1500" b="0">
                          <a:solidFill>
                            <a:srgbClr val="142B33"/>
                          </a:solidFill>
                          <a:latin typeface="Calibri"/>
                        </a:rPr>
                        <a:t>A</a:t>
                      </a:r>
                      <a:r>
                        <a:rPr sz="1500" b="0" baseline="30000">
                          <a:solidFill>
                            <a:srgbClr val="142B33"/>
                          </a:solidFill>
                          <a:latin typeface="Calibri"/>
                        </a:rPr>
                        <a:t>2</a:t>
                      </a:r>
                      <a:r>
                        <a:rPr sz="1500" b="0">
                          <a:solidFill>
                            <a:srgbClr val="142B33"/>
                          </a:solidFill>
                          <a:latin typeface="Calibri"/>
                        </a:rPr>
                        <a:t>B</a:t>
                      </a:r>
                    </a:p>
                  </a:txBody>
                  <a:tcPr marL="73152" marR="73152" marT="27432" marB="27432" anchor="ctr">
                    <a:solidFill>
                      <a:srgbClr val="FFFFFF"/>
                    </a:solidFill>
                  </a:tcPr>
                </a:tc>
                <a:tc>
                  <a:txBody>
                    <a:bodyPr/>
                    <a:lstStyle/>
                    <a:p>
                      <a:pPr algn="ctr"/>
                      <a:r>
                        <a:rPr sz="1500" b="0">
                          <a:solidFill>
                            <a:srgbClr val="142B33"/>
                          </a:solidFill>
                          <a:latin typeface="Calibri"/>
                        </a:rPr>
                        <a:t>AB</a:t>
                      </a:r>
                      <a:r>
                        <a:rPr sz="1500" b="0" baseline="30000">
                          <a:solidFill>
                            <a:srgbClr val="142B33"/>
                          </a:solidFill>
                          <a:latin typeface="Calibri"/>
                        </a:rPr>
                        <a:t>2</a:t>
                      </a:r>
                    </a:p>
                  </a:txBody>
                  <a:tcPr marL="73152" marR="73152" marT="27432" marB="27432" anchor="ctr">
                    <a:solidFill>
                      <a:srgbClr val="FFFFFF"/>
                    </a:solidFill>
                  </a:tcPr>
                </a:tc>
              </a:tr>
              <a:tr h="351282">
                <a:tc>
                  <a:txBody>
                    <a:bodyPr/>
                    <a:lstStyle/>
                    <a:p>
                      <a:pPr algn="ctr"/>
                      <a:r>
                        <a:rPr sz="1500" b="0">
                          <a:solidFill>
                            <a:srgbClr val="142B33"/>
                          </a:solidFill>
                          <a:latin typeface="Calibri"/>
                        </a:rPr>
                        <a:t>A</a:t>
                      </a:r>
                      <a:r>
                        <a:rPr sz="1500" b="0" baseline="30000">
                          <a:solidFill>
                            <a:srgbClr val="142B33"/>
                          </a:solidFill>
                          <a:latin typeface="Calibri"/>
                        </a:rPr>
                        <a:t>2</a:t>
                      </a:r>
                      <a:r>
                        <a:rPr sz="1500" b="0">
                          <a:solidFill>
                            <a:srgbClr val="142B33"/>
                          </a:solidFill>
                          <a:latin typeface="Calibri"/>
                        </a:rPr>
                        <a:t>BCD</a:t>
                      </a:r>
                    </a:p>
                  </a:txBody>
                  <a:tcPr marL="73152" marR="73152" marT="27432" marB="27432" anchor="ctr">
                    <a:solidFill>
                      <a:srgbClr val="F4F8F9"/>
                    </a:solidFill>
                  </a:tcPr>
                </a:tc>
                <a:tc>
                  <a:txBody>
                    <a:bodyPr/>
                    <a:lstStyle/>
                    <a:p>
                      <a:pPr algn="ctr"/>
                      <a:r>
                        <a:rPr sz="1500" b="0">
                          <a:solidFill>
                            <a:srgbClr val="142B33"/>
                          </a:solidFill>
                          <a:latin typeface="Calibri"/>
                        </a:rPr>
                        <a:t>AB</a:t>
                      </a:r>
                      <a:r>
                        <a:rPr sz="1500" b="0" baseline="30000">
                          <a:solidFill>
                            <a:srgbClr val="142B33"/>
                          </a:solidFill>
                          <a:latin typeface="Calibri"/>
                        </a:rPr>
                        <a:t>2</a:t>
                      </a:r>
                      <a:r>
                        <a:rPr sz="1500" b="0">
                          <a:solidFill>
                            <a:srgbClr val="142B33"/>
                          </a:solidFill>
                          <a:latin typeface="Calibri"/>
                        </a:rPr>
                        <a:t>C</a:t>
                      </a:r>
                      <a:r>
                        <a:rPr sz="1500" b="0" baseline="30000">
                          <a:solidFill>
                            <a:srgbClr val="142B33"/>
                          </a:solidFill>
                          <a:latin typeface="Calibri"/>
                        </a:rPr>
                        <a:t>2</a:t>
                      </a:r>
                      <a:r>
                        <a:rPr sz="1500" b="0">
                          <a:solidFill>
                            <a:srgbClr val="142B33"/>
                          </a:solidFill>
                          <a:latin typeface="Calibri"/>
                        </a:rPr>
                        <a:t>D</a:t>
                      </a:r>
                      <a:r>
                        <a:rPr sz="1500" b="0" baseline="30000">
                          <a:solidFill>
                            <a:srgbClr val="142B33"/>
                          </a:solidFill>
                          <a:latin typeface="Calibri"/>
                        </a:rPr>
                        <a:t>2</a:t>
                      </a:r>
                    </a:p>
                  </a:txBody>
                  <a:tcPr marL="73152" marR="73152" marT="27432" marB="27432" anchor="ctr">
                    <a:solidFill>
                      <a:srgbClr val="F4F8F9"/>
                    </a:solidFill>
                  </a:tcPr>
                </a:tc>
              </a:tr>
              <a:tr h="351282">
                <a:tc>
                  <a:txBody>
                    <a:bodyPr/>
                    <a:lstStyle/>
                    <a:p>
                      <a:pPr algn="ctr"/>
                      <a:r>
                        <a:rPr sz="1500" b="0">
                          <a:solidFill>
                            <a:srgbClr val="142B33"/>
                          </a:solidFill>
                          <a:latin typeface="Calibri"/>
                        </a:rPr>
                        <a:t>B</a:t>
                      </a:r>
                      <a:r>
                        <a:rPr sz="1500" b="0" baseline="30000">
                          <a:solidFill>
                            <a:srgbClr val="142B33"/>
                          </a:solidFill>
                          <a:latin typeface="Calibri"/>
                        </a:rPr>
                        <a:t>2</a:t>
                      </a:r>
                      <a:r>
                        <a:rPr sz="1500" b="0">
                          <a:solidFill>
                            <a:srgbClr val="142B33"/>
                          </a:solidFill>
                          <a:latin typeface="Calibri"/>
                        </a:rPr>
                        <a:t>CD (sin A)</a:t>
                      </a:r>
                    </a:p>
                  </a:txBody>
                  <a:tcPr marL="73152" marR="73152" marT="27432" marB="27432" anchor="ctr">
                    <a:solidFill>
                      <a:srgbClr val="FFFFFF"/>
                    </a:solidFill>
                  </a:tcPr>
                </a:tc>
                <a:tc>
                  <a:txBody>
                    <a:bodyPr/>
                    <a:lstStyle/>
                    <a:p>
                      <a:pPr algn="ctr"/>
                      <a:r>
                        <a:rPr sz="1500" b="0">
                          <a:solidFill>
                            <a:srgbClr val="142B33"/>
                          </a:solidFill>
                          <a:latin typeface="Calibri"/>
                        </a:rPr>
                        <a:t>BC</a:t>
                      </a:r>
                      <a:r>
                        <a:rPr sz="1500" b="0" baseline="30000">
                          <a:solidFill>
                            <a:srgbClr val="142B33"/>
                          </a:solidFill>
                          <a:latin typeface="Calibri"/>
                        </a:rPr>
                        <a:t>2</a:t>
                      </a:r>
                      <a:r>
                        <a:rPr sz="1500" b="0">
                          <a:solidFill>
                            <a:srgbClr val="142B33"/>
                          </a:solidFill>
                          <a:latin typeface="Calibri"/>
                        </a:rPr>
                        <a:t>D</a:t>
                      </a:r>
                      <a:r>
                        <a:rPr sz="1500" b="0" baseline="30000">
                          <a:solidFill>
                            <a:srgbClr val="142B33"/>
                          </a:solidFill>
                          <a:latin typeface="Calibri"/>
                        </a:rPr>
                        <a:t>2</a:t>
                      </a:r>
                    </a:p>
                  </a:txBody>
                  <a:tcPr marL="73152" marR="73152" marT="27432" marB="27432" anchor="ctr">
                    <a:solidFill>
                      <a:srgbClr val="FFFFFF"/>
                    </a:solidFill>
                  </a:tcPr>
                </a:tc>
              </a:tr>
              <a:tr h="351282">
                <a:tc>
                  <a:txBody>
                    <a:bodyPr/>
                    <a:lstStyle/>
                    <a:p>
                      <a:pPr algn="ctr"/>
                      <a:r>
                        <a:rPr sz="1500" b="0">
                          <a:solidFill>
                            <a:srgbClr val="142B33"/>
                          </a:solidFill>
                          <a:latin typeface="Calibri"/>
                        </a:rPr>
                        <a:t>A</a:t>
                      </a:r>
                      <a:r>
                        <a:rPr sz="1500" b="0" baseline="30000">
                          <a:solidFill>
                            <a:srgbClr val="142B33"/>
                          </a:solidFill>
                          <a:latin typeface="Calibri"/>
                        </a:rPr>
                        <a:t>3</a:t>
                      </a:r>
                      <a:r>
                        <a:rPr sz="1500" b="0">
                          <a:solidFill>
                            <a:srgbClr val="142B33"/>
                          </a:solidFill>
                          <a:latin typeface="Calibri"/>
                        </a:rPr>
                        <a:t>B</a:t>
                      </a:r>
                      <a:r>
                        <a:rPr sz="1500" b="0" baseline="30000">
                          <a:solidFill>
                            <a:srgbClr val="142B33"/>
                          </a:solidFill>
                          <a:latin typeface="Calibri"/>
                        </a:rPr>
                        <a:t>2</a:t>
                      </a:r>
                      <a:r>
                        <a:rPr sz="1500" b="0">
                          <a:solidFill>
                            <a:srgbClr val="142B33"/>
                          </a:solidFill>
                          <a:latin typeface="Calibri"/>
                        </a:rPr>
                        <a:t>C</a:t>
                      </a:r>
                    </a:p>
                  </a:txBody>
                  <a:tcPr marL="73152" marR="73152" marT="27432" marB="27432" anchor="ctr">
                    <a:solidFill>
                      <a:srgbClr val="F4F8F9"/>
                    </a:solidFill>
                  </a:tcPr>
                </a:tc>
                <a:tc>
                  <a:txBody>
                    <a:bodyPr/>
                    <a:lstStyle/>
                    <a:p>
                      <a:pPr algn="ctr"/>
                      <a:r>
                        <a:rPr sz="1500" b="0">
                          <a:solidFill>
                            <a:srgbClr val="142B33"/>
                          </a:solidFill>
                          <a:latin typeface="Calibri"/>
                        </a:rPr>
                        <a:t>BC</a:t>
                      </a:r>
                      <a:r>
                        <a:rPr sz="1500" b="0" baseline="30000">
                          <a:solidFill>
                            <a:srgbClr val="142B33"/>
                          </a:solidFill>
                          <a:latin typeface="Calibri"/>
                        </a:rPr>
                        <a:t>2</a:t>
                      </a:r>
                    </a:p>
                  </a:txBody>
                  <a:tcPr marL="73152" marR="73152" marT="27432" marB="27432" anchor="ctr">
                    <a:solidFill>
                      <a:srgbClr val="F4F8F9"/>
                    </a:solidFill>
                  </a:tcPr>
                </a:tc>
              </a:tr>
            </a:tbl>
          </a:graphicData>
        </a:graphic>
      </p:graphicFrame>
      <p:sp>
        <p:nvSpPr>
          <p:cNvPr id="6" name="Rounded Rectangle 5"/>
          <p:cNvSpPr/>
          <p:nvPr/>
        </p:nvSpPr>
        <p:spPr>
          <a:xfrm>
            <a:off x="6301587" y="3374898"/>
            <a:ext cx="5341467"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Mismo grupo de celdas, etiquetas permutadas: x</a:t>
            </a:r>
            <a:r>
              <a:rPr sz="1400" b="0" baseline="-25000">
                <a:solidFill>
                  <a:srgbClr val="142B33"/>
                </a:solidFill>
                <a:latin typeface="Calibri"/>
              </a:rPr>
              <a:t>1</a:t>
            </a:r>
            <a:r>
              <a:rPr sz="1400" b="0">
                <a:solidFill>
                  <a:srgbClr val="142B33"/>
                </a:solidFill>
                <a:latin typeface="Calibri"/>
              </a:rPr>
              <a:t> + 2x</a:t>
            </a:r>
            <a:r>
              <a:rPr sz="1400" b="0" baseline="-25000">
                <a:solidFill>
                  <a:srgbClr val="142B33"/>
                </a:solidFill>
                <a:latin typeface="Calibri"/>
              </a:rPr>
              <a:t>2</a:t>
            </a:r>
            <a:r>
              <a:rPr sz="1400" b="0">
                <a:solidFill>
                  <a:srgbClr val="142B33"/>
                </a:solidFill>
                <a:latin typeface="Calibri"/>
              </a:rPr>
              <a:t> y 2x</a:t>
            </a:r>
            <a:r>
              <a:rPr sz="1400" b="0" baseline="-25000">
                <a:solidFill>
                  <a:srgbClr val="142B33"/>
                </a:solidFill>
                <a:latin typeface="Calibri"/>
              </a:rPr>
              <a:t>1</a:t>
            </a:r>
            <a:r>
              <a:rPr sz="1400" b="0">
                <a:solidFill>
                  <a:srgbClr val="142B33"/>
                </a:solidFill>
                <a:latin typeface="Calibri"/>
              </a:rPr>
              <a:t> + x</a:t>
            </a:r>
            <a:r>
              <a:rPr sz="1400" b="0" baseline="-25000">
                <a:solidFill>
                  <a:srgbClr val="142B33"/>
                </a:solidFill>
                <a:latin typeface="Calibri"/>
              </a:rPr>
              <a:t>2</a:t>
            </a:r>
            <a:r>
              <a:rPr sz="1400" b="0">
                <a:solidFill>
                  <a:srgbClr val="142B33"/>
                </a:solidFill>
                <a:latin typeface="Calibri"/>
              </a:rPr>
              <a:t> son la </a:t>
            </a:r>
            <a:r>
              <a:rPr sz="1400" b="1">
                <a:solidFill>
                  <a:srgbClr val="142B33"/>
                </a:solidFill>
                <a:latin typeface="Calibri"/>
              </a:rPr>
              <a:t>misma partición</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Componentes de interacción</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15</a:t>
            </a:r>
          </a:p>
        </p:txBody>
      </p:sp>
      <p:sp>
        <p:nvSpPr>
          <p:cNvPr id="9" name="Rounded Rectangle 8"/>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2 · Componentes de interacción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Tres factores: los componentes W, X, Y, Z de ABC</a:t>
            </a:r>
          </a:p>
        </p:txBody>
      </p:sp>
      <p:sp>
        <p:nvSpPr>
          <p:cNvPr id="3" name="Rounded Rectangle 2"/>
          <p:cNvSpPr/>
          <p:nvPr/>
        </p:nvSpPr>
        <p:spPr>
          <a:xfrm>
            <a:off x="548640" y="1417320"/>
            <a:ext cx="4807320" cy="159316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900" b="0">
                <a:solidFill>
                  <a:srgbClr val="0F4C5C"/>
                </a:solidFill>
                <a:latin typeface="Cambria Math"/>
              </a:rPr>
              <a:t>W(ABC) = AB</a:t>
            </a:r>
            <a:r>
              <a:rPr sz="1900" b="0" baseline="30000">
                <a:solidFill>
                  <a:srgbClr val="0F4C5C"/>
                </a:solidFill>
                <a:latin typeface="Cambria Math"/>
              </a:rPr>
              <a:t>2</a:t>
            </a:r>
            <a:r>
              <a:rPr sz="1900" b="0">
                <a:solidFill>
                  <a:srgbClr val="0F4C5C"/>
                </a:solidFill>
                <a:latin typeface="Cambria Math"/>
              </a:rPr>
              <a:t>C</a:t>
            </a:r>
            <a:r>
              <a:rPr sz="1900" b="0" baseline="30000">
                <a:solidFill>
                  <a:srgbClr val="0F4C5C"/>
                </a:solidFill>
                <a:latin typeface="Cambria Math"/>
              </a:rPr>
              <a:t>2</a:t>
            </a:r>
          </a:p>
          <a:p>
            <a:pPr algn="ctr"/>
            <a:r>
              <a:rPr sz="1900" b="0">
                <a:solidFill>
                  <a:srgbClr val="0F4C5C"/>
                </a:solidFill>
                <a:latin typeface="Cambria Math"/>
              </a:rPr>
              <a:t>X(ABC) = AB</a:t>
            </a:r>
            <a:r>
              <a:rPr sz="1900" b="0" baseline="30000">
                <a:solidFill>
                  <a:srgbClr val="0F4C5C"/>
                </a:solidFill>
                <a:latin typeface="Cambria Math"/>
              </a:rPr>
              <a:t>2</a:t>
            </a:r>
            <a:r>
              <a:rPr sz="1900" b="0">
                <a:solidFill>
                  <a:srgbClr val="0F4C5C"/>
                </a:solidFill>
                <a:latin typeface="Cambria Math"/>
              </a:rPr>
              <a:t>C</a:t>
            </a:r>
          </a:p>
          <a:p>
            <a:pPr algn="ctr"/>
            <a:r>
              <a:rPr sz="1900" b="0">
                <a:solidFill>
                  <a:srgbClr val="0F4C5C"/>
                </a:solidFill>
                <a:latin typeface="Cambria Math"/>
              </a:rPr>
              <a:t>Y(ABC) = ABC</a:t>
            </a:r>
            <a:r>
              <a:rPr sz="1900" b="0" baseline="30000">
                <a:solidFill>
                  <a:srgbClr val="0F4C5C"/>
                </a:solidFill>
                <a:latin typeface="Cambria Math"/>
              </a:rPr>
              <a:t>2</a:t>
            </a:r>
          </a:p>
          <a:p>
            <a:pPr algn="ctr"/>
            <a:r>
              <a:rPr sz="1900" b="0">
                <a:solidFill>
                  <a:srgbClr val="0F4C5C"/>
                </a:solidFill>
                <a:latin typeface="Cambria Math"/>
              </a:rPr>
              <a:t>Z(ABC) = ABC</a:t>
            </a:r>
          </a:p>
        </p:txBody>
      </p:sp>
      <p:sp>
        <p:nvSpPr>
          <p:cNvPr id="4" name="Rounded Rectangle 3"/>
          <p:cNvSpPr/>
          <p:nvPr/>
        </p:nvSpPr>
        <p:spPr>
          <a:xfrm>
            <a:off x="548640" y="3211657"/>
            <a:ext cx="4807320"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Cada componente tiene </a:t>
            </a:r>
            <a:r>
              <a:rPr sz="1500" b="1">
                <a:solidFill>
                  <a:srgbClr val="142B33"/>
                </a:solidFill>
                <a:latin typeface="Calibri"/>
              </a:rPr>
              <a:t>2 g.l.</a:t>
            </a:r>
            <a:r>
              <a:rPr sz="1500" b="0">
                <a:solidFill>
                  <a:srgbClr val="142B33"/>
                </a:solidFill>
                <a:latin typeface="Calibri"/>
              </a:rPr>
              <a:t>; los cuatro suman los </a:t>
            </a:r>
            <a:r>
              <a:rPr sz="1500" b="1">
                <a:solidFill>
                  <a:srgbClr val="142B33"/>
                </a:solidFill>
                <a:latin typeface="Calibri"/>
              </a:rPr>
              <a:t>8 g.l.</a:t>
            </a:r>
            <a:r>
              <a:rPr sz="1500" b="0">
                <a:solidFill>
                  <a:srgbClr val="142B33"/>
                </a:solidFill>
                <a:latin typeface="Calibri"/>
              </a:rPr>
              <a:t> de ABC</a:t>
            </a:r>
          </a:p>
        </p:txBody>
      </p:sp>
      <p:graphicFrame>
        <p:nvGraphicFramePr>
          <p:cNvPr id="5" name="Table 4"/>
          <p:cNvGraphicFramePr>
            <a:graphicFrameLocks noGrp="1"/>
          </p:cNvGraphicFramePr>
          <p:nvPr/>
        </p:nvGraphicFramePr>
        <p:xfrm>
          <a:off x="5767440" y="1417320"/>
          <a:ext cx="5875613" cy="1756410"/>
        </p:xfrm>
        <a:graphic>
          <a:graphicData uri="http://schemas.openxmlformats.org/drawingml/2006/table">
            <a:tbl>
              <a:tblPr firstRow="0" bandRow="0">
                <a:tableStyleId>{5C22544A-7EE6-4342-B048-85BDC9FD1C3A}</a:tableStyleId>
              </a:tblPr>
              <a:tblGrid>
                <a:gridCol w="1468903"/>
                <a:gridCol w="881342"/>
                <a:gridCol w="3525368"/>
              </a:tblGrid>
              <a:tr h="351282">
                <a:tc>
                  <a:txBody>
                    <a:bodyPr/>
                    <a:lstStyle/>
                    <a:p>
                      <a:pPr algn="l"/>
                      <a:r>
                        <a:rPr sz="1500" b="1">
                          <a:solidFill>
                            <a:srgbClr val="FFFFFF"/>
                          </a:solidFill>
                          <a:latin typeface="Calibri"/>
                        </a:rPr>
                        <a:t>Interacción</a:t>
                      </a:r>
                    </a:p>
                  </a:txBody>
                  <a:tcPr marL="73152" marR="73152" marT="27432" marB="27432" anchor="ctr">
                    <a:solidFill>
                      <a:srgbClr val="0F4C5C"/>
                    </a:solidFill>
                  </a:tcPr>
                </a:tc>
                <a:tc>
                  <a:txBody>
                    <a:bodyPr/>
                    <a:lstStyle/>
                    <a:p>
                      <a:pPr algn="ctr"/>
                      <a:r>
                        <a:rPr sz="1500" b="1">
                          <a:solidFill>
                            <a:srgbClr val="FFFFFF"/>
                          </a:solidFill>
                          <a:latin typeface="Calibri"/>
                        </a:rPr>
                        <a:t>g.l.</a:t>
                      </a:r>
                    </a:p>
                  </a:txBody>
                  <a:tcPr marL="73152" marR="73152" marT="27432" marB="27432" anchor="ctr">
                    <a:solidFill>
                      <a:srgbClr val="0F4C5C"/>
                    </a:solidFill>
                  </a:tcPr>
                </a:tc>
                <a:tc>
                  <a:txBody>
                    <a:bodyPr/>
                    <a:lstStyle/>
                    <a:p>
                      <a:pPr algn="ctr"/>
                      <a:r>
                        <a:rPr sz="1500" b="1">
                          <a:solidFill>
                            <a:srgbClr val="FFFFFF"/>
                          </a:solidFill>
                          <a:latin typeface="Calibri"/>
                        </a:rPr>
                        <a:t>Componentes de 2 g.l.</a:t>
                      </a:r>
                    </a:p>
                  </a:txBody>
                  <a:tcPr marL="73152" marR="73152" marT="27432" marB="27432" anchor="ctr">
                    <a:solidFill>
                      <a:srgbClr val="0F4C5C"/>
                    </a:solidFill>
                  </a:tcPr>
                </a:tc>
              </a:tr>
              <a:tr h="351282">
                <a:tc>
                  <a:txBody>
                    <a:bodyPr/>
                    <a:lstStyle/>
                    <a:p>
                      <a:pPr algn="l"/>
                      <a:r>
                        <a:rPr sz="1500" b="0">
                          <a:solidFill>
                            <a:srgbClr val="142B33"/>
                          </a:solidFill>
                          <a:latin typeface="Calibri"/>
                        </a:rPr>
                        <a:t>AB</a:t>
                      </a:r>
                    </a:p>
                  </a:txBody>
                  <a:tcPr marL="73152" marR="73152" marT="27432" marB="27432" anchor="ctr">
                    <a:solidFill>
                      <a:srgbClr val="FFFFFF"/>
                    </a:solidFill>
                  </a:tcPr>
                </a:tc>
                <a:tc>
                  <a:txBody>
                    <a:bodyPr/>
                    <a:lstStyle/>
                    <a:p>
                      <a:pPr algn="ctr"/>
                      <a:r>
                        <a:rPr sz="1500" b="0">
                          <a:solidFill>
                            <a:srgbClr val="142B33"/>
                          </a:solidFill>
                          <a:latin typeface="Calibri"/>
                        </a:rPr>
                        <a:t>4</a:t>
                      </a:r>
                    </a:p>
                  </a:txBody>
                  <a:tcPr marL="73152" marR="73152" marT="27432" marB="27432" anchor="ctr">
                    <a:solidFill>
                      <a:srgbClr val="FFFFFF"/>
                    </a:solidFill>
                  </a:tcPr>
                </a:tc>
                <a:tc>
                  <a:txBody>
                    <a:bodyPr/>
                    <a:lstStyle/>
                    <a:p>
                      <a:pPr algn="ctr"/>
                      <a:r>
                        <a:rPr sz="1500" b="0">
                          <a:solidFill>
                            <a:srgbClr val="142B33"/>
                          </a:solidFill>
                          <a:latin typeface="Calibri"/>
                        </a:rPr>
                        <a:t>2: AB, AB</a:t>
                      </a:r>
                      <a:r>
                        <a:rPr sz="1500" b="0" baseline="30000">
                          <a:solidFill>
                            <a:srgbClr val="142B33"/>
                          </a:solidFill>
                          <a:latin typeface="Calibri"/>
                        </a:rPr>
                        <a:t>2</a:t>
                      </a:r>
                    </a:p>
                  </a:txBody>
                  <a:tcPr marL="73152" marR="73152" marT="27432" marB="27432" anchor="ctr">
                    <a:solidFill>
                      <a:srgbClr val="FFFFFF"/>
                    </a:solidFill>
                  </a:tcPr>
                </a:tc>
              </a:tr>
              <a:tr h="351282">
                <a:tc>
                  <a:txBody>
                    <a:bodyPr/>
                    <a:lstStyle/>
                    <a:p>
                      <a:pPr algn="l"/>
                      <a:r>
                        <a:rPr sz="1500" b="0">
                          <a:solidFill>
                            <a:srgbClr val="142B33"/>
                          </a:solidFill>
                          <a:latin typeface="Calibri"/>
                        </a:rPr>
                        <a:t>ABC</a:t>
                      </a:r>
                    </a:p>
                  </a:txBody>
                  <a:tcPr marL="73152" marR="73152" marT="27432" marB="27432" anchor="ctr">
                    <a:solidFill>
                      <a:srgbClr val="F4F8F9"/>
                    </a:solidFill>
                  </a:tcPr>
                </a:tc>
                <a:tc>
                  <a:txBody>
                    <a:bodyPr/>
                    <a:lstStyle/>
                    <a:p>
                      <a:pPr algn="ctr"/>
                      <a:r>
                        <a:rPr sz="1500" b="0">
                          <a:solidFill>
                            <a:srgbClr val="142B33"/>
                          </a:solidFill>
                          <a:latin typeface="Calibri"/>
                        </a:rPr>
                        <a:t>8</a:t>
                      </a:r>
                    </a:p>
                  </a:txBody>
                  <a:tcPr marL="73152" marR="73152" marT="27432" marB="27432" anchor="ctr">
                    <a:solidFill>
                      <a:srgbClr val="F4F8F9"/>
                    </a:solidFill>
                  </a:tcPr>
                </a:tc>
                <a:tc>
                  <a:txBody>
                    <a:bodyPr/>
                    <a:lstStyle/>
                    <a:p>
                      <a:pPr algn="ctr"/>
                      <a:r>
                        <a:rPr sz="1500" b="0">
                          <a:solidFill>
                            <a:srgbClr val="142B33"/>
                          </a:solidFill>
                          <a:latin typeface="Calibri"/>
                        </a:rPr>
                        <a:t>4: W, X, Y, Z</a:t>
                      </a:r>
                    </a:p>
                  </a:txBody>
                  <a:tcPr marL="73152" marR="73152" marT="27432" marB="27432" anchor="ctr">
                    <a:solidFill>
                      <a:srgbClr val="F4F8F9"/>
                    </a:solidFill>
                  </a:tcPr>
                </a:tc>
              </a:tr>
              <a:tr h="351282">
                <a:tc>
                  <a:txBody>
                    <a:bodyPr/>
                    <a:lstStyle/>
                    <a:p>
                      <a:pPr algn="l"/>
                      <a:r>
                        <a:rPr sz="1500" b="0">
                          <a:solidFill>
                            <a:srgbClr val="142B33"/>
                          </a:solidFill>
                          <a:latin typeface="Calibri"/>
                        </a:rPr>
                        <a:t>ABCD</a:t>
                      </a:r>
                    </a:p>
                  </a:txBody>
                  <a:tcPr marL="73152" marR="73152" marT="27432" marB="27432" anchor="ctr">
                    <a:solidFill>
                      <a:srgbClr val="FFFFFF"/>
                    </a:solidFill>
                  </a:tcPr>
                </a:tc>
                <a:tc>
                  <a:txBody>
                    <a:bodyPr/>
                    <a:lstStyle/>
                    <a:p>
                      <a:pPr algn="ctr"/>
                      <a:r>
                        <a:rPr sz="1500" b="0">
                          <a:solidFill>
                            <a:srgbClr val="142B33"/>
                          </a:solidFill>
                          <a:latin typeface="Calibri"/>
                        </a:rPr>
                        <a:t>16</a:t>
                      </a:r>
                    </a:p>
                  </a:txBody>
                  <a:tcPr marL="73152" marR="73152" marT="27432" marB="27432" anchor="ctr">
                    <a:solidFill>
                      <a:srgbClr val="FFFFFF"/>
                    </a:solidFill>
                  </a:tcPr>
                </a:tc>
                <a:tc>
                  <a:txBody>
                    <a:bodyPr/>
                    <a:lstStyle/>
                    <a:p>
                      <a:pPr algn="ctr"/>
                      <a:r>
                        <a:rPr sz="1500" b="0">
                          <a:solidFill>
                            <a:srgbClr val="142B33"/>
                          </a:solidFill>
                          <a:latin typeface="Calibri"/>
                        </a:rPr>
                        <a:t>8: ABCD, ABCD</a:t>
                      </a:r>
                      <a:r>
                        <a:rPr sz="1500" b="0" baseline="30000">
                          <a:solidFill>
                            <a:srgbClr val="142B33"/>
                          </a:solidFill>
                          <a:latin typeface="Calibri"/>
                        </a:rPr>
                        <a:t>2</a:t>
                      </a:r>
                      <a:r>
                        <a:rPr sz="1500" b="0">
                          <a:solidFill>
                            <a:srgbClr val="142B33"/>
                          </a:solidFill>
                          <a:latin typeface="Calibri"/>
                        </a:rPr>
                        <a:t>, …, AB</a:t>
                      </a:r>
                      <a:r>
                        <a:rPr sz="1500" b="0" baseline="30000">
                          <a:solidFill>
                            <a:srgbClr val="142B33"/>
                          </a:solidFill>
                          <a:latin typeface="Calibri"/>
                        </a:rPr>
                        <a:t>2</a:t>
                      </a:r>
                      <a:r>
                        <a:rPr sz="1500" b="0">
                          <a:solidFill>
                            <a:srgbClr val="142B33"/>
                          </a:solidFill>
                          <a:latin typeface="Calibri"/>
                        </a:rPr>
                        <a:t>C</a:t>
                      </a:r>
                      <a:r>
                        <a:rPr sz="1500" b="0" baseline="30000">
                          <a:solidFill>
                            <a:srgbClr val="142B33"/>
                          </a:solidFill>
                          <a:latin typeface="Calibri"/>
                        </a:rPr>
                        <a:t>2</a:t>
                      </a:r>
                      <a:r>
                        <a:rPr sz="1500" b="0">
                          <a:solidFill>
                            <a:srgbClr val="142B33"/>
                          </a:solidFill>
                          <a:latin typeface="Calibri"/>
                        </a:rPr>
                        <a:t>D</a:t>
                      </a:r>
                      <a:r>
                        <a:rPr sz="1500" b="0" baseline="30000">
                          <a:solidFill>
                            <a:srgbClr val="142B33"/>
                          </a:solidFill>
                          <a:latin typeface="Calibri"/>
                        </a:rPr>
                        <a:t>2</a:t>
                      </a:r>
                    </a:p>
                  </a:txBody>
                  <a:tcPr marL="73152" marR="73152" marT="27432" marB="27432" anchor="ctr">
                    <a:solidFill>
                      <a:srgbClr val="FFFFFF"/>
                    </a:solidFill>
                  </a:tcPr>
                </a:tc>
              </a:tr>
              <a:tr h="351282">
                <a:tc>
                  <a:txBody>
                    <a:bodyPr/>
                    <a:lstStyle/>
                    <a:p>
                      <a:pPr algn="l"/>
                      <a:r>
                        <a:rPr sz="1500" b="0">
                          <a:solidFill>
                            <a:srgbClr val="142B33"/>
                          </a:solidFill>
                          <a:latin typeface="Calibri"/>
                        </a:rPr>
                        <a:t>h factores</a:t>
                      </a:r>
                    </a:p>
                  </a:txBody>
                  <a:tcPr marL="73152" marR="73152" marT="27432" marB="27432" anchor="ctr">
                    <a:solidFill>
                      <a:srgbClr val="F4F8F9"/>
                    </a:solidFill>
                  </a:tcPr>
                </a:tc>
                <a:tc>
                  <a:txBody>
                    <a:bodyPr/>
                    <a:lstStyle/>
                    <a:p>
                      <a:pPr algn="ctr"/>
                      <a:r>
                        <a:rPr sz="1500" b="0">
                          <a:solidFill>
                            <a:srgbClr val="142B33"/>
                          </a:solidFill>
                          <a:latin typeface="Calibri"/>
                        </a:rPr>
                        <a:t>2</a:t>
                      </a:r>
                      <a:r>
                        <a:rPr sz="1500" b="0" baseline="30000">
                          <a:solidFill>
                            <a:srgbClr val="142B33"/>
                          </a:solidFill>
                          <a:latin typeface="Calibri"/>
                        </a:rPr>
                        <a:t>h</a:t>
                      </a:r>
                    </a:p>
                  </a:txBody>
                  <a:tcPr marL="73152" marR="73152" marT="27432" marB="27432" anchor="ctr">
                    <a:solidFill>
                      <a:srgbClr val="F4F8F9"/>
                    </a:solidFill>
                  </a:tcPr>
                </a:tc>
                <a:tc>
                  <a:txBody>
                    <a:bodyPr/>
                    <a:lstStyle/>
                    <a:p>
                      <a:pPr algn="ctr"/>
                      <a:r>
                        <a:rPr sz="1500" b="0">
                          <a:solidFill>
                            <a:srgbClr val="142B33"/>
                          </a:solidFill>
                          <a:latin typeface="Calibri"/>
                        </a:rPr>
                        <a:t>2</a:t>
                      </a:r>
                      <a:r>
                        <a:rPr sz="1500" b="0" baseline="30000">
                          <a:solidFill>
                            <a:srgbClr val="142B33"/>
                          </a:solidFill>
                          <a:latin typeface="Calibri"/>
                        </a:rPr>
                        <a:t>h−1</a:t>
                      </a:r>
                    </a:p>
                  </a:txBody>
                  <a:tcPr marL="73152" marR="73152" marT="27432" marB="27432" anchor="ctr">
                    <a:solidFill>
                      <a:srgbClr val="F4F8F9"/>
                    </a:solidFill>
                  </a:tcPr>
                </a:tc>
              </a:tr>
            </a:tbl>
          </a:graphicData>
        </a:graphic>
      </p:graphicFrame>
      <p:sp>
        <p:nvSpPr>
          <p:cNvPr id="6" name="Rounded Rectangle 5"/>
          <p:cNvSpPr/>
          <p:nvPr/>
        </p:nvSpPr>
        <p:spPr>
          <a:xfrm>
            <a:off x="5767440" y="3374898"/>
            <a:ext cx="5875614" cy="491235"/>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Sin interpretación práctica; útiles para </a:t>
            </a:r>
            <a:r>
              <a:rPr sz="1400" b="1">
                <a:solidFill>
                  <a:srgbClr val="142B33"/>
                </a:solidFill>
                <a:latin typeface="Calibri"/>
              </a:rPr>
              <a:t>construir</a:t>
            </a:r>
            <a:r>
              <a:rPr sz="1400" b="0">
                <a:solidFill>
                  <a:srgbClr val="142B33"/>
                </a:solidFill>
                <a:latin typeface="Calibri"/>
              </a:rPr>
              <a:t> diseños</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Componentes de interacción</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16</a:t>
            </a:r>
          </a:p>
        </p:txBody>
      </p:sp>
      <p:sp>
        <p:nvSpPr>
          <p:cNvPr id="9" name="Rounded Rectangle 8"/>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2 · Componentes de interacción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Cómo se calcula un componente: la regla L mod 3 con los totales</a:t>
            </a:r>
          </a:p>
        </p:txBody>
      </p:sp>
      <p:sp>
        <p:nvSpPr>
          <p:cNvPr id="3" name="TextBox 2"/>
          <p:cNvSpPr txBox="1"/>
          <p:nvPr/>
        </p:nvSpPr>
        <p:spPr>
          <a:xfrm>
            <a:off x="548640" y="1417320"/>
            <a:ext cx="5341467" cy="1486407"/>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600" b="0">
                <a:solidFill>
                  <a:srgbClr val="142B33"/>
                </a:solidFill>
                <a:latin typeface="Calibri"/>
              </a:rPr>
              <a:t>Para cada corrida, calcular </a:t>
            </a:r>
            <a:r>
              <a:rPr sz="1600" b="1">
                <a:solidFill>
                  <a:srgbClr val="142B33"/>
                </a:solidFill>
                <a:latin typeface="Calibri"/>
              </a:rPr>
              <a:t>L = Σ α</a:t>
            </a:r>
            <a:r>
              <a:rPr sz="1600" b="1" baseline="-25000">
                <a:solidFill>
                  <a:srgbClr val="142B33"/>
                </a:solidFill>
                <a:latin typeface="Calibri"/>
              </a:rPr>
              <a:t>i</a:t>
            </a:r>
            <a:r>
              <a:rPr sz="1600" b="1">
                <a:solidFill>
                  <a:srgbClr val="142B33"/>
                </a:solidFill>
                <a:latin typeface="Calibri"/>
              </a:rPr>
              <a:t> x</a:t>
            </a:r>
            <a:r>
              <a:rPr sz="1600" b="1" baseline="-25000">
                <a:solidFill>
                  <a:srgbClr val="142B33"/>
                </a:solidFill>
                <a:latin typeface="Calibri"/>
              </a:rPr>
              <a:t>i</a:t>
            </a:r>
            <a:r>
              <a:rPr sz="1600" b="1">
                <a:solidFill>
                  <a:srgbClr val="142B33"/>
                </a:solidFill>
                <a:latin typeface="Calibri"/>
              </a:rPr>
              <a:t> (mod 3)</a:t>
            </a:r>
            <a:r>
              <a:rPr sz="1600" b="0">
                <a:solidFill>
                  <a:srgbClr val="142B33"/>
                </a:solidFill>
                <a:latin typeface="Calibri"/>
              </a:rPr>
              <a:t> con los exponentes del componente</a:t>
            </a:r>
          </a:p>
          <a:p>
            <a:pPr marL="320040" indent="-320040">
              <a:spcAft>
                <a:spcPts val="600"/>
              </a:spcAft>
              <a:buClr>
                <a:srgbClr val="E36414"/>
              </a:buClr>
              <a:buFont typeface="+mj-lt"/>
              <a:buAutoNum type="arabicPeriod"/>
            </a:pPr>
            <a:r>
              <a:rPr sz="1600" b="0">
                <a:solidFill>
                  <a:srgbClr val="142B33"/>
                </a:solidFill>
                <a:latin typeface="Calibri"/>
              </a:rPr>
              <a:t>Agrupar las corridas por L = 0, 1, 2 y sumar: </a:t>
            </a:r>
            <a:r>
              <a:rPr sz="1600" b="1">
                <a:solidFill>
                  <a:srgbClr val="142B33"/>
                </a:solidFill>
                <a:latin typeface="Calibri"/>
              </a:rPr>
              <a:t>T</a:t>
            </a:r>
            <a:r>
              <a:rPr sz="1600" b="1" baseline="-25000">
                <a:solidFill>
                  <a:srgbClr val="142B33"/>
                </a:solidFill>
                <a:latin typeface="Calibri"/>
              </a:rPr>
              <a:t>0</a:t>
            </a:r>
            <a:r>
              <a:rPr sz="1600" b="1">
                <a:solidFill>
                  <a:srgbClr val="142B33"/>
                </a:solidFill>
                <a:latin typeface="Calibri"/>
              </a:rPr>
              <a:t>, T</a:t>
            </a:r>
            <a:r>
              <a:rPr sz="1600" b="1" baseline="-25000">
                <a:solidFill>
                  <a:srgbClr val="142B33"/>
                </a:solidFill>
                <a:latin typeface="Calibri"/>
              </a:rPr>
              <a:t>1</a:t>
            </a:r>
            <a:r>
              <a:rPr sz="1600" b="1">
                <a:solidFill>
                  <a:srgbClr val="142B33"/>
                </a:solidFill>
                <a:latin typeface="Calibri"/>
              </a:rPr>
              <a:t>, T</a:t>
            </a:r>
            <a:r>
              <a:rPr sz="1600" b="1" baseline="-25000">
                <a:solidFill>
                  <a:srgbClr val="142B33"/>
                </a:solidFill>
                <a:latin typeface="Calibri"/>
              </a:rPr>
              <a:t>2</a:t>
            </a:r>
          </a:p>
          <a:p>
            <a:pPr marL="320040" indent="-320040">
              <a:spcAft>
                <a:spcPts val="600"/>
              </a:spcAft>
              <a:buClr>
                <a:srgbClr val="E36414"/>
              </a:buClr>
              <a:buFont typeface="+mj-lt"/>
              <a:buAutoNum type="arabicPeriod"/>
            </a:pPr>
            <a:r>
              <a:rPr sz="1600" b="0">
                <a:solidFill>
                  <a:srgbClr val="142B33"/>
                </a:solidFill>
                <a:latin typeface="Calibri"/>
              </a:rPr>
              <a:t>​</a:t>
            </a:r>
            <a:r>
              <a:rPr sz="1600" b="1">
                <a:solidFill>
                  <a:srgbClr val="142B33"/>
                </a:solidFill>
                <a:latin typeface="Calibri"/>
              </a:rPr>
              <a:t>SS = (T</a:t>
            </a:r>
            <a:r>
              <a:rPr sz="1600" b="1" baseline="-25000">
                <a:solidFill>
                  <a:srgbClr val="142B33"/>
                </a:solidFill>
                <a:latin typeface="Calibri"/>
              </a:rPr>
              <a:t>0</a:t>
            </a:r>
            <a:r>
              <a:rPr sz="1600" b="1">
                <a:solidFill>
                  <a:srgbClr val="142B33"/>
                </a:solidFill>
                <a:latin typeface="Calibri"/>
              </a:rPr>
              <a:t>² + T</a:t>
            </a:r>
            <a:r>
              <a:rPr sz="1600" b="1" baseline="-25000">
                <a:solidFill>
                  <a:srgbClr val="142B33"/>
                </a:solidFill>
                <a:latin typeface="Calibri"/>
              </a:rPr>
              <a:t>1</a:t>
            </a:r>
            <a:r>
              <a:rPr sz="1600" b="1">
                <a:solidFill>
                  <a:srgbClr val="142B33"/>
                </a:solidFill>
                <a:latin typeface="Calibri"/>
              </a:rPr>
              <a:t>² + T</a:t>
            </a:r>
            <a:r>
              <a:rPr sz="1600" b="1" baseline="-25000">
                <a:solidFill>
                  <a:srgbClr val="142B33"/>
                </a:solidFill>
                <a:latin typeface="Calibri"/>
              </a:rPr>
              <a:t>2</a:t>
            </a:r>
            <a:r>
              <a:rPr sz="1600" b="1">
                <a:solidFill>
                  <a:srgbClr val="142B33"/>
                </a:solidFill>
                <a:latin typeface="Calibri"/>
              </a:rPr>
              <a:t>²) / (N/3) − y</a:t>
            </a:r>
            <a:r>
              <a:rPr sz="1600" b="1" baseline="-25000">
                <a:solidFill>
                  <a:srgbClr val="142B33"/>
                </a:solidFill>
                <a:latin typeface="Calibri"/>
              </a:rPr>
              <a:t>…</a:t>
            </a:r>
            <a:r>
              <a:rPr sz="1600" b="1">
                <a:solidFill>
                  <a:srgbClr val="142B33"/>
                </a:solidFill>
                <a:latin typeface="Calibri"/>
              </a:rPr>
              <a:t>² / N</a:t>
            </a:r>
            <a:r>
              <a:rPr sz="1600" b="0">
                <a:solidFill>
                  <a:srgbClr val="142B33"/>
                </a:solidFill>
                <a:latin typeface="Calibri"/>
              </a:rPr>
              <a:t>, con 2 g.l.</a:t>
            </a:r>
          </a:p>
        </p:txBody>
      </p:sp>
      <p:graphicFrame>
        <p:nvGraphicFramePr>
          <p:cNvPr id="4" name="Table 3"/>
          <p:cNvGraphicFramePr>
            <a:graphicFrameLocks noGrp="1"/>
          </p:cNvGraphicFramePr>
          <p:nvPr/>
        </p:nvGraphicFramePr>
        <p:xfrm>
          <a:off x="6301587" y="1417320"/>
          <a:ext cx="5341467" cy="2458974"/>
        </p:xfrm>
        <a:graphic>
          <a:graphicData uri="http://schemas.openxmlformats.org/drawingml/2006/table">
            <a:tbl>
              <a:tblPr firstRow="0" bandRow="0">
                <a:tableStyleId>{5C22544A-7EE6-4342-B048-85BDC9FD1C3A}</a:tableStyleId>
              </a:tblPr>
              <a:tblGrid>
                <a:gridCol w="2587273"/>
                <a:gridCol w="2754194"/>
              </a:tblGrid>
              <a:tr h="351282">
                <a:tc>
                  <a:txBody>
                    <a:bodyPr/>
                    <a:lstStyle/>
                    <a:p>
                      <a:pPr algn="ctr"/>
                      <a:r>
                        <a:rPr sz="1500" b="1">
                          <a:solidFill>
                            <a:srgbClr val="FFFFFF"/>
                          </a:solidFill>
                          <a:latin typeface="Calibri"/>
                        </a:rPr>
                        <a:t>Componente</a:t>
                      </a:r>
                    </a:p>
                  </a:txBody>
                  <a:tcPr marL="73152" marR="73152" marT="27432" marB="27432" anchor="ctr">
                    <a:solidFill>
                      <a:srgbClr val="0F4C5C"/>
                    </a:solidFill>
                  </a:tcPr>
                </a:tc>
                <a:tc>
                  <a:txBody>
                    <a:bodyPr/>
                    <a:lstStyle/>
                    <a:p>
                      <a:pPr algn="ctr"/>
                      <a:r>
                        <a:rPr sz="1500" b="1">
                          <a:solidFill>
                            <a:srgbClr val="FFFFFF"/>
                          </a:solidFill>
                          <a:latin typeface="Calibri"/>
                        </a:rPr>
                        <a:t>L (mod 3)</a:t>
                      </a:r>
                    </a:p>
                  </a:txBody>
                  <a:tcPr marL="73152" marR="73152" marT="27432" marB="27432" anchor="ctr">
                    <a:solidFill>
                      <a:srgbClr val="0F4C5C"/>
                    </a:solidFill>
                  </a:tcPr>
                </a:tc>
              </a:tr>
              <a:tr h="351282">
                <a:tc>
                  <a:txBody>
                    <a:bodyPr/>
                    <a:lstStyle/>
                    <a:p>
                      <a:pPr algn="ctr"/>
                      <a:r>
                        <a:rPr sz="1500" b="0">
                          <a:solidFill>
                            <a:srgbClr val="142B33"/>
                          </a:solidFill>
                          <a:latin typeface="Calibri"/>
                        </a:rPr>
                        <a:t>AB</a:t>
                      </a:r>
                    </a:p>
                  </a:txBody>
                  <a:tcPr marL="73152" marR="73152" marT="27432" marB="27432" anchor="ctr">
                    <a:solidFill>
                      <a:srgbClr val="FFFFFF"/>
                    </a:solidFill>
                  </a:tcPr>
                </a:tc>
                <a:tc>
                  <a:txBody>
                    <a:bodyPr/>
                    <a:lstStyle/>
                    <a:p>
                      <a:pPr algn="ctr"/>
                      <a:r>
                        <a:rPr sz="1500" b="0">
                          <a:solidFill>
                            <a:srgbClr val="142B33"/>
                          </a:solidFill>
                          <a:latin typeface="Calibri"/>
                        </a:rPr>
                        <a:t>x</a:t>
                      </a:r>
                      <a:r>
                        <a:rPr sz="1500" b="0" baseline="-25000">
                          <a:solidFill>
                            <a:srgbClr val="142B33"/>
                          </a:solidFill>
                          <a:latin typeface="Calibri"/>
                        </a:rPr>
                        <a:t>1</a:t>
                      </a:r>
                      <a:r>
                        <a:rPr sz="1500" b="0">
                          <a:solidFill>
                            <a:srgbClr val="142B33"/>
                          </a:solidFill>
                          <a:latin typeface="Calibri"/>
                        </a:rPr>
                        <a:t> + x</a:t>
                      </a:r>
                      <a:r>
                        <a:rPr sz="1500" b="0" baseline="-25000">
                          <a:solidFill>
                            <a:srgbClr val="142B33"/>
                          </a:solidFill>
                          <a:latin typeface="Calibri"/>
                        </a:rPr>
                        <a:t>2</a:t>
                      </a:r>
                    </a:p>
                  </a:txBody>
                  <a:tcPr marL="73152" marR="73152" marT="27432" marB="27432" anchor="ctr">
                    <a:solidFill>
                      <a:srgbClr val="FFFFFF"/>
                    </a:solidFill>
                  </a:tcPr>
                </a:tc>
              </a:tr>
              <a:tr h="351282">
                <a:tc>
                  <a:txBody>
                    <a:bodyPr/>
                    <a:lstStyle/>
                    <a:p>
                      <a:pPr algn="ctr"/>
                      <a:r>
                        <a:rPr sz="1500" b="0">
                          <a:solidFill>
                            <a:srgbClr val="142B33"/>
                          </a:solidFill>
                          <a:latin typeface="Calibri"/>
                        </a:rPr>
                        <a:t>AB</a:t>
                      </a:r>
                      <a:r>
                        <a:rPr sz="1500" b="0" baseline="30000">
                          <a:solidFill>
                            <a:srgbClr val="142B33"/>
                          </a:solidFill>
                          <a:latin typeface="Calibri"/>
                        </a:rPr>
                        <a:t>2</a:t>
                      </a:r>
                    </a:p>
                  </a:txBody>
                  <a:tcPr marL="73152" marR="73152" marT="27432" marB="27432" anchor="ctr">
                    <a:solidFill>
                      <a:srgbClr val="F4F8F9"/>
                    </a:solidFill>
                  </a:tcPr>
                </a:tc>
                <a:tc>
                  <a:txBody>
                    <a:bodyPr/>
                    <a:lstStyle/>
                    <a:p>
                      <a:pPr algn="ctr"/>
                      <a:r>
                        <a:rPr sz="1500" b="0">
                          <a:solidFill>
                            <a:srgbClr val="142B33"/>
                          </a:solidFill>
                          <a:latin typeface="Calibri"/>
                        </a:rPr>
                        <a:t>x</a:t>
                      </a:r>
                      <a:r>
                        <a:rPr sz="1500" b="0" baseline="-25000">
                          <a:solidFill>
                            <a:srgbClr val="142B33"/>
                          </a:solidFill>
                          <a:latin typeface="Calibri"/>
                        </a:rPr>
                        <a:t>1</a:t>
                      </a:r>
                      <a:r>
                        <a:rPr sz="1500" b="0">
                          <a:solidFill>
                            <a:srgbClr val="142B33"/>
                          </a:solidFill>
                          <a:latin typeface="Calibri"/>
                        </a:rPr>
                        <a:t> + 2x</a:t>
                      </a:r>
                      <a:r>
                        <a:rPr sz="1500" b="0" baseline="-25000">
                          <a:solidFill>
                            <a:srgbClr val="142B33"/>
                          </a:solidFill>
                          <a:latin typeface="Calibri"/>
                        </a:rPr>
                        <a:t>2</a:t>
                      </a:r>
                    </a:p>
                  </a:txBody>
                  <a:tcPr marL="73152" marR="73152" marT="27432" marB="27432" anchor="ctr">
                    <a:solidFill>
                      <a:srgbClr val="F4F8F9"/>
                    </a:solidFill>
                  </a:tcPr>
                </a:tc>
              </a:tr>
              <a:tr h="351282">
                <a:tc>
                  <a:txBody>
                    <a:bodyPr/>
                    <a:lstStyle/>
                    <a:p>
                      <a:pPr algn="ctr"/>
                      <a:r>
                        <a:rPr sz="1500" b="0">
                          <a:solidFill>
                            <a:srgbClr val="142B33"/>
                          </a:solidFill>
                          <a:latin typeface="Calibri"/>
                        </a:rPr>
                        <a:t>AB</a:t>
                      </a:r>
                      <a:r>
                        <a:rPr sz="1500" b="0" baseline="30000">
                          <a:solidFill>
                            <a:srgbClr val="142B33"/>
                          </a:solidFill>
                          <a:latin typeface="Calibri"/>
                        </a:rPr>
                        <a:t>2</a:t>
                      </a:r>
                      <a:r>
                        <a:rPr sz="1500" b="0">
                          <a:solidFill>
                            <a:srgbClr val="142B33"/>
                          </a:solidFill>
                          <a:latin typeface="Calibri"/>
                        </a:rPr>
                        <a:t>C</a:t>
                      </a:r>
                      <a:r>
                        <a:rPr sz="1500" b="0" baseline="30000">
                          <a:solidFill>
                            <a:srgbClr val="142B33"/>
                          </a:solidFill>
                          <a:latin typeface="Calibri"/>
                        </a:rPr>
                        <a:t>2</a:t>
                      </a:r>
                      <a:r>
                        <a:rPr sz="1500" b="0">
                          <a:solidFill>
                            <a:srgbClr val="142B33"/>
                          </a:solidFill>
                          <a:latin typeface="Calibri"/>
                        </a:rPr>
                        <a:t> (W)</a:t>
                      </a:r>
                    </a:p>
                  </a:txBody>
                  <a:tcPr marL="73152" marR="73152" marT="27432" marB="27432" anchor="ctr">
                    <a:solidFill>
                      <a:srgbClr val="FFFFFF"/>
                    </a:solidFill>
                  </a:tcPr>
                </a:tc>
                <a:tc>
                  <a:txBody>
                    <a:bodyPr/>
                    <a:lstStyle/>
                    <a:p>
                      <a:pPr algn="ctr"/>
                      <a:r>
                        <a:rPr sz="1500" b="0">
                          <a:solidFill>
                            <a:srgbClr val="142B33"/>
                          </a:solidFill>
                          <a:latin typeface="Calibri"/>
                        </a:rPr>
                        <a:t>x</a:t>
                      </a:r>
                      <a:r>
                        <a:rPr sz="1500" b="0" baseline="-25000">
                          <a:solidFill>
                            <a:srgbClr val="142B33"/>
                          </a:solidFill>
                          <a:latin typeface="Calibri"/>
                        </a:rPr>
                        <a:t>1</a:t>
                      </a:r>
                      <a:r>
                        <a:rPr sz="1500" b="0">
                          <a:solidFill>
                            <a:srgbClr val="142B33"/>
                          </a:solidFill>
                          <a:latin typeface="Calibri"/>
                        </a:rPr>
                        <a:t> + 2x</a:t>
                      </a:r>
                      <a:r>
                        <a:rPr sz="1500" b="0" baseline="-25000">
                          <a:solidFill>
                            <a:srgbClr val="142B33"/>
                          </a:solidFill>
                          <a:latin typeface="Calibri"/>
                        </a:rPr>
                        <a:t>2</a:t>
                      </a:r>
                      <a:r>
                        <a:rPr sz="1500" b="0">
                          <a:solidFill>
                            <a:srgbClr val="142B33"/>
                          </a:solidFill>
                          <a:latin typeface="Calibri"/>
                        </a:rPr>
                        <a:t> + 2x</a:t>
                      </a:r>
                      <a:r>
                        <a:rPr sz="1500" b="0" baseline="-25000">
                          <a:solidFill>
                            <a:srgbClr val="142B33"/>
                          </a:solidFill>
                          <a:latin typeface="Calibri"/>
                        </a:rPr>
                        <a:t>3</a:t>
                      </a:r>
                    </a:p>
                  </a:txBody>
                  <a:tcPr marL="73152" marR="73152" marT="27432" marB="27432" anchor="ctr">
                    <a:solidFill>
                      <a:srgbClr val="FFFFFF"/>
                    </a:solidFill>
                  </a:tcPr>
                </a:tc>
              </a:tr>
              <a:tr h="351282">
                <a:tc>
                  <a:txBody>
                    <a:bodyPr/>
                    <a:lstStyle/>
                    <a:p>
                      <a:pPr algn="ctr"/>
                      <a:r>
                        <a:rPr sz="1500" b="0">
                          <a:solidFill>
                            <a:srgbClr val="142B33"/>
                          </a:solidFill>
                          <a:latin typeface="Calibri"/>
                        </a:rPr>
                        <a:t>AB</a:t>
                      </a:r>
                      <a:r>
                        <a:rPr sz="1500" b="0" baseline="30000">
                          <a:solidFill>
                            <a:srgbClr val="142B33"/>
                          </a:solidFill>
                          <a:latin typeface="Calibri"/>
                        </a:rPr>
                        <a:t>2</a:t>
                      </a:r>
                      <a:r>
                        <a:rPr sz="1500" b="0">
                          <a:solidFill>
                            <a:srgbClr val="142B33"/>
                          </a:solidFill>
                          <a:latin typeface="Calibri"/>
                        </a:rPr>
                        <a:t>C (X)</a:t>
                      </a:r>
                    </a:p>
                  </a:txBody>
                  <a:tcPr marL="73152" marR="73152" marT="27432" marB="27432" anchor="ctr">
                    <a:solidFill>
                      <a:srgbClr val="F4F8F9"/>
                    </a:solidFill>
                  </a:tcPr>
                </a:tc>
                <a:tc>
                  <a:txBody>
                    <a:bodyPr/>
                    <a:lstStyle/>
                    <a:p>
                      <a:pPr algn="ctr"/>
                      <a:r>
                        <a:rPr sz="1500" b="0">
                          <a:solidFill>
                            <a:srgbClr val="142B33"/>
                          </a:solidFill>
                          <a:latin typeface="Calibri"/>
                        </a:rPr>
                        <a:t>x</a:t>
                      </a:r>
                      <a:r>
                        <a:rPr sz="1500" b="0" baseline="-25000">
                          <a:solidFill>
                            <a:srgbClr val="142B33"/>
                          </a:solidFill>
                          <a:latin typeface="Calibri"/>
                        </a:rPr>
                        <a:t>1</a:t>
                      </a:r>
                      <a:r>
                        <a:rPr sz="1500" b="0">
                          <a:solidFill>
                            <a:srgbClr val="142B33"/>
                          </a:solidFill>
                          <a:latin typeface="Calibri"/>
                        </a:rPr>
                        <a:t> + 2x</a:t>
                      </a:r>
                      <a:r>
                        <a:rPr sz="1500" b="0" baseline="-25000">
                          <a:solidFill>
                            <a:srgbClr val="142B33"/>
                          </a:solidFill>
                          <a:latin typeface="Calibri"/>
                        </a:rPr>
                        <a:t>2</a:t>
                      </a:r>
                      <a:r>
                        <a:rPr sz="1500" b="0">
                          <a:solidFill>
                            <a:srgbClr val="142B33"/>
                          </a:solidFill>
                          <a:latin typeface="Calibri"/>
                        </a:rPr>
                        <a:t> + x</a:t>
                      </a:r>
                      <a:r>
                        <a:rPr sz="1500" b="0" baseline="-25000">
                          <a:solidFill>
                            <a:srgbClr val="142B33"/>
                          </a:solidFill>
                          <a:latin typeface="Calibri"/>
                        </a:rPr>
                        <a:t>3</a:t>
                      </a:r>
                    </a:p>
                  </a:txBody>
                  <a:tcPr marL="73152" marR="73152" marT="27432" marB="27432" anchor="ctr">
                    <a:solidFill>
                      <a:srgbClr val="F4F8F9"/>
                    </a:solidFill>
                  </a:tcPr>
                </a:tc>
              </a:tr>
              <a:tr h="351282">
                <a:tc>
                  <a:txBody>
                    <a:bodyPr/>
                    <a:lstStyle/>
                    <a:p>
                      <a:pPr algn="ctr"/>
                      <a:r>
                        <a:rPr sz="1500" b="0">
                          <a:solidFill>
                            <a:srgbClr val="142B33"/>
                          </a:solidFill>
                          <a:latin typeface="Calibri"/>
                        </a:rPr>
                        <a:t>ABC</a:t>
                      </a:r>
                      <a:r>
                        <a:rPr sz="1500" b="0" baseline="30000">
                          <a:solidFill>
                            <a:srgbClr val="142B33"/>
                          </a:solidFill>
                          <a:latin typeface="Calibri"/>
                        </a:rPr>
                        <a:t>2</a:t>
                      </a:r>
                      <a:r>
                        <a:rPr sz="1500" b="0">
                          <a:solidFill>
                            <a:srgbClr val="142B33"/>
                          </a:solidFill>
                          <a:latin typeface="Calibri"/>
                        </a:rPr>
                        <a:t> (Y)</a:t>
                      </a:r>
                    </a:p>
                  </a:txBody>
                  <a:tcPr marL="73152" marR="73152" marT="27432" marB="27432" anchor="ctr">
                    <a:solidFill>
                      <a:srgbClr val="FFFFFF"/>
                    </a:solidFill>
                  </a:tcPr>
                </a:tc>
                <a:tc>
                  <a:txBody>
                    <a:bodyPr/>
                    <a:lstStyle/>
                    <a:p>
                      <a:pPr algn="ctr"/>
                      <a:r>
                        <a:rPr sz="1500" b="0">
                          <a:solidFill>
                            <a:srgbClr val="142B33"/>
                          </a:solidFill>
                          <a:latin typeface="Calibri"/>
                        </a:rPr>
                        <a:t>x</a:t>
                      </a:r>
                      <a:r>
                        <a:rPr sz="1500" b="0" baseline="-25000">
                          <a:solidFill>
                            <a:srgbClr val="142B33"/>
                          </a:solidFill>
                          <a:latin typeface="Calibri"/>
                        </a:rPr>
                        <a:t>1</a:t>
                      </a:r>
                      <a:r>
                        <a:rPr sz="1500" b="0">
                          <a:solidFill>
                            <a:srgbClr val="142B33"/>
                          </a:solidFill>
                          <a:latin typeface="Calibri"/>
                        </a:rPr>
                        <a:t> + x</a:t>
                      </a:r>
                      <a:r>
                        <a:rPr sz="1500" b="0" baseline="-25000">
                          <a:solidFill>
                            <a:srgbClr val="142B33"/>
                          </a:solidFill>
                          <a:latin typeface="Calibri"/>
                        </a:rPr>
                        <a:t>2</a:t>
                      </a:r>
                      <a:r>
                        <a:rPr sz="1500" b="0">
                          <a:solidFill>
                            <a:srgbClr val="142B33"/>
                          </a:solidFill>
                          <a:latin typeface="Calibri"/>
                        </a:rPr>
                        <a:t> + 2x</a:t>
                      </a:r>
                      <a:r>
                        <a:rPr sz="1500" b="0" baseline="-25000">
                          <a:solidFill>
                            <a:srgbClr val="142B33"/>
                          </a:solidFill>
                          <a:latin typeface="Calibri"/>
                        </a:rPr>
                        <a:t>3</a:t>
                      </a:r>
                    </a:p>
                  </a:txBody>
                  <a:tcPr marL="73152" marR="73152" marT="27432" marB="27432" anchor="ctr">
                    <a:solidFill>
                      <a:srgbClr val="FFFFFF"/>
                    </a:solidFill>
                  </a:tcPr>
                </a:tc>
              </a:tr>
              <a:tr h="351282">
                <a:tc>
                  <a:txBody>
                    <a:bodyPr/>
                    <a:lstStyle/>
                    <a:p>
                      <a:pPr algn="ctr"/>
                      <a:r>
                        <a:rPr sz="1500" b="0">
                          <a:solidFill>
                            <a:srgbClr val="142B33"/>
                          </a:solidFill>
                          <a:latin typeface="Calibri"/>
                        </a:rPr>
                        <a:t>ABC (Z)</a:t>
                      </a:r>
                    </a:p>
                  </a:txBody>
                  <a:tcPr marL="73152" marR="73152" marT="27432" marB="27432" anchor="ctr">
                    <a:solidFill>
                      <a:srgbClr val="F4F8F9"/>
                    </a:solidFill>
                  </a:tcPr>
                </a:tc>
                <a:tc>
                  <a:txBody>
                    <a:bodyPr/>
                    <a:lstStyle/>
                    <a:p>
                      <a:pPr algn="ctr"/>
                      <a:r>
                        <a:rPr sz="1500" b="0">
                          <a:solidFill>
                            <a:srgbClr val="142B33"/>
                          </a:solidFill>
                          <a:latin typeface="Calibri"/>
                        </a:rPr>
                        <a:t>x</a:t>
                      </a:r>
                      <a:r>
                        <a:rPr sz="1500" b="0" baseline="-25000">
                          <a:solidFill>
                            <a:srgbClr val="142B33"/>
                          </a:solidFill>
                          <a:latin typeface="Calibri"/>
                        </a:rPr>
                        <a:t>1</a:t>
                      </a:r>
                      <a:r>
                        <a:rPr sz="1500" b="0">
                          <a:solidFill>
                            <a:srgbClr val="142B33"/>
                          </a:solidFill>
                          <a:latin typeface="Calibri"/>
                        </a:rPr>
                        <a:t> + x</a:t>
                      </a:r>
                      <a:r>
                        <a:rPr sz="1500" b="0" baseline="-25000">
                          <a:solidFill>
                            <a:srgbClr val="142B33"/>
                          </a:solidFill>
                          <a:latin typeface="Calibri"/>
                        </a:rPr>
                        <a:t>2</a:t>
                      </a:r>
                      <a:r>
                        <a:rPr sz="1500" b="0">
                          <a:solidFill>
                            <a:srgbClr val="142B33"/>
                          </a:solidFill>
                          <a:latin typeface="Calibri"/>
                        </a:rPr>
                        <a:t> + x</a:t>
                      </a:r>
                      <a:r>
                        <a:rPr sz="1500" b="0" baseline="-25000">
                          <a:solidFill>
                            <a:srgbClr val="142B33"/>
                          </a:solidFill>
                          <a:latin typeface="Calibri"/>
                        </a:rPr>
                        <a:t>3</a:t>
                      </a:r>
                    </a:p>
                  </a:txBody>
                  <a:tcPr marL="73152" marR="73152" marT="27432" marB="27432" anchor="ctr">
                    <a:solidFill>
                      <a:srgbClr val="F4F8F9"/>
                    </a:solidFill>
                  </a:tcPr>
                </a:tc>
              </a:tr>
            </a:tbl>
          </a:graphicData>
        </a:graphic>
      </p:graphicFrame>
      <p:sp>
        <p:nvSpPr>
          <p:cNvPr id="5" name="Rounded Rectangle 4"/>
          <p:cNvSpPr/>
          <p:nvPr/>
        </p:nvSpPr>
        <p:spPr>
          <a:xfrm>
            <a:off x="6301587" y="4077462"/>
            <a:ext cx="5341467"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Método del libro: tablas C × I(AB) y C × J(AB) y sus diagonales. Mismo resultado</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Componentes de interacción</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17</a:t>
            </a:r>
          </a:p>
        </p:txBody>
      </p:sp>
      <p:sp>
        <p:nvSpPr>
          <p:cNvPr id="8" name="Rounded Rectangle 7"/>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2 · Componentes de interacción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itle 1"/>
          <p:cNvSpPr>
            <a:spLocks noGrp="1"/>
          </p:cNvSpPr>
          <p:nvPr>
            <p:ph type="title"/>
          </p:nvPr>
        </p:nvSpPr>
        <p:spPr>
          <a:xfrm>
            <a:off x="548640" y="3383280"/>
            <a:ext cx="11094415" cy="914400"/>
          </a:xfrm>
        </p:spPr>
        <p:txBody>
          <a:bodyPr wrap="square" anchor="t" lIns="0" rIns="0" tIns="0" bIns="0"/>
          <a:lstStyle/>
          <a:p>
            <a:pPr algn="l"/>
            <a:r>
              <a:rPr sz="4400" b="1">
                <a:solidFill>
                  <a:srgbClr val="FFFFFF"/>
                </a:solidFill>
                <a:latin typeface="Cambria"/>
              </a:rPr>
              <a:t>Los diseños 3</a:t>
            </a:r>
            <a:r>
              <a:rPr sz="4400" b="1" baseline="30000">
                <a:solidFill>
                  <a:srgbClr val="FFFFFF"/>
                </a:solidFill>
                <a:latin typeface="Cambria"/>
              </a:rPr>
              <a:t>2</a:t>
            </a:r>
            <a:r>
              <a:rPr sz="4400" b="1">
                <a:solidFill>
                  <a:srgbClr val="FFFFFF"/>
                </a:solidFill>
                <a:latin typeface="Cambria"/>
              </a:rPr>
              <a:t> y 3</a:t>
            </a:r>
            <a:r>
              <a:rPr sz="4400" b="1" baseline="30000">
                <a:solidFill>
                  <a:srgbClr val="FFFFFF"/>
                </a:solidFill>
                <a:latin typeface="Cambria"/>
              </a:rPr>
              <a:t>3</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3</a:t>
            </a:r>
          </a:p>
        </p:txBody>
      </p:sp>
      <p:sp>
        <p:nvSpPr>
          <p:cNvPr id="4" name="TextBox 3"/>
          <p:cNvSpPr txBox="1"/>
          <p:nvPr/>
        </p:nvSpPr>
        <p:spPr>
          <a:xfrm>
            <a:off x="548640" y="4343400"/>
            <a:ext cx="11094415" cy="548640"/>
          </a:xfrm>
          <a:prstGeom prst="rect">
            <a:avLst/>
          </a:prstGeom>
          <a:noFill/>
        </p:spPr>
        <p:txBody>
          <a:bodyPr wrap="square" anchor="t" lIns="0" rIns="0" tIns="0" bIns="0">
            <a:spAutoFit/>
          </a:bodyPr>
          <a:lstStyle/>
          <a:p>
            <a:r>
              <a:rPr sz="2000" b="0">
                <a:solidFill>
                  <a:srgbClr val="CFE3E8"/>
                </a:solidFill>
                <a:latin typeface="Calibri"/>
              </a:rPr>
              <a:t>Análisis completo con dos ejemplos del libro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1 · Enunciado: rendimiento de un proceso químico</a:t>
            </a:r>
          </a:p>
        </p:txBody>
      </p:sp>
      <p:sp>
        <p:nvSpPr>
          <p:cNvPr id="3" name="TextBox 2"/>
          <p:cNvSpPr txBox="1"/>
          <p:nvPr/>
        </p:nvSpPr>
        <p:spPr>
          <a:xfrm>
            <a:off x="548640" y="1417320"/>
            <a:ext cx="6196102" cy="1028191"/>
          </a:xfrm>
          <a:prstGeom prst="rect">
            <a:avLst/>
          </a:prstGeom>
          <a:noFill/>
        </p:spPr>
        <p:txBody>
          <a:bodyPr wrap="square" anchor="t" lIns="0" rIns="0" tIns="0" bIns="0">
            <a:spAutoFit/>
          </a:bodyPr>
          <a:lstStyle/>
          <a:p>
            <a:r>
              <a:rPr sz="1600" b="0">
                <a:solidFill>
                  <a:srgbClr val="142B33"/>
                </a:solidFill>
                <a:latin typeface="Calibri"/>
              </a:rPr>
              <a:t>En un proceso químico se quiere </a:t>
            </a:r>
            <a:r>
              <a:rPr sz="1600" b="1">
                <a:solidFill>
                  <a:srgbClr val="142B33"/>
                </a:solidFill>
                <a:latin typeface="Calibri"/>
              </a:rPr>
              <a:t>aumentar el rendimiento</a:t>
            </a:r>
            <a:r>
              <a:rPr sz="1600" b="0">
                <a:solidFill>
                  <a:srgbClr val="142B33"/>
                </a:solidFill>
                <a:latin typeface="Calibri"/>
              </a:rPr>
              <a:t> (%). Se sospecha que la temperatura y la presión influyen y que la relación no es lineal: podría haber un valor intermedio que rinda más.</a:t>
            </a:r>
          </a:p>
        </p:txBody>
      </p:sp>
      <p:sp>
        <p:nvSpPr>
          <p:cNvPr id="4" name="TextBox 3"/>
          <p:cNvSpPr txBox="1"/>
          <p:nvPr/>
        </p:nvSpPr>
        <p:spPr>
          <a:xfrm>
            <a:off x="548640" y="2646680"/>
            <a:ext cx="6196102" cy="780288"/>
          </a:xfrm>
          <a:prstGeom prst="rect">
            <a:avLst/>
          </a:prstGeom>
          <a:noFill/>
        </p:spPr>
        <p:txBody>
          <a:bodyPr wrap="square" anchor="t" lIns="0" rIns="0" tIns="0" bIns="0">
            <a:spAutoFit/>
          </a:bodyPr>
          <a:lstStyle/>
          <a:p>
            <a:r>
              <a:rPr sz="1600" b="0">
                <a:solidFill>
                  <a:srgbClr val="142B33"/>
                </a:solidFill>
                <a:latin typeface="Calibri"/>
              </a:rPr>
              <a:t>Se estudian los dos factores con tres niveles cada uno: A temperatura (80, 90 y 100 °C) y B presión (100, 120 y 140 psig). Los dos son cuantitativos y equiespaciados.</a:t>
            </a:r>
          </a:p>
        </p:txBody>
      </p:sp>
      <p:sp>
        <p:nvSpPr>
          <p:cNvPr id="5" name="TextBox 4"/>
          <p:cNvSpPr txBox="1"/>
          <p:nvPr/>
        </p:nvSpPr>
        <p:spPr>
          <a:xfrm>
            <a:off x="548640" y="3628136"/>
            <a:ext cx="6196102" cy="532384"/>
          </a:xfrm>
          <a:prstGeom prst="rect">
            <a:avLst/>
          </a:prstGeom>
          <a:noFill/>
        </p:spPr>
        <p:txBody>
          <a:bodyPr wrap="square" anchor="t" lIns="0" rIns="0" tIns="0" bIns="0">
            <a:spAutoFit/>
          </a:bodyPr>
          <a:lstStyle/>
          <a:p>
            <a:r>
              <a:rPr sz="1600" b="0">
                <a:solidFill>
                  <a:srgbClr val="142B33"/>
                </a:solidFill>
                <a:latin typeface="Calibri"/>
              </a:rPr>
              <a:t>Se corre un </a:t>
            </a:r>
            <a:r>
              <a:rPr sz="1600" b="1">
                <a:solidFill>
                  <a:srgbClr val="142B33"/>
                </a:solidFill>
                <a:latin typeface="Calibri"/>
              </a:rPr>
              <a:t>3</a:t>
            </a:r>
            <a:r>
              <a:rPr sz="1600" b="1" baseline="30000">
                <a:solidFill>
                  <a:srgbClr val="142B33"/>
                </a:solidFill>
                <a:latin typeface="Calibri"/>
              </a:rPr>
              <a:t>2</a:t>
            </a:r>
            <a:r>
              <a:rPr sz="1600" b="1">
                <a:solidFill>
                  <a:srgbClr val="142B33"/>
                </a:solidFill>
                <a:latin typeface="Calibri"/>
              </a:rPr>
              <a:t> con dos réplicas</a:t>
            </a:r>
            <a:r>
              <a:rPr sz="1600" b="0">
                <a:solidFill>
                  <a:srgbClr val="142B33"/>
                </a:solidFill>
                <a:latin typeface="Calibri"/>
              </a:rPr>
              <a:t>: 18 corridas en orden aleatorio.</a:t>
            </a:r>
          </a:p>
        </p:txBody>
      </p:sp>
      <p:sp>
        <p:nvSpPr>
          <p:cNvPr id="6" name="TextBox 5"/>
          <p:cNvSpPr txBox="1"/>
          <p:nvPr/>
        </p:nvSpPr>
        <p:spPr>
          <a:xfrm>
            <a:off x="548640" y="4361688"/>
            <a:ext cx="6196102" cy="222504"/>
          </a:xfrm>
          <a:prstGeom prst="rect">
            <a:avLst/>
          </a:prstGeom>
          <a:noFill/>
        </p:spPr>
        <p:txBody>
          <a:bodyPr wrap="square" anchor="t" lIns="0" rIns="0" tIns="0" bIns="0">
            <a:spAutoFit/>
          </a:bodyPr>
          <a:lstStyle/>
          <a:p>
            <a:r>
              <a:rPr sz="1200" b="0">
                <a:solidFill>
                  <a:srgbClr val="5B6B73"/>
                </a:solidFill>
                <a:latin typeface="Calibri"/>
              </a:rPr>
              <a:t>Fuente: Montgomery, problema 9-6</a:t>
            </a:r>
          </a:p>
        </p:txBody>
      </p:sp>
      <p:sp>
        <p:nvSpPr>
          <p:cNvPr id="7" name="Rounded Rectangle 6"/>
          <p:cNvSpPr/>
          <p:nvPr/>
        </p:nvSpPr>
        <p:spPr>
          <a:xfrm>
            <a:off x="7156222" y="1417320"/>
            <a:ext cx="4486832" cy="148183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Objetivo</a:t>
            </a:r>
          </a:p>
          <a:p>
            <a:pPr algn="l"/>
            <a:r>
              <a:rPr sz="1500" b="0">
                <a:solidFill>
                  <a:srgbClr val="142B33"/>
                </a:solidFill>
                <a:latin typeface="Calibri"/>
              </a:rPr>
              <a:t>Saber cómo afectan la temperatura y la presión al rendimiento, si hay </a:t>
            </a:r>
            <a:r>
              <a:rPr sz="1500" b="1">
                <a:solidFill>
                  <a:srgbClr val="142B33"/>
                </a:solidFill>
                <a:latin typeface="Calibri"/>
              </a:rPr>
              <a:t>curvatura</a:t>
            </a:r>
            <a:r>
              <a:rPr sz="1500" b="0">
                <a:solidFill>
                  <a:srgbClr val="142B33"/>
                </a:solidFill>
                <a:latin typeface="Calibri"/>
              </a:rPr>
              <a:t>, y dónde conviene operar</a:t>
            </a:r>
          </a:p>
        </p:txBody>
      </p:sp>
      <p:sp>
        <p:nvSpPr>
          <p:cNvPr id="8" name="TextBox 7"/>
          <p:cNvSpPr txBox="1"/>
          <p:nvPr/>
        </p:nvSpPr>
        <p:spPr>
          <a:xfrm>
            <a:off x="7156222" y="3100324"/>
            <a:ext cx="4486832" cy="299973"/>
          </a:xfrm>
          <a:prstGeom prst="rect">
            <a:avLst/>
          </a:prstGeom>
          <a:noFill/>
        </p:spPr>
        <p:txBody>
          <a:bodyPr wrap="square" anchor="t" lIns="0" rIns="0" tIns="0" bIns="0">
            <a:spAutoFit/>
          </a:bodyPr>
          <a:lstStyle/>
          <a:p>
            <a:r>
              <a:rPr sz="1700" b="1">
                <a:solidFill>
                  <a:srgbClr val="142B33"/>
                </a:solidFill>
                <a:latin typeface="Calibri"/>
              </a:rPr>
              <a:t>Se pide</a:t>
            </a:r>
          </a:p>
        </p:txBody>
      </p:sp>
      <p:sp>
        <p:nvSpPr>
          <p:cNvPr id="9" name="TextBox 8"/>
          <p:cNvSpPr txBox="1"/>
          <p:nvPr/>
        </p:nvSpPr>
        <p:spPr>
          <a:xfrm>
            <a:off x="7156222" y="3601465"/>
            <a:ext cx="4486832" cy="1956053"/>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500" b="0">
                <a:solidFill>
                  <a:srgbClr val="142B33"/>
                </a:solidFill>
                <a:latin typeface="Calibri"/>
              </a:rPr>
              <a:t>Hacer el ANOVA del 3</a:t>
            </a:r>
            <a:r>
              <a:rPr sz="1500" b="0" baseline="30000">
                <a:solidFill>
                  <a:srgbClr val="142B33"/>
                </a:solidFill>
                <a:latin typeface="Calibri"/>
              </a:rPr>
              <a:t>2</a:t>
            </a:r>
          </a:p>
          <a:p>
            <a:pPr marL="320040" indent="-320040">
              <a:spcAft>
                <a:spcPts val="600"/>
              </a:spcAft>
              <a:buClr>
                <a:srgbClr val="E36414"/>
              </a:buClr>
              <a:buFont typeface="+mj-lt"/>
              <a:buAutoNum type="arabicPeriod"/>
            </a:pPr>
            <a:r>
              <a:rPr sz="1500" b="0">
                <a:solidFill>
                  <a:srgbClr val="142B33"/>
                </a:solidFill>
                <a:latin typeface="Calibri"/>
              </a:rPr>
              <a:t>Partir los efectos en componentes lineal y cuadrático</a:t>
            </a:r>
          </a:p>
          <a:p>
            <a:pPr marL="320040" indent="-320040">
              <a:spcAft>
                <a:spcPts val="600"/>
              </a:spcAft>
              <a:buClr>
                <a:srgbClr val="E36414"/>
              </a:buClr>
              <a:buFont typeface="+mj-lt"/>
              <a:buAutoNum type="arabicPeriod"/>
            </a:pPr>
            <a:r>
              <a:rPr sz="1500" b="0">
                <a:solidFill>
                  <a:srgbClr val="142B33"/>
                </a:solidFill>
                <a:latin typeface="Calibri"/>
              </a:rPr>
              <a:t>Calcular los componentes AB y AB</a:t>
            </a:r>
            <a:r>
              <a:rPr sz="1500" b="0" baseline="30000">
                <a:solidFill>
                  <a:srgbClr val="142B33"/>
                </a:solidFill>
                <a:latin typeface="Calibri"/>
              </a:rPr>
              <a:t>2</a:t>
            </a:r>
            <a:r>
              <a:rPr sz="1500" b="0">
                <a:solidFill>
                  <a:srgbClr val="142B33"/>
                </a:solidFill>
                <a:latin typeface="Calibri"/>
              </a:rPr>
              <a:t> y comprobar que suman SS</a:t>
            </a:r>
            <a:r>
              <a:rPr sz="1500" b="0" baseline="-25000">
                <a:solidFill>
                  <a:srgbClr val="142B33"/>
                </a:solidFill>
                <a:latin typeface="Calibri"/>
              </a:rPr>
              <a:t>AB</a:t>
            </a:r>
          </a:p>
          <a:p>
            <a:pPr marL="320040" indent="-320040">
              <a:spcAft>
                <a:spcPts val="600"/>
              </a:spcAft>
              <a:buClr>
                <a:srgbClr val="E36414"/>
              </a:buClr>
              <a:buFont typeface="+mj-lt"/>
              <a:buAutoNum type="arabicPeriod"/>
            </a:pPr>
            <a:r>
              <a:rPr sz="1500" b="0">
                <a:solidFill>
                  <a:srgbClr val="142B33"/>
                </a:solidFill>
                <a:latin typeface="Calibri"/>
              </a:rPr>
              <a:t>Ajustar el modelo cuadrático y recomendar las condiciones</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Los diseños 3</a:t>
            </a:r>
            <a:r>
              <a:rPr sz="1000" b="0" baseline="30000">
                <a:solidFill>
                  <a:srgbClr val="5B6B73"/>
                </a:solidFill>
                <a:latin typeface="Calibri"/>
              </a:rPr>
              <a:t>2</a:t>
            </a:r>
            <a:r>
              <a:rPr sz="1000" b="0">
                <a:solidFill>
                  <a:srgbClr val="5B6B73"/>
                </a:solidFill>
                <a:latin typeface="Calibri"/>
              </a:rPr>
              <a:t> y 3</a:t>
            </a:r>
            <a:r>
              <a:rPr sz="1000" b="0" baseline="30000">
                <a:solidFill>
                  <a:srgbClr val="5B6B73"/>
                </a:solidFill>
                <a:latin typeface="Calibri"/>
              </a:rPr>
              <a:t>3</a:t>
            </a:r>
          </a:p>
        </p:txBody>
      </p:sp>
      <p:sp>
        <p:nvSpPr>
          <p:cNvPr id="11" name="TextBox 10"/>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19</a:t>
            </a:r>
          </a:p>
        </p:txBody>
      </p:sp>
      <p:sp>
        <p:nvSpPr>
          <p:cNvPr id="12" name="Rounded Rectangle 11"/>
          <p:cNvSpPr/>
          <p:nvPr/>
        </p:nvSpPr>
        <p:spPr>
          <a:xfrm>
            <a:off x="548640" y="91440"/>
            <a:ext cx="258775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3 · Los diseños 3</a:t>
            </a:r>
            <a:r>
              <a:rPr sz="1100" b="1" baseline="30000">
                <a:solidFill>
                  <a:srgbClr val="FFFFFF"/>
                </a:solidFill>
                <a:latin typeface="Calibri"/>
              </a:rPr>
              <a:t>2</a:t>
            </a:r>
            <a:r>
              <a:rPr sz="1100" b="1">
                <a:solidFill>
                  <a:srgbClr val="FFFFFF"/>
                </a:solidFill>
                <a:latin typeface="Calibri"/>
              </a:rPr>
              <a:t> y 3</a:t>
            </a:r>
            <a:r>
              <a:rPr sz="1100" b="1" baseline="30000">
                <a:solidFill>
                  <a:srgbClr val="FFFFFF"/>
                </a:solidFill>
                <a:latin typeface="Calibri"/>
              </a:rPr>
              <a:t>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1 · Datos y ANOVA</a:t>
            </a:r>
          </a:p>
        </p:txBody>
      </p:sp>
      <p:graphicFrame>
        <p:nvGraphicFramePr>
          <p:cNvPr id="3" name="Table 2"/>
          <p:cNvGraphicFramePr>
            <a:graphicFrameLocks noGrp="1"/>
          </p:cNvGraphicFramePr>
          <p:nvPr/>
        </p:nvGraphicFramePr>
        <p:xfrm>
          <a:off x="548640" y="1417320"/>
          <a:ext cx="5341466" cy="1343152"/>
        </p:xfrm>
        <a:graphic>
          <a:graphicData uri="http://schemas.openxmlformats.org/drawingml/2006/table">
            <a:tbl>
              <a:tblPr firstRow="0" bandRow="0">
                <a:tableStyleId>{5C22544A-7EE6-4342-B048-85BDC9FD1C3A}</a:tableStyleId>
              </a:tblPr>
              <a:tblGrid>
                <a:gridCol w="1488170"/>
                <a:gridCol w="1284432"/>
                <a:gridCol w="1284432"/>
                <a:gridCol w="1284432"/>
              </a:tblGrid>
              <a:tr h="335788">
                <a:tc>
                  <a:txBody>
                    <a:bodyPr/>
                    <a:lstStyle/>
                    <a:p>
                      <a:pPr algn="ctr"/>
                      <a:r>
                        <a:rPr sz="1400" b="1">
                          <a:solidFill>
                            <a:srgbClr val="FFFFFF"/>
                          </a:solidFill>
                          <a:latin typeface="Calibri"/>
                        </a:rPr>
                        <a:t>Temperatura</a:t>
                      </a:r>
                    </a:p>
                  </a:txBody>
                  <a:tcPr marL="73152" marR="73152" marT="27432" marB="27432" anchor="ctr">
                    <a:solidFill>
                      <a:srgbClr val="0F4C5C"/>
                    </a:solidFill>
                  </a:tcPr>
                </a:tc>
                <a:tc>
                  <a:txBody>
                    <a:bodyPr/>
                    <a:lstStyle/>
                    <a:p>
                      <a:pPr algn="ctr"/>
                      <a:r>
                        <a:rPr sz="1400" b="1">
                          <a:solidFill>
                            <a:srgbClr val="FFFFFF"/>
                          </a:solidFill>
                          <a:latin typeface="Calibri"/>
                        </a:rPr>
                        <a:t>100 psig</a:t>
                      </a:r>
                    </a:p>
                  </a:txBody>
                  <a:tcPr marL="73152" marR="73152" marT="27432" marB="27432" anchor="ctr">
                    <a:solidFill>
                      <a:srgbClr val="0F4C5C"/>
                    </a:solidFill>
                  </a:tcPr>
                </a:tc>
                <a:tc>
                  <a:txBody>
                    <a:bodyPr/>
                    <a:lstStyle/>
                    <a:p>
                      <a:pPr algn="ctr"/>
                      <a:r>
                        <a:rPr sz="1400" b="1">
                          <a:solidFill>
                            <a:srgbClr val="FFFFFF"/>
                          </a:solidFill>
                          <a:latin typeface="Calibri"/>
                        </a:rPr>
                        <a:t>120 psig</a:t>
                      </a:r>
                    </a:p>
                  </a:txBody>
                  <a:tcPr marL="73152" marR="73152" marT="27432" marB="27432" anchor="ctr">
                    <a:solidFill>
                      <a:srgbClr val="0F4C5C"/>
                    </a:solidFill>
                  </a:tcPr>
                </a:tc>
                <a:tc>
                  <a:txBody>
                    <a:bodyPr/>
                    <a:lstStyle/>
                    <a:p>
                      <a:pPr algn="ctr"/>
                      <a:r>
                        <a:rPr sz="1400" b="1">
                          <a:solidFill>
                            <a:srgbClr val="FFFFFF"/>
                          </a:solidFill>
                          <a:latin typeface="Calibri"/>
                        </a:rPr>
                        <a:t>140 psig</a:t>
                      </a:r>
                    </a:p>
                  </a:txBody>
                  <a:tcPr marL="73152" marR="73152" marT="27432" marB="27432" anchor="ctr">
                    <a:solidFill>
                      <a:srgbClr val="0F4C5C"/>
                    </a:solidFill>
                  </a:tcPr>
                </a:tc>
              </a:tr>
              <a:tr h="335788">
                <a:tc>
                  <a:txBody>
                    <a:bodyPr/>
                    <a:lstStyle/>
                    <a:p>
                      <a:pPr algn="ctr"/>
                      <a:r>
                        <a:rPr sz="1400" b="0">
                          <a:solidFill>
                            <a:srgbClr val="142B33"/>
                          </a:solidFill>
                          <a:latin typeface="Calibri"/>
                        </a:rPr>
                        <a:t>80 °C</a:t>
                      </a:r>
                    </a:p>
                  </a:txBody>
                  <a:tcPr marL="73152" marR="73152" marT="27432" marB="27432" anchor="ctr">
                    <a:solidFill>
                      <a:srgbClr val="FFFFFF"/>
                    </a:solidFill>
                  </a:tcPr>
                </a:tc>
                <a:tc>
                  <a:txBody>
                    <a:bodyPr/>
                    <a:lstStyle/>
                    <a:p>
                      <a:pPr algn="ctr"/>
                      <a:r>
                        <a:rPr sz="1400" b="0">
                          <a:solidFill>
                            <a:srgbClr val="142B33"/>
                          </a:solidFill>
                          <a:latin typeface="Calibri"/>
                        </a:rPr>
                        <a:t>47.58, 48.77</a:t>
                      </a:r>
                    </a:p>
                  </a:txBody>
                  <a:tcPr marL="73152" marR="73152" marT="27432" marB="27432" anchor="ctr">
                    <a:solidFill>
                      <a:srgbClr val="FFFFFF"/>
                    </a:solidFill>
                  </a:tcPr>
                </a:tc>
                <a:tc>
                  <a:txBody>
                    <a:bodyPr/>
                    <a:lstStyle/>
                    <a:p>
                      <a:pPr algn="ctr"/>
                      <a:r>
                        <a:rPr sz="1400" b="0">
                          <a:solidFill>
                            <a:srgbClr val="142B33"/>
                          </a:solidFill>
                          <a:latin typeface="Calibri"/>
                        </a:rPr>
                        <a:t>64.97, 69.22</a:t>
                      </a:r>
                    </a:p>
                  </a:txBody>
                  <a:tcPr marL="73152" marR="73152" marT="27432" marB="27432" anchor="ctr">
                    <a:solidFill>
                      <a:srgbClr val="FFFFFF"/>
                    </a:solidFill>
                  </a:tcPr>
                </a:tc>
                <a:tc>
                  <a:txBody>
                    <a:bodyPr/>
                    <a:lstStyle/>
                    <a:p>
                      <a:pPr algn="ctr"/>
                      <a:r>
                        <a:rPr sz="1400" b="0">
                          <a:solidFill>
                            <a:srgbClr val="142B33"/>
                          </a:solidFill>
                          <a:latin typeface="Calibri"/>
                        </a:rPr>
                        <a:t>80.92, 72.60</a:t>
                      </a:r>
                    </a:p>
                  </a:txBody>
                  <a:tcPr marL="73152" marR="73152" marT="27432" marB="27432" anchor="ctr">
                    <a:solidFill>
                      <a:srgbClr val="FFFFFF"/>
                    </a:solidFill>
                  </a:tcPr>
                </a:tc>
              </a:tr>
              <a:tr h="335788">
                <a:tc>
                  <a:txBody>
                    <a:bodyPr/>
                    <a:lstStyle/>
                    <a:p>
                      <a:pPr algn="ctr"/>
                      <a:r>
                        <a:rPr sz="1400" b="0">
                          <a:solidFill>
                            <a:srgbClr val="142B33"/>
                          </a:solidFill>
                          <a:latin typeface="Calibri"/>
                        </a:rPr>
                        <a:t>90 °C</a:t>
                      </a:r>
                    </a:p>
                  </a:txBody>
                  <a:tcPr marL="73152" marR="73152" marT="27432" marB="27432" anchor="ctr">
                    <a:solidFill>
                      <a:srgbClr val="F4F8F9"/>
                    </a:solidFill>
                  </a:tcPr>
                </a:tc>
                <a:tc>
                  <a:txBody>
                    <a:bodyPr/>
                    <a:lstStyle/>
                    <a:p>
                      <a:pPr algn="ctr"/>
                      <a:r>
                        <a:rPr sz="1400" b="0">
                          <a:solidFill>
                            <a:srgbClr val="142B33"/>
                          </a:solidFill>
                          <a:latin typeface="Calibri"/>
                        </a:rPr>
                        <a:t>51.86, 82.43</a:t>
                      </a:r>
                    </a:p>
                  </a:txBody>
                  <a:tcPr marL="73152" marR="73152" marT="27432" marB="27432" anchor="ctr">
                    <a:solidFill>
                      <a:srgbClr val="F4F8F9"/>
                    </a:solidFill>
                  </a:tcPr>
                </a:tc>
                <a:tc>
                  <a:txBody>
                    <a:bodyPr/>
                    <a:lstStyle/>
                    <a:p>
                      <a:pPr algn="ctr"/>
                      <a:r>
                        <a:rPr sz="1400" b="0">
                          <a:solidFill>
                            <a:srgbClr val="142B33"/>
                          </a:solidFill>
                          <a:latin typeface="Calibri"/>
                        </a:rPr>
                        <a:t>88.47, 84.23</a:t>
                      </a:r>
                    </a:p>
                  </a:txBody>
                  <a:tcPr marL="73152" marR="73152" marT="27432" marB="27432" anchor="ctr">
                    <a:solidFill>
                      <a:srgbClr val="F4F8F9"/>
                    </a:solidFill>
                  </a:tcPr>
                </a:tc>
                <a:tc>
                  <a:txBody>
                    <a:bodyPr/>
                    <a:lstStyle/>
                    <a:p>
                      <a:pPr algn="ctr"/>
                      <a:r>
                        <a:rPr sz="1400" b="0">
                          <a:solidFill>
                            <a:srgbClr val="142B33"/>
                          </a:solidFill>
                          <a:latin typeface="Calibri"/>
                        </a:rPr>
                        <a:t>93.95, 88.54</a:t>
                      </a:r>
                    </a:p>
                  </a:txBody>
                  <a:tcPr marL="73152" marR="73152" marT="27432" marB="27432" anchor="ctr">
                    <a:solidFill>
                      <a:srgbClr val="F4F8F9"/>
                    </a:solidFill>
                  </a:tcPr>
                </a:tc>
              </a:tr>
              <a:tr h="335788">
                <a:tc>
                  <a:txBody>
                    <a:bodyPr/>
                    <a:lstStyle/>
                    <a:p>
                      <a:pPr algn="ctr"/>
                      <a:r>
                        <a:rPr sz="1400" b="0">
                          <a:solidFill>
                            <a:srgbClr val="142B33"/>
                          </a:solidFill>
                          <a:latin typeface="Calibri"/>
                        </a:rPr>
                        <a:t>100 °C</a:t>
                      </a:r>
                    </a:p>
                  </a:txBody>
                  <a:tcPr marL="73152" marR="73152" marT="27432" marB="27432" anchor="ctr">
                    <a:solidFill>
                      <a:srgbClr val="FFFFFF"/>
                    </a:solidFill>
                  </a:tcPr>
                </a:tc>
                <a:tc>
                  <a:txBody>
                    <a:bodyPr/>
                    <a:lstStyle/>
                    <a:p>
                      <a:pPr algn="ctr"/>
                      <a:r>
                        <a:rPr sz="1400" b="0">
                          <a:solidFill>
                            <a:srgbClr val="142B33"/>
                          </a:solidFill>
                          <a:latin typeface="Calibri"/>
                        </a:rPr>
                        <a:t>71.18, 92.77</a:t>
                      </a:r>
                    </a:p>
                  </a:txBody>
                  <a:tcPr marL="73152" marR="73152" marT="27432" marB="27432" anchor="ctr">
                    <a:solidFill>
                      <a:srgbClr val="FFFFFF"/>
                    </a:solidFill>
                  </a:tcPr>
                </a:tc>
                <a:tc>
                  <a:txBody>
                    <a:bodyPr/>
                    <a:lstStyle/>
                    <a:p>
                      <a:pPr algn="ctr"/>
                      <a:r>
                        <a:rPr sz="1400" b="0">
                          <a:solidFill>
                            <a:srgbClr val="142B33"/>
                          </a:solidFill>
                          <a:latin typeface="Calibri"/>
                        </a:rPr>
                        <a:t>96.57, 88.72</a:t>
                      </a:r>
                    </a:p>
                  </a:txBody>
                  <a:tcPr marL="73152" marR="73152" marT="27432" marB="27432" anchor="ctr">
                    <a:solidFill>
                      <a:srgbClr val="FFFFFF"/>
                    </a:solidFill>
                  </a:tcPr>
                </a:tc>
                <a:tc>
                  <a:txBody>
                    <a:bodyPr/>
                    <a:lstStyle/>
                    <a:p>
                      <a:pPr algn="ctr"/>
                      <a:r>
                        <a:rPr sz="1400" b="0">
                          <a:solidFill>
                            <a:srgbClr val="142B33"/>
                          </a:solidFill>
                          <a:latin typeface="Calibri"/>
                        </a:rPr>
                        <a:t>76.58, 83.04</a:t>
                      </a:r>
                    </a:p>
                  </a:txBody>
                  <a:tcPr marL="73152" marR="73152" marT="27432" marB="27432" anchor="ctr">
                    <a:solidFill>
                      <a:srgbClr val="FFFFFF"/>
                    </a:solidFill>
                  </a:tcPr>
                </a:tc>
              </a:tr>
            </a:tbl>
          </a:graphicData>
        </a:graphic>
      </p:graphicFrame>
      <p:graphicFrame>
        <p:nvGraphicFramePr>
          <p:cNvPr id="4" name="Table 3"/>
          <p:cNvGraphicFramePr>
            <a:graphicFrameLocks noGrp="1"/>
          </p:cNvGraphicFramePr>
          <p:nvPr/>
        </p:nvGraphicFramePr>
        <p:xfrm>
          <a:off x="548640" y="2961640"/>
          <a:ext cx="5341465" cy="640588"/>
        </p:xfrm>
        <a:graphic>
          <a:graphicData uri="http://schemas.openxmlformats.org/drawingml/2006/table">
            <a:tbl>
              <a:tblPr firstRow="0" bandRow="0">
                <a:tableStyleId>{5C22544A-7EE6-4342-B048-85BDC9FD1C3A}</a:tableStyleId>
              </a:tblPr>
              <a:tblGrid>
                <a:gridCol w="711735"/>
                <a:gridCol w="711735"/>
                <a:gridCol w="711735"/>
                <a:gridCol w="801565"/>
                <a:gridCol w="801565"/>
                <a:gridCol w="801565"/>
                <a:gridCol w="801565"/>
              </a:tblGrid>
              <a:tr h="320294">
                <a:tc>
                  <a:txBody>
                    <a:bodyPr/>
                    <a:lstStyle/>
                    <a:p>
                      <a:pPr algn="ctr"/>
                      <a:r>
                        <a:rPr sz="1300" b="1">
                          <a:solidFill>
                            <a:srgbClr val="FFFFFF"/>
                          </a:solidFill>
                          <a:latin typeface="Calibri"/>
                        </a:rPr>
                        <a:t>Medias</a:t>
                      </a:r>
                    </a:p>
                  </a:txBody>
                  <a:tcPr marL="73152" marR="73152" marT="27432" marB="27432" anchor="ctr">
                    <a:solidFill>
                      <a:srgbClr val="0F4C5C"/>
                    </a:solidFill>
                  </a:tcPr>
                </a:tc>
                <a:tc>
                  <a:txBody>
                    <a:bodyPr/>
                    <a:lstStyle/>
                    <a:p>
                      <a:pPr algn="ctr"/>
                      <a:r>
                        <a:rPr sz="1300" b="1">
                          <a:solidFill>
                            <a:srgbClr val="FFFFFF"/>
                          </a:solidFill>
                          <a:latin typeface="Calibri"/>
                        </a:rPr>
                        <a:t>A = 80</a:t>
                      </a:r>
                    </a:p>
                  </a:txBody>
                  <a:tcPr marL="73152" marR="73152" marT="27432" marB="27432" anchor="ctr">
                    <a:solidFill>
                      <a:srgbClr val="0F4C5C"/>
                    </a:solidFill>
                  </a:tcPr>
                </a:tc>
                <a:tc>
                  <a:txBody>
                    <a:bodyPr/>
                    <a:lstStyle/>
                    <a:p>
                      <a:pPr algn="ctr"/>
                      <a:r>
                        <a:rPr sz="1300" b="1">
                          <a:solidFill>
                            <a:srgbClr val="FFFFFF"/>
                          </a:solidFill>
                          <a:latin typeface="Calibri"/>
                        </a:rPr>
                        <a:t>A = 90</a:t>
                      </a:r>
                    </a:p>
                  </a:txBody>
                  <a:tcPr marL="73152" marR="73152" marT="27432" marB="27432" anchor="ctr">
                    <a:solidFill>
                      <a:srgbClr val="0F4C5C"/>
                    </a:solidFill>
                  </a:tcPr>
                </a:tc>
                <a:tc>
                  <a:txBody>
                    <a:bodyPr/>
                    <a:lstStyle/>
                    <a:p>
                      <a:pPr algn="ctr"/>
                      <a:r>
                        <a:rPr sz="1300" b="1">
                          <a:solidFill>
                            <a:srgbClr val="FFFFFF"/>
                          </a:solidFill>
                          <a:latin typeface="Calibri"/>
                        </a:rPr>
                        <a:t>A = 100</a:t>
                      </a:r>
                    </a:p>
                  </a:txBody>
                  <a:tcPr marL="73152" marR="73152" marT="27432" marB="27432" anchor="ctr">
                    <a:solidFill>
                      <a:srgbClr val="0F4C5C"/>
                    </a:solidFill>
                  </a:tcPr>
                </a:tc>
                <a:tc>
                  <a:txBody>
                    <a:bodyPr/>
                    <a:lstStyle/>
                    <a:p>
                      <a:pPr algn="ctr"/>
                      <a:r>
                        <a:rPr sz="1300" b="1">
                          <a:solidFill>
                            <a:srgbClr val="FFFFFF"/>
                          </a:solidFill>
                          <a:latin typeface="Calibri"/>
                        </a:rPr>
                        <a:t>B = 100</a:t>
                      </a:r>
                    </a:p>
                  </a:txBody>
                  <a:tcPr marL="73152" marR="73152" marT="27432" marB="27432" anchor="ctr">
                    <a:solidFill>
                      <a:srgbClr val="0F4C5C"/>
                    </a:solidFill>
                  </a:tcPr>
                </a:tc>
                <a:tc>
                  <a:txBody>
                    <a:bodyPr/>
                    <a:lstStyle/>
                    <a:p>
                      <a:pPr algn="ctr"/>
                      <a:r>
                        <a:rPr sz="1300" b="1">
                          <a:solidFill>
                            <a:srgbClr val="FFFFFF"/>
                          </a:solidFill>
                          <a:latin typeface="Calibri"/>
                        </a:rPr>
                        <a:t>B = 120</a:t>
                      </a:r>
                    </a:p>
                  </a:txBody>
                  <a:tcPr marL="73152" marR="73152" marT="27432" marB="27432" anchor="ctr">
                    <a:solidFill>
                      <a:srgbClr val="0F4C5C"/>
                    </a:solidFill>
                  </a:tcPr>
                </a:tc>
                <a:tc>
                  <a:txBody>
                    <a:bodyPr/>
                    <a:lstStyle/>
                    <a:p>
                      <a:pPr algn="ctr"/>
                      <a:r>
                        <a:rPr sz="1300" b="1">
                          <a:solidFill>
                            <a:srgbClr val="FFFFFF"/>
                          </a:solidFill>
                          <a:latin typeface="Calibri"/>
                        </a:rPr>
                        <a:t>B = 140</a:t>
                      </a:r>
                    </a:p>
                  </a:txBody>
                  <a:tcPr marL="73152" marR="73152" marT="27432" marB="27432" anchor="ctr">
                    <a:solidFill>
                      <a:srgbClr val="0F4C5C"/>
                    </a:solidFill>
                  </a:tcPr>
                </a:tc>
              </a:tr>
              <a:tr h="320294">
                <a:tc>
                  <a:txBody>
                    <a:bodyPr/>
                    <a:lstStyle/>
                    <a:p>
                      <a:pPr algn="ctr"/>
                      <a:r>
                        <a:rPr sz="1300" b="0">
                          <a:solidFill>
                            <a:srgbClr val="142B33"/>
                          </a:solidFill>
                          <a:latin typeface="Calibri"/>
                        </a:rPr>
                        <a:t>ȳ</a:t>
                      </a:r>
                    </a:p>
                  </a:txBody>
                  <a:tcPr marL="73152" marR="73152" marT="27432" marB="27432" anchor="ctr">
                    <a:solidFill>
                      <a:srgbClr val="FFFFFF"/>
                    </a:solidFill>
                  </a:tcPr>
                </a:tc>
                <a:tc>
                  <a:txBody>
                    <a:bodyPr/>
                    <a:lstStyle/>
                    <a:p>
                      <a:pPr algn="ctr"/>
                      <a:r>
                        <a:rPr sz="1300" b="0">
                          <a:solidFill>
                            <a:srgbClr val="142B33"/>
                          </a:solidFill>
                          <a:latin typeface="Calibri"/>
                        </a:rPr>
                        <a:t>64.0</a:t>
                      </a:r>
                    </a:p>
                  </a:txBody>
                  <a:tcPr marL="73152" marR="73152" marT="27432" marB="27432" anchor="ctr">
                    <a:solidFill>
                      <a:srgbClr val="FFFFFF"/>
                    </a:solidFill>
                  </a:tcPr>
                </a:tc>
                <a:tc>
                  <a:txBody>
                    <a:bodyPr/>
                    <a:lstStyle/>
                    <a:p>
                      <a:pPr algn="ctr"/>
                      <a:r>
                        <a:rPr sz="1300" b="0">
                          <a:solidFill>
                            <a:srgbClr val="142B33"/>
                          </a:solidFill>
                          <a:latin typeface="Calibri"/>
                        </a:rPr>
                        <a:t>81.6</a:t>
                      </a:r>
                    </a:p>
                  </a:txBody>
                  <a:tcPr marL="73152" marR="73152" marT="27432" marB="27432" anchor="ctr">
                    <a:solidFill>
                      <a:srgbClr val="FFFFFF"/>
                    </a:solidFill>
                  </a:tcPr>
                </a:tc>
                <a:tc>
                  <a:txBody>
                    <a:bodyPr/>
                    <a:lstStyle/>
                    <a:p>
                      <a:pPr algn="ctr"/>
                      <a:r>
                        <a:rPr sz="1300" b="0">
                          <a:solidFill>
                            <a:srgbClr val="142B33"/>
                          </a:solidFill>
                          <a:latin typeface="Calibri"/>
                        </a:rPr>
                        <a:t>84.8</a:t>
                      </a:r>
                    </a:p>
                  </a:txBody>
                  <a:tcPr marL="73152" marR="73152" marT="27432" marB="27432" anchor="ctr">
                    <a:solidFill>
                      <a:srgbClr val="FFFFFF"/>
                    </a:solidFill>
                  </a:tcPr>
                </a:tc>
                <a:tc>
                  <a:txBody>
                    <a:bodyPr/>
                    <a:lstStyle/>
                    <a:p>
                      <a:pPr algn="ctr"/>
                      <a:r>
                        <a:rPr sz="1300" b="0">
                          <a:solidFill>
                            <a:srgbClr val="142B33"/>
                          </a:solidFill>
                          <a:latin typeface="Calibri"/>
                        </a:rPr>
                        <a:t>65.8</a:t>
                      </a:r>
                    </a:p>
                  </a:txBody>
                  <a:tcPr marL="73152" marR="73152" marT="27432" marB="27432" anchor="ctr">
                    <a:solidFill>
                      <a:srgbClr val="FFFFFF"/>
                    </a:solidFill>
                  </a:tcPr>
                </a:tc>
                <a:tc>
                  <a:txBody>
                    <a:bodyPr/>
                    <a:lstStyle/>
                    <a:p>
                      <a:pPr algn="ctr"/>
                      <a:r>
                        <a:rPr sz="1300" b="0">
                          <a:solidFill>
                            <a:srgbClr val="142B33"/>
                          </a:solidFill>
                          <a:latin typeface="Calibri"/>
                        </a:rPr>
                        <a:t>82.0</a:t>
                      </a:r>
                    </a:p>
                  </a:txBody>
                  <a:tcPr marL="73152" marR="73152" marT="27432" marB="27432" anchor="ctr">
                    <a:solidFill>
                      <a:srgbClr val="FFFFFF"/>
                    </a:solidFill>
                  </a:tcPr>
                </a:tc>
                <a:tc>
                  <a:txBody>
                    <a:bodyPr/>
                    <a:lstStyle/>
                    <a:p>
                      <a:pPr algn="ctr"/>
                      <a:r>
                        <a:rPr sz="1300" b="0">
                          <a:solidFill>
                            <a:srgbClr val="142B33"/>
                          </a:solidFill>
                          <a:latin typeface="Calibri"/>
                        </a:rPr>
                        <a:t>82.6</a:t>
                      </a:r>
                    </a:p>
                  </a:txBody>
                  <a:tcPr marL="73152" marR="73152" marT="27432" marB="27432" anchor="ctr">
                    <a:solidFill>
                      <a:srgbClr val="FFFFFF"/>
                    </a:solidFill>
                  </a:tcPr>
                </a:tc>
              </a:tr>
            </a:tbl>
          </a:graphicData>
        </a:graphic>
      </p:graphicFrame>
      <p:graphicFrame>
        <p:nvGraphicFramePr>
          <p:cNvPr id="5" name="Table 4"/>
          <p:cNvGraphicFramePr>
            <a:graphicFrameLocks noGrp="1"/>
          </p:cNvGraphicFramePr>
          <p:nvPr/>
        </p:nvGraphicFramePr>
        <p:xfrm>
          <a:off x="6301587" y="1417320"/>
          <a:ext cx="5341465" cy="2107692"/>
        </p:xfrm>
        <a:graphic>
          <a:graphicData uri="http://schemas.openxmlformats.org/drawingml/2006/table">
            <a:tbl>
              <a:tblPr firstRow="0" bandRow="0">
                <a:tableStyleId>{5C22544A-7EE6-4342-B048-85BDC9FD1C3A}</a:tableStyleId>
              </a:tblPr>
              <a:tblGrid>
                <a:gridCol w="822607"/>
                <a:gridCol w="1041970"/>
                <a:gridCol w="559373"/>
                <a:gridCol w="932289"/>
                <a:gridCol w="712926"/>
                <a:gridCol w="1272300"/>
              </a:tblGrid>
              <a:tr h="351282">
                <a:tc>
                  <a:txBody>
                    <a:bodyPr/>
                    <a:lstStyle/>
                    <a:p>
                      <a:pPr algn="l"/>
                      <a:r>
                        <a:rPr sz="1500" b="1">
                          <a:solidFill>
                            <a:srgbClr val="FFFFFF"/>
                          </a:solidFill>
                          <a:latin typeface="Calibri"/>
                        </a:rPr>
                        <a:t>SV</a:t>
                      </a:r>
                    </a:p>
                  </a:txBody>
                  <a:tcPr marL="73152" marR="73152" marT="27432" marB="27432" anchor="ctr">
                    <a:solidFill>
                      <a:srgbClr val="0F4C5C"/>
                    </a:solidFill>
                  </a:tcPr>
                </a:tc>
                <a:tc>
                  <a:txBody>
                    <a:bodyPr/>
                    <a:lstStyle/>
                    <a:p>
                      <a:pPr algn="ctr"/>
                      <a:r>
                        <a:rPr sz="1500" b="1">
                          <a:solidFill>
                            <a:srgbClr val="FFFFFF"/>
                          </a:solidFill>
                          <a:latin typeface="Calibri"/>
                        </a:rPr>
                        <a:t>SS</a:t>
                      </a:r>
                    </a:p>
                  </a:txBody>
                  <a:tcPr marL="73152" marR="73152" marT="27432" marB="27432" anchor="ctr">
                    <a:solidFill>
                      <a:srgbClr val="0F4C5C"/>
                    </a:solidFill>
                  </a:tcPr>
                </a:tc>
                <a:tc>
                  <a:txBody>
                    <a:bodyPr/>
                    <a:lstStyle/>
                    <a:p>
                      <a:pPr algn="ctr"/>
                      <a:r>
                        <a:rPr sz="1500" b="1">
                          <a:solidFill>
                            <a:srgbClr val="FFFFFF"/>
                          </a:solidFill>
                          <a:latin typeface="Calibri"/>
                        </a:rPr>
                        <a:t>DF</a:t>
                      </a:r>
                    </a:p>
                  </a:txBody>
                  <a:tcPr marL="73152" marR="73152" marT="27432" marB="27432" anchor="ctr">
                    <a:solidFill>
                      <a:srgbClr val="0F4C5C"/>
                    </a:solidFill>
                  </a:tcPr>
                </a:tc>
                <a:tc>
                  <a:txBody>
                    <a:bodyPr/>
                    <a:lstStyle/>
                    <a:p>
                      <a:pPr algn="ctr"/>
                      <a:r>
                        <a:rPr sz="1500" b="1">
                          <a:solidFill>
                            <a:srgbClr val="FFFFFF"/>
                          </a:solidFill>
                          <a:latin typeface="Calibri"/>
                        </a:rPr>
                        <a:t>MS</a:t>
                      </a:r>
                    </a:p>
                  </a:txBody>
                  <a:tcPr marL="73152" marR="73152" marT="27432" marB="27432" anchor="ctr">
                    <a:solidFill>
                      <a:srgbClr val="0F4C5C"/>
                    </a:solidFill>
                  </a:tcPr>
                </a:tc>
                <a:tc>
                  <a:txBody>
                    <a:bodyPr/>
                    <a:lstStyle/>
                    <a:p>
                      <a:pPr algn="ctr"/>
                      <a:r>
                        <a:rPr sz="1500" b="1">
                          <a:solidFill>
                            <a:srgbClr val="FFFFFF"/>
                          </a:solidFill>
                          <a:latin typeface="Calibri"/>
                        </a:rPr>
                        <a:t>F</a:t>
                      </a:r>
                      <a:r>
                        <a:rPr sz="1500" b="1" baseline="-25000">
                          <a:solidFill>
                            <a:srgbClr val="FFFFFF"/>
                          </a:solidFill>
                          <a:latin typeface="Calibri"/>
                        </a:rPr>
                        <a:t>0</a:t>
                      </a:r>
                    </a:p>
                  </a:txBody>
                  <a:tcPr marL="73152" marR="73152" marT="27432" marB="27432" anchor="ctr">
                    <a:solidFill>
                      <a:srgbClr val="0F4C5C"/>
                    </a:solidFill>
                  </a:tcPr>
                </a:tc>
                <a:tc>
                  <a:txBody>
                    <a:bodyPr/>
                    <a:lstStyle/>
                    <a:p>
                      <a:pPr algn="ctr"/>
                      <a:r>
                        <a:rPr sz="1500" b="1">
                          <a:solidFill>
                            <a:srgbClr val="FFFFFF"/>
                          </a:solidFill>
                          <a:latin typeface="Calibri"/>
                        </a:rPr>
                        <a:t>P-Value</a:t>
                      </a:r>
                    </a:p>
                  </a:txBody>
                  <a:tcPr marL="73152" marR="73152" marT="27432" marB="27432" anchor="ctr">
                    <a:solidFill>
                      <a:srgbClr val="0F4C5C"/>
                    </a:solidFill>
                  </a:tcPr>
                </a:tc>
              </a:tr>
              <a:tr h="351282">
                <a:tc>
                  <a:txBody>
                    <a:bodyPr/>
                    <a:lstStyle/>
                    <a:p>
                      <a:pPr algn="l"/>
                      <a:r>
                        <a:rPr sz="1500" b="0">
                          <a:solidFill>
                            <a:srgbClr val="142B33"/>
                          </a:solidFill>
                          <a:latin typeface="Calibri"/>
                        </a:rPr>
                        <a:t>A</a:t>
                      </a:r>
                    </a:p>
                  </a:txBody>
                  <a:tcPr marL="73152" marR="73152" marT="27432" marB="27432" anchor="ctr">
                    <a:solidFill>
                      <a:srgbClr val="FFFFFF"/>
                    </a:solidFill>
                  </a:tcPr>
                </a:tc>
                <a:tc>
                  <a:txBody>
                    <a:bodyPr/>
                    <a:lstStyle/>
                    <a:p>
                      <a:pPr algn="ctr"/>
                      <a:r>
                        <a:rPr sz="1500" b="0">
                          <a:solidFill>
                            <a:srgbClr val="142B33"/>
                          </a:solidFill>
                          <a:latin typeface="Calibri"/>
                        </a:rPr>
                        <a:t>1503.56</a:t>
                      </a:r>
                    </a:p>
                  </a:txBody>
                  <a:tcPr marL="73152" marR="73152" marT="27432" marB="27432" anchor="ctr">
                    <a:solidFill>
                      <a:srgbClr val="FFFFFF"/>
                    </a:solidFill>
                  </a:tcPr>
                </a:tc>
                <a:tc>
                  <a:txBody>
                    <a:bodyPr/>
                    <a:lstStyle/>
                    <a:p>
                      <a:pPr algn="ctr"/>
                      <a:r>
                        <a:rPr sz="1500" b="0">
                          <a:solidFill>
                            <a:srgbClr val="142B33"/>
                          </a:solidFill>
                          <a:latin typeface="Calibri"/>
                        </a:rPr>
                        <a:t>2</a:t>
                      </a:r>
                    </a:p>
                  </a:txBody>
                  <a:tcPr marL="73152" marR="73152" marT="27432" marB="27432" anchor="ctr">
                    <a:solidFill>
                      <a:srgbClr val="FFFFFF"/>
                    </a:solidFill>
                  </a:tcPr>
                </a:tc>
                <a:tc>
                  <a:txBody>
                    <a:bodyPr/>
                    <a:lstStyle/>
                    <a:p>
                      <a:pPr algn="ctr"/>
                      <a:r>
                        <a:rPr sz="1500" b="0">
                          <a:solidFill>
                            <a:srgbClr val="142B33"/>
                          </a:solidFill>
                          <a:latin typeface="Calibri"/>
                        </a:rPr>
                        <a:t>751.78</a:t>
                      </a:r>
                    </a:p>
                  </a:txBody>
                  <a:tcPr marL="73152" marR="73152" marT="27432" marB="27432" anchor="ctr">
                    <a:solidFill>
                      <a:srgbClr val="FFFFFF"/>
                    </a:solidFill>
                  </a:tcPr>
                </a:tc>
                <a:tc>
                  <a:txBody>
                    <a:bodyPr/>
                    <a:lstStyle/>
                    <a:p>
                      <a:pPr algn="ctr"/>
                      <a:r>
                        <a:rPr sz="1500" b="0">
                          <a:solidFill>
                            <a:srgbClr val="142B33"/>
                          </a:solidFill>
                          <a:latin typeface="Calibri"/>
                        </a:rPr>
                        <a:t>8.25</a:t>
                      </a:r>
                    </a:p>
                  </a:txBody>
                  <a:tcPr marL="73152" marR="73152" marT="27432" marB="27432" anchor="ctr">
                    <a:solidFill>
                      <a:srgbClr val="FFFFFF"/>
                    </a:solidFill>
                  </a:tcPr>
                </a:tc>
                <a:tc>
                  <a:txBody>
                    <a:bodyPr/>
                    <a:lstStyle/>
                    <a:p>
                      <a:pPr algn="ctr"/>
                      <a:r>
                        <a:rPr sz="1500" b="0">
                          <a:solidFill>
                            <a:srgbClr val="142B33"/>
                          </a:solidFill>
                          <a:latin typeface="Calibri"/>
                        </a:rPr>
                        <a:t>0.0092</a:t>
                      </a:r>
                    </a:p>
                  </a:txBody>
                  <a:tcPr marL="73152" marR="73152" marT="27432" marB="27432" anchor="ctr">
                    <a:solidFill>
                      <a:srgbClr val="FFFFFF"/>
                    </a:solidFill>
                  </a:tcPr>
                </a:tc>
              </a:tr>
              <a:tr h="351282">
                <a:tc>
                  <a:txBody>
                    <a:bodyPr/>
                    <a:lstStyle/>
                    <a:p>
                      <a:pPr algn="l"/>
                      <a:r>
                        <a:rPr sz="1500" b="0">
                          <a:solidFill>
                            <a:srgbClr val="142B33"/>
                          </a:solidFill>
                          <a:latin typeface="Calibri"/>
                        </a:rPr>
                        <a:t>B</a:t>
                      </a:r>
                    </a:p>
                  </a:txBody>
                  <a:tcPr marL="73152" marR="73152" marT="27432" marB="27432" anchor="ctr">
                    <a:solidFill>
                      <a:srgbClr val="F4F8F9"/>
                    </a:solidFill>
                  </a:tcPr>
                </a:tc>
                <a:tc>
                  <a:txBody>
                    <a:bodyPr/>
                    <a:lstStyle/>
                    <a:p>
                      <a:pPr algn="ctr"/>
                      <a:r>
                        <a:rPr sz="1500" b="0">
                          <a:solidFill>
                            <a:srgbClr val="142B33"/>
                          </a:solidFill>
                          <a:latin typeface="Calibri"/>
                        </a:rPr>
                        <a:t>1096.93</a:t>
                      </a:r>
                    </a:p>
                  </a:txBody>
                  <a:tcPr marL="73152" marR="73152" marT="27432" marB="27432" anchor="ctr">
                    <a:solidFill>
                      <a:srgbClr val="F4F8F9"/>
                    </a:solidFill>
                  </a:tcPr>
                </a:tc>
                <a:tc>
                  <a:txBody>
                    <a:bodyPr/>
                    <a:lstStyle/>
                    <a:p>
                      <a:pPr algn="ctr"/>
                      <a:r>
                        <a:rPr sz="1500" b="0">
                          <a:solidFill>
                            <a:srgbClr val="142B33"/>
                          </a:solidFill>
                          <a:latin typeface="Calibri"/>
                        </a:rPr>
                        <a:t>2</a:t>
                      </a:r>
                    </a:p>
                  </a:txBody>
                  <a:tcPr marL="73152" marR="73152" marT="27432" marB="27432" anchor="ctr">
                    <a:solidFill>
                      <a:srgbClr val="F4F8F9"/>
                    </a:solidFill>
                  </a:tcPr>
                </a:tc>
                <a:tc>
                  <a:txBody>
                    <a:bodyPr/>
                    <a:lstStyle/>
                    <a:p>
                      <a:pPr algn="ctr"/>
                      <a:r>
                        <a:rPr sz="1500" b="0">
                          <a:solidFill>
                            <a:srgbClr val="142B33"/>
                          </a:solidFill>
                          <a:latin typeface="Calibri"/>
                        </a:rPr>
                        <a:t>548.47</a:t>
                      </a:r>
                    </a:p>
                  </a:txBody>
                  <a:tcPr marL="73152" marR="73152" marT="27432" marB="27432" anchor="ctr">
                    <a:solidFill>
                      <a:srgbClr val="F4F8F9"/>
                    </a:solidFill>
                  </a:tcPr>
                </a:tc>
                <a:tc>
                  <a:txBody>
                    <a:bodyPr/>
                    <a:lstStyle/>
                    <a:p>
                      <a:pPr algn="ctr"/>
                      <a:r>
                        <a:rPr sz="1500" b="0">
                          <a:solidFill>
                            <a:srgbClr val="142B33"/>
                          </a:solidFill>
                          <a:latin typeface="Calibri"/>
                        </a:rPr>
                        <a:t>6.02</a:t>
                      </a:r>
                    </a:p>
                  </a:txBody>
                  <a:tcPr marL="73152" marR="73152" marT="27432" marB="27432" anchor="ctr">
                    <a:solidFill>
                      <a:srgbClr val="F4F8F9"/>
                    </a:solidFill>
                  </a:tcPr>
                </a:tc>
                <a:tc>
                  <a:txBody>
                    <a:bodyPr/>
                    <a:lstStyle/>
                    <a:p>
                      <a:pPr algn="ctr"/>
                      <a:r>
                        <a:rPr sz="1500" b="0">
                          <a:solidFill>
                            <a:srgbClr val="142B33"/>
                          </a:solidFill>
                          <a:latin typeface="Calibri"/>
                        </a:rPr>
                        <a:t>0.0219</a:t>
                      </a:r>
                    </a:p>
                  </a:txBody>
                  <a:tcPr marL="73152" marR="73152" marT="27432" marB="27432" anchor="ctr">
                    <a:solidFill>
                      <a:srgbClr val="F4F8F9"/>
                    </a:solidFill>
                  </a:tcPr>
                </a:tc>
              </a:tr>
              <a:tr h="351282">
                <a:tc>
                  <a:txBody>
                    <a:bodyPr/>
                    <a:lstStyle/>
                    <a:p>
                      <a:pPr algn="l"/>
                      <a:r>
                        <a:rPr sz="1500" b="0">
                          <a:solidFill>
                            <a:srgbClr val="142B33"/>
                          </a:solidFill>
                          <a:latin typeface="Calibri"/>
                        </a:rPr>
                        <a:t>AB</a:t>
                      </a:r>
                    </a:p>
                  </a:txBody>
                  <a:tcPr marL="73152" marR="73152" marT="27432" marB="27432" anchor="ctr">
                    <a:solidFill>
                      <a:srgbClr val="FFFFFF"/>
                    </a:solidFill>
                  </a:tcPr>
                </a:tc>
                <a:tc>
                  <a:txBody>
                    <a:bodyPr/>
                    <a:lstStyle/>
                    <a:p>
                      <a:pPr algn="ctr"/>
                      <a:r>
                        <a:rPr sz="1500" b="0">
                          <a:solidFill>
                            <a:srgbClr val="142B33"/>
                          </a:solidFill>
                          <a:latin typeface="Calibri"/>
                        </a:rPr>
                        <a:t>586.64</a:t>
                      </a:r>
                    </a:p>
                  </a:txBody>
                  <a:tcPr marL="73152" marR="73152" marT="27432" marB="27432" anchor="ctr">
                    <a:solidFill>
                      <a:srgbClr val="FFFFFF"/>
                    </a:solidFill>
                  </a:tcPr>
                </a:tc>
                <a:tc>
                  <a:txBody>
                    <a:bodyPr/>
                    <a:lstStyle/>
                    <a:p>
                      <a:pPr algn="ctr"/>
                      <a:r>
                        <a:rPr sz="1500" b="0">
                          <a:solidFill>
                            <a:srgbClr val="142B33"/>
                          </a:solidFill>
                          <a:latin typeface="Calibri"/>
                        </a:rPr>
                        <a:t>4</a:t>
                      </a:r>
                    </a:p>
                  </a:txBody>
                  <a:tcPr marL="73152" marR="73152" marT="27432" marB="27432" anchor="ctr">
                    <a:solidFill>
                      <a:srgbClr val="FFFFFF"/>
                    </a:solidFill>
                  </a:tcPr>
                </a:tc>
                <a:tc>
                  <a:txBody>
                    <a:bodyPr/>
                    <a:lstStyle/>
                    <a:p>
                      <a:pPr algn="ctr"/>
                      <a:r>
                        <a:rPr sz="1500" b="0">
                          <a:solidFill>
                            <a:srgbClr val="142B33"/>
                          </a:solidFill>
                          <a:latin typeface="Calibri"/>
                        </a:rPr>
                        <a:t>146.66</a:t>
                      </a:r>
                    </a:p>
                  </a:txBody>
                  <a:tcPr marL="73152" marR="73152" marT="27432" marB="27432" anchor="ctr">
                    <a:solidFill>
                      <a:srgbClr val="FFFFFF"/>
                    </a:solidFill>
                  </a:tcPr>
                </a:tc>
                <a:tc>
                  <a:txBody>
                    <a:bodyPr/>
                    <a:lstStyle/>
                    <a:p>
                      <a:pPr algn="ctr"/>
                      <a:r>
                        <a:rPr sz="1500" b="0">
                          <a:solidFill>
                            <a:srgbClr val="142B33"/>
                          </a:solidFill>
                          <a:latin typeface="Calibri"/>
                        </a:rPr>
                        <a:t>1.61</a:t>
                      </a:r>
                    </a:p>
                  </a:txBody>
                  <a:tcPr marL="73152" marR="73152" marT="27432" marB="27432" anchor="ctr">
                    <a:solidFill>
                      <a:srgbClr val="FFFFFF"/>
                    </a:solidFill>
                  </a:tcPr>
                </a:tc>
                <a:tc>
                  <a:txBody>
                    <a:bodyPr/>
                    <a:lstStyle/>
                    <a:p>
                      <a:pPr algn="ctr"/>
                      <a:r>
                        <a:rPr sz="1500" b="0">
                          <a:solidFill>
                            <a:srgbClr val="142B33"/>
                          </a:solidFill>
                          <a:latin typeface="Calibri"/>
                        </a:rPr>
                        <a:t>0.2536</a:t>
                      </a:r>
                    </a:p>
                  </a:txBody>
                  <a:tcPr marL="73152" marR="73152" marT="27432" marB="27432" anchor="ctr">
                    <a:solidFill>
                      <a:srgbClr val="FFFFFF"/>
                    </a:solidFill>
                  </a:tcPr>
                </a:tc>
              </a:tr>
              <a:tr h="351282">
                <a:tc>
                  <a:txBody>
                    <a:bodyPr/>
                    <a:lstStyle/>
                    <a:p>
                      <a:pPr algn="l"/>
                      <a:r>
                        <a:rPr sz="1500" b="0">
                          <a:solidFill>
                            <a:srgbClr val="142B33"/>
                          </a:solidFill>
                          <a:latin typeface="Calibri"/>
                        </a:rPr>
                        <a:t>Error</a:t>
                      </a:r>
                    </a:p>
                  </a:txBody>
                  <a:tcPr marL="73152" marR="73152" marT="27432" marB="27432" anchor="ctr">
                    <a:solidFill>
                      <a:srgbClr val="F4F8F9"/>
                    </a:solidFill>
                  </a:tcPr>
                </a:tc>
                <a:tc>
                  <a:txBody>
                    <a:bodyPr/>
                    <a:lstStyle/>
                    <a:p>
                      <a:pPr algn="ctr"/>
                      <a:r>
                        <a:rPr sz="1500" b="0">
                          <a:solidFill>
                            <a:srgbClr val="142B33"/>
                          </a:solidFill>
                          <a:latin typeface="Calibri"/>
                        </a:rPr>
                        <a:t>819.98</a:t>
                      </a:r>
                    </a:p>
                  </a:txBody>
                  <a:tcPr marL="73152" marR="73152" marT="27432" marB="27432" anchor="ctr">
                    <a:solidFill>
                      <a:srgbClr val="F4F8F9"/>
                    </a:solidFill>
                  </a:tcPr>
                </a:tc>
                <a:tc>
                  <a:txBody>
                    <a:bodyPr/>
                    <a:lstStyle/>
                    <a:p>
                      <a:pPr algn="ctr"/>
                      <a:r>
                        <a:rPr sz="1500" b="0">
                          <a:solidFill>
                            <a:srgbClr val="142B33"/>
                          </a:solidFill>
                          <a:latin typeface="Calibri"/>
                        </a:rPr>
                        <a:t>9</a:t>
                      </a:r>
                    </a:p>
                  </a:txBody>
                  <a:tcPr marL="73152" marR="73152" marT="27432" marB="27432" anchor="ctr">
                    <a:solidFill>
                      <a:srgbClr val="F4F8F9"/>
                    </a:solidFill>
                  </a:tcPr>
                </a:tc>
                <a:tc>
                  <a:txBody>
                    <a:bodyPr/>
                    <a:lstStyle/>
                    <a:p>
                      <a:pPr algn="ctr"/>
                      <a:r>
                        <a:rPr sz="1500" b="0">
                          <a:solidFill>
                            <a:srgbClr val="142B33"/>
                          </a:solidFill>
                          <a:latin typeface="Calibri"/>
                        </a:rPr>
                        <a:t>91.11</a:t>
                      </a:r>
                    </a:p>
                  </a:txBody>
                  <a:tcPr marL="73152" marR="73152" marT="27432" marB="27432" anchor="ctr">
                    <a:solidFill>
                      <a:srgbClr val="F4F8F9"/>
                    </a:solidFill>
                  </a:tcPr>
                </a:tc>
                <a:tc>
                  <a:txBody>
                    <a:bodyPr/>
                    <a:lstStyle/>
                    <a:p>
                      <a:pPr algn="ctr"/>
                    </a:p>
                  </a:txBody>
                  <a:tcPr marL="73152" marR="73152" marT="27432" marB="27432" anchor="ctr">
                    <a:solidFill>
                      <a:srgbClr val="F4F8F9"/>
                    </a:solidFill>
                  </a:tcPr>
                </a:tc>
                <a:tc>
                  <a:txBody>
                    <a:bodyPr/>
                    <a:lstStyle/>
                    <a:p>
                      <a:pPr algn="ctr"/>
                    </a:p>
                  </a:txBody>
                  <a:tcPr marL="73152" marR="73152" marT="27432" marB="27432" anchor="ctr">
                    <a:solidFill>
                      <a:srgbClr val="F4F8F9"/>
                    </a:solidFill>
                  </a:tcPr>
                </a:tc>
              </a:tr>
              <a:tr h="351282">
                <a:tc>
                  <a:txBody>
                    <a:bodyPr/>
                    <a:lstStyle/>
                    <a:p>
                      <a:pPr algn="l"/>
                      <a:r>
                        <a:rPr sz="1500" b="0">
                          <a:solidFill>
                            <a:srgbClr val="142B33"/>
                          </a:solidFill>
                          <a:latin typeface="Calibri"/>
                        </a:rPr>
                        <a:t>Total</a:t>
                      </a:r>
                    </a:p>
                  </a:txBody>
                  <a:tcPr marL="73152" marR="73152" marT="27432" marB="27432" anchor="ctr">
                    <a:solidFill>
                      <a:srgbClr val="FFFFFF"/>
                    </a:solidFill>
                  </a:tcPr>
                </a:tc>
                <a:tc>
                  <a:txBody>
                    <a:bodyPr/>
                    <a:lstStyle/>
                    <a:p>
                      <a:pPr algn="ctr"/>
                      <a:r>
                        <a:rPr sz="1500" b="0">
                          <a:solidFill>
                            <a:srgbClr val="142B33"/>
                          </a:solidFill>
                          <a:latin typeface="Calibri"/>
                        </a:rPr>
                        <a:t>4007.10</a:t>
                      </a:r>
                    </a:p>
                  </a:txBody>
                  <a:tcPr marL="73152" marR="73152" marT="27432" marB="27432" anchor="ctr">
                    <a:solidFill>
                      <a:srgbClr val="FFFFFF"/>
                    </a:solidFill>
                  </a:tcPr>
                </a:tc>
                <a:tc>
                  <a:txBody>
                    <a:bodyPr/>
                    <a:lstStyle/>
                    <a:p>
                      <a:pPr algn="ctr"/>
                      <a:r>
                        <a:rPr sz="1500" b="0">
                          <a:solidFill>
                            <a:srgbClr val="142B33"/>
                          </a:solidFill>
                          <a:latin typeface="Calibri"/>
                        </a:rPr>
                        <a:t>17</a:t>
                      </a: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r>
            </a:tbl>
          </a:graphicData>
        </a:graphic>
      </p:graphicFrame>
      <p:sp>
        <p:nvSpPr>
          <p:cNvPr id="6" name="Rounded Rectangle 5"/>
          <p:cNvSpPr/>
          <p:nvPr/>
        </p:nvSpPr>
        <p:spPr>
          <a:xfrm>
            <a:off x="6301587" y="3726180"/>
            <a:ext cx="5341467"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A y B significativos (F</a:t>
            </a:r>
            <a:r>
              <a:rPr sz="1500" b="0" baseline="-25000">
                <a:solidFill>
                  <a:srgbClr val="142B33"/>
                </a:solidFill>
                <a:latin typeface="Calibri"/>
              </a:rPr>
              <a:t>0.05, 2, 9</a:t>
            </a:r>
            <a:r>
              <a:rPr sz="1500" b="0">
                <a:solidFill>
                  <a:srgbClr val="142B33"/>
                </a:solidFill>
                <a:latin typeface="Calibri"/>
              </a:rPr>
              <a:t> = 4.26); AB no</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Los diseños 3</a:t>
            </a:r>
            <a:r>
              <a:rPr sz="1000" b="0" baseline="30000">
                <a:solidFill>
                  <a:srgbClr val="5B6B73"/>
                </a:solidFill>
                <a:latin typeface="Calibri"/>
              </a:rPr>
              <a:t>2</a:t>
            </a:r>
            <a:r>
              <a:rPr sz="1000" b="0">
                <a:solidFill>
                  <a:srgbClr val="5B6B73"/>
                </a:solidFill>
                <a:latin typeface="Calibri"/>
              </a:rPr>
              <a:t> y 3</a:t>
            </a:r>
            <a:r>
              <a:rPr sz="1000" b="0" baseline="30000">
                <a:solidFill>
                  <a:srgbClr val="5B6B73"/>
                </a:solidFill>
                <a:latin typeface="Calibri"/>
              </a:rPr>
              <a:t>3</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20</a:t>
            </a:r>
          </a:p>
        </p:txBody>
      </p:sp>
      <p:sp>
        <p:nvSpPr>
          <p:cNvPr id="9" name="Rounded Rectangle 8"/>
          <p:cNvSpPr/>
          <p:nvPr/>
        </p:nvSpPr>
        <p:spPr>
          <a:xfrm>
            <a:off x="548640" y="91440"/>
            <a:ext cx="258775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3 · Los diseños 3</a:t>
            </a:r>
            <a:r>
              <a:rPr sz="1100" b="1" baseline="30000">
                <a:solidFill>
                  <a:srgbClr val="FFFFFF"/>
                </a:solidFill>
                <a:latin typeface="Calibri"/>
              </a:rPr>
              <a:t>2</a:t>
            </a:r>
            <a:r>
              <a:rPr sz="1100" b="1">
                <a:solidFill>
                  <a:srgbClr val="FFFFFF"/>
                </a:solidFill>
                <a:latin typeface="Calibri"/>
              </a:rPr>
              <a:t> y 3</a:t>
            </a:r>
            <a:r>
              <a:rPr sz="1100" b="1" baseline="30000">
                <a:solidFill>
                  <a:srgbClr val="FFFFFF"/>
                </a:solidFill>
                <a:latin typeface="Calibri"/>
              </a:rPr>
              <a:t>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1 · Partición lineal y cuadrática</a:t>
            </a:r>
          </a:p>
        </p:txBody>
      </p:sp>
      <p:graphicFrame>
        <p:nvGraphicFramePr>
          <p:cNvPr id="3" name="Table 2"/>
          <p:cNvGraphicFramePr>
            <a:graphicFrameLocks noGrp="1"/>
          </p:cNvGraphicFramePr>
          <p:nvPr/>
        </p:nvGraphicFramePr>
        <p:xfrm>
          <a:off x="548640" y="1417320"/>
          <a:ext cx="5555124" cy="3022092"/>
        </p:xfrm>
        <a:graphic>
          <a:graphicData uri="http://schemas.openxmlformats.org/drawingml/2006/table">
            <a:tbl>
              <a:tblPr firstRow="0" bandRow="0">
                <a:tableStyleId>{5C22544A-7EE6-4342-B048-85BDC9FD1C3A}</a:tableStyleId>
              </a:tblPr>
              <a:tblGrid>
                <a:gridCol w="1253339"/>
                <a:gridCol w="768176"/>
                <a:gridCol w="412389"/>
                <a:gridCol w="606454"/>
                <a:gridCol w="2514766"/>
              </a:tblGrid>
              <a:tr h="335788">
                <a:tc>
                  <a:txBody>
                    <a:bodyPr/>
                    <a:lstStyle/>
                    <a:p>
                      <a:pPr algn="ctr"/>
                      <a:r>
                        <a:rPr sz="1400" b="1">
                          <a:solidFill>
                            <a:srgbClr val="FFFFFF"/>
                          </a:solidFill>
                          <a:latin typeface="Calibri"/>
                        </a:rPr>
                        <a:t>Componente</a:t>
                      </a:r>
                    </a:p>
                  </a:txBody>
                  <a:tcPr marL="73152" marR="73152" marT="27432" marB="27432" anchor="ctr">
                    <a:solidFill>
                      <a:srgbClr val="0F4C5C"/>
                    </a:solidFill>
                  </a:tcPr>
                </a:tc>
                <a:tc>
                  <a:txBody>
                    <a:bodyPr/>
                    <a:lstStyle/>
                    <a:p>
                      <a:pPr algn="ctr"/>
                      <a:r>
                        <a:rPr sz="1400" b="1">
                          <a:solidFill>
                            <a:srgbClr val="FFFFFF"/>
                          </a:solidFill>
                          <a:latin typeface="Calibri"/>
                        </a:rPr>
                        <a:t>SS</a:t>
                      </a:r>
                    </a:p>
                  </a:txBody>
                  <a:tcPr marL="73152" marR="73152" marT="27432" marB="27432" anchor="ctr">
                    <a:solidFill>
                      <a:srgbClr val="0F4C5C"/>
                    </a:solidFill>
                  </a:tcPr>
                </a:tc>
                <a:tc>
                  <a:txBody>
                    <a:bodyPr/>
                    <a:lstStyle/>
                    <a:p>
                      <a:pPr algn="ctr"/>
                      <a:r>
                        <a:rPr sz="1400" b="1">
                          <a:solidFill>
                            <a:srgbClr val="FFFFFF"/>
                          </a:solidFill>
                          <a:latin typeface="Calibri"/>
                        </a:rPr>
                        <a:t>DF</a:t>
                      </a:r>
                    </a:p>
                  </a:txBody>
                  <a:tcPr marL="73152" marR="73152" marT="27432" marB="27432" anchor="ctr">
                    <a:solidFill>
                      <a:srgbClr val="0F4C5C"/>
                    </a:solidFill>
                  </a:tcPr>
                </a:tc>
                <a:tc>
                  <a:txBody>
                    <a:bodyPr/>
                    <a:lstStyle/>
                    <a:p>
                      <a:pPr algn="ctr"/>
                      <a:r>
                        <a:rPr sz="1400" b="1">
                          <a:solidFill>
                            <a:srgbClr val="FFFFFF"/>
                          </a:solidFill>
                          <a:latin typeface="Calibri"/>
                        </a:rPr>
                        <a:t>F</a:t>
                      </a:r>
                      <a:r>
                        <a:rPr sz="1400" b="1" baseline="-25000">
                          <a:solidFill>
                            <a:srgbClr val="FFFFFF"/>
                          </a:solidFill>
                          <a:latin typeface="Calibri"/>
                        </a:rPr>
                        <a:t>0</a:t>
                      </a:r>
                    </a:p>
                  </a:txBody>
                  <a:tcPr marL="73152" marR="73152" marT="27432" marB="27432" anchor="ctr">
                    <a:solidFill>
                      <a:srgbClr val="0F4C5C"/>
                    </a:solidFill>
                  </a:tcPr>
                </a:tc>
                <a:tc>
                  <a:txBody>
                    <a:bodyPr/>
                    <a:lstStyle/>
                    <a:p>
                      <a:pPr algn="ctr"/>
                      <a:r>
                        <a:rPr sz="1400" b="1">
                          <a:solidFill>
                            <a:srgbClr val="FFFFFF"/>
                          </a:solidFill>
                          <a:latin typeface="Calibri"/>
                        </a:rPr>
                        <a:t>¿Significativo al 5 %?</a:t>
                      </a:r>
                    </a:p>
                  </a:txBody>
                  <a:tcPr marL="73152" marR="73152" marT="27432" marB="27432" anchor="ctr">
                    <a:solidFill>
                      <a:srgbClr val="0F4C5C"/>
                    </a:solidFill>
                  </a:tcPr>
                </a:tc>
              </a:tr>
              <a:tr h="335788">
                <a:tc>
                  <a:txBody>
                    <a:bodyPr/>
                    <a:lstStyle/>
                    <a:p>
                      <a:pPr algn="ctr"/>
                      <a:r>
                        <a:rPr sz="1400" b="0">
                          <a:solidFill>
                            <a:srgbClr val="142B33"/>
                          </a:solidFill>
                          <a:latin typeface="Calibri"/>
                        </a:rPr>
                        <a:t>A</a:t>
                      </a:r>
                      <a:r>
                        <a:rPr sz="1400" b="0" baseline="-25000">
                          <a:solidFill>
                            <a:srgbClr val="142B33"/>
                          </a:solidFill>
                          <a:latin typeface="Calibri"/>
                        </a:rPr>
                        <a:t>L</a:t>
                      </a:r>
                    </a:p>
                  </a:txBody>
                  <a:tcPr marL="73152" marR="73152" marT="27432" marB="27432" anchor="ctr">
                    <a:solidFill>
                      <a:srgbClr val="FDE8D7"/>
                    </a:solidFill>
                  </a:tcPr>
                </a:tc>
                <a:tc>
                  <a:txBody>
                    <a:bodyPr/>
                    <a:lstStyle/>
                    <a:p>
                      <a:pPr algn="ctr"/>
                      <a:r>
                        <a:rPr sz="1400" b="0">
                          <a:solidFill>
                            <a:srgbClr val="142B33"/>
                          </a:solidFill>
                          <a:latin typeface="Calibri"/>
                        </a:rPr>
                        <a:t>1297.92</a:t>
                      </a:r>
                    </a:p>
                  </a:txBody>
                  <a:tcPr marL="73152" marR="73152" marT="27432" marB="27432" anchor="ctr">
                    <a:solidFill>
                      <a:srgbClr val="FDE8D7"/>
                    </a:solidFill>
                  </a:tcPr>
                </a:tc>
                <a:tc>
                  <a:txBody>
                    <a:bodyPr/>
                    <a:lstStyle/>
                    <a:p>
                      <a:pPr algn="ctr"/>
                      <a:r>
                        <a:rPr sz="1400" b="0">
                          <a:solidFill>
                            <a:srgbClr val="142B33"/>
                          </a:solidFill>
                          <a:latin typeface="Calibri"/>
                        </a:rPr>
                        <a:t>1</a:t>
                      </a:r>
                    </a:p>
                  </a:txBody>
                  <a:tcPr marL="73152" marR="73152" marT="27432" marB="27432" anchor="ctr">
                    <a:solidFill>
                      <a:srgbClr val="FDE8D7"/>
                    </a:solidFill>
                  </a:tcPr>
                </a:tc>
                <a:tc>
                  <a:txBody>
                    <a:bodyPr/>
                    <a:lstStyle/>
                    <a:p>
                      <a:pPr algn="ctr"/>
                      <a:r>
                        <a:rPr sz="1400" b="0">
                          <a:solidFill>
                            <a:srgbClr val="142B33"/>
                          </a:solidFill>
                          <a:latin typeface="Calibri"/>
                        </a:rPr>
                        <a:t>14.25</a:t>
                      </a:r>
                    </a:p>
                  </a:txBody>
                  <a:tcPr marL="73152" marR="73152" marT="27432" marB="27432" anchor="ctr">
                    <a:solidFill>
                      <a:srgbClr val="FDE8D7"/>
                    </a:solidFill>
                  </a:tcPr>
                </a:tc>
                <a:tc>
                  <a:txBody>
                    <a:bodyPr/>
                    <a:lstStyle/>
                    <a:p>
                      <a:pPr algn="ctr"/>
                      <a:r>
                        <a:rPr sz="1400" b="0">
                          <a:solidFill>
                            <a:srgbClr val="142B33"/>
                          </a:solidFill>
                          <a:latin typeface="Calibri"/>
                        </a:rPr>
                        <a:t>Sí</a:t>
                      </a:r>
                    </a:p>
                  </a:txBody>
                  <a:tcPr marL="73152" marR="73152" marT="27432" marB="27432" anchor="ctr">
                    <a:solidFill>
                      <a:srgbClr val="FDE8D7"/>
                    </a:solidFill>
                  </a:tcPr>
                </a:tc>
              </a:tr>
              <a:tr h="335788">
                <a:tc>
                  <a:txBody>
                    <a:bodyPr/>
                    <a:lstStyle/>
                    <a:p>
                      <a:pPr algn="ctr"/>
                      <a:r>
                        <a:rPr sz="1400" b="0">
                          <a:solidFill>
                            <a:srgbClr val="142B33"/>
                          </a:solidFill>
                          <a:latin typeface="Calibri"/>
                        </a:rPr>
                        <a:t>A</a:t>
                      </a:r>
                      <a:r>
                        <a:rPr sz="1400" b="0" baseline="-25000">
                          <a:solidFill>
                            <a:srgbClr val="142B33"/>
                          </a:solidFill>
                          <a:latin typeface="Calibri"/>
                        </a:rPr>
                        <a:t>Q</a:t>
                      </a:r>
                    </a:p>
                  </a:txBody>
                  <a:tcPr marL="73152" marR="73152" marT="27432" marB="27432" anchor="ctr">
                    <a:solidFill>
                      <a:srgbClr val="F4F8F9"/>
                    </a:solidFill>
                  </a:tcPr>
                </a:tc>
                <a:tc>
                  <a:txBody>
                    <a:bodyPr/>
                    <a:lstStyle/>
                    <a:p>
                      <a:pPr algn="ctr"/>
                      <a:r>
                        <a:rPr sz="1400" b="0">
                          <a:solidFill>
                            <a:srgbClr val="142B33"/>
                          </a:solidFill>
                          <a:latin typeface="Calibri"/>
                        </a:rPr>
                        <a:t>205.64</a:t>
                      </a:r>
                    </a:p>
                  </a:txBody>
                  <a:tcPr marL="73152" marR="73152" marT="27432" marB="27432" anchor="ctr">
                    <a:solidFill>
                      <a:srgbClr val="F4F8F9"/>
                    </a:solidFill>
                  </a:tcPr>
                </a:tc>
                <a:tc>
                  <a:txBody>
                    <a:bodyPr/>
                    <a:lstStyle/>
                    <a:p>
                      <a:pPr algn="ctr"/>
                      <a:r>
                        <a:rPr sz="1400" b="0">
                          <a:solidFill>
                            <a:srgbClr val="142B33"/>
                          </a:solidFill>
                          <a:latin typeface="Calibri"/>
                        </a:rPr>
                        <a:t>1</a:t>
                      </a:r>
                    </a:p>
                  </a:txBody>
                  <a:tcPr marL="73152" marR="73152" marT="27432" marB="27432" anchor="ctr">
                    <a:solidFill>
                      <a:srgbClr val="F4F8F9"/>
                    </a:solidFill>
                  </a:tcPr>
                </a:tc>
                <a:tc>
                  <a:txBody>
                    <a:bodyPr/>
                    <a:lstStyle/>
                    <a:p>
                      <a:pPr algn="ctr"/>
                      <a:r>
                        <a:rPr sz="1400" b="0">
                          <a:solidFill>
                            <a:srgbClr val="142B33"/>
                          </a:solidFill>
                          <a:latin typeface="Calibri"/>
                        </a:rPr>
                        <a:t>2.26</a:t>
                      </a:r>
                    </a:p>
                  </a:txBody>
                  <a:tcPr marL="73152" marR="73152" marT="27432" marB="27432" anchor="ctr">
                    <a:solidFill>
                      <a:srgbClr val="F4F8F9"/>
                    </a:solidFill>
                  </a:tcPr>
                </a:tc>
                <a:tc>
                  <a:txBody>
                    <a:bodyPr/>
                    <a:lstStyle/>
                    <a:p>
                      <a:pPr algn="ctr"/>
                      <a:r>
                        <a:rPr sz="1400" b="0">
                          <a:solidFill>
                            <a:srgbClr val="142B33"/>
                          </a:solidFill>
                          <a:latin typeface="Calibri"/>
                        </a:rPr>
                        <a:t>No</a:t>
                      </a:r>
                    </a:p>
                  </a:txBody>
                  <a:tcPr marL="73152" marR="73152" marT="27432" marB="27432" anchor="ctr">
                    <a:solidFill>
                      <a:srgbClr val="F4F8F9"/>
                    </a:solidFill>
                  </a:tcPr>
                </a:tc>
              </a:tr>
              <a:tr h="335788">
                <a:tc>
                  <a:txBody>
                    <a:bodyPr/>
                    <a:lstStyle/>
                    <a:p>
                      <a:pPr algn="ctr"/>
                      <a:r>
                        <a:rPr sz="1400" b="0">
                          <a:solidFill>
                            <a:srgbClr val="142B33"/>
                          </a:solidFill>
                          <a:latin typeface="Calibri"/>
                        </a:rPr>
                        <a:t>B</a:t>
                      </a:r>
                      <a:r>
                        <a:rPr sz="1400" b="0" baseline="-25000">
                          <a:solidFill>
                            <a:srgbClr val="142B33"/>
                          </a:solidFill>
                          <a:latin typeface="Calibri"/>
                        </a:rPr>
                        <a:t>L</a:t>
                      </a:r>
                    </a:p>
                  </a:txBody>
                  <a:tcPr marL="73152" marR="73152" marT="27432" marB="27432" anchor="ctr">
                    <a:solidFill>
                      <a:srgbClr val="FDE8D7"/>
                    </a:solidFill>
                  </a:tcPr>
                </a:tc>
                <a:tc>
                  <a:txBody>
                    <a:bodyPr/>
                    <a:lstStyle/>
                    <a:p>
                      <a:pPr algn="ctr"/>
                      <a:r>
                        <a:rPr sz="1400" b="0">
                          <a:solidFill>
                            <a:srgbClr val="142B33"/>
                          </a:solidFill>
                          <a:latin typeface="Calibri"/>
                        </a:rPr>
                        <a:t>850.76</a:t>
                      </a:r>
                    </a:p>
                  </a:txBody>
                  <a:tcPr marL="73152" marR="73152" marT="27432" marB="27432" anchor="ctr">
                    <a:solidFill>
                      <a:srgbClr val="FDE8D7"/>
                    </a:solidFill>
                  </a:tcPr>
                </a:tc>
                <a:tc>
                  <a:txBody>
                    <a:bodyPr/>
                    <a:lstStyle/>
                    <a:p>
                      <a:pPr algn="ctr"/>
                      <a:r>
                        <a:rPr sz="1400" b="0">
                          <a:solidFill>
                            <a:srgbClr val="142B33"/>
                          </a:solidFill>
                          <a:latin typeface="Calibri"/>
                        </a:rPr>
                        <a:t>1</a:t>
                      </a:r>
                    </a:p>
                  </a:txBody>
                  <a:tcPr marL="73152" marR="73152" marT="27432" marB="27432" anchor="ctr">
                    <a:solidFill>
                      <a:srgbClr val="FDE8D7"/>
                    </a:solidFill>
                  </a:tcPr>
                </a:tc>
                <a:tc>
                  <a:txBody>
                    <a:bodyPr/>
                    <a:lstStyle/>
                    <a:p>
                      <a:pPr algn="ctr"/>
                      <a:r>
                        <a:rPr sz="1400" b="0">
                          <a:solidFill>
                            <a:srgbClr val="142B33"/>
                          </a:solidFill>
                          <a:latin typeface="Calibri"/>
                        </a:rPr>
                        <a:t>9.34</a:t>
                      </a:r>
                    </a:p>
                  </a:txBody>
                  <a:tcPr marL="73152" marR="73152" marT="27432" marB="27432" anchor="ctr">
                    <a:solidFill>
                      <a:srgbClr val="FDE8D7"/>
                    </a:solidFill>
                  </a:tcPr>
                </a:tc>
                <a:tc>
                  <a:txBody>
                    <a:bodyPr/>
                    <a:lstStyle/>
                    <a:p>
                      <a:pPr algn="ctr"/>
                      <a:r>
                        <a:rPr sz="1400" b="0">
                          <a:solidFill>
                            <a:srgbClr val="142B33"/>
                          </a:solidFill>
                          <a:latin typeface="Calibri"/>
                        </a:rPr>
                        <a:t>Sí</a:t>
                      </a:r>
                    </a:p>
                  </a:txBody>
                  <a:tcPr marL="73152" marR="73152" marT="27432" marB="27432" anchor="ctr">
                    <a:solidFill>
                      <a:srgbClr val="FDE8D7"/>
                    </a:solidFill>
                  </a:tcPr>
                </a:tc>
              </a:tr>
              <a:tr h="335788">
                <a:tc>
                  <a:txBody>
                    <a:bodyPr/>
                    <a:lstStyle/>
                    <a:p>
                      <a:pPr algn="ctr"/>
                      <a:r>
                        <a:rPr sz="1400" b="0">
                          <a:solidFill>
                            <a:srgbClr val="142B33"/>
                          </a:solidFill>
                          <a:latin typeface="Calibri"/>
                        </a:rPr>
                        <a:t>B</a:t>
                      </a:r>
                      <a:r>
                        <a:rPr sz="1400" b="0" baseline="-25000">
                          <a:solidFill>
                            <a:srgbClr val="142B33"/>
                          </a:solidFill>
                          <a:latin typeface="Calibri"/>
                        </a:rPr>
                        <a:t>Q</a:t>
                      </a:r>
                    </a:p>
                  </a:txBody>
                  <a:tcPr marL="73152" marR="73152" marT="27432" marB="27432" anchor="ctr">
                    <a:solidFill>
                      <a:srgbClr val="F4F8F9"/>
                    </a:solidFill>
                  </a:tcPr>
                </a:tc>
                <a:tc>
                  <a:txBody>
                    <a:bodyPr/>
                    <a:lstStyle/>
                    <a:p>
                      <a:pPr algn="ctr"/>
                      <a:r>
                        <a:rPr sz="1400" b="0">
                          <a:solidFill>
                            <a:srgbClr val="142B33"/>
                          </a:solidFill>
                          <a:latin typeface="Calibri"/>
                        </a:rPr>
                        <a:t>246.18</a:t>
                      </a:r>
                    </a:p>
                  </a:txBody>
                  <a:tcPr marL="73152" marR="73152" marT="27432" marB="27432" anchor="ctr">
                    <a:solidFill>
                      <a:srgbClr val="F4F8F9"/>
                    </a:solidFill>
                  </a:tcPr>
                </a:tc>
                <a:tc>
                  <a:txBody>
                    <a:bodyPr/>
                    <a:lstStyle/>
                    <a:p>
                      <a:pPr algn="ctr"/>
                      <a:r>
                        <a:rPr sz="1400" b="0">
                          <a:solidFill>
                            <a:srgbClr val="142B33"/>
                          </a:solidFill>
                          <a:latin typeface="Calibri"/>
                        </a:rPr>
                        <a:t>1</a:t>
                      </a:r>
                    </a:p>
                  </a:txBody>
                  <a:tcPr marL="73152" marR="73152" marT="27432" marB="27432" anchor="ctr">
                    <a:solidFill>
                      <a:srgbClr val="F4F8F9"/>
                    </a:solidFill>
                  </a:tcPr>
                </a:tc>
                <a:tc>
                  <a:txBody>
                    <a:bodyPr/>
                    <a:lstStyle/>
                    <a:p>
                      <a:pPr algn="ctr"/>
                      <a:r>
                        <a:rPr sz="1400" b="0">
                          <a:solidFill>
                            <a:srgbClr val="142B33"/>
                          </a:solidFill>
                          <a:latin typeface="Calibri"/>
                        </a:rPr>
                        <a:t>2.70</a:t>
                      </a:r>
                    </a:p>
                  </a:txBody>
                  <a:tcPr marL="73152" marR="73152" marT="27432" marB="27432" anchor="ctr">
                    <a:solidFill>
                      <a:srgbClr val="F4F8F9"/>
                    </a:solidFill>
                  </a:tcPr>
                </a:tc>
                <a:tc>
                  <a:txBody>
                    <a:bodyPr/>
                    <a:lstStyle/>
                    <a:p>
                      <a:pPr algn="ctr"/>
                      <a:r>
                        <a:rPr sz="1400" b="0">
                          <a:solidFill>
                            <a:srgbClr val="142B33"/>
                          </a:solidFill>
                          <a:latin typeface="Calibri"/>
                        </a:rPr>
                        <a:t>No</a:t>
                      </a:r>
                    </a:p>
                  </a:txBody>
                  <a:tcPr marL="73152" marR="73152" marT="27432" marB="27432" anchor="ctr">
                    <a:solidFill>
                      <a:srgbClr val="F4F8F9"/>
                    </a:solidFill>
                  </a:tcPr>
                </a:tc>
              </a:tr>
              <a:tr h="335788">
                <a:tc>
                  <a:txBody>
                    <a:bodyPr/>
                    <a:lstStyle/>
                    <a:p>
                      <a:pPr algn="ctr"/>
                      <a:r>
                        <a:rPr sz="1400" b="0">
                          <a:solidFill>
                            <a:srgbClr val="142B33"/>
                          </a:solidFill>
                          <a:latin typeface="Calibri"/>
                        </a:rPr>
                        <a:t>AB</a:t>
                      </a:r>
                      <a:r>
                        <a:rPr sz="1400" b="0" baseline="-25000">
                          <a:solidFill>
                            <a:srgbClr val="142B33"/>
                          </a:solidFill>
                          <a:latin typeface="Calibri"/>
                        </a:rPr>
                        <a:t>L×L</a:t>
                      </a:r>
                    </a:p>
                  </a:txBody>
                  <a:tcPr marL="73152" marR="73152" marT="27432" marB="27432" anchor="ctr">
                    <a:solidFill>
                      <a:srgbClr val="FDE8D7"/>
                    </a:solidFill>
                  </a:tcPr>
                </a:tc>
                <a:tc>
                  <a:txBody>
                    <a:bodyPr/>
                    <a:lstStyle/>
                    <a:p>
                      <a:pPr algn="ctr"/>
                      <a:r>
                        <a:rPr sz="1400" b="0">
                          <a:solidFill>
                            <a:srgbClr val="142B33"/>
                          </a:solidFill>
                          <a:latin typeface="Calibri"/>
                        </a:rPr>
                        <a:t>472.78</a:t>
                      </a:r>
                    </a:p>
                  </a:txBody>
                  <a:tcPr marL="73152" marR="73152" marT="27432" marB="27432" anchor="ctr">
                    <a:solidFill>
                      <a:srgbClr val="FDE8D7"/>
                    </a:solidFill>
                  </a:tcPr>
                </a:tc>
                <a:tc>
                  <a:txBody>
                    <a:bodyPr/>
                    <a:lstStyle/>
                    <a:p>
                      <a:pPr algn="ctr"/>
                      <a:r>
                        <a:rPr sz="1400" b="0">
                          <a:solidFill>
                            <a:srgbClr val="142B33"/>
                          </a:solidFill>
                          <a:latin typeface="Calibri"/>
                        </a:rPr>
                        <a:t>1</a:t>
                      </a:r>
                    </a:p>
                  </a:txBody>
                  <a:tcPr marL="73152" marR="73152" marT="27432" marB="27432" anchor="ctr">
                    <a:solidFill>
                      <a:srgbClr val="FDE8D7"/>
                    </a:solidFill>
                  </a:tcPr>
                </a:tc>
                <a:tc>
                  <a:txBody>
                    <a:bodyPr/>
                    <a:lstStyle/>
                    <a:p>
                      <a:pPr algn="ctr"/>
                      <a:r>
                        <a:rPr sz="1400" b="0">
                          <a:solidFill>
                            <a:srgbClr val="142B33"/>
                          </a:solidFill>
                          <a:latin typeface="Calibri"/>
                        </a:rPr>
                        <a:t>5.19</a:t>
                      </a:r>
                    </a:p>
                  </a:txBody>
                  <a:tcPr marL="73152" marR="73152" marT="27432" marB="27432" anchor="ctr">
                    <a:solidFill>
                      <a:srgbClr val="FDE8D7"/>
                    </a:solidFill>
                  </a:tcPr>
                </a:tc>
                <a:tc>
                  <a:txBody>
                    <a:bodyPr/>
                    <a:lstStyle/>
                    <a:p>
                      <a:pPr algn="ctr"/>
                      <a:r>
                        <a:rPr sz="1400" b="0">
                          <a:solidFill>
                            <a:srgbClr val="142B33"/>
                          </a:solidFill>
                          <a:latin typeface="Calibri"/>
                        </a:rPr>
                        <a:t>Sí</a:t>
                      </a:r>
                    </a:p>
                  </a:txBody>
                  <a:tcPr marL="73152" marR="73152" marT="27432" marB="27432" anchor="ctr">
                    <a:solidFill>
                      <a:srgbClr val="FDE8D7"/>
                    </a:solidFill>
                  </a:tcPr>
                </a:tc>
              </a:tr>
              <a:tr h="335788">
                <a:tc>
                  <a:txBody>
                    <a:bodyPr/>
                    <a:lstStyle/>
                    <a:p>
                      <a:pPr algn="ctr"/>
                      <a:r>
                        <a:rPr sz="1400" b="0">
                          <a:solidFill>
                            <a:srgbClr val="142B33"/>
                          </a:solidFill>
                          <a:latin typeface="Calibri"/>
                        </a:rPr>
                        <a:t>AB</a:t>
                      </a:r>
                      <a:r>
                        <a:rPr sz="1400" b="0" baseline="-25000">
                          <a:solidFill>
                            <a:srgbClr val="142B33"/>
                          </a:solidFill>
                          <a:latin typeface="Calibri"/>
                        </a:rPr>
                        <a:t>L×Q</a:t>
                      </a:r>
                    </a:p>
                  </a:txBody>
                  <a:tcPr marL="73152" marR="73152" marT="27432" marB="27432" anchor="ctr">
                    <a:solidFill>
                      <a:srgbClr val="F4F8F9"/>
                    </a:solidFill>
                  </a:tcPr>
                </a:tc>
                <a:tc>
                  <a:txBody>
                    <a:bodyPr/>
                    <a:lstStyle/>
                    <a:p>
                      <a:pPr algn="ctr"/>
                      <a:r>
                        <a:rPr sz="1400" b="0">
                          <a:solidFill>
                            <a:srgbClr val="142B33"/>
                          </a:solidFill>
                          <a:latin typeface="Calibri"/>
                        </a:rPr>
                        <a:t>33.84</a:t>
                      </a:r>
                    </a:p>
                  </a:txBody>
                  <a:tcPr marL="73152" marR="73152" marT="27432" marB="27432" anchor="ctr">
                    <a:solidFill>
                      <a:srgbClr val="F4F8F9"/>
                    </a:solidFill>
                  </a:tcPr>
                </a:tc>
                <a:tc>
                  <a:txBody>
                    <a:bodyPr/>
                    <a:lstStyle/>
                    <a:p>
                      <a:pPr algn="ctr"/>
                      <a:r>
                        <a:rPr sz="1400" b="0">
                          <a:solidFill>
                            <a:srgbClr val="142B33"/>
                          </a:solidFill>
                          <a:latin typeface="Calibri"/>
                        </a:rPr>
                        <a:t>1</a:t>
                      </a:r>
                    </a:p>
                  </a:txBody>
                  <a:tcPr marL="73152" marR="73152" marT="27432" marB="27432" anchor="ctr">
                    <a:solidFill>
                      <a:srgbClr val="F4F8F9"/>
                    </a:solidFill>
                  </a:tcPr>
                </a:tc>
                <a:tc>
                  <a:txBody>
                    <a:bodyPr/>
                    <a:lstStyle/>
                    <a:p>
                      <a:pPr algn="ctr"/>
                      <a:r>
                        <a:rPr sz="1400" b="0">
                          <a:solidFill>
                            <a:srgbClr val="142B33"/>
                          </a:solidFill>
                          <a:latin typeface="Calibri"/>
                        </a:rPr>
                        <a:t>0.37</a:t>
                      </a:r>
                    </a:p>
                  </a:txBody>
                  <a:tcPr marL="73152" marR="73152" marT="27432" marB="27432" anchor="ctr">
                    <a:solidFill>
                      <a:srgbClr val="F4F8F9"/>
                    </a:solidFill>
                  </a:tcPr>
                </a:tc>
                <a:tc>
                  <a:txBody>
                    <a:bodyPr/>
                    <a:lstStyle/>
                    <a:p>
                      <a:pPr algn="ctr"/>
                      <a:r>
                        <a:rPr sz="1400" b="0">
                          <a:solidFill>
                            <a:srgbClr val="142B33"/>
                          </a:solidFill>
                          <a:latin typeface="Calibri"/>
                        </a:rPr>
                        <a:t>No</a:t>
                      </a:r>
                    </a:p>
                  </a:txBody>
                  <a:tcPr marL="73152" marR="73152" marT="27432" marB="27432" anchor="ctr">
                    <a:solidFill>
                      <a:srgbClr val="F4F8F9"/>
                    </a:solidFill>
                  </a:tcPr>
                </a:tc>
              </a:tr>
              <a:tr h="335788">
                <a:tc>
                  <a:txBody>
                    <a:bodyPr/>
                    <a:lstStyle/>
                    <a:p>
                      <a:pPr algn="ctr"/>
                      <a:r>
                        <a:rPr sz="1400" b="0">
                          <a:solidFill>
                            <a:srgbClr val="142B33"/>
                          </a:solidFill>
                          <a:latin typeface="Calibri"/>
                        </a:rPr>
                        <a:t>AB</a:t>
                      </a:r>
                      <a:r>
                        <a:rPr sz="1400" b="0" baseline="-25000">
                          <a:solidFill>
                            <a:srgbClr val="142B33"/>
                          </a:solidFill>
                          <a:latin typeface="Calibri"/>
                        </a:rPr>
                        <a:t>Q×L</a:t>
                      </a:r>
                    </a:p>
                  </a:txBody>
                  <a:tcPr marL="73152" marR="73152" marT="27432" marB="27432" anchor="ctr">
                    <a:solidFill>
                      <a:srgbClr val="FFFFFF"/>
                    </a:solidFill>
                  </a:tcPr>
                </a:tc>
                <a:tc>
                  <a:txBody>
                    <a:bodyPr/>
                    <a:lstStyle/>
                    <a:p>
                      <a:pPr algn="ctr"/>
                      <a:r>
                        <a:rPr sz="1400" b="0">
                          <a:solidFill>
                            <a:srgbClr val="142B33"/>
                          </a:solidFill>
                          <a:latin typeface="Calibri"/>
                        </a:rPr>
                        <a:t>79.06</a:t>
                      </a:r>
                    </a:p>
                  </a:txBody>
                  <a:tcPr marL="73152" marR="73152" marT="27432" marB="27432" anchor="ctr">
                    <a:solidFill>
                      <a:srgbClr val="FFFFFF"/>
                    </a:solidFill>
                  </a:tcPr>
                </a:tc>
                <a:tc>
                  <a:txBody>
                    <a:bodyPr/>
                    <a:lstStyle/>
                    <a:p>
                      <a:pPr algn="ctr"/>
                      <a:r>
                        <a:rPr sz="1400" b="0">
                          <a:solidFill>
                            <a:srgbClr val="142B33"/>
                          </a:solidFill>
                          <a:latin typeface="Calibri"/>
                        </a:rPr>
                        <a:t>1</a:t>
                      </a:r>
                    </a:p>
                  </a:txBody>
                  <a:tcPr marL="73152" marR="73152" marT="27432" marB="27432" anchor="ctr">
                    <a:solidFill>
                      <a:srgbClr val="FFFFFF"/>
                    </a:solidFill>
                  </a:tcPr>
                </a:tc>
                <a:tc>
                  <a:txBody>
                    <a:bodyPr/>
                    <a:lstStyle/>
                    <a:p>
                      <a:pPr algn="ctr"/>
                      <a:r>
                        <a:rPr sz="1400" b="0">
                          <a:solidFill>
                            <a:srgbClr val="142B33"/>
                          </a:solidFill>
                          <a:latin typeface="Calibri"/>
                        </a:rPr>
                        <a:t>0.87</a:t>
                      </a:r>
                    </a:p>
                  </a:txBody>
                  <a:tcPr marL="73152" marR="73152" marT="27432" marB="27432" anchor="ctr">
                    <a:solidFill>
                      <a:srgbClr val="FFFFFF"/>
                    </a:solidFill>
                  </a:tcPr>
                </a:tc>
                <a:tc>
                  <a:txBody>
                    <a:bodyPr/>
                    <a:lstStyle/>
                    <a:p>
                      <a:pPr algn="ctr"/>
                      <a:r>
                        <a:rPr sz="1400" b="0">
                          <a:solidFill>
                            <a:srgbClr val="142B33"/>
                          </a:solidFill>
                          <a:latin typeface="Calibri"/>
                        </a:rPr>
                        <a:t>No</a:t>
                      </a:r>
                    </a:p>
                  </a:txBody>
                  <a:tcPr marL="73152" marR="73152" marT="27432" marB="27432" anchor="ctr">
                    <a:solidFill>
                      <a:srgbClr val="FFFFFF"/>
                    </a:solidFill>
                  </a:tcPr>
                </a:tc>
              </a:tr>
              <a:tr h="335788">
                <a:tc>
                  <a:txBody>
                    <a:bodyPr/>
                    <a:lstStyle/>
                    <a:p>
                      <a:pPr algn="ctr"/>
                      <a:r>
                        <a:rPr sz="1400" b="0">
                          <a:solidFill>
                            <a:srgbClr val="142B33"/>
                          </a:solidFill>
                          <a:latin typeface="Calibri"/>
                        </a:rPr>
                        <a:t>AB</a:t>
                      </a:r>
                      <a:r>
                        <a:rPr sz="1400" b="0" baseline="-25000">
                          <a:solidFill>
                            <a:srgbClr val="142B33"/>
                          </a:solidFill>
                          <a:latin typeface="Calibri"/>
                        </a:rPr>
                        <a:t>Q×Q</a:t>
                      </a:r>
                    </a:p>
                  </a:txBody>
                  <a:tcPr marL="73152" marR="73152" marT="27432" marB="27432" anchor="ctr">
                    <a:solidFill>
                      <a:srgbClr val="F4F8F9"/>
                    </a:solidFill>
                  </a:tcPr>
                </a:tc>
                <a:tc>
                  <a:txBody>
                    <a:bodyPr/>
                    <a:lstStyle/>
                    <a:p>
                      <a:pPr algn="ctr"/>
                      <a:r>
                        <a:rPr sz="1400" b="0">
                          <a:solidFill>
                            <a:srgbClr val="142B33"/>
                          </a:solidFill>
                          <a:latin typeface="Calibri"/>
                        </a:rPr>
                        <a:t>0.95</a:t>
                      </a:r>
                    </a:p>
                  </a:txBody>
                  <a:tcPr marL="73152" marR="73152" marT="27432" marB="27432" anchor="ctr">
                    <a:solidFill>
                      <a:srgbClr val="F4F8F9"/>
                    </a:solidFill>
                  </a:tcPr>
                </a:tc>
                <a:tc>
                  <a:txBody>
                    <a:bodyPr/>
                    <a:lstStyle/>
                    <a:p>
                      <a:pPr algn="ctr"/>
                      <a:r>
                        <a:rPr sz="1400" b="0">
                          <a:solidFill>
                            <a:srgbClr val="142B33"/>
                          </a:solidFill>
                          <a:latin typeface="Calibri"/>
                        </a:rPr>
                        <a:t>1</a:t>
                      </a:r>
                    </a:p>
                  </a:txBody>
                  <a:tcPr marL="73152" marR="73152" marT="27432" marB="27432" anchor="ctr">
                    <a:solidFill>
                      <a:srgbClr val="F4F8F9"/>
                    </a:solidFill>
                  </a:tcPr>
                </a:tc>
                <a:tc>
                  <a:txBody>
                    <a:bodyPr/>
                    <a:lstStyle/>
                    <a:p>
                      <a:pPr algn="ctr"/>
                      <a:r>
                        <a:rPr sz="1400" b="0">
                          <a:solidFill>
                            <a:srgbClr val="142B33"/>
                          </a:solidFill>
                          <a:latin typeface="Calibri"/>
                        </a:rPr>
                        <a:t>0.01</a:t>
                      </a:r>
                    </a:p>
                  </a:txBody>
                  <a:tcPr marL="73152" marR="73152" marT="27432" marB="27432" anchor="ctr">
                    <a:solidFill>
                      <a:srgbClr val="F4F8F9"/>
                    </a:solidFill>
                  </a:tcPr>
                </a:tc>
                <a:tc>
                  <a:txBody>
                    <a:bodyPr/>
                    <a:lstStyle/>
                    <a:p>
                      <a:pPr algn="ctr"/>
                      <a:r>
                        <a:rPr sz="1400" b="0">
                          <a:solidFill>
                            <a:srgbClr val="142B33"/>
                          </a:solidFill>
                          <a:latin typeface="Calibri"/>
                        </a:rPr>
                        <a:t>No</a:t>
                      </a:r>
                    </a:p>
                  </a:txBody>
                  <a:tcPr marL="73152" marR="73152" marT="27432" marB="27432" anchor="ctr">
                    <a:solidFill>
                      <a:srgbClr val="F4F8F9"/>
                    </a:solidFill>
                  </a:tcPr>
                </a:tc>
              </a:tr>
            </a:tbl>
          </a:graphicData>
        </a:graphic>
      </p:graphicFrame>
      <p:sp>
        <p:nvSpPr>
          <p:cNvPr id="4" name="Rounded Rectangle 3"/>
          <p:cNvSpPr/>
          <p:nvPr/>
        </p:nvSpPr>
        <p:spPr>
          <a:xfrm>
            <a:off x="6515246" y="1417320"/>
            <a:ext cx="5127808" cy="53461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0">
                <a:solidFill>
                  <a:srgbClr val="0F4C5C"/>
                </a:solidFill>
                <a:latin typeface="Cambria Math"/>
              </a:rPr>
              <a:t>SS(A</a:t>
            </a:r>
            <a:r>
              <a:rPr sz="1500" b="0" baseline="-25000">
                <a:solidFill>
                  <a:srgbClr val="0F4C5C"/>
                </a:solidFill>
                <a:latin typeface="Cambria Math"/>
              </a:rPr>
              <a:t>L</a:t>
            </a:r>
            <a:r>
              <a:rPr sz="1500" b="0">
                <a:solidFill>
                  <a:srgbClr val="0F4C5C"/>
                </a:solidFill>
                <a:latin typeface="Cambria Math"/>
              </a:rPr>
              <a:t>) + SS(A</a:t>
            </a:r>
            <a:r>
              <a:rPr sz="1500" b="0" baseline="-25000">
                <a:solidFill>
                  <a:srgbClr val="0F4C5C"/>
                </a:solidFill>
                <a:latin typeface="Cambria Math"/>
              </a:rPr>
              <a:t>Q</a:t>
            </a:r>
            <a:r>
              <a:rPr sz="1500" b="0">
                <a:solidFill>
                  <a:srgbClr val="0F4C5C"/>
                </a:solidFill>
                <a:latin typeface="Cambria Math"/>
              </a:rPr>
              <a:t>) = 1297.92 + 205.64 = 1503.56 = SS</a:t>
            </a:r>
            <a:r>
              <a:rPr sz="1500" b="0" baseline="-25000">
                <a:solidFill>
                  <a:srgbClr val="0F4C5C"/>
                </a:solidFill>
                <a:latin typeface="Cambria Math"/>
              </a:rPr>
              <a:t>A</a:t>
            </a:r>
          </a:p>
        </p:txBody>
      </p:sp>
      <p:sp>
        <p:nvSpPr>
          <p:cNvPr id="5" name="Rounded Rectangle 4"/>
          <p:cNvSpPr/>
          <p:nvPr/>
        </p:nvSpPr>
        <p:spPr>
          <a:xfrm>
            <a:off x="6515246" y="2153107"/>
            <a:ext cx="5127808" cy="53461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0">
                <a:solidFill>
                  <a:srgbClr val="0F4C5C"/>
                </a:solidFill>
                <a:latin typeface="Cambria Math"/>
              </a:rPr>
              <a:t>Σ SS(AB</a:t>
            </a:r>
            <a:r>
              <a:rPr sz="1500" b="0" baseline="-25000">
                <a:solidFill>
                  <a:srgbClr val="0F4C5C"/>
                </a:solidFill>
                <a:latin typeface="Cambria Math"/>
              </a:rPr>
              <a:t>·×·</a:t>
            </a:r>
            <a:r>
              <a:rPr sz="1500" b="0">
                <a:solidFill>
                  <a:srgbClr val="0F4C5C"/>
                </a:solidFill>
                <a:latin typeface="Cambria Math"/>
              </a:rPr>
              <a:t>) = 586.64 = SS</a:t>
            </a:r>
            <a:r>
              <a:rPr sz="1500" b="0" baseline="-25000">
                <a:solidFill>
                  <a:srgbClr val="0F4C5C"/>
                </a:solidFill>
                <a:latin typeface="Cambria Math"/>
              </a:rPr>
              <a:t>AB</a:t>
            </a:r>
          </a:p>
        </p:txBody>
      </p:sp>
      <p:sp>
        <p:nvSpPr>
          <p:cNvPr id="6" name="TextBox 5"/>
          <p:cNvSpPr txBox="1"/>
          <p:nvPr/>
        </p:nvSpPr>
        <p:spPr>
          <a:xfrm>
            <a:off x="6515246" y="2888894"/>
            <a:ext cx="5127808" cy="1176528"/>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500" b="0">
                <a:solidFill>
                  <a:srgbClr val="142B33"/>
                </a:solidFill>
                <a:latin typeface="Calibri"/>
              </a:rPr>
              <a:t>Términos lineales: claros</a:t>
            </a:r>
          </a:p>
          <a:p>
            <a:pPr marL="320040" indent="-320040">
              <a:spcAft>
                <a:spcPts val="600"/>
              </a:spcAft>
              <a:buClr>
                <a:srgbClr val="E36414"/>
              </a:buClr>
              <a:buFont typeface="Arial"/>
              <a:buChar char="•"/>
            </a:pPr>
            <a:r>
              <a:rPr sz="1500" b="0">
                <a:solidFill>
                  <a:srgbClr val="142B33"/>
                </a:solidFill>
                <a:latin typeface="Calibri"/>
              </a:rPr>
              <a:t>Cuadráticos: en el límite (hay </a:t>
            </a:r>
            <a:r>
              <a:rPr sz="1500" b="1">
                <a:solidFill>
                  <a:srgbClr val="142B33"/>
                </a:solidFill>
                <a:latin typeface="Calibri"/>
              </a:rPr>
              <a:t>curvatura</a:t>
            </a:r>
            <a:r>
              <a:rPr sz="1500" b="0">
                <a:solidFill>
                  <a:srgbClr val="142B33"/>
                </a:solidFill>
                <a:latin typeface="Calibri"/>
              </a:rPr>
              <a:t>, sobre todo en la presión)</a:t>
            </a:r>
          </a:p>
          <a:p>
            <a:pPr marL="320040" indent="-320040">
              <a:spcAft>
                <a:spcPts val="600"/>
              </a:spcAft>
              <a:buClr>
                <a:srgbClr val="E36414"/>
              </a:buClr>
              <a:buFont typeface="Arial"/>
              <a:buChar char="•"/>
            </a:pPr>
            <a:r>
              <a:rPr sz="1500" b="0">
                <a:solidFill>
                  <a:srgbClr val="142B33"/>
                </a:solidFill>
                <a:latin typeface="Calibri"/>
              </a:rPr>
              <a:t>De la interacción solo importa </a:t>
            </a:r>
            <a:r>
              <a:rPr sz="1500" b="1">
                <a:solidFill>
                  <a:srgbClr val="142B33"/>
                </a:solidFill>
                <a:latin typeface="Calibri"/>
              </a:rPr>
              <a:t>L × L</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Los diseños 3</a:t>
            </a:r>
            <a:r>
              <a:rPr sz="1000" b="0" baseline="30000">
                <a:solidFill>
                  <a:srgbClr val="5B6B73"/>
                </a:solidFill>
                <a:latin typeface="Calibri"/>
              </a:rPr>
              <a:t>2</a:t>
            </a:r>
            <a:r>
              <a:rPr sz="1000" b="0">
                <a:solidFill>
                  <a:srgbClr val="5B6B73"/>
                </a:solidFill>
                <a:latin typeface="Calibri"/>
              </a:rPr>
              <a:t> y 3</a:t>
            </a:r>
            <a:r>
              <a:rPr sz="1000" b="0" baseline="30000">
                <a:solidFill>
                  <a:srgbClr val="5B6B73"/>
                </a:solidFill>
                <a:latin typeface="Calibri"/>
              </a:rPr>
              <a:t>3</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21</a:t>
            </a:r>
          </a:p>
        </p:txBody>
      </p:sp>
      <p:sp>
        <p:nvSpPr>
          <p:cNvPr id="9" name="Rounded Rectangle 8"/>
          <p:cNvSpPr/>
          <p:nvPr/>
        </p:nvSpPr>
        <p:spPr>
          <a:xfrm>
            <a:off x="548640" y="91440"/>
            <a:ext cx="258775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3 · Los diseños 3</a:t>
            </a:r>
            <a:r>
              <a:rPr sz="1100" b="1" baseline="30000">
                <a:solidFill>
                  <a:srgbClr val="FFFFFF"/>
                </a:solidFill>
                <a:latin typeface="Calibri"/>
              </a:rPr>
              <a:t>2</a:t>
            </a:r>
            <a:r>
              <a:rPr sz="1100" b="1">
                <a:solidFill>
                  <a:srgbClr val="FFFFFF"/>
                </a:solidFill>
                <a:latin typeface="Calibri"/>
              </a:rPr>
              <a:t> y 3</a:t>
            </a:r>
            <a:r>
              <a:rPr sz="1100" b="1" baseline="30000">
                <a:solidFill>
                  <a:srgbClr val="FFFFFF"/>
                </a:solidFill>
                <a:latin typeface="Calibri"/>
              </a:rPr>
              <a:t>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1 · Los componentes AB y AB</a:t>
            </a:r>
            <a:r>
              <a:rPr sz="3000" b="1" baseline="30000">
                <a:solidFill>
                  <a:srgbClr val="0F4C5C"/>
                </a:solidFill>
                <a:latin typeface="Cambria"/>
              </a:rPr>
              <a:t>2</a:t>
            </a:r>
            <a:r>
              <a:rPr sz="3000" b="1">
                <a:solidFill>
                  <a:srgbClr val="0F4C5C"/>
                </a:solidFill>
                <a:latin typeface="Cambria"/>
              </a:rPr>
              <a:t> con la regla L</a:t>
            </a:r>
          </a:p>
        </p:txBody>
      </p:sp>
      <p:graphicFrame>
        <p:nvGraphicFramePr>
          <p:cNvPr id="3" name="Table 2"/>
          <p:cNvGraphicFramePr>
            <a:graphicFrameLocks noGrp="1"/>
          </p:cNvGraphicFramePr>
          <p:nvPr/>
        </p:nvGraphicFramePr>
        <p:xfrm>
          <a:off x="548640" y="1417320"/>
          <a:ext cx="4914148" cy="2562850"/>
        </p:xfrm>
        <a:graphic>
          <a:graphicData uri="http://schemas.openxmlformats.org/drawingml/2006/table">
            <a:tbl>
              <a:tblPr firstRow="0" bandRow="0">
                <a:tableStyleId>{5C22544A-7EE6-4342-B048-85BDC9FD1C3A}</a:tableStyleId>
              </a:tblPr>
              <a:tblGrid>
                <a:gridCol w="1723761"/>
                <a:gridCol w="857119"/>
                <a:gridCol w="1104731"/>
                <a:gridCol w="1228537"/>
              </a:tblGrid>
              <a:tr h="256285">
                <a:tc>
                  <a:txBody>
                    <a:bodyPr/>
                    <a:lstStyle/>
                    <a:p>
                      <a:pPr algn="ctr"/>
                      <a:r>
                        <a:rPr sz="1300" b="1">
                          <a:solidFill>
                            <a:srgbClr val="FFFFFF"/>
                          </a:solidFill>
                          <a:latin typeface="Calibri"/>
                        </a:rPr>
                        <a:t>Celda (A, B)</a:t>
                      </a:r>
                    </a:p>
                  </a:txBody>
                  <a:tcPr marL="73152" marR="73152" marT="27432" marB="27432" anchor="ctr">
                    <a:solidFill>
                      <a:srgbClr val="0F4C5C"/>
                    </a:solidFill>
                  </a:tcPr>
                </a:tc>
                <a:tc>
                  <a:txBody>
                    <a:bodyPr/>
                    <a:lstStyle/>
                    <a:p>
                      <a:pPr algn="ctr"/>
                      <a:r>
                        <a:rPr sz="1300" b="1">
                          <a:solidFill>
                            <a:srgbClr val="FFFFFF"/>
                          </a:solidFill>
                          <a:latin typeface="Calibri"/>
                        </a:rPr>
                        <a:t>Total</a:t>
                      </a:r>
                    </a:p>
                  </a:txBody>
                  <a:tcPr marL="73152" marR="73152" marT="27432" marB="27432" anchor="ctr">
                    <a:solidFill>
                      <a:srgbClr val="0F4C5C"/>
                    </a:solidFill>
                  </a:tcPr>
                </a:tc>
                <a:tc>
                  <a:txBody>
                    <a:bodyPr/>
                    <a:lstStyle/>
                    <a:p>
                      <a:pPr algn="ctr"/>
                      <a:r>
                        <a:rPr sz="1300" b="1">
                          <a:solidFill>
                            <a:srgbClr val="FFFFFF"/>
                          </a:solidFill>
                          <a:latin typeface="Calibri"/>
                        </a:rPr>
                        <a:t>x</a:t>
                      </a:r>
                      <a:r>
                        <a:rPr sz="1300" b="1" baseline="-25000">
                          <a:solidFill>
                            <a:srgbClr val="FFFFFF"/>
                          </a:solidFill>
                          <a:latin typeface="Calibri"/>
                        </a:rPr>
                        <a:t>1</a:t>
                      </a:r>
                      <a:r>
                        <a:rPr sz="1300" b="1">
                          <a:solidFill>
                            <a:srgbClr val="FFFFFF"/>
                          </a:solidFill>
                          <a:latin typeface="Calibri"/>
                        </a:rPr>
                        <a:t> + x</a:t>
                      </a:r>
                      <a:r>
                        <a:rPr sz="1300" b="1" baseline="-25000">
                          <a:solidFill>
                            <a:srgbClr val="FFFFFF"/>
                          </a:solidFill>
                          <a:latin typeface="Calibri"/>
                        </a:rPr>
                        <a:t>2</a:t>
                      </a:r>
                    </a:p>
                  </a:txBody>
                  <a:tcPr marL="73152" marR="73152" marT="27432" marB="27432" anchor="ctr">
                    <a:solidFill>
                      <a:srgbClr val="0F4C5C"/>
                    </a:solidFill>
                  </a:tcPr>
                </a:tc>
                <a:tc>
                  <a:txBody>
                    <a:bodyPr/>
                    <a:lstStyle/>
                    <a:p>
                      <a:pPr algn="ctr"/>
                      <a:r>
                        <a:rPr sz="1300" b="1">
                          <a:solidFill>
                            <a:srgbClr val="FFFFFF"/>
                          </a:solidFill>
                          <a:latin typeface="Calibri"/>
                        </a:rPr>
                        <a:t>x</a:t>
                      </a:r>
                      <a:r>
                        <a:rPr sz="1300" b="1" baseline="-25000">
                          <a:solidFill>
                            <a:srgbClr val="FFFFFF"/>
                          </a:solidFill>
                          <a:latin typeface="Calibri"/>
                        </a:rPr>
                        <a:t>1</a:t>
                      </a:r>
                      <a:r>
                        <a:rPr sz="1300" b="1">
                          <a:solidFill>
                            <a:srgbClr val="FFFFFF"/>
                          </a:solidFill>
                          <a:latin typeface="Calibri"/>
                        </a:rPr>
                        <a:t> + 2x</a:t>
                      </a:r>
                      <a:r>
                        <a:rPr sz="1300" b="1" baseline="-25000">
                          <a:solidFill>
                            <a:srgbClr val="FFFFFF"/>
                          </a:solidFill>
                          <a:latin typeface="Calibri"/>
                        </a:rPr>
                        <a:t>2</a:t>
                      </a:r>
                    </a:p>
                  </a:txBody>
                  <a:tcPr marL="73152" marR="73152" marT="27432" marB="27432" anchor="ctr">
                    <a:solidFill>
                      <a:srgbClr val="0F4C5C"/>
                    </a:solidFill>
                  </a:tcPr>
                </a:tc>
              </a:tr>
              <a:tr h="256285">
                <a:tc>
                  <a:txBody>
                    <a:bodyPr/>
                    <a:lstStyle/>
                    <a:p>
                      <a:pPr algn="ctr"/>
                      <a:r>
                        <a:rPr sz="1300" b="0">
                          <a:solidFill>
                            <a:srgbClr val="142B33"/>
                          </a:solidFill>
                          <a:latin typeface="Calibri"/>
                        </a:rPr>
                        <a:t>00</a:t>
                      </a:r>
                    </a:p>
                  </a:txBody>
                  <a:tcPr marL="73152" marR="73152" marT="27432" marB="27432" anchor="ctr">
                    <a:solidFill>
                      <a:srgbClr val="FFFFFF"/>
                    </a:solidFill>
                  </a:tcPr>
                </a:tc>
                <a:tc>
                  <a:txBody>
                    <a:bodyPr/>
                    <a:lstStyle/>
                    <a:p>
                      <a:pPr algn="ctr"/>
                      <a:r>
                        <a:rPr sz="1300" b="0">
                          <a:solidFill>
                            <a:srgbClr val="142B33"/>
                          </a:solidFill>
                          <a:latin typeface="Calibri"/>
                        </a:rPr>
                        <a:t>96.35</a:t>
                      </a:r>
                    </a:p>
                  </a:txBody>
                  <a:tcPr marL="73152" marR="73152" marT="27432" marB="27432" anchor="ctr">
                    <a:solidFill>
                      <a:srgbClr val="FFFFFF"/>
                    </a:solidFill>
                  </a:tcPr>
                </a:tc>
                <a:tc>
                  <a:txBody>
                    <a:bodyPr/>
                    <a:lstStyle/>
                    <a:p>
                      <a:pPr algn="ctr"/>
                      <a:r>
                        <a:rPr sz="1300" b="0">
                          <a:solidFill>
                            <a:srgbClr val="142B33"/>
                          </a:solidFill>
                          <a:latin typeface="Calibri"/>
                        </a:rPr>
                        <a:t>0</a:t>
                      </a:r>
                    </a:p>
                  </a:txBody>
                  <a:tcPr marL="73152" marR="73152" marT="27432" marB="27432" anchor="ctr">
                    <a:solidFill>
                      <a:srgbClr val="FFFFFF"/>
                    </a:solidFill>
                  </a:tcPr>
                </a:tc>
                <a:tc>
                  <a:txBody>
                    <a:bodyPr/>
                    <a:lstStyle/>
                    <a:p>
                      <a:pPr algn="ctr"/>
                      <a:r>
                        <a:rPr sz="1300" b="0">
                          <a:solidFill>
                            <a:srgbClr val="142B33"/>
                          </a:solidFill>
                          <a:latin typeface="Calibri"/>
                        </a:rPr>
                        <a:t>0</a:t>
                      </a:r>
                    </a:p>
                  </a:txBody>
                  <a:tcPr marL="73152" marR="73152" marT="27432" marB="27432" anchor="ctr">
                    <a:solidFill>
                      <a:srgbClr val="FFFFFF"/>
                    </a:solidFill>
                  </a:tcPr>
                </a:tc>
              </a:tr>
              <a:tr h="256285">
                <a:tc>
                  <a:txBody>
                    <a:bodyPr/>
                    <a:lstStyle/>
                    <a:p>
                      <a:pPr algn="ctr"/>
                      <a:r>
                        <a:rPr sz="1300" b="0">
                          <a:solidFill>
                            <a:srgbClr val="142B33"/>
                          </a:solidFill>
                          <a:latin typeface="Calibri"/>
                        </a:rPr>
                        <a:t>01</a:t>
                      </a:r>
                    </a:p>
                  </a:txBody>
                  <a:tcPr marL="73152" marR="73152" marT="27432" marB="27432" anchor="ctr">
                    <a:solidFill>
                      <a:srgbClr val="F4F8F9"/>
                    </a:solidFill>
                  </a:tcPr>
                </a:tc>
                <a:tc>
                  <a:txBody>
                    <a:bodyPr/>
                    <a:lstStyle/>
                    <a:p>
                      <a:pPr algn="ctr"/>
                      <a:r>
                        <a:rPr sz="1300" b="0">
                          <a:solidFill>
                            <a:srgbClr val="142B33"/>
                          </a:solidFill>
                          <a:latin typeface="Calibri"/>
                        </a:rPr>
                        <a:t>134.19</a:t>
                      </a:r>
                    </a:p>
                  </a:txBody>
                  <a:tcPr marL="73152" marR="73152" marT="27432" marB="27432" anchor="ctr">
                    <a:solidFill>
                      <a:srgbClr val="F4F8F9"/>
                    </a:solidFill>
                  </a:tcPr>
                </a:tc>
                <a:tc>
                  <a:txBody>
                    <a:bodyPr/>
                    <a:lstStyle/>
                    <a:p>
                      <a:pPr algn="ctr"/>
                      <a:r>
                        <a:rPr sz="1300" b="0">
                          <a:solidFill>
                            <a:srgbClr val="142B33"/>
                          </a:solidFill>
                          <a:latin typeface="Calibri"/>
                        </a:rPr>
                        <a:t>1</a:t>
                      </a:r>
                    </a:p>
                  </a:txBody>
                  <a:tcPr marL="73152" marR="73152" marT="27432" marB="27432" anchor="ctr">
                    <a:solidFill>
                      <a:srgbClr val="F4F8F9"/>
                    </a:solidFill>
                  </a:tcPr>
                </a:tc>
                <a:tc>
                  <a:txBody>
                    <a:bodyPr/>
                    <a:lstStyle/>
                    <a:p>
                      <a:pPr algn="ctr"/>
                      <a:r>
                        <a:rPr sz="1300" b="0">
                          <a:solidFill>
                            <a:srgbClr val="142B33"/>
                          </a:solidFill>
                          <a:latin typeface="Calibri"/>
                        </a:rPr>
                        <a:t>2</a:t>
                      </a:r>
                    </a:p>
                  </a:txBody>
                  <a:tcPr marL="73152" marR="73152" marT="27432" marB="27432" anchor="ctr">
                    <a:solidFill>
                      <a:srgbClr val="F4F8F9"/>
                    </a:solidFill>
                  </a:tcPr>
                </a:tc>
              </a:tr>
              <a:tr h="256285">
                <a:tc>
                  <a:txBody>
                    <a:bodyPr/>
                    <a:lstStyle/>
                    <a:p>
                      <a:pPr algn="ctr"/>
                      <a:r>
                        <a:rPr sz="1300" b="0">
                          <a:solidFill>
                            <a:srgbClr val="142B33"/>
                          </a:solidFill>
                          <a:latin typeface="Calibri"/>
                        </a:rPr>
                        <a:t>02</a:t>
                      </a:r>
                    </a:p>
                  </a:txBody>
                  <a:tcPr marL="73152" marR="73152" marT="27432" marB="27432" anchor="ctr">
                    <a:solidFill>
                      <a:srgbClr val="FFFFFF"/>
                    </a:solidFill>
                  </a:tcPr>
                </a:tc>
                <a:tc>
                  <a:txBody>
                    <a:bodyPr/>
                    <a:lstStyle/>
                    <a:p>
                      <a:pPr algn="ctr"/>
                      <a:r>
                        <a:rPr sz="1300" b="0">
                          <a:solidFill>
                            <a:srgbClr val="142B33"/>
                          </a:solidFill>
                          <a:latin typeface="Calibri"/>
                        </a:rPr>
                        <a:t>153.52</a:t>
                      </a:r>
                    </a:p>
                  </a:txBody>
                  <a:tcPr marL="73152" marR="73152" marT="27432" marB="27432" anchor="ctr">
                    <a:solidFill>
                      <a:srgbClr val="FFFFFF"/>
                    </a:solidFill>
                  </a:tcPr>
                </a:tc>
                <a:tc>
                  <a:txBody>
                    <a:bodyPr/>
                    <a:lstStyle/>
                    <a:p>
                      <a:pPr algn="ctr"/>
                      <a:r>
                        <a:rPr sz="1300" b="0">
                          <a:solidFill>
                            <a:srgbClr val="142B33"/>
                          </a:solidFill>
                          <a:latin typeface="Calibri"/>
                        </a:rPr>
                        <a:t>2</a:t>
                      </a:r>
                    </a:p>
                  </a:txBody>
                  <a:tcPr marL="73152" marR="73152" marT="27432" marB="27432" anchor="ctr">
                    <a:solidFill>
                      <a:srgbClr val="FFFFFF"/>
                    </a:solidFill>
                  </a:tcPr>
                </a:tc>
                <a:tc>
                  <a:txBody>
                    <a:bodyPr/>
                    <a:lstStyle/>
                    <a:p>
                      <a:pPr algn="ctr"/>
                      <a:r>
                        <a:rPr sz="1300" b="0">
                          <a:solidFill>
                            <a:srgbClr val="142B33"/>
                          </a:solidFill>
                          <a:latin typeface="Calibri"/>
                        </a:rPr>
                        <a:t>1</a:t>
                      </a:r>
                    </a:p>
                  </a:txBody>
                  <a:tcPr marL="73152" marR="73152" marT="27432" marB="27432" anchor="ctr">
                    <a:solidFill>
                      <a:srgbClr val="FFFFFF"/>
                    </a:solidFill>
                  </a:tcPr>
                </a:tc>
              </a:tr>
              <a:tr h="256285">
                <a:tc>
                  <a:txBody>
                    <a:bodyPr/>
                    <a:lstStyle/>
                    <a:p>
                      <a:pPr algn="ctr"/>
                      <a:r>
                        <a:rPr sz="1300" b="0">
                          <a:solidFill>
                            <a:srgbClr val="142B33"/>
                          </a:solidFill>
                          <a:latin typeface="Calibri"/>
                        </a:rPr>
                        <a:t>10</a:t>
                      </a:r>
                    </a:p>
                  </a:txBody>
                  <a:tcPr marL="73152" marR="73152" marT="27432" marB="27432" anchor="ctr">
                    <a:solidFill>
                      <a:srgbClr val="F4F8F9"/>
                    </a:solidFill>
                  </a:tcPr>
                </a:tc>
                <a:tc>
                  <a:txBody>
                    <a:bodyPr/>
                    <a:lstStyle/>
                    <a:p>
                      <a:pPr algn="ctr"/>
                      <a:r>
                        <a:rPr sz="1300" b="0">
                          <a:solidFill>
                            <a:srgbClr val="142B33"/>
                          </a:solidFill>
                          <a:latin typeface="Calibri"/>
                        </a:rPr>
                        <a:t>134.29</a:t>
                      </a:r>
                    </a:p>
                  </a:txBody>
                  <a:tcPr marL="73152" marR="73152" marT="27432" marB="27432" anchor="ctr">
                    <a:solidFill>
                      <a:srgbClr val="F4F8F9"/>
                    </a:solidFill>
                  </a:tcPr>
                </a:tc>
                <a:tc>
                  <a:txBody>
                    <a:bodyPr/>
                    <a:lstStyle/>
                    <a:p>
                      <a:pPr algn="ctr"/>
                      <a:r>
                        <a:rPr sz="1300" b="0">
                          <a:solidFill>
                            <a:srgbClr val="142B33"/>
                          </a:solidFill>
                          <a:latin typeface="Calibri"/>
                        </a:rPr>
                        <a:t>1</a:t>
                      </a:r>
                    </a:p>
                  </a:txBody>
                  <a:tcPr marL="73152" marR="73152" marT="27432" marB="27432" anchor="ctr">
                    <a:solidFill>
                      <a:srgbClr val="F4F8F9"/>
                    </a:solidFill>
                  </a:tcPr>
                </a:tc>
                <a:tc>
                  <a:txBody>
                    <a:bodyPr/>
                    <a:lstStyle/>
                    <a:p>
                      <a:pPr algn="ctr"/>
                      <a:r>
                        <a:rPr sz="1300" b="0">
                          <a:solidFill>
                            <a:srgbClr val="142B33"/>
                          </a:solidFill>
                          <a:latin typeface="Calibri"/>
                        </a:rPr>
                        <a:t>1</a:t>
                      </a:r>
                    </a:p>
                  </a:txBody>
                  <a:tcPr marL="73152" marR="73152" marT="27432" marB="27432" anchor="ctr">
                    <a:solidFill>
                      <a:srgbClr val="F4F8F9"/>
                    </a:solidFill>
                  </a:tcPr>
                </a:tc>
              </a:tr>
              <a:tr h="256285">
                <a:tc>
                  <a:txBody>
                    <a:bodyPr/>
                    <a:lstStyle/>
                    <a:p>
                      <a:pPr algn="ctr"/>
                      <a:r>
                        <a:rPr sz="1300" b="0">
                          <a:solidFill>
                            <a:srgbClr val="142B33"/>
                          </a:solidFill>
                          <a:latin typeface="Calibri"/>
                        </a:rPr>
                        <a:t>11</a:t>
                      </a:r>
                    </a:p>
                  </a:txBody>
                  <a:tcPr marL="73152" marR="73152" marT="27432" marB="27432" anchor="ctr">
                    <a:solidFill>
                      <a:srgbClr val="FFFFFF"/>
                    </a:solidFill>
                  </a:tcPr>
                </a:tc>
                <a:tc>
                  <a:txBody>
                    <a:bodyPr/>
                    <a:lstStyle/>
                    <a:p>
                      <a:pPr algn="ctr"/>
                      <a:r>
                        <a:rPr sz="1300" b="0">
                          <a:solidFill>
                            <a:srgbClr val="142B33"/>
                          </a:solidFill>
                          <a:latin typeface="Calibri"/>
                        </a:rPr>
                        <a:t>172.70</a:t>
                      </a:r>
                    </a:p>
                  </a:txBody>
                  <a:tcPr marL="73152" marR="73152" marT="27432" marB="27432" anchor="ctr">
                    <a:solidFill>
                      <a:srgbClr val="FFFFFF"/>
                    </a:solidFill>
                  </a:tcPr>
                </a:tc>
                <a:tc>
                  <a:txBody>
                    <a:bodyPr/>
                    <a:lstStyle/>
                    <a:p>
                      <a:pPr algn="ctr"/>
                      <a:r>
                        <a:rPr sz="1300" b="0">
                          <a:solidFill>
                            <a:srgbClr val="142B33"/>
                          </a:solidFill>
                          <a:latin typeface="Calibri"/>
                        </a:rPr>
                        <a:t>2</a:t>
                      </a:r>
                    </a:p>
                  </a:txBody>
                  <a:tcPr marL="73152" marR="73152" marT="27432" marB="27432" anchor="ctr">
                    <a:solidFill>
                      <a:srgbClr val="FFFFFF"/>
                    </a:solidFill>
                  </a:tcPr>
                </a:tc>
                <a:tc>
                  <a:txBody>
                    <a:bodyPr/>
                    <a:lstStyle/>
                    <a:p>
                      <a:pPr algn="ctr"/>
                      <a:r>
                        <a:rPr sz="1300" b="0">
                          <a:solidFill>
                            <a:srgbClr val="142B33"/>
                          </a:solidFill>
                          <a:latin typeface="Calibri"/>
                        </a:rPr>
                        <a:t>0</a:t>
                      </a:r>
                    </a:p>
                  </a:txBody>
                  <a:tcPr marL="73152" marR="73152" marT="27432" marB="27432" anchor="ctr">
                    <a:solidFill>
                      <a:srgbClr val="FFFFFF"/>
                    </a:solidFill>
                  </a:tcPr>
                </a:tc>
              </a:tr>
              <a:tr h="256285">
                <a:tc>
                  <a:txBody>
                    <a:bodyPr/>
                    <a:lstStyle/>
                    <a:p>
                      <a:pPr algn="ctr"/>
                      <a:r>
                        <a:rPr sz="1300" b="0">
                          <a:solidFill>
                            <a:srgbClr val="142B33"/>
                          </a:solidFill>
                          <a:latin typeface="Calibri"/>
                        </a:rPr>
                        <a:t>12</a:t>
                      </a:r>
                    </a:p>
                  </a:txBody>
                  <a:tcPr marL="73152" marR="73152" marT="27432" marB="27432" anchor="ctr">
                    <a:solidFill>
                      <a:srgbClr val="F4F8F9"/>
                    </a:solidFill>
                  </a:tcPr>
                </a:tc>
                <a:tc>
                  <a:txBody>
                    <a:bodyPr/>
                    <a:lstStyle/>
                    <a:p>
                      <a:pPr algn="ctr"/>
                      <a:r>
                        <a:rPr sz="1300" b="0">
                          <a:solidFill>
                            <a:srgbClr val="142B33"/>
                          </a:solidFill>
                          <a:latin typeface="Calibri"/>
                        </a:rPr>
                        <a:t>182.49</a:t>
                      </a:r>
                    </a:p>
                  </a:txBody>
                  <a:tcPr marL="73152" marR="73152" marT="27432" marB="27432" anchor="ctr">
                    <a:solidFill>
                      <a:srgbClr val="F4F8F9"/>
                    </a:solidFill>
                  </a:tcPr>
                </a:tc>
                <a:tc>
                  <a:txBody>
                    <a:bodyPr/>
                    <a:lstStyle/>
                    <a:p>
                      <a:pPr algn="ctr"/>
                      <a:r>
                        <a:rPr sz="1300" b="0">
                          <a:solidFill>
                            <a:srgbClr val="142B33"/>
                          </a:solidFill>
                          <a:latin typeface="Calibri"/>
                        </a:rPr>
                        <a:t>0</a:t>
                      </a:r>
                    </a:p>
                  </a:txBody>
                  <a:tcPr marL="73152" marR="73152" marT="27432" marB="27432" anchor="ctr">
                    <a:solidFill>
                      <a:srgbClr val="F4F8F9"/>
                    </a:solidFill>
                  </a:tcPr>
                </a:tc>
                <a:tc>
                  <a:txBody>
                    <a:bodyPr/>
                    <a:lstStyle/>
                    <a:p>
                      <a:pPr algn="ctr"/>
                      <a:r>
                        <a:rPr sz="1300" b="0">
                          <a:solidFill>
                            <a:srgbClr val="142B33"/>
                          </a:solidFill>
                          <a:latin typeface="Calibri"/>
                        </a:rPr>
                        <a:t>2</a:t>
                      </a:r>
                    </a:p>
                  </a:txBody>
                  <a:tcPr marL="73152" marR="73152" marT="27432" marB="27432" anchor="ctr">
                    <a:solidFill>
                      <a:srgbClr val="F4F8F9"/>
                    </a:solidFill>
                  </a:tcPr>
                </a:tc>
              </a:tr>
              <a:tr h="256285">
                <a:tc>
                  <a:txBody>
                    <a:bodyPr/>
                    <a:lstStyle/>
                    <a:p>
                      <a:pPr algn="ctr"/>
                      <a:r>
                        <a:rPr sz="1300" b="0">
                          <a:solidFill>
                            <a:srgbClr val="142B33"/>
                          </a:solidFill>
                          <a:latin typeface="Calibri"/>
                        </a:rPr>
                        <a:t>20</a:t>
                      </a:r>
                    </a:p>
                  </a:txBody>
                  <a:tcPr marL="73152" marR="73152" marT="27432" marB="27432" anchor="ctr">
                    <a:solidFill>
                      <a:srgbClr val="FFFFFF"/>
                    </a:solidFill>
                  </a:tcPr>
                </a:tc>
                <a:tc>
                  <a:txBody>
                    <a:bodyPr/>
                    <a:lstStyle/>
                    <a:p>
                      <a:pPr algn="ctr"/>
                      <a:r>
                        <a:rPr sz="1300" b="0">
                          <a:solidFill>
                            <a:srgbClr val="142B33"/>
                          </a:solidFill>
                          <a:latin typeface="Calibri"/>
                        </a:rPr>
                        <a:t>163.95</a:t>
                      </a:r>
                    </a:p>
                  </a:txBody>
                  <a:tcPr marL="73152" marR="73152" marT="27432" marB="27432" anchor="ctr">
                    <a:solidFill>
                      <a:srgbClr val="FFFFFF"/>
                    </a:solidFill>
                  </a:tcPr>
                </a:tc>
                <a:tc>
                  <a:txBody>
                    <a:bodyPr/>
                    <a:lstStyle/>
                    <a:p>
                      <a:pPr algn="ctr"/>
                      <a:r>
                        <a:rPr sz="1300" b="0">
                          <a:solidFill>
                            <a:srgbClr val="142B33"/>
                          </a:solidFill>
                          <a:latin typeface="Calibri"/>
                        </a:rPr>
                        <a:t>2</a:t>
                      </a:r>
                    </a:p>
                  </a:txBody>
                  <a:tcPr marL="73152" marR="73152" marT="27432" marB="27432" anchor="ctr">
                    <a:solidFill>
                      <a:srgbClr val="FFFFFF"/>
                    </a:solidFill>
                  </a:tcPr>
                </a:tc>
                <a:tc>
                  <a:txBody>
                    <a:bodyPr/>
                    <a:lstStyle/>
                    <a:p>
                      <a:pPr algn="ctr"/>
                      <a:r>
                        <a:rPr sz="1300" b="0">
                          <a:solidFill>
                            <a:srgbClr val="142B33"/>
                          </a:solidFill>
                          <a:latin typeface="Calibri"/>
                        </a:rPr>
                        <a:t>2</a:t>
                      </a:r>
                    </a:p>
                  </a:txBody>
                  <a:tcPr marL="73152" marR="73152" marT="27432" marB="27432" anchor="ctr">
                    <a:solidFill>
                      <a:srgbClr val="FFFFFF"/>
                    </a:solidFill>
                  </a:tcPr>
                </a:tc>
              </a:tr>
              <a:tr h="256285">
                <a:tc>
                  <a:txBody>
                    <a:bodyPr/>
                    <a:lstStyle/>
                    <a:p>
                      <a:pPr algn="ctr"/>
                      <a:r>
                        <a:rPr sz="1300" b="0">
                          <a:solidFill>
                            <a:srgbClr val="142B33"/>
                          </a:solidFill>
                          <a:latin typeface="Calibri"/>
                        </a:rPr>
                        <a:t>21</a:t>
                      </a:r>
                    </a:p>
                  </a:txBody>
                  <a:tcPr marL="73152" marR="73152" marT="27432" marB="27432" anchor="ctr">
                    <a:solidFill>
                      <a:srgbClr val="F4F8F9"/>
                    </a:solidFill>
                  </a:tcPr>
                </a:tc>
                <a:tc>
                  <a:txBody>
                    <a:bodyPr/>
                    <a:lstStyle/>
                    <a:p>
                      <a:pPr algn="ctr"/>
                      <a:r>
                        <a:rPr sz="1300" b="0">
                          <a:solidFill>
                            <a:srgbClr val="142B33"/>
                          </a:solidFill>
                          <a:latin typeface="Calibri"/>
                        </a:rPr>
                        <a:t>185.29</a:t>
                      </a:r>
                    </a:p>
                  </a:txBody>
                  <a:tcPr marL="73152" marR="73152" marT="27432" marB="27432" anchor="ctr">
                    <a:solidFill>
                      <a:srgbClr val="F4F8F9"/>
                    </a:solidFill>
                  </a:tcPr>
                </a:tc>
                <a:tc>
                  <a:txBody>
                    <a:bodyPr/>
                    <a:lstStyle/>
                    <a:p>
                      <a:pPr algn="ctr"/>
                      <a:r>
                        <a:rPr sz="1300" b="0">
                          <a:solidFill>
                            <a:srgbClr val="142B33"/>
                          </a:solidFill>
                          <a:latin typeface="Calibri"/>
                        </a:rPr>
                        <a:t>0</a:t>
                      </a:r>
                    </a:p>
                  </a:txBody>
                  <a:tcPr marL="73152" marR="73152" marT="27432" marB="27432" anchor="ctr">
                    <a:solidFill>
                      <a:srgbClr val="F4F8F9"/>
                    </a:solidFill>
                  </a:tcPr>
                </a:tc>
                <a:tc>
                  <a:txBody>
                    <a:bodyPr/>
                    <a:lstStyle/>
                    <a:p>
                      <a:pPr algn="ctr"/>
                      <a:r>
                        <a:rPr sz="1300" b="0">
                          <a:solidFill>
                            <a:srgbClr val="142B33"/>
                          </a:solidFill>
                          <a:latin typeface="Calibri"/>
                        </a:rPr>
                        <a:t>1</a:t>
                      </a:r>
                    </a:p>
                  </a:txBody>
                  <a:tcPr marL="73152" marR="73152" marT="27432" marB="27432" anchor="ctr">
                    <a:solidFill>
                      <a:srgbClr val="F4F8F9"/>
                    </a:solidFill>
                  </a:tcPr>
                </a:tc>
              </a:tr>
              <a:tr h="256285">
                <a:tc>
                  <a:txBody>
                    <a:bodyPr/>
                    <a:lstStyle/>
                    <a:p>
                      <a:pPr algn="ctr"/>
                      <a:r>
                        <a:rPr sz="1300" b="0">
                          <a:solidFill>
                            <a:srgbClr val="142B33"/>
                          </a:solidFill>
                          <a:latin typeface="Calibri"/>
                        </a:rPr>
                        <a:t>22</a:t>
                      </a:r>
                    </a:p>
                  </a:txBody>
                  <a:tcPr marL="73152" marR="73152" marT="27432" marB="27432" anchor="ctr">
                    <a:solidFill>
                      <a:srgbClr val="FFFFFF"/>
                    </a:solidFill>
                  </a:tcPr>
                </a:tc>
                <a:tc>
                  <a:txBody>
                    <a:bodyPr/>
                    <a:lstStyle/>
                    <a:p>
                      <a:pPr algn="ctr"/>
                      <a:r>
                        <a:rPr sz="1300" b="0">
                          <a:solidFill>
                            <a:srgbClr val="142B33"/>
                          </a:solidFill>
                          <a:latin typeface="Calibri"/>
                        </a:rPr>
                        <a:t>159.62</a:t>
                      </a:r>
                    </a:p>
                  </a:txBody>
                  <a:tcPr marL="73152" marR="73152" marT="27432" marB="27432" anchor="ctr">
                    <a:solidFill>
                      <a:srgbClr val="FFFFFF"/>
                    </a:solidFill>
                  </a:tcPr>
                </a:tc>
                <a:tc>
                  <a:txBody>
                    <a:bodyPr/>
                    <a:lstStyle/>
                    <a:p>
                      <a:pPr algn="ctr"/>
                      <a:r>
                        <a:rPr sz="1300" b="0">
                          <a:solidFill>
                            <a:srgbClr val="142B33"/>
                          </a:solidFill>
                          <a:latin typeface="Calibri"/>
                        </a:rPr>
                        <a:t>1</a:t>
                      </a:r>
                    </a:p>
                  </a:txBody>
                  <a:tcPr marL="73152" marR="73152" marT="27432" marB="27432" anchor="ctr">
                    <a:solidFill>
                      <a:srgbClr val="FFFFFF"/>
                    </a:solidFill>
                  </a:tcPr>
                </a:tc>
                <a:tc>
                  <a:txBody>
                    <a:bodyPr/>
                    <a:lstStyle/>
                    <a:p>
                      <a:pPr algn="ctr"/>
                      <a:r>
                        <a:rPr sz="1300" b="0">
                          <a:solidFill>
                            <a:srgbClr val="142B33"/>
                          </a:solidFill>
                          <a:latin typeface="Calibri"/>
                        </a:rPr>
                        <a:t>0</a:t>
                      </a:r>
                    </a:p>
                  </a:txBody>
                  <a:tcPr marL="73152" marR="73152" marT="27432" marB="27432" anchor="ctr">
                    <a:solidFill>
                      <a:srgbClr val="FFFFFF"/>
                    </a:solidFill>
                  </a:tcPr>
                </a:tc>
              </a:tr>
            </a:tbl>
          </a:graphicData>
        </a:graphic>
      </p:graphicFrame>
      <p:graphicFrame>
        <p:nvGraphicFramePr>
          <p:cNvPr id="4" name="Table 3"/>
          <p:cNvGraphicFramePr>
            <a:graphicFrameLocks noGrp="1"/>
          </p:cNvGraphicFramePr>
          <p:nvPr/>
        </p:nvGraphicFramePr>
        <p:xfrm>
          <a:off x="5874270" y="1417320"/>
          <a:ext cx="5768782" cy="1007364"/>
        </p:xfrm>
        <a:graphic>
          <a:graphicData uri="http://schemas.openxmlformats.org/drawingml/2006/table">
            <a:tbl>
              <a:tblPr firstRow="0" bandRow="0">
                <a:tableStyleId>{5C22544A-7EE6-4342-B048-85BDC9FD1C3A}</a:tableStyleId>
              </a:tblPr>
              <a:tblGrid>
                <a:gridCol w="2234754"/>
                <a:gridCol w="883507"/>
                <a:gridCol w="883507"/>
                <a:gridCol w="883507"/>
                <a:gridCol w="883507"/>
              </a:tblGrid>
              <a:tr h="335788">
                <a:tc>
                  <a:txBody>
                    <a:bodyPr/>
                    <a:lstStyle/>
                    <a:p>
                      <a:pPr algn="l"/>
                      <a:r>
                        <a:rPr sz="1400" b="1">
                          <a:solidFill>
                            <a:srgbClr val="FFFFFF"/>
                          </a:solidFill>
                          <a:latin typeface="Calibri"/>
                        </a:rPr>
                        <a:t>Componente</a:t>
                      </a:r>
                    </a:p>
                  </a:txBody>
                  <a:tcPr marL="73152" marR="73152" marT="27432" marB="27432" anchor="ctr">
                    <a:solidFill>
                      <a:srgbClr val="0F4C5C"/>
                    </a:solidFill>
                  </a:tcPr>
                </a:tc>
                <a:tc>
                  <a:txBody>
                    <a:bodyPr/>
                    <a:lstStyle/>
                    <a:p>
                      <a:pPr algn="ctr"/>
                      <a:r>
                        <a:rPr sz="1400" b="1">
                          <a:solidFill>
                            <a:srgbClr val="FFFFFF"/>
                          </a:solidFill>
                          <a:latin typeface="Calibri"/>
                        </a:rPr>
                        <a:t>T</a:t>
                      </a:r>
                      <a:r>
                        <a:rPr sz="1400" b="1" baseline="-25000">
                          <a:solidFill>
                            <a:srgbClr val="FFFFFF"/>
                          </a:solidFill>
                          <a:latin typeface="Calibri"/>
                        </a:rPr>
                        <a:t>0</a:t>
                      </a:r>
                    </a:p>
                  </a:txBody>
                  <a:tcPr marL="73152" marR="73152" marT="27432" marB="27432" anchor="ctr">
                    <a:solidFill>
                      <a:srgbClr val="0F4C5C"/>
                    </a:solidFill>
                  </a:tcPr>
                </a:tc>
                <a:tc>
                  <a:txBody>
                    <a:bodyPr/>
                    <a:lstStyle/>
                    <a:p>
                      <a:pPr algn="ctr"/>
                      <a:r>
                        <a:rPr sz="1400" b="1">
                          <a:solidFill>
                            <a:srgbClr val="FFFFFF"/>
                          </a:solidFill>
                          <a:latin typeface="Calibri"/>
                        </a:rPr>
                        <a:t>T</a:t>
                      </a:r>
                      <a:r>
                        <a:rPr sz="1400" b="1" baseline="-25000">
                          <a:solidFill>
                            <a:srgbClr val="FFFFFF"/>
                          </a:solidFill>
                          <a:latin typeface="Calibri"/>
                        </a:rPr>
                        <a:t>1</a:t>
                      </a:r>
                    </a:p>
                  </a:txBody>
                  <a:tcPr marL="73152" marR="73152" marT="27432" marB="27432" anchor="ctr">
                    <a:solidFill>
                      <a:srgbClr val="0F4C5C"/>
                    </a:solidFill>
                  </a:tcPr>
                </a:tc>
                <a:tc>
                  <a:txBody>
                    <a:bodyPr/>
                    <a:lstStyle/>
                    <a:p>
                      <a:pPr algn="ctr"/>
                      <a:r>
                        <a:rPr sz="1400" b="1">
                          <a:solidFill>
                            <a:srgbClr val="FFFFFF"/>
                          </a:solidFill>
                          <a:latin typeface="Calibri"/>
                        </a:rPr>
                        <a:t>T</a:t>
                      </a:r>
                      <a:r>
                        <a:rPr sz="1400" b="1" baseline="-25000">
                          <a:solidFill>
                            <a:srgbClr val="FFFFFF"/>
                          </a:solidFill>
                          <a:latin typeface="Calibri"/>
                        </a:rPr>
                        <a:t>2</a:t>
                      </a:r>
                    </a:p>
                  </a:txBody>
                  <a:tcPr marL="73152" marR="73152" marT="27432" marB="27432" anchor="ctr">
                    <a:solidFill>
                      <a:srgbClr val="0F4C5C"/>
                    </a:solidFill>
                  </a:tcPr>
                </a:tc>
                <a:tc>
                  <a:txBody>
                    <a:bodyPr/>
                    <a:lstStyle/>
                    <a:p>
                      <a:pPr algn="ctr"/>
                      <a:r>
                        <a:rPr sz="1400" b="1">
                          <a:solidFill>
                            <a:srgbClr val="FFFFFF"/>
                          </a:solidFill>
                          <a:latin typeface="Calibri"/>
                        </a:rPr>
                        <a:t>SS</a:t>
                      </a:r>
                    </a:p>
                  </a:txBody>
                  <a:tcPr marL="73152" marR="73152" marT="27432" marB="27432" anchor="ctr">
                    <a:solidFill>
                      <a:srgbClr val="0F4C5C"/>
                    </a:solidFill>
                  </a:tcPr>
                </a:tc>
              </a:tr>
              <a:tr h="335788">
                <a:tc>
                  <a:txBody>
                    <a:bodyPr/>
                    <a:lstStyle/>
                    <a:p>
                      <a:pPr algn="l"/>
                      <a:r>
                        <a:rPr sz="1400" b="0">
                          <a:solidFill>
                            <a:srgbClr val="142B33"/>
                          </a:solidFill>
                          <a:latin typeface="Calibri"/>
                        </a:rPr>
                        <a:t>AB  (L = x</a:t>
                      </a:r>
                      <a:r>
                        <a:rPr sz="1400" b="0" baseline="-25000">
                          <a:solidFill>
                            <a:srgbClr val="142B33"/>
                          </a:solidFill>
                          <a:latin typeface="Calibri"/>
                        </a:rPr>
                        <a:t>1</a:t>
                      </a:r>
                      <a:r>
                        <a:rPr sz="1400" b="0">
                          <a:solidFill>
                            <a:srgbClr val="142B33"/>
                          </a:solidFill>
                          <a:latin typeface="Calibri"/>
                        </a:rPr>
                        <a:t> + x</a:t>
                      </a:r>
                      <a:r>
                        <a:rPr sz="1400" b="0" baseline="-25000">
                          <a:solidFill>
                            <a:srgbClr val="142B33"/>
                          </a:solidFill>
                          <a:latin typeface="Calibri"/>
                        </a:rPr>
                        <a:t>2</a:t>
                      </a:r>
                      <a:r>
                        <a:rPr sz="1400" b="0">
                          <a:solidFill>
                            <a:srgbClr val="142B33"/>
                          </a:solidFill>
                          <a:latin typeface="Calibri"/>
                        </a:rPr>
                        <a:t>)</a:t>
                      </a:r>
                    </a:p>
                  </a:txBody>
                  <a:tcPr marL="73152" marR="73152" marT="27432" marB="27432" anchor="ctr">
                    <a:solidFill>
                      <a:srgbClr val="FFFFFF"/>
                    </a:solidFill>
                  </a:tcPr>
                </a:tc>
                <a:tc>
                  <a:txBody>
                    <a:bodyPr/>
                    <a:lstStyle/>
                    <a:p>
                      <a:pPr algn="ctr"/>
                      <a:r>
                        <a:rPr sz="1400" b="0">
                          <a:solidFill>
                            <a:srgbClr val="142B33"/>
                          </a:solidFill>
                          <a:latin typeface="Calibri"/>
                        </a:rPr>
                        <a:t>464.13</a:t>
                      </a:r>
                    </a:p>
                  </a:txBody>
                  <a:tcPr marL="73152" marR="73152" marT="27432" marB="27432" anchor="ctr">
                    <a:solidFill>
                      <a:srgbClr val="FFFFFF"/>
                    </a:solidFill>
                  </a:tcPr>
                </a:tc>
                <a:tc>
                  <a:txBody>
                    <a:bodyPr/>
                    <a:lstStyle/>
                    <a:p>
                      <a:pPr algn="ctr"/>
                      <a:r>
                        <a:rPr sz="1400" b="0">
                          <a:solidFill>
                            <a:srgbClr val="142B33"/>
                          </a:solidFill>
                          <a:latin typeface="Calibri"/>
                        </a:rPr>
                        <a:t>428.10</a:t>
                      </a:r>
                    </a:p>
                  </a:txBody>
                  <a:tcPr marL="73152" marR="73152" marT="27432" marB="27432" anchor="ctr">
                    <a:solidFill>
                      <a:srgbClr val="FFFFFF"/>
                    </a:solidFill>
                  </a:tcPr>
                </a:tc>
                <a:tc>
                  <a:txBody>
                    <a:bodyPr/>
                    <a:lstStyle/>
                    <a:p>
                      <a:pPr algn="ctr"/>
                      <a:r>
                        <a:rPr sz="1400" b="0">
                          <a:solidFill>
                            <a:srgbClr val="142B33"/>
                          </a:solidFill>
                          <a:latin typeface="Calibri"/>
                        </a:rPr>
                        <a:t>490.17</a:t>
                      </a:r>
                    </a:p>
                  </a:txBody>
                  <a:tcPr marL="73152" marR="73152" marT="27432" marB="27432" anchor="ctr">
                    <a:solidFill>
                      <a:srgbClr val="FFFFFF"/>
                    </a:solidFill>
                  </a:tcPr>
                </a:tc>
                <a:tc>
                  <a:txBody>
                    <a:bodyPr/>
                    <a:lstStyle/>
                    <a:p>
                      <a:pPr algn="ctr"/>
                      <a:r>
                        <a:rPr sz="1400" b="0">
                          <a:solidFill>
                            <a:srgbClr val="142B33"/>
                          </a:solidFill>
                          <a:latin typeface="Calibri"/>
                        </a:rPr>
                        <a:t>323.83</a:t>
                      </a:r>
                    </a:p>
                  </a:txBody>
                  <a:tcPr marL="73152" marR="73152" marT="27432" marB="27432" anchor="ctr">
                    <a:solidFill>
                      <a:srgbClr val="FFFFFF"/>
                    </a:solidFill>
                  </a:tcPr>
                </a:tc>
              </a:tr>
              <a:tr h="335788">
                <a:tc>
                  <a:txBody>
                    <a:bodyPr/>
                    <a:lstStyle/>
                    <a:p>
                      <a:pPr algn="l"/>
                      <a:r>
                        <a:rPr sz="1400" b="0">
                          <a:solidFill>
                            <a:srgbClr val="142B33"/>
                          </a:solidFill>
                          <a:latin typeface="Calibri"/>
                        </a:rPr>
                        <a:t>AB</a:t>
                      </a:r>
                      <a:r>
                        <a:rPr sz="1400" b="0" baseline="30000">
                          <a:solidFill>
                            <a:srgbClr val="142B33"/>
                          </a:solidFill>
                          <a:latin typeface="Calibri"/>
                        </a:rPr>
                        <a:t>2</a:t>
                      </a:r>
                      <a:r>
                        <a:rPr sz="1400" b="0">
                          <a:solidFill>
                            <a:srgbClr val="142B33"/>
                          </a:solidFill>
                          <a:latin typeface="Calibri"/>
                        </a:rPr>
                        <a:t>  (L = x</a:t>
                      </a:r>
                      <a:r>
                        <a:rPr sz="1400" b="0" baseline="-25000">
                          <a:solidFill>
                            <a:srgbClr val="142B33"/>
                          </a:solidFill>
                          <a:latin typeface="Calibri"/>
                        </a:rPr>
                        <a:t>1</a:t>
                      </a:r>
                      <a:r>
                        <a:rPr sz="1400" b="0">
                          <a:solidFill>
                            <a:srgbClr val="142B33"/>
                          </a:solidFill>
                          <a:latin typeface="Calibri"/>
                        </a:rPr>
                        <a:t> + 2x</a:t>
                      </a:r>
                      <a:r>
                        <a:rPr sz="1400" b="0" baseline="-25000">
                          <a:solidFill>
                            <a:srgbClr val="142B33"/>
                          </a:solidFill>
                          <a:latin typeface="Calibri"/>
                        </a:rPr>
                        <a:t>2</a:t>
                      </a:r>
                      <a:r>
                        <a:rPr sz="1400" b="0">
                          <a:solidFill>
                            <a:srgbClr val="142B33"/>
                          </a:solidFill>
                          <a:latin typeface="Calibri"/>
                        </a:rPr>
                        <a:t>)</a:t>
                      </a:r>
                    </a:p>
                  </a:txBody>
                  <a:tcPr marL="73152" marR="73152" marT="27432" marB="27432" anchor="ctr">
                    <a:solidFill>
                      <a:srgbClr val="F4F8F9"/>
                    </a:solidFill>
                  </a:tcPr>
                </a:tc>
                <a:tc>
                  <a:txBody>
                    <a:bodyPr/>
                    <a:lstStyle/>
                    <a:p>
                      <a:pPr algn="ctr"/>
                      <a:r>
                        <a:rPr sz="1400" b="0">
                          <a:solidFill>
                            <a:srgbClr val="142B33"/>
                          </a:solidFill>
                          <a:latin typeface="Calibri"/>
                        </a:rPr>
                        <a:t>428.67</a:t>
                      </a:r>
                    </a:p>
                  </a:txBody>
                  <a:tcPr marL="73152" marR="73152" marT="27432" marB="27432" anchor="ctr">
                    <a:solidFill>
                      <a:srgbClr val="F4F8F9"/>
                    </a:solidFill>
                  </a:tcPr>
                </a:tc>
                <a:tc>
                  <a:txBody>
                    <a:bodyPr/>
                    <a:lstStyle/>
                    <a:p>
                      <a:pPr algn="ctr"/>
                      <a:r>
                        <a:rPr sz="1400" b="0">
                          <a:solidFill>
                            <a:srgbClr val="142B33"/>
                          </a:solidFill>
                          <a:latin typeface="Calibri"/>
                        </a:rPr>
                        <a:t>473.10</a:t>
                      </a:r>
                    </a:p>
                  </a:txBody>
                  <a:tcPr marL="73152" marR="73152" marT="27432" marB="27432" anchor="ctr">
                    <a:solidFill>
                      <a:srgbClr val="F4F8F9"/>
                    </a:solidFill>
                  </a:tcPr>
                </a:tc>
                <a:tc>
                  <a:txBody>
                    <a:bodyPr/>
                    <a:lstStyle/>
                    <a:p>
                      <a:pPr algn="ctr"/>
                      <a:r>
                        <a:rPr sz="1400" b="0">
                          <a:solidFill>
                            <a:srgbClr val="142B33"/>
                          </a:solidFill>
                          <a:latin typeface="Calibri"/>
                        </a:rPr>
                        <a:t>480.63</a:t>
                      </a:r>
                    </a:p>
                  </a:txBody>
                  <a:tcPr marL="73152" marR="73152" marT="27432" marB="27432" anchor="ctr">
                    <a:solidFill>
                      <a:srgbClr val="F4F8F9"/>
                    </a:solidFill>
                  </a:tcPr>
                </a:tc>
                <a:tc>
                  <a:txBody>
                    <a:bodyPr/>
                    <a:lstStyle/>
                    <a:p>
                      <a:pPr algn="ctr"/>
                      <a:r>
                        <a:rPr sz="1400" b="0">
                          <a:solidFill>
                            <a:srgbClr val="142B33"/>
                          </a:solidFill>
                          <a:latin typeface="Calibri"/>
                        </a:rPr>
                        <a:t>262.81</a:t>
                      </a:r>
                    </a:p>
                  </a:txBody>
                  <a:tcPr marL="73152" marR="73152" marT="27432" marB="27432" anchor="ctr">
                    <a:solidFill>
                      <a:srgbClr val="F4F8F9"/>
                    </a:solidFill>
                  </a:tcPr>
                </a:tc>
              </a:tr>
            </a:tbl>
          </a:graphicData>
        </a:graphic>
      </p:graphicFrame>
      <p:sp>
        <p:nvSpPr>
          <p:cNvPr id="5" name="Rounded Rectangle 4"/>
          <p:cNvSpPr/>
          <p:nvPr/>
        </p:nvSpPr>
        <p:spPr>
          <a:xfrm>
            <a:off x="5874270" y="2625852"/>
            <a:ext cx="5768785" cy="551972"/>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0">
                <a:solidFill>
                  <a:srgbClr val="0F4C5C"/>
                </a:solidFill>
                <a:latin typeface="Cambria Math"/>
              </a:rPr>
              <a:t>SS = (T</a:t>
            </a:r>
            <a:r>
              <a:rPr sz="1600" b="0" baseline="-25000">
                <a:solidFill>
                  <a:srgbClr val="0F4C5C"/>
                </a:solidFill>
                <a:latin typeface="Cambria Math"/>
              </a:rPr>
              <a:t>0</a:t>
            </a:r>
            <a:r>
              <a:rPr sz="1600" b="0">
                <a:solidFill>
                  <a:srgbClr val="0F4C5C"/>
                </a:solidFill>
                <a:latin typeface="Cambria Math"/>
              </a:rPr>
              <a:t>² + T</a:t>
            </a:r>
            <a:r>
              <a:rPr sz="1600" b="0" baseline="-25000">
                <a:solidFill>
                  <a:srgbClr val="0F4C5C"/>
                </a:solidFill>
                <a:latin typeface="Cambria Math"/>
              </a:rPr>
              <a:t>1</a:t>
            </a:r>
            <a:r>
              <a:rPr sz="1600" b="0">
                <a:solidFill>
                  <a:srgbClr val="0F4C5C"/>
                </a:solidFill>
                <a:latin typeface="Cambria Math"/>
              </a:rPr>
              <a:t>² + T</a:t>
            </a:r>
            <a:r>
              <a:rPr sz="1600" b="0" baseline="-25000">
                <a:solidFill>
                  <a:srgbClr val="0F4C5C"/>
                </a:solidFill>
                <a:latin typeface="Cambria Math"/>
              </a:rPr>
              <a:t>2</a:t>
            </a:r>
            <a:r>
              <a:rPr sz="1600" b="0">
                <a:solidFill>
                  <a:srgbClr val="0F4C5C"/>
                </a:solidFill>
                <a:latin typeface="Cambria Math"/>
              </a:rPr>
              <a:t>²) / 6 − y</a:t>
            </a:r>
            <a:r>
              <a:rPr sz="1600" b="0" baseline="-25000">
                <a:solidFill>
                  <a:srgbClr val="0F4C5C"/>
                </a:solidFill>
                <a:latin typeface="Cambria Math"/>
              </a:rPr>
              <a:t>…</a:t>
            </a:r>
            <a:r>
              <a:rPr sz="1600" b="0">
                <a:solidFill>
                  <a:srgbClr val="0F4C5C"/>
                </a:solidFill>
                <a:latin typeface="Cambria Math"/>
              </a:rPr>
              <a:t>² / 18</a:t>
            </a:r>
          </a:p>
        </p:txBody>
      </p:sp>
      <p:sp>
        <p:nvSpPr>
          <p:cNvPr id="6" name="Rounded Rectangle 5"/>
          <p:cNvSpPr/>
          <p:nvPr/>
        </p:nvSpPr>
        <p:spPr>
          <a:xfrm>
            <a:off x="5874270" y="3378992"/>
            <a:ext cx="5768785"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323.83 + 262.81 = 586.64 = SS</a:t>
            </a:r>
            <a:r>
              <a:rPr sz="1500" b="0" baseline="-25000">
                <a:solidFill>
                  <a:srgbClr val="142B33"/>
                </a:solidFill>
                <a:latin typeface="Calibri"/>
              </a:rPr>
              <a:t>AB</a:t>
            </a:r>
            <a:r>
              <a:rPr sz="1500" b="0">
                <a:solidFill>
                  <a:srgbClr val="142B33"/>
                </a:solidFill>
                <a:latin typeface="Calibri"/>
              </a:rPr>
              <a:t>  (2 + 2 = 4 g.l.)</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Los diseños 3</a:t>
            </a:r>
            <a:r>
              <a:rPr sz="1000" b="0" baseline="30000">
                <a:solidFill>
                  <a:srgbClr val="5B6B73"/>
                </a:solidFill>
                <a:latin typeface="Calibri"/>
              </a:rPr>
              <a:t>2</a:t>
            </a:r>
            <a:r>
              <a:rPr sz="1000" b="0">
                <a:solidFill>
                  <a:srgbClr val="5B6B73"/>
                </a:solidFill>
                <a:latin typeface="Calibri"/>
              </a:rPr>
              <a:t> y 3</a:t>
            </a:r>
            <a:r>
              <a:rPr sz="1000" b="0" baseline="30000">
                <a:solidFill>
                  <a:srgbClr val="5B6B73"/>
                </a:solidFill>
                <a:latin typeface="Calibri"/>
              </a:rPr>
              <a:t>3</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22</a:t>
            </a:r>
          </a:p>
        </p:txBody>
      </p:sp>
      <p:sp>
        <p:nvSpPr>
          <p:cNvPr id="9" name="Rounded Rectangle 8"/>
          <p:cNvSpPr/>
          <p:nvPr/>
        </p:nvSpPr>
        <p:spPr>
          <a:xfrm>
            <a:off x="548640" y="91440"/>
            <a:ext cx="258775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3 · Los diseños 3</a:t>
            </a:r>
            <a:r>
              <a:rPr sz="1100" b="1" baseline="30000">
                <a:solidFill>
                  <a:srgbClr val="FFFFFF"/>
                </a:solidFill>
                <a:latin typeface="Calibri"/>
              </a:rPr>
              <a:t>2</a:t>
            </a:r>
            <a:r>
              <a:rPr sz="1100" b="1">
                <a:solidFill>
                  <a:srgbClr val="FFFFFF"/>
                </a:solidFill>
                <a:latin typeface="Calibri"/>
              </a:rPr>
              <a:t> y 3</a:t>
            </a:r>
            <a:r>
              <a:rPr sz="1100" b="1" baseline="30000">
                <a:solidFill>
                  <a:srgbClr val="FFFFFF"/>
                </a:solidFill>
                <a:latin typeface="Calibri"/>
              </a:rPr>
              <a:t>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1 · Modelo cuadrático y condiciones recomendadas</a:t>
            </a:r>
          </a:p>
        </p:txBody>
      </p:sp>
      <p:sp>
        <p:nvSpPr>
          <p:cNvPr id="3" name="Rounded Rectangle 2"/>
          <p:cNvSpPr/>
          <p:nvPr/>
        </p:nvSpPr>
        <p:spPr>
          <a:xfrm>
            <a:off x="548640" y="1417320"/>
            <a:ext cx="5555126" cy="551972"/>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0">
                <a:solidFill>
                  <a:srgbClr val="0F4C5C"/>
                </a:solidFill>
                <a:latin typeface="Cambria Math"/>
              </a:rPr>
              <a:t>ŷ = 86.81 + 10.40 x</a:t>
            </a:r>
            <a:r>
              <a:rPr sz="1600" b="0" baseline="-25000">
                <a:solidFill>
                  <a:srgbClr val="0F4C5C"/>
                </a:solidFill>
                <a:latin typeface="Cambria Math"/>
              </a:rPr>
              <a:t>1</a:t>
            </a:r>
            <a:r>
              <a:rPr sz="1600" b="0">
                <a:solidFill>
                  <a:srgbClr val="0F4C5C"/>
                </a:solidFill>
                <a:latin typeface="Cambria Math"/>
              </a:rPr>
              <a:t> + 8.42 x</a:t>
            </a:r>
            <a:r>
              <a:rPr sz="1600" b="0" baseline="-25000">
                <a:solidFill>
                  <a:srgbClr val="0F4C5C"/>
                </a:solidFill>
                <a:latin typeface="Cambria Math"/>
              </a:rPr>
              <a:t>2</a:t>
            </a:r>
            <a:r>
              <a:rPr sz="1600" b="0">
                <a:solidFill>
                  <a:srgbClr val="0F4C5C"/>
                </a:solidFill>
                <a:latin typeface="Cambria Math"/>
              </a:rPr>
              <a:t> − 7.17 x</a:t>
            </a:r>
            <a:r>
              <a:rPr sz="1600" b="0" baseline="-25000">
                <a:solidFill>
                  <a:srgbClr val="0F4C5C"/>
                </a:solidFill>
                <a:latin typeface="Cambria Math"/>
              </a:rPr>
              <a:t>1</a:t>
            </a:r>
            <a:r>
              <a:rPr sz="1600" b="0" baseline="30000">
                <a:solidFill>
                  <a:srgbClr val="0F4C5C"/>
                </a:solidFill>
                <a:latin typeface="Cambria Math"/>
              </a:rPr>
              <a:t>2</a:t>
            </a:r>
            <a:r>
              <a:rPr sz="1600" b="0">
                <a:solidFill>
                  <a:srgbClr val="0F4C5C"/>
                </a:solidFill>
                <a:latin typeface="Cambria Math"/>
              </a:rPr>
              <a:t> − 7.85 x</a:t>
            </a:r>
            <a:r>
              <a:rPr sz="1600" b="0" baseline="-25000">
                <a:solidFill>
                  <a:srgbClr val="0F4C5C"/>
                </a:solidFill>
                <a:latin typeface="Cambria Math"/>
              </a:rPr>
              <a:t>2</a:t>
            </a:r>
            <a:r>
              <a:rPr sz="1600" b="0" baseline="30000">
                <a:solidFill>
                  <a:srgbClr val="0F4C5C"/>
                </a:solidFill>
                <a:latin typeface="Cambria Math"/>
              </a:rPr>
              <a:t>2</a:t>
            </a:r>
            <a:r>
              <a:rPr sz="1600" b="0">
                <a:solidFill>
                  <a:srgbClr val="0F4C5C"/>
                </a:solidFill>
                <a:latin typeface="Cambria Math"/>
              </a:rPr>
              <a:t> − 7.69 x</a:t>
            </a:r>
            <a:r>
              <a:rPr sz="1600" b="0" baseline="-25000">
                <a:solidFill>
                  <a:srgbClr val="0F4C5C"/>
                </a:solidFill>
                <a:latin typeface="Cambria Math"/>
              </a:rPr>
              <a:t>1</a:t>
            </a:r>
            <a:r>
              <a:rPr sz="1600" b="0">
                <a:solidFill>
                  <a:srgbClr val="0F4C5C"/>
                </a:solidFill>
                <a:latin typeface="Cambria Math"/>
              </a:rPr>
              <a:t>x</a:t>
            </a:r>
            <a:r>
              <a:rPr sz="1600" b="0" baseline="-25000">
                <a:solidFill>
                  <a:srgbClr val="0F4C5C"/>
                </a:solidFill>
                <a:latin typeface="Cambria Math"/>
              </a:rPr>
              <a:t>2</a:t>
            </a:r>
          </a:p>
        </p:txBody>
      </p:sp>
      <p:sp>
        <p:nvSpPr>
          <p:cNvPr id="4" name="Rounded Rectangle 3"/>
          <p:cNvSpPr/>
          <p:nvPr/>
        </p:nvSpPr>
        <p:spPr>
          <a:xfrm>
            <a:off x="548640" y="2170460"/>
            <a:ext cx="5555126" cy="53461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500" b="0">
                <a:solidFill>
                  <a:srgbClr val="0F4C5C"/>
                </a:solidFill>
                <a:latin typeface="Cambria Math"/>
              </a:rPr>
              <a:t>x</a:t>
            </a:r>
            <a:r>
              <a:rPr sz="1500" b="0" baseline="-25000">
                <a:solidFill>
                  <a:srgbClr val="0F4C5C"/>
                </a:solidFill>
                <a:latin typeface="Cambria Math"/>
              </a:rPr>
              <a:t>1</a:t>
            </a:r>
            <a:r>
              <a:rPr sz="1500" b="0">
                <a:solidFill>
                  <a:srgbClr val="0F4C5C"/>
                </a:solidFill>
                <a:latin typeface="Cambria Math"/>
              </a:rPr>
              <a:t> = (T − 90)/10,   x</a:t>
            </a:r>
            <a:r>
              <a:rPr sz="1500" b="0" baseline="-25000">
                <a:solidFill>
                  <a:srgbClr val="0F4C5C"/>
                </a:solidFill>
                <a:latin typeface="Cambria Math"/>
              </a:rPr>
              <a:t>2</a:t>
            </a:r>
            <a:r>
              <a:rPr sz="1500" b="0">
                <a:solidFill>
                  <a:srgbClr val="0F4C5C"/>
                </a:solidFill>
                <a:latin typeface="Cambria Math"/>
              </a:rPr>
              <a:t> = (P − 120)/20</a:t>
            </a:r>
          </a:p>
        </p:txBody>
      </p:sp>
      <p:sp>
        <p:nvSpPr>
          <p:cNvPr id="5" name="TextBox 4"/>
          <p:cNvSpPr txBox="1"/>
          <p:nvPr/>
        </p:nvSpPr>
        <p:spPr>
          <a:xfrm>
            <a:off x="548640" y="2906247"/>
            <a:ext cx="5555126" cy="1176528"/>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500" b="0">
                <a:solidFill>
                  <a:srgbClr val="142B33"/>
                </a:solidFill>
                <a:latin typeface="Calibri"/>
              </a:rPr>
              <a:t>β</a:t>
            </a:r>
            <a:r>
              <a:rPr sz="1500" b="0" baseline="-25000">
                <a:solidFill>
                  <a:srgbClr val="142B33"/>
                </a:solidFill>
                <a:latin typeface="Calibri"/>
              </a:rPr>
              <a:t>11</a:t>
            </a:r>
            <a:r>
              <a:rPr sz="1500" b="0">
                <a:solidFill>
                  <a:srgbClr val="142B33"/>
                </a:solidFill>
                <a:latin typeface="Calibri"/>
              </a:rPr>
              <a:t>, β</a:t>
            </a:r>
            <a:r>
              <a:rPr sz="1500" b="0" baseline="-25000">
                <a:solidFill>
                  <a:srgbClr val="142B33"/>
                </a:solidFill>
                <a:latin typeface="Calibri"/>
              </a:rPr>
              <a:t>22</a:t>
            </a:r>
            <a:r>
              <a:rPr sz="1500" b="0">
                <a:solidFill>
                  <a:srgbClr val="142B33"/>
                </a:solidFill>
                <a:latin typeface="Calibri"/>
              </a:rPr>
              <a:t> &lt; 0 → la superficie tiene un </a:t>
            </a:r>
            <a:r>
              <a:rPr sz="1500" b="1">
                <a:solidFill>
                  <a:srgbClr val="142B33"/>
                </a:solidFill>
                <a:latin typeface="Calibri"/>
              </a:rPr>
              <a:t>máximo</a:t>
            </a:r>
          </a:p>
          <a:p>
            <a:pPr marL="320040" indent="-320040">
              <a:spcAft>
                <a:spcPts val="600"/>
              </a:spcAft>
              <a:buClr>
                <a:srgbClr val="E36414"/>
              </a:buClr>
              <a:buFont typeface="Arial"/>
              <a:buChar char="•"/>
            </a:pPr>
            <a:r>
              <a:rPr sz="1500" b="0">
                <a:solidFill>
                  <a:srgbClr val="142B33"/>
                </a:solidFill>
                <a:latin typeface="Calibri"/>
              </a:rPr>
              <a:t>β</a:t>
            </a:r>
            <a:r>
              <a:rPr sz="1500" b="0" baseline="-25000">
                <a:solidFill>
                  <a:srgbClr val="142B33"/>
                </a:solidFill>
                <a:latin typeface="Calibri"/>
              </a:rPr>
              <a:t>12</a:t>
            </a:r>
            <a:r>
              <a:rPr sz="1500" b="0">
                <a:solidFill>
                  <a:srgbClr val="142B33"/>
                </a:solidFill>
                <a:latin typeface="Calibri"/>
              </a:rPr>
              <a:t> &lt; 0 → menos ganancia por temperatura cuando la presión es alta</a:t>
            </a:r>
          </a:p>
          <a:p>
            <a:pPr marL="320040" indent="-320040">
              <a:spcAft>
                <a:spcPts val="600"/>
              </a:spcAft>
              <a:buClr>
                <a:srgbClr val="E36414"/>
              </a:buClr>
              <a:buFont typeface="Arial"/>
              <a:buChar char="•"/>
            </a:pPr>
            <a:r>
              <a:rPr sz="1500" b="0">
                <a:solidFill>
                  <a:srgbClr val="142B33"/>
                </a:solidFill>
                <a:latin typeface="Calibri"/>
              </a:rPr>
              <a:t>Punto estacionario: </a:t>
            </a:r>
            <a:r>
              <a:rPr sz="1500" b="1">
                <a:solidFill>
                  <a:srgbClr val="142B33"/>
                </a:solidFill>
                <a:latin typeface="Calibri"/>
              </a:rPr>
              <a:t>T ≈ 96 °C, P ≈ 125 psig</a:t>
            </a:r>
            <a:r>
              <a:rPr sz="1500" b="0">
                <a:solidFill>
                  <a:srgbClr val="142B33"/>
                </a:solidFill>
                <a:latin typeface="Calibri"/>
              </a:rPr>
              <a:t>, ŷ ≈ 90.9 %</a:t>
            </a:r>
          </a:p>
        </p:txBody>
      </p:sp>
      <p:pic>
        <p:nvPicPr>
          <p:cNvPr id="6" name="Picture 5" descr="contorno_ej1.png"/>
          <p:cNvPicPr>
            <a:picLocks noChangeAspect="1"/>
          </p:cNvPicPr>
          <p:nvPr/>
        </p:nvPicPr>
        <p:blipFill>
          <a:blip r:embed="rId2"/>
          <a:stretch>
            <a:fillRect/>
          </a:stretch>
        </p:blipFill>
        <p:spPr>
          <a:xfrm>
            <a:off x="6765718" y="1417320"/>
            <a:ext cx="4626864" cy="4023360"/>
          </a:xfrm>
          <a:prstGeom prst="rect">
            <a:avLst/>
          </a:prstGeom>
        </p:spPr>
      </p:pic>
      <p:sp>
        <p:nvSpPr>
          <p:cNvPr id="7" name="TextBox 6"/>
          <p:cNvSpPr txBox="1"/>
          <p:nvPr/>
        </p:nvSpPr>
        <p:spPr>
          <a:xfrm>
            <a:off x="6515246" y="5458968"/>
            <a:ext cx="5127808" cy="256032"/>
          </a:xfrm>
          <a:prstGeom prst="rect">
            <a:avLst/>
          </a:prstGeom>
          <a:noFill/>
        </p:spPr>
        <p:txBody>
          <a:bodyPr wrap="square" anchor="t" lIns="0" rIns="0" tIns="0" bIns="0">
            <a:spAutoFit/>
          </a:bodyPr>
          <a:lstStyle/>
          <a:p>
            <a:pPr algn="ctr"/>
            <a:r>
              <a:rPr sz="1100" b="0">
                <a:solidFill>
                  <a:srgbClr val="5B6B73"/>
                </a:solidFill>
                <a:latin typeface="Calibri"/>
              </a:rPr>
              <a:t>Contornos del rendimiento estimado (cálculo propio)</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Los diseños 3</a:t>
            </a:r>
            <a:r>
              <a:rPr sz="1000" b="0" baseline="30000">
                <a:solidFill>
                  <a:srgbClr val="5B6B73"/>
                </a:solidFill>
                <a:latin typeface="Calibri"/>
              </a:rPr>
              <a:t>2</a:t>
            </a:r>
            <a:r>
              <a:rPr sz="1000" b="0">
                <a:solidFill>
                  <a:srgbClr val="5B6B73"/>
                </a:solidFill>
                <a:latin typeface="Calibri"/>
              </a:rPr>
              <a:t> y 3</a:t>
            </a:r>
            <a:r>
              <a:rPr sz="1000" b="0" baseline="30000">
                <a:solidFill>
                  <a:srgbClr val="5B6B73"/>
                </a:solidFill>
                <a:latin typeface="Calibri"/>
              </a:rPr>
              <a:t>3</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23</a:t>
            </a:r>
          </a:p>
        </p:txBody>
      </p:sp>
      <p:sp>
        <p:nvSpPr>
          <p:cNvPr id="10" name="Rounded Rectangle 9"/>
          <p:cNvSpPr/>
          <p:nvPr/>
        </p:nvSpPr>
        <p:spPr>
          <a:xfrm>
            <a:off x="548640" y="91440"/>
            <a:ext cx="258775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3 · Los diseños 3</a:t>
            </a:r>
            <a:r>
              <a:rPr sz="1100" b="1" baseline="30000">
                <a:solidFill>
                  <a:srgbClr val="FFFFFF"/>
                </a:solidFill>
                <a:latin typeface="Calibri"/>
              </a:rPr>
              <a:t>2</a:t>
            </a:r>
            <a:r>
              <a:rPr sz="1100" b="1">
                <a:solidFill>
                  <a:srgbClr val="FFFFFF"/>
                </a:solidFill>
                <a:latin typeface="Calibri"/>
              </a:rPr>
              <a:t> y 3</a:t>
            </a:r>
            <a:r>
              <a:rPr sz="1100" b="1" baseline="30000">
                <a:solidFill>
                  <a:srgbClr val="FFFFFF"/>
                </a:solidFill>
                <a:latin typeface="Calibri"/>
              </a:rPr>
              <a:t>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2 · Enunciado: pérdida de jarabe por espumeo</a:t>
            </a:r>
          </a:p>
        </p:txBody>
      </p:sp>
      <p:sp>
        <p:nvSpPr>
          <p:cNvPr id="3" name="TextBox 2"/>
          <p:cNvSpPr txBox="1"/>
          <p:nvPr/>
        </p:nvSpPr>
        <p:spPr>
          <a:xfrm>
            <a:off x="548640" y="1417320"/>
            <a:ext cx="6196102" cy="1028191"/>
          </a:xfrm>
          <a:prstGeom prst="rect">
            <a:avLst/>
          </a:prstGeom>
          <a:noFill/>
        </p:spPr>
        <p:txBody>
          <a:bodyPr wrap="square" anchor="t" lIns="0" rIns="0" tIns="0" bIns="0">
            <a:spAutoFit/>
          </a:bodyPr>
          <a:lstStyle/>
          <a:p>
            <a:r>
              <a:rPr sz="1600" b="0">
                <a:solidFill>
                  <a:srgbClr val="142B33"/>
                </a:solidFill>
                <a:latin typeface="Calibri"/>
              </a:rPr>
              <a:t>Una máquina llena contenedores metálicos de 5 galones con jarabe para una bebida gaseosa. Al llenar, el jarabe </a:t>
            </a:r>
            <a:r>
              <a:rPr sz="1600" b="1">
                <a:solidFill>
                  <a:srgbClr val="142B33"/>
                </a:solidFill>
                <a:latin typeface="Calibri"/>
              </a:rPr>
              <a:t>hace espuma y se pierde</a:t>
            </a:r>
            <a:r>
              <a:rPr sz="1600" b="0">
                <a:solidFill>
                  <a:srgbClr val="142B33"/>
                </a:solidFill>
                <a:latin typeface="Calibri"/>
              </a:rPr>
              <a:t> parte del producto. Se quiere reducir esa pérdida.</a:t>
            </a:r>
          </a:p>
        </p:txBody>
      </p:sp>
      <p:sp>
        <p:nvSpPr>
          <p:cNvPr id="4" name="TextBox 3"/>
          <p:cNvSpPr txBox="1"/>
          <p:nvPr/>
        </p:nvSpPr>
        <p:spPr>
          <a:xfrm>
            <a:off x="548640" y="2646680"/>
            <a:ext cx="6196102" cy="1028191"/>
          </a:xfrm>
          <a:prstGeom prst="rect">
            <a:avLst/>
          </a:prstGeom>
          <a:noFill/>
        </p:spPr>
        <p:txBody>
          <a:bodyPr wrap="square" anchor="t" lIns="0" rIns="0" tIns="0" bIns="0">
            <a:spAutoFit/>
          </a:bodyPr>
          <a:lstStyle/>
          <a:p>
            <a:r>
              <a:rPr sz="1600" b="0">
                <a:solidFill>
                  <a:srgbClr val="142B33"/>
                </a:solidFill>
                <a:latin typeface="Calibri"/>
              </a:rPr>
              <a:t>Se piensa que influyen tres factores: A el </a:t>
            </a:r>
            <a:r>
              <a:rPr sz="1600" b="1">
                <a:solidFill>
                  <a:srgbClr val="142B33"/>
                </a:solidFill>
                <a:latin typeface="Calibri"/>
              </a:rPr>
              <a:t>diseño de la boquilla</a:t>
            </a:r>
            <a:r>
              <a:rPr sz="1600" b="0">
                <a:solidFill>
                  <a:srgbClr val="142B33"/>
                </a:solidFill>
                <a:latin typeface="Calibri"/>
              </a:rPr>
              <a:t> (tres tipos: 1, 2 y 3, un factor </a:t>
            </a:r>
            <a:r>
              <a:rPr sz="1600" b="1">
                <a:solidFill>
                  <a:srgbClr val="142B33"/>
                </a:solidFill>
                <a:latin typeface="Calibri"/>
              </a:rPr>
              <a:t>cualitativo</a:t>
            </a:r>
            <a:r>
              <a:rPr sz="1600" b="0">
                <a:solidFill>
                  <a:srgbClr val="142B33"/>
                </a:solidFill>
                <a:latin typeface="Calibri"/>
              </a:rPr>
              <a:t>), B la </a:t>
            </a:r>
            <a:r>
              <a:rPr sz="1600" b="1">
                <a:solidFill>
                  <a:srgbClr val="142B33"/>
                </a:solidFill>
                <a:latin typeface="Calibri"/>
              </a:rPr>
              <a:t>velocidad de llenado</a:t>
            </a:r>
            <a:r>
              <a:rPr sz="1600" b="0">
                <a:solidFill>
                  <a:srgbClr val="142B33"/>
                </a:solidFill>
                <a:latin typeface="Calibri"/>
              </a:rPr>
              <a:t> (100, 120 y 140 rpm) y C la </a:t>
            </a:r>
            <a:r>
              <a:rPr sz="1600" b="1">
                <a:solidFill>
                  <a:srgbClr val="142B33"/>
                </a:solidFill>
                <a:latin typeface="Calibri"/>
              </a:rPr>
              <a:t>presión de operación</a:t>
            </a:r>
            <a:r>
              <a:rPr sz="1600" b="0">
                <a:solidFill>
                  <a:srgbClr val="142B33"/>
                </a:solidFill>
                <a:latin typeface="Calibri"/>
              </a:rPr>
              <a:t> (10, 15 y 20 psi).</a:t>
            </a:r>
          </a:p>
        </p:txBody>
      </p:sp>
      <p:sp>
        <p:nvSpPr>
          <p:cNvPr id="5" name="TextBox 4"/>
          <p:cNvSpPr txBox="1"/>
          <p:nvPr/>
        </p:nvSpPr>
        <p:spPr>
          <a:xfrm>
            <a:off x="548640" y="3876040"/>
            <a:ext cx="6196102" cy="532384"/>
          </a:xfrm>
          <a:prstGeom prst="rect">
            <a:avLst/>
          </a:prstGeom>
          <a:noFill/>
        </p:spPr>
        <p:txBody>
          <a:bodyPr wrap="square" anchor="t" lIns="0" rIns="0" tIns="0" bIns="0">
            <a:spAutoFit/>
          </a:bodyPr>
          <a:lstStyle/>
          <a:p>
            <a:r>
              <a:rPr sz="1600" b="0">
                <a:solidFill>
                  <a:srgbClr val="142B33"/>
                </a:solidFill>
                <a:latin typeface="Calibri"/>
              </a:rPr>
              <a:t>Se corre un </a:t>
            </a:r>
            <a:r>
              <a:rPr sz="1600" b="1">
                <a:solidFill>
                  <a:srgbClr val="142B33"/>
                </a:solidFill>
                <a:latin typeface="Calibri"/>
              </a:rPr>
              <a:t>3</a:t>
            </a:r>
            <a:r>
              <a:rPr sz="1600" b="1" baseline="30000">
                <a:solidFill>
                  <a:srgbClr val="142B33"/>
                </a:solidFill>
                <a:latin typeface="Calibri"/>
              </a:rPr>
              <a:t>3</a:t>
            </a:r>
            <a:r>
              <a:rPr sz="1600" b="1">
                <a:solidFill>
                  <a:srgbClr val="142B33"/>
                </a:solidFill>
                <a:latin typeface="Calibri"/>
              </a:rPr>
              <a:t> con dos réplicas</a:t>
            </a:r>
            <a:r>
              <a:rPr sz="1600" b="0">
                <a:solidFill>
                  <a:srgbClr val="142B33"/>
                </a:solidFill>
                <a:latin typeface="Calibri"/>
              </a:rPr>
              <a:t>, 54 observaciones. La respuesta se codifica como centímetros cúbicos perdidos menos 70.</a:t>
            </a:r>
          </a:p>
        </p:txBody>
      </p:sp>
      <p:sp>
        <p:nvSpPr>
          <p:cNvPr id="6" name="TextBox 5"/>
          <p:cNvSpPr txBox="1"/>
          <p:nvPr/>
        </p:nvSpPr>
        <p:spPr>
          <a:xfrm>
            <a:off x="548640" y="4609592"/>
            <a:ext cx="6196102" cy="222504"/>
          </a:xfrm>
          <a:prstGeom prst="rect">
            <a:avLst/>
          </a:prstGeom>
          <a:noFill/>
        </p:spPr>
        <p:txBody>
          <a:bodyPr wrap="square" anchor="t" lIns="0" rIns="0" tIns="0" bIns="0">
            <a:spAutoFit/>
          </a:bodyPr>
          <a:lstStyle/>
          <a:p>
            <a:r>
              <a:rPr sz="1200" b="0">
                <a:solidFill>
                  <a:srgbClr val="5B6B73"/>
                </a:solidFill>
                <a:latin typeface="Calibri"/>
              </a:rPr>
              <a:t>Fuente: Montgomery, ejemplo 9-1</a:t>
            </a:r>
          </a:p>
        </p:txBody>
      </p:sp>
      <p:sp>
        <p:nvSpPr>
          <p:cNvPr id="7" name="Rounded Rectangle 6"/>
          <p:cNvSpPr/>
          <p:nvPr/>
        </p:nvSpPr>
        <p:spPr>
          <a:xfrm>
            <a:off x="7156222" y="1417320"/>
            <a:ext cx="4486832"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Objetivo</a:t>
            </a:r>
          </a:p>
          <a:p>
            <a:pPr algn="l"/>
            <a:r>
              <a:rPr sz="1500" b="0">
                <a:solidFill>
                  <a:srgbClr val="142B33"/>
                </a:solidFill>
                <a:latin typeface="Calibri"/>
              </a:rPr>
              <a:t>Encontrar la boquilla, la velocidad y la presión que </a:t>
            </a:r>
            <a:r>
              <a:rPr sz="1500" b="1">
                <a:solidFill>
                  <a:srgbClr val="142B33"/>
                </a:solidFill>
                <a:latin typeface="Calibri"/>
              </a:rPr>
              <a:t>minimizan la pérdida</a:t>
            </a:r>
            <a:r>
              <a:rPr sz="1500" b="0">
                <a:solidFill>
                  <a:srgbClr val="142B33"/>
                </a:solidFill>
                <a:latin typeface="Calibri"/>
              </a:rPr>
              <a:t> de jarabe</a:t>
            </a:r>
          </a:p>
        </p:txBody>
      </p:sp>
      <p:sp>
        <p:nvSpPr>
          <p:cNvPr id="8" name="TextBox 7"/>
          <p:cNvSpPr txBox="1"/>
          <p:nvPr/>
        </p:nvSpPr>
        <p:spPr>
          <a:xfrm>
            <a:off x="7156222" y="2867914"/>
            <a:ext cx="4486832" cy="299973"/>
          </a:xfrm>
          <a:prstGeom prst="rect">
            <a:avLst/>
          </a:prstGeom>
          <a:noFill/>
        </p:spPr>
        <p:txBody>
          <a:bodyPr wrap="square" anchor="t" lIns="0" rIns="0" tIns="0" bIns="0">
            <a:spAutoFit/>
          </a:bodyPr>
          <a:lstStyle/>
          <a:p>
            <a:r>
              <a:rPr sz="1700" b="1">
                <a:solidFill>
                  <a:srgbClr val="142B33"/>
                </a:solidFill>
                <a:latin typeface="Calibri"/>
              </a:rPr>
              <a:t>Se pide</a:t>
            </a:r>
          </a:p>
        </p:txBody>
      </p:sp>
      <p:sp>
        <p:nvSpPr>
          <p:cNvPr id="9" name="TextBox 8"/>
          <p:cNvSpPr txBox="1"/>
          <p:nvPr/>
        </p:nvSpPr>
        <p:spPr>
          <a:xfrm>
            <a:off x="7156222" y="3369056"/>
            <a:ext cx="4486832" cy="1723643"/>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500" b="0">
                <a:solidFill>
                  <a:srgbClr val="142B33"/>
                </a:solidFill>
                <a:latin typeface="Calibri"/>
              </a:rPr>
              <a:t>Hacer el ANOVA del 3</a:t>
            </a:r>
            <a:r>
              <a:rPr sz="1500" b="0" baseline="30000">
                <a:solidFill>
                  <a:srgbClr val="142B33"/>
                </a:solidFill>
                <a:latin typeface="Calibri"/>
              </a:rPr>
              <a:t>3</a:t>
            </a:r>
          </a:p>
          <a:p>
            <a:pPr marL="320040" indent="-320040">
              <a:spcAft>
                <a:spcPts val="600"/>
              </a:spcAft>
              <a:buClr>
                <a:srgbClr val="E36414"/>
              </a:buClr>
              <a:buFont typeface="+mj-lt"/>
              <a:buAutoNum type="arabicPeriod"/>
            </a:pPr>
            <a:r>
              <a:rPr sz="1500" b="0">
                <a:solidFill>
                  <a:srgbClr val="142B33"/>
                </a:solidFill>
                <a:latin typeface="Calibri"/>
              </a:rPr>
              <a:t>Interpretar las interacciones de dos factores</a:t>
            </a:r>
          </a:p>
          <a:p>
            <a:pPr marL="320040" indent="-320040">
              <a:spcAft>
                <a:spcPts val="600"/>
              </a:spcAft>
              <a:buClr>
                <a:srgbClr val="E36414"/>
              </a:buClr>
              <a:buFont typeface="+mj-lt"/>
              <a:buAutoNum type="arabicPeriod"/>
            </a:pPr>
            <a:r>
              <a:rPr sz="1500" b="0">
                <a:solidFill>
                  <a:srgbClr val="142B33"/>
                </a:solidFill>
                <a:latin typeface="Calibri"/>
              </a:rPr>
              <a:t>Ajustar un modelo cuadrático por boquilla y leer los contornos</a:t>
            </a:r>
          </a:p>
          <a:p>
            <a:pPr marL="320040" indent="-320040">
              <a:spcAft>
                <a:spcPts val="600"/>
              </a:spcAft>
              <a:buClr>
                <a:srgbClr val="E36414"/>
              </a:buClr>
              <a:buFont typeface="+mj-lt"/>
              <a:buAutoNum type="arabicPeriod"/>
            </a:pPr>
            <a:r>
              <a:rPr sz="1500" b="0">
                <a:solidFill>
                  <a:srgbClr val="142B33"/>
                </a:solidFill>
                <a:latin typeface="Calibri"/>
              </a:rPr>
              <a:t>Partir ABC en sus componentes W, X, Y, Z con la regla L</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Los diseños 3</a:t>
            </a:r>
            <a:r>
              <a:rPr sz="1000" b="0" baseline="30000">
                <a:solidFill>
                  <a:srgbClr val="5B6B73"/>
                </a:solidFill>
                <a:latin typeface="Calibri"/>
              </a:rPr>
              <a:t>2</a:t>
            </a:r>
            <a:r>
              <a:rPr sz="1000" b="0">
                <a:solidFill>
                  <a:srgbClr val="5B6B73"/>
                </a:solidFill>
                <a:latin typeface="Calibri"/>
              </a:rPr>
              <a:t> y 3</a:t>
            </a:r>
            <a:r>
              <a:rPr sz="1000" b="0" baseline="30000">
                <a:solidFill>
                  <a:srgbClr val="5B6B73"/>
                </a:solidFill>
                <a:latin typeface="Calibri"/>
              </a:rPr>
              <a:t>3</a:t>
            </a:r>
          </a:p>
        </p:txBody>
      </p:sp>
      <p:sp>
        <p:nvSpPr>
          <p:cNvPr id="11" name="TextBox 10"/>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24</a:t>
            </a:r>
          </a:p>
        </p:txBody>
      </p:sp>
      <p:sp>
        <p:nvSpPr>
          <p:cNvPr id="12" name="Rounded Rectangle 11"/>
          <p:cNvSpPr/>
          <p:nvPr/>
        </p:nvSpPr>
        <p:spPr>
          <a:xfrm>
            <a:off x="548640" y="91440"/>
            <a:ext cx="258775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3 · Los diseños 3</a:t>
            </a:r>
            <a:r>
              <a:rPr sz="1100" b="1" baseline="30000">
                <a:solidFill>
                  <a:srgbClr val="FFFFFF"/>
                </a:solidFill>
                <a:latin typeface="Calibri"/>
              </a:rPr>
              <a:t>2</a:t>
            </a:r>
            <a:r>
              <a:rPr sz="1100" b="1">
                <a:solidFill>
                  <a:srgbClr val="FFFFFF"/>
                </a:solidFill>
                <a:latin typeface="Calibri"/>
              </a:rPr>
              <a:t> y 3</a:t>
            </a:r>
            <a:r>
              <a:rPr sz="1100" b="1" baseline="30000">
                <a:solidFill>
                  <a:srgbClr val="FFFFFF"/>
                </a:solidFill>
                <a:latin typeface="Calibri"/>
              </a:rPr>
              <a:t>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2 · Datos (tabla 9-1)</a:t>
            </a:r>
          </a:p>
        </p:txBody>
      </p:sp>
      <p:graphicFrame>
        <p:nvGraphicFramePr>
          <p:cNvPr id="3" name="Table 2"/>
          <p:cNvGraphicFramePr>
            <a:graphicFrameLocks noGrp="1"/>
          </p:cNvGraphicFramePr>
          <p:nvPr/>
        </p:nvGraphicFramePr>
        <p:xfrm>
          <a:off x="548640" y="1417320"/>
          <a:ext cx="11094414" cy="1560067"/>
        </p:xfrm>
        <a:graphic>
          <a:graphicData uri="http://schemas.openxmlformats.org/drawingml/2006/table">
            <a:tbl>
              <a:tblPr firstRow="0" bandRow="0">
                <a:tableStyleId>{5C22544A-7EE6-4342-B048-85BDC9FD1C3A}</a:tableStyleId>
              </a:tblPr>
              <a:tblGrid>
                <a:gridCol w="889557"/>
                <a:gridCol w="1133873"/>
                <a:gridCol w="1133873"/>
                <a:gridCol w="1133873"/>
                <a:gridCol w="1133873"/>
                <a:gridCol w="1133873"/>
                <a:gridCol w="1133873"/>
                <a:gridCol w="1133873"/>
                <a:gridCol w="1133873"/>
                <a:gridCol w="1133873"/>
              </a:tblGrid>
              <a:tr h="552703">
                <a:tc>
                  <a:txBody>
                    <a:bodyPr/>
                    <a:lstStyle/>
                    <a:p>
                      <a:pPr algn="ctr"/>
                      <a:r>
                        <a:rPr sz="1400" b="1">
                          <a:solidFill>
                            <a:srgbClr val="FFFFFF"/>
                          </a:solidFill>
                          <a:latin typeface="Calibri"/>
                        </a:rPr>
                        <a:t>Presión C</a:t>
                      </a:r>
                    </a:p>
                  </a:txBody>
                  <a:tcPr marL="73152" marR="73152" marT="27432" marB="27432" anchor="ctr">
                    <a:solidFill>
                      <a:srgbClr val="0F4C5C"/>
                    </a:solidFill>
                  </a:tcPr>
                </a:tc>
                <a:tc>
                  <a:txBody>
                    <a:bodyPr/>
                    <a:lstStyle/>
                    <a:p>
                      <a:pPr algn="ctr"/>
                      <a:r>
                        <a:rPr sz="1400" b="1">
                          <a:solidFill>
                            <a:srgbClr val="FFFFFF"/>
                          </a:solidFill>
                          <a:latin typeface="Calibri"/>
                        </a:rPr>
                        <a:t>Boq. 1 · 100</a:t>
                      </a:r>
                    </a:p>
                  </a:txBody>
                  <a:tcPr marL="73152" marR="73152" marT="27432" marB="27432" anchor="ctr">
                    <a:solidFill>
                      <a:srgbClr val="0F4C5C"/>
                    </a:solidFill>
                  </a:tcPr>
                </a:tc>
                <a:tc>
                  <a:txBody>
                    <a:bodyPr/>
                    <a:lstStyle/>
                    <a:p>
                      <a:pPr algn="ctr"/>
                      <a:r>
                        <a:rPr sz="1400" b="1">
                          <a:solidFill>
                            <a:srgbClr val="FFFFFF"/>
                          </a:solidFill>
                          <a:latin typeface="Calibri"/>
                        </a:rPr>
                        <a:t>Boq. 1 · 120</a:t>
                      </a:r>
                    </a:p>
                  </a:txBody>
                  <a:tcPr marL="73152" marR="73152" marT="27432" marB="27432" anchor="ctr">
                    <a:solidFill>
                      <a:srgbClr val="0F4C5C"/>
                    </a:solidFill>
                  </a:tcPr>
                </a:tc>
                <a:tc>
                  <a:txBody>
                    <a:bodyPr/>
                    <a:lstStyle/>
                    <a:p>
                      <a:pPr algn="ctr"/>
                      <a:r>
                        <a:rPr sz="1400" b="1">
                          <a:solidFill>
                            <a:srgbClr val="FFFFFF"/>
                          </a:solidFill>
                          <a:latin typeface="Calibri"/>
                        </a:rPr>
                        <a:t>Boq. 1 · 140</a:t>
                      </a:r>
                    </a:p>
                  </a:txBody>
                  <a:tcPr marL="73152" marR="73152" marT="27432" marB="27432" anchor="ctr">
                    <a:solidFill>
                      <a:srgbClr val="0F4C5C"/>
                    </a:solidFill>
                  </a:tcPr>
                </a:tc>
                <a:tc>
                  <a:txBody>
                    <a:bodyPr/>
                    <a:lstStyle/>
                    <a:p>
                      <a:pPr algn="ctr"/>
                      <a:r>
                        <a:rPr sz="1400" b="1">
                          <a:solidFill>
                            <a:srgbClr val="FFFFFF"/>
                          </a:solidFill>
                          <a:latin typeface="Calibri"/>
                        </a:rPr>
                        <a:t>Boq. 2 · 100</a:t>
                      </a:r>
                    </a:p>
                  </a:txBody>
                  <a:tcPr marL="73152" marR="73152" marT="27432" marB="27432" anchor="ctr">
                    <a:solidFill>
                      <a:srgbClr val="0F4C5C"/>
                    </a:solidFill>
                  </a:tcPr>
                </a:tc>
                <a:tc>
                  <a:txBody>
                    <a:bodyPr/>
                    <a:lstStyle/>
                    <a:p>
                      <a:pPr algn="ctr"/>
                      <a:r>
                        <a:rPr sz="1400" b="1">
                          <a:solidFill>
                            <a:srgbClr val="FFFFFF"/>
                          </a:solidFill>
                          <a:latin typeface="Calibri"/>
                        </a:rPr>
                        <a:t>Boq. 2 · 120</a:t>
                      </a:r>
                    </a:p>
                  </a:txBody>
                  <a:tcPr marL="73152" marR="73152" marT="27432" marB="27432" anchor="ctr">
                    <a:solidFill>
                      <a:srgbClr val="0F4C5C"/>
                    </a:solidFill>
                  </a:tcPr>
                </a:tc>
                <a:tc>
                  <a:txBody>
                    <a:bodyPr/>
                    <a:lstStyle/>
                    <a:p>
                      <a:pPr algn="ctr"/>
                      <a:r>
                        <a:rPr sz="1400" b="1">
                          <a:solidFill>
                            <a:srgbClr val="FFFFFF"/>
                          </a:solidFill>
                          <a:latin typeface="Calibri"/>
                        </a:rPr>
                        <a:t>Boq. 2 · 140</a:t>
                      </a:r>
                    </a:p>
                  </a:txBody>
                  <a:tcPr marL="73152" marR="73152" marT="27432" marB="27432" anchor="ctr">
                    <a:solidFill>
                      <a:srgbClr val="0F4C5C"/>
                    </a:solidFill>
                  </a:tcPr>
                </a:tc>
                <a:tc>
                  <a:txBody>
                    <a:bodyPr/>
                    <a:lstStyle/>
                    <a:p>
                      <a:pPr algn="ctr"/>
                      <a:r>
                        <a:rPr sz="1400" b="1">
                          <a:solidFill>
                            <a:srgbClr val="FFFFFF"/>
                          </a:solidFill>
                          <a:latin typeface="Calibri"/>
                        </a:rPr>
                        <a:t>Boq. 3 · 100</a:t>
                      </a:r>
                    </a:p>
                  </a:txBody>
                  <a:tcPr marL="73152" marR="73152" marT="27432" marB="27432" anchor="ctr">
                    <a:solidFill>
                      <a:srgbClr val="0F4C5C"/>
                    </a:solidFill>
                  </a:tcPr>
                </a:tc>
                <a:tc>
                  <a:txBody>
                    <a:bodyPr/>
                    <a:lstStyle/>
                    <a:p>
                      <a:pPr algn="ctr"/>
                      <a:r>
                        <a:rPr sz="1400" b="1">
                          <a:solidFill>
                            <a:srgbClr val="FFFFFF"/>
                          </a:solidFill>
                          <a:latin typeface="Calibri"/>
                        </a:rPr>
                        <a:t>Boq. 3 · 120</a:t>
                      </a:r>
                    </a:p>
                  </a:txBody>
                  <a:tcPr marL="73152" marR="73152" marT="27432" marB="27432" anchor="ctr">
                    <a:solidFill>
                      <a:srgbClr val="0F4C5C"/>
                    </a:solidFill>
                  </a:tcPr>
                </a:tc>
                <a:tc>
                  <a:txBody>
                    <a:bodyPr/>
                    <a:lstStyle/>
                    <a:p>
                      <a:pPr algn="ctr"/>
                      <a:r>
                        <a:rPr sz="1400" b="1">
                          <a:solidFill>
                            <a:srgbClr val="FFFFFF"/>
                          </a:solidFill>
                          <a:latin typeface="Calibri"/>
                        </a:rPr>
                        <a:t>Boq. 3 · 140</a:t>
                      </a:r>
                    </a:p>
                  </a:txBody>
                  <a:tcPr marL="73152" marR="73152" marT="27432" marB="27432" anchor="ctr">
                    <a:solidFill>
                      <a:srgbClr val="0F4C5C"/>
                    </a:solidFill>
                  </a:tcPr>
                </a:tc>
              </a:tr>
              <a:tr h="335788">
                <a:tc>
                  <a:txBody>
                    <a:bodyPr/>
                    <a:lstStyle/>
                    <a:p>
                      <a:pPr algn="ctr"/>
                      <a:r>
                        <a:rPr sz="1400" b="0">
                          <a:solidFill>
                            <a:srgbClr val="142B33"/>
                          </a:solidFill>
                          <a:latin typeface="Calibri"/>
                        </a:rPr>
                        <a:t>10 psi</a:t>
                      </a:r>
                    </a:p>
                  </a:txBody>
                  <a:tcPr marL="73152" marR="73152" marT="27432" marB="27432" anchor="ctr">
                    <a:solidFill>
                      <a:srgbClr val="FFFFFF"/>
                    </a:solidFill>
                  </a:tcPr>
                </a:tc>
                <a:tc>
                  <a:txBody>
                    <a:bodyPr/>
                    <a:lstStyle/>
                    <a:p>
                      <a:pPr algn="ctr"/>
                      <a:r>
                        <a:rPr sz="1400" b="0">
                          <a:solidFill>
                            <a:srgbClr val="142B33"/>
                          </a:solidFill>
                          <a:latin typeface="Calibri"/>
                        </a:rPr>
                        <a:t>-35, -25</a:t>
                      </a:r>
                    </a:p>
                  </a:txBody>
                  <a:tcPr marL="73152" marR="73152" marT="27432" marB="27432" anchor="ctr">
                    <a:solidFill>
                      <a:srgbClr val="FFFFFF"/>
                    </a:solidFill>
                  </a:tcPr>
                </a:tc>
                <a:tc>
                  <a:txBody>
                    <a:bodyPr/>
                    <a:lstStyle/>
                    <a:p>
                      <a:pPr algn="ctr"/>
                      <a:r>
                        <a:rPr sz="1400" b="0">
                          <a:solidFill>
                            <a:srgbClr val="142B33"/>
                          </a:solidFill>
                          <a:latin typeface="Calibri"/>
                        </a:rPr>
                        <a:t>-45, -60</a:t>
                      </a:r>
                    </a:p>
                  </a:txBody>
                  <a:tcPr marL="73152" marR="73152" marT="27432" marB="27432" anchor="ctr">
                    <a:solidFill>
                      <a:srgbClr val="FFFFFF"/>
                    </a:solidFill>
                  </a:tcPr>
                </a:tc>
                <a:tc>
                  <a:txBody>
                    <a:bodyPr/>
                    <a:lstStyle/>
                    <a:p>
                      <a:pPr algn="ctr"/>
                      <a:r>
                        <a:rPr sz="1400" b="0">
                          <a:solidFill>
                            <a:srgbClr val="142B33"/>
                          </a:solidFill>
                          <a:latin typeface="Calibri"/>
                        </a:rPr>
                        <a:t>-40, 15</a:t>
                      </a:r>
                    </a:p>
                  </a:txBody>
                  <a:tcPr marL="73152" marR="73152" marT="27432" marB="27432" anchor="ctr">
                    <a:solidFill>
                      <a:srgbClr val="FFFFFF"/>
                    </a:solidFill>
                  </a:tcPr>
                </a:tc>
                <a:tc>
                  <a:txBody>
                    <a:bodyPr/>
                    <a:lstStyle/>
                    <a:p>
                      <a:pPr algn="ctr"/>
                      <a:r>
                        <a:rPr sz="1400" b="0">
                          <a:solidFill>
                            <a:srgbClr val="142B33"/>
                          </a:solidFill>
                          <a:latin typeface="Calibri"/>
                        </a:rPr>
                        <a:t>17, 24</a:t>
                      </a:r>
                    </a:p>
                  </a:txBody>
                  <a:tcPr marL="73152" marR="73152" marT="27432" marB="27432" anchor="ctr">
                    <a:solidFill>
                      <a:srgbClr val="FFFFFF"/>
                    </a:solidFill>
                  </a:tcPr>
                </a:tc>
                <a:tc>
                  <a:txBody>
                    <a:bodyPr/>
                    <a:lstStyle/>
                    <a:p>
                      <a:pPr algn="ctr"/>
                      <a:r>
                        <a:rPr sz="1400" b="0">
                          <a:solidFill>
                            <a:srgbClr val="142B33"/>
                          </a:solidFill>
                          <a:latin typeface="Calibri"/>
                        </a:rPr>
                        <a:t>-65, -58</a:t>
                      </a:r>
                    </a:p>
                  </a:txBody>
                  <a:tcPr marL="73152" marR="73152" marT="27432" marB="27432" anchor="ctr">
                    <a:solidFill>
                      <a:srgbClr val="FFFFFF"/>
                    </a:solidFill>
                  </a:tcPr>
                </a:tc>
                <a:tc>
                  <a:txBody>
                    <a:bodyPr/>
                    <a:lstStyle/>
                    <a:p>
                      <a:pPr algn="ctr"/>
                      <a:r>
                        <a:rPr sz="1400" b="0">
                          <a:solidFill>
                            <a:srgbClr val="142B33"/>
                          </a:solidFill>
                          <a:latin typeface="Calibri"/>
                        </a:rPr>
                        <a:t>20, 4</a:t>
                      </a:r>
                    </a:p>
                  </a:txBody>
                  <a:tcPr marL="73152" marR="73152" marT="27432" marB="27432" anchor="ctr">
                    <a:solidFill>
                      <a:srgbClr val="FFFFFF"/>
                    </a:solidFill>
                  </a:tcPr>
                </a:tc>
                <a:tc>
                  <a:txBody>
                    <a:bodyPr/>
                    <a:lstStyle/>
                    <a:p>
                      <a:pPr algn="ctr"/>
                      <a:r>
                        <a:rPr sz="1400" b="0">
                          <a:solidFill>
                            <a:srgbClr val="142B33"/>
                          </a:solidFill>
                          <a:latin typeface="Calibri"/>
                        </a:rPr>
                        <a:t>-39, -35</a:t>
                      </a:r>
                    </a:p>
                  </a:txBody>
                  <a:tcPr marL="73152" marR="73152" marT="27432" marB="27432" anchor="ctr">
                    <a:solidFill>
                      <a:srgbClr val="FFFFFF"/>
                    </a:solidFill>
                  </a:tcPr>
                </a:tc>
                <a:tc>
                  <a:txBody>
                    <a:bodyPr/>
                    <a:lstStyle/>
                    <a:p>
                      <a:pPr algn="ctr"/>
                      <a:r>
                        <a:rPr sz="1400" b="0">
                          <a:solidFill>
                            <a:srgbClr val="142B33"/>
                          </a:solidFill>
                          <a:latin typeface="Calibri"/>
                        </a:rPr>
                        <a:t>-55, -67</a:t>
                      </a:r>
                    </a:p>
                  </a:txBody>
                  <a:tcPr marL="73152" marR="73152" marT="27432" marB="27432" anchor="ctr">
                    <a:solidFill>
                      <a:srgbClr val="FFFFFF"/>
                    </a:solidFill>
                  </a:tcPr>
                </a:tc>
                <a:tc>
                  <a:txBody>
                    <a:bodyPr/>
                    <a:lstStyle/>
                    <a:p>
                      <a:pPr algn="ctr"/>
                      <a:r>
                        <a:rPr sz="1400" b="0">
                          <a:solidFill>
                            <a:srgbClr val="142B33"/>
                          </a:solidFill>
                          <a:latin typeface="Calibri"/>
                        </a:rPr>
                        <a:t>15, -30</a:t>
                      </a:r>
                    </a:p>
                  </a:txBody>
                  <a:tcPr marL="73152" marR="73152" marT="27432" marB="27432" anchor="ctr">
                    <a:solidFill>
                      <a:srgbClr val="FFFFFF"/>
                    </a:solidFill>
                  </a:tcPr>
                </a:tc>
              </a:tr>
              <a:tr h="335788">
                <a:tc>
                  <a:txBody>
                    <a:bodyPr/>
                    <a:lstStyle/>
                    <a:p>
                      <a:pPr algn="ctr"/>
                      <a:r>
                        <a:rPr sz="1400" b="0">
                          <a:solidFill>
                            <a:srgbClr val="142B33"/>
                          </a:solidFill>
                          <a:latin typeface="Calibri"/>
                        </a:rPr>
                        <a:t>15 psi</a:t>
                      </a:r>
                    </a:p>
                  </a:txBody>
                  <a:tcPr marL="73152" marR="73152" marT="27432" marB="27432" anchor="ctr">
                    <a:solidFill>
                      <a:srgbClr val="F4F8F9"/>
                    </a:solidFill>
                  </a:tcPr>
                </a:tc>
                <a:tc>
                  <a:txBody>
                    <a:bodyPr/>
                    <a:lstStyle/>
                    <a:p>
                      <a:pPr algn="ctr"/>
                      <a:r>
                        <a:rPr sz="1400" b="0">
                          <a:solidFill>
                            <a:srgbClr val="142B33"/>
                          </a:solidFill>
                          <a:latin typeface="Calibri"/>
                        </a:rPr>
                        <a:t>110, 75</a:t>
                      </a:r>
                    </a:p>
                  </a:txBody>
                  <a:tcPr marL="73152" marR="73152" marT="27432" marB="27432" anchor="ctr">
                    <a:solidFill>
                      <a:srgbClr val="F4F8F9"/>
                    </a:solidFill>
                  </a:tcPr>
                </a:tc>
                <a:tc>
                  <a:txBody>
                    <a:bodyPr/>
                    <a:lstStyle/>
                    <a:p>
                      <a:pPr algn="ctr"/>
                      <a:r>
                        <a:rPr sz="1400" b="0">
                          <a:solidFill>
                            <a:srgbClr val="142B33"/>
                          </a:solidFill>
                          <a:latin typeface="Calibri"/>
                        </a:rPr>
                        <a:t>-10, 30</a:t>
                      </a:r>
                    </a:p>
                  </a:txBody>
                  <a:tcPr marL="73152" marR="73152" marT="27432" marB="27432" anchor="ctr">
                    <a:solidFill>
                      <a:srgbClr val="F4F8F9"/>
                    </a:solidFill>
                  </a:tcPr>
                </a:tc>
                <a:tc>
                  <a:txBody>
                    <a:bodyPr/>
                    <a:lstStyle/>
                    <a:p>
                      <a:pPr algn="ctr"/>
                      <a:r>
                        <a:rPr sz="1400" b="0">
                          <a:solidFill>
                            <a:srgbClr val="142B33"/>
                          </a:solidFill>
                          <a:latin typeface="Calibri"/>
                        </a:rPr>
                        <a:t>80, 54</a:t>
                      </a:r>
                    </a:p>
                  </a:txBody>
                  <a:tcPr marL="73152" marR="73152" marT="27432" marB="27432" anchor="ctr">
                    <a:solidFill>
                      <a:srgbClr val="F4F8F9"/>
                    </a:solidFill>
                  </a:tcPr>
                </a:tc>
                <a:tc>
                  <a:txBody>
                    <a:bodyPr/>
                    <a:lstStyle/>
                    <a:p>
                      <a:pPr algn="ctr"/>
                      <a:r>
                        <a:rPr sz="1400" b="0">
                          <a:solidFill>
                            <a:srgbClr val="142B33"/>
                          </a:solidFill>
                          <a:latin typeface="Calibri"/>
                        </a:rPr>
                        <a:t>55, 120</a:t>
                      </a:r>
                    </a:p>
                  </a:txBody>
                  <a:tcPr marL="73152" marR="73152" marT="27432" marB="27432" anchor="ctr">
                    <a:solidFill>
                      <a:srgbClr val="F4F8F9"/>
                    </a:solidFill>
                  </a:tcPr>
                </a:tc>
                <a:tc>
                  <a:txBody>
                    <a:bodyPr/>
                    <a:lstStyle/>
                    <a:p>
                      <a:pPr algn="ctr"/>
                      <a:r>
                        <a:rPr sz="1400" b="0">
                          <a:solidFill>
                            <a:srgbClr val="142B33"/>
                          </a:solidFill>
                          <a:latin typeface="Calibri"/>
                        </a:rPr>
                        <a:t>-55, -44</a:t>
                      </a:r>
                    </a:p>
                  </a:txBody>
                  <a:tcPr marL="73152" marR="73152" marT="27432" marB="27432" anchor="ctr">
                    <a:solidFill>
                      <a:srgbClr val="F4F8F9"/>
                    </a:solidFill>
                  </a:tcPr>
                </a:tc>
                <a:tc>
                  <a:txBody>
                    <a:bodyPr/>
                    <a:lstStyle/>
                    <a:p>
                      <a:pPr algn="ctr"/>
                      <a:r>
                        <a:rPr sz="1400" b="0">
                          <a:solidFill>
                            <a:srgbClr val="142B33"/>
                          </a:solidFill>
                          <a:latin typeface="Calibri"/>
                        </a:rPr>
                        <a:t>110, 44</a:t>
                      </a:r>
                    </a:p>
                  </a:txBody>
                  <a:tcPr marL="73152" marR="73152" marT="27432" marB="27432" anchor="ctr">
                    <a:solidFill>
                      <a:srgbClr val="F4F8F9"/>
                    </a:solidFill>
                  </a:tcPr>
                </a:tc>
                <a:tc>
                  <a:txBody>
                    <a:bodyPr/>
                    <a:lstStyle/>
                    <a:p>
                      <a:pPr algn="ctr"/>
                      <a:r>
                        <a:rPr sz="1400" b="0">
                          <a:solidFill>
                            <a:srgbClr val="142B33"/>
                          </a:solidFill>
                          <a:latin typeface="Calibri"/>
                        </a:rPr>
                        <a:t>90, 113</a:t>
                      </a:r>
                    </a:p>
                  </a:txBody>
                  <a:tcPr marL="73152" marR="73152" marT="27432" marB="27432" anchor="ctr">
                    <a:solidFill>
                      <a:srgbClr val="F4F8F9"/>
                    </a:solidFill>
                  </a:tcPr>
                </a:tc>
                <a:tc>
                  <a:txBody>
                    <a:bodyPr/>
                    <a:lstStyle/>
                    <a:p>
                      <a:pPr algn="ctr"/>
                      <a:r>
                        <a:rPr sz="1400" b="0">
                          <a:solidFill>
                            <a:srgbClr val="142B33"/>
                          </a:solidFill>
                          <a:latin typeface="Calibri"/>
                        </a:rPr>
                        <a:t>-28, -26</a:t>
                      </a:r>
                    </a:p>
                  </a:txBody>
                  <a:tcPr marL="73152" marR="73152" marT="27432" marB="27432" anchor="ctr">
                    <a:solidFill>
                      <a:srgbClr val="F4F8F9"/>
                    </a:solidFill>
                  </a:tcPr>
                </a:tc>
                <a:tc>
                  <a:txBody>
                    <a:bodyPr/>
                    <a:lstStyle/>
                    <a:p>
                      <a:pPr algn="ctr"/>
                      <a:r>
                        <a:rPr sz="1400" b="0">
                          <a:solidFill>
                            <a:srgbClr val="142B33"/>
                          </a:solidFill>
                          <a:latin typeface="Calibri"/>
                        </a:rPr>
                        <a:t>110, 135</a:t>
                      </a:r>
                    </a:p>
                  </a:txBody>
                  <a:tcPr marL="73152" marR="73152" marT="27432" marB="27432" anchor="ctr">
                    <a:solidFill>
                      <a:srgbClr val="F4F8F9"/>
                    </a:solidFill>
                  </a:tcPr>
                </a:tc>
              </a:tr>
              <a:tr h="335788">
                <a:tc>
                  <a:txBody>
                    <a:bodyPr/>
                    <a:lstStyle/>
                    <a:p>
                      <a:pPr algn="ctr"/>
                      <a:r>
                        <a:rPr sz="1400" b="0">
                          <a:solidFill>
                            <a:srgbClr val="142B33"/>
                          </a:solidFill>
                          <a:latin typeface="Calibri"/>
                        </a:rPr>
                        <a:t>20 psi</a:t>
                      </a:r>
                    </a:p>
                  </a:txBody>
                  <a:tcPr marL="73152" marR="73152" marT="27432" marB="27432" anchor="ctr">
                    <a:solidFill>
                      <a:srgbClr val="FFFFFF"/>
                    </a:solidFill>
                  </a:tcPr>
                </a:tc>
                <a:tc>
                  <a:txBody>
                    <a:bodyPr/>
                    <a:lstStyle/>
                    <a:p>
                      <a:pPr algn="ctr"/>
                      <a:r>
                        <a:rPr sz="1400" b="0">
                          <a:solidFill>
                            <a:srgbClr val="142B33"/>
                          </a:solidFill>
                          <a:latin typeface="Calibri"/>
                        </a:rPr>
                        <a:t>4, 5</a:t>
                      </a:r>
                    </a:p>
                  </a:txBody>
                  <a:tcPr marL="73152" marR="73152" marT="27432" marB="27432" anchor="ctr">
                    <a:solidFill>
                      <a:srgbClr val="FFFFFF"/>
                    </a:solidFill>
                  </a:tcPr>
                </a:tc>
                <a:tc>
                  <a:txBody>
                    <a:bodyPr/>
                    <a:lstStyle/>
                    <a:p>
                      <a:pPr algn="ctr"/>
                      <a:r>
                        <a:rPr sz="1400" b="0">
                          <a:solidFill>
                            <a:srgbClr val="142B33"/>
                          </a:solidFill>
                          <a:latin typeface="Calibri"/>
                        </a:rPr>
                        <a:t>-40, -30</a:t>
                      </a:r>
                    </a:p>
                  </a:txBody>
                  <a:tcPr marL="73152" marR="73152" marT="27432" marB="27432" anchor="ctr">
                    <a:solidFill>
                      <a:srgbClr val="FFFFFF"/>
                    </a:solidFill>
                  </a:tcPr>
                </a:tc>
                <a:tc>
                  <a:txBody>
                    <a:bodyPr/>
                    <a:lstStyle/>
                    <a:p>
                      <a:pPr algn="ctr"/>
                      <a:r>
                        <a:rPr sz="1400" b="0">
                          <a:solidFill>
                            <a:srgbClr val="142B33"/>
                          </a:solidFill>
                          <a:latin typeface="Calibri"/>
                        </a:rPr>
                        <a:t>31, 36</a:t>
                      </a:r>
                    </a:p>
                  </a:txBody>
                  <a:tcPr marL="73152" marR="73152" marT="27432" marB="27432" anchor="ctr">
                    <a:solidFill>
                      <a:srgbClr val="FFFFFF"/>
                    </a:solidFill>
                  </a:tcPr>
                </a:tc>
                <a:tc>
                  <a:txBody>
                    <a:bodyPr/>
                    <a:lstStyle/>
                    <a:p>
                      <a:pPr algn="ctr"/>
                      <a:r>
                        <a:rPr sz="1400" b="0">
                          <a:solidFill>
                            <a:srgbClr val="142B33"/>
                          </a:solidFill>
                          <a:latin typeface="Calibri"/>
                        </a:rPr>
                        <a:t>-23, -5</a:t>
                      </a:r>
                    </a:p>
                  </a:txBody>
                  <a:tcPr marL="73152" marR="73152" marT="27432" marB="27432" anchor="ctr">
                    <a:solidFill>
                      <a:srgbClr val="FFFFFF"/>
                    </a:solidFill>
                  </a:tcPr>
                </a:tc>
                <a:tc>
                  <a:txBody>
                    <a:bodyPr/>
                    <a:lstStyle/>
                    <a:p>
                      <a:pPr algn="ctr"/>
                      <a:r>
                        <a:rPr sz="1400" b="0">
                          <a:solidFill>
                            <a:srgbClr val="142B33"/>
                          </a:solidFill>
                          <a:latin typeface="Calibri"/>
                        </a:rPr>
                        <a:t>-64, -62</a:t>
                      </a:r>
                    </a:p>
                  </a:txBody>
                  <a:tcPr marL="73152" marR="73152" marT="27432" marB="27432" anchor="ctr">
                    <a:solidFill>
                      <a:srgbClr val="FFFFFF"/>
                    </a:solidFill>
                  </a:tcPr>
                </a:tc>
                <a:tc>
                  <a:txBody>
                    <a:bodyPr/>
                    <a:lstStyle/>
                    <a:p>
                      <a:pPr algn="ctr"/>
                      <a:r>
                        <a:rPr sz="1400" b="0">
                          <a:solidFill>
                            <a:srgbClr val="142B33"/>
                          </a:solidFill>
                          <a:latin typeface="Calibri"/>
                        </a:rPr>
                        <a:t>-20, -31</a:t>
                      </a:r>
                    </a:p>
                  </a:txBody>
                  <a:tcPr marL="73152" marR="73152" marT="27432" marB="27432" anchor="ctr">
                    <a:solidFill>
                      <a:srgbClr val="FFFFFF"/>
                    </a:solidFill>
                  </a:tcPr>
                </a:tc>
                <a:tc>
                  <a:txBody>
                    <a:bodyPr/>
                    <a:lstStyle/>
                    <a:p>
                      <a:pPr algn="ctr"/>
                      <a:r>
                        <a:rPr sz="1400" b="0">
                          <a:solidFill>
                            <a:srgbClr val="142B33"/>
                          </a:solidFill>
                          <a:latin typeface="Calibri"/>
                        </a:rPr>
                        <a:t>-30, -55</a:t>
                      </a:r>
                    </a:p>
                  </a:txBody>
                  <a:tcPr marL="73152" marR="73152" marT="27432" marB="27432" anchor="ctr">
                    <a:solidFill>
                      <a:srgbClr val="FFFFFF"/>
                    </a:solidFill>
                  </a:tcPr>
                </a:tc>
                <a:tc>
                  <a:txBody>
                    <a:bodyPr/>
                    <a:lstStyle/>
                    <a:p>
                      <a:pPr algn="ctr"/>
                      <a:r>
                        <a:rPr sz="1400" b="0">
                          <a:solidFill>
                            <a:srgbClr val="142B33"/>
                          </a:solidFill>
                          <a:latin typeface="Calibri"/>
                        </a:rPr>
                        <a:t>-61, -52</a:t>
                      </a:r>
                    </a:p>
                  </a:txBody>
                  <a:tcPr marL="73152" marR="73152" marT="27432" marB="27432" anchor="ctr">
                    <a:solidFill>
                      <a:srgbClr val="FFFFFF"/>
                    </a:solidFill>
                  </a:tcPr>
                </a:tc>
                <a:tc>
                  <a:txBody>
                    <a:bodyPr/>
                    <a:lstStyle/>
                    <a:p>
                      <a:pPr algn="ctr"/>
                      <a:r>
                        <a:rPr sz="1400" b="0">
                          <a:solidFill>
                            <a:srgbClr val="142B33"/>
                          </a:solidFill>
                          <a:latin typeface="Calibri"/>
                        </a:rPr>
                        <a:t>54, 4</a:t>
                      </a:r>
                    </a:p>
                  </a:txBody>
                  <a:tcPr marL="73152" marR="73152" marT="27432" marB="27432" anchor="ctr">
                    <a:solidFill>
                      <a:srgbClr val="FFFFFF"/>
                    </a:solidFill>
                  </a:tcPr>
                </a:tc>
              </a:tr>
            </a:tbl>
          </a:graphicData>
        </a:graphic>
      </p:graphicFrame>
      <p:sp>
        <p:nvSpPr>
          <p:cNvPr id="4" name="Rounded Rectangle 3"/>
          <p:cNvSpPr/>
          <p:nvPr/>
        </p:nvSpPr>
        <p:spPr>
          <a:xfrm>
            <a:off x="548640" y="3178556"/>
            <a:ext cx="11094415"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Respuesta = cm³ de jarabe perdido − 70. Dos réplicas por celda (n = 2), 54 observaciones</a:t>
            </a:r>
          </a:p>
        </p:txBody>
      </p:sp>
      <p:sp>
        <p:nvSpPr>
          <p:cNvPr id="5" name="TextBox 4"/>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Los diseños 3</a:t>
            </a:r>
            <a:r>
              <a:rPr sz="1000" b="0" baseline="30000">
                <a:solidFill>
                  <a:srgbClr val="5B6B73"/>
                </a:solidFill>
                <a:latin typeface="Calibri"/>
              </a:rPr>
              <a:t>2</a:t>
            </a:r>
            <a:r>
              <a:rPr sz="1000" b="0">
                <a:solidFill>
                  <a:srgbClr val="5B6B73"/>
                </a:solidFill>
                <a:latin typeface="Calibri"/>
              </a:rPr>
              <a:t> y 3</a:t>
            </a:r>
            <a:r>
              <a:rPr sz="1000" b="0" baseline="30000">
                <a:solidFill>
                  <a:srgbClr val="5B6B73"/>
                </a:solidFill>
                <a:latin typeface="Calibri"/>
              </a:rPr>
              <a:t>3</a:t>
            </a:r>
          </a:p>
        </p:txBody>
      </p:sp>
      <p:sp>
        <p:nvSpPr>
          <p:cNvPr id="6" name="TextBox 5"/>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25</a:t>
            </a:r>
          </a:p>
        </p:txBody>
      </p:sp>
      <p:sp>
        <p:nvSpPr>
          <p:cNvPr id="7" name="Rounded Rectangle 6"/>
          <p:cNvSpPr/>
          <p:nvPr/>
        </p:nvSpPr>
        <p:spPr>
          <a:xfrm>
            <a:off x="548640" y="91440"/>
            <a:ext cx="258775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3 · Los diseños 3</a:t>
            </a:r>
            <a:r>
              <a:rPr sz="1100" b="1" baseline="30000">
                <a:solidFill>
                  <a:srgbClr val="FFFFFF"/>
                </a:solidFill>
                <a:latin typeface="Calibri"/>
              </a:rPr>
              <a:t>2</a:t>
            </a:r>
            <a:r>
              <a:rPr sz="1100" b="1">
                <a:solidFill>
                  <a:srgbClr val="FFFFFF"/>
                </a:solidFill>
                <a:latin typeface="Calibri"/>
              </a:rPr>
              <a:t> y 3</a:t>
            </a:r>
            <a:r>
              <a:rPr sz="1100" b="1" baseline="30000">
                <a:solidFill>
                  <a:srgbClr val="FFFFFF"/>
                </a:solidFill>
                <a:latin typeface="Calibri"/>
              </a:rPr>
              <a:t>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2 · ANOVA (tabla 9-2)</a:t>
            </a:r>
          </a:p>
        </p:txBody>
      </p:sp>
      <p:graphicFrame>
        <p:nvGraphicFramePr>
          <p:cNvPr id="3" name="Table 2"/>
          <p:cNvGraphicFramePr>
            <a:graphicFrameLocks noGrp="1"/>
          </p:cNvGraphicFramePr>
          <p:nvPr/>
        </p:nvGraphicFramePr>
        <p:xfrm>
          <a:off x="548640" y="1417320"/>
          <a:ext cx="6409758" cy="3357880"/>
        </p:xfrm>
        <a:graphic>
          <a:graphicData uri="http://schemas.openxmlformats.org/drawingml/2006/table">
            <a:tbl>
              <a:tblPr firstRow="0" bandRow="0">
                <a:tableStyleId>{5C22544A-7EE6-4342-B048-85BDC9FD1C3A}</a:tableStyleId>
              </a:tblPr>
              <a:tblGrid>
                <a:gridCol w="1531162"/>
                <a:gridCol w="1214369"/>
                <a:gridCol w="538546"/>
                <a:gridCol w="1108772"/>
                <a:gridCol w="791980"/>
                <a:gridCol w="1224929"/>
              </a:tblGrid>
              <a:tr h="335788">
                <a:tc>
                  <a:txBody>
                    <a:bodyPr/>
                    <a:lstStyle/>
                    <a:p>
                      <a:pPr algn="l"/>
                      <a:r>
                        <a:rPr sz="1400" b="1">
                          <a:solidFill>
                            <a:srgbClr val="FFFFFF"/>
                          </a:solidFill>
                          <a:latin typeface="Calibri"/>
                        </a:rPr>
                        <a:t>SV</a:t>
                      </a:r>
                    </a:p>
                  </a:txBody>
                  <a:tcPr marL="73152" marR="73152" marT="27432" marB="27432" anchor="ctr">
                    <a:solidFill>
                      <a:srgbClr val="0F4C5C"/>
                    </a:solidFill>
                  </a:tcPr>
                </a:tc>
                <a:tc>
                  <a:txBody>
                    <a:bodyPr/>
                    <a:lstStyle/>
                    <a:p>
                      <a:pPr algn="ctr"/>
                      <a:r>
                        <a:rPr sz="1400" b="1">
                          <a:solidFill>
                            <a:srgbClr val="FFFFFF"/>
                          </a:solidFill>
                          <a:latin typeface="Calibri"/>
                        </a:rPr>
                        <a:t>SS</a:t>
                      </a:r>
                    </a:p>
                  </a:txBody>
                  <a:tcPr marL="73152" marR="73152" marT="27432" marB="27432" anchor="ctr">
                    <a:solidFill>
                      <a:srgbClr val="0F4C5C"/>
                    </a:solidFill>
                  </a:tcPr>
                </a:tc>
                <a:tc>
                  <a:txBody>
                    <a:bodyPr/>
                    <a:lstStyle/>
                    <a:p>
                      <a:pPr algn="ctr"/>
                      <a:r>
                        <a:rPr sz="1400" b="1">
                          <a:solidFill>
                            <a:srgbClr val="FFFFFF"/>
                          </a:solidFill>
                          <a:latin typeface="Calibri"/>
                        </a:rPr>
                        <a:t>DF</a:t>
                      </a:r>
                    </a:p>
                  </a:txBody>
                  <a:tcPr marL="73152" marR="73152" marT="27432" marB="27432" anchor="ctr">
                    <a:solidFill>
                      <a:srgbClr val="0F4C5C"/>
                    </a:solidFill>
                  </a:tcPr>
                </a:tc>
                <a:tc>
                  <a:txBody>
                    <a:bodyPr/>
                    <a:lstStyle/>
                    <a:p>
                      <a:pPr algn="ctr"/>
                      <a:r>
                        <a:rPr sz="1400" b="1">
                          <a:solidFill>
                            <a:srgbClr val="FFFFFF"/>
                          </a:solidFill>
                          <a:latin typeface="Calibri"/>
                        </a:rPr>
                        <a:t>MS</a:t>
                      </a:r>
                    </a:p>
                  </a:txBody>
                  <a:tcPr marL="73152" marR="73152" marT="27432" marB="27432" anchor="ctr">
                    <a:solidFill>
                      <a:srgbClr val="0F4C5C"/>
                    </a:solidFill>
                  </a:tcPr>
                </a:tc>
                <a:tc>
                  <a:txBody>
                    <a:bodyPr/>
                    <a:lstStyle/>
                    <a:p>
                      <a:pPr algn="ctr"/>
                      <a:r>
                        <a:rPr sz="1400" b="1">
                          <a:solidFill>
                            <a:srgbClr val="FFFFFF"/>
                          </a:solidFill>
                          <a:latin typeface="Calibri"/>
                        </a:rPr>
                        <a:t>F</a:t>
                      </a:r>
                      <a:r>
                        <a:rPr sz="1400" b="1" baseline="-25000">
                          <a:solidFill>
                            <a:srgbClr val="FFFFFF"/>
                          </a:solidFill>
                          <a:latin typeface="Calibri"/>
                        </a:rPr>
                        <a:t>0</a:t>
                      </a:r>
                    </a:p>
                  </a:txBody>
                  <a:tcPr marL="73152" marR="73152" marT="27432" marB="27432" anchor="ctr">
                    <a:solidFill>
                      <a:srgbClr val="0F4C5C"/>
                    </a:solidFill>
                  </a:tcPr>
                </a:tc>
                <a:tc>
                  <a:txBody>
                    <a:bodyPr/>
                    <a:lstStyle/>
                    <a:p>
                      <a:pPr algn="ctr"/>
                      <a:r>
                        <a:rPr sz="1400" b="1">
                          <a:solidFill>
                            <a:srgbClr val="FFFFFF"/>
                          </a:solidFill>
                          <a:latin typeface="Calibri"/>
                        </a:rPr>
                        <a:t>P-Value</a:t>
                      </a:r>
                    </a:p>
                  </a:txBody>
                  <a:tcPr marL="73152" marR="73152" marT="27432" marB="27432" anchor="ctr">
                    <a:solidFill>
                      <a:srgbClr val="0F4C5C"/>
                    </a:solidFill>
                  </a:tcPr>
                </a:tc>
              </a:tr>
              <a:tr h="335788">
                <a:tc>
                  <a:txBody>
                    <a:bodyPr/>
                    <a:lstStyle/>
                    <a:p>
                      <a:pPr algn="l"/>
                      <a:r>
                        <a:rPr sz="1400" b="0">
                          <a:solidFill>
                            <a:srgbClr val="142B33"/>
                          </a:solidFill>
                          <a:latin typeface="Calibri"/>
                        </a:rPr>
                        <a:t>A, boquilla</a:t>
                      </a:r>
                    </a:p>
                  </a:txBody>
                  <a:tcPr marL="73152" marR="73152" marT="27432" marB="27432" anchor="ctr">
                    <a:solidFill>
                      <a:srgbClr val="FFFFFF"/>
                    </a:solidFill>
                  </a:tcPr>
                </a:tc>
                <a:tc>
                  <a:txBody>
                    <a:bodyPr/>
                    <a:lstStyle/>
                    <a:p>
                      <a:pPr algn="ctr"/>
                      <a:r>
                        <a:rPr sz="1400" b="0">
                          <a:solidFill>
                            <a:srgbClr val="142B33"/>
                          </a:solidFill>
                          <a:latin typeface="Calibri"/>
                        </a:rPr>
                        <a:t>993.78</a:t>
                      </a:r>
                    </a:p>
                  </a:txBody>
                  <a:tcPr marL="73152" marR="73152" marT="27432" marB="27432" anchor="ctr">
                    <a:solidFill>
                      <a:srgbClr val="FFFFFF"/>
                    </a:solidFill>
                  </a:tcPr>
                </a:tc>
                <a:tc>
                  <a:txBody>
                    <a:bodyPr/>
                    <a:lstStyle/>
                    <a:p>
                      <a:pPr algn="ctr"/>
                      <a:r>
                        <a:rPr sz="1400" b="0">
                          <a:solidFill>
                            <a:srgbClr val="142B33"/>
                          </a:solidFill>
                          <a:latin typeface="Calibri"/>
                        </a:rPr>
                        <a:t>2</a:t>
                      </a:r>
                    </a:p>
                  </a:txBody>
                  <a:tcPr marL="73152" marR="73152" marT="27432" marB="27432" anchor="ctr">
                    <a:solidFill>
                      <a:srgbClr val="FFFFFF"/>
                    </a:solidFill>
                  </a:tcPr>
                </a:tc>
                <a:tc>
                  <a:txBody>
                    <a:bodyPr/>
                    <a:lstStyle/>
                    <a:p>
                      <a:pPr algn="ctr"/>
                      <a:r>
                        <a:rPr sz="1400" b="0">
                          <a:solidFill>
                            <a:srgbClr val="142B33"/>
                          </a:solidFill>
                          <a:latin typeface="Calibri"/>
                        </a:rPr>
                        <a:t>496.89</a:t>
                      </a:r>
                    </a:p>
                  </a:txBody>
                  <a:tcPr marL="73152" marR="73152" marT="27432" marB="27432" anchor="ctr">
                    <a:solidFill>
                      <a:srgbClr val="FFFFFF"/>
                    </a:solidFill>
                  </a:tcPr>
                </a:tc>
                <a:tc>
                  <a:txBody>
                    <a:bodyPr/>
                    <a:lstStyle/>
                    <a:p>
                      <a:pPr algn="ctr"/>
                      <a:r>
                        <a:rPr sz="1400" b="0">
                          <a:solidFill>
                            <a:srgbClr val="142B33"/>
                          </a:solidFill>
                          <a:latin typeface="Calibri"/>
                        </a:rPr>
                        <a:t>1.17</a:t>
                      </a:r>
                    </a:p>
                  </a:txBody>
                  <a:tcPr marL="73152" marR="73152" marT="27432" marB="27432" anchor="ctr">
                    <a:solidFill>
                      <a:srgbClr val="FFFFFF"/>
                    </a:solidFill>
                  </a:tcPr>
                </a:tc>
                <a:tc>
                  <a:txBody>
                    <a:bodyPr/>
                    <a:lstStyle/>
                    <a:p>
                      <a:pPr algn="ctr"/>
                      <a:r>
                        <a:rPr sz="1400" b="0">
                          <a:solidFill>
                            <a:srgbClr val="142B33"/>
                          </a:solidFill>
                          <a:latin typeface="Calibri"/>
                        </a:rPr>
                        <a:t>0.3271</a:t>
                      </a:r>
                    </a:p>
                  </a:txBody>
                  <a:tcPr marL="73152" marR="73152" marT="27432" marB="27432" anchor="ctr">
                    <a:solidFill>
                      <a:srgbClr val="FFFFFF"/>
                    </a:solidFill>
                  </a:tcPr>
                </a:tc>
              </a:tr>
              <a:tr h="335788">
                <a:tc>
                  <a:txBody>
                    <a:bodyPr/>
                    <a:lstStyle/>
                    <a:p>
                      <a:pPr algn="l"/>
                      <a:r>
                        <a:rPr sz="1400" b="0">
                          <a:solidFill>
                            <a:srgbClr val="142B33"/>
                          </a:solidFill>
                          <a:latin typeface="Calibri"/>
                        </a:rPr>
                        <a:t>B, velocidad</a:t>
                      </a:r>
                    </a:p>
                  </a:txBody>
                  <a:tcPr marL="73152" marR="73152" marT="27432" marB="27432" anchor="ctr">
                    <a:solidFill>
                      <a:srgbClr val="FDE8D7"/>
                    </a:solidFill>
                  </a:tcPr>
                </a:tc>
                <a:tc>
                  <a:txBody>
                    <a:bodyPr/>
                    <a:lstStyle/>
                    <a:p>
                      <a:pPr algn="ctr"/>
                      <a:r>
                        <a:rPr sz="1400" b="0">
                          <a:solidFill>
                            <a:srgbClr val="142B33"/>
                          </a:solidFill>
                          <a:latin typeface="Calibri"/>
                        </a:rPr>
                        <a:t>61190.33</a:t>
                      </a:r>
                    </a:p>
                  </a:txBody>
                  <a:tcPr marL="73152" marR="73152" marT="27432" marB="27432" anchor="ctr">
                    <a:solidFill>
                      <a:srgbClr val="FDE8D7"/>
                    </a:solidFill>
                  </a:tcPr>
                </a:tc>
                <a:tc>
                  <a:txBody>
                    <a:bodyPr/>
                    <a:lstStyle/>
                    <a:p>
                      <a:pPr algn="ctr"/>
                      <a:r>
                        <a:rPr sz="1400" b="0">
                          <a:solidFill>
                            <a:srgbClr val="142B33"/>
                          </a:solidFill>
                          <a:latin typeface="Calibri"/>
                        </a:rPr>
                        <a:t>2</a:t>
                      </a:r>
                    </a:p>
                  </a:txBody>
                  <a:tcPr marL="73152" marR="73152" marT="27432" marB="27432" anchor="ctr">
                    <a:solidFill>
                      <a:srgbClr val="FDE8D7"/>
                    </a:solidFill>
                  </a:tcPr>
                </a:tc>
                <a:tc>
                  <a:txBody>
                    <a:bodyPr/>
                    <a:lstStyle/>
                    <a:p>
                      <a:pPr algn="ctr"/>
                      <a:r>
                        <a:rPr sz="1400" b="0">
                          <a:solidFill>
                            <a:srgbClr val="142B33"/>
                          </a:solidFill>
                          <a:latin typeface="Calibri"/>
                        </a:rPr>
                        <a:t>30595.17</a:t>
                      </a:r>
                    </a:p>
                  </a:txBody>
                  <a:tcPr marL="73152" marR="73152" marT="27432" marB="27432" anchor="ctr">
                    <a:solidFill>
                      <a:srgbClr val="FDE8D7"/>
                    </a:solidFill>
                  </a:tcPr>
                </a:tc>
                <a:tc>
                  <a:txBody>
                    <a:bodyPr/>
                    <a:lstStyle/>
                    <a:p>
                      <a:pPr algn="ctr"/>
                      <a:r>
                        <a:rPr sz="1400" b="0">
                          <a:solidFill>
                            <a:srgbClr val="142B33"/>
                          </a:solidFill>
                          <a:latin typeface="Calibri"/>
                        </a:rPr>
                        <a:t>71.74</a:t>
                      </a:r>
                    </a:p>
                  </a:txBody>
                  <a:tcPr marL="73152" marR="73152" marT="27432" marB="27432" anchor="ctr">
                    <a:solidFill>
                      <a:srgbClr val="FDE8D7"/>
                    </a:solidFill>
                  </a:tcPr>
                </a:tc>
                <a:tc>
                  <a:txBody>
                    <a:bodyPr/>
                    <a:lstStyle/>
                    <a:p>
                      <a:pPr algn="ctr"/>
                      <a:r>
                        <a:rPr sz="1400" b="0">
                          <a:solidFill>
                            <a:srgbClr val="142B33"/>
                          </a:solidFill>
                          <a:latin typeface="Calibri"/>
                        </a:rPr>
                        <a:t>&lt;0.0001</a:t>
                      </a:r>
                    </a:p>
                  </a:txBody>
                  <a:tcPr marL="73152" marR="73152" marT="27432" marB="27432" anchor="ctr">
                    <a:solidFill>
                      <a:srgbClr val="FDE8D7"/>
                    </a:solidFill>
                  </a:tcPr>
                </a:tc>
              </a:tr>
              <a:tr h="335788">
                <a:tc>
                  <a:txBody>
                    <a:bodyPr/>
                    <a:lstStyle/>
                    <a:p>
                      <a:pPr algn="l"/>
                      <a:r>
                        <a:rPr sz="1400" b="0">
                          <a:solidFill>
                            <a:srgbClr val="142B33"/>
                          </a:solidFill>
                          <a:latin typeface="Calibri"/>
                        </a:rPr>
                        <a:t>C, presión</a:t>
                      </a:r>
                    </a:p>
                  </a:txBody>
                  <a:tcPr marL="73152" marR="73152" marT="27432" marB="27432" anchor="ctr">
                    <a:solidFill>
                      <a:srgbClr val="FDE8D7"/>
                    </a:solidFill>
                  </a:tcPr>
                </a:tc>
                <a:tc>
                  <a:txBody>
                    <a:bodyPr/>
                    <a:lstStyle/>
                    <a:p>
                      <a:pPr algn="ctr"/>
                      <a:r>
                        <a:rPr sz="1400" b="0">
                          <a:solidFill>
                            <a:srgbClr val="142B33"/>
                          </a:solidFill>
                          <a:latin typeface="Calibri"/>
                        </a:rPr>
                        <a:t>69105.33</a:t>
                      </a:r>
                    </a:p>
                  </a:txBody>
                  <a:tcPr marL="73152" marR="73152" marT="27432" marB="27432" anchor="ctr">
                    <a:solidFill>
                      <a:srgbClr val="FDE8D7"/>
                    </a:solidFill>
                  </a:tcPr>
                </a:tc>
                <a:tc>
                  <a:txBody>
                    <a:bodyPr/>
                    <a:lstStyle/>
                    <a:p>
                      <a:pPr algn="ctr"/>
                      <a:r>
                        <a:rPr sz="1400" b="0">
                          <a:solidFill>
                            <a:srgbClr val="142B33"/>
                          </a:solidFill>
                          <a:latin typeface="Calibri"/>
                        </a:rPr>
                        <a:t>2</a:t>
                      </a:r>
                    </a:p>
                  </a:txBody>
                  <a:tcPr marL="73152" marR="73152" marT="27432" marB="27432" anchor="ctr">
                    <a:solidFill>
                      <a:srgbClr val="FDE8D7"/>
                    </a:solidFill>
                  </a:tcPr>
                </a:tc>
                <a:tc>
                  <a:txBody>
                    <a:bodyPr/>
                    <a:lstStyle/>
                    <a:p>
                      <a:pPr algn="ctr"/>
                      <a:r>
                        <a:rPr sz="1400" b="0">
                          <a:solidFill>
                            <a:srgbClr val="142B33"/>
                          </a:solidFill>
                          <a:latin typeface="Calibri"/>
                        </a:rPr>
                        <a:t>34552.67</a:t>
                      </a:r>
                    </a:p>
                  </a:txBody>
                  <a:tcPr marL="73152" marR="73152" marT="27432" marB="27432" anchor="ctr">
                    <a:solidFill>
                      <a:srgbClr val="FDE8D7"/>
                    </a:solidFill>
                  </a:tcPr>
                </a:tc>
                <a:tc>
                  <a:txBody>
                    <a:bodyPr/>
                    <a:lstStyle/>
                    <a:p>
                      <a:pPr algn="ctr"/>
                      <a:r>
                        <a:rPr sz="1400" b="0">
                          <a:solidFill>
                            <a:srgbClr val="142B33"/>
                          </a:solidFill>
                          <a:latin typeface="Calibri"/>
                        </a:rPr>
                        <a:t>81.01</a:t>
                      </a:r>
                    </a:p>
                  </a:txBody>
                  <a:tcPr marL="73152" marR="73152" marT="27432" marB="27432" anchor="ctr">
                    <a:solidFill>
                      <a:srgbClr val="FDE8D7"/>
                    </a:solidFill>
                  </a:tcPr>
                </a:tc>
                <a:tc>
                  <a:txBody>
                    <a:bodyPr/>
                    <a:lstStyle/>
                    <a:p>
                      <a:pPr algn="ctr"/>
                      <a:r>
                        <a:rPr sz="1400" b="0">
                          <a:solidFill>
                            <a:srgbClr val="142B33"/>
                          </a:solidFill>
                          <a:latin typeface="Calibri"/>
                        </a:rPr>
                        <a:t>&lt;0.0001</a:t>
                      </a:r>
                    </a:p>
                  </a:txBody>
                  <a:tcPr marL="73152" marR="73152" marT="27432" marB="27432" anchor="ctr">
                    <a:solidFill>
                      <a:srgbClr val="FDE8D7"/>
                    </a:solidFill>
                  </a:tcPr>
                </a:tc>
              </a:tr>
              <a:tr h="335788">
                <a:tc>
                  <a:txBody>
                    <a:bodyPr/>
                    <a:lstStyle/>
                    <a:p>
                      <a:pPr algn="l"/>
                      <a:r>
                        <a:rPr sz="1400" b="0">
                          <a:solidFill>
                            <a:srgbClr val="142B33"/>
                          </a:solidFill>
                          <a:latin typeface="Calibri"/>
                        </a:rPr>
                        <a:t>AB</a:t>
                      </a:r>
                    </a:p>
                  </a:txBody>
                  <a:tcPr marL="73152" marR="73152" marT="27432" marB="27432" anchor="ctr">
                    <a:solidFill>
                      <a:srgbClr val="FDE8D7"/>
                    </a:solidFill>
                  </a:tcPr>
                </a:tc>
                <a:tc>
                  <a:txBody>
                    <a:bodyPr/>
                    <a:lstStyle/>
                    <a:p>
                      <a:pPr algn="ctr"/>
                      <a:r>
                        <a:rPr sz="1400" b="0">
                          <a:solidFill>
                            <a:srgbClr val="142B33"/>
                          </a:solidFill>
                          <a:latin typeface="Calibri"/>
                        </a:rPr>
                        <a:t>6300.89</a:t>
                      </a:r>
                    </a:p>
                  </a:txBody>
                  <a:tcPr marL="73152" marR="73152" marT="27432" marB="27432" anchor="ctr">
                    <a:solidFill>
                      <a:srgbClr val="FDE8D7"/>
                    </a:solidFill>
                  </a:tcPr>
                </a:tc>
                <a:tc>
                  <a:txBody>
                    <a:bodyPr/>
                    <a:lstStyle/>
                    <a:p>
                      <a:pPr algn="ctr"/>
                      <a:r>
                        <a:rPr sz="1400" b="0">
                          <a:solidFill>
                            <a:srgbClr val="142B33"/>
                          </a:solidFill>
                          <a:latin typeface="Calibri"/>
                        </a:rPr>
                        <a:t>4</a:t>
                      </a:r>
                    </a:p>
                  </a:txBody>
                  <a:tcPr marL="73152" marR="73152" marT="27432" marB="27432" anchor="ctr">
                    <a:solidFill>
                      <a:srgbClr val="FDE8D7"/>
                    </a:solidFill>
                  </a:tcPr>
                </a:tc>
                <a:tc>
                  <a:txBody>
                    <a:bodyPr/>
                    <a:lstStyle/>
                    <a:p>
                      <a:pPr algn="ctr"/>
                      <a:r>
                        <a:rPr sz="1400" b="0">
                          <a:solidFill>
                            <a:srgbClr val="142B33"/>
                          </a:solidFill>
                          <a:latin typeface="Calibri"/>
                        </a:rPr>
                        <a:t>1575.22</a:t>
                      </a:r>
                    </a:p>
                  </a:txBody>
                  <a:tcPr marL="73152" marR="73152" marT="27432" marB="27432" anchor="ctr">
                    <a:solidFill>
                      <a:srgbClr val="FDE8D7"/>
                    </a:solidFill>
                  </a:tcPr>
                </a:tc>
                <a:tc>
                  <a:txBody>
                    <a:bodyPr/>
                    <a:lstStyle/>
                    <a:p>
                      <a:pPr algn="ctr"/>
                      <a:r>
                        <a:rPr sz="1400" b="0">
                          <a:solidFill>
                            <a:srgbClr val="142B33"/>
                          </a:solidFill>
                          <a:latin typeface="Calibri"/>
                        </a:rPr>
                        <a:t>3.69</a:t>
                      </a:r>
                    </a:p>
                  </a:txBody>
                  <a:tcPr marL="73152" marR="73152" marT="27432" marB="27432" anchor="ctr">
                    <a:solidFill>
                      <a:srgbClr val="FDE8D7"/>
                    </a:solidFill>
                  </a:tcPr>
                </a:tc>
                <a:tc>
                  <a:txBody>
                    <a:bodyPr/>
                    <a:lstStyle/>
                    <a:p>
                      <a:pPr algn="ctr"/>
                      <a:r>
                        <a:rPr sz="1400" b="0">
                          <a:solidFill>
                            <a:srgbClr val="142B33"/>
                          </a:solidFill>
                          <a:latin typeface="Calibri"/>
                        </a:rPr>
                        <a:t>0.0159</a:t>
                      </a:r>
                    </a:p>
                  </a:txBody>
                  <a:tcPr marL="73152" marR="73152" marT="27432" marB="27432" anchor="ctr">
                    <a:solidFill>
                      <a:srgbClr val="FDE8D7"/>
                    </a:solidFill>
                  </a:tcPr>
                </a:tc>
              </a:tr>
              <a:tr h="335788">
                <a:tc>
                  <a:txBody>
                    <a:bodyPr/>
                    <a:lstStyle/>
                    <a:p>
                      <a:pPr algn="l"/>
                      <a:r>
                        <a:rPr sz="1400" b="0">
                          <a:solidFill>
                            <a:srgbClr val="142B33"/>
                          </a:solidFill>
                          <a:latin typeface="Calibri"/>
                        </a:rPr>
                        <a:t>AC</a:t>
                      </a:r>
                    </a:p>
                  </a:txBody>
                  <a:tcPr marL="73152" marR="73152" marT="27432" marB="27432" anchor="ctr">
                    <a:solidFill>
                      <a:srgbClr val="FDE8D7"/>
                    </a:solidFill>
                  </a:tcPr>
                </a:tc>
                <a:tc>
                  <a:txBody>
                    <a:bodyPr/>
                    <a:lstStyle/>
                    <a:p>
                      <a:pPr algn="ctr"/>
                      <a:r>
                        <a:rPr sz="1400" b="0">
                          <a:solidFill>
                            <a:srgbClr val="142B33"/>
                          </a:solidFill>
                          <a:latin typeface="Calibri"/>
                        </a:rPr>
                        <a:t>7513.89</a:t>
                      </a:r>
                    </a:p>
                  </a:txBody>
                  <a:tcPr marL="73152" marR="73152" marT="27432" marB="27432" anchor="ctr">
                    <a:solidFill>
                      <a:srgbClr val="FDE8D7"/>
                    </a:solidFill>
                  </a:tcPr>
                </a:tc>
                <a:tc>
                  <a:txBody>
                    <a:bodyPr/>
                    <a:lstStyle/>
                    <a:p>
                      <a:pPr algn="ctr"/>
                      <a:r>
                        <a:rPr sz="1400" b="0">
                          <a:solidFill>
                            <a:srgbClr val="142B33"/>
                          </a:solidFill>
                          <a:latin typeface="Calibri"/>
                        </a:rPr>
                        <a:t>4</a:t>
                      </a:r>
                    </a:p>
                  </a:txBody>
                  <a:tcPr marL="73152" marR="73152" marT="27432" marB="27432" anchor="ctr">
                    <a:solidFill>
                      <a:srgbClr val="FDE8D7"/>
                    </a:solidFill>
                  </a:tcPr>
                </a:tc>
                <a:tc>
                  <a:txBody>
                    <a:bodyPr/>
                    <a:lstStyle/>
                    <a:p>
                      <a:pPr algn="ctr"/>
                      <a:r>
                        <a:rPr sz="1400" b="0">
                          <a:solidFill>
                            <a:srgbClr val="142B33"/>
                          </a:solidFill>
                          <a:latin typeface="Calibri"/>
                        </a:rPr>
                        <a:t>1878.47</a:t>
                      </a:r>
                    </a:p>
                  </a:txBody>
                  <a:tcPr marL="73152" marR="73152" marT="27432" marB="27432" anchor="ctr">
                    <a:solidFill>
                      <a:srgbClr val="FDE8D7"/>
                    </a:solidFill>
                  </a:tcPr>
                </a:tc>
                <a:tc>
                  <a:txBody>
                    <a:bodyPr/>
                    <a:lstStyle/>
                    <a:p>
                      <a:pPr algn="ctr"/>
                      <a:r>
                        <a:rPr sz="1400" b="0">
                          <a:solidFill>
                            <a:srgbClr val="142B33"/>
                          </a:solidFill>
                          <a:latin typeface="Calibri"/>
                        </a:rPr>
                        <a:t>4.40</a:t>
                      </a:r>
                    </a:p>
                  </a:txBody>
                  <a:tcPr marL="73152" marR="73152" marT="27432" marB="27432" anchor="ctr">
                    <a:solidFill>
                      <a:srgbClr val="FDE8D7"/>
                    </a:solidFill>
                  </a:tcPr>
                </a:tc>
                <a:tc>
                  <a:txBody>
                    <a:bodyPr/>
                    <a:lstStyle/>
                    <a:p>
                      <a:pPr algn="ctr"/>
                      <a:r>
                        <a:rPr sz="1400" b="0">
                          <a:solidFill>
                            <a:srgbClr val="142B33"/>
                          </a:solidFill>
                          <a:latin typeface="Calibri"/>
                        </a:rPr>
                        <a:t>0.0072</a:t>
                      </a:r>
                    </a:p>
                  </a:txBody>
                  <a:tcPr marL="73152" marR="73152" marT="27432" marB="27432" anchor="ctr">
                    <a:solidFill>
                      <a:srgbClr val="FDE8D7"/>
                    </a:solidFill>
                  </a:tcPr>
                </a:tc>
              </a:tr>
              <a:tr h="335788">
                <a:tc>
                  <a:txBody>
                    <a:bodyPr/>
                    <a:lstStyle/>
                    <a:p>
                      <a:pPr algn="l"/>
                      <a:r>
                        <a:rPr sz="1400" b="0">
                          <a:solidFill>
                            <a:srgbClr val="142B33"/>
                          </a:solidFill>
                          <a:latin typeface="Calibri"/>
                        </a:rPr>
                        <a:t>BC</a:t>
                      </a:r>
                    </a:p>
                  </a:txBody>
                  <a:tcPr marL="73152" marR="73152" marT="27432" marB="27432" anchor="ctr">
                    <a:solidFill>
                      <a:srgbClr val="FDE8D7"/>
                    </a:solidFill>
                  </a:tcPr>
                </a:tc>
                <a:tc>
                  <a:txBody>
                    <a:bodyPr/>
                    <a:lstStyle/>
                    <a:p>
                      <a:pPr algn="ctr"/>
                      <a:r>
                        <a:rPr sz="1400" b="0">
                          <a:solidFill>
                            <a:srgbClr val="142B33"/>
                          </a:solidFill>
                          <a:latin typeface="Calibri"/>
                        </a:rPr>
                        <a:t>12854.33</a:t>
                      </a:r>
                    </a:p>
                  </a:txBody>
                  <a:tcPr marL="73152" marR="73152" marT="27432" marB="27432" anchor="ctr">
                    <a:solidFill>
                      <a:srgbClr val="FDE8D7"/>
                    </a:solidFill>
                  </a:tcPr>
                </a:tc>
                <a:tc>
                  <a:txBody>
                    <a:bodyPr/>
                    <a:lstStyle/>
                    <a:p>
                      <a:pPr algn="ctr"/>
                      <a:r>
                        <a:rPr sz="1400" b="0">
                          <a:solidFill>
                            <a:srgbClr val="142B33"/>
                          </a:solidFill>
                          <a:latin typeface="Calibri"/>
                        </a:rPr>
                        <a:t>4</a:t>
                      </a:r>
                    </a:p>
                  </a:txBody>
                  <a:tcPr marL="73152" marR="73152" marT="27432" marB="27432" anchor="ctr">
                    <a:solidFill>
                      <a:srgbClr val="FDE8D7"/>
                    </a:solidFill>
                  </a:tcPr>
                </a:tc>
                <a:tc>
                  <a:txBody>
                    <a:bodyPr/>
                    <a:lstStyle/>
                    <a:p>
                      <a:pPr algn="ctr"/>
                      <a:r>
                        <a:rPr sz="1400" b="0">
                          <a:solidFill>
                            <a:srgbClr val="142B33"/>
                          </a:solidFill>
                          <a:latin typeface="Calibri"/>
                        </a:rPr>
                        <a:t>3213.58</a:t>
                      </a:r>
                    </a:p>
                  </a:txBody>
                  <a:tcPr marL="73152" marR="73152" marT="27432" marB="27432" anchor="ctr">
                    <a:solidFill>
                      <a:srgbClr val="FDE8D7"/>
                    </a:solidFill>
                  </a:tcPr>
                </a:tc>
                <a:tc>
                  <a:txBody>
                    <a:bodyPr/>
                    <a:lstStyle/>
                    <a:p>
                      <a:pPr algn="ctr"/>
                      <a:r>
                        <a:rPr sz="1400" b="0">
                          <a:solidFill>
                            <a:srgbClr val="142B33"/>
                          </a:solidFill>
                          <a:latin typeface="Calibri"/>
                        </a:rPr>
                        <a:t>7.53</a:t>
                      </a:r>
                    </a:p>
                  </a:txBody>
                  <a:tcPr marL="73152" marR="73152" marT="27432" marB="27432" anchor="ctr">
                    <a:solidFill>
                      <a:srgbClr val="FDE8D7"/>
                    </a:solidFill>
                  </a:tcPr>
                </a:tc>
                <a:tc>
                  <a:txBody>
                    <a:bodyPr/>
                    <a:lstStyle/>
                    <a:p>
                      <a:pPr algn="ctr"/>
                      <a:r>
                        <a:rPr sz="1400" b="0">
                          <a:solidFill>
                            <a:srgbClr val="142B33"/>
                          </a:solidFill>
                          <a:latin typeface="Calibri"/>
                        </a:rPr>
                        <a:t>0.0003</a:t>
                      </a:r>
                    </a:p>
                  </a:txBody>
                  <a:tcPr marL="73152" marR="73152" marT="27432" marB="27432" anchor="ctr">
                    <a:solidFill>
                      <a:srgbClr val="FDE8D7"/>
                    </a:solidFill>
                  </a:tcPr>
                </a:tc>
              </a:tr>
              <a:tr h="335788">
                <a:tc>
                  <a:txBody>
                    <a:bodyPr/>
                    <a:lstStyle/>
                    <a:p>
                      <a:pPr algn="l"/>
                      <a:r>
                        <a:rPr sz="1400" b="0">
                          <a:solidFill>
                            <a:srgbClr val="142B33"/>
                          </a:solidFill>
                          <a:latin typeface="Calibri"/>
                        </a:rPr>
                        <a:t>ABC</a:t>
                      </a:r>
                    </a:p>
                  </a:txBody>
                  <a:tcPr marL="73152" marR="73152" marT="27432" marB="27432" anchor="ctr">
                    <a:solidFill>
                      <a:srgbClr val="FFFFFF"/>
                    </a:solidFill>
                  </a:tcPr>
                </a:tc>
                <a:tc>
                  <a:txBody>
                    <a:bodyPr/>
                    <a:lstStyle/>
                    <a:p>
                      <a:pPr algn="ctr"/>
                      <a:r>
                        <a:rPr sz="1400" b="0">
                          <a:solidFill>
                            <a:srgbClr val="142B33"/>
                          </a:solidFill>
                          <a:latin typeface="Calibri"/>
                        </a:rPr>
                        <a:t>4628.78</a:t>
                      </a:r>
                    </a:p>
                  </a:txBody>
                  <a:tcPr marL="73152" marR="73152" marT="27432" marB="27432" anchor="ctr">
                    <a:solidFill>
                      <a:srgbClr val="FFFFFF"/>
                    </a:solidFill>
                  </a:tcPr>
                </a:tc>
                <a:tc>
                  <a:txBody>
                    <a:bodyPr/>
                    <a:lstStyle/>
                    <a:p>
                      <a:pPr algn="ctr"/>
                      <a:r>
                        <a:rPr sz="1400" b="0">
                          <a:solidFill>
                            <a:srgbClr val="142B33"/>
                          </a:solidFill>
                          <a:latin typeface="Calibri"/>
                        </a:rPr>
                        <a:t>8</a:t>
                      </a:r>
                    </a:p>
                  </a:txBody>
                  <a:tcPr marL="73152" marR="73152" marT="27432" marB="27432" anchor="ctr">
                    <a:solidFill>
                      <a:srgbClr val="FFFFFF"/>
                    </a:solidFill>
                  </a:tcPr>
                </a:tc>
                <a:tc>
                  <a:txBody>
                    <a:bodyPr/>
                    <a:lstStyle/>
                    <a:p>
                      <a:pPr algn="ctr"/>
                      <a:r>
                        <a:rPr sz="1400" b="0">
                          <a:solidFill>
                            <a:srgbClr val="142B33"/>
                          </a:solidFill>
                          <a:latin typeface="Calibri"/>
                        </a:rPr>
                        <a:t>578.60</a:t>
                      </a:r>
                    </a:p>
                  </a:txBody>
                  <a:tcPr marL="73152" marR="73152" marT="27432" marB="27432" anchor="ctr">
                    <a:solidFill>
                      <a:srgbClr val="FFFFFF"/>
                    </a:solidFill>
                  </a:tcPr>
                </a:tc>
                <a:tc>
                  <a:txBody>
                    <a:bodyPr/>
                    <a:lstStyle/>
                    <a:p>
                      <a:pPr algn="ctr"/>
                      <a:r>
                        <a:rPr sz="1400" b="0">
                          <a:solidFill>
                            <a:srgbClr val="142B33"/>
                          </a:solidFill>
                          <a:latin typeface="Calibri"/>
                        </a:rPr>
                        <a:t>1.36</a:t>
                      </a:r>
                    </a:p>
                  </a:txBody>
                  <a:tcPr marL="73152" marR="73152" marT="27432" marB="27432" anchor="ctr">
                    <a:solidFill>
                      <a:srgbClr val="FFFFFF"/>
                    </a:solidFill>
                  </a:tcPr>
                </a:tc>
                <a:tc>
                  <a:txBody>
                    <a:bodyPr/>
                    <a:lstStyle/>
                    <a:p>
                      <a:pPr algn="ctr"/>
                      <a:r>
                        <a:rPr sz="1400" b="0">
                          <a:solidFill>
                            <a:srgbClr val="142B33"/>
                          </a:solidFill>
                          <a:latin typeface="Calibri"/>
                        </a:rPr>
                        <a:t>0.2595</a:t>
                      </a:r>
                    </a:p>
                  </a:txBody>
                  <a:tcPr marL="73152" marR="73152" marT="27432" marB="27432" anchor="ctr">
                    <a:solidFill>
                      <a:srgbClr val="FFFFFF"/>
                    </a:solidFill>
                  </a:tcPr>
                </a:tc>
              </a:tr>
              <a:tr h="335788">
                <a:tc>
                  <a:txBody>
                    <a:bodyPr/>
                    <a:lstStyle/>
                    <a:p>
                      <a:pPr algn="l"/>
                      <a:r>
                        <a:rPr sz="1400" b="0">
                          <a:solidFill>
                            <a:srgbClr val="142B33"/>
                          </a:solidFill>
                          <a:latin typeface="Calibri"/>
                        </a:rPr>
                        <a:t>Error</a:t>
                      </a:r>
                    </a:p>
                  </a:txBody>
                  <a:tcPr marL="73152" marR="73152" marT="27432" marB="27432" anchor="ctr">
                    <a:solidFill>
                      <a:srgbClr val="F4F8F9"/>
                    </a:solidFill>
                  </a:tcPr>
                </a:tc>
                <a:tc>
                  <a:txBody>
                    <a:bodyPr/>
                    <a:lstStyle/>
                    <a:p>
                      <a:pPr algn="ctr"/>
                      <a:r>
                        <a:rPr sz="1400" b="0">
                          <a:solidFill>
                            <a:srgbClr val="142B33"/>
                          </a:solidFill>
                          <a:latin typeface="Calibri"/>
                        </a:rPr>
                        <a:t>11515.50</a:t>
                      </a:r>
                    </a:p>
                  </a:txBody>
                  <a:tcPr marL="73152" marR="73152" marT="27432" marB="27432" anchor="ctr">
                    <a:solidFill>
                      <a:srgbClr val="F4F8F9"/>
                    </a:solidFill>
                  </a:tcPr>
                </a:tc>
                <a:tc>
                  <a:txBody>
                    <a:bodyPr/>
                    <a:lstStyle/>
                    <a:p>
                      <a:pPr algn="ctr"/>
                      <a:r>
                        <a:rPr sz="1400" b="0">
                          <a:solidFill>
                            <a:srgbClr val="142B33"/>
                          </a:solidFill>
                          <a:latin typeface="Calibri"/>
                        </a:rPr>
                        <a:t>27</a:t>
                      </a:r>
                    </a:p>
                  </a:txBody>
                  <a:tcPr marL="73152" marR="73152" marT="27432" marB="27432" anchor="ctr">
                    <a:solidFill>
                      <a:srgbClr val="F4F8F9"/>
                    </a:solidFill>
                  </a:tcPr>
                </a:tc>
                <a:tc>
                  <a:txBody>
                    <a:bodyPr/>
                    <a:lstStyle/>
                    <a:p>
                      <a:pPr algn="ctr"/>
                      <a:r>
                        <a:rPr sz="1400" b="0">
                          <a:solidFill>
                            <a:srgbClr val="142B33"/>
                          </a:solidFill>
                          <a:latin typeface="Calibri"/>
                        </a:rPr>
                        <a:t>426.50</a:t>
                      </a:r>
                    </a:p>
                  </a:txBody>
                  <a:tcPr marL="73152" marR="73152" marT="27432" marB="27432" anchor="ctr">
                    <a:solidFill>
                      <a:srgbClr val="F4F8F9"/>
                    </a:solidFill>
                  </a:tcPr>
                </a:tc>
                <a:tc>
                  <a:txBody>
                    <a:bodyPr/>
                    <a:lstStyle/>
                    <a:p>
                      <a:pPr algn="ctr"/>
                    </a:p>
                  </a:txBody>
                  <a:tcPr marL="73152" marR="73152" marT="27432" marB="27432" anchor="ctr">
                    <a:solidFill>
                      <a:srgbClr val="F4F8F9"/>
                    </a:solidFill>
                  </a:tcPr>
                </a:tc>
                <a:tc>
                  <a:txBody>
                    <a:bodyPr/>
                    <a:lstStyle/>
                    <a:p>
                      <a:pPr algn="ctr"/>
                    </a:p>
                  </a:txBody>
                  <a:tcPr marL="73152" marR="73152" marT="27432" marB="27432" anchor="ctr">
                    <a:solidFill>
                      <a:srgbClr val="F4F8F9"/>
                    </a:solidFill>
                  </a:tcPr>
                </a:tc>
              </a:tr>
              <a:tr h="335788">
                <a:tc>
                  <a:txBody>
                    <a:bodyPr/>
                    <a:lstStyle/>
                    <a:p>
                      <a:pPr algn="l"/>
                      <a:r>
                        <a:rPr sz="1400" b="0">
                          <a:solidFill>
                            <a:srgbClr val="142B33"/>
                          </a:solidFill>
                          <a:latin typeface="Calibri"/>
                        </a:rPr>
                        <a:t>Total</a:t>
                      </a:r>
                    </a:p>
                  </a:txBody>
                  <a:tcPr marL="73152" marR="73152" marT="27432" marB="27432" anchor="ctr">
                    <a:solidFill>
                      <a:srgbClr val="FFFFFF"/>
                    </a:solidFill>
                  </a:tcPr>
                </a:tc>
                <a:tc>
                  <a:txBody>
                    <a:bodyPr/>
                    <a:lstStyle/>
                    <a:p>
                      <a:pPr algn="ctr"/>
                      <a:r>
                        <a:rPr sz="1400" b="0">
                          <a:solidFill>
                            <a:srgbClr val="142B33"/>
                          </a:solidFill>
                          <a:latin typeface="Calibri"/>
                        </a:rPr>
                        <a:t>174102.83</a:t>
                      </a:r>
                    </a:p>
                  </a:txBody>
                  <a:tcPr marL="73152" marR="73152" marT="27432" marB="27432" anchor="ctr">
                    <a:solidFill>
                      <a:srgbClr val="FFFFFF"/>
                    </a:solidFill>
                  </a:tcPr>
                </a:tc>
                <a:tc>
                  <a:txBody>
                    <a:bodyPr/>
                    <a:lstStyle/>
                    <a:p>
                      <a:pPr algn="ctr"/>
                      <a:r>
                        <a:rPr sz="1400" b="0">
                          <a:solidFill>
                            <a:srgbClr val="142B33"/>
                          </a:solidFill>
                          <a:latin typeface="Calibri"/>
                        </a:rPr>
                        <a:t>53</a:t>
                      </a: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r>
            </a:tbl>
          </a:graphicData>
        </a:graphic>
      </p:graphicFrame>
      <p:sp>
        <p:nvSpPr>
          <p:cNvPr id="4" name="TextBox 3"/>
          <p:cNvSpPr txBox="1"/>
          <p:nvPr/>
        </p:nvSpPr>
        <p:spPr>
          <a:xfrm>
            <a:off x="7369881" y="1417320"/>
            <a:ext cx="4273174" cy="1568703"/>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600" b="1">
                <a:solidFill>
                  <a:srgbClr val="142B33"/>
                </a:solidFill>
                <a:latin typeface="Calibri"/>
              </a:rPr>
              <a:t>B y C</a:t>
            </a:r>
            <a:r>
              <a:rPr sz="1600" b="0">
                <a:solidFill>
                  <a:srgbClr val="142B33"/>
                </a:solidFill>
                <a:latin typeface="Calibri"/>
              </a:rPr>
              <a:t> muy significativos</a:t>
            </a:r>
          </a:p>
          <a:p>
            <a:pPr marL="320040" indent="-320040">
              <a:spcAft>
                <a:spcPts val="600"/>
              </a:spcAft>
              <a:buClr>
                <a:srgbClr val="E36414"/>
              </a:buClr>
              <a:buFont typeface="Arial"/>
              <a:buChar char="•"/>
            </a:pPr>
            <a:r>
              <a:rPr sz="1600" b="1">
                <a:solidFill>
                  <a:srgbClr val="142B33"/>
                </a:solidFill>
                <a:latin typeface="Calibri"/>
              </a:rPr>
              <a:t>A</a:t>
            </a:r>
            <a:r>
              <a:rPr sz="1600" b="0">
                <a:solidFill>
                  <a:srgbClr val="142B33"/>
                </a:solidFill>
                <a:latin typeface="Calibri"/>
              </a:rPr>
              <a:t> no como efecto principal…</a:t>
            </a:r>
          </a:p>
          <a:p>
            <a:pPr marL="320040" indent="-320040">
              <a:spcAft>
                <a:spcPts val="600"/>
              </a:spcAft>
              <a:buClr>
                <a:srgbClr val="E36414"/>
              </a:buClr>
              <a:buFont typeface="Arial"/>
              <a:buChar char="•"/>
            </a:pPr>
            <a:r>
              <a:rPr sz="1600" b="0">
                <a:solidFill>
                  <a:srgbClr val="142B33"/>
                </a:solidFill>
                <a:latin typeface="Calibri"/>
              </a:rPr>
              <a:t>…pero </a:t>
            </a:r>
            <a:r>
              <a:rPr sz="1600" b="1">
                <a:solidFill>
                  <a:srgbClr val="142B33"/>
                </a:solidFill>
                <a:latin typeface="Calibri"/>
              </a:rPr>
              <a:t>AB, AC y BC</a:t>
            </a:r>
            <a:r>
              <a:rPr sz="1600" b="0">
                <a:solidFill>
                  <a:srgbClr val="142B33"/>
                </a:solidFill>
                <a:latin typeface="Calibri"/>
              </a:rPr>
              <a:t> sí: el efecto de la boquilla </a:t>
            </a:r>
            <a:r>
              <a:rPr sz="1600" b="1">
                <a:solidFill>
                  <a:srgbClr val="142B33"/>
                </a:solidFill>
                <a:latin typeface="Calibri"/>
              </a:rPr>
              <a:t>depende</a:t>
            </a:r>
            <a:r>
              <a:rPr sz="1600" b="0">
                <a:solidFill>
                  <a:srgbClr val="142B33"/>
                </a:solidFill>
                <a:latin typeface="Calibri"/>
              </a:rPr>
              <a:t> de velocidad y presión</a:t>
            </a:r>
          </a:p>
          <a:p>
            <a:pPr marL="320040" indent="-320040">
              <a:spcAft>
                <a:spcPts val="600"/>
              </a:spcAft>
              <a:buClr>
                <a:srgbClr val="E36414"/>
              </a:buClr>
              <a:buFont typeface="Arial"/>
              <a:buChar char="•"/>
            </a:pPr>
            <a:r>
              <a:rPr sz="1600" b="0">
                <a:solidFill>
                  <a:srgbClr val="142B33"/>
                </a:solidFill>
                <a:latin typeface="Calibri"/>
              </a:rPr>
              <a:t>ABC no significativa</a:t>
            </a:r>
          </a:p>
        </p:txBody>
      </p:sp>
      <p:sp>
        <p:nvSpPr>
          <p:cNvPr id="5" name="Rounded Rectangle 4"/>
          <p:cNvSpPr/>
          <p:nvPr/>
        </p:nvSpPr>
        <p:spPr>
          <a:xfrm>
            <a:off x="7369881" y="3187191"/>
            <a:ext cx="4273174" cy="878585"/>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300" b="0">
                <a:solidFill>
                  <a:srgbClr val="142B33"/>
                </a:solidFill>
                <a:latin typeface="Calibri"/>
              </a:rPr>
              <a:t>Los valores p de AB, AC y BC impresos en la tabla 9-2 no corresponden a sus F</a:t>
            </a:r>
            <a:r>
              <a:rPr sz="1300" b="0" baseline="-25000">
                <a:solidFill>
                  <a:srgbClr val="142B33"/>
                </a:solidFill>
                <a:latin typeface="Calibri"/>
              </a:rPr>
              <a:t>0</a:t>
            </a:r>
            <a:r>
              <a:rPr sz="1300" b="0">
                <a:solidFill>
                  <a:srgbClr val="142B33"/>
                </a:solidFill>
                <a:latin typeface="Calibri"/>
              </a:rPr>
              <a:t>; aquí se recalcularon</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Los diseños 3</a:t>
            </a:r>
            <a:r>
              <a:rPr sz="1000" b="0" baseline="30000">
                <a:solidFill>
                  <a:srgbClr val="5B6B73"/>
                </a:solidFill>
                <a:latin typeface="Calibri"/>
              </a:rPr>
              <a:t>2</a:t>
            </a:r>
            <a:r>
              <a:rPr sz="1000" b="0">
                <a:solidFill>
                  <a:srgbClr val="5B6B73"/>
                </a:solidFill>
                <a:latin typeface="Calibri"/>
              </a:rPr>
              <a:t> y 3</a:t>
            </a:r>
            <a:r>
              <a:rPr sz="1000" b="0" baseline="30000">
                <a:solidFill>
                  <a:srgbClr val="5B6B73"/>
                </a:solidFill>
                <a:latin typeface="Calibri"/>
              </a:rPr>
              <a:t>3</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26</a:t>
            </a:r>
          </a:p>
        </p:txBody>
      </p:sp>
      <p:sp>
        <p:nvSpPr>
          <p:cNvPr id="8" name="Rounded Rectangle 7"/>
          <p:cNvSpPr/>
          <p:nvPr/>
        </p:nvSpPr>
        <p:spPr>
          <a:xfrm>
            <a:off x="548640" y="91440"/>
            <a:ext cx="258775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3 · Los diseños 3</a:t>
            </a:r>
            <a:r>
              <a:rPr sz="1100" b="1" baseline="30000">
                <a:solidFill>
                  <a:srgbClr val="FFFFFF"/>
                </a:solidFill>
                <a:latin typeface="Calibri"/>
              </a:rPr>
              <a:t>2</a:t>
            </a:r>
            <a:r>
              <a:rPr sz="1100" b="1">
                <a:solidFill>
                  <a:srgbClr val="FFFFFF"/>
                </a:solidFill>
                <a:latin typeface="Calibri"/>
              </a:rPr>
              <a:t> y 3</a:t>
            </a:r>
            <a:r>
              <a:rPr sz="1100" b="1" baseline="30000">
                <a:solidFill>
                  <a:srgbClr val="FFFFFF"/>
                </a:solidFill>
                <a:latin typeface="Calibri"/>
              </a:rPr>
              <a:t>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2 · Las interacciones de dos factores (fig. 9-4)</a:t>
            </a:r>
          </a:p>
        </p:txBody>
      </p:sp>
      <p:graphicFrame>
        <p:nvGraphicFramePr>
          <p:cNvPr id="3" name="Chart 2"/>
          <p:cNvGraphicFramePr>
            <a:graphicFrameLocks noGrp="1"/>
          </p:cNvGraphicFramePr>
          <p:nvPr/>
        </p:nvGraphicFramePr>
        <p:xfrm>
          <a:off x="548640" y="1417320"/>
          <a:ext cx="5341467" cy="233172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548640" y="3950208"/>
          <a:ext cx="5341467" cy="2331720"/>
        </p:xfrm>
        <a:graphic>
          <a:graphicData uri="http://schemas.openxmlformats.org/drawingml/2006/chart">
            <c:chart xmlns:c="http://schemas.openxmlformats.org/drawingml/2006/chart" r:id="rId3"/>
          </a:graphicData>
        </a:graphic>
      </p:graphicFrame>
      <p:graphicFrame>
        <p:nvGraphicFramePr>
          <p:cNvPr id="5" name="Chart 4"/>
          <p:cNvGraphicFramePr>
            <a:graphicFrameLocks noGrp="1"/>
          </p:cNvGraphicFramePr>
          <p:nvPr/>
        </p:nvGraphicFramePr>
        <p:xfrm>
          <a:off x="6301587" y="1417320"/>
          <a:ext cx="5341467" cy="3291840"/>
        </p:xfrm>
        <a:graphic>
          <a:graphicData uri="http://schemas.openxmlformats.org/drawingml/2006/chart">
            <c:chart xmlns:c="http://schemas.openxmlformats.org/drawingml/2006/chart" r:id="rId4"/>
          </a:graphicData>
        </a:graphic>
      </p:graphicFrame>
      <p:sp>
        <p:nvSpPr>
          <p:cNvPr id="6" name="Rounded Rectangle 5"/>
          <p:cNvSpPr/>
          <p:nvPr/>
        </p:nvSpPr>
        <p:spPr>
          <a:xfrm>
            <a:off x="6301587" y="4910328"/>
            <a:ext cx="5341467"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Mejor: </a:t>
            </a:r>
            <a:r>
              <a:rPr sz="1500" b="1">
                <a:solidFill>
                  <a:srgbClr val="142B33"/>
                </a:solidFill>
                <a:latin typeface="Calibri"/>
              </a:rPr>
              <a:t>120 rpm</a:t>
            </a:r>
            <a:r>
              <a:rPr sz="1500" b="0">
                <a:solidFill>
                  <a:srgbClr val="142B33"/>
                </a:solidFill>
                <a:latin typeface="Calibri"/>
              </a:rPr>
              <a:t>, boquillas </a:t>
            </a:r>
            <a:r>
              <a:rPr sz="1500" b="1">
                <a:solidFill>
                  <a:srgbClr val="142B33"/>
                </a:solidFill>
                <a:latin typeface="Calibri"/>
              </a:rPr>
              <a:t>2 o 3</a:t>
            </a:r>
            <a:r>
              <a:rPr sz="1500" b="0">
                <a:solidFill>
                  <a:srgbClr val="142B33"/>
                </a:solidFill>
                <a:latin typeface="Calibri"/>
              </a:rPr>
              <a:t>, presión </a:t>
            </a:r>
            <a:r>
              <a:rPr sz="1500" b="1">
                <a:solidFill>
                  <a:srgbClr val="142B33"/>
                </a:solidFill>
                <a:latin typeface="Calibri"/>
              </a:rPr>
              <a:t>10 o 20 psi</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Los diseños 3</a:t>
            </a:r>
            <a:r>
              <a:rPr sz="1000" b="0" baseline="30000">
                <a:solidFill>
                  <a:srgbClr val="5B6B73"/>
                </a:solidFill>
                <a:latin typeface="Calibri"/>
              </a:rPr>
              <a:t>2</a:t>
            </a:r>
            <a:r>
              <a:rPr sz="1000" b="0">
                <a:solidFill>
                  <a:srgbClr val="5B6B73"/>
                </a:solidFill>
                <a:latin typeface="Calibri"/>
              </a:rPr>
              <a:t> y 3</a:t>
            </a:r>
            <a:r>
              <a:rPr sz="1000" b="0" baseline="30000">
                <a:solidFill>
                  <a:srgbClr val="5B6B73"/>
                </a:solidFill>
                <a:latin typeface="Calibri"/>
              </a:rPr>
              <a:t>3</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27</a:t>
            </a:r>
          </a:p>
        </p:txBody>
      </p:sp>
      <p:sp>
        <p:nvSpPr>
          <p:cNvPr id="9" name="Rounded Rectangle 8"/>
          <p:cNvSpPr/>
          <p:nvPr/>
        </p:nvSpPr>
        <p:spPr>
          <a:xfrm>
            <a:off x="548640" y="91440"/>
            <a:ext cx="258775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3 · Los diseños 3</a:t>
            </a:r>
            <a:r>
              <a:rPr sz="1100" b="1" baseline="30000">
                <a:solidFill>
                  <a:srgbClr val="FFFFFF"/>
                </a:solidFill>
                <a:latin typeface="Calibri"/>
              </a:rPr>
              <a:t>2</a:t>
            </a:r>
            <a:r>
              <a:rPr sz="1100" b="1">
                <a:solidFill>
                  <a:srgbClr val="FFFFFF"/>
                </a:solidFill>
                <a:latin typeface="Calibri"/>
              </a:rPr>
              <a:t> y 3</a:t>
            </a:r>
            <a:r>
              <a:rPr sz="1100" b="1" baseline="30000">
                <a:solidFill>
                  <a:srgbClr val="FFFFFF"/>
                </a:solidFill>
                <a:latin typeface="Calibri"/>
              </a:rPr>
              <a:t>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2 · Un modelo cuadrático por boquilla (tabla 9-3)</a:t>
            </a:r>
          </a:p>
        </p:txBody>
      </p:sp>
      <p:graphicFrame>
        <p:nvGraphicFramePr>
          <p:cNvPr id="3" name="Table 2"/>
          <p:cNvGraphicFramePr>
            <a:graphicFrameLocks noGrp="1"/>
          </p:cNvGraphicFramePr>
          <p:nvPr/>
        </p:nvGraphicFramePr>
        <p:xfrm>
          <a:off x="548640" y="1417320"/>
          <a:ext cx="5875614" cy="1482597"/>
        </p:xfrm>
        <a:graphic>
          <a:graphicData uri="http://schemas.openxmlformats.org/drawingml/2006/table">
            <a:tbl>
              <a:tblPr firstRow="0" bandRow="0">
                <a:tableStyleId>{5C22544A-7EE6-4342-B048-85BDC9FD1C3A}</a:tableStyleId>
              </a:tblPr>
              <a:tblGrid>
                <a:gridCol w="822586"/>
                <a:gridCol w="5053028"/>
              </a:tblGrid>
              <a:tr h="521715">
                <a:tc>
                  <a:txBody>
                    <a:bodyPr/>
                    <a:lstStyle/>
                    <a:p>
                      <a:pPr algn="l"/>
                      <a:r>
                        <a:rPr sz="1300" b="1">
                          <a:solidFill>
                            <a:srgbClr val="FFFFFF"/>
                          </a:solidFill>
                          <a:latin typeface="Calibri"/>
                        </a:rPr>
                        <a:t>Boquilla</a:t>
                      </a:r>
                    </a:p>
                  </a:txBody>
                  <a:tcPr marL="73152" marR="73152" marT="27432" marB="27432" anchor="ctr">
                    <a:solidFill>
                      <a:srgbClr val="0F4C5C"/>
                    </a:solidFill>
                  </a:tcPr>
                </a:tc>
                <a:tc>
                  <a:txBody>
                    <a:bodyPr/>
                    <a:lstStyle/>
                    <a:p>
                      <a:pPr algn="l"/>
                      <a:r>
                        <a:rPr sz="1300" b="1">
                          <a:solidFill>
                            <a:srgbClr val="FFFFFF"/>
                          </a:solidFill>
                          <a:latin typeface="Calibri"/>
                        </a:rPr>
                        <a:t>Modelo en unidades codificadas (x</a:t>
                      </a:r>
                      <a:r>
                        <a:rPr sz="1300" b="1" baseline="-25000">
                          <a:solidFill>
                            <a:srgbClr val="FFFFFF"/>
                          </a:solidFill>
                          <a:latin typeface="Calibri"/>
                        </a:rPr>
                        <a:t>1</a:t>
                      </a:r>
                      <a:r>
                        <a:rPr sz="1300" b="1">
                          <a:solidFill>
                            <a:srgbClr val="FFFFFF"/>
                          </a:solidFill>
                          <a:latin typeface="Calibri"/>
                        </a:rPr>
                        <a:t> = velocidad, x</a:t>
                      </a:r>
                      <a:r>
                        <a:rPr sz="1300" b="1" baseline="-25000">
                          <a:solidFill>
                            <a:srgbClr val="FFFFFF"/>
                          </a:solidFill>
                          <a:latin typeface="Calibri"/>
                        </a:rPr>
                        <a:t>2</a:t>
                      </a:r>
                      <a:r>
                        <a:rPr sz="1300" b="1">
                          <a:solidFill>
                            <a:srgbClr val="FFFFFF"/>
                          </a:solidFill>
                          <a:latin typeface="Calibri"/>
                        </a:rPr>
                        <a:t> = presión)</a:t>
                      </a:r>
                    </a:p>
                  </a:txBody>
                  <a:tcPr marL="73152" marR="73152" marT="27432" marB="27432" anchor="ctr">
                    <a:solidFill>
                      <a:srgbClr val="0F4C5C"/>
                    </a:solidFill>
                  </a:tcPr>
                </a:tc>
              </a:tr>
              <a:tr h="320294">
                <a:tc>
                  <a:txBody>
                    <a:bodyPr/>
                    <a:lstStyle/>
                    <a:p>
                      <a:pPr algn="l"/>
                      <a:r>
                        <a:rPr sz="1300" b="0">
                          <a:solidFill>
                            <a:srgbClr val="142B33"/>
                          </a:solidFill>
                          <a:latin typeface="Calibri"/>
                        </a:rPr>
                        <a:t>1</a:t>
                      </a:r>
                    </a:p>
                  </a:txBody>
                  <a:tcPr marL="73152" marR="73152" marT="27432" marB="27432" anchor="ctr">
                    <a:solidFill>
                      <a:srgbClr val="FFFFFF"/>
                    </a:solidFill>
                  </a:tcPr>
                </a:tc>
                <a:tc>
                  <a:txBody>
                    <a:bodyPr/>
                    <a:lstStyle/>
                    <a:p>
                      <a:pPr algn="l"/>
                      <a:r>
                        <a:rPr sz="1300" b="0">
                          <a:solidFill>
                            <a:srgbClr val="142B33"/>
                          </a:solidFill>
                          <a:latin typeface="Calibri"/>
                        </a:rPr>
                        <a:t>ŷ = 22.1 + 3.5 x</a:t>
                      </a:r>
                      <a:r>
                        <a:rPr sz="1300" b="0" baseline="-25000">
                          <a:solidFill>
                            <a:srgbClr val="142B33"/>
                          </a:solidFill>
                          <a:latin typeface="Calibri"/>
                        </a:rPr>
                        <a:t>1</a:t>
                      </a:r>
                      <a:r>
                        <a:rPr sz="1300" b="0">
                          <a:solidFill>
                            <a:srgbClr val="142B33"/>
                          </a:solidFill>
                          <a:latin typeface="Calibri"/>
                        </a:rPr>
                        <a:t> + 16.3 x</a:t>
                      </a:r>
                      <a:r>
                        <a:rPr sz="1300" b="0" baseline="-25000">
                          <a:solidFill>
                            <a:srgbClr val="142B33"/>
                          </a:solidFill>
                          <a:latin typeface="Calibri"/>
                        </a:rPr>
                        <a:t>2</a:t>
                      </a:r>
                      <a:r>
                        <a:rPr sz="1300" b="0">
                          <a:solidFill>
                            <a:srgbClr val="142B33"/>
                          </a:solidFill>
                          <a:latin typeface="Calibri"/>
                        </a:rPr>
                        <a:t> + 51.7 x</a:t>
                      </a:r>
                      <a:r>
                        <a:rPr sz="1300" b="0" baseline="-25000">
                          <a:solidFill>
                            <a:srgbClr val="142B33"/>
                          </a:solidFill>
                          <a:latin typeface="Calibri"/>
                        </a:rPr>
                        <a:t>1</a:t>
                      </a:r>
                      <a:r>
                        <a:rPr sz="1300" b="0" baseline="30000">
                          <a:solidFill>
                            <a:srgbClr val="142B33"/>
                          </a:solidFill>
                          <a:latin typeface="Calibri"/>
                        </a:rPr>
                        <a:t>2</a:t>
                      </a:r>
                      <a:r>
                        <a:rPr sz="1300" b="0">
                          <a:solidFill>
                            <a:srgbClr val="142B33"/>
                          </a:solidFill>
                          <a:latin typeface="Calibri"/>
                        </a:rPr>
                        <a:t> − 71.8 x</a:t>
                      </a:r>
                      <a:r>
                        <a:rPr sz="1300" b="0" baseline="-25000">
                          <a:solidFill>
                            <a:srgbClr val="142B33"/>
                          </a:solidFill>
                          <a:latin typeface="Calibri"/>
                        </a:rPr>
                        <a:t>2</a:t>
                      </a:r>
                      <a:r>
                        <a:rPr sz="1300" b="0" baseline="30000">
                          <a:solidFill>
                            <a:srgbClr val="142B33"/>
                          </a:solidFill>
                          <a:latin typeface="Calibri"/>
                        </a:rPr>
                        <a:t>2</a:t>
                      </a:r>
                      <a:r>
                        <a:rPr sz="1300" b="0">
                          <a:solidFill>
                            <a:srgbClr val="142B33"/>
                          </a:solidFill>
                          <a:latin typeface="Calibri"/>
                        </a:rPr>
                        <a:t> + 2.9 x</a:t>
                      </a:r>
                      <a:r>
                        <a:rPr sz="1300" b="0" baseline="-25000">
                          <a:solidFill>
                            <a:srgbClr val="142B33"/>
                          </a:solidFill>
                          <a:latin typeface="Calibri"/>
                        </a:rPr>
                        <a:t>1</a:t>
                      </a:r>
                      <a:r>
                        <a:rPr sz="1300" b="0">
                          <a:solidFill>
                            <a:srgbClr val="142B33"/>
                          </a:solidFill>
                          <a:latin typeface="Calibri"/>
                        </a:rPr>
                        <a:t>x</a:t>
                      </a:r>
                      <a:r>
                        <a:rPr sz="1300" b="0" baseline="-25000">
                          <a:solidFill>
                            <a:srgbClr val="142B33"/>
                          </a:solidFill>
                          <a:latin typeface="Calibri"/>
                        </a:rPr>
                        <a:t>2</a:t>
                      </a:r>
                    </a:p>
                  </a:txBody>
                  <a:tcPr marL="73152" marR="73152" marT="27432" marB="27432" anchor="ctr">
                    <a:solidFill>
                      <a:srgbClr val="FFFFFF"/>
                    </a:solidFill>
                  </a:tcPr>
                </a:tc>
              </a:tr>
              <a:tr h="320294">
                <a:tc>
                  <a:txBody>
                    <a:bodyPr/>
                    <a:lstStyle/>
                    <a:p>
                      <a:pPr algn="l"/>
                      <a:r>
                        <a:rPr sz="1300" b="0">
                          <a:solidFill>
                            <a:srgbClr val="142B33"/>
                          </a:solidFill>
                          <a:latin typeface="Calibri"/>
                        </a:rPr>
                        <a:t>2</a:t>
                      </a:r>
                    </a:p>
                  </a:txBody>
                  <a:tcPr marL="73152" marR="73152" marT="27432" marB="27432" anchor="ctr">
                    <a:solidFill>
                      <a:srgbClr val="F4F8F9"/>
                    </a:solidFill>
                  </a:tcPr>
                </a:tc>
                <a:tc>
                  <a:txBody>
                    <a:bodyPr/>
                    <a:lstStyle/>
                    <a:p>
                      <a:pPr algn="l"/>
                      <a:r>
                        <a:rPr sz="1300" b="0">
                          <a:solidFill>
                            <a:srgbClr val="142B33"/>
                          </a:solidFill>
                          <a:latin typeface="Calibri"/>
                        </a:rPr>
                        <a:t>ŷ = −17.8 − 5.1 x</a:t>
                      </a:r>
                      <a:r>
                        <a:rPr sz="1300" b="0" baseline="-25000">
                          <a:solidFill>
                            <a:srgbClr val="142B33"/>
                          </a:solidFill>
                          <a:latin typeface="Calibri"/>
                        </a:rPr>
                        <a:t>1</a:t>
                      </a:r>
                      <a:r>
                        <a:rPr sz="1300" b="0">
                          <a:solidFill>
                            <a:srgbClr val="142B33"/>
                          </a:solidFill>
                          <a:latin typeface="Calibri"/>
                        </a:rPr>
                        <a:t> − 12.3 x</a:t>
                      </a:r>
                      <a:r>
                        <a:rPr sz="1300" b="0" baseline="-25000">
                          <a:solidFill>
                            <a:srgbClr val="142B33"/>
                          </a:solidFill>
                          <a:latin typeface="Calibri"/>
                        </a:rPr>
                        <a:t>2</a:t>
                      </a:r>
                      <a:r>
                        <a:rPr sz="1300" b="0">
                          <a:solidFill>
                            <a:srgbClr val="142B33"/>
                          </a:solidFill>
                          <a:latin typeface="Calibri"/>
                        </a:rPr>
                        <a:t> + 84.3 x</a:t>
                      </a:r>
                      <a:r>
                        <a:rPr sz="1300" b="0" baseline="-25000">
                          <a:solidFill>
                            <a:srgbClr val="142B33"/>
                          </a:solidFill>
                          <a:latin typeface="Calibri"/>
                        </a:rPr>
                        <a:t>1</a:t>
                      </a:r>
                      <a:r>
                        <a:rPr sz="1300" b="0" baseline="30000">
                          <a:solidFill>
                            <a:srgbClr val="142B33"/>
                          </a:solidFill>
                          <a:latin typeface="Calibri"/>
                        </a:rPr>
                        <a:t>2</a:t>
                      </a:r>
                      <a:r>
                        <a:rPr sz="1300" b="0">
                          <a:solidFill>
                            <a:srgbClr val="142B33"/>
                          </a:solidFill>
                          <a:latin typeface="Calibri"/>
                        </a:rPr>
                        <a:t> − 60.3 x</a:t>
                      </a:r>
                      <a:r>
                        <a:rPr sz="1300" b="0" baseline="-25000">
                          <a:solidFill>
                            <a:srgbClr val="142B33"/>
                          </a:solidFill>
                          <a:latin typeface="Calibri"/>
                        </a:rPr>
                        <a:t>2</a:t>
                      </a:r>
                      <a:r>
                        <a:rPr sz="1300" b="0" baseline="30000">
                          <a:solidFill>
                            <a:srgbClr val="142B33"/>
                          </a:solidFill>
                          <a:latin typeface="Calibri"/>
                        </a:rPr>
                        <a:t>2</a:t>
                      </a:r>
                      <a:r>
                        <a:rPr sz="1300" b="0">
                          <a:solidFill>
                            <a:srgbClr val="142B33"/>
                          </a:solidFill>
                          <a:latin typeface="Calibri"/>
                        </a:rPr>
                        <a:t> − 0.8 x</a:t>
                      </a:r>
                      <a:r>
                        <a:rPr sz="1300" b="0" baseline="-25000">
                          <a:solidFill>
                            <a:srgbClr val="142B33"/>
                          </a:solidFill>
                          <a:latin typeface="Calibri"/>
                        </a:rPr>
                        <a:t>1</a:t>
                      </a:r>
                      <a:r>
                        <a:rPr sz="1300" b="0">
                          <a:solidFill>
                            <a:srgbClr val="142B33"/>
                          </a:solidFill>
                          <a:latin typeface="Calibri"/>
                        </a:rPr>
                        <a:t>x</a:t>
                      </a:r>
                      <a:r>
                        <a:rPr sz="1300" b="0" baseline="-25000">
                          <a:solidFill>
                            <a:srgbClr val="142B33"/>
                          </a:solidFill>
                          <a:latin typeface="Calibri"/>
                        </a:rPr>
                        <a:t>2</a:t>
                      </a:r>
                    </a:p>
                  </a:txBody>
                  <a:tcPr marL="73152" marR="73152" marT="27432" marB="27432" anchor="ctr">
                    <a:solidFill>
                      <a:srgbClr val="F4F8F9"/>
                    </a:solidFill>
                  </a:tcPr>
                </a:tc>
              </a:tr>
              <a:tr h="320294">
                <a:tc>
                  <a:txBody>
                    <a:bodyPr/>
                    <a:lstStyle/>
                    <a:p>
                      <a:pPr algn="l"/>
                      <a:r>
                        <a:rPr sz="1300" b="0">
                          <a:solidFill>
                            <a:srgbClr val="142B33"/>
                          </a:solidFill>
                          <a:latin typeface="Calibri"/>
                        </a:rPr>
                        <a:t>3</a:t>
                      </a:r>
                    </a:p>
                  </a:txBody>
                  <a:tcPr marL="73152" marR="73152" marT="27432" marB="27432" anchor="ctr">
                    <a:solidFill>
                      <a:srgbClr val="FFFFFF"/>
                    </a:solidFill>
                  </a:tcPr>
                </a:tc>
                <a:tc>
                  <a:txBody>
                    <a:bodyPr/>
                    <a:lstStyle/>
                    <a:p>
                      <a:pPr algn="l"/>
                      <a:r>
                        <a:rPr sz="1300" b="0">
                          <a:solidFill>
                            <a:srgbClr val="142B33"/>
                          </a:solidFill>
                          <a:latin typeface="Calibri"/>
                        </a:rPr>
                        <a:t>ŷ = 15.1 + 20.3 x</a:t>
                      </a:r>
                      <a:r>
                        <a:rPr sz="1300" b="0" baseline="-25000">
                          <a:solidFill>
                            <a:srgbClr val="142B33"/>
                          </a:solidFill>
                          <a:latin typeface="Calibri"/>
                        </a:rPr>
                        <a:t>1</a:t>
                      </a:r>
                      <a:r>
                        <a:rPr sz="1300" b="0">
                          <a:solidFill>
                            <a:srgbClr val="142B33"/>
                          </a:solidFill>
                          <a:latin typeface="Calibri"/>
                        </a:rPr>
                        <a:t> + 5.9 x</a:t>
                      </a:r>
                      <a:r>
                        <a:rPr sz="1300" b="0" baseline="-25000">
                          <a:solidFill>
                            <a:srgbClr val="142B33"/>
                          </a:solidFill>
                          <a:latin typeface="Calibri"/>
                        </a:rPr>
                        <a:t>2</a:t>
                      </a:r>
                      <a:r>
                        <a:rPr sz="1300" b="0">
                          <a:solidFill>
                            <a:srgbClr val="142B33"/>
                          </a:solidFill>
                          <a:latin typeface="Calibri"/>
                        </a:rPr>
                        <a:t> + 75.8 x</a:t>
                      </a:r>
                      <a:r>
                        <a:rPr sz="1300" b="0" baseline="-25000">
                          <a:solidFill>
                            <a:srgbClr val="142B33"/>
                          </a:solidFill>
                          <a:latin typeface="Calibri"/>
                        </a:rPr>
                        <a:t>1</a:t>
                      </a:r>
                      <a:r>
                        <a:rPr sz="1300" b="0" baseline="30000">
                          <a:solidFill>
                            <a:srgbClr val="142B33"/>
                          </a:solidFill>
                          <a:latin typeface="Calibri"/>
                        </a:rPr>
                        <a:t>2</a:t>
                      </a:r>
                      <a:r>
                        <a:rPr sz="1300" b="0">
                          <a:solidFill>
                            <a:srgbClr val="142B33"/>
                          </a:solidFill>
                          <a:latin typeface="Calibri"/>
                        </a:rPr>
                        <a:t> − 94.9 x</a:t>
                      </a:r>
                      <a:r>
                        <a:rPr sz="1300" b="0" baseline="-25000">
                          <a:solidFill>
                            <a:srgbClr val="142B33"/>
                          </a:solidFill>
                          <a:latin typeface="Calibri"/>
                        </a:rPr>
                        <a:t>2</a:t>
                      </a:r>
                      <a:r>
                        <a:rPr sz="1300" b="0" baseline="30000">
                          <a:solidFill>
                            <a:srgbClr val="142B33"/>
                          </a:solidFill>
                          <a:latin typeface="Calibri"/>
                        </a:rPr>
                        <a:t>2</a:t>
                      </a:r>
                      <a:r>
                        <a:rPr sz="1300" b="0">
                          <a:solidFill>
                            <a:srgbClr val="142B33"/>
                          </a:solidFill>
                          <a:latin typeface="Calibri"/>
                        </a:rPr>
                        <a:t> + 10.5 x</a:t>
                      </a:r>
                      <a:r>
                        <a:rPr sz="1300" b="0" baseline="-25000">
                          <a:solidFill>
                            <a:srgbClr val="142B33"/>
                          </a:solidFill>
                          <a:latin typeface="Calibri"/>
                        </a:rPr>
                        <a:t>1</a:t>
                      </a:r>
                      <a:r>
                        <a:rPr sz="1300" b="0">
                          <a:solidFill>
                            <a:srgbClr val="142B33"/>
                          </a:solidFill>
                          <a:latin typeface="Calibri"/>
                        </a:rPr>
                        <a:t>x</a:t>
                      </a:r>
                      <a:r>
                        <a:rPr sz="1300" b="0" baseline="-25000">
                          <a:solidFill>
                            <a:srgbClr val="142B33"/>
                          </a:solidFill>
                          <a:latin typeface="Calibri"/>
                        </a:rPr>
                        <a:t>2</a:t>
                      </a:r>
                    </a:p>
                  </a:txBody>
                  <a:tcPr marL="73152" marR="73152" marT="27432" marB="27432" anchor="ctr">
                    <a:solidFill>
                      <a:srgbClr val="FFFFFF"/>
                    </a:solidFill>
                  </a:tcPr>
                </a:tc>
              </a:tr>
            </a:tbl>
          </a:graphicData>
        </a:graphic>
      </p:graphicFrame>
      <p:sp>
        <p:nvSpPr>
          <p:cNvPr id="4" name="Rounded Rectangle 3"/>
          <p:cNvSpPr/>
          <p:nvPr/>
        </p:nvSpPr>
        <p:spPr>
          <a:xfrm>
            <a:off x="548640" y="3101086"/>
            <a:ext cx="5875614"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Se prefiere la </a:t>
            </a:r>
            <a:r>
              <a:rPr sz="1400" b="1">
                <a:solidFill>
                  <a:srgbClr val="142B33"/>
                </a:solidFill>
                <a:latin typeface="Calibri"/>
              </a:rPr>
              <a:t>boquilla 3</a:t>
            </a:r>
            <a:r>
              <a:rPr sz="1400" b="0">
                <a:solidFill>
                  <a:srgbClr val="142B33"/>
                </a:solidFill>
                <a:latin typeface="Calibri"/>
              </a:rPr>
              <a:t>: la única con contornos de </a:t>
            </a:r>
            <a:r>
              <a:rPr sz="1400" b="1">
                <a:solidFill>
                  <a:srgbClr val="142B33"/>
                </a:solidFill>
                <a:latin typeface="Calibri"/>
              </a:rPr>
              <a:t>−60</a:t>
            </a:r>
            <a:r>
              <a:rPr sz="1400" b="0">
                <a:solidFill>
                  <a:srgbClr val="142B33"/>
                </a:solidFill>
                <a:latin typeface="Calibri"/>
              </a:rPr>
              <a:t>. Velocidad ≈ 120 rpm; presión baja o alta</a:t>
            </a:r>
          </a:p>
        </p:txBody>
      </p:sp>
      <p:sp>
        <p:nvSpPr>
          <p:cNvPr id="5" name="TextBox 4"/>
          <p:cNvSpPr txBox="1"/>
          <p:nvPr/>
        </p:nvSpPr>
        <p:spPr>
          <a:xfrm>
            <a:off x="548640" y="4010406"/>
            <a:ext cx="5875614" cy="408432"/>
          </a:xfrm>
          <a:prstGeom prst="rect">
            <a:avLst/>
          </a:prstGeom>
          <a:noFill/>
        </p:spPr>
        <p:txBody>
          <a:bodyPr wrap="square" anchor="t" lIns="0" rIns="0" tIns="0" bIns="0">
            <a:spAutoFit/>
          </a:bodyPr>
          <a:lstStyle/>
          <a:p>
            <a:r>
              <a:rPr sz="1200" b="0">
                <a:solidFill>
                  <a:srgbClr val="5B6B73"/>
                </a:solidFill>
                <a:latin typeface="Calibri"/>
              </a:rPr>
              <a:t>Boquillas 1 y 3: iguales a la tabla 9-3. Boquilla 2: el modelo impreso en el libro no reproduce los datos de la tabla 9-1; aquí se reajustó.</a:t>
            </a:r>
          </a:p>
        </p:txBody>
      </p:sp>
      <p:pic>
        <p:nvPicPr>
          <p:cNvPr id="6" name="Picture 5" descr="contorno_boq3.png"/>
          <p:cNvPicPr>
            <a:picLocks noChangeAspect="1"/>
          </p:cNvPicPr>
          <p:nvPr/>
        </p:nvPicPr>
        <p:blipFill>
          <a:blip r:embed="rId2"/>
          <a:stretch>
            <a:fillRect/>
          </a:stretch>
        </p:blipFill>
        <p:spPr>
          <a:xfrm>
            <a:off x="6978540" y="1417320"/>
            <a:ext cx="4521708" cy="3931920"/>
          </a:xfrm>
          <a:prstGeom prst="rect">
            <a:avLst/>
          </a:prstGeom>
        </p:spPr>
      </p:pic>
      <p:sp>
        <p:nvSpPr>
          <p:cNvPr id="7" name="TextBox 6"/>
          <p:cNvSpPr txBox="1"/>
          <p:nvPr/>
        </p:nvSpPr>
        <p:spPr>
          <a:xfrm>
            <a:off x="6835734" y="5367527"/>
            <a:ext cx="4807320" cy="256032"/>
          </a:xfrm>
          <a:prstGeom prst="rect">
            <a:avLst/>
          </a:prstGeom>
          <a:noFill/>
        </p:spPr>
        <p:txBody>
          <a:bodyPr wrap="square" anchor="t" lIns="0" rIns="0" tIns="0" bIns="0">
            <a:spAutoFit/>
          </a:bodyPr>
          <a:lstStyle/>
          <a:p>
            <a:pPr algn="ctr"/>
            <a:r>
              <a:rPr sz="1100" b="0">
                <a:solidFill>
                  <a:srgbClr val="5B6B73"/>
                </a:solidFill>
                <a:latin typeface="Calibri"/>
              </a:rPr>
              <a:t>Contornos de la boquilla 3 (cálculo propio, como la fig. 9-5c)</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Los diseños 3</a:t>
            </a:r>
            <a:r>
              <a:rPr sz="1000" b="0" baseline="30000">
                <a:solidFill>
                  <a:srgbClr val="5B6B73"/>
                </a:solidFill>
                <a:latin typeface="Calibri"/>
              </a:rPr>
              <a:t>2</a:t>
            </a:r>
            <a:r>
              <a:rPr sz="1000" b="0">
                <a:solidFill>
                  <a:srgbClr val="5B6B73"/>
                </a:solidFill>
                <a:latin typeface="Calibri"/>
              </a:rPr>
              <a:t> y 3</a:t>
            </a:r>
            <a:r>
              <a:rPr sz="1000" b="0" baseline="30000">
                <a:solidFill>
                  <a:srgbClr val="5B6B73"/>
                </a:solidFill>
                <a:latin typeface="Calibri"/>
              </a:rPr>
              <a:t>3</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28</a:t>
            </a:r>
          </a:p>
        </p:txBody>
      </p:sp>
      <p:sp>
        <p:nvSpPr>
          <p:cNvPr id="10" name="Rounded Rectangle 9"/>
          <p:cNvSpPr/>
          <p:nvPr/>
        </p:nvSpPr>
        <p:spPr>
          <a:xfrm>
            <a:off x="548640" y="91440"/>
            <a:ext cx="258775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3 · Los diseños 3</a:t>
            </a:r>
            <a:r>
              <a:rPr sz="1100" b="1" baseline="30000">
                <a:solidFill>
                  <a:srgbClr val="FFFFFF"/>
                </a:solidFill>
                <a:latin typeface="Calibri"/>
              </a:rPr>
              <a:t>2</a:t>
            </a:r>
            <a:r>
              <a:rPr sz="1100" b="1">
                <a:solidFill>
                  <a:srgbClr val="FFFFFF"/>
                </a:solidFill>
                <a:latin typeface="Calibri"/>
              </a:rPr>
              <a:t> y 3</a:t>
            </a:r>
            <a:r>
              <a:rPr sz="1100" b="1" baseline="30000">
                <a:solidFill>
                  <a:srgbClr val="FFFFFF"/>
                </a:solidFill>
                <a:latin typeface="Calibri"/>
              </a:rPr>
              <a:t>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2 · Contornos de las tres boquillas (fig. 9-5)</a:t>
            </a:r>
          </a:p>
        </p:txBody>
      </p:sp>
      <p:pic>
        <p:nvPicPr>
          <p:cNvPr id="3" name="Picture 2" descr="contorno_boq1.png"/>
          <p:cNvPicPr>
            <a:picLocks noChangeAspect="1"/>
          </p:cNvPicPr>
          <p:nvPr/>
        </p:nvPicPr>
        <p:blipFill>
          <a:blip r:embed="rId2"/>
          <a:stretch>
            <a:fillRect/>
          </a:stretch>
        </p:blipFill>
        <p:spPr>
          <a:xfrm>
            <a:off x="905941" y="1417320"/>
            <a:ext cx="4626864" cy="4023360"/>
          </a:xfrm>
          <a:prstGeom prst="rect">
            <a:avLst/>
          </a:prstGeom>
        </p:spPr>
      </p:pic>
      <p:sp>
        <p:nvSpPr>
          <p:cNvPr id="4" name="TextBox 3"/>
          <p:cNvSpPr txBox="1"/>
          <p:nvPr/>
        </p:nvSpPr>
        <p:spPr>
          <a:xfrm>
            <a:off x="548640" y="5458968"/>
            <a:ext cx="5341467" cy="256032"/>
          </a:xfrm>
          <a:prstGeom prst="rect">
            <a:avLst/>
          </a:prstGeom>
          <a:noFill/>
        </p:spPr>
        <p:txBody>
          <a:bodyPr wrap="square" anchor="t" lIns="0" rIns="0" tIns="0" bIns="0">
            <a:spAutoFit/>
          </a:bodyPr>
          <a:lstStyle/>
          <a:p>
            <a:pPr algn="ctr"/>
            <a:r>
              <a:rPr sz="1100" b="0">
                <a:solidFill>
                  <a:srgbClr val="5B6B73"/>
                </a:solidFill>
                <a:latin typeface="Calibri"/>
              </a:rPr>
              <a:t>Boquilla 1 (como la fig. 9-5a)</a:t>
            </a:r>
          </a:p>
        </p:txBody>
      </p:sp>
      <p:pic>
        <p:nvPicPr>
          <p:cNvPr id="5" name="Picture 4" descr="contorno_boq2.png"/>
          <p:cNvPicPr>
            <a:picLocks noChangeAspect="1"/>
          </p:cNvPicPr>
          <p:nvPr/>
        </p:nvPicPr>
        <p:blipFill>
          <a:blip r:embed="rId3"/>
          <a:stretch>
            <a:fillRect/>
          </a:stretch>
        </p:blipFill>
        <p:spPr>
          <a:xfrm>
            <a:off x="6658889" y="1417320"/>
            <a:ext cx="4626864" cy="4023360"/>
          </a:xfrm>
          <a:prstGeom prst="rect">
            <a:avLst/>
          </a:prstGeom>
        </p:spPr>
      </p:pic>
      <p:sp>
        <p:nvSpPr>
          <p:cNvPr id="6" name="TextBox 5"/>
          <p:cNvSpPr txBox="1"/>
          <p:nvPr/>
        </p:nvSpPr>
        <p:spPr>
          <a:xfrm>
            <a:off x="6301587" y="5458968"/>
            <a:ext cx="5341467" cy="256032"/>
          </a:xfrm>
          <a:prstGeom prst="rect">
            <a:avLst/>
          </a:prstGeom>
          <a:noFill/>
        </p:spPr>
        <p:txBody>
          <a:bodyPr wrap="square" anchor="t" lIns="0" rIns="0" tIns="0" bIns="0">
            <a:spAutoFit/>
          </a:bodyPr>
          <a:lstStyle/>
          <a:p>
            <a:pPr algn="ctr"/>
            <a:r>
              <a:rPr sz="1100" b="0">
                <a:solidFill>
                  <a:srgbClr val="5B6B73"/>
                </a:solidFill>
                <a:latin typeface="Calibri"/>
              </a:rPr>
              <a:t>Boquilla 2 (como la fig. 9-5b)</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Los diseños 3</a:t>
            </a:r>
            <a:r>
              <a:rPr sz="1000" b="0" baseline="30000">
                <a:solidFill>
                  <a:srgbClr val="5B6B73"/>
                </a:solidFill>
                <a:latin typeface="Calibri"/>
              </a:rPr>
              <a:t>2</a:t>
            </a:r>
            <a:r>
              <a:rPr sz="1000" b="0">
                <a:solidFill>
                  <a:srgbClr val="5B6B73"/>
                </a:solidFill>
                <a:latin typeface="Calibri"/>
              </a:rPr>
              <a:t> y 3</a:t>
            </a:r>
            <a:r>
              <a:rPr sz="1000" b="0" baseline="30000">
                <a:solidFill>
                  <a:srgbClr val="5B6B73"/>
                </a:solidFill>
                <a:latin typeface="Calibri"/>
              </a:rPr>
              <a:t>3</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29</a:t>
            </a:r>
          </a:p>
        </p:txBody>
      </p:sp>
      <p:sp>
        <p:nvSpPr>
          <p:cNvPr id="9" name="Rounded Rectangle 8"/>
          <p:cNvSpPr/>
          <p:nvPr/>
        </p:nvSpPr>
        <p:spPr>
          <a:xfrm>
            <a:off x="548640" y="91440"/>
            <a:ext cx="258775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3 · Los diseños 3</a:t>
            </a:r>
            <a:r>
              <a:rPr sz="1100" b="1" baseline="30000">
                <a:solidFill>
                  <a:srgbClr val="FFFFFF"/>
                </a:solidFill>
                <a:latin typeface="Calibri"/>
              </a:rPr>
              <a:t>2</a:t>
            </a:r>
            <a:r>
              <a:rPr sz="1100" b="1">
                <a:solidFill>
                  <a:srgbClr val="FFFFFF"/>
                </a:solidFill>
                <a:latin typeface="Calibri"/>
              </a:rPr>
              <a:t> y 3</a:t>
            </a:r>
            <a:r>
              <a:rPr sz="1100" b="1" baseline="30000">
                <a:solidFill>
                  <a:srgbClr val="FFFFFF"/>
                </a:solidFill>
                <a:latin typeface="Calibri"/>
              </a:rPr>
              <a:t>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2 · Partición de ABC en W, X, Y y Z</a:t>
            </a:r>
          </a:p>
        </p:txBody>
      </p:sp>
      <p:graphicFrame>
        <p:nvGraphicFramePr>
          <p:cNvPr id="3" name="Table 2"/>
          <p:cNvGraphicFramePr>
            <a:graphicFrameLocks noGrp="1"/>
          </p:cNvGraphicFramePr>
          <p:nvPr/>
        </p:nvGraphicFramePr>
        <p:xfrm>
          <a:off x="548640" y="1417320"/>
          <a:ext cx="6409759" cy="1678940"/>
        </p:xfrm>
        <a:graphic>
          <a:graphicData uri="http://schemas.openxmlformats.org/drawingml/2006/table">
            <a:tbl>
              <a:tblPr firstRow="0" bandRow="0">
                <a:tableStyleId>{5C22544A-7EE6-4342-B048-85BDC9FD1C3A}</a:tableStyleId>
              </a:tblPr>
              <a:tblGrid>
                <a:gridCol w="1410147"/>
                <a:gridCol w="1922928"/>
                <a:gridCol w="769171"/>
                <a:gridCol w="769171"/>
                <a:gridCol w="769171"/>
                <a:gridCol w="769171"/>
              </a:tblGrid>
              <a:tr h="335788">
                <a:tc>
                  <a:txBody>
                    <a:bodyPr/>
                    <a:lstStyle/>
                    <a:p>
                      <a:pPr algn="l"/>
                      <a:r>
                        <a:rPr sz="1400" b="1">
                          <a:solidFill>
                            <a:srgbClr val="FFFFFF"/>
                          </a:solidFill>
                          <a:latin typeface="Calibri"/>
                        </a:rPr>
                        <a:t>Componente</a:t>
                      </a:r>
                    </a:p>
                  </a:txBody>
                  <a:tcPr marL="73152" marR="73152" marT="27432" marB="27432" anchor="ctr">
                    <a:solidFill>
                      <a:srgbClr val="0F4C5C"/>
                    </a:solidFill>
                  </a:tcPr>
                </a:tc>
                <a:tc>
                  <a:txBody>
                    <a:bodyPr/>
                    <a:lstStyle/>
                    <a:p>
                      <a:pPr algn="ctr"/>
                      <a:r>
                        <a:rPr sz="1400" b="1">
                          <a:solidFill>
                            <a:srgbClr val="FFFFFF"/>
                          </a:solidFill>
                          <a:latin typeface="Calibri"/>
                        </a:rPr>
                        <a:t>L (mod 3)</a:t>
                      </a:r>
                    </a:p>
                  </a:txBody>
                  <a:tcPr marL="73152" marR="73152" marT="27432" marB="27432" anchor="ctr">
                    <a:solidFill>
                      <a:srgbClr val="0F4C5C"/>
                    </a:solidFill>
                  </a:tcPr>
                </a:tc>
                <a:tc>
                  <a:txBody>
                    <a:bodyPr/>
                    <a:lstStyle/>
                    <a:p>
                      <a:pPr algn="ctr"/>
                      <a:r>
                        <a:rPr sz="1400" b="1">
                          <a:solidFill>
                            <a:srgbClr val="FFFFFF"/>
                          </a:solidFill>
                          <a:latin typeface="Calibri"/>
                        </a:rPr>
                        <a:t>T</a:t>
                      </a:r>
                      <a:r>
                        <a:rPr sz="1400" b="1" baseline="-25000">
                          <a:solidFill>
                            <a:srgbClr val="FFFFFF"/>
                          </a:solidFill>
                          <a:latin typeface="Calibri"/>
                        </a:rPr>
                        <a:t>0</a:t>
                      </a:r>
                    </a:p>
                  </a:txBody>
                  <a:tcPr marL="73152" marR="73152" marT="27432" marB="27432" anchor="ctr">
                    <a:solidFill>
                      <a:srgbClr val="0F4C5C"/>
                    </a:solidFill>
                  </a:tcPr>
                </a:tc>
                <a:tc>
                  <a:txBody>
                    <a:bodyPr/>
                    <a:lstStyle/>
                    <a:p>
                      <a:pPr algn="ctr"/>
                      <a:r>
                        <a:rPr sz="1400" b="1">
                          <a:solidFill>
                            <a:srgbClr val="FFFFFF"/>
                          </a:solidFill>
                          <a:latin typeface="Calibri"/>
                        </a:rPr>
                        <a:t>T</a:t>
                      </a:r>
                      <a:r>
                        <a:rPr sz="1400" b="1" baseline="-25000">
                          <a:solidFill>
                            <a:srgbClr val="FFFFFF"/>
                          </a:solidFill>
                          <a:latin typeface="Calibri"/>
                        </a:rPr>
                        <a:t>1</a:t>
                      </a:r>
                    </a:p>
                  </a:txBody>
                  <a:tcPr marL="73152" marR="73152" marT="27432" marB="27432" anchor="ctr">
                    <a:solidFill>
                      <a:srgbClr val="0F4C5C"/>
                    </a:solidFill>
                  </a:tcPr>
                </a:tc>
                <a:tc>
                  <a:txBody>
                    <a:bodyPr/>
                    <a:lstStyle/>
                    <a:p>
                      <a:pPr algn="ctr"/>
                      <a:r>
                        <a:rPr sz="1400" b="1">
                          <a:solidFill>
                            <a:srgbClr val="FFFFFF"/>
                          </a:solidFill>
                          <a:latin typeface="Calibri"/>
                        </a:rPr>
                        <a:t>T</a:t>
                      </a:r>
                      <a:r>
                        <a:rPr sz="1400" b="1" baseline="-25000">
                          <a:solidFill>
                            <a:srgbClr val="FFFFFF"/>
                          </a:solidFill>
                          <a:latin typeface="Calibri"/>
                        </a:rPr>
                        <a:t>2</a:t>
                      </a:r>
                    </a:p>
                  </a:txBody>
                  <a:tcPr marL="73152" marR="73152" marT="27432" marB="27432" anchor="ctr">
                    <a:solidFill>
                      <a:srgbClr val="0F4C5C"/>
                    </a:solidFill>
                  </a:tcPr>
                </a:tc>
                <a:tc>
                  <a:txBody>
                    <a:bodyPr/>
                    <a:lstStyle/>
                    <a:p>
                      <a:pPr algn="ctr"/>
                      <a:r>
                        <a:rPr sz="1400" b="1">
                          <a:solidFill>
                            <a:srgbClr val="FFFFFF"/>
                          </a:solidFill>
                          <a:latin typeface="Calibri"/>
                        </a:rPr>
                        <a:t>SS</a:t>
                      </a:r>
                    </a:p>
                  </a:txBody>
                  <a:tcPr marL="73152" marR="73152" marT="27432" marB="27432" anchor="ctr">
                    <a:solidFill>
                      <a:srgbClr val="0F4C5C"/>
                    </a:solidFill>
                  </a:tcPr>
                </a:tc>
              </a:tr>
              <a:tr h="335788">
                <a:tc>
                  <a:txBody>
                    <a:bodyPr/>
                    <a:lstStyle/>
                    <a:p>
                      <a:pPr algn="l"/>
                      <a:r>
                        <a:rPr sz="1400" b="0">
                          <a:solidFill>
                            <a:srgbClr val="142B33"/>
                          </a:solidFill>
                          <a:latin typeface="Calibri"/>
                        </a:rPr>
                        <a:t>W = AB</a:t>
                      </a:r>
                      <a:r>
                        <a:rPr sz="1400" b="0" baseline="30000">
                          <a:solidFill>
                            <a:srgbClr val="142B33"/>
                          </a:solidFill>
                          <a:latin typeface="Calibri"/>
                        </a:rPr>
                        <a:t>2</a:t>
                      </a:r>
                      <a:r>
                        <a:rPr sz="1400" b="0">
                          <a:solidFill>
                            <a:srgbClr val="142B33"/>
                          </a:solidFill>
                          <a:latin typeface="Calibri"/>
                        </a:rPr>
                        <a:t>C</a:t>
                      </a:r>
                      <a:r>
                        <a:rPr sz="1400" b="0" baseline="30000">
                          <a:solidFill>
                            <a:srgbClr val="142B33"/>
                          </a:solidFill>
                          <a:latin typeface="Calibri"/>
                        </a:rPr>
                        <a:t>2</a:t>
                      </a:r>
                    </a:p>
                  </a:txBody>
                  <a:tcPr marL="73152" marR="73152" marT="27432" marB="27432" anchor="ctr">
                    <a:solidFill>
                      <a:srgbClr val="FFFFFF"/>
                    </a:solidFill>
                  </a:tcPr>
                </a:tc>
                <a:tc>
                  <a:txBody>
                    <a:bodyPr/>
                    <a:lstStyle/>
                    <a:p>
                      <a:pPr algn="ctr"/>
                      <a:r>
                        <a:rPr sz="1400" b="0">
                          <a:solidFill>
                            <a:srgbClr val="142B33"/>
                          </a:solidFill>
                          <a:latin typeface="Calibri"/>
                        </a:rPr>
                        <a:t>x</a:t>
                      </a:r>
                      <a:r>
                        <a:rPr sz="1400" b="0" baseline="-25000">
                          <a:solidFill>
                            <a:srgbClr val="142B33"/>
                          </a:solidFill>
                          <a:latin typeface="Calibri"/>
                        </a:rPr>
                        <a:t>1</a:t>
                      </a:r>
                      <a:r>
                        <a:rPr sz="1400" b="0">
                          <a:solidFill>
                            <a:srgbClr val="142B33"/>
                          </a:solidFill>
                          <a:latin typeface="Calibri"/>
                        </a:rPr>
                        <a:t> + 2x</a:t>
                      </a:r>
                      <a:r>
                        <a:rPr sz="1400" b="0" baseline="-25000">
                          <a:solidFill>
                            <a:srgbClr val="142B33"/>
                          </a:solidFill>
                          <a:latin typeface="Calibri"/>
                        </a:rPr>
                        <a:t>2</a:t>
                      </a:r>
                      <a:r>
                        <a:rPr sz="1400" b="0">
                          <a:solidFill>
                            <a:srgbClr val="142B33"/>
                          </a:solidFill>
                          <a:latin typeface="Calibri"/>
                        </a:rPr>
                        <a:t> + 2x</a:t>
                      </a:r>
                      <a:r>
                        <a:rPr sz="1400" b="0" baseline="-25000">
                          <a:solidFill>
                            <a:srgbClr val="142B33"/>
                          </a:solidFill>
                          <a:latin typeface="Calibri"/>
                        </a:rPr>
                        <a:t>3</a:t>
                      </a:r>
                    </a:p>
                  </a:txBody>
                  <a:tcPr marL="73152" marR="73152" marT="27432" marB="27432" anchor="ctr">
                    <a:solidFill>
                      <a:srgbClr val="FFFFFF"/>
                    </a:solidFill>
                  </a:tcPr>
                </a:tc>
                <a:tc>
                  <a:txBody>
                    <a:bodyPr/>
                    <a:lstStyle/>
                    <a:p>
                      <a:pPr algn="ctr"/>
                      <a:r>
                        <a:rPr sz="1400" b="0">
                          <a:solidFill>
                            <a:srgbClr val="142B33"/>
                          </a:solidFill>
                          <a:latin typeface="Calibri"/>
                        </a:rPr>
                        <a:t>-149</a:t>
                      </a:r>
                    </a:p>
                  </a:txBody>
                  <a:tcPr marL="73152" marR="73152" marT="27432" marB="27432" anchor="ctr">
                    <a:solidFill>
                      <a:srgbClr val="FFFFFF"/>
                    </a:solidFill>
                  </a:tcPr>
                </a:tc>
                <a:tc>
                  <a:txBody>
                    <a:bodyPr/>
                    <a:lstStyle/>
                    <a:p>
                      <a:pPr algn="ctr"/>
                      <a:r>
                        <a:rPr sz="1400" b="0">
                          <a:solidFill>
                            <a:srgbClr val="142B33"/>
                          </a:solidFill>
                          <a:latin typeface="Calibri"/>
                        </a:rPr>
                        <a:t>212</a:t>
                      </a:r>
                    </a:p>
                  </a:txBody>
                  <a:tcPr marL="73152" marR="73152" marT="27432" marB="27432" anchor="ctr">
                    <a:solidFill>
                      <a:srgbClr val="FFFFFF"/>
                    </a:solidFill>
                  </a:tcPr>
                </a:tc>
                <a:tc>
                  <a:txBody>
                    <a:bodyPr/>
                    <a:lstStyle/>
                    <a:p>
                      <a:pPr algn="ctr"/>
                      <a:r>
                        <a:rPr sz="1400" b="0">
                          <a:solidFill>
                            <a:srgbClr val="142B33"/>
                          </a:solidFill>
                          <a:latin typeface="Calibri"/>
                        </a:rPr>
                        <a:t>102</a:t>
                      </a:r>
                    </a:p>
                  </a:txBody>
                  <a:tcPr marL="73152" marR="73152" marT="27432" marB="27432" anchor="ctr">
                    <a:solidFill>
                      <a:srgbClr val="FFFFFF"/>
                    </a:solidFill>
                  </a:tcPr>
                </a:tc>
                <a:tc>
                  <a:txBody>
                    <a:bodyPr/>
                    <a:lstStyle/>
                    <a:p>
                      <a:pPr algn="ctr"/>
                      <a:r>
                        <a:rPr sz="1400" b="0">
                          <a:solidFill>
                            <a:srgbClr val="142B33"/>
                          </a:solidFill>
                          <a:latin typeface="Calibri"/>
                        </a:rPr>
                        <a:t>3804.11</a:t>
                      </a:r>
                    </a:p>
                  </a:txBody>
                  <a:tcPr marL="73152" marR="73152" marT="27432" marB="27432" anchor="ctr">
                    <a:solidFill>
                      <a:srgbClr val="FFFFFF"/>
                    </a:solidFill>
                  </a:tcPr>
                </a:tc>
              </a:tr>
              <a:tr h="335788">
                <a:tc>
                  <a:txBody>
                    <a:bodyPr/>
                    <a:lstStyle/>
                    <a:p>
                      <a:pPr algn="l"/>
                      <a:r>
                        <a:rPr sz="1400" b="0">
                          <a:solidFill>
                            <a:srgbClr val="142B33"/>
                          </a:solidFill>
                          <a:latin typeface="Calibri"/>
                        </a:rPr>
                        <a:t>X = AB</a:t>
                      </a:r>
                      <a:r>
                        <a:rPr sz="1400" b="0" baseline="30000">
                          <a:solidFill>
                            <a:srgbClr val="142B33"/>
                          </a:solidFill>
                          <a:latin typeface="Calibri"/>
                        </a:rPr>
                        <a:t>2</a:t>
                      </a:r>
                      <a:r>
                        <a:rPr sz="1400" b="0">
                          <a:solidFill>
                            <a:srgbClr val="142B33"/>
                          </a:solidFill>
                          <a:latin typeface="Calibri"/>
                        </a:rPr>
                        <a:t>C</a:t>
                      </a:r>
                    </a:p>
                  </a:txBody>
                  <a:tcPr marL="73152" marR="73152" marT="27432" marB="27432" anchor="ctr">
                    <a:solidFill>
                      <a:srgbClr val="F4F8F9"/>
                    </a:solidFill>
                  </a:tcPr>
                </a:tc>
                <a:tc>
                  <a:txBody>
                    <a:bodyPr/>
                    <a:lstStyle/>
                    <a:p>
                      <a:pPr algn="ctr"/>
                      <a:r>
                        <a:rPr sz="1400" b="0">
                          <a:solidFill>
                            <a:srgbClr val="142B33"/>
                          </a:solidFill>
                          <a:latin typeface="Calibri"/>
                        </a:rPr>
                        <a:t>x</a:t>
                      </a:r>
                      <a:r>
                        <a:rPr sz="1400" b="0" baseline="-25000">
                          <a:solidFill>
                            <a:srgbClr val="142B33"/>
                          </a:solidFill>
                          <a:latin typeface="Calibri"/>
                        </a:rPr>
                        <a:t>1</a:t>
                      </a:r>
                      <a:r>
                        <a:rPr sz="1400" b="0">
                          <a:solidFill>
                            <a:srgbClr val="142B33"/>
                          </a:solidFill>
                          <a:latin typeface="Calibri"/>
                        </a:rPr>
                        <a:t> + 2x</a:t>
                      </a:r>
                      <a:r>
                        <a:rPr sz="1400" b="0" baseline="-25000">
                          <a:solidFill>
                            <a:srgbClr val="142B33"/>
                          </a:solidFill>
                          <a:latin typeface="Calibri"/>
                        </a:rPr>
                        <a:t>2</a:t>
                      </a:r>
                      <a:r>
                        <a:rPr sz="1400" b="0">
                          <a:solidFill>
                            <a:srgbClr val="142B33"/>
                          </a:solidFill>
                          <a:latin typeface="Calibri"/>
                        </a:rPr>
                        <a:t> + x</a:t>
                      </a:r>
                      <a:r>
                        <a:rPr sz="1400" b="0" baseline="-25000">
                          <a:solidFill>
                            <a:srgbClr val="142B33"/>
                          </a:solidFill>
                          <a:latin typeface="Calibri"/>
                        </a:rPr>
                        <a:t>3</a:t>
                      </a:r>
                    </a:p>
                  </a:txBody>
                  <a:tcPr marL="73152" marR="73152" marT="27432" marB="27432" anchor="ctr">
                    <a:solidFill>
                      <a:srgbClr val="F4F8F9"/>
                    </a:solidFill>
                  </a:tcPr>
                </a:tc>
                <a:tc>
                  <a:txBody>
                    <a:bodyPr/>
                    <a:lstStyle/>
                    <a:p>
                      <a:pPr algn="ctr"/>
                      <a:r>
                        <a:rPr sz="1400" b="0">
                          <a:solidFill>
                            <a:srgbClr val="142B33"/>
                          </a:solidFill>
                          <a:latin typeface="Calibri"/>
                        </a:rPr>
                        <a:t>105</a:t>
                      </a:r>
                    </a:p>
                  </a:txBody>
                  <a:tcPr marL="73152" marR="73152" marT="27432" marB="27432" anchor="ctr">
                    <a:solidFill>
                      <a:srgbClr val="F4F8F9"/>
                    </a:solidFill>
                  </a:tcPr>
                </a:tc>
                <a:tc>
                  <a:txBody>
                    <a:bodyPr/>
                    <a:lstStyle/>
                    <a:p>
                      <a:pPr algn="ctr"/>
                      <a:r>
                        <a:rPr sz="1400" b="0">
                          <a:solidFill>
                            <a:srgbClr val="142B33"/>
                          </a:solidFill>
                          <a:latin typeface="Calibri"/>
                        </a:rPr>
                        <a:t>19</a:t>
                      </a:r>
                    </a:p>
                  </a:txBody>
                  <a:tcPr marL="73152" marR="73152" marT="27432" marB="27432" anchor="ctr">
                    <a:solidFill>
                      <a:srgbClr val="F4F8F9"/>
                    </a:solidFill>
                  </a:tcPr>
                </a:tc>
                <a:tc>
                  <a:txBody>
                    <a:bodyPr/>
                    <a:lstStyle/>
                    <a:p>
                      <a:pPr algn="ctr"/>
                      <a:r>
                        <a:rPr sz="1400" b="0">
                          <a:solidFill>
                            <a:srgbClr val="142B33"/>
                          </a:solidFill>
                          <a:latin typeface="Calibri"/>
                        </a:rPr>
                        <a:t>41</a:t>
                      </a:r>
                    </a:p>
                  </a:txBody>
                  <a:tcPr marL="73152" marR="73152" marT="27432" marB="27432" anchor="ctr">
                    <a:solidFill>
                      <a:srgbClr val="F4F8F9"/>
                    </a:solidFill>
                  </a:tcPr>
                </a:tc>
                <a:tc>
                  <a:txBody>
                    <a:bodyPr/>
                    <a:lstStyle/>
                    <a:p>
                      <a:pPr algn="ctr"/>
                      <a:r>
                        <a:rPr sz="1400" b="0">
                          <a:solidFill>
                            <a:srgbClr val="142B33"/>
                          </a:solidFill>
                          <a:latin typeface="Calibri"/>
                        </a:rPr>
                        <a:t>221.78</a:t>
                      </a:r>
                    </a:p>
                  </a:txBody>
                  <a:tcPr marL="73152" marR="73152" marT="27432" marB="27432" anchor="ctr">
                    <a:solidFill>
                      <a:srgbClr val="F4F8F9"/>
                    </a:solidFill>
                  </a:tcPr>
                </a:tc>
              </a:tr>
              <a:tr h="335788">
                <a:tc>
                  <a:txBody>
                    <a:bodyPr/>
                    <a:lstStyle/>
                    <a:p>
                      <a:pPr algn="l"/>
                      <a:r>
                        <a:rPr sz="1400" b="0">
                          <a:solidFill>
                            <a:srgbClr val="142B33"/>
                          </a:solidFill>
                          <a:latin typeface="Calibri"/>
                        </a:rPr>
                        <a:t>Y = ABC</a:t>
                      </a:r>
                      <a:r>
                        <a:rPr sz="1400" b="0" baseline="30000">
                          <a:solidFill>
                            <a:srgbClr val="142B33"/>
                          </a:solidFill>
                          <a:latin typeface="Calibri"/>
                        </a:rPr>
                        <a:t>2</a:t>
                      </a:r>
                    </a:p>
                  </a:txBody>
                  <a:tcPr marL="73152" marR="73152" marT="27432" marB="27432" anchor="ctr">
                    <a:solidFill>
                      <a:srgbClr val="FFFFFF"/>
                    </a:solidFill>
                  </a:tcPr>
                </a:tc>
                <a:tc>
                  <a:txBody>
                    <a:bodyPr/>
                    <a:lstStyle/>
                    <a:p>
                      <a:pPr algn="ctr"/>
                      <a:r>
                        <a:rPr sz="1400" b="0">
                          <a:solidFill>
                            <a:srgbClr val="142B33"/>
                          </a:solidFill>
                          <a:latin typeface="Calibri"/>
                        </a:rPr>
                        <a:t>x</a:t>
                      </a:r>
                      <a:r>
                        <a:rPr sz="1400" b="0" baseline="-25000">
                          <a:solidFill>
                            <a:srgbClr val="142B33"/>
                          </a:solidFill>
                          <a:latin typeface="Calibri"/>
                        </a:rPr>
                        <a:t>1</a:t>
                      </a:r>
                      <a:r>
                        <a:rPr sz="1400" b="0">
                          <a:solidFill>
                            <a:srgbClr val="142B33"/>
                          </a:solidFill>
                          <a:latin typeface="Calibri"/>
                        </a:rPr>
                        <a:t> + x</a:t>
                      </a:r>
                      <a:r>
                        <a:rPr sz="1400" b="0" baseline="-25000">
                          <a:solidFill>
                            <a:srgbClr val="142B33"/>
                          </a:solidFill>
                          <a:latin typeface="Calibri"/>
                        </a:rPr>
                        <a:t>2</a:t>
                      </a:r>
                      <a:r>
                        <a:rPr sz="1400" b="0">
                          <a:solidFill>
                            <a:srgbClr val="142B33"/>
                          </a:solidFill>
                          <a:latin typeface="Calibri"/>
                        </a:rPr>
                        <a:t> + 2x</a:t>
                      </a:r>
                      <a:r>
                        <a:rPr sz="1400" b="0" baseline="-25000">
                          <a:solidFill>
                            <a:srgbClr val="142B33"/>
                          </a:solidFill>
                          <a:latin typeface="Calibri"/>
                        </a:rPr>
                        <a:t>3</a:t>
                      </a:r>
                    </a:p>
                  </a:txBody>
                  <a:tcPr marL="73152" marR="73152" marT="27432" marB="27432" anchor="ctr">
                    <a:solidFill>
                      <a:srgbClr val="FFFFFF"/>
                    </a:solidFill>
                  </a:tcPr>
                </a:tc>
                <a:tc>
                  <a:txBody>
                    <a:bodyPr/>
                    <a:lstStyle/>
                    <a:p>
                      <a:pPr algn="ctr"/>
                      <a:r>
                        <a:rPr sz="1400" b="0">
                          <a:solidFill>
                            <a:srgbClr val="142B33"/>
                          </a:solidFill>
                          <a:latin typeface="Calibri"/>
                        </a:rPr>
                        <a:t>138</a:t>
                      </a:r>
                    </a:p>
                  </a:txBody>
                  <a:tcPr marL="73152" marR="73152" marT="27432" marB="27432" anchor="ctr">
                    <a:solidFill>
                      <a:srgbClr val="FFFFFF"/>
                    </a:solidFill>
                  </a:tcPr>
                </a:tc>
                <a:tc>
                  <a:txBody>
                    <a:bodyPr/>
                    <a:lstStyle/>
                    <a:p>
                      <a:pPr algn="ctr"/>
                      <a:r>
                        <a:rPr sz="1400" b="0">
                          <a:solidFill>
                            <a:srgbClr val="142B33"/>
                          </a:solidFill>
                          <a:latin typeface="Calibri"/>
                        </a:rPr>
                        <a:t>4</a:t>
                      </a:r>
                    </a:p>
                  </a:txBody>
                  <a:tcPr marL="73152" marR="73152" marT="27432" marB="27432" anchor="ctr">
                    <a:solidFill>
                      <a:srgbClr val="FFFFFF"/>
                    </a:solidFill>
                  </a:tcPr>
                </a:tc>
                <a:tc>
                  <a:txBody>
                    <a:bodyPr/>
                    <a:lstStyle/>
                    <a:p>
                      <a:pPr algn="ctr"/>
                      <a:r>
                        <a:rPr sz="1400" b="0">
                          <a:solidFill>
                            <a:srgbClr val="142B33"/>
                          </a:solidFill>
                          <a:latin typeface="Calibri"/>
                        </a:rPr>
                        <a:t>23</a:t>
                      </a:r>
                    </a:p>
                  </a:txBody>
                  <a:tcPr marL="73152" marR="73152" marT="27432" marB="27432" anchor="ctr">
                    <a:solidFill>
                      <a:srgbClr val="FFFFFF"/>
                    </a:solidFill>
                  </a:tcPr>
                </a:tc>
                <a:tc>
                  <a:txBody>
                    <a:bodyPr/>
                    <a:lstStyle/>
                    <a:p>
                      <a:pPr algn="ctr"/>
                      <a:r>
                        <a:rPr sz="1400" b="0">
                          <a:solidFill>
                            <a:srgbClr val="142B33"/>
                          </a:solidFill>
                          <a:latin typeface="Calibri"/>
                        </a:rPr>
                        <a:t>584.11</a:t>
                      </a:r>
                    </a:p>
                  </a:txBody>
                  <a:tcPr marL="73152" marR="73152" marT="27432" marB="27432" anchor="ctr">
                    <a:solidFill>
                      <a:srgbClr val="FFFFFF"/>
                    </a:solidFill>
                  </a:tcPr>
                </a:tc>
              </a:tr>
              <a:tr h="335788">
                <a:tc>
                  <a:txBody>
                    <a:bodyPr/>
                    <a:lstStyle/>
                    <a:p>
                      <a:pPr algn="l"/>
                      <a:r>
                        <a:rPr sz="1400" b="0">
                          <a:solidFill>
                            <a:srgbClr val="142B33"/>
                          </a:solidFill>
                          <a:latin typeface="Calibri"/>
                        </a:rPr>
                        <a:t>Z = ABC</a:t>
                      </a:r>
                    </a:p>
                  </a:txBody>
                  <a:tcPr marL="73152" marR="73152" marT="27432" marB="27432" anchor="ctr">
                    <a:solidFill>
                      <a:srgbClr val="F4F8F9"/>
                    </a:solidFill>
                  </a:tcPr>
                </a:tc>
                <a:tc>
                  <a:txBody>
                    <a:bodyPr/>
                    <a:lstStyle/>
                    <a:p>
                      <a:pPr algn="ctr"/>
                      <a:r>
                        <a:rPr sz="1400" b="0">
                          <a:solidFill>
                            <a:srgbClr val="142B33"/>
                          </a:solidFill>
                          <a:latin typeface="Calibri"/>
                        </a:rPr>
                        <a:t>x</a:t>
                      </a:r>
                      <a:r>
                        <a:rPr sz="1400" b="0" baseline="-25000">
                          <a:solidFill>
                            <a:srgbClr val="142B33"/>
                          </a:solidFill>
                          <a:latin typeface="Calibri"/>
                        </a:rPr>
                        <a:t>1</a:t>
                      </a:r>
                      <a:r>
                        <a:rPr sz="1400" b="0">
                          <a:solidFill>
                            <a:srgbClr val="142B33"/>
                          </a:solidFill>
                          <a:latin typeface="Calibri"/>
                        </a:rPr>
                        <a:t> + x</a:t>
                      </a:r>
                      <a:r>
                        <a:rPr sz="1400" b="0" baseline="-25000">
                          <a:solidFill>
                            <a:srgbClr val="142B33"/>
                          </a:solidFill>
                          <a:latin typeface="Calibri"/>
                        </a:rPr>
                        <a:t>2</a:t>
                      </a:r>
                      <a:r>
                        <a:rPr sz="1400" b="0">
                          <a:solidFill>
                            <a:srgbClr val="142B33"/>
                          </a:solidFill>
                          <a:latin typeface="Calibri"/>
                        </a:rPr>
                        <a:t> + x</a:t>
                      </a:r>
                      <a:r>
                        <a:rPr sz="1400" b="0" baseline="-25000">
                          <a:solidFill>
                            <a:srgbClr val="142B33"/>
                          </a:solidFill>
                          <a:latin typeface="Calibri"/>
                        </a:rPr>
                        <a:t>3</a:t>
                      </a:r>
                    </a:p>
                  </a:txBody>
                  <a:tcPr marL="73152" marR="73152" marT="27432" marB="27432" anchor="ctr">
                    <a:solidFill>
                      <a:srgbClr val="F4F8F9"/>
                    </a:solidFill>
                  </a:tcPr>
                </a:tc>
                <a:tc>
                  <a:txBody>
                    <a:bodyPr/>
                    <a:lstStyle/>
                    <a:p>
                      <a:pPr algn="ctr"/>
                      <a:r>
                        <a:rPr sz="1400" b="0">
                          <a:solidFill>
                            <a:srgbClr val="142B33"/>
                          </a:solidFill>
                          <a:latin typeface="Calibri"/>
                        </a:rPr>
                        <a:t>40</a:t>
                      </a:r>
                    </a:p>
                  </a:txBody>
                  <a:tcPr marL="73152" marR="73152" marT="27432" marB="27432" anchor="ctr">
                    <a:solidFill>
                      <a:srgbClr val="F4F8F9"/>
                    </a:solidFill>
                  </a:tcPr>
                </a:tc>
                <a:tc>
                  <a:txBody>
                    <a:bodyPr/>
                    <a:lstStyle/>
                    <a:p>
                      <a:pPr algn="ctr"/>
                      <a:r>
                        <a:rPr sz="1400" b="0">
                          <a:solidFill>
                            <a:srgbClr val="142B33"/>
                          </a:solidFill>
                          <a:latin typeface="Calibri"/>
                        </a:rPr>
                        <a:t>62</a:t>
                      </a:r>
                    </a:p>
                  </a:txBody>
                  <a:tcPr marL="73152" marR="73152" marT="27432" marB="27432" anchor="ctr">
                    <a:solidFill>
                      <a:srgbClr val="F4F8F9"/>
                    </a:solidFill>
                  </a:tcPr>
                </a:tc>
                <a:tc>
                  <a:txBody>
                    <a:bodyPr/>
                    <a:lstStyle/>
                    <a:p>
                      <a:pPr algn="ctr"/>
                      <a:r>
                        <a:rPr sz="1400" b="0">
                          <a:solidFill>
                            <a:srgbClr val="142B33"/>
                          </a:solidFill>
                          <a:latin typeface="Calibri"/>
                        </a:rPr>
                        <a:t>63</a:t>
                      </a:r>
                    </a:p>
                  </a:txBody>
                  <a:tcPr marL="73152" marR="73152" marT="27432" marB="27432" anchor="ctr">
                    <a:solidFill>
                      <a:srgbClr val="F4F8F9"/>
                    </a:solidFill>
                  </a:tcPr>
                </a:tc>
                <a:tc>
                  <a:txBody>
                    <a:bodyPr/>
                    <a:lstStyle/>
                    <a:p>
                      <a:pPr algn="ctr"/>
                      <a:r>
                        <a:rPr sz="1400" b="0">
                          <a:solidFill>
                            <a:srgbClr val="142B33"/>
                          </a:solidFill>
                          <a:latin typeface="Calibri"/>
                        </a:rPr>
                        <a:t>18.78</a:t>
                      </a:r>
                    </a:p>
                  </a:txBody>
                  <a:tcPr marL="73152" marR="73152" marT="27432" marB="27432" anchor="ctr">
                    <a:solidFill>
                      <a:srgbClr val="F4F8F9"/>
                    </a:solidFill>
                  </a:tcPr>
                </a:tc>
              </a:tr>
            </a:tbl>
          </a:graphicData>
        </a:graphic>
      </p:graphicFrame>
      <p:sp>
        <p:nvSpPr>
          <p:cNvPr id="4" name="Rounded Rectangle 3"/>
          <p:cNvSpPr/>
          <p:nvPr/>
        </p:nvSpPr>
        <p:spPr>
          <a:xfrm>
            <a:off x="7369881" y="1417320"/>
            <a:ext cx="4273174" cy="551972"/>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0">
                <a:solidFill>
                  <a:srgbClr val="0F4C5C"/>
                </a:solidFill>
                <a:latin typeface="Cambria Math"/>
              </a:rPr>
              <a:t>SS = (T</a:t>
            </a:r>
            <a:r>
              <a:rPr sz="1600" b="0" baseline="-25000">
                <a:solidFill>
                  <a:srgbClr val="0F4C5C"/>
                </a:solidFill>
                <a:latin typeface="Cambria Math"/>
              </a:rPr>
              <a:t>0</a:t>
            </a:r>
            <a:r>
              <a:rPr sz="1600" b="0">
                <a:solidFill>
                  <a:srgbClr val="0F4C5C"/>
                </a:solidFill>
                <a:latin typeface="Cambria Math"/>
              </a:rPr>
              <a:t>² + T</a:t>
            </a:r>
            <a:r>
              <a:rPr sz="1600" b="0" baseline="-25000">
                <a:solidFill>
                  <a:srgbClr val="0F4C5C"/>
                </a:solidFill>
                <a:latin typeface="Cambria Math"/>
              </a:rPr>
              <a:t>1</a:t>
            </a:r>
            <a:r>
              <a:rPr sz="1600" b="0">
                <a:solidFill>
                  <a:srgbClr val="0F4C5C"/>
                </a:solidFill>
                <a:latin typeface="Cambria Math"/>
              </a:rPr>
              <a:t>² + T</a:t>
            </a:r>
            <a:r>
              <a:rPr sz="1600" b="0" baseline="-25000">
                <a:solidFill>
                  <a:srgbClr val="0F4C5C"/>
                </a:solidFill>
                <a:latin typeface="Cambria Math"/>
              </a:rPr>
              <a:t>2</a:t>
            </a:r>
            <a:r>
              <a:rPr sz="1600" b="0">
                <a:solidFill>
                  <a:srgbClr val="0F4C5C"/>
                </a:solidFill>
                <a:latin typeface="Cambria Math"/>
              </a:rPr>
              <a:t>²) / 18 − 165² / 54</a:t>
            </a:r>
          </a:p>
        </p:txBody>
      </p:sp>
      <p:sp>
        <p:nvSpPr>
          <p:cNvPr id="5" name="Rounded Rectangle 4"/>
          <p:cNvSpPr/>
          <p:nvPr/>
        </p:nvSpPr>
        <p:spPr>
          <a:xfrm>
            <a:off x="7369881" y="2170460"/>
            <a:ext cx="4273174"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Suma = 4628.78 = SS</a:t>
            </a:r>
            <a:r>
              <a:rPr sz="1500" b="0" baseline="-25000">
                <a:solidFill>
                  <a:srgbClr val="142B33"/>
                </a:solidFill>
                <a:latin typeface="Calibri"/>
              </a:rPr>
              <a:t>ABC</a:t>
            </a:r>
            <a:r>
              <a:rPr sz="1500" b="0">
                <a:solidFill>
                  <a:srgbClr val="142B33"/>
                </a:solidFill>
                <a:latin typeface="Calibri"/>
              </a:rPr>
              <a:t>  (4 × 2 = 8 g.l.)</a:t>
            </a:r>
          </a:p>
        </p:txBody>
      </p:sp>
      <p:sp>
        <p:nvSpPr>
          <p:cNvPr id="6" name="TextBox 5"/>
          <p:cNvSpPr txBox="1"/>
          <p:nvPr/>
        </p:nvSpPr>
        <p:spPr>
          <a:xfrm>
            <a:off x="7369881" y="2878358"/>
            <a:ext cx="4273174" cy="439419"/>
          </a:xfrm>
          <a:prstGeom prst="rect">
            <a:avLst/>
          </a:prstGeom>
          <a:noFill/>
        </p:spPr>
        <p:txBody>
          <a:bodyPr wrap="square" anchor="t" lIns="0" rIns="0" tIns="0" bIns="0">
            <a:spAutoFit/>
          </a:bodyPr>
          <a:lstStyle/>
          <a:p>
            <a:r>
              <a:rPr sz="1300" b="0">
                <a:solidFill>
                  <a:srgbClr val="5B6B73"/>
                </a:solidFill>
                <a:latin typeface="Calibri"/>
              </a:rPr>
              <a:t>El libro imprime los nombres de Y y Z intercambiados; los cuatro valores y la suma coinciden.</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Los diseños 3</a:t>
            </a:r>
            <a:r>
              <a:rPr sz="1000" b="0" baseline="30000">
                <a:solidFill>
                  <a:srgbClr val="5B6B73"/>
                </a:solidFill>
                <a:latin typeface="Calibri"/>
              </a:rPr>
              <a:t>2</a:t>
            </a:r>
            <a:r>
              <a:rPr sz="1000" b="0">
                <a:solidFill>
                  <a:srgbClr val="5B6B73"/>
                </a:solidFill>
                <a:latin typeface="Calibri"/>
              </a:rPr>
              <a:t> y 3</a:t>
            </a:r>
            <a:r>
              <a:rPr sz="1000" b="0" baseline="30000">
                <a:solidFill>
                  <a:srgbClr val="5B6B73"/>
                </a:solidFill>
                <a:latin typeface="Calibri"/>
              </a:rPr>
              <a:t>3</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30</a:t>
            </a:r>
          </a:p>
        </p:txBody>
      </p:sp>
      <p:sp>
        <p:nvSpPr>
          <p:cNvPr id="9" name="Rounded Rectangle 8"/>
          <p:cNvSpPr/>
          <p:nvPr/>
        </p:nvSpPr>
        <p:spPr>
          <a:xfrm>
            <a:off x="548640" y="91440"/>
            <a:ext cx="258775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3 · Los diseños 3</a:t>
            </a:r>
            <a:r>
              <a:rPr sz="1100" b="1" baseline="30000">
                <a:solidFill>
                  <a:srgbClr val="FFFFFF"/>
                </a:solidFill>
                <a:latin typeface="Calibri"/>
              </a:rPr>
              <a:t>2</a:t>
            </a:r>
            <a:r>
              <a:rPr sz="1100" b="1">
                <a:solidFill>
                  <a:srgbClr val="FFFFFF"/>
                </a:solidFill>
                <a:latin typeface="Calibri"/>
              </a:rPr>
              <a:t> y 3</a:t>
            </a:r>
            <a:r>
              <a:rPr sz="1100" b="1" baseline="30000">
                <a:solidFill>
                  <a:srgbClr val="FFFFFF"/>
                </a:solidFill>
                <a:latin typeface="Calibri"/>
              </a:rPr>
              <a:t>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itle 1"/>
          <p:cNvSpPr>
            <a:spLocks noGrp="1"/>
          </p:cNvSpPr>
          <p:nvPr>
            <p:ph type="title"/>
          </p:nvPr>
        </p:nvSpPr>
        <p:spPr>
          <a:xfrm>
            <a:off x="548640" y="3383280"/>
            <a:ext cx="11094415" cy="914400"/>
          </a:xfrm>
        </p:spPr>
        <p:txBody>
          <a:bodyPr wrap="square" anchor="t" lIns="0" rIns="0" tIns="0" bIns="0"/>
          <a:lstStyle/>
          <a:p>
            <a:pPr algn="l"/>
            <a:r>
              <a:rPr sz="4400" b="1">
                <a:solidFill>
                  <a:srgbClr val="FFFFFF"/>
                </a:solidFill>
                <a:latin typeface="Cambria"/>
              </a:rPr>
              <a:t>Confusión en tres bloques</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4</a:t>
            </a:r>
          </a:p>
        </p:txBody>
      </p:sp>
      <p:sp>
        <p:nvSpPr>
          <p:cNvPr id="4" name="TextBox 3"/>
          <p:cNvSpPr txBox="1"/>
          <p:nvPr/>
        </p:nvSpPr>
        <p:spPr>
          <a:xfrm>
            <a:off x="548640" y="4343400"/>
            <a:ext cx="11094415" cy="548640"/>
          </a:xfrm>
          <a:prstGeom prst="rect">
            <a:avLst/>
          </a:prstGeom>
          <a:noFill/>
        </p:spPr>
        <p:txBody>
          <a:bodyPr wrap="square" anchor="t" lIns="0" rIns="0" tIns="0" bIns="0">
            <a:spAutoFit/>
          </a:bodyPr>
          <a:lstStyle/>
          <a:p>
            <a:r>
              <a:rPr sz="2000" b="0">
                <a:solidFill>
                  <a:srgbClr val="CFE3E8"/>
                </a:solidFill>
                <a:latin typeface="Calibri"/>
              </a:rPr>
              <a:t>Definición de contrastes L mod 3, bloque principal y dos ejemplos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¿Por qué confundir un 3</a:t>
            </a:r>
            <a:r>
              <a:rPr sz="3000" b="1" baseline="30000">
                <a:solidFill>
                  <a:srgbClr val="0F4C5C"/>
                </a:solidFill>
                <a:latin typeface="Cambria"/>
              </a:rPr>
              <a:t>k</a:t>
            </a:r>
            <a:r>
              <a:rPr sz="3000" b="1">
                <a:solidFill>
                  <a:srgbClr val="0F4C5C"/>
                </a:solidFill>
                <a:latin typeface="Cambria"/>
              </a:rPr>
              <a:t> en bloques?</a:t>
            </a:r>
          </a:p>
        </p:txBody>
      </p:sp>
      <p:sp>
        <p:nvSpPr>
          <p:cNvPr id="3" name="TextBox 2"/>
          <p:cNvSpPr txBox="1"/>
          <p:nvPr/>
        </p:nvSpPr>
        <p:spPr>
          <a:xfrm>
            <a:off x="548640" y="1417320"/>
            <a:ext cx="4807320" cy="1734311"/>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600" b="0">
                <a:solidFill>
                  <a:srgbClr val="142B33"/>
                </a:solidFill>
                <a:latin typeface="Calibri"/>
              </a:rPr>
              <a:t>27 corridas difícilmente se hacen en </a:t>
            </a:r>
            <a:r>
              <a:rPr sz="1600" b="1">
                <a:solidFill>
                  <a:srgbClr val="142B33"/>
                </a:solidFill>
                <a:latin typeface="Calibri"/>
              </a:rPr>
              <a:t>condiciones uniformes</a:t>
            </a:r>
          </a:p>
          <a:p>
            <a:pPr marL="320040" indent="-320040">
              <a:spcAft>
                <a:spcPts val="600"/>
              </a:spcAft>
              <a:buClr>
                <a:srgbClr val="E36414"/>
              </a:buClr>
              <a:buFont typeface="Arial"/>
              <a:buChar char="•"/>
            </a:pPr>
            <a:r>
              <a:rPr sz="1600" b="0">
                <a:solidFill>
                  <a:srgbClr val="142B33"/>
                </a:solidFill>
                <a:latin typeface="Calibri"/>
              </a:rPr>
              <a:t>Bloques incompletos: 3</a:t>
            </a:r>
            <a:r>
              <a:rPr sz="1600" b="0" baseline="30000">
                <a:solidFill>
                  <a:srgbClr val="142B33"/>
                </a:solidFill>
                <a:latin typeface="Calibri"/>
              </a:rPr>
              <a:t>p</a:t>
            </a:r>
            <a:r>
              <a:rPr sz="1600" b="0">
                <a:solidFill>
                  <a:srgbClr val="142B33"/>
                </a:solidFill>
                <a:latin typeface="Calibri"/>
              </a:rPr>
              <a:t> bloques de 3</a:t>
            </a:r>
            <a:r>
              <a:rPr sz="1600" b="0" baseline="30000">
                <a:solidFill>
                  <a:srgbClr val="142B33"/>
                </a:solidFill>
                <a:latin typeface="Calibri"/>
              </a:rPr>
              <a:t>k−p</a:t>
            </a:r>
            <a:r>
              <a:rPr sz="1600" b="0">
                <a:solidFill>
                  <a:srgbClr val="142B33"/>
                </a:solidFill>
                <a:latin typeface="Calibri"/>
              </a:rPr>
              <a:t> corridas</a:t>
            </a:r>
          </a:p>
          <a:p>
            <a:pPr marL="320040" indent="-320040">
              <a:spcAft>
                <a:spcPts val="600"/>
              </a:spcAft>
              <a:buClr>
                <a:srgbClr val="E36414"/>
              </a:buClr>
              <a:buFont typeface="Arial"/>
              <a:buChar char="•"/>
            </a:pPr>
            <a:r>
              <a:rPr sz="1600" b="0">
                <a:solidFill>
                  <a:srgbClr val="142B33"/>
                </a:solidFill>
                <a:latin typeface="Calibri"/>
              </a:rPr>
              <a:t>3 bloques → </a:t>
            </a:r>
            <a:r>
              <a:rPr sz="1600" b="1">
                <a:solidFill>
                  <a:srgbClr val="142B33"/>
                </a:solidFill>
                <a:latin typeface="Calibri"/>
              </a:rPr>
              <a:t>2 g.l.</a:t>
            </a:r>
            <a:r>
              <a:rPr sz="1600" b="0">
                <a:solidFill>
                  <a:srgbClr val="142B33"/>
                </a:solidFill>
                <a:latin typeface="Calibri"/>
              </a:rPr>
              <a:t> entre bloques → se confunde </a:t>
            </a:r>
            <a:r>
              <a:rPr sz="1600" b="1">
                <a:solidFill>
                  <a:srgbClr val="142B33"/>
                </a:solidFill>
                <a:latin typeface="Calibri"/>
              </a:rPr>
              <a:t>un componente de 2 g.l.</a:t>
            </a:r>
          </a:p>
        </p:txBody>
      </p:sp>
      <p:graphicFrame>
        <p:nvGraphicFramePr>
          <p:cNvPr id="4" name="Table 3"/>
          <p:cNvGraphicFramePr>
            <a:graphicFrameLocks noGrp="1"/>
          </p:cNvGraphicFramePr>
          <p:nvPr/>
        </p:nvGraphicFramePr>
        <p:xfrm>
          <a:off x="5767440" y="1417320"/>
          <a:ext cx="5875613" cy="1637538"/>
        </p:xfrm>
        <a:graphic>
          <a:graphicData uri="http://schemas.openxmlformats.org/drawingml/2006/table">
            <a:tbl>
              <a:tblPr firstRow="0" bandRow="0">
                <a:tableStyleId>{5C22544A-7EE6-4342-B048-85BDC9FD1C3A}</a:tableStyleId>
              </a:tblPr>
              <a:tblGrid>
                <a:gridCol w="881342"/>
                <a:gridCol w="998854"/>
                <a:gridCol w="3995417"/>
              </a:tblGrid>
              <a:tr h="351282">
                <a:tc>
                  <a:txBody>
                    <a:bodyPr/>
                    <a:lstStyle/>
                    <a:p>
                      <a:pPr algn="l"/>
                      <a:r>
                        <a:rPr sz="1500" b="1">
                          <a:solidFill>
                            <a:srgbClr val="FFFFFF"/>
                          </a:solidFill>
                          <a:latin typeface="Calibri"/>
                        </a:rPr>
                        <a:t>Diseño</a:t>
                      </a:r>
                    </a:p>
                  </a:txBody>
                  <a:tcPr marL="73152" marR="73152" marT="27432" marB="27432" anchor="ctr">
                    <a:solidFill>
                      <a:srgbClr val="0F4C5C"/>
                    </a:solidFill>
                  </a:tcPr>
                </a:tc>
                <a:tc>
                  <a:txBody>
                    <a:bodyPr/>
                    <a:lstStyle/>
                    <a:p>
                      <a:pPr algn="ctr"/>
                      <a:r>
                        <a:rPr sz="1500" b="1">
                          <a:solidFill>
                            <a:srgbClr val="FFFFFF"/>
                          </a:solidFill>
                          <a:latin typeface="Calibri"/>
                        </a:rPr>
                        <a:t>Bloques</a:t>
                      </a:r>
                    </a:p>
                  </a:txBody>
                  <a:tcPr marL="73152" marR="73152" marT="27432" marB="27432" anchor="ctr">
                    <a:solidFill>
                      <a:srgbClr val="0F4C5C"/>
                    </a:solidFill>
                  </a:tcPr>
                </a:tc>
                <a:tc>
                  <a:txBody>
                    <a:bodyPr/>
                    <a:lstStyle/>
                    <a:p>
                      <a:pPr algn="l"/>
                      <a:r>
                        <a:rPr sz="1500" b="1">
                          <a:solidFill>
                            <a:srgbClr val="FFFFFF"/>
                          </a:solidFill>
                          <a:latin typeface="Calibri"/>
                        </a:rPr>
                        <a:t>Se confunde</a:t>
                      </a:r>
                    </a:p>
                  </a:txBody>
                  <a:tcPr marL="73152" marR="73152" marT="27432" marB="27432" anchor="ctr">
                    <a:solidFill>
                      <a:srgbClr val="0F4C5C"/>
                    </a:solidFill>
                  </a:tcPr>
                </a:tc>
              </a:tr>
              <a:tr h="351282">
                <a:tc>
                  <a:txBody>
                    <a:bodyPr/>
                    <a:lstStyle/>
                    <a:p>
                      <a:pPr algn="l"/>
                      <a:r>
                        <a:rPr sz="1500" b="0">
                          <a:solidFill>
                            <a:srgbClr val="142B33"/>
                          </a:solidFill>
                          <a:latin typeface="Calibri"/>
                        </a:rPr>
                        <a:t>3</a:t>
                      </a:r>
                      <a:r>
                        <a:rPr sz="1500" b="0" baseline="30000">
                          <a:solidFill>
                            <a:srgbClr val="142B33"/>
                          </a:solidFill>
                          <a:latin typeface="Calibri"/>
                        </a:rPr>
                        <a:t>2</a:t>
                      </a:r>
                    </a:p>
                  </a:txBody>
                  <a:tcPr marL="73152" marR="73152" marT="27432" marB="27432" anchor="ctr">
                    <a:solidFill>
                      <a:srgbClr val="FFFFFF"/>
                    </a:solidFill>
                  </a:tcPr>
                </a:tc>
                <a:tc>
                  <a:txBody>
                    <a:bodyPr/>
                    <a:lstStyle/>
                    <a:p>
                      <a:pPr algn="ctr"/>
                      <a:r>
                        <a:rPr sz="1500" b="0">
                          <a:solidFill>
                            <a:srgbClr val="142B33"/>
                          </a:solidFill>
                          <a:latin typeface="Calibri"/>
                        </a:rPr>
                        <a:t>3</a:t>
                      </a:r>
                    </a:p>
                  </a:txBody>
                  <a:tcPr marL="73152" marR="73152" marT="27432" marB="27432" anchor="ctr">
                    <a:solidFill>
                      <a:srgbClr val="FFFFFF"/>
                    </a:solidFill>
                  </a:tcPr>
                </a:tc>
                <a:tc>
                  <a:txBody>
                    <a:bodyPr/>
                    <a:lstStyle/>
                    <a:p>
                      <a:pPr algn="l"/>
                      <a:r>
                        <a:rPr sz="1500" b="0">
                          <a:solidFill>
                            <a:srgbClr val="142B33"/>
                          </a:solidFill>
                          <a:latin typeface="Calibri"/>
                        </a:rPr>
                        <a:t>AB o AB</a:t>
                      </a:r>
                      <a:r>
                        <a:rPr sz="1500" b="0" baseline="30000">
                          <a:solidFill>
                            <a:srgbClr val="142B33"/>
                          </a:solidFill>
                          <a:latin typeface="Calibri"/>
                        </a:rPr>
                        <a:t>2</a:t>
                      </a:r>
                    </a:p>
                  </a:txBody>
                  <a:tcPr marL="73152" marR="73152" marT="27432" marB="27432" anchor="ctr">
                    <a:solidFill>
                      <a:srgbClr val="FFFFFF"/>
                    </a:solidFill>
                  </a:tcPr>
                </a:tc>
              </a:tr>
              <a:tr h="351282">
                <a:tc>
                  <a:txBody>
                    <a:bodyPr/>
                    <a:lstStyle/>
                    <a:p>
                      <a:pPr algn="l"/>
                      <a:r>
                        <a:rPr sz="1500" b="0">
                          <a:solidFill>
                            <a:srgbClr val="142B33"/>
                          </a:solidFill>
                          <a:latin typeface="Calibri"/>
                        </a:rPr>
                        <a:t>3</a:t>
                      </a:r>
                      <a:r>
                        <a:rPr sz="1500" b="0" baseline="30000">
                          <a:solidFill>
                            <a:srgbClr val="142B33"/>
                          </a:solidFill>
                          <a:latin typeface="Calibri"/>
                        </a:rPr>
                        <a:t>3</a:t>
                      </a:r>
                    </a:p>
                  </a:txBody>
                  <a:tcPr marL="73152" marR="73152" marT="27432" marB="27432" anchor="ctr">
                    <a:solidFill>
                      <a:srgbClr val="F4F8F9"/>
                    </a:solidFill>
                  </a:tcPr>
                </a:tc>
                <a:tc>
                  <a:txBody>
                    <a:bodyPr/>
                    <a:lstStyle/>
                    <a:p>
                      <a:pPr algn="ctr"/>
                      <a:r>
                        <a:rPr sz="1500" b="0">
                          <a:solidFill>
                            <a:srgbClr val="142B33"/>
                          </a:solidFill>
                          <a:latin typeface="Calibri"/>
                        </a:rPr>
                        <a:t>3</a:t>
                      </a:r>
                    </a:p>
                  </a:txBody>
                  <a:tcPr marL="73152" marR="73152" marT="27432" marB="27432" anchor="ctr">
                    <a:solidFill>
                      <a:srgbClr val="F4F8F9"/>
                    </a:solidFill>
                  </a:tcPr>
                </a:tc>
                <a:tc>
                  <a:txBody>
                    <a:bodyPr/>
                    <a:lstStyle/>
                    <a:p>
                      <a:pPr algn="l"/>
                      <a:r>
                        <a:rPr sz="1500" b="0">
                          <a:solidFill>
                            <a:srgbClr val="142B33"/>
                          </a:solidFill>
                          <a:latin typeface="Calibri"/>
                        </a:rPr>
                        <a:t>ABC, ABC</a:t>
                      </a:r>
                      <a:r>
                        <a:rPr sz="1500" b="0" baseline="30000">
                          <a:solidFill>
                            <a:srgbClr val="142B33"/>
                          </a:solidFill>
                          <a:latin typeface="Calibri"/>
                        </a:rPr>
                        <a:t>2</a:t>
                      </a:r>
                      <a:r>
                        <a:rPr sz="1500" b="0">
                          <a:solidFill>
                            <a:srgbClr val="142B33"/>
                          </a:solidFill>
                          <a:latin typeface="Calibri"/>
                        </a:rPr>
                        <a:t>, AB</a:t>
                      </a:r>
                      <a:r>
                        <a:rPr sz="1500" b="0" baseline="30000">
                          <a:solidFill>
                            <a:srgbClr val="142B33"/>
                          </a:solidFill>
                          <a:latin typeface="Calibri"/>
                        </a:rPr>
                        <a:t>2</a:t>
                      </a:r>
                      <a:r>
                        <a:rPr sz="1500" b="0">
                          <a:solidFill>
                            <a:srgbClr val="142B33"/>
                          </a:solidFill>
                          <a:latin typeface="Calibri"/>
                        </a:rPr>
                        <a:t>C o AB</a:t>
                      </a:r>
                      <a:r>
                        <a:rPr sz="1500" b="0" baseline="30000">
                          <a:solidFill>
                            <a:srgbClr val="142B33"/>
                          </a:solidFill>
                          <a:latin typeface="Calibri"/>
                        </a:rPr>
                        <a:t>2</a:t>
                      </a:r>
                      <a:r>
                        <a:rPr sz="1500" b="0">
                          <a:solidFill>
                            <a:srgbClr val="142B33"/>
                          </a:solidFill>
                          <a:latin typeface="Calibri"/>
                        </a:rPr>
                        <a:t>C</a:t>
                      </a:r>
                      <a:r>
                        <a:rPr sz="1500" b="0" baseline="30000">
                          <a:solidFill>
                            <a:srgbClr val="142B33"/>
                          </a:solidFill>
                          <a:latin typeface="Calibri"/>
                        </a:rPr>
                        <a:t>2</a:t>
                      </a:r>
                    </a:p>
                  </a:txBody>
                  <a:tcPr marL="73152" marR="73152" marT="27432" marB="27432" anchor="ctr">
                    <a:solidFill>
                      <a:srgbClr val="F4F8F9"/>
                    </a:solidFill>
                  </a:tcPr>
                </a:tc>
              </a:tr>
              <a:tr h="583692">
                <a:tc>
                  <a:txBody>
                    <a:bodyPr/>
                    <a:lstStyle/>
                    <a:p>
                      <a:pPr algn="l"/>
                      <a:r>
                        <a:rPr sz="1500" b="0">
                          <a:solidFill>
                            <a:srgbClr val="142B33"/>
                          </a:solidFill>
                          <a:latin typeface="Calibri"/>
                        </a:rPr>
                        <a:t>3</a:t>
                      </a:r>
                      <a:r>
                        <a:rPr sz="1500" b="0" baseline="30000">
                          <a:solidFill>
                            <a:srgbClr val="142B33"/>
                          </a:solidFill>
                          <a:latin typeface="Calibri"/>
                        </a:rPr>
                        <a:t>k</a:t>
                      </a:r>
                    </a:p>
                  </a:txBody>
                  <a:tcPr marL="73152" marR="73152" marT="27432" marB="27432" anchor="ctr">
                    <a:solidFill>
                      <a:srgbClr val="FFFFFF"/>
                    </a:solidFill>
                  </a:tcPr>
                </a:tc>
                <a:tc>
                  <a:txBody>
                    <a:bodyPr/>
                    <a:lstStyle/>
                    <a:p>
                      <a:pPr algn="ctr"/>
                      <a:r>
                        <a:rPr sz="1500" b="0">
                          <a:solidFill>
                            <a:srgbClr val="142B33"/>
                          </a:solidFill>
                          <a:latin typeface="Calibri"/>
                        </a:rPr>
                        <a:t>3</a:t>
                      </a:r>
                    </a:p>
                  </a:txBody>
                  <a:tcPr marL="73152" marR="73152" marT="27432" marB="27432" anchor="ctr">
                    <a:solidFill>
                      <a:srgbClr val="FFFFFF"/>
                    </a:solidFill>
                  </a:tcPr>
                </a:tc>
                <a:tc>
                  <a:txBody>
                    <a:bodyPr/>
                    <a:lstStyle/>
                    <a:p>
                      <a:pPr algn="l"/>
                      <a:r>
                        <a:rPr sz="1500" b="0">
                          <a:solidFill>
                            <a:srgbClr val="142B33"/>
                          </a:solidFill>
                          <a:latin typeface="Calibri"/>
                        </a:rPr>
                        <a:t>un componente de la interacción de orden más alto</a:t>
                      </a:r>
                    </a:p>
                  </a:txBody>
                  <a:tcPr marL="73152" marR="73152" marT="27432" marB="27432" anchor="ctr">
                    <a:solidFill>
                      <a:srgbClr val="FFFFFF"/>
                    </a:solidFill>
                  </a:tcPr>
                </a:tc>
              </a:tr>
            </a:tbl>
          </a:graphicData>
        </a:graphic>
      </p:graphicFrame>
      <p:sp>
        <p:nvSpPr>
          <p:cNvPr id="5" name="Rounded Rectangle 4"/>
          <p:cNvSpPr/>
          <p:nvPr/>
        </p:nvSpPr>
        <p:spPr>
          <a:xfrm>
            <a:off x="5767440" y="3256025"/>
            <a:ext cx="5875614"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Regla: confundir siempre un componente de la </a:t>
            </a:r>
            <a:r>
              <a:rPr sz="1500" b="1">
                <a:solidFill>
                  <a:srgbClr val="142B33"/>
                </a:solidFill>
                <a:latin typeface="Calibri"/>
              </a:rPr>
              <a:t>interacción de orden más alto</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Confusión en tres bloques</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32</a:t>
            </a:r>
          </a:p>
        </p:txBody>
      </p:sp>
      <p:sp>
        <p:nvSpPr>
          <p:cNvPr id="8" name="Rounded Rectangle 7"/>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4 · Confusión en tres bloques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La definición de contrastes: L = α</a:t>
            </a:r>
            <a:r>
              <a:rPr sz="3000" b="1" baseline="-25000">
                <a:solidFill>
                  <a:srgbClr val="0F4C5C"/>
                </a:solidFill>
                <a:latin typeface="Cambria"/>
              </a:rPr>
              <a:t>1</a:t>
            </a:r>
            <a:r>
              <a:rPr sz="3000" b="1">
                <a:solidFill>
                  <a:srgbClr val="0F4C5C"/>
                </a:solidFill>
                <a:latin typeface="Cambria"/>
              </a:rPr>
              <a:t>x</a:t>
            </a:r>
            <a:r>
              <a:rPr sz="3000" b="1" baseline="-25000">
                <a:solidFill>
                  <a:srgbClr val="0F4C5C"/>
                </a:solidFill>
                <a:latin typeface="Cambria"/>
              </a:rPr>
              <a:t>1</a:t>
            </a:r>
            <a:r>
              <a:rPr sz="3000" b="1">
                <a:solidFill>
                  <a:srgbClr val="0F4C5C"/>
                </a:solidFill>
                <a:latin typeface="Cambria"/>
              </a:rPr>
              <a:t> + α</a:t>
            </a:r>
            <a:r>
              <a:rPr sz="3000" b="1" baseline="-25000">
                <a:solidFill>
                  <a:srgbClr val="0F4C5C"/>
                </a:solidFill>
                <a:latin typeface="Cambria"/>
              </a:rPr>
              <a:t>2</a:t>
            </a:r>
            <a:r>
              <a:rPr sz="3000" b="1">
                <a:solidFill>
                  <a:srgbClr val="0F4C5C"/>
                </a:solidFill>
                <a:latin typeface="Cambria"/>
              </a:rPr>
              <a:t>x</a:t>
            </a:r>
            <a:r>
              <a:rPr sz="3000" b="1" baseline="-25000">
                <a:solidFill>
                  <a:srgbClr val="0F4C5C"/>
                </a:solidFill>
                <a:latin typeface="Cambria"/>
              </a:rPr>
              <a:t>2</a:t>
            </a:r>
            <a:r>
              <a:rPr sz="3000" b="1">
                <a:solidFill>
                  <a:srgbClr val="0F4C5C"/>
                </a:solidFill>
                <a:latin typeface="Cambria"/>
              </a:rPr>
              <a:t> + ··· + α</a:t>
            </a:r>
            <a:r>
              <a:rPr sz="3000" b="1" baseline="-25000">
                <a:solidFill>
                  <a:srgbClr val="0F4C5C"/>
                </a:solidFill>
                <a:latin typeface="Cambria"/>
              </a:rPr>
              <a:t>k</a:t>
            </a:r>
            <a:r>
              <a:rPr sz="3000" b="1">
                <a:solidFill>
                  <a:srgbClr val="0F4C5C"/>
                </a:solidFill>
                <a:latin typeface="Cambria"/>
              </a:rPr>
              <a:t>x</a:t>
            </a:r>
            <a:r>
              <a:rPr sz="3000" b="1" baseline="-25000">
                <a:solidFill>
                  <a:srgbClr val="0F4C5C"/>
                </a:solidFill>
                <a:latin typeface="Cambria"/>
              </a:rPr>
              <a:t>k</a:t>
            </a:r>
            <a:r>
              <a:rPr sz="3000" b="1">
                <a:solidFill>
                  <a:srgbClr val="0F4C5C"/>
                </a:solidFill>
                <a:latin typeface="Cambria"/>
              </a:rPr>
              <a:t> (mod 3)</a:t>
            </a:r>
          </a:p>
        </p:txBody>
      </p:sp>
      <p:sp>
        <p:nvSpPr>
          <p:cNvPr id="3" name="Rounded Rectangle 2"/>
          <p:cNvSpPr/>
          <p:nvPr/>
        </p:nvSpPr>
        <p:spPr>
          <a:xfrm>
            <a:off x="548640" y="1417320"/>
            <a:ext cx="5875614" cy="58667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0">
                <a:solidFill>
                  <a:srgbClr val="0F4C5C"/>
                </a:solidFill>
                <a:latin typeface="Cambria Math"/>
              </a:rPr>
              <a:t>L = α</a:t>
            </a:r>
            <a:r>
              <a:rPr sz="1800" b="0" baseline="-25000">
                <a:solidFill>
                  <a:srgbClr val="0F4C5C"/>
                </a:solidFill>
                <a:latin typeface="Cambria Math"/>
              </a:rPr>
              <a:t>1</a:t>
            </a:r>
            <a:r>
              <a:rPr sz="1800" b="0">
                <a:solidFill>
                  <a:srgbClr val="0F4C5C"/>
                </a:solidFill>
                <a:latin typeface="Cambria Math"/>
              </a:rPr>
              <a:t>x</a:t>
            </a:r>
            <a:r>
              <a:rPr sz="1800" b="0" baseline="-25000">
                <a:solidFill>
                  <a:srgbClr val="0F4C5C"/>
                </a:solidFill>
                <a:latin typeface="Cambria Math"/>
              </a:rPr>
              <a:t>1</a:t>
            </a:r>
            <a:r>
              <a:rPr sz="1800" b="0">
                <a:solidFill>
                  <a:srgbClr val="0F4C5C"/>
                </a:solidFill>
                <a:latin typeface="Cambria Math"/>
              </a:rPr>
              <a:t> + α</a:t>
            </a:r>
            <a:r>
              <a:rPr sz="1800" b="0" baseline="-25000">
                <a:solidFill>
                  <a:srgbClr val="0F4C5C"/>
                </a:solidFill>
                <a:latin typeface="Cambria Math"/>
              </a:rPr>
              <a:t>2</a:t>
            </a:r>
            <a:r>
              <a:rPr sz="1800" b="0">
                <a:solidFill>
                  <a:srgbClr val="0F4C5C"/>
                </a:solidFill>
                <a:latin typeface="Cambria Math"/>
              </a:rPr>
              <a:t>x</a:t>
            </a:r>
            <a:r>
              <a:rPr sz="1800" b="0" baseline="-25000">
                <a:solidFill>
                  <a:srgbClr val="0F4C5C"/>
                </a:solidFill>
                <a:latin typeface="Cambria Math"/>
              </a:rPr>
              <a:t>2</a:t>
            </a:r>
            <a:r>
              <a:rPr sz="1800" b="0">
                <a:solidFill>
                  <a:srgbClr val="0F4C5C"/>
                </a:solidFill>
                <a:latin typeface="Cambria Math"/>
              </a:rPr>
              <a:t> + ··· + α</a:t>
            </a:r>
            <a:r>
              <a:rPr sz="1800" b="0" baseline="-25000">
                <a:solidFill>
                  <a:srgbClr val="0F4C5C"/>
                </a:solidFill>
                <a:latin typeface="Cambria Math"/>
              </a:rPr>
              <a:t>k</a:t>
            </a:r>
            <a:r>
              <a:rPr sz="1800" b="0">
                <a:solidFill>
                  <a:srgbClr val="0F4C5C"/>
                </a:solidFill>
                <a:latin typeface="Cambria Math"/>
              </a:rPr>
              <a:t>x</a:t>
            </a:r>
            <a:r>
              <a:rPr sz="1800" b="0" baseline="-25000">
                <a:solidFill>
                  <a:srgbClr val="0F4C5C"/>
                </a:solidFill>
                <a:latin typeface="Cambria Math"/>
              </a:rPr>
              <a:t>k</a:t>
            </a:r>
            <a:r>
              <a:rPr sz="1800" b="0">
                <a:solidFill>
                  <a:srgbClr val="0F4C5C"/>
                </a:solidFill>
                <a:latin typeface="Cambria Math"/>
              </a:rPr>
              <a:t>  (mod 3)</a:t>
            </a:r>
          </a:p>
        </p:txBody>
      </p:sp>
      <p:sp>
        <p:nvSpPr>
          <p:cNvPr id="4" name="TextBox 3"/>
          <p:cNvSpPr txBox="1"/>
          <p:nvPr/>
        </p:nvSpPr>
        <p:spPr>
          <a:xfrm>
            <a:off x="548640" y="2205167"/>
            <a:ext cx="5875614" cy="1176528"/>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500" b="0">
                <a:solidFill>
                  <a:srgbClr val="142B33"/>
                </a:solidFill>
                <a:latin typeface="Calibri"/>
              </a:rPr>
              <a:t>α</a:t>
            </a:r>
            <a:r>
              <a:rPr sz="1500" b="0" baseline="-25000">
                <a:solidFill>
                  <a:srgbClr val="142B33"/>
                </a:solidFill>
                <a:latin typeface="Calibri"/>
              </a:rPr>
              <a:t>i</a:t>
            </a:r>
            <a:r>
              <a:rPr sz="1500" b="0">
                <a:solidFill>
                  <a:srgbClr val="142B33"/>
                </a:solidFill>
                <a:latin typeface="Calibri"/>
              </a:rPr>
              <a:t> = exponente del factor i en el componente confundido</a:t>
            </a:r>
          </a:p>
          <a:p>
            <a:pPr marL="320040" indent="-320040">
              <a:spcAft>
                <a:spcPts val="600"/>
              </a:spcAft>
              <a:buClr>
                <a:srgbClr val="E36414"/>
              </a:buClr>
              <a:buFont typeface="Arial"/>
              <a:buChar char="•"/>
            </a:pPr>
            <a:r>
              <a:rPr sz="1500" b="0">
                <a:solidFill>
                  <a:srgbClr val="142B33"/>
                </a:solidFill>
                <a:latin typeface="Calibri"/>
              </a:rPr>
              <a:t>x</a:t>
            </a:r>
            <a:r>
              <a:rPr sz="1500" b="0" baseline="-25000">
                <a:solidFill>
                  <a:srgbClr val="142B33"/>
                </a:solidFill>
                <a:latin typeface="Calibri"/>
              </a:rPr>
              <a:t>i</a:t>
            </a:r>
            <a:r>
              <a:rPr sz="1500" b="0">
                <a:solidFill>
                  <a:srgbClr val="142B33"/>
                </a:solidFill>
                <a:latin typeface="Calibri"/>
              </a:rPr>
              <a:t> = nivel del factor i (0, 1, 2)</a:t>
            </a:r>
          </a:p>
          <a:p>
            <a:pPr marL="320040" indent="-320040">
              <a:spcAft>
                <a:spcPts val="600"/>
              </a:spcAft>
              <a:buClr>
                <a:srgbClr val="E36414"/>
              </a:buClr>
              <a:buFont typeface="Arial"/>
              <a:buChar char="•"/>
            </a:pPr>
            <a:r>
              <a:rPr sz="1500" b="0">
                <a:solidFill>
                  <a:srgbClr val="142B33"/>
                </a:solidFill>
                <a:latin typeface="Calibri"/>
              </a:rPr>
              <a:t>Bloque = valor de L (mod 3); </a:t>
            </a:r>
            <a:r>
              <a:rPr sz="1500" b="1">
                <a:solidFill>
                  <a:srgbClr val="142B33"/>
                </a:solidFill>
                <a:latin typeface="Calibri"/>
              </a:rPr>
              <a:t>bloque principal</a:t>
            </a:r>
            <a:r>
              <a:rPr sz="1500" b="0">
                <a:solidFill>
                  <a:srgbClr val="142B33"/>
                </a:solidFill>
                <a:latin typeface="Calibri"/>
              </a:rPr>
              <a:t>: L = 0, contiene a 00…0</a:t>
            </a:r>
          </a:p>
        </p:txBody>
      </p:sp>
      <p:graphicFrame>
        <p:nvGraphicFramePr>
          <p:cNvPr id="5" name="Table 4"/>
          <p:cNvGraphicFramePr>
            <a:graphicFrameLocks noGrp="1"/>
          </p:cNvGraphicFramePr>
          <p:nvPr/>
        </p:nvGraphicFramePr>
        <p:xfrm>
          <a:off x="548640" y="3582863"/>
          <a:ext cx="5875613" cy="640588"/>
        </p:xfrm>
        <a:graphic>
          <a:graphicData uri="http://schemas.openxmlformats.org/drawingml/2006/table">
            <a:tbl>
              <a:tblPr firstRow="0" bandRow="0">
                <a:tableStyleId>{5C22544A-7EE6-4342-B048-85BDC9FD1C3A}</a:tableStyleId>
              </a:tblPr>
              <a:tblGrid>
                <a:gridCol w="1932767"/>
                <a:gridCol w="438094"/>
                <a:gridCol w="438094"/>
                <a:gridCol w="438094"/>
                <a:gridCol w="438094"/>
                <a:gridCol w="438094"/>
                <a:gridCol w="438094"/>
                <a:gridCol w="438094"/>
                <a:gridCol w="438094"/>
                <a:gridCol w="438094"/>
              </a:tblGrid>
              <a:tr h="320294">
                <a:tc>
                  <a:txBody>
                    <a:bodyPr/>
                    <a:lstStyle/>
                    <a:p>
                      <a:pPr algn="l"/>
                      <a:r>
                        <a:rPr sz="1300" b="1">
                          <a:solidFill>
                            <a:srgbClr val="FFFFFF"/>
                          </a:solidFill>
                          <a:latin typeface="Calibri"/>
                        </a:rPr>
                        <a:t>Combinación</a:t>
                      </a:r>
                    </a:p>
                  </a:txBody>
                  <a:tcPr marL="73152" marR="73152" marT="27432" marB="27432" anchor="ctr">
                    <a:solidFill>
                      <a:srgbClr val="0F4C5C"/>
                    </a:solidFill>
                  </a:tcPr>
                </a:tc>
                <a:tc>
                  <a:txBody>
                    <a:bodyPr/>
                    <a:lstStyle/>
                    <a:p>
                      <a:pPr algn="ctr"/>
                      <a:r>
                        <a:rPr sz="1300" b="1">
                          <a:solidFill>
                            <a:srgbClr val="FFFFFF"/>
                          </a:solidFill>
                          <a:latin typeface="Calibri"/>
                        </a:rPr>
                        <a:t>00</a:t>
                      </a:r>
                    </a:p>
                  </a:txBody>
                  <a:tcPr marL="73152" marR="73152" marT="27432" marB="27432" anchor="ctr">
                    <a:solidFill>
                      <a:srgbClr val="0F4C5C"/>
                    </a:solidFill>
                  </a:tcPr>
                </a:tc>
                <a:tc>
                  <a:txBody>
                    <a:bodyPr/>
                    <a:lstStyle/>
                    <a:p>
                      <a:pPr algn="ctr"/>
                      <a:r>
                        <a:rPr sz="1300" b="1">
                          <a:solidFill>
                            <a:srgbClr val="FFFFFF"/>
                          </a:solidFill>
                          <a:latin typeface="Calibri"/>
                        </a:rPr>
                        <a:t>01</a:t>
                      </a:r>
                    </a:p>
                  </a:txBody>
                  <a:tcPr marL="73152" marR="73152" marT="27432" marB="27432" anchor="ctr">
                    <a:solidFill>
                      <a:srgbClr val="0F4C5C"/>
                    </a:solidFill>
                  </a:tcPr>
                </a:tc>
                <a:tc>
                  <a:txBody>
                    <a:bodyPr/>
                    <a:lstStyle/>
                    <a:p>
                      <a:pPr algn="ctr"/>
                      <a:r>
                        <a:rPr sz="1300" b="1">
                          <a:solidFill>
                            <a:srgbClr val="FFFFFF"/>
                          </a:solidFill>
                          <a:latin typeface="Calibri"/>
                        </a:rPr>
                        <a:t>02</a:t>
                      </a:r>
                    </a:p>
                  </a:txBody>
                  <a:tcPr marL="73152" marR="73152" marT="27432" marB="27432" anchor="ctr">
                    <a:solidFill>
                      <a:srgbClr val="0F4C5C"/>
                    </a:solidFill>
                  </a:tcPr>
                </a:tc>
                <a:tc>
                  <a:txBody>
                    <a:bodyPr/>
                    <a:lstStyle/>
                    <a:p>
                      <a:pPr algn="ctr"/>
                      <a:r>
                        <a:rPr sz="1300" b="1">
                          <a:solidFill>
                            <a:srgbClr val="FFFFFF"/>
                          </a:solidFill>
                          <a:latin typeface="Calibri"/>
                        </a:rPr>
                        <a:t>10</a:t>
                      </a:r>
                    </a:p>
                  </a:txBody>
                  <a:tcPr marL="73152" marR="73152" marT="27432" marB="27432" anchor="ctr">
                    <a:solidFill>
                      <a:srgbClr val="0F4C5C"/>
                    </a:solidFill>
                  </a:tcPr>
                </a:tc>
                <a:tc>
                  <a:txBody>
                    <a:bodyPr/>
                    <a:lstStyle/>
                    <a:p>
                      <a:pPr algn="ctr"/>
                      <a:r>
                        <a:rPr sz="1300" b="1">
                          <a:solidFill>
                            <a:srgbClr val="FFFFFF"/>
                          </a:solidFill>
                          <a:latin typeface="Calibri"/>
                        </a:rPr>
                        <a:t>11</a:t>
                      </a:r>
                    </a:p>
                  </a:txBody>
                  <a:tcPr marL="73152" marR="73152" marT="27432" marB="27432" anchor="ctr">
                    <a:solidFill>
                      <a:srgbClr val="0F4C5C"/>
                    </a:solidFill>
                  </a:tcPr>
                </a:tc>
                <a:tc>
                  <a:txBody>
                    <a:bodyPr/>
                    <a:lstStyle/>
                    <a:p>
                      <a:pPr algn="ctr"/>
                      <a:r>
                        <a:rPr sz="1300" b="1">
                          <a:solidFill>
                            <a:srgbClr val="FFFFFF"/>
                          </a:solidFill>
                          <a:latin typeface="Calibri"/>
                        </a:rPr>
                        <a:t>12</a:t>
                      </a:r>
                    </a:p>
                  </a:txBody>
                  <a:tcPr marL="73152" marR="73152" marT="27432" marB="27432" anchor="ctr">
                    <a:solidFill>
                      <a:srgbClr val="0F4C5C"/>
                    </a:solidFill>
                  </a:tcPr>
                </a:tc>
                <a:tc>
                  <a:txBody>
                    <a:bodyPr/>
                    <a:lstStyle/>
                    <a:p>
                      <a:pPr algn="ctr"/>
                      <a:r>
                        <a:rPr sz="1300" b="1">
                          <a:solidFill>
                            <a:srgbClr val="FFFFFF"/>
                          </a:solidFill>
                          <a:latin typeface="Calibri"/>
                        </a:rPr>
                        <a:t>20</a:t>
                      </a:r>
                    </a:p>
                  </a:txBody>
                  <a:tcPr marL="73152" marR="73152" marT="27432" marB="27432" anchor="ctr">
                    <a:solidFill>
                      <a:srgbClr val="0F4C5C"/>
                    </a:solidFill>
                  </a:tcPr>
                </a:tc>
                <a:tc>
                  <a:txBody>
                    <a:bodyPr/>
                    <a:lstStyle/>
                    <a:p>
                      <a:pPr algn="ctr"/>
                      <a:r>
                        <a:rPr sz="1300" b="1">
                          <a:solidFill>
                            <a:srgbClr val="FFFFFF"/>
                          </a:solidFill>
                          <a:latin typeface="Calibri"/>
                        </a:rPr>
                        <a:t>21</a:t>
                      </a:r>
                    </a:p>
                  </a:txBody>
                  <a:tcPr marL="73152" marR="73152" marT="27432" marB="27432" anchor="ctr">
                    <a:solidFill>
                      <a:srgbClr val="0F4C5C"/>
                    </a:solidFill>
                  </a:tcPr>
                </a:tc>
                <a:tc>
                  <a:txBody>
                    <a:bodyPr/>
                    <a:lstStyle/>
                    <a:p>
                      <a:pPr algn="ctr"/>
                      <a:r>
                        <a:rPr sz="1300" b="1">
                          <a:solidFill>
                            <a:srgbClr val="FFFFFF"/>
                          </a:solidFill>
                          <a:latin typeface="Calibri"/>
                        </a:rPr>
                        <a:t>22</a:t>
                      </a:r>
                    </a:p>
                  </a:txBody>
                  <a:tcPr marL="73152" marR="73152" marT="27432" marB="27432" anchor="ctr">
                    <a:solidFill>
                      <a:srgbClr val="0F4C5C"/>
                    </a:solidFill>
                  </a:tcPr>
                </a:tc>
              </a:tr>
              <a:tr h="320294">
                <a:tc>
                  <a:txBody>
                    <a:bodyPr/>
                    <a:lstStyle/>
                    <a:p>
                      <a:pPr algn="l"/>
                      <a:r>
                        <a:rPr sz="1300" b="0">
                          <a:solidFill>
                            <a:srgbClr val="142B33"/>
                          </a:solidFill>
                          <a:latin typeface="Calibri"/>
                        </a:rPr>
                        <a:t>L = x</a:t>
                      </a:r>
                      <a:r>
                        <a:rPr sz="1300" b="0" baseline="-25000">
                          <a:solidFill>
                            <a:srgbClr val="142B33"/>
                          </a:solidFill>
                          <a:latin typeface="Calibri"/>
                        </a:rPr>
                        <a:t>1</a:t>
                      </a:r>
                      <a:r>
                        <a:rPr sz="1300" b="0">
                          <a:solidFill>
                            <a:srgbClr val="142B33"/>
                          </a:solidFill>
                          <a:latin typeface="Calibri"/>
                        </a:rPr>
                        <a:t> + 2x</a:t>
                      </a:r>
                      <a:r>
                        <a:rPr sz="1300" b="0" baseline="-25000">
                          <a:solidFill>
                            <a:srgbClr val="142B33"/>
                          </a:solidFill>
                          <a:latin typeface="Calibri"/>
                        </a:rPr>
                        <a:t>2</a:t>
                      </a:r>
                      <a:r>
                        <a:rPr sz="1300" b="0">
                          <a:solidFill>
                            <a:srgbClr val="142B33"/>
                          </a:solidFill>
                          <a:latin typeface="Calibri"/>
                        </a:rPr>
                        <a:t> (mod 3)</a:t>
                      </a:r>
                    </a:p>
                  </a:txBody>
                  <a:tcPr marL="73152" marR="73152" marT="27432" marB="27432" anchor="ctr">
                    <a:solidFill>
                      <a:srgbClr val="FFFFFF"/>
                    </a:solidFill>
                  </a:tcPr>
                </a:tc>
                <a:tc>
                  <a:txBody>
                    <a:bodyPr/>
                    <a:lstStyle/>
                    <a:p>
                      <a:pPr algn="ctr"/>
                      <a:r>
                        <a:rPr sz="1300" b="0">
                          <a:solidFill>
                            <a:srgbClr val="142B33"/>
                          </a:solidFill>
                          <a:latin typeface="Calibri"/>
                        </a:rPr>
                        <a:t>0</a:t>
                      </a:r>
                    </a:p>
                  </a:txBody>
                  <a:tcPr marL="73152" marR="73152" marT="27432" marB="27432" anchor="ctr">
                    <a:solidFill>
                      <a:srgbClr val="FFFFFF"/>
                    </a:solidFill>
                  </a:tcPr>
                </a:tc>
                <a:tc>
                  <a:txBody>
                    <a:bodyPr/>
                    <a:lstStyle/>
                    <a:p>
                      <a:pPr algn="ctr"/>
                      <a:r>
                        <a:rPr sz="1300" b="0">
                          <a:solidFill>
                            <a:srgbClr val="142B33"/>
                          </a:solidFill>
                          <a:latin typeface="Calibri"/>
                        </a:rPr>
                        <a:t>2</a:t>
                      </a:r>
                    </a:p>
                  </a:txBody>
                  <a:tcPr marL="73152" marR="73152" marT="27432" marB="27432" anchor="ctr">
                    <a:solidFill>
                      <a:srgbClr val="FFFFFF"/>
                    </a:solidFill>
                  </a:tcPr>
                </a:tc>
                <a:tc>
                  <a:txBody>
                    <a:bodyPr/>
                    <a:lstStyle/>
                    <a:p>
                      <a:pPr algn="ctr"/>
                      <a:r>
                        <a:rPr sz="1300" b="0">
                          <a:solidFill>
                            <a:srgbClr val="142B33"/>
                          </a:solidFill>
                          <a:latin typeface="Calibri"/>
                        </a:rPr>
                        <a:t>1</a:t>
                      </a:r>
                    </a:p>
                  </a:txBody>
                  <a:tcPr marL="73152" marR="73152" marT="27432" marB="27432" anchor="ctr">
                    <a:solidFill>
                      <a:srgbClr val="FFFFFF"/>
                    </a:solidFill>
                  </a:tcPr>
                </a:tc>
                <a:tc>
                  <a:txBody>
                    <a:bodyPr/>
                    <a:lstStyle/>
                    <a:p>
                      <a:pPr algn="ctr"/>
                      <a:r>
                        <a:rPr sz="1300" b="0">
                          <a:solidFill>
                            <a:srgbClr val="142B33"/>
                          </a:solidFill>
                          <a:latin typeface="Calibri"/>
                        </a:rPr>
                        <a:t>1</a:t>
                      </a:r>
                    </a:p>
                  </a:txBody>
                  <a:tcPr marL="73152" marR="73152" marT="27432" marB="27432" anchor="ctr">
                    <a:solidFill>
                      <a:srgbClr val="FFFFFF"/>
                    </a:solidFill>
                  </a:tcPr>
                </a:tc>
                <a:tc>
                  <a:txBody>
                    <a:bodyPr/>
                    <a:lstStyle/>
                    <a:p>
                      <a:pPr algn="ctr"/>
                      <a:r>
                        <a:rPr sz="1300" b="0">
                          <a:solidFill>
                            <a:srgbClr val="142B33"/>
                          </a:solidFill>
                          <a:latin typeface="Calibri"/>
                        </a:rPr>
                        <a:t>0</a:t>
                      </a:r>
                    </a:p>
                  </a:txBody>
                  <a:tcPr marL="73152" marR="73152" marT="27432" marB="27432" anchor="ctr">
                    <a:solidFill>
                      <a:srgbClr val="FFFFFF"/>
                    </a:solidFill>
                  </a:tcPr>
                </a:tc>
                <a:tc>
                  <a:txBody>
                    <a:bodyPr/>
                    <a:lstStyle/>
                    <a:p>
                      <a:pPr algn="ctr"/>
                      <a:r>
                        <a:rPr sz="1300" b="0">
                          <a:solidFill>
                            <a:srgbClr val="142B33"/>
                          </a:solidFill>
                          <a:latin typeface="Calibri"/>
                        </a:rPr>
                        <a:t>2</a:t>
                      </a:r>
                    </a:p>
                  </a:txBody>
                  <a:tcPr marL="73152" marR="73152" marT="27432" marB="27432" anchor="ctr">
                    <a:solidFill>
                      <a:srgbClr val="FFFFFF"/>
                    </a:solidFill>
                  </a:tcPr>
                </a:tc>
                <a:tc>
                  <a:txBody>
                    <a:bodyPr/>
                    <a:lstStyle/>
                    <a:p>
                      <a:pPr algn="ctr"/>
                      <a:r>
                        <a:rPr sz="1300" b="0">
                          <a:solidFill>
                            <a:srgbClr val="142B33"/>
                          </a:solidFill>
                          <a:latin typeface="Calibri"/>
                        </a:rPr>
                        <a:t>2</a:t>
                      </a:r>
                    </a:p>
                  </a:txBody>
                  <a:tcPr marL="73152" marR="73152" marT="27432" marB="27432" anchor="ctr">
                    <a:solidFill>
                      <a:srgbClr val="FFFFFF"/>
                    </a:solidFill>
                  </a:tcPr>
                </a:tc>
                <a:tc>
                  <a:txBody>
                    <a:bodyPr/>
                    <a:lstStyle/>
                    <a:p>
                      <a:pPr algn="ctr"/>
                      <a:r>
                        <a:rPr sz="1300" b="0">
                          <a:solidFill>
                            <a:srgbClr val="142B33"/>
                          </a:solidFill>
                          <a:latin typeface="Calibri"/>
                        </a:rPr>
                        <a:t>1</a:t>
                      </a:r>
                    </a:p>
                  </a:txBody>
                  <a:tcPr marL="73152" marR="73152" marT="27432" marB="27432" anchor="ctr">
                    <a:solidFill>
                      <a:srgbClr val="FFFFFF"/>
                    </a:solidFill>
                  </a:tcPr>
                </a:tc>
                <a:tc>
                  <a:txBody>
                    <a:bodyPr/>
                    <a:lstStyle/>
                    <a:p>
                      <a:pPr algn="ctr"/>
                      <a:r>
                        <a:rPr sz="1300" b="0">
                          <a:solidFill>
                            <a:srgbClr val="142B33"/>
                          </a:solidFill>
                          <a:latin typeface="Calibri"/>
                        </a:rPr>
                        <a:t>0</a:t>
                      </a:r>
                    </a:p>
                  </a:txBody>
                  <a:tcPr marL="73152" marR="73152" marT="27432" marB="27432" anchor="ctr">
                    <a:solidFill>
                      <a:srgbClr val="FFFFFF"/>
                    </a:solidFill>
                  </a:tcPr>
                </a:tc>
              </a:tr>
            </a:tbl>
          </a:graphicData>
        </a:graphic>
      </p:graphicFrame>
      <p:pic>
        <p:nvPicPr>
          <p:cNvPr id="6" name="Picture 5" descr="bloques3x3.png"/>
          <p:cNvPicPr>
            <a:picLocks noChangeAspect="1"/>
          </p:cNvPicPr>
          <p:nvPr/>
        </p:nvPicPr>
        <p:blipFill>
          <a:blip r:embed="rId2"/>
          <a:stretch>
            <a:fillRect/>
          </a:stretch>
        </p:blipFill>
        <p:spPr>
          <a:xfrm>
            <a:off x="6991308" y="1417320"/>
            <a:ext cx="4496171" cy="3840480"/>
          </a:xfrm>
          <a:prstGeom prst="rect">
            <a:avLst/>
          </a:prstGeom>
        </p:spPr>
      </p:pic>
      <p:sp>
        <p:nvSpPr>
          <p:cNvPr id="7" name="TextBox 6"/>
          <p:cNvSpPr txBox="1"/>
          <p:nvPr/>
        </p:nvSpPr>
        <p:spPr>
          <a:xfrm>
            <a:off x="6835734" y="5276088"/>
            <a:ext cx="4807320" cy="256032"/>
          </a:xfrm>
          <a:prstGeom prst="rect">
            <a:avLst/>
          </a:prstGeom>
          <a:noFill/>
        </p:spPr>
        <p:txBody>
          <a:bodyPr wrap="square" anchor="t" lIns="0" rIns="0" tIns="0" bIns="0">
            <a:spAutoFit/>
          </a:bodyPr>
          <a:lstStyle/>
          <a:p>
            <a:pPr algn="ctr"/>
            <a:r>
              <a:rPr sz="1100" b="0">
                <a:solidFill>
                  <a:srgbClr val="5B6B73"/>
                </a:solidFill>
                <a:latin typeface="Calibri"/>
              </a:rPr>
              <a:t>El 3</a:t>
            </a:r>
            <a:r>
              <a:rPr sz="1100" b="0" baseline="30000">
                <a:solidFill>
                  <a:srgbClr val="5B6B73"/>
                </a:solidFill>
                <a:latin typeface="Calibri"/>
              </a:rPr>
              <a:t>2</a:t>
            </a:r>
            <a:r>
              <a:rPr sz="1100" b="0">
                <a:solidFill>
                  <a:srgbClr val="5B6B73"/>
                </a:solidFill>
                <a:latin typeface="Calibri"/>
              </a:rPr>
              <a:t> en tres bloques con AB</a:t>
            </a:r>
            <a:r>
              <a:rPr sz="1100" b="0" baseline="30000">
                <a:solidFill>
                  <a:srgbClr val="5B6B73"/>
                </a:solidFill>
                <a:latin typeface="Calibri"/>
              </a:rPr>
              <a:t>2</a:t>
            </a:r>
            <a:r>
              <a:rPr sz="1100" b="0">
                <a:solidFill>
                  <a:srgbClr val="5B6B73"/>
                </a:solidFill>
                <a:latin typeface="Calibri"/>
              </a:rPr>
              <a:t> confundida (fig. 9-6)</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Confusión en tres bloques</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33</a:t>
            </a:r>
          </a:p>
        </p:txBody>
      </p:sp>
      <p:sp>
        <p:nvSpPr>
          <p:cNvPr id="10" name="Rounded Rectangle 9"/>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4 · Confusión en tres bloques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El bloque principal es un grupo: los otros bloques se generan sumando</a:t>
            </a:r>
          </a:p>
        </p:txBody>
      </p:sp>
      <p:graphicFrame>
        <p:nvGraphicFramePr>
          <p:cNvPr id="3" name="Table 2"/>
          <p:cNvGraphicFramePr>
            <a:graphicFrameLocks noGrp="1"/>
          </p:cNvGraphicFramePr>
          <p:nvPr/>
        </p:nvGraphicFramePr>
        <p:xfrm>
          <a:off x="548640" y="1417320"/>
          <a:ext cx="6409759" cy="1637538"/>
        </p:xfrm>
        <a:graphic>
          <a:graphicData uri="http://schemas.openxmlformats.org/drawingml/2006/table">
            <a:tbl>
              <a:tblPr firstRow="0" bandRow="0">
                <a:tableStyleId>{5C22544A-7EE6-4342-B048-85BDC9FD1C3A}</a:tableStyleId>
              </a:tblPr>
              <a:tblGrid>
                <a:gridCol w="1153757"/>
                <a:gridCol w="512780"/>
                <a:gridCol w="1666537"/>
                <a:gridCol w="3076685"/>
              </a:tblGrid>
              <a:tr h="351282">
                <a:tc>
                  <a:txBody>
                    <a:bodyPr/>
                    <a:lstStyle/>
                    <a:p>
                      <a:pPr algn="l"/>
                      <a:r>
                        <a:rPr sz="1500" b="1">
                          <a:solidFill>
                            <a:srgbClr val="FFFFFF"/>
                          </a:solidFill>
                          <a:latin typeface="Calibri"/>
                        </a:rPr>
                        <a:t>Bloque</a:t>
                      </a:r>
                    </a:p>
                  </a:txBody>
                  <a:tcPr marL="73152" marR="73152" marT="27432" marB="27432" anchor="ctr">
                    <a:solidFill>
                      <a:srgbClr val="0F4C5C"/>
                    </a:solidFill>
                  </a:tcPr>
                </a:tc>
                <a:tc>
                  <a:txBody>
                    <a:bodyPr/>
                    <a:lstStyle/>
                    <a:p>
                      <a:pPr algn="ctr"/>
                      <a:r>
                        <a:rPr sz="1500" b="1">
                          <a:solidFill>
                            <a:srgbClr val="FFFFFF"/>
                          </a:solidFill>
                          <a:latin typeface="Calibri"/>
                        </a:rPr>
                        <a:t>L</a:t>
                      </a:r>
                    </a:p>
                  </a:txBody>
                  <a:tcPr marL="73152" marR="73152" marT="27432" marB="27432" anchor="ctr">
                    <a:solidFill>
                      <a:srgbClr val="0F4C5C"/>
                    </a:solidFill>
                  </a:tcPr>
                </a:tc>
                <a:tc>
                  <a:txBody>
                    <a:bodyPr/>
                    <a:lstStyle/>
                    <a:p>
                      <a:pPr algn="ctr"/>
                      <a:r>
                        <a:rPr sz="1500" b="1">
                          <a:solidFill>
                            <a:srgbClr val="FFFFFF"/>
                          </a:solidFill>
                          <a:latin typeface="Calibri"/>
                        </a:rPr>
                        <a:t>Combinaciones</a:t>
                      </a:r>
                    </a:p>
                  </a:txBody>
                  <a:tcPr marL="73152" marR="73152" marT="27432" marB="27432" anchor="ctr">
                    <a:solidFill>
                      <a:srgbClr val="0F4C5C"/>
                    </a:solidFill>
                  </a:tcPr>
                </a:tc>
                <a:tc>
                  <a:txBody>
                    <a:bodyPr/>
                    <a:lstStyle/>
                    <a:p>
                      <a:pPr algn="l"/>
                      <a:r>
                        <a:rPr sz="1500" b="1">
                          <a:solidFill>
                            <a:srgbClr val="FFFFFF"/>
                          </a:solidFill>
                          <a:latin typeface="Calibri"/>
                        </a:rPr>
                        <a:t>Cómo se obtiene</a:t>
                      </a:r>
                    </a:p>
                  </a:txBody>
                  <a:tcPr marL="73152" marR="73152" marT="27432" marB="27432" anchor="ctr">
                    <a:solidFill>
                      <a:srgbClr val="0F4C5C"/>
                    </a:solidFill>
                  </a:tcPr>
                </a:tc>
              </a:tr>
              <a:tr h="583692">
                <a:tc>
                  <a:txBody>
                    <a:bodyPr/>
                    <a:lstStyle/>
                    <a:p>
                      <a:pPr algn="l"/>
                      <a:r>
                        <a:rPr sz="1500" b="0">
                          <a:solidFill>
                            <a:srgbClr val="142B33"/>
                          </a:solidFill>
                          <a:latin typeface="Calibri"/>
                        </a:rPr>
                        <a:t>1 (principal)</a:t>
                      </a:r>
                    </a:p>
                  </a:txBody>
                  <a:tcPr marL="73152" marR="73152" marT="27432" marB="27432" anchor="ctr">
                    <a:solidFill>
                      <a:srgbClr val="FFFFFF"/>
                    </a:solidFill>
                  </a:tcPr>
                </a:tc>
                <a:tc>
                  <a:txBody>
                    <a:bodyPr/>
                    <a:lstStyle/>
                    <a:p>
                      <a:pPr algn="ctr"/>
                      <a:r>
                        <a:rPr sz="1500" b="0">
                          <a:solidFill>
                            <a:srgbClr val="142B33"/>
                          </a:solidFill>
                          <a:latin typeface="Calibri"/>
                        </a:rPr>
                        <a:t>0</a:t>
                      </a:r>
                    </a:p>
                  </a:txBody>
                  <a:tcPr marL="73152" marR="73152" marT="27432" marB="27432" anchor="ctr">
                    <a:solidFill>
                      <a:srgbClr val="FFFFFF"/>
                    </a:solidFill>
                  </a:tcPr>
                </a:tc>
                <a:tc>
                  <a:txBody>
                    <a:bodyPr/>
                    <a:lstStyle/>
                    <a:p>
                      <a:pPr algn="ctr"/>
                      <a:r>
                        <a:rPr sz="1500" b="0">
                          <a:solidFill>
                            <a:srgbClr val="142B33"/>
                          </a:solidFill>
                          <a:latin typeface="Calibri"/>
                        </a:rPr>
                        <a:t>00, 11, 22</a:t>
                      </a:r>
                    </a:p>
                  </a:txBody>
                  <a:tcPr marL="73152" marR="73152" marT="27432" marB="27432" anchor="ctr">
                    <a:solidFill>
                      <a:srgbClr val="FFFFFF"/>
                    </a:solidFill>
                  </a:tcPr>
                </a:tc>
                <a:tc>
                  <a:txBody>
                    <a:bodyPr/>
                    <a:lstStyle/>
                    <a:p>
                      <a:pPr algn="l"/>
                      <a:r>
                        <a:rPr sz="1500" b="0">
                          <a:solidFill>
                            <a:srgbClr val="142B33"/>
                          </a:solidFill>
                          <a:latin typeface="Calibri"/>
                        </a:rPr>
                        <a:t>L = 0; es un grupo: 11 + 11 = 22, 11 + 22 = 00</a:t>
                      </a:r>
                    </a:p>
                  </a:txBody>
                  <a:tcPr marL="73152" marR="73152" marT="27432" marB="27432" anchor="ctr">
                    <a:solidFill>
                      <a:srgbClr val="FFFFFF"/>
                    </a:solidFill>
                  </a:tcPr>
                </a:tc>
              </a:tr>
              <a:tr h="351282">
                <a:tc>
                  <a:txBody>
                    <a:bodyPr/>
                    <a:lstStyle/>
                    <a:p>
                      <a:pPr algn="l"/>
                      <a:r>
                        <a:rPr sz="1500" b="0">
                          <a:solidFill>
                            <a:srgbClr val="142B33"/>
                          </a:solidFill>
                          <a:latin typeface="Calibri"/>
                        </a:rPr>
                        <a:t>2</a:t>
                      </a:r>
                    </a:p>
                  </a:txBody>
                  <a:tcPr marL="73152" marR="73152" marT="27432" marB="27432" anchor="ctr">
                    <a:solidFill>
                      <a:srgbClr val="F4F8F9"/>
                    </a:solidFill>
                  </a:tcPr>
                </a:tc>
                <a:tc>
                  <a:txBody>
                    <a:bodyPr/>
                    <a:lstStyle/>
                    <a:p>
                      <a:pPr algn="ctr"/>
                      <a:r>
                        <a:rPr sz="1500" b="0">
                          <a:solidFill>
                            <a:srgbClr val="142B33"/>
                          </a:solidFill>
                          <a:latin typeface="Calibri"/>
                        </a:rPr>
                        <a:t>1</a:t>
                      </a:r>
                    </a:p>
                  </a:txBody>
                  <a:tcPr marL="73152" marR="73152" marT="27432" marB="27432" anchor="ctr">
                    <a:solidFill>
                      <a:srgbClr val="F4F8F9"/>
                    </a:solidFill>
                  </a:tcPr>
                </a:tc>
                <a:tc>
                  <a:txBody>
                    <a:bodyPr/>
                    <a:lstStyle/>
                    <a:p>
                      <a:pPr algn="ctr"/>
                      <a:r>
                        <a:rPr sz="1500" b="0">
                          <a:solidFill>
                            <a:srgbClr val="142B33"/>
                          </a:solidFill>
                          <a:latin typeface="Calibri"/>
                        </a:rPr>
                        <a:t>10, 21, 02</a:t>
                      </a:r>
                    </a:p>
                  </a:txBody>
                  <a:tcPr marL="73152" marR="73152" marT="27432" marB="27432" anchor="ctr">
                    <a:solidFill>
                      <a:srgbClr val="F4F8F9"/>
                    </a:solidFill>
                  </a:tcPr>
                </a:tc>
                <a:tc>
                  <a:txBody>
                    <a:bodyPr/>
                    <a:lstStyle/>
                    <a:p>
                      <a:pPr algn="l"/>
                      <a:r>
                        <a:rPr sz="1500" b="0">
                          <a:solidFill>
                            <a:srgbClr val="142B33"/>
                          </a:solidFill>
                          <a:latin typeface="Calibri"/>
                        </a:rPr>
                        <a:t>10 + {00, 11, 22}</a:t>
                      </a:r>
                    </a:p>
                  </a:txBody>
                  <a:tcPr marL="73152" marR="73152" marT="27432" marB="27432" anchor="ctr">
                    <a:solidFill>
                      <a:srgbClr val="F4F8F9"/>
                    </a:solidFill>
                  </a:tcPr>
                </a:tc>
              </a:tr>
              <a:tr h="351282">
                <a:tc>
                  <a:txBody>
                    <a:bodyPr/>
                    <a:lstStyle/>
                    <a:p>
                      <a:pPr algn="l"/>
                      <a:r>
                        <a:rPr sz="1500" b="0">
                          <a:solidFill>
                            <a:srgbClr val="142B33"/>
                          </a:solidFill>
                          <a:latin typeface="Calibri"/>
                        </a:rPr>
                        <a:t>3</a:t>
                      </a:r>
                    </a:p>
                  </a:txBody>
                  <a:tcPr marL="73152" marR="73152" marT="27432" marB="27432" anchor="ctr">
                    <a:solidFill>
                      <a:srgbClr val="FFFFFF"/>
                    </a:solidFill>
                  </a:tcPr>
                </a:tc>
                <a:tc>
                  <a:txBody>
                    <a:bodyPr/>
                    <a:lstStyle/>
                    <a:p>
                      <a:pPr algn="ctr"/>
                      <a:r>
                        <a:rPr sz="1500" b="0">
                          <a:solidFill>
                            <a:srgbClr val="142B33"/>
                          </a:solidFill>
                          <a:latin typeface="Calibri"/>
                        </a:rPr>
                        <a:t>2</a:t>
                      </a:r>
                    </a:p>
                  </a:txBody>
                  <a:tcPr marL="73152" marR="73152" marT="27432" marB="27432" anchor="ctr">
                    <a:solidFill>
                      <a:srgbClr val="FFFFFF"/>
                    </a:solidFill>
                  </a:tcPr>
                </a:tc>
                <a:tc>
                  <a:txBody>
                    <a:bodyPr/>
                    <a:lstStyle/>
                    <a:p>
                      <a:pPr algn="ctr"/>
                      <a:r>
                        <a:rPr sz="1500" b="0">
                          <a:solidFill>
                            <a:srgbClr val="142B33"/>
                          </a:solidFill>
                          <a:latin typeface="Calibri"/>
                        </a:rPr>
                        <a:t>01, 12, 20</a:t>
                      </a:r>
                    </a:p>
                  </a:txBody>
                  <a:tcPr marL="73152" marR="73152" marT="27432" marB="27432" anchor="ctr">
                    <a:solidFill>
                      <a:srgbClr val="FFFFFF"/>
                    </a:solidFill>
                  </a:tcPr>
                </a:tc>
                <a:tc>
                  <a:txBody>
                    <a:bodyPr/>
                    <a:lstStyle/>
                    <a:p>
                      <a:pPr algn="l"/>
                      <a:r>
                        <a:rPr sz="1500" b="0">
                          <a:solidFill>
                            <a:srgbClr val="142B33"/>
                          </a:solidFill>
                          <a:latin typeface="Calibri"/>
                        </a:rPr>
                        <a:t>01 + {00, 11, 22}</a:t>
                      </a:r>
                    </a:p>
                  </a:txBody>
                  <a:tcPr marL="73152" marR="73152" marT="27432" marB="27432" anchor="ctr">
                    <a:solidFill>
                      <a:srgbClr val="FFFFFF"/>
                    </a:solidFill>
                  </a:tcPr>
                </a:tc>
              </a:tr>
            </a:tbl>
          </a:graphicData>
        </a:graphic>
      </p:graphicFrame>
      <p:sp>
        <p:nvSpPr>
          <p:cNvPr id="4" name="Rounded Rectangle 3"/>
          <p:cNvSpPr/>
          <p:nvPr/>
        </p:nvSpPr>
        <p:spPr>
          <a:xfrm>
            <a:off x="7369881" y="1417320"/>
            <a:ext cx="4273174" cy="551972"/>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0">
                <a:solidFill>
                  <a:srgbClr val="0F4C5C"/>
                </a:solidFill>
                <a:latin typeface="Cambria Math"/>
              </a:rPr>
              <a:t>Bloque nuevo = (una combinación fuera del principal) + (bloque principal), mod 3</a:t>
            </a:r>
          </a:p>
        </p:txBody>
      </p:sp>
      <p:sp>
        <p:nvSpPr>
          <p:cNvPr id="5" name="Rounded Rectangle 4"/>
          <p:cNvSpPr/>
          <p:nvPr/>
        </p:nvSpPr>
        <p:spPr>
          <a:xfrm>
            <a:off x="7369881" y="2170460"/>
            <a:ext cx="4273174"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Suma dígito a dígito: 10 + 22 = 32 → 02 (mod 3)</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Confusión en tres bloques</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34</a:t>
            </a:r>
          </a:p>
        </p:txBody>
      </p:sp>
      <p:sp>
        <p:nvSpPr>
          <p:cNvPr id="8" name="Rounded Rectangle 7"/>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4 · Confusión en tres bloques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3 · Enunciado: un 3</a:t>
            </a:r>
            <a:r>
              <a:rPr sz="3000" b="1" baseline="30000">
                <a:solidFill>
                  <a:srgbClr val="0F4C5C"/>
                </a:solidFill>
                <a:latin typeface="Cambria"/>
              </a:rPr>
              <a:t>2</a:t>
            </a:r>
            <a:r>
              <a:rPr sz="3000" b="1">
                <a:solidFill>
                  <a:srgbClr val="0F4C5C"/>
                </a:solidFill>
                <a:latin typeface="Cambria"/>
              </a:rPr>
              <a:t> en tres bloques</a:t>
            </a:r>
          </a:p>
        </p:txBody>
      </p:sp>
      <p:sp>
        <p:nvSpPr>
          <p:cNvPr id="3" name="TextBox 2"/>
          <p:cNvSpPr txBox="1"/>
          <p:nvPr/>
        </p:nvSpPr>
        <p:spPr>
          <a:xfrm>
            <a:off x="548640" y="1417320"/>
            <a:ext cx="6196102" cy="1028191"/>
          </a:xfrm>
          <a:prstGeom prst="rect">
            <a:avLst/>
          </a:prstGeom>
          <a:noFill/>
        </p:spPr>
        <p:txBody>
          <a:bodyPr wrap="square" anchor="t" lIns="0" rIns="0" tIns="0" bIns="0">
            <a:spAutoFit/>
          </a:bodyPr>
          <a:lstStyle/>
          <a:p>
            <a:r>
              <a:rPr sz="1600" b="0">
                <a:solidFill>
                  <a:srgbClr val="142B33"/>
                </a:solidFill>
                <a:latin typeface="Calibri"/>
              </a:rPr>
              <a:t>Se corre </a:t>
            </a:r>
            <a:r>
              <a:rPr sz="1600" b="1">
                <a:solidFill>
                  <a:srgbClr val="142B33"/>
                </a:solidFill>
                <a:latin typeface="Calibri"/>
              </a:rPr>
              <a:t>una sola réplica de un 3</a:t>
            </a:r>
            <a:r>
              <a:rPr sz="1600" b="1" baseline="30000">
                <a:solidFill>
                  <a:srgbClr val="142B33"/>
                </a:solidFill>
                <a:latin typeface="Calibri"/>
              </a:rPr>
              <a:t>2</a:t>
            </a:r>
            <a:r>
              <a:rPr sz="1600" b="0">
                <a:solidFill>
                  <a:srgbClr val="142B33"/>
                </a:solidFill>
                <a:latin typeface="Calibri"/>
              </a:rPr>
              <a:t> cuyas nueve combinaciones no caben en condiciones homogéneas: hay que repartirlas en </a:t>
            </a:r>
            <a:r>
              <a:rPr sz="1600" b="1">
                <a:solidFill>
                  <a:srgbClr val="142B33"/>
                </a:solidFill>
                <a:latin typeface="Calibri"/>
              </a:rPr>
              <a:t>tres bloques de tres corridas</a:t>
            </a:r>
            <a:r>
              <a:rPr sz="1600" b="0">
                <a:solidFill>
                  <a:srgbClr val="142B33"/>
                </a:solidFill>
                <a:latin typeface="Calibri"/>
              </a:rPr>
              <a:t>, por ejemplo tres lotes de material o tres turnos.</a:t>
            </a:r>
          </a:p>
        </p:txBody>
      </p:sp>
      <p:sp>
        <p:nvSpPr>
          <p:cNvPr id="4" name="TextBox 3"/>
          <p:cNvSpPr txBox="1"/>
          <p:nvPr/>
        </p:nvSpPr>
        <p:spPr>
          <a:xfrm>
            <a:off x="548640" y="2646680"/>
            <a:ext cx="6196102" cy="532384"/>
          </a:xfrm>
          <a:prstGeom prst="rect">
            <a:avLst/>
          </a:prstGeom>
          <a:noFill/>
        </p:spPr>
        <p:txBody>
          <a:bodyPr wrap="square" anchor="t" lIns="0" rIns="0" tIns="0" bIns="0">
            <a:spAutoFit/>
          </a:bodyPr>
          <a:lstStyle/>
          <a:p>
            <a:r>
              <a:rPr sz="1600" b="0">
                <a:solidFill>
                  <a:srgbClr val="142B33"/>
                </a:solidFill>
                <a:latin typeface="Calibri"/>
              </a:rPr>
              <a:t>Se decide confundir el componente </a:t>
            </a:r>
            <a:r>
              <a:rPr sz="1600" b="1">
                <a:solidFill>
                  <a:srgbClr val="142B33"/>
                </a:solidFill>
                <a:latin typeface="Calibri"/>
              </a:rPr>
              <a:t>AB</a:t>
            </a:r>
            <a:r>
              <a:rPr sz="1600" b="1" baseline="30000">
                <a:solidFill>
                  <a:srgbClr val="142B33"/>
                </a:solidFill>
                <a:latin typeface="Calibri"/>
              </a:rPr>
              <a:t>2</a:t>
            </a:r>
            <a:r>
              <a:rPr sz="1600" b="0">
                <a:solidFill>
                  <a:srgbClr val="142B33"/>
                </a:solidFill>
                <a:latin typeface="Calibri"/>
              </a:rPr>
              <a:t> con los bloques, con la definición de contrastes L = x</a:t>
            </a:r>
            <a:r>
              <a:rPr sz="1600" b="0" baseline="-25000">
                <a:solidFill>
                  <a:srgbClr val="142B33"/>
                </a:solidFill>
                <a:latin typeface="Calibri"/>
              </a:rPr>
              <a:t>1</a:t>
            </a:r>
            <a:r>
              <a:rPr sz="1600" b="0">
                <a:solidFill>
                  <a:srgbClr val="142B33"/>
                </a:solidFill>
                <a:latin typeface="Calibri"/>
              </a:rPr>
              <a:t> + 2x</a:t>
            </a:r>
            <a:r>
              <a:rPr sz="1600" b="0" baseline="-25000">
                <a:solidFill>
                  <a:srgbClr val="142B33"/>
                </a:solidFill>
                <a:latin typeface="Calibri"/>
              </a:rPr>
              <a:t>2</a:t>
            </a:r>
            <a:r>
              <a:rPr sz="1600" b="0">
                <a:solidFill>
                  <a:srgbClr val="142B33"/>
                </a:solidFill>
                <a:latin typeface="Calibri"/>
              </a:rPr>
              <a:t> de la figura 9-6.</a:t>
            </a:r>
          </a:p>
        </p:txBody>
      </p:sp>
      <p:sp>
        <p:nvSpPr>
          <p:cNvPr id="5" name="TextBox 4"/>
          <p:cNvSpPr txBox="1"/>
          <p:nvPr/>
        </p:nvSpPr>
        <p:spPr>
          <a:xfrm>
            <a:off x="548640" y="3380231"/>
            <a:ext cx="6196102" cy="780288"/>
          </a:xfrm>
          <a:prstGeom prst="rect">
            <a:avLst/>
          </a:prstGeom>
          <a:noFill/>
        </p:spPr>
        <p:txBody>
          <a:bodyPr wrap="square" anchor="t" lIns="0" rIns="0" tIns="0" bIns="0">
            <a:spAutoFit/>
          </a:bodyPr>
          <a:lstStyle/>
          <a:p>
            <a:r>
              <a:rPr sz="1600" b="0">
                <a:solidFill>
                  <a:srgbClr val="142B33"/>
                </a:solidFill>
                <a:latin typeface="Calibri"/>
              </a:rPr>
              <a:t>Los datos (una observación por combinación) son: bloque 1: 00 = 4, 11 = −4, 22 = 0; bloque 2: 10 = −2, 21 = 1, 02 = 8; bloque 3: 01 = 5, 12 = −5, 20 = 0.</a:t>
            </a:r>
          </a:p>
        </p:txBody>
      </p:sp>
      <p:sp>
        <p:nvSpPr>
          <p:cNvPr id="6" name="TextBox 5"/>
          <p:cNvSpPr txBox="1"/>
          <p:nvPr/>
        </p:nvSpPr>
        <p:spPr>
          <a:xfrm>
            <a:off x="548640" y="4361688"/>
            <a:ext cx="6196102" cy="222504"/>
          </a:xfrm>
          <a:prstGeom prst="rect">
            <a:avLst/>
          </a:prstGeom>
          <a:noFill/>
        </p:spPr>
        <p:txBody>
          <a:bodyPr wrap="square" anchor="t" lIns="0" rIns="0" tIns="0" bIns="0">
            <a:spAutoFit/>
          </a:bodyPr>
          <a:lstStyle/>
          <a:p>
            <a:r>
              <a:rPr sz="1200" b="0">
                <a:solidFill>
                  <a:srgbClr val="5B6B73"/>
                </a:solidFill>
                <a:latin typeface="Calibri"/>
              </a:rPr>
              <a:t>Fuente: Montgomery, ejemplo 9-2</a:t>
            </a:r>
          </a:p>
        </p:txBody>
      </p:sp>
      <p:sp>
        <p:nvSpPr>
          <p:cNvPr id="7" name="Rounded Rectangle 6"/>
          <p:cNvSpPr/>
          <p:nvPr/>
        </p:nvSpPr>
        <p:spPr>
          <a:xfrm>
            <a:off x="7156222" y="1417320"/>
            <a:ext cx="4486832" cy="148183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Objetivo</a:t>
            </a:r>
          </a:p>
          <a:p>
            <a:pPr algn="l"/>
            <a:r>
              <a:rPr sz="1500" b="0">
                <a:solidFill>
                  <a:srgbClr val="142B33"/>
                </a:solidFill>
                <a:latin typeface="Calibri"/>
              </a:rPr>
              <a:t>Ver cómo se </a:t>
            </a:r>
            <a:r>
              <a:rPr sz="1500" b="1">
                <a:solidFill>
                  <a:srgbClr val="142B33"/>
                </a:solidFill>
                <a:latin typeface="Calibri"/>
              </a:rPr>
              <a:t>analiza</a:t>
            </a:r>
            <a:r>
              <a:rPr sz="1500" b="0">
                <a:solidFill>
                  <a:srgbClr val="142B33"/>
                </a:solidFill>
                <a:latin typeface="Calibri"/>
              </a:rPr>
              <a:t> un 3</a:t>
            </a:r>
            <a:r>
              <a:rPr sz="1500" b="0" baseline="30000">
                <a:solidFill>
                  <a:srgbClr val="142B33"/>
                </a:solidFill>
                <a:latin typeface="Calibri"/>
              </a:rPr>
              <a:t>k</a:t>
            </a:r>
            <a:r>
              <a:rPr sz="1500" b="0">
                <a:solidFill>
                  <a:srgbClr val="142B33"/>
                </a:solidFill>
                <a:latin typeface="Calibri"/>
              </a:rPr>
              <a:t> confundido en bloques y comprobar que SS</a:t>
            </a:r>
            <a:r>
              <a:rPr sz="1500" b="0" baseline="-25000">
                <a:solidFill>
                  <a:srgbClr val="142B33"/>
                </a:solidFill>
                <a:latin typeface="Calibri"/>
              </a:rPr>
              <a:t>Bloques</a:t>
            </a:r>
            <a:r>
              <a:rPr sz="1500" b="0">
                <a:solidFill>
                  <a:srgbClr val="142B33"/>
                </a:solidFill>
                <a:latin typeface="Calibri"/>
              </a:rPr>
              <a:t> es exactamente el componente confundido</a:t>
            </a:r>
          </a:p>
        </p:txBody>
      </p:sp>
      <p:sp>
        <p:nvSpPr>
          <p:cNvPr id="8" name="TextBox 7"/>
          <p:cNvSpPr txBox="1"/>
          <p:nvPr/>
        </p:nvSpPr>
        <p:spPr>
          <a:xfrm>
            <a:off x="7156222" y="3100324"/>
            <a:ext cx="4486832" cy="299973"/>
          </a:xfrm>
          <a:prstGeom prst="rect">
            <a:avLst/>
          </a:prstGeom>
          <a:noFill/>
        </p:spPr>
        <p:txBody>
          <a:bodyPr wrap="square" anchor="t" lIns="0" rIns="0" tIns="0" bIns="0">
            <a:spAutoFit/>
          </a:bodyPr>
          <a:lstStyle/>
          <a:p>
            <a:r>
              <a:rPr sz="1700" b="1">
                <a:solidFill>
                  <a:srgbClr val="142B33"/>
                </a:solidFill>
                <a:latin typeface="Calibri"/>
              </a:rPr>
              <a:t>Se pide</a:t>
            </a:r>
          </a:p>
        </p:txBody>
      </p:sp>
      <p:sp>
        <p:nvSpPr>
          <p:cNvPr id="9" name="TextBox 8"/>
          <p:cNvSpPr txBox="1"/>
          <p:nvPr/>
        </p:nvSpPr>
        <p:spPr>
          <a:xfrm>
            <a:off x="7156222" y="3601465"/>
            <a:ext cx="4486832" cy="1956053"/>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500" b="0">
                <a:solidFill>
                  <a:srgbClr val="142B33"/>
                </a:solidFill>
                <a:latin typeface="Calibri"/>
              </a:rPr>
              <a:t>Calcular SS</a:t>
            </a:r>
            <a:r>
              <a:rPr sz="1500" b="0" baseline="-25000">
                <a:solidFill>
                  <a:srgbClr val="142B33"/>
                </a:solidFill>
                <a:latin typeface="Calibri"/>
              </a:rPr>
              <a:t>A</a:t>
            </a:r>
            <a:r>
              <a:rPr sz="1500" b="0">
                <a:solidFill>
                  <a:srgbClr val="142B33"/>
                </a:solidFill>
                <a:latin typeface="Calibri"/>
              </a:rPr>
              <a:t> y SS</a:t>
            </a:r>
            <a:r>
              <a:rPr sz="1500" b="0" baseline="-25000">
                <a:solidFill>
                  <a:srgbClr val="142B33"/>
                </a:solidFill>
                <a:latin typeface="Calibri"/>
              </a:rPr>
              <a:t>B</a:t>
            </a:r>
            <a:r>
              <a:rPr sz="1500" b="0">
                <a:solidFill>
                  <a:srgbClr val="142B33"/>
                </a:solidFill>
                <a:latin typeface="Calibri"/>
              </a:rPr>
              <a:t> como en un factorial sin bloques</a:t>
            </a:r>
          </a:p>
          <a:p>
            <a:pPr marL="320040" indent="-320040">
              <a:spcAft>
                <a:spcPts val="600"/>
              </a:spcAft>
              <a:buClr>
                <a:srgbClr val="E36414"/>
              </a:buClr>
              <a:buFont typeface="+mj-lt"/>
              <a:buAutoNum type="arabicPeriod"/>
            </a:pPr>
            <a:r>
              <a:rPr sz="1500" b="0">
                <a:solidFill>
                  <a:srgbClr val="142B33"/>
                </a:solidFill>
                <a:latin typeface="Calibri"/>
              </a:rPr>
              <a:t>Calcular SS</a:t>
            </a:r>
            <a:r>
              <a:rPr sz="1500" b="0" baseline="-25000">
                <a:solidFill>
                  <a:srgbClr val="142B33"/>
                </a:solidFill>
                <a:latin typeface="Calibri"/>
              </a:rPr>
              <a:t>Bloques</a:t>
            </a:r>
            <a:r>
              <a:rPr sz="1500" b="0">
                <a:solidFill>
                  <a:srgbClr val="142B33"/>
                </a:solidFill>
                <a:latin typeface="Calibri"/>
              </a:rPr>
              <a:t> con los totales de bloque</a:t>
            </a:r>
          </a:p>
          <a:p>
            <a:pPr marL="320040" indent="-320040">
              <a:spcAft>
                <a:spcPts val="600"/>
              </a:spcAft>
              <a:buClr>
                <a:srgbClr val="E36414"/>
              </a:buClr>
              <a:buFont typeface="+mj-lt"/>
              <a:buAutoNum type="arabicPeriod"/>
            </a:pPr>
            <a:r>
              <a:rPr sz="1500" b="0">
                <a:solidFill>
                  <a:srgbClr val="142B33"/>
                </a:solidFill>
                <a:latin typeface="Calibri"/>
              </a:rPr>
              <a:t>Calcular el componente AB</a:t>
            </a:r>
            <a:r>
              <a:rPr sz="1500" b="0" baseline="30000">
                <a:solidFill>
                  <a:srgbClr val="142B33"/>
                </a:solidFill>
                <a:latin typeface="Calibri"/>
              </a:rPr>
              <a:t>2</a:t>
            </a:r>
            <a:r>
              <a:rPr sz="1500" b="0">
                <a:solidFill>
                  <a:srgbClr val="142B33"/>
                </a:solidFill>
                <a:latin typeface="Calibri"/>
              </a:rPr>
              <a:t> por diagonales y compararlo</a:t>
            </a:r>
          </a:p>
          <a:p>
            <a:pPr marL="320040" indent="-320040">
              <a:spcAft>
                <a:spcPts val="600"/>
              </a:spcAft>
              <a:buClr>
                <a:srgbClr val="E36414"/>
              </a:buClr>
              <a:buFont typeface="+mj-lt"/>
              <a:buAutoNum type="arabicPeriod"/>
            </a:pPr>
            <a:r>
              <a:rPr sz="1500" b="0">
                <a:solidFill>
                  <a:srgbClr val="142B33"/>
                </a:solidFill>
                <a:latin typeface="Calibri"/>
              </a:rPr>
              <a:t>Armar la tabla ANOVA y decir qué se puede probar</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Confusión en tres bloques</a:t>
            </a:r>
          </a:p>
        </p:txBody>
      </p:sp>
      <p:sp>
        <p:nvSpPr>
          <p:cNvPr id="11" name="TextBox 10"/>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35</a:t>
            </a:r>
          </a:p>
        </p:txBody>
      </p:sp>
      <p:sp>
        <p:nvSpPr>
          <p:cNvPr id="12" name="Rounded Rectangle 11"/>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4 · Confusión en tres bloques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3 · SS</a:t>
            </a:r>
            <a:r>
              <a:rPr sz="3000" b="1" baseline="-25000">
                <a:solidFill>
                  <a:srgbClr val="0F4C5C"/>
                </a:solidFill>
                <a:latin typeface="Cambria"/>
              </a:rPr>
              <a:t>Bloques</a:t>
            </a:r>
            <a:r>
              <a:rPr sz="3000" b="1">
                <a:solidFill>
                  <a:srgbClr val="0F4C5C"/>
                </a:solidFill>
                <a:latin typeface="Cambria"/>
              </a:rPr>
              <a:t> es exactamente SS</a:t>
            </a:r>
            <a:r>
              <a:rPr sz="3000" b="1" baseline="-25000">
                <a:solidFill>
                  <a:srgbClr val="0F4C5C"/>
                </a:solidFill>
                <a:latin typeface="Cambria"/>
              </a:rPr>
              <a:t>AB²</a:t>
            </a:r>
            <a:r>
              <a:rPr sz="3000" b="1">
                <a:solidFill>
                  <a:srgbClr val="0F4C5C"/>
                </a:solidFill>
                <a:latin typeface="Cambria"/>
              </a:rPr>
              <a:t> (tabla 9-4)</a:t>
            </a:r>
          </a:p>
        </p:txBody>
      </p:sp>
      <p:graphicFrame>
        <p:nvGraphicFramePr>
          <p:cNvPr id="3" name="Table 2"/>
          <p:cNvGraphicFramePr>
            <a:graphicFrameLocks noGrp="1"/>
          </p:cNvGraphicFramePr>
          <p:nvPr/>
        </p:nvGraphicFramePr>
        <p:xfrm>
          <a:off x="548640" y="1417320"/>
          <a:ext cx="4914150" cy="1467104"/>
        </p:xfrm>
        <a:graphic>
          <a:graphicData uri="http://schemas.openxmlformats.org/drawingml/2006/table">
            <a:tbl>
              <a:tblPr firstRow="0" bandRow="0">
                <a:tableStyleId>{5C22544A-7EE6-4342-B048-85BDC9FD1C3A}</a:tableStyleId>
              </a:tblPr>
              <a:tblGrid>
                <a:gridCol w="1965660"/>
                <a:gridCol w="982830"/>
                <a:gridCol w="982830"/>
                <a:gridCol w="982830"/>
              </a:tblGrid>
              <a:tr h="366776">
                <a:tc>
                  <a:txBody>
                    <a:bodyPr/>
                    <a:lstStyle/>
                    <a:p>
                      <a:pPr algn="ctr"/>
                      <a:r>
                        <a:rPr sz="1600" b="1">
                          <a:solidFill>
                            <a:srgbClr val="FFFFFF"/>
                          </a:solidFill>
                          <a:latin typeface="Calibri"/>
                        </a:rPr>
                        <a:t>A \ B</a:t>
                      </a:r>
                    </a:p>
                  </a:txBody>
                  <a:tcPr marL="73152" marR="73152" marT="27432" marB="27432" anchor="ctr">
                    <a:solidFill>
                      <a:srgbClr val="0F4C5C"/>
                    </a:solidFill>
                  </a:tcPr>
                </a:tc>
                <a:tc>
                  <a:txBody>
                    <a:bodyPr/>
                    <a:lstStyle/>
                    <a:p>
                      <a:pPr algn="ctr"/>
                      <a:r>
                        <a:rPr sz="1600" b="1">
                          <a:solidFill>
                            <a:srgbClr val="FFFFFF"/>
                          </a:solidFill>
                          <a:latin typeface="Calibri"/>
                        </a:rPr>
                        <a:t>0</a:t>
                      </a:r>
                    </a:p>
                  </a:txBody>
                  <a:tcPr marL="73152" marR="73152" marT="27432" marB="27432" anchor="ctr">
                    <a:solidFill>
                      <a:srgbClr val="0F4C5C"/>
                    </a:solidFill>
                  </a:tcPr>
                </a:tc>
                <a:tc>
                  <a:txBody>
                    <a:bodyPr/>
                    <a:lstStyle/>
                    <a:p>
                      <a:pPr algn="ctr"/>
                      <a:r>
                        <a:rPr sz="1600" b="1">
                          <a:solidFill>
                            <a:srgbClr val="FFFFFF"/>
                          </a:solidFill>
                          <a:latin typeface="Calibri"/>
                        </a:rPr>
                        <a:t>1</a:t>
                      </a:r>
                    </a:p>
                  </a:txBody>
                  <a:tcPr marL="73152" marR="73152" marT="27432" marB="27432" anchor="ctr">
                    <a:solidFill>
                      <a:srgbClr val="0F4C5C"/>
                    </a:solidFill>
                  </a:tcPr>
                </a:tc>
                <a:tc>
                  <a:txBody>
                    <a:bodyPr/>
                    <a:lstStyle/>
                    <a:p>
                      <a:pPr algn="ctr"/>
                      <a:r>
                        <a:rPr sz="1600" b="1">
                          <a:solidFill>
                            <a:srgbClr val="FFFFFF"/>
                          </a:solidFill>
                          <a:latin typeface="Calibri"/>
                        </a:rPr>
                        <a:t>2</a:t>
                      </a:r>
                    </a:p>
                  </a:txBody>
                  <a:tcPr marL="73152" marR="73152" marT="27432" marB="27432" anchor="ctr">
                    <a:solidFill>
                      <a:srgbClr val="0F4C5C"/>
                    </a:solidFill>
                  </a:tcPr>
                </a:tc>
              </a:tr>
              <a:tr h="366776">
                <a:tc>
                  <a:txBody>
                    <a:bodyPr/>
                    <a:lstStyle/>
                    <a:p>
                      <a:pPr algn="ctr"/>
                      <a:r>
                        <a:rPr sz="1600" b="0">
                          <a:solidFill>
                            <a:srgbClr val="142B33"/>
                          </a:solidFill>
                          <a:latin typeface="Calibri"/>
                        </a:rPr>
                        <a:t>0</a:t>
                      </a:r>
                    </a:p>
                  </a:txBody>
                  <a:tcPr marL="73152" marR="73152" marT="27432" marB="27432" anchor="ctr">
                    <a:solidFill>
                      <a:srgbClr val="FFFFFF"/>
                    </a:solidFill>
                  </a:tcPr>
                </a:tc>
                <a:tc>
                  <a:txBody>
                    <a:bodyPr/>
                    <a:lstStyle/>
                    <a:p>
                      <a:pPr algn="ctr"/>
                      <a:r>
                        <a:rPr sz="1600" b="0">
                          <a:solidFill>
                            <a:srgbClr val="142B33"/>
                          </a:solidFill>
                          <a:latin typeface="Calibri"/>
                        </a:rPr>
                        <a:t>4</a:t>
                      </a:r>
                    </a:p>
                  </a:txBody>
                  <a:tcPr marL="73152" marR="73152" marT="27432" marB="27432" anchor="ctr">
                    <a:solidFill>
                      <a:srgbClr val="FFFFFF"/>
                    </a:solidFill>
                  </a:tcPr>
                </a:tc>
                <a:tc>
                  <a:txBody>
                    <a:bodyPr/>
                    <a:lstStyle/>
                    <a:p>
                      <a:pPr algn="ctr"/>
                      <a:r>
                        <a:rPr sz="1600" b="0">
                          <a:solidFill>
                            <a:srgbClr val="142B33"/>
                          </a:solidFill>
                          <a:latin typeface="Calibri"/>
                        </a:rPr>
                        <a:t>5</a:t>
                      </a:r>
                    </a:p>
                  </a:txBody>
                  <a:tcPr marL="73152" marR="73152" marT="27432" marB="27432" anchor="ctr">
                    <a:solidFill>
                      <a:srgbClr val="FFFFFF"/>
                    </a:solidFill>
                  </a:tcPr>
                </a:tc>
                <a:tc>
                  <a:txBody>
                    <a:bodyPr/>
                    <a:lstStyle/>
                    <a:p>
                      <a:pPr algn="ctr"/>
                      <a:r>
                        <a:rPr sz="1600" b="0">
                          <a:solidFill>
                            <a:srgbClr val="142B33"/>
                          </a:solidFill>
                          <a:latin typeface="Calibri"/>
                        </a:rPr>
                        <a:t>8</a:t>
                      </a:r>
                    </a:p>
                  </a:txBody>
                  <a:tcPr marL="73152" marR="73152" marT="27432" marB="27432" anchor="ctr">
                    <a:solidFill>
                      <a:srgbClr val="FFFFFF"/>
                    </a:solidFill>
                  </a:tcPr>
                </a:tc>
              </a:tr>
              <a:tr h="366776">
                <a:tc>
                  <a:txBody>
                    <a:bodyPr/>
                    <a:lstStyle/>
                    <a:p>
                      <a:pPr algn="ctr"/>
                      <a:r>
                        <a:rPr sz="1600" b="0">
                          <a:solidFill>
                            <a:srgbClr val="142B33"/>
                          </a:solidFill>
                          <a:latin typeface="Calibri"/>
                        </a:rPr>
                        <a:t>1</a:t>
                      </a:r>
                    </a:p>
                  </a:txBody>
                  <a:tcPr marL="73152" marR="73152" marT="27432" marB="27432" anchor="ctr">
                    <a:solidFill>
                      <a:srgbClr val="F4F8F9"/>
                    </a:solidFill>
                  </a:tcPr>
                </a:tc>
                <a:tc>
                  <a:txBody>
                    <a:bodyPr/>
                    <a:lstStyle/>
                    <a:p>
                      <a:pPr algn="ctr"/>
                      <a:r>
                        <a:rPr sz="1600" b="0">
                          <a:solidFill>
                            <a:srgbClr val="142B33"/>
                          </a:solidFill>
                          <a:latin typeface="Calibri"/>
                        </a:rPr>
                        <a:t>-2</a:t>
                      </a:r>
                    </a:p>
                  </a:txBody>
                  <a:tcPr marL="73152" marR="73152" marT="27432" marB="27432" anchor="ctr">
                    <a:solidFill>
                      <a:srgbClr val="F4F8F9"/>
                    </a:solidFill>
                  </a:tcPr>
                </a:tc>
                <a:tc>
                  <a:txBody>
                    <a:bodyPr/>
                    <a:lstStyle/>
                    <a:p>
                      <a:pPr algn="ctr"/>
                      <a:r>
                        <a:rPr sz="1600" b="0">
                          <a:solidFill>
                            <a:srgbClr val="142B33"/>
                          </a:solidFill>
                          <a:latin typeface="Calibri"/>
                        </a:rPr>
                        <a:t>-4</a:t>
                      </a:r>
                    </a:p>
                  </a:txBody>
                  <a:tcPr marL="73152" marR="73152" marT="27432" marB="27432" anchor="ctr">
                    <a:solidFill>
                      <a:srgbClr val="F4F8F9"/>
                    </a:solidFill>
                  </a:tcPr>
                </a:tc>
                <a:tc>
                  <a:txBody>
                    <a:bodyPr/>
                    <a:lstStyle/>
                    <a:p>
                      <a:pPr algn="ctr"/>
                      <a:r>
                        <a:rPr sz="1600" b="0">
                          <a:solidFill>
                            <a:srgbClr val="142B33"/>
                          </a:solidFill>
                          <a:latin typeface="Calibri"/>
                        </a:rPr>
                        <a:t>-5</a:t>
                      </a:r>
                    </a:p>
                  </a:txBody>
                  <a:tcPr marL="73152" marR="73152" marT="27432" marB="27432" anchor="ctr">
                    <a:solidFill>
                      <a:srgbClr val="F4F8F9"/>
                    </a:solidFill>
                  </a:tcPr>
                </a:tc>
              </a:tr>
              <a:tr h="366776">
                <a:tc>
                  <a:txBody>
                    <a:bodyPr/>
                    <a:lstStyle/>
                    <a:p>
                      <a:pPr algn="ctr"/>
                      <a:r>
                        <a:rPr sz="1600" b="0">
                          <a:solidFill>
                            <a:srgbClr val="142B33"/>
                          </a:solidFill>
                          <a:latin typeface="Calibri"/>
                        </a:rPr>
                        <a:t>2</a:t>
                      </a:r>
                    </a:p>
                  </a:txBody>
                  <a:tcPr marL="73152" marR="73152" marT="27432" marB="27432" anchor="ctr">
                    <a:solidFill>
                      <a:srgbClr val="FFFFFF"/>
                    </a:solidFill>
                  </a:tcPr>
                </a:tc>
                <a:tc>
                  <a:txBody>
                    <a:bodyPr/>
                    <a:lstStyle/>
                    <a:p>
                      <a:pPr algn="ctr"/>
                      <a:r>
                        <a:rPr sz="1600" b="0">
                          <a:solidFill>
                            <a:srgbClr val="142B33"/>
                          </a:solidFill>
                          <a:latin typeface="Calibri"/>
                        </a:rPr>
                        <a:t>0</a:t>
                      </a:r>
                    </a:p>
                  </a:txBody>
                  <a:tcPr marL="73152" marR="73152" marT="27432" marB="27432" anchor="ctr">
                    <a:solidFill>
                      <a:srgbClr val="FFFFFF"/>
                    </a:solidFill>
                  </a:tcPr>
                </a:tc>
                <a:tc>
                  <a:txBody>
                    <a:bodyPr/>
                    <a:lstStyle/>
                    <a:p>
                      <a:pPr algn="ctr"/>
                      <a:r>
                        <a:rPr sz="1600" b="0">
                          <a:solidFill>
                            <a:srgbClr val="142B33"/>
                          </a:solidFill>
                          <a:latin typeface="Calibri"/>
                        </a:rPr>
                        <a:t>1</a:t>
                      </a:r>
                    </a:p>
                  </a:txBody>
                  <a:tcPr marL="73152" marR="73152" marT="27432" marB="27432" anchor="ctr">
                    <a:solidFill>
                      <a:srgbClr val="FFFFFF"/>
                    </a:solidFill>
                  </a:tcPr>
                </a:tc>
                <a:tc>
                  <a:txBody>
                    <a:bodyPr/>
                    <a:lstStyle/>
                    <a:p>
                      <a:pPr algn="ctr"/>
                      <a:r>
                        <a:rPr sz="1600" b="0">
                          <a:solidFill>
                            <a:srgbClr val="142B33"/>
                          </a:solidFill>
                          <a:latin typeface="Calibri"/>
                        </a:rPr>
                        <a:t>0</a:t>
                      </a:r>
                    </a:p>
                  </a:txBody>
                  <a:tcPr marL="73152" marR="73152" marT="27432" marB="27432" anchor="ctr">
                    <a:solidFill>
                      <a:srgbClr val="FFFFFF"/>
                    </a:solidFill>
                  </a:tcPr>
                </a:tc>
              </a:tr>
            </a:tbl>
          </a:graphicData>
        </a:graphic>
      </p:graphicFrame>
      <p:sp>
        <p:nvSpPr>
          <p:cNvPr id="4" name="Rounded Rectangle 3"/>
          <p:cNvSpPr/>
          <p:nvPr/>
        </p:nvSpPr>
        <p:spPr>
          <a:xfrm>
            <a:off x="548640" y="3085592"/>
            <a:ext cx="4914150"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Diagonales ↘: 4 − 4 + 0 = </a:t>
            </a:r>
            <a:r>
              <a:rPr sz="1400" b="1">
                <a:solidFill>
                  <a:srgbClr val="142B33"/>
                </a:solidFill>
                <a:latin typeface="Calibri"/>
              </a:rPr>
              <a:t>0</a:t>
            </a:r>
            <a:r>
              <a:rPr sz="1400" b="0">
                <a:solidFill>
                  <a:srgbClr val="142B33"/>
                </a:solidFill>
                <a:latin typeface="Calibri"/>
              </a:rPr>
              <a:t>;  5 − 5 + 0 = </a:t>
            </a:r>
            <a:r>
              <a:rPr sz="1400" b="1">
                <a:solidFill>
                  <a:srgbClr val="142B33"/>
                </a:solidFill>
                <a:latin typeface="Calibri"/>
              </a:rPr>
              <a:t>0</a:t>
            </a:r>
            <a:r>
              <a:rPr sz="1400" b="0">
                <a:solidFill>
                  <a:srgbClr val="142B33"/>
                </a:solidFill>
                <a:latin typeface="Calibri"/>
              </a:rPr>
              <a:t>;  8 − 2 + 1 = </a:t>
            </a:r>
            <a:r>
              <a:rPr sz="1400" b="1">
                <a:solidFill>
                  <a:srgbClr val="142B33"/>
                </a:solidFill>
                <a:latin typeface="Calibri"/>
              </a:rPr>
              <a:t>7</a:t>
            </a:r>
            <a:r>
              <a:rPr sz="1400" b="0">
                <a:solidFill>
                  <a:srgbClr val="142B33"/>
                </a:solidFill>
                <a:latin typeface="Calibri"/>
              </a:rPr>
              <a:t>  →  SS</a:t>
            </a:r>
            <a:r>
              <a:rPr sz="1400" b="0" baseline="-25000">
                <a:solidFill>
                  <a:srgbClr val="142B33"/>
                </a:solidFill>
                <a:latin typeface="Calibri"/>
              </a:rPr>
              <a:t>AB²</a:t>
            </a:r>
            <a:r>
              <a:rPr sz="1400" b="0">
                <a:solidFill>
                  <a:srgbClr val="142B33"/>
                </a:solidFill>
                <a:latin typeface="Calibri"/>
              </a:rPr>
              <a:t> = 10.89</a:t>
            </a:r>
          </a:p>
        </p:txBody>
      </p:sp>
      <p:graphicFrame>
        <p:nvGraphicFramePr>
          <p:cNvPr id="5" name="Table 4"/>
          <p:cNvGraphicFramePr>
            <a:graphicFrameLocks noGrp="1"/>
          </p:cNvGraphicFramePr>
          <p:nvPr/>
        </p:nvGraphicFramePr>
        <p:xfrm>
          <a:off x="5874270" y="1417320"/>
          <a:ext cx="5768784" cy="2107692"/>
        </p:xfrm>
        <a:graphic>
          <a:graphicData uri="http://schemas.openxmlformats.org/drawingml/2006/table">
            <a:tbl>
              <a:tblPr firstRow="0" bandRow="0">
                <a:tableStyleId>{5C22544A-7EE6-4342-B048-85BDC9FD1C3A}</a:tableStyleId>
              </a:tblPr>
              <a:tblGrid>
                <a:gridCol w="3072720"/>
                <a:gridCol w="1685040"/>
                <a:gridCol w="1011024"/>
              </a:tblGrid>
              <a:tr h="351282">
                <a:tc>
                  <a:txBody>
                    <a:bodyPr/>
                    <a:lstStyle/>
                    <a:p>
                      <a:pPr algn="l"/>
                      <a:r>
                        <a:rPr sz="1500" b="1">
                          <a:solidFill>
                            <a:srgbClr val="FFFFFF"/>
                          </a:solidFill>
                          <a:latin typeface="Calibri"/>
                        </a:rPr>
                        <a:t>SV</a:t>
                      </a:r>
                    </a:p>
                  </a:txBody>
                  <a:tcPr marL="73152" marR="73152" marT="27432" marB="27432" anchor="ctr">
                    <a:solidFill>
                      <a:srgbClr val="0F4C5C"/>
                    </a:solidFill>
                  </a:tcPr>
                </a:tc>
                <a:tc>
                  <a:txBody>
                    <a:bodyPr/>
                    <a:lstStyle/>
                    <a:p>
                      <a:pPr algn="ctr"/>
                      <a:r>
                        <a:rPr sz="1500" b="1">
                          <a:solidFill>
                            <a:srgbClr val="FFFFFF"/>
                          </a:solidFill>
                          <a:latin typeface="Calibri"/>
                        </a:rPr>
                        <a:t>SS</a:t>
                      </a:r>
                    </a:p>
                  </a:txBody>
                  <a:tcPr marL="73152" marR="73152" marT="27432" marB="27432" anchor="ctr">
                    <a:solidFill>
                      <a:srgbClr val="0F4C5C"/>
                    </a:solidFill>
                  </a:tcPr>
                </a:tc>
                <a:tc>
                  <a:txBody>
                    <a:bodyPr/>
                    <a:lstStyle/>
                    <a:p>
                      <a:pPr algn="ctr"/>
                      <a:r>
                        <a:rPr sz="1500" b="1">
                          <a:solidFill>
                            <a:srgbClr val="FFFFFF"/>
                          </a:solidFill>
                          <a:latin typeface="Calibri"/>
                        </a:rPr>
                        <a:t>DF</a:t>
                      </a:r>
                    </a:p>
                  </a:txBody>
                  <a:tcPr marL="73152" marR="73152" marT="27432" marB="27432" anchor="ctr">
                    <a:solidFill>
                      <a:srgbClr val="0F4C5C"/>
                    </a:solidFill>
                  </a:tcPr>
                </a:tc>
              </a:tr>
              <a:tr h="351282">
                <a:tc>
                  <a:txBody>
                    <a:bodyPr/>
                    <a:lstStyle/>
                    <a:p>
                      <a:pPr algn="l"/>
                      <a:r>
                        <a:rPr sz="1500" b="0">
                          <a:solidFill>
                            <a:srgbClr val="142B33"/>
                          </a:solidFill>
                          <a:latin typeface="Calibri"/>
                        </a:rPr>
                        <a:t>Bloques (AB</a:t>
                      </a:r>
                      <a:r>
                        <a:rPr sz="1500" b="0" baseline="30000">
                          <a:solidFill>
                            <a:srgbClr val="142B33"/>
                          </a:solidFill>
                          <a:latin typeface="Calibri"/>
                        </a:rPr>
                        <a:t>2</a:t>
                      </a:r>
                      <a:r>
                        <a:rPr sz="1500" b="0">
                          <a:solidFill>
                            <a:srgbClr val="142B33"/>
                          </a:solidFill>
                          <a:latin typeface="Calibri"/>
                        </a:rPr>
                        <a:t>)</a:t>
                      </a:r>
                    </a:p>
                  </a:txBody>
                  <a:tcPr marL="73152" marR="73152" marT="27432" marB="27432" anchor="ctr">
                    <a:solidFill>
                      <a:srgbClr val="FDE8D7"/>
                    </a:solidFill>
                  </a:tcPr>
                </a:tc>
                <a:tc>
                  <a:txBody>
                    <a:bodyPr/>
                    <a:lstStyle/>
                    <a:p>
                      <a:pPr algn="ctr"/>
                      <a:r>
                        <a:rPr sz="1500" b="0">
                          <a:solidFill>
                            <a:srgbClr val="142B33"/>
                          </a:solidFill>
                          <a:latin typeface="Calibri"/>
                        </a:rPr>
                        <a:t>10.89</a:t>
                      </a:r>
                    </a:p>
                  </a:txBody>
                  <a:tcPr marL="73152" marR="73152" marT="27432" marB="27432" anchor="ctr">
                    <a:solidFill>
                      <a:srgbClr val="FDE8D7"/>
                    </a:solidFill>
                  </a:tcPr>
                </a:tc>
                <a:tc>
                  <a:txBody>
                    <a:bodyPr/>
                    <a:lstStyle/>
                    <a:p>
                      <a:pPr algn="ctr"/>
                      <a:r>
                        <a:rPr sz="1500" b="0">
                          <a:solidFill>
                            <a:srgbClr val="142B33"/>
                          </a:solidFill>
                          <a:latin typeface="Calibri"/>
                        </a:rPr>
                        <a:t>2</a:t>
                      </a:r>
                    </a:p>
                  </a:txBody>
                  <a:tcPr marL="73152" marR="73152" marT="27432" marB="27432" anchor="ctr">
                    <a:solidFill>
                      <a:srgbClr val="FDE8D7"/>
                    </a:solidFill>
                  </a:tcPr>
                </a:tc>
              </a:tr>
              <a:tr h="351282">
                <a:tc>
                  <a:txBody>
                    <a:bodyPr/>
                    <a:lstStyle/>
                    <a:p>
                      <a:pPr algn="l"/>
                      <a:r>
                        <a:rPr sz="1500" b="0">
                          <a:solidFill>
                            <a:srgbClr val="142B33"/>
                          </a:solidFill>
                          <a:latin typeface="Calibri"/>
                        </a:rPr>
                        <a:t>A</a:t>
                      </a:r>
                    </a:p>
                  </a:txBody>
                  <a:tcPr marL="73152" marR="73152" marT="27432" marB="27432" anchor="ctr">
                    <a:solidFill>
                      <a:srgbClr val="F4F8F9"/>
                    </a:solidFill>
                  </a:tcPr>
                </a:tc>
                <a:tc>
                  <a:txBody>
                    <a:bodyPr/>
                    <a:lstStyle/>
                    <a:p>
                      <a:pPr algn="ctr"/>
                      <a:r>
                        <a:rPr sz="1500" b="0">
                          <a:solidFill>
                            <a:srgbClr val="142B33"/>
                          </a:solidFill>
                          <a:latin typeface="Calibri"/>
                        </a:rPr>
                        <a:t>131.56</a:t>
                      </a:r>
                    </a:p>
                  </a:txBody>
                  <a:tcPr marL="73152" marR="73152" marT="27432" marB="27432" anchor="ctr">
                    <a:solidFill>
                      <a:srgbClr val="F4F8F9"/>
                    </a:solidFill>
                  </a:tcPr>
                </a:tc>
                <a:tc>
                  <a:txBody>
                    <a:bodyPr/>
                    <a:lstStyle/>
                    <a:p>
                      <a:pPr algn="ctr"/>
                      <a:r>
                        <a:rPr sz="1500" b="0">
                          <a:solidFill>
                            <a:srgbClr val="142B33"/>
                          </a:solidFill>
                          <a:latin typeface="Calibri"/>
                        </a:rPr>
                        <a:t>2</a:t>
                      </a:r>
                    </a:p>
                  </a:txBody>
                  <a:tcPr marL="73152" marR="73152" marT="27432" marB="27432" anchor="ctr">
                    <a:solidFill>
                      <a:srgbClr val="F4F8F9"/>
                    </a:solidFill>
                  </a:tcPr>
                </a:tc>
              </a:tr>
              <a:tr h="351282">
                <a:tc>
                  <a:txBody>
                    <a:bodyPr/>
                    <a:lstStyle/>
                    <a:p>
                      <a:pPr algn="l"/>
                      <a:r>
                        <a:rPr sz="1500" b="0">
                          <a:solidFill>
                            <a:srgbClr val="142B33"/>
                          </a:solidFill>
                          <a:latin typeface="Calibri"/>
                        </a:rPr>
                        <a:t>B</a:t>
                      </a:r>
                    </a:p>
                  </a:txBody>
                  <a:tcPr marL="73152" marR="73152" marT="27432" marB="27432" anchor="ctr">
                    <a:solidFill>
                      <a:srgbClr val="FFFFFF"/>
                    </a:solidFill>
                  </a:tcPr>
                </a:tc>
                <a:tc>
                  <a:txBody>
                    <a:bodyPr/>
                    <a:lstStyle/>
                    <a:p>
                      <a:pPr algn="ctr"/>
                      <a:r>
                        <a:rPr sz="1500" b="0">
                          <a:solidFill>
                            <a:srgbClr val="142B33"/>
                          </a:solidFill>
                          <a:latin typeface="Calibri"/>
                        </a:rPr>
                        <a:t>0.22</a:t>
                      </a:r>
                    </a:p>
                  </a:txBody>
                  <a:tcPr marL="73152" marR="73152" marT="27432" marB="27432" anchor="ctr">
                    <a:solidFill>
                      <a:srgbClr val="FFFFFF"/>
                    </a:solidFill>
                  </a:tcPr>
                </a:tc>
                <a:tc>
                  <a:txBody>
                    <a:bodyPr/>
                    <a:lstStyle/>
                    <a:p>
                      <a:pPr algn="ctr"/>
                      <a:r>
                        <a:rPr sz="1500" b="0">
                          <a:solidFill>
                            <a:srgbClr val="142B33"/>
                          </a:solidFill>
                          <a:latin typeface="Calibri"/>
                        </a:rPr>
                        <a:t>2</a:t>
                      </a:r>
                    </a:p>
                  </a:txBody>
                  <a:tcPr marL="73152" marR="73152" marT="27432" marB="27432" anchor="ctr">
                    <a:solidFill>
                      <a:srgbClr val="FFFFFF"/>
                    </a:solidFill>
                  </a:tcPr>
                </a:tc>
              </a:tr>
              <a:tr h="351282">
                <a:tc>
                  <a:txBody>
                    <a:bodyPr/>
                    <a:lstStyle/>
                    <a:p>
                      <a:pPr algn="l"/>
                      <a:r>
                        <a:rPr sz="1500" b="0">
                          <a:solidFill>
                            <a:srgbClr val="142B33"/>
                          </a:solidFill>
                          <a:latin typeface="Calibri"/>
                        </a:rPr>
                        <a:t>AB</a:t>
                      </a:r>
                    </a:p>
                  </a:txBody>
                  <a:tcPr marL="73152" marR="73152" marT="27432" marB="27432" anchor="ctr">
                    <a:solidFill>
                      <a:srgbClr val="F4F8F9"/>
                    </a:solidFill>
                  </a:tcPr>
                </a:tc>
                <a:tc>
                  <a:txBody>
                    <a:bodyPr/>
                    <a:lstStyle/>
                    <a:p>
                      <a:pPr algn="ctr"/>
                      <a:r>
                        <a:rPr sz="1500" b="0">
                          <a:solidFill>
                            <a:srgbClr val="142B33"/>
                          </a:solidFill>
                          <a:latin typeface="Calibri"/>
                        </a:rPr>
                        <a:t>2.89</a:t>
                      </a:r>
                    </a:p>
                  </a:txBody>
                  <a:tcPr marL="73152" marR="73152" marT="27432" marB="27432" anchor="ctr">
                    <a:solidFill>
                      <a:srgbClr val="F4F8F9"/>
                    </a:solidFill>
                  </a:tcPr>
                </a:tc>
                <a:tc>
                  <a:txBody>
                    <a:bodyPr/>
                    <a:lstStyle/>
                    <a:p>
                      <a:pPr algn="ctr"/>
                      <a:r>
                        <a:rPr sz="1500" b="0">
                          <a:solidFill>
                            <a:srgbClr val="142B33"/>
                          </a:solidFill>
                          <a:latin typeface="Calibri"/>
                        </a:rPr>
                        <a:t>2</a:t>
                      </a:r>
                    </a:p>
                  </a:txBody>
                  <a:tcPr marL="73152" marR="73152" marT="27432" marB="27432" anchor="ctr">
                    <a:solidFill>
                      <a:srgbClr val="F4F8F9"/>
                    </a:solidFill>
                  </a:tcPr>
                </a:tc>
              </a:tr>
              <a:tr h="351282">
                <a:tc>
                  <a:txBody>
                    <a:bodyPr/>
                    <a:lstStyle/>
                    <a:p>
                      <a:pPr algn="l"/>
                      <a:r>
                        <a:rPr sz="1500" b="0">
                          <a:solidFill>
                            <a:srgbClr val="142B33"/>
                          </a:solidFill>
                          <a:latin typeface="Calibri"/>
                        </a:rPr>
                        <a:t>Total</a:t>
                      </a:r>
                    </a:p>
                  </a:txBody>
                  <a:tcPr marL="73152" marR="73152" marT="27432" marB="27432" anchor="ctr">
                    <a:solidFill>
                      <a:srgbClr val="FFFFFF"/>
                    </a:solidFill>
                  </a:tcPr>
                </a:tc>
                <a:tc>
                  <a:txBody>
                    <a:bodyPr/>
                    <a:lstStyle/>
                    <a:p>
                      <a:pPr algn="ctr"/>
                      <a:r>
                        <a:rPr sz="1500" b="0">
                          <a:solidFill>
                            <a:srgbClr val="142B33"/>
                          </a:solidFill>
                          <a:latin typeface="Calibri"/>
                        </a:rPr>
                        <a:t>145.56</a:t>
                      </a:r>
                    </a:p>
                  </a:txBody>
                  <a:tcPr marL="73152" marR="73152" marT="27432" marB="27432" anchor="ctr">
                    <a:solidFill>
                      <a:srgbClr val="FFFFFF"/>
                    </a:solidFill>
                  </a:tcPr>
                </a:tc>
                <a:tc>
                  <a:txBody>
                    <a:bodyPr/>
                    <a:lstStyle/>
                    <a:p>
                      <a:pPr algn="ctr"/>
                      <a:r>
                        <a:rPr sz="1500" b="0">
                          <a:solidFill>
                            <a:srgbClr val="142B33"/>
                          </a:solidFill>
                          <a:latin typeface="Calibri"/>
                        </a:rPr>
                        <a:t>8</a:t>
                      </a:r>
                    </a:p>
                  </a:txBody>
                  <a:tcPr marL="73152" marR="73152" marT="27432" marB="27432" anchor="ctr">
                    <a:solidFill>
                      <a:srgbClr val="FFFFFF"/>
                    </a:solidFill>
                  </a:tcPr>
                </a:tc>
              </a:tr>
            </a:tbl>
          </a:graphicData>
        </a:graphic>
      </p:graphicFrame>
      <p:sp>
        <p:nvSpPr>
          <p:cNvPr id="6" name="Rounded Rectangle 5"/>
          <p:cNvSpPr/>
          <p:nvPr/>
        </p:nvSpPr>
        <p:spPr>
          <a:xfrm>
            <a:off x="5874270" y="3726180"/>
            <a:ext cx="5768785"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Una sola réplica: </a:t>
            </a:r>
            <a:r>
              <a:rPr sz="1500" b="1">
                <a:solidFill>
                  <a:srgbClr val="142B33"/>
                </a:solidFill>
                <a:latin typeface="Calibri"/>
              </a:rPr>
              <a:t>no hay prueba formal</a:t>
            </a:r>
            <a:r>
              <a:rPr sz="1500" b="0">
                <a:solidFill>
                  <a:srgbClr val="142B33"/>
                </a:solidFill>
                <a:latin typeface="Calibri"/>
              </a:rPr>
              <a:t>. No usar AB como error</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Confusión en tres bloques</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36</a:t>
            </a:r>
          </a:p>
        </p:txBody>
      </p:sp>
      <p:sp>
        <p:nvSpPr>
          <p:cNvPr id="9" name="Rounded Rectangle 8"/>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4 · Confusión en tres bloques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El 3</a:t>
            </a:r>
            <a:r>
              <a:rPr sz="3000" b="1" baseline="30000">
                <a:solidFill>
                  <a:srgbClr val="0F4C5C"/>
                </a:solidFill>
                <a:latin typeface="Cambria"/>
              </a:rPr>
              <a:t>3</a:t>
            </a:r>
            <a:r>
              <a:rPr sz="3000" b="1">
                <a:solidFill>
                  <a:srgbClr val="0F4C5C"/>
                </a:solidFill>
                <a:latin typeface="Cambria"/>
              </a:rPr>
              <a:t> en tres bloques de 9: AB</a:t>
            </a:r>
            <a:r>
              <a:rPr sz="3000" b="1" baseline="30000">
                <a:solidFill>
                  <a:srgbClr val="0F4C5C"/>
                </a:solidFill>
                <a:latin typeface="Cambria"/>
              </a:rPr>
              <a:t>2</a:t>
            </a:r>
            <a:r>
              <a:rPr sz="3000" b="1">
                <a:solidFill>
                  <a:srgbClr val="0F4C5C"/>
                </a:solidFill>
                <a:latin typeface="Cambria"/>
              </a:rPr>
              <a:t>C</a:t>
            </a:r>
            <a:r>
              <a:rPr sz="3000" b="1" baseline="30000">
                <a:solidFill>
                  <a:srgbClr val="0F4C5C"/>
                </a:solidFill>
                <a:latin typeface="Cambria"/>
              </a:rPr>
              <a:t>2</a:t>
            </a:r>
            <a:r>
              <a:rPr sz="3000" b="1">
                <a:solidFill>
                  <a:srgbClr val="0F4C5C"/>
                </a:solidFill>
                <a:latin typeface="Cambria"/>
              </a:rPr>
              <a:t> confundida</a:t>
            </a:r>
          </a:p>
        </p:txBody>
      </p:sp>
      <p:graphicFrame>
        <p:nvGraphicFramePr>
          <p:cNvPr id="3" name="Table 2"/>
          <p:cNvGraphicFramePr>
            <a:graphicFrameLocks noGrp="1"/>
          </p:cNvGraphicFramePr>
          <p:nvPr/>
        </p:nvGraphicFramePr>
        <p:xfrm>
          <a:off x="548640" y="1417320"/>
          <a:ext cx="5875613" cy="1560067"/>
        </p:xfrm>
        <a:graphic>
          <a:graphicData uri="http://schemas.openxmlformats.org/drawingml/2006/table">
            <a:tbl>
              <a:tblPr firstRow="0" bandRow="0">
                <a:tableStyleId>{5C22544A-7EE6-4342-B048-85BDC9FD1C3A}</a:tableStyleId>
              </a:tblPr>
              <a:tblGrid>
                <a:gridCol w="705073"/>
                <a:gridCol w="470049"/>
                <a:gridCol w="4700491"/>
              </a:tblGrid>
              <a:tr h="552703">
                <a:tc>
                  <a:txBody>
                    <a:bodyPr/>
                    <a:lstStyle/>
                    <a:p>
                      <a:pPr algn="l"/>
                      <a:r>
                        <a:rPr sz="1400" b="1">
                          <a:solidFill>
                            <a:srgbClr val="FFFFFF"/>
                          </a:solidFill>
                          <a:latin typeface="Calibri"/>
                        </a:rPr>
                        <a:t>Bloque</a:t>
                      </a:r>
                    </a:p>
                  </a:txBody>
                  <a:tcPr marL="73152" marR="73152" marT="27432" marB="27432" anchor="ctr">
                    <a:solidFill>
                      <a:srgbClr val="0F4C5C"/>
                    </a:solidFill>
                  </a:tcPr>
                </a:tc>
                <a:tc>
                  <a:txBody>
                    <a:bodyPr/>
                    <a:lstStyle/>
                    <a:p>
                      <a:pPr algn="ctr"/>
                      <a:r>
                        <a:rPr sz="1400" b="1">
                          <a:solidFill>
                            <a:srgbClr val="FFFFFF"/>
                          </a:solidFill>
                          <a:latin typeface="Calibri"/>
                        </a:rPr>
                        <a:t>L</a:t>
                      </a:r>
                    </a:p>
                  </a:txBody>
                  <a:tcPr marL="73152" marR="73152" marT="27432" marB="27432" anchor="ctr">
                    <a:solidFill>
                      <a:srgbClr val="0F4C5C"/>
                    </a:solidFill>
                  </a:tcPr>
                </a:tc>
                <a:tc>
                  <a:txBody>
                    <a:bodyPr/>
                    <a:lstStyle/>
                    <a:p>
                      <a:pPr algn="l"/>
                      <a:r>
                        <a:rPr sz="1400" b="1">
                          <a:solidFill>
                            <a:srgbClr val="FFFFFF"/>
                          </a:solidFill>
                          <a:latin typeface="Calibri"/>
                        </a:rPr>
                        <a:t>Corridas</a:t>
                      </a:r>
                    </a:p>
                  </a:txBody>
                  <a:tcPr marL="73152" marR="73152" marT="27432" marB="27432" anchor="ctr">
                    <a:solidFill>
                      <a:srgbClr val="0F4C5C"/>
                    </a:solidFill>
                  </a:tcPr>
                </a:tc>
              </a:tr>
              <a:tr h="335788">
                <a:tc>
                  <a:txBody>
                    <a:bodyPr/>
                    <a:lstStyle/>
                    <a:p>
                      <a:pPr algn="l"/>
                      <a:r>
                        <a:rPr sz="1400" b="0">
                          <a:solidFill>
                            <a:srgbClr val="142B33"/>
                          </a:solidFill>
                          <a:latin typeface="Calibri"/>
                        </a:rPr>
                        <a:t>1</a:t>
                      </a:r>
                    </a:p>
                  </a:txBody>
                  <a:tcPr marL="73152" marR="73152" marT="27432" marB="27432" anchor="ctr">
                    <a:solidFill>
                      <a:srgbClr val="FFFFFF"/>
                    </a:solidFill>
                  </a:tcPr>
                </a:tc>
                <a:tc>
                  <a:txBody>
                    <a:bodyPr/>
                    <a:lstStyle/>
                    <a:p>
                      <a:pPr algn="ctr"/>
                      <a:r>
                        <a:rPr sz="1400" b="0">
                          <a:solidFill>
                            <a:srgbClr val="142B33"/>
                          </a:solidFill>
                          <a:latin typeface="Calibri"/>
                        </a:rPr>
                        <a:t>0</a:t>
                      </a:r>
                    </a:p>
                  </a:txBody>
                  <a:tcPr marL="73152" marR="73152" marT="27432" marB="27432" anchor="ctr">
                    <a:solidFill>
                      <a:srgbClr val="FFFFFF"/>
                    </a:solidFill>
                  </a:tcPr>
                </a:tc>
                <a:tc>
                  <a:txBody>
                    <a:bodyPr/>
                    <a:lstStyle/>
                    <a:p>
                      <a:pPr algn="l"/>
                      <a:r>
                        <a:rPr sz="1400" b="0">
                          <a:solidFill>
                            <a:srgbClr val="142B33"/>
                          </a:solidFill>
                          <a:latin typeface="Calibri"/>
                        </a:rPr>
                        <a:t>000, 110, 220, 101, 211, 021, 202, 012, 122</a:t>
                      </a:r>
                    </a:p>
                  </a:txBody>
                  <a:tcPr marL="73152" marR="73152" marT="27432" marB="27432" anchor="ctr">
                    <a:solidFill>
                      <a:srgbClr val="FFFFFF"/>
                    </a:solidFill>
                  </a:tcPr>
                </a:tc>
              </a:tr>
              <a:tr h="335788">
                <a:tc>
                  <a:txBody>
                    <a:bodyPr/>
                    <a:lstStyle/>
                    <a:p>
                      <a:pPr algn="l"/>
                      <a:r>
                        <a:rPr sz="1400" b="0">
                          <a:solidFill>
                            <a:srgbClr val="142B33"/>
                          </a:solidFill>
                          <a:latin typeface="Calibri"/>
                        </a:rPr>
                        <a:t>2</a:t>
                      </a:r>
                    </a:p>
                  </a:txBody>
                  <a:tcPr marL="73152" marR="73152" marT="27432" marB="27432" anchor="ctr">
                    <a:solidFill>
                      <a:srgbClr val="F4F8F9"/>
                    </a:solidFill>
                  </a:tcPr>
                </a:tc>
                <a:tc>
                  <a:txBody>
                    <a:bodyPr/>
                    <a:lstStyle/>
                    <a:p>
                      <a:pPr algn="ctr"/>
                      <a:r>
                        <a:rPr sz="1400" b="0">
                          <a:solidFill>
                            <a:srgbClr val="142B33"/>
                          </a:solidFill>
                          <a:latin typeface="Calibri"/>
                        </a:rPr>
                        <a:t>2</a:t>
                      </a:r>
                    </a:p>
                  </a:txBody>
                  <a:tcPr marL="73152" marR="73152" marT="27432" marB="27432" anchor="ctr">
                    <a:solidFill>
                      <a:srgbClr val="F4F8F9"/>
                    </a:solidFill>
                  </a:tcPr>
                </a:tc>
                <a:tc>
                  <a:txBody>
                    <a:bodyPr/>
                    <a:lstStyle/>
                    <a:p>
                      <a:pPr algn="l"/>
                      <a:r>
                        <a:rPr sz="1400" b="0">
                          <a:solidFill>
                            <a:srgbClr val="142B33"/>
                          </a:solidFill>
                          <a:latin typeface="Calibri"/>
                        </a:rPr>
                        <a:t>200, 010, 120, 001, 111, 221, 102, 212, 022</a:t>
                      </a:r>
                    </a:p>
                  </a:txBody>
                  <a:tcPr marL="73152" marR="73152" marT="27432" marB="27432" anchor="ctr">
                    <a:solidFill>
                      <a:srgbClr val="F4F8F9"/>
                    </a:solidFill>
                  </a:tcPr>
                </a:tc>
              </a:tr>
              <a:tr h="335788">
                <a:tc>
                  <a:txBody>
                    <a:bodyPr/>
                    <a:lstStyle/>
                    <a:p>
                      <a:pPr algn="l"/>
                      <a:r>
                        <a:rPr sz="1400" b="0">
                          <a:solidFill>
                            <a:srgbClr val="142B33"/>
                          </a:solidFill>
                          <a:latin typeface="Calibri"/>
                        </a:rPr>
                        <a:t>3</a:t>
                      </a:r>
                    </a:p>
                  </a:txBody>
                  <a:tcPr marL="73152" marR="73152" marT="27432" marB="27432" anchor="ctr">
                    <a:solidFill>
                      <a:srgbClr val="FFFFFF"/>
                    </a:solidFill>
                  </a:tcPr>
                </a:tc>
                <a:tc>
                  <a:txBody>
                    <a:bodyPr/>
                    <a:lstStyle/>
                    <a:p>
                      <a:pPr algn="ctr"/>
                      <a:r>
                        <a:rPr sz="1400" b="0">
                          <a:solidFill>
                            <a:srgbClr val="142B33"/>
                          </a:solidFill>
                          <a:latin typeface="Calibri"/>
                        </a:rPr>
                        <a:t>1</a:t>
                      </a:r>
                    </a:p>
                  </a:txBody>
                  <a:tcPr marL="73152" marR="73152" marT="27432" marB="27432" anchor="ctr">
                    <a:solidFill>
                      <a:srgbClr val="FFFFFF"/>
                    </a:solidFill>
                  </a:tcPr>
                </a:tc>
                <a:tc>
                  <a:txBody>
                    <a:bodyPr/>
                    <a:lstStyle/>
                    <a:p>
                      <a:pPr algn="l"/>
                      <a:r>
                        <a:rPr sz="1400" b="0">
                          <a:solidFill>
                            <a:srgbClr val="142B33"/>
                          </a:solidFill>
                          <a:latin typeface="Calibri"/>
                        </a:rPr>
                        <a:t>100, 210, 020, 201, 011, 121, 002, 112, 222</a:t>
                      </a:r>
                    </a:p>
                  </a:txBody>
                  <a:tcPr marL="73152" marR="73152" marT="27432" marB="27432" anchor="ctr">
                    <a:solidFill>
                      <a:srgbClr val="FFFFFF"/>
                    </a:solidFill>
                  </a:tcPr>
                </a:tc>
              </a:tr>
            </a:tbl>
          </a:graphicData>
        </a:graphic>
      </p:graphicFrame>
      <p:pic>
        <p:nvPicPr>
          <p:cNvPr id="4" name="Picture 3" descr="cubo_bloques.png"/>
          <p:cNvPicPr>
            <a:picLocks noChangeAspect="1"/>
          </p:cNvPicPr>
          <p:nvPr/>
        </p:nvPicPr>
        <p:blipFill>
          <a:blip r:embed="rId2"/>
          <a:stretch>
            <a:fillRect/>
          </a:stretch>
        </p:blipFill>
        <p:spPr>
          <a:xfrm>
            <a:off x="1729208" y="3178556"/>
            <a:ext cx="3514476" cy="3108960"/>
          </a:xfrm>
          <a:prstGeom prst="rect">
            <a:avLst/>
          </a:prstGeom>
        </p:spPr>
      </p:pic>
      <p:graphicFrame>
        <p:nvGraphicFramePr>
          <p:cNvPr id="5" name="Table 4"/>
          <p:cNvGraphicFramePr>
            <a:graphicFrameLocks noGrp="1"/>
          </p:cNvGraphicFramePr>
          <p:nvPr/>
        </p:nvGraphicFramePr>
        <p:xfrm>
          <a:off x="6835734" y="1417320"/>
          <a:ext cx="4807320" cy="2107692"/>
        </p:xfrm>
        <a:graphic>
          <a:graphicData uri="http://schemas.openxmlformats.org/drawingml/2006/table">
            <a:tbl>
              <a:tblPr firstRow="0" bandRow="0">
                <a:tableStyleId>{5C22544A-7EE6-4342-B048-85BDC9FD1C3A}</a:tableStyleId>
              </a:tblPr>
              <a:tblGrid>
                <a:gridCol w="3365124"/>
                <a:gridCol w="1442196"/>
              </a:tblGrid>
              <a:tr h="351282">
                <a:tc>
                  <a:txBody>
                    <a:bodyPr/>
                    <a:lstStyle/>
                    <a:p>
                      <a:pPr algn="l"/>
                      <a:r>
                        <a:rPr sz="1500" b="1">
                          <a:solidFill>
                            <a:srgbClr val="FFFFFF"/>
                          </a:solidFill>
                          <a:latin typeface="Calibri"/>
                        </a:rPr>
                        <a:t>SV</a:t>
                      </a:r>
                    </a:p>
                  </a:txBody>
                  <a:tcPr marL="73152" marR="73152" marT="27432" marB="27432" anchor="ctr">
                    <a:solidFill>
                      <a:srgbClr val="0F4C5C"/>
                    </a:solidFill>
                  </a:tcPr>
                </a:tc>
                <a:tc>
                  <a:txBody>
                    <a:bodyPr/>
                    <a:lstStyle/>
                    <a:p>
                      <a:pPr algn="ctr"/>
                      <a:r>
                        <a:rPr sz="1500" b="1">
                          <a:solidFill>
                            <a:srgbClr val="FFFFFF"/>
                          </a:solidFill>
                          <a:latin typeface="Calibri"/>
                        </a:rPr>
                        <a:t>DF</a:t>
                      </a:r>
                    </a:p>
                  </a:txBody>
                  <a:tcPr marL="73152" marR="73152" marT="27432" marB="27432" anchor="ctr">
                    <a:solidFill>
                      <a:srgbClr val="0F4C5C"/>
                    </a:solidFill>
                  </a:tcPr>
                </a:tc>
              </a:tr>
              <a:tr h="351282">
                <a:tc>
                  <a:txBody>
                    <a:bodyPr/>
                    <a:lstStyle/>
                    <a:p>
                      <a:pPr algn="l"/>
                      <a:r>
                        <a:rPr sz="1500" b="0">
                          <a:solidFill>
                            <a:srgbClr val="142B33"/>
                          </a:solidFill>
                          <a:latin typeface="Calibri"/>
                        </a:rPr>
                        <a:t>Bloques (AB</a:t>
                      </a:r>
                      <a:r>
                        <a:rPr sz="1500" b="0" baseline="30000">
                          <a:solidFill>
                            <a:srgbClr val="142B33"/>
                          </a:solidFill>
                          <a:latin typeface="Calibri"/>
                        </a:rPr>
                        <a:t>2</a:t>
                      </a:r>
                      <a:r>
                        <a:rPr sz="1500" b="0">
                          <a:solidFill>
                            <a:srgbClr val="142B33"/>
                          </a:solidFill>
                          <a:latin typeface="Calibri"/>
                        </a:rPr>
                        <a:t>C</a:t>
                      </a:r>
                      <a:r>
                        <a:rPr sz="1500" b="0" baseline="30000">
                          <a:solidFill>
                            <a:srgbClr val="142B33"/>
                          </a:solidFill>
                          <a:latin typeface="Calibri"/>
                        </a:rPr>
                        <a:t>2</a:t>
                      </a:r>
                      <a:r>
                        <a:rPr sz="1500" b="0">
                          <a:solidFill>
                            <a:srgbClr val="142B33"/>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2</a:t>
                      </a:r>
                    </a:p>
                  </a:txBody>
                  <a:tcPr marL="73152" marR="73152" marT="27432" marB="27432" anchor="ctr">
                    <a:solidFill>
                      <a:srgbClr val="FFFFFF"/>
                    </a:solidFill>
                  </a:tcPr>
                </a:tc>
              </a:tr>
              <a:tr h="351282">
                <a:tc>
                  <a:txBody>
                    <a:bodyPr/>
                    <a:lstStyle/>
                    <a:p>
                      <a:pPr algn="l"/>
                      <a:r>
                        <a:rPr sz="1500" b="0">
                          <a:solidFill>
                            <a:srgbClr val="142B33"/>
                          </a:solidFill>
                          <a:latin typeface="Calibri"/>
                        </a:rPr>
                        <a:t>A, B, C</a:t>
                      </a:r>
                    </a:p>
                  </a:txBody>
                  <a:tcPr marL="73152" marR="73152" marT="27432" marB="27432" anchor="ctr">
                    <a:solidFill>
                      <a:srgbClr val="F4F8F9"/>
                    </a:solidFill>
                  </a:tcPr>
                </a:tc>
                <a:tc>
                  <a:txBody>
                    <a:bodyPr/>
                    <a:lstStyle/>
                    <a:p>
                      <a:pPr algn="ctr"/>
                      <a:r>
                        <a:rPr sz="1500" b="0">
                          <a:solidFill>
                            <a:srgbClr val="142B33"/>
                          </a:solidFill>
                          <a:latin typeface="Calibri"/>
                        </a:rPr>
                        <a:t>2 cada uno</a:t>
                      </a:r>
                    </a:p>
                  </a:txBody>
                  <a:tcPr marL="73152" marR="73152" marT="27432" marB="27432" anchor="ctr">
                    <a:solidFill>
                      <a:srgbClr val="F4F8F9"/>
                    </a:solidFill>
                  </a:tcPr>
                </a:tc>
              </a:tr>
              <a:tr h="351282">
                <a:tc>
                  <a:txBody>
                    <a:bodyPr/>
                    <a:lstStyle/>
                    <a:p>
                      <a:pPr algn="l"/>
                      <a:r>
                        <a:rPr sz="1500" b="0">
                          <a:solidFill>
                            <a:srgbClr val="142B33"/>
                          </a:solidFill>
                          <a:latin typeface="Calibri"/>
                        </a:rPr>
                        <a:t>AB, AC, BC</a:t>
                      </a:r>
                    </a:p>
                  </a:txBody>
                  <a:tcPr marL="73152" marR="73152" marT="27432" marB="27432" anchor="ctr">
                    <a:solidFill>
                      <a:srgbClr val="FFFFFF"/>
                    </a:solidFill>
                  </a:tcPr>
                </a:tc>
                <a:tc>
                  <a:txBody>
                    <a:bodyPr/>
                    <a:lstStyle/>
                    <a:p>
                      <a:pPr algn="ctr"/>
                      <a:r>
                        <a:rPr sz="1500" b="0">
                          <a:solidFill>
                            <a:srgbClr val="142B33"/>
                          </a:solidFill>
                          <a:latin typeface="Calibri"/>
                        </a:rPr>
                        <a:t>4 cada uno</a:t>
                      </a:r>
                    </a:p>
                  </a:txBody>
                  <a:tcPr marL="73152" marR="73152" marT="27432" marB="27432" anchor="ctr">
                    <a:solidFill>
                      <a:srgbClr val="FFFFFF"/>
                    </a:solidFill>
                  </a:tcPr>
                </a:tc>
              </a:tr>
              <a:tr h="351282">
                <a:tc>
                  <a:txBody>
                    <a:bodyPr/>
                    <a:lstStyle/>
                    <a:p>
                      <a:pPr algn="l"/>
                      <a:r>
                        <a:rPr sz="1500" b="0">
                          <a:solidFill>
                            <a:srgbClr val="142B33"/>
                          </a:solidFill>
                          <a:latin typeface="Calibri"/>
                        </a:rPr>
                        <a:t>Error (ABC + AB</a:t>
                      </a:r>
                      <a:r>
                        <a:rPr sz="1500" b="0" baseline="30000">
                          <a:solidFill>
                            <a:srgbClr val="142B33"/>
                          </a:solidFill>
                          <a:latin typeface="Calibri"/>
                        </a:rPr>
                        <a:t>2</a:t>
                      </a:r>
                      <a:r>
                        <a:rPr sz="1500" b="0">
                          <a:solidFill>
                            <a:srgbClr val="142B33"/>
                          </a:solidFill>
                          <a:latin typeface="Calibri"/>
                        </a:rPr>
                        <a:t>C + ABC</a:t>
                      </a:r>
                      <a:r>
                        <a:rPr sz="1500" b="0" baseline="30000">
                          <a:solidFill>
                            <a:srgbClr val="142B33"/>
                          </a:solidFill>
                          <a:latin typeface="Calibri"/>
                        </a:rPr>
                        <a:t>2</a:t>
                      </a:r>
                      <a:r>
                        <a:rPr sz="1500" b="0">
                          <a:solidFill>
                            <a:srgbClr val="142B33"/>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6</a:t>
                      </a:r>
                    </a:p>
                  </a:txBody>
                  <a:tcPr marL="73152" marR="73152" marT="27432" marB="27432" anchor="ctr">
                    <a:solidFill>
                      <a:srgbClr val="F4F8F9"/>
                    </a:solidFill>
                  </a:tcPr>
                </a:tc>
              </a:tr>
              <a:tr h="351282">
                <a:tc>
                  <a:txBody>
                    <a:bodyPr/>
                    <a:lstStyle/>
                    <a:p>
                      <a:pPr algn="l"/>
                      <a:r>
                        <a:rPr sz="1500" b="0">
                          <a:solidFill>
                            <a:srgbClr val="142B33"/>
                          </a:solidFill>
                          <a:latin typeface="Calibri"/>
                        </a:rPr>
                        <a:t>Total</a:t>
                      </a:r>
                    </a:p>
                  </a:txBody>
                  <a:tcPr marL="73152" marR="73152" marT="27432" marB="27432" anchor="ctr">
                    <a:solidFill>
                      <a:srgbClr val="FFFFFF"/>
                    </a:solidFill>
                  </a:tcPr>
                </a:tc>
                <a:tc>
                  <a:txBody>
                    <a:bodyPr/>
                    <a:lstStyle/>
                    <a:p>
                      <a:pPr algn="ctr"/>
                      <a:r>
                        <a:rPr sz="1500" b="0">
                          <a:solidFill>
                            <a:srgbClr val="142B33"/>
                          </a:solidFill>
                          <a:latin typeface="Calibri"/>
                        </a:rPr>
                        <a:t>26</a:t>
                      </a:r>
                    </a:p>
                  </a:txBody>
                  <a:tcPr marL="73152" marR="73152" marT="27432" marB="27432" anchor="ctr">
                    <a:solidFill>
                      <a:srgbClr val="FFFFFF"/>
                    </a:solidFill>
                  </a:tcPr>
                </a:tc>
              </a:tr>
            </a:tbl>
          </a:graphicData>
        </a:graphic>
      </p:graphicFrame>
      <p:sp>
        <p:nvSpPr>
          <p:cNvPr id="6" name="Rounded Rectangle 5"/>
          <p:cNvSpPr/>
          <p:nvPr/>
        </p:nvSpPr>
        <p:spPr>
          <a:xfrm>
            <a:off x="6835734" y="3726180"/>
            <a:ext cx="4807320"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SS</a:t>
            </a:r>
            <a:r>
              <a:rPr sz="1400" b="0" baseline="-25000">
                <a:solidFill>
                  <a:srgbClr val="142B33"/>
                </a:solidFill>
                <a:latin typeface="Calibri"/>
              </a:rPr>
              <a:t>Error</a:t>
            </a:r>
            <a:r>
              <a:rPr sz="1400" b="0">
                <a:solidFill>
                  <a:srgbClr val="142B33"/>
                </a:solidFill>
                <a:latin typeface="Calibri"/>
              </a:rPr>
              <a:t> = SS</a:t>
            </a:r>
            <a:r>
              <a:rPr sz="1400" b="0" baseline="-25000">
                <a:solidFill>
                  <a:srgbClr val="142B33"/>
                </a:solidFill>
                <a:latin typeface="Calibri"/>
              </a:rPr>
              <a:t>ABC</a:t>
            </a:r>
            <a:r>
              <a:rPr sz="1400" b="0">
                <a:solidFill>
                  <a:srgbClr val="142B33"/>
                </a:solidFill>
                <a:latin typeface="Calibri"/>
              </a:rPr>
              <a:t> (usual) − SS</a:t>
            </a:r>
            <a:r>
              <a:rPr sz="1400" b="0" baseline="-25000">
                <a:solidFill>
                  <a:srgbClr val="142B33"/>
                </a:solidFill>
                <a:latin typeface="Calibri"/>
              </a:rPr>
              <a:t>Bloques</a:t>
            </a:r>
            <a:r>
              <a:rPr sz="1400" b="0">
                <a:solidFill>
                  <a:srgbClr val="142B33"/>
                </a:solidFill>
                <a:latin typeface="Calibri"/>
              </a:rPr>
              <a:t>: los componentes </a:t>
            </a:r>
            <a:r>
              <a:rPr sz="1400" b="1">
                <a:solidFill>
                  <a:srgbClr val="142B33"/>
                </a:solidFill>
                <a:latin typeface="Calibri"/>
              </a:rPr>
              <a:t>no confundidos</a:t>
            </a:r>
            <a:r>
              <a:rPr sz="1400" b="0">
                <a:solidFill>
                  <a:srgbClr val="142B33"/>
                </a:solidFill>
                <a:latin typeface="Calibri"/>
              </a:rPr>
              <a:t> de ABC</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Confusión en tres bloques</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37</a:t>
            </a:r>
          </a:p>
        </p:txBody>
      </p:sp>
      <p:sp>
        <p:nvSpPr>
          <p:cNvPr id="9" name="Rounded Rectangle 8"/>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4 · Confusión en tres bloques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4 · Enunciado: acomodar botellas en tres días</a:t>
            </a:r>
          </a:p>
        </p:txBody>
      </p:sp>
      <p:sp>
        <p:nvSpPr>
          <p:cNvPr id="3" name="TextBox 2"/>
          <p:cNvSpPr txBox="1"/>
          <p:nvPr/>
        </p:nvSpPr>
        <p:spPr>
          <a:xfrm>
            <a:off x="548640" y="1417320"/>
            <a:ext cx="6196102" cy="1771903"/>
          </a:xfrm>
          <a:prstGeom prst="rect">
            <a:avLst/>
          </a:prstGeom>
          <a:noFill/>
        </p:spPr>
        <p:txBody>
          <a:bodyPr wrap="square" anchor="t" lIns="0" rIns="0" tIns="0" bIns="0">
            <a:spAutoFit/>
          </a:bodyPr>
          <a:lstStyle/>
          <a:p>
            <a:r>
              <a:rPr sz="1600" b="0">
                <a:solidFill>
                  <a:srgbClr val="142B33"/>
                </a:solidFill>
                <a:latin typeface="Calibri"/>
              </a:rPr>
              <a:t>Una embotelladora quiere saber cuánto tarda un empleado en acomodar diez cajas de doce botellas en los aparadores de venta, y qué lo afecta. Se estudian tres factores con tres niveles: A el </a:t>
            </a:r>
            <a:r>
              <a:rPr sz="1600" b="1">
                <a:solidFill>
                  <a:srgbClr val="142B33"/>
                </a:solidFill>
                <a:latin typeface="Calibri"/>
              </a:rPr>
              <a:t>tipo de botella</a:t>
            </a:r>
            <a:r>
              <a:rPr sz="1600" b="0">
                <a:solidFill>
                  <a:srgbClr val="142B33"/>
                </a:solidFill>
                <a:latin typeface="Calibri"/>
              </a:rPr>
              <a:t> (plástico, vidrio de 28 mm, vidrio de 38 mm), B el </a:t>
            </a:r>
            <a:r>
              <a:rPr sz="1600" b="1">
                <a:solidFill>
                  <a:srgbClr val="142B33"/>
                </a:solidFill>
                <a:latin typeface="Calibri"/>
              </a:rPr>
              <a:t>tipo de aparador</a:t>
            </a:r>
            <a:r>
              <a:rPr sz="1600" b="0">
                <a:solidFill>
                  <a:srgbClr val="142B33"/>
                </a:solidFill>
                <a:latin typeface="Calibri"/>
              </a:rPr>
              <a:t> (anaquel permanente liso, aparador al final del pasillo, refrigerador para refrescos) y C el </a:t>
            </a:r>
            <a:r>
              <a:rPr sz="1600" b="1">
                <a:solidFill>
                  <a:srgbClr val="142B33"/>
                </a:solidFill>
                <a:latin typeface="Calibri"/>
              </a:rPr>
              <a:t>empleado</a:t>
            </a:r>
            <a:r>
              <a:rPr sz="1600" b="0">
                <a:solidFill>
                  <a:srgbClr val="142B33"/>
                </a:solidFill>
                <a:latin typeface="Calibri"/>
              </a:rPr>
              <a:t> (tres personas).</a:t>
            </a:r>
          </a:p>
        </p:txBody>
      </p:sp>
      <p:sp>
        <p:nvSpPr>
          <p:cNvPr id="4" name="TextBox 3"/>
          <p:cNvSpPr txBox="1"/>
          <p:nvPr/>
        </p:nvSpPr>
        <p:spPr>
          <a:xfrm>
            <a:off x="548640" y="3390391"/>
            <a:ext cx="6196102" cy="1028191"/>
          </a:xfrm>
          <a:prstGeom prst="rect">
            <a:avLst/>
          </a:prstGeom>
          <a:noFill/>
        </p:spPr>
        <p:txBody>
          <a:bodyPr wrap="square" anchor="t" lIns="0" rIns="0" tIns="0" bIns="0">
            <a:spAutoFit/>
          </a:bodyPr>
          <a:lstStyle/>
          <a:p>
            <a:r>
              <a:rPr sz="1600" b="0">
                <a:solidFill>
                  <a:srgbClr val="142B33"/>
                </a:solidFill>
                <a:latin typeface="Calibri"/>
              </a:rPr>
              <a:t>El experimento completo es un 3</a:t>
            </a:r>
            <a:r>
              <a:rPr sz="1600" b="0" baseline="30000">
                <a:solidFill>
                  <a:srgbClr val="142B33"/>
                </a:solidFill>
                <a:latin typeface="Calibri"/>
              </a:rPr>
              <a:t>3</a:t>
            </a:r>
            <a:r>
              <a:rPr sz="1600" b="0">
                <a:solidFill>
                  <a:srgbClr val="142B33"/>
                </a:solidFill>
                <a:latin typeface="Calibri"/>
              </a:rPr>
              <a:t> (27 corridas por réplica). El problema 9-9 agrega una restricción: </a:t>
            </a:r>
            <a:r>
              <a:rPr sz="1600" b="1">
                <a:solidFill>
                  <a:srgbClr val="142B33"/>
                </a:solidFill>
                <a:latin typeface="Calibri"/>
              </a:rPr>
              <a:t>no es posible hacer las 27 observaciones el mismo día</a:t>
            </a:r>
            <a:r>
              <a:rPr sz="1600" b="0">
                <a:solidFill>
                  <a:srgbClr val="142B33"/>
                </a:solidFill>
                <a:latin typeface="Calibri"/>
              </a:rPr>
              <a:t>; se hacen en tres días, nueve cada día.</a:t>
            </a:r>
          </a:p>
        </p:txBody>
      </p:sp>
      <p:sp>
        <p:nvSpPr>
          <p:cNvPr id="5" name="TextBox 4"/>
          <p:cNvSpPr txBox="1"/>
          <p:nvPr/>
        </p:nvSpPr>
        <p:spPr>
          <a:xfrm>
            <a:off x="548640" y="4619751"/>
            <a:ext cx="6196102" cy="780288"/>
          </a:xfrm>
          <a:prstGeom prst="rect">
            <a:avLst/>
          </a:prstGeom>
          <a:noFill/>
        </p:spPr>
        <p:txBody>
          <a:bodyPr wrap="square" anchor="t" lIns="0" rIns="0" tIns="0" bIns="0">
            <a:spAutoFit/>
          </a:bodyPr>
          <a:lstStyle/>
          <a:p>
            <a:r>
              <a:rPr sz="1600" b="0">
                <a:solidFill>
                  <a:srgbClr val="142B33"/>
                </a:solidFill>
                <a:latin typeface="Calibri"/>
              </a:rPr>
              <a:t>Se usan los datos de la primera réplica del problema 9-3 (tiempo en minutos) y se confunde el componente </a:t>
            </a:r>
            <a:r>
              <a:rPr sz="1600" b="1">
                <a:solidFill>
                  <a:srgbClr val="142B33"/>
                </a:solidFill>
                <a:latin typeface="Calibri"/>
              </a:rPr>
              <a:t>AB</a:t>
            </a:r>
            <a:r>
              <a:rPr sz="1600" b="1" baseline="30000">
                <a:solidFill>
                  <a:srgbClr val="142B33"/>
                </a:solidFill>
                <a:latin typeface="Calibri"/>
              </a:rPr>
              <a:t>2</a:t>
            </a:r>
            <a:r>
              <a:rPr sz="1600" b="1">
                <a:solidFill>
                  <a:srgbClr val="142B33"/>
                </a:solidFill>
                <a:latin typeface="Calibri"/>
              </a:rPr>
              <a:t>C</a:t>
            </a:r>
            <a:r>
              <a:rPr sz="1600" b="0">
                <a:solidFill>
                  <a:srgbClr val="142B33"/>
                </a:solidFill>
                <a:latin typeface="Calibri"/>
              </a:rPr>
              <a:t> con los días.</a:t>
            </a:r>
          </a:p>
        </p:txBody>
      </p:sp>
      <p:sp>
        <p:nvSpPr>
          <p:cNvPr id="6" name="TextBox 5"/>
          <p:cNvSpPr txBox="1"/>
          <p:nvPr/>
        </p:nvSpPr>
        <p:spPr>
          <a:xfrm>
            <a:off x="548640" y="5601207"/>
            <a:ext cx="6196102" cy="222504"/>
          </a:xfrm>
          <a:prstGeom prst="rect">
            <a:avLst/>
          </a:prstGeom>
          <a:noFill/>
        </p:spPr>
        <p:txBody>
          <a:bodyPr wrap="square" anchor="t" lIns="0" rIns="0" tIns="0" bIns="0">
            <a:spAutoFit/>
          </a:bodyPr>
          <a:lstStyle/>
          <a:p>
            <a:r>
              <a:rPr sz="1200" b="0">
                <a:solidFill>
                  <a:srgbClr val="5B6B73"/>
                </a:solidFill>
                <a:latin typeface="Calibri"/>
              </a:rPr>
              <a:t>Fuente: Montgomery, problemas 9-3 y 9-9 (réplica I)</a:t>
            </a:r>
          </a:p>
        </p:txBody>
      </p:sp>
      <p:sp>
        <p:nvSpPr>
          <p:cNvPr id="7" name="Rounded Rectangle 6"/>
          <p:cNvSpPr/>
          <p:nvPr/>
        </p:nvSpPr>
        <p:spPr>
          <a:xfrm>
            <a:off x="7156222" y="1417320"/>
            <a:ext cx="4486832" cy="148183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Objetivo</a:t>
            </a:r>
          </a:p>
          <a:p>
            <a:pPr algn="l"/>
            <a:r>
              <a:rPr sz="1500" b="0">
                <a:solidFill>
                  <a:srgbClr val="142B33"/>
                </a:solidFill>
                <a:latin typeface="Calibri"/>
              </a:rPr>
              <a:t>Repartir las 27 corridas en </a:t>
            </a:r>
            <a:r>
              <a:rPr sz="1500" b="1">
                <a:solidFill>
                  <a:srgbClr val="142B33"/>
                </a:solidFill>
                <a:latin typeface="Calibri"/>
              </a:rPr>
              <a:t>tres días</a:t>
            </a:r>
            <a:r>
              <a:rPr sz="1500" b="0">
                <a:solidFill>
                  <a:srgbClr val="142B33"/>
                </a:solidFill>
                <a:latin typeface="Calibri"/>
              </a:rPr>
              <a:t> sin perder los efectos principales ni las interacciones de dos factores, y analizar</a:t>
            </a:r>
          </a:p>
        </p:txBody>
      </p:sp>
      <p:sp>
        <p:nvSpPr>
          <p:cNvPr id="8" name="TextBox 7"/>
          <p:cNvSpPr txBox="1"/>
          <p:nvPr/>
        </p:nvSpPr>
        <p:spPr>
          <a:xfrm>
            <a:off x="7156222" y="3100324"/>
            <a:ext cx="4486832" cy="299973"/>
          </a:xfrm>
          <a:prstGeom prst="rect">
            <a:avLst/>
          </a:prstGeom>
          <a:noFill/>
        </p:spPr>
        <p:txBody>
          <a:bodyPr wrap="square" anchor="t" lIns="0" rIns="0" tIns="0" bIns="0">
            <a:spAutoFit/>
          </a:bodyPr>
          <a:lstStyle/>
          <a:p>
            <a:r>
              <a:rPr sz="1700" b="1">
                <a:solidFill>
                  <a:srgbClr val="142B33"/>
                </a:solidFill>
                <a:latin typeface="Calibri"/>
              </a:rPr>
              <a:t>Se pide</a:t>
            </a:r>
          </a:p>
        </p:txBody>
      </p:sp>
      <p:sp>
        <p:nvSpPr>
          <p:cNvPr id="9" name="TextBox 8"/>
          <p:cNvSpPr txBox="1"/>
          <p:nvPr/>
        </p:nvSpPr>
        <p:spPr>
          <a:xfrm>
            <a:off x="7156222" y="3601465"/>
            <a:ext cx="4486832" cy="1723643"/>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500" b="0">
                <a:solidFill>
                  <a:srgbClr val="142B33"/>
                </a:solidFill>
                <a:latin typeface="Calibri"/>
              </a:rPr>
              <a:t>Construir los tres bloques con L = x</a:t>
            </a:r>
            <a:r>
              <a:rPr sz="1500" b="0" baseline="-25000">
                <a:solidFill>
                  <a:srgbClr val="142B33"/>
                </a:solidFill>
                <a:latin typeface="Calibri"/>
              </a:rPr>
              <a:t>1</a:t>
            </a:r>
            <a:r>
              <a:rPr sz="1500" b="0">
                <a:solidFill>
                  <a:srgbClr val="142B33"/>
                </a:solidFill>
                <a:latin typeface="Calibri"/>
              </a:rPr>
              <a:t> + 2x</a:t>
            </a:r>
            <a:r>
              <a:rPr sz="1500" b="0" baseline="-25000">
                <a:solidFill>
                  <a:srgbClr val="142B33"/>
                </a:solidFill>
                <a:latin typeface="Calibri"/>
              </a:rPr>
              <a:t>2</a:t>
            </a:r>
            <a:r>
              <a:rPr sz="1500" b="0">
                <a:solidFill>
                  <a:srgbClr val="142B33"/>
                </a:solidFill>
                <a:latin typeface="Calibri"/>
              </a:rPr>
              <a:t> + x</a:t>
            </a:r>
            <a:r>
              <a:rPr sz="1500" b="0" baseline="-25000">
                <a:solidFill>
                  <a:srgbClr val="142B33"/>
                </a:solidFill>
                <a:latin typeface="Calibri"/>
              </a:rPr>
              <a:t>3</a:t>
            </a:r>
          </a:p>
          <a:p>
            <a:pPr marL="320040" indent="-320040">
              <a:spcAft>
                <a:spcPts val="600"/>
              </a:spcAft>
              <a:buClr>
                <a:srgbClr val="E36414"/>
              </a:buClr>
              <a:buFont typeface="+mj-lt"/>
              <a:buAutoNum type="arabicPeriod"/>
            </a:pPr>
            <a:r>
              <a:rPr sz="1500" b="0">
                <a:solidFill>
                  <a:srgbClr val="142B33"/>
                </a:solidFill>
                <a:latin typeface="Calibri"/>
              </a:rPr>
              <a:t>Calcular SS</a:t>
            </a:r>
            <a:r>
              <a:rPr sz="1500" b="0" baseline="-25000">
                <a:solidFill>
                  <a:srgbClr val="142B33"/>
                </a:solidFill>
                <a:latin typeface="Calibri"/>
              </a:rPr>
              <a:t>Bloques</a:t>
            </a:r>
            <a:r>
              <a:rPr sz="1500" b="0">
                <a:solidFill>
                  <a:srgbClr val="142B33"/>
                </a:solidFill>
                <a:latin typeface="Calibri"/>
              </a:rPr>
              <a:t> y comprobar que es SS</a:t>
            </a:r>
            <a:r>
              <a:rPr sz="1500" b="0" baseline="-25000">
                <a:solidFill>
                  <a:srgbClr val="142B33"/>
                </a:solidFill>
                <a:latin typeface="Calibri"/>
              </a:rPr>
              <a:t>AB²C</a:t>
            </a:r>
          </a:p>
          <a:p>
            <a:pPr marL="320040" indent="-320040">
              <a:spcAft>
                <a:spcPts val="600"/>
              </a:spcAft>
              <a:buClr>
                <a:srgbClr val="E36414"/>
              </a:buClr>
              <a:buFont typeface="+mj-lt"/>
              <a:buAutoNum type="arabicPeriod"/>
            </a:pPr>
            <a:r>
              <a:rPr sz="1500" b="0">
                <a:solidFill>
                  <a:srgbClr val="142B33"/>
                </a:solidFill>
                <a:latin typeface="Calibri"/>
              </a:rPr>
              <a:t>Armar el ANOVA con el error formado por los otros componentes de ABC</a:t>
            </a:r>
          </a:p>
          <a:p>
            <a:pPr marL="320040" indent="-320040">
              <a:spcAft>
                <a:spcPts val="600"/>
              </a:spcAft>
              <a:buClr>
                <a:srgbClr val="E36414"/>
              </a:buClr>
              <a:buFont typeface="+mj-lt"/>
              <a:buAutoNum type="arabicPeriod"/>
            </a:pPr>
            <a:r>
              <a:rPr sz="1500" b="0">
                <a:solidFill>
                  <a:srgbClr val="142B33"/>
                </a:solidFill>
                <a:latin typeface="Calibri"/>
              </a:rPr>
              <a:t>Concluir qué afecta el tiempo</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Confusión en tres bloques</a:t>
            </a:r>
          </a:p>
        </p:txBody>
      </p:sp>
      <p:sp>
        <p:nvSpPr>
          <p:cNvPr id="11" name="TextBox 10"/>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38</a:t>
            </a:r>
          </a:p>
        </p:txBody>
      </p:sp>
      <p:sp>
        <p:nvSpPr>
          <p:cNvPr id="12" name="Rounded Rectangle 11"/>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4 · Confusión en tres bloques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4 · Los tres días</a:t>
            </a:r>
          </a:p>
        </p:txBody>
      </p:sp>
      <p:graphicFrame>
        <p:nvGraphicFramePr>
          <p:cNvPr id="3" name="Table 2"/>
          <p:cNvGraphicFramePr>
            <a:graphicFrameLocks noGrp="1"/>
          </p:cNvGraphicFramePr>
          <p:nvPr/>
        </p:nvGraphicFramePr>
        <p:xfrm>
          <a:off x="548640" y="1417320"/>
          <a:ext cx="11094413" cy="1343152"/>
        </p:xfrm>
        <a:graphic>
          <a:graphicData uri="http://schemas.openxmlformats.org/drawingml/2006/table">
            <a:tbl>
              <a:tblPr firstRow="0" bandRow="0">
                <a:tableStyleId>{5C22544A-7EE6-4342-B048-85BDC9FD1C3A}</a:tableStyleId>
              </a:tblPr>
              <a:tblGrid>
                <a:gridCol w="1553218"/>
                <a:gridCol w="665664"/>
                <a:gridCol w="7100425"/>
                <a:gridCol w="1775106"/>
              </a:tblGrid>
              <a:tr h="335788">
                <a:tc>
                  <a:txBody>
                    <a:bodyPr/>
                    <a:lstStyle/>
                    <a:p>
                      <a:pPr algn="l"/>
                      <a:r>
                        <a:rPr sz="1400" b="1">
                          <a:solidFill>
                            <a:srgbClr val="FFFFFF"/>
                          </a:solidFill>
                          <a:latin typeface="Calibri"/>
                        </a:rPr>
                        <a:t>Día (bloque)</a:t>
                      </a:r>
                    </a:p>
                  </a:txBody>
                  <a:tcPr marL="73152" marR="73152" marT="27432" marB="27432" anchor="ctr">
                    <a:solidFill>
                      <a:srgbClr val="0F4C5C"/>
                    </a:solidFill>
                  </a:tcPr>
                </a:tc>
                <a:tc>
                  <a:txBody>
                    <a:bodyPr/>
                    <a:lstStyle/>
                    <a:p>
                      <a:pPr algn="ctr"/>
                      <a:r>
                        <a:rPr sz="1400" b="1">
                          <a:solidFill>
                            <a:srgbClr val="FFFFFF"/>
                          </a:solidFill>
                          <a:latin typeface="Calibri"/>
                        </a:rPr>
                        <a:t>L</a:t>
                      </a:r>
                    </a:p>
                  </a:txBody>
                  <a:tcPr marL="73152" marR="73152" marT="27432" marB="27432" anchor="ctr">
                    <a:solidFill>
                      <a:srgbClr val="0F4C5C"/>
                    </a:solidFill>
                  </a:tcPr>
                </a:tc>
                <a:tc>
                  <a:txBody>
                    <a:bodyPr/>
                    <a:lstStyle/>
                    <a:p>
                      <a:pPr algn="l"/>
                      <a:r>
                        <a:rPr sz="1400" b="1">
                          <a:solidFill>
                            <a:srgbClr val="FFFFFF"/>
                          </a:solidFill>
                          <a:latin typeface="Calibri"/>
                        </a:rPr>
                        <a:t>Combinaciones (A botella, B aparador, C empleado)</a:t>
                      </a:r>
                    </a:p>
                  </a:txBody>
                  <a:tcPr marL="73152" marR="73152" marT="27432" marB="27432" anchor="ctr">
                    <a:solidFill>
                      <a:srgbClr val="0F4C5C"/>
                    </a:solidFill>
                  </a:tcPr>
                </a:tc>
                <a:tc>
                  <a:txBody>
                    <a:bodyPr/>
                    <a:lstStyle/>
                    <a:p>
                      <a:pPr algn="ctr"/>
                      <a:r>
                        <a:rPr sz="1400" b="1">
                          <a:solidFill>
                            <a:srgbClr val="FFFFFF"/>
                          </a:solidFill>
                          <a:latin typeface="Calibri"/>
                        </a:rPr>
                        <a:t>Total (min)</a:t>
                      </a:r>
                    </a:p>
                  </a:txBody>
                  <a:tcPr marL="73152" marR="73152" marT="27432" marB="27432" anchor="ctr">
                    <a:solidFill>
                      <a:srgbClr val="0F4C5C"/>
                    </a:solidFill>
                  </a:tcPr>
                </a:tc>
              </a:tr>
              <a:tr h="335788">
                <a:tc>
                  <a:txBody>
                    <a:bodyPr/>
                    <a:lstStyle/>
                    <a:p>
                      <a:pPr algn="l"/>
                      <a:r>
                        <a:rPr sz="1400" b="0">
                          <a:solidFill>
                            <a:srgbClr val="142B33"/>
                          </a:solidFill>
                          <a:latin typeface="Calibri"/>
                        </a:rPr>
                        <a:t>Día 1</a:t>
                      </a:r>
                    </a:p>
                  </a:txBody>
                  <a:tcPr marL="73152" marR="73152" marT="27432" marB="27432" anchor="ctr">
                    <a:solidFill>
                      <a:srgbClr val="FFFFFF"/>
                    </a:solidFill>
                  </a:tcPr>
                </a:tc>
                <a:tc>
                  <a:txBody>
                    <a:bodyPr/>
                    <a:lstStyle/>
                    <a:p>
                      <a:pPr algn="ctr"/>
                      <a:r>
                        <a:rPr sz="1400" b="0">
                          <a:solidFill>
                            <a:srgbClr val="142B33"/>
                          </a:solidFill>
                          <a:latin typeface="Calibri"/>
                        </a:rPr>
                        <a:t>0</a:t>
                      </a:r>
                    </a:p>
                  </a:txBody>
                  <a:tcPr marL="73152" marR="73152" marT="27432" marB="27432" anchor="ctr">
                    <a:solidFill>
                      <a:srgbClr val="FFFFFF"/>
                    </a:solidFill>
                  </a:tcPr>
                </a:tc>
                <a:tc>
                  <a:txBody>
                    <a:bodyPr/>
                    <a:lstStyle/>
                    <a:p>
                      <a:pPr algn="l"/>
                      <a:r>
                        <a:rPr sz="1400" b="0">
                          <a:solidFill>
                            <a:srgbClr val="142B33"/>
                          </a:solidFill>
                          <a:latin typeface="Calibri"/>
                        </a:rPr>
                        <a:t>000, 110, 220, 201, 011, 121, 102, 212, 022</a:t>
                      </a:r>
                    </a:p>
                  </a:txBody>
                  <a:tcPr marL="73152" marR="73152" marT="27432" marB="27432" anchor="ctr">
                    <a:solidFill>
                      <a:srgbClr val="FFFFFF"/>
                    </a:solidFill>
                  </a:tcPr>
                </a:tc>
                <a:tc>
                  <a:txBody>
                    <a:bodyPr/>
                    <a:lstStyle/>
                    <a:p>
                      <a:pPr algn="ctr"/>
                      <a:r>
                        <a:rPr sz="1400" b="0">
                          <a:solidFill>
                            <a:srgbClr val="142B33"/>
                          </a:solidFill>
                          <a:latin typeface="Calibri"/>
                        </a:rPr>
                        <a:t>44.23</a:t>
                      </a:r>
                    </a:p>
                  </a:txBody>
                  <a:tcPr marL="73152" marR="73152" marT="27432" marB="27432" anchor="ctr">
                    <a:solidFill>
                      <a:srgbClr val="FFFFFF"/>
                    </a:solidFill>
                  </a:tcPr>
                </a:tc>
              </a:tr>
              <a:tr h="335788">
                <a:tc>
                  <a:txBody>
                    <a:bodyPr/>
                    <a:lstStyle/>
                    <a:p>
                      <a:pPr algn="l"/>
                      <a:r>
                        <a:rPr sz="1400" b="0">
                          <a:solidFill>
                            <a:srgbClr val="142B33"/>
                          </a:solidFill>
                          <a:latin typeface="Calibri"/>
                        </a:rPr>
                        <a:t>Día 2</a:t>
                      </a:r>
                    </a:p>
                  </a:txBody>
                  <a:tcPr marL="73152" marR="73152" marT="27432" marB="27432" anchor="ctr">
                    <a:solidFill>
                      <a:srgbClr val="F4F8F9"/>
                    </a:solidFill>
                  </a:tcPr>
                </a:tc>
                <a:tc>
                  <a:txBody>
                    <a:bodyPr/>
                    <a:lstStyle/>
                    <a:p>
                      <a:pPr algn="ctr"/>
                      <a:r>
                        <a:rPr sz="1400" b="0">
                          <a:solidFill>
                            <a:srgbClr val="142B33"/>
                          </a:solidFill>
                          <a:latin typeface="Calibri"/>
                        </a:rPr>
                        <a:t>1</a:t>
                      </a:r>
                    </a:p>
                  </a:txBody>
                  <a:tcPr marL="73152" marR="73152" marT="27432" marB="27432" anchor="ctr">
                    <a:solidFill>
                      <a:srgbClr val="F4F8F9"/>
                    </a:solidFill>
                  </a:tcPr>
                </a:tc>
                <a:tc>
                  <a:txBody>
                    <a:bodyPr/>
                    <a:lstStyle/>
                    <a:p>
                      <a:pPr algn="l"/>
                      <a:r>
                        <a:rPr sz="1400" b="0">
                          <a:solidFill>
                            <a:srgbClr val="142B33"/>
                          </a:solidFill>
                          <a:latin typeface="Calibri"/>
                        </a:rPr>
                        <a:t>100, 210, 020, 001, 111, 221, 202, 012, 122</a:t>
                      </a:r>
                    </a:p>
                  </a:txBody>
                  <a:tcPr marL="73152" marR="73152" marT="27432" marB="27432" anchor="ctr">
                    <a:solidFill>
                      <a:srgbClr val="F4F8F9"/>
                    </a:solidFill>
                  </a:tcPr>
                </a:tc>
                <a:tc>
                  <a:txBody>
                    <a:bodyPr/>
                    <a:lstStyle/>
                    <a:p>
                      <a:pPr algn="ctr"/>
                      <a:r>
                        <a:rPr sz="1400" b="0">
                          <a:solidFill>
                            <a:srgbClr val="142B33"/>
                          </a:solidFill>
                          <a:latin typeface="Calibri"/>
                        </a:rPr>
                        <a:t>43.21</a:t>
                      </a:r>
                    </a:p>
                  </a:txBody>
                  <a:tcPr marL="73152" marR="73152" marT="27432" marB="27432" anchor="ctr">
                    <a:solidFill>
                      <a:srgbClr val="F4F8F9"/>
                    </a:solidFill>
                  </a:tcPr>
                </a:tc>
              </a:tr>
              <a:tr h="335788">
                <a:tc>
                  <a:txBody>
                    <a:bodyPr/>
                    <a:lstStyle/>
                    <a:p>
                      <a:pPr algn="l"/>
                      <a:r>
                        <a:rPr sz="1400" b="0">
                          <a:solidFill>
                            <a:srgbClr val="142B33"/>
                          </a:solidFill>
                          <a:latin typeface="Calibri"/>
                        </a:rPr>
                        <a:t>Día 3</a:t>
                      </a:r>
                    </a:p>
                  </a:txBody>
                  <a:tcPr marL="73152" marR="73152" marT="27432" marB="27432" anchor="ctr">
                    <a:solidFill>
                      <a:srgbClr val="FFFFFF"/>
                    </a:solidFill>
                  </a:tcPr>
                </a:tc>
                <a:tc>
                  <a:txBody>
                    <a:bodyPr/>
                    <a:lstStyle/>
                    <a:p>
                      <a:pPr algn="ctr"/>
                      <a:r>
                        <a:rPr sz="1400" b="0">
                          <a:solidFill>
                            <a:srgbClr val="142B33"/>
                          </a:solidFill>
                          <a:latin typeface="Calibri"/>
                        </a:rPr>
                        <a:t>2</a:t>
                      </a:r>
                    </a:p>
                  </a:txBody>
                  <a:tcPr marL="73152" marR="73152" marT="27432" marB="27432" anchor="ctr">
                    <a:solidFill>
                      <a:srgbClr val="FFFFFF"/>
                    </a:solidFill>
                  </a:tcPr>
                </a:tc>
                <a:tc>
                  <a:txBody>
                    <a:bodyPr/>
                    <a:lstStyle/>
                    <a:p>
                      <a:pPr algn="l"/>
                      <a:r>
                        <a:rPr sz="1400" b="0">
                          <a:solidFill>
                            <a:srgbClr val="142B33"/>
                          </a:solidFill>
                          <a:latin typeface="Calibri"/>
                        </a:rPr>
                        <a:t>200, 010, 120, 101, 211, 021, 002, 112, 222</a:t>
                      </a:r>
                    </a:p>
                  </a:txBody>
                  <a:tcPr marL="73152" marR="73152" marT="27432" marB="27432" anchor="ctr">
                    <a:solidFill>
                      <a:srgbClr val="FFFFFF"/>
                    </a:solidFill>
                  </a:tcPr>
                </a:tc>
                <a:tc>
                  <a:txBody>
                    <a:bodyPr/>
                    <a:lstStyle/>
                    <a:p>
                      <a:pPr algn="ctr"/>
                      <a:r>
                        <a:rPr sz="1400" b="0">
                          <a:solidFill>
                            <a:srgbClr val="142B33"/>
                          </a:solidFill>
                          <a:latin typeface="Calibri"/>
                        </a:rPr>
                        <a:t>43.18</a:t>
                      </a:r>
                    </a:p>
                  </a:txBody>
                  <a:tcPr marL="73152" marR="73152" marT="27432" marB="27432" anchor="ctr">
                    <a:solidFill>
                      <a:srgbClr val="FFFFFF"/>
                    </a:solidFill>
                  </a:tcPr>
                </a:tc>
              </a:tr>
            </a:tbl>
          </a:graphicData>
        </a:graphic>
      </p:graphicFrame>
      <p:sp>
        <p:nvSpPr>
          <p:cNvPr id="4" name="Rounded Rectangle 3"/>
          <p:cNvSpPr/>
          <p:nvPr/>
        </p:nvSpPr>
        <p:spPr>
          <a:xfrm>
            <a:off x="548640" y="2961640"/>
            <a:ext cx="11094415" cy="50673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SS</a:t>
            </a:r>
            <a:r>
              <a:rPr sz="1500" b="0" baseline="-25000">
                <a:solidFill>
                  <a:srgbClr val="142B33"/>
                </a:solidFill>
                <a:latin typeface="Calibri"/>
              </a:rPr>
              <a:t>Bloques</a:t>
            </a:r>
            <a:r>
              <a:rPr sz="1500" b="0">
                <a:solidFill>
                  <a:srgbClr val="142B33"/>
                </a:solidFill>
                <a:latin typeface="Calibri"/>
              </a:rPr>
              <a:t> = Σ T</a:t>
            </a:r>
            <a:r>
              <a:rPr sz="1500" b="0" baseline="-25000">
                <a:solidFill>
                  <a:srgbClr val="142B33"/>
                </a:solidFill>
                <a:latin typeface="Calibri"/>
              </a:rPr>
              <a:t>i</a:t>
            </a:r>
            <a:r>
              <a:rPr sz="1500" b="0">
                <a:solidFill>
                  <a:srgbClr val="142B33"/>
                </a:solidFill>
                <a:latin typeface="Calibri"/>
              </a:rPr>
              <a:t>²/9 − y</a:t>
            </a:r>
            <a:r>
              <a:rPr sz="1500" b="0" baseline="-25000">
                <a:solidFill>
                  <a:srgbClr val="142B33"/>
                </a:solidFill>
                <a:latin typeface="Calibri"/>
              </a:rPr>
              <a:t>…</a:t>
            </a:r>
            <a:r>
              <a:rPr sz="1500" b="0">
                <a:solidFill>
                  <a:srgbClr val="142B33"/>
                </a:solidFill>
                <a:latin typeface="Calibri"/>
              </a:rPr>
              <a:t>²/27 = 0.0794 = SS</a:t>
            </a:r>
            <a:r>
              <a:rPr sz="1500" b="0" baseline="-25000">
                <a:solidFill>
                  <a:srgbClr val="142B33"/>
                </a:solidFill>
                <a:latin typeface="Calibri"/>
              </a:rPr>
              <a:t>AB²C</a:t>
            </a:r>
            <a:r>
              <a:rPr sz="1500" b="0">
                <a:solidFill>
                  <a:srgbClr val="142B33"/>
                </a:solidFill>
                <a:latin typeface="Calibri"/>
              </a:rPr>
              <a:t>. Cada día tiene cada nivel de cada factor </a:t>
            </a:r>
            <a:r>
              <a:rPr sz="1500" b="1">
                <a:solidFill>
                  <a:srgbClr val="142B33"/>
                </a:solidFill>
                <a:latin typeface="Calibri"/>
              </a:rPr>
              <a:t>tres veces</a:t>
            </a:r>
          </a:p>
        </p:txBody>
      </p:sp>
      <p:sp>
        <p:nvSpPr>
          <p:cNvPr id="5" name="TextBox 4"/>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Confusión en tres bloques</a:t>
            </a:r>
          </a:p>
        </p:txBody>
      </p:sp>
      <p:sp>
        <p:nvSpPr>
          <p:cNvPr id="6" name="TextBox 5"/>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39</a:t>
            </a:r>
          </a:p>
        </p:txBody>
      </p:sp>
      <p:sp>
        <p:nvSpPr>
          <p:cNvPr id="7" name="Rounded Rectangle 6"/>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4 · Confusión en tres bloques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4 · ANOVA con los días como bloques</a:t>
            </a:r>
          </a:p>
        </p:txBody>
      </p:sp>
      <p:graphicFrame>
        <p:nvGraphicFramePr>
          <p:cNvPr id="3" name="Table 2"/>
          <p:cNvGraphicFramePr>
            <a:graphicFrameLocks noGrp="1"/>
          </p:cNvGraphicFramePr>
          <p:nvPr/>
        </p:nvGraphicFramePr>
        <p:xfrm>
          <a:off x="548640" y="1417320"/>
          <a:ext cx="6196099" cy="3357880"/>
        </p:xfrm>
        <a:graphic>
          <a:graphicData uri="http://schemas.openxmlformats.org/drawingml/2006/table">
            <a:tbl>
              <a:tblPr firstRow="0" bandRow="0">
                <a:tableStyleId>{5C22544A-7EE6-4342-B048-85BDC9FD1C3A}</a:tableStyleId>
              </a:tblPr>
              <a:tblGrid>
                <a:gridCol w="2154749"/>
                <a:gridCol w="909783"/>
                <a:gridCol w="488409"/>
                <a:gridCol w="814016"/>
                <a:gridCol w="718249"/>
                <a:gridCol w="1110893"/>
              </a:tblGrid>
              <a:tr h="335788">
                <a:tc>
                  <a:txBody>
                    <a:bodyPr/>
                    <a:lstStyle/>
                    <a:p>
                      <a:pPr algn="l"/>
                      <a:r>
                        <a:rPr sz="1400" b="1">
                          <a:solidFill>
                            <a:srgbClr val="FFFFFF"/>
                          </a:solidFill>
                          <a:latin typeface="Calibri"/>
                        </a:rPr>
                        <a:t>SV</a:t>
                      </a:r>
                    </a:p>
                  </a:txBody>
                  <a:tcPr marL="73152" marR="73152" marT="27432" marB="27432" anchor="ctr">
                    <a:solidFill>
                      <a:srgbClr val="0F4C5C"/>
                    </a:solidFill>
                  </a:tcPr>
                </a:tc>
                <a:tc>
                  <a:txBody>
                    <a:bodyPr/>
                    <a:lstStyle/>
                    <a:p>
                      <a:pPr algn="ctr"/>
                      <a:r>
                        <a:rPr sz="1400" b="1">
                          <a:solidFill>
                            <a:srgbClr val="FFFFFF"/>
                          </a:solidFill>
                          <a:latin typeface="Calibri"/>
                        </a:rPr>
                        <a:t>SS</a:t>
                      </a:r>
                    </a:p>
                  </a:txBody>
                  <a:tcPr marL="73152" marR="73152" marT="27432" marB="27432" anchor="ctr">
                    <a:solidFill>
                      <a:srgbClr val="0F4C5C"/>
                    </a:solidFill>
                  </a:tcPr>
                </a:tc>
                <a:tc>
                  <a:txBody>
                    <a:bodyPr/>
                    <a:lstStyle/>
                    <a:p>
                      <a:pPr algn="ctr"/>
                      <a:r>
                        <a:rPr sz="1400" b="1">
                          <a:solidFill>
                            <a:srgbClr val="FFFFFF"/>
                          </a:solidFill>
                          <a:latin typeface="Calibri"/>
                        </a:rPr>
                        <a:t>DF</a:t>
                      </a:r>
                    </a:p>
                  </a:txBody>
                  <a:tcPr marL="73152" marR="73152" marT="27432" marB="27432" anchor="ctr">
                    <a:solidFill>
                      <a:srgbClr val="0F4C5C"/>
                    </a:solidFill>
                  </a:tcPr>
                </a:tc>
                <a:tc>
                  <a:txBody>
                    <a:bodyPr/>
                    <a:lstStyle/>
                    <a:p>
                      <a:pPr algn="ctr"/>
                      <a:r>
                        <a:rPr sz="1400" b="1">
                          <a:solidFill>
                            <a:srgbClr val="FFFFFF"/>
                          </a:solidFill>
                          <a:latin typeface="Calibri"/>
                        </a:rPr>
                        <a:t>MS</a:t>
                      </a:r>
                    </a:p>
                  </a:txBody>
                  <a:tcPr marL="73152" marR="73152" marT="27432" marB="27432" anchor="ctr">
                    <a:solidFill>
                      <a:srgbClr val="0F4C5C"/>
                    </a:solidFill>
                  </a:tcPr>
                </a:tc>
                <a:tc>
                  <a:txBody>
                    <a:bodyPr/>
                    <a:lstStyle/>
                    <a:p>
                      <a:pPr algn="ctr"/>
                      <a:r>
                        <a:rPr sz="1400" b="1">
                          <a:solidFill>
                            <a:srgbClr val="FFFFFF"/>
                          </a:solidFill>
                          <a:latin typeface="Calibri"/>
                        </a:rPr>
                        <a:t>F</a:t>
                      </a:r>
                      <a:r>
                        <a:rPr sz="1400" b="1" baseline="-25000">
                          <a:solidFill>
                            <a:srgbClr val="FFFFFF"/>
                          </a:solidFill>
                          <a:latin typeface="Calibri"/>
                        </a:rPr>
                        <a:t>0</a:t>
                      </a:r>
                    </a:p>
                  </a:txBody>
                  <a:tcPr marL="73152" marR="73152" marT="27432" marB="27432" anchor="ctr">
                    <a:solidFill>
                      <a:srgbClr val="0F4C5C"/>
                    </a:solidFill>
                  </a:tcPr>
                </a:tc>
                <a:tc>
                  <a:txBody>
                    <a:bodyPr/>
                    <a:lstStyle/>
                    <a:p>
                      <a:pPr algn="ctr"/>
                      <a:r>
                        <a:rPr sz="1400" b="1">
                          <a:solidFill>
                            <a:srgbClr val="FFFFFF"/>
                          </a:solidFill>
                          <a:latin typeface="Calibri"/>
                        </a:rPr>
                        <a:t>P-Value</a:t>
                      </a:r>
                    </a:p>
                  </a:txBody>
                  <a:tcPr marL="73152" marR="73152" marT="27432" marB="27432" anchor="ctr">
                    <a:solidFill>
                      <a:srgbClr val="0F4C5C"/>
                    </a:solidFill>
                  </a:tcPr>
                </a:tc>
              </a:tr>
              <a:tr h="335788">
                <a:tc>
                  <a:txBody>
                    <a:bodyPr/>
                    <a:lstStyle/>
                    <a:p>
                      <a:pPr algn="l"/>
                      <a:r>
                        <a:rPr sz="1400" b="0">
                          <a:solidFill>
                            <a:srgbClr val="142B33"/>
                          </a:solidFill>
                          <a:latin typeface="Calibri"/>
                        </a:rPr>
                        <a:t>Bloques (AB</a:t>
                      </a:r>
                      <a:r>
                        <a:rPr sz="1400" b="0" baseline="30000">
                          <a:solidFill>
                            <a:srgbClr val="142B33"/>
                          </a:solidFill>
                          <a:latin typeface="Calibri"/>
                        </a:rPr>
                        <a:t>2</a:t>
                      </a:r>
                      <a:r>
                        <a:rPr sz="1400" b="0">
                          <a:solidFill>
                            <a:srgbClr val="142B33"/>
                          </a:solidFill>
                          <a:latin typeface="Calibri"/>
                        </a:rPr>
                        <a:t>C)</a:t>
                      </a:r>
                    </a:p>
                  </a:txBody>
                  <a:tcPr marL="73152" marR="73152" marT="27432" marB="27432" anchor="ctr">
                    <a:solidFill>
                      <a:srgbClr val="FFFFFF"/>
                    </a:solidFill>
                  </a:tcPr>
                </a:tc>
                <a:tc>
                  <a:txBody>
                    <a:bodyPr/>
                    <a:lstStyle/>
                    <a:p>
                      <a:pPr algn="ctr"/>
                      <a:r>
                        <a:rPr sz="1400" b="0">
                          <a:solidFill>
                            <a:srgbClr val="142B33"/>
                          </a:solidFill>
                          <a:latin typeface="Calibri"/>
                        </a:rPr>
                        <a:t>0.0794</a:t>
                      </a:r>
                    </a:p>
                  </a:txBody>
                  <a:tcPr marL="73152" marR="73152" marT="27432" marB="27432" anchor="ctr">
                    <a:solidFill>
                      <a:srgbClr val="FFFFFF"/>
                    </a:solidFill>
                  </a:tcPr>
                </a:tc>
                <a:tc>
                  <a:txBody>
                    <a:bodyPr/>
                    <a:lstStyle/>
                    <a:p>
                      <a:pPr algn="ctr"/>
                      <a:r>
                        <a:rPr sz="1400" b="0">
                          <a:solidFill>
                            <a:srgbClr val="142B33"/>
                          </a:solidFill>
                          <a:latin typeface="Calibri"/>
                        </a:rPr>
                        <a:t>2</a:t>
                      </a:r>
                    </a:p>
                  </a:txBody>
                  <a:tcPr marL="73152" marR="73152" marT="27432" marB="27432" anchor="ctr">
                    <a:solidFill>
                      <a:srgbClr val="FFFFFF"/>
                    </a:solidFill>
                  </a:tcPr>
                </a:tc>
                <a:tc>
                  <a:txBody>
                    <a:bodyPr/>
                    <a:lstStyle/>
                    <a:p>
                      <a:pPr algn="ctr"/>
                      <a:r>
                        <a:rPr sz="1400" b="0">
                          <a:solidFill>
                            <a:srgbClr val="142B33"/>
                          </a:solidFill>
                          <a:latin typeface="Calibri"/>
                        </a:rPr>
                        <a:t>0.0397</a:t>
                      </a: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r>
              <a:tr h="335788">
                <a:tc>
                  <a:txBody>
                    <a:bodyPr/>
                    <a:lstStyle/>
                    <a:p>
                      <a:pPr algn="l"/>
                      <a:r>
                        <a:rPr sz="1400" b="0">
                          <a:solidFill>
                            <a:srgbClr val="142B33"/>
                          </a:solidFill>
                          <a:latin typeface="Calibri"/>
                        </a:rPr>
                        <a:t>A</a:t>
                      </a:r>
                    </a:p>
                  </a:txBody>
                  <a:tcPr marL="73152" marR="73152" marT="27432" marB="27432" anchor="ctr">
                    <a:solidFill>
                      <a:srgbClr val="F4F8F9"/>
                    </a:solidFill>
                  </a:tcPr>
                </a:tc>
                <a:tc>
                  <a:txBody>
                    <a:bodyPr/>
                    <a:lstStyle/>
                    <a:p>
                      <a:pPr algn="ctr"/>
                      <a:r>
                        <a:rPr sz="1400" b="0">
                          <a:solidFill>
                            <a:srgbClr val="142B33"/>
                          </a:solidFill>
                          <a:latin typeface="Calibri"/>
                        </a:rPr>
                        <a:t>0.1102</a:t>
                      </a:r>
                    </a:p>
                  </a:txBody>
                  <a:tcPr marL="73152" marR="73152" marT="27432" marB="27432" anchor="ctr">
                    <a:solidFill>
                      <a:srgbClr val="F4F8F9"/>
                    </a:solidFill>
                  </a:tcPr>
                </a:tc>
                <a:tc>
                  <a:txBody>
                    <a:bodyPr/>
                    <a:lstStyle/>
                    <a:p>
                      <a:pPr algn="ctr"/>
                      <a:r>
                        <a:rPr sz="1400" b="0">
                          <a:solidFill>
                            <a:srgbClr val="142B33"/>
                          </a:solidFill>
                          <a:latin typeface="Calibri"/>
                        </a:rPr>
                        <a:t>2</a:t>
                      </a:r>
                    </a:p>
                  </a:txBody>
                  <a:tcPr marL="73152" marR="73152" marT="27432" marB="27432" anchor="ctr">
                    <a:solidFill>
                      <a:srgbClr val="F4F8F9"/>
                    </a:solidFill>
                  </a:tcPr>
                </a:tc>
                <a:tc>
                  <a:txBody>
                    <a:bodyPr/>
                    <a:lstStyle/>
                    <a:p>
                      <a:pPr algn="ctr"/>
                      <a:r>
                        <a:rPr sz="1400" b="0">
                          <a:solidFill>
                            <a:srgbClr val="142B33"/>
                          </a:solidFill>
                          <a:latin typeface="Calibri"/>
                        </a:rPr>
                        <a:t>0.0551</a:t>
                      </a:r>
                    </a:p>
                  </a:txBody>
                  <a:tcPr marL="73152" marR="73152" marT="27432" marB="27432" anchor="ctr">
                    <a:solidFill>
                      <a:srgbClr val="F4F8F9"/>
                    </a:solidFill>
                  </a:tcPr>
                </a:tc>
                <a:tc>
                  <a:txBody>
                    <a:bodyPr/>
                    <a:lstStyle/>
                    <a:p>
                      <a:pPr algn="ctr"/>
                      <a:r>
                        <a:rPr sz="1400" b="0">
                          <a:solidFill>
                            <a:srgbClr val="142B33"/>
                          </a:solidFill>
                          <a:latin typeface="Calibri"/>
                        </a:rPr>
                        <a:t>0.77</a:t>
                      </a:r>
                    </a:p>
                  </a:txBody>
                  <a:tcPr marL="73152" marR="73152" marT="27432" marB="27432" anchor="ctr">
                    <a:solidFill>
                      <a:srgbClr val="F4F8F9"/>
                    </a:solidFill>
                  </a:tcPr>
                </a:tc>
                <a:tc>
                  <a:txBody>
                    <a:bodyPr/>
                    <a:lstStyle/>
                    <a:p>
                      <a:pPr algn="ctr"/>
                      <a:r>
                        <a:rPr sz="1400" b="0">
                          <a:solidFill>
                            <a:srgbClr val="142B33"/>
                          </a:solidFill>
                          <a:latin typeface="Calibri"/>
                        </a:rPr>
                        <a:t>0.5052</a:t>
                      </a:r>
                    </a:p>
                  </a:txBody>
                  <a:tcPr marL="73152" marR="73152" marT="27432" marB="27432" anchor="ctr">
                    <a:solidFill>
                      <a:srgbClr val="F4F8F9"/>
                    </a:solidFill>
                  </a:tcPr>
                </a:tc>
              </a:tr>
              <a:tr h="335788">
                <a:tc>
                  <a:txBody>
                    <a:bodyPr/>
                    <a:lstStyle/>
                    <a:p>
                      <a:pPr algn="l"/>
                      <a:r>
                        <a:rPr sz="1400" b="0">
                          <a:solidFill>
                            <a:srgbClr val="142B33"/>
                          </a:solidFill>
                          <a:latin typeface="Calibri"/>
                        </a:rPr>
                        <a:t>B</a:t>
                      </a:r>
                    </a:p>
                  </a:txBody>
                  <a:tcPr marL="73152" marR="73152" marT="27432" marB="27432" anchor="ctr">
                    <a:solidFill>
                      <a:srgbClr val="FDE8D7"/>
                    </a:solidFill>
                  </a:tcPr>
                </a:tc>
                <a:tc>
                  <a:txBody>
                    <a:bodyPr/>
                    <a:lstStyle/>
                    <a:p>
                      <a:pPr algn="ctr"/>
                      <a:r>
                        <a:rPr sz="1400" b="0">
                          <a:solidFill>
                            <a:srgbClr val="142B33"/>
                          </a:solidFill>
                          <a:latin typeface="Calibri"/>
                        </a:rPr>
                        <a:t>8.4230</a:t>
                      </a:r>
                    </a:p>
                  </a:txBody>
                  <a:tcPr marL="73152" marR="73152" marT="27432" marB="27432" anchor="ctr">
                    <a:solidFill>
                      <a:srgbClr val="FDE8D7"/>
                    </a:solidFill>
                  </a:tcPr>
                </a:tc>
                <a:tc>
                  <a:txBody>
                    <a:bodyPr/>
                    <a:lstStyle/>
                    <a:p>
                      <a:pPr algn="ctr"/>
                      <a:r>
                        <a:rPr sz="1400" b="0">
                          <a:solidFill>
                            <a:srgbClr val="142B33"/>
                          </a:solidFill>
                          <a:latin typeface="Calibri"/>
                        </a:rPr>
                        <a:t>2</a:t>
                      </a:r>
                    </a:p>
                  </a:txBody>
                  <a:tcPr marL="73152" marR="73152" marT="27432" marB="27432" anchor="ctr">
                    <a:solidFill>
                      <a:srgbClr val="FDE8D7"/>
                    </a:solidFill>
                  </a:tcPr>
                </a:tc>
                <a:tc>
                  <a:txBody>
                    <a:bodyPr/>
                    <a:lstStyle/>
                    <a:p>
                      <a:pPr algn="ctr"/>
                      <a:r>
                        <a:rPr sz="1400" b="0">
                          <a:solidFill>
                            <a:srgbClr val="142B33"/>
                          </a:solidFill>
                          <a:latin typeface="Calibri"/>
                        </a:rPr>
                        <a:t>4.2115</a:t>
                      </a:r>
                    </a:p>
                  </a:txBody>
                  <a:tcPr marL="73152" marR="73152" marT="27432" marB="27432" anchor="ctr">
                    <a:solidFill>
                      <a:srgbClr val="FDE8D7"/>
                    </a:solidFill>
                  </a:tcPr>
                </a:tc>
                <a:tc>
                  <a:txBody>
                    <a:bodyPr/>
                    <a:lstStyle/>
                    <a:p>
                      <a:pPr algn="ctr"/>
                      <a:r>
                        <a:rPr sz="1400" b="0">
                          <a:solidFill>
                            <a:srgbClr val="142B33"/>
                          </a:solidFill>
                          <a:latin typeface="Calibri"/>
                        </a:rPr>
                        <a:t>58.63</a:t>
                      </a:r>
                    </a:p>
                  </a:txBody>
                  <a:tcPr marL="73152" marR="73152" marT="27432" marB="27432" anchor="ctr">
                    <a:solidFill>
                      <a:srgbClr val="FDE8D7"/>
                    </a:solidFill>
                  </a:tcPr>
                </a:tc>
                <a:tc>
                  <a:txBody>
                    <a:bodyPr/>
                    <a:lstStyle/>
                    <a:p>
                      <a:pPr algn="ctr"/>
                      <a:r>
                        <a:rPr sz="1400" b="0">
                          <a:solidFill>
                            <a:srgbClr val="142B33"/>
                          </a:solidFill>
                          <a:latin typeface="Calibri"/>
                        </a:rPr>
                        <a:t>0.0001</a:t>
                      </a:r>
                    </a:p>
                  </a:txBody>
                  <a:tcPr marL="73152" marR="73152" marT="27432" marB="27432" anchor="ctr">
                    <a:solidFill>
                      <a:srgbClr val="FDE8D7"/>
                    </a:solidFill>
                  </a:tcPr>
                </a:tc>
              </a:tr>
              <a:tr h="335788">
                <a:tc>
                  <a:txBody>
                    <a:bodyPr/>
                    <a:lstStyle/>
                    <a:p>
                      <a:pPr algn="l"/>
                      <a:r>
                        <a:rPr sz="1400" b="0">
                          <a:solidFill>
                            <a:srgbClr val="142B33"/>
                          </a:solidFill>
                          <a:latin typeface="Calibri"/>
                        </a:rPr>
                        <a:t>C</a:t>
                      </a:r>
                    </a:p>
                  </a:txBody>
                  <a:tcPr marL="73152" marR="73152" marT="27432" marB="27432" anchor="ctr">
                    <a:solidFill>
                      <a:srgbClr val="FDE8D7"/>
                    </a:solidFill>
                  </a:tcPr>
                </a:tc>
                <a:tc>
                  <a:txBody>
                    <a:bodyPr/>
                    <a:lstStyle/>
                    <a:p>
                      <a:pPr algn="ctr"/>
                      <a:r>
                        <a:rPr sz="1400" b="0">
                          <a:solidFill>
                            <a:srgbClr val="142B33"/>
                          </a:solidFill>
                          <a:latin typeface="Calibri"/>
                        </a:rPr>
                        <a:t>3.8115</a:t>
                      </a:r>
                    </a:p>
                  </a:txBody>
                  <a:tcPr marL="73152" marR="73152" marT="27432" marB="27432" anchor="ctr">
                    <a:solidFill>
                      <a:srgbClr val="FDE8D7"/>
                    </a:solidFill>
                  </a:tcPr>
                </a:tc>
                <a:tc>
                  <a:txBody>
                    <a:bodyPr/>
                    <a:lstStyle/>
                    <a:p>
                      <a:pPr algn="ctr"/>
                      <a:r>
                        <a:rPr sz="1400" b="0">
                          <a:solidFill>
                            <a:srgbClr val="142B33"/>
                          </a:solidFill>
                          <a:latin typeface="Calibri"/>
                        </a:rPr>
                        <a:t>2</a:t>
                      </a:r>
                    </a:p>
                  </a:txBody>
                  <a:tcPr marL="73152" marR="73152" marT="27432" marB="27432" anchor="ctr">
                    <a:solidFill>
                      <a:srgbClr val="FDE8D7"/>
                    </a:solidFill>
                  </a:tcPr>
                </a:tc>
                <a:tc>
                  <a:txBody>
                    <a:bodyPr/>
                    <a:lstStyle/>
                    <a:p>
                      <a:pPr algn="ctr"/>
                      <a:r>
                        <a:rPr sz="1400" b="0">
                          <a:solidFill>
                            <a:srgbClr val="142B33"/>
                          </a:solidFill>
                          <a:latin typeface="Calibri"/>
                        </a:rPr>
                        <a:t>1.9057</a:t>
                      </a:r>
                    </a:p>
                  </a:txBody>
                  <a:tcPr marL="73152" marR="73152" marT="27432" marB="27432" anchor="ctr">
                    <a:solidFill>
                      <a:srgbClr val="FDE8D7"/>
                    </a:solidFill>
                  </a:tcPr>
                </a:tc>
                <a:tc>
                  <a:txBody>
                    <a:bodyPr/>
                    <a:lstStyle/>
                    <a:p>
                      <a:pPr algn="ctr"/>
                      <a:r>
                        <a:rPr sz="1400" b="0">
                          <a:solidFill>
                            <a:srgbClr val="142B33"/>
                          </a:solidFill>
                          <a:latin typeface="Calibri"/>
                        </a:rPr>
                        <a:t>26.53</a:t>
                      </a:r>
                    </a:p>
                  </a:txBody>
                  <a:tcPr marL="73152" marR="73152" marT="27432" marB="27432" anchor="ctr">
                    <a:solidFill>
                      <a:srgbClr val="FDE8D7"/>
                    </a:solidFill>
                  </a:tcPr>
                </a:tc>
                <a:tc>
                  <a:txBody>
                    <a:bodyPr/>
                    <a:lstStyle/>
                    <a:p>
                      <a:pPr algn="ctr"/>
                      <a:r>
                        <a:rPr sz="1400" b="0">
                          <a:solidFill>
                            <a:srgbClr val="142B33"/>
                          </a:solidFill>
                          <a:latin typeface="Calibri"/>
                        </a:rPr>
                        <a:t>0.0010</a:t>
                      </a:r>
                    </a:p>
                  </a:txBody>
                  <a:tcPr marL="73152" marR="73152" marT="27432" marB="27432" anchor="ctr">
                    <a:solidFill>
                      <a:srgbClr val="FDE8D7"/>
                    </a:solidFill>
                  </a:tcPr>
                </a:tc>
              </a:tr>
              <a:tr h="335788">
                <a:tc>
                  <a:txBody>
                    <a:bodyPr/>
                    <a:lstStyle/>
                    <a:p>
                      <a:pPr algn="l"/>
                      <a:r>
                        <a:rPr sz="1400" b="0">
                          <a:solidFill>
                            <a:srgbClr val="142B33"/>
                          </a:solidFill>
                          <a:latin typeface="Calibri"/>
                        </a:rPr>
                        <a:t>AB</a:t>
                      </a:r>
                    </a:p>
                  </a:txBody>
                  <a:tcPr marL="73152" marR="73152" marT="27432" marB="27432" anchor="ctr">
                    <a:solidFill>
                      <a:srgbClr val="FFFFFF"/>
                    </a:solidFill>
                  </a:tcPr>
                </a:tc>
                <a:tc>
                  <a:txBody>
                    <a:bodyPr/>
                    <a:lstStyle/>
                    <a:p>
                      <a:pPr algn="ctr"/>
                      <a:r>
                        <a:rPr sz="1400" b="0">
                          <a:solidFill>
                            <a:srgbClr val="142B33"/>
                          </a:solidFill>
                          <a:latin typeface="Calibri"/>
                        </a:rPr>
                        <a:t>0.3000</a:t>
                      </a:r>
                    </a:p>
                  </a:txBody>
                  <a:tcPr marL="73152" marR="73152" marT="27432" marB="27432" anchor="ctr">
                    <a:solidFill>
                      <a:srgbClr val="FFFFFF"/>
                    </a:solidFill>
                  </a:tcPr>
                </a:tc>
                <a:tc>
                  <a:txBody>
                    <a:bodyPr/>
                    <a:lstStyle/>
                    <a:p>
                      <a:pPr algn="ctr"/>
                      <a:r>
                        <a:rPr sz="1400" b="0">
                          <a:solidFill>
                            <a:srgbClr val="142B33"/>
                          </a:solidFill>
                          <a:latin typeface="Calibri"/>
                        </a:rPr>
                        <a:t>4</a:t>
                      </a:r>
                    </a:p>
                  </a:txBody>
                  <a:tcPr marL="73152" marR="73152" marT="27432" marB="27432" anchor="ctr">
                    <a:solidFill>
                      <a:srgbClr val="FFFFFF"/>
                    </a:solidFill>
                  </a:tcPr>
                </a:tc>
                <a:tc>
                  <a:txBody>
                    <a:bodyPr/>
                    <a:lstStyle/>
                    <a:p>
                      <a:pPr algn="ctr"/>
                      <a:r>
                        <a:rPr sz="1400" b="0">
                          <a:solidFill>
                            <a:srgbClr val="142B33"/>
                          </a:solidFill>
                          <a:latin typeface="Calibri"/>
                        </a:rPr>
                        <a:t>0.0750</a:t>
                      </a:r>
                    </a:p>
                  </a:txBody>
                  <a:tcPr marL="73152" marR="73152" marT="27432" marB="27432" anchor="ctr">
                    <a:solidFill>
                      <a:srgbClr val="FFFFFF"/>
                    </a:solidFill>
                  </a:tcPr>
                </a:tc>
                <a:tc>
                  <a:txBody>
                    <a:bodyPr/>
                    <a:lstStyle/>
                    <a:p>
                      <a:pPr algn="ctr"/>
                      <a:r>
                        <a:rPr sz="1400" b="0">
                          <a:solidFill>
                            <a:srgbClr val="142B33"/>
                          </a:solidFill>
                          <a:latin typeface="Calibri"/>
                        </a:rPr>
                        <a:t>1.04</a:t>
                      </a:r>
                    </a:p>
                  </a:txBody>
                  <a:tcPr marL="73152" marR="73152" marT="27432" marB="27432" anchor="ctr">
                    <a:solidFill>
                      <a:srgbClr val="FFFFFF"/>
                    </a:solidFill>
                  </a:tcPr>
                </a:tc>
                <a:tc>
                  <a:txBody>
                    <a:bodyPr/>
                    <a:lstStyle/>
                    <a:p>
                      <a:pPr algn="ctr"/>
                      <a:r>
                        <a:rPr sz="1400" b="0">
                          <a:solidFill>
                            <a:srgbClr val="142B33"/>
                          </a:solidFill>
                          <a:latin typeface="Calibri"/>
                        </a:rPr>
                        <a:t>0.4573</a:t>
                      </a:r>
                    </a:p>
                  </a:txBody>
                  <a:tcPr marL="73152" marR="73152" marT="27432" marB="27432" anchor="ctr">
                    <a:solidFill>
                      <a:srgbClr val="FFFFFF"/>
                    </a:solidFill>
                  </a:tcPr>
                </a:tc>
              </a:tr>
              <a:tr h="335788">
                <a:tc>
                  <a:txBody>
                    <a:bodyPr/>
                    <a:lstStyle/>
                    <a:p>
                      <a:pPr algn="l"/>
                      <a:r>
                        <a:rPr sz="1400" b="0">
                          <a:solidFill>
                            <a:srgbClr val="142B33"/>
                          </a:solidFill>
                          <a:latin typeface="Calibri"/>
                        </a:rPr>
                        <a:t>AC</a:t>
                      </a:r>
                    </a:p>
                  </a:txBody>
                  <a:tcPr marL="73152" marR="73152" marT="27432" marB="27432" anchor="ctr">
                    <a:solidFill>
                      <a:srgbClr val="F4F8F9"/>
                    </a:solidFill>
                  </a:tcPr>
                </a:tc>
                <a:tc>
                  <a:txBody>
                    <a:bodyPr/>
                    <a:lstStyle/>
                    <a:p>
                      <a:pPr algn="ctr"/>
                      <a:r>
                        <a:rPr sz="1400" b="0">
                          <a:solidFill>
                            <a:srgbClr val="142B33"/>
                          </a:solidFill>
                          <a:latin typeface="Calibri"/>
                        </a:rPr>
                        <a:t>0.1116</a:t>
                      </a:r>
                    </a:p>
                  </a:txBody>
                  <a:tcPr marL="73152" marR="73152" marT="27432" marB="27432" anchor="ctr">
                    <a:solidFill>
                      <a:srgbClr val="F4F8F9"/>
                    </a:solidFill>
                  </a:tcPr>
                </a:tc>
                <a:tc>
                  <a:txBody>
                    <a:bodyPr/>
                    <a:lstStyle/>
                    <a:p>
                      <a:pPr algn="ctr"/>
                      <a:r>
                        <a:rPr sz="1400" b="0">
                          <a:solidFill>
                            <a:srgbClr val="142B33"/>
                          </a:solidFill>
                          <a:latin typeface="Calibri"/>
                        </a:rPr>
                        <a:t>4</a:t>
                      </a:r>
                    </a:p>
                  </a:txBody>
                  <a:tcPr marL="73152" marR="73152" marT="27432" marB="27432" anchor="ctr">
                    <a:solidFill>
                      <a:srgbClr val="F4F8F9"/>
                    </a:solidFill>
                  </a:tcPr>
                </a:tc>
                <a:tc>
                  <a:txBody>
                    <a:bodyPr/>
                    <a:lstStyle/>
                    <a:p>
                      <a:pPr algn="ctr"/>
                      <a:r>
                        <a:rPr sz="1400" b="0">
                          <a:solidFill>
                            <a:srgbClr val="142B33"/>
                          </a:solidFill>
                          <a:latin typeface="Calibri"/>
                        </a:rPr>
                        <a:t>0.0279</a:t>
                      </a:r>
                    </a:p>
                  </a:txBody>
                  <a:tcPr marL="73152" marR="73152" marT="27432" marB="27432" anchor="ctr">
                    <a:solidFill>
                      <a:srgbClr val="F4F8F9"/>
                    </a:solidFill>
                  </a:tcPr>
                </a:tc>
                <a:tc>
                  <a:txBody>
                    <a:bodyPr/>
                    <a:lstStyle/>
                    <a:p>
                      <a:pPr algn="ctr"/>
                      <a:r>
                        <a:rPr sz="1400" b="0">
                          <a:solidFill>
                            <a:srgbClr val="142B33"/>
                          </a:solidFill>
                          <a:latin typeface="Calibri"/>
                        </a:rPr>
                        <a:t>0.39</a:t>
                      </a:r>
                    </a:p>
                  </a:txBody>
                  <a:tcPr marL="73152" marR="73152" marT="27432" marB="27432" anchor="ctr">
                    <a:solidFill>
                      <a:srgbClr val="F4F8F9"/>
                    </a:solidFill>
                  </a:tcPr>
                </a:tc>
                <a:tc>
                  <a:txBody>
                    <a:bodyPr/>
                    <a:lstStyle/>
                    <a:p>
                      <a:pPr algn="ctr"/>
                      <a:r>
                        <a:rPr sz="1400" b="0">
                          <a:solidFill>
                            <a:srgbClr val="142B33"/>
                          </a:solidFill>
                          <a:latin typeface="Calibri"/>
                        </a:rPr>
                        <a:t>0.8105</a:t>
                      </a:r>
                    </a:p>
                  </a:txBody>
                  <a:tcPr marL="73152" marR="73152" marT="27432" marB="27432" anchor="ctr">
                    <a:solidFill>
                      <a:srgbClr val="F4F8F9"/>
                    </a:solidFill>
                  </a:tcPr>
                </a:tc>
              </a:tr>
              <a:tr h="335788">
                <a:tc>
                  <a:txBody>
                    <a:bodyPr/>
                    <a:lstStyle/>
                    <a:p>
                      <a:pPr algn="l"/>
                      <a:r>
                        <a:rPr sz="1400" b="0">
                          <a:solidFill>
                            <a:srgbClr val="142B33"/>
                          </a:solidFill>
                          <a:latin typeface="Calibri"/>
                        </a:rPr>
                        <a:t>BC</a:t>
                      </a:r>
                    </a:p>
                  </a:txBody>
                  <a:tcPr marL="73152" marR="73152" marT="27432" marB="27432" anchor="ctr">
                    <a:solidFill>
                      <a:srgbClr val="FFFFFF"/>
                    </a:solidFill>
                  </a:tcPr>
                </a:tc>
                <a:tc>
                  <a:txBody>
                    <a:bodyPr/>
                    <a:lstStyle/>
                    <a:p>
                      <a:pPr algn="ctr"/>
                      <a:r>
                        <a:rPr sz="1400" b="0">
                          <a:solidFill>
                            <a:srgbClr val="142B33"/>
                          </a:solidFill>
                          <a:latin typeface="Calibri"/>
                        </a:rPr>
                        <a:t>0.8121</a:t>
                      </a:r>
                    </a:p>
                  </a:txBody>
                  <a:tcPr marL="73152" marR="73152" marT="27432" marB="27432" anchor="ctr">
                    <a:solidFill>
                      <a:srgbClr val="FFFFFF"/>
                    </a:solidFill>
                  </a:tcPr>
                </a:tc>
                <a:tc>
                  <a:txBody>
                    <a:bodyPr/>
                    <a:lstStyle/>
                    <a:p>
                      <a:pPr algn="ctr"/>
                      <a:r>
                        <a:rPr sz="1400" b="0">
                          <a:solidFill>
                            <a:srgbClr val="142B33"/>
                          </a:solidFill>
                          <a:latin typeface="Calibri"/>
                        </a:rPr>
                        <a:t>4</a:t>
                      </a:r>
                    </a:p>
                  </a:txBody>
                  <a:tcPr marL="73152" marR="73152" marT="27432" marB="27432" anchor="ctr">
                    <a:solidFill>
                      <a:srgbClr val="FFFFFF"/>
                    </a:solidFill>
                  </a:tcPr>
                </a:tc>
                <a:tc>
                  <a:txBody>
                    <a:bodyPr/>
                    <a:lstStyle/>
                    <a:p>
                      <a:pPr algn="ctr"/>
                      <a:r>
                        <a:rPr sz="1400" b="0">
                          <a:solidFill>
                            <a:srgbClr val="142B33"/>
                          </a:solidFill>
                          <a:latin typeface="Calibri"/>
                        </a:rPr>
                        <a:t>0.2030</a:t>
                      </a:r>
                    </a:p>
                  </a:txBody>
                  <a:tcPr marL="73152" marR="73152" marT="27432" marB="27432" anchor="ctr">
                    <a:solidFill>
                      <a:srgbClr val="FFFFFF"/>
                    </a:solidFill>
                  </a:tcPr>
                </a:tc>
                <a:tc>
                  <a:txBody>
                    <a:bodyPr/>
                    <a:lstStyle/>
                    <a:p>
                      <a:pPr algn="ctr"/>
                      <a:r>
                        <a:rPr sz="1400" b="0">
                          <a:solidFill>
                            <a:srgbClr val="142B33"/>
                          </a:solidFill>
                          <a:latin typeface="Calibri"/>
                        </a:rPr>
                        <a:t>2.83</a:t>
                      </a:r>
                    </a:p>
                  </a:txBody>
                  <a:tcPr marL="73152" marR="73152" marT="27432" marB="27432" anchor="ctr">
                    <a:solidFill>
                      <a:srgbClr val="FFFFFF"/>
                    </a:solidFill>
                  </a:tcPr>
                </a:tc>
                <a:tc>
                  <a:txBody>
                    <a:bodyPr/>
                    <a:lstStyle/>
                    <a:p>
                      <a:pPr algn="ctr"/>
                      <a:r>
                        <a:rPr sz="1400" b="0">
                          <a:solidFill>
                            <a:srgbClr val="142B33"/>
                          </a:solidFill>
                          <a:latin typeface="Calibri"/>
                        </a:rPr>
                        <a:t>0.1234</a:t>
                      </a:r>
                    </a:p>
                  </a:txBody>
                  <a:tcPr marL="73152" marR="73152" marT="27432" marB="27432" anchor="ctr">
                    <a:solidFill>
                      <a:srgbClr val="FFFFFF"/>
                    </a:solidFill>
                  </a:tcPr>
                </a:tc>
              </a:tr>
              <a:tr h="335788">
                <a:tc>
                  <a:txBody>
                    <a:bodyPr/>
                    <a:lstStyle/>
                    <a:p>
                      <a:pPr algn="l"/>
                      <a:r>
                        <a:rPr sz="1400" b="0">
                          <a:solidFill>
                            <a:srgbClr val="142B33"/>
                          </a:solidFill>
                          <a:latin typeface="Calibri"/>
                        </a:rPr>
                        <a:t>Error (resto de ABC)</a:t>
                      </a:r>
                    </a:p>
                  </a:txBody>
                  <a:tcPr marL="73152" marR="73152" marT="27432" marB="27432" anchor="ctr">
                    <a:solidFill>
                      <a:srgbClr val="F4F8F9"/>
                    </a:solidFill>
                  </a:tcPr>
                </a:tc>
                <a:tc>
                  <a:txBody>
                    <a:bodyPr/>
                    <a:lstStyle/>
                    <a:p>
                      <a:pPr algn="ctr"/>
                      <a:r>
                        <a:rPr sz="1400" b="0">
                          <a:solidFill>
                            <a:srgbClr val="142B33"/>
                          </a:solidFill>
                          <a:latin typeface="Calibri"/>
                        </a:rPr>
                        <a:t>0.4310</a:t>
                      </a:r>
                    </a:p>
                  </a:txBody>
                  <a:tcPr marL="73152" marR="73152" marT="27432" marB="27432" anchor="ctr">
                    <a:solidFill>
                      <a:srgbClr val="F4F8F9"/>
                    </a:solidFill>
                  </a:tcPr>
                </a:tc>
                <a:tc>
                  <a:txBody>
                    <a:bodyPr/>
                    <a:lstStyle/>
                    <a:p>
                      <a:pPr algn="ctr"/>
                      <a:r>
                        <a:rPr sz="1400" b="0">
                          <a:solidFill>
                            <a:srgbClr val="142B33"/>
                          </a:solidFill>
                          <a:latin typeface="Calibri"/>
                        </a:rPr>
                        <a:t>6</a:t>
                      </a:r>
                    </a:p>
                  </a:txBody>
                  <a:tcPr marL="73152" marR="73152" marT="27432" marB="27432" anchor="ctr">
                    <a:solidFill>
                      <a:srgbClr val="F4F8F9"/>
                    </a:solidFill>
                  </a:tcPr>
                </a:tc>
                <a:tc>
                  <a:txBody>
                    <a:bodyPr/>
                    <a:lstStyle/>
                    <a:p>
                      <a:pPr algn="ctr"/>
                      <a:r>
                        <a:rPr sz="1400" b="0">
                          <a:solidFill>
                            <a:srgbClr val="142B33"/>
                          </a:solidFill>
                          <a:latin typeface="Calibri"/>
                        </a:rPr>
                        <a:t>0.0718</a:t>
                      </a:r>
                    </a:p>
                  </a:txBody>
                  <a:tcPr marL="73152" marR="73152" marT="27432" marB="27432" anchor="ctr">
                    <a:solidFill>
                      <a:srgbClr val="F4F8F9"/>
                    </a:solidFill>
                  </a:tcPr>
                </a:tc>
                <a:tc>
                  <a:txBody>
                    <a:bodyPr/>
                    <a:lstStyle/>
                    <a:p>
                      <a:pPr algn="ctr"/>
                    </a:p>
                  </a:txBody>
                  <a:tcPr marL="73152" marR="73152" marT="27432" marB="27432" anchor="ctr">
                    <a:solidFill>
                      <a:srgbClr val="F4F8F9"/>
                    </a:solidFill>
                  </a:tcPr>
                </a:tc>
                <a:tc>
                  <a:txBody>
                    <a:bodyPr/>
                    <a:lstStyle/>
                    <a:p>
                      <a:pPr algn="ctr"/>
                    </a:p>
                  </a:txBody>
                  <a:tcPr marL="73152" marR="73152" marT="27432" marB="27432" anchor="ctr">
                    <a:solidFill>
                      <a:srgbClr val="F4F8F9"/>
                    </a:solidFill>
                  </a:tcPr>
                </a:tc>
              </a:tr>
              <a:tr h="335788">
                <a:tc>
                  <a:txBody>
                    <a:bodyPr/>
                    <a:lstStyle/>
                    <a:p>
                      <a:pPr algn="l"/>
                      <a:r>
                        <a:rPr sz="1400" b="0">
                          <a:solidFill>
                            <a:srgbClr val="142B33"/>
                          </a:solidFill>
                          <a:latin typeface="Calibri"/>
                        </a:rPr>
                        <a:t>Total</a:t>
                      </a:r>
                    </a:p>
                  </a:txBody>
                  <a:tcPr marL="73152" marR="73152" marT="27432" marB="27432" anchor="ctr">
                    <a:solidFill>
                      <a:srgbClr val="FFFFFF"/>
                    </a:solidFill>
                  </a:tcPr>
                </a:tc>
                <a:tc>
                  <a:txBody>
                    <a:bodyPr/>
                    <a:lstStyle/>
                    <a:p>
                      <a:pPr algn="ctr"/>
                      <a:r>
                        <a:rPr sz="1400" b="0">
                          <a:solidFill>
                            <a:srgbClr val="142B33"/>
                          </a:solidFill>
                          <a:latin typeface="Calibri"/>
                        </a:rPr>
                        <a:t>14.0787</a:t>
                      </a:r>
                    </a:p>
                  </a:txBody>
                  <a:tcPr marL="73152" marR="73152" marT="27432" marB="27432" anchor="ctr">
                    <a:solidFill>
                      <a:srgbClr val="FFFFFF"/>
                    </a:solidFill>
                  </a:tcPr>
                </a:tc>
                <a:tc>
                  <a:txBody>
                    <a:bodyPr/>
                    <a:lstStyle/>
                    <a:p>
                      <a:pPr algn="ctr"/>
                      <a:r>
                        <a:rPr sz="1400" b="0">
                          <a:solidFill>
                            <a:srgbClr val="142B33"/>
                          </a:solidFill>
                          <a:latin typeface="Calibri"/>
                        </a:rPr>
                        <a:t>26</a:t>
                      </a: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r>
            </a:tbl>
          </a:graphicData>
        </a:graphic>
      </p:graphicFrame>
      <p:sp>
        <p:nvSpPr>
          <p:cNvPr id="4" name="TextBox 3"/>
          <p:cNvSpPr txBox="1"/>
          <p:nvPr/>
        </p:nvSpPr>
        <p:spPr>
          <a:xfrm>
            <a:off x="7156222" y="1417320"/>
            <a:ext cx="4486832" cy="1816607"/>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600" b="1">
                <a:solidFill>
                  <a:srgbClr val="142B33"/>
                </a:solidFill>
                <a:latin typeface="Calibri"/>
              </a:rPr>
              <a:t>Aparador</a:t>
            </a:r>
            <a:r>
              <a:rPr sz="1600" b="0">
                <a:solidFill>
                  <a:srgbClr val="142B33"/>
                </a:solidFill>
                <a:latin typeface="Calibri"/>
              </a:rPr>
              <a:t> y </a:t>
            </a:r>
            <a:r>
              <a:rPr sz="1600" b="1">
                <a:solidFill>
                  <a:srgbClr val="142B33"/>
                </a:solidFill>
                <a:latin typeface="Calibri"/>
              </a:rPr>
              <a:t>empleado</a:t>
            </a:r>
            <a:r>
              <a:rPr sz="1600" b="0">
                <a:solidFill>
                  <a:srgbClr val="142B33"/>
                </a:solidFill>
                <a:latin typeface="Calibri"/>
              </a:rPr>
              <a:t>: muy significativos</a:t>
            </a:r>
          </a:p>
          <a:p>
            <a:pPr marL="320040" indent="-320040">
              <a:spcAft>
                <a:spcPts val="600"/>
              </a:spcAft>
              <a:buClr>
                <a:srgbClr val="E36414"/>
              </a:buClr>
              <a:buFont typeface="Arial"/>
              <a:buChar char="•"/>
            </a:pPr>
            <a:r>
              <a:rPr sz="1600" b="0">
                <a:solidFill>
                  <a:srgbClr val="142B33"/>
                </a:solidFill>
                <a:latin typeface="Calibri"/>
              </a:rPr>
              <a:t>Tipo de botella: no</a:t>
            </a:r>
          </a:p>
          <a:p>
            <a:pPr marL="320040" indent="-320040">
              <a:spcAft>
                <a:spcPts val="600"/>
              </a:spcAft>
              <a:buClr>
                <a:srgbClr val="E36414"/>
              </a:buClr>
              <a:buFont typeface="Arial"/>
              <a:buChar char="•"/>
            </a:pPr>
            <a:r>
              <a:rPr sz="1600" b="0">
                <a:solidFill>
                  <a:srgbClr val="142B33"/>
                </a:solidFill>
                <a:latin typeface="Calibri"/>
              </a:rPr>
              <a:t>BC en el límite: con dos réplicas sí es significativa</a:t>
            </a:r>
          </a:p>
          <a:p>
            <a:pPr marL="320040" indent="-320040">
              <a:spcAft>
                <a:spcPts val="600"/>
              </a:spcAft>
              <a:buClr>
                <a:srgbClr val="E36414"/>
              </a:buClr>
              <a:buFont typeface="Arial"/>
              <a:buChar char="•"/>
            </a:pPr>
            <a:r>
              <a:rPr sz="1600" b="0">
                <a:solidFill>
                  <a:srgbClr val="142B33"/>
                </a:solidFill>
                <a:latin typeface="Calibri"/>
              </a:rPr>
              <a:t>Costo de los bloques: </a:t>
            </a:r>
            <a:r>
              <a:rPr sz="1600" b="1">
                <a:solidFill>
                  <a:srgbClr val="142B33"/>
                </a:solidFill>
                <a:latin typeface="Calibri"/>
              </a:rPr>
              <a:t>un componente de ABC</a:t>
            </a:r>
            <a:r>
              <a:rPr sz="1600" b="0">
                <a:solidFill>
                  <a:srgbClr val="142B33"/>
                </a:solidFill>
                <a:latin typeface="Calibri"/>
              </a:rPr>
              <a:t> y 2 g.l. de error</a:t>
            </a:r>
          </a:p>
        </p:txBody>
      </p:sp>
      <p:sp>
        <p:nvSpPr>
          <p:cNvPr id="5" name="Rounded Rectangle 4"/>
          <p:cNvSpPr/>
          <p:nvPr/>
        </p:nvSpPr>
        <p:spPr>
          <a:xfrm>
            <a:off x="7156222" y="3435096"/>
            <a:ext cx="4486832"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Medias por aparador: 4.28, 4.63, 5.60 min (permanente, pasillo, refrigerador)</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Confusión en tres bloques</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40</a:t>
            </a:r>
          </a:p>
        </p:txBody>
      </p:sp>
      <p:sp>
        <p:nvSpPr>
          <p:cNvPr id="8" name="Rounded Rectangle 7"/>
          <p:cNvSpPr/>
          <p:nvPr/>
        </p:nvSpPr>
        <p:spPr>
          <a:xfrm>
            <a:off x="548640" y="91440"/>
            <a:ext cx="3054096"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4 · Confusión en tres bloques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itle 1"/>
          <p:cNvSpPr>
            <a:spLocks noGrp="1"/>
          </p:cNvSpPr>
          <p:nvPr>
            <p:ph type="title"/>
          </p:nvPr>
        </p:nvSpPr>
        <p:spPr>
          <a:xfrm>
            <a:off x="548640" y="3383280"/>
            <a:ext cx="11094415" cy="914400"/>
          </a:xfrm>
        </p:spPr>
        <p:txBody>
          <a:bodyPr wrap="square" anchor="t" lIns="0" rIns="0" tIns="0" bIns="0"/>
          <a:lstStyle/>
          <a:p>
            <a:pPr algn="l"/>
            <a:r>
              <a:rPr sz="4400" b="1">
                <a:solidFill>
                  <a:srgbClr val="FFFFFF"/>
                </a:solidFill>
                <a:latin typeface="Cambria"/>
              </a:rPr>
              <a:t>Confusión en nueve y en 3</a:t>
            </a:r>
            <a:r>
              <a:rPr sz="4400" b="1" baseline="30000">
                <a:solidFill>
                  <a:srgbClr val="FFFFFF"/>
                </a:solidFill>
                <a:latin typeface="Cambria"/>
              </a:rPr>
              <a:t>p</a:t>
            </a:r>
            <a:r>
              <a:rPr sz="4400" b="1">
                <a:solidFill>
                  <a:srgbClr val="FFFFFF"/>
                </a:solidFill>
                <a:latin typeface="Cambria"/>
              </a:rPr>
              <a:t> bloques</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5</a:t>
            </a:r>
          </a:p>
        </p:txBody>
      </p:sp>
      <p:sp>
        <p:nvSpPr>
          <p:cNvPr id="4" name="TextBox 3"/>
          <p:cNvSpPr txBox="1"/>
          <p:nvPr/>
        </p:nvSpPr>
        <p:spPr>
          <a:xfrm>
            <a:off x="548640" y="4343400"/>
            <a:ext cx="11094415" cy="548640"/>
          </a:xfrm>
          <a:prstGeom prst="rect">
            <a:avLst/>
          </a:prstGeom>
          <a:noFill/>
        </p:spPr>
        <p:txBody>
          <a:bodyPr wrap="square" anchor="t" lIns="0" rIns="0" tIns="0" bIns="0">
            <a:spAutoFit/>
          </a:bodyPr>
          <a:lstStyle/>
          <a:p>
            <a:r>
              <a:rPr sz="2000" b="0">
                <a:solidFill>
                  <a:srgbClr val="CFE3E8"/>
                </a:solidFill>
                <a:latin typeface="Calibri"/>
              </a:rPr>
              <a:t>Interacciones generalizadas PQ y PQ</a:t>
            </a:r>
            <a:r>
              <a:rPr sz="2000" b="0" baseline="30000">
                <a:solidFill>
                  <a:srgbClr val="CFE3E8"/>
                </a:solidFill>
                <a:latin typeface="Calibri"/>
              </a:rPr>
              <a:t>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Nueve bloques: se eligen dos componentes y se confunden cuatro</a:t>
            </a:r>
          </a:p>
        </p:txBody>
      </p:sp>
      <p:sp>
        <p:nvSpPr>
          <p:cNvPr id="3" name="Rounded Rectangle 2"/>
          <p:cNvSpPr/>
          <p:nvPr/>
        </p:nvSpPr>
        <p:spPr>
          <a:xfrm>
            <a:off x="548640" y="1417320"/>
            <a:ext cx="5875614" cy="864331"/>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0">
                <a:solidFill>
                  <a:srgbClr val="0F4C5C"/>
                </a:solidFill>
                <a:latin typeface="Cambria Math"/>
              </a:rPr>
              <a:t>L</a:t>
            </a:r>
            <a:r>
              <a:rPr sz="1700" b="0" baseline="-25000">
                <a:solidFill>
                  <a:srgbClr val="0F4C5C"/>
                </a:solidFill>
                <a:latin typeface="Cambria Math"/>
              </a:rPr>
              <a:t>1</a:t>
            </a:r>
            <a:r>
              <a:rPr sz="1700" b="0">
                <a:solidFill>
                  <a:srgbClr val="0F4C5C"/>
                </a:solidFill>
                <a:latin typeface="Cambria Math"/>
              </a:rPr>
              <a:t> = α</a:t>
            </a:r>
            <a:r>
              <a:rPr sz="1700" b="0" baseline="-25000">
                <a:solidFill>
                  <a:srgbClr val="0F4C5C"/>
                </a:solidFill>
                <a:latin typeface="Cambria Math"/>
              </a:rPr>
              <a:t>1</a:t>
            </a:r>
            <a:r>
              <a:rPr sz="1700" b="0">
                <a:solidFill>
                  <a:srgbClr val="0F4C5C"/>
                </a:solidFill>
                <a:latin typeface="Cambria Math"/>
              </a:rPr>
              <a:t>x</a:t>
            </a:r>
            <a:r>
              <a:rPr sz="1700" b="0" baseline="-25000">
                <a:solidFill>
                  <a:srgbClr val="0F4C5C"/>
                </a:solidFill>
                <a:latin typeface="Cambria Math"/>
              </a:rPr>
              <a:t>1</a:t>
            </a:r>
            <a:r>
              <a:rPr sz="1700" b="0">
                <a:solidFill>
                  <a:srgbClr val="0F4C5C"/>
                </a:solidFill>
                <a:latin typeface="Cambria Math"/>
              </a:rPr>
              <a:t> + ··· + α</a:t>
            </a:r>
            <a:r>
              <a:rPr sz="1700" b="0" baseline="-25000">
                <a:solidFill>
                  <a:srgbClr val="0F4C5C"/>
                </a:solidFill>
                <a:latin typeface="Cambria Math"/>
              </a:rPr>
              <a:t>k</a:t>
            </a:r>
            <a:r>
              <a:rPr sz="1700" b="0">
                <a:solidFill>
                  <a:srgbClr val="0F4C5C"/>
                </a:solidFill>
                <a:latin typeface="Cambria Math"/>
              </a:rPr>
              <a:t>x</a:t>
            </a:r>
            <a:r>
              <a:rPr sz="1700" b="0" baseline="-25000">
                <a:solidFill>
                  <a:srgbClr val="0F4C5C"/>
                </a:solidFill>
                <a:latin typeface="Cambria Math"/>
              </a:rPr>
              <a:t>k</a:t>
            </a:r>
            <a:r>
              <a:rPr sz="1700" b="0">
                <a:solidFill>
                  <a:srgbClr val="0F4C5C"/>
                </a:solidFill>
                <a:latin typeface="Cambria Math"/>
              </a:rPr>
              <a:t> = u (mod 3)</a:t>
            </a:r>
          </a:p>
          <a:p>
            <a:pPr algn="ctr"/>
            <a:r>
              <a:rPr sz="1700" b="0">
                <a:solidFill>
                  <a:srgbClr val="0F4C5C"/>
                </a:solidFill>
                <a:latin typeface="Cambria Math"/>
              </a:rPr>
              <a:t>L</a:t>
            </a:r>
            <a:r>
              <a:rPr sz="1700" b="0" baseline="-25000">
                <a:solidFill>
                  <a:srgbClr val="0F4C5C"/>
                </a:solidFill>
                <a:latin typeface="Cambria Math"/>
              </a:rPr>
              <a:t>2</a:t>
            </a:r>
            <a:r>
              <a:rPr sz="1700" b="0">
                <a:solidFill>
                  <a:srgbClr val="0F4C5C"/>
                </a:solidFill>
                <a:latin typeface="Cambria Math"/>
              </a:rPr>
              <a:t> = β</a:t>
            </a:r>
            <a:r>
              <a:rPr sz="1700" b="0" baseline="-25000">
                <a:solidFill>
                  <a:srgbClr val="0F4C5C"/>
                </a:solidFill>
                <a:latin typeface="Cambria Math"/>
              </a:rPr>
              <a:t>1</a:t>
            </a:r>
            <a:r>
              <a:rPr sz="1700" b="0">
                <a:solidFill>
                  <a:srgbClr val="0F4C5C"/>
                </a:solidFill>
                <a:latin typeface="Cambria Math"/>
              </a:rPr>
              <a:t>x</a:t>
            </a:r>
            <a:r>
              <a:rPr sz="1700" b="0" baseline="-25000">
                <a:solidFill>
                  <a:srgbClr val="0F4C5C"/>
                </a:solidFill>
                <a:latin typeface="Cambria Math"/>
              </a:rPr>
              <a:t>1</a:t>
            </a:r>
            <a:r>
              <a:rPr sz="1700" b="0">
                <a:solidFill>
                  <a:srgbClr val="0F4C5C"/>
                </a:solidFill>
                <a:latin typeface="Cambria Math"/>
              </a:rPr>
              <a:t> + ··· + β</a:t>
            </a:r>
            <a:r>
              <a:rPr sz="1700" b="0" baseline="-25000">
                <a:solidFill>
                  <a:srgbClr val="0F4C5C"/>
                </a:solidFill>
                <a:latin typeface="Cambria Math"/>
              </a:rPr>
              <a:t>k</a:t>
            </a:r>
            <a:r>
              <a:rPr sz="1700" b="0">
                <a:solidFill>
                  <a:srgbClr val="0F4C5C"/>
                </a:solidFill>
                <a:latin typeface="Cambria Math"/>
              </a:rPr>
              <a:t>x</a:t>
            </a:r>
            <a:r>
              <a:rPr sz="1700" b="0" baseline="-25000">
                <a:solidFill>
                  <a:srgbClr val="0F4C5C"/>
                </a:solidFill>
                <a:latin typeface="Cambria Math"/>
              </a:rPr>
              <a:t>k</a:t>
            </a:r>
            <a:r>
              <a:rPr sz="1700" b="0">
                <a:solidFill>
                  <a:srgbClr val="0F4C5C"/>
                </a:solidFill>
                <a:latin typeface="Cambria Math"/>
              </a:rPr>
              <a:t> = h (mod 3)</a:t>
            </a:r>
          </a:p>
        </p:txBody>
      </p:sp>
      <p:sp>
        <p:nvSpPr>
          <p:cNvPr id="4" name="TextBox 3"/>
          <p:cNvSpPr txBox="1"/>
          <p:nvPr/>
        </p:nvSpPr>
        <p:spPr>
          <a:xfrm>
            <a:off x="548640" y="2482819"/>
            <a:ext cx="5875614" cy="990599"/>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600" b="0">
                <a:solidFill>
                  <a:srgbClr val="142B33"/>
                </a:solidFill>
                <a:latin typeface="Calibri"/>
              </a:rPr>
              <a:t>9 bloques → </a:t>
            </a:r>
            <a:r>
              <a:rPr sz="1600" b="1">
                <a:solidFill>
                  <a:srgbClr val="142B33"/>
                </a:solidFill>
                <a:latin typeface="Calibri"/>
              </a:rPr>
              <a:t>8 g.l.</a:t>
            </a:r>
            <a:r>
              <a:rPr sz="1600" b="0">
                <a:solidFill>
                  <a:srgbClr val="142B33"/>
                </a:solidFill>
                <a:latin typeface="Calibri"/>
              </a:rPr>
              <a:t> → </a:t>
            </a:r>
            <a:r>
              <a:rPr sz="1600" b="1">
                <a:solidFill>
                  <a:srgbClr val="142B33"/>
                </a:solidFill>
                <a:latin typeface="Calibri"/>
              </a:rPr>
              <a:t>cuatro</a:t>
            </a:r>
            <a:r>
              <a:rPr sz="1600" b="0">
                <a:solidFill>
                  <a:srgbClr val="142B33"/>
                </a:solidFill>
                <a:latin typeface="Calibri"/>
              </a:rPr>
              <a:t> componentes confundidos</a:t>
            </a:r>
          </a:p>
          <a:p>
            <a:pPr marL="320040" indent="-320040">
              <a:spcAft>
                <a:spcPts val="600"/>
              </a:spcAft>
              <a:buClr>
                <a:srgbClr val="E36414"/>
              </a:buClr>
              <a:buFont typeface="Arial"/>
              <a:buChar char="•"/>
            </a:pPr>
            <a:r>
              <a:rPr sz="1600" b="0">
                <a:solidFill>
                  <a:srgbClr val="142B33"/>
                </a:solidFill>
                <a:latin typeface="Calibri"/>
              </a:rPr>
              <a:t>Se eligen </a:t>
            </a:r>
            <a:r>
              <a:rPr sz="1600" b="1">
                <a:solidFill>
                  <a:srgbClr val="142B33"/>
                </a:solidFill>
                <a:latin typeface="Calibri"/>
              </a:rPr>
              <a:t>P y Q</a:t>
            </a:r>
            <a:r>
              <a:rPr sz="1600" b="0">
                <a:solidFill>
                  <a:srgbClr val="142B33"/>
                </a:solidFill>
                <a:latin typeface="Calibri"/>
              </a:rPr>
              <a:t>; se confunden también </a:t>
            </a:r>
            <a:r>
              <a:rPr sz="1600" b="1">
                <a:solidFill>
                  <a:srgbClr val="142B33"/>
                </a:solidFill>
                <a:latin typeface="Calibri"/>
              </a:rPr>
              <a:t>PQ y PQ</a:t>
            </a:r>
            <a:r>
              <a:rPr sz="1600" b="1" baseline="30000">
                <a:solidFill>
                  <a:srgbClr val="142B33"/>
                </a:solidFill>
                <a:latin typeface="Calibri"/>
              </a:rPr>
              <a:t>2</a:t>
            </a:r>
          </a:p>
          <a:p>
            <a:pPr marL="320040" indent="-320040">
              <a:spcAft>
                <a:spcPts val="600"/>
              </a:spcAft>
              <a:buClr>
                <a:srgbClr val="E36414"/>
              </a:buClr>
              <a:buFont typeface="Arial"/>
              <a:buChar char="•"/>
            </a:pPr>
            <a:r>
              <a:rPr sz="1600" b="0">
                <a:solidFill>
                  <a:srgbClr val="142B33"/>
                </a:solidFill>
                <a:latin typeface="Calibri"/>
              </a:rPr>
              <a:t>Bloque = par (L</a:t>
            </a:r>
            <a:r>
              <a:rPr sz="1600" b="0" baseline="-25000">
                <a:solidFill>
                  <a:srgbClr val="142B33"/>
                </a:solidFill>
                <a:latin typeface="Calibri"/>
              </a:rPr>
              <a:t>1</a:t>
            </a:r>
            <a:r>
              <a:rPr sz="1600" b="0">
                <a:solidFill>
                  <a:srgbClr val="142B33"/>
                </a:solidFill>
                <a:latin typeface="Calibri"/>
              </a:rPr>
              <a:t>, L</a:t>
            </a:r>
            <a:r>
              <a:rPr sz="1600" b="0" baseline="-25000">
                <a:solidFill>
                  <a:srgbClr val="142B33"/>
                </a:solidFill>
                <a:latin typeface="Calibri"/>
              </a:rPr>
              <a:t>2</a:t>
            </a:r>
            <a:r>
              <a:rPr sz="1600" b="0">
                <a:solidFill>
                  <a:srgbClr val="142B33"/>
                </a:solidFill>
                <a:latin typeface="Calibri"/>
              </a:rPr>
              <a:t>); principal = (0, 0)</a:t>
            </a:r>
          </a:p>
        </p:txBody>
      </p:sp>
      <p:sp>
        <p:nvSpPr>
          <p:cNvPr id="5" name="Rounded Rectangle 4"/>
          <p:cNvSpPr/>
          <p:nvPr/>
        </p:nvSpPr>
        <p:spPr>
          <a:xfrm>
            <a:off x="6835734" y="1417320"/>
            <a:ext cx="4807320"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En el 2</a:t>
            </a:r>
            <a:r>
              <a:rPr sz="1500" b="0" baseline="30000">
                <a:solidFill>
                  <a:srgbClr val="142B33"/>
                </a:solidFill>
                <a:latin typeface="Calibri"/>
              </a:rPr>
              <a:t>k</a:t>
            </a:r>
            <a:r>
              <a:rPr sz="1500" b="0">
                <a:solidFill>
                  <a:srgbClr val="142B33"/>
                </a:solidFill>
                <a:latin typeface="Calibri"/>
              </a:rPr>
              <a:t> la interacción generalizada de P y Q era solo PQ. En el 3</a:t>
            </a:r>
            <a:r>
              <a:rPr sz="1500" b="0" baseline="30000">
                <a:solidFill>
                  <a:srgbClr val="142B33"/>
                </a:solidFill>
                <a:latin typeface="Calibri"/>
              </a:rPr>
              <a:t>k</a:t>
            </a:r>
            <a:r>
              <a:rPr sz="1500" b="0">
                <a:solidFill>
                  <a:srgbClr val="142B33"/>
                </a:solidFill>
                <a:latin typeface="Calibri"/>
              </a:rPr>
              <a:t> son </a:t>
            </a:r>
            <a:r>
              <a:rPr sz="1500" b="1">
                <a:solidFill>
                  <a:srgbClr val="142B33"/>
                </a:solidFill>
                <a:latin typeface="Calibri"/>
              </a:rPr>
              <a:t>dos</a:t>
            </a:r>
            <a:r>
              <a:rPr sz="1500" b="0">
                <a:solidFill>
                  <a:srgbClr val="142B33"/>
                </a:solidFill>
                <a:latin typeface="Calibri"/>
              </a:rPr>
              <a:t>: PQ y PQ</a:t>
            </a:r>
            <a:r>
              <a:rPr sz="1500" b="0" baseline="30000">
                <a:solidFill>
                  <a:srgbClr val="142B33"/>
                </a:solidFill>
                <a:latin typeface="Calibri"/>
              </a:rPr>
              <a:t>2</a:t>
            </a:r>
          </a:p>
        </p:txBody>
      </p:sp>
      <p:graphicFrame>
        <p:nvGraphicFramePr>
          <p:cNvPr id="6" name="Table 5"/>
          <p:cNvGraphicFramePr>
            <a:graphicFrameLocks noGrp="1"/>
          </p:cNvGraphicFramePr>
          <p:nvPr/>
        </p:nvGraphicFramePr>
        <p:xfrm>
          <a:off x="6835734" y="2357628"/>
          <a:ext cx="4807320" cy="733552"/>
        </p:xfrm>
        <a:graphic>
          <a:graphicData uri="http://schemas.openxmlformats.org/drawingml/2006/table">
            <a:tbl>
              <a:tblPr firstRow="0" bandRow="0">
                <a:tableStyleId>{5C22544A-7EE6-4342-B048-85BDC9FD1C3A}</a:tableStyleId>
              </a:tblPr>
              <a:tblGrid>
                <a:gridCol w="1648887"/>
                <a:gridCol w="3158433"/>
              </a:tblGrid>
              <a:tr h="366776">
                <a:tc>
                  <a:txBody>
                    <a:bodyPr/>
                    <a:lstStyle/>
                    <a:p>
                      <a:pPr algn="ctr"/>
                      <a:r>
                        <a:rPr sz="1600" b="1">
                          <a:solidFill>
                            <a:srgbClr val="FFFFFF"/>
                          </a:solidFill>
                          <a:latin typeface="Calibri"/>
                        </a:rPr>
                        <a:t>Se eligen</a:t>
                      </a:r>
                    </a:p>
                  </a:txBody>
                  <a:tcPr marL="73152" marR="73152" marT="27432" marB="27432" anchor="ctr">
                    <a:solidFill>
                      <a:srgbClr val="0F4C5C"/>
                    </a:solidFill>
                  </a:tcPr>
                </a:tc>
                <a:tc>
                  <a:txBody>
                    <a:bodyPr/>
                    <a:lstStyle/>
                    <a:p>
                      <a:pPr algn="ctr"/>
                      <a:r>
                        <a:rPr sz="1600" b="1">
                          <a:solidFill>
                            <a:srgbClr val="FFFFFF"/>
                          </a:solidFill>
                          <a:latin typeface="Calibri"/>
                        </a:rPr>
                        <a:t>Se confunden además</a:t>
                      </a:r>
                    </a:p>
                  </a:txBody>
                  <a:tcPr marL="73152" marR="73152" marT="27432" marB="27432" anchor="ctr">
                    <a:solidFill>
                      <a:srgbClr val="0F4C5C"/>
                    </a:solidFill>
                  </a:tcPr>
                </a:tc>
              </a:tr>
              <a:tr h="366776">
                <a:tc>
                  <a:txBody>
                    <a:bodyPr/>
                    <a:lstStyle/>
                    <a:p>
                      <a:pPr algn="ctr"/>
                      <a:r>
                        <a:rPr sz="1600" b="0">
                          <a:solidFill>
                            <a:srgbClr val="142B33"/>
                          </a:solidFill>
                          <a:latin typeface="Calibri"/>
                        </a:rPr>
                        <a:t>P, Q</a:t>
                      </a:r>
                    </a:p>
                  </a:txBody>
                  <a:tcPr marL="73152" marR="73152" marT="27432" marB="27432" anchor="ctr">
                    <a:solidFill>
                      <a:srgbClr val="FFFFFF"/>
                    </a:solidFill>
                  </a:tcPr>
                </a:tc>
                <a:tc>
                  <a:txBody>
                    <a:bodyPr/>
                    <a:lstStyle/>
                    <a:p>
                      <a:pPr algn="ctr"/>
                      <a:r>
                        <a:rPr sz="1600" b="0">
                          <a:solidFill>
                            <a:srgbClr val="142B33"/>
                          </a:solidFill>
                          <a:latin typeface="Calibri"/>
                        </a:rPr>
                        <a:t>PQ, PQ</a:t>
                      </a:r>
                      <a:r>
                        <a:rPr sz="1600" b="0" baseline="30000">
                          <a:solidFill>
                            <a:srgbClr val="142B33"/>
                          </a:solidFill>
                          <a:latin typeface="Calibri"/>
                        </a:rPr>
                        <a:t>2</a:t>
                      </a:r>
                    </a:p>
                  </a:txBody>
                  <a:tcPr marL="73152" marR="73152" marT="27432" marB="27432" anchor="ctr">
                    <a:solidFill>
                      <a:srgbClr val="FFFFFF"/>
                    </a:solidFill>
                  </a:tcPr>
                </a:tc>
              </a:tr>
            </a:tbl>
          </a:graphicData>
        </a:graphic>
      </p:graphicFrame>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Confusión en nueve y en 3</a:t>
            </a:r>
            <a:r>
              <a:rPr sz="1000" b="0" baseline="30000">
                <a:solidFill>
                  <a:srgbClr val="5B6B73"/>
                </a:solidFill>
                <a:latin typeface="Calibri"/>
              </a:rPr>
              <a:t>p</a:t>
            </a:r>
            <a:r>
              <a:rPr sz="1000" b="0">
                <a:solidFill>
                  <a:srgbClr val="5B6B73"/>
                </a:solidFill>
                <a:latin typeface="Calibri"/>
              </a:rPr>
              <a:t> bloques</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42</a:t>
            </a:r>
          </a:p>
        </p:txBody>
      </p:sp>
      <p:sp>
        <p:nvSpPr>
          <p:cNvPr id="9" name="Rounded Rectangle 8"/>
          <p:cNvSpPr/>
          <p:nvPr/>
        </p:nvSpPr>
        <p:spPr>
          <a:xfrm>
            <a:off x="548640" y="91440"/>
            <a:ext cx="375361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5 · Confusión en nueve y en 3</a:t>
            </a:r>
            <a:r>
              <a:rPr sz="1100" b="1" baseline="30000">
                <a:solidFill>
                  <a:srgbClr val="FFFFFF"/>
                </a:solidFill>
                <a:latin typeface="Calibri"/>
              </a:rPr>
              <a:t>p</a:t>
            </a:r>
            <a:r>
              <a:rPr sz="1100" b="1">
                <a:solidFill>
                  <a:srgbClr val="FFFFFF"/>
                </a:solidFill>
                <a:latin typeface="Calibri"/>
              </a:rPr>
              <a:t> bloques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el 3</a:t>
            </a:r>
            <a:r>
              <a:rPr sz="3000" b="1" baseline="30000">
                <a:solidFill>
                  <a:srgbClr val="0F4C5C"/>
                </a:solidFill>
                <a:latin typeface="Cambria"/>
              </a:rPr>
              <a:t>4</a:t>
            </a:r>
            <a:r>
              <a:rPr sz="3000" b="1">
                <a:solidFill>
                  <a:srgbClr val="0F4C5C"/>
                </a:solidFill>
                <a:latin typeface="Cambria"/>
              </a:rPr>
              <a:t> en nueve bloques con ABC y AB</a:t>
            </a:r>
            <a:r>
              <a:rPr sz="3000" b="1" baseline="30000">
                <a:solidFill>
                  <a:srgbClr val="0F4C5C"/>
                </a:solidFill>
                <a:latin typeface="Cambria"/>
              </a:rPr>
              <a:t>2</a:t>
            </a:r>
            <a:r>
              <a:rPr sz="3000" b="1">
                <a:solidFill>
                  <a:srgbClr val="0F4C5C"/>
                </a:solidFill>
                <a:latin typeface="Cambria"/>
              </a:rPr>
              <a:t>D</a:t>
            </a:r>
            <a:r>
              <a:rPr sz="3000" b="1" baseline="30000">
                <a:solidFill>
                  <a:srgbClr val="0F4C5C"/>
                </a:solidFill>
                <a:latin typeface="Cambria"/>
              </a:rPr>
              <a:t>2</a:t>
            </a:r>
            <a:r>
              <a:rPr sz="3000" b="1">
                <a:solidFill>
                  <a:srgbClr val="0F4C5C"/>
                </a:solidFill>
                <a:latin typeface="Cambria"/>
              </a:rPr>
              <a:t> (fig. 9-8)</a:t>
            </a:r>
          </a:p>
        </p:txBody>
      </p:sp>
      <p:sp>
        <p:nvSpPr>
          <p:cNvPr id="3" name="Rounded Rectangle 2"/>
          <p:cNvSpPr/>
          <p:nvPr/>
        </p:nvSpPr>
        <p:spPr>
          <a:xfrm>
            <a:off x="548640" y="1417320"/>
            <a:ext cx="4486832" cy="829624"/>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0">
                <a:solidFill>
                  <a:srgbClr val="0F4C5C"/>
                </a:solidFill>
                <a:latin typeface="Cambria Math"/>
              </a:rPr>
              <a:t>(ABC)(AB</a:t>
            </a:r>
            <a:r>
              <a:rPr sz="1600" b="0" baseline="30000">
                <a:solidFill>
                  <a:srgbClr val="0F4C5C"/>
                </a:solidFill>
                <a:latin typeface="Cambria Math"/>
              </a:rPr>
              <a:t>2</a:t>
            </a:r>
            <a:r>
              <a:rPr sz="1600" b="0">
                <a:solidFill>
                  <a:srgbClr val="0F4C5C"/>
                </a:solidFill>
                <a:latin typeface="Cambria Math"/>
              </a:rPr>
              <a:t>D</a:t>
            </a:r>
            <a:r>
              <a:rPr sz="1600" b="0" baseline="30000">
                <a:solidFill>
                  <a:srgbClr val="0F4C5C"/>
                </a:solidFill>
                <a:latin typeface="Cambria Math"/>
              </a:rPr>
              <a:t>2</a:t>
            </a:r>
            <a:r>
              <a:rPr sz="1600" b="0">
                <a:solidFill>
                  <a:srgbClr val="0F4C5C"/>
                </a:solidFill>
                <a:latin typeface="Cambria Math"/>
              </a:rPr>
              <a:t>) = A</a:t>
            </a:r>
            <a:r>
              <a:rPr sz="1600" b="0" baseline="30000">
                <a:solidFill>
                  <a:srgbClr val="0F4C5C"/>
                </a:solidFill>
                <a:latin typeface="Cambria Math"/>
              </a:rPr>
              <a:t>2</a:t>
            </a:r>
            <a:r>
              <a:rPr sz="1600" b="0">
                <a:solidFill>
                  <a:srgbClr val="0F4C5C"/>
                </a:solidFill>
                <a:latin typeface="Cambria Math"/>
              </a:rPr>
              <a:t>B</a:t>
            </a:r>
            <a:r>
              <a:rPr sz="1600" b="0" baseline="30000">
                <a:solidFill>
                  <a:srgbClr val="0F4C5C"/>
                </a:solidFill>
                <a:latin typeface="Cambria Math"/>
              </a:rPr>
              <a:t>3</a:t>
            </a:r>
            <a:r>
              <a:rPr sz="1600" b="0">
                <a:solidFill>
                  <a:srgbClr val="0F4C5C"/>
                </a:solidFill>
                <a:latin typeface="Cambria Math"/>
              </a:rPr>
              <a:t>CD</a:t>
            </a:r>
            <a:r>
              <a:rPr sz="1600" b="0" baseline="30000">
                <a:solidFill>
                  <a:srgbClr val="0F4C5C"/>
                </a:solidFill>
                <a:latin typeface="Cambria Math"/>
              </a:rPr>
              <a:t>2</a:t>
            </a:r>
            <a:r>
              <a:rPr sz="1600" b="0">
                <a:solidFill>
                  <a:srgbClr val="0F4C5C"/>
                </a:solidFill>
                <a:latin typeface="Cambria Math"/>
              </a:rPr>
              <a:t> → AC</a:t>
            </a:r>
            <a:r>
              <a:rPr sz="1600" b="0" baseline="30000">
                <a:solidFill>
                  <a:srgbClr val="0F4C5C"/>
                </a:solidFill>
                <a:latin typeface="Cambria Math"/>
              </a:rPr>
              <a:t>2</a:t>
            </a:r>
            <a:r>
              <a:rPr sz="1600" b="0">
                <a:solidFill>
                  <a:srgbClr val="0F4C5C"/>
                </a:solidFill>
                <a:latin typeface="Cambria Math"/>
              </a:rPr>
              <a:t>D</a:t>
            </a:r>
          </a:p>
          <a:p>
            <a:pPr algn="ctr"/>
            <a:r>
              <a:rPr sz="1600" b="0">
                <a:solidFill>
                  <a:srgbClr val="0F4C5C"/>
                </a:solidFill>
                <a:latin typeface="Cambria Math"/>
              </a:rPr>
              <a:t>(ABC)(AB</a:t>
            </a:r>
            <a:r>
              <a:rPr sz="1600" b="0" baseline="30000">
                <a:solidFill>
                  <a:srgbClr val="0F4C5C"/>
                </a:solidFill>
                <a:latin typeface="Cambria Math"/>
              </a:rPr>
              <a:t>2</a:t>
            </a:r>
            <a:r>
              <a:rPr sz="1600" b="0">
                <a:solidFill>
                  <a:srgbClr val="0F4C5C"/>
                </a:solidFill>
                <a:latin typeface="Cambria Math"/>
              </a:rPr>
              <a:t>D</a:t>
            </a:r>
            <a:r>
              <a:rPr sz="1600" b="0" baseline="30000">
                <a:solidFill>
                  <a:srgbClr val="0F4C5C"/>
                </a:solidFill>
                <a:latin typeface="Cambria Math"/>
              </a:rPr>
              <a:t>2</a:t>
            </a:r>
            <a:r>
              <a:rPr sz="1600" b="0">
                <a:solidFill>
                  <a:srgbClr val="0F4C5C"/>
                </a:solidFill>
                <a:latin typeface="Cambria Math"/>
              </a:rPr>
              <a:t>)</a:t>
            </a:r>
            <a:r>
              <a:rPr sz="1600" b="0" baseline="30000">
                <a:solidFill>
                  <a:srgbClr val="0F4C5C"/>
                </a:solidFill>
                <a:latin typeface="Cambria Math"/>
              </a:rPr>
              <a:t>2</a:t>
            </a:r>
            <a:r>
              <a:rPr sz="1600" b="0">
                <a:solidFill>
                  <a:srgbClr val="0F4C5C"/>
                </a:solidFill>
                <a:latin typeface="Cambria Math"/>
              </a:rPr>
              <a:t> = A</a:t>
            </a:r>
            <a:r>
              <a:rPr sz="1600" b="0" baseline="30000">
                <a:solidFill>
                  <a:srgbClr val="0F4C5C"/>
                </a:solidFill>
                <a:latin typeface="Cambria Math"/>
              </a:rPr>
              <a:t>3</a:t>
            </a:r>
            <a:r>
              <a:rPr sz="1600" b="0">
                <a:solidFill>
                  <a:srgbClr val="0F4C5C"/>
                </a:solidFill>
                <a:latin typeface="Cambria Math"/>
              </a:rPr>
              <a:t>B</a:t>
            </a:r>
            <a:r>
              <a:rPr sz="1600" b="0" baseline="30000">
                <a:solidFill>
                  <a:srgbClr val="0F4C5C"/>
                </a:solidFill>
                <a:latin typeface="Cambria Math"/>
              </a:rPr>
              <a:t>5</a:t>
            </a:r>
            <a:r>
              <a:rPr sz="1600" b="0">
                <a:solidFill>
                  <a:srgbClr val="0F4C5C"/>
                </a:solidFill>
                <a:latin typeface="Cambria Math"/>
              </a:rPr>
              <a:t>CD</a:t>
            </a:r>
            <a:r>
              <a:rPr sz="1600" b="0" baseline="30000">
                <a:solidFill>
                  <a:srgbClr val="0F4C5C"/>
                </a:solidFill>
                <a:latin typeface="Cambria Math"/>
              </a:rPr>
              <a:t>4</a:t>
            </a:r>
            <a:r>
              <a:rPr sz="1600" b="0">
                <a:solidFill>
                  <a:srgbClr val="0F4C5C"/>
                </a:solidFill>
                <a:latin typeface="Cambria Math"/>
              </a:rPr>
              <a:t> → BC</a:t>
            </a:r>
            <a:r>
              <a:rPr sz="1600" b="0" baseline="30000">
                <a:solidFill>
                  <a:srgbClr val="0F4C5C"/>
                </a:solidFill>
                <a:latin typeface="Cambria Math"/>
              </a:rPr>
              <a:t>2</a:t>
            </a:r>
            <a:r>
              <a:rPr sz="1600" b="0">
                <a:solidFill>
                  <a:srgbClr val="0F4C5C"/>
                </a:solidFill>
                <a:latin typeface="Cambria Math"/>
              </a:rPr>
              <a:t>D</a:t>
            </a:r>
            <a:r>
              <a:rPr sz="1600" b="0" baseline="30000">
                <a:solidFill>
                  <a:srgbClr val="0F4C5C"/>
                </a:solidFill>
                <a:latin typeface="Cambria Math"/>
              </a:rPr>
              <a:t>2</a:t>
            </a:r>
          </a:p>
        </p:txBody>
      </p:sp>
      <p:sp>
        <p:nvSpPr>
          <p:cNvPr id="4" name="Rounded Rectangle 3"/>
          <p:cNvSpPr/>
          <p:nvPr/>
        </p:nvSpPr>
        <p:spPr>
          <a:xfrm>
            <a:off x="548640" y="2448112"/>
            <a:ext cx="4486832" cy="551972"/>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0">
                <a:solidFill>
                  <a:srgbClr val="0F4C5C"/>
                </a:solidFill>
                <a:latin typeface="Cambria Math"/>
              </a:rPr>
              <a:t>L</a:t>
            </a:r>
            <a:r>
              <a:rPr sz="1600" b="0" baseline="-25000">
                <a:solidFill>
                  <a:srgbClr val="0F4C5C"/>
                </a:solidFill>
                <a:latin typeface="Cambria Math"/>
              </a:rPr>
              <a:t>1</a:t>
            </a:r>
            <a:r>
              <a:rPr sz="1600" b="0">
                <a:solidFill>
                  <a:srgbClr val="0F4C5C"/>
                </a:solidFill>
                <a:latin typeface="Cambria Math"/>
              </a:rPr>
              <a:t> = x</a:t>
            </a:r>
            <a:r>
              <a:rPr sz="1600" b="0" baseline="-25000">
                <a:solidFill>
                  <a:srgbClr val="0F4C5C"/>
                </a:solidFill>
                <a:latin typeface="Cambria Math"/>
              </a:rPr>
              <a:t>1</a:t>
            </a:r>
            <a:r>
              <a:rPr sz="1600" b="0">
                <a:solidFill>
                  <a:srgbClr val="0F4C5C"/>
                </a:solidFill>
                <a:latin typeface="Cambria Math"/>
              </a:rPr>
              <a:t> + x</a:t>
            </a:r>
            <a:r>
              <a:rPr sz="1600" b="0" baseline="-25000">
                <a:solidFill>
                  <a:srgbClr val="0F4C5C"/>
                </a:solidFill>
                <a:latin typeface="Cambria Math"/>
              </a:rPr>
              <a:t>2</a:t>
            </a:r>
            <a:r>
              <a:rPr sz="1600" b="0">
                <a:solidFill>
                  <a:srgbClr val="0F4C5C"/>
                </a:solidFill>
                <a:latin typeface="Cambria Math"/>
              </a:rPr>
              <a:t> + x</a:t>
            </a:r>
            <a:r>
              <a:rPr sz="1600" b="0" baseline="-25000">
                <a:solidFill>
                  <a:srgbClr val="0F4C5C"/>
                </a:solidFill>
                <a:latin typeface="Cambria Math"/>
              </a:rPr>
              <a:t>3</a:t>
            </a:r>
            <a:r>
              <a:rPr sz="1600" b="0">
                <a:solidFill>
                  <a:srgbClr val="0F4C5C"/>
                </a:solidFill>
                <a:latin typeface="Cambria Math"/>
              </a:rPr>
              <a:t>,   L</a:t>
            </a:r>
            <a:r>
              <a:rPr sz="1600" b="0" baseline="-25000">
                <a:solidFill>
                  <a:srgbClr val="0F4C5C"/>
                </a:solidFill>
                <a:latin typeface="Cambria Math"/>
              </a:rPr>
              <a:t>2</a:t>
            </a:r>
            <a:r>
              <a:rPr sz="1600" b="0">
                <a:solidFill>
                  <a:srgbClr val="0F4C5C"/>
                </a:solidFill>
                <a:latin typeface="Cambria Math"/>
              </a:rPr>
              <a:t> = x</a:t>
            </a:r>
            <a:r>
              <a:rPr sz="1600" b="0" baseline="-25000">
                <a:solidFill>
                  <a:srgbClr val="0F4C5C"/>
                </a:solidFill>
                <a:latin typeface="Cambria Math"/>
              </a:rPr>
              <a:t>1</a:t>
            </a:r>
            <a:r>
              <a:rPr sz="1600" b="0">
                <a:solidFill>
                  <a:srgbClr val="0F4C5C"/>
                </a:solidFill>
                <a:latin typeface="Cambria Math"/>
              </a:rPr>
              <a:t> + 2x</a:t>
            </a:r>
            <a:r>
              <a:rPr sz="1600" b="0" baseline="-25000">
                <a:solidFill>
                  <a:srgbClr val="0F4C5C"/>
                </a:solidFill>
                <a:latin typeface="Cambria Math"/>
              </a:rPr>
              <a:t>2</a:t>
            </a:r>
            <a:r>
              <a:rPr sz="1600" b="0">
                <a:solidFill>
                  <a:srgbClr val="0F4C5C"/>
                </a:solidFill>
                <a:latin typeface="Cambria Math"/>
              </a:rPr>
              <a:t> + 2x</a:t>
            </a:r>
            <a:r>
              <a:rPr sz="1600" b="0" baseline="-25000">
                <a:solidFill>
                  <a:srgbClr val="0F4C5C"/>
                </a:solidFill>
                <a:latin typeface="Cambria Math"/>
              </a:rPr>
              <a:t>4</a:t>
            </a:r>
          </a:p>
        </p:txBody>
      </p:sp>
      <p:sp>
        <p:nvSpPr>
          <p:cNvPr id="5" name="Rounded Rectangle 4"/>
          <p:cNvSpPr/>
          <p:nvPr/>
        </p:nvSpPr>
        <p:spPr>
          <a:xfrm>
            <a:off x="548640" y="3201253"/>
            <a:ext cx="4486832"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Confundidos: </a:t>
            </a:r>
            <a:r>
              <a:rPr sz="1500" b="1">
                <a:solidFill>
                  <a:srgbClr val="142B33"/>
                </a:solidFill>
                <a:latin typeface="Calibri"/>
              </a:rPr>
              <a:t>ABC, AB</a:t>
            </a:r>
            <a:r>
              <a:rPr sz="1500" b="1" baseline="30000">
                <a:solidFill>
                  <a:srgbClr val="142B33"/>
                </a:solidFill>
                <a:latin typeface="Calibri"/>
              </a:rPr>
              <a:t>2</a:t>
            </a:r>
            <a:r>
              <a:rPr sz="1500" b="1">
                <a:solidFill>
                  <a:srgbClr val="142B33"/>
                </a:solidFill>
                <a:latin typeface="Calibri"/>
              </a:rPr>
              <a:t>D</a:t>
            </a:r>
            <a:r>
              <a:rPr sz="1500" b="1" baseline="30000">
                <a:solidFill>
                  <a:srgbClr val="142B33"/>
                </a:solidFill>
                <a:latin typeface="Calibri"/>
              </a:rPr>
              <a:t>2</a:t>
            </a:r>
            <a:r>
              <a:rPr sz="1500" b="1">
                <a:solidFill>
                  <a:srgbClr val="142B33"/>
                </a:solidFill>
                <a:latin typeface="Calibri"/>
              </a:rPr>
              <a:t>, AC</a:t>
            </a:r>
            <a:r>
              <a:rPr sz="1500" b="1" baseline="30000">
                <a:solidFill>
                  <a:srgbClr val="142B33"/>
                </a:solidFill>
                <a:latin typeface="Calibri"/>
              </a:rPr>
              <a:t>2</a:t>
            </a:r>
            <a:r>
              <a:rPr sz="1500" b="1">
                <a:solidFill>
                  <a:srgbClr val="142B33"/>
                </a:solidFill>
                <a:latin typeface="Calibri"/>
              </a:rPr>
              <a:t>D, BC</a:t>
            </a:r>
            <a:r>
              <a:rPr sz="1500" b="1" baseline="30000">
                <a:solidFill>
                  <a:srgbClr val="142B33"/>
                </a:solidFill>
                <a:latin typeface="Calibri"/>
              </a:rPr>
              <a:t>2</a:t>
            </a:r>
            <a:r>
              <a:rPr sz="1500" b="1">
                <a:solidFill>
                  <a:srgbClr val="142B33"/>
                </a:solidFill>
                <a:latin typeface="Calibri"/>
              </a:rPr>
              <a:t>D</a:t>
            </a:r>
            <a:r>
              <a:rPr sz="1500" b="1" baseline="30000">
                <a:solidFill>
                  <a:srgbClr val="142B33"/>
                </a:solidFill>
                <a:latin typeface="Calibri"/>
              </a:rPr>
              <a:t>2</a:t>
            </a:r>
            <a:r>
              <a:rPr sz="1500" b="0">
                <a:solidFill>
                  <a:srgbClr val="142B33"/>
                </a:solidFill>
                <a:latin typeface="Calibri"/>
              </a:rPr>
              <a:t> (4 × 2 = 8 g.l.)</a:t>
            </a:r>
          </a:p>
        </p:txBody>
      </p:sp>
      <p:graphicFrame>
        <p:nvGraphicFramePr>
          <p:cNvPr id="6" name="Table 5"/>
          <p:cNvGraphicFramePr>
            <a:graphicFrameLocks noGrp="1"/>
          </p:cNvGraphicFramePr>
          <p:nvPr/>
        </p:nvGraphicFramePr>
        <p:xfrm>
          <a:off x="5446952" y="1417320"/>
          <a:ext cx="6196102" cy="2316480"/>
        </p:xfrm>
        <a:graphic>
          <a:graphicData uri="http://schemas.openxmlformats.org/drawingml/2006/table">
            <a:tbl>
              <a:tblPr firstRow="0" bandRow="0">
                <a:tableStyleId>{5C22544A-7EE6-4342-B048-85BDC9FD1C3A}</a:tableStyleId>
              </a:tblPr>
              <a:tblGrid>
                <a:gridCol w="991376"/>
                <a:gridCol w="5204726"/>
              </a:tblGrid>
              <a:tr h="231648">
                <a:tc>
                  <a:txBody>
                    <a:bodyPr/>
                    <a:lstStyle/>
                    <a:p>
                      <a:pPr algn="l"/>
                      <a:r>
                        <a:rPr sz="1200" b="1">
                          <a:solidFill>
                            <a:srgbClr val="FFFFFF"/>
                          </a:solidFill>
                          <a:latin typeface="Calibri"/>
                        </a:rPr>
                        <a:t>(L</a:t>
                      </a:r>
                      <a:r>
                        <a:rPr sz="1200" b="1" baseline="-25000">
                          <a:solidFill>
                            <a:srgbClr val="FFFFFF"/>
                          </a:solidFill>
                          <a:latin typeface="Calibri"/>
                        </a:rPr>
                        <a:t>1</a:t>
                      </a:r>
                      <a:r>
                        <a:rPr sz="1200" b="1">
                          <a:solidFill>
                            <a:srgbClr val="FFFFFF"/>
                          </a:solidFill>
                          <a:latin typeface="Calibri"/>
                        </a:rPr>
                        <a:t>, L</a:t>
                      </a:r>
                      <a:r>
                        <a:rPr sz="1200" b="1" baseline="-25000">
                          <a:solidFill>
                            <a:srgbClr val="FFFFFF"/>
                          </a:solidFill>
                          <a:latin typeface="Calibri"/>
                        </a:rPr>
                        <a:t>2</a:t>
                      </a:r>
                      <a:r>
                        <a:rPr sz="1200" b="1">
                          <a:solidFill>
                            <a:srgbClr val="FFFFFF"/>
                          </a:solidFill>
                          <a:latin typeface="Calibri"/>
                        </a:rPr>
                        <a:t>)</a:t>
                      </a:r>
                    </a:p>
                  </a:txBody>
                  <a:tcPr marL="73152" marR="73152" marT="27432" marB="27432" anchor="ctr">
                    <a:solidFill>
                      <a:srgbClr val="0F4C5C"/>
                    </a:solidFill>
                  </a:tcPr>
                </a:tc>
                <a:tc>
                  <a:txBody>
                    <a:bodyPr/>
                    <a:lstStyle/>
                    <a:p>
                      <a:pPr algn="l"/>
                      <a:r>
                        <a:rPr sz="1200" b="1">
                          <a:solidFill>
                            <a:srgbClr val="FFFFFF"/>
                          </a:solidFill>
                          <a:latin typeface="Calibri"/>
                        </a:rPr>
                        <a:t>Bloque</a:t>
                      </a:r>
                    </a:p>
                  </a:txBody>
                  <a:tcPr marL="73152" marR="73152" marT="27432" marB="27432" anchor="ctr">
                    <a:solidFill>
                      <a:srgbClr val="0F4C5C"/>
                    </a:solidFill>
                  </a:tcPr>
                </a:tc>
              </a:tr>
              <a:tr h="231648">
                <a:tc>
                  <a:txBody>
                    <a:bodyPr/>
                    <a:lstStyle/>
                    <a:p>
                      <a:pPr algn="l"/>
                      <a:r>
                        <a:rPr sz="1200" b="0">
                          <a:solidFill>
                            <a:srgbClr val="142B33"/>
                          </a:solidFill>
                          <a:latin typeface="Calibri"/>
                        </a:rPr>
                        <a:t>(0, 0)</a:t>
                      </a:r>
                    </a:p>
                  </a:txBody>
                  <a:tcPr marL="73152" marR="73152" marT="27432" marB="27432" anchor="ctr">
                    <a:solidFill>
                      <a:srgbClr val="FFFFFF"/>
                    </a:solidFill>
                  </a:tcPr>
                </a:tc>
                <a:tc>
                  <a:txBody>
                    <a:bodyPr/>
                    <a:lstStyle/>
                    <a:p>
                      <a:pPr algn="l"/>
                      <a:r>
                        <a:rPr sz="1200" b="0">
                          <a:solidFill>
                            <a:srgbClr val="142B33"/>
                          </a:solidFill>
                          <a:latin typeface="Calibri"/>
                        </a:rPr>
                        <a:t>0000, 1110, 2220, 2101, 0211, 1021, 1202, 2012, 0122</a:t>
                      </a:r>
                    </a:p>
                  </a:txBody>
                  <a:tcPr marL="73152" marR="73152" marT="27432" marB="27432" anchor="ctr">
                    <a:solidFill>
                      <a:srgbClr val="FFFFFF"/>
                    </a:solidFill>
                  </a:tcPr>
                </a:tc>
              </a:tr>
              <a:tr h="231648">
                <a:tc>
                  <a:txBody>
                    <a:bodyPr/>
                    <a:lstStyle/>
                    <a:p>
                      <a:pPr algn="l"/>
                      <a:r>
                        <a:rPr sz="1200" b="0">
                          <a:solidFill>
                            <a:srgbClr val="142B33"/>
                          </a:solidFill>
                          <a:latin typeface="Calibri"/>
                        </a:rPr>
                        <a:t>(0, 1)</a:t>
                      </a:r>
                    </a:p>
                  </a:txBody>
                  <a:tcPr marL="73152" marR="73152" marT="27432" marB="27432" anchor="ctr">
                    <a:solidFill>
                      <a:srgbClr val="F4F8F9"/>
                    </a:solidFill>
                  </a:tcPr>
                </a:tc>
                <a:tc>
                  <a:txBody>
                    <a:bodyPr/>
                    <a:lstStyle/>
                    <a:p>
                      <a:pPr algn="l"/>
                      <a:r>
                        <a:rPr sz="1200" b="0">
                          <a:solidFill>
                            <a:srgbClr val="142B33"/>
                          </a:solidFill>
                          <a:latin typeface="Calibri"/>
                        </a:rPr>
                        <a:t>2100, 0210, 1020, 1201, 2011, 0121, 0002, 1112, 2222</a:t>
                      </a:r>
                    </a:p>
                  </a:txBody>
                  <a:tcPr marL="73152" marR="73152" marT="27432" marB="27432" anchor="ctr">
                    <a:solidFill>
                      <a:srgbClr val="F4F8F9"/>
                    </a:solidFill>
                  </a:tcPr>
                </a:tc>
              </a:tr>
              <a:tr h="231648">
                <a:tc>
                  <a:txBody>
                    <a:bodyPr/>
                    <a:lstStyle/>
                    <a:p>
                      <a:pPr algn="l"/>
                      <a:r>
                        <a:rPr sz="1200" b="0">
                          <a:solidFill>
                            <a:srgbClr val="142B33"/>
                          </a:solidFill>
                          <a:latin typeface="Calibri"/>
                        </a:rPr>
                        <a:t>(0, 2)</a:t>
                      </a:r>
                    </a:p>
                  </a:txBody>
                  <a:tcPr marL="73152" marR="73152" marT="27432" marB="27432" anchor="ctr">
                    <a:solidFill>
                      <a:srgbClr val="FFFFFF"/>
                    </a:solidFill>
                  </a:tcPr>
                </a:tc>
                <a:tc>
                  <a:txBody>
                    <a:bodyPr/>
                    <a:lstStyle/>
                    <a:p>
                      <a:pPr algn="l"/>
                      <a:r>
                        <a:rPr sz="1200" b="0">
                          <a:solidFill>
                            <a:srgbClr val="142B33"/>
                          </a:solidFill>
                          <a:latin typeface="Calibri"/>
                        </a:rPr>
                        <a:t>1200, 2010, 0120, 0001, 1111, 2221, 2102, 0212, 1022</a:t>
                      </a:r>
                    </a:p>
                  </a:txBody>
                  <a:tcPr marL="73152" marR="73152" marT="27432" marB="27432" anchor="ctr">
                    <a:solidFill>
                      <a:srgbClr val="FFFFFF"/>
                    </a:solidFill>
                  </a:tcPr>
                </a:tc>
              </a:tr>
              <a:tr h="231648">
                <a:tc>
                  <a:txBody>
                    <a:bodyPr/>
                    <a:lstStyle/>
                    <a:p>
                      <a:pPr algn="l"/>
                      <a:r>
                        <a:rPr sz="1200" b="0">
                          <a:solidFill>
                            <a:srgbClr val="142B33"/>
                          </a:solidFill>
                          <a:latin typeface="Calibri"/>
                        </a:rPr>
                        <a:t>(1, 0)</a:t>
                      </a:r>
                    </a:p>
                  </a:txBody>
                  <a:tcPr marL="73152" marR="73152" marT="27432" marB="27432" anchor="ctr">
                    <a:solidFill>
                      <a:srgbClr val="F4F8F9"/>
                    </a:solidFill>
                  </a:tcPr>
                </a:tc>
                <a:tc>
                  <a:txBody>
                    <a:bodyPr/>
                    <a:lstStyle/>
                    <a:p>
                      <a:pPr algn="l"/>
                      <a:r>
                        <a:rPr sz="1200" b="0">
                          <a:solidFill>
                            <a:srgbClr val="142B33"/>
                          </a:solidFill>
                          <a:latin typeface="Calibri"/>
                        </a:rPr>
                        <a:t>2200, 0010, 1120, 1001, 2111, 0221, 0102, 1212, 2022</a:t>
                      </a:r>
                    </a:p>
                  </a:txBody>
                  <a:tcPr marL="73152" marR="73152" marT="27432" marB="27432" anchor="ctr">
                    <a:solidFill>
                      <a:srgbClr val="F4F8F9"/>
                    </a:solidFill>
                  </a:tcPr>
                </a:tc>
              </a:tr>
              <a:tr h="231648">
                <a:tc>
                  <a:txBody>
                    <a:bodyPr/>
                    <a:lstStyle/>
                    <a:p>
                      <a:pPr algn="l"/>
                      <a:r>
                        <a:rPr sz="1200" b="0">
                          <a:solidFill>
                            <a:srgbClr val="142B33"/>
                          </a:solidFill>
                          <a:latin typeface="Calibri"/>
                        </a:rPr>
                        <a:t>(1, 1)</a:t>
                      </a:r>
                    </a:p>
                  </a:txBody>
                  <a:tcPr marL="73152" marR="73152" marT="27432" marB="27432" anchor="ctr">
                    <a:solidFill>
                      <a:srgbClr val="FFFFFF"/>
                    </a:solidFill>
                  </a:tcPr>
                </a:tc>
                <a:tc>
                  <a:txBody>
                    <a:bodyPr/>
                    <a:lstStyle/>
                    <a:p>
                      <a:pPr algn="l"/>
                      <a:r>
                        <a:rPr sz="1200" b="0">
                          <a:solidFill>
                            <a:srgbClr val="142B33"/>
                          </a:solidFill>
                          <a:latin typeface="Calibri"/>
                        </a:rPr>
                        <a:t>1000, 2110, 0220, 0101, 1211, 2021, 2202, 0012, 1122</a:t>
                      </a:r>
                    </a:p>
                  </a:txBody>
                  <a:tcPr marL="73152" marR="73152" marT="27432" marB="27432" anchor="ctr">
                    <a:solidFill>
                      <a:srgbClr val="FFFFFF"/>
                    </a:solidFill>
                  </a:tcPr>
                </a:tc>
              </a:tr>
              <a:tr h="231648">
                <a:tc>
                  <a:txBody>
                    <a:bodyPr/>
                    <a:lstStyle/>
                    <a:p>
                      <a:pPr algn="l"/>
                      <a:r>
                        <a:rPr sz="1200" b="0">
                          <a:solidFill>
                            <a:srgbClr val="142B33"/>
                          </a:solidFill>
                          <a:latin typeface="Calibri"/>
                        </a:rPr>
                        <a:t>(1, 2)</a:t>
                      </a:r>
                    </a:p>
                  </a:txBody>
                  <a:tcPr marL="73152" marR="73152" marT="27432" marB="27432" anchor="ctr">
                    <a:solidFill>
                      <a:srgbClr val="F4F8F9"/>
                    </a:solidFill>
                  </a:tcPr>
                </a:tc>
                <a:tc>
                  <a:txBody>
                    <a:bodyPr/>
                    <a:lstStyle/>
                    <a:p>
                      <a:pPr algn="l"/>
                      <a:r>
                        <a:rPr sz="1200" b="0">
                          <a:solidFill>
                            <a:srgbClr val="142B33"/>
                          </a:solidFill>
                          <a:latin typeface="Calibri"/>
                        </a:rPr>
                        <a:t>0100, 1210, 2020, 2201, 0011, 1121, 1002, 2112, 0222</a:t>
                      </a:r>
                    </a:p>
                  </a:txBody>
                  <a:tcPr marL="73152" marR="73152" marT="27432" marB="27432" anchor="ctr">
                    <a:solidFill>
                      <a:srgbClr val="F4F8F9"/>
                    </a:solidFill>
                  </a:tcPr>
                </a:tc>
              </a:tr>
              <a:tr h="231648">
                <a:tc>
                  <a:txBody>
                    <a:bodyPr/>
                    <a:lstStyle/>
                    <a:p>
                      <a:pPr algn="l"/>
                      <a:r>
                        <a:rPr sz="1200" b="0">
                          <a:solidFill>
                            <a:srgbClr val="142B33"/>
                          </a:solidFill>
                          <a:latin typeface="Calibri"/>
                        </a:rPr>
                        <a:t>(2, 0)</a:t>
                      </a:r>
                    </a:p>
                  </a:txBody>
                  <a:tcPr marL="73152" marR="73152" marT="27432" marB="27432" anchor="ctr">
                    <a:solidFill>
                      <a:srgbClr val="FFFFFF"/>
                    </a:solidFill>
                  </a:tcPr>
                </a:tc>
                <a:tc>
                  <a:txBody>
                    <a:bodyPr/>
                    <a:lstStyle/>
                    <a:p>
                      <a:pPr algn="l"/>
                      <a:r>
                        <a:rPr sz="1200" b="0">
                          <a:solidFill>
                            <a:srgbClr val="142B33"/>
                          </a:solidFill>
                          <a:latin typeface="Calibri"/>
                        </a:rPr>
                        <a:t>1100, 2210, 0020, 0201, 1011, 2121, 2002, 0112, 1222</a:t>
                      </a:r>
                    </a:p>
                  </a:txBody>
                  <a:tcPr marL="73152" marR="73152" marT="27432" marB="27432" anchor="ctr">
                    <a:solidFill>
                      <a:srgbClr val="FFFFFF"/>
                    </a:solidFill>
                  </a:tcPr>
                </a:tc>
              </a:tr>
              <a:tr h="231648">
                <a:tc>
                  <a:txBody>
                    <a:bodyPr/>
                    <a:lstStyle/>
                    <a:p>
                      <a:pPr algn="l"/>
                      <a:r>
                        <a:rPr sz="1200" b="0">
                          <a:solidFill>
                            <a:srgbClr val="142B33"/>
                          </a:solidFill>
                          <a:latin typeface="Calibri"/>
                        </a:rPr>
                        <a:t>(2, 1)</a:t>
                      </a:r>
                    </a:p>
                  </a:txBody>
                  <a:tcPr marL="73152" marR="73152" marT="27432" marB="27432" anchor="ctr">
                    <a:solidFill>
                      <a:srgbClr val="F4F8F9"/>
                    </a:solidFill>
                  </a:tcPr>
                </a:tc>
                <a:tc>
                  <a:txBody>
                    <a:bodyPr/>
                    <a:lstStyle/>
                    <a:p>
                      <a:pPr algn="l"/>
                      <a:r>
                        <a:rPr sz="1200" b="0">
                          <a:solidFill>
                            <a:srgbClr val="142B33"/>
                          </a:solidFill>
                          <a:latin typeface="Calibri"/>
                        </a:rPr>
                        <a:t>0200, 1010, 2120, 2001, 0111, 1221, 1102, 2212, 0022</a:t>
                      </a:r>
                    </a:p>
                  </a:txBody>
                  <a:tcPr marL="73152" marR="73152" marT="27432" marB="27432" anchor="ctr">
                    <a:solidFill>
                      <a:srgbClr val="F4F8F9"/>
                    </a:solidFill>
                  </a:tcPr>
                </a:tc>
              </a:tr>
              <a:tr h="231648">
                <a:tc>
                  <a:txBody>
                    <a:bodyPr/>
                    <a:lstStyle/>
                    <a:p>
                      <a:pPr algn="l"/>
                      <a:r>
                        <a:rPr sz="1200" b="0">
                          <a:solidFill>
                            <a:srgbClr val="142B33"/>
                          </a:solidFill>
                          <a:latin typeface="Calibri"/>
                        </a:rPr>
                        <a:t>(2, 2)</a:t>
                      </a:r>
                    </a:p>
                  </a:txBody>
                  <a:tcPr marL="73152" marR="73152" marT="27432" marB="27432" anchor="ctr">
                    <a:solidFill>
                      <a:srgbClr val="FFFFFF"/>
                    </a:solidFill>
                  </a:tcPr>
                </a:tc>
                <a:tc>
                  <a:txBody>
                    <a:bodyPr/>
                    <a:lstStyle/>
                    <a:p>
                      <a:pPr algn="l"/>
                      <a:r>
                        <a:rPr sz="1200" b="0">
                          <a:solidFill>
                            <a:srgbClr val="142B33"/>
                          </a:solidFill>
                          <a:latin typeface="Calibri"/>
                        </a:rPr>
                        <a:t>2000, 0110, 1220, 1101, 2211, 0021, 0202, 1012, 2122</a:t>
                      </a:r>
                    </a:p>
                  </a:txBody>
                  <a:tcPr marL="73152" marR="73152" marT="27432" marB="27432" anchor="ctr">
                    <a:solidFill>
                      <a:srgbClr val="FFFFFF"/>
                    </a:solidFill>
                  </a:tcPr>
                </a:tc>
              </a:tr>
            </a:tbl>
          </a:graphicData>
        </a:graphic>
      </p:graphicFrame>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Confusión en nueve y en 3</a:t>
            </a:r>
            <a:r>
              <a:rPr sz="1000" b="0" baseline="30000">
                <a:solidFill>
                  <a:srgbClr val="5B6B73"/>
                </a:solidFill>
                <a:latin typeface="Calibri"/>
              </a:rPr>
              <a:t>p</a:t>
            </a:r>
            <a:r>
              <a:rPr sz="1000" b="0">
                <a:solidFill>
                  <a:srgbClr val="5B6B73"/>
                </a:solidFill>
                <a:latin typeface="Calibri"/>
              </a:rPr>
              <a:t> bloques</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43</a:t>
            </a:r>
          </a:p>
        </p:txBody>
      </p:sp>
      <p:sp>
        <p:nvSpPr>
          <p:cNvPr id="9" name="Rounded Rectangle 8"/>
          <p:cNvSpPr/>
          <p:nvPr/>
        </p:nvSpPr>
        <p:spPr>
          <a:xfrm>
            <a:off x="548640" y="91440"/>
            <a:ext cx="375361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5 · Confusión en nueve y en 3</a:t>
            </a:r>
            <a:r>
              <a:rPr sz="1100" b="1" baseline="30000">
                <a:solidFill>
                  <a:srgbClr val="FFFFFF"/>
                </a:solidFill>
                <a:latin typeface="Calibri"/>
              </a:rPr>
              <a:t>p</a:t>
            </a:r>
            <a:r>
              <a:rPr sz="1100" b="1">
                <a:solidFill>
                  <a:srgbClr val="FFFFFF"/>
                </a:solidFill>
                <a:latin typeface="Calibri"/>
              </a:rPr>
              <a:t> bloques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El caso general: 3</a:t>
            </a:r>
            <a:r>
              <a:rPr sz="3000" b="1" baseline="30000">
                <a:solidFill>
                  <a:srgbClr val="0F4C5C"/>
                </a:solidFill>
                <a:latin typeface="Cambria"/>
              </a:rPr>
              <a:t>k</a:t>
            </a:r>
            <a:r>
              <a:rPr sz="3000" b="1">
                <a:solidFill>
                  <a:srgbClr val="0F4C5C"/>
                </a:solidFill>
                <a:latin typeface="Cambria"/>
              </a:rPr>
              <a:t> en 3</a:t>
            </a:r>
            <a:r>
              <a:rPr sz="3000" b="1" baseline="30000">
                <a:solidFill>
                  <a:srgbClr val="0F4C5C"/>
                </a:solidFill>
                <a:latin typeface="Cambria"/>
              </a:rPr>
              <a:t>p</a:t>
            </a:r>
            <a:r>
              <a:rPr sz="3000" b="1">
                <a:solidFill>
                  <a:srgbClr val="0F4C5C"/>
                </a:solidFill>
                <a:latin typeface="Cambria"/>
              </a:rPr>
              <a:t> bloques</a:t>
            </a:r>
          </a:p>
        </p:txBody>
      </p:sp>
      <p:sp>
        <p:nvSpPr>
          <p:cNvPr id="3" name="Rounded Rectangle 2"/>
          <p:cNvSpPr/>
          <p:nvPr/>
        </p:nvSpPr>
        <p:spPr>
          <a:xfrm>
            <a:off x="548640" y="1417320"/>
            <a:ext cx="4807320" cy="933744"/>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900" b="0">
                <a:solidFill>
                  <a:srgbClr val="0F4C5C"/>
                </a:solidFill>
                <a:latin typeface="Cambria Math"/>
              </a:rPr>
              <a:t>Adicionales = (3</a:t>
            </a:r>
            <a:r>
              <a:rPr sz="1900" b="0" baseline="30000">
                <a:solidFill>
                  <a:srgbClr val="0F4C5C"/>
                </a:solidFill>
                <a:latin typeface="Cambria Math"/>
              </a:rPr>
              <a:t>p</a:t>
            </a:r>
            <a:r>
              <a:rPr sz="1900" b="0">
                <a:solidFill>
                  <a:srgbClr val="0F4C5C"/>
                </a:solidFill>
                <a:latin typeface="Cambria Math"/>
              </a:rPr>
              <a:t> − 2p − 1) / 2</a:t>
            </a:r>
          </a:p>
          <a:p>
            <a:pPr algn="ctr"/>
            <a:r>
              <a:rPr sz="1900" b="0">
                <a:solidFill>
                  <a:srgbClr val="0F4C5C"/>
                </a:solidFill>
                <a:latin typeface="Cambria Math"/>
              </a:rPr>
              <a:t>Total confundidos = (3</a:t>
            </a:r>
            <a:r>
              <a:rPr sz="1900" b="0" baseline="30000">
                <a:solidFill>
                  <a:srgbClr val="0F4C5C"/>
                </a:solidFill>
                <a:latin typeface="Cambria Math"/>
              </a:rPr>
              <a:t>p</a:t>
            </a:r>
            <a:r>
              <a:rPr sz="1900" b="0">
                <a:solidFill>
                  <a:srgbClr val="0F4C5C"/>
                </a:solidFill>
                <a:latin typeface="Cambria Math"/>
              </a:rPr>
              <a:t> − 1) / 2</a:t>
            </a:r>
          </a:p>
        </p:txBody>
      </p:sp>
      <p:graphicFrame>
        <p:nvGraphicFramePr>
          <p:cNvPr id="4" name="Table 3"/>
          <p:cNvGraphicFramePr>
            <a:graphicFrameLocks noGrp="1"/>
          </p:cNvGraphicFramePr>
          <p:nvPr/>
        </p:nvGraphicFramePr>
        <p:xfrm>
          <a:off x="548640" y="2552232"/>
          <a:ext cx="4807319" cy="1405128"/>
        </p:xfrm>
        <a:graphic>
          <a:graphicData uri="http://schemas.openxmlformats.org/drawingml/2006/table">
            <a:tbl>
              <a:tblPr firstRow="0" bandRow="0">
                <a:tableStyleId>{5C22544A-7EE6-4342-B048-85BDC9FD1C3A}</a:tableStyleId>
              </a:tblPr>
              <a:tblGrid>
                <a:gridCol w="329744"/>
                <a:gridCol w="1006587"/>
                <a:gridCol w="1232201"/>
                <a:gridCol w="1457815"/>
                <a:gridCol w="780972"/>
              </a:tblGrid>
              <a:tr h="351282">
                <a:tc>
                  <a:txBody>
                    <a:bodyPr/>
                    <a:lstStyle/>
                    <a:p>
                      <a:pPr algn="ctr"/>
                      <a:r>
                        <a:rPr sz="1500" b="1">
                          <a:solidFill>
                            <a:srgbClr val="FFFFFF"/>
                          </a:solidFill>
                          <a:latin typeface="Calibri"/>
                        </a:rPr>
                        <a:t>p</a:t>
                      </a:r>
                    </a:p>
                  </a:txBody>
                  <a:tcPr marL="73152" marR="73152" marT="27432" marB="27432" anchor="ctr">
                    <a:solidFill>
                      <a:srgbClr val="0F4C5C"/>
                    </a:solidFill>
                  </a:tcPr>
                </a:tc>
                <a:tc>
                  <a:txBody>
                    <a:bodyPr/>
                    <a:lstStyle/>
                    <a:p>
                      <a:pPr algn="ctr"/>
                      <a:r>
                        <a:rPr sz="1500" b="1">
                          <a:solidFill>
                            <a:srgbClr val="FFFFFF"/>
                          </a:solidFill>
                          <a:latin typeface="Calibri"/>
                        </a:rPr>
                        <a:t>Bloques</a:t>
                      </a:r>
                    </a:p>
                  </a:txBody>
                  <a:tcPr marL="73152" marR="73152" marT="27432" marB="27432" anchor="ctr">
                    <a:solidFill>
                      <a:srgbClr val="0F4C5C"/>
                    </a:solidFill>
                  </a:tcPr>
                </a:tc>
                <a:tc>
                  <a:txBody>
                    <a:bodyPr/>
                    <a:lstStyle/>
                    <a:p>
                      <a:pPr algn="ctr"/>
                      <a:r>
                        <a:rPr sz="1500" b="1">
                          <a:solidFill>
                            <a:srgbClr val="FFFFFF"/>
                          </a:solidFill>
                          <a:latin typeface="Calibri"/>
                        </a:rPr>
                        <a:t>Se eligen</a:t>
                      </a:r>
                    </a:p>
                  </a:txBody>
                  <a:tcPr marL="73152" marR="73152" marT="27432" marB="27432" anchor="ctr">
                    <a:solidFill>
                      <a:srgbClr val="0F4C5C"/>
                    </a:solidFill>
                  </a:tcPr>
                </a:tc>
                <a:tc>
                  <a:txBody>
                    <a:bodyPr/>
                    <a:lstStyle/>
                    <a:p>
                      <a:pPr algn="ctr"/>
                      <a:r>
                        <a:rPr sz="1500" b="1">
                          <a:solidFill>
                            <a:srgbClr val="FFFFFF"/>
                          </a:solidFill>
                          <a:latin typeface="Calibri"/>
                        </a:rPr>
                        <a:t>Adicionales</a:t>
                      </a:r>
                    </a:p>
                  </a:txBody>
                  <a:tcPr marL="73152" marR="73152" marT="27432" marB="27432" anchor="ctr">
                    <a:solidFill>
                      <a:srgbClr val="0F4C5C"/>
                    </a:solidFill>
                  </a:tcPr>
                </a:tc>
                <a:tc>
                  <a:txBody>
                    <a:bodyPr/>
                    <a:lstStyle/>
                    <a:p>
                      <a:pPr algn="ctr"/>
                      <a:r>
                        <a:rPr sz="1500" b="1">
                          <a:solidFill>
                            <a:srgbClr val="FFFFFF"/>
                          </a:solidFill>
                          <a:latin typeface="Calibri"/>
                        </a:rPr>
                        <a:t>Total</a:t>
                      </a:r>
                    </a:p>
                  </a:txBody>
                  <a:tcPr marL="73152" marR="73152" marT="27432" marB="27432" anchor="ctr">
                    <a:solidFill>
                      <a:srgbClr val="0F4C5C"/>
                    </a:solidFill>
                  </a:tcPr>
                </a:tc>
              </a:tr>
              <a:tr h="351282">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3</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0</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r>
              <a:tr h="351282">
                <a:tc>
                  <a:txBody>
                    <a:bodyPr/>
                    <a:lstStyle/>
                    <a:p>
                      <a:pPr algn="ctr"/>
                      <a:r>
                        <a:rPr sz="1500" b="0">
                          <a:solidFill>
                            <a:srgbClr val="142B33"/>
                          </a:solidFill>
                          <a:latin typeface="Calibri"/>
                        </a:rPr>
                        <a:t>2</a:t>
                      </a:r>
                    </a:p>
                  </a:txBody>
                  <a:tcPr marL="73152" marR="73152" marT="27432" marB="27432" anchor="ctr">
                    <a:solidFill>
                      <a:srgbClr val="F4F8F9"/>
                    </a:solidFill>
                  </a:tcPr>
                </a:tc>
                <a:tc>
                  <a:txBody>
                    <a:bodyPr/>
                    <a:lstStyle/>
                    <a:p>
                      <a:pPr algn="ctr"/>
                      <a:r>
                        <a:rPr sz="1500" b="0">
                          <a:solidFill>
                            <a:srgbClr val="142B33"/>
                          </a:solidFill>
                          <a:latin typeface="Calibri"/>
                        </a:rPr>
                        <a:t>9</a:t>
                      </a:r>
                    </a:p>
                  </a:txBody>
                  <a:tcPr marL="73152" marR="73152" marT="27432" marB="27432" anchor="ctr">
                    <a:solidFill>
                      <a:srgbClr val="F4F8F9"/>
                    </a:solidFill>
                  </a:tcPr>
                </a:tc>
                <a:tc>
                  <a:txBody>
                    <a:bodyPr/>
                    <a:lstStyle/>
                    <a:p>
                      <a:pPr algn="ctr"/>
                      <a:r>
                        <a:rPr sz="1500" b="0">
                          <a:solidFill>
                            <a:srgbClr val="142B33"/>
                          </a:solidFill>
                          <a:latin typeface="Calibri"/>
                        </a:rPr>
                        <a:t>2</a:t>
                      </a:r>
                    </a:p>
                  </a:txBody>
                  <a:tcPr marL="73152" marR="73152" marT="27432" marB="27432" anchor="ctr">
                    <a:solidFill>
                      <a:srgbClr val="F4F8F9"/>
                    </a:solidFill>
                  </a:tcPr>
                </a:tc>
                <a:tc>
                  <a:txBody>
                    <a:bodyPr/>
                    <a:lstStyle/>
                    <a:p>
                      <a:pPr algn="ctr"/>
                      <a:r>
                        <a:rPr sz="1500" b="0">
                          <a:solidFill>
                            <a:srgbClr val="142B33"/>
                          </a:solidFill>
                          <a:latin typeface="Calibri"/>
                        </a:rPr>
                        <a:t>2</a:t>
                      </a:r>
                    </a:p>
                  </a:txBody>
                  <a:tcPr marL="73152" marR="73152" marT="27432" marB="27432" anchor="ctr">
                    <a:solidFill>
                      <a:srgbClr val="F4F8F9"/>
                    </a:solidFill>
                  </a:tcPr>
                </a:tc>
                <a:tc>
                  <a:txBody>
                    <a:bodyPr/>
                    <a:lstStyle/>
                    <a:p>
                      <a:pPr algn="ctr"/>
                      <a:r>
                        <a:rPr sz="1500" b="0">
                          <a:solidFill>
                            <a:srgbClr val="142B33"/>
                          </a:solidFill>
                          <a:latin typeface="Calibri"/>
                        </a:rPr>
                        <a:t>4</a:t>
                      </a:r>
                    </a:p>
                  </a:txBody>
                  <a:tcPr marL="73152" marR="73152" marT="27432" marB="27432" anchor="ctr">
                    <a:solidFill>
                      <a:srgbClr val="F4F8F9"/>
                    </a:solidFill>
                  </a:tcPr>
                </a:tc>
              </a:tr>
              <a:tr h="351282">
                <a:tc>
                  <a:txBody>
                    <a:bodyPr/>
                    <a:lstStyle/>
                    <a:p>
                      <a:pPr algn="ctr"/>
                      <a:r>
                        <a:rPr sz="1500" b="0">
                          <a:solidFill>
                            <a:srgbClr val="142B33"/>
                          </a:solidFill>
                          <a:latin typeface="Calibri"/>
                        </a:rPr>
                        <a:t>3</a:t>
                      </a:r>
                    </a:p>
                  </a:txBody>
                  <a:tcPr marL="73152" marR="73152" marT="27432" marB="27432" anchor="ctr">
                    <a:solidFill>
                      <a:srgbClr val="FFFFFF"/>
                    </a:solidFill>
                  </a:tcPr>
                </a:tc>
                <a:tc>
                  <a:txBody>
                    <a:bodyPr/>
                    <a:lstStyle/>
                    <a:p>
                      <a:pPr algn="ctr"/>
                      <a:r>
                        <a:rPr sz="1500" b="0">
                          <a:solidFill>
                            <a:srgbClr val="142B33"/>
                          </a:solidFill>
                          <a:latin typeface="Calibri"/>
                        </a:rPr>
                        <a:t>27</a:t>
                      </a:r>
                    </a:p>
                  </a:txBody>
                  <a:tcPr marL="73152" marR="73152" marT="27432" marB="27432" anchor="ctr">
                    <a:solidFill>
                      <a:srgbClr val="FFFFFF"/>
                    </a:solidFill>
                  </a:tcPr>
                </a:tc>
                <a:tc>
                  <a:txBody>
                    <a:bodyPr/>
                    <a:lstStyle/>
                    <a:p>
                      <a:pPr algn="ctr"/>
                      <a:r>
                        <a:rPr sz="1500" b="0">
                          <a:solidFill>
                            <a:srgbClr val="142B33"/>
                          </a:solidFill>
                          <a:latin typeface="Calibri"/>
                        </a:rPr>
                        <a:t>3</a:t>
                      </a:r>
                    </a:p>
                  </a:txBody>
                  <a:tcPr marL="73152" marR="73152" marT="27432" marB="27432" anchor="ctr">
                    <a:solidFill>
                      <a:srgbClr val="FFFFFF"/>
                    </a:solidFill>
                  </a:tcPr>
                </a:tc>
                <a:tc>
                  <a:txBody>
                    <a:bodyPr/>
                    <a:lstStyle/>
                    <a:p>
                      <a:pPr algn="ctr"/>
                      <a:r>
                        <a:rPr sz="1500" b="0">
                          <a:solidFill>
                            <a:srgbClr val="142B33"/>
                          </a:solidFill>
                          <a:latin typeface="Calibri"/>
                        </a:rPr>
                        <a:t>10</a:t>
                      </a:r>
                    </a:p>
                  </a:txBody>
                  <a:tcPr marL="73152" marR="73152" marT="27432" marB="27432" anchor="ctr">
                    <a:solidFill>
                      <a:srgbClr val="FFFFFF"/>
                    </a:solidFill>
                  </a:tcPr>
                </a:tc>
                <a:tc>
                  <a:txBody>
                    <a:bodyPr/>
                    <a:lstStyle/>
                    <a:p>
                      <a:pPr algn="ctr"/>
                      <a:r>
                        <a:rPr sz="1500" b="0">
                          <a:solidFill>
                            <a:srgbClr val="142B33"/>
                          </a:solidFill>
                          <a:latin typeface="Calibri"/>
                        </a:rPr>
                        <a:t>13</a:t>
                      </a:r>
                    </a:p>
                  </a:txBody>
                  <a:tcPr marL="73152" marR="73152" marT="27432" marB="27432" anchor="ctr">
                    <a:solidFill>
                      <a:srgbClr val="FFFFFF"/>
                    </a:solidFill>
                  </a:tcPr>
                </a:tc>
              </a:tr>
            </a:tbl>
          </a:graphicData>
        </a:graphic>
      </p:graphicFrame>
      <p:sp>
        <p:nvSpPr>
          <p:cNvPr id="5" name="TextBox 4"/>
          <p:cNvSpPr txBox="1"/>
          <p:nvPr/>
        </p:nvSpPr>
        <p:spPr>
          <a:xfrm>
            <a:off x="5767440" y="1417320"/>
            <a:ext cx="5875614" cy="470407"/>
          </a:xfrm>
          <a:prstGeom prst="rect">
            <a:avLst/>
          </a:prstGeom>
          <a:noFill/>
        </p:spPr>
        <p:txBody>
          <a:bodyPr wrap="square" anchor="t" lIns="0" rIns="0" tIns="0" bIns="0">
            <a:spAutoFit/>
          </a:bodyPr>
          <a:lstStyle/>
          <a:p>
            <a:r>
              <a:rPr sz="1400" b="1">
                <a:solidFill>
                  <a:srgbClr val="5B6B73"/>
                </a:solidFill>
                <a:latin typeface="Calibri"/>
              </a:rPr>
              <a:t>3</a:t>
            </a:r>
            <a:r>
              <a:rPr sz="1400" b="1" baseline="30000">
                <a:solidFill>
                  <a:srgbClr val="5B6B73"/>
                </a:solidFill>
                <a:latin typeface="Calibri"/>
              </a:rPr>
              <a:t>7</a:t>
            </a:r>
            <a:r>
              <a:rPr sz="1400" b="1">
                <a:solidFill>
                  <a:srgbClr val="5B6B73"/>
                </a:solidFill>
                <a:latin typeface="Calibri"/>
              </a:rPr>
              <a:t> en 27 bloques</a:t>
            </a:r>
            <a:r>
              <a:rPr sz="1400" b="0">
                <a:solidFill>
                  <a:srgbClr val="5B6B73"/>
                </a:solidFill>
                <a:latin typeface="Calibri"/>
              </a:rPr>
              <a:t> con ABC</a:t>
            </a:r>
            <a:r>
              <a:rPr sz="1400" b="0" baseline="30000">
                <a:solidFill>
                  <a:srgbClr val="5B6B73"/>
                </a:solidFill>
                <a:latin typeface="Calibri"/>
              </a:rPr>
              <a:t>2</a:t>
            </a:r>
            <a:r>
              <a:rPr sz="1400" b="0">
                <a:solidFill>
                  <a:srgbClr val="5B6B73"/>
                </a:solidFill>
                <a:latin typeface="Calibri"/>
              </a:rPr>
              <a:t>DG, BCE</a:t>
            </a:r>
            <a:r>
              <a:rPr sz="1400" b="0" baseline="30000">
                <a:solidFill>
                  <a:srgbClr val="5B6B73"/>
                </a:solidFill>
                <a:latin typeface="Calibri"/>
              </a:rPr>
              <a:t>2</a:t>
            </a:r>
            <a:r>
              <a:rPr sz="1400" b="0">
                <a:solidFill>
                  <a:srgbClr val="5B6B73"/>
                </a:solidFill>
                <a:latin typeface="Calibri"/>
              </a:rPr>
              <a:t>F</a:t>
            </a:r>
            <a:r>
              <a:rPr sz="1400" b="0" baseline="30000">
                <a:solidFill>
                  <a:srgbClr val="5B6B73"/>
                </a:solidFill>
                <a:latin typeface="Calibri"/>
              </a:rPr>
              <a:t>2</a:t>
            </a:r>
            <a:r>
              <a:rPr sz="1400" b="0">
                <a:solidFill>
                  <a:srgbClr val="5B6B73"/>
                </a:solidFill>
                <a:latin typeface="Calibri"/>
              </a:rPr>
              <a:t>G y BDEFG; los 13 componentes confundidos:</a:t>
            </a:r>
          </a:p>
        </p:txBody>
      </p:sp>
      <p:sp>
        <p:nvSpPr>
          <p:cNvPr id="6" name="TextBox 5"/>
          <p:cNvSpPr txBox="1"/>
          <p:nvPr/>
        </p:nvSpPr>
        <p:spPr>
          <a:xfrm>
            <a:off x="5767440" y="2088896"/>
            <a:ext cx="5875614" cy="439419"/>
          </a:xfrm>
          <a:prstGeom prst="rect">
            <a:avLst/>
          </a:prstGeom>
          <a:noFill/>
        </p:spPr>
        <p:txBody>
          <a:bodyPr wrap="square" anchor="t" lIns="0" rIns="0" tIns="0" bIns="0">
            <a:spAutoFit/>
          </a:bodyPr>
          <a:lstStyle/>
          <a:p>
            <a:r>
              <a:rPr sz="1300" b="0">
                <a:solidFill>
                  <a:srgbClr val="5B6B73"/>
                </a:solidFill>
                <a:latin typeface="Calibri"/>
              </a:rPr>
              <a:t>AD</a:t>
            </a:r>
            <a:r>
              <a:rPr sz="1300" b="0" baseline="30000">
                <a:solidFill>
                  <a:srgbClr val="5B6B73"/>
                </a:solidFill>
                <a:latin typeface="Calibri"/>
              </a:rPr>
              <a:t>2</a:t>
            </a:r>
            <a:r>
              <a:rPr sz="1300" b="0">
                <a:solidFill>
                  <a:srgbClr val="5B6B73"/>
                </a:solidFill>
                <a:latin typeface="Calibri"/>
              </a:rPr>
              <a:t>,  CD</a:t>
            </a:r>
            <a:r>
              <a:rPr sz="1300" b="0" baseline="30000">
                <a:solidFill>
                  <a:srgbClr val="5B6B73"/>
                </a:solidFill>
                <a:latin typeface="Calibri"/>
              </a:rPr>
              <a:t>2</a:t>
            </a:r>
            <a:r>
              <a:rPr sz="1300" b="0">
                <a:solidFill>
                  <a:srgbClr val="5B6B73"/>
                </a:solidFill>
                <a:latin typeface="Calibri"/>
              </a:rPr>
              <a:t>EF,  BC</a:t>
            </a:r>
            <a:r>
              <a:rPr sz="1300" b="0" baseline="30000">
                <a:solidFill>
                  <a:srgbClr val="5B6B73"/>
                </a:solidFill>
                <a:latin typeface="Calibri"/>
              </a:rPr>
              <a:t>2</a:t>
            </a:r>
            <a:r>
              <a:rPr sz="1300" b="0">
                <a:solidFill>
                  <a:srgbClr val="5B6B73"/>
                </a:solidFill>
                <a:latin typeface="Calibri"/>
              </a:rPr>
              <a:t>D</a:t>
            </a:r>
            <a:r>
              <a:rPr sz="1300" b="0" baseline="30000">
                <a:solidFill>
                  <a:srgbClr val="5B6B73"/>
                </a:solidFill>
                <a:latin typeface="Calibri"/>
              </a:rPr>
              <a:t>2</a:t>
            </a:r>
            <a:r>
              <a:rPr sz="1300" b="0">
                <a:solidFill>
                  <a:srgbClr val="5B6B73"/>
                </a:solidFill>
                <a:latin typeface="Calibri"/>
              </a:rPr>
              <a:t>G,  AC</a:t>
            </a:r>
            <a:r>
              <a:rPr sz="1300" b="0" baseline="30000">
                <a:solidFill>
                  <a:srgbClr val="5B6B73"/>
                </a:solidFill>
                <a:latin typeface="Calibri"/>
              </a:rPr>
              <a:t>2</a:t>
            </a:r>
            <a:r>
              <a:rPr sz="1300" b="0">
                <a:solidFill>
                  <a:srgbClr val="5B6B73"/>
                </a:solidFill>
                <a:latin typeface="Calibri"/>
              </a:rPr>
              <a:t>E</a:t>
            </a:r>
            <a:r>
              <a:rPr sz="1300" b="0" baseline="30000">
                <a:solidFill>
                  <a:srgbClr val="5B6B73"/>
                </a:solidFill>
                <a:latin typeface="Calibri"/>
              </a:rPr>
              <a:t>2</a:t>
            </a:r>
            <a:r>
              <a:rPr sz="1300" b="0">
                <a:solidFill>
                  <a:srgbClr val="5B6B73"/>
                </a:solidFill>
                <a:latin typeface="Calibri"/>
              </a:rPr>
              <a:t>F</a:t>
            </a:r>
            <a:r>
              <a:rPr sz="1300" b="0" baseline="30000">
                <a:solidFill>
                  <a:srgbClr val="5B6B73"/>
                </a:solidFill>
                <a:latin typeface="Calibri"/>
              </a:rPr>
              <a:t>2</a:t>
            </a:r>
            <a:r>
              <a:rPr sz="1300" b="0">
                <a:solidFill>
                  <a:srgbClr val="5B6B73"/>
                </a:solidFill>
                <a:latin typeface="Calibri"/>
              </a:rPr>
              <a:t>,  AB</a:t>
            </a:r>
            <a:r>
              <a:rPr sz="1300" b="0" baseline="30000">
                <a:solidFill>
                  <a:srgbClr val="5B6B73"/>
                </a:solidFill>
                <a:latin typeface="Calibri"/>
              </a:rPr>
              <a:t>2</a:t>
            </a:r>
            <a:r>
              <a:rPr sz="1300" b="0">
                <a:solidFill>
                  <a:srgbClr val="5B6B73"/>
                </a:solidFill>
                <a:latin typeface="Calibri"/>
              </a:rPr>
              <a:t>CG</a:t>
            </a:r>
            <a:r>
              <a:rPr sz="1300" b="0" baseline="30000">
                <a:solidFill>
                  <a:srgbClr val="5B6B73"/>
                </a:solidFill>
                <a:latin typeface="Calibri"/>
              </a:rPr>
              <a:t>2</a:t>
            </a:r>
            <a:r>
              <a:rPr sz="1300" b="0">
                <a:solidFill>
                  <a:srgbClr val="5B6B73"/>
                </a:solidFill>
                <a:latin typeface="Calibri"/>
              </a:rPr>
              <a:t>,  BDEFG,  BCE</a:t>
            </a:r>
            <a:r>
              <a:rPr sz="1300" b="0" baseline="30000">
                <a:solidFill>
                  <a:srgbClr val="5B6B73"/>
                </a:solidFill>
                <a:latin typeface="Calibri"/>
              </a:rPr>
              <a:t>2</a:t>
            </a:r>
            <a:r>
              <a:rPr sz="1300" b="0">
                <a:solidFill>
                  <a:srgbClr val="5B6B73"/>
                </a:solidFill>
                <a:latin typeface="Calibri"/>
              </a:rPr>
              <a:t>F</a:t>
            </a:r>
            <a:r>
              <a:rPr sz="1300" b="0" baseline="30000">
                <a:solidFill>
                  <a:srgbClr val="5B6B73"/>
                </a:solidFill>
                <a:latin typeface="Calibri"/>
              </a:rPr>
              <a:t>2</a:t>
            </a:r>
            <a:r>
              <a:rPr sz="1300" b="0">
                <a:solidFill>
                  <a:srgbClr val="5B6B73"/>
                </a:solidFill>
                <a:latin typeface="Calibri"/>
              </a:rPr>
              <a:t>G,  ACDEF,  ABEFG,  ABC</a:t>
            </a:r>
            <a:r>
              <a:rPr sz="1300" b="0" baseline="30000">
                <a:solidFill>
                  <a:srgbClr val="5B6B73"/>
                </a:solidFill>
                <a:latin typeface="Calibri"/>
              </a:rPr>
              <a:t>2</a:t>
            </a:r>
            <a:r>
              <a:rPr sz="1300" b="0">
                <a:solidFill>
                  <a:srgbClr val="5B6B73"/>
                </a:solidFill>
                <a:latin typeface="Calibri"/>
              </a:rPr>
              <a:t>DG,  AB</a:t>
            </a:r>
            <a:r>
              <a:rPr sz="1300" b="0" baseline="30000">
                <a:solidFill>
                  <a:srgbClr val="5B6B73"/>
                </a:solidFill>
                <a:latin typeface="Calibri"/>
              </a:rPr>
              <a:t>2</a:t>
            </a:r>
            <a:r>
              <a:rPr sz="1300" b="0">
                <a:solidFill>
                  <a:srgbClr val="5B6B73"/>
                </a:solidFill>
                <a:latin typeface="Calibri"/>
              </a:rPr>
              <a:t>DE</a:t>
            </a:r>
            <a:r>
              <a:rPr sz="1300" b="0" baseline="30000">
                <a:solidFill>
                  <a:srgbClr val="5B6B73"/>
                </a:solidFill>
                <a:latin typeface="Calibri"/>
              </a:rPr>
              <a:t>2</a:t>
            </a:r>
            <a:r>
              <a:rPr sz="1300" b="0">
                <a:solidFill>
                  <a:srgbClr val="5B6B73"/>
                </a:solidFill>
                <a:latin typeface="Calibri"/>
              </a:rPr>
              <a:t>F</a:t>
            </a:r>
            <a:r>
              <a:rPr sz="1300" b="0" baseline="30000">
                <a:solidFill>
                  <a:srgbClr val="5B6B73"/>
                </a:solidFill>
                <a:latin typeface="Calibri"/>
              </a:rPr>
              <a:t>2</a:t>
            </a:r>
            <a:r>
              <a:rPr sz="1300" b="0">
                <a:solidFill>
                  <a:srgbClr val="5B6B73"/>
                </a:solidFill>
                <a:latin typeface="Calibri"/>
              </a:rPr>
              <a:t>G</a:t>
            </a:r>
            <a:r>
              <a:rPr sz="1300" b="0" baseline="30000">
                <a:solidFill>
                  <a:srgbClr val="5B6B73"/>
                </a:solidFill>
                <a:latin typeface="Calibri"/>
              </a:rPr>
              <a:t>2</a:t>
            </a:r>
            <a:r>
              <a:rPr sz="1300" b="0">
                <a:solidFill>
                  <a:srgbClr val="5B6B73"/>
                </a:solidFill>
                <a:latin typeface="Calibri"/>
              </a:rPr>
              <a:t>,  ABCD</a:t>
            </a:r>
            <a:r>
              <a:rPr sz="1300" b="0" baseline="30000">
                <a:solidFill>
                  <a:srgbClr val="5B6B73"/>
                </a:solidFill>
                <a:latin typeface="Calibri"/>
              </a:rPr>
              <a:t>2</a:t>
            </a:r>
            <a:r>
              <a:rPr sz="1300" b="0">
                <a:solidFill>
                  <a:srgbClr val="5B6B73"/>
                </a:solidFill>
                <a:latin typeface="Calibri"/>
              </a:rPr>
              <a:t>E</a:t>
            </a:r>
            <a:r>
              <a:rPr sz="1300" b="0" baseline="30000">
                <a:solidFill>
                  <a:srgbClr val="5B6B73"/>
                </a:solidFill>
                <a:latin typeface="Calibri"/>
              </a:rPr>
              <a:t>2</a:t>
            </a:r>
            <a:r>
              <a:rPr sz="1300" b="0">
                <a:solidFill>
                  <a:srgbClr val="5B6B73"/>
                </a:solidFill>
                <a:latin typeface="Calibri"/>
              </a:rPr>
              <a:t>F</a:t>
            </a:r>
            <a:r>
              <a:rPr sz="1300" b="0" baseline="30000">
                <a:solidFill>
                  <a:srgbClr val="5B6B73"/>
                </a:solidFill>
                <a:latin typeface="Calibri"/>
              </a:rPr>
              <a:t>2</a:t>
            </a:r>
            <a:r>
              <a:rPr sz="1300" b="0">
                <a:solidFill>
                  <a:srgbClr val="5B6B73"/>
                </a:solidFill>
                <a:latin typeface="Calibri"/>
              </a:rPr>
              <a:t>G,  AB</a:t>
            </a:r>
            <a:r>
              <a:rPr sz="1300" b="0" baseline="30000">
                <a:solidFill>
                  <a:srgbClr val="5B6B73"/>
                </a:solidFill>
                <a:latin typeface="Calibri"/>
              </a:rPr>
              <a:t>2</a:t>
            </a:r>
            <a:r>
              <a:rPr sz="1300" b="0">
                <a:solidFill>
                  <a:srgbClr val="5B6B73"/>
                </a:solidFill>
                <a:latin typeface="Calibri"/>
              </a:rPr>
              <a:t>C</a:t>
            </a:r>
            <a:r>
              <a:rPr sz="1300" b="0" baseline="30000">
                <a:solidFill>
                  <a:srgbClr val="5B6B73"/>
                </a:solidFill>
                <a:latin typeface="Calibri"/>
              </a:rPr>
              <a:t>2</a:t>
            </a:r>
            <a:r>
              <a:rPr sz="1300" b="0">
                <a:solidFill>
                  <a:srgbClr val="5B6B73"/>
                </a:solidFill>
                <a:latin typeface="Calibri"/>
              </a:rPr>
              <a:t>D</a:t>
            </a:r>
            <a:r>
              <a:rPr sz="1300" b="0" baseline="30000">
                <a:solidFill>
                  <a:srgbClr val="5B6B73"/>
                </a:solidFill>
                <a:latin typeface="Calibri"/>
              </a:rPr>
              <a:t>2</a:t>
            </a:r>
            <a:r>
              <a:rPr sz="1300" b="0">
                <a:solidFill>
                  <a:srgbClr val="5B6B73"/>
                </a:solidFill>
                <a:latin typeface="Calibri"/>
              </a:rPr>
              <a:t>EFG</a:t>
            </a:r>
            <a:r>
              <a:rPr sz="1300" b="0" baseline="30000">
                <a:solidFill>
                  <a:srgbClr val="5B6B73"/>
                </a:solidFill>
                <a:latin typeface="Calibri"/>
              </a:rPr>
              <a:t>2</a:t>
            </a:r>
          </a:p>
        </p:txBody>
      </p:sp>
      <p:sp>
        <p:nvSpPr>
          <p:cNvPr id="7" name="Rounded Rectangle 6"/>
          <p:cNvSpPr/>
          <p:nvPr/>
        </p:nvSpPr>
        <p:spPr>
          <a:xfrm>
            <a:off x="5767440" y="2729484"/>
            <a:ext cx="5875614"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Productos de dos generadores (6) y de tres con exponentes 1 y 2 (4) = 10 adicionales</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Confusión en nueve y en 3</a:t>
            </a:r>
            <a:r>
              <a:rPr sz="1000" b="0" baseline="30000">
                <a:solidFill>
                  <a:srgbClr val="5B6B73"/>
                </a:solidFill>
                <a:latin typeface="Calibri"/>
              </a:rPr>
              <a:t>p</a:t>
            </a:r>
            <a:r>
              <a:rPr sz="1000" b="0">
                <a:solidFill>
                  <a:srgbClr val="5B6B73"/>
                </a:solidFill>
                <a:latin typeface="Calibri"/>
              </a:rPr>
              <a:t> bloques</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44</a:t>
            </a:r>
          </a:p>
        </p:txBody>
      </p:sp>
      <p:sp>
        <p:nvSpPr>
          <p:cNvPr id="10" name="Rounded Rectangle 9"/>
          <p:cNvSpPr/>
          <p:nvPr/>
        </p:nvSpPr>
        <p:spPr>
          <a:xfrm>
            <a:off x="548640" y="91440"/>
            <a:ext cx="375361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5 · Confusión en nueve y en 3</a:t>
            </a:r>
            <a:r>
              <a:rPr sz="1100" b="1" baseline="30000">
                <a:solidFill>
                  <a:srgbClr val="FFFFFF"/>
                </a:solidFill>
                <a:latin typeface="Calibri"/>
              </a:rPr>
              <a:t>p</a:t>
            </a:r>
            <a:r>
              <a:rPr sz="1100" b="1">
                <a:solidFill>
                  <a:srgbClr val="FFFFFF"/>
                </a:solidFill>
                <a:latin typeface="Calibri"/>
              </a:rPr>
              <a:t> bloques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itle 1"/>
          <p:cNvSpPr>
            <a:spLocks noGrp="1"/>
          </p:cNvSpPr>
          <p:nvPr>
            <p:ph type="title"/>
          </p:nvPr>
        </p:nvSpPr>
        <p:spPr>
          <a:xfrm>
            <a:off x="548640" y="3383280"/>
            <a:ext cx="11094415" cy="914400"/>
          </a:xfrm>
        </p:spPr>
        <p:txBody>
          <a:bodyPr wrap="square" anchor="t" lIns="0" rIns="0" tIns="0" bIns="0"/>
          <a:lstStyle/>
          <a:p>
            <a:pPr algn="l"/>
            <a:r>
              <a:rPr sz="4400" b="1">
                <a:solidFill>
                  <a:srgbClr val="FFFFFF"/>
                </a:solidFill>
                <a:latin typeface="Cambria"/>
              </a:rPr>
              <a:t>La fracción un tercio 3</a:t>
            </a:r>
            <a:r>
              <a:rPr sz="4400" b="1" baseline="30000">
                <a:solidFill>
                  <a:srgbClr val="FFFFFF"/>
                </a:solidFill>
                <a:latin typeface="Cambria"/>
              </a:rPr>
              <a:t>k−1</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6</a:t>
            </a:r>
          </a:p>
        </p:txBody>
      </p:sp>
      <p:sp>
        <p:nvSpPr>
          <p:cNvPr id="4" name="TextBox 3"/>
          <p:cNvSpPr txBox="1"/>
          <p:nvPr/>
        </p:nvSpPr>
        <p:spPr>
          <a:xfrm>
            <a:off x="548640" y="4343400"/>
            <a:ext cx="11094415" cy="548640"/>
          </a:xfrm>
          <a:prstGeom prst="rect">
            <a:avLst/>
          </a:prstGeom>
          <a:noFill/>
        </p:spPr>
        <p:txBody>
          <a:bodyPr wrap="square" anchor="t" lIns="0" rIns="0" tIns="0" bIns="0">
            <a:spAutoFit/>
          </a:bodyPr>
          <a:lstStyle/>
          <a:p>
            <a:r>
              <a:rPr sz="2000" b="0">
                <a:solidFill>
                  <a:srgbClr val="CFE3E8"/>
                </a:solidFill>
                <a:latin typeface="Calibri"/>
              </a:rPr>
              <a:t>Relación de definición, alias por I e I</a:t>
            </a:r>
            <a:r>
              <a:rPr sz="2000" b="0" baseline="30000">
                <a:solidFill>
                  <a:srgbClr val="CFE3E8"/>
                </a:solidFill>
                <a:latin typeface="Calibri"/>
              </a:rPr>
              <a:t>2</a:t>
            </a:r>
            <a:r>
              <a:rPr sz="2000" b="0">
                <a:solidFill>
                  <a:srgbClr val="CFE3E8"/>
                </a:solidFill>
                <a:latin typeface="Calibri"/>
              </a:rPr>
              <a:t>, cuadrado latino y un ejemplo</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De los bloques a la fracción: cada bloque es un 3</a:t>
            </a:r>
            <a:r>
              <a:rPr sz="3000" b="1" baseline="30000">
                <a:solidFill>
                  <a:srgbClr val="0F4C5C"/>
                </a:solidFill>
                <a:latin typeface="Cambria"/>
              </a:rPr>
              <a:t>k−1</a:t>
            </a:r>
          </a:p>
        </p:txBody>
      </p:sp>
      <p:sp>
        <p:nvSpPr>
          <p:cNvPr id="3" name="TextBox 2"/>
          <p:cNvSpPr txBox="1"/>
          <p:nvPr/>
        </p:nvSpPr>
        <p:spPr>
          <a:xfrm>
            <a:off x="548640" y="1417320"/>
            <a:ext cx="5341467" cy="1486407"/>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600" b="0">
                <a:solidFill>
                  <a:srgbClr val="142B33"/>
                </a:solidFill>
                <a:latin typeface="Calibri"/>
              </a:rPr>
              <a:t>Elegir un componente de la interacción de </a:t>
            </a:r>
            <a:r>
              <a:rPr sz="1600" b="1">
                <a:solidFill>
                  <a:srgbClr val="142B33"/>
                </a:solidFill>
                <a:latin typeface="Calibri"/>
              </a:rPr>
              <a:t>orden más alto</a:t>
            </a:r>
          </a:p>
          <a:p>
            <a:pPr marL="320040" indent="-320040">
              <a:spcAft>
                <a:spcPts val="600"/>
              </a:spcAft>
              <a:buClr>
                <a:srgbClr val="E36414"/>
              </a:buClr>
              <a:buFont typeface="+mj-lt"/>
              <a:buAutoNum type="arabicPeriod"/>
            </a:pPr>
            <a:r>
              <a:rPr sz="1600" b="0">
                <a:solidFill>
                  <a:srgbClr val="142B33"/>
                </a:solidFill>
                <a:latin typeface="Calibri"/>
              </a:rPr>
              <a:t>Partir el 3</a:t>
            </a:r>
            <a:r>
              <a:rPr sz="1600" b="0" baseline="30000">
                <a:solidFill>
                  <a:srgbClr val="142B33"/>
                </a:solidFill>
                <a:latin typeface="Calibri"/>
              </a:rPr>
              <a:t>k</a:t>
            </a:r>
            <a:r>
              <a:rPr sz="1600" b="0">
                <a:solidFill>
                  <a:srgbClr val="142B33"/>
                </a:solidFill>
                <a:latin typeface="Calibri"/>
              </a:rPr>
              <a:t> en </a:t>
            </a:r>
            <a:r>
              <a:rPr sz="1600" b="1">
                <a:solidFill>
                  <a:srgbClr val="142B33"/>
                </a:solidFill>
                <a:latin typeface="Calibri"/>
              </a:rPr>
              <a:t>tres bloques</a:t>
            </a:r>
            <a:r>
              <a:rPr sz="1600" b="0">
                <a:solidFill>
                  <a:srgbClr val="142B33"/>
                </a:solidFill>
                <a:latin typeface="Calibri"/>
              </a:rPr>
              <a:t> con L = u (mod 3), u = 0, 1, 2</a:t>
            </a:r>
          </a:p>
          <a:p>
            <a:pPr marL="320040" indent="-320040">
              <a:spcAft>
                <a:spcPts val="600"/>
              </a:spcAft>
              <a:buClr>
                <a:srgbClr val="E36414"/>
              </a:buClr>
              <a:buFont typeface="+mj-lt"/>
              <a:buAutoNum type="arabicPeriod"/>
            </a:pPr>
            <a:r>
              <a:rPr sz="1600" b="0">
                <a:solidFill>
                  <a:srgbClr val="142B33"/>
                </a:solidFill>
                <a:latin typeface="Calibri"/>
              </a:rPr>
              <a:t>Quedarse con </a:t>
            </a:r>
            <a:r>
              <a:rPr sz="1600" b="1">
                <a:solidFill>
                  <a:srgbClr val="142B33"/>
                </a:solidFill>
                <a:latin typeface="Calibri"/>
              </a:rPr>
              <a:t>uno</a:t>
            </a:r>
            <a:r>
              <a:rPr sz="1600" b="0">
                <a:solidFill>
                  <a:srgbClr val="142B33"/>
                </a:solidFill>
                <a:latin typeface="Calibri"/>
              </a:rPr>
              <a:t> de los bloques: es la fracción 3</a:t>
            </a:r>
            <a:r>
              <a:rPr sz="1600" b="0" baseline="30000">
                <a:solidFill>
                  <a:srgbClr val="142B33"/>
                </a:solidFill>
                <a:latin typeface="Calibri"/>
              </a:rPr>
              <a:t>k−1</a:t>
            </a:r>
          </a:p>
        </p:txBody>
      </p:sp>
      <p:sp>
        <p:nvSpPr>
          <p:cNvPr id="4" name="Rounded Rectangle 3"/>
          <p:cNvSpPr/>
          <p:nvPr/>
        </p:nvSpPr>
        <p:spPr>
          <a:xfrm>
            <a:off x="548640" y="3104895"/>
            <a:ext cx="5341467" cy="621385"/>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2000" b="0">
                <a:solidFill>
                  <a:srgbClr val="0F4C5C"/>
                </a:solidFill>
                <a:latin typeface="Cambria Math"/>
              </a:rPr>
              <a:t>I = AB</a:t>
            </a:r>
            <a:r>
              <a:rPr sz="2000" b="0" baseline="30000">
                <a:solidFill>
                  <a:srgbClr val="0F4C5C"/>
                </a:solidFill>
                <a:latin typeface="Cambria Math"/>
              </a:rPr>
              <a:t>α₂</a:t>
            </a:r>
            <a:r>
              <a:rPr sz="2000" b="0">
                <a:solidFill>
                  <a:srgbClr val="0F4C5C"/>
                </a:solidFill>
                <a:latin typeface="Cambria Math"/>
              </a:rPr>
              <a:t>C</a:t>
            </a:r>
            <a:r>
              <a:rPr sz="2000" b="0" baseline="30000">
                <a:solidFill>
                  <a:srgbClr val="0F4C5C"/>
                </a:solidFill>
                <a:latin typeface="Cambria Math"/>
              </a:rPr>
              <a:t>α₃</a:t>
            </a:r>
            <a:r>
              <a:rPr sz="2000" b="0">
                <a:solidFill>
                  <a:srgbClr val="0F4C5C"/>
                </a:solidFill>
                <a:latin typeface="Cambria Math"/>
              </a:rPr>
              <a:t> ··· K</a:t>
            </a:r>
            <a:r>
              <a:rPr sz="2000" b="0" baseline="30000">
                <a:solidFill>
                  <a:srgbClr val="0F4C5C"/>
                </a:solidFill>
                <a:latin typeface="Cambria Math"/>
              </a:rPr>
              <a:t>αₖ</a:t>
            </a:r>
          </a:p>
        </p:txBody>
      </p:sp>
      <p:sp>
        <p:nvSpPr>
          <p:cNvPr id="5" name="Rounded Rectangle 4"/>
          <p:cNvSpPr/>
          <p:nvPr/>
        </p:nvSpPr>
        <p:spPr>
          <a:xfrm>
            <a:off x="6301587" y="1417320"/>
            <a:ext cx="5341467"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Alias</a:t>
            </a:r>
          </a:p>
          <a:p>
            <a:pPr algn="l"/>
            <a:r>
              <a:rPr sz="1500" b="0">
                <a:solidFill>
                  <a:srgbClr val="142B33"/>
                </a:solidFill>
                <a:latin typeface="Calibri"/>
              </a:rPr>
              <a:t>Cada efecto tiene </a:t>
            </a:r>
            <a:r>
              <a:rPr sz="1500" b="1">
                <a:solidFill>
                  <a:srgbClr val="142B33"/>
                </a:solidFill>
                <a:latin typeface="Calibri"/>
              </a:rPr>
              <a:t>dos</a:t>
            </a:r>
            <a:r>
              <a:rPr sz="1500" b="0">
                <a:solidFill>
                  <a:srgbClr val="142B33"/>
                </a:solidFill>
                <a:latin typeface="Calibri"/>
              </a:rPr>
              <a:t>: efecto × I y efecto × I</a:t>
            </a:r>
            <a:r>
              <a:rPr sz="1500" b="0" baseline="30000">
                <a:solidFill>
                  <a:srgbClr val="142B33"/>
                </a:solidFill>
                <a:latin typeface="Calibri"/>
              </a:rPr>
              <a:t>2</a:t>
            </a:r>
            <a:r>
              <a:rPr sz="1500" b="0">
                <a:solidFill>
                  <a:srgbClr val="142B33"/>
                </a:solidFill>
                <a:latin typeface="Calibri"/>
              </a:rPr>
              <a:t>, módulo 3 y normalizado</a:t>
            </a:r>
          </a:p>
        </p:txBody>
      </p:sp>
      <p:sp>
        <p:nvSpPr>
          <p:cNvPr id="6" name="Rounded Rectangle 5"/>
          <p:cNvSpPr/>
          <p:nvPr/>
        </p:nvSpPr>
        <p:spPr>
          <a:xfrm>
            <a:off x="6301587" y="2895346"/>
            <a:ext cx="5341467" cy="124942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Diferencia con el 2</a:t>
            </a:r>
            <a:r>
              <a:rPr sz="1700" b="1" baseline="30000">
                <a:solidFill>
                  <a:srgbClr val="0F4C5C"/>
                </a:solidFill>
                <a:latin typeface="Cambria"/>
              </a:rPr>
              <a:t>k−1</a:t>
            </a:r>
          </a:p>
          <a:p>
            <a:pPr algn="l"/>
            <a:r>
              <a:rPr sz="1500" b="0">
                <a:solidFill>
                  <a:srgbClr val="142B33"/>
                </a:solidFill>
                <a:latin typeface="Calibri"/>
              </a:rPr>
              <a:t>Allí un alias por palabra; aquí </a:t>
            </a:r>
            <a:r>
              <a:rPr sz="1500" b="1">
                <a:solidFill>
                  <a:srgbClr val="142B33"/>
                </a:solidFill>
                <a:latin typeface="Calibri"/>
              </a:rPr>
              <a:t>dos</a:t>
            </a:r>
            <a:r>
              <a:rPr sz="1500" b="0">
                <a:solidFill>
                  <a:srgbClr val="142B33"/>
                </a:solidFill>
                <a:latin typeface="Calibri"/>
              </a:rPr>
              <a:t> por palabra, porque I² ≠ I</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La fracción un tercio 3</a:t>
            </a:r>
            <a:r>
              <a:rPr sz="1000" b="0" baseline="30000">
                <a:solidFill>
                  <a:srgbClr val="5B6B73"/>
                </a:solidFill>
                <a:latin typeface="Calibri"/>
              </a:rPr>
              <a:t>k−1</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46</a:t>
            </a:r>
          </a:p>
        </p:txBody>
      </p:sp>
      <p:sp>
        <p:nvSpPr>
          <p:cNvPr id="9" name="Rounded Rectangle 8"/>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6 · La fracción un tercio 3</a:t>
            </a:r>
            <a:r>
              <a:rPr sz="1100" b="1" baseline="30000">
                <a:solidFill>
                  <a:srgbClr val="FFFFFF"/>
                </a:solidFill>
                <a:latin typeface="Calibri"/>
              </a:rPr>
              <a:t>k−1</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El 3</a:t>
            </a:r>
            <a:r>
              <a:rPr sz="3000" b="1" baseline="30000">
                <a:solidFill>
                  <a:srgbClr val="0F4C5C"/>
                </a:solidFill>
                <a:latin typeface="Cambria"/>
              </a:rPr>
              <a:t>3−1</a:t>
            </a:r>
            <a:r>
              <a:rPr sz="3000" b="1">
                <a:solidFill>
                  <a:srgbClr val="0F4C5C"/>
                </a:solidFill>
                <a:latin typeface="Cambria"/>
              </a:rPr>
              <a:t>: hay 12 fracciones un tercio distintas</a:t>
            </a:r>
          </a:p>
        </p:txBody>
      </p:sp>
      <p:graphicFrame>
        <p:nvGraphicFramePr>
          <p:cNvPr id="3" name="Table 2"/>
          <p:cNvGraphicFramePr>
            <a:graphicFrameLocks noGrp="1"/>
          </p:cNvGraphicFramePr>
          <p:nvPr/>
        </p:nvGraphicFramePr>
        <p:xfrm>
          <a:off x="548640" y="1417320"/>
          <a:ext cx="5875614" cy="1343152"/>
        </p:xfrm>
        <a:graphic>
          <a:graphicData uri="http://schemas.openxmlformats.org/drawingml/2006/table">
            <a:tbl>
              <a:tblPr firstRow="0" bandRow="0">
                <a:tableStyleId>{5C22544A-7EE6-4342-B048-85BDC9FD1C3A}</a:tableStyleId>
              </a:tblPr>
              <a:tblGrid>
                <a:gridCol w="470049"/>
                <a:gridCol w="5405565"/>
              </a:tblGrid>
              <a:tr h="335788">
                <a:tc>
                  <a:txBody>
                    <a:bodyPr/>
                    <a:lstStyle/>
                    <a:p>
                      <a:pPr algn="l"/>
                      <a:r>
                        <a:rPr sz="1400" b="1">
                          <a:solidFill>
                            <a:srgbClr val="FFFFFF"/>
                          </a:solidFill>
                          <a:latin typeface="Calibri"/>
                        </a:rPr>
                        <a:t>u</a:t>
                      </a:r>
                    </a:p>
                  </a:txBody>
                  <a:tcPr marL="73152" marR="73152" marT="27432" marB="27432" anchor="ctr">
                    <a:solidFill>
                      <a:srgbClr val="0F4C5C"/>
                    </a:solidFill>
                  </a:tcPr>
                </a:tc>
                <a:tc>
                  <a:txBody>
                    <a:bodyPr/>
                    <a:lstStyle/>
                    <a:p>
                      <a:pPr algn="l"/>
                      <a:r>
                        <a:rPr sz="1400" b="1">
                          <a:solidFill>
                            <a:srgbClr val="FFFFFF"/>
                          </a:solidFill>
                          <a:latin typeface="Calibri"/>
                        </a:rPr>
                        <a:t>Fracción (9 corridas) con I = AB</a:t>
                      </a:r>
                      <a:r>
                        <a:rPr sz="1400" b="1" baseline="30000">
                          <a:solidFill>
                            <a:srgbClr val="FFFFFF"/>
                          </a:solidFill>
                          <a:latin typeface="Calibri"/>
                        </a:rPr>
                        <a:t>2</a:t>
                      </a:r>
                      <a:r>
                        <a:rPr sz="1400" b="1">
                          <a:solidFill>
                            <a:srgbClr val="FFFFFF"/>
                          </a:solidFill>
                          <a:latin typeface="Calibri"/>
                        </a:rPr>
                        <a:t>C</a:t>
                      </a:r>
                      <a:r>
                        <a:rPr sz="1400" b="1" baseline="30000">
                          <a:solidFill>
                            <a:srgbClr val="FFFFFF"/>
                          </a:solidFill>
                          <a:latin typeface="Calibri"/>
                        </a:rPr>
                        <a:t>2</a:t>
                      </a:r>
                    </a:p>
                  </a:txBody>
                  <a:tcPr marL="73152" marR="73152" marT="27432" marB="27432" anchor="ctr">
                    <a:solidFill>
                      <a:srgbClr val="0F4C5C"/>
                    </a:solidFill>
                  </a:tcPr>
                </a:tc>
              </a:tr>
              <a:tr h="335788">
                <a:tc>
                  <a:txBody>
                    <a:bodyPr/>
                    <a:lstStyle/>
                    <a:p>
                      <a:pPr algn="l"/>
                      <a:r>
                        <a:rPr sz="1400" b="0">
                          <a:solidFill>
                            <a:srgbClr val="142B33"/>
                          </a:solidFill>
                          <a:latin typeface="Calibri"/>
                        </a:rPr>
                        <a:t>0</a:t>
                      </a:r>
                    </a:p>
                  </a:txBody>
                  <a:tcPr marL="73152" marR="73152" marT="27432" marB="27432" anchor="ctr">
                    <a:solidFill>
                      <a:srgbClr val="FFFFFF"/>
                    </a:solidFill>
                  </a:tcPr>
                </a:tc>
                <a:tc>
                  <a:txBody>
                    <a:bodyPr/>
                    <a:lstStyle/>
                    <a:p>
                      <a:pPr algn="l"/>
                      <a:r>
                        <a:rPr sz="1400" b="0">
                          <a:solidFill>
                            <a:srgbClr val="142B33"/>
                          </a:solidFill>
                          <a:latin typeface="Calibri"/>
                        </a:rPr>
                        <a:t>000, 110, 220, 101, 211, 021, 202, 012, 122</a:t>
                      </a:r>
                    </a:p>
                  </a:txBody>
                  <a:tcPr marL="73152" marR="73152" marT="27432" marB="27432" anchor="ctr">
                    <a:solidFill>
                      <a:srgbClr val="FFFFFF"/>
                    </a:solidFill>
                  </a:tcPr>
                </a:tc>
              </a:tr>
              <a:tr h="335788">
                <a:tc>
                  <a:txBody>
                    <a:bodyPr/>
                    <a:lstStyle/>
                    <a:p>
                      <a:pPr algn="l"/>
                      <a:r>
                        <a:rPr sz="1400" b="0">
                          <a:solidFill>
                            <a:srgbClr val="142B33"/>
                          </a:solidFill>
                          <a:latin typeface="Calibri"/>
                        </a:rPr>
                        <a:t>1</a:t>
                      </a:r>
                    </a:p>
                  </a:txBody>
                  <a:tcPr marL="73152" marR="73152" marT="27432" marB="27432" anchor="ctr">
                    <a:solidFill>
                      <a:srgbClr val="F4F8F9"/>
                    </a:solidFill>
                  </a:tcPr>
                </a:tc>
                <a:tc>
                  <a:txBody>
                    <a:bodyPr/>
                    <a:lstStyle/>
                    <a:p>
                      <a:pPr algn="l"/>
                      <a:r>
                        <a:rPr sz="1400" b="0">
                          <a:solidFill>
                            <a:srgbClr val="142B33"/>
                          </a:solidFill>
                          <a:latin typeface="Calibri"/>
                        </a:rPr>
                        <a:t>100, 210, 020, 201, 011, 121, 002, 112, 222</a:t>
                      </a:r>
                    </a:p>
                  </a:txBody>
                  <a:tcPr marL="73152" marR="73152" marT="27432" marB="27432" anchor="ctr">
                    <a:solidFill>
                      <a:srgbClr val="F4F8F9"/>
                    </a:solidFill>
                  </a:tcPr>
                </a:tc>
              </a:tr>
              <a:tr h="335788">
                <a:tc>
                  <a:txBody>
                    <a:bodyPr/>
                    <a:lstStyle/>
                    <a:p>
                      <a:pPr algn="l"/>
                      <a:r>
                        <a:rPr sz="1400" b="0">
                          <a:solidFill>
                            <a:srgbClr val="142B33"/>
                          </a:solidFill>
                          <a:latin typeface="Calibri"/>
                        </a:rPr>
                        <a:t>2</a:t>
                      </a:r>
                    </a:p>
                  </a:txBody>
                  <a:tcPr marL="73152" marR="73152" marT="27432" marB="27432" anchor="ctr">
                    <a:solidFill>
                      <a:srgbClr val="FFFFFF"/>
                    </a:solidFill>
                  </a:tcPr>
                </a:tc>
                <a:tc>
                  <a:txBody>
                    <a:bodyPr/>
                    <a:lstStyle/>
                    <a:p>
                      <a:pPr algn="l"/>
                      <a:r>
                        <a:rPr sz="1400" b="0">
                          <a:solidFill>
                            <a:srgbClr val="142B33"/>
                          </a:solidFill>
                          <a:latin typeface="Calibri"/>
                        </a:rPr>
                        <a:t>200, 010, 120, 001, 111, 221, 102, 212, 022</a:t>
                      </a:r>
                    </a:p>
                  </a:txBody>
                  <a:tcPr marL="73152" marR="73152" marT="27432" marB="27432" anchor="ctr">
                    <a:solidFill>
                      <a:srgbClr val="FFFFFF"/>
                    </a:solidFill>
                  </a:tcPr>
                </a:tc>
              </a:tr>
            </a:tbl>
          </a:graphicData>
        </a:graphic>
      </p:graphicFrame>
      <p:sp>
        <p:nvSpPr>
          <p:cNvPr id="4" name="Rounded Rectangle 3"/>
          <p:cNvSpPr/>
          <p:nvPr/>
        </p:nvSpPr>
        <p:spPr>
          <a:xfrm>
            <a:off x="548640" y="2961640"/>
            <a:ext cx="5875614"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4 componentes × 3 valores de u = </a:t>
            </a:r>
            <a:r>
              <a:rPr sz="1500" b="1">
                <a:solidFill>
                  <a:srgbClr val="142B33"/>
                </a:solidFill>
                <a:latin typeface="Calibri"/>
              </a:rPr>
              <a:t>12 fracciones</a:t>
            </a:r>
            <a:r>
              <a:rPr sz="1500" b="0">
                <a:solidFill>
                  <a:srgbClr val="142B33"/>
                </a:solidFill>
                <a:latin typeface="Calibri"/>
              </a:rPr>
              <a:t> 3</a:t>
            </a:r>
            <a:r>
              <a:rPr sz="1500" b="0" baseline="30000">
                <a:solidFill>
                  <a:srgbClr val="142B33"/>
                </a:solidFill>
                <a:latin typeface="Calibri"/>
              </a:rPr>
              <a:t>3−1</a:t>
            </a:r>
            <a:r>
              <a:rPr sz="1500" b="0">
                <a:solidFill>
                  <a:srgbClr val="142B33"/>
                </a:solidFill>
                <a:latin typeface="Calibri"/>
              </a:rPr>
              <a:t> distintas</a:t>
            </a:r>
          </a:p>
        </p:txBody>
      </p:sp>
      <p:pic>
        <p:nvPicPr>
          <p:cNvPr id="5" name="Picture 4" descr="cubo_fraccion.png"/>
          <p:cNvPicPr>
            <a:picLocks noChangeAspect="1"/>
          </p:cNvPicPr>
          <p:nvPr/>
        </p:nvPicPr>
        <p:blipFill>
          <a:blip r:embed="rId2"/>
          <a:stretch>
            <a:fillRect/>
          </a:stretch>
        </p:blipFill>
        <p:spPr>
          <a:xfrm>
            <a:off x="7017005" y="1417320"/>
            <a:ext cx="4444779" cy="3931920"/>
          </a:xfrm>
          <a:prstGeom prst="rect">
            <a:avLst/>
          </a:prstGeom>
        </p:spPr>
      </p:pic>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La fracción un tercio 3</a:t>
            </a:r>
            <a:r>
              <a:rPr sz="1000" b="0" baseline="30000">
                <a:solidFill>
                  <a:srgbClr val="5B6B73"/>
                </a:solidFill>
                <a:latin typeface="Calibri"/>
              </a:rPr>
              <a:t>k−1</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47</a:t>
            </a:r>
          </a:p>
        </p:txBody>
      </p:sp>
      <p:sp>
        <p:nvSpPr>
          <p:cNvPr id="8" name="Rounded Rectangle 7"/>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6 · La fracción un tercio 3</a:t>
            </a:r>
            <a:r>
              <a:rPr sz="1100" b="1" baseline="30000">
                <a:solidFill>
                  <a:srgbClr val="FFFFFF"/>
                </a:solidFill>
                <a:latin typeface="Calibri"/>
              </a:rPr>
              <a:t>k−1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Alias del 3</a:t>
            </a:r>
            <a:r>
              <a:rPr sz="3000" b="1" baseline="30000">
                <a:solidFill>
                  <a:srgbClr val="0F4C5C"/>
                </a:solidFill>
                <a:latin typeface="Cambria"/>
              </a:rPr>
              <a:t>3−1</a:t>
            </a:r>
            <a:r>
              <a:rPr sz="3000" b="1">
                <a:solidFill>
                  <a:srgbClr val="0F4C5C"/>
                </a:solidFill>
                <a:latin typeface="Cambria"/>
              </a:rPr>
              <a:t> con I = AB</a:t>
            </a:r>
            <a:r>
              <a:rPr sz="3000" b="1" baseline="30000">
                <a:solidFill>
                  <a:srgbClr val="0F4C5C"/>
                </a:solidFill>
                <a:latin typeface="Cambria"/>
              </a:rPr>
              <a:t>2</a:t>
            </a:r>
            <a:r>
              <a:rPr sz="3000" b="1">
                <a:solidFill>
                  <a:srgbClr val="0F4C5C"/>
                </a:solidFill>
                <a:latin typeface="Cambria"/>
              </a:rPr>
              <a:t>C</a:t>
            </a:r>
            <a:r>
              <a:rPr sz="3000" b="1" baseline="30000">
                <a:solidFill>
                  <a:srgbClr val="0F4C5C"/>
                </a:solidFill>
                <a:latin typeface="Cambria"/>
              </a:rPr>
              <a:t>2</a:t>
            </a:r>
            <a:r>
              <a:rPr sz="3000" b="1">
                <a:solidFill>
                  <a:srgbClr val="0F4C5C"/>
                </a:solidFill>
                <a:latin typeface="Cambria"/>
              </a:rPr>
              <a:t>: resolución III</a:t>
            </a:r>
          </a:p>
        </p:txBody>
      </p:sp>
      <p:graphicFrame>
        <p:nvGraphicFramePr>
          <p:cNvPr id="3" name="Table 2"/>
          <p:cNvGraphicFramePr>
            <a:graphicFrameLocks noGrp="1"/>
          </p:cNvGraphicFramePr>
          <p:nvPr/>
        </p:nvGraphicFramePr>
        <p:xfrm>
          <a:off x="548640" y="1417320"/>
          <a:ext cx="5875613" cy="1756410"/>
        </p:xfrm>
        <a:graphic>
          <a:graphicData uri="http://schemas.openxmlformats.org/drawingml/2006/table">
            <a:tbl>
              <a:tblPr firstRow="0" bandRow="0">
                <a:tableStyleId>{5C22544A-7EE6-4342-B048-85BDC9FD1C3A}</a:tableStyleId>
              </a:tblPr>
              <a:tblGrid>
                <a:gridCol w="1381708"/>
                <a:gridCol w="858537"/>
                <a:gridCol w="1032927"/>
                <a:gridCol w="2602441"/>
              </a:tblGrid>
              <a:tr h="351282">
                <a:tc>
                  <a:txBody>
                    <a:bodyPr/>
                    <a:lstStyle/>
                    <a:p>
                      <a:pPr algn="ctr"/>
                      <a:r>
                        <a:rPr sz="1500" b="1">
                          <a:solidFill>
                            <a:srgbClr val="FFFFFF"/>
                          </a:solidFill>
                          <a:latin typeface="Calibri"/>
                        </a:rPr>
                        <a:t>Efecto</a:t>
                      </a:r>
                    </a:p>
                  </a:txBody>
                  <a:tcPr marL="73152" marR="73152" marT="27432" marB="27432" anchor="ctr">
                    <a:solidFill>
                      <a:srgbClr val="0F4C5C"/>
                    </a:solidFill>
                  </a:tcPr>
                </a:tc>
                <a:tc>
                  <a:txBody>
                    <a:bodyPr/>
                    <a:lstStyle/>
                    <a:p>
                      <a:pPr algn="ctr"/>
                      <a:r>
                        <a:rPr sz="1500" b="1">
                          <a:solidFill>
                            <a:srgbClr val="FFFFFF"/>
                          </a:solidFill>
                          <a:latin typeface="Calibri"/>
                        </a:rPr>
                        <a:t>× I</a:t>
                      </a:r>
                    </a:p>
                  </a:txBody>
                  <a:tcPr marL="73152" marR="73152" marT="27432" marB="27432" anchor="ctr">
                    <a:solidFill>
                      <a:srgbClr val="0F4C5C"/>
                    </a:solidFill>
                  </a:tcPr>
                </a:tc>
                <a:tc>
                  <a:txBody>
                    <a:bodyPr/>
                    <a:lstStyle/>
                    <a:p>
                      <a:pPr algn="ctr"/>
                      <a:r>
                        <a:rPr sz="1500" b="1">
                          <a:solidFill>
                            <a:srgbClr val="FFFFFF"/>
                          </a:solidFill>
                          <a:latin typeface="Calibri"/>
                        </a:rPr>
                        <a:t>× I</a:t>
                      </a:r>
                      <a:r>
                        <a:rPr sz="1500" b="1" baseline="30000">
                          <a:solidFill>
                            <a:srgbClr val="FFFFFF"/>
                          </a:solidFill>
                          <a:latin typeface="Calibri"/>
                        </a:rPr>
                        <a:t>2</a:t>
                      </a:r>
                    </a:p>
                  </a:txBody>
                  <a:tcPr marL="73152" marR="73152" marT="27432" marB="27432" anchor="ctr">
                    <a:solidFill>
                      <a:srgbClr val="0F4C5C"/>
                    </a:solidFill>
                  </a:tcPr>
                </a:tc>
                <a:tc>
                  <a:txBody>
                    <a:bodyPr/>
                    <a:lstStyle/>
                    <a:p>
                      <a:pPr algn="ctr"/>
                      <a:r>
                        <a:rPr sz="1500" b="1">
                          <a:solidFill>
                            <a:srgbClr val="FFFFFF"/>
                          </a:solidFill>
                          <a:latin typeface="Calibri"/>
                        </a:rPr>
                        <a:t>Lo que estima</a:t>
                      </a:r>
                    </a:p>
                  </a:txBody>
                  <a:tcPr marL="73152" marR="73152" marT="27432" marB="27432" anchor="ctr">
                    <a:solidFill>
                      <a:srgbClr val="0F4C5C"/>
                    </a:solidFill>
                  </a:tcPr>
                </a:tc>
              </a:tr>
              <a:tr h="351282">
                <a:tc>
                  <a:txBody>
                    <a:bodyPr/>
                    <a:lstStyle/>
                    <a:p>
                      <a:pPr algn="ctr"/>
                      <a:r>
                        <a:rPr sz="1500" b="0">
                          <a:solidFill>
                            <a:srgbClr val="142B33"/>
                          </a:solidFill>
                          <a:latin typeface="Calibri"/>
                        </a:rPr>
                        <a:t>A</a:t>
                      </a:r>
                    </a:p>
                  </a:txBody>
                  <a:tcPr marL="73152" marR="73152" marT="27432" marB="27432" anchor="ctr">
                    <a:solidFill>
                      <a:srgbClr val="FFFFFF"/>
                    </a:solidFill>
                  </a:tcPr>
                </a:tc>
                <a:tc>
                  <a:txBody>
                    <a:bodyPr/>
                    <a:lstStyle/>
                    <a:p>
                      <a:pPr algn="ctr"/>
                      <a:r>
                        <a:rPr sz="1500" b="0">
                          <a:solidFill>
                            <a:srgbClr val="142B33"/>
                          </a:solidFill>
                          <a:latin typeface="Calibri"/>
                        </a:rPr>
                        <a:t>ABC</a:t>
                      </a:r>
                    </a:p>
                  </a:txBody>
                  <a:tcPr marL="73152" marR="73152" marT="27432" marB="27432" anchor="ctr">
                    <a:solidFill>
                      <a:srgbClr val="FFFFFF"/>
                    </a:solidFill>
                  </a:tcPr>
                </a:tc>
                <a:tc>
                  <a:txBody>
                    <a:bodyPr/>
                    <a:lstStyle/>
                    <a:p>
                      <a:pPr algn="ctr"/>
                      <a:r>
                        <a:rPr sz="1500" b="0">
                          <a:solidFill>
                            <a:srgbClr val="142B33"/>
                          </a:solidFill>
                          <a:latin typeface="Calibri"/>
                        </a:rPr>
                        <a:t>BC</a:t>
                      </a:r>
                    </a:p>
                  </a:txBody>
                  <a:tcPr marL="73152" marR="73152" marT="27432" marB="27432" anchor="ctr">
                    <a:solidFill>
                      <a:srgbClr val="FFFFFF"/>
                    </a:solidFill>
                  </a:tcPr>
                </a:tc>
                <a:tc>
                  <a:txBody>
                    <a:bodyPr/>
                    <a:lstStyle/>
                    <a:p>
                      <a:pPr algn="ctr"/>
                      <a:r>
                        <a:rPr sz="1500" b="0">
                          <a:solidFill>
                            <a:srgbClr val="142B33"/>
                          </a:solidFill>
                          <a:latin typeface="Calibri"/>
                        </a:rPr>
                        <a:t>A + ABC + BC</a:t>
                      </a:r>
                    </a:p>
                  </a:txBody>
                  <a:tcPr marL="73152" marR="73152" marT="27432" marB="27432" anchor="ctr">
                    <a:solidFill>
                      <a:srgbClr val="FFFFFF"/>
                    </a:solidFill>
                  </a:tcPr>
                </a:tc>
              </a:tr>
              <a:tr h="351282">
                <a:tc>
                  <a:txBody>
                    <a:bodyPr/>
                    <a:lstStyle/>
                    <a:p>
                      <a:pPr algn="ctr"/>
                      <a:r>
                        <a:rPr sz="1500" b="0">
                          <a:solidFill>
                            <a:srgbClr val="142B33"/>
                          </a:solidFill>
                          <a:latin typeface="Calibri"/>
                        </a:rPr>
                        <a:t>B</a:t>
                      </a:r>
                    </a:p>
                  </a:txBody>
                  <a:tcPr marL="73152" marR="73152" marT="27432" marB="27432" anchor="ctr">
                    <a:solidFill>
                      <a:srgbClr val="F4F8F9"/>
                    </a:solidFill>
                  </a:tcPr>
                </a:tc>
                <a:tc>
                  <a:txBody>
                    <a:bodyPr/>
                    <a:lstStyle/>
                    <a:p>
                      <a:pPr algn="ctr"/>
                      <a:r>
                        <a:rPr sz="1500" b="0">
                          <a:solidFill>
                            <a:srgbClr val="142B33"/>
                          </a:solidFill>
                          <a:latin typeface="Calibri"/>
                        </a:rPr>
                        <a:t>AC</a:t>
                      </a:r>
                      <a:r>
                        <a:rPr sz="1500" b="0" baseline="30000">
                          <a:solidFill>
                            <a:srgbClr val="142B33"/>
                          </a:solidFill>
                          <a:latin typeface="Calibri"/>
                        </a:rPr>
                        <a:t>2</a:t>
                      </a:r>
                    </a:p>
                  </a:txBody>
                  <a:tcPr marL="73152" marR="73152" marT="27432" marB="27432" anchor="ctr">
                    <a:solidFill>
                      <a:srgbClr val="F4F8F9"/>
                    </a:solidFill>
                  </a:tcPr>
                </a:tc>
                <a:tc>
                  <a:txBody>
                    <a:bodyPr/>
                    <a:lstStyle/>
                    <a:p>
                      <a:pPr algn="ctr"/>
                      <a:r>
                        <a:rPr sz="1500" b="0">
                          <a:solidFill>
                            <a:srgbClr val="142B33"/>
                          </a:solidFill>
                          <a:latin typeface="Calibri"/>
                        </a:rPr>
                        <a:t>ABC</a:t>
                      </a:r>
                      <a:r>
                        <a:rPr sz="1500" b="0" baseline="30000">
                          <a:solidFill>
                            <a:srgbClr val="142B33"/>
                          </a:solidFill>
                          <a:latin typeface="Calibri"/>
                        </a:rPr>
                        <a:t>2</a:t>
                      </a:r>
                    </a:p>
                  </a:txBody>
                  <a:tcPr marL="73152" marR="73152" marT="27432" marB="27432" anchor="ctr">
                    <a:solidFill>
                      <a:srgbClr val="F4F8F9"/>
                    </a:solidFill>
                  </a:tcPr>
                </a:tc>
                <a:tc>
                  <a:txBody>
                    <a:bodyPr/>
                    <a:lstStyle/>
                    <a:p>
                      <a:pPr algn="ctr"/>
                      <a:r>
                        <a:rPr sz="1500" b="0">
                          <a:solidFill>
                            <a:srgbClr val="142B33"/>
                          </a:solidFill>
                          <a:latin typeface="Calibri"/>
                        </a:rPr>
                        <a:t>B + AC</a:t>
                      </a:r>
                      <a:r>
                        <a:rPr sz="1500" b="0" baseline="30000">
                          <a:solidFill>
                            <a:srgbClr val="142B33"/>
                          </a:solidFill>
                          <a:latin typeface="Calibri"/>
                        </a:rPr>
                        <a:t>2</a:t>
                      </a:r>
                      <a:r>
                        <a:rPr sz="1500" b="0">
                          <a:solidFill>
                            <a:srgbClr val="142B33"/>
                          </a:solidFill>
                          <a:latin typeface="Calibri"/>
                        </a:rPr>
                        <a:t> + ABC</a:t>
                      </a:r>
                      <a:r>
                        <a:rPr sz="1500" b="0" baseline="30000">
                          <a:solidFill>
                            <a:srgbClr val="142B33"/>
                          </a:solidFill>
                          <a:latin typeface="Calibri"/>
                        </a:rPr>
                        <a:t>2</a:t>
                      </a:r>
                    </a:p>
                  </a:txBody>
                  <a:tcPr marL="73152" marR="73152" marT="27432" marB="27432" anchor="ctr">
                    <a:solidFill>
                      <a:srgbClr val="F4F8F9"/>
                    </a:solidFill>
                  </a:tcPr>
                </a:tc>
              </a:tr>
              <a:tr h="351282">
                <a:tc>
                  <a:txBody>
                    <a:bodyPr/>
                    <a:lstStyle/>
                    <a:p>
                      <a:pPr algn="ctr"/>
                      <a:r>
                        <a:rPr sz="1500" b="0">
                          <a:solidFill>
                            <a:srgbClr val="142B33"/>
                          </a:solidFill>
                          <a:latin typeface="Calibri"/>
                        </a:rPr>
                        <a:t>C</a:t>
                      </a:r>
                    </a:p>
                  </a:txBody>
                  <a:tcPr marL="73152" marR="73152" marT="27432" marB="27432" anchor="ctr">
                    <a:solidFill>
                      <a:srgbClr val="FFFFFF"/>
                    </a:solidFill>
                  </a:tcPr>
                </a:tc>
                <a:tc>
                  <a:txBody>
                    <a:bodyPr/>
                    <a:lstStyle/>
                    <a:p>
                      <a:pPr algn="ctr"/>
                      <a:r>
                        <a:rPr sz="1500" b="0">
                          <a:solidFill>
                            <a:srgbClr val="142B33"/>
                          </a:solidFill>
                          <a:latin typeface="Calibri"/>
                        </a:rPr>
                        <a:t>AB</a:t>
                      </a:r>
                      <a:r>
                        <a:rPr sz="1500" b="0" baseline="30000">
                          <a:solidFill>
                            <a:srgbClr val="142B33"/>
                          </a:solidFill>
                          <a:latin typeface="Calibri"/>
                        </a:rPr>
                        <a:t>2</a:t>
                      </a:r>
                    </a:p>
                  </a:txBody>
                  <a:tcPr marL="73152" marR="73152" marT="27432" marB="27432" anchor="ctr">
                    <a:solidFill>
                      <a:srgbClr val="FFFFFF"/>
                    </a:solidFill>
                  </a:tcPr>
                </a:tc>
                <a:tc>
                  <a:txBody>
                    <a:bodyPr/>
                    <a:lstStyle/>
                    <a:p>
                      <a:pPr algn="ctr"/>
                      <a:r>
                        <a:rPr sz="1500" b="0">
                          <a:solidFill>
                            <a:srgbClr val="142B33"/>
                          </a:solidFill>
                          <a:latin typeface="Calibri"/>
                        </a:rPr>
                        <a:t>AB</a:t>
                      </a:r>
                      <a:r>
                        <a:rPr sz="1500" b="0" baseline="30000">
                          <a:solidFill>
                            <a:srgbClr val="142B33"/>
                          </a:solidFill>
                          <a:latin typeface="Calibri"/>
                        </a:rPr>
                        <a:t>2</a:t>
                      </a:r>
                      <a:r>
                        <a:rPr sz="1500" b="0">
                          <a:solidFill>
                            <a:srgbClr val="142B33"/>
                          </a:solidFill>
                          <a:latin typeface="Calibri"/>
                        </a:rPr>
                        <a:t>C</a:t>
                      </a:r>
                    </a:p>
                  </a:txBody>
                  <a:tcPr marL="73152" marR="73152" marT="27432" marB="27432" anchor="ctr">
                    <a:solidFill>
                      <a:srgbClr val="FFFFFF"/>
                    </a:solidFill>
                  </a:tcPr>
                </a:tc>
                <a:tc>
                  <a:txBody>
                    <a:bodyPr/>
                    <a:lstStyle/>
                    <a:p>
                      <a:pPr algn="ctr"/>
                      <a:r>
                        <a:rPr sz="1500" b="0">
                          <a:solidFill>
                            <a:srgbClr val="142B33"/>
                          </a:solidFill>
                          <a:latin typeface="Calibri"/>
                        </a:rPr>
                        <a:t>C + AB</a:t>
                      </a:r>
                      <a:r>
                        <a:rPr sz="1500" b="0" baseline="30000">
                          <a:solidFill>
                            <a:srgbClr val="142B33"/>
                          </a:solidFill>
                          <a:latin typeface="Calibri"/>
                        </a:rPr>
                        <a:t>2</a:t>
                      </a:r>
                      <a:r>
                        <a:rPr sz="1500" b="0">
                          <a:solidFill>
                            <a:srgbClr val="142B33"/>
                          </a:solidFill>
                          <a:latin typeface="Calibri"/>
                        </a:rPr>
                        <a:t> + AB</a:t>
                      </a:r>
                      <a:r>
                        <a:rPr sz="1500" b="0" baseline="30000">
                          <a:solidFill>
                            <a:srgbClr val="142B33"/>
                          </a:solidFill>
                          <a:latin typeface="Calibri"/>
                        </a:rPr>
                        <a:t>2</a:t>
                      </a:r>
                      <a:r>
                        <a:rPr sz="1500" b="0">
                          <a:solidFill>
                            <a:srgbClr val="142B33"/>
                          </a:solidFill>
                          <a:latin typeface="Calibri"/>
                        </a:rPr>
                        <a:t>C</a:t>
                      </a:r>
                    </a:p>
                  </a:txBody>
                  <a:tcPr marL="73152" marR="73152" marT="27432" marB="27432" anchor="ctr">
                    <a:solidFill>
                      <a:srgbClr val="FFFFFF"/>
                    </a:solidFill>
                  </a:tcPr>
                </a:tc>
              </a:tr>
              <a:tr h="351282">
                <a:tc>
                  <a:txBody>
                    <a:bodyPr/>
                    <a:lstStyle/>
                    <a:p>
                      <a:pPr algn="ctr"/>
                      <a:r>
                        <a:rPr sz="1500" b="0">
                          <a:solidFill>
                            <a:srgbClr val="142B33"/>
                          </a:solidFill>
                          <a:latin typeface="Calibri"/>
                        </a:rPr>
                        <a:t>AB</a:t>
                      </a:r>
                    </a:p>
                  </a:txBody>
                  <a:tcPr marL="73152" marR="73152" marT="27432" marB="27432" anchor="ctr">
                    <a:solidFill>
                      <a:srgbClr val="F4F8F9"/>
                    </a:solidFill>
                  </a:tcPr>
                </a:tc>
                <a:tc>
                  <a:txBody>
                    <a:bodyPr/>
                    <a:lstStyle/>
                    <a:p>
                      <a:pPr algn="ctr"/>
                      <a:r>
                        <a:rPr sz="1500" b="0">
                          <a:solidFill>
                            <a:srgbClr val="142B33"/>
                          </a:solidFill>
                          <a:latin typeface="Calibri"/>
                        </a:rPr>
                        <a:t>AC</a:t>
                      </a:r>
                    </a:p>
                  </a:txBody>
                  <a:tcPr marL="73152" marR="73152" marT="27432" marB="27432" anchor="ctr">
                    <a:solidFill>
                      <a:srgbClr val="F4F8F9"/>
                    </a:solidFill>
                  </a:tcPr>
                </a:tc>
                <a:tc>
                  <a:txBody>
                    <a:bodyPr/>
                    <a:lstStyle/>
                    <a:p>
                      <a:pPr algn="ctr"/>
                      <a:r>
                        <a:rPr sz="1500" b="0">
                          <a:solidFill>
                            <a:srgbClr val="142B33"/>
                          </a:solidFill>
                          <a:latin typeface="Calibri"/>
                        </a:rPr>
                        <a:t>BC</a:t>
                      </a:r>
                      <a:r>
                        <a:rPr sz="1500" b="0" baseline="30000">
                          <a:solidFill>
                            <a:srgbClr val="142B33"/>
                          </a:solidFill>
                          <a:latin typeface="Calibri"/>
                        </a:rPr>
                        <a:t>2</a:t>
                      </a:r>
                    </a:p>
                  </a:txBody>
                  <a:tcPr marL="73152" marR="73152" marT="27432" marB="27432" anchor="ctr">
                    <a:solidFill>
                      <a:srgbClr val="F4F8F9"/>
                    </a:solidFill>
                  </a:tcPr>
                </a:tc>
                <a:tc>
                  <a:txBody>
                    <a:bodyPr/>
                    <a:lstStyle/>
                    <a:p>
                      <a:pPr algn="ctr"/>
                      <a:r>
                        <a:rPr sz="1500" b="0">
                          <a:solidFill>
                            <a:srgbClr val="142B33"/>
                          </a:solidFill>
                          <a:latin typeface="Calibri"/>
                        </a:rPr>
                        <a:t>AB + AC + BC</a:t>
                      </a:r>
                      <a:r>
                        <a:rPr sz="1500" b="0" baseline="30000">
                          <a:solidFill>
                            <a:srgbClr val="142B33"/>
                          </a:solidFill>
                          <a:latin typeface="Calibri"/>
                        </a:rPr>
                        <a:t>2</a:t>
                      </a:r>
                    </a:p>
                  </a:txBody>
                  <a:tcPr marL="73152" marR="73152" marT="27432" marB="27432" anchor="ctr">
                    <a:solidFill>
                      <a:srgbClr val="F4F8F9"/>
                    </a:solidFill>
                  </a:tcPr>
                </a:tc>
              </a:tr>
            </a:tbl>
          </a:graphicData>
        </a:graphic>
      </p:graphicFrame>
      <p:sp>
        <p:nvSpPr>
          <p:cNvPr id="4" name="Rounded Rectangle 3"/>
          <p:cNvSpPr/>
          <p:nvPr/>
        </p:nvSpPr>
        <p:spPr>
          <a:xfrm>
            <a:off x="548640" y="3374898"/>
            <a:ext cx="5875614" cy="760211"/>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0">
                <a:solidFill>
                  <a:srgbClr val="0F4C5C"/>
                </a:solidFill>
                <a:latin typeface="Cambria Math"/>
              </a:rPr>
              <a:t>A · AB</a:t>
            </a:r>
            <a:r>
              <a:rPr sz="1400" b="0" baseline="30000">
                <a:solidFill>
                  <a:srgbClr val="0F4C5C"/>
                </a:solidFill>
                <a:latin typeface="Cambria Math"/>
              </a:rPr>
              <a:t>2</a:t>
            </a:r>
            <a:r>
              <a:rPr sz="1400" b="0">
                <a:solidFill>
                  <a:srgbClr val="0F4C5C"/>
                </a:solidFill>
                <a:latin typeface="Cambria Math"/>
              </a:rPr>
              <a:t>C</a:t>
            </a:r>
            <a:r>
              <a:rPr sz="1400" b="0" baseline="30000">
                <a:solidFill>
                  <a:srgbClr val="0F4C5C"/>
                </a:solidFill>
                <a:latin typeface="Cambria Math"/>
              </a:rPr>
              <a:t>2</a:t>
            </a:r>
            <a:r>
              <a:rPr sz="1400" b="0">
                <a:solidFill>
                  <a:srgbClr val="0F4C5C"/>
                </a:solidFill>
                <a:latin typeface="Cambria Math"/>
              </a:rPr>
              <a:t> = A</a:t>
            </a:r>
            <a:r>
              <a:rPr sz="1400" b="0" baseline="30000">
                <a:solidFill>
                  <a:srgbClr val="0F4C5C"/>
                </a:solidFill>
                <a:latin typeface="Cambria Math"/>
              </a:rPr>
              <a:t>2</a:t>
            </a:r>
            <a:r>
              <a:rPr sz="1400" b="0">
                <a:solidFill>
                  <a:srgbClr val="0F4C5C"/>
                </a:solidFill>
                <a:latin typeface="Cambria Math"/>
              </a:rPr>
              <a:t>B</a:t>
            </a:r>
            <a:r>
              <a:rPr sz="1400" b="0" baseline="30000">
                <a:solidFill>
                  <a:srgbClr val="0F4C5C"/>
                </a:solidFill>
                <a:latin typeface="Cambria Math"/>
              </a:rPr>
              <a:t>2</a:t>
            </a:r>
            <a:r>
              <a:rPr sz="1400" b="0">
                <a:solidFill>
                  <a:srgbClr val="0F4C5C"/>
                </a:solidFill>
                <a:latin typeface="Cambria Math"/>
              </a:rPr>
              <a:t>C</a:t>
            </a:r>
            <a:r>
              <a:rPr sz="1400" b="0" baseline="30000">
                <a:solidFill>
                  <a:srgbClr val="0F4C5C"/>
                </a:solidFill>
                <a:latin typeface="Cambria Math"/>
              </a:rPr>
              <a:t>2</a:t>
            </a:r>
            <a:r>
              <a:rPr sz="1400" b="0">
                <a:solidFill>
                  <a:srgbClr val="0F4C5C"/>
                </a:solidFill>
                <a:latin typeface="Cambria Math"/>
              </a:rPr>
              <a:t> → (·)</a:t>
            </a:r>
            <a:r>
              <a:rPr sz="1400" b="0" baseline="30000">
                <a:solidFill>
                  <a:srgbClr val="0F4C5C"/>
                </a:solidFill>
                <a:latin typeface="Cambria Math"/>
              </a:rPr>
              <a:t>2</a:t>
            </a:r>
            <a:r>
              <a:rPr sz="1400" b="0">
                <a:solidFill>
                  <a:srgbClr val="0F4C5C"/>
                </a:solidFill>
                <a:latin typeface="Cambria Math"/>
              </a:rPr>
              <a:t> = A</a:t>
            </a:r>
            <a:r>
              <a:rPr sz="1400" b="0" baseline="30000">
                <a:solidFill>
                  <a:srgbClr val="0F4C5C"/>
                </a:solidFill>
                <a:latin typeface="Cambria Math"/>
              </a:rPr>
              <a:t>4</a:t>
            </a:r>
            <a:r>
              <a:rPr sz="1400" b="0">
                <a:solidFill>
                  <a:srgbClr val="0F4C5C"/>
                </a:solidFill>
                <a:latin typeface="Cambria Math"/>
              </a:rPr>
              <a:t>B</a:t>
            </a:r>
            <a:r>
              <a:rPr sz="1400" b="0" baseline="30000">
                <a:solidFill>
                  <a:srgbClr val="0F4C5C"/>
                </a:solidFill>
                <a:latin typeface="Cambria Math"/>
              </a:rPr>
              <a:t>4</a:t>
            </a:r>
            <a:r>
              <a:rPr sz="1400" b="0">
                <a:solidFill>
                  <a:srgbClr val="0F4C5C"/>
                </a:solidFill>
                <a:latin typeface="Cambria Math"/>
              </a:rPr>
              <a:t>C</a:t>
            </a:r>
            <a:r>
              <a:rPr sz="1400" b="0" baseline="30000">
                <a:solidFill>
                  <a:srgbClr val="0F4C5C"/>
                </a:solidFill>
                <a:latin typeface="Cambria Math"/>
              </a:rPr>
              <a:t>4</a:t>
            </a:r>
            <a:r>
              <a:rPr sz="1400" b="0">
                <a:solidFill>
                  <a:srgbClr val="0F4C5C"/>
                </a:solidFill>
                <a:latin typeface="Cambria Math"/>
              </a:rPr>
              <a:t> = ABC</a:t>
            </a:r>
          </a:p>
          <a:p>
            <a:pPr algn="ctr"/>
            <a:r>
              <a:rPr sz="1400" b="0">
                <a:solidFill>
                  <a:srgbClr val="0F4C5C"/>
                </a:solidFill>
                <a:latin typeface="Cambria Math"/>
              </a:rPr>
              <a:t>A · (AB</a:t>
            </a:r>
            <a:r>
              <a:rPr sz="1400" b="0" baseline="30000">
                <a:solidFill>
                  <a:srgbClr val="0F4C5C"/>
                </a:solidFill>
                <a:latin typeface="Cambria Math"/>
              </a:rPr>
              <a:t>2</a:t>
            </a:r>
            <a:r>
              <a:rPr sz="1400" b="0">
                <a:solidFill>
                  <a:srgbClr val="0F4C5C"/>
                </a:solidFill>
                <a:latin typeface="Cambria Math"/>
              </a:rPr>
              <a:t>C</a:t>
            </a:r>
            <a:r>
              <a:rPr sz="1400" b="0" baseline="30000">
                <a:solidFill>
                  <a:srgbClr val="0F4C5C"/>
                </a:solidFill>
                <a:latin typeface="Cambria Math"/>
              </a:rPr>
              <a:t>2</a:t>
            </a:r>
            <a:r>
              <a:rPr sz="1400" b="0">
                <a:solidFill>
                  <a:srgbClr val="0F4C5C"/>
                </a:solidFill>
                <a:latin typeface="Cambria Math"/>
              </a:rPr>
              <a:t>)</a:t>
            </a:r>
            <a:r>
              <a:rPr sz="1400" b="0" baseline="30000">
                <a:solidFill>
                  <a:srgbClr val="0F4C5C"/>
                </a:solidFill>
                <a:latin typeface="Cambria Math"/>
              </a:rPr>
              <a:t>2</a:t>
            </a:r>
            <a:r>
              <a:rPr sz="1400" b="0">
                <a:solidFill>
                  <a:srgbClr val="0F4C5C"/>
                </a:solidFill>
                <a:latin typeface="Cambria Math"/>
              </a:rPr>
              <a:t> = A</a:t>
            </a:r>
            <a:r>
              <a:rPr sz="1400" b="0" baseline="30000">
                <a:solidFill>
                  <a:srgbClr val="0F4C5C"/>
                </a:solidFill>
                <a:latin typeface="Cambria Math"/>
              </a:rPr>
              <a:t>3</a:t>
            </a:r>
            <a:r>
              <a:rPr sz="1400" b="0">
                <a:solidFill>
                  <a:srgbClr val="0F4C5C"/>
                </a:solidFill>
                <a:latin typeface="Cambria Math"/>
              </a:rPr>
              <a:t>B</a:t>
            </a:r>
            <a:r>
              <a:rPr sz="1400" b="0" baseline="30000">
                <a:solidFill>
                  <a:srgbClr val="0F4C5C"/>
                </a:solidFill>
                <a:latin typeface="Cambria Math"/>
              </a:rPr>
              <a:t>4</a:t>
            </a:r>
            <a:r>
              <a:rPr sz="1400" b="0">
                <a:solidFill>
                  <a:srgbClr val="0F4C5C"/>
                </a:solidFill>
                <a:latin typeface="Cambria Math"/>
              </a:rPr>
              <a:t>C</a:t>
            </a:r>
            <a:r>
              <a:rPr sz="1400" b="0" baseline="30000">
                <a:solidFill>
                  <a:srgbClr val="0F4C5C"/>
                </a:solidFill>
                <a:latin typeface="Cambria Math"/>
              </a:rPr>
              <a:t>4</a:t>
            </a:r>
            <a:r>
              <a:rPr sz="1400" b="0">
                <a:solidFill>
                  <a:srgbClr val="0F4C5C"/>
                </a:solidFill>
                <a:latin typeface="Cambria Math"/>
              </a:rPr>
              <a:t> = BC</a:t>
            </a:r>
          </a:p>
        </p:txBody>
      </p:sp>
      <p:sp>
        <p:nvSpPr>
          <p:cNvPr id="5" name="Rounded Rectangle 4"/>
          <p:cNvSpPr/>
          <p:nvPr/>
        </p:nvSpPr>
        <p:spPr>
          <a:xfrm>
            <a:off x="6835734" y="1417320"/>
            <a:ext cx="4807320"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Efectos principales alias de </a:t>
            </a:r>
            <a:r>
              <a:rPr sz="1500" b="1">
                <a:solidFill>
                  <a:srgbClr val="142B33"/>
                </a:solidFill>
                <a:latin typeface="Calibri"/>
              </a:rPr>
              <a:t>componentes de interacciones de dos factores</a:t>
            </a:r>
            <a:r>
              <a:rPr sz="1500" b="0">
                <a:solidFill>
                  <a:srgbClr val="142B33"/>
                </a:solidFill>
                <a:latin typeface="Calibri"/>
              </a:rPr>
              <a:t> → </a:t>
            </a:r>
            <a:r>
              <a:rPr sz="1500" b="1">
                <a:solidFill>
                  <a:srgbClr val="142B33"/>
                </a:solidFill>
                <a:latin typeface="Calibri"/>
              </a:rPr>
              <a:t>resolución III</a:t>
            </a:r>
          </a:p>
        </p:txBody>
      </p:sp>
      <p:sp>
        <p:nvSpPr>
          <p:cNvPr id="6" name="TextBox 5"/>
          <p:cNvSpPr txBox="1"/>
          <p:nvPr/>
        </p:nvSpPr>
        <p:spPr>
          <a:xfrm>
            <a:off x="6835734" y="2357628"/>
            <a:ext cx="4807320" cy="1238504"/>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600" b="0">
                <a:solidFill>
                  <a:srgbClr val="142B33"/>
                </a:solidFill>
                <a:latin typeface="Calibri"/>
              </a:rPr>
              <a:t>Solo sirve si </a:t>
            </a:r>
            <a:r>
              <a:rPr sz="1600" b="1">
                <a:solidFill>
                  <a:srgbClr val="142B33"/>
                </a:solidFill>
                <a:latin typeface="Calibri"/>
              </a:rPr>
              <a:t>todas</a:t>
            </a:r>
            <a:r>
              <a:rPr sz="1600" b="0">
                <a:solidFill>
                  <a:srgbClr val="142B33"/>
                </a:solidFill>
                <a:latin typeface="Calibri"/>
              </a:rPr>
              <a:t> las interacciones son pequeñas</a:t>
            </a:r>
          </a:p>
          <a:p>
            <a:pPr marL="320040" indent="-320040">
              <a:spcAft>
                <a:spcPts val="600"/>
              </a:spcAft>
              <a:buClr>
                <a:srgbClr val="E36414"/>
              </a:buClr>
              <a:buFont typeface="Arial"/>
              <a:buChar char="•"/>
            </a:pPr>
            <a:r>
              <a:rPr sz="1600" b="0">
                <a:solidFill>
                  <a:srgbClr val="142B33"/>
                </a:solidFill>
                <a:latin typeface="Calibri"/>
              </a:rPr>
              <a:t>Si BC es grande, distorsiona a A</a:t>
            </a:r>
          </a:p>
          <a:p>
            <a:pPr marL="320040" indent="-320040">
              <a:spcAft>
                <a:spcPts val="600"/>
              </a:spcAft>
              <a:buClr>
                <a:srgbClr val="E36414"/>
              </a:buClr>
              <a:buFont typeface="Arial"/>
              <a:buChar char="•"/>
            </a:pPr>
            <a:r>
              <a:rPr sz="1600" b="0">
                <a:solidFill>
                  <a:srgbClr val="142B33"/>
                </a:solidFill>
                <a:latin typeface="Calibri"/>
              </a:rPr>
              <a:t>AB + AC + BC</a:t>
            </a:r>
            <a:r>
              <a:rPr sz="1600" b="0" baseline="30000">
                <a:solidFill>
                  <a:srgbClr val="142B33"/>
                </a:solidFill>
                <a:latin typeface="Calibri"/>
              </a:rPr>
              <a:t>2</a:t>
            </a:r>
            <a:r>
              <a:rPr sz="1600" b="0">
                <a:solidFill>
                  <a:srgbClr val="142B33"/>
                </a:solidFill>
                <a:latin typeface="Calibri"/>
              </a:rPr>
              <a:t> es casi imposible de interpretar</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La fracción un tercio 3</a:t>
            </a:r>
            <a:r>
              <a:rPr sz="1000" b="0" baseline="30000">
                <a:solidFill>
                  <a:srgbClr val="5B6B73"/>
                </a:solidFill>
                <a:latin typeface="Calibri"/>
              </a:rPr>
              <a:t>k−1</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48</a:t>
            </a:r>
          </a:p>
        </p:txBody>
      </p:sp>
      <p:sp>
        <p:nvSpPr>
          <p:cNvPr id="9" name="Rounded Rectangle 8"/>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6 · La fracción un tercio 3</a:t>
            </a:r>
            <a:r>
              <a:rPr sz="1100" b="1" baseline="30000">
                <a:solidFill>
                  <a:srgbClr val="FFFFFF"/>
                </a:solidFill>
                <a:latin typeface="Calibri"/>
              </a:rPr>
              <a:t>k−1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El 3</a:t>
            </a:r>
            <a:r>
              <a:rPr sz="3000" b="1" baseline="30000">
                <a:solidFill>
                  <a:srgbClr val="0F4C5C"/>
                </a:solidFill>
                <a:latin typeface="Cambria"/>
              </a:rPr>
              <a:t>3−1</a:t>
            </a:r>
            <a:r>
              <a:rPr sz="3000" b="1">
                <a:solidFill>
                  <a:srgbClr val="0F4C5C"/>
                </a:solidFill>
                <a:latin typeface="Cambria"/>
              </a:rPr>
              <a:t> es un cuadrado latino 3 × 3</a:t>
            </a:r>
          </a:p>
        </p:txBody>
      </p:sp>
      <p:graphicFrame>
        <p:nvGraphicFramePr>
          <p:cNvPr id="3" name="Table 2"/>
          <p:cNvGraphicFramePr>
            <a:graphicFrameLocks noGrp="1"/>
          </p:cNvGraphicFramePr>
          <p:nvPr/>
        </p:nvGraphicFramePr>
        <p:xfrm>
          <a:off x="548640" y="1417320"/>
          <a:ext cx="5875612" cy="1405128"/>
        </p:xfrm>
        <a:graphic>
          <a:graphicData uri="http://schemas.openxmlformats.org/drawingml/2006/table">
            <a:tbl>
              <a:tblPr firstRow="0" bandRow="0">
                <a:tableStyleId>{5C22544A-7EE6-4342-B048-85BDC9FD1C3A}</a:tableStyleId>
              </a:tblPr>
              <a:tblGrid>
                <a:gridCol w="1007248"/>
                <a:gridCol w="1622788"/>
                <a:gridCol w="1622788"/>
                <a:gridCol w="1622788"/>
              </a:tblGrid>
              <a:tr h="351282">
                <a:tc>
                  <a:txBody>
                    <a:bodyPr/>
                    <a:lstStyle/>
                    <a:p>
                      <a:pPr algn="ctr"/>
                      <a:r>
                        <a:rPr sz="1500" b="1">
                          <a:solidFill>
                            <a:srgbClr val="FFFFFF"/>
                          </a:solidFill>
                          <a:latin typeface="Calibri"/>
                        </a:rPr>
                        <a:t>A \ B</a:t>
                      </a:r>
                    </a:p>
                  </a:txBody>
                  <a:tcPr marL="73152" marR="73152" marT="27432" marB="27432" anchor="ctr">
                    <a:solidFill>
                      <a:srgbClr val="0F4C5C"/>
                    </a:solidFill>
                  </a:tcPr>
                </a:tc>
                <a:tc>
                  <a:txBody>
                    <a:bodyPr/>
                    <a:lstStyle/>
                    <a:p>
                      <a:pPr algn="ctr"/>
                      <a:r>
                        <a:rPr sz="1500" b="1">
                          <a:solidFill>
                            <a:srgbClr val="FFFFFF"/>
                          </a:solidFill>
                          <a:latin typeface="Calibri"/>
                        </a:rPr>
                        <a:t>B = 0</a:t>
                      </a:r>
                    </a:p>
                  </a:txBody>
                  <a:tcPr marL="73152" marR="73152" marT="27432" marB="27432" anchor="ctr">
                    <a:solidFill>
                      <a:srgbClr val="0F4C5C"/>
                    </a:solidFill>
                  </a:tcPr>
                </a:tc>
                <a:tc>
                  <a:txBody>
                    <a:bodyPr/>
                    <a:lstStyle/>
                    <a:p>
                      <a:pPr algn="ctr"/>
                      <a:r>
                        <a:rPr sz="1500" b="1">
                          <a:solidFill>
                            <a:srgbClr val="FFFFFF"/>
                          </a:solidFill>
                          <a:latin typeface="Calibri"/>
                        </a:rPr>
                        <a:t>B = 1</a:t>
                      </a:r>
                    </a:p>
                  </a:txBody>
                  <a:tcPr marL="73152" marR="73152" marT="27432" marB="27432" anchor="ctr">
                    <a:solidFill>
                      <a:srgbClr val="0F4C5C"/>
                    </a:solidFill>
                  </a:tcPr>
                </a:tc>
                <a:tc>
                  <a:txBody>
                    <a:bodyPr/>
                    <a:lstStyle/>
                    <a:p>
                      <a:pPr algn="ctr"/>
                      <a:r>
                        <a:rPr sz="1500" b="1">
                          <a:solidFill>
                            <a:srgbClr val="FFFFFF"/>
                          </a:solidFill>
                          <a:latin typeface="Calibri"/>
                        </a:rPr>
                        <a:t>B = 2</a:t>
                      </a:r>
                    </a:p>
                  </a:txBody>
                  <a:tcPr marL="73152" marR="73152" marT="27432" marB="27432" anchor="ctr">
                    <a:solidFill>
                      <a:srgbClr val="0F4C5C"/>
                    </a:solidFill>
                  </a:tcPr>
                </a:tc>
              </a:tr>
              <a:tr h="351282">
                <a:tc>
                  <a:txBody>
                    <a:bodyPr/>
                    <a:lstStyle/>
                    <a:p>
                      <a:pPr algn="ctr"/>
                      <a:r>
                        <a:rPr sz="1500" b="0">
                          <a:solidFill>
                            <a:srgbClr val="142B33"/>
                          </a:solidFill>
                          <a:latin typeface="Calibri"/>
                        </a:rPr>
                        <a:t>A = 0</a:t>
                      </a:r>
                    </a:p>
                  </a:txBody>
                  <a:tcPr marL="73152" marR="73152" marT="27432" marB="27432" anchor="ctr">
                    <a:solidFill>
                      <a:srgbClr val="FFFFFF"/>
                    </a:solidFill>
                  </a:tcPr>
                </a:tc>
                <a:tc>
                  <a:txBody>
                    <a:bodyPr/>
                    <a:lstStyle/>
                    <a:p>
                      <a:pPr algn="ctr"/>
                      <a:r>
                        <a:rPr sz="1500" b="0">
                          <a:solidFill>
                            <a:srgbClr val="142B33"/>
                          </a:solidFill>
                          <a:latin typeface="Calibri"/>
                        </a:rPr>
                        <a:t>000  (C = 0)</a:t>
                      </a:r>
                    </a:p>
                  </a:txBody>
                  <a:tcPr marL="73152" marR="73152" marT="27432" marB="27432" anchor="ctr">
                    <a:solidFill>
                      <a:srgbClr val="FFFFFF"/>
                    </a:solidFill>
                  </a:tcPr>
                </a:tc>
                <a:tc>
                  <a:txBody>
                    <a:bodyPr/>
                    <a:lstStyle/>
                    <a:p>
                      <a:pPr algn="ctr"/>
                      <a:r>
                        <a:rPr sz="1500" b="0">
                          <a:solidFill>
                            <a:srgbClr val="142B33"/>
                          </a:solidFill>
                          <a:latin typeface="Calibri"/>
                        </a:rPr>
                        <a:t>012  (C = 2)</a:t>
                      </a:r>
                    </a:p>
                  </a:txBody>
                  <a:tcPr marL="73152" marR="73152" marT="27432" marB="27432" anchor="ctr">
                    <a:solidFill>
                      <a:srgbClr val="FFFFFF"/>
                    </a:solidFill>
                  </a:tcPr>
                </a:tc>
                <a:tc>
                  <a:txBody>
                    <a:bodyPr/>
                    <a:lstStyle/>
                    <a:p>
                      <a:pPr algn="ctr"/>
                      <a:r>
                        <a:rPr sz="1500" b="0">
                          <a:solidFill>
                            <a:srgbClr val="142B33"/>
                          </a:solidFill>
                          <a:latin typeface="Calibri"/>
                        </a:rPr>
                        <a:t>021  (C = 1)</a:t>
                      </a:r>
                    </a:p>
                  </a:txBody>
                  <a:tcPr marL="73152" marR="73152" marT="27432" marB="27432" anchor="ctr">
                    <a:solidFill>
                      <a:srgbClr val="FFFFFF"/>
                    </a:solidFill>
                  </a:tcPr>
                </a:tc>
              </a:tr>
              <a:tr h="351282">
                <a:tc>
                  <a:txBody>
                    <a:bodyPr/>
                    <a:lstStyle/>
                    <a:p>
                      <a:pPr algn="ctr"/>
                      <a:r>
                        <a:rPr sz="1500" b="0">
                          <a:solidFill>
                            <a:srgbClr val="142B33"/>
                          </a:solidFill>
                          <a:latin typeface="Calibri"/>
                        </a:rPr>
                        <a:t>A = 1</a:t>
                      </a:r>
                    </a:p>
                  </a:txBody>
                  <a:tcPr marL="73152" marR="73152" marT="27432" marB="27432" anchor="ctr">
                    <a:solidFill>
                      <a:srgbClr val="F4F8F9"/>
                    </a:solidFill>
                  </a:tcPr>
                </a:tc>
                <a:tc>
                  <a:txBody>
                    <a:bodyPr/>
                    <a:lstStyle/>
                    <a:p>
                      <a:pPr algn="ctr"/>
                      <a:r>
                        <a:rPr sz="1500" b="0">
                          <a:solidFill>
                            <a:srgbClr val="142B33"/>
                          </a:solidFill>
                          <a:latin typeface="Calibri"/>
                        </a:rPr>
                        <a:t>101  (C = 1)</a:t>
                      </a:r>
                    </a:p>
                  </a:txBody>
                  <a:tcPr marL="73152" marR="73152" marT="27432" marB="27432" anchor="ctr">
                    <a:solidFill>
                      <a:srgbClr val="F4F8F9"/>
                    </a:solidFill>
                  </a:tcPr>
                </a:tc>
                <a:tc>
                  <a:txBody>
                    <a:bodyPr/>
                    <a:lstStyle/>
                    <a:p>
                      <a:pPr algn="ctr"/>
                      <a:r>
                        <a:rPr sz="1500" b="0">
                          <a:solidFill>
                            <a:srgbClr val="142B33"/>
                          </a:solidFill>
                          <a:latin typeface="Calibri"/>
                        </a:rPr>
                        <a:t>110  (C = 0)</a:t>
                      </a:r>
                    </a:p>
                  </a:txBody>
                  <a:tcPr marL="73152" marR="73152" marT="27432" marB="27432" anchor="ctr">
                    <a:solidFill>
                      <a:srgbClr val="F4F8F9"/>
                    </a:solidFill>
                  </a:tcPr>
                </a:tc>
                <a:tc>
                  <a:txBody>
                    <a:bodyPr/>
                    <a:lstStyle/>
                    <a:p>
                      <a:pPr algn="ctr"/>
                      <a:r>
                        <a:rPr sz="1500" b="0">
                          <a:solidFill>
                            <a:srgbClr val="142B33"/>
                          </a:solidFill>
                          <a:latin typeface="Calibri"/>
                        </a:rPr>
                        <a:t>122  (C = 2)</a:t>
                      </a:r>
                    </a:p>
                  </a:txBody>
                  <a:tcPr marL="73152" marR="73152" marT="27432" marB="27432" anchor="ctr">
                    <a:solidFill>
                      <a:srgbClr val="F4F8F9"/>
                    </a:solidFill>
                  </a:tcPr>
                </a:tc>
              </a:tr>
              <a:tr h="351282">
                <a:tc>
                  <a:txBody>
                    <a:bodyPr/>
                    <a:lstStyle/>
                    <a:p>
                      <a:pPr algn="ctr"/>
                      <a:r>
                        <a:rPr sz="1500" b="0">
                          <a:solidFill>
                            <a:srgbClr val="142B33"/>
                          </a:solidFill>
                          <a:latin typeface="Calibri"/>
                        </a:rPr>
                        <a:t>A = 2</a:t>
                      </a:r>
                    </a:p>
                  </a:txBody>
                  <a:tcPr marL="73152" marR="73152" marT="27432" marB="27432" anchor="ctr">
                    <a:solidFill>
                      <a:srgbClr val="FFFFFF"/>
                    </a:solidFill>
                  </a:tcPr>
                </a:tc>
                <a:tc>
                  <a:txBody>
                    <a:bodyPr/>
                    <a:lstStyle/>
                    <a:p>
                      <a:pPr algn="ctr"/>
                      <a:r>
                        <a:rPr sz="1500" b="0">
                          <a:solidFill>
                            <a:srgbClr val="142B33"/>
                          </a:solidFill>
                          <a:latin typeface="Calibri"/>
                        </a:rPr>
                        <a:t>202  (C = 2)</a:t>
                      </a:r>
                    </a:p>
                  </a:txBody>
                  <a:tcPr marL="73152" marR="73152" marT="27432" marB="27432" anchor="ctr">
                    <a:solidFill>
                      <a:srgbClr val="FFFFFF"/>
                    </a:solidFill>
                  </a:tcPr>
                </a:tc>
                <a:tc>
                  <a:txBody>
                    <a:bodyPr/>
                    <a:lstStyle/>
                    <a:p>
                      <a:pPr algn="ctr"/>
                      <a:r>
                        <a:rPr sz="1500" b="0">
                          <a:solidFill>
                            <a:srgbClr val="142B33"/>
                          </a:solidFill>
                          <a:latin typeface="Calibri"/>
                        </a:rPr>
                        <a:t>211  (C = 1)</a:t>
                      </a:r>
                    </a:p>
                  </a:txBody>
                  <a:tcPr marL="73152" marR="73152" marT="27432" marB="27432" anchor="ctr">
                    <a:solidFill>
                      <a:srgbClr val="FFFFFF"/>
                    </a:solidFill>
                  </a:tcPr>
                </a:tc>
                <a:tc>
                  <a:txBody>
                    <a:bodyPr/>
                    <a:lstStyle/>
                    <a:p>
                      <a:pPr algn="ctr"/>
                      <a:r>
                        <a:rPr sz="1500" b="0">
                          <a:solidFill>
                            <a:srgbClr val="142B33"/>
                          </a:solidFill>
                          <a:latin typeface="Calibri"/>
                        </a:rPr>
                        <a:t>220  (C = 0)</a:t>
                      </a:r>
                    </a:p>
                  </a:txBody>
                  <a:tcPr marL="73152" marR="73152" marT="27432" marB="27432" anchor="ctr">
                    <a:solidFill>
                      <a:srgbClr val="FFFFFF"/>
                    </a:solidFill>
                  </a:tcPr>
                </a:tc>
              </a:tr>
            </a:tbl>
          </a:graphicData>
        </a:graphic>
      </p:graphicFrame>
      <p:sp>
        <p:nvSpPr>
          <p:cNvPr id="4" name="Rounded Rectangle 3"/>
          <p:cNvSpPr/>
          <p:nvPr/>
        </p:nvSpPr>
        <p:spPr>
          <a:xfrm>
            <a:off x="548640" y="3023616"/>
            <a:ext cx="5875614"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Cada nivel de C aparece </a:t>
            </a:r>
            <a:r>
              <a:rPr sz="1500" b="1">
                <a:solidFill>
                  <a:srgbClr val="142B33"/>
                </a:solidFill>
                <a:latin typeface="Calibri"/>
              </a:rPr>
              <a:t>una vez</a:t>
            </a:r>
            <a:r>
              <a:rPr sz="1500" b="0">
                <a:solidFill>
                  <a:srgbClr val="142B33"/>
                </a:solidFill>
                <a:latin typeface="Calibri"/>
              </a:rPr>
              <a:t> por fila y por columna: un cuadrado latino</a:t>
            </a:r>
          </a:p>
        </p:txBody>
      </p:sp>
      <p:sp>
        <p:nvSpPr>
          <p:cNvPr id="5" name="TextBox 4"/>
          <p:cNvSpPr txBox="1"/>
          <p:nvPr/>
        </p:nvSpPr>
        <p:spPr>
          <a:xfrm>
            <a:off x="6835734" y="1417320"/>
            <a:ext cx="4807320" cy="1486407"/>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600" b="0">
                <a:solidFill>
                  <a:srgbClr val="142B33"/>
                </a:solidFill>
                <a:latin typeface="Calibri"/>
              </a:rPr>
              <a:t>Mismo supuesto: </a:t>
            </a:r>
            <a:r>
              <a:rPr sz="1600" b="1">
                <a:solidFill>
                  <a:srgbClr val="142B33"/>
                </a:solidFill>
                <a:latin typeface="Calibri"/>
              </a:rPr>
              <a:t>sin interacciones</a:t>
            </a:r>
          </a:p>
          <a:p>
            <a:pPr marL="320040" indent="-320040">
              <a:spcAft>
                <a:spcPts val="600"/>
              </a:spcAft>
              <a:buClr>
                <a:srgbClr val="E36414"/>
              </a:buClr>
              <a:buFont typeface="Arial"/>
              <a:buChar char="•"/>
            </a:pPr>
            <a:r>
              <a:rPr sz="1600" b="0">
                <a:solidFill>
                  <a:srgbClr val="142B33"/>
                </a:solidFill>
                <a:latin typeface="Calibri"/>
              </a:rPr>
              <a:t>Motivos distintos: </a:t>
            </a:r>
            <a:r>
              <a:rPr sz="1600" b="1">
                <a:solidFill>
                  <a:srgbClr val="142B33"/>
                </a:solidFill>
                <a:latin typeface="Calibri"/>
              </a:rPr>
              <a:t>fracción</a:t>
            </a:r>
            <a:r>
              <a:rPr sz="1600" b="0">
                <a:solidFill>
                  <a:srgbClr val="142B33"/>
                </a:solidFill>
                <a:latin typeface="Calibri"/>
              </a:rPr>
              <a:t> frente a </a:t>
            </a:r>
            <a:r>
              <a:rPr sz="1600" b="1">
                <a:solidFill>
                  <a:srgbClr val="142B33"/>
                </a:solidFill>
                <a:latin typeface="Calibri"/>
              </a:rPr>
              <a:t>restricción de la aleatorización</a:t>
            </a:r>
          </a:p>
          <a:p>
            <a:pPr marL="320040" indent="-320040">
              <a:spcAft>
                <a:spcPts val="600"/>
              </a:spcAft>
              <a:buClr>
                <a:srgbClr val="E36414"/>
              </a:buClr>
              <a:buFont typeface="Arial"/>
              <a:buChar char="•"/>
            </a:pPr>
            <a:r>
              <a:rPr sz="1600" b="0">
                <a:solidFill>
                  <a:srgbClr val="142B33"/>
                </a:solidFill>
                <a:latin typeface="Calibri"/>
              </a:rPr>
              <a:t>12 cuadrados latinos 3 × 3 ↔ 12 fracciones 3</a:t>
            </a:r>
            <a:r>
              <a:rPr sz="1600" b="0" baseline="30000">
                <a:solidFill>
                  <a:srgbClr val="142B33"/>
                </a:solidFill>
                <a:latin typeface="Calibri"/>
              </a:rPr>
              <a:t>3−1</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La fracción un tercio 3</a:t>
            </a:r>
            <a:r>
              <a:rPr sz="1000" b="0" baseline="30000">
                <a:solidFill>
                  <a:srgbClr val="5B6B73"/>
                </a:solidFill>
                <a:latin typeface="Calibri"/>
              </a:rPr>
              <a:t>k−1</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49</a:t>
            </a:r>
          </a:p>
        </p:txBody>
      </p:sp>
      <p:sp>
        <p:nvSpPr>
          <p:cNvPr id="8" name="Rounded Rectangle 7"/>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6 · La fracción un tercio 3</a:t>
            </a:r>
            <a:r>
              <a:rPr sz="1100" b="1" baseline="30000">
                <a:solidFill>
                  <a:srgbClr val="FFFFFF"/>
                </a:solidFill>
                <a:latin typeface="Calibri"/>
              </a:rPr>
              <a:t>k−1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Construcción por diseño básico: x</a:t>
            </a:r>
            <a:r>
              <a:rPr sz="3000" b="1" baseline="-25000">
                <a:solidFill>
                  <a:srgbClr val="0F4C5C"/>
                </a:solidFill>
                <a:latin typeface="Cambria"/>
              </a:rPr>
              <a:t>k</a:t>
            </a:r>
            <a:r>
              <a:rPr sz="3000" b="1">
                <a:solidFill>
                  <a:srgbClr val="0F4C5C"/>
                </a:solidFill>
                <a:latin typeface="Cambria"/>
              </a:rPr>
              <a:t> = Σ β</a:t>
            </a:r>
            <a:r>
              <a:rPr sz="3000" b="1" baseline="-25000">
                <a:solidFill>
                  <a:srgbClr val="0F4C5C"/>
                </a:solidFill>
                <a:latin typeface="Cambria"/>
              </a:rPr>
              <a:t>i</a:t>
            </a:r>
            <a:r>
              <a:rPr sz="3000" b="1">
                <a:solidFill>
                  <a:srgbClr val="0F4C5C"/>
                </a:solidFill>
                <a:latin typeface="Cambria"/>
              </a:rPr>
              <a:t>x</a:t>
            </a:r>
            <a:r>
              <a:rPr sz="3000" b="1" baseline="-25000">
                <a:solidFill>
                  <a:srgbClr val="0F4C5C"/>
                </a:solidFill>
                <a:latin typeface="Cambria"/>
              </a:rPr>
              <a:t>i</a:t>
            </a:r>
            <a:r>
              <a:rPr sz="3000" b="1">
                <a:solidFill>
                  <a:srgbClr val="0F4C5C"/>
                </a:solidFill>
                <a:latin typeface="Cambria"/>
              </a:rPr>
              <a:t> (ecuación 9-5)</a:t>
            </a:r>
          </a:p>
        </p:txBody>
      </p:sp>
      <p:sp>
        <p:nvSpPr>
          <p:cNvPr id="3" name="Rounded Rectangle 2"/>
          <p:cNvSpPr/>
          <p:nvPr/>
        </p:nvSpPr>
        <p:spPr>
          <a:xfrm>
            <a:off x="548640" y="1417320"/>
            <a:ext cx="6196102" cy="864331"/>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0">
                <a:solidFill>
                  <a:srgbClr val="0F4C5C"/>
                </a:solidFill>
                <a:latin typeface="Cambria Math"/>
              </a:rPr>
              <a:t>x</a:t>
            </a:r>
            <a:r>
              <a:rPr sz="1700" b="0" baseline="-25000">
                <a:solidFill>
                  <a:srgbClr val="0F4C5C"/>
                </a:solidFill>
                <a:latin typeface="Cambria Math"/>
              </a:rPr>
              <a:t>k</a:t>
            </a:r>
            <a:r>
              <a:rPr sz="1700" b="0">
                <a:solidFill>
                  <a:srgbClr val="0F4C5C"/>
                </a:solidFill>
                <a:latin typeface="Cambria Math"/>
              </a:rPr>
              <a:t> = β</a:t>
            </a:r>
            <a:r>
              <a:rPr sz="1700" b="0" baseline="-25000">
                <a:solidFill>
                  <a:srgbClr val="0F4C5C"/>
                </a:solidFill>
                <a:latin typeface="Cambria Math"/>
              </a:rPr>
              <a:t>1</a:t>
            </a:r>
            <a:r>
              <a:rPr sz="1700" b="0">
                <a:solidFill>
                  <a:srgbClr val="0F4C5C"/>
                </a:solidFill>
                <a:latin typeface="Cambria Math"/>
              </a:rPr>
              <a:t>x</a:t>
            </a:r>
            <a:r>
              <a:rPr sz="1700" b="0" baseline="-25000">
                <a:solidFill>
                  <a:srgbClr val="0F4C5C"/>
                </a:solidFill>
                <a:latin typeface="Cambria Math"/>
              </a:rPr>
              <a:t>1</a:t>
            </a:r>
            <a:r>
              <a:rPr sz="1700" b="0">
                <a:solidFill>
                  <a:srgbClr val="0F4C5C"/>
                </a:solidFill>
                <a:latin typeface="Cambria Math"/>
              </a:rPr>
              <a:t> + ··· + β</a:t>
            </a:r>
            <a:r>
              <a:rPr sz="1700" b="0" baseline="-25000">
                <a:solidFill>
                  <a:srgbClr val="0F4C5C"/>
                </a:solidFill>
                <a:latin typeface="Cambria Math"/>
              </a:rPr>
              <a:t>k−1</a:t>
            </a:r>
            <a:r>
              <a:rPr sz="1700" b="0">
                <a:solidFill>
                  <a:srgbClr val="0F4C5C"/>
                </a:solidFill>
                <a:latin typeface="Cambria Math"/>
              </a:rPr>
              <a:t>x</a:t>
            </a:r>
            <a:r>
              <a:rPr sz="1700" b="0" baseline="-25000">
                <a:solidFill>
                  <a:srgbClr val="0F4C5C"/>
                </a:solidFill>
                <a:latin typeface="Cambria Math"/>
              </a:rPr>
              <a:t>k−1</a:t>
            </a:r>
            <a:r>
              <a:rPr sz="1700" b="0">
                <a:solidFill>
                  <a:srgbClr val="0F4C5C"/>
                </a:solidFill>
                <a:latin typeface="Cambria Math"/>
              </a:rPr>
              <a:t> (mod 3)</a:t>
            </a:r>
          </a:p>
          <a:p>
            <a:pPr algn="ctr"/>
            <a:r>
              <a:rPr sz="1700" b="0">
                <a:solidFill>
                  <a:srgbClr val="0F4C5C"/>
                </a:solidFill>
                <a:latin typeface="Cambria Math"/>
              </a:rPr>
              <a:t>β</a:t>
            </a:r>
            <a:r>
              <a:rPr sz="1700" b="0" baseline="-25000">
                <a:solidFill>
                  <a:srgbClr val="0F4C5C"/>
                </a:solidFill>
                <a:latin typeface="Cambria Math"/>
              </a:rPr>
              <a:t>i</a:t>
            </a:r>
            <a:r>
              <a:rPr sz="1700" b="0">
                <a:solidFill>
                  <a:srgbClr val="0F4C5C"/>
                </a:solidFill>
                <a:latin typeface="Cambria Math"/>
              </a:rPr>
              <a:t> = (3 − α</a:t>
            </a:r>
            <a:r>
              <a:rPr sz="1700" b="0" baseline="-25000">
                <a:solidFill>
                  <a:srgbClr val="0F4C5C"/>
                </a:solidFill>
                <a:latin typeface="Cambria Math"/>
              </a:rPr>
              <a:t>k</a:t>
            </a:r>
            <a:r>
              <a:rPr sz="1700" b="0">
                <a:solidFill>
                  <a:srgbClr val="0F4C5C"/>
                </a:solidFill>
                <a:latin typeface="Cambria Math"/>
              </a:rPr>
              <a:t>) α</a:t>
            </a:r>
            <a:r>
              <a:rPr sz="1700" b="0" baseline="-25000">
                <a:solidFill>
                  <a:srgbClr val="0F4C5C"/>
                </a:solidFill>
                <a:latin typeface="Cambria Math"/>
              </a:rPr>
              <a:t>i</a:t>
            </a:r>
            <a:r>
              <a:rPr sz="1700" b="0">
                <a:solidFill>
                  <a:srgbClr val="0F4C5C"/>
                </a:solidFill>
                <a:latin typeface="Cambria Math"/>
              </a:rPr>
              <a:t> (mod 3)</a:t>
            </a:r>
          </a:p>
        </p:txBody>
      </p:sp>
      <p:sp>
        <p:nvSpPr>
          <p:cNvPr id="4" name="Rounded Rectangle 3"/>
          <p:cNvSpPr/>
          <p:nvPr/>
        </p:nvSpPr>
        <p:spPr>
          <a:xfrm>
            <a:off x="548640" y="2482819"/>
            <a:ext cx="6196102" cy="569325"/>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0">
                <a:solidFill>
                  <a:srgbClr val="0F4C5C"/>
                </a:solidFill>
                <a:latin typeface="Cambria Math"/>
              </a:rPr>
              <a:t>I = AB</a:t>
            </a:r>
            <a:r>
              <a:rPr sz="1700" b="0" baseline="30000">
                <a:solidFill>
                  <a:srgbClr val="0F4C5C"/>
                </a:solidFill>
                <a:latin typeface="Cambria Math"/>
              </a:rPr>
              <a:t>2</a:t>
            </a:r>
            <a:r>
              <a:rPr sz="1700" b="0">
                <a:solidFill>
                  <a:srgbClr val="0F4C5C"/>
                </a:solidFill>
                <a:latin typeface="Cambria Math"/>
              </a:rPr>
              <a:t>CD:  x</a:t>
            </a:r>
            <a:r>
              <a:rPr sz="1700" b="0" baseline="-25000">
                <a:solidFill>
                  <a:srgbClr val="0F4C5C"/>
                </a:solidFill>
                <a:latin typeface="Cambria Math"/>
              </a:rPr>
              <a:t>4</a:t>
            </a:r>
            <a:r>
              <a:rPr sz="1700" b="0">
                <a:solidFill>
                  <a:srgbClr val="0F4C5C"/>
                </a:solidFill>
                <a:latin typeface="Cambria Math"/>
              </a:rPr>
              <a:t> = 2x</a:t>
            </a:r>
            <a:r>
              <a:rPr sz="1700" b="0" baseline="-25000">
                <a:solidFill>
                  <a:srgbClr val="0F4C5C"/>
                </a:solidFill>
                <a:latin typeface="Cambria Math"/>
              </a:rPr>
              <a:t>1</a:t>
            </a:r>
            <a:r>
              <a:rPr sz="1700" b="0">
                <a:solidFill>
                  <a:srgbClr val="0F4C5C"/>
                </a:solidFill>
                <a:latin typeface="Cambria Math"/>
              </a:rPr>
              <a:t> + x</a:t>
            </a:r>
            <a:r>
              <a:rPr sz="1700" b="0" baseline="-25000">
                <a:solidFill>
                  <a:srgbClr val="0F4C5C"/>
                </a:solidFill>
                <a:latin typeface="Cambria Math"/>
              </a:rPr>
              <a:t>2</a:t>
            </a:r>
            <a:r>
              <a:rPr sz="1700" b="0">
                <a:solidFill>
                  <a:srgbClr val="0F4C5C"/>
                </a:solidFill>
                <a:latin typeface="Cambria Math"/>
              </a:rPr>
              <a:t> + 2x</a:t>
            </a:r>
            <a:r>
              <a:rPr sz="1700" b="0" baseline="-25000">
                <a:solidFill>
                  <a:srgbClr val="0F4C5C"/>
                </a:solidFill>
                <a:latin typeface="Cambria Math"/>
              </a:rPr>
              <a:t>3</a:t>
            </a:r>
          </a:p>
        </p:txBody>
      </p:sp>
      <p:graphicFrame>
        <p:nvGraphicFramePr>
          <p:cNvPr id="5" name="Table 4"/>
          <p:cNvGraphicFramePr>
            <a:graphicFrameLocks noGrp="1"/>
          </p:cNvGraphicFramePr>
          <p:nvPr/>
        </p:nvGraphicFramePr>
        <p:xfrm>
          <a:off x="548640" y="3253313"/>
          <a:ext cx="6196101" cy="1007364"/>
        </p:xfrm>
        <a:graphic>
          <a:graphicData uri="http://schemas.openxmlformats.org/drawingml/2006/table">
            <a:tbl>
              <a:tblPr firstRow="0" bandRow="0">
                <a:tableStyleId>{5C22544A-7EE6-4342-B048-85BDC9FD1C3A}</a:tableStyleId>
              </a:tblPr>
              <a:tblGrid>
                <a:gridCol w="2408296"/>
                <a:gridCol w="1987429"/>
                <a:gridCol w="1800376"/>
              </a:tblGrid>
              <a:tr h="335788">
                <a:tc>
                  <a:txBody>
                    <a:bodyPr/>
                    <a:lstStyle/>
                    <a:p>
                      <a:pPr algn="ctr"/>
                      <a:r>
                        <a:rPr sz="1400" b="1">
                          <a:solidFill>
                            <a:srgbClr val="FFFFFF"/>
                          </a:solidFill>
                          <a:latin typeface="Calibri"/>
                        </a:rPr>
                        <a:t>Efecto</a:t>
                      </a:r>
                    </a:p>
                  </a:txBody>
                  <a:tcPr marL="73152" marR="73152" marT="27432" marB="27432" anchor="ctr">
                    <a:solidFill>
                      <a:srgbClr val="0F4C5C"/>
                    </a:solidFill>
                  </a:tcPr>
                </a:tc>
                <a:tc>
                  <a:txBody>
                    <a:bodyPr/>
                    <a:lstStyle/>
                    <a:p>
                      <a:pPr algn="ctr"/>
                      <a:r>
                        <a:rPr sz="1400" b="1">
                          <a:solidFill>
                            <a:srgbClr val="FFFFFF"/>
                          </a:solidFill>
                          <a:latin typeface="Calibri"/>
                        </a:rPr>
                        <a:t>× I</a:t>
                      </a:r>
                    </a:p>
                  </a:txBody>
                  <a:tcPr marL="73152" marR="73152" marT="27432" marB="27432" anchor="ctr">
                    <a:solidFill>
                      <a:srgbClr val="0F4C5C"/>
                    </a:solidFill>
                  </a:tcPr>
                </a:tc>
                <a:tc>
                  <a:txBody>
                    <a:bodyPr/>
                    <a:lstStyle/>
                    <a:p>
                      <a:pPr algn="ctr"/>
                      <a:r>
                        <a:rPr sz="1400" b="1">
                          <a:solidFill>
                            <a:srgbClr val="FFFFFF"/>
                          </a:solidFill>
                          <a:latin typeface="Calibri"/>
                        </a:rPr>
                        <a:t>× I</a:t>
                      </a:r>
                      <a:r>
                        <a:rPr sz="1400" b="1" baseline="30000">
                          <a:solidFill>
                            <a:srgbClr val="FFFFFF"/>
                          </a:solidFill>
                          <a:latin typeface="Calibri"/>
                        </a:rPr>
                        <a:t>2</a:t>
                      </a:r>
                    </a:p>
                  </a:txBody>
                  <a:tcPr marL="73152" marR="73152" marT="27432" marB="27432" anchor="ctr">
                    <a:solidFill>
                      <a:srgbClr val="0F4C5C"/>
                    </a:solidFill>
                  </a:tcPr>
                </a:tc>
              </a:tr>
              <a:tr h="335788">
                <a:tc>
                  <a:txBody>
                    <a:bodyPr/>
                    <a:lstStyle/>
                    <a:p>
                      <a:pPr algn="ctr"/>
                      <a:r>
                        <a:rPr sz="1400" b="0">
                          <a:solidFill>
                            <a:srgbClr val="142B33"/>
                          </a:solidFill>
                          <a:latin typeface="Calibri"/>
                        </a:rPr>
                        <a:t>A</a:t>
                      </a:r>
                    </a:p>
                  </a:txBody>
                  <a:tcPr marL="73152" marR="73152" marT="27432" marB="27432" anchor="ctr">
                    <a:solidFill>
                      <a:srgbClr val="FFFFFF"/>
                    </a:solidFill>
                  </a:tcPr>
                </a:tc>
                <a:tc>
                  <a:txBody>
                    <a:bodyPr/>
                    <a:lstStyle/>
                    <a:p>
                      <a:pPr algn="ctr"/>
                      <a:r>
                        <a:rPr sz="1400" b="0">
                          <a:solidFill>
                            <a:srgbClr val="142B33"/>
                          </a:solidFill>
                          <a:latin typeface="Calibri"/>
                        </a:rPr>
                        <a:t>ABC</a:t>
                      </a:r>
                      <a:r>
                        <a:rPr sz="1400" b="0" baseline="30000">
                          <a:solidFill>
                            <a:srgbClr val="142B33"/>
                          </a:solidFill>
                          <a:latin typeface="Calibri"/>
                        </a:rPr>
                        <a:t>2</a:t>
                      </a:r>
                      <a:r>
                        <a:rPr sz="1400" b="0">
                          <a:solidFill>
                            <a:srgbClr val="142B33"/>
                          </a:solidFill>
                          <a:latin typeface="Calibri"/>
                        </a:rPr>
                        <a:t>D</a:t>
                      </a:r>
                      <a:r>
                        <a:rPr sz="1400" b="0" baseline="30000">
                          <a:solidFill>
                            <a:srgbClr val="142B33"/>
                          </a:solidFill>
                          <a:latin typeface="Calibri"/>
                        </a:rPr>
                        <a:t>2</a:t>
                      </a:r>
                    </a:p>
                  </a:txBody>
                  <a:tcPr marL="73152" marR="73152" marT="27432" marB="27432" anchor="ctr">
                    <a:solidFill>
                      <a:srgbClr val="FFFFFF"/>
                    </a:solidFill>
                  </a:tcPr>
                </a:tc>
                <a:tc>
                  <a:txBody>
                    <a:bodyPr/>
                    <a:lstStyle/>
                    <a:p>
                      <a:pPr algn="ctr"/>
                      <a:r>
                        <a:rPr sz="1400" b="0">
                          <a:solidFill>
                            <a:srgbClr val="142B33"/>
                          </a:solidFill>
                          <a:latin typeface="Calibri"/>
                        </a:rPr>
                        <a:t>BC</a:t>
                      </a:r>
                      <a:r>
                        <a:rPr sz="1400" b="0" baseline="30000">
                          <a:solidFill>
                            <a:srgbClr val="142B33"/>
                          </a:solidFill>
                          <a:latin typeface="Calibri"/>
                        </a:rPr>
                        <a:t>2</a:t>
                      </a:r>
                      <a:r>
                        <a:rPr sz="1400" b="0">
                          <a:solidFill>
                            <a:srgbClr val="142B33"/>
                          </a:solidFill>
                          <a:latin typeface="Calibri"/>
                        </a:rPr>
                        <a:t>D</a:t>
                      </a:r>
                      <a:r>
                        <a:rPr sz="1400" b="0" baseline="30000">
                          <a:solidFill>
                            <a:srgbClr val="142B33"/>
                          </a:solidFill>
                          <a:latin typeface="Calibri"/>
                        </a:rPr>
                        <a:t>2</a:t>
                      </a:r>
                    </a:p>
                  </a:txBody>
                  <a:tcPr marL="73152" marR="73152" marT="27432" marB="27432" anchor="ctr">
                    <a:solidFill>
                      <a:srgbClr val="FFFFFF"/>
                    </a:solidFill>
                  </a:tcPr>
                </a:tc>
              </a:tr>
              <a:tr h="335788">
                <a:tc>
                  <a:txBody>
                    <a:bodyPr/>
                    <a:lstStyle/>
                    <a:p>
                      <a:pPr algn="ctr"/>
                      <a:r>
                        <a:rPr sz="1400" b="0">
                          <a:solidFill>
                            <a:srgbClr val="142B33"/>
                          </a:solidFill>
                          <a:latin typeface="Calibri"/>
                        </a:rPr>
                        <a:t>B</a:t>
                      </a:r>
                    </a:p>
                  </a:txBody>
                  <a:tcPr marL="73152" marR="73152" marT="27432" marB="27432" anchor="ctr">
                    <a:solidFill>
                      <a:srgbClr val="F4F8F9"/>
                    </a:solidFill>
                  </a:tcPr>
                </a:tc>
                <a:tc>
                  <a:txBody>
                    <a:bodyPr/>
                    <a:lstStyle/>
                    <a:p>
                      <a:pPr algn="ctr"/>
                      <a:r>
                        <a:rPr sz="1400" b="0">
                          <a:solidFill>
                            <a:srgbClr val="142B33"/>
                          </a:solidFill>
                          <a:latin typeface="Calibri"/>
                        </a:rPr>
                        <a:t>ACD</a:t>
                      </a:r>
                    </a:p>
                  </a:txBody>
                  <a:tcPr marL="73152" marR="73152" marT="27432" marB="27432" anchor="ctr">
                    <a:solidFill>
                      <a:srgbClr val="F4F8F9"/>
                    </a:solidFill>
                  </a:tcPr>
                </a:tc>
                <a:tc>
                  <a:txBody>
                    <a:bodyPr/>
                    <a:lstStyle/>
                    <a:p>
                      <a:pPr algn="ctr"/>
                      <a:r>
                        <a:rPr sz="1400" b="0">
                          <a:solidFill>
                            <a:srgbClr val="142B33"/>
                          </a:solidFill>
                          <a:latin typeface="Calibri"/>
                        </a:rPr>
                        <a:t>ABCD</a:t>
                      </a:r>
                    </a:p>
                  </a:txBody>
                  <a:tcPr marL="73152" marR="73152" marT="27432" marB="27432" anchor="ctr">
                    <a:solidFill>
                      <a:srgbClr val="F4F8F9"/>
                    </a:solidFill>
                  </a:tcPr>
                </a:tc>
              </a:tr>
            </a:tbl>
          </a:graphicData>
        </a:graphic>
      </p:graphicFrame>
      <p:graphicFrame>
        <p:nvGraphicFramePr>
          <p:cNvPr id="6" name="Table 5"/>
          <p:cNvGraphicFramePr>
            <a:graphicFrameLocks noGrp="1"/>
          </p:cNvGraphicFramePr>
          <p:nvPr/>
        </p:nvGraphicFramePr>
        <p:xfrm>
          <a:off x="7156222" y="1417320"/>
          <a:ext cx="4486831" cy="2471420"/>
        </p:xfrm>
        <a:graphic>
          <a:graphicData uri="http://schemas.openxmlformats.org/drawingml/2006/table">
            <a:tbl>
              <a:tblPr firstRow="0" bandRow="0">
                <a:tableStyleId>{5C22544A-7EE6-4342-B048-85BDC9FD1C3A}</a:tableStyleId>
              </a:tblPr>
              <a:tblGrid>
                <a:gridCol w="2987377"/>
                <a:gridCol w="749727"/>
                <a:gridCol w="749727"/>
              </a:tblGrid>
              <a:tr h="247142">
                <a:tc>
                  <a:txBody>
                    <a:bodyPr/>
                    <a:lstStyle/>
                    <a:p>
                      <a:pPr algn="ctr"/>
                      <a:r>
                        <a:rPr sz="1300" b="1">
                          <a:solidFill>
                            <a:srgbClr val="FFFFFF"/>
                          </a:solidFill>
                          <a:latin typeface="Calibri"/>
                        </a:rPr>
                        <a:t>Tabla 9-6 · 3</a:t>
                      </a:r>
                      <a:r>
                        <a:rPr sz="1300" b="1" baseline="30000">
                          <a:solidFill>
                            <a:srgbClr val="FFFFFF"/>
                          </a:solidFill>
                          <a:latin typeface="Calibri"/>
                        </a:rPr>
                        <a:t>4−1</a:t>
                      </a:r>
                      <a:r>
                        <a:rPr sz="1300" b="1" baseline="-25000">
                          <a:solidFill>
                            <a:srgbClr val="FFFFFF"/>
                          </a:solidFill>
                          <a:latin typeface="Calibri"/>
                        </a:rPr>
                        <a:t>IV</a:t>
                      </a:r>
                    </a:p>
                  </a:txBody>
                  <a:tcPr marL="73152" marR="73152" marT="27432" marB="27432" anchor="ctr">
                    <a:solidFill>
                      <a:srgbClr val="0F4C5C"/>
                    </a:solidFill>
                  </a:tcPr>
                </a:tc>
                <a:tc>
                  <a:txBody>
                    <a:bodyPr/>
                    <a:lstStyle/>
                    <a:p>
                      <a:pPr algn="ctr"/>
                    </a:p>
                  </a:txBody>
                  <a:tcPr marL="73152" marR="73152" marT="27432" marB="27432" anchor="ctr">
                    <a:solidFill>
                      <a:srgbClr val="0F4C5C"/>
                    </a:solidFill>
                  </a:tcPr>
                </a:tc>
                <a:tc>
                  <a:txBody>
                    <a:bodyPr/>
                    <a:lstStyle/>
                    <a:p>
                      <a:pPr algn="ctr"/>
                    </a:p>
                  </a:txBody>
                  <a:tcPr marL="73152" marR="73152" marT="27432" marB="27432" anchor="ctr">
                    <a:solidFill>
                      <a:srgbClr val="0F4C5C"/>
                    </a:solidFill>
                  </a:tcPr>
                </a:tc>
              </a:tr>
              <a:tr h="247142">
                <a:tc>
                  <a:txBody>
                    <a:bodyPr/>
                    <a:lstStyle/>
                    <a:p>
                      <a:pPr algn="ctr"/>
                      <a:r>
                        <a:rPr sz="1300" b="0">
                          <a:solidFill>
                            <a:srgbClr val="142B33"/>
                          </a:solidFill>
                          <a:latin typeface="Calibri"/>
                        </a:rPr>
                        <a:t>0000</a:t>
                      </a:r>
                    </a:p>
                  </a:txBody>
                  <a:tcPr marL="73152" marR="73152" marT="27432" marB="27432" anchor="ctr">
                    <a:solidFill>
                      <a:srgbClr val="FFFFFF"/>
                    </a:solidFill>
                  </a:tcPr>
                </a:tc>
                <a:tc>
                  <a:txBody>
                    <a:bodyPr/>
                    <a:lstStyle/>
                    <a:p>
                      <a:pPr algn="ctr"/>
                      <a:r>
                        <a:rPr sz="1300" b="0">
                          <a:solidFill>
                            <a:srgbClr val="142B33"/>
                          </a:solidFill>
                          <a:latin typeface="Calibri"/>
                        </a:rPr>
                        <a:t>0012</a:t>
                      </a:r>
                    </a:p>
                  </a:txBody>
                  <a:tcPr marL="73152" marR="73152" marT="27432" marB="27432" anchor="ctr">
                    <a:solidFill>
                      <a:srgbClr val="FFFFFF"/>
                    </a:solidFill>
                  </a:tcPr>
                </a:tc>
                <a:tc>
                  <a:txBody>
                    <a:bodyPr/>
                    <a:lstStyle/>
                    <a:p>
                      <a:pPr algn="ctr"/>
                      <a:r>
                        <a:rPr sz="1300" b="0">
                          <a:solidFill>
                            <a:srgbClr val="142B33"/>
                          </a:solidFill>
                          <a:latin typeface="Calibri"/>
                        </a:rPr>
                        <a:t>0021</a:t>
                      </a:r>
                    </a:p>
                  </a:txBody>
                  <a:tcPr marL="73152" marR="73152" marT="27432" marB="27432" anchor="ctr">
                    <a:solidFill>
                      <a:srgbClr val="FFFFFF"/>
                    </a:solidFill>
                  </a:tcPr>
                </a:tc>
              </a:tr>
              <a:tr h="247142">
                <a:tc>
                  <a:txBody>
                    <a:bodyPr/>
                    <a:lstStyle/>
                    <a:p>
                      <a:pPr algn="ctr"/>
                      <a:r>
                        <a:rPr sz="1300" b="0">
                          <a:solidFill>
                            <a:srgbClr val="142B33"/>
                          </a:solidFill>
                          <a:latin typeface="Calibri"/>
                        </a:rPr>
                        <a:t>1002</a:t>
                      </a:r>
                    </a:p>
                  </a:txBody>
                  <a:tcPr marL="73152" marR="73152" marT="27432" marB="27432" anchor="ctr">
                    <a:solidFill>
                      <a:srgbClr val="F4F8F9"/>
                    </a:solidFill>
                  </a:tcPr>
                </a:tc>
                <a:tc>
                  <a:txBody>
                    <a:bodyPr/>
                    <a:lstStyle/>
                    <a:p>
                      <a:pPr algn="ctr"/>
                      <a:r>
                        <a:rPr sz="1300" b="0">
                          <a:solidFill>
                            <a:srgbClr val="142B33"/>
                          </a:solidFill>
                          <a:latin typeface="Calibri"/>
                        </a:rPr>
                        <a:t>1011</a:t>
                      </a:r>
                    </a:p>
                  </a:txBody>
                  <a:tcPr marL="73152" marR="73152" marT="27432" marB="27432" anchor="ctr">
                    <a:solidFill>
                      <a:srgbClr val="F4F8F9"/>
                    </a:solidFill>
                  </a:tcPr>
                </a:tc>
                <a:tc>
                  <a:txBody>
                    <a:bodyPr/>
                    <a:lstStyle/>
                    <a:p>
                      <a:pPr algn="ctr"/>
                      <a:r>
                        <a:rPr sz="1300" b="0">
                          <a:solidFill>
                            <a:srgbClr val="142B33"/>
                          </a:solidFill>
                          <a:latin typeface="Calibri"/>
                        </a:rPr>
                        <a:t>1020</a:t>
                      </a:r>
                    </a:p>
                  </a:txBody>
                  <a:tcPr marL="73152" marR="73152" marT="27432" marB="27432" anchor="ctr">
                    <a:solidFill>
                      <a:srgbClr val="F4F8F9"/>
                    </a:solidFill>
                  </a:tcPr>
                </a:tc>
              </a:tr>
              <a:tr h="247142">
                <a:tc>
                  <a:txBody>
                    <a:bodyPr/>
                    <a:lstStyle/>
                    <a:p>
                      <a:pPr algn="ctr"/>
                      <a:r>
                        <a:rPr sz="1300" b="0">
                          <a:solidFill>
                            <a:srgbClr val="142B33"/>
                          </a:solidFill>
                          <a:latin typeface="Calibri"/>
                        </a:rPr>
                        <a:t>2001</a:t>
                      </a:r>
                    </a:p>
                  </a:txBody>
                  <a:tcPr marL="73152" marR="73152" marT="27432" marB="27432" anchor="ctr">
                    <a:solidFill>
                      <a:srgbClr val="FFFFFF"/>
                    </a:solidFill>
                  </a:tcPr>
                </a:tc>
                <a:tc>
                  <a:txBody>
                    <a:bodyPr/>
                    <a:lstStyle/>
                    <a:p>
                      <a:pPr algn="ctr"/>
                      <a:r>
                        <a:rPr sz="1300" b="0">
                          <a:solidFill>
                            <a:srgbClr val="142B33"/>
                          </a:solidFill>
                          <a:latin typeface="Calibri"/>
                        </a:rPr>
                        <a:t>2010</a:t>
                      </a:r>
                    </a:p>
                  </a:txBody>
                  <a:tcPr marL="73152" marR="73152" marT="27432" marB="27432" anchor="ctr">
                    <a:solidFill>
                      <a:srgbClr val="FFFFFF"/>
                    </a:solidFill>
                  </a:tcPr>
                </a:tc>
                <a:tc>
                  <a:txBody>
                    <a:bodyPr/>
                    <a:lstStyle/>
                    <a:p>
                      <a:pPr algn="ctr"/>
                      <a:r>
                        <a:rPr sz="1300" b="0">
                          <a:solidFill>
                            <a:srgbClr val="142B33"/>
                          </a:solidFill>
                          <a:latin typeface="Calibri"/>
                        </a:rPr>
                        <a:t>2022</a:t>
                      </a:r>
                    </a:p>
                  </a:txBody>
                  <a:tcPr marL="73152" marR="73152" marT="27432" marB="27432" anchor="ctr">
                    <a:solidFill>
                      <a:srgbClr val="FFFFFF"/>
                    </a:solidFill>
                  </a:tcPr>
                </a:tc>
              </a:tr>
              <a:tr h="247142">
                <a:tc>
                  <a:txBody>
                    <a:bodyPr/>
                    <a:lstStyle/>
                    <a:p>
                      <a:pPr algn="ctr"/>
                      <a:r>
                        <a:rPr sz="1300" b="0">
                          <a:solidFill>
                            <a:srgbClr val="142B33"/>
                          </a:solidFill>
                          <a:latin typeface="Calibri"/>
                        </a:rPr>
                        <a:t>0101</a:t>
                      </a:r>
                    </a:p>
                  </a:txBody>
                  <a:tcPr marL="73152" marR="73152" marT="27432" marB="27432" anchor="ctr">
                    <a:solidFill>
                      <a:srgbClr val="F4F8F9"/>
                    </a:solidFill>
                  </a:tcPr>
                </a:tc>
                <a:tc>
                  <a:txBody>
                    <a:bodyPr/>
                    <a:lstStyle/>
                    <a:p>
                      <a:pPr algn="ctr"/>
                      <a:r>
                        <a:rPr sz="1300" b="0">
                          <a:solidFill>
                            <a:srgbClr val="142B33"/>
                          </a:solidFill>
                          <a:latin typeface="Calibri"/>
                        </a:rPr>
                        <a:t>0110</a:t>
                      </a:r>
                    </a:p>
                  </a:txBody>
                  <a:tcPr marL="73152" marR="73152" marT="27432" marB="27432" anchor="ctr">
                    <a:solidFill>
                      <a:srgbClr val="F4F8F9"/>
                    </a:solidFill>
                  </a:tcPr>
                </a:tc>
                <a:tc>
                  <a:txBody>
                    <a:bodyPr/>
                    <a:lstStyle/>
                    <a:p>
                      <a:pPr algn="ctr"/>
                      <a:r>
                        <a:rPr sz="1300" b="0">
                          <a:solidFill>
                            <a:srgbClr val="142B33"/>
                          </a:solidFill>
                          <a:latin typeface="Calibri"/>
                        </a:rPr>
                        <a:t>0122</a:t>
                      </a:r>
                    </a:p>
                  </a:txBody>
                  <a:tcPr marL="73152" marR="73152" marT="27432" marB="27432" anchor="ctr">
                    <a:solidFill>
                      <a:srgbClr val="F4F8F9"/>
                    </a:solidFill>
                  </a:tcPr>
                </a:tc>
              </a:tr>
              <a:tr h="247142">
                <a:tc>
                  <a:txBody>
                    <a:bodyPr/>
                    <a:lstStyle/>
                    <a:p>
                      <a:pPr algn="ctr"/>
                      <a:r>
                        <a:rPr sz="1300" b="0">
                          <a:solidFill>
                            <a:srgbClr val="142B33"/>
                          </a:solidFill>
                          <a:latin typeface="Calibri"/>
                        </a:rPr>
                        <a:t>1100</a:t>
                      </a:r>
                    </a:p>
                  </a:txBody>
                  <a:tcPr marL="73152" marR="73152" marT="27432" marB="27432" anchor="ctr">
                    <a:solidFill>
                      <a:srgbClr val="FFFFFF"/>
                    </a:solidFill>
                  </a:tcPr>
                </a:tc>
                <a:tc>
                  <a:txBody>
                    <a:bodyPr/>
                    <a:lstStyle/>
                    <a:p>
                      <a:pPr algn="ctr"/>
                      <a:r>
                        <a:rPr sz="1300" b="0">
                          <a:solidFill>
                            <a:srgbClr val="142B33"/>
                          </a:solidFill>
                          <a:latin typeface="Calibri"/>
                        </a:rPr>
                        <a:t>1112</a:t>
                      </a:r>
                    </a:p>
                  </a:txBody>
                  <a:tcPr marL="73152" marR="73152" marT="27432" marB="27432" anchor="ctr">
                    <a:solidFill>
                      <a:srgbClr val="FFFFFF"/>
                    </a:solidFill>
                  </a:tcPr>
                </a:tc>
                <a:tc>
                  <a:txBody>
                    <a:bodyPr/>
                    <a:lstStyle/>
                    <a:p>
                      <a:pPr algn="ctr"/>
                      <a:r>
                        <a:rPr sz="1300" b="0">
                          <a:solidFill>
                            <a:srgbClr val="142B33"/>
                          </a:solidFill>
                          <a:latin typeface="Calibri"/>
                        </a:rPr>
                        <a:t>1121</a:t>
                      </a:r>
                    </a:p>
                  </a:txBody>
                  <a:tcPr marL="73152" marR="73152" marT="27432" marB="27432" anchor="ctr">
                    <a:solidFill>
                      <a:srgbClr val="FFFFFF"/>
                    </a:solidFill>
                  </a:tcPr>
                </a:tc>
              </a:tr>
              <a:tr h="247142">
                <a:tc>
                  <a:txBody>
                    <a:bodyPr/>
                    <a:lstStyle/>
                    <a:p>
                      <a:pPr algn="ctr"/>
                      <a:r>
                        <a:rPr sz="1300" b="0">
                          <a:solidFill>
                            <a:srgbClr val="142B33"/>
                          </a:solidFill>
                          <a:latin typeface="Calibri"/>
                        </a:rPr>
                        <a:t>2102</a:t>
                      </a:r>
                    </a:p>
                  </a:txBody>
                  <a:tcPr marL="73152" marR="73152" marT="27432" marB="27432" anchor="ctr">
                    <a:solidFill>
                      <a:srgbClr val="F4F8F9"/>
                    </a:solidFill>
                  </a:tcPr>
                </a:tc>
                <a:tc>
                  <a:txBody>
                    <a:bodyPr/>
                    <a:lstStyle/>
                    <a:p>
                      <a:pPr algn="ctr"/>
                      <a:r>
                        <a:rPr sz="1300" b="0">
                          <a:solidFill>
                            <a:srgbClr val="142B33"/>
                          </a:solidFill>
                          <a:latin typeface="Calibri"/>
                        </a:rPr>
                        <a:t>2111</a:t>
                      </a:r>
                    </a:p>
                  </a:txBody>
                  <a:tcPr marL="73152" marR="73152" marT="27432" marB="27432" anchor="ctr">
                    <a:solidFill>
                      <a:srgbClr val="F4F8F9"/>
                    </a:solidFill>
                  </a:tcPr>
                </a:tc>
                <a:tc>
                  <a:txBody>
                    <a:bodyPr/>
                    <a:lstStyle/>
                    <a:p>
                      <a:pPr algn="ctr"/>
                      <a:r>
                        <a:rPr sz="1300" b="0">
                          <a:solidFill>
                            <a:srgbClr val="142B33"/>
                          </a:solidFill>
                          <a:latin typeface="Calibri"/>
                        </a:rPr>
                        <a:t>2120</a:t>
                      </a:r>
                    </a:p>
                  </a:txBody>
                  <a:tcPr marL="73152" marR="73152" marT="27432" marB="27432" anchor="ctr">
                    <a:solidFill>
                      <a:srgbClr val="F4F8F9"/>
                    </a:solidFill>
                  </a:tcPr>
                </a:tc>
              </a:tr>
              <a:tr h="247142">
                <a:tc>
                  <a:txBody>
                    <a:bodyPr/>
                    <a:lstStyle/>
                    <a:p>
                      <a:pPr algn="ctr"/>
                      <a:r>
                        <a:rPr sz="1300" b="0">
                          <a:solidFill>
                            <a:srgbClr val="142B33"/>
                          </a:solidFill>
                          <a:latin typeface="Calibri"/>
                        </a:rPr>
                        <a:t>0202</a:t>
                      </a:r>
                    </a:p>
                  </a:txBody>
                  <a:tcPr marL="73152" marR="73152" marT="27432" marB="27432" anchor="ctr">
                    <a:solidFill>
                      <a:srgbClr val="FFFFFF"/>
                    </a:solidFill>
                  </a:tcPr>
                </a:tc>
                <a:tc>
                  <a:txBody>
                    <a:bodyPr/>
                    <a:lstStyle/>
                    <a:p>
                      <a:pPr algn="ctr"/>
                      <a:r>
                        <a:rPr sz="1300" b="0">
                          <a:solidFill>
                            <a:srgbClr val="142B33"/>
                          </a:solidFill>
                          <a:latin typeface="Calibri"/>
                        </a:rPr>
                        <a:t>0211</a:t>
                      </a:r>
                    </a:p>
                  </a:txBody>
                  <a:tcPr marL="73152" marR="73152" marT="27432" marB="27432" anchor="ctr">
                    <a:solidFill>
                      <a:srgbClr val="FFFFFF"/>
                    </a:solidFill>
                  </a:tcPr>
                </a:tc>
                <a:tc>
                  <a:txBody>
                    <a:bodyPr/>
                    <a:lstStyle/>
                    <a:p>
                      <a:pPr algn="ctr"/>
                      <a:r>
                        <a:rPr sz="1300" b="0">
                          <a:solidFill>
                            <a:srgbClr val="142B33"/>
                          </a:solidFill>
                          <a:latin typeface="Calibri"/>
                        </a:rPr>
                        <a:t>0220</a:t>
                      </a:r>
                    </a:p>
                  </a:txBody>
                  <a:tcPr marL="73152" marR="73152" marT="27432" marB="27432" anchor="ctr">
                    <a:solidFill>
                      <a:srgbClr val="FFFFFF"/>
                    </a:solidFill>
                  </a:tcPr>
                </a:tc>
              </a:tr>
              <a:tr h="247142">
                <a:tc>
                  <a:txBody>
                    <a:bodyPr/>
                    <a:lstStyle/>
                    <a:p>
                      <a:pPr algn="ctr"/>
                      <a:r>
                        <a:rPr sz="1300" b="0">
                          <a:solidFill>
                            <a:srgbClr val="142B33"/>
                          </a:solidFill>
                          <a:latin typeface="Calibri"/>
                        </a:rPr>
                        <a:t>1201</a:t>
                      </a:r>
                    </a:p>
                  </a:txBody>
                  <a:tcPr marL="73152" marR="73152" marT="27432" marB="27432" anchor="ctr">
                    <a:solidFill>
                      <a:srgbClr val="F4F8F9"/>
                    </a:solidFill>
                  </a:tcPr>
                </a:tc>
                <a:tc>
                  <a:txBody>
                    <a:bodyPr/>
                    <a:lstStyle/>
                    <a:p>
                      <a:pPr algn="ctr"/>
                      <a:r>
                        <a:rPr sz="1300" b="0">
                          <a:solidFill>
                            <a:srgbClr val="142B33"/>
                          </a:solidFill>
                          <a:latin typeface="Calibri"/>
                        </a:rPr>
                        <a:t>1210</a:t>
                      </a:r>
                    </a:p>
                  </a:txBody>
                  <a:tcPr marL="73152" marR="73152" marT="27432" marB="27432" anchor="ctr">
                    <a:solidFill>
                      <a:srgbClr val="F4F8F9"/>
                    </a:solidFill>
                  </a:tcPr>
                </a:tc>
                <a:tc>
                  <a:txBody>
                    <a:bodyPr/>
                    <a:lstStyle/>
                    <a:p>
                      <a:pPr algn="ctr"/>
                      <a:r>
                        <a:rPr sz="1300" b="0">
                          <a:solidFill>
                            <a:srgbClr val="142B33"/>
                          </a:solidFill>
                          <a:latin typeface="Calibri"/>
                        </a:rPr>
                        <a:t>1222</a:t>
                      </a:r>
                    </a:p>
                  </a:txBody>
                  <a:tcPr marL="73152" marR="73152" marT="27432" marB="27432" anchor="ctr">
                    <a:solidFill>
                      <a:srgbClr val="F4F8F9"/>
                    </a:solidFill>
                  </a:tcPr>
                </a:tc>
              </a:tr>
              <a:tr h="247142">
                <a:tc>
                  <a:txBody>
                    <a:bodyPr/>
                    <a:lstStyle/>
                    <a:p>
                      <a:pPr algn="ctr"/>
                      <a:r>
                        <a:rPr sz="1300" b="0">
                          <a:solidFill>
                            <a:srgbClr val="142B33"/>
                          </a:solidFill>
                          <a:latin typeface="Calibri"/>
                        </a:rPr>
                        <a:t>2200</a:t>
                      </a:r>
                    </a:p>
                  </a:txBody>
                  <a:tcPr marL="73152" marR="73152" marT="27432" marB="27432" anchor="ctr">
                    <a:solidFill>
                      <a:srgbClr val="FFFFFF"/>
                    </a:solidFill>
                  </a:tcPr>
                </a:tc>
                <a:tc>
                  <a:txBody>
                    <a:bodyPr/>
                    <a:lstStyle/>
                    <a:p>
                      <a:pPr algn="ctr"/>
                      <a:r>
                        <a:rPr sz="1300" b="0">
                          <a:solidFill>
                            <a:srgbClr val="142B33"/>
                          </a:solidFill>
                          <a:latin typeface="Calibri"/>
                        </a:rPr>
                        <a:t>2212</a:t>
                      </a:r>
                    </a:p>
                  </a:txBody>
                  <a:tcPr marL="73152" marR="73152" marT="27432" marB="27432" anchor="ctr">
                    <a:solidFill>
                      <a:srgbClr val="FFFFFF"/>
                    </a:solidFill>
                  </a:tcPr>
                </a:tc>
                <a:tc>
                  <a:txBody>
                    <a:bodyPr/>
                    <a:lstStyle/>
                    <a:p>
                      <a:pPr algn="ctr"/>
                      <a:r>
                        <a:rPr sz="1300" b="0">
                          <a:solidFill>
                            <a:srgbClr val="142B33"/>
                          </a:solidFill>
                          <a:latin typeface="Calibri"/>
                        </a:rPr>
                        <a:t>2221</a:t>
                      </a:r>
                    </a:p>
                  </a:txBody>
                  <a:tcPr marL="73152" marR="73152" marT="27432" marB="27432" anchor="ctr">
                    <a:solidFill>
                      <a:srgbClr val="FFFFFF"/>
                    </a:solidFill>
                  </a:tcPr>
                </a:tc>
              </a:tr>
            </a:tbl>
          </a:graphicData>
        </a:graphic>
      </p:graphicFrame>
      <p:sp>
        <p:nvSpPr>
          <p:cNvPr id="7" name="Rounded Rectangle 6"/>
          <p:cNvSpPr/>
          <p:nvPr/>
        </p:nvSpPr>
        <p:spPr>
          <a:xfrm>
            <a:off x="7156222" y="4089908"/>
            <a:ext cx="4486832"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Resolución </a:t>
            </a:r>
            <a:r>
              <a:rPr sz="1400" b="1">
                <a:solidFill>
                  <a:srgbClr val="142B33"/>
                </a:solidFill>
                <a:latin typeface="Calibri"/>
              </a:rPr>
              <a:t>IV</a:t>
            </a:r>
            <a:r>
              <a:rPr sz="1400" b="0">
                <a:solidFill>
                  <a:srgbClr val="142B33"/>
                </a:solidFill>
                <a:latin typeface="Calibri"/>
              </a:rPr>
              <a:t>: principales libres de interacciones dobles; algunas dobles alias entre sí</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La fracción un tercio 3</a:t>
            </a:r>
            <a:r>
              <a:rPr sz="1000" b="0" baseline="30000">
                <a:solidFill>
                  <a:srgbClr val="5B6B73"/>
                </a:solidFill>
                <a:latin typeface="Calibri"/>
              </a:rPr>
              <a:t>k−1</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50</a:t>
            </a:r>
          </a:p>
        </p:txBody>
      </p:sp>
      <p:sp>
        <p:nvSpPr>
          <p:cNvPr id="10" name="Rounded Rectangle 9"/>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6 · La fracción un tercio 3</a:t>
            </a:r>
            <a:r>
              <a:rPr sz="1100" b="1" baseline="30000">
                <a:solidFill>
                  <a:srgbClr val="FFFFFF"/>
                </a:solidFill>
                <a:latin typeface="Calibri"/>
              </a:rPr>
              <a:t>k−1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5 · Enunciado: un tercio del experimento de las botellas</a:t>
            </a:r>
          </a:p>
        </p:txBody>
      </p:sp>
      <p:sp>
        <p:nvSpPr>
          <p:cNvPr id="3" name="TextBox 2"/>
          <p:cNvSpPr txBox="1"/>
          <p:nvPr/>
        </p:nvSpPr>
        <p:spPr>
          <a:xfrm>
            <a:off x="548640" y="1417320"/>
            <a:ext cx="6196102" cy="1028191"/>
          </a:xfrm>
          <a:prstGeom prst="rect">
            <a:avLst/>
          </a:prstGeom>
          <a:noFill/>
        </p:spPr>
        <p:txBody>
          <a:bodyPr wrap="square" anchor="t" lIns="0" rIns="0" tIns="0" bIns="0">
            <a:spAutoFit/>
          </a:bodyPr>
          <a:lstStyle/>
          <a:p>
            <a:r>
              <a:rPr sz="1600" b="0">
                <a:solidFill>
                  <a:srgbClr val="142B33"/>
                </a:solidFill>
                <a:latin typeface="Calibri"/>
              </a:rPr>
              <a:t>Vuelve el experimento de acomodar botellas: A tipo de botella, B aparador, C empleado, respuesta el tiempo en minutos. Suponga que </a:t>
            </a:r>
            <a:r>
              <a:rPr sz="1600" b="1">
                <a:solidFill>
                  <a:srgbClr val="142B33"/>
                </a:solidFill>
                <a:latin typeface="Calibri"/>
              </a:rPr>
              <a:t>solo hay presupuesto para 9 corridas</a:t>
            </a:r>
            <a:r>
              <a:rPr sz="1600" b="0">
                <a:solidFill>
                  <a:srgbClr val="142B33"/>
                </a:solidFill>
                <a:latin typeface="Calibri"/>
              </a:rPr>
              <a:t> en lugar de las 27 de una réplica completa.</a:t>
            </a:r>
          </a:p>
        </p:txBody>
      </p:sp>
      <p:sp>
        <p:nvSpPr>
          <p:cNvPr id="4" name="TextBox 3"/>
          <p:cNvSpPr txBox="1"/>
          <p:nvPr/>
        </p:nvSpPr>
        <p:spPr>
          <a:xfrm>
            <a:off x="548640" y="2646680"/>
            <a:ext cx="6196102" cy="780288"/>
          </a:xfrm>
          <a:prstGeom prst="rect">
            <a:avLst/>
          </a:prstGeom>
          <a:noFill/>
        </p:spPr>
        <p:txBody>
          <a:bodyPr wrap="square" anchor="t" lIns="0" rIns="0" tIns="0" bIns="0">
            <a:spAutoFit/>
          </a:bodyPr>
          <a:lstStyle/>
          <a:p>
            <a:r>
              <a:rPr sz="1600" b="0">
                <a:solidFill>
                  <a:srgbClr val="142B33"/>
                </a:solidFill>
                <a:latin typeface="Calibri"/>
              </a:rPr>
              <a:t>Se decide correr una </a:t>
            </a:r>
            <a:r>
              <a:rPr sz="1600" b="1">
                <a:solidFill>
                  <a:srgbClr val="142B33"/>
                </a:solidFill>
                <a:latin typeface="Calibri"/>
              </a:rPr>
              <a:t>fracción un tercio 3</a:t>
            </a:r>
            <a:r>
              <a:rPr sz="1600" b="1" baseline="30000">
                <a:solidFill>
                  <a:srgbClr val="142B33"/>
                </a:solidFill>
                <a:latin typeface="Calibri"/>
              </a:rPr>
              <a:t>3−1</a:t>
            </a:r>
            <a:r>
              <a:rPr sz="1600" b="1">
                <a:solidFill>
                  <a:srgbClr val="142B33"/>
                </a:solidFill>
                <a:latin typeface="Calibri"/>
              </a:rPr>
              <a:t> con I = ABC</a:t>
            </a:r>
            <a:r>
              <a:rPr sz="1600" b="0">
                <a:solidFill>
                  <a:srgbClr val="142B33"/>
                </a:solidFill>
                <a:latin typeface="Calibri"/>
              </a:rPr>
              <a:t>: la fracción principal, las nueve combinaciones con x</a:t>
            </a:r>
            <a:r>
              <a:rPr sz="1600" b="0" baseline="-25000">
                <a:solidFill>
                  <a:srgbClr val="142B33"/>
                </a:solidFill>
                <a:latin typeface="Calibri"/>
              </a:rPr>
              <a:t>1</a:t>
            </a:r>
            <a:r>
              <a:rPr sz="1600" b="0">
                <a:solidFill>
                  <a:srgbClr val="142B33"/>
                </a:solidFill>
                <a:latin typeface="Calibri"/>
              </a:rPr>
              <a:t> + x</a:t>
            </a:r>
            <a:r>
              <a:rPr sz="1600" b="0" baseline="-25000">
                <a:solidFill>
                  <a:srgbClr val="142B33"/>
                </a:solidFill>
                <a:latin typeface="Calibri"/>
              </a:rPr>
              <a:t>2</a:t>
            </a:r>
            <a:r>
              <a:rPr sz="1600" b="0">
                <a:solidFill>
                  <a:srgbClr val="142B33"/>
                </a:solidFill>
                <a:latin typeface="Calibri"/>
              </a:rPr>
              <a:t> + x</a:t>
            </a:r>
            <a:r>
              <a:rPr sz="1600" b="0" baseline="-25000">
                <a:solidFill>
                  <a:srgbClr val="142B33"/>
                </a:solidFill>
                <a:latin typeface="Calibri"/>
              </a:rPr>
              <a:t>3</a:t>
            </a:r>
            <a:r>
              <a:rPr sz="1600" b="0">
                <a:solidFill>
                  <a:srgbClr val="142B33"/>
                </a:solidFill>
                <a:latin typeface="Calibri"/>
              </a:rPr>
              <a:t> = 0 (mod 3).</a:t>
            </a:r>
          </a:p>
        </p:txBody>
      </p:sp>
      <p:sp>
        <p:nvSpPr>
          <p:cNvPr id="5" name="TextBox 4"/>
          <p:cNvSpPr txBox="1"/>
          <p:nvPr/>
        </p:nvSpPr>
        <p:spPr>
          <a:xfrm>
            <a:off x="548640" y="3628136"/>
            <a:ext cx="6196102" cy="1028191"/>
          </a:xfrm>
          <a:prstGeom prst="rect">
            <a:avLst/>
          </a:prstGeom>
          <a:noFill/>
        </p:spPr>
        <p:txBody>
          <a:bodyPr wrap="square" anchor="t" lIns="0" rIns="0" tIns="0" bIns="0">
            <a:spAutoFit/>
          </a:bodyPr>
          <a:lstStyle/>
          <a:p>
            <a:r>
              <a:rPr sz="1600" b="0">
                <a:solidFill>
                  <a:srgbClr val="142B33"/>
                </a:solidFill>
                <a:latin typeface="Calibri"/>
              </a:rPr>
              <a:t>Como se tienen los datos de la réplica I completa, se puede comparar lo que concluye la fracción con lo que concluye el experimento completo, y ver qué pasa cuando una interacción no es despreciable.</a:t>
            </a:r>
          </a:p>
        </p:txBody>
      </p:sp>
      <p:sp>
        <p:nvSpPr>
          <p:cNvPr id="6" name="TextBox 5"/>
          <p:cNvSpPr txBox="1"/>
          <p:nvPr/>
        </p:nvSpPr>
        <p:spPr>
          <a:xfrm>
            <a:off x="548640" y="4857496"/>
            <a:ext cx="6196102" cy="222504"/>
          </a:xfrm>
          <a:prstGeom prst="rect">
            <a:avLst/>
          </a:prstGeom>
          <a:noFill/>
        </p:spPr>
        <p:txBody>
          <a:bodyPr wrap="square" anchor="t" lIns="0" rIns="0" tIns="0" bIns="0">
            <a:spAutoFit/>
          </a:bodyPr>
          <a:lstStyle/>
          <a:p>
            <a:r>
              <a:rPr sz="1200" b="0">
                <a:solidFill>
                  <a:srgbClr val="5B6B73"/>
                </a:solidFill>
                <a:latin typeface="Calibri"/>
              </a:rPr>
              <a:t>Fuente: Montgomery, problema 9-12 (réplica I del 9-3)</a:t>
            </a:r>
          </a:p>
        </p:txBody>
      </p:sp>
      <p:sp>
        <p:nvSpPr>
          <p:cNvPr id="7" name="Rounded Rectangle 6"/>
          <p:cNvSpPr/>
          <p:nvPr/>
        </p:nvSpPr>
        <p:spPr>
          <a:xfrm>
            <a:off x="7156222" y="1417320"/>
            <a:ext cx="4486832" cy="148183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Objetivo</a:t>
            </a:r>
          </a:p>
          <a:p>
            <a:pPr algn="l"/>
            <a:r>
              <a:rPr sz="1500" b="0">
                <a:solidFill>
                  <a:srgbClr val="142B33"/>
                </a:solidFill>
                <a:latin typeface="Calibri"/>
              </a:rPr>
              <a:t>Construir la fracción, escribir sus alias, analizarla y </a:t>
            </a:r>
            <a:r>
              <a:rPr sz="1500" b="1">
                <a:solidFill>
                  <a:srgbClr val="142B33"/>
                </a:solidFill>
                <a:latin typeface="Calibri"/>
              </a:rPr>
              <a:t>ver qué se pierde</a:t>
            </a:r>
            <a:r>
              <a:rPr sz="1500" b="0">
                <a:solidFill>
                  <a:srgbClr val="142B33"/>
                </a:solidFill>
                <a:latin typeface="Calibri"/>
              </a:rPr>
              <a:t> frente a la réplica completa</a:t>
            </a:r>
          </a:p>
        </p:txBody>
      </p:sp>
      <p:sp>
        <p:nvSpPr>
          <p:cNvPr id="8" name="TextBox 7"/>
          <p:cNvSpPr txBox="1"/>
          <p:nvPr/>
        </p:nvSpPr>
        <p:spPr>
          <a:xfrm>
            <a:off x="7156222" y="3100324"/>
            <a:ext cx="4486832" cy="299973"/>
          </a:xfrm>
          <a:prstGeom prst="rect">
            <a:avLst/>
          </a:prstGeom>
          <a:noFill/>
        </p:spPr>
        <p:txBody>
          <a:bodyPr wrap="square" anchor="t" lIns="0" rIns="0" tIns="0" bIns="0">
            <a:spAutoFit/>
          </a:bodyPr>
          <a:lstStyle/>
          <a:p>
            <a:r>
              <a:rPr sz="1700" b="1">
                <a:solidFill>
                  <a:srgbClr val="142B33"/>
                </a:solidFill>
                <a:latin typeface="Calibri"/>
              </a:rPr>
              <a:t>Se pide</a:t>
            </a:r>
          </a:p>
        </p:txBody>
      </p:sp>
      <p:sp>
        <p:nvSpPr>
          <p:cNvPr id="9" name="TextBox 8"/>
          <p:cNvSpPr txBox="1"/>
          <p:nvPr/>
        </p:nvSpPr>
        <p:spPr>
          <a:xfrm>
            <a:off x="7156222" y="3601465"/>
            <a:ext cx="4486832" cy="1723643"/>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500" b="0">
                <a:solidFill>
                  <a:srgbClr val="142B33"/>
                </a:solidFill>
                <a:latin typeface="Calibri"/>
              </a:rPr>
              <a:t>Escribir las 9 corridas y comprobar que forman un cuadrado latino</a:t>
            </a:r>
          </a:p>
          <a:p>
            <a:pPr marL="320040" indent="-320040">
              <a:spcAft>
                <a:spcPts val="600"/>
              </a:spcAft>
              <a:buClr>
                <a:srgbClr val="E36414"/>
              </a:buClr>
              <a:buFont typeface="+mj-lt"/>
              <a:buAutoNum type="arabicPeriod"/>
            </a:pPr>
            <a:r>
              <a:rPr sz="1500" b="0">
                <a:solidFill>
                  <a:srgbClr val="142B33"/>
                </a:solidFill>
                <a:latin typeface="Calibri"/>
              </a:rPr>
              <a:t>Obtener los dos alias de cada efecto</a:t>
            </a:r>
          </a:p>
          <a:p>
            <a:pPr marL="320040" indent="-320040">
              <a:spcAft>
                <a:spcPts val="600"/>
              </a:spcAft>
              <a:buClr>
                <a:srgbClr val="E36414"/>
              </a:buClr>
              <a:buFont typeface="+mj-lt"/>
              <a:buAutoNum type="arabicPeriod"/>
            </a:pPr>
            <a:r>
              <a:rPr sz="1500" b="0">
                <a:solidFill>
                  <a:srgbClr val="142B33"/>
                </a:solidFill>
                <a:latin typeface="Calibri"/>
              </a:rPr>
              <a:t>Calcular las SS de las cuatro cadenas con la regla L</a:t>
            </a:r>
          </a:p>
          <a:p>
            <a:pPr marL="320040" indent="-320040">
              <a:spcAft>
                <a:spcPts val="600"/>
              </a:spcAft>
              <a:buClr>
                <a:srgbClr val="E36414"/>
              </a:buClr>
              <a:buFont typeface="+mj-lt"/>
              <a:buAutoNum type="arabicPeriod"/>
            </a:pPr>
            <a:r>
              <a:rPr sz="1500" b="0">
                <a:solidFill>
                  <a:srgbClr val="142B33"/>
                </a:solidFill>
                <a:latin typeface="Calibri"/>
              </a:rPr>
              <a:t>Comparar con el ANOVA de la réplica completa</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La fracción un tercio 3</a:t>
            </a:r>
            <a:r>
              <a:rPr sz="1000" b="0" baseline="30000">
                <a:solidFill>
                  <a:srgbClr val="5B6B73"/>
                </a:solidFill>
                <a:latin typeface="Calibri"/>
              </a:rPr>
              <a:t>k−1</a:t>
            </a:r>
          </a:p>
        </p:txBody>
      </p:sp>
      <p:sp>
        <p:nvSpPr>
          <p:cNvPr id="11" name="TextBox 10"/>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51</a:t>
            </a:r>
          </a:p>
        </p:txBody>
      </p:sp>
      <p:sp>
        <p:nvSpPr>
          <p:cNvPr id="12" name="Rounded Rectangle 11"/>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6 · La fracción un tercio 3</a:t>
            </a:r>
            <a:r>
              <a:rPr sz="1100" b="1" baseline="30000">
                <a:solidFill>
                  <a:srgbClr val="FFFFFF"/>
                </a:solidFill>
                <a:latin typeface="Calibri"/>
              </a:rPr>
              <a:t>k−1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5 · La fracción y sus alias</a:t>
            </a:r>
          </a:p>
        </p:txBody>
      </p:sp>
      <p:graphicFrame>
        <p:nvGraphicFramePr>
          <p:cNvPr id="3" name="Table 2"/>
          <p:cNvGraphicFramePr>
            <a:graphicFrameLocks noGrp="1"/>
          </p:cNvGraphicFramePr>
          <p:nvPr/>
        </p:nvGraphicFramePr>
        <p:xfrm>
          <a:off x="548640" y="1417320"/>
          <a:ext cx="5341466" cy="1405128"/>
        </p:xfrm>
        <a:graphic>
          <a:graphicData uri="http://schemas.openxmlformats.org/drawingml/2006/table">
            <a:tbl>
              <a:tblPr firstRow="0" bandRow="0">
                <a:tableStyleId>{5C22544A-7EE6-4342-B048-85BDC9FD1C3A}</a:tableStyleId>
              </a:tblPr>
              <a:tblGrid>
                <a:gridCol w="915680"/>
                <a:gridCol w="1475262"/>
                <a:gridCol w="1475262"/>
                <a:gridCol w="1475262"/>
              </a:tblGrid>
              <a:tr h="351282">
                <a:tc>
                  <a:txBody>
                    <a:bodyPr/>
                    <a:lstStyle/>
                    <a:p>
                      <a:pPr algn="ctr"/>
                      <a:r>
                        <a:rPr sz="1500" b="1">
                          <a:solidFill>
                            <a:srgbClr val="FFFFFF"/>
                          </a:solidFill>
                          <a:latin typeface="Calibri"/>
                        </a:rPr>
                        <a:t>A \ B</a:t>
                      </a:r>
                    </a:p>
                  </a:txBody>
                  <a:tcPr marL="73152" marR="73152" marT="27432" marB="27432" anchor="ctr">
                    <a:solidFill>
                      <a:srgbClr val="0F4C5C"/>
                    </a:solidFill>
                  </a:tcPr>
                </a:tc>
                <a:tc>
                  <a:txBody>
                    <a:bodyPr/>
                    <a:lstStyle/>
                    <a:p>
                      <a:pPr algn="ctr"/>
                      <a:r>
                        <a:rPr sz="1500" b="1">
                          <a:solidFill>
                            <a:srgbClr val="FFFFFF"/>
                          </a:solidFill>
                          <a:latin typeface="Calibri"/>
                        </a:rPr>
                        <a:t>B = 0</a:t>
                      </a:r>
                    </a:p>
                  </a:txBody>
                  <a:tcPr marL="73152" marR="73152" marT="27432" marB="27432" anchor="ctr">
                    <a:solidFill>
                      <a:srgbClr val="0F4C5C"/>
                    </a:solidFill>
                  </a:tcPr>
                </a:tc>
                <a:tc>
                  <a:txBody>
                    <a:bodyPr/>
                    <a:lstStyle/>
                    <a:p>
                      <a:pPr algn="ctr"/>
                      <a:r>
                        <a:rPr sz="1500" b="1">
                          <a:solidFill>
                            <a:srgbClr val="FFFFFF"/>
                          </a:solidFill>
                          <a:latin typeface="Calibri"/>
                        </a:rPr>
                        <a:t>B = 1</a:t>
                      </a:r>
                    </a:p>
                  </a:txBody>
                  <a:tcPr marL="73152" marR="73152" marT="27432" marB="27432" anchor="ctr">
                    <a:solidFill>
                      <a:srgbClr val="0F4C5C"/>
                    </a:solidFill>
                  </a:tcPr>
                </a:tc>
                <a:tc>
                  <a:txBody>
                    <a:bodyPr/>
                    <a:lstStyle/>
                    <a:p>
                      <a:pPr algn="ctr"/>
                      <a:r>
                        <a:rPr sz="1500" b="1">
                          <a:solidFill>
                            <a:srgbClr val="FFFFFF"/>
                          </a:solidFill>
                          <a:latin typeface="Calibri"/>
                        </a:rPr>
                        <a:t>B = 2</a:t>
                      </a:r>
                    </a:p>
                  </a:txBody>
                  <a:tcPr marL="73152" marR="73152" marT="27432" marB="27432" anchor="ctr">
                    <a:solidFill>
                      <a:srgbClr val="0F4C5C"/>
                    </a:solidFill>
                  </a:tcPr>
                </a:tc>
              </a:tr>
              <a:tr h="351282">
                <a:tc>
                  <a:txBody>
                    <a:bodyPr/>
                    <a:lstStyle/>
                    <a:p>
                      <a:pPr algn="ctr"/>
                      <a:r>
                        <a:rPr sz="1500" b="0">
                          <a:solidFill>
                            <a:srgbClr val="142B33"/>
                          </a:solidFill>
                          <a:latin typeface="Calibri"/>
                        </a:rPr>
                        <a:t>A = 0</a:t>
                      </a:r>
                    </a:p>
                  </a:txBody>
                  <a:tcPr marL="73152" marR="73152" marT="27432" marB="27432" anchor="ctr">
                    <a:solidFill>
                      <a:srgbClr val="FFFFFF"/>
                    </a:solidFill>
                  </a:tcPr>
                </a:tc>
                <a:tc>
                  <a:txBody>
                    <a:bodyPr/>
                    <a:lstStyle/>
                    <a:p>
                      <a:pPr algn="ctr"/>
                      <a:r>
                        <a:rPr sz="1500" b="0">
                          <a:solidFill>
                            <a:srgbClr val="142B33"/>
                          </a:solidFill>
                          <a:latin typeface="Calibri"/>
                        </a:rPr>
                        <a:t>000  (C = 0)</a:t>
                      </a:r>
                    </a:p>
                  </a:txBody>
                  <a:tcPr marL="73152" marR="73152" marT="27432" marB="27432" anchor="ctr">
                    <a:solidFill>
                      <a:srgbClr val="FFFFFF"/>
                    </a:solidFill>
                  </a:tcPr>
                </a:tc>
                <a:tc>
                  <a:txBody>
                    <a:bodyPr/>
                    <a:lstStyle/>
                    <a:p>
                      <a:pPr algn="ctr"/>
                      <a:r>
                        <a:rPr sz="1500" b="0">
                          <a:solidFill>
                            <a:srgbClr val="142B33"/>
                          </a:solidFill>
                          <a:latin typeface="Calibri"/>
                        </a:rPr>
                        <a:t>012  (C = 2)</a:t>
                      </a:r>
                    </a:p>
                  </a:txBody>
                  <a:tcPr marL="73152" marR="73152" marT="27432" marB="27432" anchor="ctr">
                    <a:solidFill>
                      <a:srgbClr val="FFFFFF"/>
                    </a:solidFill>
                  </a:tcPr>
                </a:tc>
                <a:tc>
                  <a:txBody>
                    <a:bodyPr/>
                    <a:lstStyle/>
                    <a:p>
                      <a:pPr algn="ctr"/>
                      <a:r>
                        <a:rPr sz="1500" b="0">
                          <a:solidFill>
                            <a:srgbClr val="142B33"/>
                          </a:solidFill>
                          <a:latin typeface="Calibri"/>
                        </a:rPr>
                        <a:t>021  (C = 1)</a:t>
                      </a:r>
                    </a:p>
                  </a:txBody>
                  <a:tcPr marL="73152" marR="73152" marT="27432" marB="27432" anchor="ctr">
                    <a:solidFill>
                      <a:srgbClr val="FFFFFF"/>
                    </a:solidFill>
                  </a:tcPr>
                </a:tc>
              </a:tr>
              <a:tr h="351282">
                <a:tc>
                  <a:txBody>
                    <a:bodyPr/>
                    <a:lstStyle/>
                    <a:p>
                      <a:pPr algn="ctr"/>
                      <a:r>
                        <a:rPr sz="1500" b="0">
                          <a:solidFill>
                            <a:srgbClr val="142B33"/>
                          </a:solidFill>
                          <a:latin typeface="Calibri"/>
                        </a:rPr>
                        <a:t>A = 1</a:t>
                      </a:r>
                    </a:p>
                  </a:txBody>
                  <a:tcPr marL="73152" marR="73152" marT="27432" marB="27432" anchor="ctr">
                    <a:solidFill>
                      <a:srgbClr val="F4F8F9"/>
                    </a:solidFill>
                  </a:tcPr>
                </a:tc>
                <a:tc>
                  <a:txBody>
                    <a:bodyPr/>
                    <a:lstStyle/>
                    <a:p>
                      <a:pPr algn="ctr"/>
                      <a:r>
                        <a:rPr sz="1500" b="0">
                          <a:solidFill>
                            <a:srgbClr val="142B33"/>
                          </a:solidFill>
                          <a:latin typeface="Calibri"/>
                        </a:rPr>
                        <a:t>102  (C = 2)</a:t>
                      </a:r>
                    </a:p>
                  </a:txBody>
                  <a:tcPr marL="73152" marR="73152" marT="27432" marB="27432" anchor="ctr">
                    <a:solidFill>
                      <a:srgbClr val="F4F8F9"/>
                    </a:solidFill>
                  </a:tcPr>
                </a:tc>
                <a:tc>
                  <a:txBody>
                    <a:bodyPr/>
                    <a:lstStyle/>
                    <a:p>
                      <a:pPr algn="ctr"/>
                      <a:r>
                        <a:rPr sz="1500" b="0">
                          <a:solidFill>
                            <a:srgbClr val="142B33"/>
                          </a:solidFill>
                          <a:latin typeface="Calibri"/>
                        </a:rPr>
                        <a:t>111  (C = 1)</a:t>
                      </a:r>
                    </a:p>
                  </a:txBody>
                  <a:tcPr marL="73152" marR="73152" marT="27432" marB="27432" anchor="ctr">
                    <a:solidFill>
                      <a:srgbClr val="F4F8F9"/>
                    </a:solidFill>
                  </a:tcPr>
                </a:tc>
                <a:tc>
                  <a:txBody>
                    <a:bodyPr/>
                    <a:lstStyle/>
                    <a:p>
                      <a:pPr algn="ctr"/>
                      <a:r>
                        <a:rPr sz="1500" b="0">
                          <a:solidFill>
                            <a:srgbClr val="142B33"/>
                          </a:solidFill>
                          <a:latin typeface="Calibri"/>
                        </a:rPr>
                        <a:t>120  (C = 0)</a:t>
                      </a:r>
                    </a:p>
                  </a:txBody>
                  <a:tcPr marL="73152" marR="73152" marT="27432" marB="27432" anchor="ctr">
                    <a:solidFill>
                      <a:srgbClr val="F4F8F9"/>
                    </a:solidFill>
                  </a:tcPr>
                </a:tc>
              </a:tr>
              <a:tr h="351282">
                <a:tc>
                  <a:txBody>
                    <a:bodyPr/>
                    <a:lstStyle/>
                    <a:p>
                      <a:pPr algn="ctr"/>
                      <a:r>
                        <a:rPr sz="1500" b="0">
                          <a:solidFill>
                            <a:srgbClr val="142B33"/>
                          </a:solidFill>
                          <a:latin typeface="Calibri"/>
                        </a:rPr>
                        <a:t>A = 2</a:t>
                      </a:r>
                    </a:p>
                  </a:txBody>
                  <a:tcPr marL="73152" marR="73152" marT="27432" marB="27432" anchor="ctr">
                    <a:solidFill>
                      <a:srgbClr val="FFFFFF"/>
                    </a:solidFill>
                  </a:tcPr>
                </a:tc>
                <a:tc>
                  <a:txBody>
                    <a:bodyPr/>
                    <a:lstStyle/>
                    <a:p>
                      <a:pPr algn="ctr"/>
                      <a:r>
                        <a:rPr sz="1500" b="0">
                          <a:solidFill>
                            <a:srgbClr val="142B33"/>
                          </a:solidFill>
                          <a:latin typeface="Calibri"/>
                        </a:rPr>
                        <a:t>201  (C = 1)</a:t>
                      </a:r>
                    </a:p>
                  </a:txBody>
                  <a:tcPr marL="73152" marR="73152" marT="27432" marB="27432" anchor="ctr">
                    <a:solidFill>
                      <a:srgbClr val="FFFFFF"/>
                    </a:solidFill>
                  </a:tcPr>
                </a:tc>
                <a:tc>
                  <a:txBody>
                    <a:bodyPr/>
                    <a:lstStyle/>
                    <a:p>
                      <a:pPr algn="ctr"/>
                      <a:r>
                        <a:rPr sz="1500" b="0">
                          <a:solidFill>
                            <a:srgbClr val="142B33"/>
                          </a:solidFill>
                          <a:latin typeface="Calibri"/>
                        </a:rPr>
                        <a:t>210  (C = 0)</a:t>
                      </a:r>
                    </a:p>
                  </a:txBody>
                  <a:tcPr marL="73152" marR="73152" marT="27432" marB="27432" anchor="ctr">
                    <a:solidFill>
                      <a:srgbClr val="FFFFFF"/>
                    </a:solidFill>
                  </a:tcPr>
                </a:tc>
                <a:tc>
                  <a:txBody>
                    <a:bodyPr/>
                    <a:lstStyle/>
                    <a:p>
                      <a:pPr algn="ctr"/>
                      <a:r>
                        <a:rPr sz="1500" b="0">
                          <a:solidFill>
                            <a:srgbClr val="142B33"/>
                          </a:solidFill>
                          <a:latin typeface="Calibri"/>
                        </a:rPr>
                        <a:t>222  (C = 2)</a:t>
                      </a:r>
                    </a:p>
                  </a:txBody>
                  <a:tcPr marL="73152" marR="73152" marT="27432" marB="27432" anchor="ctr">
                    <a:solidFill>
                      <a:srgbClr val="FFFFFF"/>
                    </a:solidFill>
                  </a:tcPr>
                </a:tc>
              </a:tr>
            </a:tbl>
          </a:graphicData>
        </a:graphic>
      </p:graphicFrame>
      <p:graphicFrame>
        <p:nvGraphicFramePr>
          <p:cNvPr id="4" name="Table 3"/>
          <p:cNvGraphicFramePr>
            <a:graphicFrameLocks noGrp="1"/>
          </p:cNvGraphicFramePr>
          <p:nvPr/>
        </p:nvGraphicFramePr>
        <p:xfrm>
          <a:off x="548640" y="3023616"/>
          <a:ext cx="5341464" cy="2316480"/>
        </p:xfrm>
        <a:graphic>
          <a:graphicData uri="http://schemas.openxmlformats.org/drawingml/2006/table">
            <a:tbl>
              <a:tblPr firstRow="0" bandRow="0">
                <a:tableStyleId>{5C22544A-7EE6-4342-B048-85BDC9FD1C3A}</a:tableStyleId>
              </a:tblPr>
              <a:tblGrid>
                <a:gridCol w="996157"/>
                <a:gridCol w="996157"/>
                <a:gridCol w="1245197"/>
                <a:gridCol w="1107796"/>
                <a:gridCol w="996157"/>
              </a:tblGrid>
              <a:tr h="231648">
                <a:tc>
                  <a:txBody>
                    <a:bodyPr/>
                    <a:lstStyle/>
                    <a:p>
                      <a:pPr algn="ctr"/>
                      <a:r>
                        <a:rPr sz="1200" b="1">
                          <a:solidFill>
                            <a:srgbClr val="FFFFFF"/>
                          </a:solidFill>
                          <a:latin typeface="Calibri"/>
                        </a:rPr>
                        <a:t>Corrida</a:t>
                      </a:r>
                    </a:p>
                  </a:txBody>
                  <a:tcPr marL="73152" marR="73152" marT="27432" marB="27432" anchor="ctr">
                    <a:solidFill>
                      <a:srgbClr val="0F4C5C"/>
                    </a:solidFill>
                  </a:tcPr>
                </a:tc>
                <a:tc>
                  <a:txBody>
                    <a:bodyPr/>
                    <a:lstStyle/>
                    <a:p>
                      <a:pPr algn="ctr"/>
                      <a:r>
                        <a:rPr sz="1200" b="1">
                          <a:solidFill>
                            <a:srgbClr val="FFFFFF"/>
                          </a:solidFill>
                          <a:latin typeface="Calibri"/>
                        </a:rPr>
                        <a:t>Botella</a:t>
                      </a:r>
                    </a:p>
                  </a:txBody>
                  <a:tcPr marL="73152" marR="73152" marT="27432" marB="27432" anchor="ctr">
                    <a:solidFill>
                      <a:srgbClr val="0F4C5C"/>
                    </a:solidFill>
                  </a:tcPr>
                </a:tc>
                <a:tc>
                  <a:txBody>
                    <a:bodyPr/>
                    <a:lstStyle/>
                    <a:p>
                      <a:pPr algn="ctr"/>
                      <a:r>
                        <a:rPr sz="1200" b="1">
                          <a:solidFill>
                            <a:srgbClr val="FFFFFF"/>
                          </a:solidFill>
                          <a:latin typeface="Calibri"/>
                        </a:rPr>
                        <a:t>Aparador</a:t>
                      </a:r>
                    </a:p>
                  </a:txBody>
                  <a:tcPr marL="73152" marR="73152" marT="27432" marB="27432" anchor="ctr">
                    <a:solidFill>
                      <a:srgbClr val="0F4C5C"/>
                    </a:solidFill>
                  </a:tcPr>
                </a:tc>
                <a:tc>
                  <a:txBody>
                    <a:bodyPr/>
                    <a:lstStyle/>
                    <a:p>
                      <a:pPr algn="ctr"/>
                      <a:r>
                        <a:rPr sz="1200" b="1">
                          <a:solidFill>
                            <a:srgbClr val="FFFFFF"/>
                          </a:solidFill>
                          <a:latin typeface="Calibri"/>
                        </a:rPr>
                        <a:t>Empleado</a:t>
                      </a:r>
                    </a:p>
                  </a:txBody>
                  <a:tcPr marL="73152" marR="73152" marT="27432" marB="27432" anchor="ctr">
                    <a:solidFill>
                      <a:srgbClr val="0F4C5C"/>
                    </a:solidFill>
                  </a:tcPr>
                </a:tc>
                <a:tc>
                  <a:txBody>
                    <a:bodyPr/>
                    <a:lstStyle/>
                    <a:p>
                      <a:pPr algn="ctr"/>
                      <a:r>
                        <a:rPr sz="1200" b="1">
                          <a:solidFill>
                            <a:srgbClr val="FFFFFF"/>
                          </a:solidFill>
                          <a:latin typeface="Calibri"/>
                        </a:rPr>
                        <a:t>Minutos</a:t>
                      </a:r>
                    </a:p>
                  </a:txBody>
                  <a:tcPr marL="73152" marR="73152" marT="27432" marB="27432" anchor="ctr">
                    <a:solidFill>
                      <a:srgbClr val="0F4C5C"/>
                    </a:solidFill>
                  </a:tcPr>
                </a:tc>
              </a:tr>
              <a:tr h="231648">
                <a:tc>
                  <a:txBody>
                    <a:bodyPr/>
                    <a:lstStyle/>
                    <a:p>
                      <a:pPr algn="ctr"/>
                      <a:r>
                        <a:rPr sz="1200" b="0">
                          <a:solidFill>
                            <a:srgbClr val="142B33"/>
                          </a:solidFill>
                          <a:latin typeface="Calibri"/>
                        </a:rPr>
                        <a:t>000</a:t>
                      </a:r>
                    </a:p>
                  </a:txBody>
                  <a:tcPr marL="73152" marR="73152" marT="27432" marB="27432" anchor="ctr">
                    <a:solidFill>
                      <a:srgbClr val="FFFFFF"/>
                    </a:solidFill>
                  </a:tcPr>
                </a:tc>
                <a:tc>
                  <a:txBody>
                    <a:bodyPr/>
                    <a:lstStyle/>
                    <a:p>
                      <a:pPr algn="ctr"/>
                      <a:r>
                        <a:rPr sz="1200" b="0">
                          <a:solidFill>
                            <a:srgbClr val="142B33"/>
                          </a:solidFill>
                          <a:latin typeface="Calibri"/>
                        </a:rPr>
                        <a:t>plástico</a:t>
                      </a:r>
                    </a:p>
                  </a:txBody>
                  <a:tcPr marL="73152" marR="73152" marT="27432" marB="27432" anchor="ctr">
                    <a:solidFill>
                      <a:srgbClr val="FFFFFF"/>
                    </a:solidFill>
                  </a:tcPr>
                </a:tc>
                <a:tc>
                  <a:txBody>
                    <a:bodyPr/>
                    <a:lstStyle/>
                    <a:p>
                      <a:pPr algn="ctr"/>
                      <a:r>
                        <a:rPr sz="1200" b="0">
                          <a:solidFill>
                            <a:srgbClr val="142B33"/>
                          </a:solidFill>
                          <a:latin typeface="Calibri"/>
                        </a:rPr>
                        <a:t>permanente</a:t>
                      </a:r>
                    </a:p>
                  </a:txBody>
                  <a:tcPr marL="73152" marR="73152" marT="27432" marB="27432" anchor="ctr">
                    <a:solidFill>
                      <a:srgbClr val="FFFFFF"/>
                    </a:solidFill>
                  </a:tcPr>
                </a:tc>
                <a:tc>
                  <a:txBody>
                    <a:bodyPr/>
                    <a:lstStyle/>
                    <a:p>
                      <a:pPr algn="ctr"/>
                      <a:r>
                        <a:rPr sz="1200" b="0">
                          <a:solidFill>
                            <a:srgbClr val="142B33"/>
                          </a:solidFill>
                          <a:latin typeface="Calibri"/>
                        </a:rPr>
                        <a:t>1</a:t>
                      </a:r>
                    </a:p>
                  </a:txBody>
                  <a:tcPr marL="73152" marR="73152" marT="27432" marB="27432" anchor="ctr">
                    <a:solidFill>
                      <a:srgbClr val="FFFFFF"/>
                    </a:solidFill>
                  </a:tcPr>
                </a:tc>
                <a:tc>
                  <a:txBody>
                    <a:bodyPr/>
                    <a:lstStyle/>
                    <a:p>
                      <a:pPr algn="ctr"/>
                      <a:r>
                        <a:rPr sz="1200" b="0">
                          <a:solidFill>
                            <a:srgbClr val="142B33"/>
                          </a:solidFill>
                          <a:latin typeface="Calibri"/>
                        </a:rPr>
                        <a:t>3.45</a:t>
                      </a:r>
                    </a:p>
                  </a:txBody>
                  <a:tcPr marL="73152" marR="73152" marT="27432" marB="27432" anchor="ctr">
                    <a:solidFill>
                      <a:srgbClr val="FFFFFF"/>
                    </a:solidFill>
                  </a:tcPr>
                </a:tc>
              </a:tr>
              <a:tr h="231648">
                <a:tc>
                  <a:txBody>
                    <a:bodyPr/>
                    <a:lstStyle/>
                    <a:p>
                      <a:pPr algn="ctr"/>
                      <a:r>
                        <a:rPr sz="1200" b="0">
                          <a:solidFill>
                            <a:srgbClr val="142B33"/>
                          </a:solidFill>
                          <a:latin typeface="Calibri"/>
                        </a:rPr>
                        <a:t>210</a:t>
                      </a:r>
                    </a:p>
                  </a:txBody>
                  <a:tcPr marL="73152" marR="73152" marT="27432" marB="27432" anchor="ctr">
                    <a:solidFill>
                      <a:srgbClr val="F4F8F9"/>
                    </a:solidFill>
                  </a:tcPr>
                </a:tc>
                <a:tc>
                  <a:txBody>
                    <a:bodyPr/>
                    <a:lstStyle/>
                    <a:p>
                      <a:pPr algn="ctr"/>
                      <a:r>
                        <a:rPr sz="1200" b="0">
                          <a:solidFill>
                            <a:srgbClr val="142B33"/>
                          </a:solidFill>
                          <a:latin typeface="Calibri"/>
                        </a:rPr>
                        <a:t>vidrio 38</a:t>
                      </a:r>
                    </a:p>
                  </a:txBody>
                  <a:tcPr marL="73152" marR="73152" marT="27432" marB="27432" anchor="ctr">
                    <a:solidFill>
                      <a:srgbClr val="F4F8F9"/>
                    </a:solidFill>
                  </a:tcPr>
                </a:tc>
                <a:tc>
                  <a:txBody>
                    <a:bodyPr/>
                    <a:lstStyle/>
                    <a:p>
                      <a:pPr algn="ctr"/>
                      <a:r>
                        <a:rPr sz="1200" b="0">
                          <a:solidFill>
                            <a:srgbClr val="142B33"/>
                          </a:solidFill>
                          <a:latin typeface="Calibri"/>
                        </a:rPr>
                        <a:t>pasillo</a:t>
                      </a:r>
                    </a:p>
                  </a:txBody>
                  <a:tcPr marL="73152" marR="73152" marT="27432" marB="27432" anchor="ctr">
                    <a:solidFill>
                      <a:srgbClr val="F4F8F9"/>
                    </a:solidFill>
                  </a:tcPr>
                </a:tc>
                <a:tc>
                  <a:txBody>
                    <a:bodyPr/>
                    <a:lstStyle/>
                    <a:p>
                      <a:pPr algn="ctr"/>
                      <a:r>
                        <a:rPr sz="1200" b="0">
                          <a:solidFill>
                            <a:srgbClr val="142B33"/>
                          </a:solidFill>
                          <a:latin typeface="Calibri"/>
                        </a:rPr>
                        <a:t>1</a:t>
                      </a:r>
                    </a:p>
                  </a:txBody>
                  <a:tcPr marL="73152" marR="73152" marT="27432" marB="27432" anchor="ctr">
                    <a:solidFill>
                      <a:srgbClr val="F4F8F9"/>
                    </a:solidFill>
                  </a:tcPr>
                </a:tc>
                <a:tc>
                  <a:txBody>
                    <a:bodyPr/>
                    <a:lstStyle/>
                    <a:p>
                      <a:pPr algn="ctr"/>
                      <a:r>
                        <a:rPr sz="1200" b="0">
                          <a:solidFill>
                            <a:srgbClr val="142B33"/>
                          </a:solidFill>
                          <a:latin typeface="Calibri"/>
                        </a:rPr>
                        <a:t>4.26</a:t>
                      </a:r>
                    </a:p>
                  </a:txBody>
                  <a:tcPr marL="73152" marR="73152" marT="27432" marB="27432" anchor="ctr">
                    <a:solidFill>
                      <a:srgbClr val="F4F8F9"/>
                    </a:solidFill>
                  </a:tcPr>
                </a:tc>
              </a:tr>
              <a:tr h="231648">
                <a:tc>
                  <a:txBody>
                    <a:bodyPr/>
                    <a:lstStyle/>
                    <a:p>
                      <a:pPr algn="ctr"/>
                      <a:r>
                        <a:rPr sz="1200" b="0">
                          <a:solidFill>
                            <a:srgbClr val="142B33"/>
                          </a:solidFill>
                          <a:latin typeface="Calibri"/>
                        </a:rPr>
                        <a:t>120</a:t>
                      </a:r>
                    </a:p>
                  </a:txBody>
                  <a:tcPr marL="73152" marR="73152" marT="27432" marB="27432" anchor="ctr">
                    <a:solidFill>
                      <a:srgbClr val="FFFFFF"/>
                    </a:solidFill>
                  </a:tcPr>
                </a:tc>
                <a:tc>
                  <a:txBody>
                    <a:bodyPr/>
                    <a:lstStyle/>
                    <a:p>
                      <a:pPr algn="ctr"/>
                      <a:r>
                        <a:rPr sz="1200" b="0">
                          <a:solidFill>
                            <a:srgbClr val="142B33"/>
                          </a:solidFill>
                          <a:latin typeface="Calibri"/>
                        </a:rPr>
                        <a:t>vidrio 28</a:t>
                      </a:r>
                    </a:p>
                  </a:txBody>
                  <a:tcPr marL="73152" marR="73152" marT="27432" marB="27432" anchor="ctr">
                    <a:solidFill>
                      <a:srgbClr val="FFFFFF"/>
                    </a:solidFill>
                  </a:tcPr>
                </a:tc>
                <a:tc>
                  <a:txBody>
                    <a:bodyPr/>
                    <a:lstStyle/>
                    <a:p>
                      <a:pPr algn="ctr"/>
                      <a:r>
                        <a:rPr sz="1200" b="0">
                          <a:solidFill>
                            <a:srgbClr val="142B33"/>
                          </a:solidFill>
                          <a:latin typeface="Calibri"/>
                        </a:rPr>
                        <a:t>refrigerador</a:t>
                      </a:r>
                    </a:p>
                  </a:txBody>
                  <a:tcPr marL="73152" marR="73152" marT="27432" marB="27432" anchor="ctr">
                    <a:solidFill>
                      <a:srgbClr val="FFFFFF"/>
                    </a:solidFill>
                  </a:tcPr>
                </a:tc>
                <a:tc>
                  <a:txBody>
                    <a:bodyPr/>
                    <a:lstStyle/>
                    <a:p>
                      <a:pPr algn="ctr"/>
                      <a:r>
                        <a:rPr sz="1200" b="0">
                          <a:solidFill>
                            <a:srgbClr val="142B33"/>
                          </a:solidFill>
                          <a:latin typeface="Calibri"/>
                        </a:rPr>
                        <a:t>1</a:t>
                      </a:r>
                    </a:p>
                  </a:txBody>
                  <a:tcPr marL="73152" marR="73152" marT="27432" marB="27432" anchor="ctr">
                    <a:solidFill>
                      <a:srgbClr val="FFFFFF"/>
                    </a:solidFill>
                  </a:tcPr>
                </a:tc>
                <a:tc>
                  <a:txBody>
                    <a:bodyPr/>
                    <a:lstStyle/>
                    <a:p>
                      <a:pPr algn="ctr"/>
                      <a:r>
                        <a:rPr sz="1200" b="0">
                          <a:solidFill>
                            <a:srgbClr val="142B33"/>
                          </a:solidFill>
                          <a:latin typeface="Calibri"/>
                        </a:rPr>
                        <a:t>5.48</a:t>
                      </a:r>
                    </a:p>
                  </a:txBody>
                  <a:tcPr marL="73152" marR="73152" marT="27432" marB="27432" anchor="ctr">
                    <a:solidFill>
                      <a:srgbClr val="FFFFFF"/>
                    </a:solidFill>
                  </a:tcPr>
                </a:tc>
              </a:tr>
              <a:tr h="231648">
                <a:tc>
                  <a:txBody>
                    <a:bodyPr/>
                    <a:lstStyle/>
                    <a:p>
                      <a:pPr algn="ctr"/>
                      <a:r>
                        <a:rPr sz="1200" b="0">
                          <a:solidFill>
                            <a:srgbClr val="142B33"/>
                          </a:solidFill>
                          <a:latin typeface="Calibri"/>
                        </a:rPr>
                        <a:t>201</a:t>
                      </a:r>
                    </a:p>
                  </a:txBody>
                  <a:tcPr marL="73152" marR="73152" marT="27432" marB="27432" anchor="ctr">
                    <a:solidFill>
                      <a:srgbClr val="F4F8F9"/>
                    </a:solidFill>
                  </a:tcPr>
                </a:tc>
                <a:tc>
                  <a:txBody>
                    <a:bodyPr/>
                    <a:lstStyle/>
                    <a:p>
                      <a:pPr algn="ctr"/>
                      <a:r>
                        <a:rPr sz="1200" b="0">
                          <a:solidFill>
                            <a:srgbClr val="142B33"/>
                          </a:solidFill>
                          <a:latin typeface="Calibri"/>
                        </a:rPr>
                        <a:t>vidrio 38</a:t>
                      </a:r>
                    </a:p>
                  </a:txBody>
                  <a:tcPr marL="73152" marR="73152" marT="27432" marB="27432" anchor="ctr">
                    <a:solidFill>
                      <a:srgbClr val="F4F8F9"/>
                    </a:solidFill>
                  </a:tcPr>
                </a:tc>
                <a:tc>
                  <a:txBody>
                    <a:bodyPr/>
                    <a:lstStyle/>
                    <a:p>
                      <a:pPr algn="ctr"/>
                      <a:r>
                        <a:rPr sz="1200" b="0">
                          <a:solidFill>
                            <a:srgbClr val="142B33"/>
                          </a:solidFill>
                          <a:latin typeface="Calibri"/>
                        </a:rPr>
                        <a:t>permanente</a:t>
                      </a:r>
                    </a:p>
                  </a:txBody>
                  <a:tcPr marL="73152" marR="73152" marT="27432" marB="27432" anchor="ctr">
                    <a:solidFill>
                      <a:srgbClr val="F4F8F9"/>
                    </a:solidFill>
                  </a:tcPr>
                </a:tc>
                <a:tc>
                  <a:txBody>
                    <a:bodyPr/>
                    <a:lstStyle/>
                    <a:p>
                      <a:pPr algn="ctr"/>
                      <a:r>
                        <a:rPr sz="1200" b="0">
                          <a:solidFill>
                            <a:srgbClr val="142B33"/>
                          </a:solidFill>
                          <a:latin typeface="Calibri"/>
                        </a:rPr>
                        <a:t>2</a:t>
                      </a:r>
                    </a:p>
                  </a:txBody>
                  <a:tcPr marL="73152" marR="73152" marT="27432" marB="27432" anchor="ctr">
                    <a:solidFill>
                      <a:srgbClr val="F4F8F9"/>
                    </a:solidFill>
                  </a:tcPr>
                </a:tc>
                <a:tc>
                  <a:txBody>
                    <a:bodyPr/>
                    <a:lstStyle/>
                    <a:p>
                      <a:pPr algn="ctr"/>
                      <a:r>
                        <a:rPr sz="1200" b="0">
                          <a:solidFill>
                            <a:srgbClr val="142B33"/>
                          </a:solidFill>
                          <a:latin typeface="Calibri"/>
                        </a:rPr>
                        <a:t>4.96</a:t>
                      </a:r>
                    </a:p>
                  </a:txBody>
                  <a:tcPr marL="73152" marR="73152" marT="27432" marB="27432" anchor="ctr">
                    <a:solidFill>
                      <a:srgbClr val="F4F8F9"/>
                    </a:solidFill>
                  </a:tcPr>
                </a:tc>
              </a:tr>
              <a:tr h="231648">
                <a:tc>
                  <a:txBody>
                    <a:bodyPr/>
                    <a:lstStyle/>
                    <a:p>
                      <a:pPr algn="ctr"/>
                      <a:r>
                        <a:rPr sz="1200" b="0">
                          <a:solidFill>
                            <a:srgbClr val="142B33"/>
                          </a:solidFill>
                          <a:latin typeface="Calibri"/>
                        </a:rPr>
                        <a:t>111</a:t>
                      </a:r>
                    </a:p>
                  </a:txBody>
                  <a:tcPr marL="73152" marR="73152" marT="27432" marB="27432" anchor="ctr">
                    <a:solidFill>
                      <a:srgbClr val="FFFFFF"/>
                    </a:solidFill>
                  </a:tcPr>
                </a:tc>
                <a:tc>
                  <a:txBody>
                    <a:bodyPr/>
                    <a:lstStyle/>
                    <a:p>
                      <a:pPr algn="ctr"/>
                      <a:r>
                        <a:rPr sz="1200" b="0">
                          <a:solidFill>
                            <a:srgbClr val="142B33"/>
                          </a:solidFill>
                          <a:latin typeface="Calibri"/>
                        </a:rPr>
                        <a:t>vidrio 28</a:t>
                      </a:r>
                    </a:p>
                  </a:txBody>
                  <a:tcPr marL="73152" marR="73152" marT="27432" marB="27432" anchor="ctr">
                    <a:solidFill>
                      <a:srgbClr val="FFFFFF"/>
                    </a:solidFill>
                  </a:tcPr>
                </a:tc>
                <a:tc>
                  <a:txBody>
                    <a:bodyPr/>
                    <a:lstStyle/>
                    <a:p>
                      <a:pPr algn="ctr"/>
                      <a:r>
                        <a:rPr sz="1200" b="0">
                          <a:solidFill>
                            <a:srgbClr val="142B33"/>
                          </a:solidFill>
                          <a:latin typeface="Calibri"/>
                        </a:rPr>
                        <a:t>pasillo</a:t>
                      </a:r>
                    </a:p>
                  </a:txBody>
                  <a:tcPr marL="73152" marR="73152" marT="27432" marB="27432" anchor="ctr">
                    <a:solidFill>
                      <a:srgbClr val="FFFFFF"/>
                    </a:solidFill>
                  </a:tcPr>
                </a:tc>
                <a:tc>
                  <a:txBody>
                    <a:bodyPr/>
                    <a:lstStyle/>
                    <a:p>
                      <a:pPr algn="ctr"/>
                      <a:r>
                        <a:rPr sz="1200" b="0">
                          <a:solidFill>
                            <a:srgbClr val="142B33"/>
                          </a:solidFill>
                          <a:latin typeface="Calibri"/>
                        </a:rPr>
                        <a:t>2</a:t>
                      </a:r>
                    </a:p>
                  </a:txBody>
                  <a:tcPr marL="73152" marR="73152" marT="27432" marB="27432" anchor="ctr">
                    <a:solidFill>
                      <a:srgbClr val="FFFFFF"/>
                    </a:solidFill>
                  </a:tcPr>
                </a:tc>
                <a:tc>
                  <a:txBody>
                    <a:bodyPr/>
                    <a:lstStyle/>
                    <a:p>
                      <a:pPr algn="ctr"/>
                      <a:r>
                        <a:rPr sz="1200" b="0">
                          <a:solidFill>
                            <a:srgbClr val="142B33"/>
                          </a:solidFill>
                          <a:latin typeface="Calibri"/>
                        </a:rPr>
                        <a:t>5.15</a:t>
                      </a:r>
                    </a:p>
                  </a:txBody>
                  <a:tcPr marL="73152" marR="73152" marT="27432" marB="27432" anchor="ctr">
                    <a:solidFill>
                      <a:srgbClr val="FFFFFF"/>
                    </a:solidFill>
                  </a:tcPr>
                </a:tc>
              </a:tr>
              <a:tr h="231648">
                <a:tc>
                  <a:txBody>
                    <a:bodyPr/>
                    <a:lstStyle/>
                    <a:p>
                      <a:pPr algn="ctr"/>
                      <a:r>
                        <a:rPr sz="1200" b="0">
                          <a:solidFill>
                            <a:srgbClr val="142B33"/>
                          </a:solidFill>
                          <a:latin typeface="Calibri"/>
                        </a:rPr>
                        <a:t>021</a:t>
                      </a:r>
                    </a:p>
                  </a:txBody>
                  <a:tcPr marL="73152" marR="73152" marT="27432" marB="27432" anchor="ctr">
                    <a:solidFill>
                      <a:srgbClr val="F4F8F9"/>
                    </a:solidFill>
                  </a:tcPr>
                </a:tc>
                <a:tc>
                  <a:txBody>
                    <a:bodyPr/>
                    <a:lstStyle/>
                    <a:p>
                      <a:pPr algn="ctr"/>
                      <a:r>
                        <a:rPr sz="1200" b="0">
                          <a:solidFill>
                            <a:srgbClr val="142B33"/>
                          </a:solidFill>
                          <a:latin typeface="Calibri"/>
                        </a:rPr>
                        <a:t>plástico</a:t>
                      </a:r>
                    </a:p>
                  </a:txBody>
                  <a:tcPr marL="73152" marR="73152" marT="27432" marB="27432" anchor="ctr">
                    <a:solidFill>
                      <a:srgbClr val="F4F8F9"/>
                    </a:solidFill>
                  </a:tcPr>
                </a:tc>
                <a:tc>
                  <a:txBody>
                    <a:bodyPr/>
                    <a:lstStyle/>
                    <a:p>
                      <a:pPr algn="ctr"/>
                      <a:r>
                        <a:rPr sz="1200" b="0">
                          <a:solidFill>
                            <a:srgbClr val="142B33"/>
                          </a:solidFill>
                          <a:latin typeface="Calibri"/>
                        </a:rPr>
                        <a:t>refrigerador</a:t>
                      </a:r>
                    </a:p>
                  </a:txBody>
                  <a:tcPr marL="73152" marR="73152" marT="27432" marB="27432" anchor="ctr">
                    <a:solidFill>
                      <a:srgbClr val="F4F8F9"/>
                    </a:solidFill>
                  </a:tcPr>
                </a:tc>
                <a:tc>
                  <a:txBody>
                    <a:bodyPr/>
                    <a:lstStyle/>
                    <a:p>
                      <a:pPr algn="ctr"/>
                      <a:r>
                        <a:rPr sz="1200" b="0">
                          <a:solidFill>
                            <a:srgbClr val="142B33"/>
                          </a:solidFill>
                          <a:latin typeface="Calibri"/>
                        </a:rPr>
                        <a:t>2</a:t>
                      </a:r>
                    </a:p>
                  </a:txBody>
                  <a:tcPr marL="73152" marR="73152" marT="27432" marB="27432" anchor="ctr">
                    <a:solidFill>
                      <a:srgbClr val="F4F8F9"/>
                    </a:solidFill>
                  </a:tcPr>
                </a:tc>
                <a:tc>
                  <a:txBody>
                    <a:bodyPr/>
                    <a:lstStyle/>
                    <a:p>
                      <a:pPr algn="ctr"/>
                      <a:r>
                        <a:rPr sz="1200" b="0">
                          <a:solidFill>
                            <a:srgbClr val="142B33"/>
                          </a:solidFill>
                          <a:latin typeface="Calibri"/>
                        </a:rPr>
                        <a:t>6.21</a:t>
                      </a:r>
                    </a:p>
                  </a:txBody>
                  <a:tcPr marL="73152" marR="73152" marT="27432" marB="27432" anchor="ctr">
                    <a:solidFill>
                      <a:srgbClr val="F4F8F9"/>
                    </a:solidFill>
                  </a:tcPr>
                </a:tc>
              </a:tr>
              <a:tr h="231648">
                <a:tc>
                  <a:txBody>
                    <a:bodyPr/>
                    <a:lstStyle/>
                    <a:p>
                      <a:pPr algn="ctr"/>
                      <a:r>
                        <a:rPr sz="1200" b="0">
                          <a:solidFill>
                            <a:srgbClr val="142B33"/>
                          </a:solidFill>
                          <a:latin typeface="Calibri"/>
                        </a:rPr>
                        <a:t>102</a:t>
                      </a:r>
                    </a:p>
                  </a:txBody>
                  <a:tcPr marL="73152" marR="73152" marT="27432" marB="27432" anchor="ctr">
                    <a:solidFill>
                      <a:srgbClr val="FFFFFF"/>
                    </a:solidFill>
                  </a:tcPr>
                </a:tc>
                <a:tc>
                  <a:txBody>
                    <a:bodyPr/>
                    <a:lstStyle/>
                    <a:p>
                      <a:pPr algn="ctr"/>
                      <a:r>
                        <a:rPr sz="1200" b="0">
                          <a:solidFill>
                            <a:srgbClr val="142B33"/>
                          </a:solidFill>
                          <a:latin typeface="Calibri"/>
                        </a:rPr>
                        <a:t>vidrio 28</a:t>
                      </a:r>
                    </a:p>
                  </a:txBody>
                  <a:tcPr marL="73152" marR="73152" marT="27432" marB="27432" anchor="ctr">
                    <a:solidFill>
                      <a:srgbClr val="FFFFFF"/>
                    </a:solidFill>
                  </a:tcPr>
                </a:tc>
                <a:tc>
                  <a:txBody>
                    <a:bodyPr/>
                    <a:lstStyle/>
                    <a:p>
                      <a:pPr algn="ctr"/>
                      <a:r>
                        <a:rPr sz="1200" b="0">
                          <a:solidFill>
                            <a:srgbClr val="142B33"/>
                          </a:solidFill>
                          <a:latin typeface="Calibri"/>
                        </a:rPr>
                        <a:t>permanente</a:t>
                      </a:r>
                    </a:p>
                  </a:txBody>
                  <a:tcPr marL="73152" marR="73152" marT="27432" marB="27432" anchor="ctr">
                    <a:solidFill>
                      <a:srgbClr val="FFFFFF"/>
                    </a:solidFill>
                  </a:tcPr>
                </a:tc>
                <a:tc>
                  <a:txBody>
                    <a:bodyPr/>
                    <a:lstStyle/>
                    <a:p>
                      <a:pPr algn="ctr"/>
                      <a:r>
                        <a:rPr sz="1200" b="0">
                          <a:solidFill>
                            <a:srgbClr val="142B33"/>
                          </a:solidFill>
                          <a:latin typeface="Calibri"/>
                        </a:rPr>
                        <a:t>3</a:t>
                      </a:r>
                    </a:p>
                  </a:txBody>
                  <a:tcPr marL="73152" marR="73152" marT="27432" marB="27432" anchor="ctr">
                    <a:solidFill>
                      <a:srgbClr val="FFFFFF"/>
                    </a:solidFill>
                  </a:tcPr>
                </a:tc>
                <a:tc>
                  <a:txBody>
                    <a:bodyPr/>
                    <a:lstStyle/>
                    <a:p>
                      <a:pPr algn="ctr"/>
                      <a:r>
                        <a:rPr sz="1200" b="0">
                          <a:solidFill>
                            <a:srgbClr val="142B33"/>
                          </a:solidFill>
                          <a:latin typeface="Calibri"/>
                        </a:rPr>
                        <a:t>4.30</a:t>
                      </a:r>
                    </a:p>
                  </a:txBody>
                  <a:tcPr marL="73152" marR="73152" marT="27432" marB="27432" anchor="ctr">
                    <a:solidFill>
                      <a:srgbClr val="FFFFFF"/>
                    </a:solidFill>
                  </a:tcPr>
                </a:tc>
              </a:tr>
              <a:tr h="231648">
                <a:tc>
                  <a:txBody>
                    <a:bodyPr/>
                    <a:lstStyle/>
                    <a:p>
                      <a:pPr algn="ctr"/>
                      <a:r>
                        <a:rPr sz="1200" b="0">
                          <a:solidFill>
                            <a:srgbClr val="142B33"/>
                          </a:solidFill>
                          <a:latin typeface="Calibri"/>
                        </a:rPr>
                        <a:t>012</a:t>
                      </a:r>
                    </a:p>
                  </a:txBody>
                  <a:tcPr marL="73152" marR="73152" marT="27432" marB="27432" anchor="ctr">
                    <a:solidFill>
                      <a:srgbClr val="F4F8F9"/>
                    </a:solidFill>
                  </a:tcPr>
                </a:tc>
                <a:tc>
                  <a:txBody>
                    <a:bodyPr/>
                    <a:lstStyle/>
                    <a:p>
                      <a:pPr algn="ctr"/>
                      <a:r>
                        <a:rPr sz="1200" b="0">
                          <a:solidFill>
                            <a:srgbClr val="142B33"/>
                          </a:solidFill>
                          <a:latin typeface="Calibri"/>
                        </a:rPr>
                        <a:t>plástico</a:t>
                      </a:r>
                    </a:p>
                  </a:txBody>
                  <a:tcPr marL="73152" marR="73152" marT="27432" marB="27432" anchor="ctr">
                    <a:solidFill>
                      <a:srgbClr val="F4F8F9"/>
                    </a:solidFill>
                  </a:tcPr>
                </a:tc>
                <a:tc>
                  <a:txBody>
                    <a:bodyPr/>
                    <a:lstStyle/>
                    <a:p>
                      <a:pPr algn="ctr"/>
                      <a:r>
                        <a:rPr sz="1200" b="0">
                          <a:solidFill>
                            <a:srgbClr val="142B33"/>
                          </a:solidFill>
                          <a:latin typeface="Calibri"/>
                        </a:rPr>
                        <a:t>pasillo</a:t>
                      </a:r>
                    </a:p>
                  </a:txBody>
                  <a:tcPr marL="73152" marR="73152" marT="27432" marB="27432" anchor="ctr">
                    <a:solidFill>
                      <a:srgbClr val="F4F8F9"/>
                    </a:solidFill>
                  </a:tcPr>
                </a:tc>
                <a:tc>
                  <a:txBody>
                    <a:bodyPr/>
                    <a:lstStyle/>
                    <a:p>
                      <a:pPr algn="ctr"/>
                      <a:r>
                        <a:rPr sz="1200" b="0">
                          <a:solidFill>
                            <a:srgbClr val="142B33"/>
                          </a:solidFill>
                          <a:latin typeface="Calibri"/>
                        </a:rPr>
                        <a:t>3</a:t>
                      </a:r>
                    </a:p>
                  </a:txBody>
                  <a:tcPr marL="73152" marR="73152" marT="27432" marB="27432" anchor="ctr">
                    <a:solidFill>
                      <a:srgbClr val="F4F8F9"/>
                    </a:solidFill>
                  </a:tcPr>
                </a:tc>
                <a:tc>
                  <a:txBody>
                    <a:bodyPr/>
                    <a:lstStyle/>
                    <a:p>
                      <a:pPr algn="ctr"/>
                      <a:r>
                        <a:rPr sz="1200" b="0">
                          <a:solidFill>
                            <a:srgbClr val="142B33"/>
                          </a:solidFill>
                          <a:latin typeface="Calibri"/>
                        </a:rPr>
                        <a:t>3.94</a:t>
                      </a:r>
                    </a:p>
                  </a:txBody>
                  <a:tcPr marL="73152" marR="73152" marT="27432" marB="27432" anchor="ctr">
                    <a:solidFill>
                      <a:srgbClr val="F4F8F9"/>
                    </a:solidFill>
                  </a:tcPr>
                </a:tc>
              </a:tr>
              <a:tr h="231648">
                <a:tc>
                  <a:txBody>
                    <a:bodyPr/>
                    <a:lstStyle/>
                    <a:p>
                      <a:pPr algn="ctr"/>
                      <a:r>
                        <a:rPr sz="1200" b="0">
                          <a:solidFill>
                            <a:srgbClr val="142B33"/>
                          </a:solidFill>
                          <a:latin typeface="Calibri"/>
                        </a:rPr>
                        <a:t>222</a:t>
                      </a:r>
                    </a:p>
                  </a:txBody>
                  <a:tcPr marL="73152" marR="73152" marT="27432" marB="27432" anchor="ctr">
                    <a:solidFill>
                      <a:srgbClr val="FFFFFF"/>
                    </a:solidFill>
                  </a:tcPr>
                </a:tc>
                <a:tc>
                  <a:txBody>
                    <a:bodyPr/>
                    <a:lstStyle/>
                    <a:p>
                      <a:pPr algn="ctr"/>
                      <a:r>
                        <a:rPr sz="1200" b="0">
                          <a:solidFill>
                            <a:srgbClr val="142B33"/>
                          </a:solidFill>
                          <a:latin typeface="Calibri"/>
                        </a:rPr>
                        <a:t>vidrio 38</a:t>
                      </a:r>
                    </a:p>
                  </a:txBody>
                  <a:tcPr marL="73152" marR="73152" marT="27432" marB="27432" anchor="ctr">
                    <a:solidFill>
                      <a:srgbClr val="FFFFFF"/>
                    </a:solidFill>
                  </a:tcPr>
                </a:tc>
                <a:tc>
                  <a:txBody>
                    <a:bodyPr/>
                    <a:lstStyle/>
                    <a:p>
                      <a:pPr algn="ctr"/>
                      <a:r>
                        <a:rPr sz="1200" b="0">
                          <a:solidFill>
                            <a:srgbClr val="142B33"/>
                          </a:solidFill>
                          <a:latin typeface="Calibri"/>
                        </a:rPr>
                        <a:t>refrigerador</a:t>
                      </a:r>
                    </a:p>
                  </a:txBody>
                  <a:tcPr marL="73152" marR="73152" marT="27432" marB="27432" anchor="ctr">
                    <a:solidFill>
                      <a:srgbClr val="FFFFFF"/>
                    </a:solidFill>
                  </a:tcPr>
                </a:tc>
                <a:tc>
                  <a:txBody>
                    <a:bodyPr/>
                    <a:lstStyle/>
                    <a:p>
                      <a:pPr algn="ctr"/>
                      <a:r>
                        <a:rPr sz="1200" b="0">
                          <a:solidFill>
                            <a:srgbClr val="142B33"/>
                          </a:solidFill>
                          <a:latin typeface="Calibri"/>
                        </a:rPr>
                        <a:t>3</a:t>
                      </a:r>
                    </a:p>
                  </a:txBody>
                  <a:tcPr marL="73152" marR="73152" marT="27432" marB="27432" anchor="ctr">
                    <a:solidFill>
                      <a:srgbClr val="FFFFFF"/>
                    </a:solidFill>
                  </a:tcPr>
                </a:tc>
                <a:tc>
                  <a:txBody>
                    <a:bodyPr/>
                    <a:lstStyle/>
                    <a:p>
                      <a:pPr algn="ctr"/>
                      <a:r>
                        <a:rPr sz="1200" b="0">
                          <a:solidFill>
                            <a:srgbClr val="142B33"/>
                          </a:solidFill>
                          <a:latin typeface="Calibri"/>
                        </a:rPr>
                        <a:t>4.85</a:t>
                      </a:r>
                    </a:p>
                  </a:txBody>
                  <a:tcPr marL="73152" marR="73152" marT="27432" marB="27432" anchor="ctr">
                    <a:solidFill>
                      <a:srgbClr val="FFFFFF"/>
                    </a:solidFill>
                  </a:tcPr>
                </a:tc>
              </a:tr>
            </a:tbl>
          </a:graphicData>
        </a:graphic>
      </p:graphicFrame>
      <p:graphicFrame>
        <p:nvGraphicFramePr>
          <p:cNvPr id="5" name="Table 4"/>
          <p:cNvGraphicFramePr>
            <a:graphicFrameLocks noGrp="1"/>
          </p:cNvGraphicFramePr>
          <p:nvPr/>
        </p:nvGraphicFramePr>
        <p:xfrm>
          <a:off x="6301587" y="1417320"/>
          <a:ext cx="5341466" cy="1678940"/>
        </p:xfrm>
        <a:graphic>
          <a:graphicData uri="http://schemas.openxmlformats.org/drawingml/2006/table">
            <a:tbl>
              <a:tblPr firstRow="0" bandRow="0">
                <a:tableStyleId>{5C22544A-7EE6-4342-B048-85BDC9FD1C3A}</a:tableStyleId>
              </a:tblPr>
              <a:tblGrid>
                <a:gridCol w="1279467"/>
                <a:gridCol w="931651"/>
                <a:gridCol w="956495"/>
                <a:gridCol w="2173853"/>
              </a:tblGrid>
              <a:tr h="335788">
                <a:tc>
                  <a:txBody>
                    <a:bodyPr/>
                    <a:lstStyle/>
                    <a:p>
                      <a:pPr algn="ctr"/>
                      <a:r>
                        <a:rPr sz="1400" b="1">
                          <a:solidFill>
                            <a:srgbClr val="FFFFFF"/>
                          </a:solidFill>
                          <a:latin typeface="Calibri"/>
                        </a:rPr>
                        <a:t>Efecto</a:t>
                      </a:r>
                    </a:p>
                  </a:txBody>
                  <a:tcPr marL="73152" marR="73152" marT="27432" marB="27432" anchor="ctr">
                    <a:solidFill>
                      <a:srgbClr val="0F4C5C"/>
                    </a:solidFill>
                  </a:tcPr>
                </a:tc>
                <a:tc>
                  <a:txBody>
                    <a:bodyPr/>
                    <a:lstStyle/>
                    <a:p>
                      <a:pPr algn="ctr"/>
                      <a:r>
                        <a:rPr sz="1400" b="1">
                          <a:solidFill>
                            <a:srgbClr val="FFFFFF"/>
                          </a:solidFill>
                          <a:latin typeface="Calibri"/>
                        </a:rPr>
                        <a:t>× I</a:t>
                      </a:r>
                    </a:p>
                  </a:txBody>
                  <a:tcPr marL="73152" marR="73152" marT="27432" marB="27432" anchor="ctr">
                    <a:solidFill>
                      <a:srgbClr val="0F4C5C"/>
                    </a:solidFill>
                  </a:tcPr>
                </a:tc>
                <a:tc>
                  <a:txBody>
                    <a:bodyPr/>
                    <a:lstStyle/>
                    <a:p>
                      <a:pPr algn="ctr"/>
                      <a:r>
                        <a:rPr sz="1400" b="1">
                          <a:solidFill>
                            <a:srgbClr val="FFFFFF"/>
                          </a:solidFill>
                          <a:latin typeface="Calibri"/>
                        </a:rPr>
                        <a:t>× I</a:t>
                      </a:r>
                      <a:r>
                        <a:rPr sz="1400" b="1" baseline="30000">
                          <a:solidFill>
                            <a:srgbClr val="FFFFFF"/>
                          </a:solidFill>
                          <a:latin typeface="Calibri"/>
                        </a:rPr>
                        <a:t>2</a:t>
                      </a:r>
                    </a:p>
                  </a:txBody>
                  <a:tcPr marL="73152" marR="73152" marT="27432" marB="27432" anchor="ctr">
                    <a:solidFill>
                      <a:srgbClr val="0F4C5C"/>
                    </a:solidFill>
                  </a:tcPr>
                </a:tc>
                <a:tc>
                  <a:txBody>
                    <a:bodyPr/>
                    <a:lstStyle/>
                    <a:p>
                      <a:pPr algn="ctr"/>
                      <a:r>
                        <a:rPr sz="1400" b="1">
                          <a:solidFill>
                            <a:srgbClr val="FFFFFF"/>
                          </a:solidFill>
                          <a:latin typeface="Calibri"/>
                        </a:rPr>
                        <a:t>Cadena</a:t>
                      </a:r>
                    </a:p>
                  </a:txBody>
                  <a:tcPr marL="73152" marR="73152" marT="27432" marB="27432" anchor="ctr">
                    <a:solidFill>
                      <a:srgbClr val="0F4C5C"/>
                    </a:solidFill>
                  </a:tcPr>
                </a:tc>
              </a:tr>
              <a:tr h="335788">
                <a:tc>
                  <a:txBody>
                    <a:bodyPr/>
                    <a:lstStyle/>
                    <a:p>
                      <a:pPr algn="ctr"/>
                      <a:r>
                        <a:rPr sz="1400" b="0">
                          <a:solidFill>
                            <a:srgbClr val="142B33"/>
                          </a:solidFill>
                          <a:latin typeface="Calibri"/>
                        </a:rPr>
                        <a:t>A</a:t>
                      </a:r>
                    </a:p>
                  </a:txBody>
                  <a:tcPr marL="73152" marR="73152" marT="27432" marB="27432" anchor="ctr">
                    <a:solidFill>
                      <a:srgbClr val="FFFFFF"/>
                    </a:solidFill>
                  </a:tcPr>
                </a:tc>
                <a:tc>
                  <a:txBody>
                    <a:bodyPr/>
                    <a:lstStyle/>
                    <a:p>
                      <a:pPr algn="ctr"/>
                      <a:r>
                        <a:rPr sz="1400" b="0">
                          <a:solidFill>
                            <a:srgbClr val="142B33"/>
                          </a:solidFill>
                          <a:latin typeface="Calibri"/>
                        </a:rPr>
                        <a:t>AB</a:t>
                      </a:r>
                      <a:r>
                        <a:rPr sz="1400" b="0" baseline="30000">
                          <a:solidFill>
                            <a:srgbClr val="142B33"/>
                          </a:solidFill>
                          <a:latin typeface="Calibri"/>
                        </a:rPr>
                        <a:t>2</a:t>
                      </a:r>
                      <a:r>
                        <a:rPr sz="1400" b="0">
                          <a:solidFill>
                            <a:srgbClr val="142B33"/>
                          </a:solidFill>
                          <a:latin typeface="Calibri"/>
                        </a:rPr>
                        <a:t>C</a:t>
                      </a:r>
                      <a:r>
                        <a:rPr sz="1400" b="0" baseline="30000">
                          <a:solidFill>
                            <a:srgbClr val="142B33"/>
                          </a:solidFill>
                          <a:latin typeface="Calibri"/>
                        </a:rPr>
                        <a:t>2</a:t>
                      </a:r>
                    </a:p>
                  </a:txBody>
                  <a:tcPr marL="73152" marR="73152" marT="27432" marB="27432" anchor="ctr">
                    <a:solidFill>
                      <a:srgbClr val="FFFFFF"/>
                    </a:solidFill>
                  </a:tcPr>
                </a:tc>
                <a:tc>
                  <a:txBody>
                    <a:bodyPr/>
                    <a:lstStyle/>
                    <a:p>
                      <a:pPr algn="ctr"/>
                      <a:r>
                        <a:rPr sz="1400" b="0">
                          <a:solidFill>
                            <a:srgbClr val="142B33"/>
                          </a:solidFill>
                          <a:latin typeface="Calibri"/>
                        </a:rPr>
                        <a:t>BC</a:t>
                      </a:r>
                    </a:p>
                  </a:txBody>
                  <a:tcPr marL="73152" marR="73152" marT="27432" marB="27432" anchor="ctr">
                    <a:solidFill>
                      <a:srgbClr val="FFFFFF"/>
                    </a:solidFill>
                  </a:tcPr>
                </a:tc>
                <a:tc>
                  <a:txBody>
                    <a:bodyPr/>
                    <a:lstStyle/>
                    <a:p>
                      <a:pPr algn="ctr"/>
                      <a:r>
                        <a:rPr sz="1400" b="0">
                          <a:solidFill>
                            <a:srgbClr val="142B33"/>
                          </a:solidFill>
                          <a:latin typeface="Calibri"/>
                        </a:rPr>
                        <a:t>A + BC + AB</a:t>
                      </a:r>
                      <a:r>
                        <a:rPr sz="1400" b="0" baseline="30000">
                          <a:solidFill>
                            <a:srgbClr val="142B33"/>
                          </a:solidFill>
                          <a:latin typeface="Calibri"/>
                        </a:rPr>
                        <a:t>2</a:t>
                      </a:r>
                      <a:r>
                        <a:rPr sz="1400" b="0">
                          <a:solidFill>
                            <a:srgbClr val="142B33"/>
                          </a:solidFill>
                          <a:latin typeface="Calibri"/>
                        </a:rPr>
                        <a:t>C</a:t>
                      </a:r>
                      <a:r>
                        <a:rPr sz="1400" b="0" baseline="30000">
                          <a:solidFill>
                            <a:srgbClr val="142B33"/>
                          </a:solidFill>
                          <a:latin typeface="Calibri"/>
                        </a:rPr>
                        <a:t>2</a:t>
                      </a:r>
                    </a:p>
                  </a:txBody>
                  <a:tcPr marL="73152" marR="73152" marT="27432" marB="27432" anchor="ctr">
                    <a:solidFill>
                      <a:srgbClr val="FFFFFF"/>
                    </a:solidFill>
                  </a:tcPr>
                </a:tc>
              </a:tr>
              <a:tr h="335788">
                <a:tc>
                  <a:txBody>
                    <a:bodyPr/>
                    <a:lstStyle/>
                    <a:p>
                      <a:pPr algn="ctr"/>
                      <a:r>
                        <a:rPr sz="1400" b="0">
                          <a:solidFill>
                            <a:srgbClr val="142B33"/>
                          </a:solidFill>
                          <a:latin typeface="Calibri"/>
                        </a:rPr>
                        <a:t>B</a:t>
                      </a:r>
                    </a:p>
                  </a:txBody>
                  <a:tcPr marL="73152" marR="73152" marT="27432" marB="27432" anchor="ctr">
                    <a:solidFill>
                      <a:srgbClr val="F4F8F9"/>
                    </a:solidFill>
                  </a:tcPr>
                </a:tc>
                <a:tc>
                  <a:txBody>
                    <a:bodyPr/>
                    <a:lstStyle/>
                    <a:p>
                      <a:pPr algn="ctr"/>
                      <a:r>
                        <a:rPr sz="1400" b="0">
                          <a:solidFill>
                            <a:srgbClr val="142B33"/>
                          </a:solidFill>
                          <a:latin typeface="Calibri"/>
                        </a:rPr>
                        <a:t>AB</a:t>
                      </a:r>
                      <a:r>
                        <a:rPr sz="1400" b="0" baseline="30000">
                          <a:solidFill>
                            <a:srgbClr val="142B33"/>
                          </a:solidFill>
                          <a:latin typeface="Calibri"/>
                        </a:rPr>
                        <a:t>2</a:t>
                      </a:r>
                      <a:r>
                        <a:rPr sz="1400" b="0">
                          <a:solidFill>
                            <a:srgbClr val="142B33"/>
                          </a:solidFill>
                          <a:latin typeface="Calibri"/>
                        </a:rPr>
                        <a:t>C</a:t>
                      </a:r>
                    </a:p>
                  </a:txBody>
                  <a:tcPr marL="73152" marR="73152" marT="27432" marB="27432" anchor="ctr">
                    <a:solidFill>
                      <a:srgbClr val="F4F8F9"/>
                    </a:solidFill>
                  </a:tcPr>
                </a:tc>
                <a:tc>
                  <a:txBody>
                    <a:bodyPr/>
                    <a:lstStyle/>
                    <a:p>
                      <a:pPr algn="ctr"/>
                      <a:r>
                        <a:rPr sz="1400" b="0">
                          <a:solidFill>
                            <a:srgbClr val="142B33"/>
                          </a:solidFill>
                          <a:latin typeface="Calibri"/>
                        </a:rPr>
                        <a:t>AC</a:t>
                      </a:r>
                    </a:p>
                  </a:txBody>
                  <a:tcPr marL="73152" marR="73152" marT="27432" marB="27432" anchor="ctr">
                    <a:solidFill>
                      <a:srgbClr val="F4F8F9"/>
                    </a:solidFill>
                  </a:tcPr>
                </a:tc>
                <a:tc>
                  <a:txBody>
                    <a:bodyPr/>
                    <a:lstStyle/>
                    <a:p>
                      <a:pPr algn="ctr"/>
                      <a:r>
                        <a:rPr sz="1400" b="0">
                          <a:solidFill>
                            <a:srgbClr val="142B33"/>
                          </a:solidFill>
                          <a:latin typeface="Calibri"/>
                        </a:rPr>
                        <a:t>B + AC + AB</a:t>
                      </a:r>
                      <a:r>
                        <a:rPr sz="1400" b="0" baseline="30000">
                          <a:solidFill>
                            <a:srgbClr val="142B33"/>
                          </a:solidFill>
                          <a:latin typeface="Calibri"/>
                        </a:rPr>
                        <a:t>2</a:t>
                      </a:r>
                      <a:r>
                        <a:rPr sz="1400" b="0">
                          <a:solidFill>
                            <a:srgbClr val="142B33"/>
                          </a:solidFill>
                          <a:latin typeface="Calibri"/>
                        </a:rPr>
                        <a:t>C</a:t>
                      </a:r>
                    </a:p>
                  </a:txBody>
                  <a:tcPr marL="73152" marR="73152" marT="27432" marB="27432" anchor="ctr">
                    <a:solidFill>
                      <a:srgbClr val="F4F8F9"/>
                    </a:solidFill>
                  </a:tcPr>
                </a:tc>
              </a:tr>
              <a:tr h="335788">
                <a:tc>
                  <a:txBody>
                    <a:bodyPr/>
                    <a:lstStyle/>
                    <a:p>
                      <a:pPr algn="ctr"/>
                      <a:r>
                        <a:rPr sz="1400" b="0">
                          <a:solidFill>
                            <a:srgbClr val="142B33"/>
                          </a:solidFill>
                          <a:latin typeface="Calibri"/>
                        </a:rPr>
                        <a:t>C</a:t>
                      </a:r>
                    </a:p>
                  </a:txBody>
                  <a:tcPr marL="73152" marR="73152" marT="27432" marB="27432" anchor="ctr">
                    <a:solidFill>
                      <a:srgbClr val="FFFFFF"/>
                    </a:solidFill>
                  </a:tcPr>
                </a:tc>
                <a:tc>
                  <a:txBody>
                    <a:bodyPr/>
                    <a:lstStyle/>
                    <a:p>
                      <a:pPr algn="ctr"/>
                      <a:r>
                        <a:rPr sz="1400" b="0">
                          <a:solidFill>
                            <a:srgbClr val="142B33"/>
                          </a:solidFill>
                          <a:latin typeface="Calibri"/>
                        </a:rPr>
                        <a:t>ABC</a:t>
                      </a:r>
                      <a:r>
                        <a:rPr sz="1400" b="0" baseline="30000">
                          <a:solidFill>
                            <a:srgbClr val="142B33"/>
                          </a:solidFill>
                          <a:latin typeface="Calibri"/>
                        </a:rPr>
                        <a:t>2</a:t>
                      </a:r>
                    </a:p>
                  </a:txBody>
                  <a:tcPr marL="73152" marR="73152" marT="27432" marB="27432" anchor="ctr">
                    <a:solidFill>
                      <a:srgbClr val="FFFFFF"/>
                    </a:solidFill>
                  </a:tcPr>
                </a:tc>
                <a:tc>
                  <a:txBody>
                    <a:bodyPr/>
                    <a:lstStyle/>
                    <a:p>
                      <a:pPr algn="ctr"/>
                      <a:r>
                        <a:rPr sz="1400" b="0">
                          <a:solidFill>
                            <a:srgbClr val="142B33"/>
                          </a:solidFill>
                          <a:latin typeface="Calibri"/>
                        </a:rPr>
                        <a:t>AB</a:t>
                      </a:r>
                    </a:p>
                  </a:txBody>
                  <a:tcPr marL="73152" marR="73152" marT="27432" marB="27432" anchor="ctr">
                    <a:solidFill>
                      <a:srgbClr val="FFFFFF"/>
                    </a:solidFill>
                  </a:tcPr>
                </a:tc>
                <a:tc>
                  <a:txBody>
                    <a:bodyPr/>
                    <a:lstStyle/>
                    <a:p>
                      <a:pPr algn="ctr"/>
                      <a:r>
                        <a:rPr sz="1400" b="0">
                          <a:solidFill>
                            <a:srgbClr val="142B33"/>
                          </a:solidFill>
                          <a:latin typeface="Calibri"/>
                        </a:rPr>
                        <a:t>C + AB + ABC</a:t>
                      </a:r>
                      <a:r>
                        <a:rPr sz="1400" b="0" baseline="30000">
                          <a:solidFill>
                            <a:srgbClr val="142B33"/>
                          </a:solidFill>
                          <a:latin typeface="Calibri"/>
                        </a:rPr>
                        <a:t>2</a:t>
                      </a:r>
                    </a:p>
                  </a:txBody>
                  <a:tcPr marL="73152" marR="73152" marT="27432" marB="27432" anchor="ctr">
                    <a:solidFill>
                      <a:srgbClr val="FFFFFF"/>
                    </a:solidFill>
                  </a:tcPr>
                </a:tc>
              </a:tr>
              <a:tr h="335788">
                <a:tc>
                  <a:txBody>
                    <a:bodyPr/>
                    <a:lstStyle/>
                    <a:p>
                      <a:pPr algn="ctr"/>
                      <a:r>
                        <a:rPr sz="1400" b="0">
                          <a:solidFill>
                            <a:srgbClr val="142B33"/>
                          </a:solidFill>
                          <a:latin typeface="Calibri"/>
                        </a:rPr>
                        <a:t>AB</a:t>
                      </a:r>
                      <a:r>
                        <a:rPr sz="1400" b="0" baseline="30000">
                          <a:solidFill>
                            <a:srgbClr val="142B33"/>
                          </a:solidFill>
                          <a:latin typeface="Calibri"/>
                        </a:rPr>
                        <a:t>2</a:t>
                      </a:r>
                    </a:p>
                  </a:txBody>
                  <a:tcPr marL="73152" marR="73152" marT="27432" marB="27432" anchor="ctr">
                    <a:solidFill>
                      <a:srgbClr val="F4F8F9"/>
                    </a:solidFill>
                  </a:tcPr>
                </a:tc>
                <a:tc>
                  <a:txBody>
                    <a:bodyPr/>
                    <a:lstStyle/>
                    <a:p>
                      <a:pPr algn="ctr"/>
                      <a:r>
                        <a:rPr sz="1400" b="0">
                          <a:solidFill>
                            <a:srgbClr val="142B33"/>
                          </a:solidFill>
                          <a:latin typeface="Calibri"/>
                        </a:rPr>
                        <a:t>AC</a:t>
                      </a:r>
                      <a:r>
                        <a:rPr sz="1400" b="0" baseline="30000">
                          <a:solidFill>
                            <a:srgbClr val="142B33"/>
                          </a:solidFill>
                          <a:latin typeface="Calibri"/>
                        </a:rPr>
                        <a:t>2</a:t>
                      </a:r>
                    </a:p>
                  </a:txBody>
                  <a:tcPr marL="73152" marR="73152" marT="27432" marB="27432" anchor="ctr">
                    <a:solidFill>
                      <a:srgbClr val="F4F8F9"/>
                    </a:solidFill>
                  </a:tcPr>
                </a:tc>
                <a:tc>
                  <a:txBody>
                    <a:bodyPr/>
                    <a:lstStyle/>
                    <a:p>
                      <a:pPr algn="ctr"/>
                      <a:r>
                        <a:rPr sz="1400" b="0">
                          <a:solidFill>
                            <a:srgbClr val="142B33"/>
                          </a:solidFill>
                          <a:latin typeface="Calibri"/>
                        </a:rPr>
                        <a:t>BC</a:t>
                      </a:r>
                      <a:r>
                        <a:rPr sz="1400" b="0" baseline="30000">
                          <a:solidFill>
                            <a:srgbClr val="142B33"/>
                          </a:solidFill>
                          <a:latin typeface="Calibri"/>
                        </a:rPr>
                        <a:t>2</a:t>
                      </a:r>
                    </a:p>
                  </a:txBody>
                  <a:tcPr marL="73152" marR="73152" marT="27432" marB="27432" anchor="ctr">
                    <a:solidFill>
                      <a:srgbClr val="F4F8F9"/>
                    </a:solidFill>
                  </a:tcPr>
                </a:tc>
                <a:tc>
                  <a:txBody>
                    <a:bodyPr/>
                    <a:lstStyle/>
                    <a:p>
                      <a:pPr algn="ctr"/>
                      <a:r>
                        <a:rPr sz="1400" b="0">
                          <a:solidFill>
                            <a:srgbClr val="142B33"/>
                          </a:solidFill>
                          <a:latin typeface="Calibri"/>
                        </a:rPr>
                        <a:t>AB</a:t>
                      </a:r>
                      <a:r>
                        <a:rPr sz="1400" b="0" baseline="30000">
                          <a:solidFill>
                            <a:srgbClr val="142B33"/>
                          </a:solidFill>
                          <a:latin typeface="Calibri"/>
                        </a:rPr>
                        <a:t>2</a:t>
                      </a:r>
                      <a:r>
                        <a:rPr sz="1400" b="0">
                          <a:solidFill>
                            <a:srgbClr val="142B33"/>
                          </a:solidFill>
                          <a:latin typeface="Calibri"/>
                        </a:rPr>
                        <a:t> + BC</a:t>
                      </a:r>
                      <a:r>
                        <a:rPr sz="1400" b="0" baseline="30000">
                          <a:solidFill>
                            <a:srgbClr val="142B33"/>
                          </a:solidFill>
                          <a:latin typeface="Calibri"/>
                        </a:rPr>
                        <a:t>2</a:t>
                      </a:r>
                      <a:r>
                        <a:rPr sz="1400" b="0">
                          <a:solidFill>
                            <a:srgbClr val="142B33"/>
                          </a:solidFill>
                          <a:latin typeface="Calibri"/>
                        </a:rPr>
                        <a:t> + AC</a:t>
                      </a:r>
                      <a:r>
                        <a:rPr sz="1400" b="0" baseline="30000">
                          <a:solidFill>
                            <a:srgbClr val="142B33"/>
                          </a:solidFill>
                          <a:latin typeface="Calibri"/>
                        </a:rPr>
                        <a:t>2</a:t>
                      </a:r>
                    </a:p>
                  </a:txBody>
                  <a:tcPr marL="73152" marR="73152" marT="27432" marB="27432" anchor="ctr">
                    <a:solidFill>
                      <a:srgbClr val="F4F8F9"/>
                    </a:solidFill>
                  </a:tcPr>
                </a:tc>
              </a:tr>
            </a:tbl>
          </a:graphicData>
        </a:graphic>
      </p:graphicFrame>
      <p:sp>
        <p:nvSpPr>
          <p:cNvPr id="6" name="Rounded Rectangle 5"/>
          <p:cNvSpPr/>
          <p:nvPr/>
        </p:nvSpPr>
        <p:spPr>
          <a:xfrm>
            <a:off x="6301587" y="3297428"/>
            <a:ext cx="5341467"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I = ABC → </a:t>
            </a:r>
            <a:r>
              <a:rPr sz="1400" b="1">
                <a:solidFill>
                  <a:srgbClr val="142B33"/>
                </a:solidFill>
                <a:latin typeface="Calibri"/>
              </a:rPr>
              <a:t>resolución III</a:t>
            </a:r>
            <a:r>
              <a:rPr sz="1400" b="0">
                <a:solidFill>
                  <a:srgbClr val="142B33"/>
                </a:solidFill>
                <a:latin typeface="Calibri"/>
              </a:rPr>
              <a:t>: cada principal lleva un componente de interacción doble</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La fracción un tercio 3</a:t>
            </a:r>
            <a:r>
              <a:rPr sz="1000" b="0" baseline="30000">
                <a:solidFill>
                  <a:srgbClr val="5B6B73"/>
                </a:solidFill>
                <a:latin typeface="Calibri"/>
              </a:rPr>
              <a:t>k−1</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52</a:t>
            </a:r>
          </a:p>
        </p:txBody>
      </p:sp>
      <p:sp>
        <p:nvSpPr>
          <p:cNvPr id="9" name="Rounded Rectangle 8"/>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6 · La fracción un tercio 3</a:t>
            </a:r>
            <a:r>
              <a:rPr sz="1100" b="1" baseline="30000">
                <a:solidFill>
                  <a:srgbClr val="FFFFFF"/>
                </a:solidFill>
                <a:latin typeface="Calibri"/>
              </a:rPr>
              <a:t>k−1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5 · Análisis de la fracción y comparación con la réplica completa</a:t>
            </a:r>
          </a:p>
        </p:txBody>
      </p:sp>
      <p:graphicFrame>
        <p:nvGraphicFramePr>
          <p:cNvPr id="3" name="Table 2"/>
          <p:cNvGraphicFramePr>
            <a:graphicFrameLocks noGrp="1"/>
          </p:cNvGraphicFramePr>
          <p:nvPr/>
        </p:nvGraphicFramePr>
        <p:xfrm>
          <a:off x="548640" y="1417320"/>
          <a:ext cx="5875613" cy="2014728"/>
        </p:xfrm>
        <a:graphic>
          <a:graphicData uri="http://schemas.openxmlformats.org/drawingml/2006/table">
            <a:tbl>
              <a:tblPr firstRow="0" bandRow="0">
                <a:tableStyleId>{5C22544A-7EE6-4342-B048-85BDC9FD1C3A}</a:tableStyleId>
              </a:tblPr>
              <a:tblGrid>
                <a:gridCol w="4473479"/>
                <a:gridCol w="834604"/>
                <a:gridCol w="567530"/>
              </a:tblGrid>
              <a:tr h="335788">
                <a:tc>
                  <a:txBody>
                    <a:bodyPr/>
                    <a:lstStyle/>
                    <a:p>
                      <a:pPr algn="l"/>
                      <a:r>
                        <a:rPr sz="1400" b="1">
                          <a:solidFill>
                            <a:srgbClr val="FFFFFF"/>
                          </a:solidFill>
                          <a:latin typeface="Calibri"/>
                        </a:rPr>
                        <a:t>Cadena (fracción, 9 corridas)</a:t>
                      </a:r>
                    </a:p>
                  </a:txBody>
                  <a:tcPr marL="73152" marR="73152" marT="27432" marB="27432" anchor="ctr">
                    <a:solidFill>
                      <a:srgbClr val="0F4C5C"/>
                    </a:solidFill>
                  </a:tcPr>
                </a:tc>
                <a:tc>
                  <a:txBody>
                    <a:bodyPr/>
                    <a:lstStyle/>
                    <a:p>
                      <a:pPr algn="ctr"/>
                      <a:r>
                        <a:rPr sz="1400" b="1">
                          <a:solidFill>
                            <a:srgbClr val="FFFFFF"/>
                          </a:solidFill>
                          <a:latin typeface="Calibri"/>
                        </a:rPr>
                        <a:t>SS</a:t>
                      </a:r>
                    </a:p>
                  </a:txBody>
                  <a:tcPr marL="73152" marR="73152" marT="27432" marB="27432" anchor="ctr">
                    <a:solidFill>
                      <a:srgbClr val="0F4C5C"/>
                    </a:solidFill>
                  </a:tcPr>
                </a:tc>
                <a:tc>
                  <a:txBody>
                    <a:bodyPr/>
                    <a:lstStyle/>
                    <a:p>
                      <a:pPr algn="ctr"/>
                      <a:r>
                        <a:rPr sz="1400" b="1">
                          <a:solidFill>
                            <a:srgbClr val="FFFFFF"/>
                          </a:solidFill>
                          <a:latin typeface="Calibri"/>
                        </a:rPr>
                        <a:t>DF</a:t>
                      </a:r>
                    </a:p>
                  </a:txBody>
                  <a:tcPr marL="73152" marR="73152" marT="27432" marB="27432" anchor="ctr">
                    <a:solidFill>
                      <a:srgbClr val="0F4C5C"/>
                    </a:solidFill>
                  </a:tcPr>
                </a:tc>
              </a:tr>
              <a:tr h="335788">
                <a:tc>
                  <a:txBody>
                    <a:bodyPr/>
                    <a:lstStyle/>
                    <a:p>
                      <a:pPr algn="l"/>
                      <a:r>
                        <a:rPr sz="1400" b="0">
                          <a:solidFill>
                            <a:srgbClr val="142B33"/>
                          </a:solidFill>
                          <a:latin typeface="Calibri"/>
                        </a:rPr>
                        <a:t>A + BC + AB</a:t>
                      </a:r>
                      <a:r>
                        <a:rPr sz="1400" b="0" baseline="30000">
                          <a:solidFill>
                            <a:srgbClr val="142B33"/>
                          </a:solidFill>
                          <a:latin typeface="Calibri"/>
                        </a:rPr>
                        <a:t>2</a:t>
                      </a:r>
                      <a:r>
                        <a:rPr sz="1400" b="0">
                          <a:solidFill>
                            <a:srgbClr val="142B33"/>
                          </a:solidFill>
                          <a:latin typeface="Calibri"/>
                        </a:rPr>
                        <a:t>C</a:t>
                      </a:r>
                      <a:r>
                        <a:rPr sz="1400" b="0" baseline="30000">
                          <a:solidFill>
                            <a:srgbClr val="142B33"/>
                          </a:solidFill>
                          <a:latin typeface="Calibri"/>
                        </a:rPr>
                        <a:t>2</a:t>
                      </a:r>
                    </a:p>
                  </a:txBody>
                  <a:tcPr marL="73152" marR="73152" marT="27432" marB="27432" anchor="ctr">
                    <a:solidFill>
                      <a:srgbClr val="FFFFFF"/>
                    </a:solidFill>
                  </a:tcPr>
                </a:tc>
                <a:tc>
                  <a:txBody>
                    <a:bodyPr/>
                    <a:lstStyle/>
                    <a:p>
                      <a:pPr algn="ctr"/>
                      <a:r>
                        <a:rPr sz="1400" b="0">
                          <a:solidFill>
                            <a:srgbClr val="142B33"/>
                          </a:solidFill>
                          <a:latin typeface="Calibri"/>
                        </a:rPr>
                        <a:t>0.303</a:t>
                      </a:r>
                    </a:p>
                  </a:txBody>
                  <a:tcPr marL="73152" marR="73152" marT="27432" marB="27432" anchor="ctr">
                    <a:solidFill>
                      <a:srgbClr val="FFFFFF"/>
                    </a:solidFill>
                  </a:tcPr>
                </a:tc>
                <a:tc>
                  <a:txBody>
                    <a:bodyPr/>
                    <a:lstStyle/>
                    <a:p>
                      <a:pPr algn="ctr"/>
                      <a:r>
                        <a:rPr sz="1400" b="0">
                          <a:solidFill>
                            <a:srgbClr val="142B33"/>
                          </a:solidFill>
                          <a:latin typeface="Calibri"/>
                        </a:rPr>
                        <a:t>2</a:t>
                      </a:r>
                    </a:p>
                  </a:txBody>
                  <a:tcPr marL="73152" marR="73152" marT="27432" marB="27432" anchor="ctr">
                    <a:solidFill>
                      <a:srgbClr val="FFFFFF"/>
                    </a:solidFill>
                  </a:tcPr>
                </a:tc>
              </a:tr>
              <a:tr h="335788">
                <a:tc>
                  <a:txBody>
                    <a:bodyPr/>
                    <a:lstStyle/>
                    <a:p>
                      <a:pPr algn="l"/>
                      <a:r>
                        <a:rPr sz="1400" b="0">
                          <a:solidFill>
                            <a:srgbClr val="142B33"/>
                          </a:solidFill>
                          <a:latin typeface="Calibri"/>
                        </a:rPr>
                        <a:t>B + AC + AB</a:t>
                      </a:r>
                      <a:r>
                        <a:rPr sz="1400" b="0" baseline="30000">
                          <a:solidFill>
                            <a:srgbClr val="142B33"/>
                          </a:solidFill>
                          <a:latin typeface="Calibri"/>
                        </a:rPr>
                        <a:t>2</a:t>
                      </a:r>
                      <a:r>
                        <a:rPr sz="1400" b="0">
                          <a:solidFill>
                            <a:srgbClr val="142B33"/>
                          </a:solidFill>
                          <a:latin typeface="Calibri"/>
                        </a:rPr>
                        <a:t>C</a:t>
                      </a:r>
                    </a:p>
                  </a:txBody>
                  <a:tcPr marL="73152" marR="73152" marT="27432" marB="27432" anchor="ctr">
                    <a:solidFill>
                      <a:srgbClr val="FDE8D7"/>
                    </a:solidFill>
                  </a:tcPr>
                </a:tc>
                <a:tc>
                  <a:txBody>
                    <a:bodyPr/>
                    <a:lstStyle/>
                    <a:p>
                      <a:pPr algn="ctr"/>
                      <a:r>
                        <a:rPr sz="1400" b="0">
                          <a:solidFill>
                            <a:srgbClr val="142B33"/>
                          </a:solidFill>
                          <a:latin typeface="Calibri"/>
                        </a:rPr>
                        <a:t>2.806</a:t>
                      </a:r>
                    </a:p>
                  </a:txBody>
                  <a:tcPr marL="73152" marR="73152" marT="27432" marB="27432" anchor="ctr">
                    <a:solidFill>
                      <a:srgbClr val="FDE8D7"/>
                    </a:solidFill>
                  </a:tcPr>
                </a:tc>
                <a:tc>
                  <a:txBody>
                    <a:bodyPr/>
                    <a:lstStyle/>
                    <a:p>
                      <a:pPr algn="ctr"/>
                      <a:r>
                        <a:rPr sz="1400" b="0">
                          <a:solidFill>
                            <a:srgbClr val="142B33"/>
                          </a:solidFill>
                          <a:latin typeface="Calibri"/>
                        </a:rPr>
                        <a:t>2</a:t>
                      </a:r>
                    </a:p>
                  </a:txBody>
                  <a:tcPr marL="73152" marR="73152" marT="27432" marB="27432" anchor="ctr">
                    <a:solidFill>
                      <a:srgbClr val="FDE8D7"/>
                    </a:solidFill>
                  </a:tcPr>
                </a:tc>
              </a:tr>
              <a:tr h="335788">
                <a:tc>
                  <a:txBody>
                    <a:bodyPr/>
                    <a:lstStyle/>
                    <a:p>
                      <a:pPr algn="l"/>
                      <a:r>
                        <a:rPr sz="1400" b="0">
                          <a:solidFill>
                            <a:srgbClr val="142B33"/>
                          </a:solidFill>
                          <a:latin typeface="Calibri"/>
                        </a:rPr>
                        <a:t>C + AB + ABC</a:t>
                      </a:r>
                      <a:r>
                        <a:rPr sz="1400" b="0" baseline="30000">
                          <a:solidFill>
                            <a:srgbClr val="142B33"/>
                          </a:solidFill>
                          <a:latin typeface="Calibri"/>
                        </a:rPr>
                        <a:t>2</a:t>
                      </a:r>
                    </a:p>
                  </a:txBody>
                  <a:tcPr marL="73152" marR="73152" marT="27432" marB="27432" anchor="ctr">
                    <a:solidFill>
                      <a:srgbClr val="FDE8D7"/>
                    </a:solidFill>
                  </a:tcPr>
                </a:tc>
                <a:tc>
                  <a:txBody>
                    <a:bodyPr/>
                    <a:lstStyle/>
                    <a:p>
                      <a:pPr algn="ctr"/>
                      <a:r>
                        <a:rPr sz="1400" b="0">
                          <a:solidFill>
                            <a:srgbClr val="142B33"/>
                          </a:solidFill>
                          <a:latin typeface="Calibri"/>
                        </a:rPr>
                        <a:t>2.249</a:t>
                      </a:r>
                    </a:p>
                  </a:txBody>
                  <a:tcPr marL="73152" marR="73152" marT="27432" marB="27432" anchor="ctr">
                    <a:solidFill>
                      <a:srgbClr val="FDE8D7"/>
                    </a:solidFill>
                  </a:tcPr>
                </a:tc>
                <a:tc>
                  <a:txBody>
                    <a:bodyPr/>
                    <a:lstStyle/>
                    <a:p>
                      <a:pPr algn="ctr"/>
                      <a:r>
                        <a:rPr sz="1400" b="0">
                          <a:solidFill>
                            <a:srgbClr val="142B33"/>
                          </a:solidFill>
                          <a:latin typeface="Calibri"/>
                        </a:rPr>
                        <a:t>2</a:t>
                      </a:r>
                    </a:p>
                  </a:txBody>
                  <a:tcPr marL="73152" marR="73152" marT="27432" marB="27432" anchor="ctr">
                    <a:solidFill>
                      <a:srgbClr val="FDE8D7"/>
                    </a:solidFill>
                  </a:tcPr>
                </a:tc>
              </a:tr>
              <a:tr h="335788">
                <a:tc>
                  <a:txBody>
                    <a:bodyPr/>
                    <a:lstStyle/>
                    <a:p>
                      <a:pPr algn="l"/>
                      <a:r>
                        <a:rPr sz="1400" b="0">
                          <a:solidFill>
                            <a:srgbClr val="142B33"/>
                          </a:solidFill>
                          <a:latin typeface="Calibri"/>
                        </a:rPr>
                        <a:t>AB</a:t>
                      </a:r>
                      <a:r>
                        <a:rPr sz="1400" b="0" baseline="30000">
                          <a:solidFill>
                            <a:srgbClr val="142B33"/>
                          </a:solidFill>
                          <a:latin typeface="Calibri"/>
                        </a:rPr>
                        <a:t>2</a:t>
                      </a:r>
                      <a:r>
                        <a:rPr sz="1400" b="0">
                          <a:solidFill>
                            <a:srgbClr val="142B33"/>
                          </a:solidFill>
                          <a:latin typeface="Calibri"/>
                        </a:rPr>
                        <a:t> + AC</a:t>
                      </a:r>
                      <a:r>
                        <a:rPr sz="1400" b="0" baseline="30000">
                          <a:solidFill>
                            <a:srgbClr val="142B33"/>
                          </a:solidFill>
                          <a:latin typeface="Calibri"/>
                        </a:rPr>
                        <a:t>2</a:t>
                      </a:r>
                      <a:r>
                        <a:rPr sz="1400" b="0">
                          <a:solidFill>
                            <a:srgbClr val="142B33"/>
                          </a:solidFill>
                          <a:latin typeface="Calibri"/>
                        </a:rPr>
                        <a:t> + BC</a:t>
                      </a:r>
                      <a:r>
                        <a:rPr sz="1400" b="0" baseline="30000">
                          <a:solidFill>
                            <a:srgbClr val="142B33"/>
                          </a:solidFill>
                          <a:latin typeface="Calibri"/>
                        </a:rPr>
                        <a:t>2</a:t>
                      </a:r>
                    </a:p>
                  </a:txBody>
                  <a:tcPr marL="73152" marR="73152" marT="27432" marB="27432" anchor="ctr">
                    <a:solidFill>
                      <a:srgbClr val="F4F8F9"/>
                    </a:solidFill>
                  </a:tcPr>
                </a:tc>
                <a:tc>
                  <a:txBody>
                    <a:bodyPr/>
                    <a:lstStyle/>
                    <a:p>
                      <a:pPr algn="ctr"/>
                      <a:r>
                        <a:rPr sz="1400" b="0">
                          <a:solidFill>
                            <a:srgbClr val="142B33"/>
                          </a:solidFill>
                          <a:latin typeface="Calibri"/>
                        </a:rPr>
                        <a:t>0.307</a:t>
                      </a:r>
                    </a:p>
                  </a:txBody>
                  <a:tcPr marL="73152" marR="73152" marT="27432" marB="27432" anchor="ctr">
                    <a:solidFill>
                      <a:srgbClr val="F4F8F9"/>
                    </a:solidFill>
                  </a:tcPr>
                </a:tc>
                <a:tc>
                  <a:txBody>
                    <a:bodyPr/>
                    <a:lstStyle/>
                    <a:p>
                      <a:pPr algn="ctr"/>
                      <a:r>
                        <a:rPr sz="1400" b="0">
                          <a:solidFill>
                            <a:srgbClr val="142B33"/>
                          </a:solidFill>
                          <a:latin typeface="Calibri"/>
                        </a:rPr>
                        <a:t>2</a:t>
                      </a:r>
                    </a:p>
                  </a:txBody>
                  <a:tcPr marL="73152" marR="73152" marT="27432" marB="27432" anchor="ctr">
                    <a:solidFill>
                      <a:srgbClr val="F4F8F9"/>
                    </a:solidFill>
                  </a:tcPr>
                </a:tc>
              </a:tr>
              <a:tr h="335788">
                <a:tc>
                  <a:txBody>
                    <a:bodyPr/>
                    <a:lstStyle/>
                    <a:p>
                      <a:pPr algn="l"/>
                      <a:r>
                        <a:rPr sz="1400" b="0">
                          <a:solidFill>
                            <a:srgbClr val="142B33"/>
                          </a:solidFill>
                          <a:latin typeface="Calibri"/>
                        </a:rPr>
                        <a:t>Total</a:t>
                      </a:r>
                    </a:p>
                  </a:txBody>
                  <a:tcPr marL="73152" marR="73152" marT="27432" marB="27432" anchor="ctr">
                    <a:solidFill>
                      <a:srgbClr val="FFFFFF"/>
                    </a:solidFill>
                  </a:tcPr>
                </a:tc>
                <a:tc>
                  <a:txBody>
                    <a:bodyPr/>
                    <a:lstStyle/>
                    <a:p>
                      <a:pPr algn="ctr"/>
                      <a:r>
                        <a:rPr sz="1400" b="0">
                          <a:solidFill>
                            <a:srgbClr val="142B33"/>
                          </a:solidFill>
                          <a:latin typeface="Calibri"/>
                        </a:rPr>
                        <a:t>5.665</a:t>
                      </a:r>
                    </a:p>
                  </a:txBody>
                  <a:tcPr marL="73152" marR="73152" marT="27432" marB="27432" anchor="ctr">
                    <a:solidFill>
                      <a:srgbClr val="FFFFFF"/>
                    </a:solidFill>
                  </a:tcPr>
                </a:tc>
                <a:tc>
                  <a:txBody>
                    <a:bodyPr/>
                    <a:lstStyle/>
                    <a:p>
                      <a:pPr algn="ctr"/>
                      <a:r>
                        <a:rPr sz="1400" b="0">
                          <a:solidFill>
                            <a:srgbClr val="142B33"/>
                          </a:solidFill>
                          <a:latin typeface="Calibri"/>
                        </a:rPr>
                        <a:t>8</a:t>
                      </a:r>
                    </a:p>
                  </a:txBody>
                  <a:tcPr marL="73152" marR="73152" marT="27432" marB="27432" anchor="ctr">
                    <a:solidFill>
                      <a:srgbClr val="FFFFFF"/>
                    </a:solidFill>
                  </a:tcPr>
                </a:tc>
              </a:tr>
            </a:tbl>
          </a:graphicData>
        </a:graphic>
      </p:graphicFrame>
      <p:graphicFrame>
        <p:nvGraphicFramePr>
          <p:cNvPr id="4" name="Table 3"/>
          <p:cNvGraphicFramePr>
            <a:graphicFrameLocks noGrp="1"/>
          </p:cNvGraphicFramePr>
          <p:nvPr/>
        </p:nvGraphicFramePr>
        <p:xfrm>
          <a:off x="548640" y="3633216"/>
          <a:ext cx="5875613" cy="2562352"/>
        </p:xfrm>
        <a:graphic>
          <a:graphicData uri="http://schemas.openxmlformats.org/drawingml/2006/table">
            <a:tbl>
              <a:tblPr firstRow="0" bandRow="0">
                <a:tableStyleId>{5C22544A-7EE6-4342-B048-85BDC9FD1C3A}</a:tableStyleId>
              </a:tblPr>
              <a:tblGrid>
                <a:gridCol w="3242468"/>
                <a:gridCol w="816057"/>
                <a:gridCol w="554919"/>
                <a:gridCol w="1262169"/>
              </a:tblGrid>
              <a:tr h="320294">
                <a:tc>
                  <a:txBody>
                    <a:bodyPr/>
                    <a:lstStyle/>
                    <a:p>
                      <a:pPr algn="l"/>
                      <a:r>
                        <a:rPr sz="1300" b="1">
                          <a:solidFill>
                            <a:srgbClr val="FFFFFF"/>
                          </a:solidFill>
                          <a:latin typeface="Calibri"/>
                        </a:rPr>
                        <a:t>Réplica completa (27)</a:t>
                      </a:r>
                    </a:p>
                  </a:txBody>
                  <a:tcPr marL="73152" marR="73152" marT="27432" marB="27432" anchor="ctr">
                    <a:solidFill>
                      <a:srgbClr val="0F4C5C"/>
                    </a:solidFill>
                  </a:tcPr>
                </a:tc>
                <a:tc>
                  <a:txBody>
                    <a:bodyPr/>
                    <a:lstStyle/>
                    <a:p>
                      <a:pPr algn="ctr"/>
                      <a:r>
                        <a:rPr sz="1300" b="1">
                          <a:solidFill>
                            <a:srgbClr val="FFFFFF"/>
                          </a:solidFill>
                          <a:latin typeface="Calibri"/>
                        </a:rPr>
                        <a:t>SS</a:t>
                      </a:r>
                    </a:p>
                  </a:txBody>
                  <a:tcPr marL="73152" marR="73152" marT="27432" marB="27432" anchor="ctr">
                    <a:solidFill>
                      <a:srgbClr val="0F4C5C"/>
                    </a:solidFill>
                  </a:tcPr>
                </a:tc>
                <a:tc>
                  <a:txBody>
                    <a:bodyPr/>
                    <a:lstStyle/>
                    <a:p>
                      <a:pPr algn="ctr"/>
                      <a:r>
                        <a:rPr sz="1300" b="1">
                          <a:solidFill>
                            <a:srgbClr val="FFFFFF"/>
                          </a:solidFill>
                          <a:latin typeface="Calibri"/>
                        </a:rPr>
                        <a:t>DF</a:t>
                      </a:r>
                    </a:p>
                  </a:txBody>
                  <a:tcPr marL="73152" marR="73152" marT="27432" marB="27432" anchor="ctr">
                    <a:solidFill>
                      <a:srgbClr val="0F4C5C"/>
                    </a:solidFill>
                  </a:tcPr>
                </a:tc>
                <a:tc>
                  <a:txBody>
                    <a:bodyPr/>
                    <a:lstStyle/>
                    <a:p>
                      <a:pPr algn="ctr"/>
                      <a:r>
                        <a:rPr sz="1300" b="1">
                          <a:solidFill>
                            <a:srgbClr val="FFFFFF"/>
                          </a:solidFill>
                          <a:latin typeface="Calibri"/>
                        </a:rPr>
                        <a:t>P-Value</a:t>
                      </a:r>
                    </a:p>
                  </a:txBody>
                  <a:tcPr marL="73152" marR="73152" marT="27432" marB="27432" anchor="ctr">
                    <a:solidFill>
                      <a:srgbClr val="0F4C5C"/>
                    </a:solidFill>
                  </a:tcPr>
                </a:tc>
              </a:tr>
              <a:tr h="320294">
                <a:tc>
                  <a:txBody>
                    <a:bodyPr/>
                    <a:lstStyle/>
                    <a:p>
                      <a:pPr algn="l"/>
                      <a:r>
                        <a:rPr sz="1300" b="0">
                          <a:solidFill>
                            <a:srgbClr val="142B33"/>
                          </a:solidFill>
                          <a:latin typeface="Calibri"/>
                        </a:rPr>
                        <a:t>A</a:t>
                      </a:r>
                    </a:p>
                  </a:txBody>
                  <a:tcPr marL="73152" marR="73152" marT="27432" marB="27432" anchor="ctr">
                    <a:solidFill>
                      <a:srgbClr val="FFFFFF"/>
                    </a:solidFill>
                  </a:tcPr>
                </a:tc>
                <a:tc>
                  <a:txBody>
                    <a:bodyPr/>
                    <a:lstStyle/>
                    <a:p>
                      <a:pPr algn="ctr"/>
                      <a:r>
                        <a:rPr sz="1300" b="0">
                          <a:solidFill>
                            <a:srgbClr val="142B33"/>
                          </a:solidFill>
                          <a:latin typeface="Calibri"/>
                        </a:rPr>
                        <a:t>0.110</a:t>
                      </a:r>
                    </a:p>
                  </a:txBody>
                  <a:tcPr marL="73152" marR="73152" marT="27432" marB="27432" anchor="ctr">
                    <a:solidFill>
                      <a:srgbClr val="FFFFFF"/>
                    </a:solidFill>
                  </a:tcPr>
                </a:tc>
                <a:tc>
                  <a:txBody>
                    <a:bodyPr/>
                    <a:lstStyle/>
                    <a:p>
                      <a:pPr algn="ctr"/>
                      <a:r>
                        <a:rPr sz="1300" b="0">
                          <a:solidFill>
                            <a:srgbClr val="142B33"/>
                          </a:solidFill>
                          <a:latin typeface="Calibri"/>
                        </a:rPr>
                        <a:t>2</a:t>
                      </a:r>
                    </a:p>
                  </a:txBody>
                  <a:tcPr marL="73152" marR="73152" marT="27432" marB="27432" anchor="ctr">
                    <a:solidFill>
                      <a:srgbClr val="FFFFFF"/>
                    </a:solidFill>
                  </a:tcPr>
                </a:tc>
                <a:tc>
                  <a:txBody>
                    <a:bodyPr/>
                    <a:lstStyle/>
                    <a:p>
                      <a:pPr algn="ctr"/>
                      <a:r>
                        <a:rPr sz="1300" b="0">
                          <a:solidFill>
                            <a:srgbClr val="142B33"/>
                          </a:solidFill>
                          <a:latin typeface="Calibri"/>
                        </a:rPr>
                        <a:t>0.4576</a:t>
                      </a:r>
                    </a:p>
                  </a:txBody>
                  <a:tcPr marL="73152" marR="73152" marT="27432" marB="27432" anchor="ctr">
                    <a:solidFill>
                      <a:srgbClr val="FFFFFF"/>
                    </a:solidFill>
                  </a:tcPr>
                </a:tc>
              </a:tr>
              <a:tr h="320294">
                <a:tc>
                  <a:txBody>
                    <a:bodyPr/>
                    <a:lstStyle/>
                    <a:p>
                      <a:pPr algn="l"/>
                      <a:r>
                        <a:rPr sz="1300" b="0">
                          <a:solidFill>
                            <a:srgbClr val="142B33"/>
                          </a:solidFill>
                          <a:latin typeface="Calibri"/>
                        </a:rPr>
                        <a:t>B</a:t>
                      </a:r>
                    </a:p>
                  </a:txBody>
                  <a:tcPr marL="73152" marR="73152" marT="27432" marB="27432" anchor="ctr">
                    <a:solidFill>
                      <a:srgbClr val="FDE8D7"/>
                    </a:solidFill>
                  </a:tcPr>
                </a:tc>
                <a:tc>
                  <a:txBody>
                    <a:bodyPr/>
                    <a:lstStyle/>
                    <a:p>
                      <a:pPr algn="ctr"/>
                      <a:r>
                        <a:rPr sz="1300" b="0">
                          <a:solidFill>
                            <a:srgbClr val="142B33"/>
                          </a:solidFill>
                          <a:latin typeface="Calibri"/>
                        </a:rPr>
                        <a:t>8.423</a:t>
                      </a:r>
                    </a:p>
                  </a:txBody>
                  <a:tcPr marL="73152" marR="73152" marT="27432" marB="27432" anchor="ctr">
                    <a:solidFill>
                      <a:srgbClr val="FDE8D7"/>
                    </a:solidFill>
                  </a:tcPr>
                </a:tc>
                <a:tc>
                  <a:txBody>
                    <a:bodyPr/>
                    <a:lstStyle/>
                    <a:p>
                      <a:pPr algn="ctr"/>
                      <a:r>
                        <a:rPr sz="1300" b="0">
                          <a:solidFill>
                            <a:srgbClr val="142B33"/>
                          </a:solidFill>
                          <a:latin typeface="Calibri"/>
                        </a:rPr>
                        <a:t>2</a:t>
                      </a:r>
                    </a:p>
                  </a:txBody>
                  <a:tcPr marL="73152" marR="73152" marT="27432" marB="27432" anchor="ctr">
                    <a:solidFill>
                      <a:srgbClr val="FDE8D7"/>
                    </a:solidFill>
                  </a:tcPr>
                </a:tc>
                <a:tc>
                  <a:txBody>
                    <a:bodyPr/>
                    <a:lstStyle/>
                    <a:p>
                      <a:pPr algn="ctr"/>
                      <a:r>
                        <a:rPr sz="1300" b="0">
                          <a:solidFill>
                            <a:srgbClr val="142B33"/>
                          </a:solidFill>
                          <a:latin typeface="Calibri"/>
                        </a:rPr>
                        <a:t>&lt;0.0001</a:t>
                      </a:r>
                    </a:p>
                  </a:txBody>
                  <a:tcPr marL="73152" marR="73152" marT="27432" marB="27432" anchor="ctr">
                    <a:solidFill>
                      <a:srgbClr val="FDE8D7"/>
                    </a:solidFill>
                  </a:tcPr>
                </a:tc>
              </a:tr>
              <a:tr h="320294">
                <a:tc>
                  <a:txBody>
                    <a:bodyPr/>
                    <a:lstStyle/>
                    <a:p>
                      <a:pPr algn="l"/>
                      <a:r>
                        <a:rPr sz="1300" b="0">
                          <a:solidFill>
                            <a:srgbClr val="142B33"/>
                          </a:solidFill>
                          <a:latin typeface="Calibri"/>
                        </a:rPr>
                        <a:t>C</a:t>
                      </a:r>
                    </a:p>
                  </a:txBody>
                  <a:tcPr marL="73152" marR="73152" marT="27432" marB="27432" anchor="ctr">
                    <a:solidFill>
                      <a:srgbClr val="FDE8D7"/>
                    </a:solidFill>
                  </a:tcPr>
                </a:tc>
                <a:tc>
                  <a:txBody>
                    <a:bodyPr/>
                    <a:lstStyle/>
                    <a:p>
                      <a:pPr algn="ctr"/>
                      <a:r>
                        <a:rPr sz="1300" b="0">
                          <a:solidFill>
                            <a:srgbClr val="142B33"/>
                          </a:solidFill>
                          <a:latin typeface="Calibri"/>
                        </a:rPr>
                        <a:t>3.811</a:t>
                      </a:r>
                    </a:p>
                  </a:txBody>
                  <a:tcPr marL="73152" marR="73152" marT="27432" marB="27432" anchor="ctr">
                    <a:solidFill>
                      <a:srgbClr val="FDE8D7"/>
                    </a:solidFill>
                  </a:tcPr>
                </a:tc>
                <a:tc>
                  <a:txBody>
                    <a:bodyPr/>
                    <a:lstStyle/>
                    <a:p>
                      <a:pPr algn="ctr"/>
                      <a:r>
                        <a:rPr sz="1300" b="0">
                          <a:solidFill>
                            <a:srgbClr val="142B33"/>
                          </a:solidFill>
                          <a:latin typeface="Calibri"/>
                        </a:rPr>
                        <a:t>2</a:t>
                      </a:r>
                    </a:p>
                  </a:txBody>
                  <a:tcPr marL="73152" marR="73152" marT="27432" marB="27432" anchor="ctr">
                    <a:solidFill>
                      <a:srgbClr val="FDE8D7"/>
                    </a:solidFill>
                  </a:tcPr>
                </a:tc>
                <a:tc>
                  <a:txBody>
                    <a:bodyPr/>
                    <a:lstStyle/>
                    <a:p>
                      <a:pPr algn="ctr"/>
                      <a:r>
                        <a:rPr sz="1300" b="0">
                          <a:solidFill>
                            <a:srgbClr val="142B33"/>
                          </a:solidFill>
                          <a:latin typeface="Calibri"/>
                        </a:rPr>
                        <a:t>0.0002</a:t>
                      </a:r>
                    </a:p>
                  </a:txBody>
                  <a:tcPr marL="73152" marR="73152" marT="27432" marB="27432" anchor="ctr">
                    <a:solidFill>
                      <a:srgbClr val="FDE8D7"/>
                    </a:solidFill>
                  </a:tcPr>
                </a:tc>
              </a:tr>
              <a:tr h="320294">
                <a:tc>
                  <a:txBody>
                    <a:bodyPr/>
                    <a:lstStyle/>
                    <a:p>
                      <a:pPr algn="l"/>
                      <a:r>
                        <a:rPr sz="1300" b="0">
                          <a:solidFill>
                            <a:srgbClr val="142B33"/>
                          </a:solidFill>
                          <a:latin typeface="Calibri"/>
                        </a:rPr>
                        <a:t>AB</a:t>
                      </a:r>
                    </a:p>
                  </a:txBody>
                  <a:tcPr marL="73152" marR="73152" marT="27432" marB="27432" anchor="ctr">
                    <a:solidFill>
                      <a:srgbClr val="F4F8F9"/>
                    </a:solidFill>
                  </a:tcPr>
                </a:tc>
                <a:tc>
                  <a:txBody>
                    <a:bodyPr/>
                    <a:lstStyle/>
                    <a:p>
                      <a:pPr algn="ctr"/>
                      <a:r>
                        <a:rPr sz="1300" b="0">
                          <a:solidFill>
                            <a:srgbClr val="142B33"/>
                          </a:solidFill>
                          <a:latin typeface="Calibri"/>
                        </a:rPr>
                        <a:t>0.300</a:t>
                      </a:r>
                    </a:p>
                  </a:txBody>
                  <a:tcPr marL="73152" marR="73152" marT="27432" marB="27432" anchor="ctr">
                    <a:solidFill>
                      <a:srgbClr val="F4F8F9"/>
                    </a:solidFill>
                  </a:tcPr>
                </a:tc>
                <a:tc>
                  <a:txBody>
                    <a:bodyPr/>
                    <a:lstStyle/>
                    <a:p>
                      <a:pPr algn="ctr"/>
                      <a:r>
                        <a:rPr sz="1300" b="0">
                          <a:solidFill>
                            <a:srgbClr val="142B33"/>
                          </a:solidFill>
                          <a:latin typeface="Calibri"/>
                        </a:rPr>
                        <a:t>4</a:t>
                      </a:r>
                    </a:p>
                  </a:txBody>
                  <a:tcPr marL="73152" marR="73152" marT="27432" marB="27432" anchor="ctr">
                    <a:solidFill>
                      <a:srgbClr val="F4F8F9"/>
                    </a:solidFill>
                  </a:tcPr>
                </a:tc>
                <a:tc>
                  <a:txBody>
                    <a:bodyPr/>
                    <a:lstStyle/>
                    <a:p>
                      <a:pPr algn="ctr"/>
                      <a:r>
                        <a:rPr sz="1300" b="0">
                          <a:solidFill>
                            <a:srgbClr val="142B33"/>
                          </a:solidFill>
                          <a:latin typeface="Calibri"/>
                        </a:rPr>
                        <a:t>0.3903</a:t>
                      </a:r>
                    </a:p>
                  </a:txBody>
                  <a:tcPr marL="73152" marR="73152" marT="27432" marB="27432" anchor="ctr">
                    <a:solidFill>
                      <a:srgbClr val="F4F8F9"/>
                    </a:solidFill>
                  </a:tcPr>
                </a:tc>
              </a:tr>
              <a:tr h="320294">
                <a:tc>
                  <a:txBody>
                    <a:bodyPr/>
                    <a:lstStyle/>
                    <a:p>
                      <a:pPr algn="l"/>
                      <a:r>
                        <a:rPr sz="1300" b="0">
                          <a:solidFill>
                            <a:srgbClr val="142B33"/>
                          </a:solidFill>
                          <a:latin typeface="Calibri"/>
                        </a:rPr>
                        <a:t>AC</a:t>
                      </a:r>
                    </a:p>
                  </a:txBody>
                  <a:tcPr marL="73152" marR="73152" marT="27432" marB="27432" anchor="ctr">
                    <a:solidFill>
                      <a:srgbClr val="FFFFFF"/>
                    </a:solidFill>
                  </a:tcPr>
                </a:tc>
                <a:tc>
                  <a:txBody>
                    <a:bodyPr/>
                    <a:lstStyle/>
                    <a:p>
                      <a:pPr algn="ctr"/>
                      <a:r>
                        <a:rPr sz="1300" b="0">
                          <a:solidFill>
                            <a:srgbClr val="142B33"/>
                          </a:solidFill>
                          <a:latin typeface="Calibri"/>
                        </a:rPr>
                        <a:t>0.112</a:t>
                      </a:r>
                    </a:p>
                  </a:txBody>
                  <a:tcPr marL="73152" marR="73152" marT="27432" marB="27432" anchor="ctr">
                    <a:solidFill>
                      <a:srgbClr val="FFFFFF"/>
                    </a:solidFill>
                  </a:tcPr>
                </a:tc>
                <a:tc>
                  <a:txBody>
                    <a:bodyPr/>
                    <a:lstStyle/>
                    <a:p>
                      <a:pPr algn="ctr"/>
                      <a:r>
                        <a:rPr sz="1300" b="0">
                          <a:solidFill>
                            <a:srgbClr val="142B33"/>
                          </a:solidFill>
                          <a:latin typeface="Calibri"/>
                        </a:rPr>
                        <a:t>4</a:t>
                      </a:r>
                    </a:p>
                  </a:txBody>
                  <a:tcPr marL="73152" marR="73152" marT="27432" marB="27432" anchor="ctr">
                    <a:solidFill>
                      <a:srgbClr val="FFFFFF"/>
                    </a:solidFill>
                  </a:tcPr>
                </a:tc>
                <a:tc>
                  <a:txBody>
                    <a:bodyPr/>
                    <a:lstStyle/>
                    <a:p>
                      <a:pPr algn="ctr"/>
                      <a:r>
                        <a:rPr sz="1300" b="0">
                          <a:solidFill>
                            <a:srgbClr val="142B33"/>
                          </a:solidFill>
                          <a:latin typeface="Calibri"/>
                        </a:rPr>
                        <a:t>0.7789</a:t>
                      </a:r>
                    </a:p>
                  </a:txBody>
                  <a:tcPr marL="73152" marR="73152" marT="27432" marB="27432" anchor="ctr">
                    <a:solidFill>
                      <a:srgbClr val="FFFFFF"/>
                    </a:solidFill>
                  </a:tcPr>
                </a:tc>
              </a:tr>
              <a:tr h="320294">
                <a:tc>
                  <a:txBody>
                    <a:bodyPr/>
                    <a:lstStyle/>
                    <a:p>
                      <a:pPr algn="l"/>
                      <a:r>
                        <a:rPr sz="1300" b="0">
                          <a:solidFill>
                            <a:srgbClr val="142B33"/>
                          </a:solidFill>
                          <a:latin typeface="Calibri"/>
                        </a:rPr>
                        <a:t>BC</a:t>
                      </a:r>
                    </a:p>
                  </a:txBody>
                  <a:tcPr marL="73152" marR="73152" marT="27432" marB="27432" anchor="ctr">
                    <a:solidFill>
                      <a:srgbClr val="FDE8D7"/>
                    </a:solidFill>
                  </a:tcPr>
                </a:tc>
                <a:tc>
                  <a:txBody>
                    <a:bodyPr/>
                    <a:lstStyle/>
                    <a:p>
                      <a:pPr algn="ctr"/>
                      <a:r>
                        <a:rPr sz="1300" b="0">
                          <a:solidFill>
                            <a:srgbClr val="142B33"/>
                          </a:solidFill>
                          <a:latin typeface="Calibri"/>
                        </a:rPr>
                        <a:t>0.812</a:t>
                      </a:r>
                    </a:p>
                  </a:txBody>
                  <a:tcPr marL="73152" marR="73152" marT="27432" marB="27432" anchor="ctr">
                    <a:solidFill>
                      <a:srgbClr val="FDE8D7"/>
                    </a:solidFill>
                  </a:tcPr>
                </a:tc>
                <a:tc>
                  <a:txBody>
                    <a:bodyPr/>
                    <a:lstStyle/>
                    <a:p>
                      <a:pPr algn="ctr"/>
                      <a:r>
                        <a:rPr sz="1300" b="0">
                          <a:solidFill>
                            <a:srgbClr val="142B33"/>
                          </a:solidFill>
                          <a:latin typeface="Calibri"/>
                        </a:rPr>
                        <a:t>4</a:t>
                      </a:r>
                    </a:p>
                  </a:txBody>
                  <a:tcPr marL="73152" marR="73152" marT="27432" marB="27432" anchor="ctr">
                    <a:solidFill>
                      <a:srgbClr val="FDE8D7"/>
                    </a:solidFill>
                  </a:tcPr>
                </a:tc>
                <a:tc>
                  <a:txBody>
                    <a:bodyPr/>
                    <a:lstStyle/>
                    <a:p>
                      <a:pPr algn="ctr"/>
                      <a:r>
                        <a:rPr sz="1300" b="0">
                          <a:solidFill>
                            <a:srgbClr val="142B33"/>
                          </a:solidFill>
                          <a:latin typeface="Calibri"/>
                        </a:rPr>
                        <a:t>0.0767</a:t>
                      </a:r>
                    </a:p>
                  </a:txBody>
                  <a:tcPr marL="73152" marR="73152" marT="27432" marB="27432" anchor="ctr">
                    <a:solidFill>
                      <a:srgbClr val="FDE8D7"/>
                    </a:solidFill>
                  </a:tcPr>
                </a:tc>
              </a:tr>
              <a:tr h="320294">
                <a:tc>
                  <a:txBody>
                    <a:bodyPr/>
                    <a:lstStyle/>
                    <a:p>
                      <a:pPr algn="l"/>
                      <a:r>
                        <a:rPr sz="1300" b="0">
                          <a:solidFill>
                            <a:srgbClr val="142B33"/>
                          </a:solidFill>
                          <a:latin typeface="Calibri"/>
                        </a:rPr>
                        <a:t>ABC (error)</a:t>
                      </a:r>
                    </a:p>
                  </a:txBody>
                  <a:tcPr marL="73152" marR="73152" marT="27432" marB="27432" anchor="ctr">
                    <a:solidFill>
                      <a:srgbClr val="FFFFFF"/>
                    </a:solidFill>
                  </a:tcPr>
                </a:tc>
                <a:tc>
                  <a:txBody>
                    <a:bodyPr/>
                    <a:lstStyle/>
                    <a:p>
                      <a:pPr algn="ctr"/>
                      <a:r>
                        <a:rPr sz="1300" b="0">
                          <a:solidFill>
                            <a:srgbClr val="142B33"/>
                          </a:solidFill>
                          <a:latin typeface="Calibri"/>
                        </a:rPr>
                        <a:t>0.510</a:t>
                      </a:r>
                    </a:p>
                  </a:txBody>
                  <a:tcPr marL="73152" marR="73152" marT="27432" marB="27432" anchor="ctr">
                    <a:solidFill>
                      <a:srgbClr val="FFFFFF"/>
                    </a:solidFill>
                  </a:tcPr>
                </a:tc>
                <a:tc>
                  <a:txBody>
                    <a:bodyPr/>
                    <a:lstStyle/>
                    <a:p>
                      <a:pPr algn="ctr"/>
                      <a:r>
                        <a:rPr sz="1300" b="0">
                          <a:solidFill>
                            <a:srgbClr val="142B33"/>
                          </a:solidFill>
                          <a:latin typeface="Calibri"/>
                        </a:rPr>
                        <a:t>8</a:t>
                      </a: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r>
            </a:tbl>
          </a:graphicData>
        </a:graphic>
      </p:graphicFrame>
      <p:graphicFrame>
        <p:nvGraphicFramePr>
          <p:cNvPr id="5" name="Table 4"/>
          <p:cNvGraphicFramePr>
            <a:graphicFrameLocks noGrp="1"/>
          </p:cNvGraphicFramePr>
          <p:nvPr/>
        </p:nvGraphicFramePr>
        <p:xfrm>
          <a:off x="6835734" y="1417320"/>
          <a:ext cx="4807318" cy="1224279"/>
        </p:xfrm>
        <a:graphic>
          <a:graphicData uri="http://schemas.openxmlformats.org/drawingml/2006/table">
            <a:tbl>
              <a:tblPr firstRow="0" bandRow="0">
                <a:tableStyleId>{5C22544A-7EE6-4342-B048-85BDC9FD1C3A}</a:tableStyleId>
              </a:tblPr>
              <a:tblGrid>
                <a:gridCol w="1794538"/>
                <a:gridCol w="941038"/>
                <a:gridCol w="1035871"/>
                <a:gridCol w="1035871"/>
              </a:tblGrid>
              <a:tr h="552703">
                <a:tc>
                  <a:txBody>
                    <a:bodyPr/>
                    <a:lstStyle/>
                    <a:p>
                      <a:pPr algn="l"/>
                      <a:r>
                        <a:rPr sz="1400" b="1">
                          <a:solidFill>
                            <a:srgbClr val="FFFFFF"/>
                          </a:solidFill>
                          <a:latin typeface="Calibri"/>
                        </a:rPr>
                        <a:t>Media por botella</a:t>
                      </a:r>
                    </a:p>
                  </a:txBody>
                  <a:tcPr marL="73152" marR="73152" marT="27432" marB="27432" anchor="ctr">
                    <a:solidFill>
                      <a:srgbClr val="0F4C5C"/>
                    </a:solidFill>
                  </a:tcPr>
                </a:tc>
                <a:tc>
                  <a:txBody>
                    <a:bodyPr/>
                    <a:lstStyle/>
                    <a:p>
                      <a:pPr algn="ctr"/>
                      <a:r>
                        <a:rPr sz="1400" b="1">
                          <a:solidFill>
                            <a:srgbClr val="FFFFFF"/>
                          </a:solidFill>
                          <a:latin typeface="Calibri"/>
                        </a:rPr>
                        <a:t>plástico</a:t>
                      </a:r>
                    </a:p>
                  </a:txBody>
                  <a:tcPr marL="73152" marR="73152" marT="27432" marB="27432" anchor="ctr">
                    <a:solidFill>
                      <a:srgbClr val="0F4C5C"/>
                    </a:solidFill>
                  </a:tcPr>
                </a:tc>
                <a:tc>
                  <a:txBody>
                    <a:bodyPr/>
                    <a:lstStyle/>
                    <a:p>
                      <a:pPr algn="ctr"/>
                      <a:r>
                        <a:rPr sz="1400" b="1">
                          <a:solidFill>
                            <a:srgbClr val="FFFFFF"/>
                          </a:solidFill>
                          <a:latin typeface="Calibri"/>
                        </a:rPr>
                        <a:t>vidrio 28</a:t>
                      </a:r>
                    </a:p>
                  </a:txBody>
                  <a:tcPr marL="73152" marR="73152" marT="27432" marB="27432" anchor="ctr">
                    <a:solidFill>
                      <a:srgbClr val="0F4C5C"/>
                    </a:solidFill>
                  </a:tcPr>
                </a:tc>
                <a:tc>
                  <a:txBody>
                    <a:bodyPr/>
                    <a:lstStyle/>
                    <a:p>
                      <a:pPr algn="ctr"/>
                      <a:r>
                        <a:rPr sz="1400" b="1">
                          <a:solidFill>
                            <a:srgbClr val="FFFFFF"/>
                          </a:solidFill>
                          <a:latin typeface="Calibri"/>
                        </a:rPr>
                        <a:t>vidrio 38</a:t>
                      </a:r>
                    </a:p>
                  </a:txBody>
                  <a:tcPr marL="73152" marR="73152" marT="27432" marB="27432" anchor="ctr">
                    <a:solidFill>
                      <a:srgbClr val="0F4C5C"/>
                    </a:solidFill>
                  </a:tcPr>
                </a:tc>
              </a:tr>
              <a:tr h="335788">
                <a:tc>
                  <a:txBody>
                    <a:bodyPr/>
                    <a:lstStyle/>
                    <a:p>
                      <a:pPr algn="l"/>
                      <a:r>
                        <a:rPr sz="1400" b="0">
                          <a:solidFill>
                            <a:srgbClr val="142B33"/>
                          </a:solidFill>
                          <a:latin typeface="Calibri"/>
                        </a:rPr>
                        <a:t>Fracción (n = 3)</a:t>
                      </a:r>
                    </a:p>
                  </a:txBody>
                  <a:tcPr marL="73152" marR="73152" marT="27432" marB="27432" anchor="ctr">
                    <a:solidFill>
                      <a:srgbClr val="FFFFFF"/>
                    </a:solidFill>
                  </a:tcPr>
                </a:tc>
                <a:tc>
                  <a:txBody>
                    <a:bodyPr/>
                    <a:lstStyle/>
                    <a:p>
                      <a:pPr algn="ctr"/>
                      <a:r>
                        <a:rPr sz="1400" b="0">
                          <a:solidFill>
                            <a:srgbClr val="142B33"/>
                          </a:solidFill>
                          <a:latin typeface="Calibri"/>
                        </a:rPr>
                        <a:t>4.53</a:t>
                      </a:r>
                    </a:p>
                  </a:txBody>
                  <a:tcPr marL="73152" marR="73152" marT="27432" marB="27432" anchor="ctr">
                    <a:solidFill>
                      <a:srgbClr val="FFFFFF"/>
                    </a:solidFill>
                  </a:tcPr>
                </a:tc>
                <a:tc>
                  <a:txBody>
                    <a:bodyPr/>
                    <a:lstStyle/>
                    <a:p>
                      <a:pPr algn="ctr"/>
                      <a:r>
                        <a:rPr sz="1400" b="0">
                          <a:solidFill>
                            <a:srgbClr val="142B33"/>
                          </a:solidFill>
                          <a:latin typeface="Calibri"/>
                        </a:rPr>
                        <a:t>4.98</a:t>
                      </a:r>
                    </a:p>
                  </a:txBody>
                  <a:tcPr marL="73152" marR="73152" marT="27432" marB="27432" anchor="ctr">
                    <a:solidFill>
                      <a:srgbClr val="FFFFFF"/>
                    </a:solidFill>
                  </a:tcPr>
                </a:tc>
                <a:tc>
                  <a:txBody>
                    <a:bodyPr/>
                    <a:lstStyle/>
                    <a:p>
                      <a:pPr algn="ctr"/>
                      <a:r>
                        <a:rPr sz="1400" b="0">
                          <a:solidFill>
                            <a:srgbClr val="142B33"/>
                          </a:solidFill>
                          <a:latin typeface="Calibri"/>
                        </a:rPr>
                        <a:t>4.69</a:t>
                      </a:r>
                    </a:p>
                  </a:txBody>
                  <a:tcPr marL="73152" marR="73152" marT="27432" marB="27432" anchor="ctr">
                    <a:solidFill>
                      <a:srgbClr val="FFFFFF"/>
                    </a:solidFill>
                  </a:tcPr>
                </a:tc>
              </a:tr>
              <a:tr h="335788">
                <a:tc>
                  <a:txBody>
                    <a:bodyPr/>
                    <a:lstStyle/>
                    <a:p>
                      <a:pPr algn="l"/>
                      <a:r>
                        <a:rPr sz="1400" b="0">
                          <a:solidFill>
                            <a:srgbClr val="142B33"/>
                          </a:solidFill>
                          <a:latin typeface="Calibri"/>
                        </a:rPr>
                        <a:t>Completa (n = 9)</a:t>
                      </a:r>
                    </a:p>
                  </a:txBody>
                  <a:tcPr marL="73152" marR="73152" marT="27432" marB="27432" anchor="ctr">
                    <a:solidFill>
                      <a:srgbClr val="F4F8F9"/>
                    </a:solidFill>
                  </a:tcPr>
                </a:tc>
                <a:tc>
                  <a:txBody>
                    <a:bodyPr/>
                    <a:lstStyle/>
                    <a:p>
                      <a:pPr algn="ctr"/>
                      <a:r>
                        <a:rPr sz="1400" b="0">
                          <a:solidFill>
                            <a:srgbClr val="142B33"/>
                          </a:solidFill>
                          <a:latin typeface="Calibri"/>
                        </a:rPr>
                        <a:t>4.75</a:t>
                      </a:r>
                    </a:p>
                  </a:txBody>
                  <a:tcPr marL="73152" marR="73152" marT="27432" marB="27432" anchor="ctr">
                    <a:solidFill>
                      <a:srgbClr val="F4F8F9"/>
                    </a:solidFill>
                  </a:tcPr>
                </a:tc>
                <a:tc>
                  <a:txBody>
                    <a:bodyPr/>
                    <a:lstStyle/>
                    <a:p>
                      <a:pPr algn="ctr"/>
                      <a:r>
                        <a:rPr sz="1400" b="0">
                          <a:solidFill>
                            <a:srgbClr val="142B33"/>
                          </a:solidFill>
                          <a:latin typeface="Calibri"/>
                        </a:rPr>
                        <a:t>4.85</a:t>
                      </a:r>
                    </a:p>
                  </a:txBody>
                  <a:tcPr marL="73152" marR="73152" marT="27432" marB="27432" anchor="ctr">
                    <a:solidFill>
                      <a:srgbClr val="F4F8F9"/>
                    </a:solidFill>
                  </a:tcPr>
                </a:tc>
                <a:tc>
                  <a:txBody>
                    <a:bodyPr/>
                    <a:lstStyle/>
                    <a:p>
                      <a:pPr algn="ctr"/>
                      <a:r>
                        <a:rPr sz="1400" b="0">
                          <a:solidFill>
                            <a:srgbClr val="142B33"/>
                          </a:solidFill>
                          <a:latin typeface="Calibri"/>
                        </a:rPr>
                        <a:t>4.91</a:t>
                      </a:r>
                    </a:p>
                  </a:txBody>
                  <a:tcPr marL="73152" marR="73152" marT="27432" marB="27432" anchor="ctr">
                    <a:solidFill>
                      <a:srgbClr val="F4F8F9"/>
                    </a:solidFill>
                  </a:tcPr>
                </a:tc>
              </a:tr>
            </a:tbl>
          </a:graphicData>
        </a:graphic>
      </p:graphicFrame>
      <p:sp>
        <p:nvSpPr>
          <p:cNvPr id="6" name="Rounded Rectangle 5"/>
          <p:cNvSpPr/>
          <p:nvPr/>
        </p:nvSpPr>
        <p:spPr>
          <a:xfrm>
            <a:off x="6835734" y="2842768"/>
            <a:ext cx="4807320"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BC no es despreciable y está </a:t>
            </a:r>
            <a:r>
              <a:rPr sz="1500" b="1">
                <a:solidFill>
                  <a:srgbClr val="142B33"/>
                </a:solidFill>
                <a:latin typeface="Calibri"/>
              </a:rPr>
              <a:t>aliada con A</a:t>
            </a:r>
            <a:r>
              <a:rPr sz="1500" b="0">
                <a:solidFill>
                  <a:srgbClr val="142B33"/>
                </a:solidFill>
                <a:latin typeface="Calibri"/>
              </a:rPr>
              <a:t>: la fracción </a:t>
            </a:r>
            <a:r>
              <a:rPr sz="1500" b="1">
                <a:solidFill>
                  <a:srgbClr val="142B33"/>
                </a:solidFill>
                <a:latin typeface="Calibri"/>
              </a:rPr>
              <a:t>exagera</a:t>
            </a:r>
            <a:r>
              <a:rPr sz="1500" b="0">
                <a:solidFill>
                  <a:srgbClr val="142B33"/>
                </a:solidFill>
                <a:latin typeface="Calibri"/>
              </a:rPr>
              <a:t> el efecto de la botella</a:t>
            </a:r>
          </a:p>
        </p:txBody>
      </p:sp>
      <p:sp>
        <p:nvSpPr>
          <p:cNvPr id="7" name="Rounded Rectangle 6"/>
          <p:cNvSpPr/>
          <p:nvPr/>
        </p:nvSpPr>
        <p:spPr>
          <a:xfrm>
            <a:off x="6835734" y="3783076"/>
            <a:ext cx="4807320"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Sin error ni réplica completa, con las 9 corridas solas no se puede detectar</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La fracción un tercio 3</a:t>
            </a:r>
            <a:r>
              <a:rPr sz="1000" b="0" baseline="30000">
                <a:solidFill>
                  <a:srgbClr val="5B6B73"/>
                </a:solidFill>
                <a:latin typeface="Calibri"/>
              </a:rPr>
              <a:t>k−1</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53</a:t>
            </a:r>
          </a:p>
        </p:txBody>
      </p:sp>
      <p:sp>
        <p:nvSpPr>
          <p:cNvPr id="10" name="Rounded Rectangle 9"/>
          <p:cNvSpPr/>
          <p:nvPr/>
        </p:nvSpPr>
        <p:spPr>
          <a:xfrm>
            <a:off x="548640" y="91440"/>
            <a:ext cx="313182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6 · La fracción un tercio 3</a:t>
            </a:r>
            <a:r>
              <a:rPr sz="1100" b="1" baseline="30000">
                <a:solidFill>
                  <a:srgbClr val="FFFFFF"/>
                </a:solidFill>
                <a:latin typeface="Calibri"/>
              </a:rPr>
              <a:t>k−1</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itle 1"/>
          <p:cNvSpPr>
            <a:spLocks noGrp="1"/>
          </p:cNvSpPr>
          <p:nvPr>
            <p:ph type="title"/>
          </p:nvPr>
        </p:nvSpPr>
        <p:spPr>
          <a:xfrm>
            <a:off x="548640" y="3383280"/>
            <a:ext cx="11094415" cy="914400"/>
          </a:xfrm>
        </p:spPr>
        <p:txBody>
          <a:bodyPr wrap="square" anchor="t" lIns="0" rIns="0" tIns="0" bIns="0"/>
          <a:lstStyle/>
          <a:p>
            <a:pPr algn="l"/>
            <a:r>
              <a:rPr sz="4400" b="1">
                <a:solidFill>
                  <a:srgbClr val="FFFFFF"/>
                </a:solidFill>
                <a:latin typeface="Cambria"/>
              </a:rPr>
              <a:t>La fracción general 3</a:t>
            </a:r>
            <a:r>
              <a:rPr sz="4400" b="1" baseline="30000">
                <a:solidFill>
                  <a:srgbClr val="FFFFFF"/>
                </a:solidFill>
                <a:latin typeface="Cambria"/>
              </a:rPr>
              <a:t>k−p</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7</a:t>
            </a:r>
          </a:p>
        </p:txBody>
      </p:sp>
      <p:sp>
        <p:nvSpPr>
          <p:cNvPr id="4" name="TextBox 3"/>
          <p:cNvSpPr txBox="1"/>
          <p:nvPr/>
        </p:nvSpPr>
        <p:spPr>
          <a:xfrm>
            <a:off x="548640" y="4343400"/>
            <a:ext cx="11094415" cy="548640"/>
          </a:xfrm>
          <a:prstGeom prst="rect">
            <a:avLst/>
          </a:prstGeom>
          <a:noFill/>
        </p:spPr>
        <p:txBody>
          <a:bodyPr wrap="square" anchor="t" lIns="0" rIns="0" tIns="0" bIns="0">
            <a:spAutoFit/>
          </a:bodyPr>
          <a:lstStyle/>
          <a:p>
            <a:r>
              <a:rPr sz="2000" b="0">
                <a:solidFill>
                  <a:srgbClr val="CFE3E8"/>
                </a:solidFill>
                <a:latin typeface="Calibri"/>
              </a:rPr>
              <a:t>Construcción, alias y el juicio del libro</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Fracciones (1/3)</a:t>
            </a:r>
            <a:r>
              <a:rPr sz="3000" b="1" baseline="30000">
                <a:solidFill>
                  <a:srgbClr val="0F4C5C"/>
                </a:solidFill>
                <a:latin typeface="Cambria"/>
              </a:rPr>
              <a:t>p</a:t>
            </a:r>
            <a:r>
              <a:rPr sz="3000" b="1">
                <a:solidFill>
                  <a:srgbClr val="0F4C5C"/>
                </a:solidFill>
                <a:latin typeface="Cambria"/>
              </a:rPr>
              <a:t>: un noveno, un veintisieteavo…</a:t>
            </a:r>
          </a:p>
        </p:txBody>
      </p:sp>
      <p:sp>
        <p:nvSpPr>
          <p:cNvPr id="3" name="TextBox 2"/>
          <p:cNvSpPr txBox="1"/>
          <p:nvPr/>
        </p:nvSpPr>
        <p:spPr>
          <a:xfrm>
            <a:off x="548640" y="1417320"/>
            <a:ext cx="5341467" cy="1568703"/>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600" b="0">
                <a:solidFill>
                  <a:srgbClr val="142B33"/>
                </a:solidFill>
                <a:latin typeface="Calibri"/>
              </a:rPr>
              <a:t>Elegir </a:t>
            </a:r>
            <a:r>
              <a:rPr sz="1600" b="1">
                <a:solidFill>
                  <a:srgbClr val="142B33"/>
                </a:solidFill>
                <a:latin typeface="Calibri"/>
              </a:rPr>
              <a:t>p</a:t>
            </a:r>
            <a:r>
              <a:rPr sz="1600" b="0">
                <a:solidFill>
                  <a:srgbClr val="142B33"/>
                </a:solidFill>
                <a:latin typeface="Calibri"/>
              </a:rPr>
              <a:t> componentes de interacción</a:t>
            </a:r>
          </a:p>
          <a:p>
            <a:pPr marL="320040" indent="-320040">
              <a:spcAft>
                <a:spcPts val="600"/>
              </a:spcAft>
              <a:buClr>
                <a:srgbClr val="E36414"/>
              </a:buClr>
              <a:buFont typeface="+mj-lt"/>
              <a:buAutoNum type="arabicPeriod"/>
            </a:pPr>
            <a:r>
              <a:rPr sz="1600" b="0">
                <a:solidFill>
                  <a:srgbClr val="142B33"/>
                </a:solidFill>
                <a:latin typeface="Calibri"/>
              </a:rPr>
              <a:t>Partir el 3</a:t>
            </a:r>
            <a:r>
              <a:rPr sz="1600" b="0" baseline="30000">
                <a:solidFill>
                  <a:srgbClr val="142B33"/>
                </a:solidFill>
                <a:latin typeface="Calibri"/>
              </a:rPr>
              <a:t>k</a:t>
            </a:r>
            <a:r>
              <a:rPr sz="1600" b="0">
                <a:solidFill>
                  <a:srgbClr val="142B33"/>
                </a:solidFill>
                <a:latin typeface="Calibri"/>
              </a:rPr>
              <a:t> en </a:t>
            </a:r>
            <a:r>
              <a:rPr sz="1600" b="1">
                <a:solidFill>
                  <a:srgbClr val="142B33"/>
                </a:solidFill>
                <a:latin typeface="Calibri"/>
              </a:rPr>
              <a:t>3</a:t>
            </a:r>
            <a:r>
              <a:rPr sz="1600" b="1" baseline="30000">
                <a:solidFill>
                  <a:srgbClr val="142B33"/>
                </a:solidFill>
                <a:latin typeface="Calibri"/>
              </a:rPr>
              <a:t>p</a:t>
            </a:r>
            <a:r>
              <a:rPr sz="1600" b="1">
                <a:solidFill>
                  <a:srgbClr val="142B33"/>
                </a:solidFill>
                <a:latin typeface="Calibri"/>
              </a:rPr>
              <a:t> bloques</a:t>
            </a:r>
            <a:r>
              <a:rPr sz="1600" b="0">
                <a:solidFill>
                  <a:srgbClr val="142B33"/>
                </a:solidFill>
                <a:latin typeface="Calibri"/>
              </a:rPr>
              <a:t>; un bloque es la fracción</a:t>
            </a:r>
          </a:p>
          <a:p>
            <a:pPr marL="320040" indent="-320040">
              <a:spcAft>
                <a:spcPts val="600"/>
              </a:spcAft>
              <a:buClr>
                <a:srgbClr val="E36414"/>
              </a:buClr>
              <a:buFont typeface="+mj-lt"/>
              <a:buAutoNum type="arabicPeriod"/>
            </a:pPr>
            <a:r>
              <a:rPr sz="1600" b="0">
                <a:solidFill>
                  <a:srgbClr val="142B33"/>
                </a:solidFill>
                <a:latin typeface="Calibri"/>
              </a:rPr>
              <a:t>I = los p elegidos + sus </a:t>
            </a:r>
            <a:r>
              <a:rPr sz="1600" b="1">
                <a:solidFill>
                  <a:srgbClr val="142B33"/>
                </a:solidFill>
                <a:latin typeface="Calibri"/>
              </a:rPr>
              <a:t>(3</a:t>
            </a:r>
            <a:r>
              <a:rPr sz="1600" b="1" baseline="30000">
                <a:solidFill>
                  <a:srgbClr val="142B33"/>
                </a:solidFill>
                <a:latin typeface="Calibri"/>
              </a:rPr>
              <a:t>p</a:t>
            </a:r>
            <a:r>
              <a:rPr sz="1600" b="1">
                <a:solidFill>
                  <a:srgbClr val="142B33"/>
                </a:solidFill>
                <a:latin typeface="Calibri"/>
              </a:rPr>
              <a:t> − 2p − 1)/2</a:t>
            </a:r>
            <a:r>
              <a:rPr sz="1600" b="0">
                <a:solidFill>
                  <a:srgbClr val="142B33"/>
                </a:solidFill>
                <a:latin typeface="Calibri"/>
              </a:rPr>
              <a:t> interacciones generalizadas</a:t>
            </a:r>
          </a:p>
          <a:p>
            <a:pPr marL="320040" indent="-320040">
              <a:spcAft>
                <a:spcPts val="600"/>
              </a:spcAft>
              <a:buClr>
                <a:srgbClr val="E36414"/>
              </a:buClr>
              <a:buFont typeface="+mj-lt"/>
              <a:buAutoNum type="arabicPeriod"/>
            </a:pPr>
            <a:r>
              <a:rPr sz="1600" b="0">
                <a:solidFill>
                  <a:srgbClr val="142B33"/>
                </a:solidFill>
                <a:latin typeface="Calibri"/>
              </a:rPr>
              <a:t>Alias: efecto × cada palabra de I y × su cuadrado</a:t>
            </a:r>
          </a:p>
        </p:txBody>
      </p:sp>
      <p:graphicFrame>
        <p:nvGraphicFramePr>
          <p:cNvPr id="4" name="Table 3"/>
          <p:cNvGraphicFramePr>
            <a:graphicFrameLocks noGrp="1"/>
          </p:cNvGraphicFramePr>
          <p:nvPr/>
        </p:nvGraphicFramePr>
        <p:xfrm>
          <a:off x="6301587" y="1417320"/>
          <a:ext cx="5341466" cy="1637538"/>
        </p:xfrm>
        <a:graphic>
          <a:graphicData uri="http://schemas.openxmlformats.org/drawingml/2006/table">
            <a:tbl>
              <a:tblPr firstRow="0" bandRow="0">
                <a:tableStyleId>{5C22544A-7EE6-4342-B048-85BDC9FD1C3A}</a:tableStyleId>
              </a:tblPr>
              <a:tblGrid>
                <a:gridCol w="1005911"/>
                <a:gridCol w="1005911"/>
                <a:gridCol w="1512766"/>
                <a:gridCol w="1816878"/>
              </a:tblGrid>
              <a:tr h="583692">
                <a:tc>
                  <a:txBody>
                    <a:bodyPr/>
                    <a:lstStyle/>
                    <a:p>
                      <a:pPr algn="ctr"/>
                      <a:r>
                        <a:rPr sz="1500" b="1">
                          <a:solidFill>
                            <a:srgbClr val="FFFFFF"/>
                          </a:solidFill>
                          <a:latin typeface="Calibri"/>
                        </a:rPr>
                        <a:t>Fracción</a:t>
                      </a:r>
                    </a:p>
                  </a:txBody>
                  <a:tcPr marL="73152" marR="73152" marT="27432" marB="27432" anchor="ctr">
                    <a:solidFill>
                      <a:srgbClr val="0F4C5C"/>
                    </a:solidFill>
                  </a:tcPr>
                </a:tc>
                <a:tc>
                  <a:txBody>
                    <a:bodyPr/>
                    <a:lstStyle/>
                    <a:p>
                      <a:pPr algn="ctr"/>
                      <a:r>
                        <a:rPr sz="1500" b="1">
                          <a:solidFill>
                            <a:srgbClr val="FFFFFF"/>
                          </a:solidFill>
                          <a:latin typeface="Calibri"/>
                        </a:rPr>
                        <a:t>Corridas</a:t>
                      </a:r>
                    </a:p>
                  </a:txBody>
                  <a:tcPr marL="73152" marR="73152" marT="27432" marB="27432" anchor="ctr">
                    <a:solidFill>
                      <a:srgbClr val="0F4C5C"/>
                    </a:solidFill>
                  </a:tcPr>
                </a:tc>
                <a:tc>
                  <a:txBody>
                    <a:bodyPr/>
                    <a:lstStyle/>
                    <a:p>
                      <a:pPr algn="ctr"/>
                      <a:r>
                        <a:rPr sz="1500" b="1">
                          <a:solidFill>
                            <a:srgbClr val="FFFFFF"/>
                          </a:solidFill>
                          <a:latin typeface="Calibri"/>
                        </a:rPr>
                        <a:t>Palabras de I</a:t>
                      </a:r>
                    </a:p>
                  </a:txBody>
                  <a:tcPr marL="73152" marR="73152" marT="27432" marB="27432" anchor="ctr">
                    <a:solidFill>
                      <a:srgbClr val="0F4C5C"/>
                    </a:solidFill>
                  </a:tcPr>
                </a:tc>
                <a:tc>
                  <a:txBody>
                    <a:bodyPr/>
                    <a:lstStyle/>
                    <a:p>
                      <a:pPr algn="ctr"/>
                      <a:r>
                        <a:rPr sz="1500" b="1">
                          <a:solidFill>
                            <a:srgbClr val="FFFFFF"/>
                          </a:solidFill>
                          <a:latin typeface="Calibri"/>
                        </a:rPr>
                        <a:t>Alias por efecto</a:t>
                      </a:r>
                    </a:p>
                  </a:txBody>
                  <a:tcPr marL="73152" marR="73152" marT="27432" marB="27432" anchor="ctr">
                    <a:solidFill>
                      <a:srgbClr val="0F4C5C"/>
                    </a:solidFill>
                  </a:tcPr>
                </a:tc>
              </a:tr>
              <a:tr h="351282">
                <a:tc>
                  <a:txBody>
                    <a:bodyPr/>
                    <a:lstStyle/>
                    <a:p>
                      <a:pPr algn="ctr"/>
                      <a:r>
                        <a:rPr sz="1500" b="0">
                          <a:solidFill>
                            <a:srgbClr val="142B33"/>
                          </a:solidFill>
                          <a:latin typeface="Calibri"/>
                        </a:rPr>
                        <a:t>3</a:t>
                      </a:r>
                      <a:r>
                        <a:rPr sz="1500" b="0" baseline="30000">
                          <a:solidFill>
                            <a:srgbClr val="142B33"/>
                          </a:solidFill>
                          <a:latin typeface="Calibri"/>
                        </a:rPr>
                        <a:t>k−1</a:t>
                      </a:r>
                    </a:p>
                  </a:txBody>
                  <a:tcPr marL="73152" marR="73152" marT="27432" marB="27432" anchor="ctr">
                    <a:solidFill>
                      <a:srgbClr val="FFFFFF"/>
                    </a:solidFill>
                  </a:tcPr>
                </a:tc>
                <a:tc>
                  <a:txBody>
                    <a:bodyPr/>
                    <a:lstStyle/>
                    <a:p>
                      <a:pPr algn="ctr"/>
                      <a:r>
                        <a:rPr sz="1500" b="0">
                          <a:solidFill>
                            <a:srgbClr val="142B33"/>
                          </a:solidFill>
                          <a:latin typeface="Calibri"/>
                        </a:rPr>
                        <a:t>3</a:t>
                      </a:r>
                      <a:r>
                        <a:rPr sz="1500" b="0" baseline="30000">
                          <a:solidFill>
                            <a:srgbClr val="142B33"/>
                          </a:solidFill>
                          <a:latin typeface="Calibri"/>
                        </a:rPr>
                        <a:t>k−1</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2</a:t>
                      </a:r>
                    </a:p>
                  </a:txBody>
                  <a:tcPr marL="73152" marR="73152" marT="27432" marB="27432" anchor="ctr">
                    <a:solidFill>
                      <a:srgbClr val="FFFFFF"/>
                    </a:solidFill>
                  </a:tcPr>
                </a:tc>
              </a:tr>
              <a:tr h="351282">
                <a:tc>
                  <a:txBody>
                    <a:bodyPr/>
                    <a:lstStyle/>
                    <a:p>
                      <a:pPr algn="ctr"/>
                      <a:r>
                        <a:rPr sz="1500" b="0">
                          <a:solidFill>
                            <a:srgbClr val="142B33"/>
                          </a:solidFill>
                          <a:latin typeface="Calibri"/>
                        </a:rPr>
                        <a:t>3</a:t>
                      </a:r>
                      <a:r>
                        <a:rPr sz="1500" b="0" baseline="30000">
                          <a:solidFill>
                            <a:srgbClr val="142B33"/>
                          </a:solidFill>
                          <a:latin typeface="Calibri"/>
                        </a:rPr>
                        <a:t>k−2</a:t>
                      </a:r>
                    </a:p>
                  </a:txBody>
                  <a:tcPr marL="73152" marR="73152" marT="27432" marB="27432" anchor="ctr">
                    <a:solidFill>
                      <a:srgbClr val="F4F8F9"/>
                    </a:solidFill>
                  </a:tcPr>
                </a:tc>
                <a:tc>
                  <a:txBody>
                    <a:bodyPr/>
                    <a:lstStyle/>
                    <a:p>
                      <a:pPr algn="ctr"/>
                      <a:r>
                        <a:rPr sz="1500" b="0">
                          <a:solidFill>
                            <a:srgbClr val="142B33"/>
                          </a:solidFill>
                          <a:latin typeface="Calibri"/>
                        </a:rPr>
                        <a:t>3</a:t>
                      </a:r>
                      <a:r>
                        <a:rPr sz="1500" b="0" baseline="30000">
                          <a:solidFill>
                            <a:srgbClr val="142B33"/>
                          </a:solidFill>
                          <a:latin typeface="Calibri"/>
                        </a:rPr>
                        <a:t>k−2</a:t>
                      </a:r>
                    </a:p>
                  </a:txBody>
                  <a:tcPr marL="73152" marR="73152" marT="27432" marB="27432" anchor="ctr">
                    <a:solidFill>
                      <a:srgbClr val="F4F8F9"/>
                    </a:solidFill>
                  </a:tcPr>
                </a:tc>
                <a:tc>
                  <a:txBody>
                    <a:bodyPr/>
                    <a:lstStyle/>
                    <a:p>
                      <a:pPr algn="ctr"/>
                      <a:r>
                        <a:rPr sz="1500" b="0">
                          <a:solidFill>
                            <a:srgbClr val="142B33"/>
                          </a:solidFill>
                          <a:latin typeface="Calibri"/>
                        </a:rPr>
                        <a:t>4</a:t>
                      </a:r>
                    </a:p>
                  </a:txBody>
                  <a:tcPr marL="73152" marR="73152" marT="27432" marB="27432" anchor="ctr">
                    <a:solidFill>
                      <a:srgbClr val="F4F8F9"/>
                    </a:solidFill>
                  </a:tcPr>
                </a:tc>
                <a:tc>
                  <a:txBody>
                    <a:bodyPr/>
                    <a:lstStyle/>
                    <a:p>
                      <a:pPr algn="ctr"/>
                      <a:r>
                        <a:rPr sz="1500" b="0">
                          <a:solidFill>
                            <a:srgbClr val="142B33"/>
                          </a:solidFill>
                          <a:latin typeface="Calibri"/>
                        </a:rPr>
                        <a:t>8</a:t>
                      </a:r>
                    </a:p>
                  </a:txBody>
                  <a:tcPr marL="73152" marR="73152" marT="27432" marB="27432" anchor="ctr">
                    <a:solidFill>
                      <a:srgbClr val="F4F8F9"/>
                    </a:solidFill>
                  </a:tcPr>
                </a:tc>
              </a:tr>
              <a:tr h="351282">
                <a:tc>
                  <a:txBody>
                    <a:bodyPr/>
                    <a:lstStyle/>
                    <a:p>
                      <a:pPr algn="ctr"/>
                      <a:r>
                        <a:rPr sz="1500" b="0">
                          <a:solidFill>
                            <a:srgbClr val="142B33"/>
                          </a:solidFill>
                          <a:latin typeface="Calibri"/>
                        </a:rPr>
                        <a:t>3</a:t>
                      </a:r>
                      <a:r>
                        <a:rPr sz="1500" b="0" baseline="30000">
                          <a:solidFill>
                            <a:srgbClr val="142B33"/>
                          </a:solidFill>
                          <a:latin typeface="Calibri"/>
                        </a:rPr>
                        <a:t>k−3</a:t>
                      </a:r>
                    </a:p>
                  </a:txBody>
                  <a:tcPr marL="73152" marR="73152" marT="27432" marB="27432" anchor="ctr">
                    <a:solidFill>
                      <a:srgbClr val="FFFFFF"/>
                    </a:solidFill>
                  </a:tcPr>
                </a:tc>
                <a:tc>
                  <a:txBody>
                    <a:bodyPr/>
                    <a:lstStyle/>
                    <a:p>
                      <a:pPr algn="ctr"/>
                      <a:r>
                        <a:rPr sz="1500" b="0">
                          <a:solidFill>
                            <a:srgbClr val="142B33"/>
                          </a:solidFill>
                          <a:latin typeface="Calibri"/>
                        </a:rPr>
                        <a:t>3</a:t>
                      </a:r>
                      <a:r>
                        <a:rPr sz="1500" b="0" baseline="30000">
                          <a:solidFill>
                            <a:srgbClr val="142B33"/>
                          </a:solidFill>
                          <a:latin typeface="Calibri"/>
                        </a:rPr>
                        <a:t>k−3</a:t>
                      </a:r>
                    </a:p>
                  </a:txBody>
                  <a:tcPr marL="73152" marR="73152" marT="27432" marB="27432" anchor="ctr">
                    <a:solidFill>
                      <a:srgbClr val="FFFFFF"/>
                    </a:solidFill>
                  </a:tcPr>
                </a:tc>
                <a:tc>
                  <a:txBody>
                    <a:bodyPr/>
                    <a:lstStyle/>
                    <a:p>
                      <a:pPr algn="ctr"/>
                      <a:r>
                        <a:rPr sz="1500" b="0">
                          <a:solidFill>
                            <a:srgbClr val="142B33"/>
                          </a:solidFill>
                          <a:latin typeface="Calibri"/>
                        </a:rPr>
                        <a:t>13</a:t>
                      </a:r>
                    </a:p>
                  </a:txBody>
                  <a:tcPr marL="73152" marR="73152" marT="27432" marB="27432" anchor="ctr">
                    <a:solidFill>
                      <a:srgbClr val="FFFFFF"/>
                    </a:solidFill>
                  </a:tcPr>
                </a:tc>
                <a:tc>
                  <a:txBody>
                    <a:bodyPr/>
                    <a:lstStyle/>
                    <a:p>
                      <a:pPr algn="ctr"/>
                      <a:r>
                        <a:rPr sz="1500" b="0">
                          <a:solidFill>
                            <a:srgbClr val="142B33"/>
                          </a:solidFill>
                          <a:latin typeface="Calibri"/>
                        </a:rPr>
                        <a:t>26</a:t>
                      </a:r>
                    </a:p>
                  </a:txBody>
                  <a:tcPr marL="73152" marR="73152" marT="27432" marB="27432" anchor="ctr">
                    <a:solidFill>
                      <a:srgbClr val="FFFFFF"/>
                    </a:solidFill>
                  </a:tcPr>
                </a:tc>
              </a:tr>
            </a:tbl>
          </a:graphicData>
        </a:graphic>
      </p:graphicFrame>
      <p:sp>
        <p:nvSpPr>
          <p:cNvPr id="5" name="Rounded Rectangle 4"/>
          <p:cNvSpPr/>
          <p:nvPr/>
        </p:nvSpPr>
        <p:spPr>
          <a:xfrm>
            <a:off x="6301587" y="3256025"/>
            <a:ext cx="5341467"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Alias por efecto = 2 × número de palabras: la estructura se complica muy rápido</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La fracción general 3</a:t>
            </a:r>
            <a:r>
              <a:rPr sz="1000" b="0" baseline="30000">
                <a:solidFill>
                  <a:srgbClr val="5B6B73"/>
                </a:solidFill>
                <a:latin typeface="Calibri"/>
              </a:rPr>
              <a:t>k−p</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55</a:t>
            </a:r>
          </a:p>
        </p:txBody>
      </p:sp>
      <p:sp>
        <p:nvSpPr>
          <p:cNvPr id="8" name="Rounded Rectangle 7"/>
          <p:cNvSpPr/>
          <p:nvPr/>
        </p:nvSpPr>
        <p:spPr>
          <a:xfrm>
            <a:off x="548640" y="91440"/>
            <a:ext cx="297637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La fracción general 3</a:t>
            </a:r>
            <a:r>
              <a:rPr sz="1100" b="1" baseline="30000">
                <a:solidFill>
                  <a:srgbClr val="FFFFFF"/>
                </a:solidFill>
                <a:latin typeface="Calibri"/>
              </a:rPr>
              <a:t>k−p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el 3</a:t>
            </a:r>
            <a:r>
              <a:rPr sz="3000" b="1" baseline="30000">
                <a:solidFill>
                  <a:srgbClr val="0F4C5C"/>
                </a:solidFill>
                <a:latin typeface="Cambria"/>
              </a:rPr>
              <a:t>4−2</a:t>
            </a:r>
            <a:r>
              <a:rPr sz="3000" b="1" baseline="-25000">
                <a:solidFill>
                  <a:srgbClr val="0F4C5C"/>
                </a:solidFill>
                <a:latin typeface="Cambria"/>
              </a:rPr>
              <a:t>III</a:t>
            </a:r>
            <a:r>
              <a:rPr sz="3000" b="1">
                <a:solidFill>
                  <a:srgbClr val="0F4C5C"/>
                </a:solidFill>
                <a:latin typeface="Cambria"/>
              </a:rPr>
              <a:t> con AB</a:t>
            </a:r>
            <a:r>
              <a:rPr sz="3000" b="1" baseline="30000">
                <a:solidFill>
                  <a:srgbClr val="0F4C5C"/>
                </a:solidFill>
                <a:latin typeface="Cambria"/>
              </a:rPr>
              <a:t>2</a:t>
            </a:r>
            <a:r>
              <a:rPr sz="3000" b="1">
                <a:solidFill>
                  <a:srgbClr val="0F4C5C"/>
                </a:solidFill>
                <a:latin typeface="Cambria"/>
              </a:rPr>
              <a:t>C y BCD (tablas 9-7 y 9-8)</a:t>
            </a:r>
          </a:p>
        </p:txBody>
      </p:sp>
      <p:sp>
        <p:nvSpPr>
          <p:cNvPr id="3" name="Rounded Rectangle 2"/>
          <p:cNvSpPr/>
          <p:nvPr/>
        </p:nvSpPr>
        <p:spPr>
          <a:xfrm>
            <a:off x="548640" y="1417320"/>
            <a:ext cx="4486832" cy="586679"/>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800" b="0">
                <a:solidFill>
                  <a:srgbClr val="0F4C5C"/>
                </a:solidFill>
                <a:latin typeface="Cambria Math"/>
              </a:rPr>
              <a:t>I = AB</a:t>
            </a:r>
            <a:r>
              <a:rPr sz="1800" b="0" baseline="30000">
                <a:solidFill>
                  <a:srgbClr val="0F4C5C"/>
                </a:solidFill>
                <a:latin typeface="Cambria Math"/>
              </a:rPr>
              <a:t>2</a:t>
            </a:r>
            <a:r>
              <a:rPr sz="1800" b="0">
                <a:solidFill>
                  <a:srgbClr val="0F4C5C"/>
                </a:solidFill>
                <a:latin typeface="Cambria Math"/>
              </a:rPr>
              <a:t>C = BCD = AC</a:t>
            </a:r>
            <a:r>
              <a:rPr sz="1800" b="0" baseline="30000">
                <a:solidFill>
                  <a:srgbClr val="0F4C5C"/>
                </a:solidFill>
                <a:latin typeface="Cambria Math"/>
              </a:rPr>
              <a:t>2</a:t>
            </a:r>
            <a:r>
              <a:rPr sz="1800" b="0">
                <a:solidFill>
                  <a:srgbClr val="0F4C5C"/>
                </a:solidFill>
                <a:latin typeface="Cambria Math"/>
              </a:rPr>
              <a:t>D = ABD</a:t>
            </a:r>
            <a:r>
              <a:rPr sz="1800" b="0" baseline="30000">
                <a:solidFill>
                  <a:srgbClr val="0F4C5C"/>
                </a:solidFill>
                <a:latin typeface="Cambria Math"/>
              </a:rPr>
              <a:t>2</a:t>
            </a:r>
          </a:p>
        </p:txBody>
      </p:sp>
      <p:sp>
        <p:nvSpPr>
          <p:cNvPr id="4" name="Rounded Rectangle 3"/>
          <p:cNvSpPr/>
          <p:nvPr/>
        </p:nvSpPr>
        <p:spPr>
          <a:xfrm>
            <a:off x="548640" y="2205167"/>
            <a:ext cx="4486832" cy="551972"/>
          </a:xfrm>
          <a:prstGeom prst="roundRect">
            <a:avLst>
              <a:gd name="adj" fmla="val 10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0">
                <a:solidFill>
                  <a:srgbClr val="0F4C5C"/>
                </a:solidFill>
                <a:latin typeface="Cambria Math"/>
              </a:rPr>
              <a:t>x</a:t>
            </a:r>
            <a:r>
              <a:rPr sz="1600" b="0" baseline="-25000">
                <a:solidFill>
                  <a:srgbClr val="0F4C5C"/>
                </a:solidFill>
                <a:latin typeface="Cambria Math"/>
              </a:rPr>
              <a:t>3</a:t>
            </a:r>
            <a:r>
              <a:rPr sz="1600" b="0">
                <a:solidFill>
                  <a:srgbClr val="0F4C5C"/>
                </a:solidFill>
                <a:latin typeface="Cambria Math"/>
              </a:rPr>
              <a:t> = 2x</a:t>
            </a:r>
            <a:r>
              <a:rPr sz="1600" b="0" baseline="-25000">
                <a:solidFill>
                  <a:srgbClr val="0F4C5C"/>
                </a:solidFill>
                <a:latin typeface="Cambria Math"/>
              </a:rPr>
              <a:t>1</a:t>
            </a:r>
            <a:r>
              <a:rPr sz="1600" b="0">
                <a:solidFill>
                  <a:srgbClr val="0F4C5C"/>
                </a:solidFill>
                <a:latin typeface="Cambria Math"/>
              </a:rPr>
              <a:t> + x</a:t>
            </a:r>
            <a:r>
              <a:rPr sz="1600" b="0" baseline="-25000">
                <a:solidFill>
                  <a:srgbClr val="0F4C5C"/>
                </a:solidFill>
                <a:latin typeface="Cambria Math"/>
              </a:rPr>
              <a:t>2</a:t>
            </a:r>
            <a:r>
              <a:rPr sz="1600" b="0">
                <a:solidFill>
                  <a:srgbClr val="0F4C5C"/>
                </a:solidFill>
                <a:latin typeface="Cambria Math"/>
              </a:rPr>
              <a:t>,   x</a:t>
            </a:r>
            <a:r>
              <a:rPr sz="1600" b="0" baseline="-25000">
                <a:solidFill>
                  <a:srgbClr val="0F4C5C"/>
                </a:solidFill>
                <a:latin typeface="Cambria Math"/>
              </a:rPr>
              <a:t>4</a:t>
            </a:r>
            <a:r>
              <a:rPr sz="1600" b="0">
                <a:solidFill>
                  <a:srgbClr val="0F4C5C"/>
                </a:solidFill>
                <a:latin typeface="Cambria Math"/>
              </a:rPr>
              <a:t> = 2x</a:t>
            </a:r>
            <a:r>
              <a:rPr sz="1600" b="0" baseline="-25000">
                <a:solidFill>
                  <a:srgbClr val="0F4C5C"/>
                </a:solidFill>
                <a:latin typeface="Cambria Math"/>
              </a:rPr>
              <a:t>2</a:t>
            </a:r>
            <a:r>
              <a:rPr sz="1600" b="0">
                <a:solidFill>
                  <a:srgbClr val="0F4C5C"/>
                </a:solidFill>
                <a:latin typeface="Cambria Math"/>
              </a:rPr>
              <a:t> + 2x</a:t>
            </a:r>
            <a:r>
              <a:rPr sz="1600" b="0" baseline="-25000">
                <a:solidFill>
                  <a:srgbClr val="0F4C5C"/>
                </a:solidFill>
                <a:latin typeface="Cambria Math"/>
              </a:rPr>
              <a:t>3</a:t>
            </a:r>
            <a:r>
              <a:rPr sz="1600" b="0">
                <a:solidFill>
                  <a:srgbClr val="0F4C5C"/>
                </a:solidFill>
                <a:latin typeface="Cambria Math"/>
              </a:rPr>
              <a:t>  (mod 3)</a:t>
            </a:r>
          </a:p>
        </p:txBody>
      </p:sp>
      <p:graphicFrame>
        <p:nvGraphicFramePr>
          <p:cNvPr id="5" name="Table 4"/>
          <p:cNvGraphicFramePr>
            <a:graphicFrameLocks noGrp="1"/>
          </p:cNvGraphicFramePr>
          <p:nvPr/>
        </p:nvGraphicFramePr>
        <p:xfrm>
          <a:off x="548640" y="2958307"/>
          <a:ext cx="4486832" cy="1343152"/>
        </p:xfrm>
        <a:graphic>
          <a:graphicData uri="http://schemas.openxmlformats.org/drawingml/2006/table">
            <a:tbl>
              <a:tblPr firstRow="0" bandRow="0">
                <a:tableStyleId>{5C22544A-7EE6-4342-B048-85BDC9FD1C3A}</a:tableStyleId>
              </a:tblPr>
              <a:tblGrid>
                <a:gridCol w="2342390"/>
                <a:gridCol w="1072221"/>
                <a:gridCol w="1072221"/>
              </a:tblGrid>
              <a:tr h="335788">
                <a:tc>
                  <a:txBody>
                    <a:bodyPr/>
                    <a:lstStyle/>
                    <a:p>
                      <a:pPr algn="ctr"/>
                      <a:r>
                        <a:rPr sz="1400" b="1">
                          <a:solidFill>
                            <a:srgbClr val="FFFFFF"/>
                          </a:solidFill>
                          <a:latin typeface="Calibri"/>
                        </a:rPr>
                        <a:t>Tabla 9-7</a:t>
                      </a:r>
                    </a:p>
                  </a:txBody>
                  <a:tcPr marL="73152" marR="73152" marT="27432" marB="27432" anchor="ctr">
                    <a:solidFill>
                      <a:srgbClr val="0F4C5C"/>
                    </a:solidFill>
                  </a:tcPr>
                </a:tc>
                <a:tc>
                  <a:txBody>
                    <a:bodyPr/>
                    <a:lstStyle/>
                    <a:p>
                      <a:pPr algn="ctr"/>
                    </a:p>
                  </a:txBody>
                  <a:tcPr marL="73152" marR="73152" marT="27432" marB="27432" anchor="ctr">
                    <a:solidFill>
                      <a:srgbClr val="0F4C5C"/>
                    </a:solidFill>
                  </a:tcPr>
                </a:tc>
                <a:tc>
                  <a:txBody>
                    <a:bodyPr/>
                    <a:lstStyle/>
                    <a:p>
                      <a:pPr algn="ctr"/>
                    </a:p>
                  </a:txBody>
                  <a:tcPr marL="73152" marR="73152" marT="27432" marB="27432" anchor="ctr">
                    <a:solidFill>
                      <a:srgbClr val="0F4C5C"/>
                    </a:solidFill>
                  </a:tcPr>
                </a:tc>
              </a:tr>
              <a:tr h="335788">
                <a:tc>
                  <a:txBody>
                    <a:bodyPr/>
                    <a:lstStyle/>
                    <a:p>
                      <a:pPr algn="ctr"/>
                      <a:r>
                        <a:rPr sz="1400" b="0">
                          <a:solidFill>
                            <a:srgbClr val="142B33"/>
                          </a:solidFill>
                          <a:latin typeface="Calibri"/>
                        </a:rPr>
                        <a:t>0000</a:t>
                      </a:r>
                    </a:p>
                  </a:txBody>
                  <a:tcPr marL="73152" marR="73152" marT="27432" marB="27432" anchor="ctr">
                    <a:solidFill>
                      <a:srgbClr val="FFFFFF"/>
                    </a:solidFill>
                  </a:tcPr>
                </a:tc>
                <a:tc>
                  <a:txBody>
                    <a:bodyPr/>
                    <a:lstStyle/>
                    <a:p>
                      <a:pPr algn="ctr"/>
                      <a:r>
                        <a:rPr sz="1400" b="0">
                          <a:solidFill>
                            <a:srgbClr val="142B33"/>
                          </a:solidFill>
                          <a:latin typeface="Calibri"/>
                        </a:rPr>
                        <a:t>0111</a:t>
                      </a:r>
                    </a:p>
                  </a:txBody>
                  <a:tcPr marL="73152" marR="73152" marT="27432" marB="27432" anchor="ctr">
                    <a:solidFill>
                      <a:srgbClr val="FFFFFF"/>
                    </a:solidFill>
                  </a:tcPr>
                </a:tc>
                <a:tc>
                  <a:txBody>
                    <a:bodyPr/>
                    <a:lstStyle/>
                    <a:p>
                      <a:pPr algn="ctr"/>
                      <a:r>
                        <a:rPr sz="1400" b="0">
                          <a:solidFill>
                            <a:srgbClr val="142B33"/>
                          </a:solidFill>
                          <a:latin typeface="Calibri"/>
                        </a:rPr>
                        <a:t>0222</a:t>
                      </a:r>
                    </a:p>
                  </a:txBody>
                  <a:tcPr marL="73152" marR="73152" marT="27432" marB="27432" anchor="ctr">
                    <a:solidFill>
                      <a:srgbClr val="FFFFFF"/>
                    </a:solidFill>
                  </a:tcPr>
                </a:tc>
              </a:tr>
              <a:tr h="335788">
                <a:tc>
                  <a:txBody>
                    <a:bodyPr/>
                    <a:lstStyle/>
                    <a:p>
                      <a:pPr algn="ctr"/>
                      <a:r>
                        <a:rPr sz="1400" b="0">
                          <a:solidFill>
                            <a:srgbClr val="142B33"/>
                          </a:solidFill>
                          <a:latin typeface="Calibri"/>
                        </a:rPr>
                        <a:t>1021</a:t>
                      </a:r>
                    </a:p>
                  </a:txBody>
                  <a:tcPr marL="73152" marR="73152" marT="27432" marB="27432" anchor="ctr">
                    <a:solidFill>
                      <a:srgbClr val="F4F8F9"/>
                    </a:solidFill>
                  </a:tcPr>
                </a:tc>
                <a:tc>
                  <a:txBody>
                    <a:bodyPr/>
                    <a:lstStyle/>
                    <a:p>
                      <a:pPr algn="ctr"/>
                      <a:r>
                        <a:rPr sz="1400" b="0">
                          <a:solidFill>
                            <a:srgbClr val="142B33"/>
                          </a:solidFill>
                          <a:latin typeface="Calibri"/>
                        </a:rPr>
                        <a:t>1102</a:t>
                      </a:r>
                    </a:p>
                  </a:txBody>
                  <a:tcPr marL="73152" marR="73152" marT="27432" marB="27432" anchor="ctr">
                    <a:solidFill>
                      <a:srgbClr val="F4F8F9"/>
                    </a:solidFill>
                  </a:tcPr>
                </a:tc>
                <a:tc>
                  <a:txBody>
                    <a:bodyPr/>
                    <a:lstStyle/>
                    <a:p>
                      <a:pPr algn="ctr"/>
                      <a:r>
                        <a:rPr sz="1400" b="0">
                          <a:solidFill>
                            <a:srgbClr val="142B33"/>
                          </a:solidFill>
                          <a:latin typeface="Calibri"/>
                        </a:rPr>
                        <a:t>1210</a:t>
                      </a:r>
                    </a:p>
                  </a:txBody>
                  <a:tcPr marL="73152" marR="73152" marT="27432" marB="27432" anchor="ctr">
                    <a:solidFill>
                      <a:srgbClr val="F4F8F9"/>
                    </a:solidFill>
                  </a:tcPr>
                </a:tc>
              </a:tr>
              <a:tr h="335788">
                <a:tc>
                  <a:txBody>
                    <a:bodyPr/>
                    <a:lstStyle/>
                    <a:p>
                      <a:pPr algn="ctr"/>
                      <a:r>
                        <a:rPr sz="1400" b="0">
                          <a:solidFill>
                            <a:srgbClr val="142B33"/>
                          </a:solidFill>
                          <a:latin typeface="Calibri"/>
                        </a:rPr>
                        <a:t>2012</a:t>
                      </a:r>
                    </a:p>
                  </a:txBody>
                  <a:tcPr marL="73152" marR="73152" marT="27432" marB="27432" anchor="ctr">
                    <a:solidFill>
                      <a:srgbClr val="FFFFFF"/>
                    </a:solidFill>
                  </a:tcPr>
                </a:tc>
                <a:tc>
                  <a:txBody>
                    <a:bodyPr/>
                    <a:lstStyle/>
                    <a:p>
                      <a:pPr algn="ctr"/>
                      <a:r>
                        <a:rPr sz="1400" b="0">
                          <a:solidFill>
                            <a:srgbClr val="142B33"/>
                          </a:solidFill>
                          <a:latin typeface="Calibri"/>
                        </a:rPr>
                        <a:t>2120</a:t>
                      </a:r>
                    </a:p>
                  </a:txBody>
                  <a:tcPr marL="73152" marR="73152" marT="27432" marB="27432" anchor="ctr">
                    <a:solidFill>
                      <a:srgbClr val="FFFFFF"/>
                    </a:solidFill>
                  </a:tcPr>
                </a:tc>
                <a:tc>
                  <a:txBody>
                    <a:bodyPr/>
                    <a:lstStyle/>
                    <a:p>
                      <a:pPr algn="ctr"/>
                      <a:r>
                        <a:rPr sz="1400" b="0">
                          <a:solidFill>
                            <a:srgbClr val="142B33"/>
                          </a:solidFill>
                          <a:latin typeface="Calibri"/>
                        </a:rPr>
                        <a:t>2201</a:t>
                      </a:r>
                    </a:p>
                  </a:txBody>
                  <a:tcPr marL="73152" marR="73152" marT="27432" marB="27432" anchor="ctr">
                    <a:solidFill>
                      <a:srgbClr val="FFFFFF"/>
                    </a:solidFill>
                  </a:tcPr>
                </a:tc>
              </a:tr>
            </a:tbl>
          </a:graphicData>
        </a:graphic>
      </p:graphicFrame>
      <p:graphicFrame>
        <p:nvGraphicFramePr>
          <p:cNvPr id="6" name="Table 5"/>
          <p:cNvGraphicFramePr>
            <a:graphicFrameLocks noGrp="1"/>
          </p:cNvGraphicFramePr>
          <p:nvPr/>
        </p:nvGraphicFramePr>
        <p:xfrm>
          <a:off x="5446952" y="1417320"/>
          <a:ext cx="6196102" cy="1389884"/>
        </p:xfrm>
        <a:graphic>
          <a:graphicData uri="http://schemas.openxmlformats.org/drawingml/2006/table">
            <a:tbl>
              <a:tblPr firstRow="0" bandRow="0">
                <a:tableStyleId>{5C22544A-7EE6-4342-B048-85BDC9FD1C3A}</a:tableStyleId>
              </a:tblPr>
              <a:tblGrid>
                <a:gridCol w="619610"/>
                <a:gridCol w="2788246"/>
                <a:gridCol w="2788246"/>
              </a:tblGrid>
              <a:tr h="426720">
                <a:tc>
                  <a:txBody>
                    <a:bodyPr/>
                    <a:lstStyle/>
                    <a:p>
                      <a:pPr algn="l"/>
                      <a:r>
                        <a:rPr sz="1200" b="1">
                          <a:solidFill>
                            <a:srgbClr val="FFFFFF"/>
                          </a:solidFill>
                          <a:latin typeface="Calibri"/>
                        </a:rPr>
                        <a:t>Efecto</a:t>
                      </a:r>
                    </a:p>
                  </a:txBody>
                  <a:tcPr marL="73152" marR="73152" marT="27432" marB="27432" anchor="ctr">
                    <a:solidFill>
                      <a:srgbClr val="0F4C5C"/>
                    </a:solidFill>
                  </a:tcPr>
                </a:tc>
                <a:tc>
                  <a:txBody>
                    <a:bodyPr/>
                    <a:lstStyle/>
                    <a:p>
                      <a:pPr algn="ctr"/>
                      <a:r>
                        <a:rPr sz="1200" b="1">
                          <a:solidFill>
                            <a:srgbClr val="FFFFFF"/>
                          </a:solidFill>
                          <a:latin typeface="Calibri"/>
                        </a:rPr>
                        <a:t>Alias por I (× cada palabra)</a:t>
                      </a:r>
                    </a:p>
                  </a:txBody>
                  <a:tcPr marL="73152" marR="73152" marT="27432" marB="27432" anchor="ctr">
                    <a:solidFill>
                      <a:srgbClr val="0F4C5C"/>
                    </a:solidFill>
                  </a:tcPr>
                </a:tc>
                <a:tc>
                  <a:txBody>
                    <a:bodyPr/>
                    <a:lstStyle/>
                    <a:p>
                      <a:pPr algn="ctr"/>
                      <a:r>
                        <a:rPr sz="1200" b="1">
                          <a:solidFill>
                            <a:srgbClr val="FFFFFF"/>
                          </a:solidFill>
                          <a:latin typeface="Calibri"/>
                        </a:rPr>
                        <a:t>Alias por I</a:t>
                      </a:r>
                      <a:r>
                        <a:rPr sz="1200" b="1" baseline="30000">
                          <a:solidFill>
                            <a:srgbClr val="FFFFFF"/>
                          </a:solidFill>
                          <a:latin typeface="Calibri"/>
                        </a:rPr>
                        <a:t>2</a:t>
                      </a:r>
                    </a:p>
                  </a:txBody>
                  <a:tcPr marL="73152" marR="73152" marT="27432" marB="27432" anchor="ctr">
                    <a:solidFill>
                      <a:srgbClr val="0F4C5C"/>
                    </a:solidFill>
                  </a:tcPr>
                </a:tc>
              </a:tr>
              <a:tr h="240791">
                <a:tc>
                  <a:txBody>
                    <a:bodyPr/>
                    <a:lstStyle/>
                    <a:p>
                      <a:pPr algn="l"/>
                      <a:r>
                        <a:rPr sz="1200" b="0">
                          <a:solidFill>
                            <a:srgbClr val="142B33"/>
                          </a:solidFill>
                          <a:latin typeface="Calibri"/>
                        </a:rPr>
                        <a:t>A</a:t>
                      </a:r>
                    </a:p>
                  </a:txBody>
                  <a:tcPr marL="73152" marR="73152" marT="27432" marB="27432" anchor="ctr">
                    <a:solidFill>
                      <a:srgbClr val="FFFFFF"/>
                    </a:solidFill>
                  </a:tcPr>
                </a:tc>
                <a:tc>
                  <a:txBody>
                    <a:bodyPr/>
                    <a:lstStyle/>
                    <a:p>
                      <a:pPr algn="ctr"/>
                      <a:r>
                        <a:rPr sz="1200" b="0">
                          <a:solidFill>
                            <a:srgbClr val="142B33"/>
                          </a:solidFill>
                          <a:latin typeface="Calibri"/>
                        </a:rPr>
                        <a:t>ABCD, ACD</a:t>
                      </a:r>
                      <a:r>
                        <a:rPr sz="1200" b="0" baseline="30000">
                          <a:solidFill>
                            <a:srgbClr val="142B33"/>
                          </a:solidFill>
                          <a:latin typeface="Calibri"/>
                        </a:rPr>
                        <a:t>2</a:t>
                      </a:r>
                      <a:r>
                        <a:rPr sz="1200" b="0">
                          <a:solidFill>
                            <a:srgbClr val="142B33"/>
                          </a:solidFill>
                          <a:latin typeface="Calibri"/>
                        </a:rPr>
                        <a:t>, AB</a:t>
                      </a:r>
                      <a:r>
                        <a:rPr sz="1200" b="0" baseline="30000">
                          <a:solidFill>
                            <a:srgbClr val="142B33"/>
                          </a:solidFill>
                          <a:latin typeface="Calibri"/>
                        </a:rPr>
                        <a:t>2</a:t>
                      </a:r>
                      <a:r>
                        <a:rPr sz="1200" b="0">
                          <a:solidFill>
                            <a:srgbClr val="142B33"/>
                          </a:solidFill>
                          <a:latin typeface="Calibri"/>
                        </a:rPr>
                        <a:t>D, ABC</a:t>
                      </a:r>
                      <a:r>
                        <a:rPr sz="1200" b="0" baseline="30000">
                          <a:solidFill>
                            <a:srgbClr val="142B33"/>
                          </a:solidFill>
                          <a:latin typeface="Calibri"/>
                        </a:rPr>
                        <a:t>2</a:t>
                      </a:r>
                    </a:p>
                  </a:txBody>
                  <a:tcPr marL="73152" marR="73152" marT="27432" marB="27432" anchor="ctr">
                    <a:solidFill>
                      <a:srgbClr val="FFFFFF"/>
                    </a:solidFill>
                  </a:tcPr>
                </a:tc>
                <a:tc>
                  <a:txBody>
                    <a:bodyPr/>
                    <a:lstStyle/>
                    <a:p>
                      <a:pPr algn="ctr"/>
                      <a:r>
                        <a:rPr sz="1200" b="0">
                          <a:solidFill>
                            <a:srgbClr val="142B33"/>
                          </a:solidFill>
                          <a:latin typeface="Calibri"/>
                        </a:rPr>
                        <a:t>AB</a:t>
                      </a:r>
                      <a:r>
                        <a:rPr sz="1200" b="0" baseline="30000">
                          <a:solidFill>
                            <a:srgbClr val="142B33"/>
                          </a:solidFill>
                          <a:latin typeface="Calibri"/>
                        </a:rPr>
                        <a:t>2</a:t>
                      </a:r>
                      <a:r>
                        <a:rPr sz="1200" b="0">
                          <a:solidFill>
                            <a:srgbClr val="142B33"/>
                          </a:solidFill>
                          <a:latin typeface="Calibri"/>
                        </a:rPr>
                        <a:t>C</a:t>
                      </a:r>
                      <a:r>
                        <a:rPr sz="1200" b="0" baseline="30000">
                          <a:solidFill>
                            <a:srgbClr val="142B33"/>
                          </a:solidFill>
                          <a:latin typeface="Calibri"/>
                        </a:rPr>
                        <a:t>2</a:t>
                      </a:r>
                      <a:r>
                        <a:rPr sz="1200" b="0">
                          <a:solidFill>
                            <a:srgbClr val="142B33"/>
                          </a:solidFill>
                          <a:latin typeface="Calibri"/>
                        </a:rPr>
                        <a:t>D</a:t>
                      </a:r>
                      <a:r>
                        <a:rPr sz="1200" b="0" baseline="30000">
                          <a:solidFill>
                            <a:srgbClr val="142B33"/>
                          </a:solidFill>
                          <a:latin typeface="Calibri"/>
                        </a:rPr>
                        <a:t>2</a:t>
                      </a:r>
                      <a:r>
                        <a:rPr sz="1200" b="0">
                          <a:solidFill>
                            <a:srgbClr val="142B33"/>
                          </a:solidFill>
                          <a:latin typeface="Calibri"/>
                        </a:rPr>
                        <a:t>, CD</a:t>
                      </a:r>
                      <a:r>
                        <a:rPr sz="1200" b="0" baseline="30000">
                          <a:solidFill>
                            <a:srgbClr val="142B33"/>
                          </a:solidFill>
                          <a:latin typeface="Calibri"/>
                        </a:rPr>
                        <a:t>2</a:t>
                      </a:r>
                      <a:r>
                        <a:rPr sz="1200" b="0">
                          <a:solidFill>
                            <a:srgbClr val="142B33"/>
                          </a:solidFill>
                          <a:latin typeface="Calibri"/>
                        </a:rPr>
                        <a:t>, BD</a:t>
                      </a:r>
                      <a:r>
                        <a:rPr sz="1200" b="0" baseline="30000">
                          <a:solidFill>
                            <a:srgbClr val="142B33"/>
                          </a:solidFill>
                          <a:latin typeface="Calibri"/>
                        </a:rPr>
                        <a:t>2</a:t>
                      </a:r>
                      <a:r>
                        <a:rPr sz="1200" b="0">
                          <a:solidFill>
                            <a:srgbClr val="142B33"/>
                          </a:solidFill>
                          <a:latin typeface="Calibri"/>
                        </a:rPr>
                        <a:t>, BC</a:t>
                      </a:r>
                      <a:r>
                        <a:rPr sz="1200" b="0" baseline="30000">
                          <a:solidFill>
                            <a:srgbClr val="142B33"/>
                          </a:solidFill>
                          <a:latin typeface="Calibri"/>
                        </a:rPr>
                        <a:t>2</a:t>
                      </a:r>
                    </a:p>
                  </a:txBody>
                  <a:tcPr marL="73152" marR="73152" marT="27432" marB="27432" anchor="ctr">
                    <a:solidFill>
                      <a:srgbClr val="FFFFFF"/>
                    </a:solidFill>
                  </a:tcPr>
                </a:tc>
              </a:tr>
              <a:tr h="240791">
                <a:tc>
                  <a:txBody>
                    <a:bodyPr/>
                    <a:lstStyle/>
                    <a:p>
                      <a:pPr algn="l"/>
                      <a:r>
                        <a:rPr sz="1200" b="0">
                          <a:solidFill>
                            <a:srgbClr val="142B33"/>
                          </a:solidFill>
                          <a:latin typeface="Calibri"/>
                        </a:rPr>
                        <a:t>B</a:t>
                      </a:r>
                    </a:p>
                  </a:txBody>
                  <a:tcPr marL="73152" marR="73152" marT="27432" marB="27432" anchor="ctr">
                    <a:solidFill>
                      <a:srgbClr val="F4F8F9"/>
                    </a:solidFill>
                  </a:tcPr>
                </a:tc>
                <a:tc>
                  <a:txBody>
                    <a:bodyPr/>
                    <a:lstStyle/>
                    <a:p>
                      <a:pPr algn="ctr"/>
                      <a:r>
                        <a:rPr sz="1200" b="0">
                          <a:solidFill>
                            <a:srgbClr val="142B33"/>
                          </a:solidFill>
                          <a:latin typeface="Calibri"/>
                        </a:rPr>
                        <a:t>BC</a:t>
                      </a:r>
                      <a:r>
                        <a:rPr sz="1200" b="0" baseline="30000">
                          <a:solidFill>
                            <a:srgbClr val="142B33"/>
                          </a:solidFill>
                          <a:latin typeface="Calibri"/>
                        </a:rPr>
                        <a:t>2</a:t>
                      </a:r>
                      <a:r>
                        <a:rPr sz="1200" b="0">
                          <a:solidFill>
                            <a:srgbClr val="142B33"/>
                          </a:solidFill>
                          <a:latin typeface="Calibri"/>
                        </a:rPr>
                        <a:t>D</a:t>
                      </a:r>
                      <a:r>
                        <a:rPr sz="1200" b="0" baseline="30000">
                          <a:solidFill>
                            <a:srgbClr val="142B33"/>
                          </a:solidFill>
                          <a:latin typeface="Calibri"/>
                        </a:rPr>
                        <a:t>2</a:t>
                      </a:r>
                      <a:r>
                        <a:rPr sz="1200" b="0">
                          <a:solidFill>
                            <a:srgbClr val="142B33"/>
                          </a:solidFill>
                          <a:latin typeface="Calibri"/>
                        </a:rPr>
                        <a:t>, ABC</a:t>
                      </a:r>
                      <a:r>
                        <a:rPr sz="1200" b="0" baseline="30000">
                          <a:solidFill>
                            <a:srgbClr val="142B33"/>
                          </a:solidFill>
                          <a:latin typeface="Calibri"/>
                        </a:rPr>
                        <a:t>2</a:t>
                      </a:r>
                      <a:r>
                        <a:rPr sz="1200" b="0">
                          <a:solidFill>
                            <a:srgbClr val="142B33"/>
                          </a:solidFill>
                          <a:latin typeface="Calibri"/>
                        </a:rPr>
                        <a:t>D, AB</a:t>
                      </a:r>
                      <a:r>
                        <a:rPr sz="1200" b="0" baseline="30000">
                          <a:solidFill>
                            <a:srgbClr val="142B33"/>
                          </a:solidFill>
                          <a:latin typeface="Calibri"/>
                        </a:rPr>
                        <a:t>2</a:t>
                      </a:r>
                      <a:r>
                        <a:rPr sz="1200" b="0">
                          <a:solidFill>
                            <a:srgbClr val="142B33"/>
                          </a:solidFill>
                          <a:latin typeface="Calibri"/>
                        </a:rPr>
                        <a:t>D</a:t>
                      </a:r>
                      <a:r>
                        <a:rPr sz="1200" b="0" baseline="30000">
                          <a:solidFill>
                            <a:srgbClr val="142B33"/>
                          </a:solidFill>
                          <a:latin typeface="Calibri"/>
                        </a:rPr>
                        <a:t>2</a:t>
                      </a:r>
                      <a:r>
                        <a:rPr sz="1200" b="0">
                          <a:solidFill>
                            <a:srgbClr val="142B33"/>
                          </a:solidFill>
                          <a:latin typeface="Calibri"/>
                        </a:rPr>
                        <a:t>, AC</a:t>
                      </a:r>
                    </a:p>
                  </a:txBody>
                  <a:tcPr marL="73152" marR="73152" marT="27432" marB="27432" anchor="ctr">
                    <a:solidFill>
                      <a:srgbClr val="F4F8F9"/>
                    </a:solidFill>
                  </a:tcPr>
                </a:tc>
                <a:tc>
                  <a:txBody>
                    <a:bodyPr/>
                    <a:lstStyle/>
                    <a:p>
                      <a:pPr algn="ctr"/>
                      <a:r>
                        <a:rPr sz="1200" b="0">
                          <a:solidFill>
                            <a:srgbClr val="142B33"/>
                          </a:solidFill>
                          <a:latin typeface="Calibri"/>
                        </a:rPr>
                        <a:t>CD, AB</a:t>
                      </a:r>
                      <a:r>
                        <a:rPr sz="1200" b="0" baseline="30000">
                          <a:solidFill>
                            <a:srgbClr val="142B33"/>
                          </a:solidFill>
                          <a:latin typeface="Calibri"/>
                        </a:rPr>
                        <a:t>2</a:t>
                      </a:r>
                      <a:r>
                        <a:rPr sz="1200" b="0">
                          <a:solidFill>
                            <a:srgbClr val="142B33"/>
                          </a:solidFill>
                          <a:latin typeface="Calibri"/>
                        </a:rPr>
                        <a:t>C</a:t>
                      </a:r>
                      <a:r>
                        <a:rPr sz="1200" b="0" baseline="30000">
                          <a:solidFill>
                            <a:srgbClr val="142B33"/>
                          </a:solidFill>
                          <a:latin typeface="Calibri"/>
                        </a:rPr>
                        <a:t>2</a:t>
                      </a:r>
                      <a:r>
                        <a:rPr sz="1200" b="0">
                          <a:solidFill>
                            <a:srgbClr val="142B33"/>
                          </a:solidFill>
                          <a:latin typeface="Calibri"/>
                        </a:rPr>
                        <a:t>D, AD</a:t>
                      </a:r>
                      <a:r>
                        <a:rPr sz="1200" b="0" baseline="30000">
                          <a:solidFill>
                            <a:srgbClr val="142B33"/>
                          </a:solidFill>
                          <a:latin typeface="Calibri"/>
                        </a:rPr>
                        <a:t>2</a:t>
                      </a:r>
                      <a:r>
                        <a:rPr sz="1200" b="0">
                          <a:solidFill>
                            <a:srgbClr val="142B33"/>
                          </a:solidFill>
                          <a:latin typeface="Calibri"/>
                        </a:rPr>
                        <a:t>, ABC</a:t>
                      </a:r>
                    </a:p>
                  </a:txBody>
                  <a:tcPr marL="73152" marR="73152" marT="27432" marB="27432" anchor="ctr">
                    <a:solidFill>
                      <a:srgbClr val="F4F8F9"/>
                    </a:solidFill>
                  </a:tcPr>
                </a:tc>
              </a:tr>
              <a:tr h="240791">
                <a:tc>
                  <a:txBody>
                    <a:bodyPr/>
                    <a:lstStyle/>
                    <a:p>
                      <a:pPr algn="l"/>
                      <a:r>
                        <a:rPr sz="1200" b="0">
                          <a:solidFill>
                            <a:srgbClr val="142B33"/>
                          </a:solidFill>
                          <a:latin typeface="Calibri"/>
                        </a:rPr>
                        <a:t>C</a:t>
                      </a:r>
                    </a:p>
                  </a:txBody>
                  <a:tcPr marL="73152" marR="73152" marT="27432" marB="27432" anchor="ctr">
                    <a:solidFill>
                      <a:srgbClr val="FFFFFF"/>
                    </a:solidFill>
                  </a:tcPr>
                </a:tc>
                <a:tc>
                  <a:txBody>
                    <a:bodyPr/>
                    <a:lstStyle/>
                    <a:p>
                      <a:pPr algn="ctr"/>
                      <a:r>
                        <a:rPr sz="1200" b="0">
                          <a:solidFill>
                            <a:srgbClr val="142B33"/>
                          </a:solidFill>
                          <a:latin typeface="Calibri"/>
                        </a:rPr>
                        <a:t>BC</a:t>
                      </a:r>
                      <a:r>
                        <a:rPr sz="1200" b="0" baseline="30000">
                          <a:solidFill>
                            <a:srgbClr val="142B33"/>
                          </a:solidFill>
                          <a:latin typeface="Calibri"/>
                        </a:rPr>
                        <a:t>2</a:t>
                      </a:r>
                      <a:r>
                        <a:rPr sz="1200" b="0">
                          <a:solidFill>
                            <a:srgbClr val="142B33"/>
                          </a:solidFill>
                          <a:latin typeface="Calibri"/>
                        </a:rPr>
                        <a:t>D, AD, ABCD</a:t>
                      </a:r>
                      <a:r>
                        <a:rPr sz="1200" b="0" baseline="30000">
                          <a:solidFill>
                            <a:srgbClr val="142B33"/>
                          </a:solidFill>
                          <a:latin typeface="Calibri"/>
                        </a:rPr>
                        <a:t>2</a:t>
                      </a:r>
                      <a:r>
                        <a:rPr sz="1200" b="0">
                          <a:solidFill>
                            <a:srgbClr val="142B33"/>
                          </a:solidFill>
                          <a:latin typeface="Calibri"/>
                        </a:rPr>
                        <a:t>, AB</a:t>
                      </a:r>
                      <a:r>
                        <a:rPr sz="1200" b="0" baseline="30000">
                          <a:solidFill>
                            <a:srgbClr val="142B33"/>
                          </a:solidFill>
                          <a:latin typeface="Calibri"/>
                        </a:rPr>
                        <a:t>2</a:t>
                      </a:r>
                      <a:r>
                        <a:rPr sz="1200" b="0">
                          <a:solidFill>
                            <a:srgbClr val="142B33"/>
                          </a:solidFill>
                          <a:latin typeface="Calibri"/>
                        </a:rPr>
                        <a:t>C</a:t>
                      </a:r>
                      <a:r>
                        <a:rPr sz="1200" b="0" baseline="30000">
                          <a:solidFill>
                            <a:srgbClr val="142B33"/>
                          </a:solidFill>
                          <a:latin typeface="Calibri"/>
                        </a:rPr>
                        <a:t>2</a:t>
                      </a:r>
                    </a:p>
                  </a:txBody>
                  <a:tcPr marL="73152" marR="73152" marT="27432" marB="27432" anchor="ctr">
                    <a:solidFill>
                      <a:srgbClr val="FFFFFF"/>
                    </a:solidFill>
                  </a:tcPr>
                </a:tc>
                <a:tc>
                  <a:txBody>
                    <a:bodyPr/>
                    <a:lstStyle/>
                    <a:p>
                      <a:pPr algn="ctr"/>
                      <a:r>
                        <a:rPr sz="1200" b="0">
                          <a:solidFill>
                            <a:srgbClr val="142B33"/>
                          </a:solidFill>
                          <a:latin typeface="Calibri"/>
                        </a:rPr>
                        <a:t>BD, ACD, ABC</a:t>
                      </a:r>
                      <a:r>
                        <a:rPr sz="1200" b="0" baseline="30000">
                          <a:solidFill>
                            <a:srgbClr val="142B33"/>
                          </a:solidFill>
                          <a:latin typeface="Calibri"/>
                        </a:rPr>
                        <a:t>2</a:t>
                      </a:r>
                      <a:r>
                        <a:rPr sz="1200" b="0">
                          <a:solidFill>
                            <a:srgbClr val="142B33"/>
                          </a:solidFill>
                          <a:latin typeface="Calibri"/>
                        </a:rPr>
                        <a:t>D</a:t>
                      </a:r>
                      <a:r>
                        <a:rPr sz="1200" b="0" baseline="30000">
                          <a:solidFill>
                            <a:srgbClr val="142B33"/>
                          </a:solidFill>
                          <a:latin typeface="Calibri"/>
                        </a:rPr>
                        <a:t>2</a:t>
                      </a:r>
                      <a:r>
                        <a:rPr sz="1200" b="0">
                          <a:solidFill>
                            <a:srgbClr val="142B33"/>
                          </a:solidFill>
                          <a:latin typeface="Calibri"/>
                        </a:rPr>
                        <a:t>, AB</a:t>
                      </a:r>
                      <a:r>
                        <a:rPr sz="1200" b="0" baseline="30000">
                          <a:solidFill>
                            <a:srgbClr val="142B33"/>
                          </a:solidFill>
                          <a:latin typeface="Calibri"/>
                        </a:rPr>
                        <a:t>2</a:t>
                      </a:r>
                    </a:p>
                  </a:txBody>
                  <a:tcPr marL="73152" marR="73152" marT="27432" marB="27432" anchor="ctr">
                    <a:solidFill>
                      <a:srgbClr val="FFFFFF"/>
                    </a:solidFill>
                  </a:tcPr>
                </a:tc>
              </a:tr>
              <a:tr h="240791">
                <a:tc>
                  <a:txBody>
                    <a:bodyPr/>
                    <a:lstStyle/>
                    <a:p>
                      <a:pPr algn="l"/>
                      <a:r>
                        <a:rPr sz="1200" b="0">
                          <a:solidFill>
                            <a:srgbClr val="142B33"/>
                          </a:solidFill>
                          <a:latin typeface="Calibri"/>
                        </a:rPr>
                        <a:t>D</a:t>
                      </a:r>
                    </a:p>
                  </a:txBody>
                  <a:tcPr marL="73152" marR="73152" marT="27432" marB="27432" anchor="ctr">
                    <a:solidFill>
                      <a:srgbClr val="F4F8F9"/>
                    </a:solidFill>
                  </a:tcPr>
                </a:tc>
                <a:tc>
                  <a:txBody>
                    <a:bodyPr/>
                    <a:lstStyle/>
                    <a:p>
                      <a:pPr algn="ctr"/>
                      <a:r>
                        <a:rPr sz="1200" b="0">
                          <a:solidFill>
                            <a:srgbClr val="142B33"/>
                          </a:solidFill>
                          <a:latin typeface="Calibri"/>
                        </a:rPr>
                        <a:t>BCD</a:t>
                      </a:r>
                      <a:r>
                        <a:rPr sz="1200" b="0" baseline="30000">
                          <a:solidFill>
                            <a:srgbClr val="142B33"/>
                          </a:solidFill>
                          <a:latin typeface="Calibri"/>
                        </a:rPr>
                        <a:t>2</a:t>
                      </a:r>
                      <a:r>
                        <a:rPr sz="1200" b="0">
                          <a:solidFill>
                            <a:srgbClr val="142B33"/>
                          </a:solidFill>
                          <a:latin typeface="Calibri"/>
                        </a:rPr>
                        <a:t>, AC</a:t>
                      </a:r>
                      <a:r>
                        <a:rPr sz="1200" b="0" baseline="30000">
                          <a:solidFill>
                            <a:srgbClr val="142B33"/>
                          </a:solidFill>
                          <a:latin typeface="Calibri"/>
                        </a:rPr>
                        <a:t>2</a:t>
                      </a:r>
                      <a:r>
                        <a:rPr sz="1200" b="0">
                          <a:solidFill>
                            <a:srgbClr val="142B33"/>
                          </a:solidFill>
                          <a:latin typeface="Calibri"/>
                        </a:rPr>
                        <a:t>D</a:t>
                      </a:r>
                      <a:r>
                        <a:rPr sz="1200" b="0" baseline="30000">
                          <a:solidFill>
                            <a:srgbClr val="142B33"/>
                          </a:solidFill>
                          <a:latin typeface="Calibri"/>
                        </a:rPr>
                        <a:t>2</a:t>
                      </a:r>
                      <a:r>
                        <a:rPr sz="1200" b="0">
                          <a:solidFill>
                            <a:srgbClr val="142B33"/>
                          </a:solidFill>
                          <a:latin typeface="Calibri"/>
                        </a:rPr>
                        <a:t>, AB, AB</a:t>
                      </a:r>
                      <a:r>
                        <a:rPr sz="1200" b="0" baseline="30000">
                          <a:solidFill>
                            <a:srgbClr val="142B33"/>
                          </a:solidFill>
                          <a:latin typeface="Calibri"/>
                        </a:rPr>
                        <a:t>2</a:t>
                      </a:r>
                      <a:r>
                        <a:rPr sz="1200" b="0">
                          <a:solidFill>
                            <a:srgbClr val="142B33"/>
                          </a:solidFill>
                          <a:latin typeface="Calibri"/>
                        </a:rPr>
                        <a:t>CD</a:t>
                      </a:r>
                    </a:p>
                  </a:txBody>
                  <a:tcPr marL="73152" marR="73152" marT="27432" marB="27432" anchor="ctr">
                    <a:solidFill>
                      <a:srgbClr val="F4F8F9"/>
                    </a:solidFill>
                  </a:tcPr>
                </a:tc>
                <a:tc>
                  <a:txBody>
                    <a:bodyPr/>
                    <a:lstStyle/>
                    <a:p>
                      <a:pPr algn="ctr"/>
                      <a:r>
                        <a:rPr sz="1200" b="0">
                          <a:solidFill>
                            <a:srgbClr val="142B33"/>
                          </a:solidFill>
                          <a:latin typeface="Calibri"/>
                        </a:rPr>
                        <a:t>BC, AC</a:t>
                      </a:r>
                      <a:r>
                        <a:rPr sz="1200" b="0" baseline="30000">
                          <a:solidFill>
                            <a:srgbClr val="142B33"/>
                          </a:solidFill>
                          <a:latin typeface="Calibri"/>
                        </a:rPr>
                        <a:t>2</a:t>
                      </a:r>
                      <a:r>
                        <a:rPr sz="1200" b="0">
                          <a:solidFill>
                            <a:srgbClr val="142B33"/>
                          </a:solidFill>
                          <a:latin typeface="Calibri"/>
                        </a:rPr>
                        <a:t>, ABD, AB</a:t>
                      </a:r>
                      <a:r>
                        <a:rPr sz="1200" b="0" baseline="30000">
                          <a:solidFill>
                            <a:srgbClr val="142B33"/>
                          </a:solidFill>
                          <a:latin typeface="Calibri"/>
                        </a:rPr>
                        <a:t>2</a:t>
                      </a:r>
                      <a:r>
                        <a:rPr sz="1200" b="0">
                          <a:solidFill>
                            <a:srgbClr val="142B33"/>
                          </a:solidFill>
                          <a:latin typeface="Calibri"/>
                        </a:rPr>
                        <a:t>CD</a:t>
                      </a:r>
                      <a:r>
                        <a:rPr sz="1200" b="0" baseline="30000">
                          <a:solidFill>
                            <a:srgbClr val="142B33"/>
                          </a:solidFill>
                          <a:latin typeface="Calibri"/>
                        </a:rPr>
                        <a:t>2</a:t>
                      </a:r>
                    </a:p>
                  </a:txBody>
                  <a:tcPr marL="73152" marR="73152" marT="27432" marB="27432" anchor="ctr">
                    <a:solidFill>
                      <a:srgbClr val="F4F8F9"/>
                    </a:solidFill>
                  </a:tcPr>
                </a:tc>
              </a:tr>
            </a:tbl>
          </a:graphicData>
        </a:graphic>
      </p:graphicFrame>
      <p:sp>
        <p:nvSpPr>
          <p:cNvPr id="7" name="Rounded Rectangle 6"/>
          <p:cNvSpPr/>
          <p:nvPr/>
        </p:nvSpPr>
        <p:spPr>
          <a:xfrm>
            <a:off x="5446952" y="3008376"/>
            <a:ext cx="6196102"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Resolución III, 8 alias por efecto. Es también un </a:t>
            </a:r>
            <a:r>
              <a:rPr sz="1400" b="1">
                <a:solidFill>
                  <a:srgbClr val="142B33"/>
                </a:solidFill>
                <a:latin typeface="Calibri"/>
              </a:rPr>
              <a:t>cuadrado grecolatino</a:t>
            </a:r>
          </a:p>
        </p:txBody>
      </p:sp>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La fracción general 3</a:t>
            </a:r>
            <a:r>
              <a:rPr sz="1000" b="0" baseline="30000">
                <a:solidFill>
                  <a:srgbClr val="5B6B73"/>
                </a:solidFill>
                <a:latin typeface="Calibri"/>
              </a:rPr>
              <a:t>k−p</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56</a:t>
            </a:r>
          </a:p>
        </p:txBody>
      </p:sp>
      <p:sp>
        <p:nvSpPr>
          <p:cNvPr id="10" name="Rounded Rectangle 9"/>
          <p:cNvSpPr/>
          <p:nvPr/>
        </p:nvSpPr>
        <p:spPr>
          <a:xfrm>
            <a:off x="548640" y="91440"/>
            <a:ext cx="297637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La fracción general 3</a:t>
            </a:r>
            <a:r>
              <a:rPr sz="1100" b="1" baseline="30000">
                <a:solidFill>
                  <a:srgbClr val="FFFFFF"/>
                </a:solidFill>
                <a:latin typeface="Calibri"/>
              </a:rPr>
              <a:t>k−p</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El juicio del libro sobre los 3</a:t>
            </a:r>
            <a:r>
              <a:rPr sz="3000" b="1" baseline="30000">
                <a:solidFill>
                  <a:srgbClr val="0F4C5C"/>
                </a:solidFill>
                <a:latin typeface="Cambria"/>
              </a:rPr>
              <a:t>k−p</a:t>
            </a:r>
            <a:r>
              <a:rPr sz="3000" b="1">
                <a:solidFill>
                  <a:srgbClr val="0F4C5C"/>
                </a:solidFill>
                <a:latin typeface="Cambria"/>
              </a:rPr>
              <a:t>: «soluciones que causan problemas»</a:t>
            </a:r>
          </a:p>
        </p:txBody>
      </p:sp>
      <p:sp>
        <p:nvSpPr>
          <p:cNvPr id="3" name="Rounded Rectangle 2"/>
          <p:cNvSpPr/>
          <p:nvPr/>
        </p:nvSpPr>
        <p:spPr>
          <a:xfrm>
            <a:off x="548640" y="1417320"/>
            <a:ext cx="5341467" cy="1202943"/>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Alias parciales</a:t>
            </a:r>
          </a:p>
          <a:p>
            <a:pPr algn="l"/>
            <a:r>
              <a:rPr sz="1400" b="0">
                <a:solidFill>
                  <a:srgbClr val="142B33"/>
                </a:solidFill>
                <a:latin typeface="Calibri"/>
              </a:rPr>
              <a:t>Componentes de 2 g.l. mezclados entre sí; interpretación </a:t>
            </a:r>
            <a:r>
              <a:rPr sz="1400" b="1">
                <a:solidFill>
                  <a:srgbClr val="142B33"/>
                </a:solidFill>
                <a:latin typeface="Calibri"/>
              </a:rPr>
              <a:t>difícil o imposible</a:t>
            </a:r>
            <a:r>
              <a:rPr sz="1400" b="0">
                <a:solidFill>
                  <a:srgbClr val="142B33"/>
                </a:solidFill>
                <a:latin typeface="Calibri"/>
              </a:rPr>
              <a:t> si hay interacciones</a:t>
            </a:r>
          </a:p>
        </p:txBody>
      </p:sp>
      <p:sp>
        <p:nvSpPr>
          <p:cNvPr id="4" name="Rounded Rectangle 3"/>
          <p:cNvSpPr/>
          <p:nvPr/>
        </p:nvSpPr>
        <p:spPr>
          <a:xfrm>
            <a:off x="548640" y="2848864"/>
            <a:ext cx="5341467" cy="1202943"/>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Sin doblez</a:t>
            </a:r>
          </a:p>
          <a:p>
            <a:pPr algn="l"/>
            <a:r>
              <a:rPr sz="1400" b="0">
                <a:solidFill>
                  <a:srgbClr val="142B33"/>
                </a:solidFill>
                <a:latin typeface="Calibri"/>
              </a:rPr>
              <a:t>No existe un esquema simple para </a:t>
            </a:r>
            <a:r>
              <a:rPr sz="1400" b="1">
                <a:solidFill>
                  <a:srgbClr val="142B33"/>
                </a:solidFill>
                <a:latin typeface="Calibri"/>
              </a:rPr>
              <a:t>combinar fracciones</a:t>
            </a:r>
            <a:r>
              <a:rPr sz="1400" b="0">
                <a:solidFill>
                  <a:srgbClr val="142B33"/>
                </a:solidFill>
                <a:latin typeface="Calibri"/>
              </a:rPr>
              <a:t> y aislar interacciones, como en el 2</a:t>
            </a:r>
            <a:r>
              <a:rPr sz="1400" b="0" baseline="30000">
                <a:solidFill>
                  <a:srgbClr val="142B33"/>
                </a:solidFill>
                <a:latin typeface="Calibri"/>
              </a:rPr>
              <a:t>k−p</a:t>
            </a:r>
          </a:p>
        </p:txBody>
      </p:sp>
      <p:sp>
        <p:nvSpPr>
          <p:cNvPr id="5" name="Rounded Rectangle 4"/>
          <p:cNvSpPr/>
          <p:nvPr/>
        </p:nvSpPr>
        <p:spPr>
          <a:xfrm>
            <a:off x="548640" y="4280408"/>
            <a:ext cx="5341467" cy="1202943"/>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Hay mejores opciones</a:t>
            </a:r>
          </a:p>
          <a:p>
            <a:pPr algn="l"/>
            <a:r>
              <a:rPr sz="1400" b="0">
                <a:solidFill>
                  <a:srgbClr val="142B33"/>
                </a:solidFill>
                <a:latin typeface="Calibri"/>
              </a:rPr>
              <a:t>Para curvatura: </a:t>
            </a:r>
            <a:r>
              <a:rPr sz="1400" b="1">
                <a:solidFill>
                  <a:srgbClr val="142B33"/>
                </a:solidFill>
                <a:latin typeface="Calibri"/>
              </a:rPr>
              <a:t>superficie de respuesta</a:t>
            </a:r>
            <a:r>
              <a:rPr sz="1400" b="0">
                <a:solidFill>
                  <a:srgbClr val="142B33"/>
                </a:solidFill>
                <a:latin typeface="Calibri"/>
              </a:rPr>
              <a:t> (cap. 11); para factores cualitativos: </a:t>
            </a:r>
            <a:r>
              <a:rPr sz="1400" b="1">
                <a:solidFill>
                  <a:srgbClr val="142B33"/>
                </a:solidFill>
                <a:latin typeface="Calibri"/>
              </a:rPr>
              <a:t>niveles mixtos</a:t>
            </a:r>
            <a:r>
              <a:rPr sz="1400" b="0">
                <a:solidFill>
                  <a:srgbClr val="142B33"/>
                </a:solidFill>
                <a:latin typeface="Calibri"/>
              </a:rPr>
              <a:t> (sección 8)</a:t>
            </a:r>
          </a:p>
        </p:txBody>
      </p:sp>
      <p:sp>
        <p:nvSpPr>
          <p:cNvPr id="6" name="Rounded Rectangle 5"/>
          <p:cNvSpPr/>
          <p:nvPr/>
        </p:nvSpPr>
        <p:spPr>
          <a:xfrm>
            <a:off x="6301587" y="1417320"/>
            <a:ext cx="5341467" cy="1018032"/>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600" b="0">
                <a:solidFill>
                  <a:srgbClr val="142B33"/>
                </a:solidFill>
                <a:latin typeface="Calibri"/>
              </a:rPr>
              <a:t>«Los diseños 3</a:t>
            </a:r>
            <a:r>
              <a:rPr sz="1600" b="0" baseline="30000">
                <a:solidFill>
                  <a:srgbClr val="142B33"/>
                </a:solidFill>
                <a:latin typeface="Calibri"/>
              </a:rPr>
              <a:t>k−p</a:t>
            </a:r>
            <a:r>
              <a:rPr sz="1600" b="0">
                <a:solidFill>
                  <a:srgbClr val="142B33"/>
                </a:solidFill>
                <a:latin typeface="Calibri"/>
              </a:rPr>
              <a:t> son soluciones que causan problemas; no son, en general, buenos diseños» (Montgomery, pág. 383)</a:t>
            </a:r>
          </a:p>
        </p:txBody>
      </p:sp>
      <p:graphicFrame>
        <p:nvGraphicFramePr>
          <p:cNvPr id="7" name="Table 6"/>
          <p:cNvGraphicFramePr>
            <a:graphicFrameLocks noGrp="1"/>
          </p:cNvGraphicFramePr>
          <p:nvPr/>
        </p:nvGraphicFramePr>
        <p:xfrm>
          <a:off x="6301587" y="2636520"/>
          <a:ext cx="5341466" cy="2112770"/>
        </p:xfrm>
        <a:graphic>
          <a:graphicData uri="http://schemas.openxmlformats.org/drawingml/2006/table">
            <a:tbl>
              <a:tblPr firstRow="0" bandRow="0">
                <a:tableStyleId>{5C22544A-7EE6-4342-B048-85BDC9FD1C3A}</a:tableStyleId>
              </a:tblPr>
              <a:tblGrid>
                <a:gridCol w="1816098"/>
                <a:gridCol w="1762684"/>
                <a:gridCol w="1762684"/>
              </a:tblGrid>
              <a:tr h="335788">
                <a:tc>
                  <a:txBody>
                    <a:bodyPr/>
                    <a:lstStyle/>
                    <a:p>
                      <a:pPr algn="l"/>
                    </a:p>
                  </a:txBody>
                  <a:tcPr marL="73152" marR="73152" marT="27432" marB="27432" anchor="ctr">
                    <a:solidFill>
                      <a:srgbClr val="0F4C5C"/>
                    </a:solidFill>
                  </a:tcPr>
                </a:tc>
                <a:tc>
                  <a:txBody>
                    <a:bodyPr/>
                    <a:lstStyle/>
                    <a:p>
                      <a:pPr algn="ctr"/>
                      <a:r>
                        <a:rPr sz="1400" b="1">
                          <a:solidFill>
                            <a:srgbClr val="FFFFFF"/>
                          </a:solidFill>
                          <a:latin typeface="Calibri"/>
                        </a:rPr>
                        <a:t>2</a:t>
                      </a:r>
                      <a:r>
                        <a:rPr sz="1400" b="1" baseline="30000">
                          <a:solidFill>
                            <a:srgbClr val="FFFFFF"/>
                          </a:solidFill>
                          <a:latin typeface="Calibri"/>
                        </a:rPr>
                        <a:t>k−p</a:t>
                      </a:r>
                    </a:p>
                  </a:txBody>
                  <a:tcPr marL="73152" marR="73152" marT="27432" marB="27432" anchor="ctr">
                    <a:solidFill>
                      <a:srgbClr val="0F4C5C"/>
                    </a:solidFill>
                  </a:tcPr>
                </a:tc>
                <a:tc>
                  <a:txBody>
                    <a:bodyPr/>
                    <a:lstStyle/>
                    <a:p>
                      <a:pPr algn="ctr"/>
                      <a:r>
                        <a:rPr sz="1400" b="1">
                          <a:solidFill>
                            <a:srgbClr val="FFFFFF"/>
                          </a:solidFill>
                          <a:latin typeface="Calibri"/>
                        </a:rPr>
                        <a:t>3</a:t>
                      </a:r>
                      <a:r>
                        <a:rPr sz="1400" b="1" baseline="30000">
                          <a:solidFill>
                            <a:srgbClr val="FFFFFF"/>
                          </a:solidFill>
                          <a:latin typeface="Calibri"/>
                        </a:rPr>
                        <a:t>k−p</a:t>
                      </a:r>
                    </a:p>
                  </a:txBody>
                  <a:tcPr marL="73152" marR="73152" marT="27432" marB="27432" anchor="ctr">
                    <a:solidFill>
                      <a:srgbClr val="0F4C5C"/>
                    </a:solidFill>
                  </a:tcPr>
                </a:tc>
              </a:tr>
              <a:tr h="335788">
                <a:tc>
                  <a:txBody>
                    <a:bodyPr/>
                    <a:lstStyle/>
                    <a:p>
                      <a:pPr algn="l"/>
                      <a:r>
                        <a:rPr sz="1400" b="0">
                          <a:solidFill>
                            <a:srgbClr val="142B33"/>
                          </a:solidFill>
                          <a:latin typeface="Calibri"/>
                        </a:rPr>
                        <a:t>Alias por palabra</a:t>
                      </a:r>
                    </a:p>
                  </a:txBody>
                  <a:tcPr marL="73152" marR="73152" marT="27432" marB="27432" anchor="ctr">
                    <a:solidFill>
                      <a:srgbClr val="FFFFFF"/>
                    </a:solidFill>
                  </a:tcPr>
                </a:tc>
                <a:tc>
                  <a:txBody>
                    <a:bodyPr/>
                    <a:lstStyle/>
                    <a:p>
                      <a:pPr algn="ctr"/>
                      <a:r>
                        <a:rPr sz="1400" b="0">
                          <a:solidFill>
                            <a:srgbClr val="142B33"/>
                          </a:solidFill>
                          <a:latin typeface="Calibri"/>
                        </a:rPr>
                        <a:t>1</a:t>
                      </a:r>
                    </a:p>
                  </a:txBody>
                  <a:tcPr marL="73152" marR="73152" marT="27432" marB="27432" anchor="ctr">
                    <a:solidFill>
                      <a:srgbClr val="FFFFFF"/>
                    </a:solidFill>
                  </a:tcPr>
                </a:tc>
                <a:tc>
                  <a:txBody>
                    <a:bodyPr/>
                    <a:lstStyle/>
                    <a:p>
                      <a:pPr algn="ctr"/>
                      <a:r>
                        <a:rPr sz="1400" b="0">
                          <a:solidFill>
                            <a:srgbClr val="142B33"/>
                          </a:solidFill>
                          <a:latin typeface="Calibri"/>
                        </a:rPr>
                        <a:t>2</a:t>
                      </a:r>
                    </a:p>
                  </a:txBody>
                  <a:tcPr marL="73152" marR="73152" marT="27432" marB="27432" anchor="ctr">
                    <a:solidFill>
                      <a:srgbClr val="FFFFFF"/>
                    </a:solidFill>
                  </a:tcPr>
                </a:tc>
              </a:tr>
              <a:tr h="552703">
                <a:tc>
                  <a:txBody>
                    <a:bodyPr/>
                    <a:lstStyle/>
                    <a:p>
                      <a:pPr algn="l"/>
                      <a:r>
                        <a:rPr sz="1400" b="0">
                          <a:solidFill>
                            <a:srgbClr val="142B33"/>
                          </a:solidFill>
                          <a:latin typeface="Calibri"/>
                        </a:rPr>
                        <a:t>Resolución</a:t>
                      </a:r>
                    </a:p>
                  </a:txBody>
                  <a:tcPr marL="73152" marR="73152" marT="27432" marB="27432" anchor="ctr">
                    <a:solidFill>
                      <a:srgbClr val="F4F8F9"/>
                    </a:solidFill>
                  </a:tcPr>
                </a:tc>
                <a:tc>
                  <a:txBody>
                    <a:bodyPr/>
                    <a:lstStyle/>
                    <a:p>
                      <a:pPr algn="ctr"/>
                      <a:r>
                        <a:rPr sz="1400" b="0">
                          <a:solidFill>
                            <a:srgbClr val="142B33"/>
                          </a:solidFill>
                          <a:latin typeface="Calibri"/>
                        </a:rPr>
                        <a:t>Clara y tabulada</a:t>
                      </a:r>
                    </a:p>
                  </a:txBody>
                  <a:tcPr marL="73152" marR="73152" marT="27432" marB="27432" anchor="ctr">
                    <a:solidFill>
                      <a:srgbClr val="F4F8F9"/>
                    </a:solidFill>
                  </a:tcPr>
                </a:tc>
                <a:tc>
                  <a:txBody>
                    <a:bodyPr/>
                    <a:lstStyle/>
                    <a:p>
                      <a:pPr algn="ctr"/>
                      <a:r>
                        <a:rPr sz="1400" b="0">
                          <a:solidFill>
                            <a:srgbClr val="142B33"/>
                          </a:solidFill>
                          <a:latin typeface="Calibri"/>
                        </a:rPr>
                        <a:t>Difícil de aprovechar</a:t>
                      </a:r>
                    </a:p>
                  </a:txBody>
                  <a:tcPr marL="73152" marR="73152" marT="27432" marB="27432" anchor="ctr">
                    <a:solidFill>
                      <a:srgbClr val="F4F8F9"/>
                    </a:solidFill>
                  </a:tcPr>
                </a:tc>
              </a:tr>
              <a:tr h="552703">
                <a:tc>
                  <a:txBody>
                    <a:bodyPr/>
                    <a:lstStyle/>
                    <a:p>
                      <a:pPr algn="l"/>
                      <a:r>
                        <a:rPr sz="1400" b="0">
                          <a:solidFill>
                            <a:srgbClr val="142B33"/>
                          </a:solidFill>
                          <a:latin typeface="Calibri"/>
                        </a:rPr>
                        <a:t>Aumentar el diseño</a:t>
                      </a:r>
                    </a:p>
                  </a:txBody>
                  <a:tcPr marL="73152" marR="73152" marT="27432" marB="27432" anchor="ctr">
                    <a:solidFill>
                      <a:srgbClr val="FFFFFF"/>
                    </a:solidFill>
                  </a:tcPr>
                </a:tc>
                <a:tc>
                  <a:txBody>
                    <a:bodyPr/>
                    <a:lstStyle/>
                    <a:p>
                      <a:pPr algn="ctr"/>
                      <a:r>
                        <a:rPr sz="1400" b="0">
                          <a:solidFill>
                            <a:srgbClr val="142B33"/>
                          </a:solidFill>
                          <a:latin typeface="Calibri"/>
                        </a:rPr>
                        <a:t>Doblez, fracción alterna</a:t>
                      </a:r>
                    </a:p>
                  </a:txBody>
                  <a:tcPr marL="73152" marR="73152" marT="27432" marB="27432" anchor="ctr">
                    <a:solidFill>
                      <a:srgbClr val="FFFFFF"/>
                    </a:solidFill>
                  </a:tcPr>
                </a:tc>
                <a:tc>
                  <a:txBody>
                    <a:bodyPr/>
                    <a:lstStyle/>
                    <a:p>
                      <a:pPr algn="ctr"/>
                      <a:r>
                        <a:rPr sz="1400" b="0">
                          <a:solidFill>
                            <a:srgbClr val="142B33"/>
                          </a:solidFill>
                          <a:latin typeface="Calibri"/>
                        </a:rPr>
                        <a:t>No hay esquema simple</a:t>
                      </a:r>
                    </a:p>
                  </a:txBody>
                  <a:tcPr marL="73152" marR="73152" marT="27432" marB="27432" anchor="ctr">
                    <a:solidFill>
                      <a:srgbClr val="FFFFFF"/>
                    </a:solidFill>
                  </a:tcPr>
                </a:tc>
              </a:tr>
              <a:tr h="335788">
                <a:tc>
                  <a:txBody>
                    <a:bodyPr/>
                    <a:lstStyle/>
                    <a:p>
                      <a:pPr algn="l"/>
                      <a:r>
                        <a:rPr sz="1400" b="0">
                          <a:solidFill>
                            <a:srgbClr val="142B33"/>
                          </a:solidFill>
                          <a:latin typeface="Calibri"/>
                        </a:rPr>
                        <a:t>Catálogo</a:t>
                      </a:r>
                    </a:p>
                  </a:txBody>
                  <a:tcPr marL="73152" marR="73152" marT="27432" marB="27432" anchor="ctr">
                    <a:solidFill>
                      <a:srgbClr val="F4F8F9"/>
                    </a:solidFill>
                  </a:tcPr>
                </a:tc>
                <a:tc>
                  <a:txBody>
                    <a:bodyPr/>
                    <a:lstStyle/>
                    <a:p>
                      <a:pPr algn="ctr"/>
                      <a:r>
                        <a:rPr sz="1400" b="0">
                          <a:solidFill>
                            <a:srgbClr val="142B33"/>
                          </a:solidFill>
                          <a:latin typeface="Calibri"/>
                        </a:rPr>
                        <a:t>Tabla XII</a:t>
                      </a:r>
                    </a:p>
                  </a:txBody>
                  <a:tcPr marL="73152" marR="73152" marT="27432" marB="27432" anchor="ctr">
                    <a:solidFill>
                      <a:srgbClr val="F4F8F9"/>
                    </a:solidFill>
                  </a:tcPr>
                </a:tc>
                <a:tc>
                  <a:txBody>
                    <a:bodyPr/>
                    <a:lstStyle/>
                    <a:p>
                      <a:pPr algn="ctr"/>
                      <a:r>
                        <a:rPr sz="1400" b="0">
                          <a:solidFill>
                            <a:srgbClr val="142B33"/>
                          </a:solidFill>
                          <a:latin typeface="Calibri"/>
                        </a:rPr>
                        <a:t>Connor y Zelen</a:t>
                      </a:r>
                    </a:p>
                  </a:txBody>
                  <a:tcPr marL="73152" marR="73152" marT="27432" marB="27432" anchor="ctr">
                    <a:solidFill>
                      <a:srgbClr val="F4F8F9"/>
                    </a:solidFill>
                  </a:tcPr>
                </a:tc>
              </a:tr>
            </a:tbl>
          </a:graphicData>
        </a:graphic>
      </p:graphicFrame>
      <p:sp>
        <p:nvSpPr>
          <p:cNvPr id="8" name="TextBox 7"/>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La fracción general 3</a:t>
            </a:r>
            <a:r>
              <a:rPr sz="1000" b="0" baseline="30000">
                <a:solidFill>
                  <a:srgbClr val="5B6B73"/>
                </a:solidFill>
                <a:latin typeface="Calibri"/>
              </a:rPr>
              <a:t>k−p</a:t>
            </a:r>
          </a:p>
        </p:txBody>
      </p:sp>
      <p:sp>
        <p:nvSpPr>
          <p:cNvPr id="9" name="TextBox 8"/>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57</a:t>
            </a:r>
          </a:p>
        </p:txBody>
      </p:sp>
      <p:sp>
        <p:nvSpPr>
          <p:cNvPr id="10" name="Rounded Rectangle 9"/>
          <p:cNvSpPr/>
          <p:nvPr/>
        </p:nvSpPr>
        <p:spPr>
          <a:xfrm>
            <a:off x="548640" y="91440"/>
            <a:ext cx="297637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7 · La fracción general 3</a:t>
            </a:r>
            <a:r>
              <a:rPr sz="1100" b="1" baseline="30000">
                <a:solidFill>
                  <a:srgbClr val="FFFFFF"/>
                </a:solidFill>
                <a:latin typeface="Calibri"/>
              </a:rPr>
              <a:t>k−p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itle 1"/>
          <p:cNvSpPr>
            <a:spLocks noGrp="1"/>
          </p:cNvSpPr>
          <p:nvPr>
            <p:ph type="title"/>
          </p:nvPr>
        </p:nvSpPr>
        <p:spPr>
          <a:xfrm>
            <a:off x="548640" y="3383280"/>
            <a:ext cx="11094415" cy="914400"/>
          </a:xfrm>
        </p:spPr>
        <p:txBody>
          <a:bodyPr wrap="square" anchor="t" lIns="0" rIns="0" tIns="0" bIns="0"/>
          <a:lstStyle/>
          <a:p>
            <a:pPr algn="l"/>
            <a:r>
              <a:rPr sz="4400" b="1">
                <a:solidFill>
                  <a:srgbClr val="FFFFFF"/>
                </a:solidFill>
                <a:latin typeface="Cambria"/>
              </a:rPr>
              <a:t>Niveles mixtos</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8</a:t>
            </a:r>
          </a:p>
        </p:txBody>
      </p:sp>
      <p:sp>
        <p:nvSpPr>
          <p:cNvPr id="4" name="TextBox 3"/>
          <p:cNvSpPr txBox="1"/>
          <p:nvPr/>
        </p:nvSpPr>
        <p:spPr>
          <a:xfrm>
            <a:off x="548640" y="4343400"/>
            <a:ext cx="11094415" cy="548640"/>
          </a:xfrm>
          <a:prstGeom prst="rect">
            <a:avLst/>
          </a:prstGeom>
          <a:noFill/>
        </p:spPr>
        <p:txBody>
          <a:bodyPr wrap="square" anchor="t" lIns="0" rIns="0" tIns="0" bIns="0">
            <a:spAutoFit/>
          </a:bodyPr>
          <a:lstStyle/>
          <a:p>
            <a:r>
              <a:rPr sz="2000" b="0">
                <a:solidFill>
                  <a:srgbClr val="CFE3E8"/>
                </a:solidFill>
                <a:latin typeface="Calibri"/>
              </a:rPr>
              <a:t>Factores de tres y cuatro niveles dentro de un 2</a:t>
            </a:r>
            <a:r>
              <a:rPr sz="2000" b="0" baseline="30000">
                <a:solidFill>
                  <a:srgbClr val="CFE3E8"/>
                </a:solidFill>
                <a:latin typeface="Calibri"/>
              </a:rPr>
              <a:t>k</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La postura del libro: dos niveles como piedra angular</a:t>
            </a:r>
          </a:p>
        </p:txBody>
      </p:sp>
      <p:sp>
        <p:nvSpPr>
          <p:cNvPr id="3" name="TextBox 2"/>
          <p:cNvSpPr txBox="1"/>
          <p:nvPr/>
        </p:nvSpPr>
        <p:spPr>
          <a:xfrm>
            <a:off x="548640" y="1417320"/>
            <a:ext cx="5341467" cy="1816607"/>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600" b="0">
                <a:solidFill>
                  <a:srgbClr val="142B33"/>
                </a:solidFill>
                <a:latin typeface="Calibri"/>
              </a:rPr>
              <a:t>Dos niveles: </a:t>
            </a:r>
            <a:r>
              <a:rPr sz="1600" b="1">
                <a:solidFill>
                  <a:srgbClr val="142B33"/>
                </a:solidFill>
                <a:latin typeface="Calibri"/>
              </a:rPr>
              <a:t>piedra angular</a:t>
            </a:r>
            <a:r>
              <a:rPr sz="1600" b="0">
                <a:solidFill>
                  <a:srgbClr val="142B33"/>
                </a:solidFill>
                <a:latin typeface="Calibri"/>
              </a:rPr>
              <a:t> de la experimentación industrial</a:t>
            </a:r>
          </a:p>
          <a:p>
            <a:pPr marL="320040" indent="-320040">
              <a:spcAft>
                <a:spcPts val="600"/>
              </a:spcAft>
              <a:buClr>
                <a:srgbClr val="E36414"/>
              </a:buClr>
              <a:buFont typeface="Arial"/>
              <a:buChar char="•"/>
            </a:pPr>
            <a:r>
              <a:rPr sz="1600" b="0">
                <a:solidFill>
                  <a:srgbClr val="142B33"/>
                </a:solidFill>
                <a:latin typeface="Calibri"/>
              </a:rPr>
              <a:t>Tres niveles: diseños grandes y alias complejos</a:t>
            </a:r>
          </a:p>
          <a:p>
            <a:pPr marL="320040" indent="-320040">
              <a:spcAft>
                <a:spcPts val="600"/>
              </a:spcAft>
              <a:buClr>
                <a:srgbClr val="E36414"/>
              </a:buClr>
              <a:buFont typeface="Arial"/>
              <a:buChar char="•"/>
            </a:pPr>
            <a:r>
              <a:rPr sz="1600" b="0">
                <a:solidFill>
                  <a:srgbClr val="142B33"/>
                </a:solidFill>
                <a:latin typeface="Calibri"/>
              </a:rPr>
              <a:t>Todos cuantitativos → </a:t>
            </a:r>
            <a:r>
              <a:rPr sz="1600" b="1">
                <a:solidFill>
                  <a:srgbClr val="142B33"/>
                </a:solidFill>
                <a:latin typeface="Calibri"/>
              </a:rPr>
              <a:t>2</a:t>
            </a:r>
            <a:r>
              <a:rPr sz="1600" b="1" baseline="30000">
                <a:solidFill>
                  <a:srgbClr val="142B33"/>
                </a:solidFill>
                <a:latin typeface="Calibri"/>
              </a:rPr>
              <a:t>k</a:t>
            </a:r>
            <a:r>
              <a:rPr sz="1600" b="1">
                <a:solidFill>
                  <a:srgbClr val="142B33"/>
                </a:solidFill>
                <a:latin typeface="Calibri"/>
              </a:rPr>
              <a:t> con puntos centrales</a:t>
            </a:r>
          </a:p>
          <a:p>
            <a:pPr marL="320040" indent="-320040">
              <a:spcAft>
                <a:spcPts val="600"/>
              </a:spcAft>
              <a:buClr>
                <a:srgbClr val="E36414"/>
              </a:buClr>
              <a:buFont typeface="Arial"/>
              <a:buChar char="•"/>
            </a:pPr>
            <a:r>
              <a:rPr sz="1600" b="0">
                <a:solidFill>
                  <a:srgbClr val="142B33"/>
                </a:solidFill>
                <a:latin typeface="Calibri"/>
              </a:rPr>
              <a:t>Un factor </a:t>
            </a:r>
            <a:r>
              <a:rPr sz="1600" b="1">
                <a:solidFill>
                  <a:srgbClr val="142B33"/>
                </a:solidFill>
                <a:latin typeface="Calibri"/>
              </a:rPr>
              <a:t>cualitativo</a:t>
            </a:r>
            <a:r>
              <a:rPr sz="1600" b="0">
                <a:solidFill>
                  <a:srgbClr val="142B33"/>
                </a:solidFill>
                <a:latin typeface="Calibri"/>
              </a:rPr>
              <a:t> con 3 o 4 niveles → </a:t>
            </a:r>
            <a:r>
              <a:rPr sz="1600" b="1">
                <a:solidFill>
                  <a:srgbClr val="142B33"/>
                </a:solidFill>
                <a:latin typeface="Calibri"/>
              </a:rPr>
              <a:t>niveles mixtos</a:t>
            </a:r>
            <a:r>
              <a:rPr sz="1600" b="0">
                <a:solidFill>
                  <a:srgbClr val="142B33"/>
                </a:solidFill>
                <a:latin typeface="Calibri"/>
              </a:rPr>
              <a:t> sobre la tabla del 2</a:t>
            </a:r>
            <a:r>
              <a:rPr sz="1600" b="0" baseline="30000">
                <a:solidFill>
                  <a:srgbClr val="142B33"/>
                </a:solidFill>
                <a:latin typeface="Calibri"/>
              </a:rPr>
              <a:t>k</a:t>
            </a:r>
          </a:p>
        </p:txBody>
      </p:sp>
      <p:sp>
        <p:nvSpPr>
          <p:cNvPr id="4" name="Rounded Rectangle 3"/>
          <p:cNvSpPr/>
          <p:nvPr/>
        </p:nvSpPr>
        <p:spPr>
          <a:xfrm>
            <a:off x="6301587" y="1417320"/>
            <a:ext cx="5341467" cy="148183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Dos y tres niveles (9-4.1)</a:t>
            </a:r>
          </a:p>
          <a:p>
            <a:pPr algn="l"/>
            <a:r>
              <a:rPr sz="1500" b="0">
                <a:solidFill>
                  <a:srgbClr val="142B33"/>
                </a:solidFill>
                <a:latin typeface="Calibri"/>
              </a:rPr>
              <a:t>Dos columnas del 2</a:t>
            </a:r>
            <a:r>
              <a:rPr sz="1500" b="0" baseline="30000">
                <a:solidFill>
                  <a:srgbClr val="142B33"/>
                </a:solidFill>
                <a:latin typeface="Calibri"/>
              </a:rPr>
              <a:t>k</a:t>
            </a:r>
            <a:r>
              <a:rPr sz="1500" b="0">
                <a:solidFill>
                  <a:srgbClr val="142B33"/>
                </a:solidFill>
                <a:latin typeface="Calibri"/>
              </a:rPr>
              <a:t> </a:t>
            </a:r>
            <a:r>
              <a:rPr sz="1500" b="1">
                <a:solidFill>
                  <a:srgbClr val="142B33"/>
                </a:solidFill>
                <a:latin typeface="Calibri"/>
              </a:rPr>
              <a:t>se colapsan</a:t>
            </a:r>
            <a:r>
              <a:rPr sz="1500" b="0">
                <a:solidFill>
                  <a:srgbClr val="142B33"/>
                </a:solidFill>
                <a:latin typeface="Calibri"/>
              </a:rPr>
              <a:t> en un factor de tres niveles, repitiendo el nivel intermedio</a:t>
            </a:r>
          </a:p>
        </p:txBody>
      </p:sp>
      <p:sp>
        <p:nvSpPr>
          <p:cNvPr id="5" name="Rounded Rectangle 4"/>
          <p:cNvSpPr/>
          <p:nvPr/>
        </p:nvSpPr>
        <p:spPr>
          <a:xfrm>
            <a:off x="6301587" y="3127756"/>
            <a:ext cx="5341467" cy="148183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Dos y cuatro niveles (9-4.2)</a:t>
            </a:r>
          </a:p>
          <a:p>
            <a:pPr algn="l"/>
            <a:r>
              <a:rPr sz="1500" b="0">
                <a:solidFill>
                  <a:srgbClr val="142B33"/>
                </a:solidFill>
                <a:latin typeface="Calibri"/>
              </a:rPr>
              <a:t>Dos columnas del 2</a:t>
            </a:r>
            <a:r>
              <a:rPr sz="1500" b="0" baseline="30000">
                <a:solidFill>
                  <a:srgbClr val="142B33"/>
                </a:solidFill>
                <a:latin typeface="Calibri"/>
              </a:rPr>
              <a:t>k</a:t>
            </a:r>
            <a:r>
              <a:rPr sz="1500" b="0">
                <a:solidFill>
                  <a:srgbClr val="142B33"/>
                </a:solidFill>
                <a:latin typeface="Calibri"/>
              </a:rPr>
              <a:t> </a:t>
            </a:r>
            <a:r>
              <a:rPr sz="1500" b="1">
                <a:solidFill>
                  <a:srgbClr val="142B33"/>
                </a:solidFill>
                <a:latin typeface="Calibri"/>
              </a:rPr>
              <a:t>representan</a:t>
            </a:r>
            <a:r>
              <a:rPr sz="1500" b="0">
                <a:solidFill>
                  <a:srgbClr val="142B33"/>
                </a:solidFill>
                <a:latin typeface="Calibri"/>
              </a:rPr>
              <a:t> un factor de cuatro niveles: sus 4 combinaciones de signos son los 4 niveles</a:t>
            </a:r>
          </a:p>
        </p:txBody>
      </p:sp>
      <p:sp>
        <p:nvSpPr>
          <p:cNvPr id="6" name="TextBox 5"/>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Niveles mixtos</a:t>
            </a:r>
          </a:p>
        </p:txBody>
      </p:sp>
      <p:sp>
        <p:nvSpPr>
          <p:cNvPr id="7" name="TextBox 6"/>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59</a:t>
            </a:r>
          </a:p>
        </p:txBody>
      </p:sp>
      <p:sp>
        <p:nvSpPr>
          <p:cNvPr id="8" name="Rounded Rectangle 7"/>
          <p:cNvSpPr/>
          <p:nvPr/>
        </p:nvSpPr>
        <p:spPr>
          <a:xfrm>
            <a:off x="548640" y="91440"/>
            <a:ext cx="219913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8 · Niveles mixtos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Factores con dos y tres niveles: colapsar dos columnas en una (tabla 9-9)</a:t>
            </a:r>
          </a:p>
        </p:txBody>
      </p:sp>
      <p:graphicFrame>
        <p:nvGraphicFramePr>
          <p:cNvPr id="3" name="Table 2"/>
          <p:cNvGraphicFramePr>
            <a:graphicFrameLocks noGrp="1"/>
          </p:cNvGraphicFramePr>
          <p:nvPr/>
        </p:nvGraphicFramePr>
        <p:xfrm>
          <a:off x="548640" y="1417320"/>
          <a:ext cx="3845856" cy="1833880"/>
        </p:xfrm>
        <a:graphic>
          <a:graphicData uri="http://schemas.openxmlformats.org/drawingml/2006/table">
            <a:tbl>
              <a:tblPr firstRow="0" bandRow="0">
                <a:tableStyleId>{5C22544A-7EE6-4342-B048-85BDC9FD1C3A}</a:tableStyleId>
              </a:tblPr>
              <a:tblGrid>
                <a:gridCol w="582241"/>
                <a:gridCol w="582241"/>
                <a:gridCol w="2681374"/>
              </a:tblGrid>
              <a:tr h="366776">
                <a:tc>
                  <a:txBody>
                    <a:bodyPr/>
                    <a:lstStyle/>
                    <a:p>
                      <a:pPr algn="ctr"/>
                      <a:r>
                        <a:rPr sz="1600" b="1">
                          <a:solidFill>
                            <a:srgbClr val="FFFFFF"/>
                          </a:solidFill>
                          <a:latin typeface="Calibri"/>
                        </a:rPr>
                        <a:t>B</a:t>
                      </a:r>
                    </a:p>
                  </a:txBody>
                  <a:tcPr marL="73152" marR="73152" marT="27432" marB="27432" anchor="ctr">
                    <a:solidFill>
                      <a:srgbClr val="0F4C5C"/>
                    </a:solidFill>
                  </a:tcPr>
                </a:tc>
                <a:tc>
                  <a:txBody>
                    <a:bodyPr/>
                    <a:lstStyle/>
                    <a:p>
                      <a:pPr algn="ctr"/>
                      <a:r>
                        <a:rPr sz="1600" b="1">
                          <a:solidFill>
                            <a:srgbClr val="FFFFFF"/>
                          </a:solidFill>
                          <a:latin typeface="Calibri"/>
                        </a:rPr>
                        <a:t>C</a:t>
                      </a:r>
                    </a:p>
                  </a:txBody>
                  <a:tcPr marL="73152" marR="73152" marT="27432" marB="27432" anchor="ctr">
                    <a:solidFill>
                      <a:srgbClr val="0F4C5C"/>
                    </a:solidFill>
                  </a:tcPr>
                </a:tc>
                <a:tc>
                  <a:txBody>
                    <a:bodyPr/>
                    <a:lstStyle/>
                    <a:p>
                      <a:pPr algn="ctr"/>
                      <a:r>
                        <a:rPr sz="1600" b="1">
                          <a:solidFill>
                            <a:srgbClr val="FFFFFF"/>
                          </a:solidFill>
                          <a:latin typeface="Calibri"/>
                        </a:rPr>
                        <a:t>X</a:t>
                      </a:r>
                    </a:p>
                  </a:txBody>
                  <a:tcPr marL="73152" marR="73152" marT="27432" marB="27432" anchor="ctr">
                    <a:solidFill>
                      <a:srgbClr val="0F4C5C"/>
                    </a:solidFill>
                  </a:tcPr>
                </a:tc>
              </a:tr>
              <a:tr h="366776">
                <a:tc>
                  <a:txBody>
                    <a:bodyPr/>
                    <a:lstStyle/>
                    <a:p>
                      <a:pPr algn="ctr"/>
                      <a:r>
                        <a:rPr sz="1700" b="1">
                          <a:solidFill>
                            <a:srgbClr val="E36414"/>
                          </a:solidFill>
                          <a:latin typeface="Calibri"/>
                        </a:rPr>
                        <a:t>−</a:t>
                      </a:r>
                    </a:p>
                  </a:txBody>
                  <a:tcPr marL="73152" marR="73152" marT="27432" marB="27432" anchor="ctr">
                    <a:solidFill>
                      <a:srgbClr val="FFFFFF"/>
                    </a:solidFill>
                  </a:tcPr>
                </a:tc>
                <a:tc>
                  <a:txBody>
                    <a:bodyPr/>
                    <a:lstStyle/>
                    <a:p>
                      <a:pPr algn="ctr"/>
                      <a:r>
                        <a:rPr sz="1700" b="1">
                          <a:solidFill>
                            <a:srgbClr val="E36414"/>
                          </a:solidFill>
                          <a:latin typeface="Calibri"/>
                        </a:rPr>
                        <a:t>−</a:t>
                      </a:r>
                    </a:p>
                  </a:txBody>
                  <a:tcPr marL="73152" marR="73152" marT="27432" marB="27432" anchor="ctr">
                    <a:solidFill>
                      <a:srgbClr val="FFFFFF"/>
                    </a:solidFill>
                  </a:tcPr>
                </a:tc>
                <a:tc>
                  <a:txBody>
                    <a:bodyPr/>
                    <a:lstStyle/>
                    <a:p>
                      <a:pPr algn="ctr"/>
                      <a:r>
                        <a:rPr sz="1600" b="0">
                          <a:solidFill>
                            <a:srgbClr val="142B33"/>
                          </a:solidFill>
                          <a:latin typeface="Calibri"/>
                        </a:rPr>
                        <a:t>x</a:t>
                      </a:r>
                      <a:r>
                        <a:rPr sz="1600" b="0" baseline="-25000">
                          <a:solidFill>
                            <a:srgbClr val="142B33"/>
                          </a:solidFill>
                          <a:latin typeface="Calibri"/>
                        </a:rPr>
                        <a:t>1</a:t>
                      </a:r>
                      <a:r>
                        <a:rPr sz="1600" b="0">
                          <a:solidFill>
                            <a:srgbClr val="142B33"/>
                          </a:solidFill>
                          <a:latin typeface="Calibri"/>
                        </a:rPr>
                        <a:t> (bajo)</a:t>
                      </a:r>
                    </a:p>
                  </a:txBody>
                  <a:tcPr marL="73152" marR="73152" marT="27432" marB="27432" anchor="ctr">
                    <a:solidFill>
                      <a:srgbClr val="FFFFFF"/>
                    </a:solidFill>
                  </a:tcPr>
                </a:tc>
              </a:tr>
              <a:tr h="366776">
                <a:tc>
                  <a:txBody>
                    <a:bodyPr/>
                    <a:lstStyle/>
                    <a:p>
                      <a:pPr algn="ctr"/>
                      <a:r>
                        <a:rPr sz="1700" b="1">
                          <a:solidFill>
                            <a:srgbClr val="0F4C5C"/>
                          </a:solidFill>
                          <a:latin typeface="Calibri"/>
                        </a:rPr>
                        <a:t>+</a:t>
                      </a:r>
                    </a:p>
                  </a:txBody>
                  <a:tcPr marL="73152" marR="73152" marT="27432" marB="27432" anchor="ctr">
                    <a:solidFill>
                      <a:srgbClr val="F4F8F9"/>
                    </a:solidFill>
                  </a:tcPr>
                </a:tc>
                <a:tc>
                  <a:txBody>
                    <a:bodyPr/>
                    <a:lstStyle/>
                    <a:p>
                      <a:pPr algn="ctr"/>
                      <a:r>
                        <a:rPr sz="1700" b="1">
                          <a:solidFill>
                            <a:srgbClr val="E36414"/>
                          </a:solidFill>
                          <a:latin typeface="Calibri"/>
                        </a:rPr>
                        <a:t>−</a:t>
                      </a:r>
                    </a:p>
                  </a:txBody>
                  <a:tcPr marL="73152" marR="73152" marT="27432" marB="27432" anchor="ctr">
                    <a:solidFill>
                      <a:srgbClr val="F4F8F9"/>
                    </a:solidFill>
                  </a:tcPr>
                </a:tc>
                <a:tc>
                  <a:txBody>
                    <a:bodyPr/>
                    <a:lstStyle/>
                    <a:p>
                      <a:pPr algn="ctr"/>
                      <a:r>
                        <a:rPr sz="1600" b="0">
                          <a:solidFill>
                            <a:srgbClr val="142B33"/>
                          </a:solidFill>
                          <a:latin typeface="Calibri"/>
                        </a:rPr>
                        <a:t>x</a:t>
                      </a:r>
                      <a:r>
                        <a:rPr sz="1600" b="0" baseline="-25000">
                          <a:solidFill>
                            <a:srgbClr val="142B33"/>
                          </a:solidFill>
                          <a:latin typeface="Calibri"/>
                        </a:rPr>
                        <a:t>2</a:t>
                      </a:r>
                      <a:r>
                        <a:rPr sz="1600" b="0">
                          <a:solidFill>
                            <a:srgbClr val="142B33"/>
                          </a:solidFill>
                          <a:latin typeface="Calibri"/>
                        </a:rPr>
                        <a:t> (intermedio)</a:t>
                      </a:r>
                    </a:p>
                  </a:txBody>
                  <a:tcPr marL="73152" marR="73152" marT="27432" marB="27432" anchor="ctr">
                    <a:solidFill>
                      <a:srgbClr val="F4F8F9"/>
                    </a:solidFill>
                  </a:tcPr>
                </a:tc>
              </a:tr>
              <a:tr h="366776">
                <a:tc>
                  <a:txBody>
                    <a:bodyPr/>
                    <a:lstStyle/>
                    <a:p>
                      <a:pPr algn="ctr"/>
                      <a:r>
                        <a:rPr sz="1700" b="1">
                          <a:solidFill>
                            <a:srgbClr val="E36414"/>
                          </a:solidFill>
                          <a:latin typeface="Calibri"/>
                        </a:rPr>
                        <a:t>−</a:t>
                      </a:r>
                    </a:p>
                  </a:txBody>
                  <a:tcPr marL="73152" marR="73152" marT="27432" marB="27432" anchor="ctr">
                    <a:solidFill>
                      <a:srgbClr val="FFFFFF"/>
                    </a:solidFill>
                  </a:tcPr>
                </a:tc>
                <a:tc>
                  <a:txBody>
                    <a:bodyPr/>
                    <a:lstStyle/>
                    <a:p>
                      <a:pPr algn="ctr"/>
                      <a:r>
                        <a:rPr sz="1700" b="1">
                          <a:solidFill>
                            <a:srgbClr val="0F4C5C"/>
                          </a:solidFill>
                          <a:latin typeface="Calibri"/>
                        </a:rPr>
                        <a:t>+</a:t>
                      </a:r>
                    </a:p>
                  </a:txBody>
                  <a:tcPr marL="73152" marR="73152" marT="27432" marB="27432" anchor="ctr">
                    <a:solidFill>
                      <a:srgbClr val="FFFFFF"/>
                    </a:solidFill>
                  </a:tcPr>
                </a:tc>
                <a:tc>
                  <a:txBody>
                    <a:bodyPr/>
                    <a:lstStyle/>
                    <a:p>
                      <a:pPr algn="ctr"/>
                      <a:r>
                        <a:rPr sz="1600" b="0">
                          <a:solidFill>
                            <a:srgbClr val="142B33"/>
                          </a:solidFill>
                          <a:latin typeface="Calibri"/>
                        </a:rPr>
                        <a:t>x</a:t>
                      </a:r>
                      <a:r>
                        <a:rPr sz="1600" b="0" baseline="-25000">
                          <a:solidFill>
                            <a:srgbClr val="142B33"/>
                          </a:solidFill>
                          <a:latin typeface="Calibri"/>
                        </a:rPr>
                        <a:t>2</a:t>
                      </a:r>
                      <a:r>
                        <a:rPr sz="1600" b="0">
                          <a:solidFill>
                            <a:srgbClr val="142B33"/>
                          </a:solidFill>
                          <a:latin typeface="Calibri"/>
                        </a:rPr>
                        <a:t> (intermedio)</a:t>
                      </a:r>
                    </a:p>
                  </a:txBody>
                  <a:tcPr marL="73152" marR="73152" marT="27432" marB="27432" anchor="ctr">
                    <a:solidFill>
                      <a:srgbClr val="FFFFFF"/>
                    </a:solidFill>
                  </a:tcPr>
                </a:tc>
              </a:tr>
              <a:tr h="366776">
                <a:tc>
                  <a:txBody>
                    <a:bodyPr/>
                    <a:lstStyle/>
                    <a:p>
                      <a:pPr algn="ctr"/>
                      <a:r>
                        <a:rPr sz="1700" b="1">
                          <a:solidFill>
                            <a:srgbClr val="0F4C5C"/>
                          </a:solidFill>
                          <a:latin typeface="Calibri"/>
                        </a:rPr>
                        <a:t>+</a:t>
                      </a:r>
                    </a:p>
                  </a:txBody>
                  <a:tcPr marL="73152" marR="73152" marT="27432" marB="27432" anchor="ctr">
                    <a:solidFill>
                      <a:srgbClr val="F4F8F9"/>
                    </a:solidFill>
                  </a:tcPr>
                </a:tc>
                <a:tc>
                  <a:txBody>
                    <a:bodyPr/>
                    <a:lstStyle/>
                    <a:p>
                      <a:pPr algn="ctr"/>
                      <a:r>
                        <a:rPr sz="1700" b="1">
                          <a:solidFill>
                            <a:srgbClr val="0F4C5C"/>
                          </a:solidFill>
                          <a:latin typeface="Calibri"/>
                        </a:rPr>
                        <a:t>+</a:t>
                      </a:r>
                    </a:p>
                  </a:txBody>
                  <a:tcPr marL="73152" marR="73152" marT="27432" marB="27432" anchor="ctr">
                    <a:solidFill>
                      <a:srgbClr val="F4F8F9"/>
                    </a:solidFill>
                  </a:tcPr>
                </a:tc>
                <a:tc>
                  <a:txBody>
                    <a:bodyPr/>
                    <a:lstStyle/>
                    <a:p>
                      <a:pPr algn="ctr"/>
                      <a:r>
                        <a:rPr sz="1600" b="0">
                          <a:solidFill>
                            <a:srgbClr val="142B33"/>
                          </a:solidFill>
                          <a:latin typeface="Calibri"/>
                        </a:rPr>
                        <a:t>x</a:t>
                      </a:r>
                      <a:r>
                        <a:rPr sz="1600" b="0" baseline="-25000">
                          <a:solidFill>
                            <a:srgbClr val="142B33"/>
                          </a:solidFill>
                          <a:latin typeface="Calibri"/>
                        </a:rPr>
                        <a:t>3</a:t>
                      </a:r>
                      <a:r>
                        <a:rPr sz="1600" b="0">
                          <a:solidFill>
                            <a:srgbClr val="142B33"/>
                          </a:solidFill>
                          <a:latin typeface="Calibri"/>
                        </a:rPr>
                        <a:t> (alto)</a:t>
                      </a:r>
                    </a:p>
                  </a:txBody>
                  <a:tcPr marL="73152" marR="73152" marT="27432" marB="27432" anchor="ctr">
                    <a:solidFill>
                      <a:srgbClr val="F4F8F9"/>
                    </a:solidFill>
                  </a:tcPr>
                </a:tc>
              </a:tr>
            </a:tbl>
          </a:graphicData>
        </a:graphic>
      </p:graphicFrame>
      <p:sp>
        <p:nvSpPr>
          <p:cNvPr id="4" name="Rounded Rectangle 3"/>
          <p:cNvSpPr/>
          <p:nvPr/>
        </p:nvSpPr>
        <p:spPr>
          <a:xfrm>
            <a:off x="548640" y="3452368"/>
            <a:ext cx="3845856" cy="97155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El nivel intermedio queda </a:t>
            </a:r>
            <a:r>
              <a:rPr sz="1500" b="1">
                <a:solidFill>
                  <a:srgbClr val="142B33"/>
                </a:solidFill>
                <a:latin typeface="Calibri"/>
              </a:rPr>
              <a:t>repetido</a:t>
            </a:r>
            <a:r>
              <a:rPr sz="1500" b="0">
                <a:solidFill>
                  <a:srgbClr val="142B33"/>
                </a:solidFill>
                <a:latin typeface="Calibri"/>
              </a:rPr>
              <a:t>: de ahí salen réplicas para el error</a:t>
            </a:r>
          </a:p>
        </p:txBody>
      </p:sp>
      <p:graphicFrame>
        <p:nvGraphicFramePr>
          <p:cNvPr id="5" name="Table 4"/>
          <p:cNvGraphicFramePr>
            <a:graphicFrameLocks noGrp="1"/>
          </p:cNvGraphicFramePr>
          <p:nvPr/>
        </p:nvGraphicFramePr>
        <p:xfrm>
          <a:off x="4805976" y="1417320"/>
          <a:ext cx="6837072" cy="3014472"/>
        </p:xfrm>
        <a:graphic>
          <a:graphicData uri="http://schemas.openxmlformats.org/drawingml/2006/table">
            <a:tbl>
              <a:tblPr firstRow="0" bandRow="0">
                <a:tableStyleId>{5C22544A-7EE6-4342-B048-85BDC9FD1C3A}</a:tableStyleId>
              </a:tblPr>
              <a:tblGrid>
                <a:gridCol w="663682"/>
                <a:gridCol w="514926"/>
                <a:gridCol w="589304"/>
                <a:gridCol w="589304"/>
                <a:gridCol w="812439"/>
                <a:gridCol w="812439"/>
                <a:gridCol w="663682"/>
                <a:gridCol w="886817"/>
                <a:gridCol w="589304"/>
                <a:gridCol w="715175"/>
              </a:tblGrid>
              <a:tr h="417576">
                <a:tc>
                  <a:txBody>
                    <a:bodyPr/>
                    <a:lstStyle/>
                    <a:p>
                      <a:pPr algn="ctr"/>
                      <a:r>
                        <a:rPr sz="1200" b="1">
                          <a:solidFill>
                            <a:srgbClr val="FFFFFF"/>
                          </a:solidFill>
                          <a:latin typeface="Calibri"/>
                        </a:rPr>
                        <a:t>Corrida</a:t>
                      </a:r>
                    </a:p>
                  </a:txBody>
                  <a:tcPr marL="73152" marR="73152" marT="27432" marB="27432" anchor="ctr">
                    <a:solidFill>
                      <a:srgbClr val="0F4C5C"/>
                    </a:solidFill>
                  </a:tcPr>
                </a:tc>
                <a:tc>
                  <a:txBody>
                    <a:bodyPr/>
                    <a:lstStyle/>
                    <a:p>
                      <a:pPr algn="ctr"/>
                      <a:r>
                        <a:rPr sz="1200" b="1">
                          <a:solidFill>
                            <a:srgbClr val="FFFFFF"/>
                          </a:solidFill>
                          <a:latin typeface="Calibri"/>
                        </a:rPr>
                        <a:t>A [A]</a:t>
                      </a:r>
                    </a:p>
                  </a:txBody>
                  <a:tcPr marL="73152" marR="73152" marT="27432" marB="27432" anchor="ctr">
                    <a:solidFill>
                      <a:srgbClr val="0F4C5C"/>
                    </a:solidFill>
                  </a:tcPr>
                </a:tc>
                <a:tc>
                  <a:txBody>
                    <a:bodyPr/>
                    <a:lstStyle/>
                    <a:p>
                      <a:pPr algn="ctr"/>
                      <a:r>
                        <a:rPr sz="1200" b="1">
                          <a:solidFill>
                            <a:srgbClr val="FFFFFF"/>
                          </a:solidFill>
                          <a:latin typeface="Calibri"/>
                        </a:rPr>
                        <a:t>B [X</a:t>
                      </a:r>
                      <a:r>
                        <a:rPr sz="1200" b="1" baseline="-25000">
                          <a:solidFill>
                            <a:srgbClr val="FFFFFF"/>
                          </a:solidFill>
                          <a:latin typeface="Calibri"/>
                        </a:rPr>
                        <a:t>L</a:t>
                      </a:r>
                      <a:r>
                        <a:rPr sz="1200" b="1">
                          <a:solidFill>
                            <a:srgbClr val="FFFFFF"/>
                          </a:solidFill>
                          <a:latin typeface="Calibri"/>
                        </a:rPr>
                        <a:t>]</a:t>
                      </a:r>
                    </a:p>
                  </a:txBody>
                  <a:tcPr marL="73152" marR="73152" marT="27432" marB="27432" anchor="ctr">
                    <a:solidFill>
                      <a:srgbClr val="0F4C5C"/>
                    </a:solidFill>
                  </a:tcPr>
                </a:tc>
                <a:tc>
                  <a:txBody>
                    <a:bodyPr/>
                    <a:lstStyle/>
                    <a:p>
                      <a:pPr algn="ctr"/>
                      <a:r>
                        <a:rPr sz="1200" b="1">
                          <a:solidFill>
                            <a:srgbClr val="FFFFFF"/>
                          </a:solidFill>
                          <a:latin typeface="Calibri"/>
                        </a:rPr>
                        <a:t>C [X</a:t>
                      </a:r>
                      <a:r>
                        <a:rPr sz="1200" b="1" baseline="-25000">
                          <a:solidFill>
                            <a:srgbClr val="FFFFFF"/>
                          </a:solidFill>
                          <a:latin typeface="Calibri"/>
                        </a:rPr>
                        <a:t>L</a:t>
                      </a:r>
                      <a:r>
                        <a:rPr sz="1200" b="1">
                          <a:solidFill>
                            <a:srgbClr val="FFFFFF"/>
                          </a:solidFill>
                          <a:latin typeface="Calibri"/>
                        </a:rPr>
                        <a:t>]</a:t>
                      </a:r>
                    </a:p>
                  </a:txBody>
                  <a:tcPr marL="73152" marR="73152" marT="27432" marB="27432" anchor="ctr">
                    <a:solidFill>
                      <a:srgbClr val="0F4C5C"/>
                    </a:solidFill>
                  </a:tcPr>
                </a:tc>
                <a:tc>
                  <a:txBody>
                    <a:bodyPr/>
                    <a:lstStyle/>
                    <a:p>
                      <a:pPr algn="ctr"/>
                      <a:r>
                        <a:rPr sz="1200" b="1">
                          <a:solidFill>
                            <a:srgbClr val="FFFFFF"/>
                          </a:solidFill>
                          <a:latin typeface="Calibri"/>
                        </a:rPr>
                        <a:t>AB [A×X</a:t>
                      </a:r>
                      <a:r>
                        <a:rPr sz="1200" b="1" baseline="-25000">
                          <a:solidFill>
                            <a:srgbClr val="FFFFFF"/>
                          </a:solidFill>
                          <a:latin typeface="Calibri"/>
                        </a:rPr>
                        <a:t>L</a:t>
                      </a:r>
                      <a:r>
                        <a:rPr sz="1200" b="1">
                          <a:solidFill>
                            <a:srgbClr val="FFFFFF"/>
                          </a:solidFill>
                          <a:latin typeface="Calibri"/>
                        </a:rPr>
                        <a:t>]</a:t>
                      </a:r>
                    </a:p>
                  </a:txBody>
                  <a:tcPr marL="73152" marR="73152" marT="27432" marB="27432" anchor="ctr">
                    <a:solidFill>
                      <a:srgbClr val="0F4C5C"/>
                    </a:solidFill>
                  </a:tcPr>
                </a:tc>
                <a:tc>
                  <a:txBody>
                    <a:bodyPr/>
                    <a:lstStyle/>
                    <a:p>
                      <a:pPr algn="ctr"/>
                      <a:r>
                        <a:rPr sz="1200" b="1">
                          <a:solidFill>
                            <a:srgbClr val="FFFFFF"/>
                          </a:solidFill>
                          <a:latin typeface="Calibri"/>
                        </a:rPr>
                        <a:t>AC [A×X</a:t>
                      </a:r>
                      <a:r>
                        <a:rPr sz="1200" b="1" baseline="-25000">
                          <a:solidFill>
                            <a:srgbClr val="FFFFFF"/>
                          </a:solidFill>
                          <a:latin typeface="Calibri"/>
                        </a:rPr>
                        <a:t>L</a:t>
                      </a:r>
                      <a:r>
                        <a:rPr sz="1200" b="1">
                          <a:solidFill>
                            <a:srgbClr val="FFFFFF"/>
                          </a:solidFill>
                          <a:latin typeface="Calibri"/>
                        </a:rPr>
                        <a:t>]</a:t>
                      </a:r>
                    </a:p>
                  </a:txBody>
                  <a:tcPr marL="73152" marR="73152" marT="27432" marB="27432" anchor="ctr">
                    <a:solidFill>
                      <a:srgbClr val="0F4C5C"/>
                    </a:solidFill>
                  </a:tcPr>
                </a:tc>
                <a:tc>
                  <a:txBody>
                    <a:bodyPr/>
                    <a:lstStyle/>
                    <a:p>
                      <a:pPr algn="ctr"/>
                      <a:r>
                        <a:rPr sz="1200" b="1">
                          <a:solidFill>
                            <a:srgbClr val="FFFFFF"/>
                          </a:solidFill>
                          <a:latin typeface="Calibri"/>
                        </a:rPr>
                        <a:t>BC [X</a:t>
                      </a:r>
                      <a:r>
                        <a:rPr sz="1200" b="1" baseline="-25000">
                          <a:solidFill>
                            <a:srgbClr val="FFFFFF"/>
                          </a:solidFill>
                          <a:latin typeface="Calibri"/>
                        </a:rPr>
                        <a:t>Q</a:t>
                      </a:r>
                      <a:r>
                        <a:rPr sz="1200" b="1">
                          <a:solidFill>
                            <a:srgbClr val="FFFFFF"/>
                          </a:solidFill>
                          <a:latin typeface="Calibri"/>
                        </a:rPr>
                        <a:t>]</a:t>
                      </a:r>
                    </a:p>
                  </a:txBody>
                  <a:tcPr marL="73152" marR="73152" marT="27432" marB="27432" anchor="ctr">
                    <a:solidFill>
                      <a:srgbClr val="0F4C5C"/>
                    </a:solidFill>
                  </a:tcPr>
                </a:tc>
                <a:tc>
                  <a:txBody>
                    <a:bodyPr/>
                    <a:lstStyle/>
                    <a:p>
                      <a:pPr algn="ctr"/>
                      <a:r>
                        <a:rPr sz="1200" b="1">
                          <a:solidFill>
                            <a:srgbClr val="FFFFFF"/>
                          </a:solidFill>
                          <a:latin typeface="Calibri"/>
                        </a:rPr>
                        <a:t>ABC [A×X</a:t>
                      </a:r>
                      <a:r>
                        <a:rPr sz="1200" b="1" baseline="-25000">
                          <a:solidFill>
                            <a:srgbClr val="FFFFFF"/>
                          </a:solidFill>
                          <a:latin typeface="Calibri"/>
                        </a:rPr>
                        <a:t>Q</a:t>
                      </a:r>
                      <a:r>
                        <a:rPr sz="1200" b="1">
                          <a:solidFill>
                            <a:srgbClr val="FFFFFF"/>
                          </a:solidFill>
                          <a:latin typeface="Calibri"/>
                        </a:rPr>
                        <a:t>]</a:t>
                      </a:r>
                    </a:p>
                  </a:txBody>
                  <a:tcPr marL="73152" marR="73152" marT="27432" marB="27432" anchor="ctr">
                    <a:solidFill>
                      <a:srgbClr val="0F4C5C"/>
                    </a:solidFill>
                  </a:tcPr>
                </a:tc>
                <a:tc>
                  <a:txBody>
                    <a:bodyPr/>
                    <a:lstStyle/>
                    <a:p>
                      <a:pPr algn="ctr"/>
                      <a:r>
                        <a:rPr sz="1200" b="1">
                          <a:solidFill>
                            <a:srgbClr val="FFFFFF"/>
                          </a:solidFill>
                          <a:latin typeface="Calibri"/>
                        </a:rPr>
                        <a:t>A real</a:t>
                      </a:r>
                    </a:p>
                  </a:txBody>
                  <a:tcPr marL="73152" marR="73152" marT="27432" marB="27432" anchor="ctr">
                    <a:solidFill>
                      <a:srgbClr val="0F4C5C"/>
                    </a:solidFill>
                  </a:tcPr>
                </a:tc>
                <a:tc>
                  <a:txBody>
                    <a:bodyPr/>
                    <a:lstStyle/>
                    <a:p>
                      <a:pPr algn="ctr"/>
                      <a:r>
                        <a:rPr sz="1200" b="1">
                          <a:solidFill>
                            <a:srgbClr val="FFFFFF"/>
                          </a:solidFill>
                          <a:latin typeface="Calibri"/>
                        </a:rPr>
                        <a:t>X real</a:t>
                      </a:r>
                    </a:p>
                  </a:txBody>
                  <a:tcPr marL="73152" marR="73152" marT="27432" marB="27432" anchor="ctr">
                    <a:solidFill>
                      <a:srgbClr val="0F4C5C"/>
                    </a:solidFill>
                  </a:tcPr>
                </a:tc>
              </a:tr>
              <a:tr h="231648">
                <a:tc>
                  <a:txBody>
                    <a:bodyPr/>
                    <a:lstStyle/>
                    <a:p>
                      <a:pPr algn="ctr"/>
                      <a:r>
                        <a:rPr sz="1200" b="0">
                          <a:solidFill>
                            <a:srgbClr val="142B33"/>
                          </a:solidFill>
                          <a:latin typeface="Calibri"/>
                        </a:rPr>
                        <a:t>1</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Bajo</a:t>
                      </a:r>
                    </a:p>
                  </a:txBody>
                  <a:tcPr marL="73152" marR="73152" marT="27432" marB="27432" anchor="ctr">
                    <a:solidFill>
                      <a:srgbClr val="FFFFFF"/>
                    </a:solidFill>
                  </a:tcPr>
                </a:tc>
                <a:tc>
                  <a:txBody>
                    <a:bodyPr/>
                    <a:lstStyle/>
                    <a:p>
                      <a:pPr algn="ctr"/>
                      <a:r>
                        <a:rPr sz="1200" b="0">
                          <a:solidFill>
                            <a:srgbClr val="142B33"/>
                          </a:solidFill>
                          <a:latin typeface="Calibri"/>
                        </a:rPr>
                        <a:t>Bajo</a:t>
                      </a:r>
                    </a:p>
                  </a:txBody>
                  <a:tcPr marL="73152" marR="73152" marT="27432" marB="27432" anchor="ctr">
                    <a:solidFill>
                      <a:srgbClr val="FFFFFF"/>
                    </a:solidFill>
                  </a:tcPr>
                </a:tc>
              </a:tr>
              <a:tr h="231648">
                <a:tc>
                  <a:txBody>
                    <a:bodyPr/>
                    <a:lstStyle/>
                    <a:p>
                      <a:pPr algn="ctr"/>
                      <a:r>
                        <a:rPr sz="1200" b="0">
                          <a:solidFill>
                            <a:srgbClr val="142B33"/>
                          </a:solidFill>
                          <a:latin typeface="Calibri"/>
                        </a:rPr>
                        <a:t>2</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Alto</a:t>
                      </a:r>
                    </a:p>
                  </a:txBody>
                  <a:tcPr marL="73152" marR="73152" marT="27432" marB="27432" anchor="ctr">
                    <a:solidFill>
                      <a:srgbClr val="F4F8F9"/>
                    </a:solidFill>
                  </a:tcPr>
                </a:tc>
                <a:tc>
                  <a:txBody>
                    <a:bodyPr/>
                    <a:lstStyle/>
                    <a:p>
                      <a:pPr algn="ctr"/>
                      <a:r>
                        <a:rPr sz="1200" b="0">
                          <a:solidFill>
                            <a:srgbClr val="142B33"/>
                          </a:solidFill>
                          <a:latin typeface="Calibri"/>
                        </a:rPr>
                        <a:t>Bajo</a:t>
                      </a:r>
                    </a:p>
                  </a:txBody>
                  <a:tcPr marL="73152" marR="73152" marT="27432" marB="27432" anchor="ctr">
                    <a:solidFill>
                      <a:srgbClr val="F4F8F9"/>
                    </a:solidFill>
                  </a:tcPr>
                </a:tc>
              </a:tr>
              <a:tr h="417576">
                <a:tc>
                  <a:txBody>
                    <a:bodyPr/>
                    <a:lstStyle/>
                    <a:p>
                      <a:pPr algn="ctr"/>
                      <a:r>
                        <a:rPr sz="1200" b="0">
                          <a:solidFill>
                            <a:srgbClr val="142B33"/>
                          </a:solidFill>
                          <a:latin typeface="Calibri"/>
                        </a:rPr>
                        <a:t>3</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Bajo</a:t>
                      </a:r>
                    </a:p>
                  </a:txBody>
                  <a:tcPr marL="73152" marR="73152" marT="27432" marB="27432" anchor="ctr">
                    <a:solidFill>
                      <a:srgbClr val="FFFFFF"/>
                    </a:solidFill>
                  </a:tcPr>
                </a:tc>
                <a:tc>
                  <a:txBody>
                    <a:bodyPr/>
                    <a:lstStyle/>
                    <a:p>
                      <a:pPr algn="ctr"/>
                      <a:r>
                        <a:rPr sz="1200" b="0">
                          <a:solidFill>
                            <a:srgbClr val="142B33"/>
                          </a:solidFill>
                          <a:latin typeface="Calibri"/>
                        </a:rPr>
                        <a:t>Intermedio</a:t>
                      </a:r>
                    </a:p>
                  </a:txBody>
                  <a:tcPr marL="73152" marR="73152" marT="27432" marB="27432" anchor="ctr">
                    <a:solidFill>
                      <a:srgbClr val="FFFFFF"/>
                    </a:solidFill>
                  </a:tcPr>
                </a:tc>
              </a:tr>
              <a:tr h="417576">
                <a:tc>
                  <a:txBody>
                    <a:bodyPr/>
                    <a:lstStyle/>
                    <a:p>
                      <a:pPr algn="ctr"/>
                      <a:r>
                        <a:rPr sz="1200" b="0">
                          <a:solidFill>
                            <a:srgbClr val="142B33"/>
                          </a:solidFill>
                          <a:latin typeface="Calibri"/>
                        </a:rPr>
                        <a:t>4</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Alto</a:t>
                      </a:r>
                    </a:p>
                  </a:txBody>
                  <a:tcPr marL="73152" marR="73152" marT="27432" marB="27432" anchor="ctr">
                    <a:solidFill>
                      <a:srgbClr val="F4F8F9"/>
                    </a:solidFill>
                  </a:tcPr>
                </a:tc>
                <a:tc>
                  <a:txBody>
                    <a:bodyPr/>
                    <a:lstStyle/>
                    <a:p>
                      <a:pPr algn="ctr"/>
                      <a:r>
                        <a:rPr sz="1200" b="0">
                          <a:solidFill>
                            <a:srgbClr val="142B33"/>
                          </a:solidFill>
                          <a:latin typeface="Calibri"/>
                        </a:rPr>
                        <a:t>Intermedio</a:t>
                      </a:r>
                    </a:p>
                  </a:txBody>
                  <a:tcPr marL="73152" marR="73152" marT="27432" marB="27432" anchor="ctr">
                    <a:solidFill>
                      <a:srgbClr val="F4F8F9"/>
                    </a:solidFill>
                  </a:tcPr>
                </a:tc>
              </a:tr>
              <a:tr h="417576">
                <a:tc>
                  <a:txBody>
                    <a:bodyPr/>
                    <a:lstStyle/>
                    <a:p>
                      <a:pPr algn="ctr"/>
                      <a:r>
                        <a:rPr sz="1200" b="0">
                          <a:solidFill>
                            <a:srgbClr val="142B33"/>
                          </a:solidFill>
                          <a:latin typeface="Calibri"/>
                        </a:rPr>
                        <a:t>5</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Bajo</a:t>
                      </a:r>
                    </a:p>
                  </a:txBody>
                  <a:tcPr marL="73152" marR="73152" marT="27432" marB="27432" anchor="ctr">
                    <a:solidFill>
                      <a:srgbClr val="FFFFFF"/>
                    </a:solidFill>
                  </a:tcPr>
                </a:tc>
                <a:tc>
                  <a:txBody>
                    <a:bodyPr/>
                    <a:lstStyle/>
                    <a:p>
                      <a:pPr algn="ctr"/>
                      <a:r>
                        <a:rPr sz="1200" b="0">
                          <a:solidFill>
                            <a:srgbClr val="142B33"/>
                          </a:solidFill>
                          <a:latin typeface="Calibri"/>
                        </a:rPr>
                        <a:t>Intermedio</a:t>
                      </a:r>
                    </a:p>
                  </a:txBody>
                  <a:tcPr marL="73152" marR="73152" marT="27432" marB="27432" anchor="ctr">
                    <a:solidFill>
                      <a:srgbClr val="FFFFFF"/>
                    </a:solidFill>
                  </a:tcPr>
                </a:tc>
              </a:tr>
              <a:tr h="417576">
                <a:tc>
                  <a:txBody>
                    <a:bodyPr/>
                    <a:lstStyle/>
                    <a:p>
                      <a:pPr algn="ctr"/>
                      <a:r>
                        <a:rPr sz="1200" b="0">
                          <a:solidFill>
                            <a:srgbClr val="142B33"/>
                          </a:solidFill>
                          <a:latin typeface="Calibri"/>
                        </a:rPr>
                        <a:t>6</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300" b="1">
                          <a:solidFill>
                            <a:srgbClr val="E36414"/>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Alto</a:t>
                      </a:r>
                    </a:p>
                  </a:txBody>
                  <a:tcPr marL="73152" marR="73152" marT="27432" marB="27432" anchor="ctr">
                    <a:solidFill>
                      <a:srgbClr val="F4F8F9"/>
                    </a:solidFill>
                  </a:tcPr>
                </a:tc>
                <a:tc>
                  <a:txBody>
                    <a:bodyPr/>
                    <a:lstStyle/>
                    <a:p>
                      <a:pPr algn="ctr"/>
                      <a:r>
                        <a:rPr sz="1200" b="0">
                          <a:solidFill>
                            <a:srgbClr val="142B33"/>
                          </a:solidFill>
                          <a:latin typeface="Calibri"/>
                        </a:rPr>
                        <a:t>Intermedio</a:t>
                      </a:r>
                    </a:p>
                  </a:txBody>
                  <a:tcPr marL="73152" marR="73152" marT="27432" marB="27432" anchor="ctr">
                    <a:solidFill>
                      <a:srgbClr val="F4F8F9"/>
                    </a:solidFill>
                  </a:tcPr>
                </a:tc>
              </a:tr>
              <a:tr h="231648">
                <a:tc>
                  <a:txBody>
                    <a:bodyPr/>
                    <a:lstStyle/>
                    <a:p>
                      <a:pPr algn="ctr"/>
                      <a:r>
                        <a:rPr sz="1200" b="0">
                          <a:solidFill>
                            <a:srgbClr val="142B33"/>
                          </a:solidFill>
                          <a:latin typeface="Calibri"/>
                        </a:rPr>
                        <a:t>7</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300" b="1">
                          <a:solidFill>
                            <a:srgbClr val="0F4C5C"/>
                          </a:solidFill>
                          <a:latin typeface="Calibri"/>
                        </a:rPr>
                        <a:t>+</a:t>
                      </a:r>
                    </a:p>
                  </a:txBody>
                  <a:tcPr marL="73152" marR="73152" marT="27432" marB="27432" anchor="ctr">
                    <a:solidFill>
                      <a:srgbClr val="FFFFFF"/>
                    </a:solidFill>
                  </a:tcPr>
                </a:tc>
                <a:tc>
                  <a:txBody>
                    <a:bodyPr/>
                    <a:lstStyle/>
                    <a:p>
                      <a:pPr algn="ctr"/>
                      <a:r>
                        <a:rPr sz="1300" b="1">
                          <a:solidFill>
                            <a:srgbClr val="E36414"/>
                          </a:solidFill>
                          <a:latin typeface="Calibri"/>
                        </a:rPr>
                        <a:t>−</a:t>
                      </a:r>
                    </a:p>
                  </a:txBody>
                  <a:tcPr marL="73152" marR="73152" marT="27432" marB="27432" anchor="ctr">
                    <a:solidFill>
                      <a:srgbClr val="FFFFFF"/>
                    </a:solidFill>
                  </a:tcPr>
                </a:tc>
                <a:tc>
                  <a:txBody>
                    <a:bodyPr/>
                    <a:lstStyle/>
                    <a:p>
                      <a:pPr algn="ctr"/>
                      <a:r>
                        <a:rPr sz="1200" b="0">
                          <a:solidFill>
                            <a:srgbClr val="142B33"/>
                          </a:solidFill>
                          <a:latin typeface="Calibri"/>
                        </a:rPr>
                        <a:t>Bajo</a:t>
                      </a:r>
                    </a:p>
                  </a:txBody>
                  <a:tcPr marL="73152" marR="73152" marT="27432" marB="27432" anchor="ctr">
                    <a:solidFill>
                      <a:srgbClr val="FFFFFF"/>
                    </a:solidFill>
                  </a:tcPr>
                </a:tc>
                <a:tc>
                  <a:txBody>
                    <a:bodyPr/>
                    <a:lstStyle/>
                    <a:p>
                      <a:pPr algn="ctr"/>
                      <a:r>
                        <a:rPr sz="1200" b="0">
                          <a:solidFill>
                            <a:srgbClr val="142B33"/>
                          </a:solidFill>
                          <a:latin typeface="Calibri"/>
                        </a:rPr>
                        <a:t>Alto</a:t>
                      </a:r>
                    </a:p>
                  </a:txBody>
                  <a:tcPr marL="73152" marR="73152" marT="27432" marB="27432" anchor="ctr">
                    <a:solidFill>
                      <a:srgbClr val="FFFFFF"/>
                    </a:solidFill>
                  </a:tcPr>
                </a:tc>
              </a:tr>
              <a:tr h="231648">
                <a:tc>
                  <a:txBody>
                    <a:bodyPr/>
                    <a:lstStyle/>
                    <a:p>
                      <a:pPr algn="ctr"/>
                      <a:r>
                        <a:rPr sz="1200" b="0">
                          <a:solidFill>
                            <a:srgbClr val="142B33"/>
                          </a:solidFill>
                          <a:latin typeface="Calibri"/>
                        </a:rPr>
                        <a:t>8</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300" b="1">
                          <a:solidFill>
                            <a:srgbClr val="0F4C5C"/>
                          </a:solidFill>
                          <a:latin typeface="Calibri"/>
                        </a:rPr>
                        <a:t>+</a:t>
                      </a:r>
                    </a:p>
                  </a:txBody>
                  <a:tcPr marL="73152" marR="73152" marT="27432" marB="27432" anchor="ctr">
                    <a:solidFill>
                      <a:srgbClr val="F4F8F9"/>
                    </a:solidFill>
                  </a:tcPr>
                </a:tc>
                <a:tc>
                  <a:txBody>
                    <a:bodyPr/>
                    <a:lstStyle/>
                    <a:p>
                      <a:pPr algn="ctr"/>
                      <a:r>
                        <a:rPr sz="1200" b="0">
                          <a:solidFill>
                            <a:srgbClr val="142B33"/>
                          </a:solidFill>
                          <a:latin typeface="Calibri"/>
                        </a:rPr>
                        <a:t>Alto</a:t>
                      </a:r>
                    </a:p>
                  </a:txBody>
                  <a:tcPr marL="73152" marR="73152" marT="27432" marB="27432" anchor="ctr">
                    <a:solidFill>
                      <a:srgbClr val="F4F8F9"/>
                    </a:solidFill>
                  </a:tcPr>
                </a:tc>
                <a:tc>
                  <a:txBody>
                    <a:bodyPr/>
                    <a:lstStyle/>
                    <a:p>
                      <a:pPr algn="ctr"/>
                      <a:r>
                        <a:rPr sz="1200" b="0">
                          <a:solidFill>
                            <a:srgbClr val="142B33"/>
                          </a:solidFill>
                          <a:latin typeface="Calibri"/>
                        </a:rPr>
                        <a:t>Alto</a:t>
                      </a:r>
                    </a:p>
                  </a:txBody>
                  <a:tcPr marL="73152" marR="73152" marT="27432" marB="27432" anchor="ctr">
                    <a:solidFill>
                      <a:srgbClr val="F4F8F9"/>
                    </a:solidFill>
                  </a:tcPr>
                </a:tc>
              </a:tr>
            </a:tbl>
          </a:graphicData>
        </a:graphic>
      </p:graphicFrame>
      <p:sp>
        <p:nvSpPr>
          <p:cNvPr id="6" name="TextBox 5"/>
          <p:cNvSpPr txBox="1"/>
          <p:nvPr/>
        </p:nvSpPr>
        <p:spPr>
          <a:xfrm>
            <a:off x="4805976" y="4632960"/>
            <a:ext cx="6837078" cy="222504"/>
          </a:xfrm>
          <a:prstGeom prst="rect">
            <a:avLst/>
          </a:prstGeom>
          <a:noFill/>
        </p:spPr>
        <p:txBody>
          <a:bodyPr wrap="square" anchor="t" lIns="0" rIns="0" tIns="0" bIns="0">
            <a:spAutoFit/>
          </a:bodyPr>
          <a:lstStyle/>
          <a:p>
            <a:r>
              <a:rPr sz="1200" b="0">
                <a:solidFill>
                  <a:srgbClr val="5B6B73"/>
                </a:solidFill>
                <a:latin typeface="Calibri"/>
              </a:rPr>
              <a:t>Tabla 9-10: entre corchetes, el efecto real que estima cada columna</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Niveles mixtos</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60</a:t>
            </a:r>
          </a:p>
        </p:txBody>
      </p:sp>
      <p:sp>
        <p:nvSpPr>
          <p:cNvPr id="9" name="Rounded Rectangle 8"/>
          <p:cNvSpPr/>
          <p:nvPr/>
        </p:nvSpPr>
        <p:spPr>
          <a:xfrm>
            <a:off x="548640" y="91440"/>
            <a:ext cx="219913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8 · Niveles mixtos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El análisis: X</a:t>
            </a:r>
            <a:r>
              <a:rPr sz="3000" b="1" baseline="-25000">
                <a:solidFill>
                  <a:srgbClr val="0F4C5C"/>
                </a:solidFill>
                <a:latin typeface="Cambria"/>
              </a:rPr>
              <a:t>L</a:t>
            </a:r>
            <a:r>
              <a:rPr sz="3000" b="1">
                <a:solidFill>
                  <a:srgbClr val="0F4C5C"/>
                </a:solidFill>
                <a:latin typeface="Cambria"/>
              </a:rPr>
              <a:t>, X</a:t>
            </a:r>
            <a:r>
              <a:rPr sz="3000" b="1" baseline="-25000">
                <a:solidFill>
                  <a:srgbClr val="0F4C5C"/>
                </a:solidFill>
                <a:latin typeface="Cambria"/>
              </a:rPr>
              <a:t>Q</a:t>
            </a:r>
            <a:r>
              <a:rPr sz="3000" b="1">
                <a:solidFill>
                  <a:srgbClr val="0F4C5C"/>
                </a:solidFill>
                <a:latin typeface="Cambria"/>
              </a:rPr>
              <a:t> y el error puro de las corridas repetidas (tabla 9-11)</a:t>
            </a:r>
          </a:p>
        </p:txBody>
      </p:sp>
      <p:graphicFrame>
        <p:nvGraphicFramePr>
          <p:cNvPr id="3" name="Table 2"/>
          <p:cNvGraphicFramePr>
            <a:graphicFrameLocks noGrp="1"/>
          </p:cNvGraphicFramePr>
          <p:nvPr/>
        </p:nvGraphicFramePr>
        <p:xfrm>
          <a:off x="548640" y="1417320"/>
          <a:ext cx="5341466" cy="2340102"/>
        </p:xfrm>
        <a:graphic>
          <a:graphicData uri="http://schemas.openxmlformats.org/drawingml/2006/table">
            <a:tbl>
              <a:tblPr firstRow="0" bandRow="0">
                <a:tableStyleId>{5C22544A-7EE6-4342-B048-85BDC9FD1C3A}</a:tableStyleId>
              </a:tblPr>
              <a:tblGrid>
                <a:gridCol w="2403660"/>
                <a:gridCol w="1068293"/>
                <a:gridCol w="640976"/>
                <a:gridCol w="1228537"/>
              </a:tblGrid>
              <a:tr h="351282">
                <a:tc>
                  <a:txBody>
                    <a:bodyPr/>
                    <a:lstStyle/>
                    <a:p>
                      <a:pPr algn="l"/>
                      <a:r>
                        <a:rPr sz="1500" b="1">
                          <a:solidFill>
                            <a:srgbClr val="FFFFFF"/>
                          </a:solidFill>
                          <a:latin typeface="Calibri"/>
                        </a:rPr>
                        <a:t>SV</a:t>
                      </a:r>
                    </a:p>
                  </a:txBody>
                  <a:tcPr marL="73152" marR="73152" marT="27432" marB="27432" anchor="ctr">
                    <a:solidFill>
                      <a:srgbClr val="0F4C5C"/>
                    </a:solidFill>
                  </a:tcPr>
                </a:tc>
                <a:tc>
                  <a:txBody>
                    <a:bodyPr/>
                    <a:lstStyle/>
                    <a:p>
                      <a:pPr algn="ctr"/>
                      <a:r>
                        <a:rPr sz="1500" b="1">
                          <a:solidFill>
                            <a:srgbClr val="FFFFFF"/>
                          </a:solidFill>
                          <a:latin typeface="Calibri"/>
                        </a:rPr>
                        <a:t>SS</a:t>
                      </a:r>
                    </a:p>
                  </a:txBody>
                  <a:tcPr marL="73152" marR="73152" marT="27432" marB="27432" anchor="ctr">
                    <a:solidFill>
                      <a:srgbClr val="0F4C5C"/>
                    </a:solidFill>
                  </a:tcPr>
                </a:tc>
                <a:tc>
                  <a:txBody>
                    <a:bodyPr/>
                    <a:lstStyle/>
                    <a:p>
                      <a:pPr algn="ctr"/>
                      <a:r>
                        <a:rPr sz="1500" b="1">
                          <a:solidFill>
                            <a:srgbClr val="FFFFFF"/>
                          </a:solidFill>
                          <a:latin typeface="Calibri"/>
                        </a:rPr>
                        <a:t>DF</a:t>
                      </a:r>
                    </a:p>
                  </a:txBody>
                  <a:tcPr marL="73152" marR="73152" marT="27432" marB="27432" anchor="ctr">
                    <a:solidFill>
                      <a:srgbClr val="0F4C5C"/>
                    </a:solidFill>
                  </a:tcPr>
                </a:tc>
                <a:tc>
                  <a:txBody>
                    <a:bodyPr/>
                    <a:lstStyle/>
                    <a:p>
                      <a:pPr algn="ctr"/>
                      <a:r>
                        <a:rPr sz="1500" b="1">
                          <a:solidFill>
                            <a:srgbClr val="FFFFFF"/>
                          </a:solidFill>
                          <a:latin typeface="Calibri"/>
                        </a:rPr>
                        <a:t>MS</a:t>
                      </a:r>
                    </a:p>
                  </a:txBody>
                  <a:tcPr marL="73152" marR="73152" marT="27432" marB="27432" anchor="ctr">
                    <a:solidFill>
                      <a:srgbClr val="0F4C5C"/>
                    </a:solidFill>
                  </a:tcPr>
                </a:tc>
              </a:tr>
              <a:tr h="351282">
                <a:tc>
                  <a:txBody>
                    <a:bodyPr/>
                    <a:lstStyle/>
                    <a:p>
                      <a:pPr algn="l"/>
                      <a:r>
                        <a:rPr sz="1500" b="0">
                          <a:solidFill>
                            <a:srgbClr val="142B33"/>
                          </a:solidFill>
                          <a:latin typeface="Calibri"/>
                        </a:rPr>
                        <a:t>A</a:t>
                      </a:r>
                    </a:p>
                  </a:txBody>
                  <a:tcPr marL="73152" marR="73152" marT="27432" marB="27432" anchor="ctr">
                    <a:solidFill>
                      <a:srgbClr val="FFFFFF"/>
                    </a:solidFill>
                  </a:tcPr>
                </a:tc>
                <a:tc>
                  <a:txBody>
                    <a:bodyPr/>
                    <a:lstStyle/>
                    <a:p>
                      <a:pPr algn="ctr"/>
                      <a:r>
                        <a:rPr sz="1500" b="0">
                          <a:solidFill>
                            <a:srgbClr val="142B33"/>
                          </a:solidFill>
                          <a:latin typeface="Calibri"/>
                        </a:rPr>
                        <a:t>SS</a:t>
                      </a:r>
                      <a:r>
                        <a:rPr sz="1500" b="0" baseline="-25000">
                          <a:solidFill>
                            <a:srgbClr val="142B33"/>
                          </a:solidFill>
                          <a:latin typeface="Calibri"/>
                        </a:rPr>
                        <a:t>A</a:t>
                      </a:r>
                    </a:p>
                  </a:txBody>
                  <a:tcPr marL="73152" marR="73152" marT="27432" marB="27432" anchor="ctr">
                    <a:solidFill>
                      <a:srgbClr val="FFFFFF"/>
                    </a:solidFill>
                  </a:tcPr>
                </a:tc>
                <a:tc>
                  <a:txBody>
                    <a:bodyPr/>
                    <a:lstStyle/>
                    <a:p>
                      <a:pPr algn="ctr"/>
                      <a:r>
                        <a:rPr sz="1500" b="0">
                          <a:solidFill>
                            <a:srgbClr val="142B33"/>
                          </a:solidFill>
                          <a:latin typeface="Calibri"/>
                        </a:rPr>
                        <a:t>1</a:t>
                      </a:r>
                    </a:p>
                  </a:txBody>
                  <a:tcPr marL="73152" marR="73152" marT="27432" marB="27432" anchor="ctr">
                    <a:solidFill>
                      <a:srgbClr val="FFFFFF"/>
                    </a:solidFill>
                  </a:tcPr>
                </a:tc>
                <a:tc>
                  <a:txBody>
                    <a:bodyPr/>
                    <a:lstStyle/>
                    <a:p>
                      <a:pPr algn="ctr"/>
                      <a:r>
                        <a:rPr sz="1500" b="0">
                          <a:solidFill>
                            <a:srgbClr val="142B33"/>
                          </a:solidFill>
                          <a:latin typeface="Calibri"/>
                        </a:rPr>
                        <a:t>MS</a:t>
                      </a:r>
                      <a:r>
                        <a:rPr sz="1500" b="0" baseline="-25000">
                          <a:solidFill>
                            <a:srgbClr val="142B33"/>
                          </a:solidFill>
                          <a:latin typeface="Calibri"/>
                        </a:rPr>
                        <a:t>A</a:t>
                      </a:r>
                    </a:p>
                  </a:txBody>
                  <a:tcPr marL="73152" marR="73152" marT="27432" marB="27432" anchor="ctr">
                    <a:solidFill>
                      <a:srgbClr val="FFFFFF"/>
                    </a:solidFill>
                  </a:tcPr>
                </a:tc>
              </a:tr>
              <a:tr h="351282">
                <a:tc>
                  <a:txBody>
                    <a:bodyPr/>
                    <a:lstStyle/>
                    <a:p>
                      <a:pPr algn="l"/>
                      <a:r>
                        <a:rPr sz="1500" b="0">
                          <a:solidFill>
                            <a:srgbClr val="142B33"/>
                          </a:solidFill>
                          <a:latin typeface="Calibri"/>
                        </a:rPr>
                        <a:t>X (X</a:t>
                      </a:r>
                      <a:r>
                        <a:rPr sz="1500" b="0" baseline="-25000">
                          <a:solidFill>
                            <a:srgbClr val="142B33"/>
                          </a:solidFill>
                          <a:latin typeface="Calibri"/>
                        </a:rPr>
                        <a:t>L</a:t>
                      </a:r>
                      <a:r>
                        <a:rPr sz="1500" b="0">
                          <a:solidFill>
                            <a:srgbClr val="142B33"/>
                          </a:solidFill>
                          <a:latin typeface="Calibri"/>
                        </a:rPr>
                        <a:t> + X</a:t>
                      </a:r>
                      <a:r>
                        <a:rPr sz="1500" b="0" baseline="-25000">
                          <a:solidFill>
                            <a:srgbClr val="142B33"/>
                          </a:solidFill>
                          <a:latin typeface="Calibri"/>
                        </a:rPr>
                        <a:t>Q</a:t>
                      </a:r>
                      <a:r>
                        <a:rPr sz="1500" b="0">
                          <a:solidFill>
                            <a:srgbClr val="142B33"/>
                          </a:solidFill>
                          <a:latin typeface="Calibri"/>
                        </a:rPr>
                        <a:t>)</a:t>
                      </a:r>
                    </a:p>
                  </a:txBody>
                  <a:tcPr marL="73152" marR="73152" marT="27432" marB="27432" anchor="ctr">
                    <a:solidFill>
                      <a:srgbClr val="F4F8F9"/>
                    </a:solidFill>
                  </a:tcPr>
                </a:tc>
                <a:tc>
                  <a:txBody>
                    <a:bodyPr/>
                    <a:lstStyle/>
                    <a:p>
                      <a:pPr algn="ctr"/>
                      <a:r>
                        <a:rPr sz="1500" b="0">
                          <a:solidFill>
                            <a:srgbClr val="142B33"/>
                          </a:solidFill>
                          <a:latin typeface="Calibri"/>
                        </a:rPr>
                        <a:t>SS</a:t>
                      </a:r>
                      <a:r>
                        <a:rPr sz="1500" b="0" baseline="-25000">
                          <a:solidFill>
                            <a:srgbClr val="142B33"/>
                          </a:solidFill>
                          <a:latin typeface="Calibri"/>
                        </a:rPr>
                        <a:t>X</a:t>
                      </a:r>
                    </a:p>
                  </a:txBody>
                  <a:tcPr marL="73152" marR="73152" marT="27432" marB="27432" anchor="ctr">
                    <a:solidFill>
                      <a:srgbClr val="F4F8F9"/>
                    </a:solidFill>
                  </a:tcPr>
                </a:tc>
                <a:tc>
                  <a:txBody>
                    <a:bodyPr/>
                    <a:lstStyle/>
                    <a:p>
                      <a:pPr algn="ctr"/>
                      <a:r>
                        <a:rPr sz="1500" b="0">
                          <a:solidFill>
                            <a:srgbClr val="142B33"/>
                          </a:solidFill>
                          <a:latin typeface="Calibri"/>
                        </a:rPr>
                        <a:t>2</a:t>
                      </a:r>
                    </a:p>
                  </a:txBody>
                  <a:tcPr marL="73152" marR="73152" marT="27432" marB="27432" anchor="ctr">
                    <a:solidFill>
                      <a:srgbClr val="F4F8F9"/>
                    </a:solidFill>
                  </a:tcPr>
                </a:tc>
                <a:tc>
                  <a:txBody>
                    <a:bodyPr/>
                    <a:lstStyle/>
                    <a:p>
                      <a:pPr algn="ctr"/>
                      <a:r>
                        <a:rPr sz="1500" b="0">
                          <a:solidFill>
                            <a:srgbClr val="142B33"/>
                          </a:solidFill>
                          <a:latin typeface="Calibri"/>
                        </a:rPr>
                        <a:t>MS</a:t>
                      </a:r>
                      <a:r>
                        <a:rPr sz="1500" b="0" baseline="-25000">
                          <a:solidFill>
                            <a:srgbClr val="142B33"/>
                          </a:solidFill>
                          <a:latin typeface="Calibri"/>
                        </a:rPr>
                        <a:t>X</a:t>
                      </a:r>
                    </a:p>
                  </a:txBody>
                  <a:tcPr marL="73152" marR="73152" marT="27432" marB="27432" anchor="ctr">
                    <a:solidFill>
                      <a:srgbClr val="F4F8F9"/>
                    </a:solidFill>
                  </a:tcPr>
                </a:tc>
              </a:tr>
              <a:tr h="351282">
                <a:tc>
                  <a:txBody>
                    <a:bodyPr/>
                    <a:lstStyle/>
                    <a:p>
                      <a:pPr algn="l"/>
                      <a:r>
                        <a:rPr sz="1500" b="0">
                          <a:solidFill>
                            <a:srgbClr val="142B33"/>
                          </a:solidFill>
                          <a:latin typeface="Calibri"/>
                        </a:rPr>
                        <a:t>AX (A×X</a:t>
                      </a:r>
                      <a:r>
                        <a:rPr sz="1500" b="0" baseline="-25000">
                          <a:solidFill>
                            <a:srgbClr val="142B33"/>
                          </a:solidFill>
                          <a:latin typeface="Calibri"/>
                        </a:rPr>
                        <a:t>L</a:t>
                      </a:r>
                      <a:r>
                        <a:rPr sz="1500" b="0">
                          <a:solidFill>
                            <a:srgbClr val="142B33"/>
                          </a:solidFill>
                          <a:latin typeface="Calibri"/>
                        </a:rPr>
                        <a:t> + A×X</a:t>
                      </a:r>
                      <a:r>
                        <a:rPr sz="1500" b="0" baseline="-25000">
                          <a:solidFill>
                            <a:srgbClr val="142B33"/>
                          </a:solidFill>
                          <a:latin typeface="Calibri"/>
                        </a:rPr>
                        <a:t>Q</a:t>
                      </a:r>
                      <a:r>
                        <a:rPr sz="1500" b="0">
                          <a:solidFill>
                            <a:srgbClr val="142B33"/>
                          </a:solidFill>
                          <a:latin typeface="Calibri"/>
                        </a:rPr>
                        <a:t>)</a:t>
                      </a:r>
                    </a:p>
                  </a:txBody>
                  <a:tcPr marL="73152" marR="73152" marT="27432" marB="27432" anchor="ctr">
                    <a:solidFill>
                      <a:srgbClr val="FFFFFF"/>
                    </a:solidFill>
                  </a:tcPr>
                </a:tc>
                <a:tc>
                  <a:txBody>
                    <a:bodyPr/>
                    <a:lstStyle/>
                    <a:p>
                      <a:pPr algn="ctr"/>
                      <a:r>
                        <a:rPr sz="1500" b="0">
                          <a:solidFill>
                            <a:srgbClr val="142B33"/>
                          </a:solidFill>
                          <a:latin typeface="Calibri"/>
                        </a:rPr>
                        <a:t>SS</a:t>
                      </a:r>
                      <a:r>
                        <a:rPr sz="1500" b="0" baseline="-25000">
                          <a:solidFill>
                            <a:srgbClr val="142B33"/>
                          </a:solidFill>
                          <a:latin typeface="Calibri"/>
                        </a:rPr>
                        <a:t>AX</a:t>
                      </a:r>
                    </a:p>
                  </a:txBody>
                  <a:tcPr marL="73152" marR="73152" marT="27432" marB="27432" anchor="ctr">
                    <a:solidFill>
                      <a:srgbClr val="FFFFFF"/>
                    </a:solidFill>
                  </a:tcPr>
                </a:tc>
                <a:tc>
                  <a:txBody>
                    <a:bodyPr/>
                    <a:lstStyle/>
                    <a:p>
                      <a:pPr algn="ctr"/>
                      <a:r>
                        <a:rPr sz="1500" b="0">
                          <a:solidFill>
                            <a:srgbClr val="142B33"/>
                          </a:solidFill>
                          <a:latin typeface="Calibri"/>
                        </a:rPr>
                        <a:t>2</a:t>
                      </a:r>
                    </a:p>
                  </a:txBody>
                  <a:tcPr marL="73152" marR="73152" marT="27432" marB="27432" anchor="ctr">
                    <a:solidFill>
                      <a:srgbClr val="FFFFFF"/>
                    </a:solidFill>
                  </a:tcPr>
                </a:tc>
                <a:tc>
                  <a:txBody>
                    <a:bodyPr/>
                    <a:lstStyle/>
                    <a:p>
                      <a:pPr algn="ctr"/>
                      <a:r>
                        <a:rPr sz="1500" b="0">
                          <a:solidFill>
                            <a:srgbClr val="142B33"/>
                          </a:solidFill>
                          <a:latin typeface="Calibri"/>
                        </a:rPr>
                        <a:t>MS</a:t>
                      </a:r>
                      <a:r>
                        <a:rPr sz="1500" b="0" baseline="-25000">
                          <a:solidFill>
                            <a:srgbClr val="142B33"/>
                          </a:solidFill>
                          <a:latin typeface="Calibri"/>
                        </a:rPr>
                        <a:t>AX</a:t>
                      </a:r>
                    </a:p>
                  </a:txBody>
                  <a:tcPr marL="73152" marR="73152" marT="27432" marB="27432" anchor="ctr">
                    <a:solidFill>
                      <a:srgbClr val="FFFFFF"/>
                    </a:solidFill>
                  </a:tcPr>
                </a:tc>
              </a:tr>
              <a:tr h="583692">
                <a:tc>
                  <a:txBody>
                    <a:bodyPr/>
                    <a:lstStyle/>
                    <a:p>
                      <a:pPr algn="l"/>
                      <a:r>
                        <a:rPr sz="1500" b="0">
                          <a:solidFill>
                            <a:srgbClr val="142B33"/>
                          </a:solidFill>
                          <a:latin typeface="Calibri"/>
                        </a:rPr>
                        <a:t>Error (corridas 3 y 5; 4 y 6)</a:t>
                      </a:r>
                    </a:p>
                  </a:txBody>
                  <a:tcPr marL="73152" marR="73152" marT="27432" marB="27432" anchor="ctr">
                    <a:solidFill>
                      <a:srgbClr val="F4F8F9"/>
                    </a:solidFill>
                  </a:tcPr>
                </a:tc>
                <a:tc>
                  <a:txBody>
                    <a:bodyPr/>
                    <a:lstStyle/>
                    <a:p>
                      <a:pPr algn="ctr"/>
                      <a:r>
                        <a:rPr sz="1500" b="0">
                          <a:solidFill>
                            <a:srgbClr val="142B33"/>
                          </a:solidFill>
                          <a:latin typeface="Calibri"/>
                        </a:rPr>
                        <a:t>SS</a:t>
                      </a:r>
                      <a:r>
                        <a:rPr sz="1500" b="0" baseline="-25000">
                          <a:solidFill>
                            <a:srgbClr val="142B33"/>
                          </a:solidFill>
                          <a:latin typeface="Calibri"/>
                        </a:rPr>
                        <a:t>E</a:t>
                      </a:r>
                    </a:p>
                  </a:txBody>
                  <a:tcPr marL="73152" marR="73152" marT="27432" marB="27432" anchor="ctr">
                    <a:solidFill>
                      <a:srgbClr val="F4F8F9"/>
                    </a:solidFill>
                  </a:tcPr>
                </a:tc>
                <a:tc>
                  <a:txBody>
                    <a:bodyPr/>
                    <a:lstStyle/>
                    <a:p>
                      <a:pPr algn="ctr"/>
                      <a:r>
                        <a:rPr sz="1500" b="0">
                          <a:solidFill>
                            <a:srgbClr val="142B33"/>
                          </a:solidFill>
                          <a:latin typeface="Calibri"/>
                        </a:rPr>
                        <a:t>2</a:t>
                      </a:r>
                    </a:p>
                  </a:txBody>
                  <a:tcPr marL="73152" marR="73152" marT="27432" marB="27432" anchor="ctr">
                    <a:solidFill>
                      <a:srgbClr val="F4F8F9"/>
                    </a:solidFill>
                  </a:tcPr>
                </a:tc>
                <a:tc>
                  <a:txBody>
                    <a:bodyPr/>
                    <a:lstStyle/>
                    <a:p>
                      <a:pPr algn="ctr"/>
                      <a:r>
                        <a:rPr sz="1500" b="0">
                          <a:solidFill>
                            <a:srgbClr val="142B33"/>
                          </a:solidFill>
                          <a:latin typeface="Calibri"/>
                        </a:rPr>
                        <a:t>MS</a:t>
                      </a:r>
                      <a:r>
                        <a:rPr sz="1500" b="0" baseline="-25000">
                          <a:solidFill>
                            <a:srgbClr val="142B33"/>
                          </a:solidFill>
                          <a:latin typeface="Calibri"/>
                        </a:rPr>
                        <a:t>E</a:t>
                      </a:r>
                    </a:p>
                  </a:txBody>
                  <a:tcPr marL="73152" marR="73152" marT="27432" marB="27432" anchor="ctr">
                    <a:solidFill>
                      <a:srgbClr val="F4F8F9"/>
                    </a:solidFill>
                  </a:tcPr>
                </a:tc>
              </a:tr>
              <a:tr h="351282">
                <a:tc>
                  <a:txBody>
                    <a:bodyPr/>
                    <a:lstStyle/>
                    <a:p>
                      <a:pPr algn="l"/>
                      <a:r>
                        <a:rPr sz="1500" b="0">
                          <a:solidFill>
                            <a:srgbClr val="142B33"/>
                          </a:solidFill>
                          <a:latin typeface="Calibri"/>
                        </a:rPr>
                        <a:t>Total</a:t>
                      </a:r>
                    </a:p>
                  </a:txBody>
                  <a:tcPr marL="73152" marR="73152" marT="27432" marB="27432" anchor="ctr">
                    <a:solidFill>
                      <a:srgbClr val="FFFFFF"/>
                    </a:solidFill>
                  </a:tcPr>
                </a:tc>
                <a:tc>
                  <a:txBody>
                    <a:bodyPr/>
                    <a:lstStyle/>
                    <a:p>
                      <a:pPr algn="ctr"/>
                      <a:r>
                        <a:rPr sz="1500" b="0">
                          <a:solidFill>
                            <a:srgbClr val="142B33"/>
                          </a:solidFill>
                          <a:latin typeface="Calibri"/>
                        </a:rPr>
                        <a:t>SS</a:t>
                      </a:r>
                      <a:r>
                        <a:rPr sz="1500" b="0" baseline="-25000">
                          <a:solidFill>
                            <a:srgbClr val="142B33"/>
                          </a:solidFill>
                          <a:latin typeface="Calibri"/>
                        </a:rPr>
                        <a:t>T</a:t>
                      </a:r>
                    </a:p>
                  </a:txBody>
                  <a:tcPr marL="73152" marR="73152" marT="27432" marB="27432" anchor="ctr">
                    <a:solidFill>
                      <a:srgbClr val="FFFFFF"/>
                    </a:solidFill>
                  </a:tcPr>
                </a:tc>
                <a:tc>
                  <a:txBody>
                    <a:bodyPr/>
                    <a:lstStyle/>
                    <a:p>
                      <a:pPr algn="ctr"/>
                      <a:r>
                        <a:rPr sz="1500" b="0">
                          <a:solidFill>
                            <a:srgbClr val="142B33"/>
                          </a:solidFill>
                          <a:latin typeface="Calibri"/>
                        </a:rPr>
                        <a:t>7</a:t>
                      </a: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r>
            </a:tbl>
          </a:graphicData>
        </a:graphic>
      </p:graphicFrame>
      <p:sp>
        <p:nvSpPr>
          <p:cNvPr id="4" name="Rounded Rectangle 3"/>
          <p:cNvSpPr/>
          <p:nvPr/>
        </p:nvSpPr>
        <p:spPr>
          <a:xfrm>
            <a:off x="6301587" y="1417320"/>
            <a:ext cx="5341467" cy="1419860"/>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Error puro</a:t>
            </a:r>
          </a:p>
          <a:p>
            <a:pPr algn="l"/>
            <a:r>
              <a:rPr sz="1400" b="0">
                <a:solidFill>
                  <a:srgbClr val="142B33"/>
                </a:solidFill>
                <a:latin typeface="Calibri"/>
              </a:rPr>
              <a:t>Pares (3, 5) y (4, 6): dos varianzas con 1 g.l. cada una → MS</a:t>
            </a:r>
            <a:r>
              <a:rPr sz="1400" b="0" baseline="-25000">
                <a:solidFill>
                  <a:srgbClr val="142B33"/>
                </a:solidFill>
                <a:latin typeface="Calibri"/>
              </a:rPr>
              <a:t>E</a:t>
            </a:r>
            <a:r>
              <a:rPr sz="1400" b="0">
                <a:solidFill>
                  <a:srgbClr val="142B33"/>
                </a:solidFill>
                <a:latin typeface="Calibri"/>
              </a:rPr>
              <a:t> con </a:t>
            </a:r>
            <a:r>
              <a:rPr sz="1400" b="1">
                <a:solidFill>
                  <a:srgbClr val="142B33"/>
                </a:solidFill>
                <a:latin typeface="Calibri"/>
              </a:rPr>
              <a:t>2 g.l.</a:t>
            </a:r>
          </a:p>
        </p:txBody>
      </p:sp>
      <p:sp>
        <p:nvSpPr>
          <p:cNvPr id="5" name="Rounded Rectangle 4"/>
          <p:cNvSpPr/>
          <p:nvPr/>
        </p:nvSpPr>
        <p:spPr>
          <a:xfrm>
            <a:off x="6301587" y="3065780"/>
            <a:ext cx="5341467" cy="1419860"/>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Más factores de dos niveles</a:t>
            </a:r>
          </a:p>
          <a:p>
            <a:pPr algn="l"/>
            <a:r>
              <a:rPr sz="1400" b="0">
                <a:solidFill>
                  <a:srgbClr val="142B33"/>
                </a:solidFill>
                <a:latin typeface="Calibri"/>
              </a:rPr>
              <a:t>Si no hay interacciones: columnas A, AB, AC, ABC → hasta </a:t>
            </a:r>
            <a:r>
              <a:rPr sz="1400" b="1">
                <a:solidFill>
                  <a:srgbClr val="142B33"/>
                </a:solidFill>
                <a:latin typeface="Calibri"/>
              </a:rPr>
              <a:t>4 de dos niveles + 1 de tres</a:t>
            </a:r>
            <a:r>
              <a:rPr sz="1400" b="0">
                <a:solidFill>
                  <a:srgbClr val="142B33"/>
                </a:solidFill>
                <a:latin typeface="Calibri"/>
              </a:rPr>
              <a:t>, resolución III. </a:t>
            </a:r>
            <a:r>
              <a:rPr sz="1400" b="1">
                <a:solidFill>
                  <a:srgbClr val="142B33"/>
                </a:solidFill>
                <a:latin typeface="Calibri"/>
              </a:rPr>
              <a:t>BC no</a:t>
            </a:r>
            <a:r>
              <a:rPr sz="1400" b="0">
                <a:solidFill>
                  <a:srgbClr val="142B33"/>
                </a:solidFill>
                <a:latin typeface="Calibri"/>
              </a:rPr>
              <a:t>: lleva X</a:t>
            </a:r>
            <a:r>
              <a:rPr sz="1400" b="0" baseline="-25000">
                <a:solidFill>
                  <a:srgbClr val="142B33"/>
                </a:solidFill>
                <a:latin typeface="Calibri"/>
              </a:rPr>
              <a:t>Q</a:t>
            </a:r>
          </a:p>
        </p:txBody>
      </p:sp>
      <p:sp>
        <p:nvSpPr>
          <p:cNvPr id="6" name="Rounded Rectangle 5"/>
          <p:cNvSpPr/>
          <p:nvPr/>
        </p:nvSpPr>
        <p:spPr>
          <a:xfrm>
            <a:off x="6301587" y="4714240"/>
            <a:ext cx="5341467" cy="1419860"/>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16 corridas</a:t>
            </a:r>
          </a:p>
          <a:p>
            <a:pPr algn="l"/>
            <a:r>
              <a:rPr sz="1400" b="0">
                <a:solidFill>
                  <a:srgbClr val="142B33"/>
                </a:solidFill>
                <a:latin typeface="Calibri"/>
              </a:rPr>
              <a:t>Resolución V con 2 de dos niveles y 2 o 3 de tres; o 3 de dos y 1 de tres</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Niveles mixtos</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61</a:t>
            </a:r>
          </a:p>
        </p:txBody>
      </p:sp>
      <p:sp>
        <p:nvSpPr>
          <p:cNvPr id="9" name="Rounded Rectangle 8"/>
          <p:cNvSpPr/>
          <p:nvPr/>
        </p:nvSpPr>
        <p:spPr>
          <a:xfrm>
            <a:off x="548640" y="91440"/>
            <a:ext cx="219913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8 · Niveles mixtos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6 · Enunciado: un factor de dos niveles y uno de tres en 8 corridas</a:t>
            </a:r>
          </a:p>
        </p:txBody>
      </p:sp>
      <p:sp>
        <p:nvSpPr>
          <p:cNvPr id="3" name="TextBox 2"/>
          <p:cNvSpPr txBox="1"/>
          <p:nvPr/>
        </p:nvSpPr>
        <p:spPr>
          <a:xfrm>
            <a:off x="548640" y="1417320"/>
            <a:ext cx="6196102" cy="1028191"/>
          </a:xfrm>
          <a:prstGeom prst="rect">
            <a:avLst/>
          </a:prstGeom>
          <a:noFill/>
        </p:spPr>
        <p:txBody>
          <a:bodyPr wrap="square" anchor="t" lIns="0" rIns="0" tIns="0" bIns="0">
            <a:spAutoFit/>
          </a:bodyPr>
          <a:lstStyle/>
          <a:p>
            <a:r>
              <a:rPr sz="1600" b="0">
                <a:solidFill>
                  <a:srgbClr val="142B33"/>
                </a:solidFill>
                <a:latin typeface="Calibri"/>
              </a:rPr>
              <a:t>Se quiere medir la </a:t>
            </a:r>
            <a:r>
              <a:rPr sz="1600" b="1">
                <a:solidFill>
                  <a:srgbClr val="142B33"/>
                </a:solidFill>
                <a:latin typeface="Calibri"/>
              </a:rPr>
              <a:t>adherencia</a:t>
            </a:r>
            <a:r>
              <a:rPr sz="1600" b="0">
                <a:solidFill>
                  <a:srgbClr val="142B33"/>
                </a:solidFill>
                <a:latin typeface="Calibri"/>
              </a:rPr>
              <a:t> (N) de un recubrimiento. Influyen el </a:t>
            </a:r>
            <a:r>
              <a:rPr sz="1600" b="1">
                <a:solidFill>
                  <a:srgbClr val="142B33"/>
                </a:solidFill>
                <a:latin typeface="Calibri"/>
              </a:rPr>
              <a:t>tipo de imprimante</a:t>
            </a:r>
            <a:r>
              <a:rPr sz="1600" b="0">
                <a:solidFill>
                  <a:srgbClr val="142B33"/>
                </a:solidFill>
                <a:latin typeface="Calibri"/>
              </a:rPr>
              <a:t> (A, dos tipos: factor cualitativo de dos niveles) y la </a:t>
            </a:r>
            <a:r>
              <a:rPr sz="1600" b="1">
                <a:solidFill>
                  <a:srgbClr val="142B33"/>
                </a:solidFill>
                <a:latin typeface="Calibri"/>
              </a:rPr>
              <a:t>temperatura de curado</a:t>
            </a:r>
            <a:r>
              <a:rPr sz="1600" b="0">
                <a:solidFill>
                  <a:srgbClr val="142B33"/>
                </a:solidFill>
                <a:latin typeface="Calibri"/>
              </a:rPr>
              <a:t> (X, tres niveles: 60, 80 y 100 °C, cuantitativo).</a:t>
            </a:r>
          </a:p>
        </p:txBody>
      </p:sp>
      <p:sp>
        <p:nvSpPr>
          <p:cNvPr id="4" name="TextBox 3"/>
          <p:cNvSpPr txBox="1"/>
          <p:nvPr/>
        </p:nvSpPr>
        <p:spPr>
          <a:xfrm>
            <a:off x="548640" y="2646680"/>
            <a:ext cx="6196102" cy="1028191"/>
          </a:xfrm>
          <a:prstGeom prst="rect">
            <a:avLst/>
          </a:prstGeom>
          <a:noFill/>
        </p:spPr>
        <p:txBody>
          <a:bodyPr wrap="square" anchor="t" lIns="0" rIns="0" tIns="0" bIns="0">
            <a:spAutoFit/>
          </a:bodyPr>
          <a:lstStyle/>
          <a:p>
            <a:r>
              <a:rPr sz="1600" b="0">
                <a:solidFill>
                  <a:srgbClr val="142B33"/>
                </a:solidFill>
                <a:latin typeface="Calibri"/>
              </a:rPr>
              <a:t>Solo se pueden hacer </a:t>
            </a:r>
            <a:r>
              <a:rPr sz="1600" b="1">
                <a:solidFill>
                  <a:srgbClr val="142B33"/>
                </a:solidFill>
                <a:latin typeface="Calibri"/>
              </a:rPr>
              <a:t>8 corridas</a:t>
            </a:r>
            <a:r>
              <a:rPr sz="1600" b="0">
                <a:solidFill>
                  <a:srgbClr val="142B33"/>
                </a:solidFill>
                <a:latin typeface="Calibri"/>
              </a:rPr>
              <a:t>. Un 2 × 3 completo tiene 6 combinaciones; con 8 corridas se usa la tabla 9-10: las columnas B y C de un 2</a:t>
            </a:r>
            <a:r>
              <a:rPr sz="1600" b="0" baseline="30000">
                <a:solidFill>
                  <a:srgbClr val="142B33"/>
                </a:solidFill>
                <a:latin typeface="Calibri"/>
              </a:rPr>
              <a:t>3</a:t>
            </a:r>
            <a:r>
              <a:rPr sz="1600" b="0">
                <a:solidFill>
                  <a:srgbClr val="142B33"/>
                </a:solidFill>
                <a:latin typeface="Calibri"/>
              </a:rPr>
              <a:t> se colapsan en X y el nivel intermedio queda repetido.</a:t>
            </a:r>
          </a:p>
        </p:txBody>
      </p:sp>
      <p:sp>
        <p:nvSpPr>
          <p:cNvPr id="5" name="TextBox 4"/>
          <p:cNvSpPr txBox="1"/>
          <p:nvPr/>
        </p:nvSpPr>
        <p:spPr>
          <a:xfrm>
            <a:off x="548640" y="3876040"/>
            <a:ext cx="6196102" cy="780288"/>
          </a:xfrm>
          <a:prstGeom prst="rect">
            <a:avLst/>
          </a:prstGeom>
          <a:noFill/>
        </p:spPr>
        <p:txBody>
          <a:bodyPr wrap="square" anchor="t" lIns="0" rIns="0" tIns="0" bIns="0">
            <a:spAutoFit/>
          </a:bodyPr>
          <a:lstStyle/>
          <a:p>
            <a:r>
              <a:rPr sz="1600" b="0">
                <a:solidFill>
                  <a:srgbClr val="142B33"/>
                </a:solidFill>
                <a:latin typeface="Calibri"/>
              </a:rPr>
              <a:t>Los datos son inventados para que las cuentas sean cortas: corridas 1 a 8 con adherencia 10, 14, 15, 19, 16, 18, 17 y 23.</a:t>
            </a:r>
          </a:p>
        </p:txBody>
      </p:sp>
      <p:sp>
        <p:nvSpPr>
          <p:cNvPr id="6" name="TextBox 5"/>
          <p:cNvSpPr txBox="1"/>
          <p:nvPr/>
        </p:nvSpPr>
        <p:spPr>
          <a:xfrm>
            <a:off x="548640" y="4857496"/>
            <a:ext cx="6196102" cy="222504"/>
          </a:xfrm>
          <a:prstGeom prst="rect">
            <a:avLst/>
          </a:prstGeom>
          <a:noFill/>
        </p:spPr>
        <p:txBody>
          <a:bodyPr wrap="square" anchor="t" lIns="0" rIns="0" tIns="0" bIns="0">
            <a:spAutoFit/>
          </a:bodyPr>
          <a:lstStyle/>
          <a:p>
            <a:r>
              <a:rPr sz="1200" b="0">
                <a:solidFill>
                  <a:srgbClr val="5B6B73"/>
                </a:solidFill>
                <a:latin typeface="Calibri"/>
              </a:rPr>
              <a:t>Fuente: ejemplo construido para la clase, con datos inventados</a:t>
            </a:r>
          </a:p>
        </p:txBody>
      </p:sp>
      <p:sp>
        <p:nvSpPr>
          <p:cNvPr id="7" name="Rounded Rectangle 6"/>
          <p:cNvSpPr/>
          <p:nvPr/>
        </p:nvSpPr>
        <p:spPr>
          <a:xfrm>
            <a:off x="7156222" y="1417320"/>
            <a:ext cx="4486832" cy="1481836"/>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700" b="1">
                <a:solidFill>
                  <a:srgbClr val="0F4C5C"/>
                </a:solidFill>
                <a:latin typeface="Cambria"/>
              </a:rPr>
              <a:t>Objetivo</a:t>
            </a:r>
          </a:p>
          <a:p>
            <a:pPr algn="l"/>
            <a:r>
              <a:rPr sz="1500" b="0">
                <a:solidFill>
                  <a:srgbClr val="142B33"/>
                </a:solidFill>
                <a:latin typeface="Calibri"/>
              </a:rPr>
              <a:t>Ver cómo las columnas del 2</a:t>
            </a:r>
            <a:r>
              <a:rPr sz="1500" b="0" baseline="30000">
                <a:solidFill>
                  <a:srgbClr val="142B33"/>
                </a:solidFill>
                <a:latin typeface="Calibri"/>
              </a:rPr>
              <a:t>3</a:t>
            </a:r>
            <a:r>
              <a:rPr sz="1500" b="0">
                <a:solidFill>
                  <a:srgbClr val="142B33"/>
                </a:solidFill>
                <a:latin typeface="Calibri"/>
              </a:rPr>
              <a:t> se </a:t>
            </a:r>
            <a:r>
              <a:rPr sz="1500" b="1">
                <a:solidFill>
                  <a:srgbClr val="142B33"/>
                </a:solidFill>
                <a:latin typeface="Calibri"/>
              </a:rPr>
              <a:t>reagrupan</a:t>
            </a:r>
            <a:r>
              <a:rPr sz="1500" b="0">
                <a:solidFill>
                  <a:srgbClr val="142B33"/>
                </a:solidFill>
                <a:latin typeface="Calibri"/>
              </a:rPr>
              <a:t> en los efectos reales A, X</a:t>
            </a:r>
            <a:r>
              <a:rPr sz="1500" b="0" baseline="-25000">
                <a:solidFill>
                  <a:srgbClr val="142B33"/>
                </a:solidFill>
                <a:latin typeface="Calibri"/>
              </a:rPr>
              <a:t>L</a:t>
            </a:r>
            <a:r>
              <a:rPr sz="1500" b="0">
                <a:solidFill>
                  <a:srgbClr val="142B33"/>
                </a:solidFill>
                <a:latin typeface="Calibri"/>
              </a:rPr>
              <a:t>, X</a:t>
            </a:r>
            <a:r>
              <a:rPr sz="1500" b="0" baseline="-25000">
                <a:solidFill>
                  <a:srgbClr val="142B33"/>
                </a:solidFill>
                <a:latin typeface="Calibri"/>
              </a:rPr>
              <a:t>Q</a:t>
            </a:r>
            <a:r>
              <a:rPr sz="1500" b="0">
                <a:solidFill>
                  <a:srgbClr val="142B33"/>
                </a:solidFill>
                <a:latin typeface="Calibri"/>
              </a:rPr>
              <a:t> y sus interacciones, y de dónde sale el error</a:t>
            </a:r>
          </a:p>
        </p:txBody>
      </p:sp>
      <p:sp>
        <p:nvSpPr>
          <p:cNvPr id="8" name="TextBox 7"/>
          <p:cNvSpPr txBox="1"/>
          <p:nvPr/>
        </p:nvSpPr>
        <p:spPr>
          <a:xfrm>
            <a:off x="7156222" y="3100324"/>
            <a:ext cx="4486832" cy="299973"/>
          </a:xfrm>
          <a:prstGeom prst="rect">
            <a:avLst/>
          </a:prstGeom>
          <a:noFill/>
        </p:spPr>
        <p:txBody>
          <a:bodyPr wrap="square" anchor="t" lIns="0" rIns="0" tIns="0" bIns="0">
            <a:spAutoFit/>
          </a:bodyPr>
          <a:lstStyle/>
          <a:p>
            <a:r>
              <a:rPr sz="1700" b="1">
                <a:solidFill>
                  <a:srgbClr val="142B33"/>
                </a:solidFill>
                <a:latin typeface="Calibri"/>
              </a:rPr>
              <a:t>Se pide</a:t>
            </a:r>
          </a:p>
        </p:txBody>
      </p:sp>
      <p:sp>
        <p:nvSpPr>
          <p:cNvPr id="9" name="TextBox 8"/>
          <p:cNvSpPr txBox="1"/>
          <p:nvPr/>
        </p:nvSpPr>
        <p:spPr>
          <a:xfrm>
            <a:off x="7156222" y="3601465"/>
            <a:ext cx="4486832" cy="1723643"/>
          </a:xfrm>
          <a:prstGeom prst="rect">
            <a:avLst/>
          </a:prstGeom>
          <a:noFill/>
        </p:spPr>
        <p:txBody>
          <a:bodyPr wrap="square" anchor="t" lIns="0" rIns="0" tIns="0" bIns="0">
            <a:spAutoFit/>
          </a:bodyPr>
          <a:lstStyle/>
          <a:p>
            <a:pPr marL="320040" indent="-320040">
              <a:spcAft>
                <a:spcPts val="600"/>
              </a:spcAft>
              <a:buClr>
                <a:srgbClr val="E36414"/>
              </a:buClr>
              <a:buFont typeface="+mj-lt"/>
              <a:buAutoNum type="arabicPeriod"/>
            </a:pPr>
            <a:r>
              <a:rPr sz="1500" b="0">
                <a:solidFill>
                  <a:srgbClr val="142B33"/>
                </a:solidFill>
                <a:latin typeface="Calibri"/>
              </a:rPr>
              <a:t>Calcular los efectos de las siete columnas del 2</a:t>
            </a:r>
            <a:r>
              <a:rPr sz="1500" b="0" baseline="30000">
                <a:solidFill>
                  <a:srgbClr val="142B33"/>
                </a:solidFill>
                <a:latin typeface="Calibri"/>
              </a:rPr>
              <a:t>3</a:t>
            </a:r>
          </a:p>
          <a:p>
            <a:pPr marL="320040" indent="-320040">
              <a:spcAft>
                <a:spcPts val="600"/>
              </a:spcAft>
              <a:buClr>
                <a:srgbClr val="E36414"/>
              </a:buClr>
              <a:buFont typeface="+mj-lt"/>
              <a:buAutoNum type="arabicPeriod"/>
            </a:pPr>
            <a:r>
              <a:rPr sz="1500" b="0">
                <a:solidFill>
                  <a:srgbClr val="142B33"/>
                </a:solidFill>
                <a:latin typeface="Calibri"/>
              </a:rPr>
              <a:t>Reagruparlos: X</a:t>
            </a:r>
            <a:r>
              <a:rPr sz="1500" b="0" baseline="-25000">
                <a:solidFill>
                  <a:srgbClr val="142B33"/>
                </a:solidFill>
                <a:latin typeface="Calibri"/>
              </a:rPr>
              <a:t>L</a:t>
            </a:r>
            <a:r>
              <a:rPr sz="1500" b="0">
                <a:solidFill>
                  <a:srgbClr val="142B33"/>
                </a:solidFill>
                <a:latin typeface="Calibri"/>
              </a:rPr>
              <a:t> = B + C, X</a:t>
            </a:r>
            <a:r>
              <a:rPr sz="1500" b="0" baseline="-25000">
                <a:solidFill>
                  <a:srgbClr val="142B33"/>
                </a:solidFill>
                <a:latin typeface="Calibri"/>
              </a:rPr>
              <a:t>Q</a:t>
            </a:r>
            <a:r>
              <a:rPr sz="1500" b="0">
                <a:solidFill>
                  <a:srgbClr val="142B33"/>
                </a:solidFill>
                <a:latin typeface="Calibri"/>
              </a:rPr>
              <a:t> = BC, etc.</a:t>
            </a:r>
          </a:p>
          <a:p>
            <a:pPr marL="320040" indent="-320040">
              <a:spcAft>
                <a:spcPts val="600"/>
              </a:spcAft>
              <a:buClr>
                <a:srgbClr val="E36414"/>
              </a:buClr>
              <a:buFont typeface="+mj-lt"/>
              <a:buAutoNum type="arabicPeriod"/>
            </a:pPr>
            <a:r>
              <a:rPr sz="1500" b="0">
                <a:solidFill>
                  <a:srgbClr val="142B33"/>
                </a:solidFill>
                <a:latin typeface="Calibri"/>
              </a:rPr>
              <a:t>Obtener el error puro con las corridas repetidas</a:t>
            </a:r>
          </a:p>
          <a:p>
            <a:pPr marL="320040" indent="-320040">
              <a:spcAft>
                <a:spcPts val="600"/>
              </a:spcAft>
              <a:buClr>
                <a:srgbClr val="E36414"/>
              </a:buClr>
              <a:buFont typeface="+mj-lt"/>
              <a:buAutoNum type="arabicPeriod"/>
            </a:pPr>
            <a:r>
              <a:rPr sz="1500" b="0">
                <a:solidFill>
                  <a:srgbClr val="142B33"/>
                </a:solidFill>
                <a:latin typeface="Calibri"/>
              </a:rPr>
              <a:t>Armar la tabla ANOVA de la tabla 9-11</a:t>
            </a:r>
          </a:p>
        </p:txBody>
      </p:sp>
      <p:sp>
        <p:nvSpPr>
          <p:cNvPr id="10" name="TextBox 9"/>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Niveles mixtos</a:t>
            </a:r>
          </a:p>
        </p:txBody>
      </p:sp>
      <p:sp>
        <p:nvSpPr>
          <p:cNvPr id="11" name="TextBox 10"/>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62</a:t>
            </a:r>
          </a:p>
        </p:txBody>
      </p:sp>
      <p:sp>
        <p:nvSpPr>
          <p:cNvPr id="12" name="Rounded Rectangle 11"/>
          <p:cNvSpPr/>
          <p:nvPr/>
        </p:nvSpPr>
        <p:spPr>
          <a:xfrm>
            <a:off x="548640" y="91440"/>
            <a:ext cx="219913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8 · Niveles mixtos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Ejemplo 6 · De las siete columnas a los cuatro efectos reales</a:t>
            </a:r>
          </a:p>
        </p:txBody>
      </p:sp>
      <p:graphicFrame>
        <p:nvGraphicFramePr>
          <p:cNvPr id="3" name="Table 2"/>
          <p:cNvGraphicFramePr>
            <a:graphicFrameLocks noGrp="1"/>
          </p:cNvGraphicFramePr>
          <p:nvPr/>
        </p:nvGraphicFramePr>
        <p:xfrm>
          <a:off x="548640" y="1417320"/>
          <a:ext cx="5341466" cy="2686304"/>
        </p:xfrm>
        <a:graphic>
          <a:graphicData uri="http://schemas.openxmlformats.org/drawingml/2006/table">
            <a:tbl>
              <a:tblPr firstRow="0" bandRow="0">
                <a:tableStyleId>{5C22544A-7EE6-4342-B048-85BDC9FD1C3A}</a:tableStyleId>
              </a:tblPr>
              <a:tblGrid>
                <a:gridCol w="1560731"/>
                <a:gridCol w="1385821"/>
                <a:gridCol w="1009093"/>
                <a:gridCol w="1385821"/>
              </a:tblGrid>
              <a:tr h="335788">
                <a:tc>
                  <a:txBody>
                    <a:bodyPr/>
                    <a:lstStyle/>
                    <a:p>
                      <a:pPr algn="ctr"/>
                      <a:r>
                        <a:rPr sz="1400" b="1">
                          <a:solidFill>
                            <a:srgbClr val="FFFFFF"/>
                          </a:solidFill>
                          <a:latin typeface="Calibri"/>
                        </a:rPr>
                        <a:t>Columna</a:t>
                      </a:r>
                    </a:p>
                  </a:txBody>
                  <a:tcPr marL="73152" marR="73152" marT="27432" marB="27432" anchor="ctr">
                    <a:solidFill>
                      <a:srgbClr val="0F4C5C"/>
                    </a:solidFill>
                  </a:tcPr>
                </a:tc>
                <a:tc>
                  <a:txBody>
                    <a:bodyPr/>
                    <a:lstStyle/>
                    <a:p>
                      <a:pPr algn="ctr"/>
                      <a:r>
                        <a:rPr sz="1400" b="1">
                          <a:solidFill>
                            <a:srgbClr val="FFFFFF"/>
                          </a:solidFill>
                          <a:latin typeface="Calibri"/>
                        </a:rPr>
                        <a:t>Efecto</a:t>
                      </a:r>
                    </a:p>
                  </a:txBody>
                  <a:tcPr marL="73152" marR="73152" marT="27432" marB="27432" anchor="ctr">
                    <a:solidFill>
                      <a:srgbClr val="0F4C5C"/>
                    </a:solidFill>
                  </a:tcPr>
                </a:tc>
                <a:tc>
                  <a:txBody>
                    <a:bodyPr/>
                    <a:lstStyle/>
                    <a:p>
                      <a:pPr algn="ctr"/>
                      <a:r>
                        <a:rPr sz="1400" b="1">
                          <a:solidFill>
                            <a:srgbClr val="FFFFFF"/>
                          </a:solidFill>
                          <a:latin typeface="Calibri"/>
                        </a:rPr>
                        <a:t>SS</a:t>
                      </a:r>
                    </a:p>
                  </a:txBody>
                  <a:tcPr marL="73152" marR="73152" marT="27432" marB="27432" anchor="ctr">
                    <a:solidFill>
                      <a:srgbClr val="0F4C5C"/>
                    </a:solidFill>
                  </a:tcPr>
                </a:tc>
                <a:tc>
                  <a:txBody>
                    <a:bodyPr/>
                    <a:lstStyle/>
                    <a:p>
                      <a:pPr algn="ctr"/>
                      <a:r>
                        <a:rPr sz="1400" b="1">
                          <a:solidFill>
                            <a:srgbClr val="FFFFFF"/>
                          </a:solidFill>
                          <a:latin typeface="Calibri"/>
                        </a:rPr>
                        <a:t>Estima</a:t>
                      </a:r>
                    </a:p>
                  </a:txBody>
                  <a:tcPr marL="73152" marR="73152" marT="27432" marB="27432" anchor="ctr">
                    <a:solidFill>
                      <a:srgbClr val="0F4C5C"/>
                    </a:solidFill>
                  </a:tcPr>
                </a:tc>
              </a:tr>
              <a:tr h="335788">
                <a:tc>
                  <a:txBody>
                    <a:bodyPr/>
                    <a:lstStyle/>
                    <a:p>
                      <a:pPr algn="ctr"/>
                      <a:r>
                        <a:rPr sz="1400" b="0">
                          <a:solidFill>
                            <a:srgbClr val="142B33"/>
                          </a:solidFill>
                          <a:latin typeface="Calibri"/>
                        </a:rPr>
                        <a:t>A</a:t>
                      </a:r>
                    </a:p>
                  </a:txBody>
                  <a:tcPr marL="73152" marR="73152" marT="27432" marB="27432" anchor="ctr">
                    <a:solidFill>
                      <a:srgbClr val="FFFFFF"/>
                    </a:solidFill>
                  </a:tcPr>
                </a:tc>
                <a:tc>
                  <a:txBody>
                    <a:bodyPr/>
                    <a:lstStyle/>
                    <a:p>
                      <a:pPr algn="ctr"/>
                      <a:r>
                        <a:rPr sz="1400" b="0">
                          <a:solidFill>
                            <a:srgbClr val="142B33"/>
                          </a:solidFill>
                          <a:latin typeface="Calibri"/>
                        </a:rPr>
                        <a:t>4.00</a:t>
                      </a:r>
                    </a:p>
                  </a:txBody>
                  <a:tcPr marL="73152" marR="73152" marT="27432" marB="27432" anchor="ctr">
                    <a:solidFill>
                      <a:srgbClr val="FFFFFF"/>
                    </a:solidFill>
                  </a:tcPr>
                </a:tc>
                <a:tc>
                  <a:txBody>
                    <a:bodyPr/>
                    <a:lstStyle/>
                    <a:p>
                      <a:pPr algn="ctr"/>
                      <a:r>
                        <a:rPr sz="1400" b="0">
                          <a:solidFill>
                            <a:srgbClr val="142B33"/>
                          </a:solidFill>
                          <a:latin typeface="Calibri"/>
                        </a:rPr>
                        <a:t>32.00</a:t>
                      </a:r>
                    </a:p>
                  </a:txBody>
                  <a:tcPr marL="73152" marR="73152" marT="27432" marB="27432" anchor="ctr">
                    <a:solidFill>
                      <a:srgbClr val="FFFFFF"/>
                    </a:solidFill>
                  </a:tcPr>
                </a:tc>
                <a:tc>
                  <a:txBody>
                    <a:bodyPr/>
                    <a:lstStyle/>
                    <a:p>
                      <a:pPr algn="ctr"/>
                      <a:r>
                        <a:rPr sz="1400" b="0">
                          <a:solidFill>
                            <a:srgbClr val="142B33"/>
                          </a:solidFill>
                          <a:latin typeface="Calibri"/>
                        </a:rPr>
                        <a:t>A</a:t>
                      </a:r>
                    </a:p>
                  </a:txBody>
                  <a:tcPr marL="73152" marR="73152" marT="27432" marB="27432" anchor="ctr">
                    <a:solidFill>
                      <a:srgbClr val="FFFFFF"/>
                    </a:solidFill>
                  </a:tcPr>
                </a:tc>
              </a:tr>
              <a:tr h="335788">
                <a:tc>
                  <a:txBody>
                    <a:bodyPr/>
                    <a:lstStyle/>
                    <a:p>
                      <a:pPr algn="ctr"/>
                      <a:r>
                        <a:rPr sz="1400" b="0">
                          <a:solidFill>
                            <a:srgbClr val="142B33"/>
                          </a:solidFill>
                          <a:latin typeface="Calibri"/>
                        </a:rPr>
                        <a:t>B</a:t>
                      </a:r>
                    </a:p>
                  </a:txBody>
                  <a:tcPr marL="73152" marR="73152" marT="27432" marB="27432" anchor="ctr">
                    <a:solidFill>
                      <a:srgbClr val="F4F8F9"/>
                    </a:solidFill>
                  </a:tcPr>
                </a:tc>
                <a:tc>
                  <a:txBody>
                    <a:bodyPr/>
                    <a:lstStyle/>
                    <a:p>
                      <a:pPr algn="ctr"/>
                      <a:r>
                        <a:rPr sz="1400" b="0">
                          <a:solidFill>
                            <a:srgbClr val="142B33"/>
                          </a:solidFill>
                          <a:latin typeface="Calibri"/>
                        </a:rPr>
                        <a:t>4.00</a:t>
                      </a:r>
                    </a:p>
                  </a:txBody>
                  <a:tcPr marL="73152" marR="73152" marT="27432" marB="27432" anchor="ctr">
                    <a:solidFill>
                      <a:srgbClr val="F4F8F9"/>
                    </a:solidFill>
                  </a:tcPr>
                </a:tc>
                <a:tc>
                  <a:txBody>
                    <a:bodyPr/>
                    <a:lstStyle/>
                    <a:p>
                      <a:pPr algn="ctr"/>
                      <a:r>
                        <a:rPr sz="1400" b="0">
                          <a:solidFill>
                            <a:srgbClr val="142B33"/>
                          </a:solidFill>
                          <a:latin typeface="Calibri"/>
                        </a:rPr>
                        <a:t>32.00</a:t>
                      </a:r>
                    </a:p>
                  </a:txBody>
                  <a:tcPr marL="73152" marR="73152" marT="27432" marB="27432" anchor="ctr">
                    <a:solidFill>
                      <a:srgbClr val="F4F8F9"/>
                    </a:solidFill>
                  </a:tcPr>
                </a:tc>
                <a:tc>
                  <a:txBody>
                    <a:bodyPr/>
                    <a:lstStyle/>
                    <a:p>
                      <a:pPr algn="ctr"/>
                      <a:r>
                        <a:rPr sz="1400" b="0">
                          <a:solidFill>
                            <a:srgbClr val="142B33"/>
                          </a:solidFill>
                          <a:latin typeface="Calibri"/>
                        </a:rPr>
                        <a:t>X</a:t>
                      </a:r>
                      <a:r>
                        <a:rPr sz="1400" b="0" baseline="-25000">
                          <a:solidFill>
                            <a:srgbClr val="142B33"/>
                          </a:solidFill>
                          <a:latin typeface="Calibri"/>
                        </a:rPr>
                        <a:t>L</a:t>
                      </a:r>
                    </a:p>
                  </a:txBody>
                  <a:tcPr marL="73152" marR="73152" marT="27432" marB="27432" anchor="ctr">
                    <a:solidFill>
                      <a:srgbClr val="F4F8F9"/>
                    </a:solidFill>
                  </a:tcPr>
                </a:tc>
              </a:tr>
              <a:tr h="335788">
                <a:tc>
                  <a:txBody>
                    <a:bodyPr/>
                    <a:lstStyle/>
                    <a:p>
                      <a:pPr algn="ctr"/>
                      <a:r>
                        <a:rPr sz="1400" b="0">
                          <a:solidFill>
                            <a:srgbClr val="142B33"/>
                          </a:solidFill>
                          <a:latin typeface="Calibri"/>
                        </a:rPr>
                        <a:t>C</a:t>
                      </a:r>
                    </a:p>
                  </a:txBody>
                  <a:tcPr marL="73152" marR="73152" marT="27432" marB="27432" anchor="ctr">
                    <a:solidFill>
                      <a:srgbClr val="FFFFFF"/>
                    </a:solidFill>
                  </a:tcPr>
                </a:tc>
                <a:tc>
                  <a:txBody>
                    <a:bodyPr/>
                    <a:lstStyle/>
                    <a:p>
                      <a:pPr algn="ctr"/>
                      <a:r>
                        <a:rPr sz="1400" b="0">
                          <a:solidFill>
                            <a:srgbClr val="142B33"/>
                          </a:solidFill>
                          <a:latin typeface="Calibri"/>
                        </a:rPr>
                        <a:t>4.00</a:t>
                      </a:r>
                    </a:p>
                  </a:txBody>
                  <a:tcPr marL="73152" marR="73152" marT="27432" marB="27432" anchor="ctr">
                    <a:solidFill>
                      <a:srgbClr val="FFFFFF"/>
                    </a:solidFill>
                  </a:tcPr>
                </a:tc>
                <a:tc>
                  <a:txBody>
                    <a:bodyPr/>
                    <a:lstStyle/>
                    <a:p>
                      <a:pPr algn="ctr"/>
                      <a:r>
                        <a:rPr sz="1400" b="0">
                          <a:solidFill>
                            <a:srgbClr val="142B33"/>
                          </a:solidFill>
                          <a:latin typeface="Calibri"/>
                        </a:rPr>
                        <a:t>32.00</a:t>
                      </a:r>
                    </a:p>
                  </a:txBody>
                  <a:tcPr marL="73152" marR="73152" marT="27432" marB="27432" anchor="ctr">
                    <a:solidFill>
                      <a:srgbClr val="FFFFFF"/>
                    </a:solidFill>
                  </a:tcPr>
                </a:tc>
                <a:tc>
                  <a:txBody>
                    <a:bodyPr/>
                    <a:lstStyle/>
                    <a:p>
                      <a:pPr algn="ctr"/>
                      <a:r>
                        <a:rPr sz="1400" b="0">
                          <a:solidFill>
                            <a:srgbClr val="142B33"/>
                          </a:solidFill>
                          <a:latin typeface="Calibri"/>
                        </a:rPr>
                        <a:t>X</a:t>
                      </a:r>
                      <a:r>
                        <a:rPr sz="1400" b="0" baseline="-25000">
                          <a:solidFill>
                            <a:srgbClr val="142B33"/>
                          </a:solidFill>
                          <a:latin typeface="Calibri"/>
                        </a:rPr>
                        <a:t>L</a:t>
                      </a:r>
                    </a:p>
                  </a:txBody>
                  <a:tcPr marL="73152" marR="73152" marT="27432" marB="27432" anchor="ctr">
                    <a:solidFill>
                      <a:srgbClr val="FFFFFF"/>
                    </a:solidFill>
                  </a:tcPr>
                </a:tc>
              </a:tr>
              <a:tr h="335788">
                <a:tc>
                  <a:txBody>
                    <a:bodyPr/>
                    <a:lstStyle/>
                    <a:p>
                      <a:pPr algn="ctr"/>
                      <a:r>
                        <a:rPr sz="1400" b="0">
                          <a:solidFill>
                            <a:srgbClr val="142B33"/>
                          </a:solidFill>
                          <a:latin typeface="Calibri"/>
                        </a:rPr>
                        <a:t>AB</a:t>
                      </a:r>
                    </a:p>
                  </a:txBody>
                  <a:tcPr marL="73152" marR="73152" marT="27432" marB="27432" anchor="ctr">
                    <a:solidFill>
                      <a:srgbClr val="F4F8F9"/>
                    </a:solidFill>
                  </a:tcPr>
                </a:tc>
                <a:tc>
                  <a:txBody>
                    <a:bodyPr/>
                    <a:lstStyle/>
                    <a:p>
                      <a:pPr algn="ctr"/>
                      <a:r>
                        <a:rPr sz="1400" b="0">
                          <a:solidFill>
                            <a:srgbClr val="142B33"/>
                          </a:solidFill>
                          <a:latin typeface="Calibri"/>
                        </a:rPr>
                        <a:t>1.00</a:t>
                      </a:r>
                    </a:p>
                  </a:txBody>
                  <a:tcPr marL="73152" marR="73152" marT="27432" marB="27432" anchor="ctr">
                    <a:solidFill>
                      <a:srgbClr val="F4F8F9"/>
                    </a:solidFill>
                  </a:tcPr>
                </a:tc>
                <a:tc>
                  <a:txBody>
                    <a:bodyPr/>
                    <a:lstStyle/>
                    <a:p>
                      <a:pPr algn="ctr"/>
                      <a:r>
                        <a:rPr sz="1400" b="0">
                          <a:solidFill>
                            <a:srgbClr val="142B33"/>
                          </a:solidFill>
                          <a:latin typeface="Calibri"/>
                        </a:rPr>
                        <a:t>2.00</a:t>
                      </a:r>
                    </a:p>
                  </a:txBody>
                  <a:tcPr marL="73152" marR="73152" marT="27432" marB="27432" anchor="ctr">
                    <a:solidFill>
                      <a:srgbClr val="F4F8F9"/>
                    </a:solidFill>
                  </a:tcPr>
                </a:tc>
                <a:tc>
                  <a:txBody>
                    <a:bodyPr/>
                    <a:lstStyle/>
                    <a:p>
                      <a:pPr algn="ctr"/>
                      <a:r>
                        <a:rPr sz="1400" b="0">
                          <a:solidFill>
                            <a:srgbClr val="142B33"/>
                          </a:solidFill>
                          <a:latin typeface="Calibri"/>
                        </a:rPr>
                        <a:t>A × X</a:t>
                      </a:r>
                      <a:r>
                        <a:rPr sz="1400" b="0" baseline="-25000">
                          <a:solidFill>
                            <a:srgbClr val="142B33"/>
                          </a:solidFill>
                          <a:latin typeface="Calibri"/>
                        </a:rPr>
                        <a:t>L</a:t>
                      </a:r>
                    </a:p>
                  </a:txBody>
                  <a:tcPr marL="73152" marR="73152" marT="27432" marB="27432" anchor="ctr">
                    <a:solidFill>
                      <a:srgbClr val="F4F8F9"/>
                    </a:solidFill>
                  </a:tcPr>
                </a:tc>
              </a:tr>
              <a:tr h="335788">
                <a:tc>
                  <a:txBody>
                    <a:bodyPr/>
                    <a:lstStyle/>
                    <a:p>
                      <a:pPr algn="ctr"/>
                      <a:r>
                        <a:rPr sz="1400" b="0">
                          <a:solidFill>
                            <a:srgbClr val="142B33"/>
                          </a:solidFill>
                          <a:latin typeface="Calibri"/>
                        </a:rPr>
                        <a:t>AC</a:t>
                      </a:r>
                    </a:p>
                  </a:txBody>
                  <a:tcPr marL="73152" marR="73152" marT="27432" marB="27432" anchor="ctr">
                    <a:solidFill>
                      <a:srgbClr val="FFFFFF"/>
                    </a:solidFill>
                  </a:tcPr>
                </a:tc>
                <a:tc>
                  <a:txBody>
                    <a:bodyPr/>
                    <a:lstStyle/>
                    <a:p>
                      <a:pPr algn="ctr"/>
                      <a:r>
                        <a:rPr sz="1400" b="0">
                          <a:solidFill>
                            <a:srgbClr val="142B33"/>
                          </a:solidFill>
                          <a:latin typeface="Calibri"/>
                        </a:rPr>
                        <a:t>0.00</a:t>
                      </a:r>
                    </a:p>
                  </a:txBody>
                  <a:tcPr marL="73152" marR="73152" marT="27432" marB="27432" anchor="ctr">
                    <a:solidFill>
                      <a:srgbClr val="FFFFFF"/>
                    </a:solidFill>
                  </a:tcPr>
                </a:tc>
                <a:tc>
                  <a:txBody>
                    <a:bodyPr/>
                    <a:lstStyle/>
                    <a:p>
                      <a:pPr algn="ctr"/>
                      <a:r>
                        <a:rPr sz="1400" b="0">
                          <a:solidFill>
                            <a:srgbClr val="142B33"/>
                          </a:solidFill>
                          <a:latin typeface="Calibri"/>
                        </a:rPr>
                        <a:t>0.00</a:t>
                      </a:r>
                    </a:p>
                  </a:txBody>
                  <a:tcPr marL="73152" marR="73152" marT="27432" marB="27432" anchor="ctr">
                    <a:solidFill>
                      <a:srgbClr val="FFFFFF"/>
                    </a:solidFill>
                  </a:tcPr>
                </a:tc>
                <a:tc>
                  <a:txBody>
                    <a:bodyPr/>
                    <a:lstStyle/>
                    <a:p>
                      <a:pPr algn="ctr"/>
                      <a:r>
                        <a:rPr sz="1400" b="0">
                          <a:solidFill>
                            <a:srgbClr val="142B33"/>
                          </a:solidFill>
                          <a:latin typeface="Calibri"/>
                        </a:rPr>
                        <a:t>A × X</a:t>
                      </a:r>
                      <a:r>
                        <a:rPr sz="1400" b="0" baseline="-25000">
                          <a:solidFill>
                            <a:srgbClr val="142B33"/>
                          </a:solidFill>
                          <a:latin typeface="Calibri"/>
                        </a:rPr>
                        <a:t>L</a:t>
                      </a:r>
                    </a:p>
                  </a:txBody>
                  <a:tcPr marL="73152" marR="73152" marT="27432" marB="27432" anchor="ctr">
                    <a:solidFill>
                      <a:srgbClr val="FFFFFF"/>
                    </a:solidFill>
                  </a:tcPr>
                </a:tc>
              </a:tr>
              <a:tr h="335788">
                <a:tc>
                  <a:txBody>
                    <a:bodyPr/>
                    <a:lstStyle/>
                    <a:p>
                      <a:pPr algn="ctr"/>
                      <a:r>
                        <a:rPr sz="1400" b="0">
                          <a:solidFill>
                            <a:srgbClr val="142B33"/>
                          </a:solidFill>
                          <a:latin typeface="Calibri"/>
                        </a:rPr>
                        <a:t>BC</a:t>
                      </a:r>
                    </a:p>
                  </a:txBody>
                  <a:tcPr marL="73152" marR="73152" marT="27432" marB="27432" anchor="ctr">
                    <a:solidFill>
                      <a:srgbClr val="F4F8F9"/>
                    </a:solidFill>
                  </a:tcPr>
                </a:tc>
                <a:tc>
                  <a:txBody>
                    <a:bodyPr/>
                    <a:lstStyle/>
                    <a:p>
                      <a:pPr algn="ctr"/>
                      <a:r>
                        <a:rPr sz="1400" b="0">
                          <a:solidFill>
                            <a:srgbClr val="142B33"/>
                          </a:solidFill>
                          <a:latin typeface="Calibri"/>
                        </a:rPr>
                        <a:t>−1.00</a:t>
                      </a:r>
                    </a:p>
                  </a:txBody>
                  <a:tcPr marL="73152" marR="73152" marT="27432" marB="27432" anchor="ctr">
                    <a:solidFill>
                      <a:srgbClr val="F4F8F9"/>
                    </a:solidFill>
                  </a:tcPr>
                </a:tc>
                <a:tc>
                  <a:txBody>
                    <a:bodyPr/>
                    <a:lstStyle/>
                    <a:p>
                      <a:pPr algn="ctr"/>
                      <a:r>
                        <a:rPr sz="1400" b="0">
                          <a:solidFill>
                            <a:srgbClr val="142B33"/>
                          </a:solidFill>
                          <a:latin typeface="Calibri"/>
                        </a:rPr>
                        <a:t>2.00</a:t>
                      </a:r>
                    </a:p>
                  </a:txBody>
                  <a:tcPr marL="73152" marR="73152" marT="27432" marB="27432" anchor="ctr">
                    <a:solidFill>
                      <a:srgbClr val="F4F8F9"/>
                    </a:solidFill>
                  </a:tcPr>
                </a:tc>
                <a:tc>
                  <a:txBody>
                    <a:bodyPr/>
                    <a:lstStyle/>
                    <a:p>
                      <a:pPr algn="ctr"/>
                      <a:r>
                        <a:rPr sz="1400" b="0">
                          <a:solidFill>
                            <a:srgbClr val="142B33"/>
                          </a:solidFill>
                          <a:latin typeface="Calibri"/>
                        </a:rPr>
                        <a:t>X</a:t>
                      </a:r>
                      <a:r>
                        <a:rPr sz="1400" b="0" baseline="-25000">
                          <a:solidFill>
                            <a:srgbClr val="142B33"/>
                          </a:solidFill>
                          <a:latin typeface="Calibri"/>
                        </a:rPr>
                        <a:t>Q</a:t>
                      </a:r>
                    </a:p>
                  </a:txBody>
                  <a:tcPr marL="73152" marR="73152" marT="27432" marB="27432" anchor="ctr">
                    <a:solidFill>
                      <a:srgbClr val="F4F8F9"/>
                    </a:solidFill>
                  </a:tcPr>
                </a:tc>
              </a:tr>
              <a:tr h="335788">
                <a:tc>
                  <a:txBody>
                    <a:bodyPr/>
                    <a:lstStyle/>
                    <a:p>
                      <a:pPr algn="ctr"/>
                      <a:r>
                        <a:rPr sz="1400" b="0">
                          <a:solidFill>
                            <a:srgbClr val="142B33"/>
                          </a:solidFill>
                          <a:latin typeface="Calibri"/>
                        </a:rPr>
                        <a:t>ABC</a:t>
                      </a:r>
                    </a:p>
                  </a:txBody>
                  <a:tcPr marL="73152" marR="73152" marT="27432" marB="27432" anchor="ctr">
                    <a:solidFill>
                      <a:srgbClr val="FFFFFF"/>
                    </a:solidFill>
                  </a:tcPr>
                </a:tc>
                <a:tc>
                  <a:txBody>
                    <a:bodyPr/>
                    <a:lstStyle/>
                    <a:p>
                      <a:pPr algn="ctr"/>
                      <a:r>
                        <a:rPr sz="1400" b="0">
                          <a:solidFill>
                            <a:srgbClr val="142B33"/>
                          </a:solidFill>
                          <a:latin typeface="Calibri"/>
                        </a:rPr>
                        <a:t>1.00</a:t>
                      </a:r>
                    </a:p>
                  </a:txBody>
                  <a:tcPr marL="73152" marR="73152" marT="27432" marB="27432" anchor="ctr">
                    <a:solidFill>
                      <a:srgbClr val="FFFFFF"/>
                    </a:solidFill>
                  </a:tcPr>
                </a:tc>
                <a:tc>
                  <a:txBody>
                    <a:bodyPr/>
                    <a:lstStyle/>
                    <a:p>
                      <a:pPr algn="ctr"/>
                      <a:r>
                        <a:rPr sz="1400" b="0">
                          <a:solidFill>
                            <a:srgbClr val="142B33"/>
                          </a:solidFill>
                          <a:latin typeface="Calibri"/>
                        </a:rPr>
                        <a:t>2.00</a:t>
                      </a:r>
                    </a:p>
                  </a:txBody>
                  <a:tcPr marL="73152" marR="73152" marT="27432" marB="27432" anchor="ctr">
                    <a:solidFill>
                      <a:srgbClr val="FFFFFF"/>
                    </a:solidFill>
                  </a:tcPr>
                </a:tc>
                <a:tc>
                  <a:txBody>
                    <a:bodyPr/>
                    <a:lstStyle/>
                    <a:p>
                      <a:pPr algn="ctr"/>
                      <a:r>
                        <a:rPr sz="1400" b="0">
                          <a:solidFill>
                            <a:srgbClr val="142B33"/>
                          </a:solidFill>
                          <a:latin typeface="Calibri"/>
                        </a:rPr>
                        <a:t>A × X</a:t>
                      </a:r>
                      <a:r>
                        <a:rPr sz="1400" b="0" baseline="-25000">
                          <a:solidFill>
                            <a:srgbClr val="142B33"/>
                          </a:solidFill>
                          <a:latin typeface="Calibri"/>
                        </a:rPr>
                        <a:t>Q</a:t>
                      </a:r>
                    </a:p>
                  </a:txBody>
                  <a:tcPr marL="73152" marR="73152" marT="27432" marB="27432" anchor="ctr">
                    <a:solidFill>
                      <a:srgbClr val="FFFFFF"/>
                    </a:solidFill>
                  </a:tcPr>
                </a:tc>
              </a:tr>
            </a:tbl>
          </a:graphicData>
        </a:graphic>
      </p:graphicFrame>
      <p:sp>
        <p:nvSpPr>
          <p:cNvPr id="4" name="Rounded Rectangle 3"/>
          <p:cNvSpPr/>
          <p:nvPr/>
        </p:nvSpPr>
        <p:spPr>
          <a:xfrm>
            <a:off x="548640" y="4304792"/>
            <a:ext cx="5341467"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X</a:t>
            </a:r>
            <a:r>
              <a:rPr sz="1400" b="0" baseline="-25000">
                <a:solidFill>
                  <a:srgbClr val="142B33"/>
                </a:solidFill>
                <a:latin typeface="Calibri"/>
              </a:rPr>
              <a:t>L</a:t>
            </a:r>
            <a:r>
              <a:rPr sz="1400" b="0">
                <a:solidFill>
                  <a:srgbClr val="142B33"/>
                </a:solidFill>
                <a:latin typeface="Calibri"/>
              </a:rPr>
              <a:t> = B + C = 8.00: media con X alto (20.0) − media con X bajo (12.0)</a:t>
            </a:r>
          </a:p>
        </p:txBody>
      </p:sp>
      <p:graphicFrame>
        <p:nvGraphicFramePr>
          <p:cNvPr id="5" name="Table 4"/>
          <p:cNvGraphicFramePr>
            <a:graphicFrameLocks noGrp="1"/>
          </p:cNvGraphicFramePr>
          <p:nvPr/>
        </p:nvGraphicFramePr>
        <p:xfrm>
          <a:off x="6301587" y="1417320"/>
          <a:ext cx="5341465" cy="2014728"/>
        </p:xfrm>
        <a:graphic>
          <a:graphicData uri="http://schemas.openxmlformats.org/drawingml/2006/table">
            <a:tbl>
              <a:tblPr firstRow="0" bandRow="0">
                <a:tableStyleId>{5C22544A-7EE6-4342-B048-85BDC9FD1C3A}</a:tableStyleId>
              </a:tblPr>
              <a:tblGrid>
                <a:gridCol w="2712104"/>
                <a:gridCol w="781453"/>
                <a:gridCol w="468872"/>
                <a:gridCol w="689518"/>
                <a:gridCol w="689518"/>
              </a:tblGrid>
              <a:tr h="335788">
                <a:tc>
                  <a:txBody>
                    <a:bodyPr/>
                    <a:lstStyle/>
                    <a:p>
                      <a:pPr algn="l"/>
                      <a:r>
                        <a:rPr sz="1400" b="1">
                          <a:solidFill>
                            <a:srgbClr val="FFFFFF"/>
                          </a:solidFill>
                          <a:latin typeface="Calibri"/>
                        </a:rPr>
                        <a:t>SV</a:t>
                      </a:r>
                    </a:p>
                  </a:txBody>
                  <a:tcPr marL="73152" marR="73152" marT="27432" marB="27432" anchor="ctr">
                    <a:solidFill>
                      <a:srgbClr val="0F4C5C"/>
                    </a:solidFill>
                  </a:tcPr>
                </a:tc>
                <a:tc>
                  <a:txBody>
                    <a:bodyPr/>
                    <a:lstStyle/>
                    <a:p>
                      <a:pPr algn="ctr"/>
                      <a:r>
                        <a:rPr sz="1400" b="1">
                          <a:solidFill>
                            <a:srgbClr val="FFFFFF"/>
                          </a:solidFill>
                          <a:latin typeface="Calibri"/>
                        </a:rPr>
                        <a:t>SS</a:t>
                      </a:r>
                    </a:p>
                  </a:txBody>
                  <a:tcPr marL="73152" marR="73152" marT="27432" marB="27432" anchor="ctr">
                    <a:solidFill>
                      <a:srgbClr val="0F4C5C"/>
                    </a:solidFill>
                  </a:tcPr>
                </a:tc>
                <a:tc>
                  <a:txBody>
                    <a:bodyPr/>
                    <a:lstStyle/>
                    <a:p>
                      <a:pPr algn="ctr"/>
                      <a:r>
                        <a:rPr sz="1400" b="1">
                          <a:solidFill>
                            <a:srgbClr val="FFFFFF"/>
                          </a:solidFill>
                          <a:latin typeface="Calibri"/>
                        </a:rPr>
                        <a:t>DF</a:t>
                      </a:r>
                    </a:p>
                  </a:txBody>
                  <a:tcPr marL="73152" marR="73152" marT="27432" marB="27432" anchor="ctr">
                    <a:solidFill>
                      <a:srgbClr val="0F4C5C"/>
                    </a:solidFill>
                  </a:tcPr>
                </a:tc>
                <a:tc>
                  <a:txBody>
                    <a:bodyPr/>
                    <a:lstStyle/>
                    <a:p>
                      <a:pPr algn="ctr"/>
                      <a:r>
                        <a:rPr sz="1400" b="1">
                          <a:solidFill>
                            <a:srgbClr val="FFFFFF"/>
                          </a:solidFill>
                          <a:latin typeface="Calibri"/>
                        </a:rPr>
                        <a:t>MS</a:t>
                      </a:r>
                    </a:p>
                  </a:txBody>
                  <a:tcPr marL="73152" marR="73152" marT="27432" marB="27432" anchor="ctr">
                    <a:solidFill>
                      <a:srgbClr val="0F4C5C"/>
                    </a:solidFill>
                  </a:tcPr>
                </a:tc>
                <a:tc>
                  <a:txBody>
                    <a:bodyPr/>
                    <a:lstStyle/>
                    <a:p>
                      <a:pPr algn="ctr"/>
                      <a:r>
                        <a:rPr sz="1400" b="1">
                          <a:solidFill>
                            <a:srgbClr val="FFFFFF"/>
                          </a:solidFill>
                          <a:latin typeface="Calibri"/>
                        </a:rPr>
                        <a:t>F</a:t>
                      </a:r>
                      <a:r>
                        <a:rPr sz="1400" b="1" baseline="-25000">
                          <a:solidFill>
                            <a:srgbClr val="FFFFFF"/>
                          </a:solidFill>
                          <a:latin typeface="Calibri"/>
                        </a:rPr>
                        <a:t>0</a:t>
                      </a:r>
                    </a:p>
                  </a:txBody>
                  <a:tcPr marL="73152" marR="73152" marT="27432" marB="27432" anchor="ctr">
                    <a:solidFill>
                      <a:srgbClr val="0F4C5C"/>
                    </a:solidFill>
                  </a:tcPr>
                </a:tc>
              </a:tr>
              <a:tr h="335788">
                <a:tc>
                  <a:txBody>
                    <a:bodyPr/>
                    <a:lstStyle/>
                    <a:p>
                      <a:pPr algn="l"/>
                      <a:r>
                        <a:rPr sz="1400" b="0">
                          <a:solidFill>
                            <a:srgbClr val="142B33"/>
                          </a:solidFill>
                          <a:latin typeface="Calibri"/>
                        </a:rPr>
                        <a:t>A</a:t>
                      </a:r>
                    </a:p>
                  </a:txBody>
                  <a:tcPr marL="73152" marR="73152" marT="27432" marB="27432" anchor="ctr">
                    <a:solidFill>
                      <a:srgbClr val="FFFFFF"/>
                    </a:solidFill>
                  </a:tcPr>
                </a:tc>
                <a:tc>
                  <a:txBody>
                    <a:bodyPr/>
                    <a:lstStyle/>
                    <a:p>
                      <a:pPr algn="ctr"/>
                      <a:r>
                        <a:rPr sz="1400" b="0">
                          <a:solidFill>
                            <a:srgbClr val="142B33"/>
                          </a:solidFill>
                          <a:latin typeface="Calibri"/>
                        </a:rPr>
                        <a:t>32.00</a:t>
                      </a:r>
                    </a:p>
                  </a:txBody>
                  <a:tcPr marL="73152" marR="73152" marT="27432" marB="27432" anchor="ctr">
                    <a:solidFill>
                      <a:srgbClr val="FFFFFF"/>
                    </a:solidFill>
                  </a:tcPr>
                </a:tc>
                <a:tc>
                  <a:txBody>
                    <a:bodyPr/>
                    <a:lstStyle/>
                    <a:p>
                      <a:pPr algn="ctr"/>
                      <a:r>
                        <a:rPr sz="1400" b="0">
                          <a:solidFill>
                            <a:srgbClr val="142B33"/>
                          </a:solidFill>
                          <a:latin typeface="Calibri"/>
                        </a:rPr>
                        <a:t>1</a:t>
                      </a:r>
                    </a:p>
                  </a:txBody>
                  <a:tcPr marL="73152" marR="73152" marT="27432" marB="27432" anchor="ctr">
                    <a:solidFill>
                      <a:srgbClr val="FFFFFF"/>
                    </a:solidFill>
                  </a:tcPr>
                </a:tc>
                <a:tc>
                  <a:txBody>
                    <a:bodyPr/>
                    <a:lstStyle/>
                    <a:p>
                      <a:pPr algn="ctr"/>
                      <a:r>
                        <a:rPr sz="1400" b="0">
                          <a:solidFill>
                            <a:srgbClr val="142B33"/>
                          </a:solidFill>
                          <a:latin typeface="Calibri"/>
                        </a:rPr>
                        <a:t>32.00</a:t>
                      </a:r>
                    </a:p>
                  </a:txBody>
                  <a:tcPr marL="73152" marR="73152" marT="27432" marB="27432" anchor="ctr">
                    <a:solidFill>
                      <a:srgbClr val="FFFFFF"/>
                    </a:solidFill>
                  </a:tcPr>
                </a:tc>
                <a:tc>
                  <a:txBody>
                    <a:bodyPr/>
                    <a:lstStyle/>
                    <a:p>
                      <a:pPr algn="ctr"/>
                      <a:r>
                        <a:rPr sz="1400" b="0">
                          <a:solidFill>
                            <a:srgbClr val="142B33"/>
                          </a:solidFill>
                          <a:latin typeface="Calibri"/>
                        </a:rPr>
                        <a:t>64.00</a:t>
                      </a:r>
                    </a:p>
                  </a:txBody>
                  <a:tcPr marL="73152" marR="73152" marT="27432" marB="27432" anchor="ctr">
                    <a:solidFill>
                      <a:srgbClr val="FFFFFF"/>
                    </a:solidFill>
                  </a:tcPr>
                </a:tc>
              </a:tr>
              <a:tr h="335788">
                <a:tc>
                  <a:txBody>
                    <a:bodyPr/>
                    <a:lstStyle/>
                    <a:p>
                      <a:pPr algn="l"/>
                      <a:r>
                        <a:rPr sz="1400" b="0">
                          <a:solidFill>
                            <a:srgbClr val="142B33"/>
                          </a:solidFill>
                          <a:latin typeface="Calibri"/>
                        </a:rPr>
                        <a:t>X  (X</a:t>
                      </a:r>
                      <a:r>
                        <a:rPr sz="1400" b="0" baseline="-25000">
                          <a:solidFill>
                            <a:srgbClr val="142B33"/>
                          </a:solidFill>
                          <a:latin typeface="Calibri"/>
                        </a:rPr>
                        <a:t>L</a:t>
                      </a:r>
                      <a:r>
                        <a:rPr sz="1400" b="0">
                          <a:solidFill>
                            <a:srgbClr val="142B33"/>
                          </a:solidFill>
                          <a:latin typeface="Calibri"/>
                        </a:rPr>
                        <a:t> = 64.00 + X</a:t>
                      </a:r>
                      <a:r>
                        <a:rPr sz="1400" b="0" baseline="-25000">
                          <a:solidFill>
                            <a:srgbClr val="142B33"/>
                          </a:solidFill>
                          <a:latin typeface="Calibri"/>
                        </a:rPr>
                        <a:t>Q</a:t>
                      </a:r>
                      <a:r>
                        <a:rPr sz="1400" b="0">
                          <a:solidFill>
                            <a:srgbClr val="142B33"/>
                          </a:solidFill>
                          <a:latin typeface="Calibri"/>
                        </a:rPr>
                        <a:t> = 2.00)</a:t>
                      </a:r>
                    </a:p>
                  </a:txBody>
                  <a:tcPr marL="73152" marR="73152" marT="27432" marB="27432" anchor="ctr">
                    <a:solidFill>
                      <a:srgbClr val="F4F8F9"/>
                    </a:solidFill>
                  </a:tcPr>
                </a:tc>
                <a:tc>
                  <a:txBody>
                    <a:bodyPr/>
                    <a:lstStyle/>
                    <a:p>
                      <a:pPr algn="ctr"/>
                      <a:r>
                        <a:rPr sz="1400" b="0">
                          <a:solidFill>
                            <a:srgbClr val="142B33"/>
                          </a:solidFill>
                          <a:latin typeface="Calibri"/>
                        </a:rPr>
                        <a:t>66.00</a:t>
                      </a:r>
                    </a:p>
                  </a:txBody>
                  <a:tcPr marL="73152" marR="73152" marT="27432" marB="27432" anchor="ctr">
                    <a:solidFill>
                      <a:srgbClr val="F4F8F9"/>
                    </a:solidFill>
                  </a:tcPr>
                </a:tc>
                <a:tc>
                  <a:txBody>
                    <a:bodyPr/>
                    <a:lstStyle/>
                    <a:p>
                      <a:pPr algn="ctr"/>
                      <a:r>
                        <a:rPr sz="1400" b="0">
                          <a:solidFill>
                            <a:srgbClr val="142B33"/>
                          </a:solidFill>
                          <a:latin typeface="Calibri"/>
                        </a:rPr>
                        <a:t>2</a:t>
                      </a:r>
                    </a:p>
                  </a:txBody>
                  <a:tcPr marL="73152" marR="73152" marT="27432" marB="27432" anchor="ctr">
                    <a:solidFill>
                      <a:srgbClr val="F4F8F9"/>
                    </a:solidFill>
                  </a:tcPr>
                </a:tc>
                <a:tc>
                  <a:txBody>
                    <a:bodyPr/>
                    <a:lstStyle/>
                    <a:p>
                      <a:pPr algn="ctr"/>
                      <a:r>
                        <a:rPr sz="1400" b="0">
                          <a:solidFill>
                            <a:srgbClr val="142B33"/>
                          </a:solidFill>
                          <a:latin typeface="Calibri"/>
                        </a:rPr>
                        <a:t>33.00</a:t>
                      </a:r>
                    </a:p>
                  </a:txBody>
                  <a:tcPr marL="73152" marR="73152" marT="27432" marB="27432" anchor="ctr">
                    <a:solidFill>
                      <a:srgbClr val="F4F8F9"/>
                    </a:solidFill>
                  </a:tcPr>
                </a:tc>
                <a:tc>
                  <a:txBody>
                    <a:bodyPr/>
                    <a:lstStyle/>
                    <a:p>
                      <a:pPr algn="ctr"/>
                      <a:r>
                        <a:rPr sz="1400" b="0">
                          <a:solidFill>
                            <a:srgbClr val="142B33"/>
                          </a:solidFill>
                          <a:latin typeface="Calibri"/>
                        </a:rPr>
                        <a:t>66.00</a:t>
                      </a:r>
                    </a:p>
                  </a:txBody>
                  <a:tcPr marL="73152" marR="73152" marT="27432" marB="27432" anchor="ctr">
                    <a:solidFill>
                      <a:srgbClr val="F4F8F9"/>
                    </a:solidFill>
                  </a:tcPr>
                </a:tc>
              </a:tr>
              <a:tr h="335788">
                <a:tc>
                  <a:txBody>
                    <a:bodyPr/>
                    <a:lstStyle/>
                    <a:p>
                      <a:pPr algn="l"/>
                      <a:r>
                        <a:rPr sz="1400" b="0">
                          <a:solidFill>
                            <a:srgbClr val="142B33"/>
                          </a:solidFill>
                          <a:latin typeface="Calibri"/>
                        </a:rPr>
                        <a:t>AX  (2.00 + 2.00)</a:t>
                      </a:r>
                    </a:p>
                  </a:txBody>
                  <a:tcPr marL="73152" marR="73152" marT="27432" marB="27432" anchor="ctr">
                    <a:solidFill>
                      <a:srgbClr val="FFFFFF"/>
                    </a:solidFill>
                  </a:tcPr>
                </a:tc>
                <a:tc>
                  <a:txBody>
                    <a:bodyPr/>
                    <a:lstStyle/>
                    <a:p>
                      <a:pPr algn="ctr"/>
                      <a:r>
                        <a:rPr sz="1400" b="0">
                          <a:solidFill>
                            <a:srgbClr val="142B33"/>
                          </a:solidFill>
                          <a:latin typeface="Calibri"/>
                        </a:rPr>
                        <a:t>3.00</a:t>
                      </a:r>
                    </a:p>
                  </a:txBody>
                  <a:tcPr marL="73152" marR="73152" marT="27432" marB="27432" anchor="ctr">
                    <a:solidFill>
                      <a:srgbClr val="FFFFFF"/>
                    </a:solidFill>
                  </a:tcPr>
                </a:tc>
                <a:tc>
                  <a:txBody>
                    <a:bodyPr/>
                    <a:lstStyle/>
                    <a:p>
                      <a:pPr algn="ctr"/>
                      <a:r>
                        <a:rPr sz="1400" b="0">
                          <a:solidFill>
                            <a:srgbClr val="142B33"/>
                          </a:solidFill>
                          <a:latin typeface="Calibri"/>
                        </a:rPr>
                        <a:t>2</a:t>
                      </a:r>
                    </a:p>
                  </a:txBody>
                  <a:tcPr marL="73152" marR="73152" marT="27432" marB="27432" anchor="ctr">
                    <a:solidFill>
                      <a:srgbClr val="FFFFFF"/>
                    </a:solidFill>
                  </a:tcPr>
                </a:tc>
                <a:tc>
                  <a:txBody>
                    <a:bodyPr/>
                    <a:lstStyle/>
                    <a:p>
                      <a:pPr algn="ctr"/>
                      <a:r>
                        <a:rPr sz="1400" b="0">
                          <a:solidFill>
                            <a:srgbClr val="142B33"/>
                          </a:solidFill>
                          <a:latin typeface="Calibri"/>
                        </a:rPr>
                        <a:t>1.50</a:t>
                      </a:r>
                    </a:p>
                  </a:txBody>
                  <a:tcPr marL="73152" marR="73152" marT="27432" marB="27432" anchor="ctr">
                    <a:solidFill>
                      <a:srgbClr val="FFFFFF"/>
                    </a:solidFill>
                  </a:tcPr>
                </a:tc>
                <a:tc>
                  <a:txBody>
                    <a:bodyPr/>
                    <a:lstStyle/>
                    <a:p>
                      <a:pPr algn="ctr"/>
                      <a:r>
                        <a:rPr sz="1400" b="0">
                          <a:solidFill>
                            <a:srgbClr val="142B33"/>
                          </a:solidFill>
                          <a:latin typeface="Calibri"/>
                        </a:rPr>
                        <a:t>3.00</a:t>
                      </a:r>
                    </a:p>
                  </a:txBody>
                  <a:tcPr marL="73152" marR="73152" marT="27432" marB="27432" anchor="ctr">
                    <a:solidFill>
                      <a:srgbClr val="FFFFFF"/>
                    </a:solidFill>
                  </a:tcPr>
                </a:tc>
              </a:tr>
              <a:tr h="335788">
                <a:tc>
                  <a:txBody>
                    <a:bodyPr/>
                    <a:lstStyle/>
                    <a:p>
                      <a:pPr algn="l"/>
                      <a:r>
                        <a:rPr sz="1400" b="0">
                          <a:solidFill>
                            <a:srgbClr val="142B33"/>
                          </a:solidFill>
                          <a:latin typeface="Calibri"/>
                        </a:rPr>
                        <a:t>Error (3 y 5; 4 y 6)</a:t>
                      </a:r>
                    </a:p>
                  </a:txBody>
                  <a:tcPr marL="73152" marR="73152" marT="27432" marB="27432" anchor="ctr">
                    <a:solidFill>
                      <a:srgbClr val="F4F8F9"/>
                    </a:solidFill>
                  </a:tcPr>
                </a:tc>
                <a:tc>
                  <a:txBody>
                    <a:bodyPr/>
                    <a:lstStyle/>
                    <a:p>
                      <a:pPr algn="ctr"/>
                      <a:r>
                        <a:rPr sz="1400" b="0">
                          <a:solidFill>
                            <a:srgbClr val="142B33"/>
                          </a:solidFill>
                          <a:latin typeface="Calibri"/>
                        </a:rPr>
                        <a:t>1.0</a:t>
                      </a:r>
                    </a:p>
                  </a:txBody>
                  <a:tcPr marL="73152" marR="73152" marT="27432" marB="27432" anchor="ctr">
                    <a:solidFill>
                      <a:srgbClr val="F4F8F9"/>
                    </a:solidFill>
                  </a:tcPr>
                </a:tc>
                <a:tc>
                  <a:txBody>
                    <a:bodyPr/>
                    <a:lstStyle/>
                    <a:p>
                      <a:pPr algn="ctr"/>
                      <a:r>
                        <a:rPr sz="1400" b="0">
                          <a:solidFill>
                            <a:srgbClr val="142B33"/>
                          </a:solidFill>
                          <a:latin typeface="Calibri"/>
                        </a:rPr>
                        <a:t>2</a:t>
                      </a:r>
                    </a:p>
                  </a:txBody>
                  <a:tcPr marL="73152" marR="73152" marT="27432" marB="27432" anchor="ctr">
                    <a:solidFill>
                      <a:srgbClr val="F4F8F9"/>
                    </a:solidFill>
                  </a:tcPr>
                </a:tc>
                <a:tc>
                  <a:txBody>
                    <a:bodyPr/>
                    <a:lstStyle/>
                    <a:p>
                      <a:pPr algn="ctr"/>
                      <a:r>
                        <a:rPr sz="1400" b="0">
                          <a:solidFill>
                            <a:srgbClr val="142B33"/>
                          </a:solidFill>
                          <a:latin typeface="Calibri"/>
                        </a:rPr>
                        <a:t>0.50</a:t>
                      </a:r>
                    </a:p>
                  </a:txBody>
                  <a:tcPr marL="73152" marR="73152" marT="27432" marB="27432" anchor="ctr">
                    <a:solidFill>
                      <a:srgbClr val="F4F8F9"/>
                    </a:solidFill>
                  </a:tcPr>
                </a:tc>
                <a:tc>
                  <a:txBody>
                    <a:bodyPr/>
                    <a:lstStyle/>
                    <a:p>
                      <a:pPr algn="ctr"/>
                    </a:p>
                  </a:txBody>
                  <a:tcPr marL="73152" marR="73152" marT="27432" marB="27432" anchor="ctr">
                    <a:solidFill>
                      <a:srgbClr val="F4F8F9"/>
                    </a:solidFill>
                  </a:tcPr>
                </a:tc>
              </a:tr>
              <a:tr h="335788">
                <a:tc>
                  <a:txBody>
                    <a:bodyPr/>
                    <a:lstStyle/>
                    <a:p>
                      <a:pPr algn="l"/>
                      <a:r>
                        <a:rPr sz="1400" b="0">
                          <a:solidFill>
                            <a:srgbClr val="142B33"/>
                          </a:solidFill>
                          <a:latin typeface="Calibri"/>
                        </a:rPr>
                        <a:t>Total</a:t>
                      </a:r>
                    </a:p>
                  </a:txBody>
                  <a:tcPr marL="73152" marR="73152" marT="27432" marB="27432" anchor="ctr">
                    <a:solidFill>
                      <a:srgbClr val="FFFFFF"/>
                    </a:solidFill>
                  </a:tcPr>
                </a:tc>
                <a:tc>
                  <a:txBody>
                    <a:bodyPr/>
                    <a:lstStyle/>
                    <a:p>
                      <a:pPr algn="ctr"/>
                      <a:r>
                        <a:rPr sz="1400" b="0">
                          <a:solidFill>
                            <a:srgbClr val="142B33"/>
                          </a:solidFill>
                          <a:latin typeface="Calibri"/>
                        </a:rPr>
                        <a:t>102.00</a:t>
                      </a:r>
                    </a:p>
                  </a:txBody>
                  <a:tcPr marL="73152" marR="73152" marT="27432" marB="27432" anchor="ctr">
                    <a:solidFill>
                      <a:srgbClr val="FFFFFF"/>
                    </a:solidFill>
                  </a:tcPr>
                </a:tc>
                <a:tc>
                  <a:txBody>
                    <a:bodyPr/>
                    <a:lstStyle/>
                    <a:p>
                      <a:pPr algn="ctr"/>
                      <a:r>
                        <a:rPr sz="1400" b="0">
                          <a:solidFill>
                            <a:srgbClr val="142B33"/>
                          </a:solidFill>
                          <a:latin typeface="Calibri"/>
                        </a:rPr>
                        <a:t>7</a:t>
                      </a: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c>
                  <a:txBody>
                    <a:bodyPr/>
                    <a:lstStyle/>
                    <a:p>
                      <a:pPr algn="ctr"/>
                    </a:p>
                  </a:txBody>
                  <a:tcPr marL="73152" marR="73152" marT="27432" marB="27432" anchor="ctr">
                    <a:solidFill>
                      <a:srgbClr val="FFFFFF"/>
                    </a:solidFill>
                  </a:tcPr>
                </a:tc>
              </a:tr>
            </a:tbl>
          </a:graphicData>
        </a:graphic>
      </p:graphicFrame>
      <p:sp>
        <p:nvSpPr>
          <p:cNvPr id="6" name="Rounded Rectangle 5"/>
          <p:cNvSpPr/>
          <p:nvPr/>
        </p:nvSpPr>
        <p:spPr>
          <a:xfrm>
            <a:off x="6301587" y="3633216"/>
            <a:ext cx="5341467" cy="677164"/>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300" b="0">
                <a:solidFill>
                  <a:srgbClr val="142B33"/>
                </a:solidFill>
                <a:latin typeface="Calibri"/>
              </a:rPr>
              <a:t>F</a:t>
            </a:r>
            <a:r>
              <a:rPr sz="1300" b="0" baseline="-25000">
                <a:solidFill>
                  <a:srgbClr val="142B33"/>
                </a:solidFill>
                <a:latin typeface="Calibri"/>
              </a:rPr>
              <a:t>0.05, 1, 2</a:t>
            </a:r>
            <a:r>
              <a:rPr sz="1300" b="0">
                <a:solidFill>
                  <a:srgbClr val="142B33"/>
                </a:solidFill>
                <a:latin typeface="Calibri"/>
              </a:rPr>
              <a:t> = 18.51, F</a:t>
            </a:r>
            <a:r>
              <a:rPr sz="1300" b="0" baseline="-25000">
                <a:solidFill>
                  <a:srgbClr val="142B33"/>
                </a:solidFill>
                <a:latin typeface="Calibri"/>
              </a:rPr>
              <a:t>0.05, 2, 2</a:t>
            </a:r>
            <a:r>
              <a:rPr sz="1300" b="0">
                <a:solidFill>
                  <a:srgbClr val="142B33"/>
                </a:solidFill>
                <a:latin typeface="Calibri"/>
              </a:rPr>
              <a:t> = 19.00: con 2 g.l. de error la prueba es muy poco potente; el diseño es ilustrativo</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Niveles mixtos</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63</a:t>
            </a:r>
          </a:p>
        </p:txBody>
      </p:sp>
      <p:sp>
        <p:nvSpPr>
          <p:cNvPr id="9" name="Rounded Rectangle 8"/>
          <p:cNvSpPr/>
          <p:nvPr/>
        </p:nvSpPr>
        <p:spPr>
          <a:xfrm>
            <a:off x="548640" y="91440"/>
            <a:ext cx="219913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8 · Niveles mixtos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Factores con dos y cuatro niveles: dos columnas representan los cuatro niveles (tabla 9-12)</a:t>
            </a:r>
          </a:p>
        </p:txBody>
      </p:sp>
      <p:graphicFrame>
        <p:nvGraphicFramePr>
          <p:cNvPr id="3" name="Table 2"/>
          <p:cNvGraphicFramePr>
            <a:graphicFrameLocks noGrp="1"/>
          </p:cNvGraphicFramePr>
          <p:nvPr/>
        </p:nvGraphicFramePr>
        <p:xfrm>
          <a:off x="548640" y="1417320"/>
          <a:ext cx="4273172" cy="1833880"/>
        </p:xfrm>
        <a:graphic>
          <a:graphicData uri="http://schemas.openxmlformats.org/drawingml/2006/table">
            <a:tbl>
              <a:tblPr firstRow="0" bandRow="0">
                <a:tableStyleId>{5C22544A-7EE6-4342-B048-85BDC9FD1C3A}</a:tableStyleId>
              </a:tblPr>
              <a:tblGrid>
                <a:gridCol w="466610"/>
                <a:gridCol w="466610"/>
                <a:gridCol w="3339952"/>
              </a:tblGrid>
              <a:tr h="366776">
                <a:tc>
                  <a:txBody>
                    <a:bodyPr/>
                    <a:lstStyle/>
                    <a:p>
                      <a:pPr algn="ctr"/>
                      <a:r>
                        <a:rPr sz="1600" b="1">
                          <a:solidFill>
                            <a:srgbClr val="FFFFFF"/>
                          </a:solidFill>
                          <a:latin typeface="Calibri"/>
                        </a:rPr>
                        <a:t>P</a:t>
                      </a:r>
                    </a:p>
                  </a:txBody>
                  <a:tcPr marL="73152" marR="73152" marT="27432" marB="27432" anchor="ctr">
                    <a:solidFill>
                      <a:srgbClr val="0F4C5C"/>
                    </a:solidFill>
                  </a:tcPr>
                </a:tc>
                <a:tc>
                  <a:txBody>
                    <a:bodyPr/>
                    <a:lstStyle/>
                    <a:p>
                      <a:pPr algn="ctr"/>
                      <a:r>
                        <a:rPr sz="1600" b="1">
                          <a:solidFill>
                            <a:srgbClr val="FFFFFF"/>
                          </a:solidFill>
                          <a:latin typeface="Calibri"/>
                        </a:rPr>
                        <a:t>Q</a:t>
                      </a:r>
                    </a:p>
                  </a:txBody>
                  <a:tcPr marL="73152" marR="73152" marT="27432" marB="27432" anchor="ctr">
                    <a:solidFill>
                      <a:srgbClr val="0F4C5C"/>
                    </a:solidFill>
                  </a:tcPr>
                </a:tc>
                <a:tc>
                  <a:txBody>
                    <a:bodyPr/>
                    <a:lstStyle/>
                    <a:p>
                      <a:pPr algn="ctr"/>
                      <a:r>
                        <a:rPr sz="1600" b="1">
                          <a:solidFill>
                            <a:srgbClr val="FFFFFF"/>
                          </a:solidFill>
                          <a:latin typeface="Calibri"/>
                        </a:rPr>
                        <a:t>Factor de 4 niveles</a:t>
                      </a:r>
                    </a:p>
                  </a:txBody>
                  <a:tcPr marL="73152" marR="73152" marT="27432" marB="27432" anchor="ctr">
                    <a:solidFill>
                      <a:srgbClr val="0F4C5C"/>
                    </a:solidFill>
                  </a:tcPr>
                </a:tc>
              </a:tr>
              <a:tr h="366776">
                <a:tc>
                  <a:txBody>
                    <a:bodyPr/>
                    <a:lstStyle/>
                    <a:p>
                      <a:pPr algn="ctr"/>
                      <a:r>
                        <a:rPr sz="1700" b="1">
                          <a:solidFill>
                            <a:srgbClr val="E36414"/>
                          </a:solidFill>
                          <a:latin typeface="Calibri"/>
                        </a:rPr>
                        <a:t>−</a:t>
                      </a:r>
                    </a:p>
                  </a:txBody>
                  <a:tcPr marL="73152" marR="73152" marT="27432" marB="27432" anchor="ctr">
                    <a:solidFill>
                      <a:srgbClr val="FFFFFF"/>
                    </a:solidFill>
                  </a:tcPr>
                </a:tc>
                <a:tc>
                  <a:txBody>
                    <a:bodyPr/>
                    <a:lstStyle/>
                    <a:p>
                      <a:pPr algn="ctr"/>
                      <a:r>
                        <a:rPr sz="1700" b="1">
                          <a:solidFill>
                            <a:srgbClr val="E36414"/>
                          </a:solidFill>
                          <a:latin typeface="Calibri"/>
                        </a:rPr>
                        <a:t>−</a:t>
                      </a:r>
                    </a:p>
                  </a:txBody>
                  <a:tcPr marL="73152" marR="73152" marT="27432" marB="27432" anchor="ctr">
                    <a:solidFill>
                      <a:srgbClr val="FFFFFF"/>
                    </a:solidFill>
                  </a:tcPr>
                </a:tc>
                <a:tc>
                  <a:txBody>
                    <a:bodyPr/>
                    <a:lstStyle/>
                    <a:p>
                      <a:pPr algn="ctr"/>
                      <a:r>
                        <a:rPr sz="1600" b="0">
                          <a:solidFill>
                            <a:srgbClr val="142B33"/>
                          </a:solidFill>
                          <a:latin typeface="Calibri"/>
                        </a:rPr>
                        <a:t>a</a:t>
                      </a:r>
                      <a:r>
                        <a:rPr sz="1600" b="0" baseline="-25000">
                          <a:solidFill>
                            <a:srgbClr val="142B33"/>
                          </a:solidFill>
                          <a:latin typeface="Calibri"/>
                        </a:rPr>
                        <a:t>1</a:t>
                      </a:r>
                    </a:p>
                  </a:txBody>
                  <a:tcPr marL="73152" marR="73152" marT="27432" marB="27432" anchor="ctr">
                    <a:solidFill>
                      <a:srgbClr val="FFFFFF"/>
                    </a:solidFill>
                  </a:tcPr>
                </a:tc>
              </a:tr>
              <a:tr h="366776">
                <a:tc>
                  <a:txBody>
                    <a:bodyPr/>
                    <a:lstStyle/>
                    <a:p>
                      <a:pPr algn="ctr"/>
                      <a:r>
                        <a:rPr sz="1700" b="1">
                          <a:solidFill>
                            <a:srgbClr val="0F4C5C"/>
                          </a:solidFill>
                          <a:latin typeface="Calibri"/>
                        </a:rPr>
                        <a:t>+</a:t>
                      </a:r>
                    </a:p>
                  </a:txBody>
                  <a:tcPr marL="73152" marR="73152" marT="27432" marB="27432" anchor="ctr">
                    <a:solidFill>
                      <a:srgbClr val="F4F8F9"/>
                    </a:solidFill>
                  </a:tcPr>
                </a:tc>
                <a:tc>
                  <a:txBody>
                    <a:bodyPr/>
                    <a:lstStyle/>
                    <a:p>
                      <a:pPr algn="ctr"/>
                      <a:r>
                        <a:rPr sz="1700" b="1">
                          <a:solidFill>
                            <a:srgbClr val="E36414"/>
                          </a:solidFill>
                          <a:latin typeface="Calibri"/>
                        </a:rPr>
                        <a:t>−</a:t>
                      </a:r>
                    </a:p>
                  </a:txBody>
                  <a:tcPr marL="73152" marR="73152" marT="27432" marB="27432" anchor="ctr">
                    <a:solidFill>
                      <a:srgbClr val="F4F8F9"/>
                    </a:solidFill>
                  </a:tcPr>
                </a:tc>
                <a:tc>
                  <a:txBody>
                    <a:bodyPr/>
                    <a:lstStyle/>
                    <a:p>
                      <a:pPr algn="ctr"/>
                      <a:r>
                        <a:rPr sz="1600" b="0">
                          <a:solidFill>
                            <a:srgbClr val="142B33"/>
                          </a:solidFill>
                          <a:latin typeface="Calibri"/>
                        </a:rPr>
                        <a:t>a</a:t>
                      </a:r>
                      <a:r>
                        <a:rPr sz="1600" b="0" baseline="-25000">
                          <a:solidFill>
                            <a:srgbClr val="142B33"/>
                          </a:solidFill>
                          <a:latin typeface="Calibri"/>
                        </a:rPr>
                        <a:t>2</a:t>
                      </a:r>
                    </a:p>
                  </a:txBody>
                  <a:tcPr marL="73152" marR="73152" marT="27432" marB="27432" anchor="ctr">
                    <a:solidFill>
                      <a:srgbClr val="F4F8F9"/>
                    </a:solidFill>
                  </a:tcPr>
                </a:tc>
              </a:tr>
              <a:tr h="366776">
                <a:tc>
                  <a:txBody>
                    <a:bodyPr/>
                    <a:lstStyle/>
                    <a:p>
                      <a:pPr algn="ctr"/>
                      <a:r>
                        <a:rPr sz="1700" b="1">
                          <a:solidFill>
                            <a:srgbClr val="E36414"/>
                          </a:solidFill>
                          <a:latin typeface="Calibri"/>
                        </a:rPr>
                        <a:t>−</a:t>
                      </a:r>
                    </a:p>
                  </a:txBody>
                  <a:tcPr marL="73152" marR="73152" marT="27432" marB="27432" anchor="ctr">
                    <a:solidFill>
                      <a:srgbClr val="FFFFFF"/>
                    </a:solidFill>
                  </a:tcPr>
                </a:tc>
                <a:tc>
                  <a:txBody>
                    <a:bodyPr/>
                    <a:lstStyle/>
                    <a:p>
                      <a:pPr algn="ctr"/>
                      <a:r>
                        <a:rPr sz="1700" b="1">
                          <a:solidFill>
                            <a:srgbClr val="0F4C5C"/>
                          </a:solidFill>
                          <a:latin typeface="Calibri"/>
                        </a:rPr>
                        <a:t>+</a:t>
                      </a:r>
                    </a:p>
                  </a:txBody>
                  <a:tcPr marL="73152" marR="73152" marT="27432" marB="27432" anchor="ctr">
                    <a:solidFill>
                      <a:srgbClr val="FFFFFF"/>
                    </a:solidFill>
                  </a:tcPr>
                </a:tc>
                <a:tc>
                  <a:txBody>
                    <a:bodyPr/>
                    <a:lstStyle/>
                    <a:p>
                      <a:pPr algn="ctr"/>
                      <a:r>
                        <a:rPr sz="1600" b="0">
                          <a:solidFill>
                            <a:srgbClr val="142B33"/>
                          </a:solidFill>
                          <a:latin typeface="Calibri"/>
                        </a:rPr>
                        <a:t>a</a:t>
                      </a:r>
                      <a:r>
                        <a:rPr sz="1600" b="0" baseline="-25000">
                          <a:solidFill>
                            <a:srgbClr val="142B33"/>
                          </a:solidFill>
                          <a:latin typeface="Calibri"/>
                        </a:rPr>
                        <a:t>3</a:t>
                      </a:r>
                    </a:p>
                  </a:txBody>
                  <a:tcPr marL="73152" marR="73152" marT="27432" marB="27432" anchor="ctr">
                    <a:solidFill>
                      <a:srgbClr val="FFFFFF"/>
                    </a:solidFill>
                  </a:tcPr>
                </a:tc>
              </a:tr>
              <a:tr h="366776">
                <a:tc>
                  <a:txBody>
                    <a:bodyPr/>
                    <a:lstStyle/>
                    <a:p>
                      <a:pPr algn="ctr"/>
                      <a:r>
                        <a:rPr sz="1700" b="1">
                          <a:solidFill>
                            <a:srgbClr val="0F4C5C"/>
                          </a:solidFill>
                          <a:latin typeface="Calibri"/>
                        </a:rPr>
                        <a:t>+</a:t>
                      </a:r>
                    </a:p>
                  </a:txBody>
                  <a:tcPr marL="73152" marR="73152" marT="27432" marB="27432" anchor="ctr">
                    <a:solidFill>
                      <a:srgbClr val="F4F8F9"/>
                    </a:solidFill>
                  </a:tcPr>
                </a:tc>
                <a:tc>
                  <a:txBody>
                    <a:bodyPr/>
                    <a:lstStyle/>
                    <a:p>
                      <a:pPr algn="ctr"/>
                      <a:r>
                        <a:rPr sz="1700" b="1">
                          <a:solidFill>
                            <a:srgbClr val="0F4C5C"/>
                          </a:solidFill>
                          <a:latin typeface="Calibri"/>
                        </a:rPr>
                        <a:t>+</a:t>
                      </a:r>
                    </a:p>
                  </a:txBody>
                  <a:tcPr marL="73152" marR="73152" marT="27432" marB="27432" anchor="ctr">
                    <a:solidFill>
                      <a:srgbClr val="F4F8F9"/>
                    </a:solidFill>
                  </a:tcPr>
                </a:tc>
                <a:tc>
                  <a:txBody>
                    <a:bodyPr/>
                    <a:lstStyle/>
                    <a:p>
                      <a:pPr algn="ctr"/>
                      <a:r>
                        <a:rPr sz="1600" b="0">
                          <a:solidFill>
                            <a:srgbClr val="142B33"/>
                          </a:solidFill>
                          <a:latin typeface="Calibri"/>
                        </a:rPr>
                        <a:t>a</a:t>
                      </a:r>
                      <a:r>
                        <a:rPr sz="1600" b="0" baseline="-25000">
                          <a:solidFill>
                            <a:srgbClr val="142B33"/>
                          </a:solidFill>
                          <a:latin typeface="Calibri"/>
                        </a:rPr>
                        <a:t>4</a:t>
                      </a:r>
                    </a:p>
                  </a:txBody>
                  <a:tcPr marL="73152" marR="73152" marT="27432" marB="27432" anchor="ctr">
                    <a:solidFill>
                      <a:srgbClr val="F4F8F9"/>
                    </a:solidFill>
                  </a:tcPr>
                </a:tc>
              </a:tr>
            </a:tbl>
          </a:graphicData>
        </a:graphic>
      </p:graphicFrame>
      <p:sp>
        <p:nvSpPr>
          <p:cNvPr id="4" name="Rounded Rectangle 3"/>
          <p:cNvSpPr/>
          <p:nvPr/>
        </p:nvSpPr>
        <p:spPr>
          <a:xfrm>
            <a:off x="548640" y="3452368"/>
            <a:ext cx="4273174" cy="739140"/>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500" b="0">
                <a:solidFill>
                  <a:srgbClr val="142B33"/>
                </a:solidFill>
                <a:latin typeface="Calibri"/>
              </a:rPr>
              <a:t>P, Q y PQ: tres columnas ortogonales = </a:t>
            </a:r>
            <a:r>
              <a:rPr sz="1500" b="1">
                <a:solidFill>
                  <a:srgbClr val="142B33"/>
                </a:solidFill>
                <a:latin typeface="Calibri"/>
              </a:rPr>
              <a:t>3 g.l.</a:t>
            </a:r>
            <a:r>
              <a:rPr sz="1500" b="0">
                <a:solidFill>
                  <a:srgbClr val="142B33"/>
                </a:solidFill>
                <a:latin typeface="Calibri"/>
              </a:rPr>
              <a:t> del factor de cuatro niveles</a:t>
            </a:r>
          </a:p>
        </p:txBody>
      </p:sp>
      <p:graphicFrame>
        <p:nvGraphicFramePr>
          <p:cNvPr id="5" name="Table 4"/>
          <p:cNvGraphicFramePr>
            <a:graphicFrameLocks noGrp="1"/>
          </p:cNvGraphicFramePr>
          <p:nvPr/>
        </p:nvGraphicFramePr>
        <p:xfrm>
          <a:off x="5233294" y="1417320"/>
          <a:ext cx="6409760" cy="3239007"/>
        </p:xfrm>
        <a:graphic>
          <a:graphicData uri="http://schemas.openxmlformats.org/drawingml/2006/table">
            <a:tbl>
              <a:tblPr firstRow="0" bandRow="0">
                <a:tableStyleId>{5C22544A-7EE6-4342-B048-85BDC9FD1C3A}</a:tableStyleId>
              </a:tblPr>
              <a:tblGrid>
                <a:gridCol w="2435709"/>
                <a:gridCol w="3012587"/>
                <a:gridCol w="961464"/>
              </a:tblGrid>
              <a:tr h="552703">
                <a:tc>
                  <a:txBody>
                    <a:bodyPr/>
                    <a:lstStyle/>
                    <a:p>
                      <a:pPr algn="l"/>
                      <a:r>
                        <a:rPr sz="1400" b="1">
                          <a:solidFill>
                            <a:srgbClr val="FFFFFF"/>
                          </a:solidFill>
                          <a:latin typeface="Calibri"/>
                        </a:rPr>
                        <a:t>Efecto real (4 × 2</a:t>
                      </a:r>
                      <a:r>
                        <a:rPr sz="1400" b="1" baseline="30000">
                          <a:solidFill>
                            <a:srgbClr val="FFFFFF"/>
                          </a:solidFill>
                          <a:latin typeface="Calibri"/>
                        </a:rPr>
                        <a:t>2</a:t>
                      </a:r>
                      <a:r>
                        <a:rPr sz="1400" b="1">
                          <a:solidFill>
                            <a:srgbClr val="FFFFFF"/>
                          </a:solidFill>
                          <a:latin typeface="Calibri"/>
                        </a:rPr>
                        <a:t>, 16 corridas)</a:t>
                      </a:r>
                    </a:p>
                  </a:txBody>
                  <a:tcPr marL="73152" marR="73152" marT="27432" marB="27432" anchor="ctr">
                    <a:solidFill>
                      <a:srgbClr val="0F4C5C"/>
                    </a:solidFill>
                  </a:tcPr>
                </a:tc>
                <a:tc>
                  <a:txBody>
                    <a:bodyPr/>
                    <a:lstStyle/>
                    <a:p>
                      <a:pPr algn="ctr"/>
                      <a:r>
                        <a:rPr sz="1400" b="1">
                          <a:solidFill>
                            <a:srgbClr val="FFFFFF"/>
                          </a:solidFill>
                          <a:latin typeface="Calibri"/>
                        </a:rPr>
                        <a:t>Columnas del 2</a:t>
                      </a:r>
                      <a:r>
                        <a:rPr sz="1400" b="1" baseline="30000">
                          <a:solidFill>
                            <a:srgbClr val="FFFFFF"/>
                          </a:solidFill>
                          <a:latin typeface="Calibri"/>
                        </a:rPr>
                        <a:t>4</a:t>
                      </a:r>
                      <a:r>
                        <a:rPr sz="1400" b="1">
                          <a:solidFill>
                            <a:srgbClr val="FFFFFF"/>
                          </a:solidFill>
                          <a:latin typeface="Calibri"/>
                        </a:rPr>
                        <a:t> que se suman</a:t>
                      </a:r>
                    </a:p>
                  </a:txBody>
                  <a:tcPr marL="73152" marR="73152" marT="27432" marB="27432" anchor="ctr">
                    <a:solidFill>
                      <a:srgbClr val="0F4C5C"/>
                    </a:solidFill>
                  </a:tcPr>
                </a:tc>
                <a:tc>
                  <a:txBody>
                    <a:bodyPr/>
                    <a:lstStyle/>
                    <a:p>
                      <a:pPr algn="ctr"/>
                      <a:r>
                        <a:rPr sz="1400" b="1">
                          <a:solidFill>
                            <a:srgbClr val="FFFFFF"/>
                          </a:solidFill>
                          <a:latin typeface="Calibri"/>
                        </a:rPr>
                        <a:t>DF</a:t>
                      </a:r>
                    </a:p>
                  </a:txBody>
                  <a:tcPr marL="73152" marR="73152" marT="27432" marB="27432" anchor="ctr">
                    <a:solidFill>
                      <a:srgbClr val="0F4C5C"/>
                    </a:solidFill>
                  </a:tcPr>
                </a:tc>
              </a:tr>
              <a:tr h="335788">
                <a:tc>
                  <a:txBody>
                    <a:bodyPr/>
                    <a:lstStyle/>
                    <a:p>
                      <a:pPr algn="l"/>
                      <a:r>
                        <a:rPr sz="1400" b="0">
                          <a:solidFill>
                            <a:srgbClr val="142B33"/>
                          </a:solidFill>
                          <a:latin typeface="Calibri"/>
                        </a:rPr>
                        <a:t>X</a:t>
                      </a:r>
                    </a:p>
                  </a:txBody>
                  <a:tcPr marL="73152" marR="73152" marT="27432" marB="27432" anchor="ctr">
                    <a:solidFill>
                      <a:srgbClr val="FFFFFF"/>
                    </a:solidFill>
                  </a:tcPr>
                </a:tc>
                <a:tc>
                  <a:txBody>
                    <a:bodyPr/>
                    <a:lstStyle/>
                    <a:p>
                      <a:pPr algn="ctr"/>
                      <a:r>
                        <a:rPr sz="1400" b="0">
                          <a:solidFill>
                            <a:srgbClr val="142B33"/>
                          </a:solidFill>
                          <a:latin typeface="Calibri"/>
                        </a:rPr>
                        <a:t>A + B + AB</a:t>
                      </a:r>
                    </a:p>
                  </a:txBody>
                  <a:tcPr marL="73152" marR="73152" marT="27432" marB="27432" anchor="ctr">
                    <a:solidFill>
                      <a:srgbClr val="FFFFFF"/>
                    </a:solidFill>
                  </a:tcPr>
                </a:tc>
                <a:tc>
                  <a:txBody>
                    <a:bodyPr/>
                    <a:lstStyle/>
                    <a:p>
                      <a:pPr algn="ctr"/>
                      <a:r>
                        <a:rPr sz="1400" b="0">
                          <a:solidFill>
                            <a:srgbClr val="142B33"/>
                          </a:solidFill>
                          <a:latin typeface="Calibri"/>
                        </a:rPr>
                        <a:t>3</a:t>
                      </a:r>
                    </a:p>
                  </a:txBody>
                  <a:tcPr marL="73152" marR="73152" marT="27432" marB="27432" anchor="ctr">
                    <a:solidFill>
                      <a:srgbClr val="FFFFFF"/>
                    </a:solidFill>
                  </a:tcPr>
                </a:tc>
              </a:tr>
              <a:tr h="335788">
                <a:tc>
                  <a:txBody>
                    <a:bodyPr/>
                    <a:lstStyle/>
                    <a:p>
                      <a:pPr algn="l"/>
                      <a:r>
                        <a:rPr sz="1400" b="0">
                          <a:solidFill>
                            <a:srgbClr val="142B33"/>
                          </a:solidFill>
                          <a:latin typeface="Calibri"/>
                        </a:rPr>
                        <a:t>C</a:t>
                      </a:r>
                    </a:p>
                  </a:txBody>
                  <a:tcPr marL="73152" marR="73152" marT="27432" marB="27432" anchor="ctr">
                    <a:solidFill>
                      <a:srgbClr val="F4F8F9"/>
                    </a:solidFill>
                  </a:tcPr>
                </a:tc>
                <a:tc>
                  <a:txBody>
                    <a:bodyPr/>
                    <a:lstStyle/>
                    <a:p>
                      <a:pPr algn="ctr"/>
                      <a:r>
                        <a:rPr sz="1400" b="0">
                          <a:solidFill>
                            <a:srgbClr val="142B33"/>
                          </a:solidFill>
                          <a:latin typeface="Calibri"/>
                        </a:rPr>
                        <a:t>C</a:t>
                      </a:r>
                    </a:p>
                  </a:txBody>
                  <a:tcPr marL="73152" marR="73152" marT="27432" marB="27432" anchor="ctr">
                    <a:solidFill>
                      <a:srgbClr val="F4F8F9"/>
                    </a:solidFill>
                  </a:tcPr>
                </a:tc>
                <a:tc>
                  <a:txBody>
                    <a:bodyPr/>
                    <a:lstStyle/>
                    <a:p>
                      <a:pPr algn="ctr"/>
                      <a:r>
                        <a:rPr sz="1400" b="0">
                          <a:solidFill>
                            <a:srgbClr val="142B33"/>
                          </a:solidFill>
                          <a:latin typeface="Calibri"/>
                        </a:rPr>
                        <a:t>1</a:t>
                      </a:r>
                    </a:p>
                  </a:txBody>
                  <a:tcPr marL="73152" marR="73152" marT="27432" marB="27432" anchor="ctr">
                    <a:solidFill>
                      <a:srgbClr val="F4F8F9"/>
                    </a:solidFill>
                  </a:tcPr>
                </a:tc>
              </a:tr>
              <a:tr h="335788">
                <a:tc>
                  <a:txBody>
                    <a:bodyPr/>
                    <a:lstStyle/>
                    <a:p>
                      <a:pPr algn="l"/>
                      <a:r>
                        <a:rPr sz="1400" b="0">
                          <a:solidFill>
                            <a:srgbClr val="142B33"/>
                          </a:solidFill>
                          <a:latin typeface="Calibri"/>
                        </a:rPr>
                        <a:t>D</a:t>
                      </a:r>
                    </a:p>
                  </a:txBody>
                  <a:tcPr marL="73152" marR="73152" marT="27432" marB="27432" anchor="ctr">
                    <a:solidFill>
                      <a:srgbClr val="FFFFFF"/>
                    </a:solidFill>
                  </a:tcPr>
                </a:tc>
                <a:tc>
                  <a:txBody>
                    <a:bodyPr/>
                    <a:lstStyle/>
                    <a:p>
                      <a:pPr algn="ctr"/>
                      <a:r>
                        <a:rPr sz="1400" b="0">
                          <a:solidFill>
                            <a:srgbClr val="142B33"/>
                          </a:solidFill>
                          <a:latin typeface="Calibri"/>
                        </a:rPr>
                        <a:t>D</a:t>
                      </a:r>
                    </a:p>
                  </a:txBody>
                  <a:tcPr marL="73152" marR="73152" marT="27432" marB="27432" anchor="ctr">
                    <a:solidFill>
                      <a:srgbClr val="FFFFFF"/>
                    </a:solidFill>
                  </a:tcPr>
                </a:tc>
                <a:tc>
                  <a:txBody>
                    <a:bodyPr/>
                    <a:lstStyle/>
                    <a:p>
                      <a:pPr algn="ctr"/>
                      <a:r>
                        <a:rPr sz="1400" b="0">
                          <a:solidFill>
                            <a:srgbClr val="142B33"/>
                          </a:solidFill>
                          <a:latin typeface="Calibri"/>
                        </a:rPr>
                        <a:t>1</a:t>
                      </a:r>
                    </a:p>
                  </a:txBody>
                  <a:tcPr marL="73152" marR="73152" marT="27432" marB="27432" anchor="ctr">
                    <a:solidFill>
                      <a:srgbClr val="FFFFFF"/>
                    </a:solidFill>
                  </a:tcPr>
                </a:tc>
              </a:tr>
              <a:tr h="335788">
                <a:tc>
                  <a:txBody>
                    <a:bodyPr/>
                    <a:lstStyle/>
                    <a:p>
                      <a:pPr algn="l"/>
                      <a:r>
                        <a:rPr sz="1400" b="0">
                          <a:solidFill>
                            <a:srgbClr val="142B33"/>
                          </a:solidFill>
                          <a:latin typeface="Calibri"/>
                        </a:rPr>
                        <a:t>CD</a:t>
                      </a:r>
                    </a:p>
                  </a:txBody>
                  <a:tcPr marL="73152" marR="73152" marT="27432" marB="27432" anchor="ctr">
                    <a:solidFill>
                      <a:srgbClr val="F4F8F9"/>
                    </a:solidFill>
                  </a:tcPr>
                </a:tc>
                <a:tc>
                  <a:txBody>
                    <a:bodyPr/>
                    <a:lstStyle/>
                    <a:p>
                      <a:pPr algn="ctr"/>
                      <a:r>
                        <a:rPr sz="1400" b="0">
                          <a:solidFill>
                            <a:srgbClr val="142B33"/>
                          </a:solidFill>
                          <a:latin typeface="Calibri"/>
                        </a:rPr>
                        <a:t>CD</a:t>
                      </a:r>
                    </a:p>
                  </a:txBody>
                  <a:tcPr marL="73152" marR="73152" marT="27432" marB="27432" anchor="ctr">
                    <a:solidFill>
                      <a:srgbClr val="F4F8F9"/>
                    </a:solidFill>
                  </a:tcPr>
                </a:tc>
                <a:tc>
                  <a:txBody>
                    <a:bodyPr/>
                    <a:lstStyle/>
                    <a:p>
                      <a:pPr algn="ctr"/>
                      <a:r>
                        <a:rPr sz="1400" b="0">
                          <a:solidFill>
                            <a:srgbClr val="142B33"/>
                          </a:solidFill>
                          <a:latin typeface="Calibri"/>
                        </a:rPr>
                        <a:t>1</a:t>
                      </a:r>
                    </a:p>
                  </a:txBody>
                  <a:tcPr marL="73152" marR="73152" marT="27432" marB="27432" anchor="ctr">
                    <a:solidFill>
                      <a:srgbClr val="F4F8F9"/>
                    </a:solidFill>
                  </a:tcPr>
                </a:tc>
              </a:tr>
              <a:tr h="335788">
                <a:tc>
                  <a:txBody>
                    <a:bodyPr/>
                    <a:lstStyle/>
                    <a:p>
                      <a:pPr algn="l"/>
                      <a:r>
                        <a:rPr sz="1400" b="0">
                          <a:solidFill>
                            <a:srgbClr val="142B33"/>
                          </a:solidFill>
                          <a:latin typeface="Calibri"/>
                        </a:rPr>
                        <a:t>XC</a:t>
                      </a:r>
                    </a:p>
                  </a:txBody>
                  <a:tcPr marL="73152" marR="73152" marT="27432" marB="27432" anchor="ctr">
                    <a:solidFill>
                      <a:srgbClr val="FFFFFF"/>
                    </a:solidFill>
                  </a:tcPr>
                </a:tc>
                <a:tc>
                  <a:txBody>
                    <a:bodyPr/>
                    <a:lstStyle/>
                    <a:p>
                      <a:pPr algn="ctr"/>
                      <a:r>
                        <a:rPr sz="1400" b="0">
                          <a:solidFill>
                            <a:srgbClr val="142B33"/>
                          </a:solidFill>
                          <a:latin typeface="Calibri"/>
                        </a:rPr>
                        <a:t>AC + BC + ABC</a:t>
                      </a:r>
                    </a:p>
                  </a:txBody>
                  <a:tcPr marL="73152" marR="73152" marT="27432" marB="27432" anchor="ctr">
                    <a:solidFill>
                      <a:srgbClr val="FFFFFF"/>
                    </a:solidFill>
                  </a:tcPr>
                </a:tc>
                <a:tc>
                  <a:txBody>
                    <a:bodyPr/>
                    <a:lstStyle/>
                    <a:p>
                      <a:pPr algn="ctr"/>
                      <a:r>
                        <a:rPr sz="1400" b="0">
                          <a:solidFill>
                            <a:srgbClr val="142B33"/>
                          </a:solidFill>
                          <a:latin typeface="Calibri"/>
                        </a:rPr>
                        <a:t>3</a:t>
                      </a:r>
                    </a:p>
                  </a:txBody>
                  <a:tcPr marL="73152" marR="73152" marT="27432" marB="27432" anchor="ctr">
                    <a:solidFill>
                      <a:srgbClr val="FFFFFF"/>
                    </a:solidFill>
                  </a:tcPr>
                </a:tc>
              </a:tr>
              <a:tr h="335788">
                <a:tc>
                  <a:txBody>
                    <a:bodyPr/>
                    <a:lstStyle/>
                    <a:p>
                      <a:pPr algn="l"/>
                      <a:r>
                        <a:rPr sz="1400" b="0">
                          <a:solidFill>
                            <a:srgbClr val="142B33"/>
                          </a:solidFill>
                          <a:latin typeface="Calibri"/>
                        </a:rPr>
                        <a:t>XD</a:t>
                      </a:r>
                    </a:p>
                  </a:txBody>
                  <a:tcPr marL="73152" marR="73152" marT="27432" marB="27432" anchor="ctr">
                    <a:solidFill>
                      <a:srgbClr val="F4F8F9"/>
                    </a:solidFill>
                  </a:tcPr>
                </a:tc>
                <a:tc>
                  <a:txBody>
                    <a:bodyPr/>
                    <a:lstStyle/>
                    <a:p>
                      <a:pPr algn="ctr"/>
                      <a:r>
                        <a:rPr sz="1400" b="0">
                          <a:solidFill>
                            <a:srgbClr val="142B33"/>
                          </a:solidFill>
                          <a:latin typeface="Calibri"/>
                        </a:rPr>
                        <a:t>AD + BD + ABD</a:t>
                      </a:r>
                    </a:p>
                  </a:txBody>
                  <a:tcPr marL="73152" marR="73152" marT="27432" marB="27432" anchor="ctr">
                    <a:solidFill>
                      <a:srgbClr val="F4F8F9"/>
                    </a:solidFill>
                  </a:tcPr>
                </a:tc>
                <a:tc>
                  <a:txBody>
                    <a:bodyPr/>
                    <a:lstStyle/>
                    <a:p>
                      <a:pPr algn="ctr"/>
                      <a:r>
                        <a:rPr sz="1400" b="0">
                          <a:solidFill>
                            <a:srgbClr val="142B33"/>
                          </a:solidFill>
                          <a:latin typeface="Calibri"/>
                        </a:rPr>
                        <a:t>3</a:t>
                      </a:r>
                    </a:p>
                  </a:txBody>
                  <a:tcPr marL="73152" marR="73152" marT="27432" marB="27432" anchor="ctr">
                    <a:solidFill>
                      <a:srgbClr val="F4F8F9"/>
                    </a:solidFill>
                  </a:tcPr>
                </a:tc>
              </a:tr>
              <a:tr h="335788">
                <a:tc>
                  <a:txBody>
                    <a:bodyPr/>
                    <a:lstStyle/>
                    <a:p>
                      <a:pPr algn="l"/>
                      <a:r>
                        <a:rPr sz="1400" b="0">
                          <a:solidFill>
                            <a:srgbClr val="142B33"/>
                          </a:solidFill>
                          <a:latin typeface="Calibri"/>
                        </a:rPr>
                        <a:t>XCD</a:t>
                      </a:r>
                    </a:p>
                  </a:txBody>
                  <a:tcPr marL="73152" marR="73152" marT="27432" marB="27432" anchor="ctr">
                    <a:solidFill>
                      <a:srgbClr val="FFFFFF"/>
                    </a:solidFill>
                  </a:tcPr>
                </a:tc>
                <a:tc>
                  <a:txBody>
                    <a:bodyPr/>
                    <a:lstStyle/>
                    <a:p>
                      <a:pPr algn="ctr"/>
                      <a:r>
                        <a:rPr sz="1400" b="0">
                          <a:solidFill>
                            <a:srgbClr val="142B33"/>
                          </a:solidFill>
                          <a:latin typeface="Calibri"/>
                        </a:rPr>
                        <a:t>ACD + BCD + ABCD</a:t>
                      </a:r>
                    </a:p>
                  </a:txBody>
                  <a:tcPr marL="73152" marR="73152" marT="27432" marB="27432" anchor="ctr">
                    <a:solidFill>
                      <a:srgbClr val="FFFFFF"/>
                    </a:solidFill>
                  </a:tcPr>
                </a:tc>
                <a:tc>
                  <a:txBody>
                    <a:bodyPr/>
                    <a:lstStyle/>
                    <a:p>
                      <a:pPr algn="ctr"/>
                      <a:r>
                        <a:rPr sz="1400" b="0">
                          <a:solidFill>
                            <a:srgbClr val="142B33"/>
                          </a:solidFill>
                          <a:latin typeface="Calibri"/>
                        </a:rPr>
                        <a:t>3</a:t>
                      </a:r>
                    </a:p>
                  </a:txBody>
                  <a:tcPr marL="73152" marR="73152" marT="27432" marB="27432" anchor="ctr">
                    <a:solidFill>
                      <a:srgbClr val="FFFFFF"/>
                    </a:solidFill>
                  </a:tcPr>
                </a:tc>
              </a:tr>
              <a:tr h="335788">
                <a:tc>
                  <a:txBody>
                    <a:bodyPr/>
                    <a:lstStyle/>
                    <a:p>
                      <a:pPr algn="l"/>
                      <a:r>
                        <a:rPr sz="1400" b="0">
                          <a:solidFill>
                            <a:srgbClr val="142B33"/>
                          </a:solidFill>
                          <a:latin typeface="Calibri"/>
                        </a:rPr>
                        <a:t>Total</a:t>
                      </a:r>
                    </a:p>
                  </a:txBody>
                  <a:tcPr marL="73152" marR="73152" marT="27432" marB="27432" anchor="ctr">
                    <a:solidFill>
                      <a:srgbClr val="F4F8F9"/>
                    </a:solidFill>
                  </a:tcPr>
                </a:tc>
                <a:tc>
                  <a:txBody>
                    <a:bodyPr/>
                    <a:lstStyle/>
                    <a:p>
                      <a:pPr algn="ctr"/>
                      <a:r>
                        <a:rPr sz="1400" b="0">
                          <a:solidFill>
                            <a:srgbClr val="142B33"/>
                          </a:solidFill>
                          <a:latin typeface="Calibri"/>
                        </a:rPr>
                        <a:t>15 columnas</a:t>
                      </a:r>
                    </a:p>
                  </a:txBody>
                  <a:tcPr marL="73152" marR="73152" marT="27432" marB="27432" anchor="ctr">
                    <a:solidFill>
                      <a:srgbClr val="F4F8F9"/>
                    </a:solidFill>
                  </a:tcPr>
                </a:tc>
                <a:tc>
                  <a:txBody>
                    <a:bodyPr/>
                    <a:lstStyle/>
                    <a:p>
                      <a:pPr algn="ctr"/>
                      <a:r>
                        <a:rPr sz="1400" b="0">
                          <a:solidFill>
                            <a:srgbClr val="142B33"/>
                          </a:solidFill>
                          <a:latin typeface="Calibri"/>
                        </a:rPr>
                        <a:t>15</a:t>
                      </a:r>
                    </a:p>
                  </a:txBody>
                  <a:tcPr marL="73152" marR="73152" marT="27432" marB="27432" anchor="ctr">
                    <a:solidFill>
                      <a:srgbClr val="F4F8F9"/>
                    </a:solidFill>
                  </a:tcPr>
                </a:tc>
              </a:tr>
            </a:tbl>
          </a:graphicData>
        </a:graphic>
      </p:graphicFrame>
      <p:sp>
        <p:nvSpPr>
          <p:cNvPr id="6" name="Rounded Rectangle 5"/>
          <p:cNvSpPr/>
          <p:nvPr/>
        </p:nvSpPr>
        <p:spPr>
          <a:xfrm>
            <a:off x="5233294" y="4857496"/>
            <a:ext cx="6409761" cy="708151"/>
          </a:xfrm>
          <a:prstGeom prst="roundRect">
            <a:avLst>
              <a:gd name="adj" fmla="val 12000"/>
            </a:avLst>
          </a:prstGeom>
          <a:solidFill>
            <a:srgbClr val="FDE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73152" bIns="73152"/>
          <a:lstStyle/>
          <a:p>
            <a:pPr algn="l"/>
            <a:r>
              <a:rPr sz="1400" b="0">
                <a:solidFill>
                  <a:srgbClr val="142B33"/>
                </a:solidFill>
                <a:latin typeface="Calibri"/>
              </a:rPr>
              <a:t>Sin interacciones dobles: las columnas libres (</a:t>
            </a:r>
            <a:r>
              <a:rPr sz="1400" b="1">
                <a:solidFill>
                  <a:srgbClr val="142B33"/>
                </a:solidFill>
                <a:latin typeface="Calibri"/>
              </a:rPr>
              <a:t>excepto AB</a:t>
            </a:r>
            <a:r>
              <a:rPr sz="1400" b="0">
                <a:solidFill>
                  <a:srgbClr val="142B33"/>
                </a:solidFill>
                <a:latin typeface="Calibri"/>
              </a:rPr>
              <a:t>) admiten más factores de dos niveles</a:t>
            </a:r>
          </a:p>
        </p:txBody>
      </p:sp>
      <p:sp>
        <p:nvSpPr>
          <p:cNvPr id="7" name="TextBox 6"/>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Niveles mixtos</a:t>
            </a:r>
          </a:p>
        </p:txBody>
      </p:sp>
      <p:sp>
        <p:nvSpPr>
          <p:cNvPr id="8" name="TextBox 7"/>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64</a:t>
            </a:r>
          </a:p>
        </p:txBody>
      </p:sp>
      <p:sp>
        <p:nvSpPr>
          <p:cNvPr id="9" name="Rounded Rectangle 8"/>
          <p:cNvSpPr/>
          <p:nvPr/>
        </p:nvSpPr>
        <p:spPr>
          <a:xfrm>
            <a:off x="548640" y="91440"/>
            <a:ext cx="2199132"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8 · Niveles mixtos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itle 1"/>
          <p:cNvSpPr>
            <a:spLocks noGrp="1"/>
          </p:cNvSpPr>
          <p:nvPr>
            <p:ph type="title"/>
          </p:nvPr>
        </p:nvSpPr>
        <p:spPr>
          <a:xfrm>
            <a:off x="548640" y="3383280"/>
            <a:ext cx="11094415" cy="914400"/>
          </a:xfrm>
        </p:spPr>
        <p:txBody>
          <a:bodyPr wrap="square" anchor="t" lIns="0" rIns="0" tIns="0" bIns="0"/>
          <a:lstStyle/>
          <a:p>
            <a:pPr algn="l"/>
            <a:r>
              <a:rPr sz="4400" b="1">
                <a:solidFill>
                  <a:srgbClr val="FFFFFF"/>
                </a:solidFill>
                <a:latin typeface="Cambria"/>
              </a:rPr>
              <a:t>Cierre</a:t>
            </a:r>
          </a:p>
        </p:txBody>
      </p:sp>
      <p:sp>
        <p:nvSpPr>
          <p:cNvPr id="3" name="Oval 2"/>
          <p:cNvSpPr/>
          <p:nvPr/>
        </p:nvSpPr>
        <p:spPr>
          <a:xfrm>
            <a:off x="548640" y="2011680"/>
            <a:ext cx="1188720" cy="118872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mbria"/>
              </a:rPr>
              <a:t>9</a:t>
            </a:r>
          </a:p>
        </p:txBody>
      </p:sp>
      <p:sp>
        <p:nvSpPr>
          <p:cNvPr id="4" name="TextBox 3"/>
          <p:cNvSpPr txBox="1"/>
          <p:nvPr/>
        </p:nvSpPr>
        <p:spPr>
          <a:xfrm>
            <a:off x="548640" y="4343400"/>
            <a:ext cx="11094415" cy="548640"/>
          </a:xfrm>
          <a:prstGeom prst="rect">
            <a:avLst/>
          </a:prstGeom>
          <a:noFill/>
        </p:spPr>
        <p:txBody>
          <a:bodyPr wrap="square" anchor="t" lIns="0" rIns="0" tIns="0" bIns="0">
            <a:spAutoFit/>
          </a:bodyPr>
          <a:lstStyle/>
          <a:p>
            <a:r>
              <a:rPr sz="2000" b="0">
                <a:solidFill>
                  <a:srgbClr val="CFE3E8"/>
                </a:solidFill>
                <a:latin typeface="Calibri"/>
              </a:rPr>
              <a:t>Lo que hay que recordar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Lo que hay que recordar</a:t>
            </a:r>
          </a:p>
        </p:txBody>
      </p:sp>
      <p:graphicFrame>
        <p:nvGraphicFramePr>
          <p:cNvPr id="3" name="Table 2"/>
          <p:cNvGraphicFramePr>
            <a:graphicFrameLocks noGrp="1"/>
          </p:cNvGraphicFramePr>
          <p:nvPr/>
        </p:nvGraphicFramePr>
        <p:xfrm>
          <a:off x="548640" y="1417320"/>
          <a:ext cx="11094415" cy="3120134"/>
        </p:xfrm>
        <a:graphic>
          <a:graphicData uri="http://schemas.openxmlformats.org/drawingml/2006/table">
            <a:tbl>
              <a:tblPr firstRow="0" bandRow="0">
                <a:tableStyleId>{5C22544A-7EE6-4342-B048-85BDC9FD1C3A}</a:tableStyleId>
              </a:tblPr>
              <a:tblGrid>
                <a:gridCol w="2218883"/>
                <a:gridCol w="8875532"/>
              </a:tblGrid>
              <a:tr h="335788">
                <a:tc>
                  <a:txBody>
                    <a:bodyPr/>
                    <a:lstStyle/>
                    <a:p>
                      <a:pPr algn="l"/>
                      <a:r>
                        <a:rPr sz="1400" b="1">
                          <a:solidFill>
                            <a:srgbClr val="FFFFFF"/>
                          </a:solidFill>
                          <a:latin typeface="Calibri"/>
                        </a:rPr>
                        <a:t>Idea</a:t>
                      </a:r>
                    </a:p>
                  </a:txBody>
                  <a:tcPr marL="73152" marR="73152" marT="27432" marB="27432" anchor="ctr">
                    <a:solidFill>
                      <a:srgbClr val="0F4C5C"/>
                    </a:solidFill>
                  </a:tcPr>
                </a:tc>
                <a:tc>
                  <a:txBody>
                    <a:bodyPr/>
                    <a:lstStyle/>
                    <a:p>
                      <a:pPr algn="l"/>
                      <a:r>
                        <a:rPr sz="1400" b="1">
                          <a:solidFill>
                            <a:srgbClr val="FFFFFF"/>
                          </a:solidFill>
                          <a:latin typeface="Calibri"/>
                        </a:rPr>
                        <a:t>En una frase</a:t>
                      </a:r>
                    </a:p>
                  </a:txBody>
                  <a:tcPr marL="73152" marR="73152" marT="27432" marB="27432" anchor="ctr">
                    <a:solidFill>
                      <a:srgbClr val="0F4C5C"/>
                    </a:solidFill>
                  </a:tcPr>
                </a:tc>
              </a:tr>
              <a:tr h="552703">
                <a:tc>
                  <a:txBody>
                    <a:bodyPr/>
                    <a:lstStyle/>
                    <a:p>
                      <a:pPr algn="l"/>
                      <a:r>
                        <a:rPr sz="1400" b="0">
                          <a:solidFill>
                            <a:srgbClr val="142B33"/>
                          </a:solidFill>
                          <a:latin typeface="Calibri"/>
                        </a:rPr>
                        <a:t>Tercer nivel</a:t>
                      </a:r>
                    </a:p>
                  </a:txBody>
                  <a:tcPr marL="73152" marR="73152" marT="27432" marB="27432" anchor="ctr">
                    <a:solidFill>
                      <a:srgbClr val="FFFFFF"/>
                    </a:solidFill>
                  </a:tcPr>
                </a:tc>
                <a:tc>
                  <a:txBody>
                    <a:bodyPr/>
                    <a:lstStyle/>
                    <a:p>
                      <a:pPr algn="l"/>
                      <a:r>
                        <a:rPr sz="1400" b="0">
                          <a:solidFill>
                            <a:srgbClr val="142B33"/>
                          </a:solidFill>
                          <a:latin typeface="Calibri"/>
                        </a:rPr>
                        <a:t>Permite modelar </a:t>
                      </a:r>
                      <a:r>
                        <a:rPr sz="1400" b="1">
                          <a:solidFill>
                            <a:srgbClr val="142B33"/>
                          </a:solidFill>
                          <a:latin typeface="Calibri"/>
                        </a:rPr>
                        <a:t>curvatura</a:t>
                      </a:r>
                      <a:r>
                        <a:rPr sz="1400" b="0">
                          <a:solidFill>
                            <a:srgbClr val="142B33"/>
                          </a:solidFill>
                          <a:latin typeface="Calibri"/>
                        </a:rPr>
                        <a:t>; crece como 27, 81, 243. Reservarlo para factores </a:t>
                      </a:r>
                      <a:r>
                        <a:rPr sz="1400" b="1">
                          <a:solidFill>
                            <a:srgbClr val="142B33"/>
                          </a:solidFill>
                          <a:latin typeface="Calibri"/>
                        </a:rPr>
                        <a:t>cualitativos</a:t>
                      </a:r>
                      <a:r>
                        <a:rPr sz="1400" b="0">
                          <a:solidFill>
                            <a:srgbClr val="142B33"/>
                          </a:solidFill>
                          <a:latin typeface="Calibri"/>
                        </a:rPr>
                        <a:t> con tres niveles</a:t>
                      </a:r>
                    </a:p>
                  </a:txBody>
                  <a:tcPr marL="73152" marR="73152" marT="27432" marB="27432" anchor="ctr">
                    <a:solidFill>
                      <a:srgbClr val="FFFFFF"/>
                    </a:solidFill>
                  </a:tcPr>
                </a:tc>
              </a:tr>
              <a:tr h="335788">
                <a:tc>
                  <a:txBody>
                    <a:bodyPr/>
                    <a:lstStyle/>
                    <a:p>
                      <a:pPr algn="l"/>
                      <a:r>
                        <a:rPr sz="1400" b="0">
                          <a:solidFill>
                            <a:srgbClr val="142B33"/>
                          </a:solidFill>
                          <a:latin typeface="Calibri"/>
                        </a:rPr>
                        <a:t>Grados de libertad</a:t>
                      </a:r>
                    </a:p>
                  </a:txBody>
                  <a:tcPr marL="73152" marR="73152" marT="27432" marB="27432" anchor="ctr">
                    <a:solidFill>
                      <a:srgbClr val="F4F8F9"/>
                    </a:solidFill>
                  </a:tcPr>
                </a:tc>
                <a:tc>
                  <a:txBody>
                    <a:bodyPr/>
                    <a:lstStyle/>
                    <a:p>
                      <a:pPr algn="l"/>
                      <a:r>
                        <a:rPr sz="1400" b="0">
                          <a:solidFill>
                            <a:srgbClr val="142B33"/>
                          </a:solidFill>
                          <a:latin typeface="Calibri"/>
                        </a:rPr>
                        <a:t>Efecto principal 2; interacción de h factores </a:t>
                      </a:r>
                      <a:r>
                        <a:rPr sz="1400" b="1">
                          <a:solidFill>
                            <a:srgbClr val="142B33"/>
                          </a:solidFill>
                          <a:latin typeface="Calibri"/>
                        </a:rPr>
                        <a:t>2</a:t>
                      </a:r>
                      <a:r>
                        <a:rPr sz="1400" b="1" baseline="30000">
                          <a:solidFill>
                            <a:srgbClr val="142B33"/>
                          </a:solidFill>
                          <a:latin typeface="Calibri"/>
                        </a:rPr>
                        <a:t>h</a:t>
                      </a:r>
                      <a:r>
                        <a:rPr sz="1400" b="0">
                          <a:solidFill>
                            <a:srgbClr val="142B33"/>
                          </a:solidFill>
                          <a:latin typeface="Calibri"/>
                        </a:rPr>
                        <a:t> = 2</a:t>
                      </a:r>
                      <a:r>
                        <a:rPr sz="1400" b="0" baseline="30000">
                          <a:solidFill>
                            <a:srgbClr val="142B33"/>
                          </a:solidFill>
                          <a:latin typeface="Calibri"/>
                        </a:rPr>
                        <a:t>h−1</a:t>
                      </a:r>
                      <a:r>
                        <a:rPr sz="1400" b="0">
                          <a:solidFill>
                            <a:srgbClr val="142B33"/>
                          </a:solidFill>
                          <a:latin typeface="Calibri"/>
                        </a:rPr>
                        <a:t> componentes de 2 g.l.</a:t>
                      </a:r>
                    </a:p>
                  </a:txBody>
                  <a:tcPr marL="73152" marR="73152" marT="27432" marB="27432" anchor="ctr">
                    <a:solidFill>
                      <a:srgbClr val="F4F8F9"/>
                    </a:solidFill>
                  </a:tcPr>
                </a:tc>
              </a:tr>
              <a:tr h="335788">
                <a:tc>
                  <a:txBody>
                    <a:bodyPr/>
                    <a:lstStyle/>
                    <a:p>
                      <a:pPr algn="l"/>
                      <a:r>
                        <a:rPr sz="1400" b="0">
                          <a:solidFill>
                            <a:srgbClr val="142B33"/>
                          </a:solidFill>
                          <a:latin typeface="Calibri"/>
                        </a:rPr>
                        <a:t>Componentes</a:t>
                      </a:r>
                    </a:p>
                  </a:txBody>
                  <a:tcPr marL="73152" marR="73152" marT="27432" marB="27432" anchor="ctr">
                    <a:solidFill>
                      <a:srgbClr val="FFFFFF"/>
                    </a:solidFill>
                  </a:tcPr>
                </a:tc>
                <a:tc>
                  <a:txBody>
                    <a:bodyPr/>
                    <a:lstStyle/>
                    <a:p>
                      <a:pPr algn="l"/>
                      <a:r>
                        <a:rPr sz="1400" b="0">
                          <a:solidFill>
                            <a:srgbClr val="142B33"/>
                          </a:solidFill>
                          <a:latin typeface="Calibri"/>
                        </a:rPr>
                        <a:t>AB, AB</a:t>
                      </a:r>
                      <a:r>
                        <a:rPr sz="1400" b="0" baseline="30000">
                          <a:solidFill>
                            <a:srgbClr val="142B33"/>
                          </a:solidFill>
                          <a:latin typeface="Calibri"/>
                        </a:rPr>
                        <a:t>2</a:t>
                      </a:r>
                      <a:r>
                        <a:rPr sz="1400" b="0">
                          <a:solidFill>
                            <a:srgbClr val="142B33"/>
                          </a:solidFill>
                          <a:latin typeface="Calibri"/>
                        </a:rPr>
                        <a:t>, W, X, Y, Z: </a:t>
                      </a:r>
                      <a:r>
                        <a:rPr sz="1400" b="1">
                          <a:solidFill>
                            <a:srgbClr val="142B33"/>
                          </a:solidFill>
                          <a:latin typeface="Calibri"/>
                        </a:rPr>
                        <a:t>sin significado físico</a:t>
                      </a:r>
                      <a:r>
                        <a:rPr sz="1400" b="0">
                          <a:solidFill>
                            <a:srgbClr val="142B33"/>
                          </a:solidFill>
                          <a:latin typeface="Calibri"/>
                        </a:rPr>
                        <a:t>; la regla </a:t>
                      </a:r>
                      <a:r>
                        <a:rPr sz="1400" b="1">
                          <a:solidFill>
                            <a:srgbClr val="142B33"/>
                          </a:solidFill>
                          <a:latin typeface="Calibri"/>
                        </a:rPr>
                        <a:t>L = Σ α</a:t>
                      </a:r>
                      <a:r>
                        <a:rPr sz="1400" b="1" baseline="-25000">
                          <a:solidFill>
                            <a:srgbClr val="142B33"/>
                          </a:solidFill>
                          <a:latin typeface="Calibri"/>
                        </a:rPr>
                        <a:t>i</a:t>
                      </a:r>
                      <a:r>
                        <a:rPr sz="1400" b="1">
                          <a:solidFill>
                            <a:srgbClr val="142B33"/>
                          </a:solidFill>
                          <a:latin typeface="Calibri"/>
                        </a:rPr>
                        <a:t>x</a:t>
                      </a:r>
                      <a:r>
                        <a:rPr sz="1400" b="1" baseline="-25000">
                          <a:solidFill>
                            <a:srgbClr val="142B33"/>
                          </a:solidFill>
                          <a:latin typeface="Calibri"/>
                        </a:rPr>
                        <a:t>i</a:t>
                      </a:r>
                      <a:r>
                        <a:rPr sz="1400" b="1">
                          <a:solidFill>
                            <a:srgbClr val="142B33"/>
                          </a:solidFill>
                          <a:latin typeface="Calibri"/>
                        </a:rPr>
                        <a:t> (mod 3)</a:t>
                      </a:r>
                      <a:r>
                        <a:rPr sz="1400" b="0">
                          <a:solidFill>
                            <a:srgbClr val="142B33"/>
                          </a:solidFill>
                          <a:latin typeface="Calibri"/>
                        </a:rPr>
                        <a:t> los calcula y los confunde</a:t>
                      </a:r>
                    </a:p>
                  </a:txBody>
                  <a:tcPr marL="73152" marR="73152" marT="27432" marB="27432" anchor="ctr">
                    <a:solidFill>
                      <a:srgbClr val="FFFFFF"/>
                    </a:solidFill>
                  </a:tcPr>
                </a:tc>
              </a:tr>
              <a:tr h="335788">
                <a:tc>
                  <a:txBody>
                    <a:bodyPr/>
                    <a:lstStyle/>
                    <a:p>
                      <a:pPr algn="l"/>
                      <a:r>
                        <a:rPr sz="1400" b="0">
                          <a:solidFill>
                            <a:srgbClr val="142B33"/>
                          </a:solidFill>
                          <a:latin typeface="Calibri"/>
                        </a:rPr>
                        <a:t>Lineal y cuadrático</a:t>
                      </a:r>
                    </a:p>
                  </a:txBody>
                  <a:tcPr marL="73152" marR="73152" marT="27432" marB="27432" anchor="ctr">
                    <a:solidFill>
                      <a:srgbClr val="F4F8F9"/>
                    </a:solidFill>
                  </a:tcPr>
                </a:tc>
                <a:tc>
                  <a:txBody>
                    <a:bodyPr/>
                    <a:lstStyle/>
                    <a:p>
                      <a:pPr algn="l"/>
                      <a:r>
                        <a:rPr sz="1400" b="0">
                          <a:solidFill>
                            <a:srgbClr val="142B33"/>
                          </a:solidFill>
                          <a:latin typeface="Calibri"/>
                        </a:rPr>
                        <a:t>La partición que </a:t>
                      </a:r>
                      <a:r>
                        <a:rPr sz="1400" b="1">
                          <a:solidFill>
                            <a:srgbClr val="142B33"/>
                          </a:solidFill>
                          <a:latin typeface="Calibri"/>
                        </a:rPr>
                        <a:t>sí se interpreta</a:t>
                      </a:r>
                      <a:r>
                        <a:rPr sz="1400" b="0">
                          <a:solidFill>
                            <a:srgbClr val="142B33"/>
                          </a:solidFill>
                          <a:latin typeface="Calibri"/>
                        </a:rPr>
                        <a:t>, solo con factores cuantitativos: (−1, 0, 1) y (1, −2, 1)</a:t>
                      </a:r>
                    </a:p>
                  </a:txBody>
                  <a:tcPr marL="73152" marR="73152" marT="27432" marB="27432" anchor="ctr">
                    <a:solidFill>
                      <a:srgbClr val="F4F8F9"/>
                    </a:solidFill>
                  </a:tcPr>
                </a:tc>
              </a:tr>
              <a:tr h="335788">
                <a:tc>
                  <a:txBody>
                    <a:bodyPr/>
                    <a:lstStyle/>
                    <a:p>
                      <a:pPr algn="l"/>
                      <a:r>
                        <a:rPr sz="1400" b="0">
                          <a:solidFill>
                            <a:srgbClr val="142B33"/>
                          </a:solidFill>
                          <a:latin typeface="Calibri"/>
                        </a:rPr>
                        <a:t>Bloques</a:t>
                      </a:r>
                    </a:p>
                  </a:txBody>
                  <a:tcPr marL="73152" marR="73152" marT="27432" marB="27432" anchor="ctr">
                    <a:solidFill>
                      <a:srgbClr val="FFFFFF"/>
                    </a:solidFill>
                  </a:tcPr>
                </a:tc>
                <a:tc>
                  <a:txBody>
                    <a:bodyPr/>
                    <a:lstStyle/>
                    <a:p>
                      <a:pPr algn="l"/>
                      <a:r>
                        <a:rPr sz="1400" b="0">
                          <a:solidFill>
                            <a:srgbClr val="142B33"/>
                          </a:solidFill>
                          <a:latin typeface="Calibri"/>
                        </a:rPr>
                        <a:t>3</a:t>
                      </a:r>
                      <a:r>
                        <a:rPr sz="1400" b="0" baseline="30000">
                          <a:solidFill>
                            <a:srgbClr val="142B33"/>
                          </a:solidFill>
                          <a:latin typeface="Calibri"/>
                        </a:rPr>
                        <a:t>p</a:t>
                      </a:r>
                      <a:r>
                        <a:rPr sz="1400" b="0">
                          <a:solidFill>
                            <a:srgbClr val="142B33"/>
                          </a:solidFill>
                          <a:latin typeface="Calibri"/>
                        </a:rPr>
                        <a:t> bloques cuestan </a:t>
                      </a:r>
                      <a:r>
                        <a:rPr sz="1400" b="1">
                          <a:solidFill>
                            <a:srgbClr val="142B33"/>
                          </a:solidFill>
                          <a:latin typeface="Calibri"/>
                        </a:rPr>
                        <a:t>(3</a:t>
                      </a:r>
                      <a:r>
                        <a:rPr sz="1400" b="1" baseline="30000">
                          <a:solidFill>
                            <a:srgbClr val="142B33"/>
                          </a:solidFill>
                          <a:latin typeface="Calibri"/>
                        </a:rPr>
                        <a:t>p</a:t>
                      </a:r>
                      <a:r>
                        <a:rPr sz="1400" b="1">
                          <a:solidFill>
                            <a:srgbClr val="142B33"/>
                          </a:solidFill>
                          <a:latin typeface="Calibri"/>
                        </a:rPr>
                        <a:t> − 1)/2</a:t>
                      </a:r>
                      <a:r>
                        <a:rPr sz="1400" b="0">
                          <a:solidFill>
                            <a:srgbClr val="142B33"/>
                          </a:solidFill>
                          <a:latin typeface="Calibri"/>
                        </a:rPr>
                        <a:t> componentes: los elegidos y sus interacciones generalizadas PQ, PQ</a:t>
                      </a:r>
                      <a:r>
                        <a:rPr sz="1400" b="0" baseline="30000">
                          <a:solidFill>
                            <a:srgbClr val="142B33"/>
                          </a:solidFill>
                          <a:latin typeface="Calibri"/>
                        </a:rPr>
                        <a:t>2</a:t>
                      </a:r>
                    </a:p>
                  </a:txBody>
                  <a:tcPr marL="73152" marR="73152" marT="27432" marB="27432" anchor="ctr">
                    <a:solidFill>
                      <a:srgbClr val="FFFFFF"/>
                    </a:solidFill>
                  </a:tcPr>
                </a:tc>
              </a:tr>
              <a:tr h="335788">
                <a:tc>
                  <a:txBody>
                    <a:bodyPr/>
                    <a:lstStyle/>
                    <a:p>
                      <a:pPr algn="l"/>
                      <a:r>
                        <a:rPr sz="1400" b="0">
                          <a:solidFill>
                            <a:srgbClr val="142B33"/>
                          </a:solidFill>
                          <a:latin typeface="Calibri"/>
                        </a:rPr>
                        <a:t>Fracciones</a:t>
                      </a:r>
                    </a:p>
                  </a:txBody>
                  <a:tcPr marL="73152" marR="73152" marT="27432" marB="27432" anchor="ctr">
                    <a:solidFill>
                      <a:srgbClr val="F4F8F9"/>
                    </a:solidFill>
                  </a:tcPr>
                </a:tc>
                <a:tc>
                  <a:txBody>
                    <a:bodyPr/>
                    <a:lstStyle/>
                    <a:p>
                      <a:pPr algn="l"/>
                      <a:r>
                        <a:rPr sz="1400" b="0">
                          <a:solidFill>
                            <a:srgbClr val="142B33"/>
                          </a:solidFill>
                          <a:latin typeface="Calibri"/>
                        </a:rPr>
                        <a:t>Un bloque del esquema de confusión; </a:t>
                      </a:r>
                      <a:r>
                        <a:rPr sz="1400" b="1">
                          <a:solidFill>
                            <a:srgbClr val="142B33"/>
                          </a:solidFill>
                          <a:latin typeface="Calibri"/>
                        </a:rPr>
                        <a:t>dos alias por palabra</a:t>
                      </a:r>
                      <a:r>
                        <a:rPr sz="1400" b="0">
                          <a:solidFill>
                            <a:srgbClr val="142B33"/>
                          </a:solidFill>
                          <a:latin typeface="Calibri"/>
                        </a:rPr>
                        <a:t> (× I y × I</a:t>
                      </a:r>
                      <a:r>
                        <a:rPr sz="1400" b="0" baseline="30000">
                          <a:solidFill>
                            <a:srgbClr val="142B33"/>
                          </a:solidFill>
                          <a:latin typeface="Calibri"/>
                        </a:rPr>
                        <a:t>2</a:t>
                      </a:r>
                      <a:r>
                        <a:rPr sz="1400" b="0">
                          <a:solidFill>
                            <a:srgbClr val="142B33"/>
                          </a:solidFill>
                          <a:latin typeface="Calibri"/>
                        </a:rPr>
                        <a:t>); sin doblez: «causan problemas»</a:t>
                      </a:r>
                    </a:p>
                  </a:txBody>
                  <a:tcPr marL="73152" marR="73152" marT="27432" marB="27432" anchor="ctr">
                    <a:solidFill>
                      <a:srgbClr val="F4F8F9"/>
                    </a:solidFill>
                  </a:tcPr>
                </a:tc>
              </a:tr>
              <a:tr h="552703">
                <a:tc>
                  <a:txBody>
                    <a:bodyPr/>
                    <a:lstStyle/>
                    <a:p>
                      <a:pPr algn="l"/>
                      <a:r>
                        <a:rPr sz="1400" b="0">
                          <a:solidFill>
                            <a:srgbClr val="142B33"/>
                          </a:solidFill>
                          <a:latin typeface="Calibri"/>
                        </a:rPr>
                        <a:t>Niveles mixtos</a:t>
                      </a:r>
                    </a:p>
                  </a:txBody>
                  <a:tcPr marL="73152" marR="73152" marT="27432" marB="27432" anchor="ctr">
                    <a:solidFill>
                      <a:srgbClr val="FFFFFF"/>
                    </a:solidFill>
                  </a:tcPr>
                </a:tc>
                <a:tc>
                  <a:txBody>
                    <a:bodyPr/>
                    <a:lstStyle/>
                    <a:p>
                      <a:pPr algn="l"/>
                      <a:r>
                        <a:rPr sz="1400" b="0">
                          <a:solidFill>
                            <a:srgbClr val="142B33"/>
                          </a:solidFill>
                          <a:latin typeface="Calibri"/>
                        </a:rPr>
                        <a:t>Colapsar dos columnas del 2</a:t>
                      </a:r>
                      <a:r>
                        <a:rPr sz="1400" b="0" baseline="30000">
                          <a:solidFill>
                            <a:srgbClr val="142B33"/>
                          </a:solidFill>
                          <a:latin typeface="Calibri"/>
                        </a:rPr>
                        <a:t>k</a:t>
                      </a:r>
                      <a:r>
                        <a:rPr sz="1400" b="0">
                          <a:solidFill>
                            <a:srgbClr val="142B33"/>
                          </a:solidFill>
                          <a:latin typeface="Calibri"/>
                        </a:rPr>
                        <a:t> (tres niveles) o usar dos columnas como cuatro niveles; se analiza con la tabla del 2</a:t>
                      </a:r>
                      <a:r>
                        <a:rPr sz="1400" b="0" baseline="30000">
                          <a:solidFill>
                            <a:srgbClr val="142B33"/>
                          </a:solidFill>
                          <a:latin typeface="Calibri"/>
                        </a:rPr>
                        <a:t>k</a:t>
                      </a:r>
                    </a:p>
                  </a:txBody>
                  <a:tcPr marL="73152" marR="73152" marT="27432" marB="27432" anchor="ctr">
                    <a:solidFill>
                      <a:srgbClr val="FFFFFF"/>
                    </a:solidFill>
                  </a:tcPr>
                </a:tc>
              </a:tr>
            </a:tbl>
          </a:graphicData>
        </a:graphic>
      </p:graphicFrame>
      <p:sp>
        <p:nvSpPr>
          <p:cNvPr id="4" name="TextBox 3"/>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Cierre</a:t>
            </a:r>
          </a:p>
        </p:txBody>
      </p:sp>
      <p:sp>
        <p:nvSpPr>
          <p:cNvPr id="5" name="TextBox 4"/>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66</a:t>
            </a:r>
          </a:p>
        </p:txBody>
      </p:sp>
      <p:sp>
        <p:nvSpPr>
          <p:cNvPr id="6" name="Rounded Rectangle 5"/>
          <p:cNvSpPr/>
          <p:nvPr/>
        </p:nvSpPr>
        <p:spPr>
          <a:xfrm>
            <a:off x="548640" y="91440"/>
            <a:ext cx="157734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9 · Cierre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Errores frecuentes</a:t>
            </a:r>
          </a:p>
        </p:txBody>
      </p:sp>
      <p:sp>
        <p:nvSpPr>
          <p:cNvPr id="3" name="Rounded Rectangle 2"/>
          <p:cNvSpPr/>
          <p:nvPr/>
        </p:nvSpPr>
        <p:spPr>
          <a:xfrm>
            <a:off x="548640" y="1417320"/>
            <a:ext cx="3545738" cy="1792224"/>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Curvatura</a:t>
            </a:r>
          </a:p>
          <a:p>
            <a:pPr algn="l"/>
            <a:r>
              <a:rPr sz="1400" b="0">
                <a:solidFill>
                  <a:srgbClr val="142B33"/>
                </a:solidFill>
                <a:latin typeface="Calibri"/>
              </a:rPr>
              <a:t>Usar un 3</a:t>
            </a:r>
            <a:r>
              <a:rPr sz="1400" b="0" baseline="30000">
                <a:solidFill>
                  <a:srgbClr val="142B33"/>
                </a:solidFill>
                <a:latin typeface="Calibri"/>
              </a:rPr>
              <a:t>k</a:t>
            </a:r>
            <a:r>
              <a:rPr sz="1400" b="0">
                <a:solidFill>
                  <a:srgbClr val="142B33"/>
                </a:solidFill>
                <a:latin typeface="Calibri"/>
              </a:rPr>
              <a:t> con factores cuantitativos en vez de </a:t>
            </a:r>
            <a:r>
              <a:rPr sz="1400" b="1">
                <a:solidFill>
                  <a:srgbClr val="142B33"/>
                </a:solidFill>
                <a:latin typeface="Calibri"/>
              </a:rPr>
              <a:t>2</a:t>
            </a:r>
            <a:r>
              <a:rPr sz="1400" b="1" baseline="30000">
                <a:solidFill>
                  <a:srgbClr val="142B33"/>
                </a:solidFill>
                <a:latin typeface="Calibri"/>
              </a:rPr>
              <a:t>k</a:t>
            </a:r>
            <a:r>
              <a:rPr sz="1400" b="1">
                <a:solidFill>
                  <a:srgbClr val="142B33"/>
                </a:solidFill>
                <a:latin typeface="Calibri"/>
              </a:rPr>
              <a:t> + puntos centrales → central compuesto</a:t>
            </a:r>
          </a:p>
        </p:txBody>
      </p:sp>
      <p:sp>
        <p:nvSpPr>
          <p:cNvPr id="4" name="Rounded Rectangle 3"/>
          <p:cNvSpPr/>
          <p:nvPr/>
        </p:nvSpPr>
        <p:spPr>
          <a:xfrm>
            <a:off x="4322978" y="1417320"/>
            <a:ext cx="3545738" cy="1792224"/>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Componentes</a:t>
            </a:r>
          </a:p>
          <a:p>
            <a:pPr algn="l"/>
            <a:r>
              <a:rPr sz="1400" b="0">
                <a:solidFill>
                  <a:srgbClr val="142B33"/>
                </a:solidFill>
                <a:latin typeface="Calibri"/>
              </a:rPr>
              <a:t>Darles </a:t>
            </a:r>
            <a:r>
              <a:rPr sz="1400" b="1">
                <a:solidFill>
                  <a:srgbClr val="142B33"/>
                </a:solidFill>
                <a:latin typeface="Calibri"/>
              </a:rPr>
              <a:t>significado físico</a:t>
            </a:r>
            <a:r>
              <a:rPr sz="1400" b="0">
                <a:solidFill>
                  <a:srgbClr val="142B33"/>
                </a:solidFill>
                <a:latin typeface="Calibri"/>
              </a:rPr>
              <a:t> a AB, AB</a:t>
            </a:r>
            <a:r>
              <a:rPr sz="1400" b="0" baseline="30000">
                <a:solidFill>
                  <a:srgbClr val="142B33"/>
                </a:solidFill>
                <a:latin typeface="Calibri"/>
              </a:rPr>
              <a:t>2</a:t>
            </a:r>
            <a:r>
              <a:rPr sz="1400" b="0">
                <a:solidFill>
                  <a:srgbClr val="142B33"/>
                </a:solidFill>
                <a:latin typeface="Calibri"/>
              </a:rPr>
              <a:t>, W, X, Y, Z, o mezclarlos con L × L, L × Q…</a:t>
            </a:r>
          </a:p>
        </p:txBody>
      </p:sp>
      <p:sp>
        <p:nvSpPr>
          <p:cNvPr id="5" name="Rounded Rectangle 4"/>
          <p:cNvSpPr/>
          <p:nvPr/>
        </p:nvSpPr>
        <p:spPr>
          <a:xfrm>
            <a:off x="8097316" y="1417320"/>
            <a:ext cx="3545738" cy="1792224"/>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Exponentes</a:t>
            </a:r>
          </a:p>
          <a:p>
            <a:pPr algn="l"/>
            <a:r>
              <a:rPr sz="1400" b="0">
                <a:solidFill>
                  <a:srgbClr val="142B33"/>
                </a:solidFill>
                <a:latin typeface="Calibri"/>
              </a:rPr>
              <a:t>No normalizar: A</a:t>
            </a:r>
            <a:r>
              <a:rPr sz="1400" b="0" baseline="30000">
                <a:solidFill>
                  <a:srgbClr val="142B33"/>
                </a:solidFill>
                <a:latin typeface="Calibri"/>
              </a:rPr>
              <a:t>2</a:t>
            </a:r>
            <a:r>
              <a:rPr sz="1400" b="0">
                <a:solidFill>
                  <a:srgbClr val="142B33"/>
                </a:solidFill>
                <a:latin typeface="Calibri"/>
              </a:rPr>
              <a:t>B debe escribirse </a:t>
            </a:r>
            <a:r>
              <a:rPr sz="1400" b="1">
                <a:solidFill>
                  <a:srgbClr val="142B33"/>
                </a:solidFill>
                <a:latin typeface="Calibri"/>
              </a:rPr>
              <a:t>AB</a:t>
            </a:r>
            <a:r>
              <a:rPr sz="1400" b="1" baseline="30000">
                <a:solidFill>
                  <a:srgbClr val="142B33"/>
                </a:solidFill>
                <a:latin typeface="Calibri"/>
              </a:rPr>
              <a:t>2</a:t>
            </a:r>
            <a:r>
              <a:rPr sz="1400" b="0">
                <a:solidFill>
                  <a:srgbClr val="142B33"/>
                </a:solidFill>
                <a:latin typeface="Calibri"/>
              </a:rPr>
              <a:t>; la primera letra siempre con exponente 1</a:t>
            </a:r>
          </a:p>
        </p:txBody>
      </p:sp>
      <p:sp>
        <p:nvSpPr>
          <p:cNvPr id="6" name="Rounded Rectangle 5"/>
          <p:cNvSpPr/>
          <p:nvPr/>
        </p:nvSpPr>
        <p:spPr>
          <a:xfrm>
            <a:off x="548640" y="3438144"/>
            <a:ext cx="3545738" cy="1792224"/>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Alias</a:t>
            </a:r>
          </a:p>
          <a:p>
            <a:pPr algn="l"/>
            <a:r>
              <a:rPr sz="1400" b="0">
                <a:solidFill>
                  <a:srgbClr val="142B33"/>
                </a:solidFill>
                <a:latin typeface="Calibri"/>
              </a:rPr>
              <a:t>Olvidar el alias por </a:t>
            </a:r>
            <a:r>
              <a:rPr sz="1400" b="1">
                <a:solidFill>
                  <a:srgbClr val="142B33"/>
                </a:solidFill>
                <a:latin typeface="Calibri"/>
              </a:rPr>
              <a:t>I</a:t>
            </a:r>
            <a:r>
              <a:rPr sz="1400" b="1" baseline="30000">
                <a:solidFill>
                  <a:srgbClr val="142B33"/>
                </a:solidFill>
                <a:latin typeface="Calibri"/>
              </a:rPr>
              <a:t>2</a:t>
            </a:r>
            <a:r>
              <a:rPr sz="1400" b="0">
                <a:solidFill>
                  <a:srgbClr val="142B33"/>
                </a:solidFill>
                <a:latin typeface="Calibri"/>
              </a:rPr>
              <a:t>: en el 3</a:t>
            </a:r>
            <a:r>
              <a:rPr sz="1400" b="0" baseline="30000">
                <a:solidFill>
                  <a:srgbClr val="142B33"/>
                </a:solidFill>
                <a:latin typeface="Calibri"/>
              </a:rPr>
              <a:t>k−p</a:t>
            </a:r>
            <a:r>
              <a:rPr sz="1400" b="0">
                <a:solidFill>
                  <a:srgbClr val="142B33"/>
                </a:solidFill>
                <a:latin typeface="Calibri"/>
              </a:rPr>
              <a:t> cada palabra da </a:t>
            </a:r>
            <a:r>
              <a:rPr sz="1400" b="1">
                <a:solidFill>
                  <a:srgbClr val="142B33"/>
                </a:solidFill>
                <a:latin typeface="Calibri"/>
              </a:rPr>
              <a:t>dos</a:t>
            </a:r>
            <a:r>
              <a:rPr sz="1400" b="0">
                <a:solidFill>
                  <a:srgbClr val="142B33"/>
                </a:solidFill>
                <a:latin typeface="Calibri"/>
              </a:rPr>
              <a:t> alias</a:t>
            </a:r>
          </a:p>
        </p:txBody>
      </p:sp>
      <p:sp>
        <p:nvSpPr>
          <p:cNvPr id="7" name="Rounded Rectangle 6"/>
          <p:cNvSpPr/>
          <p:nvPr/>
        </p:nvSpPr>
        <p:spPr>
          <a:xfrm>
            <a:off x="4322978" y="3438144"/>
            <a:ext cx="3545738" cy="1792224"/>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Bloques</a:t>
            </a:r>
          </a:p>
          <a:p>
            <a:pPr algn="l"/>
            <a:r>
              <a:rPr sz="1400" b="0">
                <a:solidFill>
                  <a:srgbClr val="142B33"/>
                </a:solidFill>
                <a:latin typeface="Calibri"/>
              </a:rPr>
              <a:t>Confundir un componente de un efecto principal o de una doble, pudiendo usar la interacción de </a:t>
            </a:r>
            <a:r>
              <a:rPr sz="1400" b="1">
                <a:solidFill>
                  <a:srgbClr val="142B33"/>
                </a:solidFill>
                <a:latin typeface="Calibri"/>
              </a:rPr>
              <a:t>orden más alto</a:t>
            </a:r>
          </a:p>
        </p:txBody>
      </p:sp>
      <p:sp>
        <p:nvSpPr>
          <p:cNvPr id="8" name="Rounded Rectangle 7"/>
          <p:cNvSpPr/>
          <p:nvPr/>
        </p:nvSpPr>
        <p:spPr>
          <a:xfrm>
            <a:off x="8097316" y="3438144"/>
            <a:ext cx="3545738" cy="1792224"/>
          </a:xfrm>
          <a:prstGeom prst="roundRect">
            <a:avLst>
              <a:gd name="adj" fmla="val 8000"/>
            </a:avLst>
          </a:prstGeom>
          <a:solidFill>
            <a:srgbClr val="E8F1F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64592"/>
          <a:lstStyle/>
          <a:p>
            <a:pPr algn="l">
              <a:spcAft>
                <a:spcPts val="600"/>
              </a:spcAft>
            </a:pPr>
            <a:r>
              <a:rPr sz="1600" b="1">
                <a:solidFill>
                  <a:srgbClr val="0F4C5C"/>
                </a:solidFill>
                <a:latin typeface="Cambria"/>
              </a:rPr>
              <a:t>Fracciones III</a:t>
            </a:r>
          </a:p>
          <a:p>
            <a:pPr algn="l"/>
            <a:r>
              <a:rPr sz="1400" b="0">
                <a:solidFill>
                  <a:srgbClr val="142B33"/>
                </a:solidFill>
                <a:latin typeface="Calibri"/>
              </a:rPr>
              <a:t>Usar un 3</a:t>
            </a:r>
            <a:r>
              <a:rPr sz="1400" b="0" baseline="30000">
                <a:solidFill>
                  <a:srgbClr val="142B33"/>
                </a:solidFill>
                <a:latin typeface="Calibri"/>
              </a:rPr>
              <a:t>k−1</a:t>
            </a:r>
            <a:r>
              <a:rPr sz="1400" b="0" baseline="-25000">
                <a:solidFill>
                  <a:srgbClr val="142B33"/>
                </a:solidFill>
                <a:latin typeface="Calibri"/>
              </a:rPr>
              <a:t>III</a:t>
            </a:r>
            <a:r>
              <a:rPr sz="1400" b="0">
                <a:solidFill>
                  <a:srgbClr val="142B33"/>
                </a:solidFill>
                <a:latin typeface="Calibri"/>
              </a:rPr>
              <a:t> sospechando interacciones: </a:t>
            </a:r>
            <a:r>
              <a:rPr sz="1400" b="1">
                <a:solidFill>
                  <a:srgbClr val="142B33"/>
                </a:solidFill>
                <a:latin typeface="Calibri"/>
              </a:rPr>
              <a:t>no hay doblez</a:t>
            </a:r>
            <a:r>
              <a:rPr sz="1400" b="0">
                <a:solidFill>
                  <a:srgbClr val="142B33"/>
                </a:solidFill>
                <a:latin typeface="Calibri"/>
              </a:rPr>
              <a:t> que lo arregle</a:t>
            </a:r>
          </a:p>
        </p:txBody>
      </p:sp>
      <p:sp>
        <p:nvSpPr>
          <p:cNvPr id="9" name="TextBox 8"/>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Cierre</a:t>
            </a:r>
          </a:p>
        </p:txBody>
      </p:sp>
      <p:sp>
        <p:nvSpPr>
          <p:cNvPr id="10" name="TextBox 9"/>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67</a:t>
            </a:r>
          </a:p>
        </p:txBody>
      </p:sp>
      <p:sp>
        <p:nvSpPr>
          <p:cNvPr id="11" name="Rounded Rectangle 10"/>
          <p:cNvSpPr/>
          <p:nvPr/>
        </p:nvSpPr>
        <p:spPr>
          <a:xfrm>
            <a:off x="548640" y="91440"/>
            <a:ext cx="157734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9 · Cierre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548640" y="384048"/>
            <a:ext cx="11094415" cy="914400"/>
          </a:xfrm>
        </p:spPr>
        <p:txBody>
          <a:bodyPr wrap="square" anchor="ctr" lIns="0" rIns="0" tIns="0" bIns="0"/>
          <a:lstStyle/>
          <a:p>
            <a:pPr algn="l"/>
            <a:r>
              <a:rPr sz="3000" b="1">
                <a:solidFill>
                  <a:srgbClr val="0F4C5C"/>
                </a:solidFill>
                <a:latin typeface="Cambria"/>
              </a:rPr>
              <a:t>Referencias</a:t>
            </a:r>
          </a:p>
        </p:txBody>
      </p:sp>
      <p:sp>
        <p:nvSpPr>
          <p:cNvPr id="3" name="TextBox 2"/>
          <p:cNvSpPr txBox="1"/>
          <p:nvPr/>
        </p:nvSpPr>
        <p:spPr>
          <a:xfrm>
            <a:off x="548640" y="1417320"/>
            <a:ext cx="11094415" cy="2270759"/>
          </a:xfrm>
          <a:prstGeom prst="rect">
            <a:avLst/>
          </a:prstGeom>
          <a:noFill/>
        </p:spPr>
        <p:txBody>
          <a:bodyPr wrap="square" anchor="t" lIns="0" rIns="0" tIns="0" bIns="0">
            <a:spAutoFit/>
          </a:bodyPr>
          <a:lstStyle/>
          <a:p>
            <a:pPr marL="320040" indent="-320040">
              <a:spcAft>
                <a:spcPts val="600"/>
              </a:spcAft>
              <a:buClr>
                <a:srgbClr val="E36414"/>
              </a:buClr>
              <a:buFont typeface="Arial"/>
              <a:buChar char="•"/>
            </a:pPr>
            <a:r>
              <a:rPr sz="1500" b="0">
                <a:solidFill>
                  <a:srgbClr val="142B33"/>
                </a:solidFill>
                <a:latin typeface="Calibri"/>
              </a:rPr>
              <a:t>Montgomery, D. C. *Diseño y análisis de experimentos*, 2.ª ed. en español, Limusa-Wiley. Capítulo 9, págs. 363–391; cap. 4 (cuadrados latinos, tabla 4-13), cap. 5 (ejemplo 5-5), cap. 6 (puntos centrales), cap. 11 (superficies de respuesta).</a:t>
            </a:r>
          </a:p>
          <a:p>
            <a:pPr marL="320040" indent="-320040">
              <a:spcAft>
                <a:spcPts val="600"/>
              </a:spcAft>
              <a:buClr>
                <a:srgbClr val="E36414"/>
              </a:buClr>
              <a:buFont typeface="Arial"/>
              <a:buChar char="•"/>
            </a:pPr>
            <a:r>
              <a:rPr sz="1500" b="0">
                <a:solidFill>
                  <a:srgbClr val="142B33"/>
                </a:solidFill>
                <a:latin typeface="Calibri"/>
              </a:rPr>
              <a:t>Cochran, W. G. y Cox, G. M. *Experimental Designs*. Procedimiento para los componentes W, X, Y, Z.</a:t>
            </a:r>
          </a:p>
          <a:p>
            <a:pPr marL="320040" indent="-320040">
              <a:spcAft>
                <a:spcPts val="600"/>
              </a:spcAft>
              <a:buClr>
                <a:srgbClr val="E36414"/>
              </a:buClr>
              <a:buFont typeface="Arial"/>
              <a:buChar char="•"/>
            </a:pPr>
            <a:r>
              <a:rPr sz="1500" b="0">
                <a:solidFill>
                  <a:srgbClr val="142B33"/>
                </a:solidFill>
                <a:latin typeface="Calibri"/>
              </a:rPr>
              <a:t>Connor, W. S. y Zelen, M. *Fractional Factorial Experiment Designs for Factors at Three Levels*, National Bureau of Standards. Catálogo de diseños 3</a:t>
            </a:r>
            <a:r>
              <a:rPr sz="1500" b="0" baseline="30000">
                <a:solidFill>
                  <a:srgbClr val="142B33"/>
                </a:solidFill>
                <a:latin typeface="Calibri"/>
              </a:rPr>
              <a:t>k−p</a:t>
            </a:r>
            <a:r>
              <a:rPr sz="1500" b="0">
                <a:solidFill>
                  <a:srgbClr val="142B33"/>
                </a:solidFill>
                <a:latin typeface="Calibri"/>
              </a:rPr>
              <a:t>, 4 ≤ k ≤ 10.</a:t>
            </a:r>
          </a:p>
          <a:p>
            <a:pPr marL="320040" indent="-320040">
              <a:spcAft>
                <a:spcPts val="600"/>
              </a:spcAft>
              <a:buClr>
                <a:srgbClr val="E36414"/>
              </a:buClr>
              <a:buFont typeface="Arial"/>
              <a:buChar char="•"/>
            </a:pPr>
            <a:r>
              <a:rPr sz="1500" b="0">
                <a:solidFill>
                  <a:srgbClr val="142B33"/>
                </a:solidFill>
                <a:latin typeface="Calibri"/>
              </a:rPr>
              <a:t>Addelman, S. Diseños con niveles mixtos a partir de 2</a:t>
            </a:r>
            <a:r>
              <a:rPr sz="1500" b="0" baseline="30000">
                <a:solidFill>
                  <a:srgbClr val="142B33"/>
                </a:solidFill>
                <a:latin typeface="Calibri"/>
              </a:rPr>
              <a:t>k</a:t>
            </a:r>
            <a:r>
              <a:rPr sz="1500" b="0">
                <a:solidFill>
                  <a:srgbClr val="142B33"/>
                </a:solidFill>
                <a:latin typeface="Calibri"/>
              </a:rPr>
              <a:t> (citado en la sección 9-4).</a:t>
            </a:r>
          </a:p>
          <a:p>
            <a:pPr marL="320040" indent="-320040">
              <a:spcAft>
                <a:spcPts val="600"/>
              </a:spcAft>
              <a:buClr>
                <a:srgbClr val="E36414"/>
              </a:buClr>
              <a:buFont typeface="Arial"/>
              <a:buChar char="•"/>
            </a:pPr>
            <a:r>
              <a:rPr sz="1500" b="0">
                <a:solidFill>
                  <a:srgbClr val="142B33"/>
                </a:solidFill>
                <a:latin typeface="Calibri"/>
              </a:rPr>
              <a:t>Datos: ejemplo 9-1 (tabla 9-1), ejemplo 9-2, problemas 9-3 (réplica I), 9-6, 9-9 y 9-12. Ejemplo 6: datos inventados para la clase.</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r>
              <a:rPr sz="1000" b="0">
                <a:solidFill>
                  <a:srgbClr val="5B6B73"/>
                </a:solidFill>
                <a:latin typeface="Calibri"/>
              </a:rPr>
              <a:t>Diseños 3</a:t>
            </a:r>
            <a:r>
              <a:rPr sz="1000" b="0" baseline="30000">
                <a:solidFill>
                  <a:srgbClr val="5B6B73"/>
                </a:solidFill>
                <a:latin typeface="Calibri"/>
              </a:rPr>
              <a:t>k</a:t>
            </a:r>
            <a:r>
              <a:rPr sz="1000" b="0">
                <a:solidFill>
                  <a:srgbClr val="5B6B73"/>
                </a:solidFill>
                <a:latin typeface="Calibri"/>
              </a:rPr>
              <a:t> y niveles mixtos · Cierre</a:t>
            </a:r>
          </a:p>
        </p:txBody>
      </p:sp>
      <p:sp>
        <p:nvSpPr>
          <p:cNvPr id="5" name="TextBox 4"/>
          <p:cNvSpPr txBox="1"/>
          <p:nvPr/>
        </p:nvSpPr>
        <p:spPr>
          <a:xfrm>
            <a:off x="10728655" y="6446520"/>
            <a:ext cx="914400" cy="274320"/>
          </a:xfrm>
          <a:prstGeom prst="rect">
            <a:avLst/>
          </a:prstGeom>
          <a:noFill/>
        </p:spPr>
        <p:txBody>
          <a:bodyPr wrap="square" anchor="t" lIns="0" rIns="0" tIns="0" bIns="0">
            <a:spAutoFit/>
          </a:bodyPr>
          <a:lstStyle/>
          <a:p>
            <a:pPr algn="r"/>
            <a:r>
              <a:rPr sz="1000" b="0">
                <a:solidFill>
                  <a:srgbClr val="5B6B73"/>
                </a:solidFill>
                <a:latin typeface="Calibri"/>
              </a:rPr>
              <a:t>68</a:t>
            </a:r>
          </a:p>
        </p:txBody>
      </p:sp>
      <p:sp>
        <p:nvSpPr>
          <p:cNvPr id="6" name="Rounded Rectangle 5"/>
          <p:cNvSpPr/>
          <p:nvPr/>
        </p:nvSpPr>
        <p:spPr>
          <a:xfrm>
            <a:off x="548640" y="91440"/>
            <a:ext cx="1577340" cy="274320"/>
          </a:xfrm>
          <a:prstGeom prst="roundRect">
            <a:avLst>
              <a:gd name="adj" fmla="val 50000"/>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Tema 9 · Cierre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F4C5C"/>
        </a:solidFill>
        <a:effectLst/>
      </p:bgPr>
    </p:bg>
    <p:spTree>
      <p:nvGrpSpPr>
        <p:cNvPr id="1" name=""/>
        <p:cNvGrpSpPr/>
        <p:nvPr/>
      </p:nvGrpSpPr>
      <p:grpSpPr/>
      <p:sp>
        <p:nvSpPr>
          <p:cNvPr id="2" name="Title 1"/>
          <p:cNvSpPr>
            <a:spLocks noGrp="1"/>
          </p:cNvSpPr>
          <p:nvPr>
            <p:ph type="title"/>
          </p:nvPr>
        </p:nvSpPr>
        <p:spPr>
          <a:xfrm>
            <a:off x="548640" y="2103120"/>
            <a:ext cx="11094415" cy="1371600"/>
          </a:xfrm>
        </p:spPr>
        <p:txBody>
          <a:bodyPr wrap="square" anchor="b" lIns="0" rIns="0" tIns="0" bIns="0"/>
          <a:lstStyle/>
          <a:p>
            <a:pPr algn="l"/>
            <a:r>
              <a:rPr sz="4600" b="1">
                <a:solidFill>
                  <a:srgbClr val="FFFFFF"/>
                </a:solidFill>
                <a:latin typeface="Cambria"/>
              </a:rPr>
              <a:t>¿Preguntas?</a:t>
            </a:r>
          </a:p>
        </p:txBody>
      </p:sp>
      <p:sp>
        <p:nvSpPr>
          <p:cNvPr id="3" name="TextBox 2"/>
          <p:cNvSpPr txBox="1"/>
          <p:nvPr/>
        </p:nvSpPr>
        <p:spPr>
          <a:xfrm>
            <a:off x="548640" y="3657600"/>
            <a:ext cx="11094415" cy="548640"/>
          </a:xfrm>
          <a:prstGeom prst="rect">
            <a:avLst/>
          </a:prstGeom>
          <a:noFill/>
        </p:spPr>
        <p:txBody>
          <a:bodyPr wrap="square" anchor="t" lIns="0" rIns="0" tIns="0" bIns="0">
            <a:spAutoFit/>
          </a:bodyPr>
          <a:lstStyle/>
          <a:p>
            <a:r>
              <a:rPr sz="2200" b="0">
                <a:solidFill>
                  <a:srgbClr val="CFE3E8"/>
                </a:solidFill>
                <a:latin typeface="Calibri"/>
              </a:rPr>
              <a:t>Diseños factoriales 3</a:t>
            </a:r>
            <a:r>
              <a:rPr sz="2200" b="0" baseline="30000">
                <a:solidFill>
                  <a:srgbClr val="CFE3E8"/>
                </a:solidFill>
                <a:latin typeface="Calibri"/>
              </a:rPr>
              <a:t>k</a:t>
            </a:r>
            <a:r>
              <a:rPr sz="2200" b="0">
                <a:solidFill>
                  <a:srgbClr val="CFE3E8"/>
                </a:solidFill>
                <a:latin typeface="Calibri"/>
              </a:rPr>
              <a:t> y con niveles mixtos · Tema 6, segunda parte</a:t>
            </a:r>
          </a:p>
        </p:txBody>
      </p:sp>
      <p:sp>
        <p:nvSpPr>
          <p:cNvPr id="4" name="TextBox 3"/>
          <p:cNvSpPr txBox="1"/>
          <p:nvPr/>
        </p:nvSpPr>
        <p:spPr>
          <a:xfrm>
            <a:off x="548640" y="4846320"/>
            <a:ext cx="11094415" cy="914400"/>
          </a:xfrm>
          <a:prstGeom prst="rect">
            <a:avLst/>
          </a:prstGeom>
          <a:noFill/>
        </p:spPr>
        <p:txBody>
          <a:bodyPr wrap="square" anchor="t" lIns="0" rIns="0" tIns="0" bIns="0">
            <a:spAutoFit/>
          </a:bodyPr>
          <a:lstStyle/>
          <a:p>
            <a:r>
              <a:rPr sz="1600" b="0">
                <a:solidFill>
                  <a:srgbClr val="FFFFFF"/>
                </a:solidFill>
                <a:latin typeface="Calibri"/>
              </a:rPr>
              <a:t>Juan Esteban Rodríguez Ochoa · Sebastián Zapata Henao</a:t>
            </a:r>
          </a:p>
        </p:txBody>
      </p:sp>
      <p:sp>
        <p:nvSpPr>
          <p:cNvPr id="5" name="Oval 4"/>
          <p:cNvSpPr/>
          <p:nvPr/>
        </p:nvSpPr>
        <p:spPr>
          <a:xfrm>
            <a:off x="8899855" y="502920"/>
            <a:ext cx="914400" cy="91440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FFFFFF"/>
                </a:solidFill>
                <a:latin typeface="Calibri"/>
              </a:rPr>
              <a:t>+</a:t>
            </a:r>
          </a:p>
        </p:txBody>
      </p:sp>
      <p:sp>
        <p:nvSpPr>
          <p:cNvPr id="6" name="Oval 5"/>
          <p:cNvSpPr/>
          <p:nvPr/>
        </p:nvSpPr>
        <p:spPr>
          <a:xfrm>
            <a:off x="10088575" y="502920"/>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0F4C5C"/>
                </a:solidFill>
                <a:latin typeface="Calibri"/>
              </a:rPr>
              <a:t>−</a:t>
            </a:r>
          </a:p>
        </p:txBody>
      </p:sp>
      <p:sp>
        <p:nvSpPr>
          <p:cNvPr id="7" name="Oval 6"/>
          <p:cNvSpPr/>
          <p:nvPr/>
        </p:nvSpPr>
        <p:spPr>
          <a:xfrm>
            <a:off x="8899855" y="1600200"/>
            <a:ext cx="914400" cy="9144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0F4C5C"/>
                </a:solidFill>
                <a:latin typeface="Calibri"/>
              </a:rPr>
              <a:t>+</a:t>
            </a:r>
          </a:p>
        </p:txBody>
      </p:sp>
      <p:sp>
        <p:nvSpPr>
          <p:cNvPr id="8" name="Oval 7"/>
          <p:cNvSpPr/>
          <p:nvPr/>
        </p:nvSpPr>
        <p:spPr>
          <a:xfrm>
            <a:off x="10088575" y="1600200"/>
            <a:ext cx="914400" cy="914400"/>
          </a:xfrm>
          <a:prstGeom prst="ellipse">
            <a:avLst/>
          </a:prstGeom>
          <a:solidFill>
            <a:srgbClr val="E36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3600" b="1">
                <a:solidFill>
                  <a:srgbClr val="FFFFFF"/>
                </a:solidFill>
                <a:latin typeface="Calibri"/>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