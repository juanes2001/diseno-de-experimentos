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k = 3</c:v>
                </c:pt>
                <c:pt idx="1">
                  <c:v>k = 4</c:v>
                </c:pt>
                <c:pt idx="2">
                  <c:v>k = 5</c:v>
                </c:pt>
                <c:pt idx="3">
                  <c:v>k = 6</c:v>
                </c:pt>
                <c:pt idx="4">
                  <c:v>k = 7</c:v>
                </c:pt>
                <c:pt idx="5">
                  <c:v>k = 8</c:v>
                </c:pt>
                <c:pt idx="6">
                  <c:v>k = 9</c:v>
                </c:pt>
                <c:pt idx="7">
                  <c:v>k = 10</c:v>
                </c:pt>
              </c:strCache>
            </c:strRef>
          </c:cat>
          <c:val>
            <c:numRef>
              <c:f>Sheet1!$B$2:$B$9</c:f>
              <c:numCache>
                <c:formatCode>General</c:formatCode>
                <c:ptCount val="8"/>
                <c:pt idx="0">
                  <c:v>8</c:v>
                </c:pt>
                <c:pt idx="1">
                  <c:v>16</c:v>
                </c:pt>
                <c:pt idx="2">
                  <c:v>32</c:v>
                </c:pt>
                <c:pt idx="3">
                  <c:v>64</c:v>
                </c:pt>
                <c:pt idx="4">
                  <c:v>128</c:v>
                </c:pt>
                <c:pt idx="5">
                  <c:v>256</c:v>
                </c:pt>
                <c:pt idx="6">
                  <c:v>512</c:v>
                </c:pt>
                <c:pt idx="7">
                  <c:v>1024</c:v>
                </c:pt>
              </c:numCache>
            </c:numRef>
          </c:val>
        </c:ser>
        <c:dLbls>
          <c:numFmt formatCode="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l"/>
        <c:majorGridlines>
          <c:spPr>
            <a:ln w="6350">
              <a:solidFill>
                <a:srgbClr val="DDE5E8"/>
              </a:solidFill>
            </a:ln>
          </c:spPr>
        </c:majorGridlines>
        <c:title>
          <c:tx>
            <c:rich>
              <a:bodyPr/>
              <a:lstStyle/>
              <a:p>
                <a:r>
                  <a:rPr sz="1200" b="0">
                    <a:solidFill>
                      <a:srgbClr val="5B6B73"/>
                    </a:solidFill>
                    <a:latin typeface="Calibri"/>
                  </a:rPr>
                  <a:t>Corridas del factorial completo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seminormal con recta de Daniel</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2"/>
            <c:marker>
              <c:symbol val="circle"/>
              <c:size val="10"/>
              <c:spPr>
                <a:solidFill>
                  <a:srgbClr val="E36414"/>
                </a:solidFill>
                <a:ln>
                  <a:solidFill>
                    <a:srgbClr val="FFFFFF"/>
                  </a:solidFill>
                </a:ln>
              </c:spPr>
            </c:marker>
          </c:dPt>
          <c:dPt>
            <c:idx val="3"/>
            <c:marker>
              <c:symbol val="circle"/>
              <c:size val="10"/>
              <c:spPr>
                <a:solidFill>
                  <a:srgbClr val="E36414"/>
                </a:solidFill>
                <a:ln>
                  <a:solidFill>
                    <a:srgbClr val="FFFFFF"/>
                  </a:solidFill>
                </a:ln>
              </c:spPr>
            </c:marker>
          </c:dPt>
          <c:dPt>
            <c:idx val="4"/>
            <c:marker>
              <c:symbol val="circle"/>
              <c:size val="10"/>
              <c:spPr>
                <a:solidFill>
                  <a:srgbClr val="E36414"/>
                </a:solidFill>
                <a:ln>
                  <a:solidFill>
                    <a:srgbClr val="FFFFFF"/>
                  </a:solidFill>
                </a:ln>
              </c:spPr>
            </c:marker>
          </c:dPt>
          <c:dPt>
            <c:idx val="5"/>
            <c:marker>
              <c:symbol val="circle"/>
              <c:size val="10"/>
              <c:spPr>
                <a:solidFill>
                  <a:srgbClr val="E36414"/>
                </a:solidFill>
                <a:ln>
                  <a:solidFill>
                    <a:srgbClr val="FFFFFF"/>
                  </a:solidFill>
                </a:ln>
              </c:spPr>
            </c:marker>
          </c:dPt>
          <c:dPt>
            <c:idx val="6"/>
            <c:marker>
              <c:symbol val="circle"/>
              <c:size val="10"/>
              <c:spPr>
                <a:solidFill>
                  <a:srgbClr val="E36414"/>
                </a:solidFill>
                <a:ln>
                  <a:solidFill>
                    <a:srgbClr val="FFFFFF"/>
                  </a:solidFill>
                </a:ln>
              </c:spPr>
            </c:marker>
          </c:dPt>
          <c:dLbls>
            <c:dLbl>
              <c:idx val="0"/>
              <c:tx>
                <c:rich>
                  <a:bodyPr/>
                  <a:lstStyle/>
                  <a:p>
                    <a:r>
                      <a:rPr sz="1300" b="1">
                        <a:solidFill>
                          <a:srgbClr val="E36414"/>
                        </a:solidFill>
                      </a:rPr>
                      <a:t>AB</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
              <c:tx>
                <c:rich>
                  <a:bodyPr/>
                  <a:lstStyle/>
                  <a:p>
                    <a:r>
                      <a:rPr sz="1300" b="1">
                        <a:solidFill>
                          <a:srgbClr val="E36414"/>
                        </a:solidFill>
                      </a:rPr>
                      <a:t>C</a:t>
                    </a:r>
                  </a:p>
                </c:rich>
              </c:tx>
              <c:dLblPos val="r"/>
              <c:showLegendKey val="0"/>
              <c:showVal val="1"/>
              <c:showCatName val="0"/>
              <c:showSerName val="0"/>
              <c:showPercent val="0"/>
              <c:showBubbleSize val="0"/>
            </c:dLbl>
            <c:dLbl>
              <c:idx val="3"/>
              <c:tx>
                <c:rich>
                  <a:bodyPr/>
                  <a:lstStyle/>
                  <a:p>
                    <a:r>
                      <a:rPr sz="1300" b="1">
                        <a:solidFill>
                          <a:srgbClr val="E36414"/>
                        </a:solidFill>
                      </a:rPr>
                      <a:t>D</a:t>
                    </a:r>
                  </a:p>
                </c:rich>
              </c:tx>
              <c:dLblPos val="r"/>
              <c:showLegendKey val="0"/>
              <c:showVal val="1"/>
              <c:showCatName val="0"/>
              <c:showSerName val="0"/>
              <c:showPercent val="0"/>
              <c:showBubbleSize val="0"/>
            </c:dLbl>
            <c:dLbl>
              <c:idx val="4"/>
              <c:tx>
                <c:rich>
                  <a:bodyPr/>
                  <a:lstStyle/>
                  <a:p>
                    <a:r>
                      <a:rPr sz="1300" b="1">
                        <a:solidFill>
                          <a:srgbClr val="E36414"/>
                        </a:solidFill>
                      </a:rPr>
                      <a:t>AC</a:t>
                    </a:r>
                  </a:p>
                </c:rich>
              </c:tx>
              <c:dLblPos val="r"/>
              <c:showLegendKey val="0"/>
              <c:showVal val="1"/>
              <c:showCatName val="0"/>
              <c:showSerName val="0"/>
              <c:showPercent val="0"/>
              <c:showBubbleSize val="0"/>
            </c:dLbl>
            <c:dLbl>
              <c:idx val="5"/>
              <c:tx>
                <c:rich>
                  <a:bodyPr/>
                  <a:lstStyle/>
                  <a:p>
                    <a:r>
                      <a:rPr sz="1300" b="1">
                        <a:solidFill>
                          <a:srgbClr val="E36414"/>
                        </a:solidFill>
                      </a:rPr>
                      <a:t>A</a:t>
                    </a:r>
                  </a:p>
                </c:rich>
              </c:tx>
              <c:dLblPos val="r"/>
              <c:showLegendKey val="0"/>
              <c:showVal val="1"/>
              <c:showCatName val="0"/>
              <c:showSerName val="0"/>
              <c:showPercent val="0"/>
              <c:showBubbleSize val="0"/>
            </c:dLbl>
            <c:dLbl>
              <c:idx val="6"/>
              <c:tx>
                <c:rich>
                  <a:bodyPr/>
                  <a:lstStyle/>
                  <a:p>
                    <a:r>
                      <a:rPr sz="1300" b="1">
                        <a:solidFill>
                          <a:srgbClr val="E36414"/>
                        </a:solidFill>
                      </a:rPr>
                      <a:t>AD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Sheet1!$A$2:$A$8</c:f>
              <c:numCache>
                <c:formatCode>General</c:formatCode>
                <c:ptCount val="7"/>
                <c:pt idx="0">
                  <c:v>1.0</c:v>
                </c:pt>
                <c:pt idx="1">
                  <c:v>1.5</c:v>
                </c:pt>
                <c:pt idx="2">
                  <c:v>14.0</c:v>
                </c:pt>
                <c:pt idx="3">
                  <c:v>16.5</c:v>
                </c:pt>
                <c:pt idx="4">
                  <c:v>18.5</c:v>
                </c:pt>
                <c:pt idx="5">
                  <c:v>19.0</c:v>
                </c:pt>
                <c:pt idx="6">
                  <c:v>19.0</c:v>
                </c:pt>
              </c:numCache>
            </c:numRef>
          </c:xVal>
          <c:yVal>
            <c:numRef>
              <c:f>Sheet1!$B$2:$B$8</c:f>
              <c:numCache>
                <c:formatCode>General</c:formatCode>
                <c:ptCount val="7"/>
                <c:pt idx="0">
                  <c:v>0.08964235107576252</c:v>
                </c:pt>
                <c:pt idx="1">
                  <c:v>0.2718800053992607</c:v>
                </c:pt>
                <c:pt idx="2">
                  <c:v>0.46370775145717896</c:v>
                </c:pt>
                <c:pt idx="3">
                  <c:v>0.6744897501960817</c:v>
                </c:pt>
                <c:pt idx="4">
                  <c:v>0.9208229763683786</c:v>
                </c:pt>
                <c:pt idx="5">
                  <c:v>1.2418667918433202</c:v>
                </c:pt>
                <c:pt idx="6">
                  <c:v>1.8027430907391906</c:v>
                </c:pt>
              </c:numCache>
            </c:numRef>
          </c:yVal>
          <c:smooth val="0"/>
        </c:ser>
        <c:ser>
          <c:idx val="1"/>
          <c:order val="1"/>
          <c:tx>
            <c:strRef>
              <c:f>Sheet1!$B$10</c:f>
              <c:strCache>
                <c:ptCount val="1"/>
                <c:pt idx="0">
                  <c:v>Recta</c:v>
                </c:pt>
              </c:strCache>
            </c:strRef>
          </c:tx>
          <c:spPr>
            <a:ln w="19050">
              <a:solidFill>
                <a:srgbClr val="E36414"/>
              </a:solidFill>
            </a:ln>
          </c:spPr>
          <c:marker>
            <c:symbol val="none"/>
          </c:marker>
          <c:xVal>
            <c:numRef>
              <c:f>Sheet1!$A$11:$A$12</c:f>
              <c:numCache>
                <c:formatCode>General</c:formatCode>
                <c:ptCount val="2"/>
                <c:pt idx="0">
                  <c:v>0.0</c:v>
                </c:pt>
                <c:pt idx="1">
                  <c:v>10.942620080368114</c:v>
                </c:pt>
              </c:numCache>
            </c:numRef>
          </c:xVal>
          <c:yVal>
            <c:numRef>
              <c:f>Sheet1!$B$11:$B$12</c:f>
              <c:numCache>
                <c:formatCode>General</c:formatCode>
                <c:ptCount val="2"/>
                <c:pt idx="0">
                  <c:v>0.0</c:v>
                </c:pt>
                <c:pt idx="1">
                  <c:v>1.8027430907391906</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seminormal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con recta de Daniel</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1"/>
            <c:marker>
              <c:symbol val="circle"/>
              <c:size val="10"/>
              <c:spPr>
                <a:solidFill>
                  <a:srgbClr val="E36414"/>
                </a:solidFill>
                <a:ln>
                  <a:solidFill>
                    <a:srgbClr val="FFFFFF"/>
                  </a:solidFill>
                </a:ln>
              </c:spPr>
            </c:marker>
          </c:dPt>
          <c:dPt>
            <c:idx val="12"/>
            <c:marker>
              <c:symbol val="circle"/>
              <c:size val="10"/>
              <c:spPr>
                <a:solidFill>
                  <a:srgbClr val="E36414"/>
                </a:solidFill>
                <a:ln>
                  <a:solidFill>
                    <a:srgbClr val="FFFFFF"/>
                  </a:solidFill>
                </a:ln>
              </c:spPr>
            </c:marker>
          </c:dPt>
          <c:dPt>
            <c:idx val="13"/>
            <c:marker>
              <c:symbol val="circle"/>
              <c:size val="10"/>
              <c:spPr>
                <a:solidFill>
                  <a:srgbClr val="E36414"/>
                </a:solidFill>
                <a:ln>
                  <a:solidFill>
                    <a:srgbClr val="FFFFFF"/>
                  </a:solidFill>
                </a:ln>
              </c:spPr>
            </c:marker>
          </c:dPt>
          <c:dPt>
            <c:idx val="14"/>
            <c:marker>
              <c:symbol val="circle"/>
              <c:size val="10"/>
              <c:spPr>
                <a:solidFill>
                  <a:srgbClr val="E36414"/>
                </a:solidFill>
                <a:ln>
                  <a:solidFill>
                    <a:srgbClr val="FFFFFF"/>
                  </a:solidFill>
                </a:ln>
              </c:spPr>
            </c:marker>
          </c:dPt>
          <c:dLbls>
            <c:dLbl>
              <c:idx val="11"/>
              <c:tx>
                <c:rich>
                  <a:bodyPr/>
                  <a:lstStyle/>
                  <a:p>
                    <a:r>
                      <a:rPr sz="1300" b="1">
                        <a:solidFill>
                          <a:srgbClr val="E36414"/>
                        </a:solidFill>
                      </a:rPr>
                      <a:t>AB</a:t>
                    </a:r>
                  </a:p>
                </c:rich>
              </c:tx>
              <c:dLblPos val="r"/>
              <c:showLegendKey val="0"/>
              <c:showVal val="1"/>
              <c:showCatName val="0"/>
              <c:showSerName val="0"/>
              <c:showPercent val="0"/>
              <c:showBubbleSize val="0"/>
            </c:dLbl>
            <c:dLbl>
              <c:idx val="12"/>
              <c:tx>
                <c:rich>
                  <a:bodyPr/>
                  <a:lstStyle/>
                  <a:p>
                    <a:r>
                      <a:rPr sz="1300" b="1">
                        <a:solidFill>
                          <a:srgbClr val="E36414"/>
                        </a:solidFill>
                      </a:rPr>
                      <a:t>C</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-1.375</c:v>
                </c:pt>
                <c:pt idx="1">
                  <c:v>-0.875</c:v>
                </c:pt>
                <c:pt idx="2">
                  <c:v>-0.125</c:v>
                </c:pt>
                <c:pt idx="3">
                  <c:v>-0.125</c:v>
                </c:pt>
                <c:pt idx="4">
                  <c:v>0.375</c:v>
                </c:pt>
                <c:pt idx="5">
                  <c:v>0.375</c:v>
                </c:pt>
                <c:pt idx="6">
                  <c:v>0.625</c:v>
                </c:pt>
                <c:pt idx="7">
                  <c:v>0.625</c:v>
                </c:pt>
                <c:pt idx="8">
                  <c:v>0.875</c:v>
                </c:pt>
                <c:pt idx="9">
                  <c:v>1.125</c:v>
                </c:pt>
                <c:pt idx="10">
                  <c:v>1.125</c:v>
                </c:pt>
                <c:pt idx="11">
                  <c:v>6.875</c:v>
                </c:pt>
                <c:pt idx="12">
                  <c:v>10.875</c:v>
                </c:pt>
                <c:pt idx="13">
                  <c:v>11.125</c:v>
                </c:pt>
                <c:pt idx="14">
                  <c:v>33.875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-1.2887989237118709</c:v>
                </c:pt>
                <c:pt idx="1">
                  <c:v>2.72272611819398</c:v>
                </c:pt>
              </c:numCache>
            </c:numRef>
          </c:xVal>
          <c:yVal>
            <c:numRef>
              <c:f>Sheet1!$B$19:$B$20</c:f>
              <c:numCache>
                <c:formatCode>General</c:formatCode>
                <c:ptCount val="2"/>
                <c:pt idx="0">
                  <c:v>-1.8339146358159142</c:v>
                </c:pt>
                <c:pt idx="1">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de efectos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AE</c:v>
                </c:pt>
                <c:pt idx="2">
                  <c:v>AD</c:v>
                </c:pt>
                <c:pt idx="3">
                  <c:v>DE</c:v>
                </c:pt>
                <c:pt idx="4">
                  <c:v>AB</c:v>
                </c:pt>
                <c:pt idx="5">
                  <c:v>C</c:v>
                </c:pt>
                <c:pt idx="6">
                  <c:v>A</c:v>
                </c:pt>
                <c:pt idx="7">
                  <c:v>B</c:v>
                </c:pt>
              </c:strCache>
            </c:strRef>
          </c:cat>
          <c:val>
            <c:numRef>
              <c:f>Sheet1!$B$2:$B$9</c:f>
              <c:numCache>
                <c:formatCode>General</c:formatCode>
                <c:ptCount val="8"/>
                <c:pt idx="0">
                  <c:v>0.875</c:v>
                </c:pt>
                <c:pt idx="1">
                  <c:v>1.125</c:v>
                </c:pt>
                <c:pt idx="2">
                  <c:v>1.125</c:v>
                </c:pt>
                <c:pt idx="3">
                  <c:v>1.375</c:v>
                </c:pt>
                <c:pt idx="4">
                  <c:v>6.875</c:v>
                </c:pt>
                <c:pt idx="5">
                  <c:v>10.875</c:v>
                </c:pt>
                <c:pt idx="6">
                  <c:v>11.125</c:v>
                </c:pt>
                <c:pt idx="7">
                  <c:v>33.875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con recta de Daniel (fig. 8-12)</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2"/>
            <c:marker>
              <c:symbol val="circle"/>
              <c:size val="10"/>
              <c:spPr>
                <a:solidFill>
                  <a:srgbClr val="E36414"/>
                </a:solidFill>
                <a:ln>
                  <a:solidFill>
                    <a:srgbClr val="FFFFFF"/>
                  </a:solidFill>
                </a:ln>
              </c:spPr>
            </c:marker>
          </c:dPt>
          <c:dPt>
            <c:idx val="13"/>
            <c:marker>
              <c:symbol val="circle"/>
              <c:size val="10"/>
              <c:spPr>
                <a:solidFill>
                  <a:srgbClr val="E36414"/>
                </a:solidFill>
                <a:ln>
                  <a:solidFill>
                    <a:srgbClr val="FFFFFF"/>
                  </a:solidFill>
                </a:ln>
              </c:spPr>
            </c:marker>
          </c:dPt>
          <c:dPt>
            <c:idx val="14"/>
            <c:marker>
              <c:symbol val="circle"/>
              <c:size val="10"/>
              <c:spPr>
                <a:solidFill>
                  <a:srgbClr val="E36414"/>
                </a:solidFill>
                <a:ln>
                  <a:solidFill>
                    <a:srgbClr val="FFFFFF"/>
                  </a:solidFill>
                </a:ln>
              </c:spPr>
            </c:marker>
          </c:dPt>
          <c:dLbls>
            <c:dLbl>
              <c:idx val="0"/>
              <c:tx>
                <c:rich>
                  <a:bodyPr/>
                  <a:lstStyle/>
                  <a:p>
                    <a:r>
                      <a:rPr sz="1300" b="1">
                        <a:solidFill>
                          <a:srgbClr val="E36414"/>
                        </a:solidFill>
                      </a:rPr>
                      <a:t>AD + EF</a:t>
                    </a:r>
                  </a:p>
                </c:rich>
              </c:tx>
              <c:dLblPos val="r"/>
              <c:showLegendKey val="0"/>
              <c:showVal val="1"/>
              <c:showCatName val="0"/>
              <c:showSerName val="0"/>
              <c:showPercent val="0"/>
              <c:showBubbleSize val="0"/>
            </c:dLbl>
            <c:dLbl>
              <c:idx val="1"/>
              <c:tx>
                <c:rich>
                  <a:bodyPr/>
                  <a:lstStyle/>
                  <a:p>
                    <a:r>
                      <a:rPr sz="1300" b="1">
                        <a:solidFill>
                          <a:srgbClr val="E36414"/>
                        </a:solidFill>
                      </a:rPr>
                      <a:t>ABF</a:t>
                    </a:r>
                  </a:p>
                </c:rich>
              </c:tx>
              <c:dLblPos val="r"/>
              <c:showLegendKey val="0"/>
              <c:showVal val="1"/>
              <c:showCatName val="0"/>
              <c:showSerName val="0"/>
              <c:showPercent val="0"/>
              <c:showBubbleSize val="0"/>
            </c:dLbl>
            <c:dLbl>
              <c:idx val="12"/>
              <c:tx>
                <c:rich>
                  <a:bodyPr/>
                  <a:lstStyle/>
                  <a:p>
                    <a:r>
                      <a:rPr sz="1300" b="1">
                        <a:solidFill>
                          <a:srgbClr val="E36414"/>
                        </a:solidFill>
                      </a:rPr>
                      <a:t>AB + CE</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-5.375</c:v>
                </c:pt>
                <c:pt idx="1">
                  <c:v>-4.875</c:v>
                </c:pt>
                <c:pt idx="2">
                  <c:v>-1.875</c:v>
                </c:pt>
                <c:pt idx="3">
                  <c:v>-1.625</c:v>
                </c:pt>
                <c:pt idx="4">
                  <c:v>-0.875</c:v>
                </c:pt>
                <c:pt idx="5">
                  <c:v>-0.125</c:v>
                </c:pt>
                <c:pt idx="6">
                  <c:v>-0.125</c:v>
                </c:pt>
                <c:pt idx="7">
                  <c:v>0.125</c:v>
                </c:pt>
                <c:pt idx="8">
                  <c:v>0.375</c:v>
                </c:pt>
                <c:pt idx="9">
                  <c:v>0.375</c:v>
                </c:pt>
                <c:pt idx="10">
                  <c:v>0.625</c:v>
                </c:pt>
                <c:pt idx="11">
                  <c:v>1.375</c:v>
                </c:pt>
                <c:pt idx="12">
                  <c:v>11.875</c:v>
                </c:pt>
                <c:pt idx="13">
                  <c:v>13.875</c:v>
                </c:pt>
                <c:pt idx="14">
                  <c:v>35.625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-4.950469909104288</c:v>
                </c:pt>
                <c:pt idx="1">
                  <c:v>4.750207267177459</c:v>
                </c:pt>
              </c:numCache>
            </c:numRef>
          </c:xVal>
          <c:yVal>
            <c:numRef>
              <c:f>Sheet1!$B$19:$B$20</c:f>
              <c:numCache>
                <c:formatCode>General</c:formatCode>
                <c:ptCount val="2"/>
                <c:pt idx="0">
                  <c:v>-1.8339146358159142</c:v>
                </c:pt>
                <c:pt idx="1">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AC + BE</c:v>
                </c:pt>
                <c:pt idx="2">
                  <c:v>AE + BC + DF</c:v>
                </c:pt>
                <c:pt idx="3">
                  <c:v>ABF</c:v>
                </c:pt>
                <c:pt idx="4">
                  <c:v>AD + EF</c:v>
                </c:pt>
                <c:pt idx="5">
                  <c:v>AB + CE</c:v>
                </c:pt>
                <c:pt idx="6">
                  <c:v>A</c:v>
                </c:pt>
                <c:pt idx="7">
                  <c:v>B</c:v>
                </c:pt>
              </c:strCache>
            </c:strRef>
          </c:cat>
          <c:val>
            <c:numRef>
              <c:f>Sheet1!$B$2:$B$9</c:f>
              <c:numCache>
                <c:formatCode>General</c:formatCode>
                <c:ptCount val="8"/>
                <c:pt idx="0">
                  <c:v>1.375</c:v>
                </c:pt>
                <c:pt idx="1">
                  <c:v>1.625</c:v>
                </c:pt>
                <c:pt idx="2">
                  <c:v>1.875</c:v>
                </c:pt>
                <c:pt idx="3">
                  <c:v>4.875</c:v>
                </c:pt>
                <c:pt idx="4">
                  <c:v>5.375</c:v>
                </c:pt>
                <c:pt idx="5">
                  <c:v>11.875</c:v>
                </c:pt>
                <c:pt idx="6">
                  <c:v>13.875</c:v>
                </c:pt>
                <c:pt idx="7">
                  <c:v>35.625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AB (fig. 8-13)</a:t>
            </a:r>
          </a:p>
        </c:rich>
      </c:tx>
      <c:layout/>
      <c:overlay val="0"/>
    </c:title>
    <c:autoTitleDeleted val="0"/>
    <c:plotArea>
      <c:lineChart>
        <c:grouping val="standard"/>
        <c:varyColors val="0"/>
        <c:ser>
          <c:idx val="0"/>
          <c:order val="0"/>
          <c:tx>
            <c:strRef>
              <c:f>Sheet1!$B$1</c:f>
              <c:strCache>
                <c:ptCount val="1"/>
                <c:pt idx="0">
                  <c:v>B bajo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c:v>
                </c:pt>
                <c:pt idx="1">
                  <c:v>A alto (+)</c:v>
                </c:pt>
              </c:strCache>
            </c:strRef>
          </c:cat>
          <c:val>
            <c:numRef>
              <c:f>Sheet1!$B$2:$B$3</c:f>
              <c:numCache>
                <c:formatCode>General</c:formatCode>
                <c:ptCount val="2"/>
                <c:pt idx="0">
                  <c:v>8.5</c:v>
                </c:pt>
                <c:pt idx="1">
                  <c:v>10.5</c:v>
                </c:pt>
              </c:numCache>
            </c:numRef>
          </c:val>
          <c:smooth val="0"/>
        </c:ser>
        <c:ser>
          <c:idx val="1"/>
          <c:order val="1"/>
          <c:tx>
            <c:strRef>
              <c:f>Sheet1!$C$1</c:f>
              <c:strCache>
                <c:ptCount val="1"/>
                <c:pt idx="0">
                  <c:v>B alto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c:v>
                </c:pt>
                <c:pt idx="1">
                  <c:v>A alto (+)</c:v>
                </c:pt>
              </c:strCache>
            </c:strRef>
          </c:cat>
          <c:val>
            <c:numRef>
              <c:f>Sheet1!$C$2:$C$3</c:f>
              <c:numCache>
                <c:formatCode>General</c:formatCode>
                <c:ptCount val="2"/>
                <c:pt idx="0">
                  <c:v>32.25</c:v>
                </c:pt>
                <c:pt idx="1">
                  <c:v>58.0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Contracción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Probabilidad normal de los residuos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-2.8125</c:v>
                </c:pt>
                <c:pt idx="1">
                  <c:v>-1.6875</c:v>
                </c:pt>
                <c:pt idx="2">
                  <c:v>-1.6875</c:v>
                </c:pt>
                <c:pt idx="3">
                  <c:v>-1.0625</c:v>
                </c:pt>
                <c:pt idx="4">
                  <c:v>-0.8125</c:v>
                </c:pt>
                <c:pt idx="5">
                  <c:v>-0.6875</c:v>
                </c:pt>
                <c:pt idx="6">
                  <c:v>-0.0625</c:v>
                </c:pt>
                <c:pt idx="7">
                  <c:v>0.0625</c:v>
                </c:pt>
                <c:pt idx="8">
                  <c:v>0.1875</c:v>
                </c:pt>
                <c:pt idx="9">
                  <c:v>0.3125</c:v>
                </c:pt>
                <c:pt idx="10">
                  <c:v>1.0625</c:v>
                </c:pt>
                <c:pt idx="11">
                  <c:v>1.1875</c:v>
                </c:pt>
                <c:pt idx="12">
                  <c:v>1.1875</c:v>
                </c:pt>
                <c:pt idx="13">
                  <c:v>1.3125</c:v>
                </c:pt>
                <c:pt idx="14">
                  <c:v>1.3125</c:v>
                </c:pt>
                <c:pt idx="15">
                  <c:v>2.1875</c:v>
                </c:pt>
              </c:numCache>
            </c:numRef>
          </c:xVal>
          <c:yVal>
            <c:numRef>
              <c:f>Sheet1!$B$2:$B$17</c:f>
              <c:numCache>
                <c:formatCode>General</c:formatCode>
                <c:ptCount val="16"/>
                <c:pt idx="0">
                  <c:v>-1.862731867421651</c:v>
                </c:pt>
                <c:pt idx="1">
                  <c:v>-1.3180108973035367</c:v>
                </c:pt>
                <c:pt idx="2">
                  <c:v>-1.009990169249582</c:v>
                </c:pt>
                <c:pt idx="3">
                  <c:v>-0.7764217611479276</c:v>
                </c:pt>
                <c:pt idx="4">
                  <c:v>-0.579132162255556</c:v>
                </c:pt>
                <c:pt idx="5">
                  <c:v>-0.40225006532172525</c:v>
                </c:pt>
                <c:pt idx="6">
                  <c:v>-0.2372021093287877</c:v>
                </c:pt>
                <c:pt idx="7">
                  <c:v>-0.0784124127331122</c:v>
                </c:pt>
                <c:pt idx="8">
                  <c:v>0.0784124127331122</c:v>
                </c:pt>
                <c:pt idx="9">
                  <c:v>0.2372021093287877</c:v>
                </c:pt>
                <c:pt idx="10">
                  <c:v>0.40225006532172525</c:v>
                </c:pt>
                <c:pt idx="11">
                  <c:v>0.579132162255556</c:v>
                </c:pt>
                <c:pt idx="12">
                  <c:v>0.7764217611479276</c:v>
                </c:pt>
                <c:pt idx="13">
                  <c:v>1.009990169249582</c:v>
                </c:pt>
                <c:pt idx="14">
                  <c:v>1.3180108973035367</c:v>
                </c:pt>
                <c:pt idx="15">
                  <c:v>1.862731867421651</c:v>
                </c:pt>
              </c:numCache>
            </c:numRef>
          </c:yVal>
          <c:smooth val="0"/>
        </c:ser>
        <c:ser>
          <c:idx val="1"/>
          <c:order val="1"/>
          <c:tx>
            <c:strRef>
              <c:f>Sheet1!$B$19</c:f>
              <c:strCache>
                <c:ptCount val="1"/>
                <c:pt idx="0">
                  <c:v>Recta</c:v>
                </c:pt>
              </c:strCache>
            </c:strRef>
          </c:tx>
          <c:spPr>
            <a:ln w="19050">
              <a:solidFill>
                <a:srgbClr val="E36414"/>
              </a:solidFill>
            </a:ln>
          </c:spPr>
          <c:marker>
            <c:symbol val="none"/>
          </c:marker>
          <c:xVal>
            <c:numRef>
              <c:f>Sheet1!$A$20:$A$21</c:f>
              <c:numCache>
                <c:formatCode>General</c:formatCode>
                <c:ptCount val="2"/>
                <c:pt idx="0">
                  <c:v>-2.8125</c:v>
                </c:pt>
                <c:pt idx="1">
                  <c:v>2.1875</c:v>
                </c:pt>
              </c:numCache>
            </c:numRef>
          </c:xVal>
          <c:yVal>
            <c:numRef>
              <c:f>Sheet1!$B$20:$B$21</c:f>
              <c:numCache>
                <c:formatCode>General</c:formatCode>
                <c:ptCount val="2"/>
                <c:pt idx="0">
                  <c:v>-1.9961207541782773</c:v>
                </c:pt>
                <c:pt idx="1">
                  <c:v>1.5525383643608823</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Residuo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valores ajustados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5.8125</c:v>
                </c:pt>
                <c:pt idx="1">
                  <c:v>10.0625</c:v>
                </c:pt>
                <c:pt idx="2">
                  <c:v>32.8125</c:v>
                </c:pt>
                <c:pt idx="3">
                  <c:v>50.8125</c:v>
                </c:pt>
                <c:pt idx="4">
                  <c:v>16.6875</c:v>
                </c:pt>
                <c:pt idx="5">
                  <c:v>20.9375</c:v>
                </c:pt>
                <c:pt idx="6">
                  <c:v>43.6875</c:v>
                </c:pt>
                <c:pt idx="7">
                  <c:v>61.6875</c:v>
                </c:pt>
                <c:pt idx="8">
                  <c:v>5.8125</c:v>
                </c:pt>
                <c:pt idx="9">
                  <c:v>10.0625</c:v>
                </c:pt>
                <c:pt idx="10">
                  <c:v>32.8125</c:v>
                </c:pt>
                <c:pt idx="11">
                  <c:v>50.8125</c:v>
                </c:pt>
                <c:pt idx="12">
                  <c:v>16.6875</c:v>
                </c:pt>
                <c:pt idx="13">
                  <c:v>20.9375</c:v>
                </c:pt>
                <c:pt idx="14">
                  <c:v>43.6875</c:v>
                </c:pt>
                <c:pt idx="15">
                  <c:v>61.6875</c:v>
                </c:pt>
              </c:numCache>
            </c:numRef>
          </c:xVal>
          <c:yVal>
            <c:numRef>
              <c:f>Sheet1!$B$2:$B$17</c:f>
              <c:numCache>
                <c:formatCode>General</c:formatCode>
                <c:ptCount val="16"/>
                <c:pt idx="0">
                  <c:v>2.1875</c:v>
                </c:pt>
                <c:pt idx="1">
                  <c:v>-1.0625</c:v>
                </c:pt>
                <c:pt idx="2">
                  <c:v>1.1875</c:v>
                </c:pt>
                <c:pt idx="3">
                  <c:v>1.1875</c:v>
                </c:pt>
                <c:pt idx="4">
                  <c:v>-0.6875</c:v>
                </c:pt>
                <c:pt idx="5">
                  <c:v>1.0625</c:v>
                </c:pt>
                <c:pt idx="6">
                  <c:v>1.3125</c:v>
                </c:pt>
                <c:pt idx="7">
                  <c:v>-1.6875</c:v>
                </c:pt>
                <c:pt idx="8">
                  <c:v>0.1875</c:v>
                </c:pt>
                <c:pt idx="9">
                  <c:v>-0.0625</c:v>
                </c:pt>
                <c:pt idx="10">
                  <c:v>-2.8125</c:v>
                </c:pt>
                <c:pt idx="11">
                  <c:v>-0.8125</c:v>
                </c:pt>
                <c:pt idx="12">
                  <c:v>-1.6875</c:v>
                </c:pt>
                <c:pt idx="13">
                  <c:v>0.0625</c:v>
                </c:pt>
                <c:pt idx="14">
                  <c:v>0.3125</c:v>
                </c:pt>
                <c:pt idx="15">
                  <c:v>1.3125</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Valor ajustado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de los 28 efectos (fig. 8-19)</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0"/>
            <c:marker>
              <c:symbol val="circle"/>
              <c:size val="10"/>
              <c:spPr>
                <a:solidFill>
                  <a:srgbClr val="E36414"/>
                </a:solidFill>
                <a:ln>
                  <a:solidFill>
                    <a:srgbClr val="FFFFFF"/>
                  </a:solidFill>
                </a:ln>
              </c:spPr>
            </c:marker>
          </c:dPt>
          <c:dPt>
            <c:idx val="1"/>
            <c:marker>
              <c:symbol val="circle"/>
              <c:size val="10"/>
              <c:spPr>
                <a:solidFill>
                  <a:srgbClr val="E36414"/>
                </a:solidFill>
                <a:ln>
                  <a:solidFill>
                    <a:srgbClr val="FFFFFF"/>
                  </a:solidFill>
                </a:ln>
              </c:spPr>
            </c:marker>
          </c:dPt>
          <c:dPt>
            <c:idx val="27"/>
            <c:marker>
              <c:symbol val="circle"/>
              <c:size val="10"/>
              <c:spPr>
                <a:solidFill>
                  <a:srgbClr val="E36414"/>
                </a:solidFill>
                <a:ln>
                  <a:solidFill>
                    <a:srgbClr val="FFFFFF"/>
                  </a:solidFill>
                </a:ln>
              </c:spPr>
            </c:marker>
          </c:dPt>
          <c:dLbls>
            <c:dLbl>
              <c:idx val="0"/>
              <c:tx>
                <c:rich>
                  <a:bodyPr/>
                  <a:lstStyle/>
                  <a:p>
                    <a:r>
                      <a:rPr sz="1300" b="1">
                        <a:solidFill>
                          <a:srgbClr val="E36414"/>
                        </a:solidFill>
                      </a:rPr>
                      <a:t>AD + BG</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6"/>
              <c:tx>
                <c:rich>
                  <a:bodyPr/>
                  <a:lstStyle/>
                  <a:p>
                    <a:r>
                      <a:rPr sz="1300" b="1">
                        <a:solidFill>
                          <a:srgbClr val="E36414"/>
                        </a:solidFill>
                      </a:rPr>
                      <a:t>G</a:t>
                    </a:r>
                  </a:p>
                </c:rich>
              </c:tx>
              <c:dLblPos val="r"/>
              <c:showLegendKey val="0"/>
              <c:showVal val="1"/>
              <c:showCatName val="0"/>
              <c:showSerName val="0"/>
              <c:showPercent val="0"/>
              <c:showBubbleSize val="0"/>
            </c:dLbl>
            <c:dLbl>
              <c:idx val="27"/>
              <c:tx>
                <c:rich>
                  <a:bodyPr/>
                  <a:lstStyle/>
                  <a:p>
                    <a:r>
                      <a:rPr sz="1300" b="1">
                        <a:solidFill>
                          <a:srgbClr val="E36414"/>
                        </a:solidFill>
                      </a:rPr>
                      <a:t>A</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Sheet1!$A$2:$A$29</c:f>
              <c:numCache>
                <c:formatCode>General</c:formatCode>
                <c:ptCount val="28"/>
                <c:pt idx="0">
                  <c:v>-0.37412</c:v>
                </c:pt>
                <c:pt idx="1">
                  <c:v>-0.20054</c:v>
                </c:pt>
                <c:pt idx="2">
                  <c:v>-0.06206</c:v>
                </c:pt>
                <c:pt idx="3">
                  <c:v>-0.05433</c:v>
                </c:pt>
                <c:pt idx="4">
                  <c:v>-0.05371</c:v>
                </c:pt>
                <c:pt idx="5">
                  <c:v>-0.05042</c:v>
                </c:pt>
                <c:pt idx="6">
                  <c:v>-0.04502</c:v>
                </c:pt>
                <c:pt idx="7">
                  <c:v>-0.03871</c:v>
                </c:pt>
                <c:pt idx="8">
                  <c:v>-0.02808</c:v>
                </c:pt>
                <c:pt idx="9">
                  <c:v>-0.02576</c:v>
                </c:pt>
                <c:pt idx="10">
                  <c:v>-0.01808</c:v>
                </c:pt>
                <c:pt idx="11">
                  <c:v>-0.01467</c:v>
                </c:pt>
                <c:pt idx="12">
                  <c:v>-0.00588</c:v>
                </c:pt>
                <c:pt idx="13">
                  <c:v>-0.0005063</c:v>
                </c:pt>
                <c:pt idx="14">
                  <c:v>0.00489</c:v>
                </c:pt>
                <c:pt idx="15">
                  <c:v>0.00804</c:v>
                </c:pt>
                <c:pt idx="16">
                  <c:v>0.01309</c:v>
                </c:pt>
                <c:pt idx="17">
                  <c:v>0.01417</c:v>
                </c:pt>
                <c:pt idx="18">
                  <c:v>0.01569</c:v>
                </c:pt>
                <c:pt idx="19">
                  <c:v>0.01708</c:v>
                </c:pt>
                <c:pt idx="20">
                  <c:v>0.03452</c:v>
                </c:pt>
                <c:pt idx="21">
                  <c:v>0.03982</c:v>
                </c:pt>
                <c:pt idx="22">
                  <c:v>0.05288</c:v>
                </c:pt>
                <c:pt idx="23">
                  <c:v>0.0608</c:v>
                </c:pt>
                <c:pt idx="24">
                  <c:v>0.09851</c:v>
                </c:pt>
                <c:pt idx="25">
                  <c:v>0.10813</c:v>
                </c:pt>
                <c:pt idx="26">
                  <c:v>0.11608</c:v>
                </c:pt>
                <c:pt idx="27">
                  <c:v>0.29026</c:v>
                </c:pt>
              </c:numCache>
            </c:numRef>
          </c:xVal>
          <c:yVal>
            <c:numRef>
              <c:f>Sheet1!$B$2:$B$29</c:f>
              <c:numCache>
                <c:formatCode>General</c:formatCode>
                <c:ptCount val="28"/>
                <c:pt idx="0">
                  <c:v>-2.1001654928444697</c:v>
                </c:pt>
                <c:pt idx="1">
                  <c:v>-1.6111691623526765</c:v>
                </c:pt>
                <c:pt idx="2">
                  <c:v>-1.3451666341766386</c:v>
                </c:pt>
                <c:pt idx="3">
                  <c:v>-1.1503493803760079</c:v>
                </c:pt>
                <c:pt idx="4">
                  <c:v>-0.9915264746773303</c:v>
                </c:pt>
                <c:pt idx="5">
                  <c:v>-0.8544473986959894</c:v>
                </c:pt>
                <c:pt idx="6">
                  <c:v>-0.7318080838596176</c:v>
                </c:pt>
                <c:pt idx="7">
                  <c:v>-0.619306769508776</c:v>
                </c:pt>
                <c:pt idx="8">
                  <c:v>-0.5141561007445341</c:v>
                </c:pt>
                <c:pt idx="9">
                  <c:v>-0.41441332960007643</c:v>
                </c:pt>
                <c:pt idx="10">
                  <c:v>-0.31863936396437514</c:v>
                </c:pt>
                <c:pt idx="11">
                  <c:v>-0.22570795386015938</c:v>
                </c:pt>
                <c:pt idx="12">
                  <c:v>-0.13468979400891953</c:v>
                </c:pt>
                <c:pt idx="13">
                  <c:v>-0.04477617669551624</c:v>
                </c:pt>
                <c:pt idx="14">
                  <c:v>0.04477617669551639</c:v>
                </c:pt>
                <c:pt idx="15">
                  <c:v>0.1346897940089197</c:v>
                </c:pt>
                <c:pt idx="16">
                  <c:v>0.22570795386015938</c:v>
                </c:pt>
                <c:pt idx="17">
                  <c:v>0.31863936396437514</c:v>
                </c:pt>
                <c:pt idx="18">
                  <c:v>0.41441332960007643</c:v>
                </c:pt>
                <c:pt idx="19">
                  <c:v>0.5141561007445339</c:v>
                </c:pt>
                <c:pt idx="20">
                  <c:v>0.6193067695087758</c:v>
                </c:pt>
                <c:pt idx="21">
                  <c:v>0.7318080838596177</c:v>
                </c:pt>
                <c:pt idx="22">
                  <c:v>0.8544473986959894</c:v>
                </c:pt>
                <c:pt idx="23">
                  <c:v>0.9915264746773303</c:v>
                </c:pt>
                <c:pt idx="24">
                  <c:v>1.1503493803760079</c:v>
                </c:pt>
                <c:pt idx="25">
                  <c:v>1.3451666341766386</c:v>
                </c:pt>
                <c:pt idx="26">
                  <c:v>1.6111691623526765</c:v>
                </c:pt>
                <c:pt idx="27">
                  <c:v>2.100165492844468</c:v>
                </c:pt>
              </c:numCache>
            </c:numRef>
          </c:yVal>
          <c:smooth val="0"/>
        </c:ser>
        <c:ser>
          <c:idx val="1"/>
          <c:order val="1"/>
          <c:tx>
            <c:strRef>
              <c:f>Sheet1!$B$31</c:f>
              <c:strCache>
                <c:ptCount val="1"/>
                <c:pt idx="0">
                  <c:v>Recta</c:v>
                </c:pt>
              </c:strCache>
            </c:strRef>
          </c:tx>
          <c:spPr>
            <a:ln w="19050">
              <a:solidFill>
                <a:srgbClr val="E36414"/>
              </a:solidFill>
            </a:ln>
          </c:spPr>
          <c:marker>
            <c:symbol val="none"/>
          </c:marker>
          <c:xVal>
            <c:numRef>
              <c:f>Sheet1!$A$32:$A$33</c:f>
              <c:numCache>
                <c:formatCode>General</c:formatCode>
                <c:ptCount val="2"/>
                <c:pt idx="0">
                  <c:v>-0.12720193245439723</c:v>
                </c:pt>
                <c:pt idx="1">
                  <c:v>0.13410134081893746</c:v>
                </c:pt>
              </c:numCache>
            </c:numRef>
          </c:xVal>
          <c:yVal>
            <c:numRef>
              <c:f>Sheet1!$B$32:$B$33</c:f>
              <c:numCache>
                <c:formatCode>General</c:formatCode>
                <c:ptCount val="2"/>
                <c:pt idx="0">
                  <c:v>-2.1001654928444697</c:v>
                </c:pt>
                <c:pt idx="1">
                  <c:v>2.100165492844468</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AD (promedio sobre B)</a:t>
            </a:r>
          </a:p>
        </c:rich>
      </c:tx>
      <c:layout/>
      <c:overlay val="0"/>
    </c:title>
    <c:autoTitleDeleted val="0"/>
    <c:plotArea>
      <c:lineChart>
        <c:grouping val="standard"/>
        <c:varyColors val="0"/>
        <c:ser>
          <c:idx val="0"/>
          <c:order val="0"/>
          <c:tx>
            <c:strRef>
              <c:f>Sheet1!$B$1</c:f>
              <c:strCache>
                <c:ptCount val="1"/>
                <c:pt idx="0">
                  <c:v>Fabricante 1 (D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(0)</c:v>
                </c:pt>
                <c:pt idx="1">
                  <c:v>A alto (15)</c:v>
                </c:pt>
              </c:strCache>
            </c:strRef>
          </c:cat>
          <c:val>
            <c:numRef>
              <c:f>Sheet1!$B$2:$B$3</c:f>
              <c:numCache>
                <c:formatCode>General</c:formatCode>
                <c:ptCount val="2"/>
                <c:pt idx="0">
                  <c:v>0.89375</c:v>
                </c:pt>
                <c:pt idx="1">
                  <c:v>1.5575</c:v>
                </c:pt>
              </c:numCache>
            </c:numRef>
          </c:val>
          <c:smooth val="0"/>
        </c:ser>
        <c:ser>
          <c:idx val="1"/>
          <c:order val="1"/>
          <c:tx>
            <c:strRef>
              <c:f>Sheet1!$C$1</c:f>
              <c:strCache>
                <c:ptCount val="1"/>
                <c:pt idx="0">
                  <c:v>Fabricante 2 (D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(0)</c:v>
                </c:pt>
                <c:pt idx="1">
                  <c:v>A alto (15)</c:v>
                </c:pt>
              </c:strCache>
            </c:strRef>
          </c:cat>
          <c:val>
            <c:numRef>
              <c:f>Sheet1!$C$2:$C$3</c:f>
              <c:numCache>
                <c:formatCode>General</c:formatCode>
                <c:ptCount val="2"/>
                <c:pt idx="0">
                  <c:v>1.3755000000000002</c:v>
                </c:pt>
                <c:pt idx="1">
                  <c:v>1.2915</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ln(desviación)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Primera fracción: efectos estimados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Sheet1!$A$2:$A$8</c:f>
              <c:strCache>
                <c:ptCount val="7"/>
                <c:pt idx="0">
                  <c:v>B</c:v>
                </c:pt>
                <c:pt idx="1">
                  <c:v>D</c:v>
                </c:pt>
                <c:pt idx="2">
                  <c:v>A</c:v>
                </c:pt>
                <c:pt idx="3">
                  <c:v>G</c:v>
                </c:pt>
                <c:pt idx="4">
                  <c:v>F</c:v>
                </c:pt>
                <c:pt idx="5">
                  <c:v>E</c:v>
                </c:pt>
                <c:pt idx="6">
                  <c:v>C</c:v>
                </c:pt>
              </c:strCache>
            </c:strRef>
          </c:cat>
          <c:val>
            <c:numRef>
              <c:f>Sheet1!$B$2:$B$8</c:f>
              <c:numCache>
                <c:formatCode>General</c:formatCode>
                <c:ptCount val="7"/>
                <c:pt idx="0">
                  <c:v>38.37500000000001</c:v>
                </c:pt>
                <c:pt idx="1">
                  <c:v>28.875000000000007</c:v>
                </c:pt>
                <c:pt idx="2">
                  <c:v>20.625</c:v>
                </c:pt>
                <c:pt idx="3">
                  <c:v>-2.424999999999997</c:v>
                </c:pt>
                <c:pt idx="4">
                  <c:v>-0.625</c:v>
                </c:pt>
                <c:pt idx="5">
                  <c:v>-0.2749999999999986</c:v>
                </c:pt>
                <c:pt idx="6">
                  <c:v>-0.2749999999999986</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 estimado (ms)</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Efectos estimados (valor absoluto)</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Sheet1!$A$2:$A$12</c:f>
              <c:strCache>
                <c:ptCount val="11"/>
                <c:pt idx="0">
                  <c:v>L</c:v>
                </c:pt>
                <c:pt idx="1">
                  <c:v>F</c:v>
                </c:pt>
                <c:pt idx="2">
                  <c:v>G</c:v>
                </c:pt>
                <c:pt idx="3">
                  <c:v>H</c:v>
                </c:pt>
                <c:pt idx="4">
                  <c:v>K</c:v>
                </c:pt>
                <c:pt idx="5">
                  <c:v>J</c:v>
                </c:pt>
                <c:pt idx="6">
                  <c:v>A</c:v>
                </c:pt>
                <c:pt idx="7">
                  <c:v>B</c:v>
                </c:pt>
                <c:pt idx="8">
                  <c:v>E</c:v>
                </c:pt>
                <c:pt idx="9">
                  <c:v>C</c:v>
                </c:pt>
                <c:pt idx="10">
                  <c:v>D</c:v>
                </c:pt>
              </c:strCache>
            </c:strRef>
          </c:cat>
          <c:val>
            <c:numRef>
              <c:f>Sheet1!$B$2:$B$12</c:f>
              <c:numCache>
                <c:formatCode>General</c:formatCode>
                <c:ptCount val="11"/>
                <c:pt idx="0">
                  <c:v>0.3333333333333333</c:v>
                </c:pt>
                <c:pt idx="1">
                  <c:v>1.0</c:v>
                </c:pt>
                <c:pt idx="2">
                  <c:v>2.3333333333333335</c:v>
                </c:pt>
                <c:pt idx="3">
                  <c:v>3.0</c:v>
                </c:pt>
                <c:pt idx="4">
                  <c:v>11.666666666666666</c:v>
                </c:pt>
                <c:pt idx="5">
                  <c:v>12.666666666666666</c:v>
                </c:pt>
                <c:pt idx="6">
                  <c:v>12.666666666666666</c:v>
                </c:pt>
                <c:pt idx="7">
                  <c:v>13.333333333333334</c:v>
                </c:pt>
                <c:pt idx="8">
                  <c:v>13.666666666666666</c:v>
                </c:pt>
                <c:pt idx="9">
                  <c:v>13.666666666666666</c:v>
                </c:pt>
                <c:pt idx="10">
                  <c:v>34.0</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clase sigue el orden del capítulo 8 de Montgomery. Primero el propósito del diseño, su vocabulario y el repaso de la tabla del 2k. Después la resolución, que es la idea que organiza todo lo demás. Luego las fracciones de menor a mayor complejidad: la fracción un medio con sus ejemplos, cómo se encadenan las fracciones en secuencia, la fracción un cuarto y el caso general 2k−p con su análisis, su proyección y su separación en bloques. Al final, los diseños de resolución III con el doblez y los de Plackett-Burman, y los de resolución IV y V. Cierra con las ideas clave.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factorial 2k completo el número de corridas se duplica con cada factor que se agrega: con 7 factores ya son 128 corridas y con 10 son 1024. En las primeras etapas de una investigación suele haber muchos factores candidatos y pocos recursos, de modo que el factorial completo deja de ser viable.</a:t>
            </a:r>
          </a:p>
          <a:p/>
          <a:p>
            <a:r>
              <a:t>El factorial fraccionado corre solo una parte del factorial completo, elegida de forma que todavía se puedan estimar los efectos principales y las interacciones de orden bajo. El precio que se paga es que algunos efectos quedan mezclados entre sí (alias). Por eso su uso típico es el tamizado (cribado o screening): identificar, entre muchos factores, los pocos que realmente afectan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completo con N corridas tiene N − 1 grados de libertad para estimar efectos. La tabla muestra cómo se reparten. En un 26 hay 63 grados de libertad, pero solo 6 corresponden a efectos principales y 15 a interacciones de dos factores; los 42 restantes se gastan en interacciones de tres o más factores, que con frecuencia se pueden suponer despreciables.</a:t>
            </a:r>
          </a:p>
          <a:p/>
          <a:p>
            <a:r>
              <a:t>Si se acepta que esas interacciones de orden alto son despreciables, la información sobre efectos principales e interacciones dobles se puede obtener con una fracción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Escasez de efectos: cuando hay muchas variables, el sistema suele estar dominado por unos pocos efectos principales e interacciones de orden bajo.</a:t>
            </a:r>
          </a:p>
          <a:p/>
          <a:p>
            <a:r>
              <a:t>Proyección: si algunos factores resultan inactivos, el fraccionado se convierte en un diseño más fuerte (incluso un factorial completo, a veces con réplicas) en los factores que sí importan.</a:t>
            </a:r>
          </a:p>
          <a:p/>
          <a:p>
            <a:r>
              <a:t>Experimentación secuencial: no hay que correr todo de una vez. Se corre una fracción, se analiza y, si quedan dudas, se agrega otra fracción; juntas forman un diseño mayor que resuelve las ambigüedades.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cuando hay muchos factores (Montgomery señala que incluso con cuatro suele preferirse empezar con la fracción 24−1), cuando cada corrida es costosa o lenta, cuando se está en una etapa exploratoria y cuando es razonable suponer que las interacciones de tres o más factores son despreciables.</a:t>
            </a:r>
          </a:p>
          <a:p/>
          <a:p>
            <a:r>
              <a:t>No conviene cuando hay pocos factores y el factorial completo es barato, cuando se sabe que hay interacciones importantes entre muchos factores, o cuando se necesita un modelo detallado para optimizar: para eso están los factoriales completos y las superficies de respuesta, normalmente en una etapa posterior. Las conclusiones de un fraccionado son tentativas y deben confirmarse.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notación resume el diseño completo. La base 2 indica que cada factor tiene dos niveles (bajo y alto, codificados −1 y +1). k es el número de factores que se estudian. p es el número de generadores, es decir, cuántas veces se parte el factorial por la mitad. El diseño tiene N = 2k−p corridas y es una fracción 1/2p del factorial completo.</a:t>
            </a:r>
          </a:p>
          <a:p/>
          <a:p>
            <a:r>
              <a:t>Ejemplo: un 26−2 estudia 6 factores en 16 corridas, que es la cuarta parte de las 64 del factorial completo.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Generador: la interacción que define la fracción; por ejemplo ABCD en I = ABCD, que equivale a definir D = ABC. Palabra: cada interacción que aparece en la relación de definición, sea un generador o un producto de generadores.</a:t>
            </a:r>
          </a:p>
          <a:p/>
          <a:p>
            <a:r>
              <a:t>Relación de definición: el conjunto de todas las palabras iguales a la identidad I; incluye los generadores y todos sus productos.</a:t>
            </a:r>
          </a:p>
          <a:p/>
          <a:p>
            <a:r>
              <a:t>Alias: efectos que se estiman con la misma columna de signos (o con la opuesta, en una fracción alterna) y por tanto no se pueden distinguir. Una cadena de alias es el grupo completo de efectos que comparten columna.</a:t>
            </a:r>
          </a:p>
          <a:p/>
          <a:p>
            <a:r>
              <a:t>Fracción principal: la que se obtiene con todos los generadores en signo positivo. Las demás son fracciones alternas; todas juntas forman la familia.</a:t>
            </a:r>
          </a:p>
          <a:p/>
          <a:p>
            <a:r>
              <a:t>Diseño básico: el factorial completo en k − p factores sobre el que se construye la fracción.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fraccionar hay que saber leer la tabla del factorial completo, porque la fracción se recorta de ella. La tabla usa dos alfabetos. Las letras mayúsculas A, B, C encabezan las columnas y nombran los factores (y también sus efectos). Las letras minúsculas identifican las filas, es decir, las combinaciones de tratamientos: una letra presente indica que ese factor está en su nivel alto (+1) y una letra ausente indica que está en su nivel bajo (−1). Así, ac es la corrida con A y C altos y B bajo, y (1) es la corrida con todos los factores en nivel bajo.</a:t>
            </a:r>
          </a:p>
          <a:p/>
          <a:p>
            <a:r>
              <a:t>Las filas se escriben en el orden estándar o de Yates: se introduce un factor a la vez y se combina con todos los anteriores. Para tres factores: (1), a, b, ab, c, ac, bc, abc. En ese orden la columna A alterna −, +; la de B va de dos en dos y la de C de cuatro en cuatro. Montgomery usa la misma minúscula para nombrar la corrida y para denotar la respuesta (o el total de respuestas) observada en ella; por eso más adelante se escriben contrastes como a − b − c + abc. La letra I se reserva para la columna identidad, de modo que el noveno factor se llama J.</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columnas de los factores no bastan: hace falta una columna por cada efecto que el diseño puede estimar, y un 2k estima 2k − 1 efectos. Las columnas de las interacciones se obtienen multiplicando, fila por fila, los signos de los factores que las componen: en la corrida a, A es + y B es −, de modo que AB es −; en la corrida ab, ambos son + y AB es +. La columna ABC es el producto de las tres. Se agrega además la columna I, toda positiva, que corresponde al promedio general.</a:t>
            </a:r>
          </a:p>
          <a:p/>
          <a:p>
            <a:r>
              <a:t>La tabla completa tiene tres propiedades que se usan en todo el tema. Cada columna de efecto tiene la mitad de signos positivos y la mitad negativos (está balanceada). El producto de dos columnas cualesquiera es otra columna de la tabla, y una letra multiplicada por sí misma da I porque (±1)² = 1: A·AB = A²B = B. Las columnas son ortogonales entre sí, por lo que cada efecto se estima de forma independiente con su propio contraste: la suma de las respuestas multiplicadas por los signos de la columna, dividida entre N/2.</a:t>
            </a:r>
          </a:p>
          <a:p/>
          <a:p>
            <a:r>
              <a:t>De esta tabla sale la fracción: elegir media fracción es quedarse con las filas en que una columna de interacción tiene el mismo signo.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es una etiqueta que resume qué tan grave es la mezcla de efectos en un diseño fraccionado. Se escribe con número romano como subíndice: 23−1III se lee «dos a la tres menos uno, resolución tres».</a:t>
            </a:r>
          </a:p>
          <a:p/>
          <a:p>
            <a:r>
              <a:t>Montgomery la define así: un diseño es de resolución R cuando ningún efecto de p factores es alias de otro efecto que contenga menos de R − p factores. Leída de forma más sencilla: si dos efectos son alias, entre los dos suman al menos R letras.</a:t>
            </a:r>
          </a:p>
          <a:p/>
          <a:p>
            <a:r>
              <a:t>Con esa lectura se entiende cada caso. En resolución III, un efecto principal (1 letra) no puede ser alias de otro principal (1 + 1 = 2 letras), pero sí de una interacción doble (1 + 2 = 3). En resolución IV, un principal solo puede ser alias de una interacción triple (1 + 3 = 4), y dos interacciones dobles sí pueden ser alias entre sí (2 + 2 = 4). En resolución V, un principal solo se mezcla con interacciones de cuatro factores y una doble con triples (2 + 3 = 5).</a:t>
            </a:r>
          </a:p>
          <a:p/>
          <a:p>
            <a:r>
              <a:t>La resolución dice también qué hay que suponer despreciable para leer los resultados sin ambigüedad. Con resolución III, para interpretar un efecto principal hay que suponer que las interacciones dobles no existen; sirve para tamizar muchos factores cuando se cree que casi no hay interacciones. Con resolución IV basta suponer nulas las triples: los principales se estiman limpios y las dobles quedan en cadenas entre sí, de modo que se ve que una cadena es grande pero no cuál de sus interacciones la causa. Con resolución V, si las triples son despreciables, todos los principales y todas las dobles se estiman de forma única. Montgomery recomienda usar la resolución más alta que permita el grado de fraccionamiento: entre más alta, menos restrictivos son los supuestos necesarios para una interpretación única.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regla práctica es directa: la resolución es igual al número de letras de la palabra más corta de la relación de definición. Por eso Montgomery llama a los diseños de resolución III, IV y V diseños «de tres, cuatro y cinco letras».</a:t>
            </a:r>
          </a:p>
          <a:p/>
          <a:p>
            <a:r>
              <a:t>La razón es la regla de los alias. Si la palabra más corta tiene L letras, al multiplicarla por un efecto principal se obtiene un alias de L − 1 letras, y la suma de los dos es justamente L.</a:t>
            </a:r>
          </a:p>
          <a:p/>
          <a:p>
            <a:r>
              <a:t>La resolución la decide quien elige los generadores. En una fracción un medio, usar como generador la interacción de mayor orden da la resolución más alta posible, que es R = k. En una fracción un cuarto importa también la interacción generalizada: con E = ABC y F = BCD las tres palabras tienen cuatro letras (resolución IV); con E = ABC y F = ABCD aparece la palabra DEF, de tres letras, y el diseño baja a resolución III con el mismo número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parte de la tabla de signos del 23 completo y se conservan solo las corridas en las que la columna ABC es positiva: a, b, c y abc. ABC es el generador de la fracción y, como en esas corridas la columna ABC coincide con la columna identidad, se escribe I = ABC.</a:t>
            </a:r>
          </a:p>
          <a:p/>
          <a:p>
            <a:r>
              <a:t>Las otras cuatro corridas, (1), ab, ac y bc, forman la fracción alterna, I = −ABC. En el cubo se ve que cada fracción ocupa cuatro vértices no adyacentes y que, al proyectar sobre cualquier cara, queda un factorial 22 completo.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corridas solo hay tres grados de libertad. Al calcular el contraste de A se usa exactamente la misma combinación de corridas que para BC: las dos columnas de signos son idénticas dentro de la fracción. Por eso lo que se estima no es A sino A + BC. Se dice que A y BC son alias.</a:t>
            </a:r>
          </a:p>
          <a:p/>
          <a:p>
            <a:r>
              <a:t>Regla para obtenerlos: se multiplica el efecto por cada palabra de la relación de definición, recordando que cualquier letra al cuadrado es la identidad. Así A·ABC = A²BC = BC.</a:t>
            </a:r>
          </a:p>
          <a:p/>
          <a:p>
            <a:r>
              <a:t>En la fracción alterna (I = −ABC) los alias cambian de signo: se estima A − BC. Si se corren las dos fracciones, la semisuma y la semidiferencia de las dos estimaciones separan A de BC: ½(ℓA + ℓ′A) = ½(A + BC + A − BC) = A y ½(ℓA − ℓ′A) = BC.</a:t>
            </a:r>
          </a:p>
          <a:p/>
          <a:p>
            <a:r>
              <a:t>Las dos mitades del 23 son igual de válidas. La fracción principal, I = +ABC, tiene las corridas a, b, c y abc; la alterna o complementaria, I = −ABC, tiene las otras cuatro: (1), ab, ac y bc. Montgomery señala que en la práctica no importa cuál de las dos se corra; ambas pertenecen a la misma familia. Si después de correr una se corre también la otra, se tienen las ocho corridas del 23 completo, corrido en dos bloques de cuatro con ABC confundida con los bloques.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Método del diseño básico. Primero se escribe el factorial completo en k − 1 factores: tiene el número correcto de corridas pero le falta una columna. Después se agrega el último factor igualando sus signos a los de la interacción de mayor orden de los demás. Para cuatro factores: se escribe el 23 en A, B y C y se define D = ABC, lo que equivale a I = ABCD.</a:t>
            </a:r>
          </a:p>
          <a:p/>
          <a:p>
            <a:r>
              <a:t>Usar la interacción de mayor orden garantiza la resolución más alta posible, que en una fracción un medio es igual a k. La fracción alterna se obtiene con D = −ABC. Otra forma de verlo: se divide el 2k en dos bloques confundiendo la interacción de mayor orden, ABC···K; cada bloque es una fracción 2k−1 de máxima resolución.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Proyectar es mirar el diseño solo en algunos de sus factores, como si los demás no existieran. Montgomery enuncia la regla general: un fraccionado de resolución R contiene un factorial completo, posiblemente con réplicas, en cualquier subconjunto de R − 1 factores.</a:t>
            </a:r>
          </a:p>
          <a:p/>
          <a:p>
            <a:r>
              <a:t>La consecuencia práctica es útil: si se cree que a lo sumo R − 1 factores son importantes, un diseño de resolución R es la elección adecuada, porque si la sospecha es correcta el diseño se convierte en un factorial completo en los factores activos.</a:t>
            </a:r>
          </a:p>
          <a:p/>
          <a:p>
            <a:r>
              <a:t>Como la fracción un medio de máxima resolución tiene R = k, todo 2k−1 se proyecta en un factorial completo en cualesquiera k − 1 de sus factores, en dos réplicas de un completo en cualesquiera k − 2, en cuatro réplicas en cualesquiera k − 3, y así sucesivamente. El 23−1III se proyecta en un 22 completo en cualquier par de factores: es la figura 8-2 del libro, donde el cubo deja un cuadrado completo en cada una de sus tres caras.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En la planta piloto se quiere estudiar los factores que se cree influyen en el índice de filtración del producto (gal/h): A temperatura, B presión, C concentración de formaldehído y D velocidad de agitación, cada uno a dos niveles.</a:t>
            </a:r>
          </a:p>
          <a:p/>
          <a:p>
            <a:r>
              <a:t>Con las condiciones actuales la filtración ronda los 75 gal/h y el proceso trabaja con la concentración de formaldehído en el nivel alto. El ingeniero quiere reducir el formaldehído tanto como sea posible, pero hasta ahora cada intento ha bajado la filtración.</a:t>
            </a:r>
          </a:p>
          <a:p/>
          <a:p>
            <a:r>
              <a:t>El factorial completo 24 exige 16 corridas. Para ahorrar, se corre solo la mitad: 8 corridas, elegidas con D = ABC (I = ABCD). Cada combinación se corre una vez, en orden aleatorio.</a:t>
            </a:r>
          </a:p>
          <a:p/>
          <a:p>
            <a:r>
              <a:t>Objetivo: Encontrar las condiciones que maximizan la filtración y ver si se puede trabajar con menos formaldehído sin perderla</a:t>
            </a:r>
          </a:p>
          <a:p/>
          <a:p>
            <a:r>
              <a:t>Se pide: construir la fracción y escribir sus alias; estimar los efectos e identificar los activos; interpretar las cadenas de alias grandes; proponer el modelo y la mejor condición. Fuente: Montgomery, ejemplos 6-2 y 8-1.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enunciado de la diapositiva anterior: el factorial completo exigiría 16 corridas y se corre la fracción un medio con D = ABC, es decir I = ABCD, en 8 corridas.</a:t>
            </a:r>
          </a:p>
          <a:p/>
          <a:p>
            <a:r>
              <a:t>Es un diseño de resolución IV: cada efecto principal es alias de una interacción triple, y las interacciones dobles son alias por pares (AB = CD, AC = BD, AD = BC). Fuente de los datos: Montgomery, ejemplo 8-1.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muestra el efecto estimado con cada columna y la cadena de alias que realmente estima. Tres efectos principales son grandes: A (19.0), C (14.0) y D (16.5). También son grandes las cadenas AC + BD (−18.5) y AD + BC (19.0). B y AB + CD son pequeños.</a:t>
            </a:r>
          </a:p>
          <a:p/>
          <a:p>
            <a:r>
              <a:t>En la gráfica seminormal la recta de Daniel se traza solo con los efectos pequeños (B y AB + CD) y pasa por el origen: es lo que se esperaría si todos los efectos fueran ruido. Los otros cinco se apartan mucho de ella. Esa es la primera clasificación para el ANOVA: lo que se aleja de la recta entra al modelo (A, C, D, AC + BD y AD + BC) y lo que queda sobre ella (B y AB + CD) pasa al error. Esta gráfica es un cálculo propio: el libro solo presenta la tabla de efectos.</a:t>
            </a:r>
          </a:p>
          <a:p/>
          <a:p>
            <a:r>
              <a:t>Interpretación de las cadenas: como B no tiene efecto, es más razonable atribuir AC + BD a AC y AD + BC a AD. Montgomery lo justifica con la navaja de Ockham: la explicación más simple suele ser la correcta. El modelo tentativo es A, C, D, AC y 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ajusta el modelo con A, C, D, AC y AD. Los dos efectos descartados (B y AB) forman el error, con 2 grados de libertad. Los cinco términos son significativos al 5 %: todos tienen F0 mayor que F0.05, 1, 2 = 18.51 y valores p menores que 0.01. El modelo explica el 99.79 % de la variabilidad.</a:t>
            </a:r>
          </a:p>
          <a:p/>
          <a:p>
            <a:r>
              <a:t>Advertencia: esta tabla ANOVA no aparece en el libro, que en este ejemplo solo estima los efectos y da el modelo; se calculó aquí a partir de los datos. El error tiene solo 2 grados de libertad y se formó con los dos efectos más pequeños, elegidos después de ver los datos, de modo que los valores F y p son optimistas y los supuestos apenas se pueden verificar. La conclusión es tentativa.</a:t>
            </a:r>
          </a:p>
          <a:p/>
          <a:p>
            <a:r>
              <a:t>Interpretación: la temperatura (A) aumenta la filtración; el efecto de la concentración (C) depende de la temperatura (interacción AC negativa) y el de la agitación (D) también (interacción AD positiva). La presión (B) no influye, de modo que el diseño se proyecta en un 23 completo en A, C y D. La mejor condición es A alto, C bajo y D alto. El factorial completo original llegó a las mismas conclusiones con el doble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manufactura de un circuito integrado se quiere mejorar el rendimiento del proceso. Se investigan cinco factores a dos niveles: A ajuste de apertura (pequeña, grande), B tiempo de exposición (20 % por debajo y por encima del nominal), C tiempo de desarrollo (30 y 45 s), D tamaño de la máscara (pequeña, grande) y E tiempo de grabado (14.5 y 15.5 min).</a:t>
            </a:r>
          </a:p>
          <a:p/>
          <a:p>
            <a:r>
              <a:t>El factorial completo 25 exige 32 corridas. Se decide correr la mitad, 16 corridas, con E = ABCD (I = ABCDE), una sola réplica de cada combinación y en orden aleatorio.</a:t>
            </a:r>
          </a:p>
          <a:p/>
          <a:p>
            <a:r>
              <a:t>Sin réplicas no hay una estimación directa del error: la significancia de los efectos se tiene que juzgar con los propios efectos.</a:t>
            </a:r>
          </a:p>
          <a:p/>
          <a:p>
            <a:r>
              <a:t>Objetivo: Saber qué factores e interacciones afectan el rendimiento y en qué niveles conviene operar</a:t>
            </a:r>
          </a:p>
          <a:p/>
          <a:p>
            <a:r>
              <a:t>Se pide: identificar la resolución y los alias; estimar los 15 efectos y decidir cuáles son activos; ajustar el modelo reducido y validar los supuestos; recomendar las condiciones de operación.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enunciado de la diapositiva anterior: el factorial completo tendría 32 corridas y se corre la fracción un medio con E = ABCD (I = ABCDE) en 16 corridas. La tabla de la izquierda da los niveles de cada factor.</a:t>
            </a:r>
          </a:p>
          <a:p/>
          <a:p>
            <a:r>
              <a:t>Es de resolución V: los efectos principales son alias de interacciones de cuatro factores y las interacciones dobles de interacciones triples. Si las interacciones de tres o más factores son despreciables, todos los efectos principales y todas las interacciones dobles se estiman limpios.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y 15 efectos estimados no hay error, así que se usa la gráfica de probabilidad normal de los efectos. La recta de Daniel se ajusta con los efectos pequeños, que se comportan como ruido normal de media cero. Once efectos caen sobre ella alrededor de cero; cuatro se separan claramente: B (33.88), A (11.13), C (10.88) y AB (6.88).</a:t>
            </a:r>
          </a:p>
          <a:p/>
          <a:p>
            <a:r>
              <a:t>Esa es la primera clasificación para el ANOVA: los cuatro que se apartan forman el modelo reducido y los once que quedan sobre la recta se combinan como error, con 11 grados de libertad.</a:t>
            </a:r>
          </a:p>
          <a:p/>
          <a:p>
            <a:r>
              <a:t>El método de Lenth coincide: el pseudo error estándar es PSE = 0.9375 y el margen de error es ME = 2.41; solo esos cuatro efectos lo superan.</a:t>
            </a:r>
          </a:p>
          <a:p/>
          <a:p>
            <a:r>
              <a:t>Como el diseño es de resolución V, AB es alias de CDE, una interacción triple, y se atribuye a AB suponiendo que las interacciones triples son despreciables.</a:t>
            </a:r>
          </a:p>
          <a:p/>
          <a:p>
            <a:r>
              <a:t>El libro usa solo la gráfica normal en este ejemplo; el cálculo de Lenth y el Pareto se agregaron aquí.</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reducido incluye A, B, C y AB; los once efectos descartados forman el error con 11 grados de libertad. Los cuatro términos son altamente significativos (F0.05, 1, 11 = 4.84) y el modelo explica el 99.51 % de la variabilidad.</a:t>
            </a:r>
          </a:p>
          <a:p/>
          <a:p>
            <a:r>
              <a:t>Los tres efectos principales son positivos: el rendimiento aumenta con apertura grande, mayor tiempo de exposición y mayor tiempo de desarrollo. La interacción AB es positiva: el efecto de la apertura es mayor cuando el tiempo de exposición es alto.</a:t>
            </a:r>
          </a:p>
          <a:p/>
          <a:p>
            <a:r>
              <a:t>Como D y E no influyen, el diseño se proyecta en dos réplicas de un 23 en A, B y C. La mejor condición es A, B y C en nivel alto, con rendimiento promedio de 61.5. D y E se pueden fijar donde resulte más económico.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uso de fraccionados lleva con frecuencia a una gran economía, sobre todo si las corridas se pueden hacer en etapas. Con cuatro factores, en lugar de correr las 16 corridas del 24, Montgomery recomienda casi siempre correr primero la fracción 24−1IV de 8 corridas, analizarla y después decidir. Si quedan ambigüedades, se corre la fracción alterna y se completa el 24: las dos mitades funcionan como bloques del diseño completo, con la interacción de mayor orden (ABCD) confundida con los bloques, y eso es lo único que se pierde por haber experimentado en dos etapas. Muchas veces la primera fracción basta para pasar a la etapa siguiente sin correr la segunda.</a:t>
            </a:r>
          </a:p>
          <a:p/>
          <a:p>
            <a:r>
              <a:t>La figura 8-11 del libro, adaptada de Box (Sequential Experimentation and Sequential Assembly of Designs), resume las posibilidades de seguimiento después de un fraccionado inicial. Moverse a una nueva región para explorar una tendencia aparente de la respuesta. Agregar otra fracción para resolver las ambigüedades de la primera. Reescalar algunos factores, porque pudieron haberse variado en rangos inapropiados. Eliminar factores que resultaron insignificantes y agregar otros nuevos. Hacer réplicas para mejorar la precisión de las estimaciones o porque algunas corridas se hicieron mal. Y aumentar el diseño, por ejemplo con puntos centrales y axiales, para modelar una curvatura aparente.</a:t>
            </a:r>
          </a:p>
          <a:p/>
          <a:p>
            <a:r>
              <a:t>La idea de fondo es que el primer experimento casi nunca es el último: sirve para aprender y orientar el siguiente.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primera fracción del índice de filtración quedaron dos cadenas grandes: AC + BD = −18.5 y AD + BC = 19.0. Se atribuyeron a AC y AD porque B no parecía influir, pero esa decisión se apoyó en el juicio del analista.</a:t>
            </a:r>
          </a:p>
          <a:p/>
          <a:p>
            <a:r>
              <a:t>El ingeniero no quiere depender de ese juicio antes de cambiar el proceso. Tiene la posibilidad de volver a la planta piloto y hacer 8 corridas más.</a:t>
            </a:r>
          </a:p>
          <a:p/>
          <a:p>
            <a:r>
              <a:t>Decide correr la fracción alterna, I = −ABCD (D = −ABC): las ocho combinaciones del 24 que no se corrieron la primera vez.</a:t>
            </a:r>
          </a:p>
          <a:p/>
          <a:p>
            <a:r>
              <a:t>Objetivo: Separar AC de BD y AD de BC con datos, sin depender del juicio</a:t>
            </a:r>
          </a:p>
          <a:p/>
          <a:p>
            <a:r>
              <a:t>Se pide: construir la fracción alterna y escribir sus alias; estimar sus efectos; combinar las dos fracciones y aislar cada efecto; decidir qué interacciones son las reales. Fuente: Montgomery, ejemplo 8-3.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ejemplo 1 quedaron dos cadenas grandes, AC + BD y AD + BC. Atribuirlas a AC y AD fue una decisión razonable, pero se apoyó en el juicio del analista. Para no depender de él se corre la fracción alterna, I = −ABCD, que se construye con el mismo diseño básico pero con D = −ABC.</a:t>
            </a:r>
          </a:p>
          <a:p/>
          <a:p>
            <a:r>
              <a:t>Sus ocho corridas son las que faltaban del 24. En esta fracción todas las cadenas de alias cambian de signo: ℓ′A estima A − BCD y ℓ′AC estima AC − BD. Las estimaciones obtenidas son ℓ′A = 24.25, ℓ′B = 4.75, ℓ′C = 5.75, ℓ′D = 12.75, ℓ′AB = 1.25, ℓ′AC = −17.75 y ℓ′AD = 14.25. Fuente: Montgomery, ejemplo 8-3.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no depender del juicio del analista se corre la fracción alterna, con D = −ABC. Sus estimaciones ℓ′ tienen los alias con signo contrario: ℓ′A estima A − BCD.</a:t>
            </a:r>
          </a:p>
          <a:p/>
          <a:p>
            <a:r>
              <a:t>La semisuma de las dos estimaciones aísla el primer efecto de cada cadena y la semidiferencia el segundo. El resultado confirma la interpretación inicial: AC = −18.13 mientras BD = −0.38, y AD = 16.63 mientras BC = 2.38. Las interacciones reales eran AC y AD.</a:t>
            </a:r>
          </a:p>
          <a:p/>
          <a:p>
            <a:r>
              <a:t>Las 16 corridas forman el factorial 24 completo, corrido en dos bloques con ABCD confundida con bloques.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Agregar la fracción alterna es en sí un experimento de confirmación: aporta información que fortalece, o corrige, las conclusiones de la primera fracción.</a:t>
            </a:r>
          </a:p>
          <a:p/>
          <a:p>
            <a:r>
              <a:t>Montgomery menciona una forma más barata. Se usa el modelo ajustado para predecir la respuesta en un punto de interés dentro de la región explorada, que no sea uno de los puntos ya corridos. Después se corre ese ensayo, de preferencia varias veces, y se compara lo observado con lo predicho. Si coinciden dentro del error, el modelo queda respaldado; si no, falta algo en él.</a:t>
            </a:r>
          </a:p>
          <a:p/>
          <a:p>
            <a:r>
              <a:t>En el ejemplo 1, el modelo con A, C, D, AC y AD predice 70.75 en el centro de la región, donde todos los factores codificados valen cero. Correr unas cuantas veces en el centro y obtener valores cercanos a 70.75 confirmaría el modelo. Si el promedio en el centro se alejara mucho, indicaría además una curvatura que el diseño de dos niveles no puede ver.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 número moderadamente grande de factores suelen convenir fracciones más pequeñas. Una fracción un cuarto del 2k tiene 2k−2 corridas y necesita dos generadores, P y Q; las igualdades I = P e I = Q se llaman relaciones generadoras. Su producto PQ, la interacción generalizada, también pertenece a la relación de definición: I = P = Q = PQ, y cada efecto tiene tres alias, que se obtienen multiplicándolo por cada una de las tres palabras. Los signos de P y Q determinan cuál de las cuatro fracciones de la familia se obtiene; la que tiene P y Q positivos es la principal. Hay que elegir los generadores de modo que los efectos que pueden ser importantes no queden aliados entre sí.</a:t>
            </a:r>
          </a:p>
          <a:p/>
          <a:p>
            <a:r>
              <a:t>Ejemplo: 26−2 con E = ABC y F = BCD. Las palabras son ABCE, BCDF y su producto ADEF. La palabra más corta tiene cuatro letras, así que es resolución IV: los efectos principales son alias de interacciones de tres y cinco factores, y las interacciones dobles son alias entre sí y de interacciones de orden superior. Las 15 cadenas son seis de efectos principales, siete de interacciones dobles y dos formadas solo por interacciones triples.</a:t>
            </a:r>
          </a:p>
          <a:p/>
          <a:p>
            <a:r>
              <a:t>Construcción: se escribe el 24 completo en A, B, C y D (16 corridas) y se agregan las columnas E = ABC y F = BCD.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usa el método del diseño básico. Primero se escribe el factorial completo en k − 2 = 4 factores, A, B, C y D: tiene las 16 corridas necesarias pero solo cuatro columnas. Después se agregan los dos factores restantes asociando sus signos a dos interacciones elegidas de los primeros cuatro: E = ABC y F = BCD. Esto equivale a las relaciones generadoras I = ABCE e I = BCDF.</a:t>
            </a:r>
          </a:p>
          <a:p/>
          <a:p>
            <a:r>
              <a:t>Montgomery da otra forma de verlo: se divide el 26 en cuatro bloques confundiendo ABCE y BCDF, y se elige el bloque en que las dos son positivas. Ese bloque es la fracción principal.</a:t>
            </a:r>
          </a:p>
          <a:p/>
          <a:p>
            <a:r>
              <a:t>La tabla es la del libro (tabla 8-9) y es el diseño que se usa en el ejemplo 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la principal hay tres fracciones alternas, una por cada combinación de signos negativos en los generadores. Se construyen con el mismo diseño básico, cambiando el signo de la columna correspondiente. Por ejemplo, para la fracción con I = ABCE e I = −BCDF se usa F = −BCD, y la columna de F queda + + − − − − + + − − + + + + − −.</a:t>
            </a:r>
          </a:p>
          <a:p/>
          <a:p>
            <a:r>
              <a:t>Al cambiar el signo de un generador cambia también el de la interacción generalizada: la relación de definición de esa fracción es I = ABCE = −BCDF = −ADEF. Los alias se obtienen igual, arrastrando los signos: A = BCE = −DEF = −ABCDF, de modo que ℓA estima en realidad A + BCE − DEF − ABCDF.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tienda de café quiere mejorar el puntaje de sabor de su bebida (0 a 100, promedio de un panel de catadores). Se sospecha de tres factores, cada uno a dos niveles: A temperatura del agua (88 o 96 °C), B molienda (gruesa o fina) y C tiempo de infusión (3 o 4 min).</a:t>
            </a:r>
          </a:p>
          <a:p/>
          <a:p>
            <a:r>
              <a:t>Cada preparación consume un lote de café y una sesión del panel, así que solo hay presupuesto para 4 corridas, la mitad de las 8 del factorial 23. Se corre la fracción un medio con C = AB (I = ABC): las preparaciones a, b, c y abc. Si hace falta, más adelante se pueden pagar 4 corridas más.</a:t>
            </a:r>
          </a:p>
          <a:p/>
          <a:p>
            <a:r>
              <a:t>Se analizan dos situaciones posibles. Caso 1: el tiempo de infusión no influye en el sabor. Caso 2: el tiempo de infusión tampoco influye, pero la temperatura y la molienda interactúan. El experimentador no sabe cuál de las dos es la real; solo ve los cuatro puntajes.</a:t>
            </a:r>
          </a:p>
          <a:p/>
          <a:p>
            <a:r>
              <a:t>Objetivo: Ver, con cuentas a mano, qué se puede concluir con 4 corridas, cuándo la proyección basta y cuándo hace falta un doblez</a:t>
            </a:r>
          </a:p>
          <a:p/>
          <a:p>
            <a:r>
              <a:t>Se pide: escribir la fracción, la palabra y los alias; caso 1: calcular los contrastes y proyectar en A y B; caso 2: identificar la ambigüedad entre C y AB; caso 2: correr la fracción alterna y separar C de AB. Fuente: ejemplo construido para la clase, con datos inventados.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 que el sabor responde así (el experimentador no lo sabe): y = 70 + 5xA + 3xB. Es decir, A sube el puntaje en 10 puntos al pasar de bajo a alto, B lo sube en 6, y C no hace nada. Las cuatro corridas dan a = 72, b = 68, c = 62 y abc = 78.</a:t>
            </a:r>
          </a:p>
          <a:p/>
          <a:p>
            <a:r>
              <a:t>Los contrastes: ℓA = (a + abc − b − c)/2 = (72 + 78 − 68 − 62)/2 = 10, que estima A + BC. ℓB = (b + abc − a − c)/2 = 6, que estima B + AC. ℓC = (c + abc − a − b)/2 = 0, que estima C + AB.</a:t>
            </a:r>
          </a:p>
          <a:p/>
          <a:p>
            <a:r>
              <a:t>Lectura: ℓC = 0, así que C no influye (y AB tampoco, o tendrían que cancelarse exactamente, lo que es muy improbable). Se borra la columna C. En las columnas A y B quedan las cuatro combinaciones (+, −), (−, +), (−, −) y (+, +), cada una una vez: la fracción se proyectó en un 22 completo en A y B. Como A y B no forman una palabra (la única palabra es ABC), el resultado es un factorial completo, y ℓA = 10 y ℓB = 6 se atribuyen a A y B.</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suponga que la verdad oculta es y = 70 + 5xA + 3xB + 4xAxB: C sigue sin hacer nada, pero A y B interactúan (la molienda fina rinde más cuando el agua está caliente). Las mismas cuatro corridas dan a = 68, b = 64, c = 66 y abc = 82.</a:t>
            </a:r>
          </a:p>
          <a:p/>
          <a:p>
            <a:r>
              <a:t>Los contrastes son ℓA = 10, ℓB = 6 y ℓC = 8. Los tres son grandes, y aquí aparece el problema: ℓC = 8 estima C + AB. Hay dos explicaciones igual de lógicas: o el tiempo de infusión C sube el sabor en 8 puntos, o C no hace nada y lo que se ve es la interacción AB. Con estas cuatro corridas no hay forma de distinguirlas.</a:t>
            </a:r>
          </a:p>
          <a:p/>
          <a:p>
            <a:r>
              <a:t>La razón es que los tres factores aparentemente activos, A, B y C, forman la palabra ABC. Si se intenta proyectar en A, B y C, solo están 4 de las 8 combinaciones del 23: las que cumplen xAxBxC = +1. No hay proyección en un factorial completo, y la duda solo se resuelve corriendo las combinaciones que faltan.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corren las cuatro combinaciones que faltaban: (1), ab, ac y bc. Es la fracción alterna, I = −ABC (C = −AB). En una fracción 23−1 coincide con el doblez completo: se obtiene invirtiendo todos los signos de la primera (a = (+, −, −) pasa a ser (−, +, +) = bc). Los resultados son (1) = 66, ab = 82, ac = 68 y bc = 64.</a:t>
            </a:r>
          </a:p>
          <a:p/>
          <a:p>
            <a:r>
              <a:t>En la segunda fracción los alias cambian de signo, porque ahora xAxBxC = −1: ℓ′C estima C − AB, ℓ′A estima A − BC y ℓ′B estima B − AC. Se obtiene ℓ′C = −8.</a:t>
            </a:r>
          </a:p>
          <a:p/>
          <a:p>
            <a:r>
              <a:t>Combinando: ½(ℓC + ℓ′C) = ½(8 − 8) = 0 es el efecto de C, y ½(ℓC − ℓ′C) = ½(8 + 8) = 8 es la interacción AB. La duda queda resuelta: C no influye y lo que se veía era la interacción entre temperatura y molienda. De paso, A = 10 y B = 6, con BC = AC = 0.</a:t>
            </a:r>
          </a:p>
          <a:p/>
          <a:p>
            <a:r>
              <a:t>Las 8 corridas juntas forman el 23 completo. Las primeras cuatro no se desperdiciaron: se usaron en la combinación. Así funciona la experimentación secuencial.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Proyectar es lo que pasa con el diseño cuando, después del análisis, algunos factores resultan inactivos. Si un factor no influye en la respuesta, su columna ya no sirve para explicar nada y se puede borrar. Lo que queda son las columnas de los factores activos, y la pregunta es qué diseño forman esas columnas por sí solas.</a:t>
            </a:r>
          </a:p>
          <a:p/>
          <a:p>
            <a:r>
              <a:t>Para saberlo basta contar: se miran las 16 corridas solo en las columnas que quedan y se anota cuántas veces aparece cada combinación de signos.</a:t>
            </a:r>
          </a:p>
          <a:p/>
          <a:p>
            <a:r>
              <a:t>Ejemplo con el 26−2 (E = ABC, F = BCD). Suponga que solo A, B y C importan. Se borran D, E y F. En las columnas A, B y C aparecen las ocho combinaciones del 23, y cada una exactamente dos veces: la corrida 1 y la 9 son (−, −, −), la 2 y la 10 son (+, −, −), y así sucesivamente. Las 16 corridas son entonces dos réplicas completas de un 23.</a:t>
            </a:r>
          </a:p>
          <a:p/>
          <a:p>
            <a:r>
              <a:t>Eso tiene una consecuencia práctica: las dos corridas de cada par se hicieron en las mismas condiciones de A, B y C, así que su diferencia es error puro. El fraccionado no replicado se convierte en un factorial replicado con 16 − 8 = 8 grados de libertad para el error, y el ANOVA ya no depende de descartar efectos.</a:t>
            </a:r>
          </a:p>
          <a:p/>
          <a:p>
            <a:r>
              <a:t>Una pregunta frecuente: ¿cómo se sabe qué factores importan antes de correr? No hace falta saberlo. Antes de correr se aceptan dos principios generales, escasez de efectos (pocos factores importan) y jerarquía (las interacciones de tres o más factores casi siempre son despreciables), y con ellos se elige la resolución; si se sospecha que algunos factores importan más, se asignan a columnas que no formen una palabra. Se corre una sola vez la fracción y la gráfica de Daniel dice qué factores son activos. Recién entonces se pregunta qué diseño forman las corridas ya hechas en esos factores: eso es la proyección. Si los activos forman una palabra queda una ambigüedad entre alias, y se resuelve agregando corridas (fracción alterna o doblez) que se suman a las ya hechas; nunca se empieza de cero.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factores activos el resultado depende de cuáles sean. Hay 24 = 16 combinaciones posibles y 16 corridas, así que solo hay dos posibilidades: o aparecen todas una vez (factorial completo) o aparece la mitad dos veces (fracción replicada).</a:t>
            </a:r>
          </a:p>
          <a:p/>
          <a:p>
            <a:r>
              <a:t>Si los cuatro factores son A, B, C y D, se obtienen las 16 combinaciones, una vez cada una: es el diseño básico. Lo mismo pasa con un subconjunto menos obvio, como A, B, E y F: también aparecen las 16 combinaciones.</a:t>
            </a:r>
          </a:p>
          <a:p/>
          <a:p>
            <a:r>
              <a:t>Pero si los cuatro factores son A, B, C y E, solo aparecen 8 combinaciones, dos veces cada una. La razón es que ABCE es una palabra de la relación de definición: en todas las corridas el producto de los signos de A, B, C y E vale +1, porque E se construyó como ABC. Conocidos A, B y C, el signo de E queda fijado, y las combinaciones con E distinto de ABC nunca se corren. El resultado son dos réplicas de un 24−1 con I = ABCE, y en él E sigue confundido con ABC.</a:t>
            </a:r>
          </a:p>
          <a:p/>
          <a:p>
            <a:r>
              <a:t>Regla: un subconjunto de factores se proyecta en un factorial completo si no contiene ninguna palabra de la relación de definición. Por eso, al asignar factores a columnas, conviene que los que se creen más importantes no formen una palabra.</a:t>
            </a:r>
          </a:p>
          <a:p/>
          <a:p>
            <a:r>
              <a:t>Resumen para el 26−2 con I = ABCE = BCDF = ADEF: hay 15 subconjuntos de cuatro factores; tres son palabras (ABCE, BCDF y ADEF) y en ellos el diseño se pliega en dos réplicas de un 24−1; en los otros doce, como ABCD o ABCF, se proyecta en una réplica de un 24 completo. En cualquier subconjunto de tres factores se proyecta en dos réplicas de un 23, porque al ser de resolución IV ninguna palabra tiene tres letras y ningún trío queda amarrado; en cualquier par, en cuatro réplicas de un 22, que es lo que pasa en el ejemplo 3 con A y B. En general, un 2k−2 se pliega en un factorial completo o en un fraccionado en cualquier subconjunto de r ≤ k − 2 factores.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piezas fabricadas en un proceso de moldeo por inyección presentan una contracción excesiva, y eso causa problemas en las operaciones de ensamble posteriores.</a:t>
            </a:r>
          </a:p>
          <a:p/>
          <a:p>
            <a: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a:p/>
          <a:p>
            <a:r>
              <a:t>El factorial completo serían 64 corridas. El equipo usa un 26−2 de 16 corridas, con E = ABC y F = BCD, corridas en orden aleatorio.</a:t>
            </a:r>
          </a:p>
          <a:p/>
          <a:p>
            <a:r>
              <a:t>Objetivo: Aprender cómo afecta cada factor la contracción, algo de cómo interactúan y cómo reducirla</a:t>
            </a:r>
          </a:p>
          <a:p/>
          <a:p>
            <a:r>
              <a:t>Se pide: escribir la relación de definición y la resolución; identificar los efectos activos y sus alias; ajustar el modelo y hacer el ANOVA; proyectar en los factores activos e interpretar la interacción. Fuente: Montgomery, ejemplo 8-4.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diseño tiene 16 corridas y una sola réplica, así que no hay error puro: los 15 grados de libertad se gastan en 15 contrastes, uno por cadena de alias. Para decidir cuáles son reales, Montgomery usa la gráfica de probabilidad normal de los efectos (fig. 8-12). Aquí se le agrega la recta de Daniel, ajustada con los efectos pequeños, y el diagrama de Pareto.</a:t>
            </a:r>
          </a:p>
          <a:p/>
          <a:p>
            <a:r>
              <a:t>Cómo se lee. Los efectos nulos son solo ruido y caen sobre la recta, alrededor de cero; un efecto real se aparta de ella. Tres se apartan con claridad: B, velocidad del tornillo (35.63); A, temperatura del molde (13.88); y la cadena AB + CE (11.88). Todos son positivos: suben la contracción.</a:t>
            </a:r>
          </a:p>
          <a:p/>
          <a:p>
            <a:r>
              <a:t>¿Por qué AB y no CE? C y E no tienen efecto principal (−0.88 y 0.38). Por el principio de herencia, una interacción suele ser activa solo si alguno de sus factores lo es; A y B lo son, C y E no. Se atribuye la cadena a AB.</a:t>
            </a:r>
          </a:p>
          <a:p/>
          <a:p>
            <a:r>
              <a:t>Dos efectos quedan en una zona gris: AD + EF (−5.38) y ABF (−4.88). Son mucho menores que los tres anteriores. El método de Lenth da PSE = 0.9375, ME = 2.41 y SME = 4.89: los dos superan el ME, y AD + EF apenas supera el SME. Montgomery los deja fuera del modelo. En AD + EF, de los cuatro factores solo A es activo; D, E y F no tienen efecto principal (1.38, 0.38 y 0.38). ABF es una cadena de interacciones triples, que por jerarquía se suponen despreciables. Además, su tamaño no cambia las conclusiones. Quedan en el error.</a:t>
            </a:r>
          </a:p>
          <a:p/>
          <a:p>
            <a:r>
              <a:t>Primera clasificación para el ANOVA: al modelo A, B y AB; al error, los otros doce.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clasificación anterior se ajusta el modelo con A, B y AB. La tabla de la izquierda muestra las 15 cadenas, como la tabla 8-11 del libro, con su efecto y su suma de cuadrados; las tres que entran al modelo están resaltadas. Los doce efectos descartados forman el error, con 12 grados de libertad: su SS suma 248.75.</a:t>
            </a:r>
          </a:p>
          <a:p/>
          <a:p>
            <a:r>
              <a:t>El factor C también está en la tabla: su efecto es −0.875 y su SS 3.06, de modo que no cambia la contracción promedio y va al error.</a:t>
            </a:r>
          </a:p>
          <a:p/>
          <a:p>
            <a:r>
              <a:t>Hipótesis para cada término: H0: el efecto es cero; HA: no lo es. Los tres términos tienen F0 muy por encima de F0.05, 1, 12 = 4.75 y valores p menores que 0.001: se rechaza H0 en los tres. El modelo explica el 96.26 % de la variabilidad de la contracción.</a:t>
            </a:r>
          </a:p>
          <a:p/>
          <a:p>
            <a:r>
              <a:t>Lectura de los coeficientes: cada coeficiente es la mitad del efecto. La contracción promedio es 27.31; subir la velocidad del tornillo (B) la aumenta 17.81 por encima del promedio, subir la temperatura (A) la aumenta 6.94, y cuando las dos están altas se suma otro 5.94. Para reducir la contracción conviene A y B en nivel bajo.</a:t>
            </a:r>
          </a:p>
          <a:p/>
          <a:p>
            <a:r>
              <a:t>El libro no presenta esta tabla ANOVA; se calculó aquí a partir de los datos de la tabla 8-10. Fuente: Montgomery, ejemplo 8-4.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A y B resultaron activos, así que C, D, E y F se pueden borrar del diseño. Al contar combinaciones en las columnas de A y B, cada una de las cuatro aparece cuatro veces: el 26−2 se proyecta en cuatro réplicas de un 22, como dice la regla para cualquier par de factores de un diseño de resolución IV. La tabla muestra las cuatro contracciones de cada combinación y su promedio.</a:t>
            </a:r>
          </a:p>
          <a:p/>
          <a:p>
            <a:r>
              <a:t>Esa proyección explica el ANOVA anterior: con cuatro réplicas por combinación hay 4 × 3 = 12 grados de libertad de error puro, los mismos 12 del ANOVA del modelo A, B y AB.</a:t>
            </a:r>
          </a:p>
          <a:p/>
          <a:p>
            <a:r>
              <a:t>La gráfica de interacción se construye con los cuatro promedios. Con la velocidad del tornillo baja (B −) la contracción es pequeña y casi no depende de la temperatura: 8.50 y 10.50. Con B alta es grande y muy sensible a la temperatura: 32.25 y 58.00. Las rectas no son paralelas: eso es la interacción AB. La recomendación para reducir la contracción es trabajar con A y B en nivel bajo. Fuente: Montgomery, ejemplo 8-4 (fig. 8-13).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reglas se generalizan. Con p generadores independientes, la relación de definición completa tiene 2p − 1 palabras: los p generadores más todos sus productos. Cada efecto tiene 2p − 1 alias. El diseño solo permite estimar 2k−p − 1 cadenas de alias, una por cada grado de libertad.</a:t>
            </a:r>
          </a:p>
          <a:p/>
          <a:p>
            <a:r>
              <a:t>La resolución es la longitud de la palabra más corta. Para construirlo se escribe el factorial completo en k − p factores y se agregan p columnas definidas por los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procedimiento concreto tiene ocho pasos.</a:t>
            </a:r>
          </a:p>
          <a:p/>
          <a:p>
            <a:r>
              <a:t>1. Fijar cuántos factores hay (k) y cuántas corridas se pueden pagar (N). Como N = 2k−p, el número de generadores es p = k − log₂N. Con 6 factores y 16 corridas, p = 6 − 4 = 2.</a:t>
            </a:r>
          </a:p>
          <a:p>
            <a:r>
              <a:t>2. Decidir la resolución mínima que se necesita, según las interacciones que se está dispuesto a despreciar: III si solo interesan los efectos principales (tamizado), IV si los principales deben quedar libres de interacciones dobles, V si también las interacciones dobles deben quedar libres entre sí.</a:t>
            </a:r>
          </a:p>
          <a:p>
            <a:r>
              <a:t>3. Escribir el diseño básico: el factorial completo en los primeros k − p factores. En el ejemplo, el 24 en A, B, C y D, con sus 16 corridas.</a:t>
            </a:r>
          </a:p>
          <a:p>
            <a:r>
              <a:t>4. A cada factor que sobra se le asigna una columna de interacción del diseño básico: sus signos serán los de esa interacción. Si E = ABC, la columna de E es el producto de las columnas A, B y C, y el generador es I = ABCE (se multiplica E = ABC por E y E² = I). Cada factor nuevo debe usar una columna distinta.</a:t>
            </a:r>
          </a:p>
          <a:p>
            <a:r>
              <a:t>5. Multiplicar los generadores entre sí, de dos en dos, de tres en tres, etc., cancelando las letras repetidas (A² = I). Así se obtiene la relación de definición completa, con 2p − 1 palabras.</a:t>
            </a:r>
          </a:p>
          <a:p>
            <a:r>
              <a:t>6. La resolución es la longitud de la palabra más corta. Si es menor que la requerida en el paso 2, se vuelve al paso 4 con otras columnas.</a:t>
            </a:r>
          </a:p>
          <a:p>
            <a:r>
              <a:t>7. Si hay varios candidatos con la misma resolución, se escoge el de aberración mínima: el que tiene menos palabras de esa longitud mínima (siguiente diapositiva).</a:t>
            </a:r>
          </a:p>
          <a:p>
            <a:r>
              <a:t>8. Con el diseño elegido se escriben los alias de las interacciones que interesan y se asignan los factores reales a las letras, de modo que los que pueden interactuar no queden en la misma cadena.</a:t>
            </a:r>
          </a:p>
          <a:p/>
          <a:p>
            <a:r>
              <a:t>En el 26−2 de la tabla, el primer candidato (E = ABC, F = BCD) da tres palabras de cuatro letras: resolución IV. El segundo usa F = ABCD; como ABCE y ABCDF comparten las letras A, B y C, su producto es DEF, de solo tres letras, y la resolución baja a III. El tercero repite la columna ABCD para E y para F: el producto es EF y los dos factores quedan aliados entre sí (resolución II), por eso cada factor nuevo debe usar una columna distinta. La regla práctica es elegir generadores largos que compartan pocas letras. Con 16 corridas no existe un 26−2 de resolución V: haría falta asignar a E y a F columnas de cuatro letras distintas, y en el 24 la única es ABCD. Fuente: Montgomery, sección 8-4.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criterio: máxima resolución. Segundo criterio, para desempatar entre diseños de igual resolución: aberración mínima, es decir, el menor número de palabras de longitud mínima.</a:t>
            </a:r>
          </a:p>
          <a:p/>
          <a:p>
            <a:r>
              <a:t>Los pasos para comparar candidatos son: (1) escribir la relación de definición completa de cada uno; (2) anotar la longitud de cada palabra; (3) descartar los de menor resolución; (4) entre los que quedan, contar cuántas palabras tienen la longitud mínima y quedarse con el que tiene menos; (5) comprobarlo contando las cadenas de interacciones dobles aliadas entre sí, que es lo que realmente se pierde.</a:t>
            </a:r>
          </a:p>
          <a:p/>
          <a:p>
            <a:r>
              <a:t>La tabla compara tres diseños 27−2 de resolución IV. El diseño C tiene una sola palabra de cuatro letras, frente a tres y dos de los diseños A y B; por eso deja menos interacciones dobles confundidas entre sí y es el preferido. En la práctica no hay que buscar los generadores: las tablas de diseños recomendados ya entregan el diseño de máxima resolución y aberración mínima, y el software estadístico trae generadores predeterminados.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panadería quiere aumentar el volumen de su pan (mL). Se estudian cinco factores a dos niveles: A levadura (1 o 2 %), B temperatura del horno (180 o 200 °C), C tiempo de horneado (25 o 30 min), D azúcar (3 o 6 %) y E humedad de la masa (60 o 65 %).</a:t>
            </a:r>
          </a:p>
          <a:p/>
          <a:p>
            <a:r>
              <a:t>Cada corrida ocupa el horno una tarde. El presupuesto es de 8 corridas; con esfuerzo se podrían pagar 16. El panadero está seguro de que hay una interacción temperatura × tiempo y quiere que ningún efecto principal quede mezclado con ella; las interacciones de tres o más factores se consideran despreciables.</a:t>
            </a:r>
          </a:p>
          <a:p/>
          <a:p>
            <a:r>
              <a:t>Objetivo: Escoger los generadores con el procedimiento de ocho pasos.</a:t>
            </a:r>
          </a:p>
          <a:p/>
          <a:p>
            <a:r>
              <a:t>Se pide: calcular p con 8 corridas y la resolución que hace falta; probar generadores y decir si alguno alcanza esa resolución; decidir qué hacer si no alcanza: pagar más corridas o asignar bien los factores; escribir los alias del diseño elegido. Fuente: ejemplo construido para la clase.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Paso 1: k = 5 factores y N = 8 corridas, así que p = 5 − log₂8 = 5 − 3 = 2 generadores: es un 25−2, fracción un cuarto.</a:t>
            </a:r>
          </a:p>
          <a:p/>
          <a:p>
            <a:r>
              <a:t>Paso 2: el panadero quiere los efectos principales libres de la interacción temperatura × tiempo. Si no se sabe de antemano qué letras tocarán a esos dos factores, la forma segura es pedir resolución IV, en la que ningún efecto principal se mezcla con ninguna interacción doble.</a:t>
            </a:r>
          </a:p>
          <a:p/>
          <a:p>
            <a:r>
              <a:t>Paso 3: el diseño básico es el 23 completo en A, B y C, con 8 corridas. Sus columnas de interacción disponibles son cuatro: AB, AC, BC y ABC.</a:t>
            </a:r>
          </a:p>
          <a:p/>
          <a:p>
            <a:r>
              <a:t>Pasos 4 y 5: a D y a E se les asignan dos de esas columnas, distintas, y se multiplican los generadores. Con D = AB y E = AC los generadores son I = ABD e I = ACE, y su producto es BCDE. Con D = ABC y E = AB salen ABCD, ABE y CDE. Con D = ABC y E = BC salen ABCD, BCE y ADE.</a:t>
            </a:r>
          </a:p>
          <a:p/>
          <a:p>
            <a:r>
              <a:t>Paso 6: la palabra más corta tiene tres letras en los tres candidatos: resolución III. No es mala suerte: hay 12 maneras de asignar dos columnas a D y E y todas dan resolución III con dos palabras de tres letras. La razón es que solo hay una columna de tres letras (ABC); el otro factor recibe una columna de dos letras y su generador tiene tres. Conclusión: con 8 corridas la resolución IV es imposible para cinco factores.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la resolución IV no se alcanza con 8 corridas, hay dos caminos.</a:t>
            </a:r>
          </a:p>
          <a:p/>
          <a:p>
            <a:r>
              <a:t>Opción 1, pagar 16 corridas. Ahora p = 5 − 4 = 1. El diseño básico es el 24 en A, B, C y D, y E se asigna a la columna más larga, E = ABCD, con generador I = ABCDE. La única palabra tiene cinco letras: resolución V, más de lo pedido. Cada efecto principal queda aliado con una interacción de cuatro factores y cada interacción doble con una de tres, así que la interacción temperatura × tiempo se estima limpia. El paso 7 no hace falta porque hay un solo candidato de resolución V.</a:t>
            </a:r>
          </a:p>
          <a:p/>
          <a:p>
            <a:r>
              <a:t>Opción 2, quedarse en 8 corridas y aprovechar el paso 8. Con D = AB y E = AC (I = ABD = ACE = BCDE), las cadenas de alias, despreciando las interacciones de tres o más factores, son: A = BD = CE, B = AD, C = AE, D = AB, E = AC, BC = DE y BE = CD. Las interacciones BC, DE, BE y CD son las únicas que no están aliadas con ningún efecto principal. Por eso conviene dar a la temperatura y al tiempo las letras B y C: su interacción BC queda en la cadena BC = DE, junto a otra interacción doble pero lejos de los efectos principales. La asignación queda A levadura, B temperatura, C tiempo, D azúcar y E humedad, que es la del enunciado.</a:t>
            </a:r>
          </a:p>
          <a:p/>
          <a:p>
            <a:r>
              <a:t>El costo de la opción 2: la levadura (A) queda aliada con las interacciones temperatura × azúcar (BD) y tiempo × humedad (CE), y cada uno de los otros efectos principales queda aliado con una interacción doble. Si el panadero cree que esas interacciones no existen, las 8 corridas bastan; si duda, la opción 1 es la segura. Es exactamente la lógica del procedimiento: el paso 6 dice que el diseño pequeño no da la resolución pedida y el paso 8 permite proteger la única interacción que se teme.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reúne los diseños de máxima resolución y aberración mínima para 3 a 8 factores con un máximo de 32 corridas. Se lee por filas: número de factores, diseño con su resolución, corridas y generadores. Todos los generadores admiten signo positivo o negativo; con todos positivos se obtiene la fracción principal.</a:t>
            </a:r>
          </a:p>
          <a:p/>
          <a:p>
            <a:r>
              <a:t>Nota para quien coteje con el libro: la tabla 8-14 de Montgomery imprime el 27−3 con resolución III. Es una errata: todas las palabras de su relación de definición tienen cuatro letras y el propio texto lo trata como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8-5 de Montgomery, resuelto con el procedimiento de ocho pasos. Se tienen siete factores, interesa estimar los siete efectos principales y tener una idea de las interacciones dobles, y se está dispuesto a suponer despreciables las interacciones de tres o más factores.</a:t>
            </a:r>
          </a:p>
          <a:p/>
          <a:p>
            <a:r>
              <a:t>Paso 2 primero, porque es el que fija la exigencia: los efectos principales no deben mezclarse con interacciones dobles, así que se pide resolución IV. No se pide V porque basta con una idea de las interacciones dobles; no hace falta estimarlas por separado.</a:t>
            </a:r>
          </a:p>
          <a:p/>
          <a:p>
            <a:r>
              <a:t>Paso 1: se recorren los tamaños posibles, de menor a mayor, y se busca el más pequeño que alcance la resolución IV. Con N = 8 corridas, p = 7 − 3 = 4: el diseño básico es el 23 en A, B y C, que solo tiene cuatro columnas de interacción (AB, AC, BC y ABC). Los cuatro factores nuevos las ocupan todas, tres de ellos reciben columnas de dos letras y sus generadores tienen tres letras: el diseño es forzosamente de resolución III (es el 27−4III). Con N = 16, p = 3: existe el 27−3IV. Con N = 32, p = 2: el 27−2IV. Con N = 64, p = 1: el 27−1VII, con I = ABCDEFG.</a:t>
            </a:r>
          </a:p>
          <a:p/>
          <a:p>
            <a:r>
              <a:t>Entre los que cumplen se elige el más pequeño. El de 16 corridas deja los siete efectos principales aliados solo con interacciones triples y las interacciones dobles en grupos de tres: cumple el objetivo. El de 32 corridas estimaría además de forma única 15 de las 21 interacciones dobles, más información de la que se pidió, al doble de costo. Se elige el 27−3IV de 16 corridas.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Paso 3: el diseño básico es el 24 completo en A, B, C y D, con 16 corridas.</a:t>
            </a:r>
          </a:p>
          <a:p/>
          <a:p>
            <a:r>
              <a:t>Paso 4: hay que darle a E, F y G tres columnas de interacción distintas. El 24 tiene once: seis de dos letras (AB, AC, AD, BC, BD, CD), cuatro de tres letras (ABC, ABD, ACD, BCD) y una de cuatro (ABCD). Hay 165 maneras de escoger tres; solo 4 dan resolución IV, y son las que usan tres de las cuatro columnas de tres letras. Una columna de dos letras da un generador de tres letras (resolución III). Usar ABCD también falla: con E = ABC y G = ABCD los generadores ABCE y ABCDG comparten A, B y C, y su producto es DEG, de tres letras. Se toma E = ABC, F = BCD y G = ACD, como en la tabla 8-15.</a:t>
            </a:r>
          </a:p>
          <a:p/>
          <a:p>
            <a:r>
              <a:t>Paso 5: con tres generadores la relación de definición completa tiene 23 − 1 = 7 palabras: los tres generadores, los tres productos de dos en dos (ABCE·BCDF = ADEF, ABCE·ACDG = BDEG, BCDF·ACDG = ABFG) y el producto de los tres (CEFG).</a:t>
            </a:r>
          </a:p>
          <a:p/>
          <a:p>
            <a:r>
              <a:t>Paso 6: las siete palabras tienen cuatro letras: resolución IV, la pedida.</a:t>
            </a:r>
          </a:p>
          <a:p/>
          <a:p>
            <a:r>
              <a:t>Paso 7: las cuatro asignaciones que dan resolución IV tienen el mismo patrón, siete palabras de cuatro letras, así que no hay nada que desempatar.</a:t>
            </a:r>
          </a:p>
          <a:p/>
          <a:p>
            <a:r>
              <a:t>Paso 8: cada efecto principal queda aliado con cuatro interacciones triples (por ejemplo A = BCE = BFG = CDG = DEF) y las 21 interacciones dobles forman 7 cadenas de tres: AB = CE = FG, AC = BE = DG, AD = CG = EF, AE = BC = DF, AF = BG = DE, AG = BF = CD y BD = CF = EG. Para asignar los factores reales, Montgomery aconseja (molino de bolas) poner en A, B, C y D los factores que se creen importantes y que pueden interactuar, y en E, F y G las variables menores. Si las menores resultan inactivas, el diseño se proyecta en un 24 completo en los factores clave. Fuente: Montgomery, ejemplo 8-5, tabla 8-15 y sección de proyección.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experimental tiene ocho pasos. Se define la respuesta y los factores con sus dos niveles. Se decide qué interacciones se está dispuesto a despreciar, y de ahí sale la resolución necesaria. Se elige el diseño de la tabla y se revisa su estructura de alias antes de correr. Se asignan los factores reales a las letras cuidando que los más importantes no queden aliados entre sí. Se construye la matriz de diseño. Se aleatoriza el orden de las corridas. Se ejecuta registrando el orden real, y se planea desde el principio una corrida de confirmación o una segunda fracción.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sortea el orden en que se ejecutan las corridas, de modo que los efectos de variables no controladas (tiempo, desgaste, lote, operario) se repartan al azar y no se confundan con los factores. La tabla muestra un 24−1 ya aleatorizado: la primera corrida que se ejecuta es la que el sorteo dejó en primer lugar, no la primera del orden estándar.</a:t>
            </a:r>
          </a:p>
          <a:p/>
          <a:p>
            <a:r>
              <a:t>En cada corrida se reajustan todos los niveles, aunque coincidan con los de la corrida anterior. Se conserva el orden de corrida porque se necesita para verificar el supuesto de independencia. Si no es posible hacer todas las corridas en condiciones homogéneas, se forman bloques confundiendo con ellos una cadena de alias de orden alto.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es el mismo del factorial 2k: un modelo de regresión en variables codificadas, donde cada x vale −1 o +1. β0 es la media general, y cada coeficiente se estima con la mitad del efecto correspondiente: βj con la mitad del efecto principal del factor j y βij con la mitad del efecto de la interacción. El error ε se supone normal, independiente, con media cero y varianza constante σ².</a:t>
            </a:r>
          </a:p>
          <a:p/>
          <a:p>
            <a:r>
              <a:t>La diferencia con el factorial completo es que no todos los términos se pueden estimar por separado. Cada columna del diseño estima una cadena de alias completa: el efecto que nos interesa más todos sus alias. El modelo final incluye un solo término por cada cadena que resulte activa, el que se juzga más razonable; las cadenas inactivas quedan fuera.</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plantea una hipótesis por cada cadena de alias que se quiere probar. La hipótesis nula dice que el efecto de la cadena es cero y la alterna que es distinto de cero.</a:t>
            </a:r>
          </a:p>
          <a:p/>
          <a:p>
            <a:r>
              <a:t>Montgomery no plantea hipótesis en el capítulo de fraccionados; en el del 2k plantea la hipótesis global de que todos los coeficientes son cero y luego prueba cada efecto con F. La formulación por cadena es la adaptación de esa idea al fraccionado.</a:t>
            </a:r>
          </a:p>
          <a:p/>
          <a:p>
            <a:r>
              <a:t>Lo que realmente se prueba es la cadena completa: rechazar H0 para la columna de A significa que A + BCD es distinto de cero. Atribuirlo a A es una decisión del analista, apoyada en el supuesto de que BCD es despreciable.</a:t>
            </a:r>
          </a:p>
          <a:p/>
          <a:p>
            <a:r>
              <a:t>Regla de decisión: se rechaza H0 si F0 supera el valor crítico Fα, 1, gl del error, o de forma equivalente si el valor p es menor que α = 0.05.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ejemplo 1 (índice de filtración, 24−1 con I = ABCD). La relación de definición dice que A = BCD: en las ocho corridas de la fracción, la columna de signos de A y la columna de la interacción BCD (producto de las columnas B, C y D) son idénticas, como muestra la tabla. No es una aproximación: son la misma columna.</a:t>
            </a:r>
          </a:p>
          <a:p/>
          <a:p>
            <a:r>
              <a:t>El efecto se estima con el contraste de esa columna: ℓA = (suma de las respuestas con signo + menos suma de las respuestas con signo −) / 4 = (321 − 245) / 4 = 19.00. Como la columna es la misma, el número 19.00 es a la vez el contraste de A y el de BCD. Lo que mide es la suma de los dos efectos: ℓA estima A + BCD (en coeficientes, β̂A estima βA + βBCD).</a:t>
            </a:r>
          </a:p>
          <a:p/>
          <a:p>
            <a:r>
              <a:t>Por eso varios «mundos» distintos producen exactamente los mismos datos: que A valga 19.00 y BCD cero; que A sea cero y BCD valga 19.00; o que se repartan, por ejemplo 10 y 9. Los datos no pueden distinguirlos. Incluso puede pasar lo contrario: si A valiera 19 y BCD −19, la columna daría cero y A parecería inactivo aunque no lo es (cancelación; es rara, pero posible).</a:t>
            </a:r>
          </a:p>
          <a:p/>
          <a:p>
            <a:r>
              <a:t>Conclusión: la prueba F de la columna de A no puede referirse a A sola, porque los datos no contienen información sobre A sola. La única hipótesis que los datos pueden juzgar es la de la cadena: H0: βA + βBCD = 0 frente a HA: βA + βBCD ≠ 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se hace en dos momentos que conviene no mezclar.</a:t>
            </a:r>
          </a:p>
          <a:p/>
          <a:p>
            <a:r>
              <a:t>Primero la decisión estadística, que es sobre la cadena. Si F0 supera el valor crítico (o el valor p es menor que α), se rechaza H0 y se concluye que la cadena está activa: al menos uno de sus efectos es distinto de cero. Si no se rechaza, se concluye que la cadena no muestra efecto; lo usual es que todos sus términos sean nulos, aunque no se puede descartar una cancelación.</a:t>
            </a:r>
          </a:p>
          <a:p/>
          <a:p>
            <a:r>
              <a:t>Después viene la atribución, que no es estadística: decidir a qué término de la cadena se le adjudica el efecto. Se hace con supuestos y conocimiento del proceso, y hay que decirlo en el informe. Hay dos herramientas. La jerarquía (escasez de efectos): las interacciones de orden alto son raras, así que en A + BCD el efecto se atribuye a A. La herencia: una interacción suele ser importante cuando sus factores también lo son. En una cadena de dos interacciones dobles, como AC + BD, la jerarquía no decide (ambas son dobles); como A y C resultaron activos y B no, se atribuye a AC.</a:t>
            </a:r>
          </a:p>
          <a:p/>
          <a:p>
            <a:r>
              <a:t>En el ejemplo 1 el ANOVA del modelo reducido rechaza H0 en las cinco cadenas que entraron: A + BCD (F0 = 222.15, p = 0.0045), C + ABD (F0 = 120.62), D + ABC (F0 = 167.54), AC + BD (F0 = 210.62) y AD + BC (F0 = 222.15), con 1 y 2 grados de libertad. Las tres primeras se atribuyen a los efectos principales por jerarquía y las dos últimas a AC y AD por herencia.</a:t>
            </a:r>
          </a:p>
          <a:p/>
          <a:p>
            <a:r>
              <a:t>¿Cómo se sabe entonces qué término de la cadena produce el efecto? Ninguna herramienta estadística del fraccionado ve factores: la gráfica normal de Daniel, el diagrama de Pareto y el ANOVA usan el mismo contraste de cada columna, y en el 24−1 con I = ABCD la columna de A es la columna de BCD; el punto de la gráfica normal es el de «A + BCD», no el de A. La pregunta se resuelve en tres capas. Antes de correr, con la resolución: en resolución III un principal queda aliado con dobles y la duda es real; en IV solo con triples, de modo que atribuirle el efecto al principal es un riesgo pequeño y conocido, y las dobles quedan aliadas entre sí; en V los principales quedan con cuádruples y las dobles con triples. Después de correr, con la atribución razonada de arriba (jerarquía, herencia, conocimiento del proceso), que es razonamiento, no prueba, y se declara en el informe. Y para saberlo con datos, más corridas: la fracción alterna o el doblez cambian el signo de los alias, y al combinar las dos fracciones los términos se separan. En el ejemplo 1, con la fracción alterna del ejemplo 8-3: A = (19.00 + 24.25) / 2 = 21.63 y BCD = −2.63; AC = −18.13 y BD = −0.38; AD = 16.63 y BC = 2.38. La jerarquía y la herencia habían acertado. Otras salidas: el doblez de un solo factor separa ese factor y todas sus interacciones dobles, y una corrida de confirmación verifica que la respuesta predicha con el modelo atribuido coincide con la observada. En resumen: la prueba responde si la cadena pesa; qué término pesa lo acota la resolución, lo razonan la jerarquía y la herencia, y lo confirman las corridas adicionales. Por eso las conclusiones de un fraccionado son tentativas hasta confirmarlas.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de análisis tiene siete pasos. Se calculan los contrastes y los efectos de todas las cadenas de alias. Se identifican los efectos activos: si no hay réplicas, con la gráfica de probabilidad normal o seminormal y el diagrama de Pareto. Se interpreta cada cadena activa para decidir a qué efecto se atribuye. Se ajusta el modelo reducido y se construye la tabla ANOVA, usando los efectos descartados como error. Se verifican los supuestos con los residuos. Se interpretan los efectos con gráficas de efectos principales, de interacción y de cubo. Por último se informa la conclusión en términos del problema del investigador y se confirma.</a:t>
            </a:r>
          </a:p>
          <a:p/>
          <a:p>
            <a:r>
              <a:t>Es una adaptación del procedimiento de seis pasos que Montgomery da para el 2k: estimar efectos, formar el modelo inicial, hacer las pruebas, refinar el modelo, analizar residuales e interpretar.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cada columna de signos se calculan cuatro cantidades. El contraste es la suma de las respuestas multiplicadas por los signos de la columna. El efecto es el contraste dividido entre N/2: la diferencia entre el promedio de la respuesta en el nivel alto y en el nivel bajo. El coeficiente de regresión es la mitad del efecto. La suma de cuadrados, con un grado de libertad, es el contraste al cuadrado dividido entre N.</a:t>
            </a:r>
          </a:p>
          <a:p/>
          <a:p>
            <a:r>
              <a:t>La última columna muestra el cálculo para el factor A del ejemplo 1 (N = 8): contraste 76, efecto 19.00, coeficiente 9.50 y suma de cuadrados 722.</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efecto que entra al modelo aporta una fila con un grado de libertad; su cuadrado medio es igual a su suma de cuadrados. El error se obtiene por sustracción: la suma de cuadrados total menos las de los m efectos del modelo, con N − 1 − m grados de libertad. Ese error está formado por los efectos que se juzgaron inactivos.</a:t>
            </a:r>
          </a:p>
          <a:p/>
          <a:p>
            <a:r>
              <a:t>El estadístico de prueba de cada efecto es F0 = MS del efecto / MS del error, que se compara con F de 1 y N − 1 − m grados de libertad.</a:t>
            </a:r>
          </a:p>
          <a:p/>
          <a:p>
            <a:r>
              <a:t>Si el diseño tiene n réplicas, N = n·2k−p y el error incluye además el error puro, con 2k−p(n − 1) grados de libertad.</a:t>
            </a:r>
          </a:p>
          <a:p/>
          <a:p>
            <a:r>
              <a:t>Montgomery presenta esta tabla para el 2k con réplicas; la versión para el fraccionado es la misma con N = 2k−p y coincide con las ANOVA de sus ejemplos.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el modelo completo consume todos los grados de libertad y no queda error para hacer pruebas F. Hay tres herramientas.</a:t>
            </a:r>
          </a:p>
          <a:p/>
          <a:p>
            <a:r>
              <a:t>La gráfica de probabilidad normal (o seminormal) de los efectos: los efectos inactivos se comportan como ruido normal de media cero y caen sobre una recta; los activos se alejan de ella.</a:t>
            </a:r>
          </a:p>
          <a:p/>
          <a:p>
            <a:r>
              <a:t>El método de Lenth, que traza la línea de referencia del diagrama de Pareto: estima un pseudo error estándar (PSE) a partir de la mediana de los efectos y declara activo todo efecto cuyo valor absoluto supere el margen de error.</a:t>
            </a:r>
          </a:p>
          <a:p/>
          <a:p>
            <a:r>
              <a:t>Montgomery advierte que el método de Lenth solo es razonable cuando hay pocos efectos activos y recomienda usarlo como complemento de la gráfica normal. En el ejemplo 1, donde cinco de siete efectos son grandes, Lenth no detecta ninguno (PSE = 24.75).</a:t>
            </a:r>
          </a:p>
          <a:p/>
          <a:p>
            <a:r>
              <a:t>Y los principios de interpretación de cadenas: escasez de efectos (Montgomery lo nombra en la introducción del capítulo), jerarquía (los efectos de orden bajo son más probables; Montgomery lo invoca en el ejemplo 8-6, pág. 335, para conservar el factor D en el modelo junto con la interacción AD) y herencia (una interacción es más creíble si sus factores tienen efecto principal; este nombre es usual en otros textos, como Wu y Hamada).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pruebas F del ANOVA son válidas si los errores son normales, tienen varianza constante y son independientes. Los errores no se observan, así que se trabaja con los residuos: la diferencia entre cada respuesta observada y el valor que predice el modelo ajustado.</a:t>
            </a:r>
          </a:p>
          <a:p/>
          <a:p>
            <a:r>
              <a:t>Montgomery verifica los supuestos con gráficas de residuales y solo da pruebas formales para la igualdad de varianzas (Bartlett y Levene modificada). Siguiendo la estructura de la clase, aquí se propone además una prueba analítica para cada supuesto; Anderson-Darling, Shapiro-Wilk y Durbin-Watson no provienen del libro. Normalidad: gráfica de probabilidad normal de los residuos y prueba de Anderson-Darling o Shapiro-Wilk. Varianza constante: gráfica de residuos contra valores ajustados y contra cada factor, y prueba de Bartlett o de Levene modificada; Bartlett es muy sensible a la falta de normalidad y no debe usarse si esta está en duda. Independencia: gráfica de residuos contra el orden de corrida y prueba de Durbin-Watson.</a:t>
            </a:r>
          </a:p>
          <a:p/>
          <a:p>
            <a:r>
              <a:t>En un fraccionado sin réplicas los residuos provienen de los efectos descartados; si el modelo deja pocos grados de libertad para el error, la verificación tiene poca potencia.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H0: los residuos siguen una distribución normal; HA: no la siguen.</a:t>
            </a:r>
          </a:p>
          <a:p/>
          <a:p>
            <a:r>
              <a:t>Prueba gráfica: en la gráfica de probabilidad normal los 16 residuos se alinean razonablemente sobre una recta, sin puntos alejados.</a:t>
            </a:r>
          </a:p>
          <a:p/>
          <a:p>
            <a:r>
              <a:t>Prueba analítica: el estadístico de Anderson-Darling es A² = 0.314, con valor p = 0.513. Como el valor p es mayor que 0.05, no se rechaza H0: los residuos son normales.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Varianza constante: en la gráfica de residuos contra valores ajustados los puntos forman una banda horizontal, sin forma de embudo; la dispersión es similar para rendimientos bajos y altos. No hay evidencia contra el supuesto.</a:t>
            </a:r>
          </a:p>
          <a:p/>
          <a:p>
            <a:r>
              <a:t>Independencia: se verifica graficando los residuos contra el orden real de corrida y con la prueba de Durbin-Watson. Requiere haber registrado el orden de corrida durante el experimento; el ejemplo del libro no lo reporta, así que aquí no se puede calcular. Por eso el protocolo insiste en aleatorizar y guardar ese orden.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falla la normalidad: revisar datos atípicos y errores de registro, y considerar una transformación de la respuesta; el ANOVA es robusto a desviaciones moderadas.</a:t>
            </a:r>
          </a:p>
          <a:p/>
          <a:p>
            <a:r>
              <a:t>Si la varianza no es constante: transformar la respuesta (logaritmo, raíz cuadrada, recíproco; la elección puede guiarse por la relación entre la desviación estándar y la media, o por el método de Box-Cox).</a:t>
            </a:r>
          </a:p>
          <a:p/>
          <a:p>
            <a:r>
              <a:t>Si falla la independencia: es un problema potencialmente serio y difícil de corregir; la aleatorización es la principal forma de prevenirlo. Si existe una fuente identificable (tiempo, lote), debe controlarse en experimentos futuros o incluirse en el análisis como bloque o covariable.</a:t>
            </a:r>
          </a:p>
          <a:p/>
          <a:p>
            <a:r>
              <a:t>Si el modelo deja residuos con patrón: probablemente falta un término; hay que revisar las cadenas de alias y, si es necesario, agregar corridas.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R contiene un factorial completo en cualquier subconjunto de R − 1 factores, y en general un 2k−p se proyecta en un factorial completo en cualquier subconjunto de factores que no contenga una palabra de la relación de definición; si la contiene, queda un fraccionado con réplicas. Si al analizar solo unos pocos factores resultan activos, el diseño se convierte, sin correr nada más, en un factorial completo (posiblemente con réplicas) en ellos. La proyección permite entonces asignar los factores con estrategia. En el 27−3IV de 16 corridas hay 35 subconjuntos de cuatro factores; siete son palabras de la relación de definición y los otros 28 forman un 24 completo. Uno de ellos, el más obvio, es el de las columnas del diseño básico: A, B, C y D.</a:t>
            </a:r>
          </a:p>
          <a:p/>
          <a:p>
            <a:r>
              <a:t>Montgomery lo ilustra con un molino de bolas con siete factores. Se tiene bastante certeza de que la velocidad del motor, el modo de alimentación, el tamaño de la alimentación y el tipo de material afectan la eficiencia y pueden interactuar; se sabe menos de la muesca, el ángulo de la criba y el nivel de vibración, que probablemente son insignificantes. La estrategia es asignar los cuatro primeros a las columnas A, B, C y D y las «variables menores» a E, F y G. Si se está en lo correcto y estas resultan despreciables, queda un 24 completo en las variables clave.</a:t>
            </a:r>
          </a:p>
          <a:p/>
          <a:p>
            <a:r>
              <a:t>Las conclusiones obtenidas así deben considerarse tentativas: suele haber explicaciones alternativas basadas en interacciones de orden superior.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toma el ejemplo 3, el moldeo por inyección: un 26−2IV de 16 corridas con I = ABCE = BCDF = ADEF. Supóngase que la inyectora solo permite hacer 8 corridas por turno, así que el experimento se corre en dos partes: 8 corridas en la mañana y 8 en la tarde. Por la tarde la máquina está más caliente y las piezas se contraen un poco más, digamos 5 unidades más en todas las corridas de la tarde, sin importar los factores.</a:t>
            </a:r>
          </a:p>
          <a:p/>
          <a:p>
            <a:r>
              <a:t>Cada uno de esos grupos de corridas hechas en las mismas condiciones (el mismo turno) es un bloque. El turno no es un factor que interese estudiar: es una fuente de variación molesta que no se puede eliminar. Formar bloques significa decidir de antemano qué corridas van en cada parte, de modo que esa diferencia no estropee los efectos que sí interesan. Es exactamente lo que se pregunta: tomar una fracción, aquí un 26−2, y correrla por secciones.</a:t>
            </a:r>
          </a:p>
          <a:p/>
          <a:p>
            <a:r>
              <a:t>La pregunta concreta es qué 8 corridas se hacen en la mañana. La forma ingenua es hacer las 8 primeras del orden estándar en la mañana y las 8 últimas en la tarde. La tabla muestra el problema: en el orden estándar del diseño básico, D es la columna que cambia más despacio, así que las corridas 1 a 8 tienen todas D en nivel bajo y las corridas 9 a 16 tienen todas D en nivel alto. El turno y el factor D quedan perfectamente mezclados: cualquier diferencia entre mañana y tarde se va a leer como efecto de 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ver el daño se toman los datos reales del ejemplo 3 y se les suma 5 a las corridas de la tarde, como si el turno tuviera ese efecto. Después se recalculan los efectos con dos repartos distintos.</a:t>
            </a:r>
          </a:p>
          <a:p/>
          <a:p>
            <a:r>
              <a:t>Con el reparto ingenuo (las 8 primeras corridas en la mañana) la tarde coincide con D alto, y el efecto de D pasa de 1.38 a 6.38. D era inactivo y ahora parecería activo: se concluiría que D importa cuando lo que importa es el turno. Los demás efectos no cambian, porque sus columnas tienen cuatro signos + y cuatro − en cada turno.</a:t>
            </a:r>
          </a:p>
          <a:p/>
          <a:p>
            <a:r>
              <a:t>Con el reparto por el signo de ABD (las corridas con ABD negativo en la mañana y las de ABD positivo en la tarde) el único efecto que cambia es el de la cadena ABD = ACF = BEF = CDE, que pasa de 0.13 a 5.13. Todos los efectos principales y todas las interacciones dobles quedan exactamente igual que sin turnos.</a:t>
            </a:r>
          </a:p>
          <a:p/>
          <a:p>
            <a:r>
              <a:t>Esa es toda la idea de los bloques. La diferencia entre bloques siempre se va a pegar a alguna columna: a la columna con la que se hizo el reparto. Lo que se decide al formar bloques es cuál columna se sacrifica. Se elige una cadena formada solo por interacciones de orden alto, que de todos modos se suponían despreciables. La diapositiva siguiente da el procedimiento general.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bloque es un grupo de corridas hechas en condiciones parecidas: el mismo día, el mismo lote de material, la misma máquina. Se forman bloques cuando no se pueden hacer todas las corridas en condiciones homogéneas, y se hace igual que en un 2k: se escoge una columna del diseño y se usa su signo para repartir las corridas. Todas las corridas con signo − van a un bloque y todas las de signo + al otro. Esa columna queda confundida con los bloques: su contraste mide a la vez su efecto y la diferencia entre bloques.</a:t>
            </a:r>
          </a:p>
          <a:p/>
          <a:p>
            <a:r>
              <a:t>El procedimiento tiene cinco pasos. (1) Decidir cuántos bloques hacen falta: dos bloques confunden una columna; cuatro bloques confunden dos columnas y su producto (tres en total). (2) Escribir las cadenas de alias del fraccionado. (3) Escoger para los bloques una cadena formada solo por interacciones de orden alto, porque se va a perder. Nunca una que contenga efectos principales o interacciones dobles de interés. En el 26−2 con I = ABCE = BCDF = ADEF hay quince cadenas; solo dos están formadas únicamente por interacciones triples: ABD = ACF = BEF = CDE y ABF = ACD = BDE = CEF. La tabla XII de Montgomery sugiere ABD. (4) Calcular el signo de ABD en cada corrida, que es el producto de los signos de A, B y D. (5) Repartir: las ocho corridas con ABD = − forman el bloque 1 y las ocho con ABD = + el bloque 2.</a:t>
            </a:r>
          </a:p>
          <a:p/>
          <a:p>
            <a:r>
              <a:t>Atajo para el paso 4 sin calcular signos: contar cuántas letras tiene en común cada combinación de tratamientos con ABD. Si el número es par (0 o 2), ABD vale − y la corrida va al bloque 1, que es el bloque principal porque contiene a (1). Si es impar (1 o 3), ABD vale + y va al bloque 2. Ejemplos: abf tiene en común a y b, dos letras, par: bloque 1 (A +, B +, D −, producto −). ae tiene en común solo a, una letra, impar: bloque 2 (A +, B −, D −, producto +). En la notación de Montgomery es la regla L = x1 + x2 + x4 = 0 (mod 2) para el bloque principal, donde x vale 1 si la letra está y 0 si no. Fuente: Montgomery, sección 8-4 y fig. 8-18; la figura imprime «abef» en el bloque 1 y debe ser adef, la que pertenece a la fracción.</a:t>
            </a:r>
          </a:p>
          <a:p/>
          <a:p>
            <a:r>
              <a:t>Qué se pierde y qué se conserva. Supóngase que la tarde da respuestas sistemáticamente más altas que la mañana. La columna de ABD vale − en toda la mañana y + en toda la tarde, así que su contraste es exactamente la diferencia entre turnos: el efecto estimado de la cadena ABD = ACF = BEF = CDE ya no se puede separar del efecto de los bloques. Por eso se escogió una cadena de triples: se pierde algo que de todos modos se suponía despreciable. En el ANOVA esa columna aparece como la fila de bloques, con 1 grado de libertad y la misma suma de cuadrados. Todas las demás columnas están balanceadas dentro de cada bloque, con cuatro signos + y cuatro signos − en cada turno: al calcular el contraste de A, el corrimiento de la tarde aparece cuatro veces sumando y cuatro veces restando, y se cancela. Lo mismo pasa con las otras trece cadenas, que incluyen todos los efectos principales y todas las interacciones dobles. Es la ortogonalidad de la tabla de signos: la columna de bloques (ABD) es ortogonal a todas las demás.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máquina CNC de cinco ejes produce el impulsor de un motor de turbina. Una característica de calidad clave es el perfil de los álabes: interesa su desviación respecto al perfil especificado en el plano, medida como la desviación estándar de la diferencia entre ambos.</a:t>
            </a:r>
          </a:p>
          <a:p/>
          <a:p>
            <a:r>
              <a:t>Se quiere saber qué parámetros de la máquina afectan esa desviación. Se eligen ocho factores a dos niveles: desviaciones de los ejes x, y, z y a, fabricante de la herramienta, velocidad del husillo, altura de la plantilla sujetadora y velocidad de alimentación.</a:t>
            </a:r>
          </a:p>
          <a:p/>
          <a:p>
            <a:r>
              <a:t>La máquina tiene cuatro husillos (la traducción del libro los llama areómetros) que pueden diferir entre sí; deben tratarse como bloques. Los ingenieros creen que las interacciones de tres o más factores son despreciables, pero no quieren ignorar las de dos.</a:t>
            </a:r>
          </a:p>
          <a:p/>
          <a:p>
            <a:r>
              <a:t>Objetivo: Identificar los parámetros de la máquina que más afectan la desviación del perfil, controlando la diferencia entre husillos</a:t>
            </a:r>
          </a:p>
          <a:p/>
          <a:p>
            <a:r>
              <a:t>Se pide: elegir entre 16 y 32 corridas y justificarlo; repartir el diseño en cuatro bloques y ver qué se confunde; estimar los efectos y ajustar el modelo; interpretar los alias que queden ambiguos. Fuente: Montgomery, ejemplo 8-6.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Paso 1, planteamiento. La respuesta es la desviación del perfil de los álabes respecto al plano, medida como la desviación estándar de la diferencia entre el perfil real y el especificado (en milésimas de pulgada). Como es una desviación estándar, se analiza su logaritmo, ln(desviación estándar × 103): las desviaciones estándar suelen tener varianza que crece con su media, y el logaritmo la estabiliza. Hay ocho factores a dos niveles, los de la tabla.</a:t>
            </a:r>
          </a:p>
          <a:p/>
          <a:p>
            <a:r>
              <a:t>Paso 2, supuestos y resolución. Los ingenieros creen que las interacciones de tres o más factores son despreciables, pero no quieren ignorar las de dos. De ahí sale la resolución mínima. Resolución III no sirve: mezclaría efectos principales con interacciones dobles, que no se quieren ignorar. Resolución IV basta: los efectos principales quedan aliados solo con triples, que se suponen nulas, y las dobles quedan aliadas entre sí, lo que se acepta porque se pueden interpretar con conocimiento del proceso. Resolución V separaría también las dobles, pero para ocho factores exige 64 corridas (28−2V), demasiadas.</a:t>
            </a:r>
          </a:p>
          <a:p/>
          <a:p>
            <a:r>
              <a:t>Hay un requisito más, que pesa en el paso 3: la máquina tiene cuatro husillos (la traducción del libro los llama areómetros) que pueden diferir entre sí. Las corridas se van a repartir en los cuatro husillos, así que el diseño se corre en cuatro bloques.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diseños recomendados ofrece dos diseños de resolución IV para ocho factores: el 28−4IV de 16 corridas y el 28−3IV de 32. Sin bloques, el de 16 bastaría. Los bloques cambian la decisión. Montgomery lo dice así: el de 16 «no puede correrse en cuatro bloques sin confundir cuatro interacciones de dos factores con los bloques». Para entender la frase hay que tener claro qué es confundir.</a:t>
            </a:r>
          </a:p>
          <a:p/>
          <a:p>
            <a:r>
              <a:t>Dos efectos están confundidos cuando los datos no permiten distinguirlos. Ocurre cuando la columna de signos con la que se estima uno es idéntica a la columna con la que se estima el otro: el contraste calcula entonces la suma de ambos y no hay manera de repartirla. Cuando los dos efectos son de factores, Montgomery lo llama alias; cuando uno de ellos es la diferencia entre bloques (husillos, turnos, días), lo llama confundido con bloques. Es el mismo fenómeno con dos nombres. Ya se vio con el moldeo en dos turnos: la columna ABD valía − en toda la mañana y + en toda la tarde, así que su contraste medía a la vez la interacción ABD y la diferencia entre turnos, y nunca se sabría cuál de las dos se está viendo. En cambio A seguía limpio, porque cada turno tenía cuatro corridas con A alto y cuatro con A bajo y la diferencia se cancelaba.</a:t>
            </a:r>
          </a:p>
          <a:p/>
          <a:p>
            <a:r>
              <a:t>Por eso cuatro bloques cuestan tres columnas. Para repartir las corridas en cuatro husillos se usan dos columnas P y Q: cada husillo recibe las corridas con una combinación de signos (−,−), (−,+), (+,−) o (+,+). Dentro de cada husillo P es constante, Q es constante y, por tanto, también su producto PQ. Las tres columnas valen lo mismo en todas las corridas de un husillo, así que las tres quedan confundidas con los husillos: son 3 grados de libertad perdidos. Y en un fraccionado cada columna no es un solo efecto sino una cadena de alias completa: lo que se pierde es la cadena entera.</a:t>
            </a:r>
          </a:p>
          <a:p/>
          <a:p>
            <a:r>
              <a:t>En el 28−4IV las 15 columnas son 8 efectos principales y 7 cadenas de cuatro interacciones dobles cada una (por ejemplo AB = CG = DH = EF). No hay ninguna columna formada solo por interacciones triples, es decir, ninguna columna «barata». Cualquier columna que se use para bloques cuesta cuatro interacciones dobles de un golpe, que es la frase del libro, y con cuatro bloques hacen falta tres columnas: se perderían 12 de las 28 interacciones dobles, justo lo que los ingenieros no quieren ignorar.</a:t>
            </a:r>
          </a:p>
          <a:p/>
          <a:p>
            <a:r>
              <a:t>En el 28−3IV hay 31 columnas. Varias cadenas están formadas solo por interacciones triples y pueden ir a los bloques sin costo; muchas interacciones dobles quedan solas en su cadena. Por eso se elige el 28−3IV en cuatro bloques de ocho corridas: los bloques obligan a duplicar el tamaño del experimento para no perder las interacciones dobles. Fuente: Montgomery, ejemplo 8-6.</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diseño básico es el 25 completo en A, B, C, D y E (32 corridas). Los tres factores restantes se generan con F = ABC, G = ABD y H = BCDE (tabla 8-14). Los generadores son I = ABCF, I = ABDG e I = BCDEH; sus productos completan la relación de definición, con 23 − 1 = 7 palabras: ABCF, ABDG, CDFG, BCDEH, ADEFH, ACEGH y BEFGH. La más corta tiene cuatro letras: resolución IV.</a:t>
            </a:r>
          </a:p>
          <a:p/>
          <a:p>
            <a:r>
              <a:t>Despreciando las interacciones de tres o más factores, los ocho efectos principales quedan limpios. Las interacciones dobles se reparten así: siete cadenas tienen más de una doble (las de la tabla) y las otras trece dobles quedan solas en su cadena: AE, AH, BE, BH, CE, CH, DE, DH, EF, EG, EH, FH y GH. La cadena que más va a importar es AD = BG: la interacción del eje x con el fabricante de la herramienta está aliada con la del eje y con la altura de la plantilla.</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paso de los bloques. Hay cuatro husillos y cada uno va a recibir 8 corridas. Si hubiera una diferencia entre husillos (uno corta un poco peor que otro), esa diferencia se suma a todas sus corridas; el reparto debe hacer que caiga en columnas que no importen.</a:t>
            </a:r>
          </a:p>
          <a:p/>
          <a:p>
            <a:r>
              <a:t>Se escogen dos columnas P y Q formadas solo por interacciones de orden alto: P = ABE (cadena ABE = CEF = DEG) y Q = ABH (cadena ABH = CFH = DGH). Las dos son cadenas de triples, que se suponen despreciables. Cada corrida tiene un signo de ABE y uno de ABH, y la combinación de los dos signos dice a qué husillo va: (−, −) al husillo 1, (−, +) al 2, (+, −) al 3 y (+, +) al 4. La tabla muestra las 8 corridas de cada husillo.</a:t>
            </a:r>
          </a:p>
          <a:p/>
          <a:p>
            <a:r>
              <a:t>El precio inevitable es el producto: PQ = ABE · ABH = EH (A y B se cancelan). La columna de EH vale + en los husillos 1 y 4 y − en los husillos 2 y 3, así que también queda confundida con los husillos. EH es la interacción entre la desviación del eje a y la velocidad de alimentación, que los ingenieros consideran muy improbable; por eso se acepta perderla. Su cadena completa es EH = ACG = ADF = BCD = BFG.</a:t>
            </a:r>
          </a:p>
          <a:p/>
          <a:p>
            <a:r>
              <a:t>Todas las demás columnas, los ocho efectos principales y las demás interacciones dobles, tienen cuatro signos + y cuatro − dentro de cada husillo: la diferencia entre husillos se cancela en sus contrastes. Dentro de cada husillo se sortea el orden de las 8 corridas; no se sortea entre husillos, porque el husillo de cada corrida ya está fijado por el diseño.</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no hay error puro, así que los efectos activos se identifican con la gráfica de probabilidad normal (fig. 8-19 del libro). De las 31 columnas se grafican 28: las tres confundidas con los husillos (ABE, ABH y EH) no son efectos de factores sino diferencias entre husillos, y se dejan fuera. Los valores son los efectos de la tabla 8-17 sobre ln(desviación estándar × 103).</a:t>
            </a:r>
          </a:p>
          <a:p/>
          <a:p>
            <a:r>
              <a:t>Tres puntos se apartan con claridad de la recta de Daniel: la cadena AD + BG (−0.374), A (0.290) y B (−0.201). Les siguen G (0.116), D (0.108) y BE (0.099), mucho menores. El método de Lenth con los 28 efectos da PSE = 0.0518, ME = 0.116 y SME = 0.223. AD + BG y A superan el SME. B supera el ME pero queda un poco por debajo del SME; se incluye porque se aparta con claridad de la recta y es el tercer efecto en tamaño, casi el doble del siguiente. G queda justo en el límite del ME (0.1161 frente a 0.1165), y D y BE por debajo: se dejan en el error, como hace Montgomery.</a:t>
            </a:r>
          </a:p>
          <a:p/>
          <a:p>
            <a:r>
              <a:t>Primera clasificación: al modelo, A, B y la cadena AD + BG; el resto, al error. Falta decidir a qué interacción se atribuye la cadena, que es el paso siguiente.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cadena AD + BG es la más grande de todas (−0.374), pero los datos no pueden separar sus dos términos: AD es la interacción del eje x con el fabricante de la herramienta y BG la del eje y con la altura de la plantilla.</a:t>
            </a:r>
          </a:p>
          <a:p/>
          <a:p>
            <a:r>
              <a:t>Las herramientas de atribución no deciden aquí. La jerarquía no ayuda, porque las dos son interacciones dobles. La herencia tampoco: cada una contiene un efecto principal grande (A en AD, B en BG) y uno pequeño de tamaño parecido (D = 0.108 en AD, G = 0.116 en BG). Montgomery lo dice así: no hay una simplificación lógica obvia.</a:t>
            </a:r>
          </a:p>
          <a:p/>
          <a:p>
            <a:r>
              <a:t>Quedan dos salidas. La primera, conocimiento del proceso: los ingenieros consideran que la interacción real es AD, entre el eje x y el fabricante de la herramienta. La segunda, más corridas: un doblez del factor A o del factor D separaría la cadena. Montgomery sigue la primera y advierte que la conclusión es tentativa. Por jerarquía del modelo, al incluir AD también entra D, aunque su efecto sea pequeño.</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una por cada cadena que entra al modelo. Para la cadena AD + BG, H0: βAD + βBG = 0 frente a HA: βAD + βBG ≠ 0; igual para A, B y D. Se rechaza H0 si F0 &gt; F0.05, 1, 24 = 4.26 o si el valor p es menor que 0.05.</a:t>
            </a:r>
          </a:p>
          <a:p/>
          <a:p>
            <a:r>
              <a:t>Modelo: ŷ = β0 + βA xA + βB xB + βD xD + βAD xA xD + (efecto del husillo) + ε. La tabla ANOVA es la del libro (tabla 8-18). Se rechaza H0 para A, B, D y AD.</a:t>
            </a:r>
          </a:p>
          <a:p/>
          <a:p>
            <a:r>
              <a:t>La fila de bloques merece atención. Su suma de cuadrados, 0.0201 con 3 grados de libertad, es exactamente la suma de las tres columnas confundidas con los husillos: SS(ABE) + SS(ABH) + SS(EH) = 0.008874 + 0.001273 + 0.009993 = 0.0201. Se separa del error para que la diferencia entre husillos no infle el error y no le reste potencia a las pruebas. No lleva F0: los husillos no se asignaron al azar a las corridas, así que la prueba de bloques no tiene la misma validez que las de los factores. Su cuadrado medio, 0.0067, es menor que el del error (0.0171): los husillos casi no difieren.</a:t>
            </a:r>
          </a:p>
          <a:p/>
          <a:p>
            <a:r>
              <a:t>El error, 0.4099 con 24 grados de libertad, reúne las 24 columnas que no entraron al modelo ni a los bloques: 31 − 4 − 3 = 24.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Supuestos. Montgomery muestra la gráfica de probabilidad normal de los residuales (fig. 8-20): sugiere colas algo más gruesas que las de la normal, por lo que podría considerarse otra transformación además del logaritmo. Los datos crudos de la tabla 8-16 no se transcribieron aquí, así que esa verificación se cita del libro.</a:t>
            </a:r>
          </a:p>
          <a:p/>
          <a:p>
            <a:r>
              <a:t>Interpretación. Como el modelo solo tiene A, B y D, el diseño se proyecta en cuatro réplicas de un 23 en esos factores (fig. 8-22). Los promedios de ln(desviación) en los ocho vértices dan la interacción AD: con el fabricante 1, la desviación crece mucho al pasar el eje x de 0 a 15 (0.894 a 1.558, promediando sobre B); con el fabricante 2 casi no cambia (1.376 a 1.292). B tiene efecto negativo: la desviación baja cuando el eje y está en su nivel alto.</a:t>
            </a:r>
          </a:p>
          <a:p/>
          <a:p>
            <a:r>
              <a:t>Conclusión: la desviación del perfil es mínima con A en nivel bajo (eje x en 0), B en nivel alto (eje y en 15) y la herramienta del fabricante 1, vértice con promedio 0.828. Los husillos casi no difieren. La atribución de la cadena a AD es tentativa y conviene confirmarla con un doblez o una corrida de verificación.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III es un fraccionado cuya relación de definición tiene como palabra más corta una de tres letras. Ningún efecto principal está aliado con otro efecto principal, pero cada efecto principal sí está aliado con interacciones de dos factores. Se usa al comienzo de una investigación, cuando hay muchos factores candidatos y se espera que solo unos pocos importen.</a:t>
            </a:r>
          </a:p>
          <a:p/>
          <a:p>
            <a:r>
              <a:t>El ejemplo de referencia de esta sección es el 27−4III: siete factores en ocho corridas. Se escribe el 23 completo en A, B y C y se definen D = AB, E = AC, F = BC y G = ABC. Su relación de definición es I = ABD = ACE = BCF = ABCG y todos sus productos (15 palabras); la más corta tiene tres letras.</a:t>
            </a:r>
          </a:p>
          <a:p/>
          <a:p>
            <a:r>
              <a:t>El costo es alto: despreciando las interacciones de tres o más factores, cada efecto principal es alias de tres interacciones dobles (la tabla de la derecha). Solo sirve si esas interacciones son despreciables o si se planea separarlas después con un doblez, que es el tema de las diapositivas siguientes.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diseño de resolución III cada efecto principal está mezclado con interacciones dobles. Para separarlos se usa el ensamblaje secuencial: se corre una segunda fracción en la que se han invertido los signos de algunos factores y se combinan las dos. A esta técnica se le llama doblez o plegado (fold over). Hay dos variantes: el doblez de un solo factor invierte los signos de un factor; el doblez completo, o reflexión, invierte los signos de todos.</a:t>
            </a:r>
          </a:p>
          <a:p/>
          <a:p>
            <a:r>
              <a:t>La estructura de alias de la segunda fracción no hay que calcularla de cero: se obtiene cambiando el signo de los factores invertidos en la estructura de alias de la fracción original. Después, como con la fracción alterna, la semisuma y la semidiferencia de las estimaciones de las dos fracciones separan los efectos; las dos fracciones funcionan como bloques.</a:t>
            </a:r>
          </a:p>
          <a:p/>
          <a:p>
            <a:r>
              <a:t>Las conclusiones de un fraccionado son tentativas porque siempre existe una explicación alternativa basada en los alias, y la tabla reúne las cuatro formas de resolver la duda. Corrida de confirmación: predecir con el modelo la respuesta en una condición nueva y comprobarla. Fracción alterna: en una fracción un medio, correr la otra mitad completa el factorial. Doblez completo: separa los efectos principales de las interacciones dobles y convierte un diseño de resolución III en uno de resolución IV. Doblez de un factor: en un diseño de resolución III o mayor, y despreciando interacciones de tres o más factores, deja limpio ese factor y todas sus interacciones dobles; cuesta las mismas corridas que el doblez completo.</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Junto a la fracción principal del 27−4 se corre una segunda fracción con los signos de solo la columna D invertidos. Los alias de la segunda fracción se obtienen reemplazando D por −D en la estructura original: ℓ′A estima A − BD + CE + FG, y como −D = AB + CG + EF, ℓ′D estima D − AB − CG − EF (ecuación 8-2).</a:t>
            </a:r>
          </a:p>
          <a:p/>
          <a:p>
            <a:r>
              <a:t>Al combinar las dos fracciones, D queda limpio y cada una de sus interacciones dobles, BD, AD, DG, DF, DE y CD, queda aislada en una semidiferencia.</a:t>
            </a:r>
          </a:p>
          <a:p/>
          <a:p>
            <a:r>
              <a:t>Regla general de Montgomery: si a un fraccionado de resolución III o mayor se le agrega una fracción con los signos de un solo factor invertidos, el diseño combinado estima ese efecto principal y todas sus interacciones dobles. Se supone que las interacciones de tres o más factores son despreciables.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doblez completo, o reflexión, se agrega una segunda fracción con los signos de todos los factores invertidos. La columna de cada factor cambia de signo, pero la de cada interacción doble no, porque es producto de dos signos invertidos: (−)(−) = +. Por eso, en la segunda fracción cada efecto principal queda aliado con sus interacciones dobles con signo contrario: ℓ′A estima A − BD − CE − FG. La semisuma deja los efectos principales limpios y la semidiferencia deja las cadenas de interacciones dobles.</a:t>
            </a:r>
          </a:p>
          <a:p/>
          <a:p>
            <a:r>
              <a:t>Montgomery lo resume así: el doblez completo rompe los vínculos de alias entre los efectos principales y las interacciones dobles, y el diseño combinado estima todos los efectos principales libres de interacciones dobles.</a:t>
            </a:r>
          </a:p>
          <a:p/>
          <a:p>
            <a:r>
              <a:t>Un detalle útil para construirlo: invertir todos los signos equivale a cambiar el signo de los generadores con número impar de letras. En el 27−4, ABD, ACE y BCF cambian de signo y ABCG no.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experimentador estudia el tiempo de enfoque del ojo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a:p/>
          <a:p>
            <a:r>
              <a:t>Sospecha que solo unos pocos de los siete factores son importantes y que las interacciones de orden alto se pueden despreciar.</a:t>
            </a:r>
          </a:p>
          <a:p/>
          <a:p>
            <a:r>
              <a:t>Decide hacer primero un experimento de tamizado con un 27−4III de 8 corridas, en orden aleatorio, para identificar los factores importantes y concentrar en ellos el estudio posterior.</a:t>
            </a:r>
          </a:p>
          <a:p/>
          <a:p>
            <a:r>
              <a:t>Objetivo: Tamizar: encontrar los pocos factores que de verdad afectan el tiempo de enfoque</a:t>
            </a:r>
          </a:p>
          <a:p/>
          <a:p>
            <a:r>
              <a:t>Se pide: estimar los efectos de la primera fracción; listar las explicaciones compatibles con los alias; elegir y correr una segunda fracción que las separe; decidir qué efectos son los reales. Fuente: Montgomery, ejemplo 8-7.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 el 27−4III de ocho corridas del enunciado anterior (Montgomery, ejemplo 8-7).</a:t>
            </a:r>
          </a:p>
          <a:p/>
          <a:p>
            <a:r>
              <a:t>Tres estimaciones son grandes: ℓB = 38.38, ℓD = 28.88 y ℓA = 20.63. La lectura más simple es que A, B y D son activos. Pero como D = AB, hay otras tres explicaciones igual de lógicas: A, B y la interacción AB; A, D y la interacción AD; o B, D y la interacción BD. La fracción sola no permite distinguirlas.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 una segunda fracción de ocho corridas con los signos de todos los factores invertidos. En ella cada efecto principal aparece con sus interacciones dobles con signo negativo, de modo que la semisuma aísla el efecto principal y la semidiferencia aísla el grupo de interacciones.</a:t>
            </a:r>
          </a:p>
          <a:p/>
          <a:p>
            <a:r>
              <a:t>Resultado: los efectos principales grandes son B = 38.05 y D = 29.38. El efecto de A es solo 1.48; lo que parecía el efecto de A era en realidad la cadena BD + CE + FG = 19.15, que es razonable atribuir a BD porque B y D son activos. BD sigue aliada con CE y FG; en el estudio se confirmó con experimentos posteriores. La explicación más plausible era la cuarta.</a:t>
            </a:r>
          </a:p>
          <a:p/>
          <a:p>
            <a:r>
              <a:t>Las 16 corridas forman un 27−3 de resolución IV: el doblez completo de un diseño de resolución III siempre produce uno de resolución IV.</a:t>
            </a:r>
          </a:p>
          <a:p/>
          <a:p>
            <a:r>
              <a:t>Nota para quien coteje con el libro: en la fila F, Montgomery imprime −1.53; con sus propios datos el valor es −1.13.</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Montgomery da una regla sencilla. Cada fracción por separado tiene L + U generadores: L palabras con el mismo signo en las dos fracciones y U palabras con signo distinto. El diseño combinado tiene L + U − 1 generadores: las L palabras de igual signo y U − 1 palabras formadas por productos pares independientes de las palabras de signo distinto. Productos pares son las palabras tomadas de dos en dos, de cuatro en cuatro, etc.</a:t>
            </a:r>
          </a:p>
          <a:p/>
          <a:p>
            <a:r>
              <a:t>En el ejemplo 5, la primera fracción tiene I = ABD, ACE, BCF y ABCG; el doblez tiene I = −ABD, −ACE, −BCF y ABCG. Así, L = 1 (ABCG) y U = 3. El combinado usa ABCG y dos productos pares, por ejemplo (ABD)(ACE) = BCDE y (ABD)(BCF) = ACDF.</a:t>
            </a:r>
          </a:p>
          <a:p/>
          <a:p>
            <a:r>
              <a:t>La relación completa del diseño combinado tiene siete palabras, todas de cuatro letras: es un 27−3IV. El doblez completo de un diseño de resolución III da un diseño de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diseños de resolución III para estudiar k = N − 1 factores en N corridas, donde N es múltiplo de 4 y no solo potencia de 2: 12, 20, 24, 28, 36. Dan tamaños intermedios entre los de los diseños 2k−p (8, 16, 32 corridas).</a:t>
            </a:r>
          </a:p>
          <a:p/>
          <a:p>
            <a:r>
              <a:t>Se construyen a partir de un renglón generador que se desplaza cíclicamente una posición cada vez; al final se agrega un renglón con todos los signos negativos. Para N = 28 la construcción es distinta, con tres bloques de signos.</a:t>
            </a:r>
          </a:p>
          <a:p/>
          <a:p>
            <a:r>
              <a:t>Advertencia: su estructura de alias es muy compleja. En el diseño de 12 corridas cada efecto principal es alias parcial de todas las interacciones dobles en las que no interviene: por ejemplo, la interacción AB es alias parcial de los nueve efectos principales C, D, …, K, y cada efecto principal es alias parcial de 45 interacciones dobles. «Parcial» quiere decir que la interacción no se suma completa a la estimación, sino con un peso fraccionario. Si hay interacciones importantes, pueden aparecer como varios falsos efectos principales. En diseños mayores la situación es aún más compleja; Montgomery recomienda usarlos con mucho cuidado, y bajo ciertas condiciones sus alias se pueden desenredar con técnicas de regresión.</a:t>
            </a:r>
          </a:p>
          <a:p/>
          <a:p>
            <a:r>
              <a:t>Su ventaja está en la proyección. El de 12 corridas se proyecta en tres réplicas de un 22 completo en cualquier par de factores, y en cualquier trío de factores en un 23 completo más una fracción 23−1. Por eso se dice que tiene proyectividad 3, mientras que un 2k−pIII solo tiene proyectividad 2. Las proyecciones en tres y cuatro factores no son balanceadas.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 = 12, 20, 24 y 36 el diseño se arma con el renglón de signos de la tabla 8-23 del libro. Se escribe ese renglón como primera fila (o primera columna). La segunda fila se obtiene desplazando la primera una posición hacia la derecha y pasando el último elemento al principio. Se repite el desplazamiento hasta tener k = N − 1 filas, y al final se agrega una fila con todos los signos negativos.</a:t>
            </a:r>
          </a:p>
          <a:p/>
          <a:p>
            <a:r>
              <a:t>La tabla es el diseño de 12 corridas para 11 factores construido de esa forma, el mismo del ejemplo 6. La letra I no se usa como factor porque está reservada para la identidad. Para N = 28 la construcción es distinta: tres bloques de signos X, Y y Z de 9 × 9 se disponen en forma cíclica y se agrega la fila de signos negativos.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quiere tamizar 11 factores (A a L, sin I) con el mínimo de corridas. Un Plackett-Burman de 12 corridas lo permite: es de resolución III y cada interacción doble queda repartida parcialmente sobre varios efectos principales.</a:t>
            </a:r>
          </a:p>
          <a:p/>
          <a:p>
            <a:r>
              <a:t>Para ver qué pasa cuando hay interacciones, Montgomery simula los datos con un modelo conocido: tres efectos principales activos (A, B y D), dos interacciones (AB y AD) y un error normal de varianza 9. Los demás factores no tienen ningún efecto.</a:t>
            </a:r>
          </a:p>
          <a:p/>
          <a:p>
            <a:r>
              <a:t>El analista no conoce ese modelo: solo ve las 12 respuestas y analiza el diseño como se haría en la práctica.</a:t>
            </a:r>
          </a:p>
          <a:p/>
          <a:p>
            <a:r>
              <a:t>Objetivo: Comprobar si el análisis del Plackett-Burman recupera el modelo verdadero</a:t>
            </a:r>
          </a:p>
          <a:p/>
          <a:p>
            <a:r>
              <a:t>Se pide: estimar los 11 efectos principales; compararlos con el modelo que generó los datos; explicar de dónde salen los efectos falsos; decidir qué diseño habría sido mejor. Fuente: Montgomery, ejemplo 8-8.</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Montgomery simula datos para mostrar la dificultad (ejemplo 8-8). El modelo verdadero tiene tres efectos principales, A, B y D, y dos interacciones, AB y AD, más un error normal con varianza 9. Se corre el Plackett-Burman de 12 corridas para 11 factores.</a:t>
            </a:r>
          </a:p>
          <a:p/>
          <a:p>
            <a:r>
              <a:t>Al estimar los efectos aparecen siete grandes: A, B, C, D, E, J y K. Solo tres son reales; los demás son interacciones que se repartieron como alias parciales sobre otros efectos principales. Con estos datos no es evidente cuáles de esos efectos son en realidad interacciones. Un doblez del diseño resolvería en general los efectos principales, pero suele dejar incertidumbre sobre las interacciones.</a:t>
            </a:r>
          </a:p>
          <a:p/>
          <a:p>
            <a:r>
              <a:t>Recomendación del libro: si la elección es entre un 211−7III geométrico de 16 corridas y un Plackett-Burman de 12 que quizá haya que doblar (24 corridas), el geométrico puede ser mejor elección. Nota para quien coteje: la tabla 8-26 imprime 12.667 para el efecto de C; con los datos es 13.667, que es lo que da su propio coeficiente.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2k−p es de resolución IV si los efectos principales están separados de las interacciones dobles y algunas interacciones dobles son alias entre sí. Si se suprimen las interacciones de tres o más factores, los efectos principales se estiman directamente. Ya se vieron dos: el 26−2IV del ejemplo 3 y el 27−3IV que resultó de combinar las dos fracciones del ejemplo 5.</a:t>
            </a:r>
          </a:p>
          <a:p/>
          <a:p>
            <a:r>
              <a:t>Hay un límite inferior de tamaño: todo diseño 2k−pIV debe tener al menos 2k corridas. Los diseños de resolución IV con exactamente 2k corridas se llaman diseños mínimos. Por ejemplo, el 24−1IV tiene 8 = 2·4 corridas y el 28−4IV tiene 16 = 2·8.</a:t>
            </a:r>
          </a:p>
          <a:p/>
          <a:p>
            <a:r>
              <a:t>Los diseños de resolución IV se pueden obtener doblando un diseño de resolución III. Se toma el 2k−pIII, se le agrega la segunda fracción con todos los signos invertidos, y se aprovecha la columna identidad: en la primera fracción es toda +, y en la segunda se cambia a toda −. Esa columna se asigna al factor k + 1. El resultado es un 2k+1−pIV. La tabla es la del libro (tabla 8-27): del 23−1III con I = ABC se obtiene un 24−1IV, y es fácil verificar que su relación de definición es I = ABCD. Con cuatro corridas más se gana un factor y se sube de resolución III a IV.</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También se doblan diseños de resolución IV, para separar interacciones dobles que son alias entre sí. Montgomery y Runger señalan tres objetivos posibles: romper tantas cadenas de interacciones dobles como sea posible, romper las de una cadena específica, o romper las que incluyen un factor específico.</a:t>
            </a:r>
          </a:p>
          <a:p/>
          <a:p>
            <a:r>
              <a:t>Una forma de hacerlo es correr una segunda fracción en la que se invierte el signo de todos los generadores con número impar de letras. En el 26−2 del ejemplo 3, con I = ABCE e I = BCDF, la segunda fracción usa I = −ABCE e I = −BCDF, y el diseño combinado tiene un solo generador, I = ADEF. Sigue siendo de resolución IV, pero las únicas interacciones dobles que quedan con alias son AD = EF, AE = DF y AF = DE. En el 28−3IV, con I = ABCF, ABDG y BCDEH, el combinado queda con I = CDFG = BCDEH = BEFGH y solo CD = FG, CF = DG y CG = DF siguen aliadas.</a:t>
            </a:r>
          </a:p>
          <a:p/>
          <a:p>
            <a:r>
              <a:t>Advertencia: el doblez de un resolución III garantiza un combinado de resolución IV, pero el doblez de un resolución IV no necesariamente separa todas las interacciones dobles. Si la fracción original tiene una cadena con más de dos interacciones dobles, el doblez no las separa por completo.</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diseño de resolución V los efectos principales y las interacciones dobles no tienen como alias otros principales ni otras interacciones dobles. Son diseños muy poderosos: si las interacciones de tres o más factores son despreciables, estiman de forma única todos los efectos principales y todas las interacciones dobles. La palabra más corta de su relación de definición debe tener cinco letras. Ejemplos: el 25−1 con I = ABCDE y el 28−2 con I = ABCDG = ABEFH.</a:t>
            </a:r>
          </a:p>
          <a:p/>
          <a:p>
            <a:r>
              <a:t>Su problema es el tamaño: los diseños estándar de resolución V son grandes cuando el número de factores es moderado. Por eso interesan las fracciones irregulares de resolución V, disponibles para 4 a 9 factores: 12 corridas para 4 factores, 24 para 5 (tabla 8-28 del libro, tres cuartas partes del 25), 48 para 6, 7 u 8, y 96 para 9.</a:t>
            </a:r>
          </a:p>
          <a:p/>
          <a:p>
            <a:r>
              <a:t>Por último, Montgomery señala que el doblez completo de un diseño de resolución IV o V suele ser innecesario: en general solo hay una o dos interacciones aliadas de interés, y sus alias se pueden separar agregando unas pocas corridas a la fracción original. Esa técnica se llama doblez parcial (ver ejemplo 10-5 del libro).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se lee por columnas. Con 16 corridas se puede hacer un factorial completo de 4 factores, una fracción un medio de 5, una fracción de resolución IV para 6 a 8 factores, o una de resolución III para 9 a 15.</a:t>
            </a:r>
          </a:p>
          <a:p/>
          <a:p>
            <a:r>
              <a:t>Dos límites útiles: un diseño de resolución III admite como máximo k = N − 1 factores, y un diseño de resolución IV necesita al menos N = 2k corridas.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fraccionado estudia muchos factores en pocas corridas a cambio de mezclar efectos. La notación 2k−p dice cuántos factores, cuántos generadores y cuántas corridas. La relación de definición determina los alias y la resolución dice qué tan grave es la mezcla. El análisis es el del 2k: contrastes, efectos, gráfica normal de efectos, ANOVA del modelo reducido y residuos. Las conclusiones son tentativas y se confirman con una fracción alterna, un doblez o una corrida de verificación.</a:t>
            </a:r>
          </a:p>
          <a:p/>
          <a:p>
            <a:r>
              <a:t>Errores frecuentes: interpretar un efecto sin mirar sus alias; usar una resolución III sin prever un doblez cuando puede haber interacciones; no aleatorizar o no guardar el orden de corrida; no cuidar la asignación de los factores a las columnas cuando se tiene idea de cuáles importan; y dar por definitivas las conclusiones sin confirmar.</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ejemplos numéricos y la teoría provienen de Montgomery (capítulos 6, 7 y 8); todos los cálculos (efectos, sumas de cuadrados, ANOVA, pruebas de supuestos) se rehicieron a partir de los datos. Los demás títulos son la bibliografía del curso recomendada para este tema, para quien quiera profundizar.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0.xml"/><Relationship Id="rId3"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1.xml"/><Relationship Id="rId3" Type="http://schemas.openxmlformats.org/officeDocument/2006/relationships/notesSlide" Target="../notesSlides/notesSlide7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2.xml"/><Relationship Id="rId3"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3.xml"/><Relationship Id="rId3"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Diseños factoriales fraccionados 2</a:t>
            </a:r>
            <a:r>
              <a:rPr sz="4600" b="1" baseline="30000">
                <a:solidFill>
                  <a:srgbClr val="FFFFFF"/>
                </a:solidFill>
                <a:latin typeface="Cambria"/>
              </a:rPr>
              <a:t>k−p</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Tema 6 · Diseño de Experimentos Avanzados (3008475)</a:t>
            </a:r>
          </a:p>
        </p:txBody>
      </p:sp>
      <p:sp>
        <p:nvSpPr>
          <p:cNvPr id="4" name="TextBox 3"/>
          <p:cNvSpPr txBox="1"/>
          <p:nvPr/>
        </p:nvSpPr>
        <p:spPr>
          <a:xfrm>
            <a:off x="548640" y="4846320"/>
            <a:ext cx="11094415" cy="914400"/>
          </a:xfrm>
          <a:prstGeom prst="rect">
            <a:avLst/>
          </a:prstGeom>
          <a:noFill/>
        </p:spPr>
        <p:txBody>
          <a:bodyPr wrap="square" anchor="t" lIns="0" rIns="0" tIns="0" bIns="0">
            <a:spAutoFit/>
          </a:bodyPr>
          <a:lstStyle/>
          <a:p>
            <a:r>
              <a:rPr sz="1600" b="0">
                <a:solidFill>
                  <a:srgbClr val="FFFFFF"/>
                </a:solidFill>
                <a:latin typeface="Calibri"/>
              </a:rPr>
              <a:t>Juan Esteban Rodríguez Ochoa · Sebastián Zapata Henao</a:t>
            </a:r>
          </a:p>
          <a:p>
            <a:r>
              <a:rPr sz="1600" b="0">
                <a:solidFill>
                  <a:srgbClr val="FFFFFF"/>
                </a:solidFill>
                <a:latin typeface="Calibri"/>
              </a:rPr>
              <a:t>Universidad Nacional de Colombia · 31 de octubre de 2026</a:t>
            </a:r>
          </a:p>
        </p:txBody>
      </p:sp>
      <p:sp>
        <p:nvSpPr>
          <p:cNvPr id="5" name="Oval 4"/>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6" name="Oval 5"/>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8" name="Oval 7"/>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Ruta de la clase</a:t>
            </a:r>
          </a:p>
        </p:txBody>
      </p:sp>
      <p:sp>
        <p:nvSpPr>
          <p:cNvPr id="3" name="Rounded Rectangle 2"/>
          <p:cNvSpPr/>
          <p:nvPr/>
        </p:nvSpPr>
        <p:spPr>
          <a:xfrm>
            <a:off x="548640"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Propósito y vocabulario</a:t>
            </a:r>
          </a:p>
          <a:p>
            <a:pPr algn="l"/>
            <a:r>
              <a:rPr sz="1500" b="0">
                <a:solidFill>
                  <a:srgbClr val="142B33"/>
                </a:solidFill>
                <a:latin typeface="Calibri"/>
              </a:rPr>
              <a:t>Para qué sirven, notación y la tabla del 2</a:t>
            </a:r>
            <a:r>
              <a:rPr sz="1500" b="0" baseline="30000">
                <a:solidFill>
                  <a:srgbClr val="142B33"/>
                </a:solidFill>
                <a:latin typeface="Calibri"/>
              </a:rPr>
              <a:t>k</a:t>
            </a:r>
          </a:p>
        </p:txBody>
      </p:sp>
      <p:sp>
        <p:nvSpPr>
          <p:cNvPr id="4" name="Rounded Rectangle 3"/>
          <p:cNvSpPr/>
          <p:nvPr/>
        </p:nvSpPr>
        <p:spPr>
          <a:xfrm>
            <a:off x="2813243"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Resolución</a:t>
            </a:r>
          </a:p>
          <a:p>
            <a:pPr algn="l"/>
            <a:r>
              <a:rPr sz="1500" b="0">
                <a:solidFill>
                  <a:srgbClr val="142B33"/>
                </a:solidFill>
                <a:latin typeface="Calibri"/>
              </a:rPr>
              <a:t>Qué tanto se mezclan los efectos</a:t>
            </a:r>
          </a:p>
        </p:txBody>
      </p:sp>
      <p:sp>
        <p:nvSpPr>
          <p:cNvPr id="5" name="Rounded Rectangle 4"/>
          <p:cNvSpPr/>
          <p:nvPr/>
        </p:nvSpPr>
        <p:spPr>
          <a:xfrm>
            <a:off x="5077846"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Fracción un medio</a:t>
            </a:r>
          </a:p>
          <a:p>
            <a:pPr algn="l"/>
            <a:r>
              <a:rPr sz="1500" b="0">
                <a:solidFill>
                  <a:srgbClr val="142B33"/>
                </a:solidFill>
                <a:latin typeface="Calibri"/>
              </a:rPr>
              <a:t>Alias, construcción, proyección y ejemplos</a:t>
            </a:r>
          </a:p>
        </p:txBody>
      </p:sp>
      <p:sp>
        <p:nvSpPr>
          <p:cNvPr id="6" name="Rounded Rectangle 5"/>
          <p:cNvSpPr/>
          <p:nvPr/>
        </p:nvSpPr>
        <p:spPr>
          <a:xfrm>
            <a:off x="7342449"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Secuencias</a:t>
            </a:r>
          </a:p>
          <a:p>
            <a:pPr algn="l"/>
            <a:r>
              <a:rPr sz="1500" b="0">
                <a:solidFill>
                  <a:srgbClr val="142B33"/>
                </a:solidFill>
                <a:latin typeface="Calibri"/>
              </a:rPr>
              <a:t>Correr una fracción, analizar y decidir</a:t>
            </a:r>
          </a:p>
        </p:txBody>
      </p:sp>
      <p:sp>
        <p:nvSpPr>
          <p:cNvPr id="7" name="Rounded Rectangle 6"/>
          <p:cNvSpPr/>
          <p:nvPr/>
        </p:nvSpPr>
        <p:spPr>
          <a:xfrm>
            <a:off x="9607052"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5 · Fracción un cuarto</a:t>
            </a:r>
          </a:p>
          <a:p>
            <a:pPr algn="l"/>
            <a:r>
              <a:rPr sz="1500" b="0">
                <a:solidFill>
                  <a:srgbClr val="142B33"/>
                </a:solidFill>
                <a:latin typeface="Calibri"/>
              </a:rPr>
              <a:t>Dos generadores, alternas, proyección y ejemplo</a:t>
            </a:r>
          </a:p>
        </p:txBody>
      </p:sp>
      <p:sp>
        <p:nvSpPr>
          <p:cNvPr id="8" name="Rounded Rectangle 7"/>
          <p:cNvSpPr/>
          <p:nvPr/>
        </p:nvSpPr>
        <p:spPr>
          <a:xfrm>
            <a:off x="548640"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6 · Caso general 2</a:t>
            </a:r>
            <a:r>
              <a:rPr sz="1700" b="1" baseline="30000">
                <a:solidFill>
                  <a:srgbClr val="0F4C5C"/>
                </a:solidFill>
                <a:latin typeface="Cambria"/>
              </a:rPr>
              <a:t>k−p</a:t>
            </a:r>
          </a:p>
          <a:p>
            <a:pPr algn="l"/>
            <a:r>
              <a:rPr sz="1500" b="0">
                <a:solidFill>
                  <a:srgbClr val="142B33"/>
                </a:solidFill>
                <a:latin typeface="Calibri"/>
              </a:rPr>
              <a:t>Elección, análisis, supuestos, proyección y bloques</a:t>
            </a:r>
          </a:p>
        </p:txBody>
      </p:sp>
      <p:sp>
        <p:nvSpPr>
          <p:cNvPr id="9" name="Rounded Rectangle 8"/>
          <p:cNvSpPr/>
          <p:nvPr/>
        </p:nvSpPr>
        <p:spPr>
          <a:xfrm>
            <a:off x="2813243"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7 · Resolución III</a:t>
            </a:r>
          </a:p>
          <a:p>
            <a:pPr algn="l"/>
            <a:r>
              <a:rPr sz="1500" b="0">
                <a:solidFill>
                  <a:srgbClr val="142B33"/>
                </a:solidFill>
                <a:latin typeface="Calibri"/>
              </a:rPr>
              <a:t>Doblez y Plackett-Burman</a:t>
            </a:r>
          </a:p>
        </p:txBody>
      </p:sp>
      <p:sp>
        <p:nvSpPr>
          <p:cNvPr id="10" name="Rounded Rectangle 9"/>
          <p:cNvSpPr/>
          <p:nvPr/>
        </p:nvSpPr>
        <p:spPr>
          <a:xfrm>
            <a:off x="5077846"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8 · Resolución IV y V</a:t>
            </a:r>
          </a:p>
          <a:p>
            <a:pPr algn="l"/>
            <a:r>
              <a:rPr sz="1500" b="0">
                <a:solidFill>
                  <a:srgbClr val="142B33"/>
                </a:solidFill>
                <a:latin typeface="Calibri"/>
              </a:rPr>
              <a:t>Diseños mínimos, doblez y fracciones irregulares</a:t>
            </a:r>
          </a:p>
        </p:txBody>
      </p:sp>
      <p:sp>
        <p:nvSpPr>
          <p:cNvPr id="11" name="Rounded Rectangle 10"/>
          <p:cNvSpPr/>
          <p:nvPr/>
        </p:nvSpPr>
        <p:spPr>
          <a:xfrm>
            <a:off x="7342449"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9 · Cierre</a:t>
            </a:r>
          </a:p>
          <a:p>
            <a:pPr algn="l"/>
            <a:r>
              <a:rPr sz="1500" b="0">
                <a:solidFill>
                  <a:srgbClr val="142B33"/>
                </a:solidFill>
                <a:latin typeface="Calibri"/>
              </a:rPr>
              <a:t>Ideas clave y errores frecuentes</a:t>
            </a:r>
          </a:p>
        </p:txBody>
      </p:sp>
      <p:sp>
        <p:nvSpPr>
          <p:cNvPr id="12" name="TextBox 11"/>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a:t>
            </a:r>
          </a:p>
        </p:txBody>
      </p:sp>
      <p:sp>
        <p:nvSpPr>
          <p:cNvPr id="13" name="TextBox 12"/>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a:t>
            </a:r>
          </a:p>
        </p:txBody>
      </p:sp>
      <p:sp>
        <p:nvSpPr>
          <p:cNvPr id="14" name="Rounded Rectangle 13"/>
          <p:cNvSpPr/>
          <p:nvPr/>
        </p:nvSpPr>
        <p:spPr>
          <a:xfrm>
            <a:off x="548640" y="91440"/>
            <a:ext cx="13441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Introducción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Propósito y vocabulario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Para qué sirven, cómo se nombran y la tabla del 2</a:t>
            </a:r>
            <a:r>
              <a:rPr sz="2000" b="0" baseline="30000">
                <a:solidFill>
                  <a:srgbClr val="CFE3E8"/>
                </a:solidFill>
                <a:latin typeface="Calibri"/>
              </a:rPr>
              <a:t>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problema resuelven los factoriales fraccionados?</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En un 2</a:t>
            </a:r>
            <a:r>
              <a:rPr sz="1800" b="0" baseline="30000">
                <a:solidFill>
                  <a:srgbClr val="142B33"/>
                </a:solidFill>
                <a:latin typeface="Calibri"/>
              </a:rPr>
              <a:t>k</a:t>
            </a:r>
            <a:r>
              <a:rPr sz="1800" b="0">
                <a:solidFill>
                  <a:srgbClr val="142B33"/>
                </a:solidFill>
                <a:latin typeface="Calibri"/>
              </a:rPr>
              <a:t> completo las corridas </a:t>
            </a:r>
            <a:r>
              <a:rPr sz="1800" b="1">
                <a:solidFill>
                  <a:srgbClr val="142B33"/>
                </a:solidFill>
                <a:latin typeface="Calibri"/>
              </a:rPr>
              <a:t>se duplican</a:t>
            </a:r>
            <a:r>
              <a:rPr sz="1800" b="0">
                <a:solidFill>
                  <a:srgbClr val="142B33"/>
                </a:solidFill>
                <a:latin typeface="Calibri"/>
              </a:rPr>
              <a:t> con cada factor nuevo</a:t>
            </a:r>
          </a:p>
          <a:p>
            <a:pPr marL="320040" indent="-320040">
              <a:spcAft>
                <a:spcPts val="600"/>
              </a:spcAft>
              <a:buClr>
                <a:srgbClr val="E36414"/>
              </a:buClr>
              <a:buFont typeface="Arial"/>
              <a:buChar char="•"/>
            </a:pPr>
            <a:r>
              <a:rPr sz="1800" b="0">
                <a:solidFill>
                  <a:srgbClr val="142B33"/>
                </a:solidFill>
                <a:latin typeface="Calibri"/>
              </a:rPr>
              <a:t>Con muchos factores el experimento completo es inviable en tiempo y costo</a:t>
            </a:r>
          </a:p>
          <a:p>
            <a:pPr marL="320040" indent="-320040">
              <a:spcAft>
                <a:spcPts val="600"/>
              </a:spcAft>
              <a:buClr>
                <a:srgbClr val="E36414"/>
              </a:buClr>
              <a:buFont typeface="Arial"/>
              <a:buChar char="•"/>
            </a:pPr>
            <a:r>
              <a:rPr sz="1800" b="0">
                <a:solidFill>
                  <a:srgbClr val="142B33"/>
                </a:solidFill>
                <a:latin typeface="Calibri"/>
              </a:rPr>
              <a:t>El fraccionado corre </a:t>
            </a:r>
            <a:r>
              <a:rPr sz="1800" b="1">
                <a:solidFill>
                  <a:srgbClr val="142B33"/>
                </a:solidFill>
                <a:latin typeface="Calibri"/>
              </a:rPr>
              <a:t>solo una parte</a:t>
            </a:r>
            <a:r>
              <a:rPr sz="1800" b="0">
                <a:solidFill>
                  <a:srgbClr val="142B33"/>
                </a:solidFill>
                <a:latin typeface="Calibri"/>
              </a:rPr>
              <a:t> del 2</a:t>
            </a:r>
            <a:r>
              <a:rPr sz="1800" b="0" baseline="30000">
                <a:solidFill>
                  <a:srgbClr val="142B33"/>
                </a:solidFill>
                <a:latin typeface="Calibri"/>
              </a:rPr>
              <a:t>k</a:t>
            </a:r>
            <a:r>
              <a:rPr sz="1800" b="0">
                <a:solidFill>
                  <a:srgbClr val="142B33"/>
                </a:solidFill>
                <a:latin typeface="Calibri"/>
              </a:rPr>
              <a:t>, elegida con criterio</a:t>
            </a:r>
          </a:p>
          <a:p>
            <a:pPr marL="320040" indent="-320040">
              <a:spcAft>
                <a:spcPts val="600"/>
              </a:spcAft>
              <a:buClr>
                <a:srgbClr val="E36414"/>
              </a:buClr>
              <a:buFont typeface="Arial"/>
              <a:buChar char="•"/>
            </a:pPr>
            <a:r>
              <a:rPr sz="1800" b="0">
                <a:solidFill>
                  <a:srgbClr val="142B33"/>
                </a:solidFill>
                <a:latin typeface="Calibri"/>
              </a:rPr>
              <a:t>Uso principal: </a:t>
            </a:r>
            <a:r>
              <a:rPr sz="1800" b="1">
                <a:solidFill>
                  <a:srgbClr val="142B33"/>
                </a:solidFill>
                <a:latin typeface="Calibri"/>
              </a:rPr>
              <a:t>tamizado</a:t>
            </a:r>
            <a:r>
              <a:rPr sz="1800" b="0">
                <a:solidFill>
                  <a:srgbClr val="142B33"/>
                </a:solidFill>
                <a:latin typeface="Calibri"/>
              </a:rPr>
              <a:t> de factores en etapas tempranas</a:t>
            </a:r>
          </a:p>
        </p:txBody>
      </p:sp>
      <p:sp>
        <p:nvSpPr>
          <p:cNvPr id="4" name="Rounded Rectangle 3"/>
          <p:cNvSpPr/>
          <p:nvPr/>
        </p:nvSpPr>
        <p:spPr>
          <a:xfrm>
            <a:off x="548640" y="4178808"/>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costo: algunos efectos quedan mezclados entre sí (</a:t>
            </a:r>
            <a:r>
              <a:rPr sz="1600" b="1">
                <a:solidFill>
                  <a:srgbClr val="142B33"/>
                </a:solidFill>
                <a:latin typeface="Calibri"/>
              </a:rPr>
              <a:t>alias</a:t>
            </a:r>
            <a:r>
              <a:rPr sz="1600" b="0">
                <a:solidFill>
                  <a:srgbClr val="142B33"/>
                </a:solidFill>
                <a:latin typeface="Calibri"/>
              </a:rPr>
              <a:t>)</a:t>
            </a:r>
          </a:p>
        </p:txBody>
      </p:sp>
      <p:graphicFrame>
        <p:nvGraphicFramePr>
          <p:cNvPr id="5" name="Chart 4"/>
          <p:cNvGraphicFramePr>
            <a:graphicFrameLocks noGrp="1"/>
          </p:cNvGraphicFramePr>
          <p:nvPr/>
        </p:nvGraphicFramePr>
        <p:xfrm>
          <a:off x="6301587" y="1417320"/>
          <a:ext cx="5341467" cy="420624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gastan las corridas de un 2</a:t>
            </a:r>
            <a:r>
              <a:rPr sz="3000" b="1" baseline="30000">
                <a:solidFill>
                  <a:srgbClr val="0F4C5C"/>
                </a:solidFill>
                <a:latin typeface="Cambria"/>
              </a:rPr>
              <a:t>k</a:t>
            </a:r>
            <a:r>
              <a:rPr sz="3000" b="1">
                <a:solidFill>
                  <a:srgbClr val="0F4C5C"/>
                </a:solidFill>
                <a:latin typeface="Cambria"/>
              </a:rPr>
              <a:t> completo?</a:t>
            </a:r>
          </a:p>
        </p:txBody>
      </p:sp>
      <p:graphicFrame>
        <p:nvGraphicFramePr>
          <p:cNvPr id="3" name="Table 2"/>
          <p:cNvGraphicFramePr>
            <a:graphicFrameLocks noGrp="1"/>
          </p:cNvGraphicFramePr>
          <p:nvPr/>
        </p:nvGraphicFramePr>
        <p:xfrm>
          <a:off x="548640" y="1417320"/>
          <a:ext cx="11094413" cy="2448560"/>
        </p:xfrm>
        <a:graphic>
          <a:graphicData uri="http://schemas.openxmlformats.org/drawingml/2006/table">
            <a:tbl>
              <a:tblPr firstRow="0" bandRow="0">
                <a:tableStyleId>{5C22544A-7EE6-4342-B048-85BDC9FD1C3A}</a:tableStyleId>
              </a:tblPr>
              <a:tblGrid>
                <a:gridCol w="1125415"/>
                <a:gridCol w="1219804"/>
                <a:gridCol w="1974922"/>
                <a:gridCol w="2730039"/>
                <a:gridCol w="2446870"/>
                <a:gridCol w="1597363"/>
              </a:tblGrid>
              <a:tr h="614680">
                <a:tc>
                  <a:txBody>
                    <a:bodyPr/>
                    <a:lstStyle/>
                    <a:p>
                      <a:pPr algn="ctr"/>
                      <a:r>
                        <a:rPr sz="1600" b="1">
                          <a:solidFill>
                            <a:srgbClr val="FFFFFF"/>
                          </a:solidFill>
                          <a:latin typeface="Calibri"/>
                        </a:rPr>
                        <a:t>Factores k</a:t>
                      </a:r>
                    </a:p>
                  </a:txBody>
                  <a:tcPr marL="73152" marR="73152" marT="27432" marB="27432" anchor="ctr">
                    <a:solidFill>
                      <a:srgbClr val="0F4C5C"/>
                    </a:solidFill>
                  </a:tcPr>
                </a:tc>
                <a:tc>
                  <a:txBody>
                    <a:bodyPr/>
                    <a:lstStyle/>
                    <a:p>
                      <a:pPr algn="ctr"/>
                      <a:r>
                        <a:rPr sz="1600" b="1">
                          <a:solidFill>
                            <a:srgbClr val="FFFFFF"/>
                          </a:solidFill>
                          <a:latin typeface="Calibri"/>
                        </a:rPr>
                        <a:t>Corridas 2</a:t>
                      </a:r>
                      <a:r>
                        <a:rPr sz="1600" b="1" baseline="30000">
                          <a:solidFill>
                            <a:srgbClr val="FFFFFF"/>
                          </a:solidFill>
                          <a:latin typeface="Calibri"/>
                        </a:rPr>
                        <a:t>k</a:t>
                      </a:r>
                    </a:p>
                  </a:txBody>
                  <a:tcPr marL="73152" marR="73152" marT="27432" marB="27432" anchor="ctr">
                    <a:solidFill>
                      <a:srgbClr val="0F4C5C"/>
                    </a:solidFill>
                  </a:tcPr>
                </a:tc>
                <a:tc>
                  <a:txBody>
                    <a:bodyPr/>
                    <a:lstStyle/>
                    <a:p>
                      <a:pPr algn="ctr"/>
                      <a:r>
                        <a:rPr sz="1600" b="1">
                          <a:solidFill>
                            <a:srgbClr val="FFFFFF"/>
                          </a:solidFill>
                          <a:latin typeface="Calibri"/>
                        </a:rPr>
                        <a:t>Efectos principales</a:t>
                      </a:r>
                    </a:p>
                  </a:txBody>
                  <a:tcPr marL="73152" marR="73152" marT="27432" marB="27432" anchor="ctr">
                    <a:solidFill>
                      <a:srgbClr val="0F4C5C"/>
                    </a:solidFill>
                  </a:tcPr>
                </a:tc>
                <a:tc>
                  <a:txBody>
                    <a:bodyPr/>
                    <a:lstStyle/>
                    <a:p>
                      <a:pPr algn="ctr"/>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Interacciones de 3 o más</a:t>
                      </a:r>
                    </a:p>
                  </a:txBody>
                  <a:tcPr marL="73152" marR="73152" marT="27432" marB="27432" anchor="ctr">
                    <a:solidFill>
                      <a:srgbClr val="0F4C5C"/>
                    </a:solidFill>
                  </a:tcPr>
                </a:tc>
                <a:tc>
                  <a:txBody>
                    <a:bodyPr/>
                    <a:lstStyle/>
                    <a:p>
                      <a:pPr algn="ctr"/>
                      <a:r>
                        <a:rPr sz="1600" b="1">
                          <a:solidFill>
                            <a:srgbClr val="FFFFFF"/>
                          </a:solidFill>
                          <a:latin typeface="Calibri"/>
                        </a:rPr>
                        <a:t>% en orden alto</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6</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33 %</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10</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52 %</a:t>
                      </a:r>
                    </a:p>
                  </a:txBody>
                  <a:tcPr marL="73152" marR="73152" marT="27432" marB="27432" anchor="ctr">
                    <a:solidFill>
                      <a:srgbClr val="F4F8F9"/>
                    </a:solidFill>
                  </a:tcPr>
                </a:tc>
              </a:tr>
              <a:tr h="366776">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64</a:t>
                      </a:r>
                    </a:p>
                  </a:txBody>
                  <a:tcPr marL="73152" marR="73152" marT="27432" marB="27432" anchor="ctr">
                    <a:solidFill>
                      <a:srgbClr val="FDE8D7"/>
                    </a:solidFill>
                  </a:tcPr>
                </a:tc>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15</a:t>
                      </a:r>
                    </a:p>
                  </a:txBody>
                  <a:tcPr marL="73152" marR="73152" marT="27432" marB="27432" anchor="ctr">
                    <a:solidFill>
                      <a:srgbClr val="FDE8D7"/>
                    </a:solidFill>
                  </a:tcPr>
                </a:tc>
                <a:tc>
                  <a:txBody>
                    <a:bodyPr/>
                    <a:lstStyle/>
                    <a:p>
                      <a:pPr algn="ctr"/>
                      <a:r>
                        <a:rPr sz="1600" b="0">
                          <a:solidFill>
                            <a:srgbClr val="142B33"/>
                          </a:solidFill>
                          <a:latin typeface="Calibri"/>
                        </a:rPr>
                        <a:t>42</a:t>
                      </a:r>
                    </a:p>
                  </a:txBody>
                  <a:tcPr marL="73152" marR="73152" marT="27432" marB="27432" anchor="ctr">
                    <a:solidFill>
                      <a:srgbClr val="FDE8D7"/>
                    </a:solidFill>
                  </a:tcPr>
                </a:tc>
                <a:tc>
                  <a:txBody>
                    <a:bodyPr/>
                    <a:lstStyle/>
                    <a:p>
                      <a:pPr algn="ctr"/>
                      <a:r>
                        <a:rPr sz="1600" b="0">
                          <a:solidFill>
                            <a:srgbClr val="142B33"/>
                          </a:solidFill>
                          <a:latin typeface="Calibri"/>
                        </a:rPr>
                        <a:t>67 %</a:t>
                      </a:r>
                    </a:p>
                  </a:txBody>
                  <a:tcPr marL="73152" marR="73152" marT="27432" marB="27432" anchor="ctr">
                    <a:solidFill>
                      <a:srgbClr val="FDE8D7"/>
                    </a:solidFill>
                  </a:tcPr>
                </a:tc>
              </a:tr>
              <a:tr h="366776">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128</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21</a:t>
                      </a:r>
                    </a:p>
                  </a:txBody>
                  <a:tcPr marL="73152" marR="73152" marT="27432" marB="27432" anchor="ctr">
                    <a:solidFill>
                      <a:srgbClr val="F4F8F9"/>
                    </a:solidFill>
                  </a:tcPr>
                </a:tc>
                <a:tc>
                  <a:txBody>
                    <a:bodyPr/>
                    <a:lstStyle/>
                    <a:p>
                      <a:pPr algn="ctr"/>
                      <a:r>
                        <a:rPr sz="1600" b="0">
                          <a:solidFill>
                            <a:srgbClr val="142B33"/>
                          </a:solidFill>
                          <a:latin typeface="Calibri"/>
                        </a:rPr>
                        <a:t>99</a:t>
                      </a:r>
                    </a:p>
                  </a:txBody>
                  <a:tcPr marL="73152" marR="73152" marT="27432" marB="27432" anchor="ctr">
                    <a:solidFill>
                      <a:srgbClr val="F4F8F9"/>
                    </a:solidFill>
                  </a:tcPr>
                </a:tc>
                <a:tc>
                  <a:txBody>
                    <a:bodyPr/>
                    <a:lstStyle/>
                    <a:p>
                      <a:pPr algn="ctr"/>
                      <a:r>
                        <a:rPr sz="1600" b="0">
                          <a:solidFill>
                            <a:srgbClr val="142B33"/>
                          </a:solidFill>
                          <a:latin typeface="Calibri"/>
                        </a:rPr>
                        <a:t>78 %</a:t>
                      </a:r>
                    </a:p>
                  </a:txBody>
                  <a:tcPr marL="73152" marR="73152" marT="27432" marB="27432" anchor="ctr">
                    <a:solidFill>
                      <a:srgbClr val="F4F8F9"/>
                    </a:solidFill>
                  </a:tcPr>
                </a:tc>
              </a:tr>
              <a:tr h="366776">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256</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28</a:t>
                      </a:r>
                    </a:p>
                  </a:txBody>
                  <a:tcPr marL="73152" marR="73152" marT="27432" marB="27432" anchor="ctr">
                    <a:solidFill>
                      <a:srgbClr val="FFFFFF"/>
                    </a:solidFill>
                  </a:tcPr>
                </a:tc>
                <a:tc>
                  <a:txBody>
                    <a:bodyPr/>
                    <a:lstStyle/>
                    <a:p>
                      <a:pPr algn="ctr"/>
                      <a:r>
                        <a:rPr sz="1600" b="0">
                          <a:solidFill>
                            <a:srgbClr val="142B33"/>
                          </a:solidFill>
                          <a:latin typeface="Calibri"/>
                        </a:rPr>
                        <a:t>219</a:t>
                      </a:r>
                    </a:p>
                  </a:txBody>
                  <a:tcPr marL="73152" marR="73152" marT="27432" marB="27432" anchor="ctr">
                    <a:solidFill>
                      <a:srgbClr val="FFFFFF"/>
                    </a:solidFill>
                  </a:tcPr>
                </a:tc>
                <a:tc>
                  <a:txBody>
                    <a:bodyPr/>
                    <a:lstStyle/>
                    <a:p>
                      <a:pPr algn="ctr"/>
                      <a:r>
                        <a:rPr sz="1600" b="0">
                          <a:solidFill>
                            <a:srgbClr val="142B33"/>
                          </a:solidFill>
                          <a:latin typeface="Calibri"/>
                        </a:rPr>
                        <a:t>86 %</a:t>
                      </a:r>
                    </a:p>
                  </a:txBody>
                  <a:tcPr marL="73152" marR="73152" marT="27432" marB="27432" anchor="ctr">
                    <a:solidFill>
                      <a:srgbClr val="FFFFFF"/>
                    </a:solidFill>
                  </a:tcPr>
                </a:tc>
              </a:tr>
            </a:tbl>
          </a:graphicData>
        </a:graphic>
      </p:graphicFrame>
      <p:sp>
        <p:nvSpPr>
          <p:cNvPr id="4" name="Rounded Rectangle 3"/>
          <p:cNvSpPr/>
          <p:nvPr/>
        </p:nvSpPr>
        <p:spPr>
          <a:xfrm>
            <a:off x="548640" y="406704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En un 2</a:t>
            </a:r>
            <a:r>
              <a:rPr sz="1600" b="0" baseline="30000">
                <a:solidFill>
                  <a:srgbClr val="142B33"/>
                </a:solidFill>
                <a:latin typeface="Calibri"/>
              </a:rPr>
              <a:t>6</a:t>
            </a:r>
            <a:r>
              <a:rPr sz="1600" b="0">
                <a:solidFill>
                  <a:srgbClr val="142B33"/>
                </a:solidFill>
                <a:latin typeface="Calibri"/>
              </a:rPr>
              <a:t>, </a:t>
            </a:r>
            <a:r>
              <a:rPr sz="1600" b="1">
                <a:solidFill>
                  <a:srgbClr val="142B33"/>
                </a:solidFill>
                <a:latin typeface="Calibri"/>
              </a:rPr>
              <a:t>42 de 63</a:t>
            </a:r>
            <a:r>
              <a:rPr sz="1600" b="0">
                <a:solidFill>
                  <a:srgbClr val="142B33"/>
                </a:solidFill>
                <a:latin typeface="Calibri"/>
              </a:rPr>
              <a:t> grados de libertad estiman interacciones de tres o más factores. Si se pueden suponer despreciables, esa es la información que el fraccionado sacrifica.</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a:t>
            </a:r>
          </a:p>
        </p:txBody>
      </p:sp>
      <p:sp>
        <p:nvSpPr>
          <p:cNvPr id="7" name="Rounded Rectangle 6"/>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Tres ideas que justifican correr solo una fracción</a:t>
            </a:r>
          </a:p>
        </p:txBody>
      </p:sp>
      <p:sp>
        <p:nvSpPr>
          <p:cNvPr id="3" name="Rounded Rectangle 2"/>
          <p:cNvSpPr/>
          <p:nvPr/>
        </p:nvSpPr>
        <p:spPr>
          <a:xfrm>
            <a:off x="548640"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Escasez de efectos</a:t>
            </a:r>
          </a:p>
          <a:p>
            <a:pPr algn="l"/>
            <a:r>
              <a:rPr sz="2200" b="0">
                <a:solidFill>
                  <a:srgbClr val="142B33"/>
                </a:solidFill>
                <a:latin typeface="Calibri"/>
              </a:rPr>
              <a:t>De muchos factores, pocos son activos. Dominan los efectos principales y las interacciones de orden bajo.</a:t>
            </a:r>
          </a:p>
        </p:txBody>
      </p:sp>
      <p:sp>
        <p:nvSpPr>
          <p:cNvPr id="4" name="Rounded Rectangle 3"/>
          <p:cNvSpPr/>
          <p:nvPr/>
        </p:nvSpPr>
        <p:spPr>
          <a:xfrm>
            <a:off x="4322978"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Proyección</a:t>
            </a:r>
          </a:p>
          <a:p>
            <a:pPr algn="l"/>
            <a:r>
              <a:rPr sz="2200" b="0">
                <a:solidFill>
                  <a:srgbClr val="142B33"/>
                </a:solidFill>
                <a:latin typeface="Calibri"/>
              </a:rPr>
              <a:t>Al descartar factores inactivos, la fracción se proyecta en un diseño más fuerte en los que quedan, a menudo un factorial completo.</a:t>
            </a:r>
          </a:p>
        </p:txBody>
      </p:sp>
      <p:sp>
        <p:nvSpPr>
          <p:cNvPr id="5" name="Rounded Rectangle 4"/>
          <p:cNvSpPr/>
          <p:nvPr/>
        </p:nvSpPr>
        <p:spPr>
          <a:xfrm>
            <a:off x="8097316"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Experimentación secuencial</a:t>
            </a:r>
          </a:p>
          <a:p>
            <a:pPr algn="l"/>
            <a:r>
              <a:rPr sz="2200" b="0">
                <a:solidFill>
                  <a:srgbClr val="142B33"/>
                </a:solidFill>
                <a:latin typeface="Calibri"/>
              </a:rPr>
              <a:t>Se corre una fracción, se analiza y se decide. Dos fracciones se combinan para resolver dudas.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¿Cuándo usar un factorial fraccionado?</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Úselo cuando…</a:t>
            </a:r>
          </a:p>
        </p:txBody>
      </p:sp>
      <p:sp>
        <p:nvSpPr>
          <p:cNvPr id="4" name="TextBox 3"/>
          <p:cNvSpPr txBox="1"/>
          <p:nvPr/>
        </p:nvSpPr>
        <p:spPr>
          <a:xfrm>
            <a:off x="548640"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a:t>
            </a:r>
            <a:r>
              <a:rPr sz="1800" b="1">
                <a:solidFill>
                  <a:srgbClr val="142B33"/>
                </a:solidFill>
                <a:latin typeface="Calibri"/>
              </a:rPr>
              <a:t>muchos factores</a:t>
            </a:r>
            <a:r>
              <a:rPr sz="1800" b="0">
                <a:solidFill>
                  <a:srgbClr val="142B33"/>
                </a:solidFill>
                <a:latin typeface="Calibri"/>
              </a:rPr>
              <a:t> candidatos</a:t>
            </a:r>
          </a:p>
          <a:p>
            <a:pPr marL="320040" indent="-320040">
              <a:spcAft>
                <a:spcPts val="600"/>
              </a:spcAft>
              <a:buClr>
                <a:srgbClr val="E36414"/>
              </a:buClr>
              <a:buFont typeface="Arial"/>
              <a:buChar char="•"/>
            </a:pPr>
            <a:r>
              <a:rPr sz="1800" b="0">
                <a:solidFill>
                  <a:srgbClr val="142B33"/>
                </a:solidFill>
                <a:latin typeface="Calibri"/>
              </a:rPr>
              <a:t>Cada corrida es </a:t>
            </a:r>
            <a:r>
              <a:rPr sz="1800" b="1">
                <a:solidFill>
                  <a:srgbClr val="142B33"/>
                </a:solidFill>
                <a:latin typeface="Calibri"/>
              </a:rPr>
              <a:t>costosa o lenta</a:t>
            </a:r>
          </a:p>
          <a:p>
            <a:pPr marL="320040" indent="-320040">
              <a:spcAft>
                <a:spcPts val="600"/>
              </a:spcAft>
              <a:buClr>
                <a:srgbClr val="E36414"/>
              </a:buClr>
              <a:buFont typeface="Arial"/>
              <a:buChar char="•"/>
            </a:pPr>
            <a:r>
              <a:rPr sz="1800" b="0">
                <a:solidFill>
                  <a:srgbClr val="142B33"/>
                </a:solidFill>
                <a:latin typeface="Calibri"/>
              </a:rPr>
              <a:t>La etapa es </a:t>
            </a:r>
            <a:r>
              <a:rPr sz="1800" b="1">
                <a:solidFill>
                  <a:srgbClr val="142B33"/>
                </a:solidFill>
                <a:latin typeface="Calibri"/>
              </a:rPr>
              <a:t>exploratoria</a:t>
            </a:r>
            <a:r>
              <a:rPr sz="1800" b="0">
                <a:solidFill>
                  <a:srgbClr val="142B33"/>
                </a:solidFill>
                <a:latin typeface="Calibri"/>
              </a:rPr>
              <a:t>: interesa saber qué factores importan</a:t>
            </a:r>
          </a:p>
          <a:p>
            <a:pPr marL="320040" indent="-320040">
              <a:spcAft>
                <a:spcPts val="600"/>
              </a:spcAft>
              <a:buClr>
                <a:srgbClr val="E36414"/>
              </a:buClr>
              <a:buFont typeface="Arial"/>
              <a:buChar char="•"/>
            </a:pPr>
            <a:r>
              <a:rPr sz="1800" b="0">
                <a:solidFill>
                  <a:srgbClr val="142B33"/>
                </a:solidFill>
                <a:latin typeface="Calibri"/>
              </a:rPr>
              <a:t>Es razonable despreciar interacciones de </a:t>
            </a:r>
            <a:r>
              <a:rPr sz="1800" b="1">
                <a:solidFill>
                  <a:srgbClr val="142B33"/>
                </a:solidFill>
                <a:latin typeface="Calibri"/>
              </a:rPr>
              <a:t>tres o más</a:t>
            </a:r>
            <a:r>
              <a:rPr sz="1800" b="0">
                <a:solidFill>
                  <a:srgbClr val="142B33"/>
                </a:solidFill>
                <a:latin typeface="Calibri"/>
              </a:rPr>
              <a:t> factores</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Tenga cuidado cuando…</a:t>
            </a:r>
          </a:p>
        </p:txBody>
      </p:sp>
      <p:sp>
        <p:nvSpPr>
          <p:cNvPr id="6" name="TextBox 5"/>
          <p:cNvSpPr txBox="1"/>
          <p:nvPr/>
        </p:nvSpPr>
        <p:spPr>
          <a:xfrm>
            <a:off x="6301587"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pocos factores y el factorial completo es barato</a:t>
            </a:r>
          </a:p>
          <a:p>
            <a:pPr marL="320040" indent="-320040">
              <a:spcAft>
                <a:spcPts val="600"/>
              </a:spcAft>
              <a:buClr>
                <a:srgbClr val="E36414"/>
              </a:buClr>
              <a:buFont typeface="Arial"/>
              <a:buChar char="•"/>
            </a:pPr>
            <a:r>
              <a:rPr sz="1800" b="0">
                <a:solidFill>
                  <a:srgbClr val="142B33"/>
                </a:solidFill>
                <a:latin typeface="Calibri"/>
              </a:rPr>
              <a:t>Se esperan interacciones entre muchos factores</a:t>
            </a:r>
          </a:p>
          <a:p>
            <a:pPr marL="320040" indent="-320040">
              <a:spcAft>
                <a:spcPts val="600"/>
              </a:spcAft>
              <a:buClr>
                <a:srgbClr val="E36414"/>
              </a:buClr>
              <a:buFont typeface="Arial"/>
              <a:buChar char="•"/>
            </a:pPr>
            <a:r>
              <a:rPr sz="1800" b="0">
                <a:solidFill>
                  <a:srgbClr val="142B33"/>
                </a:solidFill>
                <a:latin typeface="Calibri"/>
              </a:rPr>
              <a:t>El objetivo es </a:t>
            </a:r>
            <a:r>
              <a:rPr sz="1800" b="1">
                <a:solidFill>
                  <a:srgbClr val="142B33"/>
                </a:solidFill>
                <a:latin typeface="Calibri"/>
              </a:rPr>
              <a:t>optimizar</a:t>
            </a:r>
            <a:r>
              <a:rPr sz="1800" b="0">
                <a:solidFill>
                  <a:srgbClr val="142B33"/>
                </a:solidFill>
                <a:latin typeface="Calibri"/>
              </a:rPr>
              <a:t>, no tamizar</a:t>
            </a:r>
          </a:p>
          <a:p>
            <a:pPr marL="320040" indent="-320040">
              <a:spcAft>
                <a:spcPts val="600"/>
              </a:spcAft>
              <a:buClr>
                <a:srgbClr val="E36414"/>
              </a:buClr>
              <a:buFont typeface="Arial"/>
              <a:buChar char="•"/>
            </a:pPr>
            <a:r>
              <a:rPr sz="1800" b="0">
                <a:solidFill>
                  <a:srgbClr val="142B33"/>
                </a:solidFill>
                <a:latin typeface="Calibri"/>
              </a:rPr>
              <a:t>No habrá recursos para </a:t>
            </a:r>
            <a:r>
              <a:rPr sz="1800" b="1">
                <a:solidFill>
                  <a:srgbClr val="142B33"/>
                </a:solidFill>
                <a:latin typeface="Calibri"/>
              </a:rPr>
              <a:t>confirmar</a:t>
            </a:r>
            <a:r>
              <a:rPr sz="1800" b="0">
                <a:solidFill>
                  <a:srgbClr val="142B33"/>
                </a:solidFill>
                <a:latin typeface="Calibri"/>
              </a:rPr>
              <a:t> las conclusiones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2</a:t>
            </a:r>
            <a:r>
              <a:rPr sz="3000" b="1" baseline="30000">
                <a:solidFill>
                  <a:srgbClr val="0F4C5C"/>
                </a:solidFill>
                <a:latin typeface="Cambria"/>
              </a:rPr>
              <a:t>k−p</a:t>
            </a:r>
            <a:r>
              <a:rPr sz="3000" b="1">
                <a:solidFill>
                  <a:srgbClr val="0F4C5C"/>
                </a:solidFill>
                <a:latin typeface="Cambria"/>
              </a:rPr>
              <a:t>?</a:t>
            </a:r>
          </a:p>
        </p:txBody>
      </p:sp>
      <p:sp>
        <p:nvSpPr>
          <p:cNvPr id="3" name="Rounded Rectangle 2"/>
          <p:cNvSpPr/>
          <p:nvPr/>
        </p:nvSpPr>
        <p:spPr>
          <a:xfrm>
            <a:off x="548640" y="1417320"/>
            <a:ext cx="4914150" cy="121139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5400" b="0">
                <a:solidFill>
                  <a:srgbClr val="0F4C5C"/>
                </a:solidFill>
                <a:latin typeface="Cambria Math"/>
              </a:rPr>
              <a:t>2</a:t>
            </a:r>
            <a:r>
              <a:rPr sz="5400" b="0" baseline="30000">
                <a:solidFill>
                  <a:srgbClr val="0F4C5C"/>
                </a:solidFill>
                <a:latin typeface="Cambria Math"/>
              </a:rPr>
              <a:t>k−p</a:t>
            </a:r>
          </a:p>
        </p:txBody>
      </p:sp>
      <p:sp>
        <p:nvSpPr>
          <p:cNvPr id="4" name="TextBox 3"/>
          <p:cNvSpPr txBox="1"/>
          <p:nvPr/>
        </p:nvSpPr>
        <p:spPr>
          <a:xfrm>
            <a:off x="548640" y="2829885"/>
            <a:ext cx="4914150" cy="18059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2</a:t>
            </a:r>
            <a:r>
              <a:rPr sz="1800" b="0">
                <a:solidFill>
                  <a:srgbClr val="142B33"/>
                </a:solidFill>
                <a:latin typeface="Calibri"/>
              </a:rPr>
              <a:t>: niveles de cada factor (−1 y +1)</a:t>
            </a:r>
          </a:p>
          <a:p>
            <a:pPr marL="320040" indent="-320040">
              <a:spcAft>
                <a:spcPts val="600"/>
              </a:spcAft>
              <a:buClr>
                <a:srgbClr val="E36414"/>
              </a:buClr>
              <a:buFont typeface="Arial"/>
              <a:buChar char="•"/>
            </a:pPr>
            <a:r>
              <a:rPr sz="1800" b="1">
                <a:solidFill>
                  <a:srgbClr val="142B33"/>
                </a:solidFill>
                <a:latin typeface="Calibri"/>
              </a:rPr>
              <a:t>k</a:t>
            </a:r>
            <a:r>
              <a:rPr sz="1800" b="0">
                <a:solidFill>
                  <a:srgbClr val="142B33"/>
                </a:solidFill>
                <a:latin typeface="Calibri"/>
              </a:rPr>
              <a:t>: número de factores</a:t>
            </a:r>
          </a:p>
          <a:p>
            <a:pPr marL="320040" indent="-320040">
              <a:spcAft>
                <a:spcPts val="600"/>
              </a:spcAft>
              <a:buClr>
                <a:srgbClr val="E36414"/>
              </a:buClr>
              <a:buFont typeface="Arial"/>
              <a:buChar char="•"/>
            </a:pPr>
            <a:r>
              <a:rPr sz="1800" b="1">
                <a:solidFill>
                  <a:srgbClr val="142B33"/>
                </a:solidFill>
                <a:latin typeface="Calibri"/>
              </a:rPr>
              <a:t>p</a:t>
            </a:r>
            <a:r>
              <a:rPr sz="1800" b="0">
                <a:solidFill>
                  <a:srgbClr val="142B33"/>
                </a:solidFill>
                <a:latin typeface="Calibri"/>
              </a:rPr>
              <a:t>: número de generadores</a:t>
            </a:r>
          </a:p>
          <a:p>
            <a:pPr marL="320040" indent="-320040">
              <a:spcAft>
                <a:spcPts val="600"/>
              </a:spcAft>
              <a:buClr>
                <a:srgbClr val="E36414"/>
              </a:buClr>
              <a:buFont typeface="Arial"/>
              <a:buChar char="•"/>
            </a:pPr>
            <a:r>
              <a:rPr sz="1800" b="1">
                <a:solidFill>
                  <a:srgbClr val="142B33"/>
                </a:solidFill>
                <a:latin typeface="Calibri"/>
              </a:rPr>
              <a:t>N = 2</a:t>
            </a:r>
            <a:r>
              <a:rPr sz="1800" b="1" baseline="30000">
                <a:solidFill>
                  <a:srgbClr val="142B33"/>
                </a:solidFill>
                <a:latin typeface="Calibri"/>
              </a:rPr>
              <a:t>k−p</a:t>
            </a:r>
            <a:r>
              <a:rPr sz="1800" b="0">
                <a:solidFill>
                  <a:srgbClr val="142B33"/>
                </a:solidFill>
                <a:latin typeface="Calibri"/>
              </a:rPr>
              <a:t>: número de corridas</a:t>
            </a:r>
          </a:p>
          <a:p>
            <a:pPr marL="320040" indent="-320040">
              <a:spcAft>
                <a:spcPts val="600"/>
              </a:spcAft>
              <a:buClr>
                <a:srgbClr val="E36414"/>
              </a:buClr>
              <a:buFont typeface="Arial"/>
              <a:buChar char="•"/>
            </a:pPr>
            <a:r>
              <a:rPr sz="1800" b="0">
                <a:solidFill>
                  <a:srgbClr val="142B33"/>
                </a:solidFill>
                <a:latin typeface="Calibri"/>
              </a:rPr>
              <a:t>Fracción </a:t>
            </a:r>
            <a:r>
              <a:rPr sz="1800" b="1">
                <a:solidFill>
                  <a:srgbClr val="142B33"/>
                </a:solidFill>
                <a:latin typeface="Calibri"/>
              </a:rPr>
              <a:t>1/2</a:t>
            </a:r>
            <a:r>
              <a:rPr sz="1800" b="1" baseline="30000">
                <a:solidFill>
                  <a:srgbClr val="142B33"/>
                </a:solidFill>
                <a:latin typeface="Calibri"/>
              </a:rPr>
              <a:t>p</a:t>
            </a:r>
            <a:r>
              <a:rPr sz="1800" b="0">
                <a:solidFill>
                  <a:srgbClr val="142B33"/>
                </a:solidFill>
                <a:latin typeface="Calibri"/>
              </a:rPr>
              <a:t> del factorial completo</a:t>
            </a:r>
          </a:p>
        </p:txBody>
      </p:sp>
      <p:graphicFrame>
        <p:nvGraphicFramePr>
          <p:cNvPr id="5" name="Table 4"/>
          <p:cNvGraphicFramePr>
            <a:graphicFrameLocks noGrp="1"/>
          </p:cNvGraphicFramePr>
          <p:nvPr/>
        </p:nvGraphicFramePr>
        <p:xfrm>
          <a:off x="5874270" y="1417320"/>
          <a:ext cx="5768782" cy="2200656"/>
        </p:xfrm>
        <a:graphic>
          <a:graphicData uri="http://schemas.openxmlformats.org/drawingml/2006/table">
            <a:tbl>
              <a:tblPr firstRow="0" bandRow="0">
                <a:tableStyleId>{5C22544A-7EE6-4342-B048-85BDC9FD1C3A}</a:tableStyleId>
              </a:tblPr>
              <a:tblGrid>
                <a:gridCol w="959910"/>
                <a:gridCol w="1202218"/>
                <a:gridCol w="1202218"/>
                <a:gridCol w="1202218"/>
                <a:gridCol w="1202218"/>
              </a:tblGrid>
              <a:tr h="366776">
                <a:tc>
                  <a:txBody>
                    <a:bodyPr/>
                    <a:lstStyle/>
                    <a:p>
                      <a:pPr algn="ctr"/>
                      <a:r>
                        <a:rPr sz="1600" b="1">
                          <a:solidFill>
                            <a:srgbClr val="FFFFFF"/>
                          </a:solidFill>
                          <a:latin typeface="Calibri"/>
                        </a:rPr>
                        <a:t>Diseño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c>
                  <a:txBody>
                    <a:bodyPr/>
                    <a:lstStyle/>
                    <a:p>
                      <a:pPr algn="ctr"/>
                      <a:r>
                        <a:rPr sz="1600" b="1">
                          <a:solidFill>
                            <a:srgbClr val="FFFFFF"/>
                          </a:solidFill>
                          <a:latin typeface="Calibri"/>
                        </a:rPr>
                        <a:t>Completo</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p>
                  </a:txBody>
                  <a:tcPr marL="73152" marR="73152" marT="27432" marB="27432" anchor="ctr">
                    <a:solidFill>
                      <a:srgbClr val="F4F8F9"/>
                    </a:solidFill>
                  </a:tcPr>
                </a:tc>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1/2</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5−1</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6−2</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1/4</a:t>
                      </a:r>
                    </a:p>
                  </a:txBody>
                  <a:tcPr marL="73152" marR="73152" marT="27432" marB="27432" anchor="ctr">
                    <a:solidFill>
                      <a:srgbClr val="F4F8F9"/>
                    </a:solidFill>
                  </a:tcPr>
                </a:tc>
                <a:tc>
                  <a:txBody>
                    <a:bodyPr/>
                    <a:lstStyle/>
                    <a:p>
                      <a:pPr algn="ctr"/>
                      <a:r>
                        <a:rPr sz="1600" b="0">
                          <a:solidFill>
                            <a:srgbClr val="142B33"/>
                          </a:solidFill>
                          <a:latin typeface="Calibri"/>
                        </a:rPr>
                        <a:t>64</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7−4</a:t>
                      </a:r>
                    </a:p>
                  </a:txBody>
                  <a:tcPr marL="73152" marR="73152" marT="27432" marB="27432" anchor="ctr">
                    <a:solidFill>
                      <a:srgbClr val="FFFFFF"/>
                    </a:solidFill>
                  </a:tcPr>
                </a:tc>
                <a:tc>
                  <a:txBody>
                    <a:bodyPr/>
                    <a:lstStyle/>
                    <a:p>
                      <a:pPr algn="ctr"/>
                      <a:r>
                        <a:rPr sz="1600" b="0">
                          <a:solidFill>
                            <a:srgbClr val="142B33"/>
                          </a:solidFill>
                          <a:latin typeface="Calibri"/>
                        </a:rPr>
                        <a:t>7</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1/16</a:t>
                      </a:r>
                    </a:p>
                  </a:txBody>
                  <a:tcPr marL="73152" marR="73152" marT="27432" marB="27432" anchor="ctr">
                    <a:solidFill>
                      <a:srgbClr val="FFFFFF"/>
                    </a:solidFill>
                  </a:tcPr>
                </a:tc>
                <a:tc>
                  <a:txBody>
                    <a:bodyPr/>
                    <a:lstStyle/>
                    <a:p>
                      <a:pPr algn="ctr"/>
                      <a:r>
                        <a:rPr sz="1600" b="0">
                          <a:solidFill>
                            <a:srgbClr val="142B33"/>
                          </a:solidFill>
                          <a:latin typeface="Calibri"/>
                        </a:rPr>
                        <a:t>128</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Vocabulario propio del diseño</a:t>
            </a:r>
          </a:p>
        </p:txBody>
      </p:sp>
      <p:graphicFrame>
        <p:nvGraphicFramePr>
          <p:cNvPr id="3" name="Table 2"/>
          <p:cNvGraphicFramePr>
            <a:graphicFrameLocks noGrp="1"/>
          </p:cNvGraphicFramePr>
          <p:nvPr/>
        </p:nvGraphicFramePr>
        <p:xfrm>
          <a:off x="548640" y="1417320"/>
          <a:ext cx="11094414" cy="2934208"/>
        </p:xfrm>
        <a:graphic>
          <a:graphicData uri="http://schemas.openxmlformats.org/drawingml/2006/table">
            <a:tbl>
              <a:tblPr firstRow="0" bandRow="0">
                <a:tableStyleId>{5C22544A-7EE6-4342-B048-85BDC9FD1C3A}</a:tableStyleId>
              </a:tblPr>
              <a:tblGrid>
                <a:gridCol w="2884547"/>
                <a:gridCol w="8209867"/>
              </a:tblGrid>
              <a:tr h="366776">
                <a:tc>
                  <a:txBody>
                    <a:bodyPr/>
                    <a:lstStyle/>
                    <a:p>
                      <a:pPr algn="l"/>
                      <a:r>
                        <a:rPr sz="1600" b="1">
                          <a:solidFill>
                            <a:srgbClr val="FFFFFF"/>
                          </a:solidFill>
                          <a:latin typeface="Calibri"/>
                        </a:rPr>
                        <a:t>Término</a:t>
                      </a:r>
                    </a:p>
                  </a:txBody>
                  <a:tcPr marL="73152" marR="73152" marT="27432" marB="27432" anchor="ctr">
                    <a:solidFill>
                      <a:srgbClr val="0F4C5C"/>
                    </a:solidFill>
                  </a:tcPr>
                </a:tc>
                <a:tc>
                  <a:txBody>
                    <a:bodyPr/>
                    <a:lstStyle/>
                    <a:p>
                      <a:pPr algn="l"/>
                      <a:r>
                        <a:rPr sz="1600" b="1">
                          <a:solidFill>
                            <a:srgbClr val="FFFFFF"/>
                          </a:solidFill>
                          <a:latin typeface="Calibri"/>
                        </a:rPr>
                        <a:t>Significado</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a:t>
                      </a:r>
                    </a:p>
                  </a:txBody>
                  <a:tcPr marL="73152" marR="73152" marT="27432" marB="27432" anchor="ctr">
                    <a:solidFill>
                      <a:srgbClr val="FFFFFF"/>
                    </a:solidFill>
                  </a:tcPr>
                </a:tc>
                <a:tc>
                  <a:txBody>
                    <a:bodyPr/>
                    <a:lstStyle/>
                    <a:p>
                      <a:pPr algn="l"/>
                      <a:r>
                        <a:rPr sz="1600" b="0">
                          <a:solidFill>
                            <a:srgbClr val="142B33"/>
                          </a:solidFill>
                          <a:latin typeface="Calibri"/>
                        </a:rPr>
                        <a:t>Interacción que define la fracción: ABCD en I = ABCD (equivale a D = ABC)</a:t>
                      </a:r>
                    </a:p>
                  </a:txBody>
                  <a:tcPr marL="73152" marR="73152" marT="27432" marB="27432" anchor="ctr">
                    <a:solidFill>
                      <a:srgbClr val="FFFFFF"/>
                    </a:solidFill>
                  </a:tcPr>
                </a:tc>
              </a:tr>
              <a:tr h="366776">
                <a:tc>
                  <a:txBody>
                    <a:bodyPr/>
                    <a:lstStyle/>
                    <a:p>
                      <a:pPr algn="l"/>
                      <a:r>
                        <a:rPr sz="1600" b="0">
                          <a:solidFill>
                            <a:srgbClr val="142B33"/>
                          </a:solidFill>
                          <a:latin typeface="Calibri"/>
                        </a:rPr>
                        <a:t>Palabra</a:t>
                      </a:r>
                    </a:p>
                  </a:txBody>
                  <a:tcPr marL="73152" marR="73152" marT="27432" marB="27432" anchor="ctr">
                    <a:solidFill>
                      <a:srgbClr val="F4F8F9"/>
                    </a:solidFill>
                  </a:tcPr>
                </a:tc>
                <a:tc>
                  <a:txBody>
                    <a:bodyPr/>
                    <a:lstStyle/>
                    <a:p>
                      <a:pPr algn="l"/>
                      <a:r>
                        <a:rPr sz="1600" b="0">
                          <a:solidFill>
                            <a:srgbClr val="142B33"/>
                          </a:solidFill>
                          <a:latin typeface="Calibri"/>
                        </a:rPr>
                        <a:t>Cada interacción de la relación de definición: generadores y sus productos</a:t>
                      </a:r>
                    </a:p>
                  </a:txBody>
                  <a:tcPr marL="73152" marR="73152" marT="27432" marB="27432" anchor="ctr">
                    <a:solidFill>
                      <a:srgbClr val="F4F8F9"/>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FFFFF"/>
                    </a:solidFill>
                  </a:tcPr>
                </a:tc>
                <a:tc>
                  <a:txBody>
                    <a:bodyPr/>
                    <a:lstStyle/>
                    <a:p>
                      <a:pPr algn="l"/>
                      <a:r>
                        <a:rPr sz="1600" b="0">
                          <a:solidFill>
                            <a:srgbClr val="142B33"/>
                          </a:solidFill>
                          <a:latin typeface="Calibri"/>
                        </a:rPr>
                        <a:t>El conjunto de todas las palabras, que son iguales a la identidad I</a:t>
                      </a:r>
                    </a:p>
                  </a:txBody>
                  <a:tcPr marL="73152" marR="73152" marT="27432" marB="27432" anchor="ctr">
                    <a:solidFill>
                      <a:srgbClr val="FFFFFF"/>
                    </a:solidFill>
                  </a:tcPr>
                </a:tc>
              </a:tr>
              <a:tr h="366776">
                <a:tc>
                  <a:txBody>
                    <a:bodyPr/>
                    <a:lstStyle/>
                    <a:p>
                      <a:pPr algn="l"/>
                      <a:r>
                        <a:rPr sz="1600" b="0">
                          <a:solidFill>
                            <a:srgbClr val="142B33"/>
                          </a:solidFill>
                          <a:latin typeface="Calibri"/>
                        </a:rPr>
                        <a:t>Alias</a:t>
                      </a:r>
                    </a:p>
                  </a:txBody>
                  <a:tcPr marL="73152" marR="73152" marT="27432" marB="27432" anchor="ctr">
                    <a:solidFill>
                      <a:srgbClr val="F4F8F9"/>
                    </a:solidFill>
                  </a:tcPr>
                </a:tc>
                <a:tc>
                  <a:txBody>
                    <a:bodyPr/>
                    <a:lstStyle/>
                    <a:p>
                      <a:pPr algn="l"/>
                      <a:r>
                        <a:rPr sz="1600" b="0">
                          <a:solidFill>
                            <a:srgbClr val="142B33"/>
                          </a:solidFill>
                          <a:latin typeface="Calibri"/>
                        </a:rPr>
                        <a:t>Efectos que comparten columna de signos (igual u opuesta) y no se distinguen</a:t>
                      </a:r>
                    </a:p>
                  </a:txBody>
                  <a:tcPr marL="73152" marR="73152" marT="27432" marB="27432" anchor="ctr">
                    <a:solidFill>
                      <a:srgbClr val="F4F8F9"/>
                    </a:solidFill>
                  </a:tcPr>
                </a:tc>
              </a:tr>
              <a:tr h="366776">
                <a:tc>
                  <a:txBody>
                    <a:bodyPr/>
                    <a:lstStyle/>
                    <a:p>
                      <a:pPr algn="l"/>
                      <a:r>
                        <a:rPr sz="1600" b="0">
                          <a:solidFill>
                            <a:srgbClr val="142B33"/>
                          </a:solidFill>
                          <a:latin typeface="Calibri"/>
                        </a:rPr>
                        <a:t>Fracción principal</a:t>
                      </a:r>
                    </a:p>
                  </a:txBody>
                  <a:tcPr marL="73152" marR="73152" marT="27432" marB="27432" anchor="ctr">
                    <a:solidFill>
                      <a:srgbClr val="FFFFFF"/>
                    </a:solidFill>
                  </a:tcPr>
                </a:tc>
                <a:tc>
                  <a:txBody>
                    <a:bodyPr/>
                    <a:lstStyle/>
                    <a:p>
                      <a:pPr algn="l"/>
                      <a:r>
                        <a:rPr sz="1600" b="0">
                          <a:solidFill>
                            <a:srgbClr val="142B33"/>
                          </a:solidFill>
                          <a:latin typeface="Calibri"/>
                        </a:rPr>
                        <a:t>La que usa todos los generadores con signo +</a:t>
                      </a:r>
                    </a:p>
                  </a:txBody>
                  <a:tcPr marL="73152" marR="73152" marT="27432" marB="27432" anchor="ctr">
                    <a:solidFill>
                      <a:srgbClr val="FFFFFF"/>
                    </a:solidFill>
                  </a:tcPr>
                </a:tc>
              </a:tr>
              <a:tr h="366776">
                <a:tc>
                  <a:txBody>
                    <a:bodyPr/>
                    <a:lstStyle/>
                    <a:p>
                      <a:pPr algn="l"/>
                      <a:r>
                        <a:rPr sz="1600" b="0">
                          <a:solidFill>
                            <a:srgbClr val="142B33"/>
                          </a:solidFill>
                          <a:latin typeface="Calibri"/>
                        </a:rPr>
                        <a:t>Fracción alterna</a:t>
                      </a:r>
                    </a:p>
                  </a:txBody>
                  <a:tcPr marL="73152" marR="73152" marT="27432" marB="27432" anchor="ctr">
                    <a:solidFill>
                      <a:srgbClr val="F4F8F9"/>
                    </a:solidFill>
                  </a:tcPr>
                </a:tc>
                <a:tc>
                  <a:txBody>
                    <a:bodyPr/>
                    <a:lstStyle/>
                    <a:p>
                      <a:pPr algn="l"/>
                      <a:r>
                        <a:rPr sz="1600" b="0">
                          <a:solidFill>
                            <a:srgbClr val="142B33"/>
                          </a:solidFill>
                          <a:latin typeface="Calibri"/>
                        </a:rPr>
                        <a:t>Cualquier otra de la misma familia (algún generador con signo −)</a:t>
                      </a:r>
                    </a:p>
                  </a:txBody>
                  <a:tcPr marL="73152" marR="73152" marT="27432" marB="27432" anchor="ctr">
                    <a:solidFill>
                      <a:srgbClr val="F4F8F9"/>
                    </a:solidFill>
                  </a:tcPr>
                </a:tc>
              </a:tr>
              <a:tr h="366776">
                <a:tc>
                  <a:txBody>
                    <a:bodyPr/>
                    <a:lstStyle/>
                    <a:p>
                      <a:pPr algn="l"/>
                      <a:r>
                        <a:rPr sz="1600" b="0">
                          <a:solidFill>
                            <a:srgbClr val="142B33"/>
                          </a:solidFill>
                          <a:latin typeface="Calibri"/>
                        </a:rPr>
                        <a:t>Diseño básico</a:t>
                      </a:r>
                    </a:p>
                  </a:txBody>
                  <a:tcPr marL="73152" marR="73152" marT="27432" marB="27432" anchor="ctr">
                    <a:solidFill>
                      <a:srgbClr val="FFFFFF"/>
                    </a:solidFill>
                  </a:tcPr>
                </a:tc>
                <a:tc>
                  <a:txBody>
                    <a:bodyPr/>
                    <a:lstStyle/>
                    <a:p>
                      <a:pPr algn="l"/>
                      <a:r>
                        <a:rPr sz="1600" b="0">
                          <a:solidFill>
                            <a:srgbClr val="142B33"/>
                          </a:solidFill>
                          <a:latin typeface="Calibri"/>
                        </a:rPr>
                        <a:t>Factorial completo en k − p factores sobre el que se construye</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a:t>
            </a:r>
          </a:p>
        </p:txBody>
      </p:sp>
      <p:sp>
        <p:nvSpPr>
          <p:cNvPr id="6" name="Rounded Rectangle 5"/>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lee la tabla de un factorial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9" cy="3626358"/>
        </p:xfrm>
        <a:graphic>
          <a:graphicData uri="http://schemas.openxmlformats.org/drawingml/2006/table">
            <a:tbl>
              <a:tblPr firstRow="0" bandRow="0">
                <a:tableStyleId>{5C22544A-7EE6-4342-B048-85BDC9FD1C3A}</a:tableStyleId>
              </a:tblPr>
              <a:tblGrid>
                <a:gridCol w="777717"/>
                <a:gridCol w="538419"/>
                <a:gridCol w="538419"/>
                <a:gridCol w="538419"/>
                <a:gridCol w="897366"/>
                <a:gridCol w="2692099"/>
              </a:tblGrid>
              <a:tr h="58369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Etiqueta</a:t>
                      </a:r>
                    </a:p>
                  </a:txBody>
                  <a:tcPr marL="73152" marR="73152" marT="27432" marB="27432" anchor="ctr">
                    <a:solidFill>
                      <a:srgbClr val="0F4C5C"/>
                    </a:solidFill>
                  </a:tcPr>
                </a:tc>
                <a:tc>
                  <a:txBody>
                    <a:bodyPr/>
                    <a:lstStyle/>
                    <a:p>
                      <a:pPr algn="ctr"/>
                      <a:r>
                        <a:rPr sz="1500" b="1">
                          <a:solidFill>
                            <a:srgbClr val="FFFFFF"/>
                          </a:solidFill>
                          <a:latin typeface="Calibri"/>
                        </a:rPr>
                        <a:t>Factores en nivel alto</a:t>
                      </a:r>
                    </a:p>
                  </a:txBody>
                  <a:tcPr marL="73152" marR="73152" marT="27432" marB="27432" anchor="ctr">
                    <a:solidFill>
                      <a:srgbClr val="0F4C5C"/>
                    </a:solidFill>
                  </a:tcPr>
                </a:tc>
              </a:tr>
              <a:tr h="58369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ninguno (todos en nivel bajo)</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A y B</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A y C</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B y C</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A, B y C</a:t>
                      </a:r>
                    </a:p>
                  </a:txBody>
                  <a:tcPr marL="73152" marR="73152" marT="27432" marB="27432" anchor="ctr">
                    <a:solidFill>
                      <a:srgbClr val="F4F8F9"/>
                    </a:solidFill>
                  </a:tcPr>
                </a:tc>
              </a:tr>
            </a:tbl>
          </a:graphicData>
        </a:graphic>
      </p:graphicFrame>
      <p:sp>
        <p:nvSpPr>
          <p:cNvPr id="4" name="TextBox 3"/>
          <p:cNvSpPr txBox="1"/>
          <p:nvPr/>
        </p:nvSpPr>
        <p:spPr>
          <a:xfrm>
            <a:off x="6942563" y="1417320"/>
            <a:ext cx="4700491" cy="32207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Columnas, mayúsculas</a:t>
            </a:r>
            <a:r>
              <a:rPr sz="1600" b="0">
                <a:solidFill>
                  <a:srgbClr val="142B33"/>
                </a:solidFill>
                <a:latin typeface="Calibri"/>
              </a:rPr>
              <a:t>: los factores A, B, C (y sus efectos)</a:t>
            </a:r>
          </a:p>
          <a:p>
            <a:pPr marL="320040" indent="-320040">
              <a:spcAft>
                <a:spcPts val="600"/>
              </a:spcAft>
              <a:buClr>
                <a:srgbClr val="E36414"/>
              </a:buClr>
              <a:buFont typeface="Arial"/>
              <a:buChar char="•"/>
            </a:pPr>
            <a:r>
              <a:rPr sz="1600" b="1">
                <a:solidFill>
                  <a:srgbClr val="142B33"/>
                </a:solidFill>
                <a:latin typeface="Calibri"/>
              </a:rPr>
              <a:t>Filas, minúsculas</a:t>
            </a:r>
            <a:r>
              <a:rPr sz="1600" b="0">
                <a:solidFill>
                  <a:srgbClr val="142B33"/>
                </a:solidFill>
                <a:latin typeface="Calibri"/>
              </a:rPr>
              <a:t>: las combinaciones de tratamientos</a:t>
            </a:r>
          </a:p>
          <a:p>
            <a:pPr marL="320040" indent="-320040">
              <a:spcAft>
                <a:spcPts val="600"/>
              </a:spcAft>
              <a:buClr>
                <a:srgbClr val="E36414"/>
              </a:buClr>
              <a:buFont typeface="Arial"/>
              <a:buChar char="•"/>
            </a:pPr>
            <a:r>
              <a:rPr sz="1600" b="0">
                <a:solidFill>
                  <a:srgbClr val="142B33"/>
                </a:solidFill>
                <a:latin typeface="Calibri"/>
              </a:rPr>
              <a:t>Letra </a:t>
            </a:r>
            <a:r>
              <a:rPr sz="1600" b="1">
                <a:solidFill>
                  <a:srgbClr val="142B33"/>
                </a:solidFill>
                <a:latin typeface="Calibri"/>
              </a:rPr>
              <a:t>presente</a:t>
            </a:r>
            <a:r>
              <a:rPr sz="1600" b="0">
                <a:solidFill>
                  <a:srgbClr val="142B33"/>
                </a:solidFill>
                <a:latin typeface="Calibri"/>
              </a:rPr>
              <a:t> = factor en nivel alto (+); </a:t>
            </a:r>
            <a:r>
              <a:rPr sz="1600" b="1">
                <a:solidFill>
                  <a:srgbClr val="142B33"/>
                </a:solidFill>
                <a:latin typeface="Calibri"/>
              </a:rPr>
              <a:t>ausente</a:t>
            </a:r>
            <a:r>
              <a:rPr sz="1600" b="0">
                <a:solidFill>
                  <a:srgbClr val="142B33"/>
                </a:solidFill>
                <a:latin typeface="Calibri"/>
              </a:rPr>
              <a:t> = nivel bajo (−)</a:t>
            </a:r>
          </a:p>
          <a:p>
            <a:pPr marL="320040" indent="-320040">
              <a:spcAft>
                <a:spcPts val="600"/>
              </a:spcAft>
              <a:buClr>
                <a:srgbClr val="E36414"/>
              </a:buClr>
              <a:buFont typeface="Arial"/>
              <a:buChar char="•"/>
            </a:pPr>
            <a:r>
              <a:rPr sz="1600" b="1">
                <a:solidFill>
                  <a:srgbClr val="142B33"/>
                </a:solidFill>
                <a:latin typeface="Calibri"/>
              </a:rPr>
              <a:t>(1)</a:t>
            </a:r>
            <a:r>
              <a:rPr sz="1600" b="0">
                <a:solidFill>
                  <a:srgbClr val="142B33"/>
                </a:solidFill>
                <a:latin typeface="Calibri"/>
              </a:rPr>
              <a:t> = todos los factores en nivel bajo</a:t>
            </a:r>
          </a:p>
          <a:p>
            <a:pPr marL="320040" indent="-320040">
              <a:spcAft>
                <a:spcPts val="600"/>
              </a:spcAft>
              <a:buClr>
                <a:srgbClr val="E36414"/>
              </a:buClr>
              <a:buFont typeface="Arial"/>
              <a:buChar char="•"/>
            </a:pPr>
            <a:r>
              <a:rPr sz="1600" b="1">
                <a:solidFill>
                  <a:srgbClr val="142B33"/>
                </a:solidFill>
                <a:latin typeface="Calibri"/>
              </a:rPr>
              <a:t>Orden estándar (Yates)</a:t>
            </a:r>
            <a:r>
              <a:rPr sz="1600" b="0">
                <a:solidFill>
                  <a:srgbClr val="142B33"/>
                </a:solidFill>
                <a:latin typeface="Calibri"/>
              </a:rPr>
              <a:t>: A alterna de uno en uno, B de dos en dos, C de cuatro en cuatro</a:t>
            </a:r>
          </a:p>
          <a:p>
            <a:pPr marL="320040" indent="-320040">
              <a:spcAft>
                <a:spcPts val="600"/>
              </a:spcAft>
              <a:buClr>
                <a:srgbClr val="E36414"/>
              </a:buClr>
              <a:buFont typeface="Arial"/>
              <a:buChar char="•"/>
            </a:pPr>
            <a:r>
              <a:rPr sz="1600" b="0">
                <a:solidFill>
                  <a:srgbClr val="142B33"/>
                </a:solidFill>
                <a:latin typeface="Calibri"/>
              </a:rPr>
              <a:t>La minúscula también denota la </a:t>
            </a:r>
            <a:r>
              <a:rPr sz="1600" b="1">
                <a:solidFill>
                  <a:srgbClr val="142B33"/>
                </a:solidFill>
                <a:latin typeface="Calibri"/>
              </a:rPr>
              <a:t>respuesta observada</a:t>
            </a:r>
            <a:r>
              <a:rPr sz="1600" b="0">
                <a:solidFill>
                  <a:srgbClr val="142B33"/>
                </a:solidFill>
                <a:latin typeface="Calibri"/>
              </a:rPr>
              <a:t> en esa corrida</a:t>
            </a:r>
          </a:p>
        </p:txBody>
      </p:sp>
      <p:sp>
        <p:nvSpPr>
          <p:cNvPr id="5" name="Rounded Rectangle 4"/>
          <p:cNvSpPr/>
          <p:nvPr/>
        </p:nvSpPr>
        <p:spPr>
          <a:xfrm>
            <a:off x="6942563" y="4839208"/>
            <a:ext cx="4700491"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 letra I se reserva para la identidad; por eso tras H el siguiente factor es J</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completa la tabla de signos del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8" cy="3161538"/>
        </p:xfrm>
        <a:graphic>
          <a:graphicData uri="http://schemas.openxmlformats.org/drawingml/2006/table">
            <a:tbl>
              <a:tblPr firstRow="0" bandRow="0">
                <a:tableStyleId>{5C22544A-7EE6-4342-B048-85BDC9FD1C3A}</a:tableStyleId>
              </a:tblPr>
              <a:tblGrid>
                <a:gridCol w="1173028"/>
                <a:gridCol w="495278"/>
                <a:gridCol w="495278"/>
                <a:gridCol w="495278"/>
                <a:gridCol w="495278"/>
                <a:gridCol w="664715"/>
                <a:gridCol w="664715"/>
                <a:gridCol w="664715"/>
                <a:gridCol w="834153"/>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I</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780026"/>
            <a:ext cx="5982443"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Las columnas de interacción son </a:t>
            </a:r>
            <a:r>
              <a:rPr sz="1400" b="1">
                <a:solidFill>
                  <a:srgbClr val="142B33"/>
                </a:solidFill>
                <a:latin typeface="Calibri"/>
              </a:rPr>
              <a:t>productos de signos</a:t>
            </a:r>
            <a:r>
              <a:rPr sz="1400" b="0">
                <a:solidFill>
                  <a:srgbClr val="142B33"/>
                </a:solidFill>
                <a:latin typeface="Calibri"/>
              </a:rPr>
              <a:t>: en la fila a, AB = (+)(−) = −</a:t>
            </a:r>
          </a:p>
        </p:txBody>
      </p:sp>
      <p:sp>
        <p:nvSpPr>
          <p:cNvPr id="5" name="TextBox 4"/>
          <p:cNvSpPr txBox="1"/>
          <p:nvPr/>
        </p:nvSpPr>
        <p:spPr>
          <a:xfrm>
            <a:off x="6942563" y="1417320"/>
            <a:ext cx="4700491" cy="28905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k</a:t>
            </a:r>
            <a:r>
              <a:rPr sz="1600" b="1">
                <a:solidFill>
                  <a:srgbClr val="142B33"/>
                </a:solidFill>
                <a:latin typeface="Calibri"/>
              </a:rPr>
              <a:t> − 1 columnas</a:t>
            </a:r>
            <a:r>
              <a:rPr sz="1600" b="0">
                <a:solidFill>
                  <a:srgbClr val="142B33"/>
                </a:solidFill>
                <a:latin typeface="Calibri"/>
              </a:rPr>
              <a:t> de efectos: 3 principales, 3 dobles y 1 triple en el 2</a:t>
            </a:r>
            <a:r>
              <a:rPr sz="1600" b="0" baseline="30000">
                <a:solidFill>
                  <a:srgbClr val="142B33"/>
                </a:solidFill>
                <a:latin typeface="Calibri"/>
              </a:rPr>
              <a:t>3</a:t>
            </a:r>
          </a:p>
          <a:p>
            <a:pPr marL="320040" indent="-320040">
              <a:spcAft>
                <a:spcPts val="600"/>
              </a:spcAft>
              <a:buClr>
                <a:srgbClr val="E36414"/>
              </a:buClr>
              <a:buFont typeface="Arial"/>
              <a:buChar char="•"/>
            </a:pPr>
            <a:r>
              <a:rPr sz="1600" b="0">
                <a:solidFill>
                  <a:srgbClr val="142B33"/>
                </a:solidFill>
                <a:latin typeface="Calibri"/>
              </a:rPr>
              <a:t>La columna </a:t>
            </a:r>
            <a:r>
              <a:rPr sz="1600" b="1">
                <a:solidFill>
                  <a:srgbClr val="142B33"/>
                </a:solidFill>
                <a:latin typeface="Calibri"/>
              </a:rPr>
              <a:t>I</a:t>
            </a:r>
            <a:r>
              <a:rPr sz="1600" b="0">
                <a:solidFill>
                  <a:srgbClr val="142B33"/>
                </a:solidFill>
                <a:latin typeface="Calibri"/>
              </a:rPr>
              <a:t> es toda positiva y corresponde al promedio general</a:t>
            </a:r>
          </a:p>
          <a:p>
            <a:pPr marL="320040" indent="-320040">
              <a:spcAft>
                <a:spcPts val="600"/>
              </a:spcAft>
              <a:buClr>
                <a:srgbClr val="E36414"/>
              </a:buClr>
              <a:buFont typeface="Arial"/>
              <a:buChar char="•"/>
            </a:pPr>
            <a:r>
              <a:rPr sz="1600" b="0">
                <a:solidFill>
                  <a:srgbClr val="142B33"/>
                </a:solidFill>
                <a:latin typeface="Calibri"/>
              </a:rPr>
              <a:t>Cada columna de efecto tiene </a:t>
            </a:r>
            <a:r>
              <a:rPr sz="1600" b="1">
                <a:solidFill>
                  <a:srgbClr val="142B33"/>
                </a:solidFill>
                <a:latin typeface="Calibri"/>
              </a:rPr>
              <a:t>N/2 signos +</a:t>
            </a:r>
            <a:r>
              <a:rPr sz="1600" b="0">
                <a:solidFill>
                  <a:srgbClr val="142B33"/>
                </a:solidFill>
                <a:latin typeface="Calibri"/>
              </a:rPr>
              <a:t> y </a:t>
            </a:r>
            <a:r>
              <a:rPr sz="1600" b="1">
                <a:solidFill>
                  <a:srgbClr val="142B33"/>
                </a:solidFill>
                <a:latin typeface="Calibri"/>
              </a:rPr>
              <a:t>N/2 signos −</a:t>
            </a:r>
          </a:p>
          <a:p>
            <a:pPr marL="320040" indent="-320040">
              <a:spcAft>
                <a:spcPts val="600"/>
              </a:spcAft>
              <a:buClr>
                <a:srgbClr val="E36414"/>
              </a:buClr>
              <a:buFont typeface="Arial"/>
              <a:buChar char="•"/>
            </a:pPr>
            <a:r>
              <a:rPr sz="1600" b="0">
                <a:solidFill>
                  <a:srgbClr val="142B33"/>
                </a:solidFill>
                <a:latin typeface="Calibri"/>
              </a:rPr>
              <a:t>El producto de dos columnas es otra columna; una letra al cuadrado es I</a:t>
            </a:r>
          </a:p>
          <a:p>
            <a:pPr marL="320040" indent="-320040">
              <a:spcAft>
                <a:spcPts val="600"/>
              </a:spcAft>
              <a:buClr>
                <a:srgbClr val="E36414"/>
              </a:buClr>
              <a:buFont typeface="Arial"/>
              <a:buChar char="•"/>
            </a:pPr>
            <a:r>
              <a:rPr sz="1600" b="0">
                <a:solidFill>
                  <a:srgbClr val="142B33"/>
                </a:solidFill>
                <a:latin typeface="Calibri"/>
              </a:rPr>
              <a:t>Columnas </a:t>
            </a:r>
            <a:r>
              <a:rPr sz="1600" b="1">
                <a:solidFill>
                  <a:srgbClr val="142B33"/>
                </a:solidFill>
                <a:latin typeface="Calibri"/>
              </a:rPr>
              <a:t>ortogonales</a:t>
            </a:r>
            <a:r>
              <a:rPr sz="1600" b="0">
                <a:solidFill>
                  <a:srgbClr val="142B33"/>
                </a:solidFill>
                <a:latin typeface="Calibri"/>
              </a:rPr>
              <a:t>: cada efecto se estima con su propio contraste</a:t>
            </a:r>
          </a:p>
        </p:txBody>
      </p:sp>
      <p:sp>
        <p:nvSpPr>
          <p:cNvPr id="6" name="Rounded Rectangle 5"/>
          <p:cNvSpPr/>
          <p:nvPr/>
        </p:nvSpPr>
        <p:spPr>
          <a:xfrm>
            <a:off x="6942563" y="4509008"/>
            <a:ext cx="4700491"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A · AB = A</a:t>
            </a:r>
            <a:r>
              <a:rPr sz="1800" b="0" baseline="30000">
                <a:solidFill>
                  <a:srgbClr val="0F4C5C"/>
                </a:solidFill>
                <a:latin typeface="Cambria Math"/>
              </a:rPr>
              <a:t>2</a:t>
            </a:r>
            <a:r>
              <a:rPr sz="1800" b="0">
                <a:solidFill>
                  <a:srgbClr val="0F4C5C"/>
                </a:solidFill>
                <a:latin typeface="Cambria Math"/>
              </a:rPr>
              <a:t>B = B</a:t>
            </a:r>
          </a:p>
          <a:p>
            <a:pPr algn="ctr"/>
            <a:r>
              <a:rPr sz="1800" b="0">
                <a:solidFill>
                  <a:srgbClr val="0F4C5C"/>
                </a:solidFill>
                <a:latin typeface="Cambria Math"/>
              </a:rPr>
              <a:t>ℓ</a:t>
            </a:r>
            <a:r>
              <a:rPr sz="1800" b="0" baseline="-25000">
                <a:solidFill>
                  <a:srgbClr val="0F4C5C"/>
                </a:solidFill>
                <a:latin typeface="Cambria Math"/>
              </a:rPr>
              <a:t>A</a:t>
            </a:r>
            <a:r>
              <a:rPr sz="1800" b="0">
                <a:solidFill>
                  <a:srgbClr val="0F4C5C"/>
                </a:solidFill>
                <a:latin typeface="Cambria Math"/>
              </a:rPr>
              <a:t> = Σ (signo</a:t>
            </a:r>
            <a:r>
              <a:rPr sz="1800" b="0" baseline="-25000">
                <a:solidFill>
                  <a:srgbClr val="0F4C5C"/>
                </a:solidFill>
                <a:latin typeface="Cambria Math"/>
              </a:rPr>
              <a:t>A</a:t>
            </a:r>
            <a:r>
              <a:rPr sz="1800" b="0">
                <a:solidFill>
                  <a:srgbClr val="0F4C5C"/>
                </a:solidFill>
                <a:latin typeface="Cambria Math"/>
              </a:rPr>
              <a:t>) · y / (N/2)</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Resolución del diseño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2</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tanto se mezclan los efectos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resolución de un diseño y qué supuestos exige?</a:t>
            </a:r>
          </a:p>
        </p:txBody>
      </p:sp>
      <p:sp>
        <p:nvSpPr>
          <p:cNvPr id="3" name="Rounded Rectangle 2"/>
          <p:cNvSpPr/>
          <p:nvPr/>
        </p:nvSpPr>
        <p:spPr>
          <a:xfrm>
            <a:off x="548640" y="1417320"/>
            <a:ext cx="4486832"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Si dos efectos son alias, entre los dos suman al menos </a:t>
            </a:r>
            <a:r>
              <a:rPr sz="1900" b="1">
                <a:solidFill>
                  <a:srgbClr val="0F4C5C"/>
                </a:solidFill>
                <a:latin typeface="Cambria Math"/>
              </a:rPr>
              <a:t>R</a:t>
            </a:r>
            <a:r>
              <a:rPr sz="1900" b="0">
                <a:solidFill>
                  <a:srgbClr val="0F4C5C"/>
                </a:solidFill>
                <a:latin typeface="Cambria Math"/>
              </a:rPr>
              <a:t> letras</a:t>
            </a:r>
          </a:p>
        </p:txBody>
      </p:sp>
      <p:sp>
        <p:nvSpPr>
          <p:cNvPr id="4" name="TextBox 3"/>
          <p:cNvSpPr txBox="1"/>
          <p:nvPr/>
        </p:nvSpPr>
        <p:spPr>
          <a:xfrm>
            <a:off x="548640" y="2222520"/>
            <a:ext cx="4486832" cy="173431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Se escribe como subíndice romano: </a:t>
            </a:r>
            <a:r>
              <a:rPr sz="1600" b="1">
                <a:solidFill>
                  <a:srgbClr val="142B33"/>
                </a:solidFill>
                <a:latin typeface="Calibri"/>
              </a:rPr>
              <a:t>2</a:t>
            </a:r>
            <a:r>
              <a:rPr sz="1600" b="1" baseline="30000">
                <a:solidFill>
                  <a:srgbClr val="142B33"/>
                </a:solidFill>
                <a:latin typeface="Calibri"/>
              </a:rPr>
              <a:t>3−1</a:t>
            </a:r>
            <a:r>
              <a:rPr sz="1600" b="1" baseline="-25000">
                <a:solidFill>
                  <a:srgbClr val="142B33"/>
                </a:solidFill>
                <a:latin typeface="Calibri"/>
              </a:rPr>
              <a:t>III</a:t>
            </a:r>
          </a:p>
          <a:p>
            <a:pPr marL="320040" indent="-320040">
              <a:spcAft>
                <a:spcPts val="600"/>
              </a:spcAft>
              <a:buClr>
                <a:srgbClr val="E36414"/>
              </a:buClr>
              <a:buFont typeface="Arial"/>
              <a:buChar char="•"/>
            </a:pPr>
            <a:r>
              <a:rPr sz="1600" b="0">
                <a:solidFill>
                  <a:srgbClr val="142B33"/>
                </a:solidFill>
                <a:latin typeface="Calibri"/>
              </a:rPr>
              <a:t>Definición del libro: ningún efecto de </a:t>
            </a:r>
            <a:r>
              <a:rPr sz="1600" b="1">
                <a:solidFill>
                  <a:srgbClr val="142B33"/>
                </a:solidFill>
                <a:latin typeface="Calibri"/>
              </a:rPr>
              <a:t>p</a:t>
            </a:r>
            <a:r>
              <a:rPr sz="1600" b="0">
                <a:solidFill>
                  <a:srgbClr val="142B33"/>
                </a:solidFill>
                <a:latin typeface="Calibri"/>
              </a:rPr>
              <a:t> factores es alias de otro con menos de </a:t>
            </a:r>
            <a:r>
              <a:rPr sz="1600" b="1">
                <a:solidFill>
                  <a:srgbClr val="142B33"/>
                </a:solidFill>
                <a:latin typeface="Calibri"/>
              </a:rPr>
              <a:t>R − p</a:t>
            </a:r>
            <a:r>
              <a:rPr sz="1600" b="0">
                <a:solidFill>
                  <a:srgbClr val="142B33"/>
                </a:solidFill>
                <a:latin typeface="Calibri"/>
              </a:rPr>
              <a:t> factores</a:t>
            </a:r>
          </a:p>
          <a:p>
            <a:pPr marL="320040" indent="-320040">
              <a:spcAft>
                <a:spcPts val="600"/>
              </a:spcAft>
              <a:buClr>
                <a:srgbClr val="E36414"/>
              </a:buClr>
              <a:buFont typeface="Arial"/>
              <a:buChar char="•"/>
            </a:pPr>
            <a:r>
              <a:rPr sz="1600" b="0">
                <a:solidFill>
                  <a:srgbClr val="142B33"/>
                </a:solidFill>
                <a:latin typeface="Calibri"/>
              </a:rPr>
              <a:t>Cuanto </a:t>
            </a:r>
            <a:r>
              <a:rPr sz="1600" b="1">
                <a:solidFill>
                  <a:srgbClr val="142B33"/>
                </a:solidFill>
                <a:latin typeface="Calibri"/>
              </a:rPr>
              <a:t>mayor</a:t>
            </a:r>
            <a:r>
              <a:rPr sz="1600" b="0">
                <a:solidFill>
                  <a:srgbClr val="142B33"/>
                </a:solidFill>
                <a:latin typeface="Calibri"/>
              </a:rPr>
              <a:t> R, menos se mezclan los efectos de orden bajo</a:t>
            </a:r>
          </a:p>
        </p:txBody>
      </p:sp>
      <p:graphicFrame>
        <p:nvGraphicFramePr>
          <p:cNvPr id="5" name="Table 4"/>
          <p:cNvGraphicFramePr>
            <a:graphicFrameLocks noGrp="1"/>
          </p:cNvGraphicFramePr>
          <p:nvPr/>
        </p:nvGraphicFramePr>
        <p:xfrm>
          <a:off x="5446952" y="1417320"/>
          <a:ext cx="6196100" cy="2861560"/>
        </p:xfrm>
        <a:graphic>
          <a:graphicData uri="http://schemas.openxmlformats.org/drawingml/2006/table">
            <a:tbl>
              <a:tblPr firstRow="0" bandRow="0">
                <a:tableStyleId>{5C22544A-7EE6-4342-B048-85BDC9FD1C3A}</a:tableStyleId>
              </a:tblPr>
              <a:tblGrid>
                <a:gridCol w="929415"/>
                <a:gridCol w="1425103"/>
                <a:gridCol w="1487064"/>
                <a:gridCol w="2354518"/>
              </a:tblGrid>
              <a:tr h="552703">
                <a:tc>
                  <a:txBody>
                    <a:bodyPr/>
                    <a:lstStyle/>
                    <a:p>
                      <a:pPr algn="l"/>
                      <a:r>
                        <a:rPr sz="1400" b="1">
                          <a:solidFill>
                            <a:srgbClr val="FFFFFF"/>
                          </a:solidFill>
                          <a:latin typeface="Calibri"/>
                        </a:rPr>
                        <a:t>Resolución</a:t>
                      </a:r>
                    </a:p>
                  </a:txBody>
                  <a:tcPr marL="73152" marR="73152" marT="27432" marB="27432" anchor="ctr">
                    <a:solidFill>
                      <a:srgbClr val="0F4C5C"/>
                    </a:solidFill>
                  </a:tcPr>
                </a:tc>
                <a:tc>
                  <a:txBody>
                    <a:bodyPr/>
                    <a:lstStyle/>
                    <a:p>
                      <a:pPr algn="ctr"/>
                      <a:r>
                        <a:rPr sz="1400" b="1">
                          <a:solidFill>
                            <a:srgbClr val="FFFFFF"/>
                          </a:solidFill>
                          <a:latin typeface="Calibri"/>
                        </a:rPr>
                        <a:t>Un principal es alias de…</a:t>
                      </a:r>
                    </a:p>
                  </a:txBody>
                  <a:tcPr marL="73152" marR="73152" marT="27432" marB="27432" anchor="ctr">
                    <a:solidFill>
                      <a:srgbClr val="0F4C5C"/>
                    </a:solidFill>
                  </a:tcPr>
                </a:tc>
                <a:tc>
                  <a:txBody>
                    <a:bodyPr/>
                    <a:lstStyle/>
                    <a:p>
                      <a:pPr algn="ctr"/>
                      <a:r>
                        <a:rPr sz="1400" b="1">
                          <a:solidFill>
                            <a:srgbClr val="FFFFFF"/>
                          </a:solidFill>
                          <a:latin typeface="Calibri"/>
                        </a:rPr>
                        <a:t>Una doble es alias de…</a:t>
                      </a:r>
                    </a:p>
                  </a:txBody>
                  <a:tcPr marL="73152" marR="73152" marT="27432" marB="27432" anchor="ctr">
                    <a:solidFill>
                      <a:srgbClr val="0F4C5C"/>
                    </a:solidFill>
                  </a:tcPr>
                </a:tc>
                <a:tc>
                  <a:txBody>
                    <a:bodyPr/>
                    <a:lstStyle/>
                    <a:p>
                      <a:pPr algn="l"/>
                      <a:r>
                        <a:rPr sz="1400" b="1">
                          <a:solidFill>
                            <a:srgbClr val="FFFFFF"/>
                          </a:solidFill>
                          <a:latin typeface="Calibri"/>
                        </a:rPr>
                        <a:t>Para leer los principales se supone nula…</a:t>
                      </a:r>
                    </a:p>
                  </a:txBody>
                  <a:tcPr marL="73152" marR="73152" marT="27432" marB="27432" anchor="ctr">
                    <a:solidFill>
                      <a:srgbClr val="0F4C5C"/>
                    </a:solidFill>
                  </a:tcPr>
                </a:tc>
              </a:tr>
              <a:tr h="769619">
                <a:tc>
                  <a:txBody>
                    <a:bodyPr/>
                    <a:lstStyle/>
                    <a:p>
                      <a:pPr algn="l"/>
                      <a:r>
                        <a:rPr sz="1400" b="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dobles (1 + 2 = 3)</a:t>
                      </a:r>
                    </a:p>
                  </a:txBody>
                  <a:tcPr marL="73152" marR="73152" marT="27432" marB="27432" anchor="ctr">
                    <a:solidFill>
                      <a:srgbClr val="FFFFFF"/>
                    </a:solidFill>
                  </a:tcPr>
                </a:tc>
                <a:tc>
                  <a:txBody>
                    <a:bodyPr/>
                    <a:lstStyle/>
                    <a:p>
                      <a:pPr algn="ctr"/>
                      <a:r>
                        <a:rPr sz="1400" b="0">
                          <a:solidFill>
                            <a:srgbClr val="142B33"/>
                          </a:solidFill>
                          <a:latin typeface="Calibri"/>
                        </a:rPr>
                        <a:t>principales u otras dobles</a:t>
                      </a:r>
                    </a:p>
                  </a:txBody>
                  <a:tcPr marL="73152" marR="73152" marT="27432" marB="27432" anchor="ctr">
                    <a:solidFill>
                      <a:srgbClr val="FFFFFF"/>
                    </a:solidFill>
                  </a:tcPr>
                </a:tc>
                <a:tc>
                  <a:txBody>
                    <a:bodyPr/>
                    <a:lstStyle/>
                    <a:p>
                      <a:pPr algn="l"/>
                      <a:r>
                        <a:rPr sz="1400" b="0">
                          <a:solidFill>
                            <a:srgbClr val="142B33"/>
                          </a:solidFill>
                          <a:latin typeface="Calibri"/>
                        </a:rPr>
                        <a:t>la interacción </a:t>
                      </a:r>
                      <a:r>
                        <a:rPr sz="1400" b="1">
                          <a:solidFill>
                            <a:srgbClr val="142B33"/>
                          </a:solidFill>
                          <a:latin typeface="Calibri"/>
                        </a:rPr>
                        <a:t>doble</a:t>
                      </a:r>
                      <a:r>
                        <a:rPr sz="1400" b="0">
                          <a:solidFill>
                            <a:srgbClr val="142B33"/>
                          </a:solidFill>
                          <a:latin typeface="Calibri"/>
                        </a:rPr>
                        <a:t>: tamizar sin interacciones esperadas</a:t>
                      </a:r>
                    </a:p>
                  </a:txBody>
                  <a:tcPr marL="73152" marR="73152" marT="27432" marB="27432" anchor="ctr">
                    <a:solidFill>
                      <a:srgbClr val="FFFFFF"/>
                    </a:solidFill>
                  </a:tcPr>
                </a:tc>
              </a:tr>
              <a:tr h="769619">
                <a:tc>
                  <a:txBody>
                    <a:bodyPr/>
                    <a:lstStyle/>
                    <a:p>
                      <a:pPr algn="l"/>
                      <a:r>
                        <a:rPr sz="1400" b="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triples (1 + 3 = 4)</a:t>
                      </a:r>
                    </a:p>
                  </a:txBody>
                  <a:tcPr marL="73152" marR="73152" marT="27432" marB="27432" anchor="ctr">
                    <a:solidFill>
                      <a:srgbClr val="F4F8F9"/>
                    </a:solidFill>
                  </a:tcPr>
                </a:tc>
                <a:tc>
                  <a:txBody>
                    <a:bodyPr/>
                    <a:lstStyle/>
                    <a:p>
                      <a:pPr algn="ctr"/>
                      <a:r>
                        <a:rPr sz="1400" b="0">
                          <a:solidFill>
                            <a:srgbClr val="142B33"/>
                          </a:solidFill>
                          <a:latin typeface="Calibri"/>
                        </a:rPr>
                        <a:t>otras </a:t>
                      </a:r>
                      <a:r>
                        <a:rPr sz="1400" b="1">
                          <a:solidFill>
                            <a:srgbClr val="142B33"/>
                          </a:solidFill>
                          <a:latin typeface="Calibri"/>
                        </a:rPr>
                        <a:t>dobles</a:t>
                      </a:r>
                      <a:r>
                        <a:rPr sz="1400" b="0">
                          <a:solidFill>
                            <a:srgbClr val="142B33"/>
                          </a:solidFill>
                          <a:latin typeface="Calibri"/>
                        </a:rPr>
                        <a:t> (2 + 2 = 4)</a:t>
                      </a:r>
                    </a:p>
                  </a:txBody>
                  <a:tcPr marL="73152" marR="73152" marT="27432" marB="27432" anchor="ctr">
                    <a:solidFill>
                      <a:srgbClr val="F4F8F9"/>
                    </a:solidFill>
                  </a:tcPr>
                </a:tc>
                <a:tc>
                  <a:txBody>
                    <a:bodyPr/>
                    <a:lstStyle/>
                    <a:p>
                      <a:pPr algn="l"/>
                      <a:r>
                        <a:rPr sz="1400" b="0">
                          <a:solidFill>
                            <a:srgbClr val="142B33"/>
                          </a:solidFill>
                          <a:latin typeface="Calibri"/>
                        </a:rPr>
                        <a:t>la </a:t>
                      </a:r>
                      <a:r>
                        <a:rPr sz="1400" b="1">
                          <a:solidFill>
                            <a:srgbClr val="142B33"/>
                          </a:solidFill>
                          <a:latin typeface="Calibri"/>
                        </a:rPr>
                        <a:t>triple</a:t>
                      </a:r>
                      <a:r>
                        <a:rPr sz="1400" b="0">
                          <a:solidFill>
                            <a:srgbClr val="142B33"/>
                          </a:solidFill>
                          <a:latin typeface="Calibri"/>
                        </a:rPr>
                        <a:t>: tamizar cuando puede haber interacciones</a:t>
                      </a:r>
                    </a:p>
                  </a:txBody>
                  <a:tcPr marL="73152" marR="73152" marT="27432" marB="27432" anchor="ctr">
                    <a:solidFill>
                      <a:srgbClr val="F4F8F9"/>
                    </a:solidFill>
                  </a:tcPr>
                </a:tc>
              </a:tr>
              <a:tr h="769619">
                <a:tc>
                  <a:txBody>
                    <a:bodyPr/>
                    <a:lstStyle/>
                    <a:p>
                      <a:pPr algn="l"/>
                      <a:r>
                        <a:rPr sz="1400" b="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de 4 factores (1 + 4 = 5)</a:t>
                      </a:r>
                    </a:p>
                  </a:txBody>
                  <a:tcPr marL="73152" marR="73152" marT="27432" marB="27432" anchor="ctr">
                    <a:solidFill>
                      <a:srgbClr val="FFFFFF"/>
                    </a:solidFill>
                  </a:tcPr>
                </a:tc>
                <a:tc>
                  <a:txBody>
                    <a:bodyPr/>
                    <a:lstStyle/>
                    <a:p>
                      <a:pPr algn="ctr"/>
                      <a:r>
                        <a:rPr sz="1400" b="0">
                          <a:solidFill>
                            <a:srgbClr val="142B33"/>
                          </a:solidFill>
                          <a:latin typeface="Calibri"/>
                        </a:rPr>
                        <a:t>triples (2 + 3 = 5)</a:t>
                      </a:r>
                    </a:p>
                  </a:txBody>
                  <a:tcPr marL="73152" marR="73152" marT="27432" marB="27432" anchor="ctr">
                    <a:solidFill>
                      <a:srgbClr val="FFFFFF"/>
                    </a:solidFill>
                  </a:tcPr>
                </a:tc>
                <a:tc>
                  <a:txBody>
                    <a:bodyPr/>
                    <a:lstStyle/>
                    <a:p>
                      <a:pPr algn="l"/>
                      <a:r>
                        <a:rPr sz="1400" b="0">
                          <a:solidFill>
                            <a:srgbClr val="142B33"/>
                          </a:solidFill>
                          <a:latin typeface="Calibri"/>
                        </a:rPr>
                        <a:t>la de </a:t>
                      </a:r>
                      <a:r>
                        <a:rPr sz="1400" b="1">
                          <a:solidFill>
                            <a:srgbClr val="142B33"/>
                          </a:solidFill>
                          <a:latin typeface="Calibri"/>
                        </a:rPr>
                        <a:t>cuatro</a:t>
                      </a:r>
                      <a:r>
                        <a:rPr sz="1400" b="0">
                          <a:solidFill>
                            <a:srgbClr val="142B33"/>
                          </a:solidFill>
                          <a:latin typeface="Calibri"/>
                        </a:rPr>
                        <a:t> factores: estimar principales y dobles</a:t>
                      </a:r>
                    </a:p>
                  </a:txBody>
                  <a:tcPr marL="73152" marR="73152" marT="27432" marB="27432" anchor="ctr">
                    <a:solidFill>
                      <a:srgbClr val="FFFFFF"/>
                    </a:solidFill>
                  </a:tcPr>
                </a:tc>
              </a:tr>
            </a:tbl>
          </a:graphicData>
        </a:graphic>
      </p:graphicFrame>
      <p:sp>
        <p:nvSpPr>
          <p:cNvPr id="6" name="Rounded Rectangle 5"/>
          <p:cNvSpPr/>
          <p:nvPr/>
        </p:nvSpPr>
        <p:spPr>
          <a:xfrm>
            <a:off x="5446952" y="4480052"/>
            <a:ext cx="6196102"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Ningún principal es alias de </a:t>
            </a:r>
            <a:r>
              <a:rPr sz="1400" b="1">
                <a:solidFill>
                  <a:srgbClr val="142B33"/>
                </a:solidFill>
                <a:latin typeface="Calibri"/>
              </a:rPr>
              <a:t>otro principal</a:t>
            </a:r>
            <a:r>
              <a:rPr sz="1400" b="0">
                <a:solidFill>
                  <a:srgbClr val="142B33"/>
                </a:solidFill>
                <a:latin typeface="Calibri"/>
              </a:rPr>
              <a:t>. Regla: la </a:t>
            </a:r>
            <a:r>
              <a:rPr sz="1400" b="1">
                <a:solidFill>
                  <a:srgbClr val="142B33"/>
                </a:solidFill>
                <a:latin typeface="Calibri"/>
              </a:rPr>
              <a:t>resolución más alta</a:t>
            </a:r>
            <a:r>
              <a:rPr sz="1400" b="0">
                <a:solidFill>
                  <a:srgbClr val="142B33"/>
                </a:solidFill>
                <a:latin typeface="Calibri"/>
              </a:rPr>
              <a:t> que permita el presupuesto de corridas; a más resolución, menos supuestos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13</a:t>
            </a:r>
          </a:p>
        </p:txBody>
      </p:sp>
      <p:sp>
        <p:nvSpPr>
          <p:cNvPr id="9" name="Rounded Rectangle 8"/>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calcula la resolución?</a:t>
            </a:r>
          </a:p>
        </p:txBody>
      </p:sp>
      <p:sp>
        <p:nvSpPr>
          <p:cNvPr id="3" name="Rounded Rectangle 2"/>
          <p:cNvSpPr/>
          <p:nvPr/>
        </p:nvSpPr>
        <p:spPr>
          <a:xfrm>
            <a:off x="548640" y="1417320"/>
            <a:ext cx="11094415"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Resolución = número de letras de la </a:t>
            </a:r>
            <a:r>
              <a:rPr sz="1900" b="1">
                <a:solidFill>
                  <a:srgbClr val="0F4C5C"/>
                </a:solidFill>
                <a:latin typeface="Cambria Math"/>
              </a:rPr>
              <a:t>palabra más corta</a:t>
            </a:r>
            <a:r>
              <a:rPr sz="1900" b="0">
                <a:solidFill>
                  <a:srgbClr val="0F4C5C"/>
                </a:solidFill>
                <a:latin typeface="Cambria Math"/>
              </a:rPr>
              <a:t> de la relación de definición</a:t>
            </a:r>
          </a:p>
        </p:txBody>
      </p:sp>
      <p:graphicFrame>
        <p:nvGraphicFramePr>
          <p:cNvPr id="4" name="Table 3"/>
          <p:cNvGraphicFramePr>
            <a:graphicFrameLocks noGrp="1"/>
          </p:cNvGraphicFramePr>
          <p:nvPr/>
        </p:nvGraphicFramePr>
        <p:xfrm>
          <a:off x="548640" y="2222520"/>
          <a:ext cx="11094412" cy="2107692"/>
        </p:xfrm>
        <a:graphic>
          <a:graphicData uri="http://schemas.openxmlformats.org/drawingml/2006/table">
            <a:tbl>
              <a:tblPr firstRow="0" bandRow="0">
                <a:tableStyleId>{5C22544A-7EE6-4342-B048-85BDC9FD1C3A}</a:tableStyleId>
              </a:tblPr>
              <a:tblGrid>
                <a:gridCol w="1331329"/>
                <a:gridCol w="2440771"/>
                <a:gridCol w="3550212"/>
                <a:gridCol w="1996994"/>
                <a:gridCol w="1775106"/>
              </a:tblGrid>
              <a:tr h="35128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Generadores</a:t>
                      </a:r>
                    </a:p>
                  </a:txBody>
                  <a:tcPr marL="73152" marR="73152" marT="27432" marB="27432" anchor="ctr">
                    <a:solidFill>
                      <a:srgbClr val="0F4C5C"/>
                    </a:solidFill>
                  </a:tcPr>
                </a:tc>
                <a:tc>
                  <a:txBody>
                    <a:bodyPr/>
                    <a:lstStyle/>
                    <a:p>
                      <a:pPr algn="ctr"/>
                      <a:r>
                        <a:rPr sz="1500" b="1">
                          <a:solidFill>
                            <a:srgbClr val="FFFFFF"/>
                          </a:solidFill>
                          <a:latin typeface="Calibri"/>
                        </a:rPr>
                        <a:t>Relación de definición</a:t>
                      </a:r>
                    </a:p>
                  </a:txBody>
                  <a:tcPr marL="73152" marR="73152" marT="27432" marB="27432" anchor="ctr">
                    <a:solidFill>
                      <a:srgbClr val="0F4C5C"/>
                    </a:solidFill>
                  </a:tcPr>
                </a:tc>
                <a:tc>
                  <a:txBody>
                    <a:bodyPr/>
                    <a:lstStyle/>
                    <a:p>
                      <a:pPr algn="ctr"/>
                      <a:r>
                        <a:rPr sz="1500" b="1">
                          <a:solidFill>
                            <a:srgbClr val="FFFFFF"/>
                          </a:solidFill>
                          <a:latin typeface="Calibri"/>
                        </a:rPr>
                        <a:t>Palabra más corta</a:t>
                      </a:r>
                    </a:p>
                  </a:txBody>
                  <a:tcPr marL="73152" marR="73152" marT="27432" marB="27432" anchor="ctr">
                    <a:solidFill>
                      <a:srgbClr val="0F4C5C"/>
                    </a:solidFill>
                  </a:tcPr>
                </a:tc>
                <a:tc>
                  <a:txBody>
                    <a:bodyPr/>
                    <a:lstStyle/>
                    <a:p>
                      <a:pPr algn="ctr"/>
                      <a:r>
                        <a:rPr sz="1500" b="1">
                          <a:solidFill>
                            <a:srgbClr val="FFFFFF"/>
                          </a:solidFill>
                          <a:latin typeface="Calibri"/>
                        </a:rPr>
                        <a:t>Resolución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p>
                  </a:txBody>
                  <a:tcPr marL="73152" marR="73152" marT="27432" marB="27432" anchor="ctr">
                    <a:solidFill>
                      <a:srgbClr val="FFFFFF"/>
                    </a:solidFill>
                  </a:tcPr>
                </a:tc>
                <a:tc>
                  <a:txBody>
                    <a:bodyPr/>
                    <a:lstStyle/>
                    <a:p>
                      <a:pPr algn="ctr"/>
                      <a:r>
                        <a:rPr sz="1500" b="0">
                          <a:solidFill>
                            <a:srgbClr val="142B33"/>
                          </a:solidFill>
                          <a:latin typeface="Calibri"/>
                        </a:rPr>
                        <a:t>C = AB</a:t>
                      </a:r>
                    </a:p>
                  </a:txBody>
                  <a:tcPr marL="73152" marR="73152" marT="27432" marB="27432" anchor="ctr">
                    <a:solidFill>
                      <a:srgbClr val="FFFFFF"/>
                    </a:solidFill>
                  </a:tcPr>
                </a:tc>
                <a:tc>
                  <a:txBody>
                    <a:bodyPr/>
                    <a:lstStyle/>
                    <a:p>
                      <a:pPr algn="ctr"/>
                      <a:r>
                        <a:rPr sz="1500" b="0">
                          <a:solidFill>
                            <a:srgbClr val="142B33"/>
                          </a:solidFill>
                          <a:latin typeface="Calibri"/>
                        </a:rPr>
                        <a:t>I = ABC</a:t>
                      </a:r>
                    </a:p>
                  </a:txBody>
                  <a:tcPr marL="73152" marR="73152" marT="27432" marB="27432" anchor="ctr">
                    <a:solidFill>
                      <a:srgbClr val="FFFFFF"/>
                    </a:solidFill>
                  </a:tcPr>
                </a:tc>
                <a:tc>
                  <a:txBody>
                    <a:bodyPr/>
                    <a:lstStyle/>
                    <a:p>
                      <a:pPr algn="ctr"/>
                      <a:r>
                        <a:rPr sz="1500" b="0">
                          <a:solidFill>
                            <a:srgbClr val="142B33"/>
                          </a:solidFill>
                          <a:latin typeface="Calibri"/>
                        </a:rPr>
                        <a:t>3 letras</a:t>
                      </a:r>
                    </a:p>
                  </a:txBody>
                  <a:tcPr marL="73152" marR="73152" marT="27432" marB="27432" anchor="ctr">
                    <a:solidFill>
                      <a:srgbClr val="FFFFFF"/>
                    </a:solidFill>
                  </a:tcPr>
                </a:tc>
                <a:tc>
                  <a:txBody>
                    <a:bodyPr/>
                    <a:lstStyle/>
                    <a:p>
                      <a:pPr algn="ctr"/>
                      <a:r>
                        <a:rPr sz="1500" b="0">
                          <a:solidFill>
                            <a:srgbClr val="142B33"/>
                          </a:solidFill>
                          <a:latin typeface="Calibri"/>
                        </a:rPr>
                        <a:t>III</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4−1</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I = ABCD</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5−1</a:t>
                      </a:r>
                    </a:p>
                  </a:txBody>
                  <a:tcPr marL="73152" marR="73152" marT="27432" marB="27432" anchor="ctr">
                    <a:solidFill>
                      <a:srgbClr val="FFFFFF"/>
                    </a:solidFill>
                  </a:tcPr>
                </a:tc>
                <a:tc>
                  <a:txBody>
                    <a:bodyPr/>
                    <a:lstStyle/>
                    <a:p>
                      <a:pPr algn="ctr"/>
                      <a:r>
                        <a:rPr sz="1500" b="0">
                          <a:solidFill>
                            <a:srgbClr val="142B33"/>
                          </a:solidFill>
                          <a:latin typeface="Calibri"/>
                        </a:rPr>
                        <a:t>E = ABCD</a:t>
                      </a:r>
                    </a:p>
                  </a:txBody>
                  <a:tcPr marL="73152" marR="73152" marT="27432" marB="27432" anchor="ctr">
                    <a:solidFill>
                      <a:srgbClr val="FFFFFF"/>
                    </a:solidFill>
                  </a:tcPr>
                </a:tc>
                <a:tc>
                  <a:txBody>
                    <a:bodyPr/>
                    <a:lstStyle/>
                    <a:p>
                      <a:pPr algn="ctr"/>
                      <a:r>
                        <a:rPr sz="1500" b="0">
                          <a:solidFill>
                            <a:srgbClr val="142B33"/>
                          </a:solidFill>
                          <a:latin typeface="Calibri"/>
                        </a:rPr>
                        <a:t>I = ABCDE</a:t>
                      </a:r>
                    </a:p>
                  </a:txBody>
                  <a:tcPr marL="73152" marR="73152" marT="27432" marB="27432" anchor="ctr">
                    <a:solidFill>
                      <a:srgbClr val="FFFFFF"/>
                    </a:solidFill>
                  </a:tcPr>
                </a:tc>
                <a:tc>
                  <a:txBody>
                    <a:bodyPr/>
                    <a:lstStyle/>
                    <a:p>
                      <a:pPr algn="ctr"/>
                      <a:r>
                        <a:rPr sz="1500" b="0">
                          <a:solidFill>
                            <a:srgbClr val="142B33"/>
                          </a:solidFill>
                          <a:latin typeface="Calibri"/>
                        </a:rPr>
                        <a:t>5 letras</a:t>
                      </a:r>
                    </a:p>
                  </a:txBody>
                  <a:tcPr marL="73152" marR="73152" marT="27432" marB="27432" anchor="ctr">
                    <a:solidFill>
                      <a:srgbClr val="FFFFFF"/>
                    </a:solidFill>
                  </a:tcPr>
                </a:tc>
                <a:tc>
                  <a:txBody>
                    <a:bodyPr/>
                    <a:lstStyle/>
                    <a:p>
                      <a:pPr algn="ctr"/>
                      <a:r>
                        <a:rPr sz="1500" b="0">
                          <a:solidFill>
                            <a:srgbClr val="142B33"/>
                          </a:solidFill>
                          <a:latin typeface="Calibri"/>
                        </a:rPr>
                        <a:t>V</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4F8F9"/>
                    </a:solidFill>
                  </a:tcPr>
                </a:tc>
                <a:tc>
                  <a:txBody>
                    <a:bodyPr/>
                    <a:lstStyle/>
                    <a:p>
                      <a:pPr algn="ctr"/>
                      <a:r>
                        <a:rPr sz="1500" b="0">
                          <a:solidFill>
                            <a:srgbClr val="142B33"/>
                          </a:solidFill>
                          <a:latin typeface="Calibri"/>
                        </a:rPr>
                        <a:t>E = ABC,  F = BCD</a:t>
                      </a:r>
                    </a:p>
                  </a:txBody>
                  <a:tcPr marL="73152" marR="73152" marT="27432" marB="27432" anchor="ctr">
                    <a:solidFill>
                      <a:srgbClr val="F4F8F9"/>
                    </a:solidFill>
                  </a:tcPr>
                </a:tc>
                <a:tc>
                  <a:txBody>
                    <a:bodyPr/>
                    <a:lstStyle/>
                    <a:p>
                      <a:pPr algn="ctr"/>
                      <a:r>
                        <a:rPr sz="1500" b="0">
                          <a:solidFill>
                            <a:srgbClr val="142B33"/>
                          </a:solidFill>
                          <a:latin typeface="Calibri"/>
                        </a:rPr>
                        <a:t>I = ABCE = BCDF = ADEF</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DE8D7"/>
                    </a:solidFill>
                  </a:tcPr>
                </a:tc>
                <a:tc>
                  <a:txBody>
                    <a:bodyPr/>
                    <a:lstStyle/>
                    <a:p>
                      <a:pPr algn="ctr"/>
                      <a:r>
                        <a:rPr sz="1500" b="0">
                          <a:solidFill>
                            <a:srgbClr val="142B33"/>
                          </a:solidFill>
                          <a:latin typeface="Calibri"/>
                        </a:rPr>
                        <a:t>E = ABC,  F = ABCD</a:t>
                      </a:r>
                    </a:p>
                  </a:txBody>
                  <a:tcPr marL="73152" marR="73152" marT="27432" marB="27432" anchor="ctr">
                    <a:solidFill>
                      <a:srgbClr val="FDE8D7"/>
                    </a:solidFill>
                  </a:tcPr>
                </a:tc>
                <a:tc>
                  <a:txBody>
                    <a:bodyPr/>
                    <a:lstStyle/>
                    <a:p>
                      <a:pPr algn="ctr"/>
                      <a:r>
                        <a:rPr sz="1500" b="0">
                          <a:solidFill>
                            <a:srgbClr val="142B33"/>
                          </a:solidFill>
                          <a:latin typeface="Calibri"/>
                        </a:rPr>
                        <a:t>I = ABCE = ABCDF = DEF</a:t>
                      </a:r>
                    </a:p>
                  </a:txBody>
                  <a:tcPr marL="73152" marR="73152" marT="27432" marB="27432" anchor="ctr">
                    <a:solidFill>
                      <a:srgbClr val="FDE8D7"/>
                    </a:solidFill>
                  </a:tcPr>
                </a:tc>
                <a:tc>
                  <a:txBody>
                    <a:bodyPr/>
                    <a:lstStyle/>
                    <a:p>
                      <a:pPr algn="ctr"/>
                      <a:r>
                        <a:rPr sz="1500" b="0">
                          <a:solidFill>
                            <a:srgbClr val="142B33"/>
                          </a:solidFill>
                          <a:latin typeface="Calibri"/>
                        </a:rPr>
                        <a:t>3 letras</a:t>
                      </a:r>
                    </a:p>
                  </a:txBody>
                  <a:tcPr marL="73152" marR="73152" marT="27432" marB="27432" anchor="ctr">
                    <a:solidFill>
                      <a:srgbClr val="FDE8D7"/>
                    </a:solidFill>
                  </a:tcPr>
                </a:tc>
                <a:tc>
                  <a:txBody>
                    <a:bodyPr/>
                    <a:lstStyle/>
                    <a:p>
                      <a:pPr algn="ctr"/>
                      <a:r>
                        <a:rPr sz="1500" b="0">
                          <a:solidFill>
                            <a:srgbClr val="142B33"/>
                          </a:solidFill>
                          <a:latin typeface="Calibri"/>
                        </a:rPr>
                        <a:t>III</a:t>
                      </a:r>
                    </a:p>
                  </a:txBody>
                  <a:tcPr marL="73152" marR="73152" marT="27432" marB="27432" anchor="ctr">
                    <a:solidFill>
                      <a:srgbClr val="FDE8D7"/>
                    </a:solidFill>
                  </a:tcPr>
                </a:tc>
              </a:tr>
            </a:tbl>
          </a:graphicData>
        </a:graphic>
      </p:graphicFrame>
      <p:sp>
        <p:nvSpPr>
          <p:cNvPr id="5" name="Rounded Rectangle 4"/>
          <p:cNvSpPr/>
          <p:nvPr/>
        </p:nvSpPr>
        <p:spPr>
          <a:xfrm>
            <a:off x="548640" y="4531380"/>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Mismo número de corridas, distinta resolución: la elección de los generadores </a:t>
            </a:r>
            <a:r>
              <a:rPr sz="1500" b="1">
                <a:solidFill>
                  <a:srgbClr val="142B33"/>
                </a:solidFill>
                <a:latin typeface="Calibri"/>
              </a:rPr>
              <a:t>importa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14</a:t>
            </a:r>
          </a:p>
        </p:txBody>
      </p:sp>
      <p:sp>
        <p:nvSpPr>
          <p:cNvPr id="8" name="Rounded Rectangle 7"/>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La fracción un medio 2</a:t>
            </a:r>
            <a:r>
              <a:rPr sz="4400" b="1" baseline="30000">
                <a:solidFill>
                  <a:srgbClr val="FFFFFF"/>
                </a:solidFill>
                <a:latin typeface="Cambria"/>
              </a:rPr>
              <a:t>k−1</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3</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Alias, construcción, proyección y dos ejemplos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medio: el 2</a:t>
            </a:r>
            <a:r>
              <a:rPr sz="3000" b="1" baseline="30000">
                <a:solidFill>
                  <a:srgbClr val="0F4C5C"/>
                </a:solidFill>
                <a:latin typeface="Cambria"/>
              </a:rPr>
              <a:t>3−1</a:t>
            </a:r>
            <a:r>
              <a:rPr sz="3000" b="1">
                <a:solidFill>
                  <a:srgbClr val="0F4C5C"/>
                </a:solidFill>
                <a:latin typeface="Cambria"/>
              </a:rPr>
              <a:t> con I = ABC</a:t>
            </a:r>
          </a:p>
        </p:txBody>
      </p:sp>
      <p:graphicFrame>
        <p:nvGraphicFramePr>
          <p:cNvPr id="3" name="Table 2"/>
          <p:cNvGraphicFramePr>
            <a:graphicFrameLocks noGrp="1"/>
          </p:cNvGraphicFramePr>
          <p:nvPr/>
        </p:nvGraphicFramePr>
        <p:xfrm>
          <a:off x="548640" y="1417320"/>
          <a:ext cx="5982443" cy="3161538"/>
        </p:xfrm>
        <a:graphic>
          <a:graphicData uri="http://schemas.openxmlformats.org/drawingml/2006/table">
            <a:tbl>
              <a:tblPr firstRow="0" bandRow="0">
                <a:tableStyleId>{5C22544A-7EE6-4342-B048-85BDC9FD1C3A}</a:tableStyleId>
              </a:tblPr>
              <a:tblGrid>
                <a:gridCol w="1278907"/>
                <a:gridCol w="539983"/>
                <a:gridCol w="539983"/>
                <a:gridCol w="539983"/>
                <a:gridCol w="724714"/>
                <a:gridCol w="724714"/>
                <a:gridCol w="724714"/>
                <a:gridCol w="909445"/>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bl>
          </a:graphicData>
        </a:graphic>
      </p:graphicFrame>
      <p:sp>
        <p:nvSpPr>
          <p:cNvPr id="4" name="Rounded Rectangle 3"/>
          <p:cNvSpPr/>
          <p:nvPr/>
        </p:nvSpPr>
        <p:spPr>
          <a:xfrm>
            <a:off x="548640" y="4780026"/>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Fracción principal: corridas con </a:t>
            </a:r>
            <a:r>
              <a:rPr sz="1500" b="1">
                <a:solidFill>
                  <a:srgbClr val="142B33"/>
                </a:solidFill>
                <a:latin typeface="Calibri"/>
              </a:rPr>
              <a:t>ABC = +</a:t>
            </a:r>
            <a:r>
              <a:rPr sz="1500" b="0">
                <a:solidFill>
                  <a:srgbClr val="142B33"/>
                </a:solidFill>
                <a:latin typeface="Calibri"/>
              </a:rPr>
              <a:t>  →  a, b, c, abc</a:t>
            </a:r>
          </a:p>
        </p:txBody>
      </p:sp>
      <p:cxnSp>
        <p:nvCxnSpPr>
          <p:cNvPr id="5" name="Connector 4"/>
          <p:cNvCxnSpPr/>
          <p:nvPr/>
        </p:nvCxnSpPr>
        <p:spPr>
          <a:xfrm>
            <a:off x="8028011" y="3942527"/>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28011"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28011"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92219"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692219"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893399" y="3310128"/>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893399"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57607"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011" y="2278319"/>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28011"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692219"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893399" y="1645920"/>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872563" y="378707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86763" y="3613343"/>
            <a:ext cx="640080" cy="292608"/>
          </a:xfrm>
          <a:prstGeom prst="rect">
            <a:avLst/>
          </a:prstGeom>
          <a:noFill/>
        </p:spPr>
        <p:txBody>
          <a:bodyPr wrap="square" anchor="t" lIns="0" rIns="0" tIns="0" bIns="0">
            <a:spAutoFit/>
          </a:bodyPr>
          <a:lstStyle/>
          <a:p>
            <a:pPr algn="r"/>
            <a:r>
              <a:rPr sz="1500" b="0">
                <a:solidFill>
                  <a:srgbClr val="5B6B73"/>
                </a:solidFill>
                <a:latin typeface="Cambria Math"/>
              </a:rPr>
              <a:t>(1)</a:t>
            </a:r>
          </a:p>
        </p:txBody>
      </p:sp>
      <p:sp>
        <p:nvSpPr>
          <p:cNvPr id="19" name="Oval 18"/>
          <p:cNvSpPr/>
          <p:nvPr/>
        </p:nvSpPr>
        <p:spPr>
          <a:xfrm>
            <a:off x="9536771" y="378707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93387" y="3613343"/>
            <a:ext cx="640080" cy="292608"/>
          </a:xfrm>
          <a:prstGeom prst="rect">
            <a:avLst/>
          </a:prstGeom>
          <a:noFill/>
        </p:spPr>
        <p:txBody>
          <a:bodyPr wrap="square" anchor="t" lIns="0" rIns="0" tIns="0" bIns="0">
            <a:spAutoFit/>
          </a:bodyPr>
          <a:lstStyle/>
          <a:p>
            <a:pPr algn="l"/>
            <a:r>
              <a:rPr sz="1500" b="1">
                <a:solidFill>
                  <a:srgbClr val="E36414"/>
                </a:solidFill>
                <a:latin typeface="Cambria Math"/>
              </a:rPr>
              <a:t>a</a:t>
            </a:r>
          </a:p>
        </p:txBody>
      </p:sp>
      <p:sp>
        <p:nvSpPr>
          <p:cNvPr id="21" name="Oval 20"/>
          <p:cNvSpPr/>
          <p:nvPr/>
        </p:nvSpPr>
        <p:spPr>
          <a:xfrm>
            <a:off x="8737951" y="315468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52151" y="2980944"/>
            <a:ext cx="640080" cy="292608"/>
          </a:xfrm>
          <a:prstGeom prst="rect">
            <a:avLst/>
          </a:prstGeom>
          <a:noFill/>
        </p:spPr>
        <p:txBody>
          <a:bodyPr wrap="square" anchor="t" lIns="0" rIns="0" tIns="0" bIns="0">
            <a:spAutoFit/>
          </a:bodyPr>
          <a:lstStyle/>
          <a:p>
            <a:pPr algn="r"/>
            <a:r>
              <a:rPr sz="1500" b="1">
                <a:solidFill>
                  <a:srgbClr val="E36414"/>
                </a:solidFill>
                <a:latin typeface="Cambria Math"/>
              </a:rPr>
              <a:t>b</a:t>
            </a:r>
          </a:p>
        </p:txBody>
      </p:sp>
      <p:sp>
        <p:nvSpPr>
          <p:cNvPr id="23" name="Oval 22"/>
          <p:cNvSpPr/>
          <p:nvPr/>
        </p:nvSpPr>
        <p:spPr>
          <a:xfrm>
            <a:off x="10402159" y="315468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58775" y="2980944"/>
            <a:ext cx="640080" cy="292608"/>
          </a:xfrm>
          <a:prstGeom prst="rect">
            <a:avLst/>
          </a:prstGeom>
          <a:noFill/>
        </p:spPr>
        <p:txBody>
          <a:bodyPr wrap="square" anchor="t" lIns="0" rIns="0" tIns="0" bIns="0">
            <a:spAutoFit/>
          </a:bodyPr>
          <a:lstStyle/>
          <a:p>
            <a:pPr algn="l"/>
            <a:r>
              <a:rPr sz="1500" b="0">
                <a:solidFill>
                  <a:srgbClr val="5B6B73"/>
                </a:solidFill>
                <a:latin typeface="Cambria Math"/>
              </a:rPr>
              <a:t>ab</a:t>
            </a:r>
          </a:p>
        </p:txBody>
      </p:sp>
      <p:sp>
        <p:nvSpPr>
          <p:cNvPr id="25" name="Oval 24"/>
          <p:cNvSpPr/>
          <p:nvPr/>
        </p:nvSpPr>
        <p:spPr>
          <a:xfrm>
            <a:off x="7872563" y="2122871"/>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763" y="1949135"/>
            <a:ext cx="640080" cy="292608"/>
          </a:xfrm>
          <a:prstGeom prst="rect">
            <a:avLst/>
          </a:prstGeom>
          <a:noFill/>
        </p:spPr>
        <p:txBody>
          <a:bodyPr wrap="square" anchor="t" lIns="0" rIns="0" tIns="0" bIns="0">
            <a:spAutoFit/>
          </a:bodyPr>
          <a:lstStyle/>
          <a:p>
            <a:pPr algn="r"/>
            <a:r>
              <a:rPr sz="1500" b="1">
                <a:solidFill>
                  <a:srgbClr val="E36414"/>
                </a:solidFill>
                <a:latin typeface="Cambria Math"/>
              </a:rPr>
              <a:t>c</a:t>
            </a:r>
          </a:p>
        </p:txBody>
      </p:sp>
      <p:sp>
        <p:nvSpPr>
          <p:cNvPr id="27" name="Oval 26"/>
          <p:cNvSpPr/>
          <p:nvPr/>
        </p:nvSpPr>
        <p:spPr>
          <a:xfrm>
            <a:off x="9536771" y="2122871"/>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93387" y="1949135"/>
            <a:ext cx="640080" cy="292608"/>
          </a:xfrm>
          <a:prstGeom prst="rect">
            <a:avLst/>
          </a:prstGeom>
          <a:noFill/>
        </p:spPr>
        <p:txBody>
          <a:bodyPr wrap="square" anchor="t" lIns="0" rIns="0" tIns="0" bIns="0">
            <a:spAutoFit/>
          </a:bodyPr>
          <a:lstStyle/>
          <a:p>
            <a:pPr algn="l"/>
            <a:r>
              <a:rPr sz="1500" b="0">
                <a:solidFill>
                  <a:srgbClr val="5B6B73"/>
                </a:solidFill>
                <a:latin typeface="Cambria Math"/>
              </a:rPr>
              <a:t>ac</a:t>
            </a:r>
          </a:p>
        </p:txBody>
      </p:sp>
      <p:sp>
        <p:nvSpPr>
          <p:cNvPr id="29" name="Oval 28"/>
          <p:cNvSpPr/>
          <p:nvPr/>
        </p:nvSpPr>
        <p:spPr>
          <a:xfrm>
            <a:off x="8737951"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52151" y="1316736"/>
            <a:ext cx="640080" cy="292608"/>
          </a:xfrm>
          <a:prstGeom prst="rect">
            <a:avLst/>
          </a:prstGeom>
          <a:noFill/>
        </p:spPr>
        <p:txBody>
          <a:bodyPr wrap="square" anchor="t" lIns="0" rIns="0" tIns="0" bIns="0">
            <a:spAutoFit/>
          </a:bodyPr>
          <a:lstStyle/>
          <a:p>
            <a:pPr algn="r"/>
            <a:r>
              <a:rPr sz="1500" b="0">
                <a:solidFill>
                  <a:srgbClr val="5B6B73"/>
                </a:solidFill>
                <a:latin typeface="Cambria Math"/>
              </a:rPr>
              <a:t>bc</a:t>
            </a:r>
          </a:p>
        </p:txBody>
      </p:sp>
      <p:sp>
        <p:nvSpPr>
          <p:cNvPr id="31" name="Oval 30"/>
          <p:cNvSpPr/>
          <p:nvPr/>
        </p:nvSpPr>
        <p:spPr>
          <a:xfrm>
            <a:off x="10402159"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58775" y="1316736"/>
            <a:ext cx="640080" cy="292608"/>
          </a:xfrm>
          <a:prstGeom prst="rect">
            <a:avLst/>
          </a:prstGeom>
          <a:noFill/>
        </p:spPr>
        <p:txBody>
          <a:bodyPr wrap="square" anchor="t" lIns="0" rIns="0" tIns="0" bIns="0">
            <a:spAutoFit/>
          </a:bodyPr>
          <a:lstStyle/>
          <a:p>
            <a:pPr algn="l"/>
            <a:r>
              <a:rPr sz="1500" b="1">
                <a:solidFill>
                  <a:srgbClr val="E36414"/>
                </a:solidFill>
                <a:latin typeface="Cambria Math"/>
              </a:rPr>
              <a:t>abc</a:t>
            </a:r>
          </a:p>
        </p:txBody>
      </p:sp>
      <p:sp>
        <p:nvSpPr>
          <p:cNvPr id="33" name="TextBox 32"/>
          <p:cNvSpPr txBox="1"/>
          <p:nvPr/>
        </p:nvSpPr>
        <p:spPr>
          <a:xfrm>
            <a:off x="6942563" y="507492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principal (I = ABC)</a:t>
            </a:r>
          </a:p>
        </p:txBody>
      </p:sp>
      <p:sp>
        <p:nvSpPr>
          <p:cNvPr id="34" name="TextBox 3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35" name="TextBox 3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16</a:t>
            </a:r>
          </a:p>
        </p:txBody>
      </p:sp>
      <p:sp>
        <p:nvSpPr>
          <p:cNvPr id="36" name="Rounded Rectangle 35"/>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alias y cómo se obtienen?</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ℓ</a:t>
            </a:r>
            <a:r>
              <a:rPr sz="2000" b="0" baseline="-25000">
                <a:solidFill>
                  <a:srgbClr val="0F4C5C"/>
                </a:solidFill>
                <a:latin typeface="Cambria Math"/>
              </a:rPr>
              <a:t>A</a:t>
            </a:r>
            <a:r>
              <a:rPr sz="2000" b="0">
                <a:solidFill>
                  <a:srgbClr val="0F4C5C"/>
                </a:solidFill>
                <a:latin typeface="Cambria Math"/>
              </a:rPr>
              <a:t> = ½ (a − b − c + abc) = ℓ</a:t>
            </a:r>
            <a:r>
              <a:rPr sz="2000" b="0" baseline="-25000">
                <a:solidFill>
                  <a:srgbClr val="0F4C5C"/>
                </a:solidFill>
                <a:latin typeface="Cambria Math"/>
              </a:rPr>
              <a:t>BC</a:t>
            </a:r>
          </a:p>
        </p:txBody>
      </p:sp>
      <p:sp>
        <p:nvSpPr>
          <p:cNvPr id="4" name="TextBox 3"/>
          <p:cNvSpPr txBox="1"/>
          <p:nvPr/>
        </p:nvSpPr>
        <p:spPr>
          <a:xfrm>
            <a:off x="548640" y="2239873"/>
            <a:ext cx="5341467"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Dentro de la fracción, las columnas de </a:t>
            </a:r>
            <a:r>
              <a:rPr sz="1800" b="1">
                <a:solidFill>
                  <a:srgbClr val="142B33"/>
                </a:solidFill>
                <a:latin typeface="Calibri"/>
              </a:rPr>
              <a:t>A</a:t>
            </a:r>
            <a:r>
              <a:rPr sz="1800" b="0">
                <a:solidFill>
                  <a:srgbClr val="142B33"/>
                </a:solidFill>
                <a:latin typeface="Calibri"/>
              </a:rPr>
              <a:t> y de </a:t>
            </a:r>
            <a:r>
              <a:rPr sz="1800" b="1">
                <a:solidFill>
                  <a:srgbClr val="142B33"/>
                </a:solidFill>
                <a:latin typeface="Calibri"/>
              </a:rPr>
              <a:t>BC</a:t>
            </a:r>
            <a:r>
              <a:rPr sz="1800" b="0">
                <a:solidFill>
                  <a:srgbClr val="142B33"/>
                </a:solidFill>
                <a:latin typeface="Calibri"/>
              </a:rPr>
              <a:t> son idénticas</a:t>
            </a:r>
          </a:p>
          <a:p>
            <a:pPr marL="320040" indent="-320040">
              <a:spcAft>
                <a:spcPts val="600"/>
              </a:spcAft>
              <a:buClr>
                <a:srgbClr val="E36414"/>
              </a:buClr>
              <a:buFont typeface="Arial"/>
              <a:buChar char="•"/>
            </a:pPr>
            <a:r>
              <a:rPr sz="1800" b="0">
                <a:solidFill>
                  <a:srgbClr val="142B33"/>
                </a:solidFill>
                <a:latin typeface="Calibri"/>
              </a:rPr>
              <a:t>No se estima A, sino </a:t>
            </a:r>
            <a:r>
              <a:rPr sz="1800" b="1">
                <a:solidFill>
                  <a:srgbClr val="142B33"/>
                </a:solidFill>
                <a:latin typeface="Calibri"/>
              </a:rPr>
              <a:t>A + BC</a:t>
            </a:r>
          </a:p>
          <a:p>
            <a:pPr marL="320040" indent="-320040">
              <a:spcAft>
                <a:spcPts val="600"/>
              </a:spcAft>
              <a:buClr>
                <a:srgbClr val="E36414"/>
              </a:buClr>
              <a:buFont typeface="Arial"/>
              <a:buChar char="•"/>
            </a:pPr>
            <a:r>
              <a:rPr sz="1800" b="1">
                <a:solidFill>
                  <a:srgbClr val="142B33"/>
                </a:solidFill>
                <a:latin typeface="Calibri"/>
              </a:rPr>
              <a:t>Regla:</a:t>
            </a:r>
            <a:r>
              <a:rPr sz="1800" b="0">
                <a:solidFill>
                  <a:srgbClr val="142B33"/>
                </a:solidFill>
                <a:latin typeface="Calibri"/>
              </a:rPr>
              <a:t> multiplicar el efecto por la relación de definición (letra² = I)</a:t>
            </a:r>
          </a:p>
        </p:txBody>
      </p:sp>
      <p:sp>
        <p:nvSpPr>
          <p:cNvPr id="5" name="Rounded Rectangle 4"/>
          <p:cNvSpPr/>
          <p:nvPr/>
        </p:nvSpPr>
        <p:spPr>
          <a:xfrm>
            <a:off x="548640" y="4082389"/>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A · I = A · ABC = A</a:t>
            </a:r>
            <a:r>
              <a:rPr sz="2000" b="0" baseline="30000">
                <a:solidFill>
                  <a:srgbClr val="0F4C5C"/>
                </a:solidFill>
                <a:latin typeface="Cambria Math"/>
              </a:rPr>
              <a:t>2</a:t>
            </a:r>
            <a:r>
              <a:rPr sz="2000" b="0">
                <a:solidFill>
                  <a:srgbClr val="0F4C5C"/>
                </a:solidFill>
                <a:latin typeface="Cambria Math"/>
              </a:rPr>
              <a:t>BC = BC</a:t>
            </a:r>
          </a:p>
        </p:txBody>
      </p:sp>
      <p:graphicFrame>
        <p:nvGraphicFramePr>
          <p:cNvPr id="6" name="Table 5"/>
          <p:cNvGraphicFramePr>
            <a:graphicFrameLocks noGrp="1"/>
          </p:cNvGraphicFramePr>
          <p:nvPr/>
        </p:nvGraphicFramePr>
        <p:xfrm>
          <a:off x="6301587" y="1417320"/>
          <a:ext cx="5341466" cy="1715008"/>
        </p:xfrm>
        <a:graphic>
          <a:graphicData uri="http://schemas.openxmlformats.org/drawingml/2006/table">
            <a:tbl>
              <a:tblPr firstRow="0" bandRow="0">
                <a:tableStyleId>{5C22544A-7EE6-4342-B048-85BDC9FD1C3A}</a:tableStyleId>
              </a:tblPr>
              <a:tblGrid>
                <a:gridCol w="854634"/>
                <a:gridCol w="2243416"/>
                <a:gridCol w="2243416"/>
              </a:tblGrid>
              <a:tr h="614680">
                <a:tc>
                  <a:txBody>
                    <a:bodyPr/>
                    <a:lstStyle/>
                    <a:p>
                      <a:pPr algn="ctr"/>
                    </a:p>
                  </a:txBody>
                  <a:tcPr marL="73152" marR="73152" marT="27432" marB="27432" anchor="ctr">
                    <a:solidFill>
                      <a:srgbClr val="0F4C5C"/>
                    </a:solidFill>
                  </a:tcPr>
                </a:tc>
                <a:tc>
                  <a:txBody>
                    <a:bodyPr/>
                    <a:lstStyle/>
                    <a:p>
                      <a:pPr algn="ctr"/>
                      <a:r>
                        <a:rPr sz="1600" b="1">
                          <a:solidFill>
                            <a:srgbClr val="FFFFFF"/>
                          </a:solidFill>
                          <a:latin typeface="Calibri"/>
                        </a:rPr>
                        <a:t>Principal (I = ABC)</a:t>
                      </a:r>
                    </a:p>
                  </a:txBody>
                  <a:tcPr marL="73152" marR="73152" marT="27432" marB="27432" anchor="ctr">
                    <a:solidFill>
                      <a:srgbClr val="0F4C5C"/>
                    </a:solidFill>
                  </a:tcPr>
                </a:tc>
                <a:tc>
                  <a:txBody>
                    <a:bodyPr/>
                    <a:lstStyle/>
                    <a:p>
                      <a:pPr algn="ctr"/>
                      <a:r>
                        <a:rPr sz="1600" b="1">
                          <a:solidFill>
                            <a:srgbClr val="FFFFFF"/>
                          </a:solidFill>
                          <a:latin typeface="Calibri"/>
                        </a:rPr>
                        <a:t>Alterna (I = −ABC)</a:t>
                      </a:r>
                    </a:p>
                  </a:txBody>
                  <a:tcPr marL="73152" marR="73152" marT="27432" marB="27432" anchor="ctr">
                    <a:solidFill>
                      <a:srgbClr val="0F4C5C"/>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r>
            </a:tbl>
          </a:graphicData>
        </a:graphic>
      </p:graphicFrame>
      <p:sp>
        <p:nvSpPr>
          <p:cNvPr id="7" name="Rounded Rectangle 6"/>
          <p:cNvSpPr/>
          <p:nvPr/>
        </p:nvSpPr>
        <p:spPr>
          <a:xfrm>
            <a:off x="6301587" y="3333495"/>
            <a:ext cx="5341467"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A,     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BC</a:t>
            </a:r>
          </a:p>
        </p:txBody>
      </p:sp>
      <p:sp>
        <p:nvSpPr>
          <p:cNvPr id="8" name="Rounded Rectangle 7"/>
          <p:cNvSpPr/>
          <p:nvPr/>
        </p:nvSpPr>
        <p:spPr>
          <a:xfrm>
            <a:off x="6301587" y="4086636"/>
            <a:ext cx="5341467"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Principal (a, b, c, abc) y alterna ((1), ab, ac, bc) son la misma </a:t>
            </a:r>
            <a:r>
              <a:rPr sz="1400" b="1">
                <a:solidFill>
                  <a:srgbClr val="142B33"/>
                </a:solidFill>
                <a:latin typeface="Calibri"/>
              </a:rPr>
              <a:t>familia</a:t>
            </a:r>
            <a:r>
              <a:rPr sz="1400" b="0">
                <a:solidFill>
                  <a:srgbClr val="142B33"/>
                </a:solidFill>
                <a:latin typeface="Calibri"/>
              </a:rPr>
              <a:t> y da igual cuál se corra; juntas forman el 2</a:t>
            </a:r>
            <a:r>
              <a:rPr sz="1400" b="0" baseline="30000">
                <a:solidFill>
                  <a:srgbClr val="142B33"/>
                </a:solidFill>
                <a:latin typeface="Calibri"/>
              </a:rPr>
              <a:t>3</a:t>
            </a:r>
            <a:r>
              <a:rPr sz="1400" b="0">
                <a:solidFill>
                  <a:srgbClr val="142B33"/>
                </a:solidFill>
                <a:latin typeface="Calibri"/>
              </a:rPr>
              <a:t> completo en </a:t>
            </a:r>
            <a:r>
              <a:rPr sz="1400" b="1">
                <a:solidFill>
                  <a:srgbClr val="142B33"/>
                </a:solidFill>
                <a:latin typeface="Calibri"/>
              </a:rPr>
              <a:t>dos bloques</a:t>
            </a:r>
            <a:r>
              <a:rPr sz="1400" b="0">
                <a:solidFill>
                  <a:srgbClr val="142B33"/>
                </a:solidFill>
                <a:latin typeface="Calibri"/>
              </a:rPr>
              <a:t> con ABC confundida</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17</a:t>
            </a:r>
          </a:p>
        </p:txBody>
      </p:sp>
      <p:sp>
        <p:nvSpPr>
          <p:cNvPr id="11" name="Rounded Rectangle 10"/>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construyo una fracción un medio?</a:t>
            </a:r>
          </a:p>
        </p:txBody>
      </p:sp>
      <p:sp>
        <p:nvSpPr>
          <p:cNvPr id="3" name="TextBox 2"/>
          <p:cNvSpPr txBox="1"/>
          <p:nvPr/>
        </p:nvSpPr>
        <p:spPr>
          <a:xfrm>
            <a:off x="548640" y="1417320"/>
            <a:ext cx="5341467" cy="192023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800" b="0">
                <a:solidFill>
                  <a:srgbClr val="142B33"/>
                </a:solidFill>
                <a:latin typeface="Calibri"/>
              </a:rPr>
              <a:t>Escribir el </a:t>
            </a:r>
            <a:r>
              <a:rPr sz="1800" b="1">
                <a:solidFill>
                  <a:srgbClr val="142B33"/>
                </a:solidFill>
                <a:latin typeface="Calibri"/>
              </a:rPr>
              <a:t>diseño básico</a:t>
            </a:r>
            <a:r>
              <a:rPr sz="1800" b="0">
                <a:solidFill>
                  <a:srgbClr val="142B33"/>
                </a:solidFill>
                <a:latin typeface="Calibri"/>
              </a:rPr>
              <a:t>: factorial completo en k − 1 factores</a:t>
            </a:r>
          </a:p>
          <a:p>
            <a:pPr marL="320040" indent="-320040">
              <a:spcAft>
                <a:spcPts val="600"/>
              </a:spcAft>
              <a:buClr>
                <a:srgbClr val="E36414"/>
              </a:buClr>
              <a:buFont typeface="+mj-lt"/>
              <a:buAutoNum type="arabicPeriod"/>
            </a:pPr>
            <a:r>
              <a:rPr sz="1800" b="0">
                <a:solidFill>
                  <a:srgbClr val="142B33"/>
                </a:solidFill>
                <a:latin typeface="Calibri"/>
              </a:rPr>
              <a:t>Agregar el factor k con los signos de la </a:t>
            </a:r>
            <a:r>
              <a:rPr sz="1800" b="1">
                <a:solidFill>
                  <a:srgbClr val="142B33"/>
                </a:solidFill>
                <a:latin typeface="Calibri"/>
              </a:rPr>
              <a:t>interacción de mayor orden</a:t>
            </a:r>
          </a:p>
          <a:p>
            <a:pPr marL="320040" indent="-320040">
              <a:spcAft>
                <a:spcPts val="600"/>
              </a:spcAft>
              <a:buClr>
                <a:srgbClr val="E36414"/>
              </a:buClr>
              <a:buFont typeface="+mj-lt"/>
              <a:buAutoNum type="arabicPeriod"/>
            </a:pPr>
            <a:r>
              <a:rPr sz="1800" b="0">
                <a:solidFill>
                  <a:srgbClr val="142B33"/>
                </a:solidFill>
                <a:latin typeface="Calibri"/>
              </a:rPr>
              <a:t>Para la fracción alterna, usar el signo contrario</a:t>
            </a:r>
          </a:p>
        </p:txBody>
      </p:sp>
      <p:sp>
        <p:nvSpPr>
          <p:cNvPr id="4" name="Rounded Rectangle 3"/>
          <p:cNvSpPr/>
          <p:nvPr/>
        </p:nvSpPr>
        <p:spPr>
          <a:xfrm>
            <a:off x="548640" y="3538728"/>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D = ABC   ⇔   I = ABCD</a:t>
            </a:r>
          </a:p>
        </p:txBody>
      </p:sp>
      <p:sp>
        <p:nvSpPr>
          <p:cNvPr id="5" name="Rounded Rectangle 4"/>
          <p:cNvSpPr/>
          <p:nvPr/>
        </p:nvSpPr>
        <p:spPr>
          <a:xfrm>
            <a:off x="548640" y="4361281"/>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 fracción un medio de mayor resolución tiene </a:t>
            </a:r>
            <a:r>
              <a:rPr sz="1600" b="1">
                <a:solidFill>
                  <a:srgbClr val="142B33"/>
                </a:solidFill>
                <a:latin typeface="Calibri"/>
              </a:rPr>
              <a:t>resolución k</a:t>
            </a:r>
          </a:p>
        </p:txBody>
      </p:sp>
      <p:graphicFrame>
        <p:nvGraphicFramePr>
          <p:cNvPr id="6" name="Table 5"/>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1421124"/>
                <a:gridCol w="465540"/>
                <a:gridCol w="465540"/>
                <a:gridCol w="465540"/>
                <a:gridCol w="1421124"/>
                <a:gridCol w="1102596"/>
              </a:tblGrid>
              <a:tr h="351282">
                <a:tc>
                  <a:txBody>
                    <a:bodyPr/>
                    <a:lstStyle/>
                    <a:p>
                      <a:pPr algn="l"/>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r>
              <a:tr h="351282">
                <a:tc>
                  <a:txBody>
                    <a:bodyPr/>
                    <a:lstStyle/>
                    <a:p>
                      <a:pPr algn="l"/>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r>
              <a:tr h="351282">
                <a:tc>
                  <a:txBody>
                    <a:bodyPr/>
                    <a:lstStyle/>
                    <a:p>
                      <a:pPr algn="l"/>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r>
              <a:tr h="351282">
                <a:tc>
                  <a:txBody>
                    <a:bodyPr/>
                    <a:lstStyle/>
                    <a:p>
                      <a:pPr algn="l"/>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r>
              <a:tr h="351282">
                <a:tc>
                  <a:txBody>
                    <a:bodyPr/>
                    <a:lstStyle/>
                    <a:p>
                      <a:pPr algn="l"/>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r>
              <a:tr h="351282">
                <a:tc>
                  <a:txBody>
                    <a:bodyPr/>
                    <a:lstStyle/>
                    <a:p>
                      <a:pPr algn="l"/>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r>
              <a:tr h="351282">
                <a:tc>
                  <a:txBody>
                    <a:bodyPr/>
                    <a:lstStyle/>
                    <a:p>
                      <a:pPr algn="l"/>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18</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proyecta una fracción un medio?</a:t>
            </a:r>
          </a:p>
        </p:txBody>
      </p:sp>
      <p:sp>
        <p:nvSpPr>
          <p:cNvPr id="3" name="Rounded Rectangle 2"/>
          <p:cNvSpPr/>
          <p:nvPr/>
        </p:nvSpPr>
        <p:spPr>
          <a:xfrm>
            <a:off x="548640" y="1417320"/>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Resolución R ⇒ factorial completo en cualquier subconjunto de </a:t>
            </a:r>
            <a:r>
              <a:rPr sz="1800" b="1">
                <a:solidFill>
                  <a:srgbClr val="0F4C5C"/>
                </a:solidFill>
                <a:latin typeface="Cambria Math"/>
              </a:rPr>
              <a:t>R − 1</a:t>
            </a:r>
            <a:r>
              <a:rPr sz="1800" b="0">
                <a:solidFill>
                  <a:srgbClr val="0F4C5C"/>
                </a:solidFill>
                <a:latin typeface="Cambria Math"/>
              </a:rPr>
              <a:t> factores</a:t>
            </a:r>
          </a:p>
        </p:txBody>
      </p:sp>
      <p:sp>
        <p:nvSpPr>
          <p:cNvPr id="4" name="TextBox 3"/>
          <p:cNvSpPr txBox="1"/>
          <p:nvPr/>
        </p:nvSpPr>
        <p:spPr>
          <a:xfrm>
            <a:off x="548640" y="2205167"/>
            <a:ext cx="4914150" cy="14864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Fracción un medio de máxima resolución: </a:t>
            </a:r>
            <a:r>
              <a:rPr sz="1600" b="1">
                <a:solidFill>
                  <a:srgbClr val="142B33"/>
                </a:solidFill>
                <a:latin typeface="Calibri"/>
              </a:rPr>
              <a:t>R = k</a:t>
            </a:r>
          </a:p>
          <a:p>
            <a:pPr marL="320040" indent="-320040">
              <a:spcAft>
                <a:spcPts val="600"/>
              </a:spcAft>
              <a:buClr>
                <a:srgbClr val="E36414"/>
              </a:buClr>
              <a:buFont typeface="Arial"/>
              <a:buChar char="•"/>
            </a:pPr>
            <a:r>
              <a:rPr sz="1600" b="0">
                <a:solidFill>
                  <a:srgbClr val="142B33"/>
                </a:solidFill>
                <a:latin typeface="Calibri"/>
              </a:rPr>
              <a:t>Si a lo sumo R − 1 factores importan, un diseño de resolución R es </a:t>
            </a:r>
            <a:r>
              <a:rPr sz="1600" b="1">
                <a:solidFill>
                  <a:srgbClr val="142B33"/>
                </a:solidFill>
                <a:latin typeface="Calibri"/>
              </a:rPr>
              <a:t>adecuado</a:t>
            </a:r>
          </a:p>
          <a:p>
            <a:pPr marL="320040" indent="-320040">
              <a:spcAft>
                <a:spcPts val="600"/>
              </a:spcAft>
              <a:buClr>
                <a:srgbClr val="E36414"/>
              </a:buClr>
              <a:buFont typeface="Arial"/>
              <a:buChar char="•"/>
            </a:pPr>
            <a:r>
              <a:rPr sz="1600" b="0">
                <a:solidFill>
                  <a:srgbClr val="142B33"/>
                </a:solidFill>
                <a:latin typeface="Calibri"/>
              </a:rPr>
              <a:t>Los factores descartados se convierten en </a:t>
            </a:r>
            <a:r>
              <a:rPr sz="1600" b="1">
                <a:solidFill>
                  <a:srgbClr val="142B33"/>
                </a:solidFill>
                <a:latin typeface="Calibri"/>
              </a:rPr>
              <a:t>réplicas</a:t>
            </a:r>
          </a:p>
        </p:txBody>
      </p:sp>
      <p:graphicFrame>
        <p:nvGraphicFramePr>
          <p:cNvPr id="5" name="Table 4"/>
          <p:cNvGraphicFramePr>
            <a:graphicFrameLocks noGrp="1"/>
          </p:cNvGraphicFramePr>
          <p:nvPr/>
        </p:nvGraphicFramePr>
        <p:xfrm>
          <a:off x="5874270" y="1417320"/>
          <a:ext cx="5768784" cy="2102358"/>
        </p:xfrm>
        <a:graphic>
          <a:graphicData uri="http://schemas.openxmlformats.org/drawingml/2006/table">
            <a:tbl>
              <a:tblPr firstRow="0" bandRow="0">
                <a:tableStyleId>{5C22544A-7EE6-4342-B048-85BDC9FD1C3A}</a:tableStyleId>
              </a:tblPr>
              <a:tblGrid>
                <a:gridCol w="1269132"/>
                <a:gridCol w="1499884"/>
                <a:gridCol w="1499884"/>
                <a:gridCol w="1499884"/>
              </a:tblGrid>
              <a:tr h="58369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En k − 1 factores</a:t>
                      </a:r>
                    </a:p>
                  </a:txBody>
                  <a:tcPr marL="73152" marR="73152" marT="27432" marB="27432" anchor="ctr">
                    <a:solidFill>
                      <a:srgbClr val="0F4C5C"/>
                    </a:solidFill>
                  </a:tcPr>
                </a:tc>
                <a:tc>
                  <a:txBody>
                    <a:bodyPr/>
                    <a:lstStyle/>
                    <a:p>
                      <a:pPr algn="ctr"/>
                      <a:r>
                        <a:rPr sz="1500" b="1">
                          <a:solidFill>
                            <a:srgbClr val="FFFFFF"/>
                          </a:solidFill>
                          <a:latin typeface="Calibri"/>
                        </a:rPr>
                        <a:t>En k − 2</a:t>
                      </a:r>
                    </a:p>
                  </a:txBody>
                  <a:tcPr marL="73152" marR="73152" marT="27432" marB="27432" anchor="ctr">
                    <a:solidFill>
                      <a:srgbClr val="0F4C5C"/>
                    </a:solidFill>
                  </a:tcPr>
                </a:tc>
                <a:tc>
                  <a:txBody>
                    <a:bodyPr/>
                    <a:lstStyle/>
                    <a:p>
                      <a:pPr algn="ctr"/>
                      <a:r>
                        <a:rPr sz="1500" b="1">
                          <a:solidFill>
                            <a:srgbClr val="FFFFFF"/>
                          </a:solidFill>
                          <a:latin typeface="Calibri"/>
                        </a:rPr>
                        <a:t>En k − 3</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tr>
              <a:tr h="583692">
                <a:tc>
                  <a:txBody>
                    <a:bodyPr/>
                    <a:lstStyle/>
                    <a:p>
                      <a:pPr algn="ctr"/>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ctr"/>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a:t>
                      </a:r>
                    </a:p>
                  </a:txBody>
                  <a:tcPr marL="73152" marR="73152" marT="27432" marB="27432" anchor="ctr">
                    <a:solidFill>
                      <a:srgbClr val="F4F8F9"/>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r h="583692">
                <a:tc>
                  <a:txBody>
                    <a:bodyPr/>
                    <a:lstStyle/>
                    <a:p>
                      <a:pPr algn="ctr"/>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4 réplicas de 2</a:t>
                      </a:r>
                      <a:r>
                        <a:rPr sz="1500" b="0" baseline="30000">
                          <a:solidFill>
                            <a:srgbClr val="142B33"/>
                          </a:solidFill>
                          <a:latin typeface="Calibri"/>
                        </a:rPr>
                        <a:t>2</a:t>
                      </a:r>
                    </a:p>
                  </a:txBody>
                  <a:tcPr marL="73152" marR="73152" marT="27432" marB="27432" anchor="ctr">
                    <a:solidFill>
                      <a:srgbClr val="FFFFFF"/>
                    </a:solidFill>
                  </a:tcPr>
                </a:tc>
              </a:tr>
            </a:tbl>
          </a:graphicData>
        </a:graphic>
      </p:graphicFrame>
      <p:sp>
        <p:nvSpPr>
          <p:cNvPr id="6" name="TextBox 5"/>
          <p:cNvSpPr txBox="1"/>
          <p:nvPr/>
        </p:nvSpPr>
        <p:spPr>
          <a:xfrm>
            <a:off x="5874270" y="3720846"/>
            <a:ext cx="5768785" cy="470407"/>
          </a:xfrm>
          <a:prstGeom prst="rect">
            <a:avLst/>
          </a:prstGeom>
          <a:noFill/>
        </p:spPr>
        <p:txBody>
          <a:bodyPr wrap="square" anchor="t" lIns="0" rIns="0" tIns="0" bIns="0">
            <a:spAutoFit/>
          </a:bodyPr>
          <a:lstStyle/>
          <a:p>
            <a:r>
              <a:rPr sz="1400" b="0">
                <a:solidFill>
                  <a:srgbClr val="5B6B73"/>
                </a:solidFill>
                <a:latin typeface="Calibri"/>
              </a:rPr>
              <a:t>Ejemplo: el 2</a:t>
            </a:r>
            <a:r>
              <a:rPr sz="1400" b="0" baseline="30000">
                <a:solidFill>
                  <a:srgbClr val="5B6B73"/>
                </a:solidFill>
                <a:latin typeface="Calibri"/>
              </a:rPr>
              <a:t>3−1</a:t>
            </a:r>
            <a:r>
              <a:rPr sz="1400" b="0">
                <a:solidFill>
                  <a:srgbClr val="5B6B73"/>
                </a:solidFill>
                <a:latin typeface="Calibri"/>
              </a:rPr>
              <a:t> deja un cuadrado completo en cada cara del cubo (Montgomery, fig. 8-2)</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19</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Enunciado: índice de filtración</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 producto químico se fabrica en un recipiente a presión. En la planta piloto se quiere estudiar los factores que se cree influyen en el </a:t>
            </a:r>
            <a:r>
              <a:rPr sz="1600" b="1">
                <a:solidFill>
                  <a:srgbClr val="142B33"/>
                </a:solidFill>
                <a:latin typeface="Calibri"/>
              </a:rPr>
              <a:t>índice de filtración</a:t>
            </a:r>
            <a:r>
              <a:rPr sz="1600" b="0">
                <a:solidFill>
                  <a:srgbClr val="142B33"/>
                </a:solidFill>
                <a:latin typeface="Calibri"/>
              </a:rPr>
              <a:t> del producto (gal/h): A temperatura, B presión, C concentración de formaldehído y D velocidad de agitación, cada uno a dos niveles.</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Con las condiciones actuales la filtración ronda los 75 gal/h y el proceso trabaja con la concentración de formaldehído en el nivel alto. El ingeniero quiere </a:t>
            </a:r>
            <a:r>
              <a:rPr sz="1600" b="1">
                <a:solidFill>
                  <a:srgbClr val="142B33"/>
                </a:solidFill>
                <a:latin typeface="Calibri"/>
              </a:rPr>
              <a:t>reducir el formaldehído</a:t>
            </a:r>
            <a:r>
              <a:rPr sz="1600" b="0">
                <a:solidFill>
                  <a:srgbClr val="142B33"/>
                </a:solidFill>
                <a:latin typeface="Calibri"/>
              </a:rPr>
              <a:t> tanto como sea posible, pero hasta ahora cada intento ha bajado la filtración.</a:t>
            </a:r>
          </a:p>
        </p:txBody>
      </p:sp>
      <p:sp>
        <p:nvSpPr>
          <p:cNvPr id="5" name="TextBox 4"/>
          <p:cNvSpPr txBox="1"/>
          <p:nvPr/>
        </p:nvSpPr>
        <p:spPr>
          <a:xfrm>
            <a:off x="548640" y="4371848"/>
            <a:ext cx="6196102" cy="1028191"/>
          </a:xfrm>
          <a:prstGeom prst="rect">
            <a:avLst/>
          </a:prstGeom>
          <a:noFill/>
        </p:spPr>
        <p:txBody>
          <a:bodyPr wrap="square" anchor="t" lIns="0" rIns="0" tIns="0" bIns="0">
            <a:spAutoFit/>
          </a:bodyPr>
          <a:lstStyle/>
          <a:p>
            <a:r>
              <a:rPr sz="1600" b="0">
                <a:solidFill>
                  <a:srgbClr val="142B33"/>
                </a:solidFill>
                <a:latin typeface="Calibri"/>
              </a:rPr>
              <a:t>El factorial completo 2</a:t>
            </a:r>
            <a:r>
              <a:rPr sz="1600" b="0" baseline="30000">
                <a:solidFill>
                  <a:srgbClr val="142B33"/>
                </a:solidFill>
                <a:latin typeface="Calibri"/>
              </a:rPr>
              <a:t>4</a:t>
            </a:r>
            <a:r>
              <a:rPr sz="1600" b="0">
                <a:solidFill>
                  <a:srgbClr val="142B33"/>
                </a:solidFill>
                <a:latin typeface="Calibri"/>
              </a:rPr>
              <a:t> exige 16 corridas. Para ahorrar, se corre solo </a:t>
            </a:r>
            <a:r>
              <a:rPr sz="1600" b="1">
                <a:solidFill>
                  <a:srgbClr val="142B33"/>
                </a:solidFill>
                <a:latin typeface="Calibri"/>
              </a:rPr>
              <a:t>la mitad: 8 corridas</a:t>
            </a:r>
            <a:r>
              <a:rPr sz="1600" b="0">
                <a:solidFill>
                  <a:srgbClr val="142B33"/>
                </a:solidFill>
                <a:latin typeface="Calibri"/>
              </a:rPr>
              <a:t>, elegidas con D = ABC (I = ABCD). Cada combinación se corre una vez, en orden aleatorio.</a:t>
            </a:r>
          </a:p>
        </p:txBody>
      </p:sp>
      <p:sp>
        <p:nvSpPr>
          <p:cNvPr id="6" name="TextBox 5"/>
          <p:cNvSpPr txBox="1"/>
          <p:nvPr/>
        </p:nvSpPr>
        <p:spPr>
          <a:xfrm>
            <a:off x="548640" y="5601207"/>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ejemplos 6-2 y 8-1</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Encontrar las condiciones que </a:t>
            </a:r>
            <a:r>
              <a:rPr sz="1500" b="1">
                <a:solidFill>
                  <a:srgbClr val="142B33"/>
                </a:solidFill>
                <a:latin typeface="Calibri"/>
              </a:rPr>
              <a:t>maximizan la filtración</a:t>
            </a:r>
            <a:r>
              <a:rPr sz="1500" b="0">
                <a:solidFill>
                  <a:srgbClr val="142B33"/>
                </a:solidFill>
                <a:latin typeface="Calibri"/>
              </a:rPr>
              <a:t> y ver si se puede trabajar con </a:t>
            </a:r>
            <a:r>
              <a:rPr sz="1500" b="1">
                <a:solidFill>
                  <a:srgbClr val="142B33"/>
                </a:solidFill>
                <a:latin typeface="Calibri"/>
              </a:rPr>
              <a:t>menos formaldehído</a:t>
            </a:r>
            <a:r>
              <a:rPr sz="1500" b="0">
                <a:solidFill>
                  <a:srgbClr val="142B33"/>
                </a:solidFill>
                <a:latin typeface="Calibri"/>
              </a:rPr>
              <a:t> sin perderla</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y escribir sus alias</a:t>
            </a:r>
          </a:p>
          <a:p>
            <a:pPr marL="320040" indent="-320040">
              <a:spcAft>
                <a:spcPts val="600"/>
              </a:spcAft>
              <a:buClr>
                <a:srgbClr val="E36414"/>
              </a:buClr>
              <a:buFont typeface="+mj-lt"/>
              <a:buAutoNum type="arabicPeriod"/>
            </a:pPr>
            <a:r>
              <a:rPr sz="1500" b="0">
                <a:solidFill>
                  <a:srgbClr val="142B33"/>
                </a:solidFill>
                <a:latin typeface="Calibri"/>
              </a:rPr>
              <a:t>Estimar los efectos e identificar los activos</a:t>
            </a:r>
          </a:p>
          <a:p>
            <a:pPr marL="320040" indent="-320040">
              <a:spcAft>
                <a:spcPts val="600"/>
              </a:spcAft>
              <a:buClr>
                <a:srgbClr val="E36414"/>
              </a:buClr>
              <a:buFont typeface="+mj-lt"/>
              <a:buAutoNum type="arabicPeriod"/>
            </a:pPr>
            <a:r>
              <a:rPr sz="1500" b="0">
                <a:solidFill>
                  <a:srgbClr val="142B33"/>
                </a:solidFill>
                <a:latin typeface="Calibri"/>
              </a:rPr>
              <a:t>Interpretar las cadenas de alias grandes</a:t>
            </a:r>
          </a:p>
          <a:p>
            <a:pPr marL="320040" indent="-320040">
              <a:spcAft>
                <a:spcPts val="600"/>
              </a:spcAft>
              <a:buClr>
                <a:srgbClr val="E36414"/>
              </a:buClr>
              <a:buFont typeface="+mj-lt"/>
              <a:buAutoNum type="arabicPeriod"/>
            </a:pPr>
            <a:r>
              <a:rPr sz="1500" b="0">
                <a:solidFill>
                  <a:srgbClr val="142B33"/>
                </a:solidFill>
                <a:latin typeface="Calibri"/>
              </a:rPr>
              <a:t>Proponer el modelo y la mejor condición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20</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Índice de filtración, 2</a:t>
            </a:r>
            <a:r>
              <a:rPr sz="3000" b="1" baseline="30000">
                <a:solidFill>
                  <a:srgbClr val="0F4C5C"/>
                </a:solidFill>
                <a:latin typeface="Cambria"/>
              </a:rPr>
              <a:t>4−1</a:t>
            </a:r>
            <a:r>
              <a:rPr sz="3000" b="1" baseline="-25000">
                <a:solidFill>
                  <a:srgbClr val="0F4C5C"/>
                </a:solidFill>
                <a:latin typeface="Cambria"/>
              </a:rPr>
              <a:t>IV</a:t>
            </a:r>
          </a:p>
        </p:txBody>
      </p:sp>
      <p:sp>
        <p:nvSpPr>
          <p:cNvPr id="3" name="TextBox 2"/>
          <p:cNvSpPr txBox="1"/>
          <p:nvPr/>
        </p:nvSpPr>
        <p:spPr>
          <a:xfrm>
            <a:off x="548640" y="1417320"/>
            <a:ext cx="5341467" cy="128016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Fracción un medio con </a:t>
            </a:r>
            <a:r>
              <a:rPr sz="1800" b="1">
                <a:solidFill>
                  <a:srgbClr val="142B33"/>
                </a:solidFill>
                <a:latin typeface="Calibri"/>
              </a:rPr>
              <a:t>D = ABC</a:t>
            </a:r>
            <a:r>
              <a:rPr sz="1800" b="0">
                <a:solidFill>
                  <a:srgbClr val="142B33"/>
                </a:solidFill>
                <a:latin typeface="Calibri"/>
              </a:rPr>
              <a:t>  (I = ABCD), 8 corridas</a:t>
            </a:r>
          </a:p>
          <a:p>
            <a:pPr marL="320040" indent="-320040">
              <a:spcAft>
                <a:spcPts val="600"/>
              </a:spcAft>
              <a:buClr>
                <a:srgbClr val="E36414"/>
              </a:buClr>
              <a:buFont typeface="Arial"/>
              <a:buChar char="•"/>
            </a:pPr>
            <a:r>
              <a:rPr sz="1800" b="1">
                <a:solidFill>
                  <a:srgbClr val="142B33"/>
                </a:solidFill>
                <a:latin typeface="Calibri"/>
              </a:rPr>
              <a:t>Resolución IV</a:t>
            </a:r>
            <a:r>
              <a:rPr sz="1800" b="0">
                <a:solidFill>
                  <a:srgbClr val="142B33"/>
                </a:solidFill>
                <a:latin typeface="Calibri"/>
              </a:rPr>
              <a:t>: principales libres de interacciones dobles; las dobles, aliadas por pares</a:t>
            </a:r>
          </a:p>
        </p:txBody>
      </p:sp>
      <p:graphicFrame>
        <p:nvGraphicFramePr>
          <p:cNvPr id="4" name="Table 3"/>
          <p:cNvGraphicFramePr>
            <a:graphicFrameLocks noGrp="1"/>
          </p:cNvGraphicFramePr>
          <p:nvPr/>
        </p:nvGraphicFramePr>
        <p:xfrm>
          <a:off x="548640" y="2898648"/>
          <a:ext cx="5341467" cy="1988820"/>
        </p:xfrm>
        <a:graphic>
          <a:graphicData uri="http://schemas.openxmlformats.org/drawingml/2006/table">
            <a:tbl>
              <a:tblPr firstRow="0" bandRow="0">
                <a:tableStyleId>{5C22544A-7EE6-4342-B048-85BDC9FD1C3A}</a:tableStyleId>
              </a:tblPr>
              <a:tblGrid>
                <a:gridCol w="2571535"/>
                <a:gridCol w="2769932"/>
              </a:tblGrid>
              <a:tr h="583692">
                <a:tc>
                  <a:txBody>
                    <a:bodyPr/>
                    <a:lstStyle/>
                    <a:p>
                      <a:pPr algn="ctr"/>
                      <a:r>
                        <a:rPr sz="1500" b="1">
                          <a:solidFill>
                            <a:srgbClr val="FFFFFF"/>
                          </a:solidFill>
                          <a:latin typeface="Calibri"/>
                        </a:rPr>
                        <a:t>Alias de los principales</a:t>
                      </a:r>
                    </a:p>
                  </a:txBody>
                  <a:tcPr marL="73152" marR="73152" marT="27432" marB="27432" anchor="ctr">
                    <a:solidFill>
                      <a:srgbClr val="0F4C5C"/>
                    </a:solidFill>
                  </a:tcPr>
                </a:tc>
                <a:tc>
                  <a:txBody>
                    <a:bodyPr/>
                    <a:lstStyle/>
                    <a:p>
                      <a:pPr algn="ctr"/>
                      <a:r>
                        <a:rPr sz="1500" b="1">
                          <a:solidFill>
                            <a:srgbClr val="FFFFFF"/>
                          </a:solidFill>
                          <a:latin typeface="Calibri"/>
                        </a:rPr>
                        <a:t>Alias de las interacciones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BCD</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ACD</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ABD</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r h="351282">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6301587" y="1417320"/>
          <a:ext cx="5341465" cy="3161538"/>
        </p:xfrm>
        <a:graphic>
          <a:graphicData uri="http://schemas.openxmlformats.org/drawingml/2006/table">
            <a:tbl>
              <a:tblPr firstRow="0" bandRow="0">
                <a:tableStyleId>{5C22544A-7EE6-4342-B048-85BDC9FD1C3A}</a:tableStyleId>
              </a:tblPr>
              <a:tblGrid>
                <a:gridCol w="1207817"/>
                <a:gridCol w="395664"/>
                <a:gridCol w="395664"/>
                <a:gridCol w="395664"/>
                <a:gridCol w="395664"/>
                <a:gridCol w="937099"/>
                <a:gridCol w="161389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100</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c>
                  <a:txBody>
                    <a:bodyPr/>
                    <a:lstStyle/>
                    <a:p>
                      <a:pPr algn="ctr"/>
                      <a:r>
                        <a:rPr sz="1500" b="0">
                          <a:solidFill>
                            <a:srgbClr val="142B33"/>
                          </a:solidFill>
                          <a:latin typeface="Calibri"/>
                        </a:rPr>
                        <a:t>75</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60</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80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c>
                  <a:txBody>
                    <a:bodyPr/>
                    <a:lstStyle/>
                    <a:p>
                      <a:pPr algn="ctr"/>
                      <a:r>
                        <a:rPr sz="1500" b="0">
                          <a:solidFill>
                            <a:srgbClr val="142B33"/>
                          </a:solidFill>
                          <a:latin typeface="Calibri"/>
                        </a:rPr>
                        <a:t>96</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21</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Efectos estimados y alias</a:t>
            </a:r>
          </a:p>
        </p:txBody>
      </p:sp>
      <p:graphicFrame>
        <p:nvGraphicFramePr>
          <p:cNvPr id="3" name="Table 2"/>
          <p:cNvGraphicFramePr>
            <a:graphicFrameLocks noGrp="1"/>
          </p:cNvGraphicFramePr>
          <p:nvPr/>
        </p:nvGraphicFramePr>
        <p:xfrm>
          <a:off x="548640" y="1417320"/>
          <a:ext cx="4914148" cy="2934208"/>
        </p:xfrm>
        <a:graphic>
          <a:graphicData uri="http://schemas.openxmlformats.org/drawingml/2006/table">
            <a:tbl>
              <a:tblPr firstRow="0" bandRow="0">
                <a:tableStyleId>{5C22544A-7EE6-4342-B048-85BDC9FD1C3A}</a:tableStyleId>
              </a:tblPr>
              <a:tblGrid>
                <a:gridCol w="1770314"/>
                <a:gridCol w="1571917"/>
                <a:gridCol w="1571917"/>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Efecto</a:t>
                      </a:r>
                    </a:p>
                  </a:txBody>
                  <a:tcPr marL="73152" marR="73152" marT="27432" marB="27432" anchor="ctr">
                    <a:solidFill>
                      <a:srgbClr val="0F4C5C"/>
                    </a:solidFill>
                  </a:tcPr>
                </a:tc>
                <a:tc>
                  <a:txBody>
                    <a:bodyPr/>
                    <a:lstStyle/>
                    <a:p>
                      <a:pPr algn="ctr"/>
                      <a:r>
                        <a:rPr sz="1600" b="1">
                          <a:solidFill>
                            <a:srgbClr val="FFFFFF"/>
                          </a:solidFill>
                          <a:latin typeface="Calibri"/>
                        </a:rPr>
                        <a:t>Estima</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 + BCD</a:t>
                      </a:r>
                    </a:p>
                  </a:txBody>
                  <a:tcPr marL="73152" marR="73152" marT="27432" marB="27432" anchor="ctr">
                    <a:solidFill>
                      <a:srgbClr val="FDE8D7"/>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B + ACD</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DE8D7"/>
                    </a:solidFill>
                  </a:tcPr>
                </a:tc>
                <a:tc>
                  <a:txBody>
                    <a:bodyPr/>
                    <a:lstStyle/>
                    <a:p>
                      <a:pPr algn="ctr"/>
                      <a:r>
                        <a:rPr sz="1600" b="0">
                          <a:solidFill>
                            <a:srgbClr val="142B33"/>
                          </a:solidFill>
                          <a:latin typeface="Calibri"/>
                        </a:rPr>
                        <a:t>14.00</a:t>
                      </a:r>
                    </a:p>
                  </a:txBody>
                  <a:tcPr marL="73152" marR="73152" marT="27432" marB="27432" anchor="ctr">
                    <a:solidFill>
                      <a:srgbClr val="FDE8D7"/>
                    </a:solidFill>
                  </a:tcPr>
                </a:tc>
                <a:tc>
                  <a:txBody>
                    <a:bodyPr/>
                    <a:lstStyle/>
                    <a:p>
                      <a:pPr algn="ctr"/>
                      <a:r>
                        <a:rPr sz="1600" b="0">
                          <a:solidFill>
                            <a:srgbClr val="142B33"/>
                          </a:solidFill>
                          <a:latin typeface="Calibri"/>
                        </a:rPr>
                        <a:t>C + ABD</a:t>
                      </a:r>
                    </a:p>
                  </a:txBody>
                  <a:tcPr marL="73152" marR="73152" marT="27432" marB="27432" anchor="ctr">
                    <a:solidFill>
                      <a:srgbClr val="FDE8D7"/>
                    </a:solidFill>
                  </a:tcPr>
                </a:tc>
              </a:tr>
              <a:tr h="366776">
                <a:tc>
                  <a:txBody>
                    <a:bodyPr/>
                    <a:lstStyle/>
                    <a:p>
                      <a:pPr algn="ctr"/>
                      <a:r>
                        <a:rPr sz="1600" b="0">
                          <a:solidFill>
                            <a:srgbClr val="142B33"/>
                          </a:solidFill>
                          <a:latin typeface="Calibri"/>
                        </a:rPr>
                        <a:t>D</a:t>
                      </a:r>
                    </a:p>
                  </a:txBody>
                  <a:tcPr marL="73152" marR="73152" marT="27432" marB="27432" anchor="ctr">
                    <a:solidFill>
                      <a:srgbClr val="FDE8D7"/>
                    </a:solidFill>
                  </a:tcPr>
                </a:tc>
                <a:tc>
                  <a:txBody>
                    <a:bodyPr/>
                    <a:lstStyle/>
                    <a:p>
                      <a:pPr algn="ctr"/>
                      <a:r>
                        <a:rPr sz="1600" b="0">
                          <a:solidFill>
                            <a:srgbClr val="142B33"/>
                          </a:solidFill>
                          <a:latin typeface="Calibri"/>
                        </a:rPr>
                        <a:t>16.50</a:t>
                      </a:r>
                    </a:p>
                  </a:txBody>
                  <a:tcPr marL="73152" marR="73152" marT="27432" marB="27432" anchor="ctr">
                    <a:solidFill>
                      <a:srgbClr val="FDE8D7"/>
                    </a:solidFill>
                  </a:tcPr>
                </a:tc>
                <a:tc>
                  <a:txBody>
                    <a:bodyPr/>
                    <a:lstStyle/>
                    <a:p>
                      <a:pPr algn="ctr"/>
                      <a:r>
                        <a:rPr sz="1600" b="0">
                          <a:solidFill>
                            <a:srgbClr val="142B33"/>
                          </a:solidFill>
                          <a:latin typeface="Calibri"/>
                        </a:rPr>
                        <a:t>D + ABC</a:t>
                      </a:r>
                    </a:p>
                  </a:txBody>
                  <a:tcPr marL="73152" marR="73152" marT="27432" marB="27432" anchor="ctr">
                    <a:solidFill>
                      <a:srgbClr val="FDE8D7"/>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AB + CD</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AC + BD</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AD + BC</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 es pequeño  →  AC + BD se atribuye a </a:t>
            </a:r>
            <a:r>
              <a:rPr sz="1500" b="1">
                <a:solidFill>
                  <a:srgbClr val="142B33"/>
                </a:solidFill>
                <a:latin typeface="Calibri"/>
              </a:rPr>
              <a:t>AC</a:t>
            </a:r>
            <a:r>
              <a:rPr sz="1500" b="0">
                <a:solidFill>
                  <a:srgbClr val="142B33"/>
                </a:solidFill>
                <a:latin typeface="Calibri"/>
              </a:rPr>
              <a:t> y AD + BC a </a:t>
            </a:r>
            <a:r>
              <a:rPr sz="1500" b="1">
                <a:solidFill>
                  <a:srgbClr val="142B33"/>
                </a:solidFill>
                <a:latin typeface="Calibri"/>
              </a:rPr>
              <a:t>AD</a:t>
            </a:r>
          </a:p>
        </p:txBody>
      </p:sp>
      <p:graphicFrame>
        <p:nvGraphicFramePr>
          <p:cNvPr id="5" name="Chart 4"/>
          <p:cNvGraphicFramePr>
            <a:graphicFrameLocks noGrp="1"/>
          </p:cNvGraphicFramePr>
          <p:nvPr/>
        </p:nvGraphicFramePr>
        <p:xfrm>
          <a:off x="5874270" y="1417320"/>
          <a:ext cx="5768785" cy="3749039"/>
        </p:xfrm>
        <a:graphic>
          <a:graphicData uri="http://schemas.openxmlformats.org/drawingml/2006/chart">
            <c:chart xmlns:c="http://schemas.openxmlformats.org/drawingml/2006/chart" r:id="rId2"/>
          </a:graphicData>
        </a:graphic>
      </p:graphicFrame>
      <p:sp>
        <p:nvSpPr>
          <p:cNvPr id="6" name="Rounded Rectangle 5"/>
          <p:cNvSpPr/>
          <p:nvPr/>
        </p:nvSpPr>
        <p:spPr>
          <a:xfrm>
            <a:off x="5874270" y="5367527"/>
            <a:ext cx="5768785"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Lejos de la recta → </a:t>
            </a:r>
            <a:r>
              <a:rPr sz="1400" b="1">
                <a:solidFill>
                  <a:srgbClr val="142B33"/>
                </a:solidFill>
                <a:latin typeface="Calibri"/>
              </a:rPr>
              <a:t>modelo</a:t>
            </a:r>
            <a:r>
              <a:rPr sz="1400" b="0">
                <a:solidFill>
                  <a:srgbClr val="142B33"/>
                </a:solidFill>
                <a:latin typeface="Calibri"/>
              </a:rPr>
              <a:t> (A, C, D, AC, AD).  Sobre la recta → </a:t>
            </a:r>
            <a:r>
              <a:rPr sz="1400" b="1">
                <a:solidFill>
                  <a:srgbClr val="142B33"/>
                </a:solidFill>
                <a:latin typeface="Calibri"/>
              </a:rPr>
              <a:t>error</a:t>
            </a:r>
            <a:r>
              <a:rPr sz="1400" b="0">
                <a:solidFill>
                  <a:srgbClr val="142B33"/>
                </a:solidFill>
                <a:latin typeface="Calibri"/>
              </a:rPr>
              <a:t> (B, AB)</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22</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ANOVA e interpretación</a:t>
            </a:r>
          </a:p>
        </p:txBody>
      </p:sp>
      <p:graphicFrame>
        <p:nvGraphicFramePr>
          <p:cNvPr id="3" name="Table 2"/>
          <p:cNvGraphicFramePr>
            <a:graphicFrameLocks noGrp="1"/>
          </p:cNvGraphicFramePr>
          <p:nvPr/>
        </p:nvGraphicFramePr>
        <p:xfrm>
          <a:off x="548640" y="1417320"/>
          <a:ext cx="5982440" cy="2810256"/>
        </p:xfrm>
        <a:graphic>
          <a:graphicData uri="http://schemas.openxmlformats.org/drawingml/2006/table">
            <a:tbl>
              <a:tblPr firstRow="0" bandRow="0">
                <a:tableStyleId>{5C22544A-7EE6-4342-B048-85BDC9FD1C3A}</a:tableStyleId>
              </a:tblPr>
              <a:tblGrid>
                <a:gridCol w="921320"/>
                <a:gridCol w="1044163"/>
                <a:gridCol w="626498"/>
                <a:gridCol w="921320"/>
                <a:gridCol w="1044163"/>
                <a:gridCol w="1424976"/>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C</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120.62</a:t>
                      </a:r>
                    </a:p>
                  </a:txBody>
                  <a:tcPr marL="73152" marR="73152" marT="27432" marB="27432" anchor="ctr">
                    <a:solidFill>
                      <a:srgbClr val="F4F8F9"/>
                    </a:solidFill>
                  </a:tcPr>
                </a:tc>
                <a:tc>
                  <a:txBody>
                    <a:bodyPr/>
                    <a:lstStyle/>
                    <a:p>
                      <a:pPr algn="ctr"/>
                      <a:r>
                        <a:rPr sz="1500" b="0">
                          <a:solidFill>
                            <a:srgbClr val="142B33"/>
                          </a:solidFill>
                          <a:latin typeface="Calibri"/>
                        </a:rPr>
                        <a:t>0.0082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167.54</a:t>
                      </a:r>
                    </a:p>
                  </a:txBody>
                  <a:tcPr marL="73152" marR="73152" marT="27432" marB="27432" anchor="ctr">
                    <a:solidFill>
                      <a:srgbClr val="FFFFFF"/>
                    </a:solidFill>
                  </a:tcPr>
                </a:tc>
                <a:tc>
                  <a:txBody>
                    <a:bodyPr/>
                    <a:lstStyle/>
                    <a:p>
                      <a:pPr algn="ctr"/>
                      <a:r>
                        <a:rPr sz="1500" b="0">
                          <a:solidFill>
                            <a:srgbClr val="142B33"/>
                          </a:solidFill>
                          <a:latin typeface="Calibri"/>
                        </a:rPr>
                        <a:t>0.0059</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210.62</a:t>
                      </a:r>
                    </a:p>
                  </a:txBody>
                  <a:tcPr marL="73152" marR="73152" marT="27432" marB="27432" anchor="ctr">
                    <a:solidFill>
                      <a:srgbClr val="F4F8F9"/>
                    </a:solidFill>
                  </a:tcPr>
                </a:tc>
                <a:tc>
                  <a:txBody>
                    <a:bodyPr/>
                    <a:lstStyle/>
                    <a:p>
                      <a:pPr algn="ctr"/>
                      <a:r>
                        <a:rPr sz="1500" b="0">
                          <a:solidFill>
                            <a:srgbClr val="142B33"/>
                          </a:solidFill>
                          <a:latin typeface="Calibri"/>
                        </a:rPr>
                        <a:t>0.0047</a:t>
                      </a:r>
                    </a:p>
                  </a:txBody>
                  <a:tcPr marL="73152" marR="73152" marT="27432" marB="27432" anchor="ctr">
                    <a:solidFill>
                      <a:srgbClr val="F4F8F9"/>
                    </a:solidFill>
                  </a:tcPr>
                </a:tc>
              </a:tr>
              <a:tr h="351282">
                <a:tc>
                  <a:txBody>
                    <a:bodyPr/>
                    <a:lstStyle/>
                    <a:p>
                      <a:pPr algn="l"/>
                      <a:r>
                        <a:rPr sz="1500" b="0">
                          <a:solidFill>
                            <a:srgbClr val="142B33"/>
                          </a:solidFill>
                          <a:latin typeface="Calibri"/>
                        </a:rPr>
                        <a:t>AD</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3.25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3071.5</a:t>
                      </a:r>
                    </a:p>
                  </a:txBody>
                  <a:tcPr marL="73152" marR="73152" marT="27432" marB="27432" anchor="ctr">
                    <a:solidFill>
                      <a:srgbClr val="FFFFFF"/>
                    </a:solidFill>
                  </a:tcPr>
                </a:tc>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428744"/>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sp>
        <p:nvSpPr>
          <p:cNvPr id="5" name="TextBox 4"/>
          <p:cNvSpPr txBox="1"/>
          <p:nvPr/>
        </p:nvSpPr>
        <p:spPr>
          <a:xfrm>
            <a:off x="6942563" y="1417320"/>
            <a:ext cx="4700491" cy="19095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Todos los términos: F</a:t>
            </a:r>
            <a:r>
              <a:rPr sz="1700" b="0" baseline="-25000">
                <a:solidFill>
                  <a:srgbClr val="142B33"/>
                </a:solidFill>
                <a:latin typeface="Calibri"/>
              </a:rPr>
              <a:t>0</a:t>
            </a:r>
            <a:r>
              <a:rPr sz="1700" b="0">
                <a:solidFill>
                  <a:srgbClr val="142B33"/>
                </a:solidFill>
                <a:latin typeface="Calibri"/>
              </a:rPr>
              <a:t> &gt; F</a:t>
            </a:r>
            <a:r>
              <a:rPr sz="1700" b="0" baseline="-25000">
                <a:solidFill>
                  <a:srgbClr val="142B33"/>
                </a:solidFill>
                <a:latin typeface="Calibri"/>
              </a:rPr>
              <a:t>0.05, 1, 2</a:t>
            </a:r>
            <a:r>
              <a:rPr sz="1700" b="0">
                <a:solidFill>
                  <a:srgbClr val="142B33"/>
                </a:solidFill>
                <a:latin typeface="Calibri"/>
              </a:rPr>
              <a:t> = 18.51  →  se rechaza H</a:t>
            </a:r>
            <a:r>
              <a:rPr sz="1700" b="0" baseline="-25000">
                <a:solidFill>
                  <a:srgbClr val="142B33"/>
                </a:solidFill>
                <a:latin typeface="Calibri"/>
              </a:rPr>
              <a:t>0</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99.79 %;  R</a:t>
            </a:r>
            <a:r>
              <a:rPr sz="1700" b="0" baseline="30000">
                <a:solidFill>
                  <a:srgbClr val="142B33"/>
                </a:solidFill>
                <a:latin typeface="Calibri"/>
              </a:rPr>
              <a:t>2</a:t>
            </a:r>
            <a:r>
              <a:rPr sz="1700" b="0">
                <a:solidFill>
                  <a:srgbClr val="142B33"/>
                </a:solidFill>
                <a:latin typeface="Calibri"/>
              </a:rPr>
              <a:t> ajustado = 99.26 %</a:t>
            </a:r>
          </a:p>
          <a:p>
            <a:pPr marL="320040" indent="-320040">
              <a:spcAft>
                <a:spcPts val="600"/>
              </a:spcAft>
              <a:buClr>
                <a:srgbClr val="E36414"/>
              </a:buClr>
              <a:buFont typeface="Arial"/>
              <a:buChar char="•"/>
            </a:pPr>
            <a:r>
              <a:rPr sz="1700" b="0">
                <a:solidFill>
                  <a:srgbClr val="142B33"/>
                </a:solidFill>
                <a:latin typeface="Calibri"/>
              </a:rPr>
              <a:t>B no influye: el diseño se </a:t>
            </a:r>
            <a:r>
              <a:rPr sz="1700" b="1">
                <a:solidFill>
                  <a:srgbClr val="142B33"/>
                </a:solidFill>
                <a:latin typeface="Calibri"/>
              </a:rPr>
              <a:t>proyecta</a:t>
            </a:r>
            <a:r>
              <a:rPr sz="1700" b="0">
                <a:solidFill>
                  <a:srgbClr val="142B33"/>
                </a:solidFill>
                <a:latin typeface="Calibri"/>
              </a:rPr>
              <a:t> en un 2</a:t>
            </a:r>
            <a:r>
              <a:rPr sz="1700" b="0" baseline="30000">
                <a:solidFill>
                  <a:srgbClr val="142B33"/>
                </a:solidFill>
                <a:latin typeface="Calibri"/>
              </a:rPr>
              <a:t>3</a:t>
            </a:r>
            <a:r>
              <a:rPr sz="1700" b="0">
                <a:solidFill>
                  <a:srgbClr val="142B33"/>
                </a:solidFill>
                <a:latin typeface="Calibri"/>
              </a:rPr>
              <a:t> completo en A, C, D</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alto, C bajo, D alto</a:t>
            </a:r>
          </a:p>
        </p:txBody>
      </p:sp>
      <p:sp>
        <p:nvSpPr>
          <p:cNvPr id="6" name="Rounded Rectangle 5"/>
          <p:cNvSpPr/>
          <p:nvPr/>
        </p:nvSpPr>
        <p:spPr>
          <a:xfrm>
            <a:off x="6942563" y="3528060"/>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ANOVA calculada aquí (no está en el libro). Solo 2 g.l. de error: conclusión </a:t>
            </a:r>
            <a:r>
              <a:rPr sz="1500" b="1">
                <a:solidFill>
                  <a:srgbClr val="142B33"/>
                </a:solidFill>
                <a:latin typeface="Calibri"/>
              </a:rPr>
              <a:t>tentativa</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23</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Enunciado: rendimiento de un circuito integrado</a:t>
            </a:r>
          </a:p>
        </p:txBody>
      </p:sp>
      <p:sp>
        <p:nvSpPr>
          <p:cNvPr id="3" name="TextBox 2"/>
          <p:cNvSpPr txBox="1"/>
          <p:nvPr/>
        </p:nvSpPr>
        <p:spPr>
          <a:xfrm>
            <a:off x="548640" y="1417320"/>
            <a:ext cx="6196102" cy="1523999"/>
          </a:xfrm>
          <a:prstGeom prst="rect">
            <a:avLst/>
          </a:prstGeom>
          <a:noFill/>
        </p:spPr>
        <p:txBody>
          <a:bodyPr wrap="square" anchor="t" lIns="0" rIns="0" tIns="0" bIns="0">
            <a:spAutoFit/>
          </a:bodyPr>
          <a:lstStyle/>
          <a:p>
            <a:r>
              <a:rPr sz="1600" b="0">
                <a:solidFill>
                  <a:srgbClr val="142B33"/>
                </a:solidFill>
                <a:latin typeface="Calibri"/>
              </a:rPr>
              <a:t>En la manufactura de un circuito integrado se quiere </a:t>
            </a:r>
            <a:r>
              <a:rPr sz="1600" b="1">
                <a:solidFill>
                  <a:srgbClr val="142B33"/>
                </a:solidFill>
                <a:latin typeface="Calibri"/>
              </a:rPr>
              <a:t>mejorar el rendimiento</a:t>
            </a:r>
            <a:r>
              <a:rPr sz="1600" b="0">
                <a:solidFill>
                  <a:srgbClr val="142B33"/>
                </a:solidFill>
                <a:latin typeface="Calibri"/>
              </a:rPr>
              <a:t> del proceso. Se investigan cinco factores a dos niveles: A ajuste de apertura (pequeña, grande), B tiempo de exposición (20 % por debajo y por encima del nominal), C tiempo de desarrollo (30 y 45 s), D tamaño de la máscara (pequeña, grande) y E tiempo de grabado (14.5 y 15.5 min).</a:t>
            </a:r>
          </a:p>
        </p:txBody>
      </p:sp>
      <p:sp>
        <p:nvSpPr>
          <p:cNvPr id="4" name="TextBox 3"/>
          <p:cNvSpPr txBox="1"/>
          <p:nvPr/>
        </p:nvSpPr>
        <p:spPr>
          <a:xfrm>
            <a:off x="548640" y="3142488"/>
            <a:ext cx="6196102" cy="780288"/>
          </a:xfrm>
          <a:prstGeom prst="rect">
            <a:avLst/>
          </a:prstGeom>
          <a:noFill/>
        </p:spPr>
        <p:txBody>
          <a:bodyPr wrap="square" anchor="t" lIns="0" rIns="0" tIns="0" bIns="0">
            <a:spAutoFit/>
          </a:bodyPr>
          <a:lstStyle/>
          <a:p>
            <a:r>
              <a:rPr sz="1600" b="0">
                <a:solidFill>
                  <a:srgbClr val="142B33"/>
                </a:solidFill>
                <a:latin typeface="Calibri"/>
              </a:rPr>
              <a:t>El factorial completo 2</a:t>
            </a:r>
            <a:r>
              <a:rPr sz="1600" b="0" baseline="30000">
                <a:solidFill>
                  <a:srgbClr val="142B33"/>
                </a:solidFill>
                <a:latin typeface="Calibri"/>
              </a:rPr>
              <a:t>5</a:t>
            </a:r>
            <a:r>
              <a:rPr sz="1600" b="0">
                <a:solidFill>
                  <a:srgbClr val="142B33"/>
                </a:solidFill>
                <a:latin typeface="Calibri"/>
              </a:rPr>
              <a:t> exige 32 corridas. Se decide correr </a:t>
            </a:r>
            <a:r>
              <a:rPr sz="1600" b="1">
                <a:solidFill>
                  <a:srgbClr val="142B33"/>
                </a:solidFill>
                <a:latin typeface="Calibri"/>
              </a:rPr>
              <a:t>la mitad, 16 corridas</a:t>
            </a:r>
            <a:r>
              <a:rPr sz="1600" b="0">
                <a:solidFill>
                  <a:srgbClr val="142B33"/>
                </a:solidFill>
                <a:latin typeface="Calibri"/>
              </a:rPr>
              <a:t>, con E = ABCD (I = ABCDE), una sola réplica de cada combinación y en orden aleatorio.</a:t>
            </a:r>
          </a:p>
        </p:txBody>
      </p:sp>
      <p:sp>
        <p:nvSpPr>
          <p:cNvPr id="5" name="TextBox 4"/>
          <p:cNvSpPr txBox="1"/>
          <p:nvPr/>
        </p:nvSpPr>
        <p:spPr>
          <a:xfrm>
            <a:off x="548640" y="4123944"/>
            <a:ext cx="6196102" cy="780288"/>
          </a:xfrm>
          <a:prstGeom prst="rect">
            <a:avLst/>
          </a:prstGeom>
          <a:noFill/>
        </p:spPr>
        <p:txBody>
          <a:bodyPr wrap="square" anchor="t" lIns="0" rIns="0" tIns="0" bIns="0">
            <a:spAutoFit/>
          </a:bodyPr>
          <a:lstStyle/>
          <a:p>
            <a:r>
              <a:rPr sz="1600" b="0">
                <a:solidFill>
                  <a:srgbClr val="142B33"/>
                </a:solidFill>
                <a:latin typeface="Calibri"/>
              </a:rPr>
              <a:t>Sin réplicas no hay una estimación directa del error: la significancia de los efectos se tiene que juzgar con los propios efectos.</a:t>
            </a:r>
          </a:p>
        </p:txBody>
      </p:sp>
      <p:sp>
        <p:nvSpPr>
          <p:cNvPr id="6" name="TextBox 5"/>
          <p:cNvSpPr txBox="1"/>
          <p:nvPr/>
        </p:nvSpPr>
        <p:spPr>
          <a:xfrm>
            <a:off x="548640" y="5105400"/>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8-2</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Saber qué factores e interacciones </a:t>
            </a:r>
            <a:r>
              <a:rPr sz="1500" b="1">
                <a:solidFill>
                  <a:srgbClr val="142B33"/>
                </a:solidFill>
                <a:latin typeface="Calibri"/>
              </a:rPr>
              <a:t>afectan el rendimiento</a:t>
            </a:r>
            <a:r>
              <a:rPr sz="1500" b="0">
                <a:solidFill>
                  <a:srgbClr val="142B33"/>
                </a:solidFill>
                <a:latin typeface="Calibri"/>
              </a:rPr>
              <a:t> y en qué niveles conviene operar</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Identificar la resolución y los alias</a:t>
            </a:r>
          </a:p>
          <a:p>
            <a:pPr marL="320040" indent="-320040">
              <a:spcAft>
                <a:spcPts val="600"/>
              </a:spcAft>
              <a:buClr>
                <a:srgbClr val="E36414"/>
              </a:buClr>
              <a:buFont typeface="+mj-lt"/>
              <a:buAutoNum type="arabicPeriod"/>
            </a:pPr>
            <a:r>
              <a:rPr sz="1500" b="0">
                <a:solidFill>
                  <a:srgbClr val="142B33"/>
                </a:solidFill>
                <a:latin typeface="Calibri"/>
              </a:rPr>
              <a:t>Estimar los 15 efectos y decidir cuáles son activos</a:t>
            </a:r>
          </a:p>
          <a:p>
            <a:pPr marL="320040" indent="-320040">
              <a:spcAft>
                <a:spcPts val="600"/>
              </a:spcAft>
              <a:buClr>
                <a:srgbClr val="E36414"/>
              </a:buClr>
              <a:buFont typeface="+mj-lt"/>
              <a:buAutoNum type="arabicPeriod"/>
            </a:pPr>
            <a:r>
              <a:rPr sz="1500" b="0">
                <a:solidFill>
                  <a:srgbClr val="142B33"/>
                </a:solidFill>
                <a:latin typeface="Calibri"/>
              </a:rPr>
              <a:t>Ajustar el modelo reducido y validar los supuestos</a:t>
            </a:r>
          </a:p>
          <a:p>
            <a:pPr marL="320040" indent="-320040">
              <a:spcAft>
                <a:spcPts val="600"/>
              </a:spcAft>
              <a:buClr>
                <a:srgbClr val="E36414"/>
              </a:buClr>
              <a:buFont typeface="+mj-lt"/>
              <a:buAutoNum type="arabicPeriod"/>
            </a:pPr>
            <a:r>
              <a:rPr sz="1500" b="0">
                <a:solidFill>
                  <a:srgbClr val="142B33"/>
                </a:solidFill>
                <a:latin typeface="Calibri"/>
              </a:rPr>
              <a:t>Recomendar las condiciones de operación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24</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Rendimiento de un circuito integrado</a:t>
            </a:r>
          </a:p>
        </p:txBody>
      </p:sp>
      <p:sp>
        <p:nvSpPr>
          <p:cNvPr id="3" name="TextBox 2"/>
          <p:cNvSpPr txBox="1"/>
          <p:nvPr/>
        </p:nvSpPr>
        <p:spPr>
          <a:xfrm>
            <a:off x="548640" y="1417320"/>
            <a:ext cx="5555126" cy="128016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Cinco factores, 16 corridas: </a:t>
            </a:r>
            <a:r>
              <a:rPr sz="1800" b="1">
                <a:solidFill>
                  <a:srgbClr val="142B33"/>
                </a:solidFill>
                <a:latin typeface="Calibri"/>
              </a:rPr>
              <a:t>E = ABCD</a:t>
            </a:r>
            <a:r>
              <a:rPr sz="1800" b="0">
                <a:solidFill>
                  <a:srgbClr val="142B33"/>
                </a:solidFill>
                <a:latin typeface="Calibri"/>
              </a:rPr>
              <a:t>  (I = ABCDE)</a:t>
            </a:r>
          </a:p>
          <a:p>
            <a:pPr marL="320040" indent="-320040">
              <a:spcAft>
                <a:spcPts val="600"/>
              </a:spcAft>
              <a:buClr>
                <a:srgbClr val="E36414"/>
              </a:buClr>
              <a:buFont typeface="Arial"/>
              <a:buChar char="•"/>
            </a:pPr>
            <a:r>
              <a:rPr sz="1800" b="1">
                <a:solidFill>
                  <a:srgbClr val="142B33"/>
                </a:solidFill>
                <a:latin typeface="Calibri"/>
              </a:rPr>
              <a:t>Resolución V</a:t>
            </a:r>
            <a:r>
              <a:rPr sz="1800" b="0">
                <a:solidFill>
                  <a:srgbClr val="142B33"/>
                </a:solidFill>
                <a:latin typeface="Calibri"/>
              </a:rPr>
              <a:t>: principales e interacciones dobles libres entre sí</a:t>
            </a:r>
          </a:p>
        </p:txBody>
      </p:sp>
      <p:graphicFrame>
        <p:nvGraphicFramePr>
          <p:cNvPr id="4" name="Table 3"/>
          <p:cNvGraphicFramePr>
            <a:graphicFrameLocks noGrp="1"/>
          </p:cNvGraphicFramePr>
          <p:nvPr/>
        </p:nvGraphicFramePr>
        <p:xfrm>
          <a:off x="548640" y="2898648"/>
          <a:ext cx="5555124" cy="2107692"/>
        </p:xfrm>
        <a:graphic>
          <a:graphicData uri="http://schemas.openxmlformats.org/drawingml/2006/table">
            <a:tbl>
              <a:tblPr firstRow="0" bandRow="0">
                <a:tableStyleId>{5C22544A-7EE6-4342-B048-85BDC9FD1C3A}</a:tableStyleId>
              </a:tblPr>
              <a:tblGrid>
                <a:gridCol w="2628120"/>
                <a:gridCol w="1463502"/>
                <a:gridCol w="1463502"/>
              </a:tblGrid>
              <a:tr h="351282">
                <a:tc>
                  <a:txBody>
                    <a:bodyPr/>
                    <a:lstStyle/>
                    <a:p>
                      <a:pPr algn="l"/>
                      <a:r>
                        <a:rPr sz="1500" b="1">
                          <a:solidFill>
                            <a:srgbClr val="FFFFFF"/>
                          </a:solidFill>
                          <a:latin typeface="Calibri"/>
                        </a:rPr>
                        <a:t>Factor</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r>
              <a:tr h="351282">
                <a:tc>
                  <a:txBody>
                    <a:bodyPr/>
                    <a:lstStyle/>
                    <a:p>
                      <a:pPr algn="l"/>
                      <a:r>
                        <a:rPr sz="1500" b="0">
                          <a:solidFill>
                            <a:srgbClr val="142B33"/>
                          </a:solidFill>
                          <a:latin typeface="Calibri"/>
                        </a:rPr>
                        <a:t>A  Apertura</a:t>
                      </a:r>
                    </a:p>
                  </a:txBody>
                  <a:tcPr marL="73152" marR="73152" marT="27432" marB="27432" anchor="ctr">
                    <a:solidFill>
                      <a:srgbClr val="FFFFFF"/>
                    </a:solidFill>
                  </a:tcPr>
                </a:tc>
                <a:tc>
                  <a:txBody>
                    <a:bodyPr/>
                    <a:lstStyle/>
                    <a:p>
                      <a:pPr algn="ctr"/>
                      <a:r>
                        <a:rPr sz="1500" b="0">
                          <a:solidFill>
                            <a:srgbClr val="142B33"/>
                          </a:solidFill>
                          <a:latin typeface="Calibri"/>
                        </a:rPr>
                        <a:t>pequeña</a:t>
                      </a:r>
                    </a:p>
                  </a:txBody>
                  <a:tcPr marL="73152" marR="73152" marT="27432" marB="27432" anchor="ctr">
                    <a:solidFill>
                      <a:srgbClr val="FFFFFF"/>
                    </a:solidFill>
                  </a:tcPr>
                </a:tc>
                <a:tc>
                  <a:txBody>
                    <a:bodyPr/>
                    <a:lstStyle/>
                    <a:p>
                      <a:pPr algn="ctr"/>
                      <a:r>
                        <a:rPr sz="1500" b="0">
                          <a:solidFill>
                            <a:srgbClr val="142B33"/>
                          </a:solidFill>
                          <a:latin typeface="Calibri"/>
                        </a:rPr>
                        <a:t>grande</a:t>
                      </a:r>
                    </a:p>
                  </a:txBody>
                  <a:tcPr marL="73152" marR="73152" marT="27432" marB="27432" anchor="ctr">
                    <a:solidFill>
                      <a:srgbClr val="FFFFFF"/>
                    </a:solidFill>
                  </a:tcPr>
                </a:tc>
              </a:tr>
              <a:tr h="351282">
                <a:tc>
                  <a:txBody>
                    <a:bodyPr/>
                    <a:lstStyle/>
                    <a:p>
                      <a:pPr algn="l"/>
                      <a:r>
                        <a:rPr sz="1500" b="0">
                          <a:solidFill>
                            <a:srgbClr val="142B33"/>
                          </a:solidFill>
                          <a:latin typeface="Calibri"/>
                        </a:rPr>
                        <a:t>B  Tiempo de exposición</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r>
              <a:tr h="351282">
                <a:tc>
                  <a:txBody>
                    <a:bodyPr/>
                    <a:lstStyle/>
                    <a:p>
                      <a:pPr algn="l"/>
                      <a:r>
                        <a:rPr sz="1500" b="0">
                          <a:solidFill>
                            <a:srgbClr val="142B33"/>
                          </a:solidFill>
                          <a:latin typeface="Calibri"/>
                        </a:rPr>
                        <a:t>C  Tiempo de desarrollo</a:t>
                      </a:r>
                    </a:p>
                  </a:txBody>
                  <a:tcPr marL="73152" marR="73152" marT="27432" marB="27432" anchor="ctr">
                    <a:solidFill>
                      <a:srgbClr val="FFFFFF"/>
                    </a:solidFill>
                  </a:tcPr>
                </a:tc>
                <a:tc>
                  <a:txBody>
                    <a:bodyPr/>
                    <a:lstStyle/>
                    <a:p>
                      <a:pPr algn="ctr"/>
                      <a:r>
                        <a:rPr sz="1500" b="0">
                          <a:solidFill>
                            <a:srgbClr val="142B33"/>
                          </a:solidFill>
                          <a:latin typeface="Calibri"/>
                        </a:rPr>
                        <a:t>30 s</a:t>
                      </a:r>
                    </a:p>
                  </a:txBody>
                  <a:tcPr marL="73152" marR="73152" marT="27432" marB="27432" anchor="ctr">
                    <a:solidFill>
                      <a:srgbClr val="FFFFFF"/>
                    </a:solidFill>
                  </a:tcPr>
                </a:tc>
                <a:tc>
                  <a:txBody>
                    <a:bodyPr/>
                    <a:lstStyle/>
                    <a:p>
                      <a:pPr algn="ctr"/>
                      <a:r>
                        <a:rPr sz="1500" b="0">
                          <a:solidFill>
                            <a:srgbClr val="142B33"/>
                          </a:solidFill>
                          <a:latin typeface="Calibri"/>
                        </a:rPr>
                        <a:t>45 s</a:t>
                      </a:r>
                    </a:p>
                  </a:txBody>
                  <a:tcPr marL="73152" marR="73152" marT="27432" marB="27432" anchor="ctr">
                    <a:solidFill>
                      <a:srgbClr val="FFFFFF"/>
                    </a:solidFill>
                  </a:tcPr>
                </a:tc>
              </a:tr>
              <a:tr h="351282">
                <a:tc>
                  <a:txBody>
                    <a:bodyPr/>
                    <a:lstStyle/>
                    <a:p>
                      <a:pPr algn="l"/>
                      <a:r>
                        <a:rPr sz="1500" b="0">
                          <a:solidFill>
                            <a:srgbClr val="142B33"/>
                          </a:solidFill>
                          <a:latin typeface="Calibri"/>
                        </a:rPr>
                        <a:t>D  Tamaño de máscara</a:t>
                      </a:r>
                    </a:p>
                  </a:txBody>
                  <a:tcPr marL="73152" marR="73152" marT="27432" marB="27432" anchor="ctr">
                    <a:solidFill>
                      <a:srgbClr val="F4F8F9"/>
                    </a:solidFill>
                  </a:tcPr>
                </a:tc>
                <a:tc>
                  <a:txBody>
                    <a:bodyPr/>
                    <a:lstStyle/>
                    <a:p>
                      <a:pPr algn="ctr"/>
                      <a:r>
                        <a:rPr sz="1500" b="0">
                          <a:solidFill>
                            <a:srgbClr val="142B33"/>
                          </a:solidFill>
                          <a:latin typeface="Calibri"/>
                        </a:rPr>
                        <a:t>pequeña</a:t>
                      </a:r>
                    </a:p>
                  </a:txBody>
                  <a:tcPr marL="73152" marR="73152" marT="27432" marB="27432" anchor="ctr">
                    <a:solidFill>
                      <a:srgbClr val="F4F8F9"/>
                    </a:solidFill>
                  </a:tcPr>
                </a:tc>
                <a:tc>
                  <a:txBody>
                    <a:bodyPr/>
                    <a:lstStyle/>
                    <a:p>
                      <a:pPr algn="ctr"/>
                      <a:r>
                        <a:rPr sz="1500" b="0">
                          <a:solidFill>
                            <a:srgbClr val="142B33"/>
                          </a:solidFill>
                          <a:latin typeface="Calibri"/>
                        </a:rPr>
                        <a:t>grande</a:t>
                      </a:r>
                    </a:p>
                  </a:txBody>
                  <a:tcPr marL="73152" marR="73152" marT="27432" marB="27432" anchor="ctr">
                    <a:solidFill>
                      <a:srgbClr val="F4F8F9"/>
                    </a:solidFill>
                  </a:tcPr>
                </a:tc>
              </a:tr>
              <a:tr h="351282">
                <a:tc>
                  <a:txBody>
                    <a:bodyPr/>
                    <a:lstStyle/>
                    <a:p>
                      <a:pPr algn="l"/>
                      <a:r>
                        <a:rPr sz="1500" b="0">
                          <a:solidFill>
                            <a:srgbClr val="142B33"/>
                          </a:solidFill>
                          <a:latin typeface="Calibri"/>
                        </a:rPr>
                        <a:t>E  Tiempo de grabado</a:t>
                      </a:r>
                    </a:p>
                  </a:txBody>
                  <a:tcPr marL="73152" marR="73152" marT="27432" marB="27432" anchor="ctr">
                    <a:solidFill>
                      <a:srgbClr val="FFFFFF"/>
                    </a:solidFill>
                  </a:tcPr>
                </a:tc>
                <a:tc>
                  <a:txBody>
                    <a:bodyPr/>
                    <a:lstStyle/>
                    <a:p>
                      <a:pPr algn="ctr"/>
                      <a:r>
                        <a:rPr sz="1500" b="0">
                          <a:solidFill>
                            <a:srgbClr val="142B33"/>
                          </a:solidFill>
                          <a:latin typeface="Calibri"/>
                        </a:rPr>
                        <a:t>14.5 min</a:t>
                      </a:r>
                    </a:p>
                  </a:txBody>
                  <a:tcPr marL="73152" marR="73152" marT="27432" marB="27432" anchor="ctr">
                    <a:solidFill>
                      <a:srgbClr val="FFFFFF"/>
                    </a:solidFill>
                  </a:tcPr>
                </a:tc>
                <a:tc>
                  <a:txBody>
                    <a:bodyPr/>
                    <a:lstStyle/>
                    <a:p>
                      <a:pPr algn="ctr"/>
                      <a:r>
                        <a:rPr sz="1500" b="0">
                          <a:solidFill>
                            <a:srgbClr val="142B33"/>
                          </a:solidFill>
                          <a:latin typeface="Calibri"/>
                        </a:rPr>
                        <a:t>15.5 min</a:t>
                      </a:r>
                    </a:p>
                  </a:txBody>
                  <a:tcPr marL="73152" marR="73152" marT="27432" marB="27432" anchor="ctr">
                    <a:solidFill>
                      <a:srgbClr val="FFFFFF"/>
                    </a:solidFill>
                  </a:tcPr>
                </a:tc>
              </a:tr>
            </a:tbl>
          </a:graphicData>
        </a:graphic>
      </p:graphicFrame>
      <p:graphicFrame>
        <p:nvGraphicFramePr>
          <p:cNvPr id="5" name="Table 4"/>
          <p:cNvGraphicFramePr>
            <a:graphicFrameLocks noGrp="1"/>
          </p:cNvGraphicFramePr>
          <p:nvPr/>
        </p:nvGraphicFramePr>
        <p:xfrm>
          <a:off x="6515246" y="1417320"/>
          <a:ext cx="5127806" cy="4715256"/>
        </p:xfrm>
        <a:graphic>
          <a:graphicData uri="http://schemas.openxmlformats.org/drawingml/2006/table">
            <a:tbl>
              <a:tblPr firstRow="0" bandRow="0">
                <a:tableStyleId>{5C22544A-7EE6-4342-B048-85BDC9FD1C3A}</a:tableStyleId>
              </a:tblPr>
              <a:tblGrid>
                <a:gridCol w="1694660"/>
                <a:gridCol w="555147"/>
                <a:gridCol w="555147"/>
                <a:gridCol w="555147"/>
                <a:gridCol w="555147"/>
                <a:gridCol w="555147"/>
                <a:gridCol w="657411"/>
              </a:tblGrid>
              <a:tr h="277368">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Y</a:t>
                      </a:r>
                    </a:p>
                  </a:txBody>
                  <a:tcPr marL="73152" marR="73152" marT="27432" marB="27432" anchor="ctr">
                    <a:solidFill>
                      <a:srgbClr val="0F4C5C"/>
                    </a:solidFill>
                  </a:tcPr>
                </a:tc>
              </a:tr>
              <a:tr h="277368">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8</a:t>
                      </a:r>
                    </a:p>
                  </a:txBody>
                  <a:tcPr marL="73152" marR="73152" marT="27432" marB="27432" anchor="ctr">
                    <a:solidFill>
                      <a:srgbClr val="FFFFFF"/>
                    </a:solidFill>
                  </a:tcPr>
                </a:tc>
              </a:tr>
              <a:tr h="277368">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9</a:t>
                      </a:r>
                    </a:p>
                  </a:txBody>
                  <a:tcPr marL="73152" marR="73152" marT="27432" marB="27432" anchor="ctr">
                    <a:solidFill>
                      <a:srgbClr val="F4F8F9"/>
                    </a:solidFill>
                  </a:tcPr>
                </a:tc>
              </a:tr>
              <a:tr h="277368">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34</a:t>
                      </a:r>
                    </a:p>
                  </a:txBody>
                  <a:tcPr marL="73152" marR="73152" marT="27432" marB="27432" anchor="ctr">
                    <a:solidFill>
                      <a:srgbClr val="FFFFFF"/>
                    </a:solidFill>
                  </a:tcPr>
                </a:tc>
              </a:tr>
              <a:tr h="277368">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52</a:t>
                      </a:r>
                    </a:p>
                  </a:txBody>
                  <a:tcPr marL="73152" marR="73152" marT="27432" marB="27432" anchor="ctr">
                    <a:solidFill>
                      <a:srgbClr val="F4F8F9"/>
                    </a:solidFill>
                  </a:tcPr>
                </a:tc>
              </a:tr>
              <a:tr h="277368">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16</a:t>
                      </a:r>
                    </a:p>
                  </a:txBody>
                  <a:tcPr marL="73152" marR="73152" marT="27432" marB="27432" anchor="ctr">
                    <a:solidFill>
                      <a:srgbClr val="FFFFFF"/>
                    </a:solidFill>
                  </a:tcPr>
                </a:tc>
              </a:tr>
              <a:tr h="277368">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22</a:t>
                      </a:r>
                    </a:p>
                  </a:txBody>
                  <a:tcPr marL="73152" marR="73152" marT="27432" marB="27432" anchor="ctr">
                    <a:solidFill>
                      <a:srgbClr val="F4F8F9"/>
                    </a:solidFill>
                  </a:tcPr>
                </a:tc>
              </a:tr>
              <a:tr h="277368">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45</a:t>
                      </a:r>
                    </a:p>
                  </a:txBody>
                  <a:tcPr marL="73152" marR="73152" marT="27432" marB="27432" anchor="ctr">
                    <a:solidFill>
                      <a:srgbClr val="FFFFFF"/>
                    </a:solidFill>
                  </a:tcPr>
                </a:tc>
              </a:tr>
              <a:tr h="277368">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60</a:t>
                      </a:r>
                    </a:p>
                  </a:txBody>
                  <a:tcPr marL="73152" marR="73152" marT="27432" marB="27432" anchor="ctr">
                    <a:solidFill>
                      <a:srgbClr val="F4F8F9"/>
                    </a:solidFill>
                  </a:tcPr>
                </a:tc>
              </a:tr>
              <a:tr h="277368">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6</a:t>
                      </a:r>
                    </a:p>
                  </a:txBody>
                  <a:tcPr marL="73152" marR="73152" marT="27432" marB="27432" anchor="ctr">
                    <a:solidFill>
                      <a:srgbClr val="FFFFFF"/>
                    </a:solidFill>
                  </a:tcPr>
                </a:tc>
              </a:tr>
              <a:tr h="277368">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10</a:t>
                      </a:r>
                    </a:p>
                  </a:txBody>
                  <a:tcPr marL="73152" marR="73152" marT="27432" marB="27432" anchor="ctr">
                    <a:solidFill>
                      <a:srgbClr val="F4F8F9"/>
                    </a:solidFill>
                  </a:tcPr>
                </a:tc>
              </a:tr>
              <a:tr h="277368">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30</a:t>
                      </a:r>
                    </a:p>
                  </a:txBody>
                  <a:tcPr marL="73152" marR="73152" marT="27432" marB="27432" anchor="ctr">
                    <a:solidFill>
                      <a:srgbClr val="FFFFFF"/>
                    </a:solidFill>
                  </a:tcPr>
                </a:tc>
              </a:tr>
              <a:tr h="277368">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50</a:t>
                      </a:r>
                    </a:p>
                  </a:txBody>
                  <a:tcPr marL="73152" marR="73152" marT="27432" marB="27432" anchor="ctr">
                    <a:solidFill>
                      <a:srgbClr val="F4F8F9"/>
                    </a:solidFill>
                  </a:tcPr>
                </a:tc>
              </a:tr>
              <a:tr h="277368">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15</a:t>
                      </a:r>
                    </a:p>
                  </a:txBody>
                  <a:tcPr marL="73152" marR="73152" marT="27432" marB="27432" anchor="ctr">
                    <a:solidFill>
                      <a:srgbClr val="FFFFFF"/>
                    </a:solidFill>
                  </a:tcPr>
                </a:tc>
              </a:tr>
              <a:tr h="277368">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21</a:t>
                      </a:r>
                    </a:p>
                  </a:txBody>
                  <a:tcPr marL="73152" marR="73152" marT="27432" marB="27432" anchor="ctr">
                    <a:solidFill>
                      <a:srgbClr val="F4F8F9"/>
                    </a:solidFill>
                  </a:tcPr>
                </a:tc>
              </a:tr>
              <a:tr h="277368">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44</a:t>
                      </a:r>
                    </a:p>
                  </a:txBody>
                  <a:tcPr marL="73152" marR="73152" marT="27432" marB="27432" anchor="ctr">
                    <a:solidFill>
                      <a:srgbClr val="FFFFFF"/>
                    </a:solidFill>
                  </a:tcPr>
                </a:tc>
              </a:tr>
              <a:tr h="277368">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63</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25</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458968"/>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Fuera de la recta → </a:t>
            </a:r>
            <a:r>
              <a:rPr sz="1400" b="1">
                <a:solidFill>
                  <a:srgbClr val="142B33"/>
                </a:solidFill>
                <a:latin typeface="Calibri"/>
              </a:rPr>
              <a:t>modelo</a:t>
            </a:r>
            <a:r>
              <a:rPr sz="1400" b="0">
                <a:solidFill>
                  <a:srgbClr val="142B33"/>
                </a:solidFill>
                <a:latin typeface="Calibri"/>
              </a:rPr>
              <a:t> (B, A, C, AB).  Sobre la recta → </a:t>
            </a:r>
            <a:r>
              <a:rPr sz="1400" b="1">
                <a:solidFill>
                  <a:srgbClr val="142B33"/>
                </a:solidFill>
                <a:latin typeface="Calibri"/>
              </a:rPr>
              <a:t>error</a:t>
            </a:r>
            <a:r>
              <a:rPr sz="1400" b="0">
                <a:solidFill>
                  <a:srgbClr val="142B33"/>
                </a:solidFill>
                <a:latin typeface="Calibri"/>
              </a:rPr>
              <a:t> (11 g.l.)</a:t>
            </a:r>
          </a:p>
        </p:txBody>
      </p:sp>
      <p:graphicFrame>
        <p:nvGraphicFramePr>
          <p:cNvPr id="5" name="Chart 4"/>
          <p:cNvGraphicFramePr>
            <a:graphicFrameLocks noGrp="1"/>
          </p:cNvGraphicFramePr>
          <p:nvPr/>
        </p:nvGraphicFramePr>
        <p:xfrm>
          <a:off x="6301587" y="1417320"/>
          <a:ext cx="5341467" cy="3108960"/>
        </p:xfrm>
        <a:graphic>
          <a:graphicData uri="http://schemas.openxmlformats.org/drawingml/2006/chart">
            <c:chart xmlns:c="http://schemas.openxmlformats.org/drawingml/2006/chart" r:id="rId3"/>
          </a:graphicData>
        </a:graphic>
      </p:graphicFrame>
      <p:sp>
        <p:nvSpPr>
          <p:cNvPr id="6" name="Rounded Rectangle 5"/>
          <p:cNvSpPr/>
          <p:nvPr/>
        </p:nvSpPr>
        <p:spPr>
          <a:xfrm>
            <a:off x="6301587" y="47274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Lenth: PSE = 0.9375,  ME = 2.41.  Activos: </a:t>
            </a:r>
            <a:r>
              <a:rPr sz="1500" b="1">
                <a:solidFill>
                  <a:srgbClr val="142B33"/>
                </a:solidFill>
                <a:latin typeface="Calibri"/>
              </a:rPr>
              <a:t>B, A, C y AB</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26</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ANOVA y conclusión</a:t>
            </a:r>
          </a:p>
        </p:txBody>
      </p:sp>
      <p:graphicFrame>
        <p:nvGraphicFramePr>
          <p:cNvPr id="3" name="Table 2"/>
          <p:cNvGraphicFramePr>
            <a:graphicFrameLocks noGrp="1"/>
          </p:cNvGraphicFramePr>
          <p:nvPr/>
        </p:nvGraphicFramePr>
        <p:xfrm>
          <a:off x="548640" y="1417320"/>
          <a:ext cx="5982442" cy="2458974"/>
        </p:xfrm>
        <a:graphic>
          <a:graphicData uri="http://schemas.openxmlformats.org/drawingml/2006/table">
            <a:tbl>
              <a:tblPr firstRow="0" bandRow="0">
                <a:tableStyleId>{5C22544A-7EE6-4342-B048-85BDC9FD1C3A}</a:tableStyleId>
              </a:tblPr>
              <a:tblGrid>
                <a:gridCol w="851391"/>
                <a:gridCol w="1078429"/>
                <a:gridCol w="578946"/>
                <a:gridCol w="1078429"/>
                <a:gridCol w="1078429"/>
                <a:gridCol w="131681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193.20</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1791.24</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184.61</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73.78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Error</a:t>
                      </a:r>
                    </a:p>
                  </a:txBody>
                  <a:tcPr marL="73152" marR="73152" marT="27432" marB="27432" anchor="ctr">
                    <a:solidFill>
                      <a:srgbClr val="FFFFFF"/>
                    </a:solidFill>
                  </a:tcPr>
                </a:tc>
                <a:tc>
                  <a:txBody>
                    <a:bodyPr/>
                    <a:lstStyle/>
                    <a:p>
                      <a:pPr algn="ctr"/>
                      <a:r>
                        <a:rPr sz="1500" b="0">
                          <a:solidFill>
                            <a:srgbClr val="142B33"/>
                          </a:solidFill>
                          <a:latin typeface="Calibri"/>
                        </a:rPr>
                        <a:t>28.19</a:t>
                      </a:r>
                    </a:p>
                  </a:txBody>
                  <a:tcPr marL="73152" marR="73152" marT="27432" marB="27432" anchor="ctr">
                    <a:solidFill>
                      <a:srgbClr val="FFFFFF"/>
                    </a:solidFill>
                  </a:tcPr>
                </a:tc>
                <a:tc>
                  <a:txBody>
                    <a:bodyPr/>
                    <a:lstStyle/>
                    <a:p>
                      <a:pPr algn="ctr"/>
                      <a:r>
                        <a:rPr sz="1500" b="0">
                          <a:solidFill>
                            <a:srgbClr val="142B33"/>
                          </a:solidFill>
                          <a:latin typeface="Calibri"/>
                        </a:rPr>
                        <a:t>11</a:t>
                      </a:r>
                    </a:p>
                  </a:txBody>
                  <a:tcPr marL="73152" marR="73152" marT="27432" marB="27432" anchor="ctr">
                    <a:solidFill>
                      <a:srgbClr val="FFFFFF"/>
                    </a:solidFill>
                  </a:tcPr>
                </a:tc>
                <a:tc>
                  <a:txBody>
                    <a:bodyPr/>
                    <a:lstStyle/>
                    <a:p>
                      <a:pPr algn="ctr"/>
                      <a:r>
                        <a:rPr sz="1500" b="0">
                          <a:solidFill>
                            <a:srgbClr val="142B33"/>
                          </a:solidFill>
                          <a:latin typeface="Calibri"/>
                        </a:rPr>
                        <a:t>2.5625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Total</a:t>
                      </a:r>
                    </a:p>
                  </a:txBody>
                  <a:tcPr marL="73152" marR="73152" marT="27432" marB="27432" anchor="ctr">
                    <a:solidFill>
                      <a:srgbClr val="F4F8F9"/>
                    </a:solidFill>
                  </a:tcPr>
                </a:tc>
                <a:tc>
                  <a:txBody>
                    <a:bodyPr/>
                    <a:lstStyle/>
                    <a:p>
                      <a:pPr algn="ctr"/>
                      <a:r>
                        <a:rPr sz="1500" b="0">
                          <a:solidFill>
                            <a:srgbClr val="142B33"/>
                          </a:solidFill>
                          <a:latin typeface="Calibri"/>
                        </a:rPr>
                        <a:t>5775.44</a:t>
                      </a:r>
                    </a:p>
                  </a:txBody>
                  <a:tcPr marL="73152" marR="73152" marT="27432" marB="27432" anchor="ctr">
                    <a:solidFill>
                      <a:srgbClr val="F4F8F9"/>
                    </a:solidFill>
                  </a:tcPr>
                </a:tc>
                <a:tc>
                  <a:txBody>
                    <a:bodyPr/>
                    <a:lstStyle/>
                    <a:p>
                      <a:pPr algn="ctr"/>
                      <a:r>
                        <a:rPr sz="1500" b="0">
                          <a:solidFill>
                            <a:srgbClr val="142B33"/>
                          </a:solidFill>
                          <a:latin typeface="Calibri"/>
                        </a:rPr>
                        <a:t>15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4" name="Rounded Rectangle 3"/>
          <p:cNvSpPr/>
          <p:nvPr/>
        </p:nvSpPr>
        <p:spPr>
          <a:xfrm>
            <a:off x="548640" y="4077462"/>
            <a:ext cx="5982443"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30.31 + 5.56 x</a:t>
            </a:r>
            <a:r>
              <a:rPr sz="1600" b="0" baseline="-25000">
                <a:solidFill>
                  <a:srgbClr val="0F4C5C"/>
                </a:solidFill>
                <a:latin typeface="Cambria Math"/>
              </a:rPr>
              <a:t>1</a:t>
            </a:r>
            <a:r>
              <a:rPr sz="1600" b="0">
                <a:solidFill>
                  <a:srgbClr val="0F4C5C"/>
                </a:solidFill>
                <a:latin typeface="Cambria Math"/>
              </a:rPr>
              <a:t> + 16.94 x</a:t>
            </a:r>
            <a:r>
              <a:rPr sz="1600" b="0" baseline="-25000">
                <a:solidFill>
                  <a:srgbClr val="0F4C5C"/>
                </a:solidFill>
                <a:latin typeface="Cambria Math"/>
              </a:rPr>
              <a:t>2</a:t>
            </a:r>
            <a:r>
              <a:rPr sz="1600" b="0">
                <a:solidFill>
                  <a:srgbClr val="0F4C5C"/>
                </a:solidFill>
                <a:latin typeface="Cambria Math"/>
              </a:rPr>
              <a:t> + 5.44 x</a:t>
            </a:r>
            <a:r>
              <a:rPr sz="1600" b="0" baseline="-25000">
                <a:solidFill>
                  <a:srgbClr val="0F4C5C"/>
                </a:solidFill>
                <a:latin typeface="Cambria Math"/>
              </a:rPr>
              <a:t>3</a:t>
            </a:r>
            <a:r>
              <a:rPr sz="1600" b="0">
                <a:solidFill>
                  <a:srgbClr val="0F4C5C"/>
                </a:solidFill>
                <a:latin typeface="Cambria Math"/>
              </a:rPr>
              <a:t> + 3.44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5" name="TextBox 4"/>
          <p:cNvSpPr txBox="1"/>
          <p:nvPr/>
        </p:nvSpPr>
        <p:spPr>
          <a:xfrm>
            <a:off x="6942563" y="1417320"/>
            <a:ext cx="4700491"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F</a:t>
            </a:r>
            <a:r>
              <a:rPr sz="1700" b="0" baseline="-25000">
                <a:solidFill>
                  <a:srgbClr val="142B33"/>
                </a:solidFill>
                <a:latin typeface="Calibri"/>
              </a:rPr>
              <a:t>0.05, 1, 11</a:t>
            </a:r>
            <a:r>
              <a:rPr sz="1700" b="0">
                <a:solidFill>
                  <a:srgbClr val="142B33"/>
                </a:solidFill>
                <a:latin typeface="Calibri"/>
              </a:rPr>
              <a:t> = 4.84: los cuatro términos son significativos</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99.51 %;  R</a:t>
            </a:r>
            <a:r>
              <a:rPr sz="1700" b="0" baseline="30000">
                <a:solidFill>
                  <a:srgbClr val="142B33"/>
                </a:solidFill>
                <a:latin typeface="Calibri"/>
              </a:rPr>
              <a:t>2</a:t>
            </a:r>
            <a:r>
              <a:rPr sz="1700" b="0">
                <a:solidFill>
                  <a:srgbClr val="142B33"/>
                </a:solidFill>
                <a:latin typeface="Calibri"/>
              </a:rPr>
              <a:t> ajustado = 99.33 %</a:t>
            </a:r>
          </a:p>
          <a:p>
            <a:pPr marL="320040" indent="-320040">
              <a:spcAft>
                <a:spcPts val="600"/>
              </a:spcAft>
              <a:buClr>
                <a:srgbClr val="E36414"/>
              </a:buClr>
              <a:buFont typeface="Arial"/>
              <a:buChar char="•"/>
            </a:pPr>
            <a:r>
              <a:rPr sz="1700" b="0">
                <a:solidFill>
                  <a:srgbClr val="142B33"/>
                </a:solidFill>
                <a:latin typeface="Calibri"/>
              </a:rPr>
              <a:t>D y E no influyen: proyección en </a:t>
            </a:r>
            <a:r>
              <a:rPr sz="1700" b="1">
                <a:solidFill>
                  <a:srgbClr val="142B33"/>
                </a:solidFill>
                <a:latin typeface="Calibri"/>
              </a:rPr>
              <a:t>dos réplicas de un 2</a:t>
            </a:r>
            <a:r>
              <a:rPr sz="1700" b="1" baseline="30000">
                <a:solidFill>
                  <a:srgbClr val="142B33"/>
                </a:solidFill>
                <a:latin typeface="Calibri"/>
              </a:rPr>
              <a:t>3</a:t>
            </a:r>
            <a:r>
              <a:rPr sz="1700" b="0">
                <a:solidFill>
                  <a:srgbClr val="142B33"/>
                </a:solidFill>
                <a:latin typeface="Calibri"/>
              </a:rPr>
              <a:t> en A, B, C</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B y C altos</a:t>
            </a:r>
            <a:r>
              <a:rPr sz="1700" b="0">
                <a:solidFill>
                  <a:srgbClr val="142B33"/>
                </a:solidFill>
                <a:latin typeface="Calibri"/>
              </a:rPr>
              <a:t> (promedio 61.5)</a:t>
            </a:r>
          </a:p>
          <a:p>
            <a:pPr marL="320040" indent="-320040">
              <a:spcAft>
                <a:spcPts val="600"/>
              </a:spcAft>
              <a:buClr>
                <a:srgbClr val="E36414"/>
              </a:buClr>
              <a:buFont typeface="Arial"/>
              <a:buChar char="•"/>
            </a:pPr>
            <a:r>
              <a:rPr sz="1700" b="0">
                <a:solidFill>
                  <a:srgbClr val="142B33"/>
                </a:solidFill>
                <a:latin typeface="Calibri"/>
              </a:rPr>
              <a:t>D y E se fijan donde sea más económico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27</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Secuencias de diseños fraccionados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4</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Correr una fracción, analizar y decidir el paso siguiente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opciones hay después de la primera fracción?</a:t>
            </a:r>
          </a:p>
        </p:txBody>
      </p:sp>
      <p:sp>
        <p:nvSpPr>
          <p:cNvPr id="3" name="Rounded Rectangle 2"/>
          <p:cNvSpPr/>
          <p:nvPr/>
        </p:nvSpPr>
        <p:spPr>
          <a:xfrm>
            <a:off x="548640" y="1417320"/>
            <a:ext cx="1109441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Correr primero </a:t>
            </a:r>
            <a:r>
              <a:rPr sz="1500" b="1">
                <a:solidFill>
                  <a:srgbClr val="142B33"/>
                </a:solidFill>
                <a:latin typeface="Calibri"/>
              </a:rPr>
              <a:t>una fracción</a:t>
            </a:r>
            <a:r>
              <a:rPr sz="1500" b="0">
                <a:solidFill>
                  <a:srgbClr val="142B33"/>
                </a:solidFill>
                <a:latin typeface="Calibri"/>
              </a:rPr>
              <a:t> (con 4 factores, el 2</a:t>
            </a:r>
            <a:r>
              <a:rPr sz="1500" b="0" baseline="30000">
                <a:solidFill>
                  <a:srgbClr val="142B33"/>
                </a:solidFill>
                <a:latin typeface="Calibri"/>
              </a:rPr>
              <a:t>4−1</a:t>
            </a:r>
            <a:r>
              <a:rPr sz="1500" b="0">
                <a:solidFill>
                  <a:srgbClr val="142B33"/>
                </a:solidFill>
                <a:latin typeface="Calibri"/>
              </a:rPr>
              <a:t> de 8 corridas), analizarla y decidir. Si queda ambigüedad, la fracción alterna completa el 2</a:t>
            </a:r>
            <a:r>
              <a:rPr sz="1500" b="0" baseline="30000">
                <a:solidFill>
                  <a:srgbClr val="142B33"/>
                </a:solidFill>
                <a:latin typeface="Calibri"/>
              </a:rPr>
              <a:t>4</a:t>
            </a:r>
            <a:r>
              <a:rPr sz="1500" b="0">
                <a:solidFill>
                  <a:srgbClr val="142B33"/>
                </a:solidFill>
                <a:latin typeface="Calibri"/>
              </a:rPr>
              <a:t> y solo se pierde </a:t>
            </a:r>
            <a:r>
              <a:rPr sz="1500" b="1">
                <a:solidFill>
                  <a:srgbClr val="142B33"/>
                </a:solidFill>
                <a:latin typeface="Calibri"/>
              </a:rPr>
              <a:t>ABCD</a:t>
            </a:r>
            <a:r>
              <a:rPr sz="1500" b="0">
                <a:solidFill>
                  <a:srgbClr val="142B33"/>
                </a:solidFill>
                <a:latin typeface="Calibri"/>
              </a:rPr>
              <a:t>, confundida con los dos bloques</a:t>
            </a:r>
          </a:p>
        </p:txBody>
      </p:sp>
      <p:sp>
        <p:nvSpPr>
          <p:cNvPr id="4" name="Rounded Rectangle 3"/>
          <p:cNvSpPr/>
          <p:nvPr/>
        </p:nvSpPr>
        <p:spPr>
          <a:xfrm>
            <a:off x="548640" y="2357628"/>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a · Moverse</a:t>
            </a:r>
          </a:p>
          <a:p>
            <a:pPr algn="l"/>
            <a:r>
              <a:rPr sz="1500" b="0">
                <a:solidFill>
                  <a:srgbClr val="142B33"/>
                </a:solidFill>
                <a:latin typeface="Calibri"/>
              </a:rPr>
              <a:t>A una nueva región, para explorar una </a:t>
            </a:r>
            <a:r>
              <a:rPr sz="1500" b="1">
                <a:solidFill>
                  <a:srgbClr val="142B33"/>
                </a:solidFill>
                <a:latin typeface="Calibri"/>
              </a:rPr>
              <a:t>tendencia</a:t>
            </a:r>
            <a:r>
              <a:rPr sz="1500" b="0">
                <a:solidFill>
                  <a:srgbClr val="142B33"/>
                </a:solidFill>
                <a:latin typeface="Calibri"/>
              </a:rPr>
              <a:t> aparente de la respuesta</a:t>
            </a:r>
          </a:p>
        </p:txBody>
      </p:sp>
      <p:sp>
        <p:nvSpPr>
          <p:cNvPr id="5" name="Rounded Rectangle 4"/>
          <p:cNvSpPr/>
          <p:nvPr/>
        </p:nvSpPr>
        <p:spPr>
          <a:xfrm>
            <a:off x="4322978" y="2357628"/>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b · Agregar otra fracción</a:t>
            </a:r>
          </a:p>
          <a:p>
            <a:pPr algn="l"/>
            <a:r>
              <a:rPr sz="1500" b="0">
                <a:solidFill>
                  <a:srgbClr val="142B33"/>
                </a:solidFill>
                <a:latin typeface="Calibri"/>
              </a:rPr>
              <a:t>Para resolver las </a:t>
            </a:r>
            <a:r>
              <a:rPr sz="1500" b="1">
                <a:solidFill>
                  <a:srgbClr val="142B33"/>
                </a:solidFill>
                <a:latin typeface="Calibri"/>
              </a:rPr>
              <a:t>ambigüedades</a:t>
            </a:r>
            <a:r>
              <a:rPr sz="1500" b="0">
                <a:solidFill>
                  <a:srgbClr val="142B33"/>
                </a:solidFill>
                <a:latin typeface="Calibri"/>
              </a:rPr>
              <a:t> de la primera</a:t>
            </a:r>
          </a:p>
        </p:txBody>
      </p:sp>
      <p:sp>
        <p:nvSpPr>
          <p:cNvPr id="6" name="Rounded Rectangle 5"/>
          <p:cNvSpPr/>
          <p:nvPr/>
        </p:nvSpPr>
        <p:spPr>
          <a:xfrm>
            <a:off x="8097316" y="2357628"/>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c · Reescalar factores</a:t>
            </a:r>
          </a:p>
          <a:p>
            <a:pPr algn="l"/>
            <a:r>
              <a:rPr sz="1500" b="0">
                <a:solidFill>
                  <a:srgbClr val="142B33"/>
                </a:solidFill>
                <a:latin typeface="Calibri"/>
              </a:rPr>
              <a:t>Si sus niveles se eligieron en </a:t>
            </a:r>
            <a:r>
              <a:rPr sz="1500" b="1">
                <a:solidFill>
                  <a:srgbClr val="142B33"/>
                </a:solidFill>
                <a:latin typeface="Calibri"/>
              </a:rPr>
              <a:t>rangos inapropiados</a:t>
            </a:r>
          </a:p>
        </p:txBody>
      </p:sp>
      <p:sp>
        <p:nvSpPr>
          <p:cNvPr id="7" name="Rounded Rectangle 6"/>
          <p:cNvSpPr/>
          <p:nvPr/>
        </p:nvSpPr>
        <p:spPr>
          <a:xfrm>
            <a:off x="548640" y="4254500"/>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d · Eliminar y agregar factores</a:t>
            </a:r>
          </a:p>
          <a:p>
            <a:pPr algn="l"/>
            <a:r>
              <a:rPr sz="1500" b="0">
                <a:solidFill>
                  <a:srgbClr val="142B33"/>
                </a:solidFill>
                <a:latin typeface="Calibri"/>
              </a:rPr>
              <a:t>Quitar los que no influyen y </a:t>
            </a:r>
            <a:r>
              <a:rPr sz="1500" b="1">
                <a:solidFill>
                  <a:srgbClr val="142B33"/>
                </a:solidFill>
                <a:latin typeface="Calibri"/>
              </a:rPr>
              <a:t>probar otros</a:t>
            </a:r>
          </a:p>
        </p:txBody>
      </p:sp>
      <p:sp>
        <p:nvSpPr>
          <p:cNvPr id="8" name="Rounded Rectangle 7"/>
          <p:cNvSpPr/>
          <p:nvPr/>
        </p:nvSpPr>
        <p:spPr>
          <a:xfrm>
            <a:off x="4322978" y="4254500"/>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 · Hacer réplicas</a:t>
            </a:r>
          </a:p>
          <a:p>
            <a:pPr algn="l"/>
            <a:r>
              <a:rPr sz="1500" b="0">
                <a:solidFill>
                  <a:srgbClr val="142B33"/>
                </a:solidFill>
                <a:latin typeface="Calibri"/>
              </a:rPr>
              <a:t>Para mejorar las estimaciones o </a:t>
            </a:r>
            <a:r>
              <a:rPr sz="1500" b="1">
                <a:solidFill>
                  <a:srgbClr val="142B33"/>
                </a:solidFill>
                <a:latin typeface="Calibri"/>
              </a:rPr>
              <a:t>repetir corridas</a:t>
            </a:r>
            <a:r>
              <a:rPr sz="1500" b="0">
                <a:solidFill>
                  <a:srgbClr val="142B33"/>
                </a:solidFill>
                <a:latin typeface="Calibri"/>
              </a:rPr>
              <a:t> mal hechas</a:t>
            </a:r>
          </a:p>
        </p:txBody>
      </p:sp>
      <p:sp>
        <p:nvSpPr>
          <p:cNvPr id="9" name="Rounded Rectangle 8"/>
          <p:cNvSpPr/>
          <p:nvPr/>
        </p:nvSpPr>
        <p:spPr>
          <a:xfrm>
            <a:off x="8097316" y="4254500"/>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f · Aumentar el diseño</a:t>
            </a:r>
          </a:p>
          <a:p>
            <a:pPr algn="l"/>
            <a:r>
              <a:rPr sz="1500" b="0">
                <a:solidFill>
                  <a:srgbClr val="142B33"/>
                </a:solidFill>
                <a:latin typeface="Calibri"/>
              </a:rPr>
              <a:t>Para modelar una </a:t>
            </a:r>
            <a:r>
              <a:rPr sz="1500" b="1">
                <a:solidFill>
                  <a:srgbClr val="142B33"/>
                </a:solidFill>
                <a:latin typeface="Calibri"/>
              </a:rPr>
              <a:t>curvatura</a:t>
            </a:r>
            <a:r>
              <a:rPr sz="1500" b="0">
                <a:solidFill>
                  <a:srgbClr val="142B33"/>
                </a:solidFill>
                <a:latin typeface="Calibri"/>
              </a:rPr>
              <a:t> aparente (Montgomery, fig. 8-11)</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29</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Enunciado: la fracción alterna (continuación)</a:t>
            </a:r>
          </a:p>
        </p:txBody>
      </p:sp>
      <p:sp>
        <p:nvSpPr>
          <p:cNvPr id="3" name="TextBox 2"/>
          <p:cNvSpPr txBox="1"/>
          <p:nvPr/>
        </p:nvSpPr>
        <p:spPr>
          <a:xfrm>
            <a:off x="548640" y="1417320"/>
            <a:ext cx="6196102" cy="1028191"/>
          </a:xfrm>
          <a:prstGeom prst="rect">
            <a:avLst/>
          </a:prstGeom>
          <a:noFill/>
        </p:spPr>
        <p:txBody>
          <a:bodyPr wrap="square" anchor="t" lIns="0" rIns="0" tIns="0" bIns="0">
            <a:spAutoFit/>
          </a:bodyPr>
          <a:lstStyle/>
          <a:p>
            <a:r>
              <a:rPr sz="1600" b="0">
                <a:solidFill>
                  <a:srgbClr val="142B33"/>
                </a:solidFill>
                <a:latin typeface="Calibri"/>
              </a:rPr>
              <a:t>Con la primera fracción del índice de filtración quedaron dos cadenas grandes: AC + BD = −18.5 y AD + BC = 19.0. Se atribuyeron a AC y AD porque B no parecía influir, pero esa decisión se apoyó en el juicio del analista.</a:t>
            </a:r>
          </a:p>
        </p:txBody>
      </p:sp>
      <p:sp>
        <p:nvSpPr>
          <p:cNvPr id="4" name="TextBox 3"/>
          <p:cNvSpPr txBox="1"/>
          <p:nvPr/>
        </p:nvSpPr>
        <p:spPr>
          <a:xfrm>
            <a:off x="548640" y="2646680"/>
            <a:ext cx="6196102" cy="780288"/>
          </a:xfrm>
          <a:prstGeom prst="rect">
            <a:avLst/>
          </a:prstGeom>
          <a:noFill/>
        </p:spPr>
        <p:txBody>
          <a:bodyPr wrap="square" anchor="t" lIns="0" rIns="0" tIns="0" bIns="0">
            <a:spAutoFit/>
          </a:bodyPr>
          <a:lstStyle/>
          <a:p>
            <a:r>
              <a:rPr sz="1600" b="0">
                <a:solidFill>
                  <a:srgbClr val="142B33"/>
                </a:solidFill>
                <a:latin typeface="Calibri"/>
              </a:rPr>
              <a:t>El ingeniero no quiere depender de ese juicio antes de cambiar el proceso. Tiene la posibilidad de volver a la planta piloto y hacer </a:t>
            </a:r>
            <a:r>
              <a:rPr sz="1600" b="1">
                <a:solidFill>
                  <a:srgbClr val="142B33"/>
                </a:solidFill>
                <a:latin typeface="Calibri"/>
              </a:rPr>
              <a:t>8 corridas más</a:t>
            </a:r>
            <a:r>
              <a:rPr sz="1600" b="0">
                <a:solidFill>
                  <a:srgbClr val="142B33"/>
                </a:solidFill>
                <a:latin typeface="Calibri"/>
              </a:rPr>
              <a:t>.</a:t>
            </a:r>
          </a:p>
        </p:txBody>
      </p:sp>
      <p:sp>
        <p:nvSpPr>
          <p:cNvPr id="5" name="TextBox 4"/>
          <p:cNvSpPr txBox="1"/>
          <p:nvPr/>
        </p:nvSpPr>
        <p:spPr>
          <a:xfrm>
            <a:off x="548640" y="3628136"/>
            <a:ext cx="6196102" cy="780288"/>
          </a:xfrm>
          <a:prstGeom prst="rect">
            <a:avLst/>
          </a:prstGeom>
          <a:noFill/>
        </p:spPr>
        <p:txBody>
          <a:bodyPr wrap="square" anchor="t" lIns="0" rIns="0" tIns="0" bIns="0">
            <a:spAutoFit/>
          </a:bodyPr>
          <a:lstStyle/>
          <a:p>
            <a:r>
              <a:rPr sz="1600" b="0">
                <a:solidFill>
                  <a:srgbClr val="142B33"/>
                </a:solidFill>
                <a:latin typeface="Calibri"/>
              </a:rPr>
              <a:t>Decide correr la </a:t>
            </a:r>
            <a:r>
              <a:rPr sz="1600" b="1">
                <a:solidFill>
                  <a:srgbClr val="142B33"/>
                </a:solidFill>
                <a:latin typeface="Calibri"/>
              </a:rPr>
              <a:t>fracción alterna</a:t>
            </a:r>
            <a:r>
              <a:rPr sz="1600" b="0">
                <a:solidFill>
                  <a:srgbClr val="142B33"/>
                </a:solidFill>
                <a:latin typeface="Calibri"/>
              </a:rPr>
              <a:t>, I = −ABCD (D = −ABC): las ocho combinaciones del 2</a:t>
            </a:r>
            <a:r>
              <a:rPr sz="1600" b="0" baseline="30000">
                <a:solidFill>
                  <a:srgbClr val="142B33"/>
                </a:solidFill>
                <a:latin typeface="Calibri"/>
              </a:rPr>
              <a:t>4</a:t>
            </a:r>
            <a:r>
              <a:rPr sz="1600" b="0">
                <a:solidFill>
                  <a:srgbClr val="142B33"/>
                </a:solidFill>
                <a:latin typeface="Calibri"/>
              </a:rPr>
              <a:t> que no se corrieron la primera vez.</a:t>
            </a:r>
          </a:p>
        </p:txBody>
      </p:sp>
      <p:sp>
        <p:nvSpPr>
          <p:cNvPr id="6" name="TextBox 5"/>
          <p:cNvSpPr txBox="1"/>
          <p:nvPr/>
        </p:nvSpPr>
        <p:spPr>
          <a:xfrm>
            <a:off x="548640" y="4609591"/>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8-3</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Separar </a:t>
            </a:r>
            <a:r>
              <a:rPr sz="1500" b="1">
                <a:solidFill>
                  <a:srgbClr val="142B33"/>
                </a:solidFill>
                <a:latin typeface="Calibri"/>
              </a:rPr>
              <a:t>AC de BD</a:t>
            </a:r>
            <a:r>
              <a:rPr sz="1500" b="0">
                <a:solidFill>
                  <a:srgbClr val="142B33"/>
                </a:solidFill>
                <a:latin typeface="Calibri"/>
              </a:rPr>
              <a:t> y </a:t>
            </a:r>
            <a:r>
              <a:rPr sz="1500" b="1">
                <a:solidFill>
                  <a:srgbClr val="142B33"/>
                </a:solidFill>
                <a:latin typeface="Calibri"/>
              </a:rPr>
              <a:t>AD de BC</a:t>
            </a:r>
            <a:r>
              <a:rPr sz="1500" b="0">
                <a:solidFill>
                  <a:srgbClr val="142B33"/>
                </a:solidFill>
                <a:latin typeface="Calibri"/>
              </a:rPr>
              <a:t> con datos, sin depender del juicio</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alterna y escribir sus alias</a:t>
            </a:r>
          </a:p>
          <a:p>
            <a:pPr marL="320040" indent="-320040">
              <a:spcAft>
                <a:spcPts val="600"/>
              </a:spcAft>
              <a:buClr>
                <a:srgbClr val="E36414"/>
              </a:buClr>
              <a:buFont typeface="+mj-lt"/>
              <a:buAutoNum type="arabicPeriod"/>
            </a:pPr>
            <a:r>
              <a:rPr sz="1500" b="0">
                <a:solidFill>
                  <a:srgbClr val="142B33"/>
                </a:solidFill>
                <a:latin typeface="Calibri"/>
              </a:rPr>
              <a:t>Estimar sus efectos</a:t>
            </a:r>
          </a:p>
          <a:p>
            <a:pPr marL="320040" indent="-320040">
              <a:spcAft>
                <a:spcPts val="600"/>
              </a:spcAft>
              <a:buClr>
                <a:srgbClr val="E36414"/>
              </a:buClr>
              <a:buFont typeface="+mj-lt"/>
              <a:buAutoNum type="arabicPeriod"/>
            </a:pPr>
            <a:r>
              <a:rPr sz="1500" b="0">
                <a:solidFill>
                  <a:srgbClr val="142B33"/>
                </a:solidFill>
                <a:latin typeface="Calibri"/>
              </a:rPr>
              <a:t>Combinar las dos fracciones y aislar cada efecto</a:t>
            </a:r>
          </a:p>
          <a:p>
            <a:pPr marL="320040" indent="-320040">
              <a:spcAft>
                <a:spcPts val="600"/>
              </a:spcAft>
              <a:buClr>
                <a:srgbClr val="E36414"/>
              </a:buClr>
              <a:buFont typeface="+mj-lt"/>
              <a:buAutoNum type="arabicPeriod"/>
            </a:pPr>
            <a:r>
              <a:rPr sz="1500" b="0">
                <a:solidFill>
                  <a:srgbClr val="142B33"/>
                </a:solidFill>
                <a:latin typeface="Calibri"/>
              </a:rPr>
              <a:t>Decidir qué interacciones son las reales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30</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La fracción alterna I = −ABCD</a:t>
            </a:r>
          </a:p>
        </p:txBody>
      </p:sp>
      <p:graphicFrame>
        <p:nvGraphicFramePr>
          <p:cNvPr id="3" name="Table 2"/>
          <p:cNvGraphicFramePr>
            <a:graphicFrameLocks noGrp="1"/>
          </p:cNvGraphicFramePr>
          <p:nvPr/>
        </p:nvGraphicFramePr>
        <p:xfrm>
          <a:off x="548640" y="1417320"/>
          <a:ext cx="5555122" cy="3161538"/>
        </p:xfrm>
        <a:graphic>
          <a:graphicData uri="http://schemas.openxmlformats.org/drawingml/2006/table">
            <a:tbl>
              <a:tblPr firstRow="0" bandRow="0">
                <a:tableStyleId>{5C22544A-7EE6-4342-B048-85BDC9FD1C3A}</a:tableStyleId>
              </a:tblPr>
              <a:tblGrid>
                <a:gridCol w="1066878"/>
                <a:gridCol w="349494"/>
                <a:gridCol w="349494"/>
                <a:gridCol w="349494"/>
                <a:gridCol w="1186442"/>
                <a:gridCol w="827750"/>
                <a:gridCol w="1425570"/>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43</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71</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48</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abd</a:t>
                      </a:r>
                    </a:p>
                  </a:txBody>
                  <a:tcPr marL="73152" marR="73152" marT="27432" marB="27432" anchor="ctr">
                    <a:solidFill>
                      <a:srgbClr val="F4F8F9"/>
                    </a:solidFill>
                  </a:tcPr>
                </a:tc>
                <a:tc>
                  <a:txBody>
                    <a:bodyPr/>
                    <a:lstStyle/>
                    <a:p>
                      <a:pPr algn="ctr"/>
                      <a:r>
                        <a:rPr sz="1500" b="0">
                          <a:solidFill>
                            <a:srgbClr val="142B33"/>
                          </a:solidFill>
                          <a:latin typeface="Calibri"/>
                        </a:rPr>
                        <a:t>104</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acd</a:t>
                      </a:r>
                    </a:p>
                  </a:txBody>
                  <a:tcPr marL="73152" marR="73152" marT="27432" marB="27432" anchor="ctr">
                    <a:solidFill>
                      <a:srgbClr val="F4F8F9"/>
                    </a:solidFill>
                  </a:tcPr>
                </a:tc>
                <a:tc>
                  <a:txBody>
                    <a:bodyPr/>
                    <a:lstStyle/>
                    <a:p>
                      <a:pPr algn="ctr"/>
                      <a:r>
                        <a:rPr sz="1500" b="0">
                          <a:solidFill>
                            <a:srgbClr val="142B33"/>
                          </a:solidFill>
                          <a:latin typeface="Calibri"/>
                        </a:rPr>
                        <a:t>86</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bcd</a:t>
                      </a:r>
                    </a:p>
                  </a:txBody>
                  <a:tcPr marL="73152" marR="73152" marT="27432" marB="27432" anchor="ctr">
                    <a:solidFill>
                      <a:srgbClr val="FFFFFF"/>
                    </a:solidFill>
                  </a:tcPr>
                </a:tc>
                <a:tc>
                  <a:txBody>
                    <a:bodyPr/>
                    <a:lstStyle/>
                    <a:p>
                      <a:pPr algn="ctr"/>
                      <a:r>
                        <a:rPr sz="1500" b="0">
                          <a:solidFill>
                            <a:srgbClr val="142B33"/>
                          </a:solidFill>
                          <a:latin typeface="Calibri"/>
                        </a:rPr>
                        <a:t>70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bl>
          </a:graphicData>
        </a:graphic>
      </p:graphicFrame>
      <p:graphicFrame>
        <p:nvGraphicFramePr>
          <p:cNvPr id="4" name="Table 3"/>
          <p:cNvGraphicFramePr>
            <a:graphicFrameLocks noGrp="1"/>
          </p:cNvGraphicFramePr>
          <p:nvPr/>
        </p:nvGraphicFramePr>
        <p:xfrm>
          <a:off x="6515246" y="1417320"/>
          <a:ext cx="5127808" cy="2810256"/>
        </p:xfrm>
        <a:graphic>
          <a:graphicData uri="http://schemas.openxmlformats.org/drawingml/2006/table">
            <a:tbl>
              <a:tblPr firstRow="0" bandRow="0">
                <a:tableStyleId>{5C22544A-7EE6-4342-B048-85BDC9FD1C3A}</a:tableStyleId>
              </a:tblPr>
              <a:tblGrid>
                <a:gridCol w="3080660"/>
                <a:gridCol w="2047148"/>
              </a:tblGrid>
              <a:tr h="351282">
                <a:tc>
                  <a:txBody>
                    <a:bodyPr/>
                    <a:lstStyle/>
                    <a:p>
                      <a:pPr algn="ctr"/>
                      <a:r>
                        <a:rPr sz="1500" b="1">
                          <a:solidFill>
                            <a:srgbClr val="FFFFFF"/>
                          </a:solidFill>
                          <a:latin typeface="Calibri"/>
                        </a:rPr>
                        <a:t>Estimación</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a:t>
                      </a:r>
                      <a:r>
                        <a:rPr sz="1500" b="0">
                          <a:solidFill>
                            <a:srgbClr val="142B33"/>
                          </a:solidFill>
                          <a:latin typeface="Calibri"/>
                        </a:rPr>
                        <a:t> = 24.25</a:t>
                      </a:r>
                    </a:p>
                  </a:txBody>
                  <a:tcPr marL="73152" marR="73152" marT="27432" marB="27432" anchor="ctr">
                    <a:solidFill>
                      <a:srgbClr val="FFFFFF"/>
                    </a:solidFill>
                  </a:tcPr>
                </a:tc>
                <a:tc>
                  <a:txBody>
                    <a:bodyPr/>
                    <a:lstStyle/>
                    <a:p>
                      <a:pPr algn="ctr"/>
                      <a:r>
                        <a:rPr sz="1500" b="0">
                          <a:solidFill>
                            <a:srgbClr val="142B33"/>
                          </a:solidFill>
                          <a:latin typeface="Calibri"/>
                        </a:rPr>
                        <a:t>A − BCD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B</a:t>
                      </a:r>
                      <a:r>
                        <a:rPr sz="1500" b="0">
                          <a:solidFill>
                            <a:srgbClr val="142B33"/>
                          </a:solidFill>
                          <a:latin typeface="Calibri"/>
                        </a:rPr>
                        <a:t> = 4.75</a:t>
                      </a:r>
                    </a:p>
                  </a:txBody>
                  <a:tcPr marL="73152" marR="73152" marT="27432" marB="27432" anchor="ctr">
                    <a:solidFill>
                      <a:srgbClr val="F4F8F9"/>
                    </a:solidFill>
                  </a:tcPr>
                </a:tc>
                <a:tc>
                  <a:txBody>
                    <a:bodyPr/>
                    <a:lstStyle/>
                    <a:p>
                      <a:pPr algn="ctr"/>
                      <a:r>
                        <a:rPr sz="1500" b="0">
                          <a:solidFill>
                            <a:srgbClr val="142B33"/>
                          </a:solidFill>
                          <a:latin typeface="Calibri"/>
                        </a:rPr>
                        <a:t>B − ACD</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C</a:t>
                      </a:r>
                      <a:r>
                        <a:rPr sz="1500" b="0">
                          <a:solidFill>
                            <a:srgbClr val="142B33"/>
                          </a:solidFill>
                          <a:latin typeface="Calibri"/>
                        </a:rPr>
                        <a:t> = 5.75</a:t>
                      </a:r>
                    </a:p>
                  </a:txBody>
                  <a:tcPr marL="73152" marR="73152" marT="27432" marB="27432" anchor="ctr">
                    <a:solidFill>
                      <a:srgbClr val="FFFFFF"/>
                    </a:solidFill>
                  </a:tcPr>
                </a:tc>
                <a:tc>
                  <a:txBody>
                    <a:bodyPr/>
                    <a:lstStyle/>
                    <a:p>
                      <a:pPr algn="ctr"/>
                      <a:r>
                        <a:rPr sz="1500" b="0">
                          <a:solidFill>
                            <a:srgbClr val="142B33"/>
                          </a:solidFill>
                          <a:latin typeface="Calibri"/>
                        </a:rPr>
                        <a:t>C − ABD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D</a:t>
                      </a:r>
                      <a:r>
                        <a:rPr sz="1500" b="0">
                          <a:solidFill>
                            <a:srgbClr val="142B33"/>
                          </a:solidFill>
                          <a:latin typeface="Calibri"/>
                        </a:rPr>
                        <a:t> = 12.75</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AB</a:t>
                      </a:r>
                      <a:r>
                        <a:rPr sz="1500" b="0">
                          <a:solidFill>
                            <a:srgbClr val="142B33"/>
                          </a:solidFill>
                          <a:latin typeface="Calibri"/>
                        </a:rPr>
                        <a:t> = 1.25</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AC</a:t>
                      </a:r>
                      <a:r>
                        <a:rPr sz="1500" b="0">
                          <a:solidFill>
                            <a:srgbClr val="142B33"/>
                          </a:solidFill>
                          <a:latin typeface="Calibri"/>
                        </a:rPr>
                        <a:t> = −17.75</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AD</a:t>
                      </a:r>
                      <a:r>
                        <a:rPr sz="1500" b="0">
                          <a:solidFill>
                            <a:srgbClr val="142B33"/>
                          </a:solidFill>
                          <a:latin typeface="Calibri"/>
                        </a:rPr>
                        <a:t> = 14.25</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bl>
          </a:graphicData>
        </a:graphic>
      </p:graphicFrame>
      <p:sp>
        <p:nvSpPr>
          <p:cNvPr id="5" name="Rounded Rectangle 4"/>
          <p:cNvSpPr/>
          <p:nvPr/>
        </p:nvSpPr>
        <p:spPr>
          <a:xfrm>
            <a:off x="6515246" y="4428744"/>
            <a:ext cx="512780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la fracción alterna los alias aparecen con </a:t>
            </a:r>
            <a:r>
              <a:rPr sz="1500" b="1">
                <a:solidFill>
                  <a:srgbClr val="142B33"/>
                </a:solidFill>
                <a:latin typeface="Calibri"/>
              </a:rPr>
              <a:t>signo contrario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31</a:t>
            </a:r>
          </a:p>
        </p:txBody>
      </p:sp>
      <p:sp>
        <p:nvSpPr>
          <p:cNvPr id="8" name="Rounded Rectangle 7"/>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Combinar las dos fracciones</a:t>
            </a:r>
          </a:p>
        </p:txBody>
      </p:sp>
      <p:graphicFrame>
        <p:nvGraphicFramePr>
          <p:cNvPr id="3" name="Table 2"/>
          <p:cNvGraphicFramePr>
            <a:graphicFrameLocks noGrp="1"/>
          </p:cNvGraphicFramePr>
          <p:nvPr/>
        </p:nvGraphicFramePr>
        <p:xfrm>
          <a:off x="548640" y="1417320"/>
          <a:ext cx="11094412" cy="2934208"/>
        </p:xfrm>
        <a:graphic>
          <a:graphicData uri="http://schemas.openxmlformats.org/drawingml/2006/table">
            <a:tbl>
              <a:tblPr firstRow="0" bandRow="0">
                <a:tableStyleId>{5C22544A-7EE6-4342-B048-85BDC9FD1C3A}</a:tableStyleId>
              </a:tblPr>
              <a:tblGrid>
                <a:gridCol w="1532085"/>
                <a:gridCol w="2562281"/>
                <a:gridCol w="2905680"/>
                <a:gridCol w="2047183"/>
                <a:gridCol w="2047183"/>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19.00</a:t>
                      </a:r>
                    </a:p>
                  </a:txBody>
                  <a:tcPr marL="73152" marR="73152" marT="27432" marB="27432" anchor="ctr">
                    <a:solidFill>
                      <a:srgbClr val="FFFFFF"/>
                    </a:solidFill>
                  </a:tcPr>
                </a:tc>
                <a:tc>
                  <a:txBody>
                    <a:bodyPr/>
                    <a:lstStyle/>
                    <a:p>
                      <a:pPr algn="ctr"/>
                      <a:r>
                        <a:rPr sz="1600" b="0">
                          <a:solidFill>
                            <a:srgbClr val="142B33"/>
                          </a:solidFill>
                          <a:latin typeface="Calibri"/>
                        </a:rPr>
                        <a:t>24.25</a:t>
                      </a:r>
                    </a:p>
                  </a:txBody>
                  <a:tcPr marL="73152" marR="73152" marT="27432" marB="27432" anchor="ctr">
                    <a:solidFill>
                      <a:srgbClr val="FFFFFF"/>
                    </a:solidFill>
                  </a:tcPr>
                </a:tc>
                <a:tc>
                  <a:txBody>
                    <a:bodyPr/>
                    <a:lstStyle/>
                    <a:p>
                      <a:pPr algn="ctr"/>
                      <a:r>
                        <a:rPr sz="1600" b="0">
                          <a:solidFill>
                            <a:srgbClr val="142B33"/>
                          </a:solidFill>
                          <a:latin typeface="Calibri"/>
                        </a:rPr>
                        <a:t>A = 21.63</a:t>
                      </a:r>
                    </a:p>
                  </a:txBody>
                  <a:tcPr marL="73152" marR="73152" marT="27432" marB="27432" anchor="ctr">
                    <a:solidFill>
                      <a:srgbClr val="FFFFFF"/>
                    </a:solidFill>
                  </a:tcPr>
                </a:tc>
                <a:tc>
                  <a:txBody>
                    <a:bodyPr/>
                    <a:lstStyle/>
                    <a:p>
                      <a:pPr algn="ctr"/>
                      <a:r>
                        <a:rPr sz="1600" b="0">
                          <a:solidFill>
                            <a:srgbClr val="142B33"/>
                          </a:solidFill>
                          <a:latin typeface="Calibri"/>
                        </a:rPr>
                        <a:t>BCD = −2.63</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4.75</a:t>
                      </a:r>
                    </a:p>
                  </a:txBody>
                  <a:tcPr marL="73152" marR="73152" marT="27432" marB="27432" anchor="ctr">
                    <a:solidFill>
                      <a:srgbClr val="F4F8F9"/>
                    </a:solidFill>
                  </a:tcPr>
                </a:tc>
                <a:tc>
                  <a:txBody>
                    <a:bodyPr/>
                    <a:lstStyle/>
                    <a:p>
                      <a:pPr algn="ctr"/>
                      <a:r>
                        <a:rPr sz="1600" b="0">
                          <a:solidFill>
                            <a:srgbClr val="142B33"/>
                          </a:solidFill>
                          <a:latin typeface="Calibri"/>
                        </a:rPr>
                        <a:t>B = 3.13</a:t>
                      </a:r>
                    </a:p>
                  </a:txBody>
                  <a:tcPr marL="73152" marR="73152" marT="27432" marB="27432" anchor="ctr">
                    <a:solidFill>
                      <a:srgbClr val="F4F8F9"/>
                    </a:solidFill>
                  </a:tcPr>
                </a:tc>
                <a:tc>
                  <a:txBody>
                    <a:bodyPr/>
                    <a:lstStyle/>
                    <a:p>
                      <a:pPr algn="ctr"/>
                      <a:r>
                        <a:rPr sz="1600" b="0">
                          <a:solidFill>
                            <a:srgbClr val="142B33"/>
                          </a:solidFill>
                          <a:latin typeface="Calibri"/>
                        </a:rPr>
                        <a:t>ACD = −1.63</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14.00</a:t>
                      </a:r>
                    </a:p>
                  </a:txBody>
                  <a:tcPr marL="73152" marR="73152" marT="27432" marB="27432" anchor="ctr">
                    <a:solidFill>
                      <a:srgbClr val="FFFFFF"/>
                    </a:solidFill>
                  </a:tcPr>
                </a:tc>
                <a:tc>
                  <a:txBody>
                    <a:bodyPr/>
                    <a:lstStyle/>
                    <a:p>
                      <a:pPr algn="ctr"/>
                      <a:r>
                        <a:rPr sz="1600" b="0">
                          <a:solidFill>
                            <a:srgbClr val="142B33"/>
                          </a:solidFill>
                          <a:latin typeface="Calibri"/>
                        </a:rPr>
                        <a:t>5.75</a:t>
                      </a:r>
                    </a:p>
                  </a:txBody>
                  <a:tcPr marL="73152" marR="73152" marT="27432" marB="27432" anchor="ctr">
                    <a:solidFill>
                      <a:srgbClr val="FFFFFF"/>
                    </a:solidFill>
                  </a:tcPr>
                </a:tc>
                <a:tc>
                  <a:txBody>
                    <a:bodyPr/>
                    <a:lstStyle/>
                    <a:p>
                      <a:pPr algn="ctr"/>
                      <a:r>
                        <a:rPr sz="1600" b="0">
                          <a:solidFill>
                            <a:srgbClr val="142B33"/>
                          </a:solidFill>
                          <a:latin typeface="Calibri"/>
                        </a:rPr>
                        <a:t>C = 9.88</a:t>
                      </a:r>
                    </a:p>
                  </a:txBody>
                  <a:tcPr marL="73152" marR="73152" marT="27432" marB="27432" anchor="ctr">
                    <a:solidFill>
                      <a:srgbClr val="FFFFFF"/>
                    </a:solidFill>
                  </a:tcPr>
                </a:tc>
                <a:tc>
                  <a:txBody>
                    <a:bodyPr/>
                    <a:lstStyle/>
                    <a:p>
                      <a:pPr algn="ctr"/>
                      <a:r>
                        <a:rPr sz="1600" b="0">
                          <a:solidFill>
                            <a:srgbClr val="142B33"/>
                          </a:solidFill>
                          <a:latin typeface="Calibri"/>
                        </a:rPr>
                        <a:t>ABD = 4.13</a:t>
                      </a:r>
                    </a:p>
                  </a:txBody>
                  <a:tcPr marL="73152" marR="73152" marT="27432" marB="27432" anchor="ctr">
                    <a:solidFill>
                      <a:srgbClr val="FFFFFF"/>
                    </a:solidFill>
                  </a:tcPr>
                </a:tc>
              </a:tr>
              <a:tr h="366776">
                <a:tc>
                  <a:txBody>
                    <a:bodyPr/>
                    <a:lstStyle/>
                    <a:p>
                      <a:pPr algn="ctr"/>
                      <a:r>
                        <a:rPr sz="1600" b="0">
                          <a:solidFill>
                            <a:srgbClr val="142B33"/>
                          </a:solidFill>
                          <a:latin typeface="Calibri"/>
                        </a:rPr>
                        <a:t>D</a:t>
                      </a:r>
                    </a:p>
                  </a:txBody>
                  <a:tcPr marL="73152" marR="73152" marT="27432" marB="27432" anchor="ctr">
                    <a:solidFill>
                      <a:srgbClr val="F4F8F9"/>
                    </a:solidFill>
                  </a:tcPr>
                </a:tc>
                <a:tc>
                  <a:txBody>
                    <a:bodyPr/>
                    <a:lstStyle/>
                    <a:p>
                      <a:pPr algn="ctr"/>
                      <a:r>
                        <a:rPr sz="1600" b="0">
                          <a:solidFill>
                            <a:srgbClr val="142B33"/>
                          </a:solidFill>
                          <a:latin typeface="Calibri"/>
                        </a:rPr>
                        <a:t>16.50</a:t>
                      </a:r>
                    </a:p>
                  </a:txBody>
                  <a:tcPr marL="73152" marR="73152" marT="27432" marB="27432" anchor="ctr">
                    <a:solidFill>
                      <a:srgbClr val="F4F8F9"/>
                    </a:solidFill>
                  </a:tcPr>
                </a:tc>
                <a:tc>
                  <a:txBody>
                    <a:bodyPr/>
                    <a:lstStyle/>
                    <a:p>
                      <a:pPr algn="ctr"/>
                      <a:r>
                        <a:rPr sz="1600" b="0">
                          <a:solidFill>
                            <a:srgbClr val="142B33"/>
                          </a:solidFill>
                          <a:latin typeface="Calibri"/>
                        </a:rPr>
                        <a:t>12.75</a:t>
                      </a:r>
                    </a:p>
                  </a:txBody>
                  <a:tcPr marL="73152" marR="73152" marT="27432" marB="27432" anchor="ctr">
                    <a:solidFill>
                      <a:srgbClr val="F4F8F9"/>
                    </a:solidFill>
                  </a:tcPr>
                </a:tc>
                <a:tc>
                  <a:txBody>
                    <a:bodyPr/>
                    <a:lstStyle/>
                    <a:p>
                      <a:pPr algn="ctr"/>
                      <a:r>
                        <a:rPr sz="1600" b="0">
                          <a:solidFill>
                            <a:srgbClr val="142B33"/>
                          </a:solidFill>
                          <a:latin typeface="Calibri"/>
                        </a:rPr>
                        <a:t>D = 14.63</a:t>
                      </a:r>
                    </a:p>
                  </a:txBody>
                  <a:tcPr marL="73152" marR="73152" marT="27432" marB="27432" anchor="ctr">
                    <a:solidFill>
                      <a:srgbClr val="F4F8F9"/>
                    </a:solidFill>
                  </a:tcPr>
                </a:tc>
                <a:tc>
                  <a:txBody>
                    <a:bodyPr/>
                    <a:lstStyle/>
                    <a:p>
                      <a:pPr algn="ctr"/>
                      <a:r>
                        <a:rPr sz="1600" b="0">
                          <a:solidFill>
                            <a:srgbClr val="142B33"/>
                          </a:solidFill>
                          <a:latin typeface="Calibri"/>
                        </a:rPr>
                        <a:t>ABC = 1.88</a:t>
                      </a:r>
                    </a:p>
                  </a:txBody>
                  <a:tcPr marL="73152" marR="73152" marT="27432" marB="27432" anchor="ctr">
                    <a:solidFill>
                      <a:srgbClr val="F4F8F9"/>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1.25</a:t>
                      </a:r>
                    </a:p>
                  </a:txBody>
                  <a:tcPr marL="73152" marR="73152" marT="27432" marB="27432" anchor="ctr">
                    <a:solidFill>
                      <a:srgbClr val="FFFFFF"/>
                    </a:solidFill>
                  </a:tcPr>
                </a:tc>
                <a:tc>
                  <a:txBody>
                    <a:bodyPr/>
                    <a:lstStyle/>
                    <a:p>
                      <a:pPr algn="ctr"/>
                      <a:r>
                        <a:rPr sz="1600" b="0">
                          <a:solidFill>
                            <a:srgbClr val="142B33"/>
                          </a:solidFill>
                          <a:latin typeface="Calibri"/>
                        </a:rPr>
                        <a:t>AB = 0.13</a:t>
                      </a:r>
                    </a:p>
                  </a:txBody>
                  <a:tcPr marL="73152" marR="73152" marT="27432" marB="27432" anchor="ctr">
                    <a:solidFill>
                      <a:srgbClr val="FFFFFF"/>
                    </a:solidFill>
                  </a:tcPr>
                </a:tc>
                <a:tc>
                  <a:txBody>
                    <a:bodyPr/>
                    <a:lstStyle/>
                    <a:p>
                      <a:pPr algn="ctr"/>
                      <a:r>
                        <a:rPr sz="1600" b="0">
                          <a:solidFill>
                            <a:srgbClr val="142B33"/>
                          </a:solidFill>
                          <a:latin typeface="Calibri"/>
                        </a:rPr>
                        <a:t>CD = −1.13</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−17.75</a:t>
                      </a:r>
                    </a:p>
                  </a:txBody>
                  <a:tcPr marL="73152" marR="73152" marT="27432" marB="27432" anchor="ctr">
                    <a:solidFill>
                      <a:srgbClr val="FDE8D7"/>
                    </a:solidFill>
                  </a:tcPr>
                </a:tc>
                <a:tc>
                  <a:txBody>
                    <a:bodyPr/>
                    <a:lstStyle/>
                    <a:p>
                      <a:pPr algn="ctr"/>
                      <a:r>
                        <a:rPr sz="1600" b="0">
                          <a:solidFill>
                            <a:srgbClr val="142B33"/>
                          </a:solidFill>
                          <a:latin typeface="Calibri"/>
                        </a:rPr>
                        <a:t>AC = −18.13</a:t>
                      </a:r>
                    </a:p>
                  </a:txBody>
                  <a:tcPr marL="73152" marR="73152" marT="27432" marB="27432" anchor="ctr">
                    <a:solidFill>
                      <a:srgbClr val="FDE8D7"/>
                    </a:solidFill>
                  </a:tcPr>
                </a:tc>
                <a:tc>
                  <a:txBody>
                    <a:bodyPr/>
                    <a:lstStyle/>
                    <a:p>
                      <a:pPr algn="ctr"/>
                      <a:r>
                        <a:rPr sz="1600" b="0">
                          <a:solidFill>
                            <a:srgbClr val="142B33"/>
                          </a:solidFill>
                          <a:latin typeface="Calibri"/>
                        </a:rPr>
                        <a:t>BD = −0.38</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14.25</a:t>
                      </a:r>
                    </a:p>
                  </a:txBody>
                  <a:tcPr marL="73152" marR="73152" marT="27432" marB="27432" anchor="ctr">
                    <a:solidFill>
                      <a:srgbClr val="FDE8D7"/>
                    </a:solidFill>
                  </a:tcPr>
                </a:tc>
                <a:tc>
                  <a:txBody>
                    <a:bodyPr/>
                    <a:lstStyle/>
                    <a:p>
                      <a:pPr algn="ctr"/>
                      <a:r>
                        <a:rPr sz="1600" b="0">
                          <a:solidFill>
                            <a:srgbClr val="142B33"/>
                          </a:solidFill>
                          <a:latin typeface="Calibri"/>
                        </a:rPr>
                        <a:t>AD = 16.63</a:t>
                      </a:r>
                    </a:p>
                  </a:txBody>
                  <a:tcPr marL="73152" marR="73152" marT="27432" marB="27432" anchor="ctr">
                    <a:solidFill>
                      <a:srgbClr val="FDE8D7"/>
                    </a:solidFill>
                  </a:tcPr>
                </a:tc>
                <a:tc>
                  <a:txBody>
                    <a:bodyPr/>
                    <a:lstStyle/>
                    <a:p>
                      <a:pPr algn="ctr"/>
                      <a:r>
                        <a:rPr sz="1600" b="0">
                          <a:solidFill>
                            <a:srgbClr val="142B33"/>
                          </a:solidFill>
                          <a:latin typeface="Calibri"/>
                        </a:rPr>
                        <a:t>BC = 2.38</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confirma la interpretación: las interacciones activas son </a:t>
            </a:r>
            <a:r>
              <a:rPr sz="1600" b="1">
                <a:solidFill>
                  <a:srgbClr val="142B33"/>
                </a:solidFill>
                <a:latin typeface="Calibri"/>
              </a:rPr>
              <a:t>AC</a:t>
            </a:r>
            <a:r>
              <a:rPr sz="1600" b="0">
                <a:solidFill>
                  <a:srgbClr val="142B33"/>
                </a:solidFill>
                <a:latin typeface="Calibri"/>
              </a:rPr>
              <a:t> y </a:t>
            </a:r>
            <a:r>
              <a:rPr sz="1600" b="1">
                <a:solidFill>
                  <a:srgbClr val="142B33"/>
                </a:solidFill>
                <a:latin typeface="Calibri"/>
              </a:rPr>
              <a:t>AD</a:t>
            </a:r>
            <a:r>
              <a:rPr sz="1600" b="0">
                <a:solidFill>
                  <a:srgbClr val="142B33"/>
                </a:solidFill>
                <a:latin typeface="Calibri"/>
              </a:rPr>
              <a:t>, no BD ni BC</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32</a:t>
            </a:r>
          </a:p>
        </p:txBody>
      </p:sp>
      <p:sp>
        <p:nvSpPr>
          <p:cNvPr id="7" name="Rounded Rectangle 6"/>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confirma una conclusión?</a:t>
            </a:r>
          </a:p>
        </p:txBody>
      </p:sp>
      <p:sp>
        <p:nvSpPr>
          <p:cNvPr id="3" name="Rounded Rectangle 2"/>
          <p:cNvSpPr/>
          <p:nvPr/>
        </p:nvSpPr>
        <p:spPr>
          <a:xfrm>
            <a:off x="548640" y="1417320"/>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Fracción alterna</a:t>
            </a:r>
          </a:p>
          <a:p>
            <a:pPr algn="l"/>
            <a:r>
              <a:rPr sz="1600" b="0">
                <a:solidFill>
                  <a:srgbClr val="142B33"/>
                </a:solidFill>
                <a:latin typeface="Calibri"/>
              </a:rPr>
              <a:t>Confirma y separa alias: duplica las corridas</a:t>
            </a:r>
          </a:p>
        </p:txBody>
      </p:sp>
      <p:sp>
        <p:nvSpPr>
          <p:cNvPr id="4" name="Rounded Rectangle 3"/>
          <p:cNvSpPr/>
          <p:nvPr/>
        </p:nvSpPr>
        <p:spPr>
          <a:xfrm>
            <a:off x="548640" y="2941828"/>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Corrida de confirmación</a:t>
            </a:r>
          </a:p>
          <a:p>
            <a:pPr algn="l"/>
            <a:r>
              <a:rPr sz="1600" b="0">
                <a:solidFill>
                  <a:srgbClr val="142B33"/>
                </a:solidFill>
                <a:latin typeface="Calibri"/>
              </a:rPr>
              <a:t>Predecir con el modelo en un punto </a:t>
            </a:r>
            <a:r>
              <a:rPr sz="1600" b="1">
                <a:solidFill>
                  <a:srgbClr val="142B33"/>
                </a:solidFill>
                <a:latin typeface="Calibri"/>
              </a:rPr>
              <a:t>nuevo</a:t>
            </a:r>
            <a:r>
              <a:rPr sz="1600" b="0">
                <a:solidFill>
                  <a:srgbClr val="142B33"/>
                </a:solidFill>
                <a:latin typeface="Calibri"/>
              </a:rPr>
              <a:t>, correrlo varias veces y comparar</a:t>
            </a:r>
          </a:p>
        </p:txBody>
      </p:sp>
      <p:sp>
        <p:nvSpPr>
          <p:cNvPr id="5" name="Rounded Rectangle 4"/>
          <p:cNvSpPr/>
          <p:nvPr/>
        </p:nvSpPr>
        <p:spPr>
          <a:xfrm>
            <a:off x="5446952" y="1417320"/>
            <a:ext cx="6196102"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graphicFrame>
        <p:nvGraphicFramePr>
          <p:cNvPr id="6" name="Table 5"/>
          <p:cNvGraphicFramePr>
            <a:graphicFrameLocks noGrp="1"/>
          </p:cNvGraphicFramePr>
          <p:nvPr/>
        </p:nvGraphicFramePr>
        <p:xfrm>
          <a:off x="5446952" y="2153107"/>
          <a:ext cx="6196101" cy="733552"/>
        </p:xfrm>
        <a:graphic>
          <a:graphicData uri="http://schemas.openxmlformats.org/drawingml/2006/table">
            <a:tbl>
              <a:tblPr firstRow="0" bandRow="0">
                <a:tableStyleId>{5C22544A-7EE6-4342-B048-85BDC9FD1C3A}</a:tableStyleId>
              </a:tblPr>
              <a:tblGrid>
                <a:gridCol w="3007137"/>
                <a:gridCol w="713321"/>
                <a:gridCol w="713321"/>
                <a:gridCol w="713321"/>
                <a:gridCol w="1049001"/>
              </a:tblGrid>
              <a:tr h="366776">
                <a:tc>
                  <a:txBody>
                    <a:bodyPr/>
                    <a:lstStyle/>
                    <a:p>
                      <a:pPr algn="ctr"/>
                      <a:r>
                        <a:rPr sz="1600" b="1">
                          <a:solidFill>
                            <a:srgbClr val="FFFFFF"/>
                          </a:solidFill>
                          <a:latin typeface="Calibri"/>
                        </a:rPr>
                        <a:t>Punto</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1</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3</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4</a:t>
                      </a:r>
                    </a:p>
                  </a:txBody>
                  <a:tcPr marL="73152" marR="73152" marT="27432" marB="27432" anchor="ctr">
                    <a:solidFill>
                      <a:srgbClr val="0F4C5C"/>
                    </a:solidFill>
                  </a:tcPr>
                </a:tc>
                <a:tc>
                  <a:txBody>
                    <a:bodyPr/>
                    <a:lstStyle/>
                    <a:p>
                      <a:pPr algn="ctr"/>
                      <a:r>
                        <a:rPr sz="1600" b="1">
                          <a:solidFill>
                            <a:srgbClr val="FFFFFF"/>
                          </a:solidFill>
                          <a:latin typeface="Calibri"/>
                        </a:rPr>
                        <a:t>ŷ</a:t>
                      </a:r>
                    </a:p>
                  </a:txBody>
                  <a:tcPr marL="73152" marR="73152" marT="27432" marB="27432" anchor="ctr">
                    <a:solidFill>
                      <a:srgbClr val="0F4C5C"/>
                    </a:solidFill>
                  </a:tcPr>
                </a:tc>
              </a:tr>
              <a:tr h="366776">
                <a:tc>
                  <a:txBody>
                    <a:bodyPr/>
                    <a:lstStyle/>
                    <a:p>
                      <a:pPr algn="ctr"/>
                      <a:r>
                        <a:rPr sz="1600" b="0">
                          <a:solidFill>
                            <a:srgbClr val="142B33"/>
                          </a:solidFill>
                          <a:latin typeface="Calibri"/>
                        </a:rPr>
                        <a:t>Centro de la región</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70.75</a:t>
                      </a:r>
                    </a:p>
                  </a:txBody>
                  <a:tcPr marL="73152" marR="73152" marT="27432" marB="27432" anchor="ctr">
                    <a:solidFill>
                      <a:srgbClr val="FFFFFF"/>
                    </a:solidFill>
                  </a:tcPr>
                </a:tc>
              </a:tr>
            </a:tbl>
          </a:graphicData>
        </a:graphic>
      </p:graphicFrame>
      <p:sp>
        <p:nvSpPr>
          <p:cNvPr id="7" name="Rounded Rectangle 6"/>
          <p:cNvSpPr/>
          <p:nvPr/>
        </p:nvSpPr>
        <p:spPr>
          <a:xfrm>
            <a:off x="5446952" y="3087827"/>
            <a:ext cx="6196102"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 las corridas en el centro se alejan de 70.75, el modelo </a:t>
            </a:r>
            <a:r>
              <a:rPr sz="1500" b="1">
                <a:solidFill>
                  <a:srgbClr val="142B33"/>
                </a:solidFill>
                <a:latin typeface="Calibri"/>
              </a:rPr>
              <a:t>no</a:t>
            </a:r>
            <a:r>
              <a:rPr sz="1500" b="0">
                <a:solidFill>
                  <a:srgbClr val="142B33"/>
                </a:solidFill>
                <a:latin typeface="Calibri"/>
              </a:rPr>
              <a:t> queda confirmado (o hay curvatura)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33</a:t>
            </a:r>
          </a:p>
        </p:txBody>
      </p:sp>
      <p:sp>
        <p:nvSpPr>
          <p:cNvPr id="10" name="Rounded Rectangle 9"/>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La fracción un cuarto 2</a:t>
            </a:r>
            <a:r>
              <a:rPr sz="4400" b="1" baseline="30000">
                <a:solidFill>
                  <a:srgbClr val="FFFFFF"/>
                </a:solidFill>
                <a:latin typeface="Cambria"/>
              </a:rPr>
              <a:t>k−2</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5</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Dos generadores, fracciones alternas, proyección y un ejemplo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una fracción un cuarto? El 2</a:t>
            </a:r>
            <a:r>
              <a:rPr sz="3000" b="1" baseline="30000">
                <a:solidFill>
                  <a:srgbClr val="0F4C5C"/>
                </a:solidFill>
                <a:latin typeface="Cambria"/>
              </a:rPr>
              <a:t>6−2</a:t>
            </a:r>
            <a:r>
              <a:rPr sz="3000" b="1" baseline="-25000">
                <a:solidFill>
                  <a:srgbClr val="0F4C5C"/>
                </a:solidFill>
                <a:latin typeface="Cambria"/>
              </a:rPr>
              <a:t>IV</a:t>
            </a:r>
          </a:p>
        </p:txBody>
      </p:sp>
      <p:sp>
        <p:nvSpPr>
          <p:cNvPr id="3" name="TextBox 2"/>
          <p:cNvSpPr txBox="1"/>
          <p:nvPr/>
        </p:nvSpPr>
        <p:spPr>
          <a:xfrm>
            <a:off x="548640" y="1417320"/>
            <a:ext cx="5127808" cy="140893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1">
                <a:solidFill>
                  <a:srgbClr val="142B33"/>
                </a:solidFill>
                <a:latin typeface="Calibri"/>
              </a:rPr>
              <a:t>2</a:t>
            </a:r>
            <a:r>
              <a:rPr sz="1500" b="1" baseline="30000">
                <a:solidFill>
                  <a:srgbClr val="142B33"/>
                </a:solidFill>
                <a:latin typeface="Calibri"/>
              </a:rPr>
              <a:t>k−2</a:t>
            </a:r>
            <a:r>
              <a:rPr sz="1500" b="0">
                <a:solidFill>
                  <a:srgbClr val="142B33"/>
                </a:solidFill>
                <a:latin typeface="Calibri"/>
              </a:rPr>
              <a:t> corridas, la cuarta parte: dos generadores </a:t>
            </a:r>
            <a:r>
              <a:rPr sz="1500" b="1">
                <a:solidFill>
                  <a:srgbClr val="142B33"/>
                </a:solidFill>
                <a:latin typeface="Calibri"/>
              </a:rPr>
              <a:t>P</a:t>
            </a:r>
            <a:r>
              <a:rPr sz="1500" b="0">
                <a:solidFill>
                  <a:srgbClr val="142B33"/>
                </a:solidFill>
                <a:latin typeface="Calibri"/>
              </a:rPr>
              <a:t> y </a:t>
            </a:r>
            <a:r>
              <a:rPr sz="1500" b="1">
                <a:solidFill>
                  <a:srgbClr val="142B33"/>
                </a:solidFill>
                <a:latin typeface="Calibri"/>
              </a:rPr>
              <a:t>Q</a:t>
            </a:r>
            <a:r>
              <a:rPr sz="1500" b="0">
                <a:solidFill>
                  <a:srgbClr val="142B33"/>
                </a:solidFill>
                <a:latin typeface="Calibri"/>
              </a:rPr>
              <a:t>; su producto </a:t>
            </a:r>
            <a:r>
              <a:rPr sz="1500" b="1">
                <a:solidFill>
                  <a:srgbClr val="142B33"/>
                </a:solidFill>
                <a:latin typeface="Calibri"/>
              </a:rPr>
              <a:t>PQ</a:t>
            </a:r>
            <a:r>
              <a:rPr sz="1500" b="0">
                <a:solidFill>
                  <a:srgbClr val="142B33"/>
                </a:solidFill>
                <a:latin typeface="Calibri"/>
              </a:rPr>
              <a:t> también es palabra</a:t>
            </a:r>
          </a:p>
          <a:p>
            <a:pPr marL="320040" indent="-320040">
              <a:spcAft>
                <a:spcPts val="600"/>
              </a:spcAft>
              <a:buClr>
                <a:srgbClr val="E36414"/>
              </a:buClr>
              <a:buFont typeface="Arial"/>
              <a:buChar char="•"/>
            </a:pPr>
            <a:r>
              <a:rPr sz="1500" b="0">
                <a:solidFill>
                  <a:srgbClr val="142B33"/>
                </a:solidFill>
                <a:latin typeface="Calibri"/>
              </a:rPr>
              <a:t>Cada efecto tiene </a:t>
            </a:r>
            <a:r>
              <a:rPr sz="1500" b="1">
                <a:solidFill>
                  <a:srgbClr val="142B33"/>
                </a:solidFill>
                <a:latin typeface="Calibri"/>
              </a:rPr>
              <a:t>tres alias</a:t>
            </a:r>
            <a:r>
              <a:rPr sz="1500" b="0">
                <a:solidFill>
                  <a:srgbClr val="142B33"/>
                </a:solidFill>
                <a:latin typeface="Calibri"/>
              </a:rPr>
              <a:t> (efecto × cada palabra)</a:t>
            </a:r>
          </a:p>
          <a:p>
            <a:pPr marL="320040" indent="-320040">
              <a:spcAft>
                <a:spcPts val="600"/>
              </a:spcAft>
              <a:buClr>
                <a:srgbClr val="E36414"/>
              </a:buClr>
              <a:buFont typeface="Arial"/>
              <a:buChar char="•"/>
            </a:pPr>
            <a:r>
              <a:rPr sz="1500" b="0">
                <a:solidFill>
                  <a:srgbClr val="142B33"/>
                </a:solidFill>
                <a:latin typeface="Calibri"/>
              </a:rPr>
              <a:t>Los signos de P y Q dan </a:t>
            </a:r>
            <a:r>
              <a:rPr sz="1500" b="1">
                <a:solidFill>
                  <a:srgbClr val="142B33"/>
                </a:solidFill>
                <a:latin typeface="Calibri"/>
              </a:rPr>
              <a:t>4 fracciones</a:t>
            </a:r>
            <a:r>
              <a:rPr sz="1500" b="0">
                <a:solidFill>
                  <a:srgbClr val="142B33"/>
                </a:solidFill>
                <a:latin typeface="Calibri"/>
              </a:rPr>
              <a:t>, una </a:t>
            </a:r>
            <a:r>
              <a:rPr sz="1500" b="1">
                <a:solidFill>
                  <a:srgbClr val="142B33"/>
                </a:solidFill>
                <a:latin typeface="Calibri"/>
              </a:rPr>
              <a:t>familia</a:t>
            </a:r>
            <a:r>
              <a:rPr sz="1500" b="0">
                <a:solidFill>
                  <a:srgbClr val="142B33"/>
                </a:solidFill>
                <a:latin typeface="Calibri"/>
              </a:rPr>
              <a:t>; +P, +Q es la principal</a:t>
            </a:r>
          </a:p>
        </p:txBody>
      </p:sp>
      <p:sp>
        <p:nvSpPr>
          <p:cNvPr id="4" name="Rounded Rectangle 3"/>
          <p:cNvSpPr/>
          <p:nvPr/>
        </p:nvSpPr>
        <p:spPr>
          <a:xfrm>
            <a:off x="548640" y="3027425"/>
            <a:ext cx="5127808" cy="1263456"/>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I = P = Q = PQ</a:t>
            </a:r>
          </a:p>
          <a:p>
            <a:pPr algn="ctr"/>
            <a:r>
              <a:rPr sz="1900" b="0">
                <a:solidFill>
                  <a:srgbClr val="0F4C5C"/>
                </a:solidFill>
                <a:latin typeface="Cambria Math"/>
              </a:rPr>
              <a:t>2</a:t>
            </a:r>
            <a:r>
              <a:rPr sz="1900" b="0" baseline="30000">
                <a:solidFill>
                  <a:srgbClr val="0F4C5C"/>
                </a:solidFill>
                <a:latin typeface="Cambria Math"/>
              </a:rPr>
              <a:t>6−2</a:t>
            </a:r>
            <a:r>
              <a:rPr sz="1900" b="0">
                <a:solidFill>
                  <a:srgbClr val="0F4C5C"/>
                </a:solidFill>
                <a:latin typeface="Cambria Math"/>
              </a:rPr>
              <a:t>:  E = ABC,  F = BCD</a:t>
            </a:r>
          </a:p>
          <a:p>
            <a:pPr algn="ctr"/>
            <a:r>
              <a:rPr sz="1900" b="0">
                <a:solidFill>
                  <a:srgbClr val="0F4C5C"/>
                </a:solidFill>
                <a:latin typeface="Cambria Math"/>
              </a:rPr>
              <a:t>I = ABCE = BCDF = ADEF</a:t>
            </a:r>
          </a:p>
        </p:txBody>
      </p:sp>
      <p:sp>
        <p:nvSpPr>
          <p:cNvPr id="5" name="Rounded Rectangle 4"/>
          <p:cNvSpPr/>
          <p:nvPr/>
        </p:nvSpPr>
        <p:spPr>
          <a:xfrm>
            <a:off x="548640" y="4492050"/>
            <a:ext cx="5127808"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Palabra más corta: 4 letras  →  </a:t>
            </a:r>
            <a:r>
              <a:rPr sz="1600" b="1">
                <a:solidFill>
                  <a:srgbClr val="142B33"/>
                </a:solidFill>
                <a:latin typeface="Calibri"/>
              </a:rPr>
              <a:t>resolución IV</a:t>
            </a:r>
          </a:p>
        </p:txBody>
      </p:sp>
      <p:graphicFrame>
        <p:nvGraphicFramePr>
          <p:cNvPr id="6" name="Table 5"/>
          <p:cNvGraphicFramePr>
            <a:graphicFrameLocks noGrp="1"/>
          </p:cNvGraphicFramePr>
          <p:nvPr/>
        </p:nvGraphicFramePr>
        <p:xfrm>
          <a:off x="6087928" y="1417320"/>
          <a:ext cx="5555125" cy="2810256"/>
        </p:xfrm>
        <a:graphic>
          <a:graphicData uri="http://schemas.openxmlformats.org/drawingml/2006/table">
            <a:tbl>
              <a:tblPr firstRow="0" bandRow="0">
                <a:tableStyleId>{5C22544A-7EE6-4342-B048-85BDC9FD1C3A}</a:tableStyleId>
              </a:tblPr>
              <a:tblGrid>
                <a:gridCol w="2331781"/>
                <a:gridCol w="3223344"/>
              </a:tblGrid>
              <a:tr h="351282">
                <a:tc>
                  <a:txBody>
                    <a:bodyPr/>
                    <a:lstStyle/>
                    <a:p>
                      <a:pPr algn="ctr"/>
                      <a:r>
                        <a:rPr sz="1500" b="1">
                          <a:solidFill>
                            <a:srgbClr val="FFFFFF"/>
                          </a:solidFill>
                          <a:latin typeface="Calibri"/>
                        </a:rPr>
                        <a:t>Efectos principales</a:t>
                      </a:r>
                    </a:p>
                  </a:txBody>
                  <a:tcPr marL="73152" marR="73152" marT="27432" marB="27432" anchor="ctr">
                    <a:solidFill>
                      <a:srgbClr val="0F4C5C"/>
                    </a:solidFill>
                  </a:tcPr>
                </a:tc>
                <a:tc>
                  <a:txBody>
                    <a:bodyPr/>
                    <a:lstStyle/>
                    <a:p>
                      <a:pPr algn="ctr"/>
                      <a:r>
                        <a:rPr sz="1500" b="1">
                          <a:solidFill>
                            <a:srgbClr val="FFFFFF"/>
                          </a:solidFill>
                          <a:latin typeface="Calibri"/>
                        </a:rPr>
                        <a:t>Interacciones de 2 factores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BCE = DEF</a:t>
                      </a:r>
                    </a:p>
                  </a:txBody>
                  <a:tcPr marL="73152" marR="73152" marT="27432" marB="27432" anchor="ctr">
                    <a:solidFill>
                      <a:srgbClr val="FFFFFF"/>
                    </a:solidFill>
                  </a:tcPr>
                </a:tc>
                <a:tc>
                  <a:txBody>
                    <a:bodyPr/>
                    <a:lstStyle/>
                    <a:p>
                      <a:pPr algn="ctr"/>
                      <a:r>
                        <a:rPr sz="1500" b="0">
                          <a:solidFill>
                            <a:srgbClr val="142B33"/>
                          </a:solidFill>
                          <a:latin typeface="Calibri"/>
                        </a:rPr>
                        <a:t>AB = CE</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ACE = CDF</a:t>
                      </a:r>
                    </a:p>
                  </a:txBody>
                  <a:tcPr marL="73152" marR="73152" marT="27432" marB="27432" anchor="ctr">
                    <a:solidFill>
                      <a:srgbClr val="F4F8F9"/>
                    </a:solidFill>
                  </a:tcPr>
                </a:tc>
                <a:tc>
                  <a:txBody>
                    <a:bodyPr/>
                    <a:lstStyle/>
                    <a:p>
                      <a:pPr algn="ctr"/>
                      <a:r>
                        <a:rPr sz="1500" b="0">
                          <a:solidFill>
                            <a:srgbClr val="142B33"/>
                          </a:solidFill>
                          <a:latin typeface="Calibri"/>
                        </a:rPr>
                        <a:t>AC = BE</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ABE = BDF</a:t>
                      </a:r>
                    </a:p>
                  </a:txBody>
                  <a:tcPr marL="73152" marR="73152" marT="27432" marB="27432" anchor="ctr">
                    <a:solidFill>
                      <a:srgbClr val="FFFFFF"/>
                    </a:solidFill>
                  </a:tcPr>
                </a:tc>
                <a:tc>
                  <a:txBody>
                    <a:bodyPr/>
                    <a:lstStyle/>
                    <a:p>
                      <a:pPr algn="ctr"/>
                      <a:r>
                        <a:rPr sz="1500" b="0">
                          <a:solidFill>
                            <a:srgbClr val="142B33"/>
                          </a:solidFill>
                          <a:latin typeface="Calibri"/>
                        </a:rPr>
                        <a:t>AD = EF</a:t>
                      </a:r>
                    </a:p>
                  </a:txBody>
                  <a:tcPr marL="73152" marR="73152" marT="27432" marB="27432" anchor="ctr">
                    <a:solidFill>
                      <a:srgbClr val="FFFFFF"/>
                    </a:solidFill>
                  </a:tcPr>
                </a:tc>
              </a:tr>
              <a:tr h="351282">
                <a:tc>
                  <a:txBody>
                    <a:bodyPr/>
                    <a:lstStyle/>
                    <a:p>
                      <a:pPr algn="ctr"/>
                      <a:r>
                        <a:rPr sz="1500" b="0">
                          <a:solidFill>
                            <a:srgbClr val="142B33"/>
                          </a:solidFill>
                          <a:latin typeface="Calibri"/>
                        </a:rPr>
                        <a:t>D = BCF = AEF</a:t>
                      </a:r>
                    </a:p>
                  </a:txBody>
                  <a:tcPr marL="73152" marR="73152" marT="27432" marB="27432" anchor="ctr">
                    <a:solidFill>
                      <a:srgbClr val="F4F8F9"/>
                    </a:solidFill>
                  </a:tcPr>
                </a:tc>
                <a:tc>
                  <a:txBody>
                    <a:bodyPr/>
                    <a:lstStyle/>
                    <a:p>
                      <a:pPr algn="ctr"/>
                      <a:r>
                        <a:rPr sz="1500" b="0">
                          <a:solidFill>
                            <a:srgbClr val="142B33"/>
                          </a:solidFill>
                          <a:latin typeface="Calibri"/>
                        </a:rPr>
                        <a:t>AE = BC = DF</a:t>
                      </a:r>
                    </a:p>
                  </a:txBody>
                  <a:tcPr marL="73152" marR="73152" marT="27432" marB="27432" anchor="ctr">
                    <a:solidFill>
                      <a:srgbClr val="F4F8F9"/>
                    </a:solidFill>
                  </a:tcPr>
                </a:tc>
              </a:tr>
              <a:tr h="351282">
                <a:tc>
                  <a:txBody>
                    <a:bodyPr/>
                    <a:lstStyle/>
                    <a:p>
                      <a:pPr algn="ctr"/>
                      <a:r>
                        <a:rPr sz="1500" b="0">
                          <a:solidFill>
                            <a:srgbClr val="142B33"/>
                          </a:solidFill>
                          <a:latin typeface="Calibri"/>
                        </a:rPr>
                        <a:t>E = ABC = ADF</a:t>
                      </a:r>
                    </a:p>
                  </a:txBody>
                  <a:tcPr marL="73152" marR="73152" marT="27432" marB="27432" anchor="ctr">
                    <a:solidFill>
                      <a:srgbClr val="FFFFFF"/>
                    </a:solidFill>
                  </a:tcPr>
                </a:tc>
                <a:tc>
                  <a:txBody>
                    <a:bodyPr/>
                    <a:lstStyle/>
                    <a:p>
                      <a:pPr algn="ctr"/>
                      <a:r>
                        <a:rPr sz="1500" b="0">
                          <a:solidFill>
                            <a:srgbClr val="142B33"/>
                          </a:solidFill>
                          <a:latin typeface="Calibri"/>
                        </a:rPr>
                        <a:t>AF = DE</a:t>
                      </a:r>
                    </a:p>
                  </a:txBody>
                  <a:tcPr marL="73152" marR="73152" marT="27432" marB="27432" anchor="ctr">
                    <a:solidFill>
                      <a:srgbClr val="FFFFFF"/>
                    </a:solidFill>
                  </a:tcPr>
                </a:tc>
              </a:tr>
              <a:tr h="351282">
                <a:tc>
                  <a:txBody>
                    <a:bodyPr/>
                    <a:lstStyle/>
                    <a:p>
                      <a:pPr algn="ctr"/>
                      <a:r>
                        <a:rPr sz="1500" b="0">
                          <a:solidFill>
                            <a:srgbClr val="142B33"/>
                          </a:solidFill>
                          <a:latin typeface="Calibri"/>
                        </a:rPr>
                        <a:t>F = BCD = ADE</a:t>
                      </a:r>
                    </a:p>
                  </a:txBody>
                  <a:tcPr marL="73152" marR="73152" marT="27432" marB="27432" anchor="ctr">
                    <a:solidFill>
                      <a:srgbClr val="F4F8F9"/>
                    </a:solidFill>
                  </a:tcPr>
                </a:tc>
                <a:tc>
                  <a:txBody>
                    <a:bodyPr/>
                    <a:lstStyle/>
                    <a:p>
                      <a:pPr algn="ctr"/>
                      <a:r>
                        <a:rPr sz="1500" b="0">
                          <a:solidFill>
                            <a:srgbClr val="142B33"/>
                          </a:solidFill>
                          <a:latin typeface="Calibri"/>
                        </a:rPr>
                        <a:t>BD = CF</a:t>
                      </a:r>
                    </a:p>
                  </a:txBody>
                  <a:tcPr marL="73152" marR="73152" marT="27432" marB="27432" anchor="ctr">
                    <a:solidFill>
                      <a:srgbClr val="F4F8F9"/>
                    </a:solidFill>
                  </a:tcPr>
                </a:tc>
              </a:tr>
              <a:tr h="351282">
                <a:tc>
                  <a:txBody>
                    <a:bodyPr/>
                    <a:lstStyle/>
                    <a:p>
                      <a:pPr algn="ctr"/>
                    </a:p>
                  </a:txBody>
                  <a:tcPr marL="73152" marR="73152" marT="27432" marB="27432" anchor="ctr">
                    <a:solidFill>
                      <a:srgbClr val="FFFFFF"/>
                    </a:solidFill>
                  </a:tcPr>
                </a:tc>
                <a:tc>
                  <a:txBody>
                    <a:bodyPr/>
                    <a:lstStyle/>
                    <a:p>
                      <a:pPr algn="ctr"/>
                      <a:r>
                        <a:rPr sz="1500" b="0">
                          <a:solidFill>
                            <a:srgbClr val="142B33"/>
                          </a:solidFill>
                          <a:latin typeface="Calibri"/>
                        </a:rPr>
                        <a:t>BF = CD</a:t>
                      </a:r>
                    </a:p>
                  </a:txBody>
                  <a:tcPr marL="73152" marR="73152" marT="27432" marB="27432" anchor="ctr">
                    <a:solidFill>
                      <a:srgbClr val="FFFFFF"/>
                    </a:solidFill>
                  </a:tcPr>
                </a:tc>
              </a:tr>
            </a:tbl>
          </a:graphicData>
        </a:graphic>
      </p:graphicFrame>
      <p:sp>
        <p:nvSpPr>
          <p:cNvPr id="7" name="TextBox 6"/>
          <p:cNvSpPr txBox="1"/>
          <p:nvPr/>
        </p:nvSpPr>
        <p:spPr>
          <a:xfrm>
            <a:off x="6087928" y="4428744"/>
            <a:ext cx="5555126" cy="439419"/>
          </a:xfrm>
          <a:prstGeom prst="rect">
            <a:avLst/>
          </a:prstGeom>
          <a:noFill/>
        </p:spPr>
        <p:txBody>
          <a:bodyPr wrap="square" anchor="t" lIns="0" rIns="0" tIns="0" bIns="0">
            <a:spAutoFit/>
          </a:bodyPr>
          <a:lstStyle/>
          <a:p>
            <a:r>
              <a:rPr sz="1300" b="0">
                <a:solidFill>
                  <a:srgbClr val="5B6B73"/>
                </a:solidFill>
                <a:latin typeface="Calibri"/>
              </a:rPr>
              <a:t>Faltan dos cadenas, solo de interacciones triples: ABD = CDE = ACF = BEF y ACD = BDE = ABF = CEF</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35</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construye 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555123" cy="4404360"/>
        </p:xfrm>
        <a:graphic>
          <a:graphicData uri="http://schemas.openxmlformats.org/drawingml/2006/table">
            <a:tbl>
              <a:tblPr firstRow="0" bandRow="0">
                <a:tableStyleId>{5C22544A-7EE6-4342-B048-85BDC9FD1C3A}</a:tableStyleId>
              </a:tblPr>
              <a:tblGrid>
                <a:gridCol w="1288789"/>
                <a:gridCol w="422189"/>
                <a:gridCol w="422189"/>
                <a:gridCol w="422189"/>
                <a:gridCol w="422189"/>
                <a:gridCol w="1288789"/>
                <a:gridCol w="1288789"/>
              </a:tblGrid>
              <a:tr h="259080">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 = ABC</a:t>
                      </a:r>
                    </a:p>
                  </a:txBody>
                  <a:tcPr marL="73152" marR="73152" marT="27432" marB="27432" anchor="ctr">
                    <a:solidFill>
                      <a:srgbClr val="0F4C5C"/>
                    </a:solidFill>
                  </a:tcPr>
                </a:tc>
                <a:tc>
                  <a:txBody>
                    <a:bodyPr/>
                    <a:lstStyle/>
                    <a:p>
                      <a:pPr algn="ctr"/>
                      <a:r>
                        <a:rPr sz="1200" b="1">
                          <a:solidFill>
                            <a:srgbClr val="FFFFFF"/>
                          </a:solidFill>
                          <a:latin typeface="Calibri"/>
                        </a:rPr>
                        <a:t>F = BCD</a:t>
                      </a:r>
                    </a:p>
                  </a:txBody>
                  <a:tcPr marL="73152" marR="73152" marT="27432" marB="27432" anchor="ctr">
                    <a:solidFill>
                      <a:srgbClr val="0F4C5C"/>
                    </a:solidFill>
                  </a:tcPr>
                </a:tc>
              </a:tr>
              <a:tr h="259080">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6515246" y="1417320"/>
            <a:ext cx="5127808" cy="1238504"/>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Escribir el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A, B, C, D (diseño básico)</a:t>
            </a:r>
          </a:p>
          <a:p>
            <a:pPr marL="320040" indent="-320040">
              <a:spcAft>
                <a:spcPts val="600"/>
              </a:spcAft>
              <a:buClr>
                <a:srgbClr val="E36414"/>
              </a:buClr>
              <a:buFont typeface="+mj-lt"/>
              <a:buAutoNum type="arabicPeriod"/>
            </a:pPr>
            <a:r>
              <a:rPr sz="1600" b="0">
                <a:solidFill>
                  <a:srgbClr val="142B33"/>
                </a:solidFill>
                <a:latin typeface="Calibri"/>
              </a:rPr>
              <a:t>Agregar </a:t>
            </a:r>
            <a:r>
              <a:rPr sz="1600" b="1">
                <a:solidFill>
                  <a:srgbClr val="142B33"/>
                </a:solidFill>
                <a:latin typeface="Calibri"/>
              </a:rPr>
              <a:t>E = ABC</a:t>
            </a:r>
            <a:r>
              <a:rPr sz="1600" b="0">
                <a:solidFill>
                  <a:srgbClr val="142B33"/>
                </a:solidFill>
                <a:latin typeface="Calibri"/>
              </a:rPr>
              <a:t> y </a:t>
            </a:r>
            <a:r>
              <a:rPr sz="1600" b="1">
                <a:solidFill>
                  <a:srgbClr val="142B33"/>
                </a:solidFill>
                <a:latin typeface="Calibri"/>
              </a:rPr>
              <a:t>F = BCD</a:t>
            </a:r>
          </a:p>
          <a:p>
            <a:pPr marL="320040" indent="-320040">
              <a:spcAft>
                <a:spcPts val="600"/>
              </a:spcAft>
              <a:buClr>
                <a:srgbClr val="E36414"/>
              </a:buClr>
              <a:buFont typeface="+mj-lt"/>
              <a:buAutoNum type="arabicPeriod"/>
            </a:pPr>
            <a:r>
              <a:rPr sz="1600" b="0">
                <a:solidFill>
                  <a:srgbClr val="142B33"/>
                </a:solidFill>
                <a:latin typeface="Calibri"/>
              </a:rPr>
              <a:t>Con todos los signos positivos: </a:t>
            </a:r>
            <a:r>
              <a:rPr sz="1600" b="1">
                <a:solidFill>
                  <a:srgbClr val="142B33"/>
                </a:solidFill>
                <a:latin typeface="Calibri"/>
              </a:rPr>
              <a:t>fracción principal</a:t>
            </a:r>
          </a:p>
        </p:txBody>
      </p:sp>
      <p:sp>
        <p:nvSpPr>
          <p:cNvPr id="5" name="Rounded Rectangle 4"/>
          <p:cNvSpPr/>
          <p:nvPr/>
        </p:nvSpPr>
        <p:spPr>
          <a:xfrm>
            <a:off x="6515246" y="2856992"/>
            <a:ext cx="5127808"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I = ABCE,   I = BCDF</a:t>
            </a:r>
          </a:p>
        </p:txBody>
      </p:sp>
      <p:sp>
        <p:nvSpPr>
          <p:cNvPr id="6" name="Rounded Rectangle 5"/>
          <p:cNvSpPr/>
          <p:nvPr/>
        </p:nvSpPr>
        <p:spPr>
          <a:xfrm>
            <a:off x="6515246" y="3679545"/>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Alternativa: 4 bloques del 2</a:t>
            </a:r>
            <a:r>
              <a:rPr sz="1400" b="0" baseline="30000">
                <a:solidFill>
                  <a:srgbClr val="142B33"/>
                </a:solidFill>
                <a:latin typeface="Calibri"/>
              </a:rPr>
              <a:t>6</a:t>
            </a:r>
            <a:r>
              <a:rPr sz="1400" b="0">
                <a:solidFill>
                  <a:srgbClr val="142B33"/>
                </a:solidFill>
                <a:latin typeface="Calibri"/>
              </a:rPr>
              <a:t> con ABCE y BCDF confundidas; se toma el bloque en que ambas son +</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36</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¿Cuáles son las fracciones alternas del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11094414" cy="1833880"/>
        </p:xfrm>
        <a:graphic>
          <a:graphicData uri="http://schemas.openxmlformats.org/drawingml/2006/table">
            <a:tbl>
              <a:tblPr firstRow="0" bandRow="0">
                <a:tableStyleId>{5C22544A-7EE6-4342-B048-85BDC9FD1C3A}</a:tableStyleId>
              </a:tblPr>
              <a:tblGrid>
                <a:gridCol w="3328324"/>
                <a:gridCol w="3328324"/>
                <a:gridCol w="4437766"/>
              </a:tblGrid>
              <a:tr h="366776">
                <a:tc>
                  <a:txBody>
                    <a:bodyPr/>
                    <a:lstStyle/>
                    <a:p>
                      <a:pPr algn="l"/>
                      <a:r>
                        <a:rPr sz="1600" b="1">
                          <a:solidFill>
                            <a:srgbClr val="FFFFFF"/>
                          </a:solidFill>
                          <a:latin typeface="Calibri"/>
                        </a:rPr>
                        <a:t>Generadores</a:t>
                      </a:r>
                    </a:p>
                  </a:txBody>
                  <a:tcPr marL="73152" marR="73152" marT="27432" marB="27432" anchor="ctr">
                    <a:solidFill>
                      <a:srgbClr val="0F4C5C"/>
                    </a:solidFill>
                  </a:tcPr>
                </a:tc>
                <a:tc>
                  <a:txBody>
                    <a:bodyPr/>
                    <a:lstStyle/>
                    <a:p>
                      <a:pPr algn="ctr"/>
                      <a:r>
                        <a:rPr sz="1600" b="1">
                          <a:solidFill>
                            <a:srgbClr val="FFFFFF"/>
                          </a:solidFill>
                          <a:latin typeface="Calibri"/>
                        </a:rPr>
                        <a:t>Cómo se construye</a:t>
                      </a:r>
                    </a:p>
                  </a:txBody>
                  <a:tcPr marL="73152" marR="73152" marT="27432" marB="27432" anchor="ctr">
                    <a:solidFill>
                      <a:srgbClr val="0F4C5C"/>
                    </a:solidFill>
                  </a:tcPr>
                </a:tc>
                <a:tc>
                  <a:txBody>
                    <a:bodyPr/>
                    <a:lstStyle/>
                    <a:p>
                      <a:pPr algn="l"/>
                      <a:r>
                        <a:rPr sz="1600" b="1">
                          <a:solidFill>
                            <a:srgbClr val="FFFFFF"/>
                          </a:solidFill>
                          <a:latin typeface="Calibri"/>
                        </a:rPr>
                        <a:t>Relación de definición completa</a:t>
                      </a:r>
                    </a:p>
                  </a:txBody>
                  <a:tcPr marL="73152" marR="73152" marT="27432" marB="27432" anchor="ctr">
                    <a:solidFill>
                      <a:srgbClr val="0F4C5C"/>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  (principal)</a:t>
                      </a:r>
                    </a:p>
                  </a:txBody>
                  <a:tcPr marL="73152" marR="73152" marT="27432" marB="27432" anchor="ctr">
                    <a:solidFill>
                      <a:srgbClr val="FFFFFF"/>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DE8D7"/>
                    </a:solidFill>
                  </a:tcPr>
                </a:tc>
                <a:tc>
                  <a:txBody>
                    <a:bodyPr/>
                    <a:lstStyle/>
                    <a:p>
                      <a:pPr algn="ctr"/>
                      <a:r>
                        <a:rPr sz="1600" b="0">
                          <a:solidFill>
                            <a:srgbClr val="142B33"/>
                          </a:solidFill>
                          <a:latin typeface="Calibri"/>
                        </a:rPr>
                        <a:t>E = ABC,  F = −BCD</a:t>
                      </a:r>
                    </a:p>
                  </a:txBody>
                  <a:tcPr marL="73152" marR="73152" marT="27432" marB="27432" anchor="ctr">
                    <a:solidFill>
                      <a:srgbClr val="FDE8D7"/>
                    </a:solidFill>
                  </a:tcPr>
                </a:tc>
                <a:tc>
                  <a:txBody>
                    <a:bodyPr/>
                    <a:lstStyle/>
                    <a:p>
                      <a:pPr algn="l"/>
                      <a:r>
                        <a:rPr sz="1600" b="0">
                          <a:solidFill>
                            <a:srgbClr val="142B33"/>
                          </a:solidFill>
                          <a:latin typeface="Calibri"/>
                        </a:rPr>
                        <a:t>I = ABCE = −BCDF = −ADEF</a:t>
                      </a:r>
                    </a:p>
                  </a:txBody>
                  <a:tcPr marL="73152" marR="73152" marT="27432" marB="27432" anchor="ctr">
                    <a:solidFill>
                      <a:srgbClr val="FDE8D7"/>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a:t>
                      </a:r>
                    </a:p>
                  </a:txBody>
                  <a:tcPr marL="73152" marR="73152" marT="27432" marB="27432" anchor="ctr">
                    <a:solidFill>
                      <a:srgbClr val="FFFFFF"/>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4F8F9"/>
                    </a:solidFill>
                  </a:tcPr>
                </a:tc>
                <a:tc>
                  <a:txBody>
                    <a:bodyPr/>
                    <a:lstStyle/>
                    <a:p>
                      <a:pPr algn="ctr"/>
                      <a:r>
                        <a:rPr sz="1600" b="0">
                          <a:solidFill>
                            <a:srgbClr val="142B33"/>
                          </a:solidFill>
                          <a:latin typeface="Calibri"/>
                        </a:rPr>
                        <a:t>E = −ABC,  F = −BCD</a:t>
                      </a:r>
                    </a:p>
                  </a:txBody>
                  <a:tcPr marL="73152" marR="73152" marT="27432" marB="27432" anchor="ctr">
                    <a:solidFill>
                      <a:srgbClr val="F4F8F9"/>
                    </a:solidFill>
                  </a:tcPr>
                </a:tc>
                <a:tc>
                  <a:txBody>
                    <a:bodyPr/>
                    <a:lstStyle/>
                    <a:p>
                      <a:pPr algn="l"/>
                      <a:r>
                        <a:rPr sz="1600" b="0">
                          <a:solidFill>
                            <a:srgbClr val="142B33"/>
                          </a:solidFill>
                          <a:latin typeface="Calibri"/>
                        </a:rPr>
                        <a:t>I = −ABCE = −BCDF = ADEF</a:t>
                      </a:r>
                    </a:p>
                  </a:txBody>
                  <a:tcPr marL="73152" marR="73152" marT="27432" marB="27432" anchor="ctr">
                    <a:solidFill>
                      <a:srgbClr val="F4F8F9"/>
                    </a:solidFill>
                  </a:tcPr>
                </a:tc>
              </a:tr>
            </a:tbl>
          </a:graphicData>
        </a:graphic>
      </p:graphicFrame>
      <p:sp>
        <p:nvSpPr>
          <p:cNvPr id="4" name="Rounded Rectangle 3"/>
          <p:cNvSpPr/>
          <p:nvPr/>
        </p:nvSpPr>
        <p:spPr>
          <a:xfrm>
            <a:off x="548640" y="3452368"/>
            <a:ext cx="11094415"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Con F = −BCD:   A = BCE = −DEF = −ABCDF   ⇒   ℓ</a:t>
            </a:r>
            <a:r>
              <a:rPr sz="1700" b="0" baseline="-25000">
                <a:solidFill>
                  <a:srgbClr val="0F4C5C"/>
                </a:solidFill>
                <a:latin typeface="Cambria Math"/>
              </a:rPr>
              <a:t>A</a:t>
            </a:r>
            <a:r>
              <a:rPr sz="1700" b="0">
                <a:solidFill>
                  <a:srgbClr val="0F4C5C"/>
                </a:solidFill>
                <a:latin typeface="Cambria Math"/>
              </a:rPr>
              <a:t> → A + BCE − DEF − ABCDF</a:t>
            </a:r>
          </a:p>
        </p:txBody>
      </p:sp>
      <p:sp>
        <p:nvSpPr>
          <p:cNvPr id="5" name="Rounded Rectangle 4"/>
          <p:cNvSpPr/>
          <p:nvPr/>
        </p:nvSpPr>
        <p:spPr>
          <a:xfrm>
            <a:off x="548640" y="4222861"/>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El signo de la interacción generalizada es el </a:t>
            </a:r>
            <a:r>
              <a:rPr sz="1500" b="1">
                <a:solidFill>
                  <a:srgbClr val="142B33"/>
                </a:solidFill>
                <a:latin typeface="Calibri"/>
              </a:rPr>
              <a:t>producto</a:t>
            </a:r>
            <a:r>
              <a:rPr sz="1500" b="0">
                <a:solidFill>
                  <a:srgbClr val="142B33"/>
                </a:solidFill>
                <a:latin typeface="Calibri"/>
              </a:rPr>
              <a:t> de los signos de los generadores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37</a:t>
            </a:r>
          </a:p>
        </p:txBody>
      </p:sp>
      <p:sp>
        <p:nvSpPr>
          <p:cNvPr id="8" name="Rounded Rectangle 7"/>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Enunciado: el sabor de un café</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tienda de café quiere mejorar el </a:t>
            </a:r>
            <a:r>
              <a:rPr sz="1600" b="1">
                <a:solidFill>
                  <a:srgbClr val="142B33"/>
                </a:solidFill>
                <a:latin typeface="Calibri"/>
              </a:rPr>
              <a:t>puntaje de sabor</a:t>
            </a:r>
            <a:r>
              <a:rPr sz="1600" b="0">
                <a:solidFill>
                  <a:srgbClr val="142B33"/>
                </a:solidFill>
                <a:latin typeface="Calibri"/>
              </a:rPr>
              <a:t> de su bebida (0 a 100, promedio de un panel de catadores). Se sospecha de tres factores, cada uno a dos niveles: A temperatura del agua (88 o 96 °C), B molienda (gruesa o fina) y C tiempo de infusión (3 o 4 min).</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Cada preparación consume un lote de café y una sesión del panel, así que solo hay presupuesto para </a:t>
            </a:r>
            <a:r>
              <a:rPr sz="1600" b="1">
                <a:solidFill>
                  <a:srgbClr val="142B33"/>
                </a:solidFill>
                <a:latin typeface="Calibri"/>
              </a:rPr>
              <a:t>4 corridas</a:t>
            </a:r>
            <a:r>
              <a:rPr sz="1600" b="0">
                <a:solidFill>
                  <a:srgbClr val="142B33"/>
                </a:solidFill>
                <a:latin typeface="Calibri"/>
              </a:rPr>
              <a:t>, la mitad de las 8 del factorial 2</a:t>
            </a:r>
            <a:r>
              <a:rPr sz="1600" b="0" baseline="30000">
                <a:solidFill>
                  <a:srgbClr val="142B33"/>
                </a:solidFill>
                <a:latin typeface="Calibri"/>
              </a:rPr>
              <a:t>3</a:t>
            </a:r>
            <a:r>
              <a:rPr sz="1600" b="0">
                <a:solidFill>
                  <a:srgbClr val="142B33"/>
                </a:solidFill>
                <a:latin typeface="Calibri"/>
              </a:rPr>
              <a:t>. Se corre la fracción un medio con </a:t>
            </a:r>
            <a:r>
              <a:rPr sz="1600" b="1">
                <a:solidFill>
                  <a:srgbClr val="142B33"/>
                </a:solidFill>
                <a:latin typeface="Calibri"/>
              </a:rPr>
              <a:t>C = AB</a:t>
            </a:r>
            <a:r>
              <a:rPr sz="1600" b="0">
                <a:solidFill>
                  <a:srgbClr val="142B33"/>
                </a:solidFill>
                <a:latin typeface="Calibri"/>
              </a:rPr>
              <a:t> (I = ABC): las preparaciones a, b, c y abc. Si hace falta, más adelante se pueden pagar 4 corridas más.</a:t>
            </a:r>
          </a:p>
        </p:txBody>
      </p:sp>
      <p:sp>
        <p:nvSpPr>
          <p:cNvPr id="5" name="TextBox 4"/>
          <p:cNvSpPr txBox="1"/>
          <p:nvPr/>
        </p:nvSpPr>
        <p:spPr>
          <a:xfrm>
            <a:off x="548640" y="4371848"/>
            <a:ext cx="6196102" cy="1276096"/>
          </a:xfrm>
          <a:prstGeom prst="rect">
            <a:avLst/>
          </a:prstGeom>
          <a:noFill/>
        </p:spPr>
        <p:txBody>
          <a:bodyPr wrap="square" anchor="t" lIns="0" rIns="0" tIns="0" bIns="0">
            <a:spAutoFit/>
          </a:bodyPr>
          <a:lstStyle/>
          <a:p>
            <a:r>
              <a:rPr sz="1600" b="0">
                <a:solidFill>
                  <a:srgbClr val="142B33"/>
                </a:solidFill>
                <a:latin typeface="Calibri"/>
              </a:rPr>
              <a:t>Se analizan dos situaciones posibles. </a:t>
            </a:r>
            <a:r>
              <a:rPr sz="1600" b="1">
                <a:solidFill>
                  <a:srgbClr val="142B33"/>
                </a:solidFill>
                <a:latin typeface="Calibri"/>
              </a:rPr>
              <a:t>Caso 1</a:t>
            </a:r>
            <a:r>
              <a:rPr sz="1600" b="0">
                <a:solidFill>
                  <a:srgbClr val="142B33"/>
                </a:solidFill>
                <a:latin typeface="Calibri"/>
              </a:rPr>
              <a:t>: el tiempo de infusión no influye en el sabor. </a:t>
            </a:r>
            <a:r>
              <a:rPr sz="1600" b="1">
                <a:solidFill>
                  <a:srgbClr val="142B33"/>
                </a:solidFill>
                <a:latin typeface="Calibri"/>
              </a:rPr>
              <a:t>Caso 2</a:t>
            </a:r>
            <a:r>
              <a:rPr sz="1600" b="0">
                <a:solidFill>
                  <a:srgbClr val="142B33"/>
                </a:solidFill>
                <a:latin typeface="Calibri"/>
              </a:rPr>
              <a:t>: el tiempo de infusión tampoco influye, pero la temperatura y la molienda interactúan. El experimentador no sabe cuál de las dos es la real; solo ve los cuatro puntajes.</a:t>
            </a:r>
          </a:p>
        </p:txBody>
      </p:sp>
      <p:sp>
        <p:nvSpPr>
          <p:cNvPr id="6" name="TextBox 5"/>
          <p:cNvSpPr txBox="1"/>
          <p:nvPr/>
        </p:nvSpPr>
        <p:spPr>
          <a:xfrm>
            <a:off x="548640" y="5849112"/>
            <a:ext cx="6196102" cy="222504"/>
          </a:xfrm>
          <a:prstGeom prst="rect">
            <a:avLst/>
          </a:prstGeom>
          <a:noFill/>
        </p:spPr>
        <p:txBody>
          <a:bodyPr wrap="square" anchor="t" lIns="0" rIns="0" tIns="0" bIns="0">
            <a:spAutoFit/>
          </a:bodyPr>
          <a:lstStyle/>
          <a:p>
            <a:r>
              <a:rPr sz="1200" b="0">
                <a:solidFill>
                  <a:srgbClr val="5B6B73"/>
                </a:solidFill>
                <a:latin typeface="Calibri"/>
              </a:rPr>
              <a:t>Fuente: ejemplo construido para la clase, con datos inventados</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Ver, con cuentas a mano, qué se puede concluir con 4 corridas, cuándo la </a:t>
            </a:r>
            <a:r>
              <a:rPr sz="1500" b="1">
                <a:solidFill>
                  <a:srgbClr val="142B33"/>
                </a:solidFill>
                <a:latin typeface="Calibri"/>
              </a:rPr>
              <a:t>proyección</a:t>
            </a:r>
            <a:r>
              <a:rPr sz="1500" b="0">
                <a:solidFill>
                  <a:srgbClr val="142B33"/>
                </a:solidFill>
                <a:latin typeface="Calibri"/>
              </a:rPr>
              <a:t> basta y cuándo hace falta un </a:t>
            </a:r>
            <a:r>
              <a:rPr sz="1500" b="1">
                <a:solidFill>
                  <a:srgbClr val="142B33"/>
                </a:solidFill>
                <a:latin typeface="Calibri"/>
              </a:rPr>
              <a:t>doblez</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fracción, la palabra y los alias</a:t>
            </a:r>
          </a:p>
          <a:p>
            <a:pPr marL="320040" indent="-320040">
              <a:spcAft>
                <a:spcPts val="600"/>
              </a:spcAft>
              <a:buClr>
                <a:srgbClr val="E36414"/>
              </a:buClr>
              <a:buFont typeface="+mj-lt"/>
              <a:buAutoNum type="arabicPeriod"/>
            </a:pPr>
            <a:r>
              <a:rPr sz="1500" b="0">
                <a:solidFill>
                  <a:srgbClr val="142B33"/>
                </a:solidFill>
                <a:latin typeface="Calibri"/>
              </a:rPr>
              <a:t>Caso 1: calcular los contrastes y proyectar en A y B</a:t>
            </a:r>
          </a:p>
          <a:p>
            <a:pPr marL="320040" indent="-320040">
              <a:spcAft>
                <a:spcPts val="600"/>
              </a:spcAft>
              <a:buClr>
                <a:srgbClr val="E36414"/>
              </a:buClr>
              <a:buFont typeface="+mj-lt"/>
              <a:buAutoNum type="arabicPeriod"/>
            </a:pPr>
            <a:r>
              <a:rPr sz="1500" b="0">
                <a:solidFill>
                  <a:srgbClr val="142B33"/>
                </a:solidFill>
                <a:latin typeface="Calibri"/>
              </a:rPr>
              <a:t>Caso 2: identificar la ambigüedad entre C y AB</a:t>
            </a:r>
          </a:p>
          <a:p>
            <a:pPr marL="320040" indent="-320040">
              <a:spcAft>
                <a:spcPts val="600"/>
              </a:spcAft>
              <a:buClr>
                <a:srgbClr val="E36414"/>
              </a:buClr>
              <a:buFont typeface="+mj-lt"/>
              <a:buAutoNum type="arabicPeriod"/>
            </a:pPr>
            <a:r>
              <a:rPr sz="1500" b="0">
                <a:solidFill>
                  <a:srgbClr val="142B33"/>
                </a:solidFill>
                <a:latin typeface="Calibri"/>
              </a:rPr>
              <a:t>Caso 2: correr la fracción alterna y separar C de AB</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38</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1 · C no influye: la proyección</a:t>
            </a:r>
          </a:p>
        </p:txBody>
      </p:sp>
      <p:sp>
        <p:nvSpPr>
          <p:cNvPr id="3" name="Rounded Rectangle 2"/>
          <p:cNvSpPr/>
          <p:nvPr/>
        </p:nvSpPr>
        <p:spPr>
          <a:xfrm>
            <a:off x="548640" y="1417320"/>
            <a:ext cx="5875614"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Verdad oculta:  y = 70 + 5x</a:t>
            </a:r>
            <a:r>
              <a:rPr sz="1700" b="0" baseline="-25000">
                <a:solidFill>
                  <a:srgbClr val="0F4C5C"/>
                </a:solidFill>
                <a:latin typeface="Cambria Math"/>
              </a:rPr>
              <a:t>A</a:t>
            </a:r>
            <a:r>
              <a:rPr sz="1700" b="0">
                <a:solidFill>
                  <a:srgbClr val="0F4C5C"/>
                </a:solidFill>
                <a:latin typeface="Cambria Math"/>
              </a:rPr>
              <a:t> + 3x</a:t>
            </a:r>
            <a:r>
              <a:rPr sz="17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87813"/>
          <a:ext cx="5875612" cy="1756410"/>
        </p:xfrm>
        <a:graphic>
          <a:graphicData uri="http://schemas.openxmlformats.org/drawingml/2006/table">
            <a:tbl>
              <a:tblPr firstRow="0" bandRow="0">
                <a:tableStyleId>{5C22544A-7EE6-4342-B048-85BDC9FD1C3A}</a:tableStyleId>
              </a:tblPr>
              <a:tblGrid>
                <a:gridCol w="1969859"/>
                <a:gridCol w="645298"/>
                <a:gridCol w="645298"/>
                <a:gridCol w="645298"/>
                <a:gridCol w="1969859"/>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72</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68</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62</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78</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48640" y="4145391"/>
          <a:ext cx="5875613" cy="1343152"/>
        </p:xfrm>
        <a:graphic>
          <a:graphicData uri="http://schemas.openxmlformats.org/drawingml/2006/table">
            <a:tbl>
              <a:tblPr firstRow="0" bandRow="0">
                <a:tableStyleId>{5C22544A-7EE6-4342-B048-85BDC9FD1C3A}</a:tableStyleId>
              </a:tblPr>
              <a:tblGrid>
                <a:gridCol w="1516976"/>
                <a:gridCol w="2296831"/>
                <a:gridCol w="961464"/>
                <a:gridCol w="1100342"/>
              </a:tblGrid>
              <a:tr h="335788">
                <a:tc>
                  <a:txBody>
                    <a:bodyPr/>
                    <a:lstStyle/>
                    <a:p>
                      <a:pPr algn="ctr"/>
                      <a:r>
                        <a:rPr sz="1400" b="1">
                          <a:solidFill>
                            <a:srgbClr val="FFFFFF"/>
                          </a:solidFill>
                          <a:latin typeface="Calibri"/>
                        </a:rPr>
                        <a:t>Contraste</a:t>
                      </a:r>
                    </a:p>
                  </a:txBody>
                  <a:tcPr marL="73152" marR="73152" marT="27432" marB="27432" anchor="ctr">
                    <a:solidFill>
                      <a:srgbClr val="0F4C5C"/>
                    </a:solidFill>
                  </a:tcPr>
                </a:tc>
                <a:tc>
                  <a:txBody>
                    <a:bodyPr/>
                    <a:lstStyle/>
                    <a:p>
                      <a:pPr algn="ctr"/>
                      <a:r>
                        <a:rPr sz="1400" b="1">
                          <a:solidFill>
                            <a:srgbClr val="FFFFFF"/>
                          </a:solidFill>
                          <a:latin typeface="Calibri"/>
                        </a:rPr>
                        <a:t>Cuenta</a:t>
                      </a:r>
                    </a:p>
                  </a:txBody>
                  <a:tcPr marL="73152" marR="73152" marT="27432" marB="27432" anchor="ctr">
                    <a:solidFill>
                      <a:srgbClr val="0F4C5C"/>
                    </a:solidFill>
                  </a:tcPr>
                </a:tc>
                <a:tc>
                  <a:txBody>
                    <a:bodyPr/>
                    <a:lstStyle/>
                    <a:p>
                      <a:pPr algn="ctr"/>
                      <a:r>
                        <a:rPr sz="1400" b="1">
                          <a:solidFill>
                            <a:srgbClr val="FFFFFF"/>
                          </a:solidFill>
                          <a:latin typeface="Calibri"/>
                        </a:rPr>
                        <a:t>Valor</a:t>
                      </a:r>
                    </a:p>
                  </a:txBody>
                  <a:tcPr marL="73152" marR="73152" marT="27432" marB="27432" anchor="ctr">
                    <a:solidFill>
                      <a:srgbClr val="0F4C5C"/>
                    </a:solidFill>
                  </a:tcPr>
                </a:tc>
                <a:tc>
                  <a:txBody>
                    <a:bodyPr/>
                    <a:lstStyle/>
                    <a:p>
                      <a:pPr algn="ctr"/>
                      <a:r>
                        <a:rPr sz="1400" b="1">
                          <a:solidFill>
                            <a:srgbClr val="FFFFFF"/>
                          </a:solidFill>
                          <a:latin typeface="Calibri"/>
                        </a:rPr>
                        <a:t>Estima</a:t>
                      </a:r>
                    </a:p>
                  </a:txBody>
                  <a:tcPr marL="73152" marR="73152" marT="27432" marB="27432" anchor="ctr">
                    <a:solidFill>
                      <a:srgbClr val="0F4C5C"/>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abc − b − c)/2</a:t>
                      </a:r>
                    </a:p>
                  </a:txBody>
                  <a:tcPr marL="73152" marR="73152" marT="27432" marB="27432" anchor="ctr">
                    <a:solidFill>
                      <a:srgbClr val="FFFFFF"/>
                    </a:solidFill>
                  </a:tcPr>
                </a:tc>
                <a:tc>
                  <a:txBody>
                    <a:bodyPr/>
                    <a:lstStyle/>
                    <a:p>
                      <a:pPr algn="ctr"/>
                      <a:r>
                        <a:rPr sz="1400" b="0">
                          <a:solidFill>
                            <a:srgbClr val="142B33"/>
                          </a:solidFill>
                          <a:latin typeface="Calibri"/>
                        </a:rPr>
                        <a:t>10</a:t>
                      </a:r>
                    </a:p>
                  </a:txBody>
                  <a:tcPr marL="73152" marR="73152" marT="27432" marB="27432" anchor="ctr">
                    <a:solidFill>
                      <a:srgbClr val="FFFFFF"/>
                    </a:solidFill>
                  </a:tcPr>
                </a:tc>
                <a:tc>
                  <a:txBody>
                    <a:bodyPr/>
                    <a:lstStyle/>
                    <a:p>
                      <a:pPr algn="ctr"/>
                      <a:r>
                        <a:rPr sz="1400" b="0">
                          <a:solidFill>
                            <a:srgbClr val="142B33"/>
                          </a:solidFill>
                          <a:latin typeface="Calibri"/>
                        </a:rPr>
                        <a:t>A + BC</a:t>
                      </a:r>
                    </a:p>
                  </a:txBody>
                  <a:tcPr marL="73152" marR="73152" marT="27432" marB="27432" anchor="ctr">
                    <a:solidFill>
                      <a:srgbClr val="FFFFFF"/>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abc − a − c)/2</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B + AC</a:t>
                      </a:r>
                    </a:p>
                  </a:txBody>
                  <a:tcPr marL="73152" marR="73152" marT="27432" marB="27432" anchor="ctr">
                    <a:solidFill>
                      <a:srgbClr val="F4F8F9"/>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abc − a − b)/2</a:t>
                      </a:r>
                    </a:p>
                  </a:txBody>
                  <a:tcPr marL="73152" marR="73152" marT="27432" marB="27432" anchor="ctr">
                    <a:solidFill>
                      <a:srgbClr val="FFFFFF"/>
                    </a:solidFill>
                  </a:tcPr>
                </a:tc>
                <a:tc>
                  <a:txBody>
                    <a:bodyPr/>
                    <a:lstStyle/>
                    <a:p>
                      <a:pPr algn="ctr"/>
                      <a:r>
                        <a:rPr sz="1400" b="0">
                          <a:solidFill>
                            <a:srgbClr val="142B33"/>
                          </a:solidFill>
                          <a:latin typeface="Calibri"/>
                        </a:rPr>
                        <a:t>0</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bl>
          </a:graphicData>
        </a:graphic>
      </p:graphicFrame>
      <p:sp>
        <p:nvSpPr>
          <p:cNvPr id="6" name="TextBox 5"/>
          <p:cNvSpPr txBox="1"/>
          <p:nvPr/>
        </p:nvSpPr>
        <p:spPr>
          <a:xfrm>
            <a:off x="6835734" y="1417320"/>
            <a:ext cx="4807320" cy="299973"/>
          </a:xfrm>
          <a:prstGeom prst="rect">
            <a:avLst/>
          </a:prstGeom>
          <a:noFill/>
        </p:spPr>
        <p:txBody>
          <a:bodyPr wrap="square" anchor="t" lIns="0" rIns="0" tIns="0" bIns="0">
            <a:spAutoFit/>
          </a:bodyPr>
          <a:lstStyle/>
          <a:p>
            <a:r>
              <a:rPr sz="1700" b="1">
                <a:solidFill>
                  <a:srgbClr val="142B33"/>
                </a:solidFill>
                <a:latin typeface="Calibri"/>
              </a:rPr>
              <a:t>Se borra C</a:t>
            </a:r>
            <a:r>
              <a:rPr sz="1700" b="0">
                <a:solidFill>
                  <a:srgbClr val="142B33"/>
                </a:solidFill>
                <a:latin typeface="Calibri"/>
              </a:rPr>
              <a:t> y se miran solo A y B</a:t>
            </a:r>
          </a:p>
        </p:txBody>
      </p:sp>
      <p:graphicFrame>
        <p:nvGraphicFramePr>
          <p:cNvPr id="7" name="Table 6"/>
          <p:cNvGraphicFramePr>
            <a:graphicFrameLocks noGrp="1"/>
          </p:cNvGraphicFramePr>
          <p:nvPr/>
        </p:nvGraphicFramePr>
        <p:xfrm>
          <a:off x="6835734" y="1918462"/>
          <a:ext cx="4807319" cy="1756410"/>
        </p:xfrm>
        <a:graphic>
          <a:graphicData uri="http://schemas.openxmlformats.org/drawingml/2006/table">
            <a:tbl>
              <a:tblPr firstRow="0" bandRow="0">
                <a:tableStyleId>{5C22544A-7EE6-4342-B048-85BDC9FD1C3A}</a:tableStyleId>
              </a:tblPr>
              <a:tblGrid>
                <a:gridCol w="2904423"/>
                <a:gridCol w="951448"/>
                <a:gridCol w="951448"/>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8" name="Rounded Rectangle 7"/>
          <p:cNvSpPr/>
          <p:nvPr/>
        </p:nvSpPr>
        <p:spPr>
          <a:xfrm>
            <a:off x="6835734" y="3876040"/>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4 combinaciones de A y B, una vez cada una: </a:t>
            </a:r>
            <a:r>
              <a:rPr sz="1500" b="1">
                <a:solidFill>
                  <a:srgbClr val="142B33"/>
                </a:solidFill>
                <a:latin typeface="Calibri"/>
              </a:rPr>
              <a:t>2</a:t>
            </a:r>
            <a:r>
              <a:rPr sz="1500" b="1" baseline="30000">
                <a:solidFill>
                  <a:srgbClr val="142B33"/>
                </a:solidFill>
                <a:latin typeface="Calibri"/>
              </a:rPr>
              <a:t>2</a:t>
            </a:r>
            <a:r>
              <a:rPr sz="1500" b="1">
                <a:solidFill>
                  <a:srgbClr val="142B33"/>
                </a:solidFill>
                <a:latin typeface="Calibri"/>
              </a:rPr>
              <a:t> completo</a:t>
            </a:r>
          </a:p>
        </p:txBody>
      </p:sp>
      <p:sp>
        <p:nvSpPr>
          <p:cNvPr id="9" name="Rounded Rectangle 8"/>
          <p:cNvSpPr/>
          <p:nvPr/>
        </p:nvSpPr>
        <p:spPr>
          <a:xfrm>
            <a:off x="6835734" y="4816348"/>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 y B </a:t>
            </a:r>
            <a:r>
              <a:rPr sz="1500" b="1">
                <a:solidFill>
                  <a:srgbClr val="142B33"/>
                </a:solidFill>
                <a:latin typeface="Calibri"/>
              </a:rPr>
              <a:t>no</a:t>
            </a:r>
            <a:r>
              <a:rPr sz="1500" b="0">
                <a:solidFill>
                  <a:srgbClr val="142B33"/>
                </a:solidFill>
                <a:latin typeface="Calibri"/>
              </a:rPr>
              <a:t> forman palabra  →  no hay ambigüedad: A = 10, B = 6</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39</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2 · ¿Es C o es AB? Una ambigüedad</a:t>
            </a:r>
          </a:p>
        </p:txBody>
      </p:sp>
      <p:sp>
        <p:nvSpPr>
          <p:cNvPr id="3" name="Rounded Rectangle 2"/>
          <p:cNvSpPr/>
          <p:nvPr/>
        </p:nvSpPr>
        <p:spPr>
          <a:xfrm>
            <a:off x="548640" y="1417320"/>
            <a:ext cx="5555126"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Verdad oculta:  y = 70 + 5x</a:t>
            </a:r>
            <a:r>
              <a:rPr sz="1600" b="0" baseline="-25000">
                <a:solidFill>
                  <a:srgbClr val="0F4C5C"/>
                </a:solidFill>
                <a:latin typeface="Cambria Math"/>
              </a:rPr>
              <a:t>A</a:t>
            </a:r>
            <a:r>
              <a:rPr sz="1600" b="0">
                <a:solidFill>
                  <a:srgbClr val="0F4C5C"/>
                </a:solidFill>
                <a:latin typeface="Cambria Math"/>
              </a:rPr>
              <a:t> + 3x</a:t>
            </a:r>
            <a:r>
              <a:rPr sz="1600" b="0" baseline="-25000">
                <a:solidFill>
                  <a:srgbClr val="0F4C5C"/>
                </a:solidFill>
                <a:latin typeface="Cambria Math"/>
              </a:rPr>
              <a:t>B</a:t>
            </a:r>
            <a:r>
              <a:rPr sz="1600" b="0">
                <a:solidFill>
                  <a:srgbClr val="0F4C5C"/>
                </a:solidFill>
                <a:latin typeface="Cambria Math"/>
              </a:rPr>
              <a:t> + 4x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70460"/>
          <a:ext cx="5555124" cy="1756410"/>
        </p:xfrm>
        <a:graphic>
          <a:graphicData uri="http://schemas.openxmlformats.org/drawingml/2006/table">
            <a:tbl>
              <a:tblPr firstRow="0" bandRow="0">
                <a:tableStyleId>{5C22544A-7EE6-4342-B048-85BDC9FD1C3A}</a:tableStyleId>
              </a:tblPr>
              <a:tblGrid>
                <a:gridCol w="1862412"/>
                <a:gridCol w="610100"/>
                <a:gridCol w="610100"/>
                <a:gridCol w="610100"/>
                <a:gridCol w="1862412"/>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48640" y="4128038"/>
          <a:ext cx="5555125" cy="1405128"/>
        </p:xfrm>
        <a:graphic>
          <a:graphicData uri="http://schemas.openxmlformats.org/drawingml/2006/table">
            <a:tbl>
              <a:tblPr firstRow="0" bandRow="0">
                <a:tableStyleId>{5C22544A-7EE6-4342-B048-85BDC9FD1C3A}</a:tableStyleId>
              </a:tblPr>
              <a:tblGrid>
                <a:gridCol w="2354710"/>
                <a:gridCol w="1492421"/>
                <a:gridCol w="1707994"/>
              </a:tblGrid>
              <a:tr h="351282">
                <a:tc>
                  <a:txBody>
                    <a:bodyPr/>
                    <a:lstStyle/>
                    <a:p>
                      <a:pPr algn="ctr"/>
                      <a:r>
                        <a:rPr sz="1500" b="1">
                          <a:solidFill>
                            <a:srgbClr val="FFFFFF"/>
                          </a:solidFill>
                          <a:latin typeface="Calibri"/>
                        </a:rPr>
                        <a:t>Contraste</a:t>
                      </a:r>
                    </a:p>
                  </a:txBody>
                  <a:tcPr marL="73152" marR="73152" marT="27432" marB="27432" anchor="ctr">
                    <a:solidFill>
                      <a:srgbClr val="0F4C5C"/>
                    </a:solidFill>
                  </a:tcPr>
                </a:tc>
                <a:tc>
                  <a:txBody>
                    <a:bodyPr/>
                    <a:lstStyle/>
                    <a:p>
                      <a:pPr algn="ctr"/>
                      <a:r>
                        <a:rPr sz="1500" b="1">
                          <a:solidFill>
                            <a:srgbClr val="FFFFFF"/>
                          </a:solidFill>
                          <a:latin typeface="Calibri"/>
                        </a:rPr>
                        <a:t>Valor</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BC</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AC</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1">
                          <a:solidFill>
                            <a:srgbClr val="142B33"/>
                          </a:solidFill>
                          <a:latin typeface="Calibri"/>
                        </a:rPr>
                        <a:t>C + AB</a:t>
                      </a:r>
                    </a:p>
                  </a:txBody>
                  <a:tcPr marL="73152" marR="73152" marT="27432" marB="27432" anchor="ctr">
                    <a:solidFill>
                      <a:srgbClr val="FDE8D7"/>
                    </a:solidFill>
                  </a:tcPr>
                </a:tc>
              </a:tr>
            </a:tbl>
          </a:graphicData>
        </a:graphic>
      </p:graphicFrame>
      <p:sp>
        <p:nvSpPr>
          <p:cNvPr id="6" name="Rounded Rectangle 5"/>
          <p:cNvSpPr/>
          <p:nvPr/>
        </p:nvSpPr>
        <p:spPr>
          <a:xfrm>
            <a:off x="6515246" y="1417320"/>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Explicación 1</a:t>
            </a:r>
          </a:p>
          <a:p>
            <a:pPr algn="l"/>
            <a:r>
              <a:rPr sz="1500" b="1">
                <a:solidFill>
                  <a:srgbClr val="142B33"/>
                </a:solidFill>
                <a:latin typeface="Calibri"/>
              </a:rPr>
              <a:t>C</a:t>
            </a:r>
            <a:r>
              <a:rPr sz="1500" b="0">
                <a:solidFill>
                  <a:srgbClr val="142B33"/>
                </a:solidFill>
                <a:latin typeface="Calibri"/>
              </a:rPr>
              <a:t> (tiempo de infusión) sube el sabor 8 puntos</a:t>
            </a:r>
          </a:p>
        </p:txBody>
      </p:sp>
      <p:sp>
        <p:nvSpPr>
          <p:cNvPr id="7" name="Rounded Rectangle 6"/>
          <p:cNvSpPr/>
          <p:nvPr/>
        </p:nvSpPr>
        <p:spPr>
          <a:xfrm>
            <a:off x="6515246" y="2895346"/>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Explicación 2</a:t>
            </a:r>
          </a:p>
          <a:p>
            <a:pPr algn="l"/>
            <a:r>
              <a:rPr sz="1500" b="0">
                <a:solidFill>
                  <a:srgbClr val="142B33"/>
                </a:solidFill>
                <a:latin typeface="Calibri"/>
              </a:rPr>
              <a:t>C no hace nada; es la interacción </a:t>
            </a:r>
            <a:r>
              <a:rPr sz="1500" b="1">
                <a:solidFill>
                  <a:srgbClr val="142B33"/>
                </a:solidFill>
                <a:latin typeface="Calibri"/>
              </a:rPr>
              <a:t>AB</a:t>
            </a:r>
            <a:r>
              <a:rPr sz="1500" b="0">
                <a:solidFill>
                  <a:srgbClr val="142B33"/>
                </a:solidFill>
                <a:latin typeface="Calibri"/>
              </a:rPr>
              <a:t> (temperatura × molienda)</a:t>
            </a:r>
          </a:p>
        </p:txBody>
      </p:sp>
      <p:sp>
        <p:nvSpPr>
          <p:cNvPr id="8" name="Rounded Rectangle 7"/>
          <p:cNvSpPr/>
          <p:nvPr/>
        </p:nvSpPr>
        <p:spPr>
          <a:xfrm>
            <a:off x="6515246" y="4345940"/>
            <a:ext cx="5127808"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 B y C forman la palabra </a:t>
            </a:r>
            <a:r>
              <a:rPr sz="1500" b="1">
                <a:solidFill>
                  <a:srgbClr val="142B33"/>
                </a:solidFill>
                <a:latin typeface="Calibri"/>
              </a:rPr>
              <a:t>ABC</a:t>
            </a:r>
            <a:r>
              <a:rPr sz="1500" b="0">
                <a:solidFill>
                  <a:srgbClr val="142B33"/>
                </a:solidFill>
                <a:latin typeface="Calibri"/>
              </a:rPr>
              <a:t>: solo se corrieron 4 de las 8 combinaciones  →  no se pueden separar</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40</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2 · El doblez resuelve la duda</a:t>
            </a:r>
          </a:p>
        </p:txBody>
      </p:sp>
      <p:graphicFrame>
        <p:nvGraphicFramePr>
          <p:cNvPr id="3" name="Table 2"/>
          <p:cNvGraphicFramePr>
            <a:graphicFrameLocks noGrp="1"/>
          </p:cNvGraphicFramePr>
          <p:nvPr/>
        </p:nvGraphicFramePr>
        <p:xfrm>
          <a:off x="548640" y="1417320"/>
          <a:ext cx="4700489" cy="1756410"/>
        </p:xfrm>
        <a:graphic>
          <a:graphicData uri="http://schemas.openxmlformats.org/drawingml/2006/table">
            <a:tbl>
              <a:tblPr firstRow="0" bandRow="0">
                <a:tableStyleId>{5C22544A-7EE6-4342-B048-85BDC9FD1C3A}</a:tableStyleId>
              </a:tblPr>
              <a:tblGrid>
                <a:gridCol w="1285983"/>
                <a:gridCol w="421270"/>
                <a:gridCol w="421270"/>
                <a:gridCol w="1285983"/>
                <a:gridCol w="128598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 = −AB</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tr>
              <a:tr h="351282">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tr>
              <a:tr h="351282">
                <a:tc>
                  <a:txBody>
                    <a:bodyPr/>
                    <a:lstStyle/>
                    <a:p>
                      <a:pPr algn="ctr"/>
                      <a:r>
                        <a:rPr sz="1500" b="0">
                          <a:solidFill>
                            <a:srgbClr val="142B33"/>
                          </a:solidFill>
                          <a:latin typeface="Calibri"/>
                        </a:rPr>
                        <a:t>ac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bc</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4700491"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½ (ℓ + ℓ′) → el efecto principal</a:t>
            </a:r>
          </a:p>
          <a:p>
            <a:pPr algn="ctr"/>
            <a:r>
              <a:rPr sz="1700" b="0">
                <a:solidFill>
                  <a:srgbClr val="0F4C5C"/>
                </a:solidFill>
                <a:latin typeface="Cambria Math"/>
              </a:rPr>
              <a:t>½ (ℓ − ℓ′) → su alias</a:t>
            </a:r>
          </a:p>
        </p:txBody>
      </p:sp>
      <p:graphicFrame>
        <p:nvGraphicFramePr>
          <p:cNvPr id="5" name="Table 4"/>
          <p:cNvGraphicFramePr>
            <a:graphicFrameLocks noGrp="1"/>
          </p:cNvGraphicFramePr>
          <p:nvPr/>
        </p:nvGraphicFramePr>
        <p:xfrm>
          <a:off x="5660611" y="1417320"/>
          <a:ext cx="5982441" cy="1637538"/>
        </p:xfrm>
        <a:graphic>
          <a:graphicData uri="http://schemas.openxmlformats.org/drawingml/2006/table">
            <a:tbl>
              <a:tblPr firstRow="0" bandRow="0">
                <a:tableStyleId>{5C22544A-7EE6-4342-B048-85BDC9FD1C3A}</a:tableStyleId>
              </a:tblPr>
              <a:tblGrid>
                <a:gridCol w="852534"/>
                <a:gridCol w="1330248"/>
                <a:gridCol w="1521333"/>
                <a:gridCol w="1139163"/>
                <a:gridCol w="1139163"/>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10</a:t>
                      </a:r>
                    </a:p>
                  </a:txBody>
                  <a:tcPr marL="73152" marR="73152" marT="27432" marB="27432" anchor="ctr">
                    <a:solidFill>
                      <a:srgbClr val="FFFFFF"/>
                    </a:solidFill>
                  </a:tcPr>
                </a:tc>
                <a:tc>
                  <a:txBody>
                    <a:bodyPr/>
                    <a:lstStyle/>
                    <a:p>
                      <a:pPr algn="ctr"/>
                      <a:r>
                        <a:rPr sz="1500" b="0">
                          <a:solidFill>
                            <a:srgbClr val="142B33"/>
                          </a:solidFill>
                          <a:latin typeface="Calibri"/>
                        </a:rPr>
                        <a:t>BC = 0</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6</a:t>
                      </a:r>
                    </a:p>
                  </a:txBody>
                  <a:tcPr marL="73152" marR="73152" marT="27432" marB="27432" anchor="ctr">
                    <a:solidFill>
                      <a:srgbClr val="F4F8F9"/>
                    </a:solidFill>
                  </a:tcPr>
                </a:tc>
                <a:tc>
                  <a:txBody>
                    <a:bodyPr/>
                    <a:lstStyle/>
                    <a:p>
                      <a:pPr algn="ctr"/>
                      <a:r>
                        <a:rPr sz="1500" b="0">
                          <a:solidFill>
                            <a:srgbClr val="142B33"/>
                          </a:solidFill>
                          <a:latin typeface="Calibri"/>
                        </a:rPr>
                        <a:t>AC = 0</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C = 0</a:t>
                      </a:r>
                    </a:p>
                  </a:txBody>
                  <a:tcPr marL="73152" marR="73152" marT="27432" marB="27432" anchor="ctr">
                    <a:solidFill>
                      <a:srgbClr val="FDE8D7"/>
                    </a:solidFill>
                  </a:tcPr>
                </a:tc>
                <a:tc>
                  <a:txBody>
                    <a:bodyPr/>
                    <a:lstStyle/>
                    <a:p>
                      <a:pPr algn="ctr"/>
                      <a:r>
                        <a:rPr sz="1500" b="0">
                          <a:solidFill>
                            <a:srgbClr val="142B33"/>
                          </a:solidFill>
                          <a:latin typeface="Calibri"/>
                        </a:rPr>
                        <a:t>AB = 8</a:t>
                      </a:r>
                    </a:p>
                  </a:txBody>
                  <a:tcPr marL="73152" marR="73152" marT="27432" marB="27432" anchor="ctr">
                    <a:solidFill>
                      <a:srgbClr val="FDE8D7"/>
                    </a:solidFill>
                  </a:tcPr>
                </a:tc>
              </a:tr>
            </a:tbl>
          </a:graphicData>
        </a:graphic>
      </p:graphicFrame>
      <p:sp>
        <p:nvSpPr>
          <p:cNvPr id="6" name="Rounded Rectangle 5"/>
          <p:cNvSpPr/>
          <p:nvPr/>
        </p:nvSpPr>
        <p:spPr>
          <a:xfrm>
            <a:off x="5660611" y="3256025"/>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ℓ′</a:t>
            </a:r>
            <a:r>
              <a:rPr sz="1500" b="0" baseline="-25000">
                <a:solidFill>
                  <a:srgbClr val="0F4C5C"/>
                </a:solidFill>
                <a:latin typeface="Cambria Math"/>
              </a:rPr>
              <a:t>C</a:t>
            </a:r>
            <a:r>
              <a:rPr sz="1500" b="0">
                <a:solidFill>
                  <a:srgbClr val="0F4C5C"/>
                </a:solidFill>
                <a:latin typeface="Cambria Math"/>
              </a:rPr>
              <a:t> → C − AB  (en la segunda fracción x</a:t>
            </a:r>
            <a:r>
              <a:rPr sz="1500" b="0" baseline="-25000">
                <a:solidFill>
                  <a:srgbClr val="0F4C5C"/>
                </a:solidFill>
                <a:latin typeface="Cambria Math"/>
              </a:rPr>
              <a:t>A</a:t>
            </a:r>
            <a:r>
              <a:rPr sz="1500" b="0">
                <a:solidFill>
                  <a:srgbClr val="0F4C5C"/>
                </a:solidFill>
                <a:latin typeface="Cambria Math"/>
              </a:rPr>
              <a:t>x</a:t>
            </a:r>
            <a:r>
              <a:rPr sz="1500" b="0" baseline="-25000">
                <a:solidFill>
                  <a:srgbClr val="0F4C5C"/>
                </a:solidFill>
                <a:latin typeface="Cambria Math"/>
              </a:rPr>
              <a:t>B</a:t>
            </a:r>
            <a:r>
              <a:rPr sz="1500" b="0">
                <a:solidFill>
                  <a:srgbClr val="0F4C5C"/>
                </a:solidFill>
                <a:latin typeface="Cambria Math"/>
              </a:rPr>
              <a:t>x</a:t>
            </a:r>
            <a:r>
              <a:rPr sz="1500" b="0" baseline="-25000">
                <a:solidFill>
                  <a:srgbClr val="0F4C5C"/>
                </a:solidFill>
                <a:latin typeface="Cambria Math"/>
              </a:rPr>
              <a:t>C</a:t>
            </a:r>
            <a:r>
              <a:rPr sz="1500" b="0">
                <a:solidFill>
                  <a:srgbClr val="0F4C5C"/>
                </a:solidFill>
                <a:latin typeface="Cambria Math"/>
              </a:rPr>
              <a:t> = −1)</a:t>
            </a:r>
          </a:p>
        </p:txBody>
      </p:sp>
      <p:sp>
        <p:nvSpPr>
          <p:cNvPr id="7" name="Rounded Rectangle 6"/>
          <p:cNvSpPr/>
          <p:nvPr/>
        </p:nvSpPr>
        <p:spPr>
          <a:xfrm>
            <a:off x="5660611" y="3991813"/>
            <a:ext cx="5982443"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 = 0 y </a:t>
            </a:r>
            <a:r>
              <a:rPr sz="1500" b="1">
                <a:solidFill>
                  <a:srgbClr val="142B33"/>
                </a:solidFill>
                <a:latin typeface="Calibri"/>
              </a:rPr>
              <a:t>AB = 8</a:t>
            </a:r>
            <a:r>
              <a:rPr sz="1500" b="0">
                <a:solidFill>
                  <a:srgbClr val="142B33"/>
                </a:solidFill>
                <a:latin typeface="Calibri"/>
              </a:rPr>
              <a:t>: era la interacción, no el tiempo de infusión</a:t>
            </a:r>
          </a:p>
        </p:txBody>
      </p:sp>
      <p:sp>
        <p:nvSpPr>
          <p:cNvPr id="8" name="Rounded Rectangle 7"/>
          <p:cNvSpPr/>
          <p:nvPr/>
        </p:nvSpPr>
        <p:spPr>
          <a:xfrm>
            <a:off x="5660611" y="4932121"/>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4 + 4 corridas =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nada se desperdició</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41</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proyectar un fraccionado?</a:t>
            </a:r>
          </a:p>
        </p:txBody>
      </p:sp>
      <p:sp>
        <p:nvSpPr>
          <p:cNvPr id="3" name="TextBox 2"/>
          <p:cNvSpPr txBox="1"/>
          <p:nvPr/>
        </p:nvSpPr>
        <p:spPr>
          <a:xfrm>
            <a:off x="548640" y="1417320"/>
            <a:ext cx="5341467" cy="181660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Decidir qué factores son </a:t>
            </a:r>
            <a:r>
              <a:rPr sz="1600" b="1">
                <a:solidFill>
                  <a:srgbClr val="142B33"/>
                </a:solidFill>
                <a:latin typeface="Calibri"/>
              </a:rPr>
              <a:t>inactivos</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Borrar</a:t>
            </a:r>
            <a:r>
              <a:rPr sz="1600" b="0">
                <a:solidFill>
                  <a:srgbClr val="142B33"/>
                </a:solidFill>
                <a:latin typeface="Calibri"/>
              </a:rPr>
              <a:t> sus columnas de la tabla del diseño</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Contar</a:t>
            </a:r>
            <a:r>
              <a:rPr sz="1600" b="0">
                <a:solidFill>
                  <a:srgbClr val="142B33"/>
                </a:solidFill>
                <a:latin typeface="Calibri"/>
              </a:rPr>
              <a:t> cuántas veces aparece cada combinación de signos en las columnas que quedan</a:t>
            </a:r>
          </a:p>
          <a:p>
            <a:pPr marL="320040" indent="-320040">
              <a:spcAft>
                <a:spcPts val="600"/>
              </a:spcAft>
              <a:buClr>
                <a:srgbClr val="E36414"/>
              </a:buClr>
              <a:buFont typeface="+mj-lt"/>
              <a:buAutoNum type="arabicPeriod"/>
            </a:pPr>
            <a:r>
              <a:rPr sz="1600" b="0">
                <a:solidFill>
                  <a:srgbClr val="142B33"/>
                </a:solidFill>
                <a:latin typeface="Calibri"/>
              </a:rPr>
              <a:t>Leer el diseño que resulta: ¿están </a:t>
            </a:r>
            <a:r>
              <a:rPr sz="1600" b="1">
                <a:solidFill>
                  <a:srgbClr val="142B33"/>
                </a:solidFill>
                <a:latin typeface="Calibri"/>
              </a:rPr>
              <a:t>todas</a:t>
            </a:r>
            <a:r>
              <a:rPr sz="1600" b="0">
                <a:solidFill>
                  <a:srgbClr val="142B33"/>
                </a:solidFill>
                <a:latin typeface="Calibri"/>
              </a:rPr>
              <a:t> las combinaciones? ¿cuántas veces?</a:t>
            </a:r>
          </a:p>
        </p:txBody>
      </p:sp>
      <p:sp>
        <p:nvSpPr>
          <p:cNvPr id="4" name="Rounded Rectangle 3"/>
          <p:cNvSpPr/>
          <p:nvPr/>
        </p:nvSpPr>
        <p:spPr>
          <a:xfrm>
            <a:off x="548640" y="3435096"/>
            <a:ext cx="5341467"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2</a:t>
            </a:r>
            <a:r>
              <a:rPr sz="1500" b="0" baseline="30000">
                <a:solidFill>
                  <a:srgbClr val="142B33"/>
                </a:solidFill>
                <a:latin typeface="Calibri"/>
              </a:rPr>
              <a:t>6−2</a:t>
            </a:r>
            <a:r>
              <a:rPr sz="1500" b="0">
                <a:solidFill>
                  <a:srgbClr val="142B33"/>
                </a:solidFill>
                <a:latin typeface="Calibri"/>
              </a:rPr>
              <a:t> con solo A, B, C activos: </a:t>
            </a:r>
            <a:r>
              <a:rPr sz="1500" b="1">
                <a:solidFill>
                  <a:srgbClr val="142B33"/>
                </a:solidFill>
                <a:latin typeface="Calibri"/>
              </a:rPr>
              <a:t>8 combinaciones × 2 veces</a:t>
            </a:r>
            <a:r>
              <a:rPr sz="1500" b="0">
                <a:solidFill>
                  <a:srgbClr val="142B33"/>
                </a:solidFill>
                <a:latin typeface="Calibri"/>
              </a:rPr>
              <a:t> = dos réplicas de un 2</a:t>
            </a:r>
            <a:r>
              <a:rPr sz="1500" b="0" baseline="30000">
                <a:solidFill>
                  <a:srgbClr val="142B33"/>
                </a:solidFill>
                <a:latin typeface="Calibri"/>
              </a:rPr>
              <a:t>3</a:t>
            </a:r>
            <a:r>
              <a:rPr sz="1500" b="0">
                <a:solidFill>
                  <a:srgbClr val="142B33"/>
                </a:solidFill>
                <a:latin typeface="Calibri"/>
              </a:rPr>
              <a:t>  →  </a:t>
            </a:r>
            <a:r>
              <a:rPr sz="1500" b="1">
                <a:solidFill>
                  <a:srgbClr val="142B33"/>
                </a:solidFill>
                <a:latin typeface="Calibri"/>
              </a:rPr>
              <a:t>8 g.l. de error puro</a:t>
            </a:r>
          </a:p>
        </p:txBody>
      </p:sp>
      <p:graphicFrame>
        <p:nvGraphicFramePr>
          <p:cNvPr id="5" name="Table 4"/>
          <p:cNvGraphicFramePr>
            <a:graphicFrameLocks noGrp="1"/>
          </p:cNvGraphicFramePr>
          <p:nvPr/>
        </p:nvGraphicFramePr>
        <p:xfrm>
          <a:off x="6301587" y="1417320"/>
          <a:ext cx="5341464" cy="2610603"/>
        </p:xfrm>
        <a:graphic>
          <a:graphicData uri="http://schemas.openxmlformats.org/drawingml/2006/table">
            <a:tbl>
              <a:tblPr firstRow="0" bandRow="0">
                <a:tableStyleId>{5C22544A-7EE6-4342-B048-85BDC9FD1C3A}</a:tableStyleId>
              </a:tblPr>
              <a:tblGrid>
                <a:gridCol w="609536"/>
                <a:gridCol w="609536"/>
                <a:gridCol w="609536"/>
                <a:gridCol w="2069217"/>
                <a:gridCol w="1443639"/>
              </a:tblGrid>
              <a:tr h="290067">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Veces</a:t>
                      </a:r>
                    </a:p>
                  </a:txBody>
                  <a:tcPr marL="73152" marR="73152" marT="27432" marB="27432" anchor="ctr">
                    <a:solidFill>
                      <a:srgbClr val="0F4C5C"/>
                    </a:solidFill>
                  </a:tcPr>
                </a:tc>
              </a:tr>
              <a:tr h="290067">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1 y 9</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290067">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2 y 10</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290067">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3 y 11</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290067">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4 y 12</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290067">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5 y 13</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290067">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 y 14</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290067">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 y 15</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290067">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8 y 16</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bl>
          </a:graphicData>
        </a:graphic>
      </p:graphicFrame>
      <p:sp>
        <p:nvSpPr>
          <p:cNvPr id="6" name="TextBox 5"/>
          <p:cNvSpPr txBox="1"/>
          <p:nvPr/>
        </p:nvSpPr>
        <p:spPr>
          <a:xfrm>
            <a:off x="6301587" y="4229100"/>
            <a:ext cx="5341467" cy="222504"/>
          </a:xfrm>
          <a:prstGeom prst="rect">
            <a:avLst/>
          </a:prstGeom>
          <a:noFill/>
        </p:spPr>
        <p:txBody>
          <a:bodyPr wrap="square" anchor="t" lIns="0" rIns="0" tIns="0" bIns="0">
            <a:spAutoFit/>
          </a:bodyPr>
          <a:lstStyle/>
          <a:p>
            <a:r>
              <a:rPr sz="1200" b="0">
                <a:solidFill>
                  <a:srgbClr val="5B6B73"/>
                </a:solidFill>
                <a:latin typeface="Calibri"/>
              </a:rPr>
              <a:t>Corridas numeradas como en la tabla del 2</a:t>
            </a:r>
            <a:r>
              <a:rPr sz="1200" b="0" baseline="30000">
                <a:solidFill>
                  <a:srgbClr val="5B6B73"/>
                </a:solidFill>
                <a:latin typeface="Calibri"/>
              </a:rPr>
              <a:t>6−2</a:t>
            </a:r>
            <a:r>
              <a:rPr sz="1200" b="0">
                <a:solidFill>
                  <a:srgbClr val="5B6B73"/>
                </a:solidFill>
                <a:latin typeface="Calibri"/>
              </a:rPr>
              <a:t> (E = ABC, F = BCD)</a:t>
            </a:r>
          </a:p>
        </p:txBody>
      </p:sp>
      <p:sp>
        <p:nvSpPr>
          <p:cNvPr id="7" name="Rounded Rectangle 6"/>
          <p:cNvSpPr/>
          <p:nvPr/>
        </p:nvSpPr>
        <p:spPr>
          <a:xfrm>
            <a:off x="6301587" y="4652772"/>
            <a:ext cx="5341467" cy="12814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0">
                <a:solidFill>
                  <a:srgbClr val="142B33"/>
                </a:solidFill>
                <a:latin typeface="Calibri"/>
              </a:rPr>
              <a:t>La proyección </a:t>
            </a:r>
            <a:r>
              <a:rPr sz="1300" b="1">
                <a:solidFill>
                  <a:srgbClr val="142B33"/>
                </a:solidFill>
                <a:latin typeface="Calibri"/>
              </a:rPr>
              <a:t>no se planea</a:t>
            </a:r>
            <a:r>
              <a:rPr sz="1300" b="0">
                <a:solidFill>
                  <a:srgbClr val="142B33"/>
                </a:solidFill>
                <a:latin typeface="Calibri"/>
              </a:rPr>
              <a:t>: la gráfica de Daniel dice qué factores son activos y recién entonces se mira qué diseño forman las corridas </a:t>
            </a:r>
            <a:r>
              <a:rPr sz="1300" b="1">
                <a:solidFill>
                  <a:srgbClr val="142B33"/>
                </a:solidFill>
                <a:latin typeface="Calibri"/>
              </a:rPr>
              <a:t>ya hechas</a:t>
            </a:r>
            <a:r>
              <a:rPr sz="1300" b="0">
                <a:solidFill>
                  <a:srgbClr val="142B33"/>
                </a:solidFill>
                <a:latin typeface="Calibri"/>
              </a:rPr>
              <a:t>. Si los activos forman una palabra, se agregan corridas (alterna o doblez) que </a:t>
            </a:r>
            <a:r>
              <a:rPr sz="1300" b="1">
                <a:solidFill>
                  <a:srgbClr val="142B33"/>
                </a:solidFill>
                <a:latin typeface="Calibri"/>
              </a:rPr>
              <a:t>se suman</a:t>
            </a:r>
            <a:r>
              <a:rPr sz="1300" b="0">
                <a:solidFill>
                  <a:srgbClr val="142B33"/>
                </a:solidFill>
                <a:latin typeface="Calibri"/>
              </a:rPr>
              <a:t> a las anteriores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42</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¿Por qué importa si los factores forman una palabra?</a:t>
            </a:r>
          </a:p>
        </p:txBody>
      </p:sp>
      <p:graphicFrame>
        <p:nvGraphicFramePr>
          <p:cNvPr id="3" name="Table 2"/>
          <p:cNvGraphicFramePr>
            <a:graphicFrameLocks noGrp="1"/>
          </p:cNvGraphicFramePr>
          <p:nvPr/>
        </p:nvGraphicFramePr>
        <p:xfrm>
          <a:off x="548640" y="1417320"/>
          <a:ext cx="5127806" cy="3022092"/>
        </p:xfrm>
        <a:graphic>
          <a:graphicData uri="http://schemas.openxmlformats.org/drawingml/2006/table">
            <a:tbl>
              <a:tblPr firstRow="0" bandRow="0">
                <a:tableStyleId>{5C22544A-7EE6-4342-B048-85BDC9FD1C3A}</a:tableStyleId>
              </a:tblPr>
              <a:tblGrid>
                <a:gridCol w="525220"/>
                <a:gridCol w="525220"/>
                <a:gridCol w="525220"/>
                <a:gridCol w="525220"/>
                <a:gridCol w="1782984"/>
                <a:gridCol w="1243942"/>
              </a:tblGrid>
              <a:tr h="335788">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E</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Veces</a:t>
                      </a:r>
                    </a:p>
                  </a:txBody>
                  <a:tcPr marL="73152" marR="73152" marT="27432" marB="27432" anchor="ctr">
                    <a:solidFill>
                      <a:srgbClr val="0F4C5C"/>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1 y 9</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2 y 10</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3 y 11</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4 y 12</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5 y 13</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 y 14</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 y 15</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8 y 16</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En todas las filas </a:t>
            </a:r>
            <a:r>
              <a:rPr sz="1400" b="1">
                <a:solidFill>
                  <a:srgbClr val="142B33"/>
                </a:solidFill>
                <a:latin typeface="Calibri"/>
              </a:rPr>
              <a:t>E = A·B·C</a:t>
            </a:r>
            <a:r>
              <a:rPr sz="1400" b="0">
                <a:solidFill>
                  <a:srgbClr val="142B33"/>
                </a:solidFill>
                <a:latin typeface="Calibri"/>
              </a:rPr>
              <a:t>: falta la mitad de las combinaciones</a:t>
            </a:r>
          </a:p>
        </p:txBody>
      </p:sp>
      <p:graphicFrame>
        <p:nvGraphicFramePr>
          <p:cNvPr id="5" name="Table 4"/>
          <p:cNvGraphicFramePr>
            <a:graphicFrameLocks noGrp="1"/>
          </p:cNvGraphicFramePr>
          <p:nvPr/>
        </p:nvGraphicFramePr>
        <p:xfrm>
          <a:off x="6087928" y="1417320"/>
          <a:ext cx="5555124" cy="1560067"/>
        </p:xfrm>
        <a:graphic>
          <a:graphicData uri="http://schemas.openxmlformats.org/drawingml/2006/table">
            <a:tbl>
              <a:tblPr firstRow="0" bandRow="0">
                <a:tableStyleId>{5C22544A-7EE6-4342-B048-85BDC9FD1C3A}</a:tableStyleId>
              </a:tblPr>
              <a:tblGrid>
                <a:gridCol w="1388781"/>
                <a:gridCol w="1111025"/>
                <a:gridCol w="1222127"/>
                <a:gridCol w="1833191"/>
              </a:tblGrid>
              <a:tr h="552703">
                <a:tc>
                  <a:txBody>
                    <a:bodyPr/>
                    <a:lstStyle/>
                    <a:p>
                      <a:pPr algn="l"/>
                      <a:r>
                        <a:rPr sz="1400" b="1">
                          <a:solidFill>
                            <a:srgbClr val="FFFFFF"/>
                          </a:solidFill>
                          <a:latin typeface="Calibri"/>
                        </a:rPr>
                        <a:t>Factores activos</a:t>
                      </a:r>
                    </a:p>
                  </a:txBody>
                  <a:tcPr marL="73152" marR="73152" marT="27432" marB="27432" anchor="ctr">
                    <a:solidFill>
                      <a:srgbClr val="0F4C5C"/>
                    </a:solidFill>
                  </a:tcPr>
                </a:tc>
                <a:tc>
                  <a:txBody>
                    <a:bodyPr/>
                    <a:lstStyle/>
                    <a:p>
                      <a:pPr algn="ctr"/>
                      <a:r>
                        <a:rPr sz="1400" b="1">
                          <a:solidFill>
                            <a:srgbClr val="FFFFFF"/>
                          </a:solidFill>
                          <a:latin typeface="Calibri"/>
                        </a:rPr>
                        <a:t>¿Es palabra?</a:t>
                      </a:r>
                    </a:p>
                  </a:txBody>
                  <a:tcPr marL="73152" marR="73152" marT="27432" marB="27432" anchor="ctr">
                    <a:solidFill>
                      <a:srgbClr val="0F4C5C"/>
                    </a:solidFill>
                  </a:tcPr>
                </a:tc>
                <a:tc>
                  <a:txBody>
                    <a:bodyPr/>
                    <a:lstStyle/>
                    <a:p>
                      <a:pPr algn="ctr"/>
                      <a:r>
                        <a:rPr sz="1400" b="1">
                          <a:solidFill>
                            <a:srgbClr val="FFFFFF"/>
                          </a:solidFill>
                          <a:latin typeface="Calibri"/>
                        </a:rPr>
                        <a:t>Comb. × veces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r>
              <a:tr h="335788">
                <a:tc>
                  <a:txBody>
                    <a:bodyPr/>
                    <a:lstStyle/>
                    <a:p>
                      <a:pPr algn="l"/>
                      <a:r>
                        <a:rPr sz="1400" b="0">
                          <a:solidFill>
                            <a:srgbClr val="142B33"/>
                          </a:solidFill>
                          <a:latin typeface="Calibri"/>
                        </a:rPr>
                        <a:t>A, B, C, D</a:t>
                      </a:r>
                    </a:p>
                  </a:txBody>
                  <a:tcPr marL="73152" marR="73152" marT="27432" marB="27432" anchor="ctr">
                    <a:solidFill>
                      <a:srgbClr val="FFFFFF"/>
                    </a:solidFill>
                  </a:tcPr>
                </a:tc>
                <a:tc>
                  <a:txBody>
                    <a:bodyPr/>
                    <a:lstStyle/>
                    <a:p>
                      <a:pPr algn="ctr"/>
                      <a:r>
                        <a:rPr sz="1400" b="0">
                          <a:solidFill>
                            <a:srgbClr val="142B33"/>
                          </a:solidFill>
                          <a:latin typeface="Calibri"/>
                        </a:rPr>
                        <a:t>No</a:t>
                      </a:r>
                    </a:p>
                  </a:txBody>
                  <a:tcPr marL="73152" marR="73152" marT="27432" marB="27432" anchor="ctr">
                    <a:solidFill>
                      <a:srgbClr val="FFFFFF"/>
                    </a:solidFill>
                  </a:tcPr>
                </a:tc>
                <a:tc>
                  <a:txBody>
                    <a:bodyPr/>
                    <a:lstStyle/>
                    <a:p>
                      <a:pPr algn="ctr"/>
                      <a:r>
                        <a:rPr sz="1400" b="0">
                          <a:solidFill>
                            <a:srgbClr val="142B33"/>
                          </a:solidFill>
                          <a:latin typeface="Calibri"/>
                        </a:rPr>
                        <a:t>16 × 1</a:t>
                      </a:r>
                    </a:p>
                  </a:txBody>
                  <a:tcPr marL="73152" marR="73152" marT="27432" marB="27432" anchor="ctr">
                    <a:solidFill>
                      <a:srgbClr val="FFFFFF"/>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FFFFF"/>
                    </a:solidFill>
                  </a:tcPr>
                </a:tc>
              </a:tr>
              <a:tr h="335788">
                <a:tc>
                  <a:txBody>
                    <a:bodyPr/>
                    <a:lstStyle/>
                    <a:p>
                      <a:pPr algn="l"/>
                      <a:r>
                        <a:rPr sz="1400" b="0">
                          <a:solidFill>
                            <a:srgbClr val="142B33"/>
                          </a:solidFill>
                          <a:latin typeface="Calibri"/>
                        </a:rPr>
                        <a:t>A, B, E, F</a:t>
                      </a:r>
                    </a:p>
                  </a:txBody>
                  <a:tcPr marL="73152" marR="73152" marT="27432" marB="27432" anchor="ctr">
                    <a:solidFill>
                      <a:srgbClr val="F4F8F9"/>
                    </a:solidFill>
                  </a:tcPr>
                </a:tc>
                <a:tc>
                  <a:txBody>
                    <a:bodyPr/>
                    <a:lstStyle/>
                    <a:p>
                      <a:pPr algn="ctr"/>
                      <a:r>
                        <a:rPr sz="1400" b="0">
                          <a:solidFill>
                            <a:srgbClr val="142B33"/>
                          </a:solidFill>
                          <a:latin typeface="Calibri"/>
                        </a:rPr>
                        <a:t>No</a:t>
                      </a:r>
                    </a:p>
                  </a:txBody>
                  <a:tcPr marL="73152" marR="73152" marT="27432" marB="27432" anchor="ctr">
                    <a:solidFill>
                      <a:srgbClr val="F4F8F9"/>
                    </a:solidFill>
                  </a:tcPr>
                </a:tc>
                <a:tc>
                  <a:txBody>
                    <a:bodyPr/>
                    <a:lstStyle/>
                    <a:p>
                      <a:pPr algn="ctr"/>
                      <a:r>
                        <a:rPr sz="1400" b="0">
                          <a:solidFill>
                            <a:srgbClr val="142B33"/>
                          </a:solidFill>
                          <a:latin typeface="Calibri"/>
                        </a:rPr>
                        <a:t>16 × 1</a:t>
                      </a:r>
                    </a:p>
                  </a:txBody>
                  <a:tcPr marL="73152" marR="73152" marT="27432" marB="27432" anchor="ctr">
                    <a:solidFill>
                      <a:srgbClr val="F4F8F9"/>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4F8F9"/>
                    </a:solidFill>
                  </a:tcPr>
                </a:tc>
              </a:tr>
              <a:tr h="335788">
                <a:tc>
                  <a:txBody>
                    <a:bodyPr/>
                    <a:lstStyle/>
                    <a:p>
                      <a:pPr algn="l"/>
                      <a:r>
                        <a:rPr sz="1400" b="0">
                          <a:solidFill>
                            <a:srgbClr val="142B33"/>
                          </a:solidFill>
                          <a:latin typeface="Calibri"/>
                        </a:rPr>
                        <a:t>A, B, C, E</a:t>
                      </a:r>
                    </a:p>
                  </a:txBody>
                  <a:tcPr marL="73152" marR="73152" marT="27432" marB="27432" anchor="ctr">
                    <a:solidFill>
                      <a:srgbClr val="FDE8D7"/>
                    </a:solidFill>
                  </a:tcPr>
                </a:tc>
                <a:tc>
                  <a:txBody>
                    <a:bodyPr/>
                    <a:lstStyle/>
                    <a:p>
                      <a:pPr algn="ctr"/>
                      <a:r>
                        <a:rPr sz="1400" b="0">
                          <a:solidFill>
                            <a:srgbClr val="142B33"/>
                          </a:solidFill>
                          <a:latin typeface="Calibri"/>
                        </a:rPr>
                        <a:t>Sí (ABCE)</a:t>
                      </a:r>
                    </a:p>
                  </a:txBody>
                  <a:tcPr marL="73152" marR="73152" marT="27432" marB="27432" anchor="ctr">
                    <a:solidFill>
                      <a:srgbClr val="FDE8D7"/>
                    </a:solidFill>
                  </a:tcPr>
                </a:tc>
                <a:tc>
                  <a:txBody>
                    <a:bodyPr/>
                    <a:lstStyle/>
                    <a:p>
                      <a:pPr algn="ctr"/>
                      <a:r>
                        <a:rPr sz="1400" b="0">
                          <a:solidFill>
                            <a:srgbClr val="142B33"/>
                          </a:solidFill>
                          <a:latin typeface="Calibri"/>
                        </a:rPr>
                        <a:t>8 × 2</a:t>
                      </a:r>
                    </a:p>
                  </a:txBody>
                  <a:tcPr marL="73152" marR="73152" marT="27432" marB="27432" anchor="ctr">
                    <a:solidFill>
                      <a:srgbClr val="FDE8D7"/>
                    </a:solidFill>
                  </a:tcPr>
                </a:tc>
                <a:tc>
                  <a:txBody>
                    <a:bodyPr/>
                    <a:lstStyle/>
                    <a:p>
                      <a:pPr algn="ctr"/>
                      <a:r>
                        <a:rPr sz="1400" b="0">
                          <a:solidFill>
                            <a:srgbClr val="142B33"/>
                          </a:solidFill>
                          <a:latin typeface="Calibri"/>
                        </a:rPr>
                        <a:t>2 réplicas de </a:t>
                      </a:r>
                      <a:r>
                        <a:rPr sz="1400" b="1">
                          <a:solidFill>
                            <a:srgbClr val="142B33"/>
                          </a:solidFill>
                          <a:latin typeface="Calibri"/>
                        </a:rPr>
                        <a:t>2</a:t>
                      </a:r>
                      <a:r>
                        <a:rPr sz="1400" b="1" baseline="30000">
                          <a:solidFill>
                            <a:srgbClr val="142B33"/>
                          </a:solidFill>
                          <a:latin typeface="Calibri"/>
                        </a:rPr>
                        <a:t>4−1</a:t>
                      </a:r>
                    </a:p>
                  </a:txBody>
                  <a:tcPr marL="73152" marR="73152" marT="27432" marB="27432" anchor="ctr">
                    <a:solidFill>
                      <a:srgbClr val="FDE8D7"/>
                    </a:solidFill>
                  </a:tcPr>
                </a:tc>
              </a:tr>
            </a:tbl>
          </a:graphicData>
        </a:graphic>
      </p:graphicFrame>
      <p:sp>
        <p:nvSpPr>
          <p:cNvPr id="6" name="Rounded Rectangle 5"/>
          <p:cNvSpPr/>
          <p:nvPr/>
        </p:nvSpPr>
        <p:spPr>
          <a:xfrm>
            <a:off x="6087928" y="3178556"/>
            <a:ext cx="5555126"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ABCE palabra  ⇒  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r>
              <a:rPr sz="1600" b="0">
                <a:solidFill>
                  <a:srgbClr val="0F4C5C"/>
                </a:solidFill>
                <a:latin typeface="Cambria Math"/>
              </a:rPr>
              <a:t>x</a:t>
            </a:r>
            <a:r>
              <a:rPr sz="1600" b="0" baseline="-25000">
                <a:solidFill>
                  <a:srgbClr val="0F4C5C"/>
                </a:solidFill>
                <a:latin typeface="Cambria Math"/>
              </a:rPr>
              <a:t>C</a:t>
            </a:r>
            <a:r>
              <a:rPr sz="1600" b="0">
                <a:solidFill>
                  <a:srgbClr val="0F4C5C"/>
                </a:solidFill>
                <a:latin typeface="Cambria Math"/>
              </a:rPr>
              <a:t>x</a:t>
            </a:r>
            <a:r>
              <a:rPr sz="1600" b="0" baseline="-25000">
                <a:solidFill>
                  <a:srgbClr val="0F4C5C"/>
                </a:solidFill>
                <a:latin typeface="Cambria Math"/>
              </a:rPr>
              <a:t>E</a:t>
            </a:r>
            <a:r>
              <a:rPr sz="1600" b="0">
                <a:solidFill>
                  <a:srgbClr val="0F4C5C"/>
                </a:solidFill>
                <a:latin typeface="Cambria Math"/>
              </a:rPr>
              <a:t> = +1 siempre</a:t>
            </a:r>
          </a:p>
          <a:p>
            <a:pPr algn="ctr"/>
            <a:r>
              <a:rPr sz="1600" b="0">
                <a:solidFill>
                  <a:srgbClr val="0F4C5C"/>
                </a:solidFill>
                <a:latin typeface="Cambria Math"/>
              </a:rPr>
              <a:t>⇒  E queda fijado por A, B y C</a:t>
            </a:r>
          </a:p>
        </p:txBody>
      </p:sp>
      <p:sp>
        <p:nvSpPr>
          <p:cNvPr id="7" name="Rounded Rectangle 6"/>
          <p:cNvSpPr/>
          <p:nvPr/>
        </p:nvSpPr>
        <p:spPr>
          <a:xfrm>
            <a:off x="6087928" y="4209348"/>
            <a:ext cx="5555126" cy="12814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0">
                <a:solidFill>
                  <a:srgbClr val="142B33"/>
                </a:solidFill>
                <a:latin typeface="Calibri"/>
              </a:rPr>
              <a:t>Factorial completo ⇔ el subconjunto </a:t>
            </a:r>
            <a:r>
              <a:rPr sz="1300" b="1">
                <a:solidFill>
                  <a:srgbClr val="142B33"/>
                </a:solidFill>
                <a:latin typeface="Calibri"/>
              </a:rPr>
              <a:t>no contiene una palabra</a:t>
            </a:r>
            <a:r>
              <a:rPr sz="1300" b="0">
                <a:solidFill>
                  <a:srgbClr val="142B33"/>
                </a:solidFill>
                <a:latin typeface="Calibri"/>
              </a:rPr>
              <a:t>. En el 2</a:t>
            </a:r>
            <a:r>
              <a:rPr sz="1300" b="0" baseline="30000">
                <a:solidFill>
                  <a:srgbClr val="142B33"/>
                </a:solidFill>
                <a:latin typeface="Calibri"/>
              </a:rPr>
              <a:t>6−2</a:t>
            </a:r>
            <a:r>
              <a:rPr sz="1300" b="0">
                <a:solidFill>
                  <a:srgbClr val="142B33"/>
                </a:solidFill>
                <a:latin typeface="Calibri"/>
              </a:rPr>
              <a:t>: de 15 subconjuntos de 4 factores, </a:t>
            </a:r>
            <a:r>
              <a:rPr sz="1300" b="1">
                <a:solidFill>
                  <a:srgbClr val="142B33"/>
                </a:solidFill>
                <a:latin typeface="Calibri"/>
              </a:rPr>
              <a:t>12</a:t>
            </a:r>
            <a:r>
              <a:rPr sz="1300" b="0">
                <a:solidFill>
                  <a:srgbClr val="142B33"/>
                </a:solidFill>
                <a:latin typeface="Calibri"/>
              </a:rPr>
              <a:t> dan un 2</a:t>
            </a:r>
            <a:r>
              <a:rPr sz="1300" b="0" baseline="30000">
                <a:solidFill>
                  <a:srgbClr val="142B33"/>
                </a:solidFill>
                <a:latin typeface="Calibri"/>
              </a:rPr>
              <a:t>4</a:t>
            </a:r>
            <a:r>
              <a:rPr sz="1300" b="0">
                <a:solidFill>
                  <a:srgbClr val="142B33"/>
                </a:solidFill>
                <a:latin typeface="Calibri"/>
              </a:rPr>
              <a:t> completo y </a:t>
            </a:r>
            <a:r>
              <a:rPr sz="1300" b="1">
                <a:solidFill>
                  <a:srgbClr val="142B33"/>
                </a:solidFill>
                <a:latin typeface="Calibri"/>
              </a:rPr>
              <a:t>3</a:t>
            </a:r>
            <a:r>
              <a:rPr sz="1300" b="0">
                <a:solidFill>
                  <a:srgbClr val="142B33"/>
                </a:solidFill>
                <a:latin typeface="Calibri"/>
              </a:rPr>
              <a:t> (las palabras) un 2</a:t>
            </a:r>
            <a:r>
              <a:rPr sz="1300" b="0" baseline="30000">
                <a:solidFill>
                  <a:srgbClr val="142B33"/>
                </a:solidFill>
                <a:latin typeface="Calibri"/>
              </a:rPr>
              <a:t>4−1</a:t>
            </a:r>
            <a:r>
              <a:rPr sz="1300" b="0">
                <a:solidFill>
                  <a:srgbClr val="142B33"/>
                </a:solidFill>
                <a:latin typeface="Calibri"/>
              </a:rPr>
              <a:t> replicado; cualquier trío, dos réplicas de un 2</a:t>
            </a:r>
            <a:r>
              <a:rPr sz="1300" b="0" baseline="30000">
                <a:solidFill>
                  <a:srgbClr val="142B33"/>
                </a:solidFill>
                <a:latin typeface="Calibri"/>
              </a:rPr>
              <a:t>3</a:t>
            </a:r>
            <a:r>
              <a:rPr sz="1300" b="0">
                <a:solidFill>
                  <a:srgbClr val="142B33"/>
                </a:solidFill>
                <a:latin typeface="Calibri"/>
              </a:rPr>
              <a:t>; cualquier par, cuatro réplicas de un 2</a:t>
            </a:r>
            <a:r>
              <a:rPr sz="1300" b="0" baseline="30000">
                <a:solidFill>
                  <a:srgbClr val="142B33"/>
                </a:solidFill>
                <a:latin typeface="Calibri"/>
              </a:rPr>
              <a:t>2</a:t>
            </a:r>
            <a:r>
              <a:rPr sz="1300" b="0">
                <a:solidFill>
                  <a:srgbClr val="142B33"/>
                </a:solidFill>
                <a:latin typeface="Calibri"/>
              </a:rPr>
              <a:t> (ejemplo 3)</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43</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Enunciado: contracción en moldeo por inyección</a:t>
            </a:r>
          </a:p>
        </p:txBody>
      </p:sp>
      <p:sp>
        <p:nvSpPr>
          <p:cNvPr id="3" name="TextBox 2"/>
          <p:cNvSpPr txBox="1"/>
          <p:nvPr/>
        </p:nvSpPr>
        <p:spPr>
          <a:xfrm>
            <a:off x="548640" y="1417320"/>
            <a:ext cx="6196102" cy="780288"/>
          </a:xfrm>
          <a:prstGeom prst="rect">
            <a:avLst/>
          </a:prstGeom>
          <a:noFill/>
        </p:spPr>
        <p:txBody>
          <a:bodyPr wrap="square" anchor="t" lIns="0" rIns="0" tIns="0" bIns="0">
            <a:spAutoFit/>
          </a:bodyPr>
          <a:lstStyle/>
          <a:p>
            <a:r>
              <a:rPr sz="1600" b="0">
                <a:solidFill>
                  <a:srgbClr val="142B33"/>
                </a:solidFill>
                <a:latin typeface="Calibri"/>
              </a:rPr>
              <a:t>Las piezas fabricadas en un proceso de moldeo por inyección presentan una </a:t>
            </a:r>
            <a:r>
              <a:rPr sz="1600" b="1">
                <a:solidFill>
                  <a:srgbClr val="142B33"/>
                </a:solidFill>
                <a:latin typeface="Calibri"/>
              </a:rPr>
              <a:t>contracción excesiva</a:t>
            </a:r>
            <a:r>
              <a:rPr sz="1600" b="0">
                <a:solidFill>
                  <a:srgbClr val="142B33"/>
                </a:solidFill>
                <a:latin typeface="Calibri"/>
              </a:rPr>
              <a:t>, y eso causa problemas en las operaciones de ensamble posteriores.</a:t>
            </a:r>
          </a:p>
        </p:txBody>
      </p:sp>
      <p:sp>
        <p:nvSpPr>
          <p:cNvPr id="4" name="TextBox 3"/>
          <p:cNvSpPr txBox="1"/>
          <p:nvPr/>
        </p:nvSpPr>
        <p:spPr>
          <a:xfrm>
            <a:off x="548640" y="2398775"/>
            <a:ext cx="6196102" cy="1523999"/>
          </a:xfrm>
          <a:prstGeom prst="rect">
            <a:avLst/>
          </a:prstGeom>
          <a:noFill/>
        </p:spPr>
        <p:txBody>
          <a:bodyPr wrap="square" anchor="t" lIns="0" rIns="0" tIns="0" bIns="0">
            <a:spAutoFit/>
          </a:bodyPr>
          <a:lstStyle/>
          <a:p>
            <a:r>
              <a:rPr sz="1600" b="0">
                <a:solidFill>
                  <a:srgbClr val="142B33"/>
                </a:solidFill>
                <a:latin typeface="Calibri"/>
              </a:rP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p:txBody>
      </p:sp>
      <p:sp>
        <p:nvSpPr>
          <p:cNvPr id="5" name="TextBox 4"/>
          <p:cNvSpPr txBox="1"/>
          <p:nvPr/>
        </p:nvSpPr>
        <p:spPr>
          <a:xfrm>
            <a:off x="548640" y="4123944"/>
            <a:ext cx="6196102" cy="780288"/>
          </a:xfrm>
          <a:prstGeom prst="rect">
            <a:avLst/>
          </a:prstGeom>
          <a:noFill/>
        </p:spPr>
        <p:txBody>
          <a:bodyPr wrap="square" anchor="t" lIns="0" rIns="0" tIns="0" bIns="0">
            <a:spAutoFit/>
          </a:bodyPr>
          <a:lstStyle/>
          <a:p>
            <a:r>
              <a:rPr sz="1600" b="0">
                <a:solidFill>
                  <a:srgbClr val="142B33"/>
                </a:solidFill>
                <a:latin typeface="Calibri"/>
              </a:rPr>
              <a:t>El factorial completo serían 64 corridas. El equipo usa un </a:t>
            </a:r>
            <a:r>
              <a:rPr sz="1600" b="1">
                <a:solidFill>
                  <a:srgbClr val="142B33"/>
                </a:solidFill>
                <a:latin typeface="Calibri"/>
              </a:rPr>
              <a:t>2</a:t>
            </a:r>
            <a:r>
              <a:rPr sz="1600" b="1" baseline="30000">
                <a:solidFill>
                  <a:srgbClr val="142B33"/>
                </a:solidFill>
                <a:latin typeface="Calibri"/>
              </a:rPr>
              <a:t>6−2</a:t>
            </a:r>
            <a:r>
              <a:rPr sz="1600" b="1">
                <a:solidFill>
                  <a:srgbClr val="142B33"/>
                </a:solidFill>
                <a:latin typeface="Calibri"/>
              </a:rPr>
              <a:t> de 16 corridas</a:t>
            </a:r>
            <a:r>
              <a:rPr sz="1600" b="0">
                <a:solidFill>
                  <a:srgbClr val="142B33"/>
                </a:solidFill>
                <a:latin typeface="Calibri"/>
              </a:rPr>
              <a:t>, con E = ABC y F = BCD, corridas en orden aleatorio.</a:t>
            </a:r>
          </a:p>
        </p:txBody>
      </p:sp>
      <p:sp>
        <p:nvSpPr>
          <p:cNvPr id="6" name="TextBox 5"/>
          <p:cNvSpPr txBox="1"/>
          <p:nvPr/>
        </p:nvSpPr>
        <p:spPr>
          <a:xfrm>
            <a:off x="548640" y="5105400"/>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8-4</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Aprender cómo afecta cada factor la contracción, </a:t>
            </a:r>
            <a:r>
              <a:rPr sz="1500" b="1">
                <a:solidFill>
                  <a:srgbClr val="142B33"/>
                </a:solidFill>
                <a:latin typeface="Calibri"/>
              </a:rPr>
              <a:t>algo de cómo interactúan</a:t>
            </a:r>
            <a:r>
              <a:rPr sz="1500" b="0">
                <a:solidFill>
                  <a:srgbClr val="142B33"/>
                </a:solidFill>
                <a:latin typeface="Calibri"/>
              </a:rPr>
              <a:t> y cómo </a:t>
            </a:r>
            <a:r>
              <a:rPr sz="1500" b="1">
                <a:solidFill>
                  <a:srgbClr val="142B33"/>
                </a:solidFill>
                <a:latin typeface="Calibri"/>
              </a:rPr>
              <a:t>reducirla</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relación de definición y la resolución</a:t>
            </a:r>
          </a:p>
          <a:p>
            <a:pPr marL="320040" indent="-320040">
              <a:spcAft>
                <a:spcPts val="600"/>
              </a:spcAft>
              <a:buClr>
                <a:srgbClr val="E36414"/>
              </a:buClr>
              <a:buFont typeface="+mj-lt"/>
              <a:buAutoNum type="arabicPeriod"/>
            </a:pPr>
            <a:r>
              <a:rPr sz="1500" b="0">
                <a:solidFill>
                  <a:srgbClr val="142B33"/>
                </a:solidFill>
                <a:latin typeface="Calibri"/>
              </a:rPr>
              <a:t>Identificar los efectos activos y sus alias</a:t>
            </a:r>
          </a:p>
          <a:p>
            <a:pPr marL="320040" indent="-320040">
              <a:spcAft>
                <a:spcPts val="600"/>
              </a:spcAft>
              <a:buClr>
                <a:srgbClr val="E36414"/>
              </a:buClr>
              <a:buFont typeface="+mj-lt"/>
              <a:buAutoNum type="arabicPeriod"/>
            </a:pPr>
            <a:r>
              <a:rPr sz="1500" b="0">
                <a:solidFill>
                  <a:srgbClr val="142B33"/>
                </a:solidFill>
                <a:latin typeface="Calibri"/>
              </a:rPr>
              <a:t>Ajustar el modelo y hacer el ANOVA</a:t>
            </a:r>
          </a:p>
          <a:p>
            <a:pPr marL="320040" indent="-320040">
              <a:spcAft>
                <a:spcPts val="600"/>
              </a:spcAft>
              <a:buClr>
                <a:srgbClr val="E36414"/>
              </a:buClr>
              <a:buFont typeface="+mj-lt"/>
              <a:buAutoNum type="arabicPeriod"/>
            </a:pPr>
            <a:r>
              <a:rPr sz="1500" b="0">
                <a:solidFill>
                  <a:srgbClr val="142B33"/>
                </a:solidFill>
                <a:latin typeface="Calibri"/>
              </a:rPr>
              <a:t>Proyectar en los factores activos e interpretar la interacción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44</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45896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Al </a:t>
            </a:r>
            <a:r>
              <a:rPr sz="1500" b="1">
                <a:solidFill>
                  <a:srgbClr val="142B33"/>
                </a:solidFill>
                <a:latin typeface="Calibri"/>
              </a:rPr>
              <a:t>modelo</a:t>
            </a:r>
            <a:r>
              <a:rPr sz="1500" b="0">
                <a:solidFill>
                  <a:srgbClr val="142B33"/>
                </a:solidFill>
                <a:latin typeface="Calibri"/>
              </a:rPr>
              <a:t>: A, B y AB.  Al </a:t>
            </a:r>
            <a:r>
              <a:rPr sz="1500" b="1">
                <a:solidFill>
                  <a:srgbClr val="142B33"/>
                </a:solidFill>
                <a:latin typeface="Calibri"/>
              </a:rPr>
              <a:t>error</a:t>
            </a:r>
            <a:r>
              <a:rPr sz="1500" b="0">
                <a:solidFill>
                  <a:srgbClr val="142B33"/>
                </a:solidFill>
                <a:latin typeface="Calibri"/>
              </a:rPr>
              <a:t>: los otros 12 efectos</a:t>
            </a:r>
          </a:p>
        </p:txBody>
      </p:sp>
      <p:sp>
        <p:nvSpPr>
          <p:cNvPr id="5" name="TextBox 4"/>
          <p:cNvSpPr txBox="1"/>
          <p:nvPr/>
        </p:nvSpPr>
        <p:spPr>
          <a:xfrm>
            <a:off x="6301587" y="1417320"/>
            <a:ext cx="5341467" cy="206451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Sobre la recta</a:t>
            </a:r>
            <a:r>
              <a:rPr sz="1400" b="0">
                <a:solidFill>
                  <a:srgbClr val="142B33"/>
                </a:solidFill>
                <a:latin typeface="Calibri"/>
              </a:rPr>
              <a:t> = ruido: 10 efectos cerca de cero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Se apartan con claridad</a:t>
            </a:r>
            <a:r>
              <a:rPr sz="1400" b="0">
                <a:solidFill>
                  <a:srgbClr val="142B33"/>
                </a:solidFill>
                <a:latin typeface="Calibri"/>
              </a:rPr>
              <a:t>: B = 35.63, A = 13.88 y AB + CE = 11.88</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AB + CE se atribuye a AB</a:t>
            </a:r>
            <a:r>
              <a:rPr sz="1400" b="0">
                <a:solidFill>
                  <a:srgbClr val="142B33"/>
                </a:solidFill>
                <a:latin typeface="Calibri"/>
              </a:rPr>
              <a:t>: A y B son activos; C (−0.88) y E (0.38) no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Zona gris</a:t>
            </a:r>
            <a:r>
              <a:rPr sz="1400" b="0">
                <a:solidFill>
                  <a:srgbClr val="142B33"/>
                </a:solidFill>
                <a:latin typeface="Calibri"/>
              </a:rPr>
              <a:t>: AD + EF = −5.38 y ABF = −4.88. Lenth: ME = 2.41, SME = 4.89; mucho menores que los tres grandes, quedan en el error</a:t>
            </a:r>
          </a:p>
        </p:txBody>
      </p:sp>
      <p:graphicFrame>
        <p:nvGraphicFramePr>
          <p:cNvPr id="6" name="Chart 5"/>
          <p:cNvGraphicFramePr>
            <a:graphicFrameLocks noGrp="1"/>
          </p:cNvGraphicFramePr>
          <p:nvPr/>
        </p:nvGraphicFramePr>
        <p:xfrm>
          <a:off x="6301587" y="3683000"/>
          <a:ext cx="5341467" cy="2377440"/>
        </p:xfrm>
        <a:graphic>
          <a:graphicData uri="http://schemas.openxmlformats.org/drawingml/2006/chart">
            <c:chart xmlns:c="http://schemas.openxmlformats.org/drawingml/2006/chart" r:id="rId3"/>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45</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Modelo y ANOVA</a:t>
            </a:r>
          </a:p>
        </p:txBody>
      </p:sp>
      <p:graphicFrame>
        <p:nvGraphicFramePr>
          <p:cNvPr id="3" name="Table 2"/>
          <p:cNvGraphicFramePr>
            <a:graphicFrameLocks noGrp="1"/>
          </p:cNvGraphicFramePr>
          <p:nvPr/>
        </p:nvGraphicFramePr>
        <p:xfrm>
          <a:off x="548640" y="1417320"/>
          <a:ext cx="4486832" cy="3706368"/>
        </p:xfrm>
        <a:graphic>
          <a:graphicData uri="http://schemas.openxmlformats.org/drawingml/2006/table">
            <a:tbl>
              <a:tblPr firstRow="0" bandRow="0">
                <a:tableStyleId>{5C22544A-7EE6-4342-B048-85BDC9FD1C3A}</a:tableStyleId>
              </a:tblPr>
              <a:tblGrid>
                <a:gridCol w="2596635"/>
                <a:gridCol w="983284"/>
                <a:gridCol w="906913"/>
              </a:tblGrid>
              <a:tr h="231648">
                <a:tc>
                  <a:txBody>
                    <a:bodyPr/>
                    <a:lstStyle/>
                    <a:p>
                      <a:pPr algn="ctr"/>
                      <a:r>
                        <a:rPr sz="1200" b="1">
                          <a:solidFill>
                            <a:srgbClr val="FFFFFF"/>
                          </a:solidFill>
                          <a:latin typeface="Calibri"/>
                        </a:rPr>
                        <a:t>Cadena (tabla 8-11)</a:t>
                      </a:r>
                    </a:p>
                  </a:txBody>
                  <a:tcPr marL="73152" marR="73152" marT="27432" marB="27432" anchor="ctr">
                    <a:solidFill>
                      <a:srgbClr val="0F4C5C"/>
                    </a:solidFill>
                  </a:tcPr>
                </a:tc>
                <a:tc>
                  <a:txBody>
                    <a:bodyPr/>
                    <a:lstStyle/>
                    <a:p>
                      <a:pPr algn="ctr"/>
                      <a:r>
                        <a:rPr sz="1200" b="1">
                          <a:solidFill>
                            <a:srgbClr val="FFFFFF"/>
                          </a:solidFill>
                          <a:latin typeface="Calibri"/>
                        </a:rPr>
                        <a:t>Efecto</a:t>
                      </a:r>
                    </a:p>
                  </a:txBody>
                  <a:tcPr marL="73152" marR="73152" marT="27432" marB="27432" anchor="ctr">
                    <a:solidFill>
                      <a:srgbClr val="0F4C5C"/>
                    </a:solidFill>
                  </a:tcPr>
                </a:tc>
                <a:tc>
                  <a:txBody>
                    <a:bodyPr/>
                    <a:lstStyle/>
                    <a:p>
                      <a:pPr algn="ctr"/>
                      <a:r>
                        <a:rPr sz="1200" b="1">
                          <a:solidFill>
                            <a:srgbClr val="FFFFFF"/>
                          </a:solidFill>
                          <a:latin typeface="Calibri"/>
                        </a:rPr>
                        <a:t>SS</a:t>
                      </a:r>
                    </a:p>
                  </a:txBody>
                  <a:tcPr marL="73152" marR="73152" marT="27432" marB="27432" anchor="ctr">
                    <a:solidFill>
                      <a:srgbClr val="0F4C5C"/>
                    </a:solidFill>
                  </a:tcPr>
                </a:tc>
              </a:tr>
              <a:tr h="231648">
                <a:tc>
                  <a:txBody>
                    <a:bodyPr/>
                    <a:lstStyle/>
                    <a:p>
                      <a:pPr algn="ctr"/>
                      <a:r>
                        <a:rPr sz="1200" b="0">
                          <a:solidFill>
                            <a:srgbClr val="142B33"/>
                          </a:solidFill>
                          <a:latin typeface="Calibri"/>
                        </a:rPr>
                        <a:t>A</a:t>
                      </a:r>
                    </a:p>
                  </a:txBody>
                  <a:tcPr marL="73152" marR="73152" marT="27432" marB="27432" anchor="ctr">
                    <a:solidFill>
                      <a:srgbClr val="FDE8D7"/>
                    </a:solidFill>
                  </a:tcPr>
                </a:tc>
                <a:tc>
                  <a:txBody>
                    <a:bodyPr/>
                    <a:lstStyle/>
                    <a:p>
                      <a:pPr algn="ctr"/>
                      <a:r>
                        <a:rPr sz="1200" b="0">
                          <a:solidFill>
                            <a:srgbClr val="142B33"/>
                          </a:solidFill>
                          <a:latin typeface="Calibri"/>
                        </a:rPr>
                        <a:t>13.875</a:t>
                      </a:r>
                    </a:p>
                  </a:txBody>
                  <a:tcPr marL="73152" marR="73152" marT="27432" marB="27432" anchor="ctr">
                    <a:solidFill>
                      <a:srgbClr val="FDE8D7"/>
                    </a:solidFill>
                  </a:tcPr>
                </a:tc>
                <a:tc>
                  <a:txBody>
                    <a:bodyPr/>
                    <a:lstStyle/>
                    <a:p>
                      <a:pPr algn="ctr"/>
                      <a:r>
                        <a:rPr sz="1200" b="0">
                          <a:solidFill>
                            <a:srgbClr val="142B33"/>
                          </a:solidFill>
                          <a:latin typeface="Calibri"/>
                        </a:rPr>
                        <a:t>770.06</a:t>
                      </a:r>
                    </a:p>
                  </a:txBody>
                  <a:tcPr marL="73152" marR="73152" marT="27432" marB="27432" anchor="ctr">
                    <a:solidFill>
                      <a:srgbClr val="FDE8D7"/>
                    </a:solidFill>
                  </a:tcPr>
                </a:tc>
              </a:tr>
              <a:tr h="231648">
                <a:tc>
                  <a:txBody>
                    <a:bodyPr/>
                    <a:lstStyle/>
                    <a:p>
                      <a:pPr algn="ctr"/>
                      <a:r>
                        <a:rPr sz="1200" b="0">
                          <a:solidFill>
                            <a:srgbClr val="142B33"/>
                          </a:solidFill>
                          <a:latin typeface="Calibri"/>
                        </a:rPr>
                        <a:t>B</a:t>
                      </a:r>
                    </a:p>
                  </a:txBody>
                  <a:tcPr marL="73152" marR="73152" marT="27432" marB="27432" anchor="ctr">
                    <a:solidFill>
                      <a:srgbClr val="FDE8D7"/>
                    </a:solidFill>
                  </a:tcPr>
                </a:tc>
                <a:tc>
                  <a:txBody>
                    <a:bodyPr/>
                    <a:lstStyle/>
                    <a:p>
                      <a:pPr algn="ctr"/>
                      <a:r>
                        <a:rPr sz="1200" b="0">
                          <a:solidFill>
                            <a:srgbClr val="142B33"/>
                          </a:solidFill>
                          <a:latin typeface="Calibri"/>
                        </a:rPr>
                        <a:t>35.625</a:t>
                      </a:r>
                    </a:p>
                  </a:txBody>
                  <a:tcPr marL="73152" marR="73152" marT="27432" marB="27432" anchor="ctr">
                    <a:solidFill>
                      <a:srgbClr val="FDE8D7"/>
                    </a:solidFill>
                  </a:tcPr>
                </a:tc>
                <a:tc>
                  <a:txBody>
                    <a:bodyPr/>
                    <a:lstStyle/>
                    <a:p>
                      <a:pPr algn="ctr"/>
                      <a:r>
                        <a:rPr sz="1200" b="0">
                          <a:solidFill>
                            <a:srgbClr val="142B33"/>
                          </a:solidFill>
                          <a:latin typeface="Calibri"/>
                        </a:rPr>
                        <a:t>5076.56</a:t>
                      </a:r>
                    </a:p>
                  </a:txBody>
                  <a:tcPr marL="73152" marR="73152" marT="27432" marB="27432" anchor="ctr">
                    <a:solidFill>
                      <a:srgbClr val="FDE8D7"/>
                    </a:solidFill>
                  </a:tcPr>
                </a:tc>
              </a:tr>
              <a:tr h="231648">
                <a:tc>
                  <a:txBody>
                    <a:bodyPr/>
                    <a:lstStyle/>
                    <a:p>
                      <a:pPr algn="ctr"/>
                      <a:r>
                        <a:rPr sz="1200" b="0">
                          <a:solidFill>
                            <a:srgbClr val="142B33"/>
                          </a:solidFill>
                          <a:latin typeface="Calibri"/>
                        </a:rPr>
                        <a:t>C</a:t>
                      </a:r>
                    </a:p>
                  </a:txBody>
                  <a:tcPr marL="73152" marR="73152" marT="27432" marB="27432" anchor="ctr">
                    <a:solidFill>
                      <a:srgbClr val="FFFFFF"/>
                    </a:solidFill>
                  </a:tcPr>
                </a:tc>
                <a:tc>
                  <a:txBody>
                    <a:bodyPr/>
                    <a:lstStyle/>
                    <a:p>
                      <a:pPr algn="ctr"/>
                      <a:r>
                        <a:rPr sz="1200" b="0">
                          <a:solidFill>
                            <a:srgbClr val="142B33"/>
                          </a:solidFill>
                          <a:latin typeface="Calibri"/>
                        </a:rPr>
                        <a:t>−0.875</a:t>
                      </a:r>
                    </a:p>
                  </a:txBody>
                  <a:tcPr marL="73152" marR="73152" marT="27432" marB="27432" anchor="ctr">
                    <a:solidFill>
                      <a:srgbClr val="FFFFFF"/>
                    </a:solidFill>
                  </a:tcPr>
                </a:tc>
                <a:tc>
                  <a:txBody>
                    <a:bodyPr/>
                    <a:lstStyle/>
                    <a:p>
                      <a:pPr algn="ctr"/>
                      <a:r>
                        <a:rPr sz="1200" b="0">
                          <a:solidFill>
                            <a:srgbClr val="142B33"/>
                          </a:solidFill>
                          <a:latin typeface="Calibri"/>
                        </a:rPr>
                        <a:t>3.06</a:t>
                      </a:r>
                    </a:p>
                  </a:txBody>
                  <a:tcPr marL="73152" marR="73152" marT="27432" marB="27432" anchor="ctr">
                    <a:solidFill>
                      <a:srgbClr val="FFFFFF"/>
                    </a:solidFill>
                  </a:tcPr>
                </a:tc>
              </a:tr>
              <a:tr h="231648">
                <a:tc>
                  <a:txBody>
                    <a:bodyPr/>
                    <a:lstStyle/>
                    <a:p>
                      <a:pPr algn="ctr"/>
                      <a:r>
                        <a:rPr sz="1200" b="0">
                          <a:solidFill>
                            <a:srgbClr val="142B33"/>
                          </a:solidFill>
                          <a:latin typeface="Calibri"/>
                        </a:rPr>
                        <a:t>D</a:t>
                      </a:r>
                    </a:p>
                  </a:txBody>
                  <a:tcPr marL="73152" marR="73152" marT="27432" marB="27432" anchor="ctr">
                    <a:solidFill>
                      <a:srgbClr val="F4F8F9"/>
                    </a:solidFill>
                  </a:tcPr>
                </a:tc>
                <a:tc>
                  <a:txBody>
                    <a:bodyPr/>
                    <a:lstStyle/>
                    <a:p>
                      <a:pPr algn="ctr"/>
                      <a:r>
                        <a:rPr sz="1200" b="0">
                          <a:solidFill>
                            <a:srgbClr val="142B33"/>
                          </a:solidFill>
                          <a:latin typeface="Calibri"/>
                        </a:rPr>
                        <a:t>1.375</a:t>
                      </a:r>
                    </a:p>
                  </a:txBody>
                  <a:tcPr marL="73152" marR="73152" marT="27432" marB="27432" anchor="ctr">
                    <a:solidFill>
                      <a:srgbClr val="F4F8F9"/>
                    </a:solidFill>
                  </a:tcPr>
                </a:tc>
                <a:tc>
                  <a:txBody>
                    <a:bodyPr/>
                    <a:lstStyle/>
                    <a:p>
                      <a:pPr algn="ctr"/>
                      <a:r>
                        <a:rPr sz="1200" b="0">
                          <a:solidFill>
                            <a:srgbClr val="142B33"/>
                          </a:solidFill>
                          <a:latin typeface="Calibri"/>
                        </a:rPr>
                        <a:t>7.56</a:t>
                      </a:r>
                    </a:p>
                  </a:txBody>
                  <a:tcPr marL="73152" marR="73152" marT="27432" marB="27432" anchor="ctr">
                    <a:solidFill>
                      <a:srgbClr val="F4F8F9"/>
                    </a:solidFill>
                  </a:tcPr>
                </a:tc>
              </a:tr>
              <a:tr h="231648">
                <a:tc>
                  <a:txBody>
                    <a:bodyPr/>
                    <a:lstStyle/>
                    <a:p>
                      <a:pPr algn="ctr"/>
                      <a:r>
                        <a:rPr sz="1200" b="0">
                          <a:solidFill>
                            <a:srgbClr val="142B33"/>
                          </a:solidFill>
                          <a:latin typeface="Calibri"/>
                        </a:rPr>
                        <a:t>E</a:t>
                      </a:r>
                    </a:p>
                  </a:txBody>
                  <a:tcPr marL="73152" marR="73152" marT="27432" marB="27432" anchor="ctr">
                    <a:solidFill>
                      <a:srgbClr val="FFFFFF"/>
                    </a:solidFill>
                  </a:tcPr>
                </a:tc>
                <a:tc>
                  <a:txBody>
                    <a:bodyPr/>
                    <a:lstStyle/>
                    <a:p>
                      <a:pPr algn="ctr"/>
                      <a:r>
                        <a:rPr sz="1200" b="0">
                          <a:solidFill>
                            <a:srgbClr val="142B33"/>
                          </a:solidFill>
                          <a:latin typeface="Calibri"/>
                        </a:rPr>
                        <a:t>0.375</a:t>
                      </a:r>
                    </a:p>
                  </a:txBody>
                  <a:tcPr marL="73152" marR="73152" marT="27432" marB="27432" anchor="ctr">
                    <a:solidFill>
                      <a:srgbClr val="FFFFFF"/>
                    </a:solidFill>
                  </a:tcPr>
                </a:tc>
                <a:tc>
                  <a:txBody>
                    <a:bodyPr/>
                    <a:lstStyle/>
                    <a:p>
                      <a:pPr algn="ctr"/>
                      <a:r>
                        <a:rPr sz="1200" b="0">
                          <a:solidFill>
                            <a:srgbClr val="142B33"/>
                          </a:solidFill>
                          <a:latin typeface="Calibri"/>
                        </a:rPr>
                        <a:t>0.56</a:t>
                      </a:r>
                    </a:p>
                  </a:txBody>
                  <a:tcPr marL="73152" marR="73152" marT="27432" marB="27432" anchor="ctr">
                    <a:solidFill>
                      <a:srgbClr val="FFFFFF"/>
                    </a:solidFill>
                  </a:tcPr>
                </a:tc>
              </a:tr>
              <a:tr h="231648">
                <a:tc>
                  <a:txBody>
                    <a:bodyPr/>
                    <a:lstStyle/>
                    <a:p>
                      <a:pPr algn="ctr"/>
                      <a:r>
                        <a:rPr sz="1200" b="0">
                          <a:solidFill>
                            <a:srgbClr val="142B33"/>
                          </a:solidFill>
                          <a:latin typeface="Calibri"/>
                        </a:rPr>
                        <a:t>F</a:t>
                      </a:r>
                    </a:p>
                  </a:txBody>
                  <a:tcPr marL="73152" marR="73152" marT="27432" marB="27432" anchor="ctr">
                    <a:solidFill>
                      <a:srgbClr val="F4F8F9"/>
                    </a:solidFill>
                  </a:tcPr>
                </a:tc>
                <a:tc>
                  <a:txBody>
                    <a:bodyPr/>
                    <a:lstStyle/>
                    <a:p>
                      <a:pPr algn="ctr"/>
                      <a:r>
                        <a:rPr sz="1200" b="0">
                          <a:solidFill>
                            <a:srgbClr val="142B33"/>
                          </a:solidFill>
                          <a:latin typeface="Calibri"/>
                        </a:rPr>
                        <a:t>0.375</a:t>
                      </a:r>
                    </a:p>
                  </a:txBody>
                  <a:tcPr marL="73152" marR="73152" marT="27432" marB="27432" anchor="ctr">
                    <a:solidFill>
                      <a:srgbClr val="F4F8F9"/>
                    </a:solidFill>
                  </a:tcPr>
                </a:tc>
                <a:tc>
                  <a:txBody>
                    <a:bodyPr/>
                    <a:lstStyle/>
                    <a:p>
                      <a:pPr algn="ctr"/>
                      <a:r>
                        <a:rPr sz="1200" b="0">
                          <a:solidFill>
                            <a:srgbClr val="142B33"/>
                          </a:solidFill>
                          <a:latin typeface="Calibri"/>
                        </a:rPr>
                        <a:t>0.56</a:t>
                      </a:r>
                    </a:p>
                  </a:txBody>
                  <a:tcPr marL="73152" marR="73152" marT="27432" marB="27432" anchor="ctr">
                    <a:solidFill>
                      <a:srgbClr val="F4F8F9"/>
                    </a:solidFill>
                  </a:tcPr>
                </a:tc>
              </a:tr>
              <a:tr h="231648">
                <a:tc>
                  <a:txBody>
                    <a:bodyPr/>
                    <a:lstStyle/>
                    <a:p>
                      <a:pPr algn="ctr"/>
                      <a:r>
                        <a:rPr sz="1200" b="0">
                          <a:solidFill>
                            <a:srgbClr val="142B33"/>
                          </a:solidFill>
                          <a:latin typeface="Calibri"/>
                        </a:rPr>
                        <a:t>AB + CE</a:t>
                      </a:r>
                    </a:p>
                  </a:txBody>
                  <a:tcPr marL="73152" marR="73152" marT="27432" marB="27432" anchor="ctr">
                    <a:solidFill>
                      <a:srgbClr val="FDE8D7"/>
                    </a:solidFill>
                  </a:tcPr>
                </a:tc>
                <a:tc>
                  <a:txBody>
                    <a:bodyPr/>
                    <a:lstStyle/>
                    <a:p>
                      <a:pPr algn="ctr"/>
                      <a:r>
                        <a:rPr sz="1200" b="0">
                          <a:solidFill>
                            <a:srgbClr val="142B33"/>
                          </a:solidFill>
                          <a:latin typeface="Calibri"/>
                        </a:rPr>
                        <a:t>11.875</a:t>
                      </a:r>
                    </a:p>
                  </a:txBody>
                  <a:tcPr marL="73152" marR="73152" marT="27432" marB="27432" anchor="ctr">
                    <a:solidFill>
                      <a:srgbClr val="FDE8D7"/>
                    </a:solidFill>
                  </a:tcPr>
                </a:tc>
                <a:tc>
                  <a:txBody>
                    <a:bodyPr/>
                    <a:lstStyle/>
                    <a:p>
                      <a:pPr algn="ctr"/>
                      <a:r>
                        <a:rPr sz="1200" b="0">
                          <a:solidFill>
                            <a:srgbClr val="142B33"/>
                          </a:solidFill>
                          <a:latin typeface="Calibri"/>
                        </a:rPr>
                        <a:t>564.06</a:t>
                      </a:r>
                    </a:p>
                  </a:txBody>
                  <a:tcPr marL="73152" marR="73152" marT="27432" marB="27432" anchor="ctr">
                    <a:solidFill>
                      <a:srgbClr val="FDE8D7"/>
                    </a:solidFill>
                  </a:tcPr>
                </a:tc>
              </a:tr>
              <a:tr h="231648">
                <a:tc>
                  <a:txBody>
                    <a:bodyPr/>
                    <a:lstStyle/>
                    <a:p>
                      <a:pPr algn="ctr"/>
                      <a:r>
                        <a:rPr sz="1200" b="0">
                          <a:solidFill>
                            <a:srgbClr val="142B33"/>
                          </a:solidFill>
                          <a:latin typeface="Calibri"/>
                        </a:rPr>
                        <a:t>AC + BE</a:t>
                      </a:r>
                    </a:p>
                  </a:txBody>
                  <a:tcPr marL="73152" marR="73152" marT="27432" marB="27432" anchor="ctr">
                    <a:solidFill>
                      <a:srgbClr val="F4F8F9"/>
                    </a:solidFill>
                  </a:tcPr>
                </a:tc>
                <a:tc>
                  <a:txBody>
                    <a:bodyPr/>
                    <a:lstStyle/>
                    <a:p>
                      <a:pPr algn="ctr"/>
                      <a:r>
                        <a:rPr sz="1200" b="0">
                          <a:solidFill>
                            <a:srgbClr val="142B33"/>
                          </a:solidFill>
                          <a:latin typeface="Calibri"/>
                        </a:rPr>
                        <a:t>−1.625</a:t>
                      </a:r>
                    </a:p>
                  </a:txBody>
                  <a:tcPr marL="73152" marR="73152" marT="27432" marB="27432" anchor="ctr">
                    <a:solidFill>
                      <a:srgbClr val="F4F8F9"/>
                    </a:solidFill>
                  </a:tcPr>
                </a:tc>
                <a:tc>
                  <a:txBody>
                    <a:bodyPr/>
                    <a:lstStyle/>
                    <a:p>
                      <a:pPr algn="ctr"/>
                      <a:r>
                        <a:rPr sz="1200" b="0">
                          <a:solidFill>
                            <a:srgbClr val="142B33"/>
                          </a:solidFill>
                          <a:latin typeface="Calibri"/>
                        </a:rPr>
                        <a:t>10.56</a:t>
                      </a:r>
                    </a:p>
                  </a:txBody>
                  <a:tcPr marL="73152" marR="73152" marT="27432" marB="27432" anchor="ctr">
                    <a:solidFill>
                      <a:srgbClr val="F4F8F9"/>
                    </a:solidFill>
                  </a:tcPr>
                </a:tc>
              </a:tr>
              <a:tr h="231648">
                <a:tc>
                  <a:txBody>
                    <a:bodyPr/>
                    <a:lstStyle/>
                    <a:p>
                      <a:pPr algn="ctr"/>
                      <a:r>
                        <a:rPr sz="1200" b="0">
                          <a:solidFill>
                            <a:srgbClr val="142B33"/>
                          </a:solidFill>
                          <a:latin typeface="Calibri"/>
                        </a:rPr>
                        <a:t>AD + EF</a:t>
                      </a:r>
                    </a:p>
                  </a:txBody>
                  <a:tcPr marL="73152" marR="73152" marT="27432" marB="27432" anchor="ctr">
                    <a:solidFill>
                      <a:srgbClr val="FFFFFF"/>
                    </a:solidFill>
                  </a:tcPr>
                </a:tc>
                <a:tc>
                  <a:txBody>
                    <a:bodyPr/>
                    <a:lstStyle/>
                    <a:p>
                      <a:pPr algn="ctr"/>
                      <a:r>
                        <a:rPr sz="1200" b="0">
                          <a:solidFill>
                            <a:srgbClr val="142B33"/>
                          </a:solidFill>
                          <a:latin typeface="Calibri"/>
                        </a:rPr>
                        <a:t>−5.375</a:t>
                      </a:r>
                    </a:p>
                  </a:txBody>
                  <a:tcPr marL="73152" marR="73152" marT="27432" marB="27432" anchor="ctr">
                    <a:solidFill>
                      <a:srgbClr val="FFFFFF"/>
                    </a:solidFill>
                  </a:tcPr>
                </a:tc>
                <a:tc>
                  <a:txBody>
                    <a:bodyPr/>
                    <a:lstStyle/>
                    <a:p>
                      <a:pPr algn="ctr"/>
                      <a:r>
                        <a:rPr sz="1200" b="0">
                          <a:solidFill>
                            <a:srgbClr val="142B33"/>
                          </a:solidFill>
                          <a:latin typeface="Calibri"/>
                        </a:rPr>
                        <a:t>115.56</a:t>
                      </a:r>
                    </a:p>
                  </a:txBody>
                  <a:tcPr marL="73152" marR="73152" marT="27432" marB="27432" anchor="ctr">
                    <a:solidFill>
                      <a:srgbClr val="FFFFFF"/>
                    </a:solidFill>
                  </a:tcPr>
                </a:tc>
              </a:tr>
              <a:tr h="231648">
                <a:tc>
                  <a:txBody>
                    <a:bodyPr/>
                    <a:lstStyle/>
                    <a:p>
                      <a:pPr algn="ctr"/>
                      <a:r>
                        <a:rPr sz="1200" b="0">
                          <a:solidFill>
                            <a:srgbClr val="142B33"/>
                          </a:solidFill>
                          <a:latin typeface="Calibri"/>
                        </a:rPr>
                        <a:t>AE + BC + DF</a:t>
                      </a:r>
                    </a:p>
                  </a:txBody>
                  <a:tcPr marL="73152" marR="73152" marT="27432" marB="27432" anchor="ctr">
                    <a:solidFill>
                      <a:srgbClr val="F4F8F9"/>
                    </a:solidFill>
                  </a:tcPr>
                </a:tc>
                <a:tc>
                  <a:txBody>
                    <a:bodyPr/>
                    <a:lstStyle/>
                    <a:p>
                      <a:pPr algn="ctr"/>
                      <a:r>
                        <a:rPr sz="1200" b="0">
                          <a:solidFill>
                            <a:srgbClr val="142B33"/>
                          </a:solidFill>
                          <a:latin typeface="Calibri"/>
                        </a:rPr>
                        <a:t>−1.875</a:t>
                      </a:r>
                    </a:p>
                  </a:txBody>
                  <a:tcPr marL="73152" marR="73152" marT="27432" marB="27432" anchor="ctr">
                    <a:solidFill>
                      <a:srgbClr val="F4F8F9"/>
                    </a:solidFill>
                  </a:tcPr>
                </a:tc>
                <a:tc>
                  <a:txBody>
                    <a:bodyPr/>
                    <a:lstStyle/>
                    <a:p>
                      <a:pPr algn="ctr"/>
                      <a:r>
                        <a:rPr sz="1200" b="0">
                          <a:solidFill>
                            <a:srgbClr val="142B33"/>
                          </a:solidFill>
                          <a:latin typeface="Calibri"/>
                        </a:rPr>
                        <a:t>14.06</a:t>
                      </a:r>
                    </a:p>
                  </a:txBody>
                  <a:tcPr marL="73152" marR="73152" marT="27432" marB="27432" anchor="ctr">
                    <a:solidFill>
                      <a:srgbClr val="F4F8F9"/>
                    </a:solidFill>
                  </a:tcPr>
                </a:tc>
              </a:tr>
              <a:tr h="231648">
                <a:tc>
                  <a:txBody>
                    <a:bodyPr/>
                    <a:lstStyle/>
                    <a:p>
                      <a:pPr algn="ctr"/>
                      <a:r>
                        <a:rPr sz="1200" b="0">
                          <a:solidFill>
                            <a:srgbClr val="142B33"/>
                          </a:solidFill>
                          <a:latin typeface="Calibri"/>
                        </a:rPr>
                        <a:t>AF + DE</a:t>
                      </a:r>
                    </a:p>
                  </a:txBody>
                  <a:tcPr marL="73152" marR="73152" marT="27432" marB="27432" anchor="ctr">
                    <a:solidFill>
                      <a:srgbClr val="FFFFFF"/>
                    </a:solidFill>
                  </a:tcPr>
                </a:tc>
                <a:tc>
                  <a:txBody>
                    <a:bodyPr/>
                    <a:lstStyle/>
                    <a:p>
                      <a:pPr algn="ctr"/>
                      <a:r>
                        <a:rPr sz="1200" b="0">
                          <a:solidFill>
                            <a:srgbClr val="142B33"/>
                          </a:solidFill>
                          <a:latin typeface="Calibri"/>
                        </a:rPr>
                        <a:t>0.625</a:t>
                      </a:r>
                    </a:p>
                  </a:txBody>
                  <a:tcPr marL="73152" marR="73152" marT="27432" marB="27432" anchor="ctr">
                    <a:solidFill>
                      <a:srgbClr val="FFFFFF"/>
                    </a:solidFill>
                  </a:tcPr>
                </a:tc>
                <a:tc>
                  <a:txBody>
                    <a:bodyPr/>
                    <a:lstStyle/>
                    <a:p>
                      <a:pPr algn="ctr"/>
                      <a:r>
                        <a:rPr sz="1200" b="0">
                          <a:solidFill>
                            <a:srgbClr val="142B33"/>
                          </a:solidFill>
                          <a:latin typeface="Calibri"/>
                        </a:rPr>
                        <a:t>1.56</a:t>
                      </a:r>
                    </a:p>
                  </a:txBody>
                  <a:tcPr marL="73152" marR="73152" marT="27432" marB="27432" anchor="ctr">
                    <a:solidFill>
                      <a:srgbClr val="FFFFFF"/>
                    </a:solidFill>
                  </a:tcPr>
                </a:tc>
              </a:tr>
              <a:tr h="231648">
                <a:tc>
                  <a:txBody>
                    <a:bodyPr/>
                    <a:lstStyle/>
                    <a:p>
                      <a:pPr algn="ctr"/>
                      <a:r>
                        <a:rPr sz="1200" b="0">
                          <a:solidFill>
                            <a:srgbClr val="142B33"/>
                          </a:solidFill>
                          <a:latin typeface="Calibri"/>
                        </a:rPr>
                        <a:t>BD + CF</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tr>
              <a:tr h="231648">
                <a:tc>
                  <a:txBody>
                    <a:bodyPr/>
                    <a:lstStyle/>
                    <a:p>
                      <a:pPr algn="ctr"/>
                      <a:r>
                        <a:rPr sz="1200" b="0">
                          <a:solidFill>
                            <a:srgbClr val="142B33"/>
                          </a:solidFill>
                          <a:latin typeface="Calibri"/>
                        </a:rPr>
                        <a:t>BF + CD</a:t>
                      </a:r>
                    </a:p>
                  </a:txBody>
                  <a:tcPr marL="73152" marR="73152" marT="27432" marB="27432" anchor="ctr">
                    <a:solidFill>
                      <a:srgbClr val="FFFFFF"/>
                    </a:solidFill>
                  </a:tcPr>
                </a:tc>
                <a:tc>
                  <a:txBody>
                    <a:bodyPr/>
                    <a:lstStyle/>
                    <a:p>
                      <a:pPr algn="ctr"/>
                      <a:r>
                        <a:rPr sz="1200" b="0">
                          <a:solidFill>
                            <a:srgbClr val="142B33"/>
                          </a:solidFill>
                          <a:latin typeface="Calibri"/>
                        </a:rPr>
                        <a:t>−0.125</a:t>
                      </a:r>
                    </a:p>
                  </a:txBody>
                  <a:tcPr marL="73152" marR="73152" marT="27432" marB="27432" anchor="ctr">
                    <a:solidFill>
                      <a:srgbClr val="FFFFFF"/>
                    </a:solidFill>
                  </a:tcPr>
                </a:tc>
                <a:tc>
                  <a:txBody>
                    <a:bodyPr/>
                    <a:lstStyle/>
                    <a:p>
                      <a:pPr algn="ctr"/>
                      <a:r>
                        <a:rPr sz="1200" b="0">
                          <a:solidFill>
                            <a:srgbClr val="142B33"/>
                          </a:solidFill>
                          <a:latin typeface="Calibri"/>
                        </a:rPr>
                        <a:t>0.06</a:t>
                      </a:r>
                    </a:p>
                  </a:txBody>
                  <a:tcPr marL="73152" marR="73152" marT="27432" marB="27432" anchor="ctr">
                    <a:solidFill>
                      <a:srgbClr val="FFFFFF"/>
                    </a:solidFill>
                  </a:tcPr>
                </a:tc>
              </a:tr>
              <a:tr h="231648">
                <a:tc>
                  <a:txBody>
                    <a:bodyPr/>
                    <a:lstStyle/>
                    <a:p>
                      <a:pPr algn="ctr"/>
                      <a:r>
                        <a:rPr sz="1200" b="0">
                          <a:solidFill>
                            <a:srgbClr val="142B33"/>
                          </a:solidFill>
                          <a:latin typeface="Calibri"/>
                        </a:rPr>
                        <a:t>ABD (+ alias)</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tr>
              <a:tr h="231648">
                <a:tc>
                  <a:txBody>
                    <a:bodyPr/>
                    <a:lstStyle/>
                    <a:p>
                      <a:pPr algn="ctr"/>
                      <a:r>
                        <a:rPr sz="1200" b="0">
                          <a:solidFill>
                            <a:srgbClr val="142B33"/>
                          </a:solidFill>
                          <a:latin typeface="Calibri"/>
                        </a:rPr>
                        <a:t>ABF (+ alias)</a:t>
                      </a:r>
                    </a:p>
                  </a:txBody>
                  <a:tcPr marL="73152" marR="73152" marT="27432" marB="27432" anchor="ctr">
                    <a:solidFill>
                      <a:srgbClr val="FFFFFF"/>
                    </a:solidFill>
                  </a:tcPr>
                </a:tc>
                <a:tc>
                  <a:txBody>
                    <a:bodyPr/>
                    <a:lstStyle/>
                    <a:p>
                      <a:pPr algn="ctr"/>
                      <a:r>
                        <a:rPr sz="1200" b="0">
                          <a:solidFill>
                            <a:srgbClr val="142B33"/>
                          </a:solidFill>
                          <a:latin typeface="Calibri"/>
                        </a:rPr>
                        <a:t>−4.875</a:t>
                      </a:r>
                    </a:p>
                  </a:txBody>
                  <a:tcPr marL="73152" marR="73152" marT="27432" marB="27432" anchor="ctr">
                    <a:solidFill>
                      <a:srgbClr val="FFFFFF"/>
                    </a:solidFill>
                  </a:tcPr>
                </a:tc>
                <a:tc>
                  <a:txBody>
                    <a:bodyPr/>
                    <a:lstStyle/>
                    <a:p>
                      <a:pPr algn="ctr"/>
                      <a:r>
                        <a:rPr sz="1200" b="0">
                          <a:solidFill>
                            <a:srgbClr val="142B33"/>
                          </a:solidFill>
                          <a:latin typeface="Calibri"/>
                        </a:rPr>
                        <a:t>95.06</a:t>
                      </a:r>
                    </a:p>
                  </a:txBody>
                  <a:tcPr marL="73152" marR="73152" marT="27432" marB="27432" anchor="ctr">
                    <a:solidFill>
                      <a:srgbClr val="FFFFFF"/>
                    </a:solidFill>
                  </a:tcPr>
                </a:tc>
              </a:tr>
            </a:tbl>
          </a:graphicData>
        </a:graphic>
      </p:graphicFrame>
      <p:sp>
        <p:nvSpPr>
          <p:cNvPr id="4" name="Rounded Rectangle 3"/>
          <p:cNvSpPr/>
          <p:nvPr/>
        </p:nvSpPr>
        <p:spPr>
          <a:xfrm>
            <a:off x="548640" y="5324856"/>
            <a:ext cx="4486832" cy="67716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0">
                <a:solidFill>
                  <a:srgbClr val="142B33"/>
                </a:solidFill>
                <a:latin typeface="Calibri"/>
              </a:rPr>
              <a:t>A, B y AB explican </a:t>
            </a:r>
            <a:r>
              <a:rPr sz="1300" b="1">
                <a:solidFill>
                  <a:srgbClr val="142B33"/>
                </a:solidFill>
                <a:latin typeface="Calibri"/>
              </a:rPr>
              <a:t>6411 de 6659</a:t>
            </a:r>
            <a:r>
              <a:rPr sz="1300" b="0">
                <a:solidFill>
                  <a:srgbClr val="142B33"/>
                </a:solidFill>
                <a:latin typeface="Calibri"/>
              </a:rPr>
              <a:t> de la SS total. C (−0.875) es ruido</a:t>
            </a:r>
          </a:p>
        </p:txBody>
      </p:sp>
      <p:graphicFrame>
        <p:nvGraphicFramePr>
          <p:cNvPr id="5" name="Table 4"/>
          <p:cNvGraphicFramePr>
            <a:graphicFrameLocks noGrp="1"/>
          </p:cNvGraphicFramePr>
          <p:nvPr/>
        </p:nvGraphicFramePr>
        <p:xfrm>
          <a:off x="5446952" y="1417320"/>
          <a:ext cx="6196099" cy="2107692"/>
        </p:xfrm>
        <a:graphic>
          <a:graphicData uri="http://schemas.openxmlformats.org/drawingml/2006/table">
            <a:tbl>
              <a:tblPr firstRow="0" bandRow="0">
                <a:tableStyleId>{5C22544A-7EE6-4342-B048-85BDC9FD1C3A}</a:tableStyleId>
              </a:tblPr>
              <a:tblGrid>
                <a:gridCol w="898854"/>
                <a:gridCol w="1138548"/>
                <a:gridCol w="611220"/>
                <a:gridCol w="1138548"/>
                <a:gridCol w="1018701"/>
                <a:gridCol w="139022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37.15</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244.90</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AB</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27.21</a:t>
                      </a:r>
                    </a:p>
                  </a:txBody>
                  <a:tcPr marL="73152" marR="73152" marT="27432" marB="27432" anchor="ctr">
                    <a:solidFill>
                      <a:srgbClr val="FFFFFF"/>
                    </a:solidFill>
                  </a:tcPr>
                </a:tc>
                <a:tc>
                  <a:txBody>
                    <a:bodyPr/>
                    <a:lstStyle/>
                    <a:p>
                      <a:pPr algn="ctr"/>
                      <a:r>
                        <a:rPr sz="1500" b="0">
                          <a:solidFill>
                            <a:srgbClr val="142B33"/>
                          </a:solidFill>
                          <a:latin typeface="Calibri"/>
                        </a:rPr>
                        <a:t>0.0002</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248.75</a:t>
                      </a:r>
                    </a:p>
                  </a:txBody>
                  <a:tcPr marL="73152" marR="73152" marT="27432" marB="27432" anchor="ctr">
                    <a:solidFill>
                      <a:srgbClr val="F4F8F9"/>
                    </a:solidFill>
                  </a:tcPr>
                </a:tc>
                <a:tc>
                  <a:txBody>
                    <a:bodyPr/>
                    <a:lstStyle/>
                    <a:p>
                      <a:pPr algn="ctr"/>
                      <a:r>
                        <a:rPr sz="1500" b="0">
                          <a:solidFill>
                            <a:srgbClr val="142B33"/>
                          </a:solidFill>
                          <a:latin typeface="Calibri"/>
                        </a:rPr>
                        <a:t>12</a:t>
                      </a:r>
                    </a:p>
                  </a:txBody>
                  <a:tcPr marL="73152" marR="73152" marT="27432" marB="27432" anchor="ctr">
                    <a:solidFill>
                      <a:srgbClr val="F4F8F9"/>
                    </a:solidFill>
                  </a:tcPr>
                </a:tc>
                <a:tc>
                  <a:txBody>
                    <a:bodyPr/>
                    <a:lstStyle/>
                    <a:p>
                      <a:pPr algn="ctr"/>
                      <a:r>
                        <a:rPr sz="1500" b="0">
                          <a:solidFill>
                            <a:srgbClr val="142B33"/>
                          </a:solidFill>
                          <a:latin typeface="Calibri"/>
                        </a:rPr>
                        <a:t>20.73</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6659.44</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6" name="Rounded Rectangle 5"/>
          <p:cNvSpPr/>
          <p:nvPr/>
        </p:nvSpPr>
        <p:spPr>
          <a:xfrm>
            <a:off x="5446952" y="3726180"/>
            <a:ext cx="6196102"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27.31 + 6.94 x</a:t>
            </a:r>
            <a:r>
              <a:rPr sz="1600" b="0" baseline="-25000">
                <a:solidFill>
                  <a:srgbClr val="0F4C5C"/>
                </a:solidFill>
                <a:latin typeface="Cambria Math"/>
              </a:rPr>
              <a:t>1</a:t>
            </a:r>
            <a:r>
              <a:rPr sz="1600" b="0">
                <a:solidFill>
                  <a:srgbClr val="0F4C5C"/>
                </a:solidFill>
                <a:latin typeface="Cambria Math"/>
              </a:rPr>
              <a:t> + 17.81 x</a:t>
            </a:r>
            <a:r>
              <a:rPr sz="1600" b="0" baseline="-25000">
                <a:solidFill>
                  <a:srgbClr val="0F4C5C"/>
                </a:solidFill>
                <a:latin typeface="Cambria Math"/>
              </a:rPr>
              <a:t>2</a:t>
            </a:r>
            <a:r>
              <a:rPr sz="1600" b="0">
                <a:solidFill>
                  <a:srgbClr val="0F4C5C"/>
                </a:solidFill>
                <a:latin typeface="Cambria Math"/>
              </a:rPr>
              <a:t> + 5.94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7" name="TextBox 6"/>
          <p:cNvSpPr txBox="1"/>
          <p:nvPr/>
        </p:nvSpPr>
        <p:spPr>
          <a:xfrm>
            <a:off x="5446952" y="4479320"/>
            <a:ext cx="6196102" cy="11765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F</a:t>
            </a:r>
            <a:r>
              <a:rPr sz="1500" b="0" baseline="-25000">
                <a:solidFill>
                  <a:srgbClr val="142B33"/>
                </a:solidFill>
                <a:latin typeface="Calibri"/>
              </a:rPr>
              <a:t>0</a:t>
            </a:r>
            <a:r>
              <a:rPr sz="1500" b="0">
                <a:solidFill>
                  <a:srgbClr val="142B33"/>
                </a:solidFill>
                <a:latin typeface="Calibri"/>
              </a:rPr>
              <a:t> &gt; F</a:t>
            </a:r>
            <a:r>
              <a:rPr sz="1500" b="0" baseline="-25000">
                <a:solidFill>
                  <a:srgbClr val="142B33"/>
                </a:solidFill>
                <a:latin typeface="Calibri"/>
              </a:rPr>
              <a:t>0.05, 1, 12</a:t>
            </a:r>
            <a:r>
              <a:rPr sz="1500" b="0">
                <a:solidFill>
                  <a:srgbClr val="142B33"/>
                </a:solidFill>
                <a:latin typeface="Calibri"/>
              </a:rPr>
              <a:t> = 4.75 en los tres: </a:t>
            </a:r>
            <a:r>
              <a:rPr sz="1500" b="1">
                <a:solidFill>
                  <a:srgbClr val="142B33"/>
                </a:solidFill>
                <a:latin typeface="Calibri"/>
              </a:rPr>
              <a:t>se rechaza H</a:t>
            </a:r>
            <a:r>
              <a:rPr sz="1500" b="1" baseline="-25000">
                <a:solidFill>
                  <a:srgbClr val="142B33"/>
                </a:solidFill>
                <a:latin typeface="Calibri"/>
              </a:rPr>
              <a:t>0</a:t>
            </a:r>
          </a:p>
          <a:p>
            <a:pPr marL="320040" indent="-320040">
              <a:spcAft>
                <a:spcPts val="600"/>
              </a:spcAft>
              <a:buClr>
                <a:srgbClr val="E36414"/>
              </a:buClr>
              <a:buFont typeface="Arial"/>
              <a:buChar char="•"/>
            </a:pPr>
            <a:r>
              <a:rPr sz="1500" b="0">
                <a:solidFill>
                  <a:srgbClr val="142B33"/>
                </a:solidFill>
                <a:latin typeface="Calibri"/>
              </a:rPr>
              <a:t>R</a:t>
            </a:r>
            <a:r>
              <a:rPr sz="1500" b="0" baseline="30000">
                <a:solidFill>
                  <a:srgbClr val="142B33"/>
                </a:solidFill>
                <a:latin typeface="Calibri"/>
              </a:rPr>
              <a:t>2</a:t>
            </a:r>
            <a:r>
              <a:rPr sz="1500" b="0">
                <a:solidFill>
                  <a:srgbClr val="142B33"/>
                </a:solidFill>
                <a:latin typeface="Calibri"/>
              </a:rPr>
              <a:t> = 96.26 %</a:t>
            </a:r>
          </a:p>
          <a:p>
            <a:pPr marL="320040" indent="-320040">
              <a:spcAft>
                <a:spcPts val="600"/>
              </a:spcAft>
              <a:buClr>
                <a:srgbClr val="E36414"/>
              </a:buClr>
              <a:buFont typeface="Arial"/>
              <a:buChar char="•"/>
            </a:pPr>
            <a:r>
              <a:rPr sz="1500" b="0">
                <a:solidFill>
                  <a:srgbClr val="142B33"/>
                </a:solidFill>
                <a:latin typeface="Calibri"/>
              </a:rPr>
              <a:t>Coeficiente = efecto / 2. Para </a:t>
            </a:r>
            <a:r>
              <a:rPr sz="1500" b="1">
                <a:solidFill>
                  <a:srgbClr val="142B33"/>
                </a:solidFill>
                <a:latin typeface="Calibri"/>
              </a:rPr>
              <a:t>reducir</a:t>
            </a:r>
            <a:r>
              <a:rPr sz="1500" b="0">
                <a:solidFill>
                  <a:srgbClr val="142B33"/>
                </a:solidFill>
                <a:latin typeface="Calibri"/>
              </a:rPr>
              <a:t> la contracción: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46</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Proyección en A y B e interacción</a:t>
            </a:r>
          </a:p>
        </p:txBody>
      </p:sp>
      <p:graphicFrame>
        <p:nvGraphicFramePr>
          <p:cNvPr id="3" name="Table 2"/>
          <p:cNvGraphicFramePr>
            <a:graphicFrameLocks noGrp="1"/>
          </p:cNvGraphicFramePr>
          <p:nvPr/>
        </p:nvGraphicFramePr>
        <p:xfrm>
          <a:off x="548640" y="1417320"/>
          <a:ext cx="5341466" cy="1988820"/>
        </p:xfrm>
        <a:graphic>
          <a:graphicData uri="http://schemas.openxmlformats.org/drawingml/2006/table">
            <a:tbl>
              <a:tblPr firstRow="0" bandRow="0">
                <a:tableStyleId>{5C22544A-7EE6-4342-B048-85BDC9FD1C3A}</a:tableStyleId>
              </a:tblPr>
              <a:tblGrid>
                <a:gridCol w="640976"/>
                <a:gridCol w="640976"/>
                <a:gridCol w="2670733"/>
                <a:gridCol w="1388781"/>
              </a:tblGrid>
              <a:tr h="583692">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Las 4 corridas (contracción)</a:t>
                      </a:r>
                    </a:p>
                  </a:txBody>
                  <a:tcPr marL="73152" marR="73152" marT="27432" marB="27432" anchor="ctr">
                    <a:solidFill>
                      <a:srgbClr val="0F4C5C"/>
                    </a:solidFill>
                  </a:tcPr>
                </a:tc>
                <a:tc>
                  <a:txBody>
                    <a:bodyPr/>
                    <a:lstStyle/>
                    <a:p>
                      <a:pPr algn="ctr"/>
                      <a:r>
                        <a:rPr sz="1500" b="1">
                          <a:solidFill>
                            <a:srgbClr val="FFFFFF"/>
                          </a:solidFill>
                          <a:latin typeface="Calibri"/>
                        </a:rPr>
                        <a:t>Promedio</a:t>
                      </a:r>
                    </a:p>
                  </a:txBody>
                  <a:tcPr marL="73152" marR="73152" marT="27432" marB="27432" anchor="ctr">
                    <a:solidFill>
                      <a:srgbClr val="0F4C5C"/>
                    </a:solidFill>
                  </a:tcPr>
                </a:tc>
              </a:tr>
              <a:tr h="351282">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500" b="0">
                          <a:solidFill>
                            <a:srgbClr val="142B33"/>
                          </a:solidFill>
                          <a:latin typeface="Calibri"/>
                        </a:rPr>
                        <a:t>6,  4,  8,  16</a:t>
                      </a:r>
                    </a:p>
                  </a:txBody>
                  <a:tcPr marL="73152" marR="73152" marT="27432" marB="27432" anchor="ctr">
                    <a:solidFill>
                      <a:srgbClr val="FDE8D7"/>
                    </a:solidFill>
                  </a:tcPr>
                </a:tc>
                <a:tc>
                  <a:txBody>
                    <a:bodyPr/>
                    <a:lstStyle/>
                    <a:p>
                      <a:pPr algn="ctr"/>
                      <a:r>
                        <a:rPr sz="1500" b="0">
                          <a:solidFill>
                            <a:srgbClr val="142B33"/>
                          </a:solidFill>
                          <a:latin typeface="Calibri"/>
                        </a:rPr>
                        <a:t>8.50</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10,  15,  12,  5</a:t>
                      </a:r>
                    </a:p>
                  </a:txBody>
                  <a:tcPr marL="73152" marR="73152" marT="27432" marB="27432" anchor="ctr">
                    <a:solidFill>
                      <a:srgbClr val="F4F8F9"/>
                    </a:solidFill>
                  </a:tcPr>
                </a:tc>
                <a:tc>
                  <a:txBody>
                    <a:bodyPr/>
                    <a:lstStyle/>
                    <a:p>
                      <a:pPr algn="ctr"/>
                      <a:r>
                        <a:rPr sz="1500" b="0">
                          <a:solidFill>
                            <a:srgbClr val="142B33"/>
                          </a:solidFill>
                          <a:latin typeface="Calibri"/>
                        </a:rPr>
                        <a:t>10.50</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32,  26,  34,  37</a:t>
                      </a:r>
                    </a:p>
                  </a:txBody>
                  <a:tcPr marL="73152" marR="73152" marT="27432" marB="27432" anchor="ctr">
                    <a:solidFill>
                      <a:srgbClr val="FFFFFF"/>
                    </a:solidFill>
                  </a:tcPr>
                </a:tc>
                <a:tc>
                  <a:txBody>
                    <a:bodyPr/>
                    <a:lstStyle/>
                    <a:p>
                      <a:pPr algn="ctr"/>
                      <a:r>
                        <a:rPr sz="1500" b="0">
                          <a:solidFill>
                            <a:srgbClr val="142B33"/>
                          </a:solidFill>
                          <a:latin typeface="Calibri"/>
                        </a:rPr>
                        <a:t>32.25</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60,  60,  60,  52</a:t>
                      </a:r>
                    </a:p>
                  </a:txBody>
                  <a:tcPr marL="73152" marR="73152" marT="27432" marB="27432" anchor="ctr">
                    <a:solidFill>
                      <a:srgbClr val="F4F8F9"/>
                    </a:solidFill>
                  </a:tcPr>
                </a:tc>
                <a:tc>
                  <a:txBody>
                    <a:bodyPr/>
                    <a:lstStyle/>
                    <a:p>
                      <a:pPr algn="ctr"/>
                      <a:r>
                        <a:rPr sz="1500" b="0">
                          <a:solidFill>
                            <a:srgbClr val="142B33"/>
                          </a:solidFill>
                          <a:latin typeface="Calibri"/>
                        </a:rPr>
                        <a:t>58.00</a:t>
                      </a:r>
                    </a:p>
                  </a:txBody>
                  <a:tcPr marL="73152" marR="73152" marT="27432" marB="27432" anchor="ctr">
                    <a:solidFill>
                      <a:srgbClr val="F4F8F9"/>
                    </a:solidFill>
                  </a:tcPr>
                </a:tc>
              </a:tr>
            </a:tbl>
          </a:graphicData>
        </a:graphic>
      </p:graphicFrame>
      <p:sp>
        <p:nvSpPr>
          <p:cNvPr id="4" name="Rounded Rectangle 3"/>
          <p:cNvSpPr/>
          <p:nvPr/>
        </p:nvSpPr>
        <p:spPr>
          <a:xfrm>
            <a:off x="548640" y="360730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Cada combinación de A y B aparece </a:t>
            </a:r>
            <a:r>
              <a:rPr sz="1500" b="1">
                <a:solidFill>
                  <a:srgbClr val="142B33"/>
                </a:solidFill>
                <a:latin typeface="Calibri"/>
              </a:rPr>
              <a:t>4 veces</a:t>
            </a:r>
            <a:r>
              <a:rPr sz="1500" b="0">
                <a:solidFill>
                  <a:srgbClr val="142B33"/>
                </a:solidFill>
                <a:latin typeface="Calibri"/>
              </a:rPr>
              <a:t>: cuatro réplicas de un </a:t>
            </a:r>
            <a:r>
              <a:rPr sz="1500" b="1">
                <a:solidFill>
                  <a:srgbClr val="142B33"/>
                </a:solidFill>
                <a:latin typeface="Calibri"/>
              </a:rPr>
              <a:t>2</a:t>
            </a:r>
            <a:r>
              <a:rPr sz="1500" b="1" baseline="30000">
                <a:solidFill>
                  <a:srgbClr val="142B33"/>
                </a:solidFill>
                <a:latin typeface="Calibri"/>
              </a:rPr>
              <a:t>2</a:t>
            </a:r>
            <a:r>
              <a:rPr sz="1500" b="0">
                <a:solidFill>
                  <a:srgbClr val="142B33"/>
                </a:solidFill>
                <a:latin typeface="Calibri"/>
              </a:rPr>
              <a:t>  →  </a:t>
            </a:r>
            <a:r>
              <a:rPr sz="1500" b="1">
                <a:solidFill>
                  <a:srgbClr val="142B33"/>
                </a:solidFill>
                <a:latin typeface="Calibri"/>
              </a:rPr>
              <a:t>12 g.l.</a:t>
            </a:r>
            <a:r>
              <a:rPr sz="1500" b="0">
                <a:solidFill>
                  <a:srgbClr val="142B33"/>
                </a:solidFill>
                <a:latin typeface="Calibri"/>
              </a:rPr>
              <a:t> de error puro</a:t>
            </a:r>
          </a:p>
        </p:txBody>
      </p:sp>
      <p:sp>
        <p:nvSpPr>
          <p:cNvPr id="5" name="Rounded Rectangle 4"/>
          <p:cNvSpPr/>
          <p:nvPr/>
        </p:nvSpPr>
        <p:spPr>
          <a:xfrm>
            <a:off x="548640" y="4547616"/>
            <a:ext cx="5341467" cy="49123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Así se obtienen los 12 g.l. del error del ANOVA</a:t>
            </a:r>
          </a:p>
        </p:txBody>
      </p:sp>
      <p:graphicFrame>
        <p:nvGraphicFramePr>
          <p:cNvPr id="6" name="Chart 5"/>
          <p:cNvGraphicFramePr>
            <a:graphicFrameLocks noGrp="1"/>
          </p:cNvGraphicFramePr>
          <p:nvPr/>
        </p:nvGraphicFramePr>
        <p:xfrm>
          <a:off x="6301587" y="1417320"/>
          <a:ext cx="5341467" cy="3566160"/>
        </p:xfrm>
        <a:graphic>
          <a:graphicData uri="http://schemas.openxmlformats.org/drawingml/2006/chart">
            <c:chart xmlns:c="http://schemas.openxmlformats.org/drawingml/2006/chart" r:id="rId2"/>
          </a:graphicData>
        </a:graphic>
      </p:graphicFrame>
      <p:sp>
        <p:nvSpPr>
          <p:cNvPr id="7" name="Rounded Rectangle 6"/>
          <p:cNvSpPr/>
          <p:nvPr/>
        </p:nvSpPr>
        <p:spPr>
          <a:xfrm>
            <a:off x="6301587" y="51846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B bajo</a:t>
            </a:r>
            <a:r>
              <a:rPr sz="1500" b="0">
                <a:solidFill>
                  <a:srgbClr val="142B33"/>
                </a:solidFill>
                <a:latin typeface="Calibri"/>
              </a:rPr>
              <a:t> la contracción es pequeña a cualquier temperatura. Recomendación: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47</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El diseño 2</a:t>
            </a:r>
            <a:r>
              <a:rPr sz="4400" b="1" baseline="30000">
                <a:solidFill>
                  <a:srgbClr val="FFFFFF"/>
                </a:solidFill>
                <a:latin typeface="Cambria"/>
              </a:rPr>
              <a:t>k−p</a:t>
            </a:r>
            <a:r>
              <a:rPr sz="4400" b="1">
                <a:solidFill>
                  <a:srgbClr val="FFFFFF"/>
                </a:solidFill>
                <a:latin typeface="Cambria"/>
              </a:rPr>
              <a:t> general</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6</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Elección, protocolo, análisis, supuestos, proyección y bloques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caso general 2</a:t>
            </a:r>
            <a:r>
              <a:rPr sz="3000" b="1" baseline="30000">
                <a:solidFill>
                  <a:srgbClr val="0F4C5C"/>
                </a:solidFill>
                <a:latin typeface="Cambria"/>
              </a:rPr>
              <a:t>k−p</a:t>
            </a:r>
          </a:p>
        </p:txBody>
      </p:sp>
      <p:graphicFrame>
        <p:nvGraphicFramePr>
          <p:cNvPr id="3" name="Table 2"/>
          <p:cNvGraphicFramePr>
            <a:graphicFrameLocks noGrp="1"/>
          </p:cNvGraphicFramePr>
          <p:nvPr/>
        </p:nvGraphicFramePr>
        <p:xfrm>
          <a:off x="548640" y="1417320"/>
          <a:ext cx="11094415" cy="3058152"/>
        </p:xfrm>
        <a:graphic>
          <a:graphicData uri="http://schemas.openxmlformats.org/drawingml/2006/table">
            <a:tbl>
              <a:tblPr firstRow="0" bandRow="0">
                <a:tableStyleId>{5C22544A-7EE6-4342-B048-85BDC9FD1C3A}</a:tableStyleId>
              </a:tblPr>
              <a:tblGrid>
                <a:gridCol w="4437766"/>
                <a:gridCol w="6656649"/>
              </a:tblGrid>
              <a:tr h="382269">
                <a:tc>
                  <a:txBody>
                    <a:bodyPr/>
                    <a:lstStyle/>
                    <a:p>
                      <a:pPr algn="l"/>
                      <a:r>
                        <a:rPr sz="1700" b="1">
                          <a:solidFill>
                            <a:srgbClr val="FFFFFF"/>
                          </a:solidFill>
                          <a:latin typeface="Calibri"/>
                        </a:rPr>
                        <a:t>Concepto</a:t>
                      </a:r>
                    </a:p>
                  </a:txBody>
                  <a:tcPr marL="73152" marR="73152" marT="27432" marB="27432" anchor="ctr">
                    <a:solidFill>
                      <a:srgbClr val="0F4C5C"/>
                    </a:solidFill>
                  </a:tcPr>
                </a:tc>
                <a:tc>
                  <a:txBody>
                    <a:bodyPr/>
                    <a:lstStyle/>
                    <a:p>
                      <a:pPr algn="l"/>
                      <a:r>
                        <a:rPr sz="1700" b="1">
                          <a:solidFill>
                            <a:srgbClr val="FFFFFF"/>
                          </a:solidFill>
                          <a:latin typeface="Calibri"/>
                        </a:rPr>
                        <a:t>Regla</a:t>
                      </a:r>
                    </a:p>
                  </a:txBody>
                  <a:tcPr marL="73152" marR="73152" marT="27432" marB="27432" anchor="ctr">
                    <a:solidFill>
                      <a:srgbClr val="0F4C5C"/>
                    </a:solidFill>
                  </a:tcPr>
                </a:tc>
              </a:tr>
              <a:tr h="382269">
                <a:tc>
                  <a:txBody>
                    <a:bodyPr/>
                    <a:lstStyle/>
                    <a:p>
                      <a:pPr algn="l"/>
                      <a:r>
                        <a:rPr sz="1700" b="0">
                          <a:solidFill>
                            <a:srgbClr val="142B33"/>
                          </a:solidFill>
                          <a:latin typeface="Calibri"/>
                        </a:rPr>
                        <a:t>Corridas</a:t>
                      </a:r>
                    </a:p>
                  </a:txBody>
                  <a:tcPr marL="73152" marR="73152" marT="27432" marB="27432" anchor="ctr">
                    <a:solidFill>
                      <a:srgbClr val="FFFFFF"/>
                    </a:solidFill>
                  </a:tcPr>
                </a:tc>
                <a:tc>
                  <a:txBody>
                    <a:bodyPr/>
                    <a:lstStyle/>
                    <a:p>
                      <a:pPr algn="l"/>
                      <a:r>
                        <a:rPr sz="1700" b="0">
                          <a:solidFill>
                            <a:srgbClr val="142B33"/>
                          </a:solidFill>
                          <a:latin typeface="Calibri"/>
                        </a:rPr>
                        <a:t>N = 2</a:t>
                      </a:r>
                      <a:r>
                        <a:rPr sz="1700" b="0" baseline="30000">
                          <a:solidFill>
                            <a:srgbClr val="142B33"/>
                          </a:solidFill>
                          <a:latin typeface="Calibri"/>
                        </a:rPr>
                        <a:t>k−p</a:t>
                      </a:r>
                    </a:p>
                  </a:txBody>
                  <a:tcPr marL="73152" marR="73152" marT="27432" marB="27432" anchor="ctr">
                    <a:solidFill>
                      <a:srgbClr val="FFFFFF"/>
                    </a:solidFill>
                  </a:tcPr>
                </a:tc>
              </a:tr>
              <a:tr h="382269">
                <a:tc>
                  <a:txBody>
                    <a:bodyPr/>
                    <a:lstStyle/>
                    <a:p>
                      <a:pPr algn="l"/>
                      <a:r>
                        <a:rPr sz="1700" b="0">
                          <a:solidFill>
                            <a:srgbClr val="142B33"/>
                          </a:solidFill>
                          <a:latin typeface="Calibri"/>
                        </a:rPr>
                        <a:t>Generadores independientes</a:t>
                      </a:r>
                    </a:p>
                  </a:txBody>
                  <a:tcPr marL="73152" marR="73152" marT="27432" marB="27432" anchor="ctr">
                    <a:solidFill>
                      <a:srgbClr val="F4F8F9"/>
                    </a:solidFill>
                  </a:tcPr>
                </a:tc>
                <a:tc>
                  <a:txBody>
                    <a:bodyPr/>
                    <a:lstStyle/>
                    <a:p>
                      <a:pPr algn="l"/>
                      <a:r>
                        <a:rPr sz="1700" b="0">
                          <a:solidFill>
                            <a:srgbClr val="142B33"/>
                          </a:solidFill>
                          <a:latin typeface="Calibri"/>
                        </a:rPr>
                        <a:t>p</a:t>
                      </a:r>
                    </a:p>
                  </a:txBody>
                  <a:tcPr marL="73152" marR="73152" marT="27432" marB="27432" anchor="ctr">
                    <a:solidFill>
                      <a:srgbClr val="F4F8F9"/>
                    </a:solidFill>
                  </a:tcPr>
                </a:tc>
              </a:tr>
              <a:tr h="382269">
                <a:tc>
                  <a:txBody>
                    <a:bodyPr/>
                    <a:lstStyle/>
                    <a:p>
                      <a:pPr algn="l"/>
                      <a:r>
                        <a:rPr sz="1700" b="0">
                          <a:solidFill>
                            <a:srgbClr val="142B33"/>
                          </a:solidFill>
                          <a:latin typeface="Calibri"/>
                        </a:rPr>
                        <a:t>Palabras de la relación de definición</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(generadores y todos sus productos)</a:t>
                      </a:r>
                    </a:p>
                  </a:txBody>
                  <a:tcPr marL="73152" marR="73152" marT="27432" marB="27432" anchor="ctr">
                    <a:solidFill>
                      <a:srgbClr val="FFFFFF"/>
                    </a:solidFill>
                  </a:tcPr>
                </a:tc>
              </a:tr>
              <a:tr h="382269">
                <a:tc>
                  <a:txBody>
                    <a:bodyPr/>
                    <a:lstStyle/>
                    <a:p>
                      <a:pPr algn="l"/>
                      <a:r>
                        <a:rPr sz="1700" b="0">
                          <a:solidFill>
                            <a:srgbClr val="142B33"/>
                          </a:solidFill>
                          <a:latin typeface="Calibri"/>
                        </a:rPr>
                        <a:t>Alias de cada efecto</a:t>
                      </a:r>
                    </a:p>
                  </a:txBody>
                  <a:tcPr marL="73152" marR="73152" marT="27432" marB="27432" anchor="ctr">
                    <a:solidFill>
                      <a:srgbClr val="F4F8F9"/>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(efecto × cada palabra)</a:t>
                      </a:r>
                    </a:p>
                  </a:txBody>
                  <a:tcPr marL="73152" marR="73152" marT="27432" marB="27432" anchor="ctr">
                    <a:solidFill>
                      <a:srgbClr val="F4F8F9"/>
                    </a:solidFill>
                  </a:tcPr>
                </a:tc>
              </a:tr>
              <a:tr h="382269">
                <a:tc>
                  <a:txBody>
                    <a:bodyPr/>
                    <a:lstStyle/>
                    <a:p>
                      <a:pPr algn="l"/>
                      <a:r>
                        <a:rPr sz="1700" b="0">
                          <a:solidFill>
                            <a:srgbClr val="142B33"/>
                          </a:solidFill>
                          <a:latin typeface="Calibri"/>
                        </a:rPr>
                        <a:t>Cadenas de alias estimables</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k−p</a:t>
                      </a:r>
                      <a:r>
                        <a:rPr sz="1700" b="0">
                          <a:solidFill>
                            <a:srgbClr val="142B33"/>
                          </a:solidFill>
                          <a:latin typeface="Calibri"/>
                        </a:rPr>
                        <a:t> − 1  (una por grado de libertad)</a:t>
                      </a:r>
                    </a:p>
                  </a:txBody>
                  <a:tcPr marL="73152" marR="73152" marT="27432" marB="27432" anchor="ctr">
                    <a:solidFill>
                      <a:srgbClr val="FFFFFF"/>
                    </a:solidFill>
                  </a:tcPr>
                </a:tc>
              </a:tr>
              <a:tr h="382269">
                <a:tc>
                  <a:txBody>
                    <a:bodyPr/>
                    <a:lstStyle/>
                    <a:p>
                      <a:pPr algn="l"/>
                      <a:r>
                        <a:rPr sz="1700" b="0">
                          <a:solidFill>
                            <a:srgbClr val="142B33"/>
                          </a:solidFill>
                          <a:latin typeface="Calibri"/>
                        </a:rPr>
                        <a:t>Resolución</a:t>
                      </a:r>
                    </a:p>
                  </a:txBody>
                  <a:tcPr marL="73152" marR="73152" marT="27432" marB="27432" anchor="ctr">
                    <a:solidFill>
                      <a:srgbClr val="F4F8F9"/>
                    </a:solidFill>
                  </a:tcPr>
                </a:tc>
                <a:tc>
                  <a:txBody>
                    <a:bodyPr/>
                    <a:lstStyle/>
                    <a:p>
                      <a:pPr algn="l"/>
                      <a:r>
                        <a:rPr sz="1700" b="0">
                          <a:solidFill>
                            <a:srgbClr val="142B33"/>
                          </a:solidFill>
                          <a:latin typeface="Calibri"/>
                        </a:rPr>
                        <a:t>Longitud de la palabra más corta</a:t>
                      </a:r>
                    </a:p>
                  </a:txBody>
                  <a:tcPr marL="73152" marR="73152" marT="27432" marB="27432" anchor="ctr">
                    <a:solidFill>
                      <a:srgbClr val="F4F8F9"/>
                    </a:solidFill>
                  </a:tcPr>
                </a:tc>
              </a:tr>
              <a:tr h="382269">
                <a:tc>
                  <a:txBody>
                    <a:bodyPr/>
                    <a:lstStyle/>
                    <a:p>
                      <a:pPr algn="l"/>
                      <a:r>
                        <a:rPr sz="1700" b="0">
                          <a:solidFill>
                            <a:srgbClr val="142B33"/>
                          </a:solidFill>
                          <a:latin typeface="Calibri"/>
                        </a:rPr>
                        <a:t>Construcción</a:t>
                      </a:r>
                    </a:p>
                  </a:txBody>
                  <a:tcPr marL="73152" marR="73152" marT="27432" marB="27432" anchor="ctr">
                    <a:solidFill>
                      <a:srgbClr val="FFFFFF"/>
                    </a:solidFill>
                  </a:tcPr>
                </a:tc>
                <a:tc>
                  <a:txBody>
                    <a:bodyPr/>
                    <a:lstStyle/>
                    <a:p>
                      <a:pPr algn="l"/>
                      <a:r>
                        <a:rPr sz="1700" b="0">
                          <a:solidFill>
                            <a:srgbClr val="142B33"/>
                          </a:solidFill>
                          <a:latin typeface="Calibri"/>
                        </a:rPr>
                        <a:t>Factorial completo en k − p factores + p columnas generadas</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49</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escogen los generadores?</a:t>
            </a:r>
          </a:p>
        </p:txBody>
      </p:sp>
      <p:sp>
        <p:nvSpPr>
          <p:cNvPr id="3" name="TextBox 2"/>
          <p:cNvSpPr txBox="1"/>
          <p:nvPr/>
        </p:nvSpPr>
        <p:spPr>
          <a:xfrm>
            <a:off x="548640" y="1417320"/>
            <a:ext cx="5341467" cy="4129024"/>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Fijar k y las corridas N que se pueden pagar: </a:t>
            </a:r>
            <a:r>
              <a:rPr sz="1400" b="1">
                <a:solidFill>
                  <a:srgbClr val="142B33"/>
                </a:solidFill>
                <a:latin typeface="Calibri"/>
              </a:rPr>
              <a:t>p = k − log₂N</a:t>
            </a:r>
            <a:r>
              <a:rPr sz="1400" b="0">
                <a:solidFill>
                  <a:srgbClr val="142B33"/>
                </a:solidFill>
                <a:latin typeface="Calibri"/>
              </a:rPr>
              <a:t> generadores</a:t>
            </a:r>
          </a:p>
          <a:p>
            <a:pPr marL="320040" indent="-320040">
              <a:spcAft>
                <a:spcPts val="600"/>
              </a:spcAft>
              <a:buClr>
                <a:srgbClr val="E36414"/>
              </a:buClr>
              <a:buFont typeface="+mj-lt"/>
              <a:buAutoNum type="arabicPeriod"/>
            </a:pPr>
            <a:r>
              <a:rPr sz="1400" b="0">
                <a:solidFill>
                  <a:srgbClr val="142B33"/>
                </a:solidFill>
                <a:latin typeface="Calibri"/>
              </a:rPr>
              <a:t>Decidir la </a:t>
            </a:r>
            <a:r>
              <a:rPr sz="1400" b="1">
                <a:solidFill>
                  <a:srgbClr val="142B33"/>
                </a:solidFill>
                <a:latin typeface="Calibri"/>
              </a:rPr>
              <a:t>resolución</a:t>
            </a:r>
            <a:r>
              <a:rPr sz="1400" b="0">
                <a:solidFill>
                  <a:srgbClr val="142B33"/>
                </a:solidFill>
                <a:latin typeface="Calibri"/>
              </a:rPr>
              <a:t> necesaria: III solo principales; IV principales libres de dobles; V dobles libres entre sí</a:t>
            </a:r>
          </a:p>
          <a:p>
            <a:pPr marL="320040" indent="-320040">
              <a:spcAft>
                <a:spcPts val="600"/>
              </a:spcAft>
              <a:buClr>
                <a:srgbClr val="E36414"/>
              </a:buClr>
              <a:buFont typeface="+mj-lt"/>
              <a:buAutoNum type="arabicPeriod"/>
            </a:pPr>
            <a:r>
              <a:rPr sz="1400" b="0">
                <a:solidFill>
                  <a:srgbClr val="142B33"/>
                </a:solidFill>
                <a:latin typeface="Calibri"/>
              </a:rPr>
              <a:t>Escribir el </a:t>
            </a:r>
            <a:r>
              <a:rPr sz="1400" b="1">
                <a:solidFill>
                  <a:srgbClr val="142B33"/>
                </a:solidFill>
                <a:latin typeface="Calibri"/>
              </a:rPr>
              <a:t>diseño básico</a:t>
            </a:r>
            <a:r>
              <a:rPr sz="1400" b="0">
                <a:solidFill>
                  <a:srgbClr val="142B33"/>
                </a:solidFill>
                <a:latin typeface="Calibri"/>
              </a:rPr>
              <a:t>: 2</a:t>
            </a:r>
            <a:r>
              <a:rPr sz="1400" b="0" baseline="30000">
                <a:solidFill>
                  <a:srgbClr val="142B33"/>
                </a:solidFill>
                <a:latin typeface="Calibri"/>
              </a:rPr>
              <a:t>k−p</a:t>
            </a:r>
            <a:r>
              <a:rPr sz="1400" b="0">
                <a:solidFill>
                  <a:srgbClr val="142B33"/>
                </a:solidFill>
                <a:latin typeface="Calibri"/>
              </a:rPr>
              <a:t> completo en los primeros k − p factores (A, B, C, D)</a:t>
            </a:r>
          </a:p>
          <a:p>
            <a:pPr marL="320040" indent="-320040">
              <a:spcAft>
                <a:spcPts val="600"/>
              </a:spcAft>
              <a:buClr>
                <a:srgbClr val="E36414"/>
              </a:buClr>
              <a:buFont typeface="+mj-lt"/>
              <a:buAutoNum type="arabicPeriod"/>
            </a:pPr>
            <a:r>
              <a:rPr sz="1400" b="0">
                <a:solidFill>
                  <a:srgbClr val="142B33"/>
                </a:solidFill>
                <a:latin typeface="Calibri"/>
              </a:rPr>
              <a:t>A cada factor sobrante, una </a:t>
            </a:r>
            <a:r>
              <a:rPr sz="1400" b="1">
                <a:solidFill>
                  <a:srgbClr val="142B33"/>
                </a:solidFill>
                <a:latin typeface="Calibri"/>
              </a:rPr>
              <a:t>columna de interacción</a:t>
            </a:r>
            <a:r>
              <a:rPr sz="1400" b="0">
                <a:solidFill>
                  <a:srgbClr val="142B33"/>
                </a:solidFill>
                <a:latin typeface="Calibri"/>
              </a:rPr>
              <a:t> distinta del básico: E = ABC ⇒ generador </a:t>
            </a:r>
            <a:r>
              <a:rPr sz="1400" b="1">
                <a:solidFill>
                  <a:srgbClr val="142B33"/>
                </a:solidFill>
                <a:latin typeface="Calibri"/>
              </a:rPr>
              <a:t>I = ABCE</a:t>
            </a:r>
          </a:p>
          <a:p>
            <a:pPr marL="320040" indent="-320040">
              <a:spcAft>
                <a:spcPts val="600"/>
              </a:spcAft>
              <a:buClr>
                <a:srgbClr val="E36414"/>
              </a:buClr>
              <a:buFont typeface="+mj-lt"/>
              <a:buAutoNum type="arabicPeriod"/>
            </a:pPr>
            <a:r>
              <a:rPr sz="1400" b="0">
                <a:solidFill>
                  <a:srgbClr val="142B33"/>
                </a:solidFill>
                <a:latin typeface="Calibri"/>
              </a:rPr>
              <a:t>Multiplicar los generadores entre sí, cancelando letras repetidas (A² = I): </a:t>
            </a:r>
            <a:r>
              <a:rPr sz="1400" b="1">
                <a:solidFill>
                  <a:srgbClr val="142B33"/>
                </a:solidFill>
                <a:latin typeface="Calibri"/>
              </a:rPr>
              <a:t>2</a:t>
            </a:r>
            <a:r>
              <a:rPr sz="1400" b="1" baseline="30000">
                <a:solidFill>
                  <a:srgbClr val="142B33"/>
                </a:solidFill>
                <a:latin typeface="Calibri"/>
              </a:rPr>
              <a:t>p</a:t>
            </a:r>
            <a:r>
              <a:rPr sz="1400" b="1">
                <a:solidFill>
                  <a:srgbClr val="142B33"/>
                </a:solidFill>
                <a:latin typeface="Calibri"/>
              </a:rPr>
              <a:t> − 1 palabras</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Resolución</a:t>
            </a:r>
            <a:r>
              <a:rPr sz="1400" b="0">
                <a:solidFill>
                  <a:srgbClr val="142B33"/>
                </a:solidFill>
                <a:latin typeface="Calibri"/>
              </a:rPr>
              <a:t> = longitud de la palabra más corta; si no alcanza, volver al paso 4 con otras columnas</a:t>
            </a:r>
          </a:p>
          <a:p>
            <a:pPr marL="320040" indent="-320040">
              <a:spcAft>
                <a:spcPts val="600"/>
              </a:spcAft>
              <a:buClr>
                <a:srgbClr val="E36414"/>
              </a:buClr>
              <a:buFont typeface="+mj-lt"/>
              <a:buAutoNum type="arabicPeriod"/>
            </a:pPr>
            <a:r>
              <a:rPr sz="1400" b="0">
                <a:solidFill>
                  <a:srgbClr val="142B33"/>
                </a:solidFill>
                <a:latin typeface="Calibri"/>
              </a:rPr>
              <a:t>Si hay empate en resolución: </a:t>
            </a:r>
            <a:r>
              <a:rPr sz="1400" b="1">
                <a:solidFill>
                  <a:srgbClr val="142B33"/>
                </a:solidFill>
                <a:latin typeface="Calibri"/>
              </a:rPr>
              <a:t>aberración mínima</a:t>
            </a:r>
            <a:r>
              <a:rPr sz="1400" b="0">
                <a:solidFill>
                  <a:srgbClr val="142B33"/>
                </a:solidFill>
                <a:latin typeface="Calibri"/>
              </a:rPr>
              <a:t> (siguiente diapositiva)</a:t>
            </a:r>
          </a:p>
          <a:p>
            <a:pPr marL="320040" indent="-320040">
              <a:spcAft>
                <a:spcPts val="600"/>
              </a:spcAft>
              <a:buClr>
                <a:srgbClr val="E36414"/>
              </a:buClr>
              <a:buFont typeface="+mj-lt"/>
              <a:buAutoNum type="arabicPeriod"/>
            </a:pPr>
            <a:r>
              <a:rPr sz="1400" b="0">
                <a:solidFill>
                  <a:srgbClr val="142B33"/>
                </a:solidFill>
                <a:latin typeface="Calibri"/>
              </a:rPr>
              <a:t>Escribir los alias y </a:t>
            </a:r>
            <a:r>
              <a:rPr sz="1400" b="1">
                <a:solidFill>
                  <a:srgbClr val="142B33"/>
                </a:solidFill>
                <a:latin typeface="Calibri"/>
              </a:rPr>
              <a:t>asignar</a:t>
            </a:r>
            <a:r>
              <a:rPr sz="1400" b="0">
                <a:solidFill>
                  <a:srgbClr val="142B33"/>
                </a:solidFill>
                <a:latin typeface="Calibri"/>
              </a:rPr>
              <a:t> los factores reales a las letras, sin poner en la misma cadena los que pueden interactuar</a:t>
            </a:r>
          </a:p>
        </p:txBody>
      </p:sp>
      <p:sp>
        <p:nvSpPr>
          <p:cNvPr id="4" name="TextBox 3"/>
          <p:cNvSpPr txBox="1"/>
          <p:nvPr/>
        </p:nvSpPr>
        <p:spPr>
          <a:xfrm>
            <a:off x="6301587" y="1417320"/>
            <a:ext cx="5341467" cy="501396"/>
          </a:xfrm>
          <a:prstGeom prst="rect">
            <a:avLst/>
          </a:prstGeom>
          <a:noFill/>
        </p:spPr>
        <p:txBody>
          <a:bodyPr wrap="square" anchor="t" lIns="0" rIns="0" tIns="0" bIns="0">
            <a:spAutoFit/>
          </a:bodyPr>
          <a:lstStyle/>
          <a:p>
            <a:r>
              <a:rPr sz="1500" b="1">
                <a:solidFill>
                  <a:srgbClr val="142B33"/>
                </a:solidFill>
                <a:latin typeface="Calibri"/>
              </a:rPr>
              <a:t>Ejemplo</a:t>
            </a:r>
            <a:r>
              <a:rPr sz="1500" b="0">
                <a:solidFill>
                  <a:srgbClr val="142B33"/>
                </a:solidFill>
                <a:latin typeface="Calibri"/>
              </a:rPr>
              <a:t>: 6 factores, 16 corridas ⇒ p = 2, básico 2</a:t>
            </a:r>
            <a:r>
              <a:rPr sz="1500" b="0" baseline="30000">
                <a:solidFill>
                  <a:srgbClr val="142B33"/>
                </a:solidFill>
                <a:latin typeface="Calibri"/>
              </a:rPr>
              <a:t>4</a:t>
            </a:r>
            <a:r>
              <a:rPr sz="1500" b="0">
                <a:solidFill>
                  <a:srgbClr val="142B33"/>
                </a:solidFill>
                <a:latin typeface="Calibri"/>
              </a:rPr>
              <a:t> en A, B, C, D</a:t>
            </a:r>
          </a:p>
        </p:txBody>
      </p:sp>
      <p:graphicFrame>
        <p:nvGraphicFramePr>
          <p:cNvPr id="5" name="Table 4"/>
          <p:cNvGraphicFramePr>
            <a:graphicFrameLocks noGrp="1"/>
          </p:cNvGraphicFramePr>
          <p:nvPr/>
        </p:nvGraphicFramePr>
        <p:xfrm>
          <a:off x="6301587" y="2119884"/>
          <a:ext cx="5341466" cy="1343152"/>
        </p:xfrm>
        <a:graphic>
          <a:graphicData uri="http://schemas.openxmlformats.org/drawingml/2006/table">
            <a:tbl>
              <a:tblPr firstRow="0" bandRow="0">
                <a:tableStyleId>{5C22544A-7EE6-4342-B048-85BDC9FD1C3A}</a:tableStyleId>
              </a:tblPr>
              <a:tblGrid>
                <a:gridCol w="1922928"/>
                <a:gridCol w="2670733"/>
                <a:gridCol w="747805"/>
              </a:tblGrid>
              <a:tr h="335788">
                <a:tc>
                  <a:txBody>
                    <a:bodyPr/>
                    <a:lstStyle/>
                    <a:p>
                      <a:pPr algn="l"/>
                      <a:r>
                        <a:rPr sz="1400" b="1">
                          <a:solidFill>
                            <a:srgbClr val="FFFFFF"/>
                          </a:solidFill>
                          <a:latin typeface="Calibri"/>
                        </a:rPr>
                        <a:t>Generadores</a:t>
                      </a:r>
                    </a:p>
                  </a:txBody>
                  <a:tcPr marL="73152" marR="73152" marT="27432" marB="27432" anchor="ctr">
                    <a:solidFill>
                      <a:srgbClr val="0F4C5C"/>
                    </a:solidFill>
                  </a:tcPr>
                </a:tc>
                <a:tc>
                  <a:txBody>
                    <a:bodyPr/>
                    <a:lstStyle/>
                    <a:p>
                      <a:pPr algn="ctr"/>
                      <a:r>
                        <a:rPr sz="1400" b="1">
                          <a:solidFill>
                            <a:srgbClr val="FFFFFF"/>
                          </a:solidFill>
                          <a:latin typeface="Calibri"/>
                        </a:rPr>
                        <a:t>Palabras</a:t>
                      </a:r>
                    </a:p>
                  </a:txBody>
                  <a:tcPr marL="73152" marR="73152" marT="27432" marB="27432" anchor="ctr">
                    <a:solidFill>
                      <a:srgbClr val="0F4C5C"/>
                    </a:solidFill>
                  </a:tcPr>
                </a:tc>
                <a:tc>
                  <a:txBody>
                    <a:bodyPr/>
                    <a:lstStyle/>
                    <a:p>
                      <a:pPr algn="ctr"/>
                      <a:r>
                        <a:rPr sz="1400" b="1">
                          <a:solidFill>
                            <a:srgbClr val="FFFFFF"/>
                          </a:solidFill>
                          <a:latin typeface="Calibri"/>
                        </a:rPr>
                        <a:t>R</a:t>
                      </a:r>
                    </a:p>
                  </a:txBody>
                  <a:tcPr marL="73152" marR="73152" marT="27432" marB="27432" anchor="ctr">
                    <a:solidFill>
                      <a:srgbClr val="0F4C5C"/>
                    </a:solidFill>
                  </a:tcPr>
                </a:tc>
              </a:tr>
              <a:tr h="335788">
                <a:tc>
                  <a:txBody>
                    <a:bodyPr/>
                    <a:lstStyle/>
                    <a:p>
                      <a:pPr algn="l"/>
                      <a:r>
                        <a:rPr sz="1400" b="0">
                          <a:solidFill>
                            <a:srgbClr val="142B33"/>
                          </a:solidFill>
                          <a:latin typeface="Calibri"/>
                        </a:rPr>
                        <a:t>E = ABC,  F = BCD</a:t>
                      </a:r>
                    </a:p>
                  </a:txBody>
                  <a:tcPr marL="73152" marR="73152" marT="27432" marB="27432" anchor="ctr">
                    <a:solidFill>
                      <a:srgbClr val="FDE8D7"/>
                    </a:solidFill>
                  </a:tcPr>
                </a:tc>
                <a:tc>
                  <a:txBody>
                    <a:bodyPr/>
                    <a:lstStyle/>
                    <a:p>
                      <a:pPr algn="ctr"/>
                      <a:r>
                        <a:rPr sz="1400" b="0">
                          <a:solidFill>
                            <a:srgbClr val="142B33"/>
                          </a:solidFill>
                          <a:latin typeface="Calibri"/>
                        </a:rPr>
                        <a:t>ABCE, BCDF, ADEF</a:t>
                      </a:r>
                    </a:p>
                  </a:txBody>
                  <a:tcPr marL="73152" marR="73152" marT="27432" marB="27432" anchor="ctr">
                    <a:solidFill>
                      <a:srgbClr val="FDE8D7"/>
                    </a:solidFill>
                  </a:tcPr>
                </a:tc>
                <a:tc>
                  <a:txBody>
                    <a:bodyPr/>
                    <a:lstStyle/>
                    <a:p>
                      <a:pPr algn="ctr"/>
                      <a:r>
                        <a:rPr sz="1400" b="0">
                          <a:solidFill>
                            <a:srgbClr val="142B33"/>
                          </a:solidFill>
                          <a:latin typeface="Calibri"/>
                        </a:rPr>
                        <a:t>IV</a:t>
                      </a:r>
                    </a:p>
                  </a:txBody>
                  <a:tcPr marL="73152" marR="73152" marT="27432" marB="27432" anchor="ctr">
                    <a:solidFill>
                      <a:srgbClr val="FDE8D7"/>
                    </a:solidFill>
                  </a:tcPr>
                </a:tc>
              </a:tr>
              <a:tr h="335788">
                <a:tc>
                  <a:txBody>
                    <a:bodyPr/>
                    <a:lstStyle/>
                    <a:p>
                      <a:pPr algn="l"/>
                      <a:r>
                        <a:rPr sz="1400" b="0">
                          <a:solidFill>
                            <a:srgbClr val="142B33"/>
                          </a:solidFill>
                          <a:latin typeface="Calibri"/>
                        </a:rPr>
                        <a:t>E = ABC,  F = ABCD</a:t>
                      </a:r>
                    </a:p>
                  </a:txBody>
                  <a:tcPr marL="73152" marR="73152" marT="27432" marB="27432" anchor="ctr">
                    <a:solidFill>
                      <a:srgbClr val="F4F8F9"/>
                    </a:solidFill>
                  </a:tcPr>
                </a:tc>
                <a:tc>
                  <a:txBody>
                    <a:bodyPr/>
                    <a:lstStyle/>
                    <a:p>
                      <a:pPr algn="ctr"/>
                      <a:r>
                        <a:rPr sz="1400" b="0">
                          <a:solidFill>
                            <a:srgbClr val="142B33"/>
                          </a:solidFill>
                          <a:latin typeface="Calibri"/>
                        </a:rPr>
                        <a:t>ABCE, ABCDF, </a:t>
                      </a:r>
                      <a:r>
                        <a:rPr sz="1400" b="1">
                          <a:solidFill>
                            <a:srgbClr val="142B33"/>
                          </a:solidFill>
                          <a:latin typeface="Calibri"/>
                        </a:rPr>
                        <a:t>DEF</a:t>
                      </a:r>
                    </a:p>
                  </a:txBody>
                  <a:tcPr marL="73152" marR="73152" marT="27432" marB="27432" anchor="ctr">
                    <a:solidFill>
                      <a:srgbClr val="F4F8F9"/>
                    </a:solidFill>
                  </a:tcPr>
                </a:tc>
                <a:tc>
                  <a:txBody>
                    <a:bodyPr/>
                    <a:lstStyle/>
                    <a:p>
                      <a:pPr algn="ctr"/>
                      <a:r>
                        <a:rPr sz="1400" b="0">
                          <a:solidFill>
                            <a:srgbClr val="142B33"/>
                          </a:solidFill>
                          <a:latin typeface="Calibri"/>
                        </a:rPr>
                        <a:t>III</a:t>
                      </a:r>
                    </a:p>
                  </a:txBody>
                  <a:tcPr marL="73152" marR="73152" marT="27432" marB="27432" anchor="ctr">
                    <a:solidFill>
                      <a:srgbClr val="F4F8F9"/>
                    </a:solidFill>
                  </a:tcPr>
                </a:tc>
              </a:tr>
              <a:tr h="335788">
                <a:tc>
                  <a:txBody>
                    <a:bodyPr/>
                    <a:lstStyle/>
                    <a:p>
                      <a:pPr algn="l"/>
                      <a:r>
                        <a:rPr sz="1400" b="0">
                          <a:solidFill>
                            <a:srgbClr val="142B33"/>
                          </a:solidFill>
                          <a:latin typeface="Calibri"/>
                        </a:rPr>
                        <a:t>E = ABCD,  F = ABCD</a:t>
                      </a:r>
                    </a:p>
                  </a:txBody>
                  <a:tcPr marL="73152" marR="73152" marT="27432" marB="27432" anchor="ctr">
                    <a:solidFill>
                      <a:srgbClr val="FFFFFF"/>
                    </a:solidFill>
                  </a:tcPr>
                </a:tc>
                <a:tc>
                  <a:txBody>
                    <a:bodyPr/>
                    <a:lstStyle/>
                    <a:p>
                      <a:pPr algn="ctr"/>
                      <a:r>
                        <a:rPr sz="1400" b="0">
                          <a:solidFill>
                            <a:srgbClr val="142B33"/>
                          </a:solidFill>
                          <a:latin typeface="Calibri"/>
                        </a:rPr>
                        <a:t>ABCDE, ABCDF, </a:t>
                      </a:r>
                      <a:r>
                        <a:rPr sz="1400" b="1">
                          <a:solidFill>
                            <a:srgbClr val="142B33"/>
                          </a:solidFill>
                          <a:latin typeface="Calibri"/>
                        </a:rPr>
                        <a:t>EF</a:t>
                      </a:r>
                    </a:p>
                  </a:txBody>
                  <a:tcPr marL="73152" marR="73152" marT="27432" marB="27432" anchor="ctr">
                    <a:solidFill>
                      <a:srgbClr val="FFFFFF"/>
                    </a:solidFill>
                  </a:tcPr>
                </a:tc>
                <a:tc>
                  <a:txBody>
                    <a:bodyPr/>
                    <a:lstStyle/>
                    <a:p>
                      <a:pPr algn="ctr"/>
                      <a:r>
                        <a:rPr sz="1400" b="0">
                          <a:solidFill>
                            <a:srgbClr val="142B33"/>
                          </a:solidFill>
                          <a:latin typeface="Calibri"/>
                        </a:rPr>
                        <a:t>II</a:t>
                      </a:r>
                    </a:p>
                  </a:txBody>
                  <a:tcPr marL="73152" marR="73152" marT="27432" marB="27432" anchor="ctr">
                    <a:solidFill>
                      <a:srgbClr val="FFFFFF"/>
                    </a:solidFill>
                  </a:tcPr>
                </a:tc>
              </a:tr>
            </a:tbl>
          </a:graphicData>
        </a:graphic>
      </p:graphicFrame>
      <p:sp>
        <p:nvSpPr>
          <p:cNvPr id="6" name="Rounded Rectangle 5"/>
          <p:cNvSpPr/>
          <p:nvPr/>
        </p:nvSpPr>
        <p:spPr>
          <a:xfrm>
            <a:off x="6301587" y="3664204"/>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Generadores </a:t>
            </a:r>
            <a:r>
              <a:rPr sz="1400" b="1">
                <a:solidFill>
                  <a:srgbClr val="142B33"/>
                </a:solidFill>
                <a:latin typeface="Calibri"/>
              </a:rPr>
              <a:t>largos</a:t>
            </a:r>
            <a:r>
              <a:rPr sz="1400" b="0">
                <a:solidFill>
                  <a:srgbClr val="142B33"/>
                </a:solidFill>
                <a:latin typeface="Calibri"/>
              </a:rPr>
              <a:t> que compartan </a:t>
            </a:r>
            <a:r>
              <a:rPr sz="1400" b="1">
                <a:solidFill>
                  <a:srgbClr val="142B33"/>
                </a:solidFill>
                <a:latin typeface="Calibri"/>
              </a:rPr>
              <a:t>pocas letras</a:t>
            </a:r>
            <a:r>
              <a:rPr sz="1400" b="0">
                <a:solidFill>
                  <a:srgbClr val="142B33"/>
                </a:solidFill>
                <a:latin typeface="Calibri"/>
              </a:rPr>
              <a:t>: ABCE y ABCDF comparten ABC y su producto es DEF</a:t>
            </a:r>
          </a:p>
        </p:txBody>
      </p:sp>
      <p:sp>
        <p:nvSpPr>
          <p:cNvPr id="7" name="Rounded Rectangle 6"/>
          <p:cNvSpPr/>
          <p:nvPr/>
        </p:nvSpPr>
        <p:spPr>
          <a:xfrm>
            <a:off x="6301587" y="4573524"/>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Con 16 corridas no hay 2</a:t>
            </a:r>
            <a:r>
              <a:rPr sz="1400" b="0" baseline="30000">
                <a:solidFill>
                  <a:srgbClr val="142B33"/>
                </a:solidFill>
                <a:latin typeface="Calibri"/>
              </a:rPr>
              <a:t>6−2</a:t>
            </a:r>
            <a:r>
              <a:rPr sz="1400" b="0" baseline="-25000">
                <a:solidFill>
                  <a:srgbClr val="142B33"/>
                </a:solidFill>
                <a:latin typeface="Calibri"/>
              </a:rPr>
              <a:t>V</a:t>
            </a:r>
            <a:r>
              <a:rPr sz="1400" b="0">
                <a:solidFill>
                  <a:srgbClr val="142B33"/>
                </a:solidFill>
                <a:latin typeface="Calibri"/>
              </a:rPr>
              <a:t>: solo existe una columna de 4 letras, ABCD</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50</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desempata entre diseños de igual resolución?</a:t>
            </a:r>
          </a:p>
        </p:txBody>
      </p:sp>
      <p:graphicFrame>
        <p:nvGraphicFramePr>
          <p:cNvPr id="3" name="Table 2"/>
          <p:cNvGraphicFramePr>
            <a:graphicFrameLocks noGrp="1"/>
          </p:cNvGraphicFramePr>
          <p:nvPr/>
        </p:nvGraphicFramePr>
        <p:xfrm>
          <a:off x="548640" y="1417320"/>
          <a:ext cx="11094412" cy="2081784"/>
        </p:xfrm>
        <a:graphic>
          <a:graphicData uri="http://schemas.openxmlformats.org/drawingml/2006/table">
            <a:tbl>
              <a:tblPr firstRow="0" bandRow="0">
                <a:tableStyleId>{5C22544A-7EE6-4342-B048-85BDC9FD1C3A}</a:tableStyleId>
              </a:tblPr>
              <a:tblGrid>
                <a:gridCol w="2773603"/>
                <a:gridCol w="2773603"/>
                <a:gridCol w="2773603"/>
                <a:gridCol w="2773603"/>
              </a:tblGrid>
              <a:tr h="366776">
                <a:tc>
                  <a:txBody>
                    <a:bodyPr/>
                    <a:lstStyle/>
                    <a:p>
                      <a:pPr algn="l"/>
                    </a:p>
                  </a:txBody>
                  <a:tcPr marL="73152" marR="73152" marT="27432" marB="27432" anchor="ctr">
                    <a:solidFill>
                      <a:srgbClr val="0F4C5C"/>
                    </a:solidFill>
                  </a:tcPr>
                </a:tc>
                <a:tc>
                  <a:txBody>
                    <a:bodyPr/>
                    <a:lstStyle/>
                    <a:p>
                      <a:pPr algn="ctr"/>
                      <a:r>
                        <a:rPr sz="1600" b="1">
                          <a:solidFill>
                            <a:srgbClr val="FFFFFF"/>
                          </a:solidFill>
                          <a:latin typeface="Calibri"/>
                        </a:rPr>
                        <a:t>Diseño A</a:t>
                      </a:r>
                    </a:p>
                  </a:txBody>
                  <a:tcPr marL="73152" marR="73152" marT="27432" marB="27432" anchor="ctr">
                    <a:solidFill>
                      <a:srgbClr val="0F4C5C"/>
                    </a:solidFill>
                  </a:tcPr>
                </a:tc>
                <a:tc>
                  <a:txBody>
                    <a:bodyPr/>
                    <a:lstStyle/>
                    <a:p>
                      <a:pPr algn="ctr"/>
                      <a:r>
                        <a:rPr sz="1600" b="1">
                          <a:solidFill>
                            <a:srgbClr val="FFFFFF"/>
                          </a:solidFill>
                          <a:latin typeface="Calibri"/>
                        </a:rPr>
                        <a:t>Diseño B</a:t>
                      </a:r>
                    </a:p>
                  </a:txBody>
                  <a:tcPr marL="73152" marR="73152" marT="27432" marB="27432" anchor="ctr">
                    <a:solidFill>
                      <a:srgbClr val="0F4C5C"/>
                    </a:solidFill>
                  </a:tcPr>
                </a:tc>
                <a:tc>
                  <a:txBody>
                    <a:bodyPr/>
                    <a:lstStyle/>
                    <a:p>
                      <a:pPr algn="ctr"/>
                      <a:r>
                        <a:rPr sz="1600" b="1">
                          <a:solidFill>
                            <a:srgbClr val="FFFFFF"/>
                          </a:solidFill>
                          <a:latin typeface="Calibri"/>
                        </a:rPr>
                        <a:t>Diseño C</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Generadores</a:t>
                      </a:r>
                    </a:p>
                  </a:txBody>
                  <a:tcPr marL="73152" marR="73152" marT="27432" marB="27432" anchor="ctr">
                    <a:solidFill>
                      <a:srgbClr val="FFFFFF"/>
                    </a:solidFill>
                  </a:tcPr>
                </a:tc>
                <a:tc>
                  <a:txBody>
                    <a:bodyPr/>
                    <a:lstStyle/>
                    <a:p>
                      <a:pPr algn="ctr"/>
                      <a:r>
                        <a:rPr sz="1600" b="0">
                          <a:solidFill>
                            <a:srgbClr val="142B33"/>
                          </a:solidFill>
                          <a:latin typeface="Calibri"/>
                        </a:rPr>
                        <a:t>F = ABC,  G = BCD</a:t>
                      </a:r>
                    </a:p>
                  </a:txBody>
                  <a:tcPr marL="73152" marR="73152" marT="27432" marB="27432" anchor="ctr">
                    <a:solidFill>
                      <a:srgbClr val="FFFFFF"/>
                    </a:solidFill>
                  </a:tcPr>
                </a:tc>
                <a:tc>
                  <a:txBody>
                    <a:bodyPr/>
                    <a:lstStyle/>
                    <a:p>
                      <a:pPr algn="ctr"/>
                      <a:r>
                        <a:rPr sz="1600" b="0">
                          <a:solidFill>
                            <a:srgbClr val="142B33"/>
                          </a:solidFill>
                          <a:latin typeface="Calibri"/>
                        </a:rPr>
                        <a:t>F = ABC,  G = ADE</a:t>
                      </a:r>
                    </a:p>
                  </a:txBody>
                  <a:tcPr marL="73152" marR="73152" marT="27432" marB="27432" anchor="ctr">
                    <a:solidFill>
                      <a:srgbClr val="FFFFFF"/>
                    </a:solidFill>
                  </a:tcPr>
                </a:tc>
                <a:tc>
                  <a:txBody>
                    <a:bodyPr/>
                    <a:lstStyle/>
                    <a:p>
                      <a:pPr algn="ctr"/>
                      <a:r>
                        <a:rPr sz="1600" b="0">
                          <a:solidFill>
                            <a:srgbClr val="142B33"/>
                          </a:solidFill>
                          <a:latin typeface="Calibri"/>
                        </a:rPr>
                        <a:t>F = ABCD,  G = ABDE</a:t>
                      </a:r>
                    </a:p>
                  </a:txBody>
                  <a:tcPr marL="73152" marR="73152" marT="27432" marB="27432" anchor="ctr">
                    <a:solidFill>
                      <a:srgbClr val="FFFFFF"/>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4F8F9"/>
                    </a:solidFill>
                  </a:tcPr>
                </a:tc>
                <a:tc>
                  <a:txBody>
                    <a:bodyPr/>
                    <a:lstStyle/>
                    <a:p>
                      <a:pPr algn="ctr"/>
                      <a:r>
                        <a:rPr sz="1600" b="0">
                          <a:solidFill>
                            <a:srgbClr val="142B33"/>
                          </a:solidFill>
                          <a:latin typeface="Calibri"/>
                        </a:rPr>
                        <a:t>I = ABCF = BCDG = ADFG</a:t>
                      </a:r>
                    </a:p>
                  </a:txBody>
                  <a:tcPr marL="73152" marR="73152" marT="27432" marB="27432" anchor="ctr">
                    <a:solidFill>
                      <a:srgbClr val="F4F8F9"/>
                    </a:solidFill>
                  </a:tcPr>
                </a:tc>
                <a:tc>
                  <a:txBody>
                    <a:bodyPr/>
                    <a:lstStyle/>
                    <a:p>
                      <a:pPr algn="ctr"/>
                      <a:r>
                        <a:rPr sz="1600" b="0">
                          <a:solidFill>
                            <a:srgbClr val="142B33"/>
                          </a:solidFill>
                          <a:latin typeface="Calibri"/>
                        </a:rPr>
                        <a:t>I = ABCF = ADEG = BCDEFG</a:t>
                      </a:r>
                    </a:p>
                  </a:txBody>
                  <a:tcPr marL="73152" marR="73152" marT="27432" marB="27432" anchor="ctr">
                    <a:solidFill>
                      <a:srgbClr val="F4F8F9"/>
                    </a:solidFill>
                  </a:tcPr>
                </a:tc>
                <a:tc>
                  <a:txBody>
                    <a:bodyPr/>
                    <a:lstStyle/>
                    <a:p>
                      <a:pPr algn="ctr"/>
                      <a:r>
                        <a:rPr sz="1600" b="0">
                          <a:solidFill>
                            <a:srgbClr val="142B33"/>
                          </a:solidFill>
                          <a:latin typeface="Calibri"/>
                        </a:rPr>
                        <a:t>I = ABCDF = ABDEG = CEFG</a:t>
                      </a:r>
                    </a:p>
                  </a:txBody>
                  <a:tcPr marL="73152" marR="73152" marT="27432" marB="27432" anchor="ctr">
                    <a:solidFill>
                      <a:srgbClr val="F4F8F9"/>
                    </a:solidFill>
                  </a:tcPr>
                </a:tc>
              </a:tr>
              <a:tr h="366776">
                <a:tc>
                  <a:txBody>
                    <a:bodyPr/>
                    <a:lstStyle/>
                    <a:p>
                      <a:pPr algn="l"/>
                      <a:r>
                        <a:rPr sz="1600" b="0">
                          <a:solidFill>
                            <a:srgbClr val="142B33"/>
                          </a:solidFill>
                          <a:latin typeface="Calibri"/>
                        </a:rPr>
                        <a:t>Longitud de las palabras</a:t>
                      </a:r>
                    </a:p>
                  </a:txBody>
                  <a:tcPr marL="73152" marR="73152" marT="27432" marB="27432" anchor="ctr">
                    <a:solidFill>
                      <a:srgbClr val="FFFFFF"/>
                    </a:solidFill>
                  </a:tcPr>
                </a:tc>
                <a:tc>
                  <a:txBody>
                    <a:bodyPr/>
                    <a:lstStyle/>
                    <a:p>
                      <a:pPr algn="ctr"/>
                      <a:r>
                        <a:rPr sz="1600" b="0">
                          <a:solidFill>
                            <a:srgbClr val="142B33"/>
                          </a:solidFill>
                          <a:latin typeface="Calibri"/>
                        </a:rPr>
                        <a:t>4, 4, 4</a:t>
                      </a:r>
                    </a:p>
                  </a:txBody>
                  <a:tcPr marL="73152" marR="73152" marT="27432" marB="27432" anchor="ctr">
                    <a:solidFill>
                      <a:srgbClr val="FFFFFF"/>
                    </a:solidFill>
                  </a:tcPr>
                </a:tc>
                <a:tc>
                  <a:txBody>
                    <a:bodyPr/>
                    <a:lstStyle/>
                    <a:p>
                      <a:pPr algn="ctr"/>
                      <a:r>
                        <a:rPr sz="1600" b="0">
                          <a:solidFill>
                            <a:srgbClr val="142B33"/>
                          </a:solidFill>
                          <a:latin typeface="Calibri"/>
                        </a:rPr>
                        <a:t>4, 4, 6</a:t>
                      </a:r>
                    </a:p>
                  </a:txBody>
                  <a:tcPr marL="73152" marR="73152" marT="27432" marB="27432" anchor="ctr">
                    <a:solidFill>
                      <a:srgbClr val="FFFFFF"/>
                    </a:solidFill>
                  </a:tcPr>
                </a:tc>
                <a:tc>
                  <a:txBody>
                    <a:bodyPr/>
                    <a:lstStyle/>
                    <a:p>
                      <a:pPr algn="ctr"/>
                      <a:r>
                        <a:rPr sz="1600" b="0">
                          <a:solidFill>
                            <a:srgbClr val="142B33"/>
                          </a:solidFill>
                          <a:latin typeface="Calibri"/>
                        </a:rPr>
                        <a:t>4, 5, 5</a:t>
                      </a:r>
                    </a:p>
                  </a:txBody>
                  <a:tcPr marL="73152" marR="73152" marT="27432" marB="27432" anchor="ctr">
                    <a:solidFill>
                      <a:srgbClr val="FFFFFF"/>
                    </a:solidFill>
                  </a:tcPr>
                </a:tc>
              </a:tr>
              <a:tr h="614680">
                <a:tc>
                  <a:txBody>
                    <a:bodyPr/>
                    <a:lstStyle/>
                    <a:p>
                      <a:pPr algn="l"/>
                      <a:r>
                        <a:rPr sz="1600" b="0">
                          <a:solidFill>
                            <a:srgbClr val="142B33"/>
                          </a:solidFill>
                          <a:latin typeface="Calibri"/>
                        </a:rPr>
                        <a:t>Cadenas de interacciones dobles aliadas</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3700272"/>
            <a:ext cx="11094415"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a:t>
            </a:r>
            <a:r>
              <a:rPr sz="1500" b="1">
                <a:solidFill>
                  <a:srgbClr val="142B33"/>
                </a:solidFill>
                <a:latin typeface="Calibri"/>
              </a:rPr>
              <a:t>relación de definición</a:t>
            </a:r>
            <a:r>
              <a:rPr sz="1500" b="0">
                <a:solidFill>
                  <a:srgbClr val="142B33"/>
                </a:solidFill>
                <a:latin typeface="Calibri"/>
              </a:rPr>
              <a:t> de cada candidato y la longitud de cada palabra</a:t>
            </a:r>
          </a:p>
          <a:p>
            <a:pPr marL="320040" indent="-320040">
              <a:spcAft>
                <a:spcPts val="600"/>
              </a:spcAft>
              <a:buClr>
                <a:srgbClr val="E36414"/>
              </a:buClr>
              <a:buFont typeface="+mj-lt"/>
              <a:buAutoNum type="arabicPeriod"/>
            </a:pPr>
            <a:r>
              <a:rPr sz="1500" b="0">
                <a:solidFill>
                  <a:srgbClr val="142B33"/>
                </a:solidFill>
                <a:latin typeface="Calibri"/>
              </a:rPr>
              <a:t>Descartar los de menor </a:t>
            </a:r>
            <a:r>
              <a:rPr sz="1500" b="1">
                <a:solidFill>
                  <a:srgbClr val="142B33"/>
                </a:solidFill>
                <a:latin typeface="Calibri"/>
              </a:rPr>
              <a:t>resolución</a:t>
            </a:r>
          </a:p>
          <a:p>
            <a:pPr marL="320040" indent="-320040">
              <a:spcAft>
                <a:spcPts val="600"/>
              </a:spcAft>
              <a:buClr>
                <a:srgbClr val="E36414"/>
              </a:buClr>
              <a:buFont typeface="+mj-lt"/>
              <a:buAutoNum type="arabicPeriod"/>
            </a:pPr>
            <a:r>
              <a:rPr sz="1500" b="0">
                <a:solidFill>
                  <a:srgbClr val="142B33"/>
                </a:solidFill>
                <a:latin typeface="Calibri"/>
              </a:rPr>
              <a:t>Entre los que quedan, contar las palabras de </a:t>
            </a:r>
            <a:r>
              <a:rPr sz="1500" b="1">
                <a:solidFill>
                  <a:srgbClr val="142B33"/>
                </a:solidFill>
                <a:latin typeface="Calibri"/>
              </a:rPr>
              <a:t>longitud mínima</a:t>
            </a:r>
            <a:r>
              <a:rPr sz="1500" b="0">
                <a:solidFill>
                  <a:srgbClr val="142B33"/>
                </a:solidFill>
                <a:latin typeface="Calibri"/>
              </a:rPr>
              <a:t>: gana el que tiene </a:t>
            </a:r>
            <a:r>
              <a:rPr sz="1500" b="1">
                <a:solidFill>
                  <a:srgbClr val="142B33"/>
                </a:solidFill>
                <a:latin typeface="Calibri"/>
              </a:rPr>
              <a:t>menos</a:t>
            </a:r>
          </a:p>
          <a:p>
            <a:pPr marL="320040" indent="-320040">
              <a:spcAft>
                <a:spcPts val="600"/>
              </a:spcAft>
              <a:buClr>
                <a:srgbClr val="E36414"/>
              </a:buClr>
              <a:buFont typeface="+mj-lt"/>
              <a:buAutoNum type="arabicPeriod"/>
            </a:pPr>
            <a:r>
              <a:rPr sz="1500" b="0">
                <a:solidFill>
                  <a:srgbClr val="142B33"/>
                </a:solidFill>
                <a:latin typeface="Calibri"/>
              </a:rPr>
              <a:t>Comprobar: menos </a:t>
            </a:r>
            <a:r>
              <a:rPr sz="1500" b="1">
                <a:solidFill>
                  <a:srgbClr val="142B33"/>
                </a:solidFill>
                <a:latin typeface="Calibri"/>
              </a:rPr>
              <a:t>cadenas de interacciones dobles</a:t>
            </a:r>
            <a:r>
              <a:rPr sz="1500" b="0">
                <a:solidFill>
                  <a:srgbClr val="142B33"/>
                </a:solidFill>
                <a:latin typeface="Calibri"/>
              </a:rPr>
              <a:t> aliadas entre sí</a:t>
            </a:r>
          </a:p>
        </p:txBody>
      </p:sp>
      <p:sp>
        <p:nvSpPr>
          <p:cNvPr id="5" name="Rounded Rectangle 4"/>
          <p:cNvSpPr/>
          <p:nvPr/>
        </p:nvSpPr>
        <p:spPr>
          <a:xfrm>
            <a:off x="548640" y="5160264"/>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Los tres son IV; el diseño C tiene una sola palabra de 4 letras: es el de </a:t>
            </a:r>
            <a:r>
              <a:rPr sz="1500" b="1">
                <a:solidFill>
                  <a:srgbClr val="142B33"/>
                </a:solidFill>
                <a:latin typeface="Calibri"/>
              </a:rPr>
              <a:t>aberración mínima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51</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Enunciado: generadores para un pan</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panadería quiere aumentar el </a:t>
            </a:r>
            <a:r>
              <a:rPr sz="1600" b="1">
                <a:solidFill>
                  <a:srgbClr val="142B33"/>
                </a:solidFill>
                <a:latin typeface="Calibri"/>
              </a:rPr>
              <a:t>volumen</a:t>
            </a:r>
            <a:r>
              <a:rPr sz="1600" b="0">
                <a:solidFill>
                  <a:srgbClr val="142B33"/>
                </a:solidFill>
                <a:latin typeface="Calibri"/>
              </a:rPr>
              <a:t> de su pan (mL). Se estudian cinco factores a dos niveles: A levadura (1 o 2 %), B temperatura del horno (180 o 200 °C), C tiempo de horneado (25 o 30 min), D azúcar (3 o 6 %) y E humedad de la masa (60 o 65 %).</a:t>
            </a:r>
          </a:p>
        </p:txBody>
      </p:sp>
      <p:sp>
        <p:nvSpPr>
          <p:cNvPr id="4" name="TextBox 3"/>
          <p:cNvSpPr txBox="1"/>
          <p:nvPr/>
        </p:nvSpPr>
        <p:spPr>
          <a:xfrm>
            <a:off x="548640" y="2894584"/>
            <a:ext cx="6196102" cy="1523999"/>
          </a:xfrm>
          <a:prstGeom prst="rect">
            <a:avLst/>
          </a:prstGeom>
          <a:noFill/>
        </p:spPr>
        <p:txBody>
          <a:bodyPr wrap="square" anchor="t" lIns="0" rIns="0" tIns="0" bIns="0">
            <a:spAutoFit/>
          </a:bodyPr>
          <a:lstStyle/>
          <a:p>
            <a:r>
              <a:rPr sz="1600" b="0">
                <a:solidFill>
                  <a:srgbClr val="142B33"/>
                </a:solidFill>
                <a:latin typeface="Calibri"/>
              </a:rPr>
              <a:t>Cada corrida ocupa el horno una tarde. El presupuesto es de </a:t>
            </a:r>
            <a:r>
              <a:rPr sz="1600" b="1">
                <a:solidFill>
                  <a:srgbClr val="142B33"/>
                </a:solidFill>
                <a:latin typeface="Calibri"/>
              </a:rPr>
              <a:t>8 corridas</a:t>
            </a:r>
            <a:r>
              <a:rPr sz="1600" b="0">
                <a:solidFill>
                  <a:srgbClr val="142B33"/>
                </a:solidFill>
                <a:latin typeface="Calibri"/>
              </a:rPr>
              <a:t>; con esfuerzo se podrían pagar 16. El panadero está seguro de que hay una </a:t>
            </a:r>
            <a:r>
              <a:rPr sz="1600" b="1">
                <a:solidFill>
                  <a:srgbClr val="142B33"/>
                </a:solidFill>
                <a:latin typeface="Calibri"/>
              </a:rPr>
              <a:t>interacción temperatura × tiempo</a:t>
            </a:r>
            <a:r>
              <a:rPr sz="1600" b="0">
                <a:solidFill>
                  <a:srgbClr val="142B33"/>
                </a:solidFill>
                <a:latin typeface="Calibri"/>
              </a:rPr>
              <a:t> y quiere que ningún efecto principal quede mezclado con ella; las interacciones de tres o más factores se consideran despreciables.</a:t>
            </a:r>
          </a:p>
        </p:txBody>
      </p:sp>
      <p:sp>
        <p:nvSpPr>
          <p:cNvPr id="5" name="TextBox 4"/>
          <p:cNvSpPr txBox="1"/>
          <p:nvPr/>
        </p:nvSpPr>
        <p:spPr>
          <a:xfrm>
            <a:off x="548640" y="4619752"/>
            <a:ext cx="6196102" cy="222504"/>
          </a:xfrm>
          <a:prstGeom prst="rect">
            <a:avLst/>
          </a:prstGeom>
          <a:noFill/>
        </p:spPr>
        <p:txBody>
          <a:bodyPr wrap="square" anchor="t" lIns="0" rIns="0" tIns="0" bIns="0">
            <a:spAutoFit/>
          </a:bodyPr>
          <a:lstStyle/>
          <a:p>
            <a:r>
              <a:rPr sz="1200" b="0">
                <a:solidFill>
                  <a:srgbClr val="5B6B73"/>
                </a:solidFill>
                <a:latin typeface="Calibri"/>
              </a:rPr>
              <a:t>Fuente: ejemplo construido para la clase</a:t>
            </a:r>
          </a:p>
        </p:txBody>
      </p:sp>
      <p:sp>
        <p:nvSpPr>
          <p:cNvPr id="6" name="Rounded Rectangle 5"/>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Escoger los generadores con el procedimiento de ocho pasos.</a:t>
            </a:r>
          </a:p>
        </p:txBody>
      </p:sp>
      <p:sp>
        <p:nvSpPr>
          <p:cNvPr id="7" name="TextBox 6"/>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8" name="TextBox 7"/>
          <p:cNvSpPr txBox="1"/>
          <p:nvPr/>
        </p:nvSpPr>
        <p:spPr>
          <a:xfrm>
            <a:off x="7156222" y="3369056"/>
            <a:ext cx="4486832" cy="195605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Calcular p con 8 corridas y la resolución que hace falta</a:t>
            </a:r>
          </a:p>
          <a:p>
            <a:pPr marL="320040" indent="-320040">
              <a:spcAft>
                <a:spcPts val="600"/>
              </a:spcAft>
              <a:buClr>
                <a:srgbClr val="E36414"/>
              </a:buClr>
              <a:buFont typeface="+mj-lt"/>
              <a:buAutoNum type="arabicPeriod"/>
            </a:pPr>
            <a:r>
              <a:rPr sz="1500" b="0">
                <a:solidFill>
                  <a:srgbClr val="142B33"/>
                </a:solidFill>
                <a:latin typeface="Calibri"/>
              </a:rPr>
              <a:t>Probar generadores y decir si alguno alcanza esa resolución</a:t>
            </a:r>
          </a:p>
          <a:p>
            <a:pPr marL="320040" indent="-320040">
              <a:spcAft>
                <a:spcPts val="600"/>
              </a:spcAft>
              <a:buClr>
                <a:srgbClr val="E36414"/>
              </a:buClr>
              <a:buFont typeface="+mj-lt"/>
              <a:buAutoNum type="arabicPeriod"/>
            </a:pPr>
            <a:r>
              <a:rPr sz="1500" b="0">
                <a:solidFill>
                  <a:srgbClr val="142B33"/>
                </a:solidFill>
                <a:latin typeface="Calibri"/>
              </a:rPr>
              <a:t>Decidir qué hacer si no alcanza: pagar más corridas o asignar bien los factores</a:t>
            </a:r>
          </a:p>
          <a:p>
            <a:pPr marL="320040" indent="-320040">
              <a:spcAft>
                <a:spcPts val="600"/>
              </a:spcAft>
              <a:buClr>
                <a:srgbClr val="E36414"/>
              </a:buClr>
              <a:buFont typeface="+mj-lt"/>
              <a:buAutoNum type="arabicPeriod"/>
            </a:pPr>
            <a:r>
              <a:rPr sz="1500" b="0">
                <a:solidFill>
                  <a:srgbClr val="142B33"/>
                </a:solidFill>
                <a:latin typeface="Calibri"/>
              </a:rPr>
              <a:t>Escribir los alias del diseño elegido</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52</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Pasos 1 a 6: ¿alcanzan 8 corridas?</a:t>
            </a:r>
          </a:p>
        </p:txBody>
      </p:sp>
      <p:sp>
        <p:nvSpPr>
          <p:cNvPr id="3" name="TextBox 2"/>
          <p:cNvSpPr txBox="1"/>
          <p:nvPr/>
        </p:nvSpPr>
        <p:spPr>
          <a:xfrm>
            <a:off x="548640" y="1417320"/>
            <a:ext cx="5341467" cy="2503170"/>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k = 5, N = 8  ⇒  </a:t>
            </a:r>
            <a:r>
              <a:rPr sz="1500" b="1">
                <a:solidFill>
                  <a:srgbClr val="142B33"/>
                </a:solidFill>
                <a:latin typeface="Calibri"/>
              </a:rPr>
              <a:t>p = 2</a:t>
            </a:r>
            <a:r>
              <a:rPr sz="1500" b="0">
                <a:solidFill>
                  <a:srgbClr val="142B33"/>
                </a:solidFill>
                <a:latin typeface="Calibri"/>
              </a:rPr>
              <a:t>: un 2</a:t>
            </a:r>
            <a:r>
              <a:rPr sz="1500" b="0" baseline="30000">
                <a:solidFill>
                  <a:srgbClr val="142B33"/>
                </a:solidFill>
                <a:latin typeface="Calibri"/>
              </a:rPr>
              <a:t>5−2</a:t>
            </a:r>
          </a:p>
          <a:p>
            <a:pPr marL="320040" indent="-320040">
              <a:spcAft>
                <a:spcPts val="600"/>
              </a:spcAft>
              <a:buClr>
                <a:srgbClr val="E36414"/>
              </a:buClr>
              <a:buFont typeface="+mj-lt"/>
              <a:buAutoNum type="arabicPeriod"/>
            </a:pPr>
            <a:r>
              <a:rPr sz="1500" b="0">
                <a:solidFill>
                  <a:srgbClr val="142B33"/>
                </a:solidFill>
                <a:latin typeface="Calibri"/>
              </a:rPr>
              <a:t>Efectos principales libres de interacciones dobles  ⇒  hace falta </a:t>
            </a:r>
            <a:r>
              <a:rPr sz="1500" b="1">
                <a:solidFill>
                  <a:srgbClr val="142B33"/>
                </a:solidFill>
                <a:latin typeface="Calibri"/>
              </a:rPr>
              <a:t>resolución IV</a:t>
            </a:r>
          </a:p>
          <a:p>
            <a:pPr marL="320040" indent="-320040">
              <a:spcAft>
                <a:spcPts val="600"/>
              </a:spcAft>
              <a:buClr>
                <a:srgbClr val="E36414"/>
              </a:buClr>
              <a:buFont typeface="+mj-lt"/>
              <a:buAutoNum type="arabicPeriod"/>
            </a:pPr>
            <a:r>
              <a:rPr sz="1500" b="0">
                <a:solidFill>
                  <a:srgbClr val="142B33"/>
                </a:solidFill>
                <a:latin typeface="Calibri"/>
              </a:rPr>
              <a:t>Diseño básico: </a:t>
            </a:r>
            <a:r>
              <a:rPr sz="1500" b="1">
                <a:solidFill>
                  <a:srgbClr val="142B33"/>
                </a:solidFill>
                <a:latin typeface="Calibri"/>
              </a:rPr>
              <a:t>2</a:t>
            </a:r>
            <a:r>
              <a:rPr sz="1500" b="1" baseline="30000">
                <a:solidFill>
                  <a:srgbClr val="142B33"/>
                </a:solidFill>
                <a:latin typeface="Calibri"/>
              </a:rPr>
              <a:t>3</a:t>
            </a:r>
            <a:r>
              <a:rPr sz="1500" b="0">
                <a:solidFill>
                  <a:srgbClr val="142B33"/>
                </a:solidFill>
                <a:latin typeface="Calibri"/>
              </a:rPr>
              <a:t> en A, B, C. Columnas disponibles: </a:t>
            </a:r>
            <a:r>
              <a:rPr sz="1500" b="1">
                <a:solidFill>
                  <a:srgbClr val="142B33"/>
                </a:solidFill>
                <a:latin typeface="Calibri"/>
              </a:rPr>
              <a:t>AB, AC, BC, ABC</a:t>
            </a:r>
          </a:p>
          <a:p>
            <a:pPr marL="320040" indent="-320040">
              <a:spcAft>
                <a:spcPts val="600"/>
              </a:spcAft>
              <a:buClr>
                <a:srgbClr val="E36414"/>
              </a:buClr>
              <a:buFont typeface="+mj-lt"/>
              <a:buAutoNum type="arabicPeriod"/>
            </a:pPr>
            <a:r>
              <a:rPr sz="1500" b="0">
                <a:solidFill>
                  <a:srgbClr val="142B33"/>
                </a:solidFill>
                <a:latin typeface="Calibri"/>
              </a:rPr>
              <a:t>Asignar a D y E dos columnas distintas y multiplicar los generadores</a:t>
            </a:r>
          </a:p>
          <a:p>
            <a:pPr marL="320040" indent="-320040">
              <a:spcAft>
                <a:spcPts val="600"/>
              </a:spcAft>
              <a:buClr>
                <a:srgbClr val="E36414"/>
              </a:buClr>
              <a:buFont typeface="+mj-lt"/>
              <a:buAutoNum type="arabicPeriod"/>
            </a:pPr>
            <a:r>
              <a:rPr sz="1500" b="0">
                <a:solidFill>
                  <a:srgbClr val="142B33"/>
                </a:solidFill>
                <a:latin typeface="Calibri"/>
              </a:rPr>
              <a:t>Leer la palabra más corta: </a:t>
            </a:r>
            <a:r>
              <a:rPr sz="1500" b="1">
                <a:solidFill>
                  <a:srgbClr val="142B33"/>
                </a:solidFill>
                <a:latin typeface="Calibri"/>
              </a:rPr>
              <a:t>3 letras</a:t>
            </a:r>
            <a:r>
              <a:rPr sz="1500" b="0">
                <a:solidFill>
                  <a:srgbClr val="142B33"/>
                </a:solidFill>
                <a:latin typeface="Calibri"/>
              </a:rPr>
              <a:t> en todos  ⇒  </a:t>
            </a:r>
            <a:r>
              <a:rPr sz="1500" b="1">
                <a:solidFill>
                  <a:srgbClr val="142B33"/>
                </a:solidFill>
                <a:latin typeface="Calibri"/>
              </a:rPr>
              <a:t>resolución III</a:t>
            </a:r>
          </a:p>
        </p:txBody>
      </p:sp>
      <p:graphicFrame>
        <p:nvGraphicFramePr>
          <p:cNvPr id="4" name="Table 3"/>
          <p:cNvGraphicFramePr>
            <a:graphicFrameLocks noGrp="1"/>
          </p:cNvGraphicFramePr>
          <p:nvPr/>
        </p:nvGraphicFramePr>
        <p:xfrm>
          <a:off x="6301587" y="1417320"/>
          <a:ext cx="5341466" cy="1343152"/>
        </p:xfrm>
        <a:graphic>
          <a:graphicData uri="http://schemas.openxmlformats.org/drawingml/2006/table">
            <a:tbl>
              <a:tblPr firstRow="0" bandRow="0">
                <a:tableStyleId>{5C22544A-7EE6-4342-B048-85BDC9FD1C3A}</a:tableStyleId>
              </a:tblPr>
              <a:tblGrid>
                <a:gridCol w="1922928"/>
                <a:gridCol w="2670733"/>
                <a:gridCol w="747805"/>
              </a:tblGrid>
              <a:tr h="335788">
                <a:tc>
                  <a:txBody>
                    <a:bodyPr/>
                    <a:lstStyle/>
                    <a:p>
                      <a:pPr algn="l"/>
                      <a:r>
                        <a:rPr sz="1400" b="1">
                          <a:solidFill>
                            <a:srgbClr val="FFFFFF"/>
                          </a:solidFill>
                          <a:latin typeface="Calibri"/>
                        </a:rPr>
                        <a:t>Generadores</a:t>
                      </a:r>
                    </a:p>
                  </a:txBody>
                  <a:tcPr marL="73152" marR="73152" marT="27432" marB="27432" anchor="ctr">
                    <a:solidFill>
                      <a:srgbClr val="0F4C5C"/>
                    </a:solidFill>
                  </a:tcPr>
                </a:tc>
                <a:tc>
                  <a:txBody>
                    <a:bodyPr/>
                    <a:lstStyle/>
                    <a:p>
                      <a:pPr algn="ctr"/>
                      <a:r>
                        <a:rPr sz="1400" b="1">
                          <a:solidFill>
                            <a:srgbClr val="FFFFFF"/>
                          </a:solidFill>
                          <a:latin typeface="Calibri"/>
                        </a:rPr>
                        <a:t>Palabras</a:t>
                      </a:r>
                    </a:p>
                  </a:txBody>
                  <a:tcPr marL="73152" marR="73152" marT="27432" marB="27432" anchor="ctr">
                    <a:solidFill>
                      <a:srgbClr val="0F4C5C"/>
                    </a:solidFill>
                  </a:tcPr>
                </a:tc>
                <a:tc>
                  <a:txBody>
                    <a:bodyPr/>
                    <a:lstStyle/>
                    <a:p>
                      <a:pPr algn="ctr"/>
                      <a:r>
                        <a:rPr sz="1400" b="1">
                          <a:solidFill>
                            <a:srgbClr val="FFFFFF"/>
                          </a:solidFill>
                          <a:latin typeface="Calibri"/>
                        </a:rPr>
                        <a:t>R</a:t>
                      </a:r>
                    </a:p>
                  </a:txBody>
                  <a:tcPr marL="73152" marR="73152" marT="27432" marB="27432" anchor="ctr">
                    <a:solidFill>
                      <a:srgbClr val="0F4C5C"/>
                    </a:solidFill>
                  </a:tcPr>
                </a:tc>
              </a:tr>
              <a:tr h="335788">
                <a:tc>
                  <a:txBody>
                    <a:bodyPr/>
                    <a:lstStyle/>
                    <a:p>
                      <a:pPr algn="l"/>
                      <a:r>
                        <a:rPr sz="1400" b="0">
                          <a:solidFill>
                            <a:srgbClr val="142B33"/>
                          </a:solidFill>
                          <a:latin typeface="Calibri"/>
                        </a:rPr>
                        <a:t>D = AB,  E = AC</a:t>
                      </a:r>
                    </a:p>
                  </a:txBody>
                  <a:tcPr marL="73152" marR="73152" marT="27432" marB="27432" anchor="ctr">
                    <a:solidFill>
                      <a:srgbClr val="FFFFFF"/>
                    </a:solidFill>
                  </a:tcPr>
                </a:tc>
                <a:tc>
                  <a:txBody>
                    <a:bodyPr/>
                    <a:lstStyle/>
                    <a:p>
                      <a:pPr algn="ctr"/>
                      <a:r>
                        <a:rPr sz="1400" b="0">
                          <a:solidFill>
                            <a:srgbClr val="142B33"/>
                          </a:solidFill>
                          <a:latin typeface="Calibri"/>
                        </a:rPr>
                        <a:t>ABD, ACE, BCDE</a:t>
                      </a:r>
                    </a:p>
                  </a:txBody>
                  <a:tcPr marL="73152" marR="73152" marT="27432" marB="27432" anchor="ctr">
                    <a:solidFill>
                      <a:srgbClr val="FFFFFF"/>
                    </a:solidFill>
                  </a:tcPr>
                </a:tc>
                <a:tc>
                  <a:txBody>
                    <a:bodyPr/>
                    <a:lstStyle/>
                    <a:p>
                      <a:pPr algn="ctr"/>
                      <a:r>
                        <a:rPr sz="1400" b="0">
                          <a:solidFill>
                            <a:srgbClr val="142B33"/>
                          </a:solidFill>
                          <a:latin typeface="Calibri"/>
                        </a:rPr>
                        <a:t>III</a:t>
                      </a:r>
                    </a:p>
                  </a:txBody>
                  <a:tcPr marL="73152" marR="73152" marT="27432" marB="27432" anchor="ctr">
                    <a:solidFill>
                      <a:srgbClr val="FFFFFF"/>
                    </a:solidFill>
                  </a:tcPr>
                </a:tc>
              </a:tr>
              <a:tr h="335788">
                <a:tc>
                  <a:txBody>
                    <a:bodyPr/>
                    <a:lstStyle/>
                    <a:p>
                      <a:pPr algn="l"/>
                      <a:r>
                        <a:rPr sz="1400" b="0">
                          <a:solidFill>
                            <a:srgbClr val="142B33"/>
                          </a:solidFill>
                          <a:latin typeface="Calibri"/>
                        </a:rPr>
                        <a:t>D = ABC,  E = AB</a:t>
                      </a:r>
                    </a:p>
                  </a:txBody>
                  <a:tcPr marL="73152" marR="73152" marT="27432" marB="27432" anchor="ctr">
                    <a:solidFill>
                      <a:srgbClr val="F4F8F9"/>
                    </a:solidFill>
                  </a:tcPr>
                </a:tc>
                <a:tc>
                  <a:txBody>
                    <a:bodyPr/>
                    <a:lstStyle/>
                    <a:p>
                      <a:pPr algn="ctr"/>
                      <a:r>
                        <a:rPr sz="1400" b="0">
                          <a:solidFill>
                            <a:srgbClr val="142B33"/>
                          </a:solidFill>
                          <a:latin typeface="Calibri"/>
                        </a:rPr>
                        <a:t>ABCD, ABE, CDE</a:t>
                      </a:r>
                    </a:p>
                  </a:txBody>
                  <a:tcPr marL="73152" marR="73152" marT="27432" marB="27432" anchor="ctr">
                    <a:solidFill>
                      <a:srgbClr val="F4F8F9"/>
                    </a:solidFill>
                  </a:tcPr>
                </a:tc>
                <a:tc>
                  <a:txBody>
                    <a:bodyPr/>
                    <a:lstStyle/>
                    <a:p>
                      <a:pPr algn="ctr"/>
                      <a:r>
                        <a:rPr sz="1400" b="0">
                          <a:solidFill>
                            <a:srgbClr val="142B33"/>
                          </a:solidFill>
                          <a:latin typeface="Calibri"/>
                        </a:rPr>
                        <a:t>III</a:t>
                      </a:r>
                    </a:p>
                  </a:txBody>
                  <a:tcPr marL="73152" marR="73152" marT="27432" marB="27432" anchor="ctr">
                    <a:solidFill>
                      <a:srgbClr val="F4F8F9"/>
                    </a:solidFill>
                  </a:tcPr>
                </a:tc>
              </a:tr>
              <a:tr h="335788">
                <a:tc>
                  <a:txBody>
                    <a:bodyPr/>
                    <a:lstStyle/>
                    <a:p>
                      <a:pPr algn="l"/>
                      <a:r>
                        <a:rPr sz="1400" b="0">
                          <a:solidFill>
                            <a:srgbClr val="142B33"/>
                          </a:solidFill>
                          <a:latin typeface="Calibri"/>
                        </a:rPr>
                        <a:t>D = ABC,  E = BC</a:t>
                      </a:r>
                    </a:p>
                  </a:txBody>
                  <a:tcPr marL="73152" marR="73152" marT="27432" marB="27432" anchor="ctr">
                    <a:solidFill>
                      <a:srgbClr val="FFFFFF"/>
                    </a:solidFill>
                  </a:tcPr>
                </a:tc>
                <a:tc>
                  <a:txBody>
                    <a:bodyPr/>
                    <a:lstStyle/>
                    <a:p>
                      <a:pPr algn="ctr"/>
                      <a:r>
                        <a:rPr sz="1400" b="0">
                          <a:solidFill>
                            <a:srgbClr val="142B33"/>
                          </a:solidFill>
                          <a:latin typeface="Calibri"/>
                        </a:rPr>
                        <a:t>ABCD, BCE, ADE</a:t>
                      </a:r>
                    </a:p>
                  </a:txBody>
                  <a:tcPr marL="73152" marR="73152" marT="27432" marB="27432" anchor="ctr">
                    <a:solidFill>
                      <a:srgbClr val="FFFFFF"/>
                    </a:solidFill>
                  </a:tcPr>
                </a:tc>
                <a:tc>
                  <a:txBody>
                    <a:bodyPr/>
                    <a:lstStyle/>
                    <a:p>
                      <a:pPr algn="ctr"/>
                      <a:r>
                        <a:rPr sz="1400" b="0">
                          <a:solidFill>
                            <a:srgbClr val="142B33"/>
                          </a:solidFill>
                          <a:latin typeface="Calibri"/>
                        </a:rPr>
                        <a:t>III</a:t>
                      </a:r>
                    </a:p>
                  </a:txBody>
                  <a:tcPr marL="73152" marR="73152" marT="27432" marB="27432" anchor="ctr">
                    <a:solidFill>
                      <a:srgbClr val="FFFFFF"/>
                    </a:solidFill>
                  </a:tcPr>
                </a:tc>
              </a:tr>
            </a:tbl>
          </a:graphicData>
        </a:graphic>
      </p:graphicFrame>
      <p:sp>
        <p:nvSpPr>
          <p:cNvPr id="5" name="Rounded Rectangle 4"/>
          <p:cNvSpPr/>
          <p:nvPr/>
        </p:nvSpPr>
        <p:spPr>
          <a:xfrm>
            <a:off x="6301587" y="2961640"/>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a:t>
            </a:r>
            <a:r>
              <a:rPr sz="1500" b="1">
                <a:solidFill>
                  <a:srgbClr val="142B33"/>
                </a:solidFill>
                <a:latin typeface="Calibri"/>
              </a:rPr>
              <a:t>12</a:t>
            </a:r>
            <a:r>
              <a:rPr sz="1500" b="0">
                <a:solidFill>
                  <a:srgbClr val="142B33"/>
                </a:solidFill>
                <a:latin typeface="Calibri"/>
              </a:rPr>
              <a:t> asignaciones posibles dan </a:t>
            </a:r>
            <a:r>
              <a:rPr sz="1500" b="1">
                <a:solidFill>
                  <a:srgbClr val="142B33"/>
                </a:solidFill>
                <a:latin typeface="Calibri"/>
              </a:rPr>
              <a:t>resolución III</a:t>
            </a:r>
            <a:r>
              <a:rPr sz="1500" b="0">
                <a:solidFill>
                  <a:srgbClr val="142B33"/>
                </a:solidFill>
                <a:latin typeface="Calibri"/>
              </a:rPr>
              <a:t>: solo hay una columna de 3 letras, ABC</a:t>
            </a:r>
          </a:p>
        </p:txBody>
      </p:sp>
      <p:sp>
        <p:nvSpPr>
          <p:cNvPr id="6" name="Rounded Rectangle 5"/>
          <p:cNvSpPr/>
          <p:nvPr/>
        </p:nvSpPr>
        <p:spPr>
          <a:xfrm>
            <a:off x="6301587" y="39019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Paso 6: </a:t>
            </a:r>
            <a:r>
              <a:rPr sz="1500" b="1">
                <a:solidFill>
                  <a:srgbClr val="142B33"/>
                </a:solidFill>
                <a:latin typeface="Calibri"/>
              </a:rPr>
              <a:t>no alcanza</a:t>
            </a:r>
            <a:r>
              <a:rPr sz="1500" b="0">
                <a:solidFill>
                  <a:srgbClr val="142B33"/>
                </a:solidFill>
                <a:latin typeface="Calibri"/>
              </a:rPr>
              <a:t>. Con 8 corridas la resolución IV es imposible para 5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53</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Decisión y pasos 7 y 8</a:t>
            </a:r>
          </a:p>
        </p:txBody>
      </p:sp>
      <p:sp>
        <p:nvSpPr>
          <p:cNvPr id="3" name="TextBox 2"/>
          <p:cNvSpPr txBox="1"/>
          <p:nvPr/>
        </p:nvSpPr>
        <p:spPr>
          <a:xfrm>
            <a:off x="548640" y="1417320"/>
            <a:ext cx="5127808" cy="284479"/>
          </a:xfrm>
          <a:prstGeom prst="rect">
            <a:avLst/>
          </a:prstGeom>
          <a:noFill/>
        </p:spPr>
        <p:txBody>
          <a:bodyPr wrap="square" anchor="t" lIns="0" rIns="0" tIns="0" bIns="0">
            <a:spAutoFit/>
          </a:bodyPr>
          <a:lstStyle/>
          <a:p>
            <a:r>
              <a:rPr sz="1600" b="1">
                <a:solidFill>
                  <a:srgbClr val="142B33"/>
                </a:solidFill>
                <a:latin typeface="Calibri"/>
              </a:rPr>
              <a:t>Opción 1 · pagar 16 corridas</a:t>
            </a:r>
          </a:p>
        </p:txBody>
      </p:sp>
      <p:sp>
        <p:nvSpPr>
          <p:cNvPr id="4" name="TextBox 3"/>
          <p:cNvSpPr txBox="1"/>
          <p:nvPr/>
        </p:nvSpPr>
        <p:spPr>
          <a:xfrm>
            <a:off x="548640" y="1902968"/>
            <a:ext cx="5127808" cy="94411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p = 1, básico 2</a:t>
            </a:r>
            <a:r>
              <a:rPr sz="1500" b="0" baseline="30000">
                <a:solidFill>
                  <a:srgbClr val="142B33"/>
                </a:solidFill>
                <a:latin typeface="Calibri"/>
              </a:rPr>
              <a:t>4</a:t>
            </a:r>
            <a:r>
              <a:rPr sz="1500" b="0">
                <a:solidFill>
                  <a:srgbClr val="142B33"/>
                </a:solidFill>
                <a:latin typeface="Calibri"/>
              </a:rPr>
              <a:t> en A, B, C, D</a:t>
            </a:r>
          </a:p>
          <a:p>
            <a:pPr marL="320040" indent="-320040">
              <a:spcAft>
                <a:spcPts val="600"/>
              </a:spcAft>
              <a:buClr>
                <a:srgbClr val="E36414"/>
              </a:buClr>
              <a:buFont typeface="Arial"/>
              <a:buChar char="•"/>
            </a:pPr>
            <a:r>
              <a:rPr sz="1500" b="1">
                <a:solidFill>
                  <a:srgbClr val="142B33"/>
                </a:solidFill>
                <a:latin typeface="Calibri"/>
              </a:rPr>
              <a:t>E = ABCD</a:t>
            </a:r>
            <a:r>
              <a:rPr sz="1500" b="0">
                <a:solidFill>
                  <a:srgbClr val="142B33"/>
                </a:solidFill>
                <a:latin typeface="Calibri"/>
              </a:rPr>
              <a:t>  ⇒  I = ABCDE: </a:t>
            </a:r>
            <a:r>
              <a:rPr sz="1500" b="1">
                <a:solidFill>
                  <a:srgbClr val="142B33"/>
                </a:solidFill>
                <a:latin typeface="Calibri"/>
              </a:rPr>
              <a:t>resolución V</a:t>
            </a:r>
          </a:p>
          <a:p>
            <a:pPr marL="320040" indent="-320040">
              <a:spcAft>
                <a:spcPts val="600"/>
              </a:spcAft>
              <a:buClr>
                <a:srgbClr val="E36414"/>
              </a:buClr>
              <a:buFont typeface="Arial"/>
              <a:buChar char="•"/>
            </a:pPr>
            <a:r>
              <a:rPr sz="1500" b="0">
                <a:solidFill>
                  <a:srgbClr val="142B33"/>
                </a:solidFill>
                <a:latin typeface="Calibri"/>
              </a:rPr>
              <a:t>Temperatura × tiempo se estima </a:t>
            </a:r>
            <a:r>
              <a:rPr sz="1500" b="1">
                <a:solidFill>
                  <a:srgbClr val="142B33"/>
                </a:solidFill>
                <a:latin typeface="Calibri"/>
              </a:rPr>
              <a:t>limpia</a:t>
            </a:r>
          </a:p>
        </p:txBody>
      </p:sp>
      <p:sp>
        <p:nvSpPr>
          <p:cNvPr id="5" name="TextBox 4"/>
          <p:cNvSpPr txBox="1"/>
          <p:nvPr/>
        </p:nvSpPr>
        <p:spPr>
          <a:xfrm>
            <a:off x="548640" y="3048254"/>
            <a:ext cx="5127808" cy="284479"/>
          </a:xfrm>
          <a:prstGeom prst="rect">
            <a:avLst/>
          </a:prstGeom>
          <a:noFill/>
        </p:spPr>
        <p:txBody>
          <a:bodyPr wrap="square" anchor="t" lIns="0" rIns="0" tIns="0" bIns="0">
            <a:spAutoFit/>
          </a:bodyPr>
          <a:lstStyle/>
          <a:p>
            <a:r>
              <a:rPr sz="1600" b="1">
                <a:solidFill>
                  <a:srgbClr val="142B33"/>
                </a:solidFill>
                <a:latin typeface="Calibri"/>
              </a:rPr>
              <a:t>Opción 2 · quedarse en 8 corridas</a:t>
            </a:r>
          </a:p>
        </p:txBody>
      </p:sp>
      <p:sp>
        <p:nvSpPr>
          <p:cNvPr id="6" name="TextBox 5"/>
          <p:cNvSpPr txBox="1"/>
          <p:nvPr/>
        </p:nvSpPr>
        <p:spPr>
          <a:xfrm>
            <a:off x="548640" y="3533901"/>
            <a:ext cx="5127808" cy="86182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D = AB, E = AC: I = ABD = ACE = BCDE</a:t>
            </a:r>
          </a:p>
          <a:p>
            <a:pPr marL="320040" indent="-320040">
              <a:spcAft>
                <a:spcPts val="600"/>
              </a:spcAft>
              <a:buClr>
                <a:srgbClr val="E36414"/>
              </a:buClr>
              <a:buFont typeface="Arial"/>
              <a:buChar char="•"/>
            </a:pPr>
            <a:r>
              <a:rPr sz="1500" b="0">
                <a:solidFill>
                  <a:srgbClr val="142B33"/>
                </a:solidFill>
                <a:latin typeface="Calibri"/>
              </a:rPr>
              <a:t>Paso 8: temperatura y tiempo en </a:t>
            </a:r>
            <a:r>
              <a:rPr sz="1500" b="1">
                <a:solidFill>
                  <a:srgbClr val="142B33"/>
                </a:solidFill>
                <a:latin typeface="Calibri"/>
              </a:rPr>
              <a:t>B y C</a:t>
            </a:r>
            <a:r>
              <a:rPr sz="1500" b="0">
                <a:solidFill>
                  <a:srgbClr val="142B33"/>
                </a:solidFill>
                <a:latin typeface="Calibri"/>
              </a:rPr>
              <a:t>, porque BC no está aliada con ningún efecto principal</a:t>
            </a:r>
          </a:p>
        </p:txBody>
      </p:sp>
      <p:graphicFrame>
        <p:nvGraphicFramePr>
          <p:cNvPr id="7" name="Table 6"/>
          <p:cNvGraphicFramePr>
            <a:graphicFrameLocks noGrp="1"/>
          </p:cNvGraphicFramePr>
          <p:nvPr/>
        </p:nvGraphicFramePr>
        <p:xfrm>
          <a:off x="6087928" y="1417320"/>
          <a:ext cx="5555125" cy="2903219"/>
        </p:xfrm>
        <a:graphic>
          <a:graphicData uri="http://schemas.openxmlformats.org/drawingml/2006/table">
            <a:tbl>
              <a:tblPr firstRow="0" bandRow="0">
                <a:tableStyleId>{5C22544A-7EE6-4342-B048-85BDC9FD1C3A}</a:tableStyleId>
              </a:tblPr>
              <a:tblGrid>
                <a:gridCol w="3444178"/>
                <a:gridCol w="2110947"/>
              </a:tblGrid>
              <a:tr h="552703">
                <a:tc>
                  <a:txBody>
                    <a:bodyPr/>
                    <a:lstStyle/>
                    <a:p>
                      <a:pPr algn="l"/>
                      <a:r>
                        <a:rPr sz="1400" b="1">
                          <a:solidFill>
                            <a:srgbClr val="FFFFFF"/>
                          </a:solidFill>
                          <a:latin typeface="Calibri"/>
                        </a:rPr>
                        <a:t>Cadena de alias (2</a:t>
                      </a:r>
                      <a:r>
                        <a:rPr sz="1400" b="1" baseline="30000">
                          <a:solidFill>
                            <a:srgbClr val="FFFFFF"/>
                          </a:solidFill>
                          <a:latin typeface="Calibri"/>
                        </a:rPr>
                        <a:t>5−2</a:t>
                      </a:r>
                      <a:r>
                        <a:rPr sz="1400" b="1">
                          <a:solidFill>
                            <a:srgbClr val="FFFFFF"/>
                          </a:solidFill>
                          <a:latin typeface="Calibri"/>
                        </a:rPr>
                        <a:t>, D = AB, E = AC)</a:t>
                      </a:r>
                    </a:p>
                  </a:txBody>
                  <a:tcPr marL="73152" marR="73152" marT="27432" marB="27432" anchor="ctr">
                    <a:solidFill>
                      <a:srgbClr val="0F4C5C"/>
                    </a:solidFill>
                  </a:tcPr>
                </a:tc>
                <a:tc>
                  <a:txBody>
                    <a:bodyPr/>
                    <a:lstStyle/>
                    <a:p>
                      <a:pPr algn="ctr"/>
                      <a:r>
                        <a:rPr sz="1400" b="1">
                          <a:solidFill>
                            <a:srgbClr val="FFFFFF"/>
                          </a:solidFill>
                          <a:latin typeface="Calibri"/>
                        </a:rPr>
                        <a:t>¿Mezcla un efecto principal?</a:t>
                      </a:r>
                    </a:p>
                  </a:txBody>
                  <a:tcPr marL="73152" marR="73152" marT="27432" marB="27432" anchor="ctr">
                    <a:solidFill>
                      <a:srgbClr val="0F4C5C"/>
                    </a:solidFill>
                  </a:tcPr>
                </a:tc>
              </a:tr>
              <a:tr h="335788">
                <a:tc>
                  <a:txBody>
                    <a:bodyPr/>
                    <a:lstStyle/>
                    <a:p>
                      <a:pPr algn="l"/>
                      <a:r>
                        <a:rPr sz="1400" b="0">
                          <a:solidFill>
                            <a:srgbClr val="142B33"/>
                          </a:solidFill>
                          <a:latin typeface="Calibri"/>
                        </a:rPr>
                        <a:t>A = BD = CE</a:t>
                      </a:r>
                    </a:p>
                  </a:txBody>
                  <a:tcPr marL="73152" marR="73152" marT="27432" marB="27432" anchor="ctr">
                    <a:solidFill>
                      <a:srgbClr val="FFFFFF"/>
                    </a:solidFill>
                  </a:tcPr>
                </a:tc>
                <a:tc>
                  <a:txBody>
                    <a:bodyPr/>
                    <a:lstStyle/>
                    <a:p>
                      <a:pPr algn="ctr"/>
                      <a:r>
                        <a:rPr sz="1400" b="0">
                          <a:solidFill>
                            <a:srgbClr val="142B33"/>
                          </a:solidFill>
                          <a:latin typeface="Calibri"/>
                        </a:rPr>
                        <a:t>Sí</a:t>
                      </a:r>
                    </a:p>
                  </a:txBody>
                  <a:tcPr marL="73152" marR="73152" marT="27432" marB="27432" anchor="ctr">
                    <a:solidFill>
                      <a:srgbClr val="FFFFFF"/>
                    </a:solidFill>
                  </a:tcPr>
                </a:tc>
              </a:tr>
              <a:tr h="335788">
                <a:tc>
                  <a:txBody>
                    <a:bodyPr/>
                    <a:lstStyle/>
                    <a:p>
                      <a:pPr algn="l"/>
                      <a:r>
                        <a:rPr sz="1400" b="0">
                          <a:solidFill>
                            <a:srgbClr val="142B33"/>
                          </a:solidFill>
                          <a:latin typeface="Calibri"/>
                        </a:rPr>
                        <a:t>B = AD</a:t>
                      </a:r>
                    </a:p>
                  </a:txBody>
                  <a:tcPr marL="73152" marR="73152" marT="27432" marB="27432" anchor="ctr">
                    <a:solidFill>
                      <a:srgbClr val="F4F8F9"/>
                    </a:solidFill>
                  </a:tcPr>
                </a:tc>
                <a:tc>
                  <a:txBody>
                    <a:bodyPr/>
                    <a:lstStyle/>
                    <a:p>
                      <a:pPr algn="ctr"/>
                      <a:r>
                        <a:rPr sz="1400" b="0">
                          <a:solidFill>
                            <a:srgbClr val="142B33"/>
                          </a:solidFill>
                          <a:latin typeface="Calibri"/>
                        </a:rPr>
                        <a:t>Sí</a:t>
                      </a:r>
                    </a:p>
                  </a:txBody>
                  <a:tcPr marL="73152" marR="73152" marT="27432" marB="27432" anchor="ctr">
                    <a:solidFill>
                      <a:srgbClr val="F4F8F9"/>
                    </a:solidFill>
                  </a:tcPr>
                </a:tc>
              </a:tr>
              <a:tr h="335788">
                <a:tc>
                  <a:txBody>
                    <a:bodyPr/>
                    <a:lstStyle/>
                    <a:p>
                      <a:pPr algn="l"/>
                      <a:r>
                        <a:rPr sz="1400" b="0">
                          <a:solidFill>
                            <a:srgbClr val="142B33"/>
                          </a:solidFill>
                          <a:latin typeface="Calibri"/>
                        </a:rPr>
                        <a:t>C = AE</a:t>
                      </a:r>
                    </a:p>
                  </a:txBody>
                  <a:tcPr marL="73152" marR="73152" marT="27432" marB="27432" anchor="ctr">
                    <a:solidFill>
                      <a:srgbClr val="FFFFFF"/>
                    </a:solidFill>
                  </a:tcPr>
                </a:tc>
                <a:tc>
                  <a:txBody>
                    <a:bodyPr/>
                    <a:lstStyle/>
                    <a:p>
                      <a:pPr algn="ctr"/>
                      <a:r>
                        <a:rPr sz="1400" b="0">
                          <a:solidFill>
                            <a:srgbClr val="142B33"/>
                          </a:solidFill>
                          <a:latin typeface="Calibri"/>
                        </a:rPr>
                        <a:t>Sí</a:t>
                      </a:r>
                    </a:p>
                  </a:txBody>
                  <a:tcPr marL="73152" marR="73152" marT="27432" marB="27432" anchor="ctr">
                    <a:solidFill>
                      <a:srgbClr val="FFFFFF"/>
                    </a:solidFill>
                  </a:tcPr>
                </a:tc>
              </a:tr>
              <a:tr h="335788">
                <a:tc>
                  <a:txBody>
                    <a:bodyPr/>
                    <a:lstStyle/>
                    <a:p>
                      <a:pPr algn="l"/>
                      <a:r>
                        <a:rPr sz="1400" b="0">
                          <a:solidFill>
                            <a:srgbClr val="142B33"/>
                          </a:solidFill>
                          <a:latin typeface="Calibri"/>
                        </a:rPr>
                        <a:t>D = AB</a:t>
                      </a:r>
                    </a:p>
                  </a:txBody>
                  <a:tcPr marL="73152" marR="73152" marT="27432" marB="27432" anchor="ctr">
                    <a:solidFill>
                      <a:srgbClr val="F4F8F9"/>
                    </a:solidFill>
                  </a:tcPr>
                </a:tc>
                <a:tc>
                  <a:txBody>
                    <a:bodyPr/>
                    <a:lstStyle/>
                    <a:p>
                      <a:pPr algn="ctr"/>
                      <a:r>
                        <a:rPr sz="1400" b="0">
                          <a:solidFill>
                            <a:srgbClr val="142B33"/>
                          </a:solidFill>
                          <a:latin typeface="Calibri"/>
                        </a:rPr>
                        <a:t>Sí</a:t>
                      </a:r>
                    </a:p>
                  </a:txBody>
                  <a:tcPr marL="73152" marR="73152" marT="27432" marB="27432" anchor="ctr">
                    <a:solidFill>
                      <a:srgbClr val="F4F8F9"/>
                    </a:solidFill>
                  </a:tcPr>
                </a:tc>
              </a:tr>
              <a:tr h="335788">
                <a:tc>
                  <a:txBody>
                    <a:bodyPr/>
                    <a:lstStyle/>
                    <a:p>
                      <a:pPr algn="l"/>
                      <a:r>
                        <a:rPr sz="1400" b="0">
                          <a:solidFill>
                            <a:srgbClr val="142B33"/>
                          </a:solidFill>
                          <a:latin typeface="Calibri"/>
                        </a:rPr>
                        <a:t>E = AC</a:t>
                      </a:r>
                    </a:p>
                  </a:txBody>
                  <a:tcPr marL="73152" marR="73152" marT="27432" marB="27432" anchor="ctr">
                    <a:solidFill>
                      <a:srgbClr val="FFFFFF"/>
                    </a:solidFill>
                  </a:tcPr>
                </a:tc>
                <a:tc>
                  <a:txBody>
                    <a:bodyPr/>
                    <a:lstStyle/>
                    <a:p>
                      <a:pPr algn="ctr"/>
                      <a:r>
                        <a:rPr sz="1400" b="0">
                          <a:solidFill>
                            <a:srgbClr val="142B33"/>
                          </a:solidFill>
                          <a:latin typeface="Calibri"/>
                        </a:rPr>
                        <a:t>Sí</a:t>
                      </a:r>
                    </a:p>
                  </a:txBody>
                  <a:tcPr marL="73152" marR="73152" marT="27432" marB="27432" anchor="ctr">
                    <a:solidFill>
                      <a:srgbClr val="FFFFFF"/>
                    </a:solidFill>
                  </a:tcPr>
                </a:tc>
              </a:tr>
              <a:tr h="335788">
                <a:tc>
                  <a:txBody>
                    <a:bodyPr/>
                    <a:lstStyle/>
                    <a:p>
                      <a:pPr algn="l"/>
                      <a:r>
                        <a:rPr sz="1400" b="1">
                          <a:solidFill>
                            <a:srgbClr val="142B33"/>
                          </a:solidFill>
                          <a:latin typeface="Calibri"/>
                        </a:rPr>
                        <a:t>BC = DE</a:t>
                      </a:r>
                      <a:r>
                        <a:rPr sz="1400" b="0">
                          <a:solidFill>
                            <a:srgbClr val="142B33"/>
                          </a:solidFill>
                          <a:latin typeface="Calibri"/>
                        </a:rPr>
                        <a:t>  (temperatura × tiempo)</a:t>
                      </a:r>
                    </a:p>
                  </a:txBody>
                  <a:tcPr marL="73152" marR="73152" marT="27432" marB="27432" anchor="ctr">
                    <a:solidFill>
                      <a:srgbClr val="FDE8D7"/>
                    </a:solidFill>
                  </a:tcPr>
                </a:tc>
                <a:tc>
                  <a:txBody>
                    <a:bodyPr/>
                    <a:lstStyle/>
                    <a:p>
                      <a:pPr algn="ctr"/>
                      <a:r>
                        <a:rPr sz="1400" b="1">
                          <a:solidFill>
                            <a:srgbClr val="142B33"/>
                          </a:solidFill>
                          <a:latin typeface="Calibri"/>
                        </a:rPr>
                        <a:t>No</a:t>
                      </a:r>
                    </a:p>
                  </a:txBody>
                  <a:tcPr marL="73152" marR="73152" marT="27432" marB="27432" anchor="ctr">
                    <a:solidFill>
                      <a:srgbClr val="FDE8D7"/>
                    </a:solidFill>
                  </a:tcPr>
                </a:tc>
              </a:tr>
              <a:tr h="335788">
                <a:tc>
                  <a:txBody>
                    <a:bodyPr/>
                    <a:lstStyle/>
                    <a:p>
                      <a:pPr algn="l"/>
                      <a:r>
                        <a:rPr sz="1400" b="0">
                          <a:solidFill>
                            <a:srgbClr val="142B33"/>
                          </a:solidFill>
                          <a:latin typeface="Calibri"/>
                        </a:rPr>
                        <a:t>BE = CD</a:t>
                      </a:r>
                    </a:p>
                  </a:txBody>
                  <a:tcPr marL="73152" marR="73152" marT="27432" marB="27432" anchor="ctr">
                    <a:solidFill>
                      <a:srgbClr val="FFFFFF"/>
                    </a:solidFill>
                  </a:tcPr>
                </a:tc>
                <a:tc>
                  <a:txBody>
                    <a:bodyPr/>
                    <a:lstStyle/>
                    <a:p>
                      <a:pPr algn="ctr"/>
                      <a:r>
                        <a:rPr sz="1400" b="0">
                          <a:solidFill>
                            <a:srgbClr val="142B33"/>
                          </a:solidFill>
                          <a:latin typeface="Calibri"/>
                        </a:rPr>
                        <a:t>No</a:t>
                      </a:r>
                    </a:p>
                  </a:txBody>
                  <a:tcPr marL="73152" marR="73152" marT="27432" marB="27432" anchor="ctr">
                    <a:solidFill>
                      <a:srgbClr val="FFFFFF"/>
                    </a:solidFill>
                  </a:tcPr>
                </a:tc>
              </a:tr>
            </a:tbl>
          </a:graphicData>
        </a:graphic>
      </p:graphicFrame>
      <p:sp>
        <p:nvSpPr>
          <p:cNvPr id="8" name="Rounded Rectangle 7"/>
          <p:cNvSpPr/>
          <p:nvPr/>
        </p:nvSpPr>
        <p:spPr>
          <a:xfrm>
            <a:off x="6087928" y="4521708"/>
            <a:ext cx="5555126"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Opción 2: la interacción temida queda </a:t>
            </a:r>
            <a:r>
              <a:rPr sz="1400" b="1">
                <a:solidFill>
                  <a:srgbClr val="142B33"/>
                </a:solidFill>
                <a:latin typeface="Calibri"/>
              </a:rPr>
              <a:t>lejos de los efectos principales</a:t>
            </a:r>
            <a:r>
              <a:rPr sz="1400" b="0">
                <a:solidFill>
                  <a:srgbClr val="142B33"/>
                </a:solidFill>
                <a:latin typeface="Calibri"/>
              </a:rPr>
              <a:t>, pero cada principal sigue aliado con una doble</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54</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recomendados hasta 32 corridas</a:t>
            </a:r>
          </a:p>
        </p:txBody>
      </p:sp>
      <p:graphicFrame>
        <p:nvGraphicFramePr>
          <p:cNvPr id="3" name="Table 2"/>
          <p:cNvGraphicFramePr>
            <a:graphicFrameLocks noGrp="1"/>
          </p:cNvGraphicFramePr>
          <p:nvPr/>
        </p:nvGraphicFramePr>
        <p:xfrm>
          <a:off x="548640" y="1417320"/>
          <a:ext cx="11094412" cy="4365244"/>
        </p:xfrm>
        <a:graphic>
          <a:graphicData uri="http://schemas.openxmlformats.org/drawingml/2006/table">
            <a:tbl>
              <a:tblPr firstRow="0" bandRow="0">
                <a:tableStyleId>{5C22544A-7EE6-4342-B048-85BDC9FD1C3A}</a:tableStyleId>
              </a:tblPr>
              <a:tblGrid>
                <a:gridCol w="1442273"/>
                <a:gridCol w="1886050"/>
                <a:gridCol w="1442273"/>
                <a:gridCol w="6323816"/>
              </a:tblGrid>
              <a:tr h="335788">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Generadores</a:t>
                      </a:r>
                    </a:p>
                  </a:txBody>
                  <a:tcPr marL="73152" marR="73152" marT="27432" marB="27432" anchor="ctr">
                    <a:solidFill>
                      <a:srgbClr val="0F4C5C"/>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5−1</a:t>
                      </a:r>
                      <a:r>
                        <a:rPr sz="1400" b="0" baseline="-2500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ABCD</a:t>
                      </a:r>
                    </a:p>
                  </a:txBody>
                  <a:tcPr marL="73152" marR="73152" marT="27432" marB="27432" anchor="ctr">
                    <a:solidFill>
                      <a:srgbClr val="FFFFFF"/>
                    </a:solidFill>
                  </a:tcPr>
                </a:tc>
              </a:tr>
              <a:tr h="335788">
                <a:tc>
                  <a:txBody>
                    <a:bodyPr/>
                    <a:lstStyle/>
                    <a:p>
                      <a:pPr algn="ctr"/>
                      <a:r>
                        <a:rPr sz="1400" b="0">
                          <a:solidFill>
                            <a:srgbClr val="142B33"/>
                          </a:solidFill>
                          <a:latin typeface="Calibri"/>
                        </a:rPr>
                        <a:t>5</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5−2</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6−1</a:t>
                      </a:r>
                      <a:r>
                        <a:rPr sz="1400" b="0" baseline="-25000">
                          <a:solidFill>
                            <a:srgbClr val="142B33"/>
                          </a:solidFill>
                          <a:latin typeface="Calibri"/>
                        </a:rPr>
                        <a:t>VI</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ABCDE</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ABC,  F = BCD</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D = AB,  E = AC,  F = BC</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F = ABCD,  G = ABDE</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7−3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  F = BCD,  G = ACD</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  G = ABD,  H = BCDE</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BCD,  F = ACD,  G = ABC,  H = ABD</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55</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elijo un diseño para siete factores? (pasos 1 y 2)</a:t>
            </a:r>
          </a:p>
        </p:txBody>
      </p:sp>
      <p:sp>
        <p:nvSpPr>
          <p:cNvPr id="3" name="TextBox 2"/>
          <p:cNvSpPr txBox="1"/>
          <p:nvPr/>
        </p:nvSpPr>
        <p:spPr>
          <a:xfrm>
            <a:off x="548640" y="1417320"/>
            <a:ext cx="5020979" cy="501396"/>
          </a:xfrm>
          <a:prstGeom prst="rect">
            <a:avLst/>
          </a:prstGeom>
          <a:noFill/>
        </p:spPr>
        <p:txBody>
          <a:bodyPr wrap="square" anchor="t" lIns="0" rIns="0" tIns="0" bIns="0">
            <a:spAutoFit/>
          </a:bodyPr>
          <a:lstStyle/>
          <a:p>
            <a:r>
              <a:rPr sz="1500" b="1">
                <a:solidFill>
                  <a:srgbClr val="142B33"/>
                </a:solidFill>
                <a:latin typeface="Calibri"/>
              </a:rPr>
              <a:t>Objetivo</a:t>
            </a:r>
            <a:r>
              <a:rPr sz="1500" b="0">
                <a:solidFill>
                  <a:srgbClr val="142B33"/>
                </a:solidFill>
                <a:latin typeface="Calibri"/>
              </a:rPr>
              <a:t>: 7 efectos principales y una idea de las interacciones dobles; triples despreciables</a:t>
            </a:r>
          </a:p>
        </p:txBody>
      </p:sp>
      <p:sp>
        <p:nvSpPr>
          <p:cNvPr id="4" name="TextBox 3"/>
          <p:cNvSpPr txBox="1"/>
          <p:nvPr/>
        </p:nvSpPr>
        <p:spPr>
          <a:xfrm>
            <a:off x="548640" y="2119884"/>
            <a:ext cx="5020979" cy="1094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Paso 2</a:t>
            </a:r>
            <a:r>
              <a:rPr sz="1500" b="0">
                <a:solidFill>
                  <a:srgbClr val="142B33"/>
                </a:solidFill>
                <a:latin typeface="Calibri"/>
              </a:rPr>
              <a:t>: principales libres de dobles  ⇒  </a:t>
            </a:r>
            <a:r>
              <a:rPr sz="1500" b="1">
                <a:solidFill>
                  <a:srgbClr val="142B33"/>
                </a:solidFill>
                <a:latin typeface="Calibri"/>
              </a:rPr>
              <a:t>resolución IV</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Paso 1</a:t>
            </a:r>
            <a:r>
              <a:rPr sz="1500" b="0">
                <a:solidFill>
                  <a:srgbClr val="142B33"/>
                </a:solidFill>
                <a:latin typeface="Calibri"/>
              </a:rPr>
              <a:t>: probar N = 8, 16, 32, … y quedarse con el </a:t>
            </a:r>
            <a:r>
              <a:rPr sz="1500" b="1">
                <a:solidFill>
                  <a:srgbClr val="142B33"/>
                </a:solidFill>
                <a:latin typeface="Calibri"/>
              </a:rPr>
              <a:t>menor</a:t>
            </a:r>
            <a:r>
              <a:rPr sz="1500" b="0">
                <a:solidFill>
                  <a:srgbClr val="142B33"/>
                </a:solidFill>
                <a:latin typeface="Calibri"/>
              </a:rPr>
              <a:t> que da IV</a:t>
            </a:r>
          </a:p>
        </p:txBody>
      </p:sp>
      <p:sp>
        <p:nvSpPr>
          <p:cNvPr id="5" name="Rounded Rectangle 4"/>
          <p:cNvSpPr/>
          <p:nvPr/>
        </p:nvSpPr>
        <p:spPr>
          <a:xfrm>
            <a:off x="548640" y="3415284"/>
            <a:ext cx="5020979"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Con 8 corridas el básico 2</a:t>
            </a:r>
            <a:r>
              <a:rPr sz="1400" b="0" baseline="30000">
                <a:solidFill>
                  <a:srgbClr val="142B33"/>
                </a:solidFill>
                <a:latin typeface="Calibri"/>
              </a:rPr>
              <a:t>3</a:t>
            </a:r>
            <a:r>
              <a:rPr sz="1400" b="0">
                <a:solidFill>
                  <a:srgbClr val="142B33"/>
                </a:solidFill>
                <a:latin typeface="Calibri"/>
              </a:rPr>
              <a:t> solo tiene 4 columnas (AB, AC, BC, ABC) para 4 factores nuevos: tres generadores de 3 letras  ⇒  </a:t>
            </a:r>
            <a:r>
              <a:rPr sz="1400" b="1">
                <a:solidFill>
                  <a:srgbClr val="142B33"/>
                </a:solidFill>
                <a:latin typeface="Calibri"/>
              </a:rPr>
              <a:t>III</a:t>
            </a:r>
            <a:r>
              <a:rPr sz="1400" b="0">
                <a:solidFill>
                  <a:srgbClr val="142B33"/>
                </a:solidFill>
                <a:latin typeface="Calibri"/>
              </a:rPr>
              <a:t> forzosamente</a:t>
            </a:r>
          </a:p>
        </p:txBody>
      </p:sp>
      <p:graphicFrame>
        <p:nvGraphicFramePr>
          <p:cNvPr id="6" name="Table 5"/>
          <p:cNvGraphicFramePr>
            <a:graphicFrameLocks noGrp="1"/>
          </p:cNvGraphicFramePr>
          <p:nvPr/>
        </p:nvGraphicFramePr>
        <p:xfrm>
          <a:off x="5981099" y="1417320"/>
          <a:ext cx="5661954" cy="2453640"/>
        </p:xfrm>
        <a:graphic>
          <a:graphicData uri="http://schemas.openxmlformats.org/drawingml/2006/table">
            <a:tbl>
              <a:tblPr firstRow="0" bandRow="0">
                <a:tableStyleId>{5C22544A-7EE6-4342-B048-85BDC9FD1C3A}</a:tableStyleId>
              </a:tblPr>
              <a:tblGrid>
                <a:gridCol w="1132391"/>
                <a:gridCol w="566195"/>
                <a:gridCol w="1585347"/>
                <a:gridCol w="2378021"/>
              </a:tblGrid>
              <a:tr h="583692">
                <a:tc>
                  <a:txBody>
                    <a:bodyPr/>
                    <a:lstStyle/>
                    <a:p>
                      <a:pPr algn="ctr"/>
                      <a:r>
                        <a:rPr sz="1500" b="1">
                          <a:solidFill>
                            <a:srgbClr val="FFFFFF"/>
                          </a:solidFill>
                          <a:latin typeface="Calibri"/>
                        </a:rPr>
                        <a:t>Corridas N</a:t>
                      </a:r>
                    </a:p>
                  </a:txBody>
                  <a:tcPr marL="73152" marR="73152" marT="27432" marB="27432" anchor="ctr">
                    <a:solidFill>
                      <a:srgbClr val="0F4C5C"/>
                    </a:solidFill>
                  </a:tcPr>
                </a:tc>
                <a:tc>
                  <a:txBody>
                    <a:bodyPr/>
                    <a:lstStyle/>
                    <a:p>
                      <a:pPr algn="ctr"/>
                      <a:r>
                        <a:rPr sz="1500" b="1">
                          <a:solidFill>
                            <a:srgbClr val="FFFFFF"/>
                          </a:solidFill>
                          <a:latin typeface="Calibri"/>
                        </a:rPr>
                        <a:t>p</a:t>
                      </a:r>
                    </a:p>
                  </a:txBody>
                  <a:tcPr marL="73152" marR="73152" marT="27432" marB="27432" anchor="ctr">
                    <a:solidFill>
                      <a:srgbClr val="0F4C5C"/>
                    </a:solidFill>
                  </a:tcPr>
                </a:tc>
                <a:tc>
                  <a:txBody>
                    <a:bodyPr/>
                    <a:lstStyle/>
                    <a:p>
                      <a:pPr algn="ctr"/>
                      <a:r>
                        <a:rPr sz="1500" b="1">
                          <a:solidFill>
                            <a:srgbClr val="FFFFFF"/>
                          </a:solidFill>
                          <a:latin typeface="Calibri"/>
                        </a:rPr>
                        <a:t>Mejor diseño</a:t>
                      </a:r>
                    </a:p>
                  </a:txBody>
                  <a:tcPr marL="73152" marR="73152" marT="27432" marB="27432" anchor="ctr">
                    <a:solidFill>
                      <a:srgbClr val="0F4C5C"/>
                    </a:solidFill>
                  </a:tcPr>
                </a:tc>
                <a:tc>
                  <a:txBody>
                    <a:bodyPr/>
                    <a:lstStyle/>
                    <a:p>
                      <a:pPr algn="ctr"/>
                      <a:r>
                        <a:rPr sz="1500" b="1">
                          <a:solidFill>
                            <a:srgbClr val="FFFFFF"/>
                          </a:solidFill>
                          <a:latin typeface="Calibri"/>
                        </a:rPr>
                        <a:t>¿Cumple IV?</a:t>
                      </a:r>
                    </a:p>
                  </a:txBody>
                  <a:tcPr marL="73152" marR="73152" marT="27432" marB="27432" anchor="ctr">
                    <a:solidFill>
                      <a:srgbClr val="0F4C5C"/>
                    </a:solidFill>
                  </a:tcPr>
                </a:tc>
              </a:tr>
              <a:tr h="351282">
                <a:tc>
                  <a:txBody>
                    <a:bodyPr/>
                    <a:lstStyle/>
                    <a:p>
                      <a:pPr algn="ctr"/>
                      <a:r>
                        <a:rPr sz="1500" b="0">
                          <a:solidFill>
                            <a:srgbClr val="142B33"/>
                          </a:solidFill>
                          <a:latin typeface="Calibri"/>
                        </a:rPr>
                        <a:t>8</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No</a:t>
                      </a:r>
                    </a:p>
                  </a:txBody>
                  <a:tcPr marL="73152" marR="73152" marT="27432" marB="27432" anchor="ctr">
                    <a:solidFill>
                      <a:srgbClr val="FFFFFF"/>
                    </a:solidFill>
                  </a:tcPr>
                </a:tc>
              </a:tr>
              <a:tr h="583692">
                <a:tc>
                  <a:txBody>
                    <a:bodyPr/>
                    <a:lstStyle/>
                    <a:p>
                      <a:pPr algn="ctr"/>
                      <a:r>
                        <a:rPr sz="1500" b="1">
                          <a:solidFill>
                            <a:srgbClr val="142B33"/>
                          </a:solidFill>
                          <a:latin typeface="Calibri"/>
                        </a:rPr>
                        <a:t>16</a:t>
                      </a:r>
                    </a:p>
                  </a:txBody>
                  <a:tcPr marL="73152" marR="73152" marT="27432" marB="27432" anchor="ctr">
                    <a:solidFill>
                      <a:srgbClr val="FDE8D7"/>
                    </a:solidFill>
                  </a:tcPr>
                </a:tc>
                <a:tc>
                  <a:txBody>
                    <a:bodyPr/>
                    <a:lstStyle/>
                    <a:p>
                      <a:pPr algn="ctr"/>
                      <a:r>
                        <a:rPr sz="1500" b="1">
                          <a:solidFill>
                            <a:srgbClr val="142B33"/>
                          </a:solidFill>
                          <a:latin typeface="Calibri"/>
                        </a:rPr>
                        <a:t>3</a:t>
                      </a:r>
                    </a:p>
                  </a:txBody>
                  <a:tcPr marL="73152" marR="73152" marT="27432" marB="27432" anchor="ctr">
                    <a:solidFill>
                      <a:srgbClr val="FDE8D7"/>
                    </a:solidFill>
                  </a:tcPr>
                </a:tc>
                <a:tc>
                  <a:txBody>
                    <a:bodyPr/>
                    <a:lstStyle/>
                    <a:p>
                      <a:pPr algn="ctr"/>
                      <a:r>
                        <a:rPr sz="1500" b="1">
                          <a:solidFill>
                            <a:srgbClr val="142B33"/>
                          </a:solidFill>
                          <a:latin typeface="Calibri"/>
                        </a:rPr>
                        <a:t>2</a:t>
                      </a:r>
                      <a:r>
                        <a:rPr sz="1500" b="1" baseline="30000">
                          <a:solidFill>
                            <a:srgbClr val="142B33"/>
                          </a:solidFill>
                          <a:latin typeface="Calibri"/>
                        </a:rPr>
                        <a:t>7−3</a:t>
                      </a:r>
                      <a:r>
                        <a:rPr sz="1500" b="1" baseline="-25000">
                          <a:solidFill>
                            <a:srgbClr val="142B33"/>
                          </a:solidFill>
                          <a:latin typeface="Calibri"/>
                        </a:rPr>
                        <a:t>IV</a:t>
                      </a:r>
                    </a:p>
                  </a:txBody>
                  <a:tcPr marL="73152" marR="73152" marT="27432" marB="27432" anchor="ctr">
                    <a:solidFill>
                      <a:srgbClr val="FDE8D7"/>
                    </a:solidFill>
                  </a:tcPr>
                </a:tc>
                <a:tc>
                  <a:txBody>
                    <a:bodyPr/>
                    <a:lstStyle/>
                    <a:p>
                      <a:pPr algn="ctr"/>
                      <a:r>
                        <a:rPr sz="1500" b="1">
                          <a:solidFill>
                            <a:srgbClr val="142B33"/>
                          </a:solidFill>
                          <a:latin typeface="Calibri"/>
                        </a:rPr>
                        <a:t>Sí</a:t>
                      </a:r>
                      <a:r>
                        <a:rPr sz="1500" b="0">
                          <a:solidFill>
                            <a:srgbClr val="142B33"/>
                          </a:solidFill>
                          <a:latin typeface="Calibri"/>
                        </a:rPr>
                        <a:t>: dobles en grupos de 3</a:t>
                      </a:r>
                    </a:p>
                  </a:txBody>
                  <a:tcPr marL="73152" marR="73152" marT="27432" marB="27432" anchor="ctr">
                    <a:solidFill>
                      <a:srgbClr val="FDE8D7"/>
                    </a:solidFill>
                  </a:tcPr>
                </a:tc>
              </a:tr>
              <a:tr h="583692">
                <a:tc>
                  <a:txBody>
                    <a:bodyPr/>
                    <a:lstStyle/>
                    <a:p>
                      <a:pPr algn="ctr"/>
                      <a:r>
                        <a:rPr sz="1500" b="0">
                          <a:solidFill>
                            <a:srgbClr val="142B33"/>
                          </a:solidFill>
                          <a:latin typeface="Calibri"/>
                        </a:rPr>
                        <a:t>32</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7−2</a:t>
                      </a:r>
                      <a:r>
                        <a:rPr sz="1500" b="0" baseline="-25000">
                          <a:solidFill>
                            <a:srgbClr val="142B33"/>
                          </a:solidFill>
                          <a:latin typeface="Calibri"/>
                        </a:rPr>
                        <a:t>IV</a:t>
                      </a:r>
                    </a:p>
                  </a:txBody>
                  <a:tcPr marL="73152" marR="73152" marT="27432" marB="27432" anchor="ctr">
                    <a:solidFill>
                      <a:srgbClr val="FFFFFF"/>
                    </a:solidFill>
                  </a:tcPr>
                </a:tc>
                <a:tc>
                  <a:txBody>
                    <a:bodyPr/>
                    <a:lstStyle/>
                    <a:p>
                      <a:pPr algn="ctr"/>
                      <a:r>
                        <a:rPr sz="1500" b="0">
                          <a:solidFill>
                            <a:srgbClr val="142B33"/>
                          </a:solidFill>
                          <a:latin typeface="Calibri"/>
                        </a:rPr>
                        <a:t>Sí: 15 de 21 dobles limpias</a:t>
                      </a:r>
                    </a:p>
                  </a:txBody>
                  <a:tcPr marL="73152" marR="73152" marT="27432" marB="27432" anchor="ctr">
                    <a:solidFill>
                      <a:srgbClr val="FFFFFF"/>
                    </a:solidFill>
                  </a:tcPr>
                </a:tc>
              </a:tr>
              <a:tr h="351282">
                <a:tc>
                  <a:txBody>
                    <a:bodyPr/>
                    <a:lstStyle/>
                    <a:p>
                      <a:pPr algn="ctr"/>
                      <a:r>
                        <a:rPr sz="1500" b="0">
                          <a:solidFill>
                            <a:srgbClr val="142B33"/>
                          </a:solidFill>
                          <a:latin typeface="Calibri"/>
                        </a:rPr>
                        <a:t>64</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2</a:t>
                      </a:r>
                      <a:r>
                        <a:rPr sz="1500" b="0" baseline="30000">
                          <a:solidFill>
                            <a:srgbClr val="142B33"/>
                          </a:solidFill>
                          <a:latin typeface="Calibri"/>
                        </a:rPr>
                        <a:t>7−1</a:t>
                      </a:r>
                      <a:r>
                        <a:rPr sz="1500" b="0" baseline="-25000">
                          <a:solidFill>
                            <a:srgbClr val="142B33"/>
                          </a:solidFill>
                          <a:latin typeface="Calibri"/>
                        </a:rPr>
                        <a:t>VII</a:t>
                      </a:r>
                    </a:p>
                  </a:txBody>
                  <a:tcPr marL="73152" marR="73152" marT="27432" marB="27432" anchor="ctr">
                    <a:solidFill>
                      <a:srgbClr val="F4F8F9"/>
                    </a:solidFill>
                  </a:tcPr>
                </a:tc>
                <a:tc>
                  <a:txBody>
                    <a:bodyPr/>
                    <a:lstStyle/>
                    <a:p>
                      <a:pPr algn="ctr"/>
                      <a:r>
                        <a:rPr sz="1500" b="0">
                          <a:solidFill>
                            <a:srgbClr val="142B33"/>
                          </a:solidFill>
                          <a:latin typeface="Calibri"/>
                        </a:rPr>
                        <a:t>Sí, de sobra</a:t>
                      </a:r>
                    </a:p>
                  </a:txBody>
                  <a:tcPr marL="73152" marR="73152" marT="27432" marB="27432" anchor="ctr">
                    <a:solidFill>
                      <a:srgbClr val="F4F8F9"/>
                    </a:solidFill>
                  </a:tcPr>
                </a:tc>
              </a:tr>
            </a:tbl>
          </a:graphicData>
        </a:graphic>
      </p:graphicFrame>
      <p:sp>
        <p:nvSpPr>
          <p:cNvPr id="7" name="Rounded Rectangle 6"/>
          <p:cNvSpPr/>
          <p:nvPr/>
        </p:nvSpPr>
        <p:spPr>
          <a:xfrm>
            <a:off x="5981099" y="4072128"/>
            <a:ext cx="566195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Se elige el diseño </a:t>
            </a:r>
            <a:r>
              <a:rPr sz="1500" b="1">
                <a:solidFill>
                  <a:srgbClr val="142B33"/>
                </a:solidFill>
                <a:latin typeface="Calibri"/>
              </a:rPr>
              <a:t>más pequeño</a:t>
            </a:r>
            <a:r>
              <a:rPr sz="1500" b="0">
                <a:solidFill>
                  <a:srgbClr val="142B33"/>
                </a:solidFill>
                <a:latin typeface="Calibri"/>
              </a:rPr>
              <a:t> que cumple el objetivo: el </a:t>
            </a:r>
            <a:r>
              <a:rPr sz="1500" b="1">
                <a:solidFill>
                  <a:srgbClr val="142B33"/>
                </a:solidFill>
                <a:latin typeface="Calibri"/>
              </a:rPr>
              <a:t>2</a:t>
            </a:r>
            <a:r>
              <a:rPr sz="1500" b="1" baseline="30000">
                <a:solidFill>
                  <a:srgbClr val="142B33"/>
                </a:solidFill>
                <a:latin typeface="Calibri"/>
              </a:rPr>
              <a:t>7−3</a:t>
            </a:r>
            <a:r>
              <a:rPr sz="1500" b="1" baseline="-25000">
                <a:solidFill>
                  <a:srgbClr val="142B33"/>
                </a:solidFill>
                <a:latin typeface="Calibri"/>
              </a:rPr>
              <a:t>IV</a:t>
            </a:r>
            <a:r>
              <a:rPr sz="1500" b="0">
                <a:solidFill>
                  <a:srgbClr val="142B33"/>
                </a:solidFill>
                <a:latin typeface="Calibri"/>
              </a:rPr>
              <a:t> de 16 corridas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56</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elijo un diseño para siete factores? (pasos 3 a 8)</a:t>
            </a:r>
          </a:p>
        </p:txBody>
      </p:sp>
      <p:sp>
        <p:nvSpPr>
          <p:cNvPr id="3" name="TextBox 2"/>
          <p:cNvSpPr txBox="1"/>
          <p:nvPr/>
        </p:nvSpPr>
        <p:spPr>
          <a:xfrm>
            <a:off x="548640" y="1417320"/>
            <a:ext cx="5341467" cy="281787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1">
                <a:solidFill>
                  <a:srgbClr val="142B33"/>
                </a:solidFill>
                <a:latin typeface="Calibri"/>
              </a:rPr>
              <a:t>Paso 3</a:t>
            </a:r>
            <a:r>
              <a:rPr sz="1500" b="0">
                <a:solidFill>
                  <a:srgbClr val="142B33"/>
                </a:solidFill>
                <a:latin typeface="Calibri"/>
              </a:rPr>
              <a:t>: básico </a:t>
            </a:r>
            <a:r>
              <a:rPr sz="1500" b="1">
                <a:solidFill>
                  <a:srgbClr val="142B33"/>
                </a:solidFill>
                <a:latin typeface="Calibri"/>
              </a:rPr>
              <a:t>2</a:t>
            </a:r>
            <a:r>
              <a:rPr sz="1500" b="1" baseline="30000">
                <a:solidFill>
                  <a:srgbClr val="142B33"/>
                </a:solidFill>
                <a:latin typeface="Calibri"/>
              </a:rPr>
              <a:t>4</a:t>
            </a:r>
            <a:r>
              <a:rPr sz="1500" b="0">
                <a:solidFill>
                  <a:srgbClr val="142B33"/>
                </a:solidFill>
                <a:latin typeface="Calibri"/>
              </a:rPr>
              <a:t> en A, B, C, D (16 corridas)</a:t>
            </a:r>
          </a:p>
          <a:p>
            <a:pPr marL="320040" indent="-320040">
              <a:spcAft>
                <a:spcPts val="600"/>
              </a:spcAft>
              <a:buClr>
                <a:srgbClr val="E36414"/>
              </a:buClr>
              <a:buFont typeface="Arial"/>
              <a:buChar char="•"/>
            </a:pPr>
            <a:r>
              <a:rPr sz="1500" b="1">
                <a:solidFill>
                  <a:srgbClr val="142B33"/>
                </a:solidFill>
                <a:latin typeface="Calibri"/>
              </a:rPr>
              <a:t>Paso 4</a:t>
            </a:r>
            <a:r>
              <a:rPr sz="1500" b="0">
                <a:solidFill>
                  <a:srgbClr val="142B33"/>
                </a:solidFill>
                <a:latin typeface="Calibri"/>
              </a:rPr>
              <a:t>: E, F, G en </a:t>
            </a:r>
            <a:r>
              <a:rPr sz="1500" b="1">
                <a:solidFill>
                  <a:srgbClr val="142B33"/>
                </a:solidFill>
                <a:latin typeface="Calibri"/>
              </a:rPr>
              <a:t>tres de las cuatro columnas de 3 letras</a:t>
            </a:r>
            <a:r>
              <a:rPr sz="1500" b="0">
                <a:solidFill>
                  <a:srgbClr val="142B33"/>
                </a:solidFill>
                <a:latin typeface="Calibri"/>
              </a:rPr>
              <a:t>: E = ABC, F = BCD, G = ACD</a:t>
            </a:r>
          </a:p>
          <a:p>
            <a:pPr marL="320040" indent="-320040">
              <a:spcAft>
                <a:spcPts val="600"/>
              </a:spcAft>
              <a:buClr>
                <a:srgbClr val="E36414"/>
              </a:buClr>
              <a:buFont typeface="Arial"/>
              <a:buChar char="•"/>
            </a:pPr>
            <a:r>
              <a:rPr sz="1500" b="1">
                <a:solidFill>
                  <a:srgbClr val="142B33"/>
                </a:solidFill>
                <a:latin typeface="Calibri"/>
              </a:rPr>
              <a:t>Paso 5</a:t>
            </a:r>
            <a:r>
              <a:rPr sz="1500" b="0">
                <a:solidFill>
                  <a:srgbClr val="142B33"/>
                </a:solidFill>
                <a:latin typeface="Calibri"/>
              </a:rPr>
              <a:t>: 3 generadores + 3 productos de dos en dos + 1 de los tres = </a:t>
            </a:r>
            <a:r>
              <a:rPr sz="1500" b="1">
                <a:solidFill>
                  <a:srgbClr val="142B33"/>
                </a:solidFill>
                <a:latin typeface="Calibri"/>
              </a:rPr>
              <a:t>7 palabras</a:t>
            </a:r>
          </a:p>
          <a:p>
            <a:pPr marL="320040" indent="-320040">
              <a:spcAft>
                <a:spcPts val="600"/>
              </a:spcAft>
              <a:buClr>
                <a:srgbClr val="E36414"/>
              </a:buClr>
              <a:buFont typeface="Arial"/>
              <a:buChar char="•"/>
            </a:pPr>
            <a:r>
              <a:rPr sz="1500" b="1">
                <a:solidFill>
                  <a:srgbClr val="142B33"/>
                </a:solidFill>
                <a:latin typeface="Calibri"/>
              </a:rPr>
              <a:t>Paso 6</a:t>
            </a:r>
            <a:r>
              <a:rPr sz="1500" b="0">
                <a:solidFill>
                  <a:srgbClr val="142B33"/>
                </a:solidFill>
                <a:latin typeface="Calibri"/>
              </a:rPr>
              <a:t>: todas de 4 letras  ⇒  </a:t>
            </a:r>
            <a:r>
              <a:rPr sz="1500" b="1">
                <a:solidFill>
                  <a:srgbClr val="142B33"/>
                </a:solidFill>
                <a:latin typeface="Calibri"/>
              </a:rPr>
              <a:t>resolución IV</a:t>
            </a:r>
          </a:p>
          <a:p>
            <a:pPr marL="320040" indent="-320040">
              <a:spcAft>
                <a:spcPts val="600"/>
              </a:spcAft>
              <a:buClr>
                <a:srgbClr val="E36414"/>
              </a:buClr>
              <a:buFont typeface="Arial"/>
              <a:buChar char="•"/>
            </a:pPr>
            <a:r>
              <a:rPr sz="1500" b="1">
                <a:solidFill>
                  <a:srgbClr val="142B33"/>
                </a:solidFill>
                <a:latin typeface="Calibri"/>
              </a:rPr>
              <a:t>Paso 7</a:t>
            </a:r>
            <a:r>
              <a:rPr sz="1500" b="0">
                <a:solidFill>
                  <a:srgbClr val="142B33"/>
                </a:solidFill>
                <a:latin typeface="Calibri"/>
              </a:rPr>
              <a:t>: las 4 opciones válidas tienen el mismo patrón: </a:t>
            </a:r>
            <a:r>
              <a:rPr sz="1500" b="1">
                <a:solidFill>
                  <a:srgbClr val="142B33"/>
                </a:solidFill>
                <a:latin typeface="Calibri"/>
              </a:rPr>
              <a:t>sin empate</a:t>
            </a:r>
          </a:p>
          <a:p>
            <a:pPr marL="320040" indent="-320040">
              <a:spcAft>
                <a:spcPts val="600"/>
              </a:spcAft>
              <a:buClr>
                <a:srgbClr val="E36414"/>
              </a:buClr>
              <a:buFont typeface="Arial"/>
              <a:buChar char="•"/>
            </a:pPr>
            <a:r>
              <a:rPr sz="1500" b="1">
                <a:solidFill>
                  <a:srgbClr val="142B33"/>
                </a:solidFill>
                <a:latin typeface="Calibri"/>
              </a:rPr>
              <a:t>Paso 8</a:t>
            </a:r>
            <a:r>
              <a:rPr sz="1500" b="0">
                <a:solidFill>
                  <a:srgbClr val="142B33"/>
                </a:solidFill>
                <a:latin typeface="Calibri"/>
              </a:rPr>
              <a:t>: factores </a:t>
            </a:r>
            <a:r>
              <a:rPr sz="1500" b="1">
                <a:solidFill>
                  <a:srgbClr val="142B33"/>
                </a:solidFill>
                <a:latin typeface="Calibri"/>
              </a:rPr>
              <a:t>importantes</a:t>
            </a:r>
            <a:r>
              <a:rPr sz="1500" b="0">
                <a:solidFill>
                  <a:srgbClr val="142B33"/>
                </a:solidFill>
                <a:latin typeface="Calibri"/>
              </a:rPr>
              <a:t> en A, B, C, D; </a:t>
            </a:r>
            <a:r>
              <a:rPr sz="1500" b="1">
                <a:solidFill>
                  <a:srgbClr val="142B33"/>
                </a:solidFill>
                <a:latin typeface="Calibri"/>
              </a:rPr>
              <a:t>menores</a:t>
            </a:r>
            <a:r>
              <a:rPr sz="1500" b="0">
                <a:solidFill>
                  <a:srgbClr val="142B33"/>
                </a:solidFill>
                <a:latin typeface="Calibri"/>
              </a:rPr>
              <a:t> en E, F, G</a:t>
            </a:r>
          </a:p>
        </p:txBody>
      </p:sp>
      <p:sp>
        <p:nvSpPr>
          <p:cNvPr id="4" name="Rounded Rectangle 3"/>
          <p:cNvSpPr/>
          <p:nvPr/>
        </p:nvSpPr>
        <p:spPr>
          <a:xfrm>
            <a:off x="548640" y="4436364"/>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Solo </a:t>
            </a:r>
            <a:r>
              <a:rPr sz="1400" b="1">
                <a:solidFill>
                  <a:srgbClr val="142B33"/>
                </a:solidFill>
                <a:latin typeface="Calibri"/>
              </a:rPr>
              <a:t>4 de 165</a:t>
            </a:r>
            <a:r>
              <a:rPr sz="1400" b="0">
                <a:solidFill>
                  <a:srgbClr val="142B33"/>
                </a:solidFill>
                <a:latin typeface="Calibri"/>
              </a:rPr>
              <a:t> elecciones dan IV. Con ABCD: ABCE · ABCDG = </a:t>
            </a:r>
            <a:r>
              <a:rPr sz="1400" b="1">
                <a:solidFill>
                  <a:srgbClr val="142B33"/>
                </a:solidFill>
                <a:latin typeface="Calibri"/>
              </a:rPr>
              <a:t>DEG</a:t>
            </a:r>
            <a:r>
              <a:rPr sz="1400" b="0">
                <a:solidFill>
                  <a:srgbClr val="142B33"/>
                </a:solidFill>
                <a:latin typeface="Calibri"/>
              </a:rPr>
              <a:t>  ⇒  III</a:t>
            </a:r>
          </a:p>
        </p:txBody>
      </p:sp>
      <p:sp>
        <p:nvSpPr>
          <p:cNvPr id="5" name="Rounded Rectangle 4"/>
          <p:cNvSpPr/>
          <p:nvPr/>
        </p:nvSpPr>
        <p:spPr>
          <a:xfrm>
            <a:off x="6301587" y="1417320"/>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I = ABCE = BCDF = ACDG = ADEF</a:t>
            </a:r>
          </a:p>
          <a:p>
            <a:pPr algn="ctr"/>
            <a:r>
              <a:rPr sz="1600" b="0">
                <a:solidFill>
                  <a:srgbClr val="0F4C5C"/>
                </a:solidFill>
                <a:latin typeface="Cambria Math"/>
              </a:rPr>
              <a:t>= BDEG = ABFG = CEFG</a:t>
            </a:r>
          </a:p>
        </p:txBody>
      </p:sp>
      <p:graphicFrame>
        <p:nvGraphicFramePr>
          <p:cNvPr id="6" name="Table 5"/>
          <p:cNvGraphicFramePr>
            <a:graphicFrameLocks noGrp="1"/>
          </p:cNvGraphicFramePr>
          <p:nvPr/>
        </p:nvGraphicFramePr>
        <p:xfrm>
          <a:off x="6301587" y="2448112"/>
          <a:ext cx="5341467" cy="2050280"/>
        </p:xfrm>
        <a:graphic>
          <a:graphicData uri="http://schemas.openxmlformats.org/drawingml/2006/table">
            <a:tbl>
              <a:tblPr firstRow="0" bandRow="0">
                <a:tableStyleId>{5C22544A-7EE6-4342-B048-85BDC9FD1C3A}</a:tableStyleId>
              </a:tblPr>
              <a:tblGrid>
                <a:gridCol w="5341467"/>
              </a:tblGrid>
              <a:tr h="256285">
                <a:tc>
                  <a:txBody>
                    <a:bodyPr/>
                    <a:lstStyle/>
                    <a:p>
                      <a:pPr algn="ctr"/>
                      <a:r>
                        <a:rPr sz="1300" b="1">
                          <a:solidFill>
                            <a:srgbClr val="FFFFFF"/>
                          </a:solidFill>
                          <a:latin typeface="Calibri"/>
                        </a:rPr>
                        <a:t>Interacciones dobles aliadas (7 cadenas)</a:t>
                      </a:r>
                    </a:p>
                  </a:txBody>
                  <a:tcPr marL="73152" marR="73152" marT="27432" marB="27432" anchor="ctr">
                    <a:solidFill>
                      <a:srgbClr val="0F4C5C"/>
                    </a:solidFill>
                  </a:tcPr>
                </a:tc>
              </a:tr>
              <a:tr h="256285">
                <a:tc>
                  <a:txBody>
                    <a:bodyPr/>
                    <a:lstStyle/>
                    <a:p>
                      <a:pPr algn="ctr"/>
                      <a:r>
                        <a:rPr sz="1300" b="0">
                          <a:solidFill>
                            <a:srgbClr val="142B33"/>
                          </a:solidFill>
                          <a:latin typeface="Calibri"/>
                        </a:rPr>
                        <a:t>AB = CE = FG</a:t>
                      </a:r>
                    </a:p>
                  </a:txBody>
                  <a:tcPr marL="73152" marR="73152" marT="27432" marB="27432" anchor="ctr">
                    <a:solidFill>
                      <a:srgbClr val="FFFFFF"/>
                    </a:solidFill>
                  </a:tcPr>
                </a:tc>
              </a:tr>
              <a:tr h="256285">
                <a:tc>
                  <a:txBody>
                    <a:bodyPr/>
                    <a:lstStyle/>
                    <a:p>
                      <a:pPr algn="ctr"/>
                      <a:r>
                        <a:rPr sz="1300" b="0">
                          <a:solidFill>
                            <a:srgbClr val="142B33"/>
                          </a:solidFill>
                          <a:latin typeface="Calibri"/>
                        </a:rPr>
                        <a:t>AC = BE = DG</a:t>
                      </a:r>
                    </a:p>
                  </a:txBody>
                  <a:tcPr marL="73152" marR="73152" marT="27432" marB="27432" anchor="ctr">
                    <a:solidFill>
                      <a:srgbClr val="F4F8F9"/>
                    </a:solidFill>
                  </a:tcPr>
                </a:tc>
              </a:tr>
              <a:tr h="256285">
                <a:tc>
                  <a:txBody>
                    <a:bodyPr/>
                    <a:lstStyle/>
                    <a:p>
                      <a:pPr algn="ctr"/>
                      <a:r>
                        <a:rPr sz="1300" b="0">
                          <a:solidFill>
                            <a:srgbClr val="142B33"/>
                          </a:solidFill>
                          <a:latin typeface="Calibri"/>
                        </a:rPr>
                        <a:t>AD = CG = EF</a:t>
                      </a:r>
                    </a:p>
                  </a:txBody>
                  <a:tcPr marL="73152" marR="73152" marT="27432" marB="27432" anchor="ctr">
                    <a:solidFill>
                      <a:srgbClr val="FFFFFF"/>
                    </a:solidFill>
                  </a:tcPr>
                </a:tc>
              </a:tr>
              <a:tr h="256285">
                <a:tc>
                  <a:txBody>
                    <a:bodyPr/>
                    <a:lstStyle/>
                    <a:p>
                      <a:pPr algn="ctr"/>
                      <a:r>
                        <a:rPr sz="1300" b="0">
                          <a:solidFill>
                            <a:srgbClr val="142B33"/>
                          </a:solidFill>
                          <a:latin typeface="Calibri"/>
                        </a:rPr>
                        <a:t>AE = BC = DF</a:t>
                      </a:r>
                    </a:p>
                  </a:txBody>
                  <a:tcPr marL="73152" marR="73152" marT="27432" marB="27432" anchor="ctr">
                    <a:solidFill>
                      <a:srgbClr val="F4F8F9"/>
                    </a:solidFill>
                  </a:tcPr>
                </a:tc>
              </a:tr>
              <a:tr h="256285">
                <a:tc>
                  <a:txBody>
                    <a:bodyPr/>
                    <a:lstStyle/>
                    <a:p>
                      <a:pPr algn="ctr"/>
                      <a:r>
                        <a:rPr sz="1300" b="0">
                          <a:solidFill>
                            <a:srgbClr val="142B33"/>
                          </a:solidFill>
                          <a:latin typeface="Calibri"/>
                        </a:rPr>
                        <a:t>AF = BG = DE</a:t>
                      </a:r>
                    </a:p>
                  </a:txBody>
                  <a:tcPr marL="73152" marR="73152" marT="27432" marB="27432" anchor="ctr">
                    <a:solidFill>
                      <a:srgbClr val="FFFFFF"/>
                    </a:solidFill>
                  </a:tcPr>
                </a:tc>
              </a:tr>
              <a:tr h="256285">
                <a:tc>
                  <a:txBody>
                    <a:bodyPr/>
                    <a:lstStyle/>
                    <a:p>
                      <a:pPr algn="ctr"/>
                      <a:r>
                        <a:rPr sz="1300" b="0">
                          <a:solidFill>
                            <a:srgbClr val="142B33"/>
                          </a:solidFill>
                          <a:latin typeface="Calibri"/>
                        </a:rPr>
                        <a:t>AG = BF = CD</a:t>
                      </a:r>
                    </a:p>
                  </a:txBody>
                  <a:tcPr marL="73152" marR="73152" marT="27432" marB="27432" anchor="ctr">
                    <a:solidFill>
                      <a:srgbClr val="F4F8F9"/>
                    </a:solidFill>
                  </a:tcPr>
                </a:tc>
              </a:tr>
              <a:tr h="256285">
                <a:tc>
                  <a:txBody>
                    <a:bodyPr/>
                    <a:lstStyle/>
                    <a:p>
                      <a:pPr algn="ctr"/>
                      <a:r>
                        <a:rPr sz="1300" b="0">
                          <a:solidFill>
                            <a:srgbClr val="142B33"/>
                          </a:solidFill>
                          <a:latin typeface="Calibri"/>
                        </a:rPr>
                        <a:t>BD = CF = EG</a:t>
                      </a:r>
                    </a:p>
                  </a:txBody>
                  <a:tcPr marL="73152" marR="73152" marT="27432" marB="27432" anchor="ctr">
                    <a:solidFill>
                      <a:srgbClr val="FFFFFF"/>
                    </a:solidFill>
                  </a:tcPr>
                </a:tc>
              </a:tr>
            </a:tbl>
          </a:graphicData>
        </a:graphic>
      </p:graphicFrame>
      <p:sp>
        <p:nvSpPr>
          <p:cNvPr id="7" name="Rounded Rectangle 6"/>
          <p:cNvSpPr/>
          <p:nvPr/>
        </p:nvSpPr>
        <p:spPr>
          <a:xfrm>
            <a:off x="6301587" y="4699568"/>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Principales: cada uno con </a:t>
            </a:r>
            <a:r>
              <a:rPr sz="1400" b="1">
                <a:solidFill>
                  <a:srgbClr val="142B33"/>
                </a:solidFill>
                <a:latin typeface="Calibri"/>
              </a:rPr>
              <a:t>4 triples</a:t>
            </a:r>
            <a:r>
              <a:rPr sz="1400" b="0">
                <a:solidFill>
                  <a:srgbClr val="142B33"/>
                </a:solidFill>
                <a:latin typeface="Calibri"/>
              </a:rPr>
              <a:t>, p. ej. A = BCE = BFG = CDG = DEF</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57</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recolectar los datos?</a:t>
            </a:r>
          </a:p>
        </p:txBody>
      </p:sp>
      <p:sp>
        <p:nvSpPr>
          <p:cNvPr id="3" name="TextBox 2"/>
          <p:cNvSpPr txBox="1"/>
          <p:nvPr/>
        </p:nvSpPr>
        <p:spPr>
          <a:xfrm>
            <a:off x="548640" y="1417320"/>
            <a:ext cx="11094415" cy="313740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Definir la </a:t>
            </a:r>
            <a:r>
              <a:rPr sz="2000" b="1">
                <a:solidFill>
                  <a:srgbClr val="142B33"/>
                </a:solidFill>
                <a:latin typeface="Calibri"/>
              </a:rPr>
              <a:t>respuesta</a:t>
            </a:r>
            <a:r>
              <a:rPr sz="2000" b="0">
                <a:solidFill>
                  <a:srgbClr val="142B33"/>
                </a:solidFill>
                <a:latin typeface="Calibri"/>
              </a:rPr>
              <a:t>, los </a:t>
            </a:r>
            <a:r>
              <a:rPr sz="2000" b="1">
                <a:solidFill>
                  <a:srgbClr val="142B33"/>
                </a:solidFill>
                <a:latin typeface="Calibri"/>
              </a:rPr>
              <a:t>factores</a:t>
            </a:r>
            <a:r>
              <a:rPr sz="2000" b="0">
                <a:solidFill>
                  <a:srgbClr val="142B33"/>
                </a:solidFill>
                <a:latin typeface="Calibri"/>
              </a:rPr>
              <a:t> y sus dos </a:t>
            </a:r>
            <a:r>
              <a:rPr sz="2000" b="1">
                <a:solidFill>
                  <a:srgbClr val="142B33"/>
                </a:solidFill>
                <a:latin typeface="Calibri"/>
              </a:rPr>
              <a:t>niveles</a:t>
            </a:r>
          </a:p>
          <a:p>
            <a:pPr marL="320040" indent="-320040">
              <a:spcAft>
                <a:spcPts val="600"/>
              </a:spcAft>
              <a:buClr>
                <a:srgbClr val="E36414"/>
              </a:buClr>
              <a:buFont typeface="+mj-lt"/>
              <a:buAutoNum type="arabicPeriod"/>
            </a:pPr>
            <a:r>
              <a:rPr sz="2000" b="0">
                <a:solidFill>
                  <a:srgbClr val="142B33"/>
                </a:solidFill>
                <a:latin typeface="Calibri"/>
              </a:rPr>
              <a:t>Decidir qué interacciones se pueden despreciar  →  </a:t>
            </a:r>
            <a:r>
              <a:rPr sz="2000" b="1">
                <a:solidFill>
                  <a:srgbClr val="142B33"/>
                </a:solidFill>
                <a:latin typeface="Calibri"/>
              </a:rPr>
              <a:t>resolución</a:t>
            </a:r>
            <a:r>
              <a:rPr sz="2000" b="0">
                <a:solidFill>
                  <a:srgbClr val="142B33"/>
                </a:solidFill>
                <a:latin typeface="Calibri"/>
              </a:rPr>
              <a:t> requerida</a:t>
            </a:r>
          </a:p>
          <a:p>
            <a:pPr marL="320040" indent="-320040">
              <a:spcAft>
                <a:spcPts val="600"/>
              </a:spcAft>
              <a:buClr>
                <a:srgbClr val="E36414"/>
              </a:buClr>
              <a:buFont typeface="+mj-lt"/>
              <a:buAutoNum type="arabicPeriod"/>
            </a:pPr>
            <a:r>
              <a:rPr sz="2000" b="0">
                <a:solidFill>
                  <a:srgbClr val="142B33"/>
                </a:solidFill>
                <a:latin typeface="Calibri"/>
              </a:rPr>
              <a:t>Elegir el diseño 2</a:t>
            </a:r>
            <a:r>
              <a:rPr sz="2000" b="0" baseline="30000">
                <a:solidFill>
                  <a:srgbClr val="142B33"/>
                </a:solidFill>
                <a:latin typeface="Calibri"/>
              </a:rPr>
              <a:t>k−p</a:t>
            </a:r>
            <a:r>
              <a:rPr sz="2000" b="0">
                <a:solidFill>
                  <a:srgbClr val="142B33"/>
                </a:solidFill>
                <a:latin typeface="Calibri"/>
              </a:rPr>
              <a:t> y </a:t>
            </a:r>
            <a:r>
              <a:rPr sz="2000" b="1">
                <a:solidFill>
                  <a:srgbClr val="142B33"/>
                </a:solidFill>
                <a:latin typeface="Calibri"/>
              </a:rPr>
              <a:t>revisar sus alias</a:t>
            </a:r>
            <a:r>
              <a:rPr sz="2000" b="0">
                <a:solidFill>
                  <a:srgbClr val="142B33"/>
                </a:solidFill>
                <a:latin typeface="Calibri"/>
              </a:rPr>
              <a:t> antes de correr</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Asignar</a:t>
            </a:r>
            <a:r>
              <a:rPr sz="2000" b="0">
                <a:solidFill>
                  <a:srgbClr val="142B33"/>
                </a:solidFill>
                <a:latin typeface="Calibri"/>
              </a:rPr>
              <a:t> los factores reales a las letras (los importantes, sin aliarse entre sí)</a:t>
            </a:r>
          </a:p>
          <a:p>
            <a:pPr marL="320040" indent="-320040">
              <a:spcAft>
                <a:spcPts val="600"/>
              </a:spcAft>
              <a:buClr>
                <a:srgbClr val="E36414"/>
              </a:buClr>
              <a:buFont typeface="+mj-lt"/>
              <a:buAutoNum type="arabicPeriod"/>
            </a:pPr>
            <a:r>
              <a:rPr sz="2000" b="0">
                <a:solidFill>
                  <a:srgbClr val="142B33"/>
                </a:solidFill>
                <a:latin typeface="Calibri"/>
              </a:rPr>
              <a:t>Construir la </a:t>
            </a:r>
            <a:r>
              <a:rPr sz="2000" b="1">
                <a:solidFill>
                  <a:srgbClr val="142B33"/>
                </a:solidFill>
                <a:latin typeface="Calibri"/>
              </a:rPr>
              <a:t>matriz de diseño</a:t>
            </a:r>
            <a:r>
              <a:rPr sz="2000" b="0">
                <a:solidFill>
                  <a:srgbClr val="142B33"/>
                </a:solidFill>
                <a:latin typeface="Calibri"/>
              </a:rPr>
              <a:t>: diseño básico + columnas generadas</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Aleatorizar</a:t>
            </a:r>
            <a:r>
              <a:rPr sz="2000" b="0">
                <a:solidFill>
                  <a:srgbClr val="142B33"/>
                </a:solidFill>
                <a:latin typeface="Calibri"/>
              </a:rPr>
              <a:t> el orden de las corridas (dentro de bloques, si los hay)</a:t>
            </a:r>
          </a:p>
          <a:p>
            <a:pPr marL="320040" indent="-320040">
              <a:spcAft>
                <a:spcPts val="600"/>
              </a:spcAft>
              <a:buClr>
                <a:srgbClr val="E36414"/>
              </a:buClr>
              <a:buFont typeface="+mj-lt"/>
              <a:buAutoNum type="arabicPeriod"/>
            </a:pPr>
            <a:r>
              <a:rPr sz="2000" b="0">
                <a:solidFill>
                  <a:srgbClr val="142B33"/>
                </a:solidFill>
                <a:latin typeface="Calibri"/>
              </a:rPr>
              <a:t>Ejecutar y </a:t>
            </a:r>
            <a:r>
              <a:rPr sz="2000" b="1">
                <a:solidFill>
                  <a:srgbClr val="142B33"/>
                </a:solidFill>
                <a:latin typeface="Calibri"/>
              </a:rPr>
              <a:t>registrar el orden real</a:t>
            </a:r>
            <a:r>
              <a:rPr sz="2000" b="0">
                <a:solidFill>
                  <a:srgbClr val="142B33"/>
                </a:solidFill>
                <a:latin typeface="Calibri"/>
              </a:rPr>
              <a:t> de corrida</a:t>
            </a:r>
          </a:p>
          <a:p>
            <a:pPr marL="320040" indent="-320040">
              <a:spcAft>
                <a:spcPts val="600"/>
              </a:spcAft>
              <a:buClr>
                <a:srgbClr val="E36414"/>
              </a:buClr>
              <a:buFont typeface="+mj-lt"/>
              <a:buAutoNum type="arabicPeriod"/>
            </a:pPr>
            <a:r>
              <a:rPr sz="2000" b="0">
                <a:solidFill>
                  <a:srgbClr val="142B33"/>
                </a:solidFill>
                <a:latin typeface="Calibri"/>
              </a:rPr>
              <a:t>Planear la </a:t>
            </a:r>
            <a:r>
              <a:rPr sz="2000" b="1">
                <a:solidFill>
                  <a:srgbClr val="142B33"/>
                </a:solidFill>
                <a:latin typeface="Calibri"/>
              </a:rPr>
              <a:t>confirmación</a:t>
            </a:r>
            <a:r>
              <a:rPr sz="2000" b="0">
                <a:solidFill>
                  <a:srgbClr val="142B33"/>
                </a:solidFill>
                <a:latin typeface="Calibri"/>
              </a:rPr>
              <a:t>: corrida de verificación o segunda fracción</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58</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aleatorizar el diseño?</a:t>
            </a:r>
          </a:p>
        </p:txBody>
      </p:sp>
      <p:sp>
        <p:nvSpPr>
          <p:cNvPr id="3" name="TextBox 2"/>
          <p:cNvSpPr txBox="1"/>
          <p:nvPr/>
        </p:nvSpPr>
        <p:spPr>
          <a:xfrm>
            <a:off x="548640" y="1417320"/>
            <a:ext cx="4807320"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El orden de ejecución se </a:t>
            </a:r>
            <a:r>
              <a:rPr sz="1800" b="1">
                <a:solidFill>
                  <a:srgbClr val="142B33"/>
                </a:solidFill>
                <a:latin typeface="Calibri"/>
              </a:rPr>
              <a:t>sortea</a:t>
            </a:r>
            <a:r>
              <a:rPr sz="1800" b="0">
                <a:solidFill>
                  <a:srgbClr val="142B33"/>
                </a:solidFill>
                <a:latin typeface="Calibri"/>
              </a:rPr>
              <a:t>; no se corre en orden estándar</a:t>
            </a:r>
          </a:p>
          <a:p>
            <a:pPr marL="320040" indent="-320040">
              <a:spcAft>
                <a:spcPts val="600"/>
              </a:spcAft>
              <a:buClr>
                <a:srgbClr val="E36414"/>
              </a:buClr>
              <a:buFont typeface="Arial"/>
              <a:buChar char="•"/>
            </a:pPr>
            <a:r>
              <a:rPr sz="1800" b="0">
                <a:solidFill>
                  <a:srgbClr val="142B33"/>
                </a:solidFill>
                <a:latin typeface="Calibri"/>
              </a:rPr>
              <a:t>En cada corrida se </a:t>
            </a:r>
            <a:r>
              <a:rPr sz="1800" b="1">
                <a:solidFill>
                  <a:srgbClr val="142B33"/>
                </a:solidFill>
                <a:latin typeface="Calibri"/>
              </a:rPr>
              <a:t>reajustan</a:t>
            </a:r>
            <a:r>
              <a:rPr sz="1800" b="0">
                <a:solidFill>
                  <a:srgbClr val="142B33"/>
                </a:solidFill>
                <a:latin typeface="Calibri"/>
              </a:rPr>
              <a:t> todos los niveles</a:t>
            </a:r>
          </a:p>
          <a:p>
            <a:pPr marL="320040" indent="-320040">
              <a:spcAft>
                <a:spcPts val="600"/>
              </a:spcAft>
              <a:buClr>
                <a:srgbClr val="E36414"/>
              </a:buClr>
              <a:buFont typeface="Arial"/>
              <a:buChar char="•"/>
            </a:pPr>
            <a:r>
              <a:rPr sz="1800" b="0">
                <a:solidFill>
                  <a:srgbClr val="142B33"/>
                </a:solidFill>
                <a:latin typeface="Calibri"/>
              </a:rPr>
              <a:t>Se guarda el </a:t>
            </a:r>
            <a:r>
              <a:rPr sz="1800" b="1">
                <a:solidFill>
                  <a:srgbClr val="142B33"/>
                </a:solidFill>
                <a:latin typeface="Calibri"/>
              </a:rPr>
              <a:t>orden de corrida</a:t>
            </a:r>
            <a:r>
              <a:rPr sz="1800" b="0">
                <a:solidFill>
                  <a:srgbClr val="142B33"/>
                </a:solidFill>
                <a:latin typeface="Calibri"/>
              </a:rPr>
              <a:t>: se usa para verificar independencia</a:t>
            </a:r>
          </a:p>
          <a:p>
            <a:pPr marL="320040" indent="-320040">
              <a:spcAft>
                <a:spcPts val="600"/>
              </a:spcAft>
              <a:buClr>
                <a:srgbClr val="E36414"/>
              </a:buClr>
              <a:buFont typeface="Arial"/>
              <a:buChar char="•"/>
            </a:pPr>
            <a:r>
              <a:rPr sz="1800" b="0">
                <a:solidFill>
                  <a:srgbClr val="142B33"/>
                </a:solidFill>
                <a:latin typeface="Calibri"/>
              </a:rPr>
              <a:t>Sin condiciones homogéneas: </a:t>
            </a:r>
            <a:r>
              <a:rPr sz="1800" b="1">
                <a:solidFill>
                  <a:srgbClr val="142B33"/>
                </a:solidFill>
                <a:latin typeface="Calibri"/>
              </a:rPr>
              <a:t>bloques</a:t>
            </a:r>
            <a:r>
              <a:rPr sz="1800" b="0">
                <a:solidFill>
                  <a:srgbClr val="142B33"/>
                </a:solidFill>
                <a:latin typeface="Calibri"/>
              </a:rPr>
              <a:t>, confundiendo una cadena de orden alto</a:t>
            </a:r>
          </a:p>
        </p:txBody>
      </p:sp>
      <p:sp>
        <p:nvSpPr>
          <p:cNvPr id="4" name="Rounded Rectangle 3"/>
          <p:cNvSpPr/>
          <p:nvPr/>
        </p:nvSpPr>
        <p:spPr>
          <a:xfrm>
            <a:off x="548640" y="4178808"/>
            <a:ext cx="480732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«Forme bloques con lo que pueda y aleatorice lo que no pueda» (Box, Hunter y Hunter)</a:t>
            </a:r>
          </a:p>
        </p:txBody>
      </p:sp>
      <p:graphicFrame>
        <p:nvGraphicFramePr>
          <p:cNvPr id="5" name="Table 4"/>
          <p:cNvGraphicFramePr>
            <a:graphicFrameLocks noGrp="1"/>
          </p:cNvGraphicFramePr>
          <p:nvPr/>
        </p:nvGraphicFramePr>
        <p:xfrm>
          <a:off x="5767440" y="1417320"/>
          <a:ext cx="5875613" cy="3161538"/>
        </p:xfrm>
        <a:graphic>
          <a:graphicData uri="http://schemas.openxmlformats.org/drawingml/2006/table">
            <a:tbl>
              <a:tblPr firstRow="0" bandRow="0">
                <a:tableStyleId>{5C22544A-7EE6-4342-B048-85BDC9FD1C3A}</a:tableStyleId>
              </a:tblPr>
              <a:tblGrid>
                <a:gridCol w="1865147"/>
                <a:gridCol w="1657019"/>
                <a:gridCol w="304187"/>
                <a:gridCol w="304187"/>
                <a:gridCol w="304187"/>
                <a:gridCol w="304187"/>
                <a:gridCol w="1136699"/>
              </a:tblGrid>
              <a:tr h="351282">
                <a:tc>
                  <a:txBody>
                    <a:bodyPr/>
                    <a:lstStyle/>
                    <a:p>
                      <a:pPr algn="ctr"/>
                      <a:r>
                        <a:rPr sz="1500" b="1">
                          <a:solidFill>
                            <a:srgbClr val="FFFFFF"/>
                          </a:solidFill>
                          <a:latin typeface="Calibri"/>
                        </a:rPr>
                        <a:t>Orden de corrida</a:t>
                      </a:r>
                    </a:p>
                  </a:txBody>
                  <a:tcPr marL="73152" marR="73152" marT="27432" marB="27432" anchor="ctr">
                    <a:solidFill>
                      <a:srgbClr val="0F4C5C"/>
                    </a:solidFill>
                  </a:tcPr>
                </a:tc>
                <a:tc>
                  <a:txBody>
                    <a:bodyPr/>
                    <a:lstStyle/>
                    <a:p>
                      <a:pPr algn="ctr"/>
                      <a:r>
                        <a:rPr sz="1500" b="1">
                          <a:solidFill>
                            <a:srgbClr val="FFFFFF"/>
                          </a:solidFill>
                          <a:latin typeface="Calibri"/>
                        </a:rPr>
                        <a:t>Orden estándar</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Respuesta</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6</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6" name="TextBox 5"/>
          <p:cNvSpPr txBox="1"/>
          <p:nvPr/>
        </p:nvSpPr>
        <p:spPr>
          <a:xfrm>
            <a:off x="5767440" y="4780026"/>
            <a:ext cx="5875614" cy="237998"/>
          </a:xfrm>
          <a:prstGeom prst="rect">
            <a:avLst/>
          </a:prstGeom>
          <a:noFill/>
        </p:spPr>
        <p:txBody>
          <a:bodyPr wrap="square" anchor="t" lIns="0" rIns="0" tIns="0" bIns="0">
            <a:spAutoFit/>
          </a:bodyPr>
          <a:lstStyle/>
          <a:p>
            <a:r>
              <a:rPr sz="1300" b="0">
                <a:solidFill>
                  <a:srgbClr val="5B6B73"/>
                </a:solidFill>
                <a:latin typeface="Calibri"/>
              </a:rPr>
              <a:t>Ejemplo de orden aleatorio para un 2</a:t>
            </a:r>
            <a:r>
              <a:rPr sz="1300" b="0" baseline="30000">
                <a:solidFill>
                  <a:srgbClr val="5B6B73"/>
                </a:solidFill>
                <a:latin typeface="Calibri"/>
              </a:rPr>
              <a:t>4−1</a:t>
            </a:r>
            <a:r>
              <a:rPr sz="1300" b="0">
                <a:solidFill>
                  <a:srgbClr val="5B6B73"/>
                </a:solidFill>
                <a:latin typeface="Calibri"/>
              </a:rPr>
              <a:t> (D = ABC)</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59</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el modelo matemático del diseño?</a:t>
            </a:r>
          </a:p>
        </p:txBody>
      </p:sp>
      <p:sp>
        <p:nvSpPr>
          <p:cNvPr id="3" name="Rounded Rectangle 2"/>
          <p:cNvSpPr/>
          <p:nvPr/>
        </p:nvSpPr>
        <p:spPr>
          <a:xfrm>
            <a:off x="548640" y="1417320"/>
            <a:ext cx="110944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Y = β</a:t>
            </a:r>
            <a:r>
              <a:rPr sz="2400" b="0" baseline="-25000">
                <a:solidFill>
                  <a:srgbClr val="0F4C5C"/>
                </a:solidFill>
                <a:latin typeface="Cambria Math"/>
              </a:rPr>
              <a:t>0</a:t>
            </a:r>
            <a:r>
              <a:rPr sz="2400" b="0">
                <a:solidFill>
                  <a:srgbClr val="0F4C5C"/>
                </a:solidFill>
                <a:latin typeface="Cambria Math"/>
              </a:rPr>
              <a:t> + Σ β</a:t>
            </a:r>
            <a:r>
              <a:rPr sz="2400" b="0" baseline="-25000">
                <a:solidFill>
                  <a:srgbClr val="0F4C5C"/>
                </a:solidFill>
                <a:latin typeface="Cambria Math"/>
              </a:rPr>
              <a:t>j</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ΣΣ β</a:t>
            </a:r>
            <a:r>
              <a:rPr sz="2400" b="0" baseline="-25000">
                <a:solidFill>
                  <a:srgbClr val="0F4C5C"/>
                </a:solidFill>
                <a:latin typeface="Cambria Math"/>
              </a:rPr>
              <a:t>ij</a:t>
            </a:r>
            <a:r>
              <a:rPr sz="2400" b="0">
                <a:solidFill>
                  <a:srgbClr val="0F4C5C"/>
                </a:solidFill>
                <a:latin typeface="Cambria Math"/>
              </a:rPr>
              <a:t> x</a:t>
            </a:r>
            <a:r>
              <a:rPr sz="2400" b="0" baseline="-25000">
                <a:solidFill>
                  <a:srgbClr val="0F4C5C"/>
                </a:solidFill>
                <a:latin typeface="Cambria Math"/>
              </a:rPr>
              <a:t>i</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ε</a:t>
            </a:r>
          </a:p>
          <a:p>
            <a:pPr algn="ctr"/>
            <a:r>
              <a:rPr sz="2400" b="0">
                <a:solidFill>
                  <a:srgbClr val="0F4C5C"/>
                </a:solidFill>
                <a:latin typeface="Cambria Math"/>
              </a:rPr>
              <a:t>ε ~ NID(0, σ</a:t>
            </a:r>
            <a:r>
              <a:rPr sz="2400" b="0" baseline="30000">
                <a:solidFill>
                  <a:srgbClr val="0F4C5C"/>
                </a:solidFill>
                <a:latin typeface="Cambria Math"/>
              </a:rPr>
              <a:t>2</a:t>
            </a:r>
            <a:r>
              <a:rPr sz="2400" b="0">
                <a:solidFill>
                  <a:srgbClr val="0F4C5C"/>
                </a:solidFill>
                <a:latin typeface="Cambria Math"/>
              </a:rPr>
              <a:t>)</a:t>
            </a:r>
          </a:p>
        </p:txBody>
      </p:sp>
      <p:sp>
        <p:nvSpPr>
          <p:cNvPr id="4" name="TextBox 3"/>
          <p:cNvSpPr txBox="1"/>
          <p:nvPr/>
        </p:nvSpPr>
        <p:spPr>
          <a:xfrm>
            <a:off x="548640" y="2725765"/>
            <a:ext cx="11094415" cy="144475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x</a:t>
            </a:r>
            <a:r>
              <a:rPr sz="1800" b="1" baseline="-25000">
                <a:solidFill>
                  <a:srgbClr val="142B33"/>
                </a:solidFill>
                <a:latin typeface="Calibri"/>
              </a:rPr>
              <a:t>j</a:t>
            </a:r>
            <a:r>
              <a:rPr sz="1800" b="0">
                <a:solidFill>
                  <a:srgbClr val="142B33"/>
                </a:solidFill>
                <a:latin typeface="Calibri"/>
              </a:rPr>
              <a:t> = −1 (nivel bajo) o +1 (nivel alto) del factor j</a:t>
            </a:r>
          </a:p>
          <a:p>
            <a:pPr marL="320040" indent="-320040">
              <a:spcAft>
                <a:spcPts val="600"/>
              </a:spcAft>
              <a:buClr>
                <a:srgbClr val="E36414"/>
              </a:buClr>
              <a:buFont typeface="Arial"/>
              <a:buChar char="•"/>
            </a:pPr>
            <a:r>
              <a:rPr sz="1800" b="0">
                <a:solidFill>
                  <a:srgbClr val="142B33"/>
                </a:solidFill>
                <a:latin typeface="Calibri"/>
              </a:rPr>
              <a:t>Se estiman así:  </a:t>
            </a:r>
            <a:r>
              <a:rPr sz="1800" b="1">
                <a:solidFill>
                  <a:srgbClr val="142B33"/>
                </a:solidFill>
                <a:latin typeface="Calibri"/>
              </a:rPr>
              <a:t>β</a:t>
            </a:r>
            <a:r>
              <a:rPr sz="1800" b="1" baseline="-25000">
                <a:solidFill>
                  <a:srgbClr val="142B33"/>
                </a:solidFill>
                <a:latin typeface="Calibri"/>
              </a:rPr>
              <a:t>0</a:t>
            </a:r>
            <a:r>
              <a:rPr sz="1800" b="0">
                <a:solidFill>
                  <a:srgbClr val="142B33"/>
                </a:solidFill>
                <a:latin typeface="Calibri"/>
              </a:rPr>
              <a:t> con el promedio general;  </a:t>
            </a:r>
            <a:r>
              <a:rPr sz="1800" b="1">
                <a:solidFill>
                  <a:srgbClr val="142B33"/>
                </a:solidFill>
                <a:latin typeface="Calibri"/>
              </a:rPr>
              <a:t>β</a:t>
            </a:r>
            <a:r>
              <a:rPr sz="1800" b="1" baseline="-25000">
                <a:solidFill>
                  <a:srgbClr val="142B33"/>
                </a:solidFill>
                <a:latin typeface="Calibri"/>
              </a:rPr>
              <a:t>j</a:t>
            </a:r>
            <a:r>
              <a:rPr sz="1800" b="0">
                <a:solidFill>
                  <a:srgbClr val="142B33"/>
                </a:solidFill>
                <a:latin typeface="Calibri"/>
              </a:rPr>
              <a:t> con efecto / 2;  </a:t>
            </a:r>
            <a:r>
              <a:rPr sz="1800" b="1">
                <a:solidFill>
                  <a:srgbClr val="142B33"/>
                </a:solidFill>
                <a:latin typeface="Calibri"/>
              </a:rPr>
              <a:t>β</a:t>
            </a:r>
            <a:r>
              <a:rPr sz="1800" b="1" baseline="-25000">
                <a:solidFill>
                  <a:srgbClr val="142B33"/>
                </a:solidFill>
                <a:latin typeface="Calibri"/>
              </a:rPr>
              <a:t>ij</a:t>
            </a:r>
            <a:r>
              <a:rPr sz="1800" b="0">
                <a:solidFill>
                  <a:srgbClr val="142B33"/>
                </a:solidFill>
                <a:latin typeface="Calibri"/>
              </a:rPr>
              <a:t> con efecto de interacción / 2</a:t>
            </a:r>
          </a:p>
          <a:p>
            <a:pPr marL="320040" indent="-320040">
              <a:spcAft>
                <a:spcPts val="600"/>
              </a:spcAft>
              <a:buClr>
                <a:srgbClr val="E36414"/>
              </a:buClr>
              <a:buFont typeface="Arial"/>
              <a:buChar char="•"/>
            </a:pPr>
            <a:r>
              <a:rPr sz="1800" b="0">
                <a:solidFill>
                  <a:srgbClr val="142B33"/>
                </a:solidFill>
                <a:latin typeface="Calibri"/>
              </a:rPr>
              <a:t>En la fracción cada columna estima una </a:t>
            </a:r>
            <a:r>
              <a:rPr sz="1800" b="1">
                <a:solidFill>
                  <a:srgbClr val="142B33"/>
                </a:solidFill>
                <a:latin typeface="Calibri"/>
              </a:rPr>
              <a:t>cadena de alias</a:t>
            </a:r>
            <a:r>
              <a:rPr sz="1800" b="0">
                <a:solidFill>
                  <a:srgbClr val="142B33"/>
                </a:solidFill>
                <a:latin typeface="Calibri"/>
              </a:rPr>
              <a:t>:  ℓ</a:t>
            </a:r>
            <a:r>
              <a:rPr sz="1800" b="0" baseline="-25000">
                <a:solidFill>
                  <a:srgbClr val="142B33"/>
                </a:solidFill>
                <a:latin typeface="Calibri"/>
              </a:rPr>
              <a:t>A</a:t>
            </a:r>
            <a:r>
              <a:rPr sz="1800" b="0">
                <a:solidFill>
                  <a:srgbClr val="142B33"/>
                </a:solidFill>
                <a:latin typeface="Calibri"/>
              </a:rPr>
              <a:t> → A + BCD</a:t>
            </a:r>
          </a:p>
          <a:p>
            <a:pPr marL="320040" indent="-320040">
              <a:spcAft>
                <a:spcPts val="600"/>
              </a:spcAft>
              <a:buClr>
                <a:srgbClr val="E36414"/>
              </a:buClr>
              <a:buFont typeface="Arial"/>
              <a:buChar char="•"/>
            </a:pPr>
            <a:r>
              <a:rPr sz="1800" b="0">
                <a:solidFill>
                  <a:srgbClr val="142B33"/>
                </a:solidFill>
                <a:latin typeface="Calibri"/>
              </a:rPr>
              <a:t>El modelo final lleva </a:t>
            </a:r>
            <a:r>
              <a:rPr sz="1800" b="1">
                <a:solidFill>
                  <a:srgbClr val="142B33"/>
                </a:solidFill>
                <a:latin typeface="Calibri"/>
              </a:rPr>
              <a:t>un término por cada cadena activa</a:t>
            </a:r>
            <a:r>
              <a:rPr sz="1800" b="0">
                <a:solidFill>
                  <a:srgbClr val="142B33"/>
                </a:solidFill>
                <a:latin typeface="Calibri"/>
              </a:rPr>
              <a:t>: el más razonable</a:t>
            </a:r>
          </a:p>
        </p:txBody>
      </p:sp>
      <p:sp>
        <p:nvSpPr>
          <p:cNvPr id="5" name="Rounded Rectangle 4"/>
          <p:cNvSpPr/>
          <p:nvPr/>
        </p:nvSpPr>
        <p:spPr>
          <a:xfrm>
            <a:off x="548640" y="4371685"/>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supone que las interacciones de orden alto de cada cadena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60</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hipótesis del diseño?</a:t>
            </a:r>
          </a:p>
        </p:txBody>
      </p:sp>
      <p:sp>
        <p:nvSpPr>
          <p:cNvPr id="3" name="Rounded Rectangle 2"/>
          <p:cNvSpPr/>
          <p:nvPr/>
        </p:nvSpPr>
        <p:spPr>
          <a:xfrm>
            <a:off x="548640" y="1417320"/>
            <a:ext cx="5341467"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H</a:t>
            </a:r>
            <a:r>
              <a:rPr sz="2400" b="0" baseline="-25000">
                <a:solidFill>
                  <a:srgbClr val="0F4C5C"/>
                </a:solidFill>
                <a:latin typeface="Cambria Math"/>
              </a:rPr>
              <a:t>0</a:t>
            </a:r>
            <a:r>
              <a:rPr sz="2400" b="0">
                <a:solidFill>
                  <a:srgbClr val="0F4C5C"/>
                </a:solidFill>
                <a:latin typeface="Cambria Math"/>
              </a:rPr>
              <a:t>: efecto de la cadena = 0</a:t>
            </a:r>
          </a:p>
          <a:p>
            <a:pPr algn="ctr"/>
            <a:r>
              <a:rPr sz="2400" b="0">
                <a:solidFill>
                  <a:srgbClr val="0F4C5C"/>
                </a:solidFill>
                <a:latin typeface="Cambria Math"/>
              </a:rPr>
              <a:t>H</a:t>
            </a:r>
            <a:r>
              <a:rPr sz="2400" b="0" baseline="-25000">
                <a:solidFill>
                  <a:srgbClr val="0F4C5C"/>
                </a:solidFill>
                <a:latin typeface="Cambria Math"/>
              </a:rPr>
              <a:t>A</a:t>
            </a:r>
            <a:r>
              <a:rPr sz="2400" b="0">
                <a:solidFill>
                  <a:srgbClr val="0F4C5C"/>
                </a:solidFill>
                <a:latin typeface="Cambria Math"/>
              </a:rPr>
              <a:t>: efecto de la cadena ≠ 0</a:t>
            </a:r>
          </a:p>
        </p:txBody>
      </p:sp>
      <p:sp>
        <p:nvSpPr>
          <p:cNvPr id="4" name="TextBox 3"/>
          <p:cNvSpPr txBox="1"/>
          <p:nvPr/>
        </p:nvSpPr>
        <p:spPr>
          <a:xfrm>
            <a:off x="548640" y="2725765"/>
            <a:ext cx="5341467" cy="284479"/>
          </a:xfrm>
          <a:prstGeom prst="rect">
            <a:avLst/>
          </a:prstGeom>
          <a:noFill/>
        </p:spPr>
        <p:txBody>
          <a:bodyPr wrap="square" anchor="t" lIns="0" rIns="0" tIns="0" bIns="0">
            <a:spAutoFit/>
          </a:bodyPr>
          <a:lstStyle/>
          <a:p>
            <a:r>
              <a:rPr sz="1600" b="0">
                <a:solidFill>
                  <a:srgbClr val="142B33"/>
                </a:solidFill>
                <a:latin typeface="Calibri"/>
              </a:rPr>
              <a:t>Ejemplo, columna A del 2</a:t>
            </a:r>
            <a:r>
              <a:rPr sz="1600" b="0" baseline="30000">
                <a:solidFill>
                  <a:srgbClr val="142B33"/>
                </a:solidFill>
                <a:latin typeface="Calibri"/>
              </a:rPr>
              <a:t>4−1</a:t>
            </a:r>
            <a:r>
              <a:rPr sz="1600" b="0">
                <a:solidFill>
                  <a:srgbClr val="142B33"/>
                </a:solidFill>
                <a:latin typeface="Calibri"/>
              </a:rPr>
              <a:t>:   H</a:t>
            </a:r>
            <a:r>
              <a:rPr sz="1600" b="0" baseline="-25000">
                <a:solidFill>
                  <a:srgbClr val="142B33"/>
                </a:solidFill>
                <a:latin typeface="Calibri"/>
              </a:rPr>
              <a:t>0</a:t>
            </a:r>
            <a:r>
              <a:rPr sz="1600" b="0">
                <a:solidFill>
                  <a:srgbClr val="142B33"/>
                </a:solidFill>
                <a:latin typeface="Calibri"/>
              </a:rPr>
              <a:t>: β</a:t>
            </a:r>
            <a:r>
              <a:rPr sz="1600" b="0" baseline="-25000">
                <a:solidFill>
                  <a:srgbClr val="142B33"/>
                </a:solidFill>
                <a:latin typeface="Calibri"/>
              </a:rPr>
              <a:t>A</a:t>
            </a:r>
            <a:r>
              <a:rPr sz="1600" b="0">
                <a:solidFill>
                  <a:srgbClr val="142B33"/>
                </a:solidFill>
                <a:latin typeface="Calibri"/>
              </a:rPr>
              <a:t> + β</a:t>
            </a:r>
            <a:r>
              <a:rPr sz="1600" b="0" baseline="-25000">
                <a:solidFill>
                  <a:srgbClr val="142B33"/>
                </a:solidFill>
                <a:latin typeface="Calibri"/>
              </a:rPr>
              <a:t>BCD</a:t>
            </a:r>
            <a:r>
              <a:rPr sz="1600" b="0">
                <a:solidFill>
                  <a:srgbClr val="142B33"/>
                </a:solidFill>
                <a:latin typeface="Calibri"/>
              </a:rPr>
              <a:t> = 0</a:t>
            </a:r>
          </a:p>
        </p:txBody>
      </p:sp>
      <p:sp>
        <p:nvSpPr>
          <p:cNvPr id="5" name="Rounded Rectangle 4"/>
          <p:cNvSpPr/>
          <p:nvPr/>
        </p:nvSpPr>
        <p:spPr>
          <a:xfrm>
            <a:off x="548640" y="3211413"/>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Se rechaza H</a:t>
            </a:r>
            <a:r>
              <a:rPr sz="2000" b="0" baseline="-25000">
                <a:solidFill>
                  <a:srgbClr val="0F4C5C"/>
                </a:solidFill>
                <a:latin typeface="Cambria Math"/>
              </a:rPr>
              <a:t>0</a:t>
            </a:r>
            <a:r>
              <a:rPr sz="2000" b="0">
                <a:solidFill>
                  <a:srgbClr val="0F4C5C"/>
                </a:solidFill>
                <a:latin typeface="Cambria Math"/>
              </a:rPr>
              <a:t> si  F</a:t>
            </a:r>
            <a:r>
              <a:rPr sz="2000" b="0" baseline="-25000">
                <a:solidFill>
                  <a:srgbClr val="0F4C5C"/>
                </a:solidFill>
                <a:latin typeface="Cambria Math"/>
              </a:rPr>
              <a:t>0</a:t>
            </a:r>
            <a:r>
              <a:rPr sz="2000" b="0">
                <a:solidFill>
                  <a:srgbClr val="0F4C5C"/>
                </a:solidFill>
                <a:latin typeface="Cambria Math"/>
              </a:rPr>
              <a:t> &gt; F</a:t>
            </a:r>
            <a:r>
              <a:rPr sz="2000" b="0" baseline="-25000">
                <a:solidFill>
                  <a:srgbClr val="0F4C5C"/>
                </a:solidFill>
                <a:latin typeface="Cambria Math"/>
              </a:rPr>
              <a:t>α, 1, gl del error</a:t>
            </a:r>
          </a:p>
          <a:p>
            <a:pPr algn="ctr"/>
            <a:r>
              <a:rPr sz="2000" b="0">
                <a:solidFill>
                  <a:srgbClr val="0F4C5C"/>
                </a:solidFill>
                <a:latin typeface="Cambria Math"/>
              </a:rPr>
              <a:t>o si  valor p &lt; α</a:t>
            </a:r>
          </a:p>
        </p:txBody>
      </p:sp>
      <p:sp>
        <p:nvSpPr>
          <p:cNvPr id="6" name="TextBox 5"/>
          <p:cNvSpPr txBox="1"/>
          <p:nvPr/>
        </p:nvSpPr>
        <p:spPr>
          <a:xfrm>
            <a:off x="6301587" y="1417320"/>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Una hipótesis por cada </a:t>
            </a:r>
            <a:r>
              <a:rPr sz="1800" b="1">
                <a:solidFill>
                  <a:srgbClr val="142B33"/>
                </a:solidFill>
                <a:latin typeface="Calibri"/>
              </a:rPr>
              <a:t>cadena de alias</a:t>
            </a:r>
            <a:r>
              <a:rPr sz="1800" b="0">
                <a:solidFill>
                  <a:srgbClr val="142B33"/>
                </a:solidFill>
                <a:latin typeface="Calibri"/>
              </a:rPr>
              <a:t> que entra al modelo</a:t>
            </a:r>
          </a:p>
          <a:p>
            <a:pPr marL="320040" indent="-320040">
              <a:spcAft>
                <a:spcPts val="600"/>
              </a:spcAft>
              <a:buClr>
                <a:srgbClr val="E36414"/>
              </a:buClr>
              <a:buFont typeface="Arial"/>
              <a:buChar char="•"/>
            </a:pPr>
            <a:r>
              <a:rPr sz="1800" b="0">
                <a:solidFill>
                  <a:srgbClr val="142B33"/>
                </a:solidFill>
                <a:latin typeface="Calibri"/>
              </a:rPr>
              <a:t>Se prueba la </a:t>
            </a:r>
            <a:r>
              <a:rPr sz="1800" b="1">
                <a:solidFill>
                  <a:srgbClr val="142B33"/>
                </a:solidFill>
                <a:latin typeface="Calibri"/>
              </a:rPr>
              <a:t>cadena completa</a:t>
            </a:r>
            <a:r>
              <a:rPr sz="1800" b="0">
                <a:solidFill>
                  <a:srgbClr val="142B33"/>
                </a:solidFill>
                <a:latin typeface="Calibri"/>
              </a:rPr>
              <a:t>: A + BCD, no A sola (siguientes diapositivas)</a:t>
            </a:r>
          </a:p>
          <a:p>
            <a:pPr marL="320040" indent="-320040">
              <a:spcAft>
                <a:spcPts val="600"/>
              </a:spcAft>
              <a:buClr>
                <a:srgbClr val="E36414"/>
              </a:buClr>
              <a:buFont typeface="Arial"/>
              <a:buChar char="•"/>
            </a:pPr>
            <a:r>
              <a:rPr sz="1800" b="0">
                <a:solidFill>
                  <a:srgbClr val="142B33"/>
                </a:solidFill>
                <a:latin typeface="Calibri"/>
              </a:rPr>
              <a:t>Si BCD es </a:t>
            </a:r>
            <a:r>
              <a:rPr sz="1800" b="1">
                <a:solidFill>
                  <a:srgbClr val="142B33"/>
                </a:solidFill>
                <a:latin typeface="Calibri"/>
              </a:rPr>
              <a:t>despreciable</a:t>
            </a:r>
            <a:r>
              <a:rPr sz="1800" b="0">
                <a:solidFill>
                  <a:srgbClr val="142B33"/>
                </a:solidFill>
                <a:latin typeface="Calibri"/>
              </a:rPr>
              <a:t>, equivale a  H</a:t>
            </a:r>
            <a:r>
              <a:rPr sz="1800" b="0" baseline="-25000">
                <a:solidFill>
                  <a:srgbClr val="142B33"/>
                </a:solidFill>
                <a:latin typeface="Calibri"/>
              </a:rPr>
              <a:t>0</a:t>
            </a:r>
            <a:r>
              <a:rPr sz="1800" b="0">
                <a:solidFill>
                  <a:srgbClr val="142B33"/>
                </a:solidFill>
                <a:latin typeface="Calibri"/>
              </a:rPr>
              <a:t>: β</a:t>
            </a:r>
            <a:r>
              <a:rPr sz="1800" b="0" baseline="-25000">
                <a:solidFill>
                  <a:srgbClr val="142B33"/>
                </a:solidFill>
                <a:latin typeface="Calibri"/>
              </a:rPr>
              <a:t>A</a:t>
            </a:r>
            <a:r>
              <a:rPr sz="1800" b="0">
                <a:solidFill>
                  <a:srgbClr val="142B33"/>
                </a:solidFill>
                <a:latin typeface="Calibri"/>
              </a:rPr>
              <a:t> = 0</a:t>
            </a:r>
          </a:p>
          <a:p>
            <a:pPr marL="320040" indent="-320040">
              <a:spcAft>
                <a:spcPts val="600"/>
              </a:spcAft>
              <a:buClr>
                <a:srgbClr val="E36414"/>
              </a:buClr>
              <a:buFont typeface="Arial"/>
              <a:buChar char="•"/>
            </a:pPr>
            <a:r>
              <a:rPr sz="1800" b="0">
                <a:solidFill>
                  <a:srgbClr val="142B33"/>
                </a:solidFill>
                <a:latin typeface="Calibri"/>
              </a:rPr>
              <a:t>Nivel de significancia habitual: </a:t>
            </a:r>
            <a:r>
              <a:rPr sz="1800" b="1">
                <a:solidFill>
                  <a:srgbClr val="142B33"/>
                </a:solidFill>
                <a:latin typeface="Calibri"/>
              </a:rPr>
              <a:t>α = 0.05</a:t>
            </a:r>
          </a:p>
        </p:txBody>
      </p:sp>
      <p:sp>
        <p:nvSpPr>
          <p:cNvPr id="7" name="Rounded Rectangle 6"/>
          <p:cNvSpPr/>
          <p:nvPr/>
        </p:nvSpPr>
        <p:spPr>
          <a:xfrm>
            <a:off x="6301587" y="3621024"/>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H</a:t>
            </a:r>
            <a:r>
              <a:rPr sz="1600" b="0" baseline="-25000">
                <a:solidFill>
                  <a:srgbClr val="142B33"/>
                </a:solidFill>
                <a:latin typeface="Calibri"/>
              </a:rPr>
              <a:t>0</a:t>
            </a:r>
            <a:r>
              <a:rPr sz="1600" b="0">
                <a:solidFill>
                  <a:srgbClr val="142B33"/>
                </a:solidFill>
                <a:latin typeface="Calibri"/>
              </a:rPr>
              <a:t>: el factor no afecta la respuesta.  H</a:t>
            </a:r>
            <a:r>
              <a:rPr sz="1600" b="0" baseline="-25000">
                <a:solidFill>
                  <a:srgbClr val="142B33"/>
                </a:solidFill>
                <a:latin typeface="Calibri"/>
              </a:rPr>
              <a:t>A</a:t>
            </a:r>
            <a:r>
              <a:rPr sz="1600" b="0">
                <a:solidFill>
                  <a:srgbClr val="142B33"/>
                </a:solidFill>
                <a:latin typeface="Calibri"/>
              </a:rPr>
              <a:t>: el factor sí la afecta.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61</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¿Por qué se prueba la cadena completa?</a:t>
            </a:r>
          </a:p>
        </p:txBody>
      </p:sp>
      <p:graphicFrame>
        <p:nvGraphicFramePr>
          <p:cNvPr id="3" name="Table 2"/>
          <p:cNvGraphicFramePr>
            <a:graphicFrameLocks noGrp="1"/>
          </p:cNvGraphicFramePr>
          <p:nvPr/>
        </p:nvGraphicFramePr>
        <p:xfrm>
          <a:off x="548640" y="1417320"/>
          <a:ext cx="4486830" cy="2528307"/>
        </p:xfrm>
        <a:graphic>
          <a:graphicData uri="http://schemas.openxmlformats.org/drawingml/2006/table">
            <a:tbl>
              <a:tblPr firstRow="0" bandRow="0">
                <a:tableStyleId>{5C22544A-7EE6-4342-B048-85BDC9FD1C3A}</a:tableStyleId>
              </a:tblPr>
              <a:tblGrid>
                <a:gridCol w="1380563"/>
                <a:gridCol w="452253"/>
                <a:gridCol w="1999437"/>
                <a:gridCol w="654577"/>
              </a:tblGrid>
              <a:tr h="280923">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BCD = B·C·D</a:t>
                      </a:r>
                    </a:p>
                  </a:txBody>
                  <a:tcPr marL="73152" marR="73152" marT="27432" marB="27432" anchor="ctr">
                    <a:solidFill>
                      <a:srgbClr val="0F4C5C"/>
                    </a:solidFill>
                  </a:tcPr>
                </a:tc>
                <a:tc>
                  <a:txBody>
                    <a:bodyPr/>
                    <a:lstStyle/>
                    <a:p>
                      <a:pPr algn="ctr"/>
                      <a:r>
                        <a:rPr sz="1400" b="1">
                          <a:solidFill>
                            <a:srgbClr val="FFFFFF"/>
                          </a:solidFill>
                          <a:latin typeface="Calibri"/>
                        </a:rPr>
                        <a:t>y</a:t>
                      </a:r>
                    </a:p>
                  </a:txBody>
                  <a:tcPr marL="73152" marR="73152" marT="27432" marB="27432" anchor="ctr">
                    <a:solidFill>
                      <a:srgbClr val="0F4C5C"/>
                    </a:solidFill>
                  </a:tcPr>
                </a:tc>
              </a:tr>
              <a:tr h="280923">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tr>
              <a:tr h="280923">
                <a:tc>
                  <a:txBody>
                    <a:bodyPr/>
                    <a:lstStyle/>
                    <a:p>
                      <a:pPr algn="ctr"/>
                      <a:r>
                        <a:rPr sz="1400" b="0">
                          <a:solidFill>
                            <a:srgbClr val="142B33"/>
                          </a:solidFill>
                          <a:latin typeface="Calibri"/>
                        </a:rPr>
                        <a:t>ad</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100</a:t>
                      </a:r>
                    </a:p>
                  </a:txBody>
                  <a:tcPr marL="73152" marR="73152" marT="27432" marB="27432" anchor="ctr">
                    <a:solidFill>
                      <a:srgbClr val="F4F8F9"/>
                    </a:solidFill>
                  </a:tcPr>
                </a:tc>
              </a:tr>
              <a:tr h="280923">
                <a:tc>
                  <a:txBody>
                    <a:bodyPr/>
                    <a:lstStyle/>
                    <a:p>
                      <a:pPr algn="ctr"/>
                      <a:r>
                        <a:rPr sz="1400" b="0">
                          <a:solidFill>
                            <a:srgbClr val="142B33"/>
                          </a:solidFill>
                          <a:latin typeface="Calibri"/>
                        </a:rPr>
                        <a:t>bd</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tr>
              <a:tr h="280923">
                <a:tc>
                  <a:txBody>
                    <a:bodyPr/>
                    <a:lstStyle/>
                    <a:p>
                      <a:pPr algn="ctr"/>
                      <a:r>
                        <a:rPr sz="1400" b="0">
                          <a:solidFill>
                            <a:srgbClr val="142B33"/>
                          </a:solidFill>
                          <a:latin typeface="Calibri"/>
                        </a:rPr>
                        <a:t>ab</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65</a:t>
                      </a:r>
                    </a:p>
                  </a:txBody>
                  <a:tcPr marL="73152" marR="73152" marT="27432" marB="27432" anchor="ctr">
                    <a:solidFill>
                      <a:srgbClr val="F4F8F9"/>
                    </a:solidFill>
                  </a:tcPr>
                </a:tc>
              </a:tr>
              <a:tr h="280923">
                <a:tc>
                  <a:txBody>
                    <a:bodyPr/>
                    <a:lstStyle/>
                    <a:p>
                      <a:pPr algn="ctr"/>
                      <a:r>
                        <a:rPr sz="1400" b="0">
                          <a:solidFill>
                            <a:srgbClr val="142B33"/>
                          </a:solidFill>
                          <a:latin typeface="Calibri"/>
                        </a:rPr>
                        <a:t>cd</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75</a:t>
                      </a:r>
                    </a:p>
                  </a:txBody>
                  <a:tcPr marL="73152" marR="73152" marT="27432" marB="27432" anchor="ctr">
                    <a:solidFill>
                      <a:srgbClr val="FFFFFF"/>
                    </a:solidFill>
                  </a:tcPr>
                </a:tc>
              </a:tr>
              <a:tr h="280923">
                <a:tc>
                  <a:txBody>
                    <a:bodyPr/>
                    <a:lstStyle/>
                    <a:p>
                      <a:pPr algn="ctr"/>
                      <a:r>
                        <a:rPr sz="1400" b="0">
                          <a:solidFill>
                            <a:srgbClr val="142B33"/>
                          </a:solidFill>
                          <a:latin typeface="Calibri"/>
                        </a:rPr>
                        <a:t>ac</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60</a:t>
                      </a:r>
                    </a:p>
                  </a:txBody>
                  <a:tcPr marL="73152" marR="73152" marT="27432" marB="27432" anchor="ctr">
                    <a:solidFill>
                      <a:srgbClr val="F4F8F9"/>
                    </a:solidFill>
                  </a:tcPr>
                </a:tc>
              </a:tr>
              <a:tr h="280923">
                <a:tc>
                  <a:txBody>
                    <a:bodyPr/>
                    <a:lstStyle/>
                    <a:p>
                      <a:pPr algn="ctr"/>
                      <a:r>
                        <a:rPr sz="1400" b="0">
                          <a:solidFill>
                            <a:srgbClr val="142B33"/>
                          </a:solidFill>
                          <a:latin typeface="Calibri"/>
                        </a:rPr>
                        <a:t>bc</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80</a:t>
                      </a:r>
                    </a:p>
                  </a:txBody>
                  <a:tcPr marL="73152" marR="73152" marT="27432" marB="27432" anchor="ctr">
                    <a:solidFill>
                      <a:srgbClr val="FFFFFF"/>
                    </a:solidFill>
                  </a:tcPr>
                </a:tc>
              </a:tr>
              <a:tr h="280923">
                <a:tc>
                  <a:txBody>
                    <a:bodyPr/>
                    <a:lstStyle/>
                    <a:p>
                      <a:pPr algn="ctr"/>
                      <a:r>
                        <a:rPr sz="1400" b="0">
                          <a:solidFill>
                            <a:srgbClr val="142B33"/>
                          </a:solidFill>
                          <a:latin typeface="Calibri"/>
                        </a:rPr>
                        <a:t>abcd</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96</a:t>
                      </a:r>
                    </a:p>
                  </a:txBody>
                  <a:tcPr marL="73152" marR="73152" marT="27432" marB="27432" anchor="ctr">
                    <a:solidFill>
                      <a:srgbClr val="F4F8F9"/>
                    </a:solidFill>
                  </a:tcPr>
                </a:tc>
              </a:tr>
            </a:tbl>
          </a:graphicData>
        </a:graphic>
      </p:graphicFrame>
      <p:sp>
        <p:nvSpPr>
          <p:cNvPr id="4" name="Rounded Rectangle 3"/>
          <p:cNvSpPr/>
          <p:nvPr/>
        </p:nvSpPr>
        <p:spPr>
          <a:xfrm>
            <a:off x="548640" y="4146804"/>
            <a:ext cx="4486832"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Columnas </a:t>
            </a:r>
            <a:r>
              <a:rPr sz="1400" b="1">
                <a:solidFill>
                  <a:srgbClr val="142B33"/>
                </a:solidFill>
                <a:latin typeface="Calibri"/>
              </a:rPr>
              <a:t>idénticas</a:t>
            </a:r>
            <a:r>
              <a:rPr sz="1400" b="0">
                <a:solidFill>
                  <a:srgbClr val="142B33"/>
                </a:solidFill>
                <a:latin typeface="Calibri"/>
              </a:rPr>
              <a:t>: el contraste de A es también el de BCD</a:t>
            </a:r>
          </a:p>
        </p:txBody>
      </p:sp>
      <p:sp>
        <p:nvSpPr>
          <p:cNvPr id="5" name="Rounded Rectangle 4"/>
          <p:cNvSpPr/>
          <p:nvPr/>
        </p:nvSpPr>
        <p:spPr>
          <a:xfrm>
            <a:off x="5446952" y="1417320"/>
            <a:ext cx="6196102"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ℓ</a:t>
            </a:r>
            <a:r>
              <a:rPr sz="1700" b="0" baseline="-25000">
                <a:solidFill>
                  <a:srgbClr val="0F4C5C"/>
                </a:solidFill>
                <a:latin typeface="Cambria Math"/>
              </a:rPr>
              <a:t>A</a:t>
            </a:r>
            <a:r>
              <a:rPr sz="1700" b="0">
                <a:solidFill>
                  <a:srgbClr val="0F4C5C"/>
                </a:solidFill>
                <a:latin typeface="Cambria Math"/>
              </a:rPr>
              <a:t> = (321 − 245) / 4 = 19.00  →  estima A + BCD</a:t>
            </a:r>
          </a:p>
        </p:txBody>
      </p:sp>
      <p:graphicFrame>
        <p:nvGraphicFramePr>
          <p:cNvPr id="6" name="Table 5"/>
          <p:cNvGraphicFramePr>
            <a:graphicFrameLocks noGrp="1"/>
          </p:cNvGraphicFramePr>
          <p:nvPr/>
        </p:nvGraphicFramePr>
        <p:xfrm>
          <a:off x="5446952" y="2187813"/>
          <a:ext cx="6196100" cy="1678940"/>
        </p:xfrm>
        <a:graphic>
          <a:graphicData uri="http://schemas.openxmlformats.org/drawingml/2006/table">
            <a:tbl>
              <a:tblPr firstRow="0" bandRow="0">
                <a:tableStyleId>{5C22544A-7EE6-4342-B048-85BDC9FD1C3A}</a:tableStyleId>
              </a:tblPr>
              <a:tblGrid>
                <a:gridCol w="2106674"/>
                <a:gridCol w="1115298"/>
                <a:gridCol w="1115298"/>
                <a:gridCol w="1858830"/>
              </a:tblGrid>
              <a:tr h="335788">
                <a:tc>
                  <a:txBody>
                    <a:bodyPr/>
                    <a:lstStyle/>
                    <a:p>
                      <a:pPr algn="l"/>
                      <a:r>
                        <a:rPr sz="1400" b="1">
                          <a:solidFill>
                            <a:srgbClr val="FFFFFF"/>
                          </a:solidFill>
                          <a:latin typeface="Calibri"/>
                        </a:rPr>
                        <a:t>Mundo posible</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BCD</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A</a:t>
                      </a:r>
                      <a:r>
                        <a:rPr sz="1400" b="1">
                          <a:solidFill>
                            <a:srgbClr val="FFFFFF"/>
                          </a:solidFill>
                          <a:latin typeface="Calibri"/>
                        </a:rPr>
                        <a:t> observado</a:t>
                      </a:r>
                    </a:p>
                  </a:txBody>
                  <a:tcPr marL="73152" marR="73152" marT="27432" marB="27432" anchor="ctr">
                    <a:solidFill>
                      <a:srgbClr val="0F4C5C"/>
                    </a:solidFill>
                  </a:tcPr>
                </a:tc>
              </a:tr>
              <a:tr h="335788">
                <a:tc>
                  <a:txBody>
                    <a:bodyPr/>
                    <a:lstStyle/>
                    <a:p>
                      <a:pPr algn="l"/>
                      <a:r>
                        <a:rPr sz="1400" b="0">
                          <a:solidFill>
                            <a:srgbClr val="142B33"/>
                          </a:solidFill>
                          <a:latin typeface="Calibri"/>
                        </a:rPr>
                        <a:t>Solo A</a:t>
                      </a:r>
                    </a:p>
                  </a:txBody>
                  <a:tcPr marL="73152" marR="73152" marT="27432" marB="27432" anchor="ctr">
                    <a:solidFill>
                      <a:srgbClr val="FFFFFF"/>
                    </a:solidFill>
                  </a:tcPr>
                </a:tc>
                <a:tc>
                  <a:txBody>
                    <a:bodyPr/>
                    <a:lstStyle/>
                    <a:p>
                      <a:pPr algn="ctr"/>
                      <a:r>
                        <a:rPr sz="1400" b="0">
                          <a:solidFill>
                            <a:srgbClr val="142B33"/>
                          </a:solidFill>
                          <a:latin typeface="Calibri"/>
                        </a:rPr>
                        <a:t>19.00</a:t>
                      </a:r>
                    </a:p>
                  </a:txBody>
                  <a:tcPr marL="73152" marR="73152" marT="27432" marB="27432" anchor="ctr">
                    <a:solidFill>
                      <a:srgbClr val="FFFFFF"/>
                    </a:solidFill>
                  </a:tcPr>
                </a:tc>
                <a:tc>
                  <a:txBody>
                    <a:bodyPr/>
                    <a:lstStyle/>
                    <a:p>
                      <a:pPr algn="ctr"/>
                      <a:r>
                        <a:rPr sz="1400" b="0">
                          <a:solidFill>
                            <a:srgbClr val="142B33"/>
                          </a:solidFill>
                          <a:latin typeface="Calibri"/>
                        </a:rPr>
                        <a:t>0</a:t>
                      </a:r>
                    </a:p>
                  </a:txBody>
                  <a:tcPr marL="73152" marR="73152" marT="27432" marB="27432" anchor="ctr">
                    <a:solidFill>
                      <a:srgbClr val="FFFFFF"/>
                    </a:solidFill>
                  </a:tcPr>
                </a:tc>
                <a:tc>
                  <a:txBody>
                    <a:bodyPr/>
                    <a:lstStyle/>
                    <a:p>
                      <a:pPr algn="ctr"/>
                      <a:r>
                        <a:rPr sz="1400" b="0">
                          <a:solidFill>
                            <a:srgbClr val="142B33"/>
                          </a:solidFill>
                          <a:latin typeface="Calibri"/>
                        </a:rPr>
                        <a:t>19.00</a:t>
                      </a:r>
                    </a:p>
                  </a:txBody>
                  <a:tcPr marL="73152" marR="73152" marT="27432" marB="27432" anchor="ctr">
                    <a:solidFill>
                      <a:srgbClr val="FFFFFF"/>
                    </a:solidFill>
                  </a:tcPr>
                </a:tc>
              </a:tr>
              <a:tr h="335788">
                <a:tc>
                  <a:txBody>
                    <a:bodyPr/>
                    <a:lstStyle/>
                    <a:p>
                      <a:pPr algn="l"/>
                      <a:r>
                        <a:rPr sz="1400" b="0">
                          <a:solidFill>
                            <a:srgbClr val="142B33"/>
                          </a:solidFill>
                          <a:latin typeface="Calibri"/>
                        </a:rPr>
                        <a:t>Solo BCD</a:t>
                      </a:r>
                    </a:p>
                  </a:txBody>
                  <a:tcPr marL="73152" marR="73152" marT="27432" marB="27432" anchor="ctr">
                    <a:solidFill>
                      <a:srgbClr val="F4F8F9"/>
                    </a:solidFill>
                  </a:tcPr>
                </a:tc>
                <a:tc>
                  <a:txBody>
                    <a:bodyPr/>
                    <a:lstStyle/>
                    <a:p>
                      <a:pPr algn="ctr"/>
                      <a:r>
                        <a:rPr sz="1400" b="0">
                          <a:solidFill>
                            <a:srgbClr val="142B33"/>
                          </a:solidFill>
                          <a:latin typeface="Calibri"/>
                        </a:rPr>
                        <a:t>0</a:t>
                      </a:r>
                    </a:p>
                  </a:txBody>
                  <a:tcPr marL="73152" marR="73152" marT="27432" marB="27432" anchor="ctr">
                    <a:solidFill>
                      <a:srgbClr val="F4F8F9"/>
                    </a:solidFill>
                  </a:tcPr>
                </a:tc>
                <a:tc>
                  <a:txBody>
                    <a:bodyPr/>
                    <a:lstStyle/>
                    <a:p>
                      <a:pPr algn="ctr"/>
                      <a:r>
                        <a:rPr sz="1400" b="0">
                          <a:solidFill>
                            <a:srgbClr val="142B33"/>
                          </a:solidFill>
                          <a:latin typeface="Calibri"/>
                        </a:rPr>
                        <a:t>19.00</a:t>
                      </a:r>
                    </a:p>
                  </a:txBody>
                  <a:tcPr marL="73152" marR="73152" marT="27432" marB="27432" anchor="ctr">
                    <a:solidFill>
                      <a:srgbClr val="F4F8F9"/>
                    </a:solidFill>
                  </a:tcPr>
                </a:tc>
                <a:tc>
                  <a:txBody>
                    <a:bodyPr/>
                    <a:lstStyle/>
                    <a:p>
                      <a:pPr algn="ctr"/>
                      <a:r>
                        <a:rPr sz="1400" b="0">
                          <a:solidFill>
                            <a:srgbClr val="142B33"/>
                          </a:solidFill>
                          <a:latin typeface="Calibri"/>
                        </a:rPr>
                        <a:t>19.00</a:t>
                      </a:r>
                    </a:p>
                  </a:txBody>
                  <a:tcPr marL="73152" marR="73152" marT="27432" marB="27432" anchor="ctr">
                    <a:solidFill>
                      <a:srgbClr val="F4F8F9"/>
                    </a:solidFill>
                  </a:tcPr>
                </a:tc>
              </a:tr>
              <a:tr h="335788">
                <a:tc>
                  <a:txBody>
                    <a:bodyPr/>
                    <a:lstStyle/>
                    <a:p>
                      <a:pPr algn="l"/>
                      <a:r>
                        <a:rPr sz="1400" b="0">
                          <a:solidFill>
                            <a:srgbClr val="142B33"/>
                          </a:solidFill>
                          <a:latin typeface="Calibri"/>
                        </a:rPr>
                        <a:t>Se reparten</a:t>
                      </a:r>
                    </a:p>
                  </a:txBody>
                  <a:tcPr marL="73152" marR="73152" marT="27432" marB="27432" anchor="ctr">
                    <a:solidFill>
                      <a:srgbClr val="FFFFFF"/>
                    </a:solidFill>
                  </a:tcPr>
                </a:tc>
                <a:tc>
                  <a:txBody>
                    <a:bodyPr/>
                    <a:lstStyle/>
                    <a:p>
                      <a:pPr algn="ctr"/>
                      <a:r>
                        <a:rPr sz="1400" b="0">
                          <a:solidFill>
                            <a:srgbClr val="142B33"/>
                          </a:solidFill>
                          <a:latin typeface="Calibri"/>
                        </a:rPr>
                        <a:t>10.00</a:t>
                      </a:r>
                    </a:p>
                  </a:txBody>
                  <a:tcPr marL="73152" marR="73152" marT="27432" marB="27432" anchor="ctr">
                    <a:solidFill>
                      <a:srgbClr val="FFFFFF"/>
                    </a:solidFill>
                  </a:tcPr>
                </a:tc>
                <a:tc>
                  <a:txBody>
                    <a:bodyPr/>
                    <a:lstStyle/>
                    <a:p>
                      <a:pPr algn="ctr"/>
                      <a:r>
                        <a:rPr sz="1400" b="0">
                          <a:solidFill>
                            <a:srgbClr val="142B33"/>
                          </a:solidFill>
                          <a:latin typeface="Calibri"/>
                        </a:rPr>
                        <a:t>9.00</a:t>
                      </a:r>
                    </a:p>
                  </a:txBody>
                  <a:tcPr marL="73152" marR="73152" marT="27432" marB="27432" anchor="ctr">
                    <a:solidFill>
                      <a:srgbClr val="FFFFFF"/>
                    </a:solidFill>
                  </a:tcPr>
                </a:tc>
                <a:tc>
                  <a:txBody>
                    <a:bodyPr/>
                    <a:lstStyle/>
                    <a:p>
                      <a:pPr algn="ctr"/>
                      <a:r>
                        <a:rPr sz="1400" b="0">
                          <a:solidFill>
                            <a:srgbClr val="142B33"/>
                          </a:solidFill>
                          <a:latin typeface="Calibri"/>
                        </a:rPr>
                        <a:t>19.00</a:t>
                      </a:r>
                    </a:p>
                  </a:txBody>
                  <a:tcPr marL="73152" marR="73152" marT="27432" marB="27432" anchor="ctr">
                    <a:solidFill>
                      <a:srgbClr val="FFFFFF"/>
                    </a:solidFill>
                  </a:tcPr>
                </a:tc>
              </a:tr>
              <a:tr h="335788">
                <a:tc>
                  <a:txBody>
                    <a:bodyPr/>
                    <a:lstStyle/>
                    <a:p>
                      <a:pPr algn="l"/>
                      <a:r>
                        <a:rPr sz="1400" b="0">
                          <a:solidFill>
                            <a:srgbClr val="142B33"/>
                          </a:solidFill>
                          <a:latin typeface="Calibri"/>
                        </a:rPr>
                        <a:t>Se cancelan</a:t>
                      </a:r>
                    </a:p>
                  </a:txBody>
                  <a:tcPr marL="73152" marR="73152" marT="27432" marB="27432" anchor="ctr">
                    <a:solidFill>
                      <a:srgbClr val="FDE8D7"/>
                    </a:solidFill>
                  </a:tcPr>
                </a:tc>
                <a:tc>
                  <a:txBody>
                    <a:bodyPr/>
                    <a:lstStyle/>
                    <a:p>
                      <a:pPr algn="ctr"/>
                      <a:r>
                        <a:rPr sz="1400" b="0">
                          <a:solidFill>
                            <a:srgbClr val="142B33"/>
                          </a:solidFill>
                          <a:latin typeface="Calibri"/>
                        </a:rPr>
                        <a:t>19.00</a:t>
                      </a:r>
                    </a:p>
                  </a:txBody>
                  <a:tcPr marL="73152" marR="73152" marT="27432" marB="27432" anchor="ctr">
                    <a:solidFill>
                      <a:srgbClr val="FDE8D7"/>
                    </a:solidFill>
                  </a:tcPr>
                </a:tc>
                <a:tc>
                  <a:txBody>
                    <a:bodyPr/>
                    <a:lstStyle/>
                    <a:p>
                      <a:pPr algn="ctr"/>
                      <a:r>
                        <a:rPr sz="1400" b="0">
                          <a:solidFill>
                            <a:srgbClr val="142B33"/>
                          </a:solidFill>
                          <a:latin typeface="Calibri"/>
                        </a:rPr>
                        <a:t>−19.00</a:t>
                      </a:r>
                    </a:p>
                  </a:txBody>
                  <a:tcPr marL="73152" marR="73152" marT="27432" marB="27432" anchor="ctr">
                    <a:solidFill>
                      <a:srgbClr val="FDE8D7"/>
                    </a:solidFill>
                  </a:tcPr>
                </a:tc>
                <a:tc>
                  <a:txBody>
                    <a:bodyPr/>
                    <a:lstStyle/>
                    <a:p>
                      <a:pPr algn="ctr"/>
                      <a:r>
                        <a:rPr sz="1400" b="1">
                          <a:solidFill>
                            <a:srgbClr val="142B33"/>
                          </a:solidFill>
                          <a:latin typeface="Calibri"/>
                        </a:rPr>
                        <a:t>0.00</a:t>
                      </a:r>
                    </a:p>
                  </a:txBody>
                  <a:tcPr marL="73152" marR="73152" marT="27432" marB="27432" anchor="ctr">
                    <a:solidFill>
                      <a:srgbClr val="FDE8D7"/>
                    </a:solidFill>
                  </a:tcPr>
                </a:tc>
              </a:tr>
            </a:tbl>
          </a:graphicData>
        </a:graphic>
      </p:graphicFrame>
      <p:sp>
        <p:nvSpPr>
          <p:cNvPr id="7" name="TextBox 6"/>
          <p:cNvSpPr txBox="1"/>
          <p:nvPr/>
        </p:nvSpPr>
        <p:spPr>
          <a:xfrm>
            <a:off x="5446952" y="4067921"/>
            <a:ext cx="6196102" cy="1043685"/>
          </a:xfrm>
          <a:prstGeom prst="rect">
            <a:avLst/>
          </a:prstGeom>
          <a:noFill/>
        </p:spPr>
        <p:txBody>
          <a:bodyPr wrap="square" anchor="t" lIns="0" rIns="0" tIns="0" bIns="0">
            <a:spAutoFit/>
          </a:bodyPr>
          <a:lstStyle/>
          <a:p>
            <a:r>
              <a:rPr sz="1300" b="0">
                <a:solidFill>
                  <a:srgbClr val="5B6B73"/>
                </a:solidFill>
                <a:latin typeface="Calibri"/>
              </a:rPr>
              <a:t>Varios «mundos» distintos producen exactamente los mismos datos: que A valga 19.00 y BCD cero; que A sea cero y BCD valga 19.00; o que se repartan, por ejemplo 10 y 9. Los datos no pueden distinguirlos. Incluso puede pasar lo contrario: si A valiera 19 y BCD −19, la columna daría cero y A parecería inactivo aunque no lo es (cancelación; es rara, pero posible).</a:t>
            </a:r>
          </a:p>
        </p:txBody>
      </p:sp>
      <p:sp>
        <p:nvSpPr>
          <p:cNvPr id="8" name="Rounded Rectangle 7"/>
          <p:cNvSpPr/>
          <p:nvPr/>
        </p:nvSpPr>
        <p:spPr>
          <a:xfrm>
            <a:off x="5446952" y="5312775"/>
            <a:ext cx="6196102"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Los datos solo ven la </a:t>
            </a:r>
            <a:r>
              <a:rPr sz="1500" b="1">
                <a:solidFill>
                  <a:srgbClr val="142B33"/>
                </a:solidFill>
                <a:latin typeface="Calibri"/>
              </a:rPr>
              <a:t>suma</a:t>
            </a:r>
            <a:r>
              <a:rPr sz="1500" b="0">
                <a:solidFill>
                  <a:srgbClr val="142B33"/>
                </a:solidFill>
                <a:latin typeface="Calibri"/>
              </a:rPr>
              <a:t>: H</a:t>
            </a:r>
            <a:r>
              <a:rPr sz="1500" b="0" baseline="-25000">
                <a:solidFill>
                  <a:srgbClr val="142B33"/>
                </a:solidFill>
                <a:latin typeface="Calibri"/>
              </a:rPr>
              <a:t>0</a:t>
            </a:r>
            <a:r>
              <a:rPr sz="1500" b="0">
                <a:solidFill>
                  <a:srgbClr val="142B33"/>
                </a:solidFill>
                <a:latin typeface="Calibri"/>
              </a:rPr>
              <a:t>: β</a:t>
            </a:r>
            <a:r>
              <a:rPr sz="1500" b="0" baseline="-25000">
                <a:solidFill>
                  <a:srgbClr val="142B33"/>
                </a:solidFill>
                <a:latin typeface="Calibri"/>
              </a:rPr>
              <a:t>A</a:t>
            </a:r>
            <a:r>
              <a:rPr sz="1500" b="0">
                <a:solidFill>
                  <a:srgbClr val="142B33"/>
                </a:solidFill>
                <a:latin typeface="Calibri"/>
              </a:rPr>
              <a:t> + β</a:t>
            </a:r>
            <a:r>
              <a:rPr sz="1500" b="0" baseline="-25000">
                <a:solidFill>
                  <a:srgbClr val="142B33"/>
                </a:solidFill>
                <a:latin typeface="Calibri"/>
              </a:rPr>
              <a:t>BCD</a:t>
            </a:r>
            <a:r>
              <a:rPr sz="1500" b="0">
                <a:solidFill>
                  <a:srgbClr val="142B33"/>
                </a:solidFill>
                <a:latin typeface="Calibri"/>
              </a:rPr>
              <a:t> = 0</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62</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lee la decisión de cada cadena y a qué término se atribuye?</a:t>
            </a:r>
          </a:p>
        </p:txBody>
      </p:sp>
      <p:sp>
        <p:nvSpPr>
          <p:cNvPr id="3" name="Rounded Rectangle 2"/>
          <p:cNvSpPr/>
          <p:nvPr/>
        </p:nvSpPr>
        <p:spPr>
          <a:xfrm>
            <a:off x="548640" y="1417320"/>
            <a:ext cx="4486832" cy="13578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1 · Decisión estadística</a:t>
            </a:r>
          </a:p>
          <a:p>
            <a:pPr algn="l"/>
            <a:r>
              <a:rPr sz="1300" b="0">
                <a:solidFill>
                  <a:srgbClr val="142B33"/>
                </a:solidFill>
                <a:latin typeface="Calibri"/>
              </a:rPr>
              <a:t>Sobre la </a:t>
            </a:r>
            <a:r>
              <a:rPr sz="1300" b="1">
                <a:solidFill>
                  <a:srgbClr val="142B33"/>
                </a:solidFill>
                <a:latin typeface="Calibri"/>
              </a:rPr>
              <a:t>cadena</a:t>
            </a:r>
            <a:r>
              <a:rPr sz="1300" b="0">
                <a:solidFill>
                  <a:srgbClr val="142B33"/>
                </a:solidFill>
                <a:latin typeface="Calibri"/>
              </a:rPr>
              <a:t>: se rechaza H</a:t>
            </a:r>
            <a:r>
              <a:rPr sz="1300" b="0" baseline="-25000">
                <a:solidFill>
                  <a:srgbClr val="142B33"/>
                </a:solidFill>
                <a:latin typeface="Calibri"/>
              </a:rPr>
              <a:t>0</a:t>
            </a:r>
            <a:r>
              <a:rPr sz="1300" b="0">
                <a:solidFill>
                  <a:srgbClr val="142B33"/>
                </a:solidFill>
                <a:latin typeface="Calibri"/>
              </a:rPr>
              <a:t> ⇒ </a:t>
            </a:r>
            <a:r>
              <a:rPr sz="1300" b="1">
                <a:solidFill>
                  <a:srgbClr val="142B33"/>
                </a:solidFill>
                <a:latin typeface="Calibri"/>
              </a:rPr>
              <a:t>la cadena está activa</a:t>
            </a:r>
            <a:r>
              <a:rPr sz="1300" b="0">
                <a:solidFill>
                  <a:srgbClr val="142B33"/>
                </a:solidFill>
                <a:latin typeface="Calibri"/>
              </a:rPr>
              <a:t>. Daniel, Pareto y ANOVA ven </a:t>
            </a:r>
            <a:r>
              <a:rPr sz="1300" b="1">
                <a:solidFill>
                  <a:srgbClr val="142B33"/>
                </a:solidFill>
                <a:latin typeface="Calibri"/>
              </a:rPr>
              <a:t>cadenas</a:t>
            </a:r>
            <a:r>
              <a:rPr sz="1300" b="0">
                <a:solidFill>
                  <a:srgbClr val="142B33"/>
                </a:solidFill>
                <a:latin typeface="Calibri"/>
              </a:rPr>
              <a:t>, no factores</a:t>
            </a:r>
          </a:p>
        </p:txBody>
      </p:sp>
      <p:sp>
        <p:nvSpPr>
          <p:cNvPr id="4" name="Rounded Rectangle 3"/>
          <p:cNvSpPr/>
          <p:nvPr/>
        </p:nvSpPr>
        <p:spPr>
          <a:xfrm>
            <a:off x="548640" y="3003804"/>
            <a:ext cx="4486832" cy="13578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2 · Atribución razonada</a:t>
            </a:r>
          </a:p>
          <a:p>
            <a:pPr algn="l"/>
            <a:r>
              <a:rPr sz="1300" b="0">
                <a:solidFill>
                  <a:srgbClr val="142B33"/>
                </a:solidFill>
                <a:latin typeface="Calibri"/>
              </a:rPr>
              <a:t>Sobre el </a:t>
            </a:r>
            <a:r>
              <a:rPr sz="1300" b="1">
                <a:solidFill>
                  <a:srgbClr val="142B33"/>
                </a:solidFill>
                <a:latin typeface="Calibri"/>
              </a:rPr>
              <a:t>término</a:t>
            </a:r>
            <a:r>
              <a:rPr sz="1300" b="0">
                <a:solidFill>
                  <a:srgbClr val="142B33"/>
                </a:solidFill>
                <a:latin typeface="Calibri"/>
              </a:rPr>
              <a:t>: </a:t>
            </a:r>
            <a:r>
              <a:rPr sz="1300" b="1">
                <a:solidFill>
                  <a:srgbClr val="142B33"/>
                </a:solidFill>
                <a:latin typeface="Calibri"/>
              </a:rPr>
              <a:t>jerarquía</a:t>
            </a:r>
            <a:r>
              <a:rPr sz="1300" b="0">
                <a:solidFill>
                  <a:srgbClr val="142B33"/>
                </a:solidFill>
                <a:latin typeface="Calibri"/>
              </a:rPr>
              <a:t> (A + BCD → A), </a:t>
            </a:r>
            <a:r>
              <a:rPr sz="1300" b="1">
                <a:solidFill>
                  <a:srgbClr val="142B33"/>
                </a:solidFill>
                <a:latin typeface="Calibri"/>
              </a:rPr>
              <a:t>herencia</a:t>
            </a:r>
            <a:r>
              <a:rPr sz="1300" b="0">
                <a:solidFill>
                  <a:srgbClr val="142B33"/>
                </a:solidFill>
                <a:latin typeface="Calibri"/>
              </a:rPr>
              <a:t> (AC + BD → AC: A y C activos, B no), conocimiento del proceso. No es estadística; se declara</a:t>
            </a:r>
          </a:p>
        </p:txBody>
      </p:sp>
      <p:sp>
        <p:nvSpPr>
          <p:cNvPr id="5" name="Rounded Rectangle 4"/>
          <p:cNvSpPr/>
          <p:nvPr/>
        </p:nvSpPr>
        <p:spPr>
          <a:xfrm>
            <a:off x="548640" y="4590288"/>
            <a:ext cx="4486832" cy="13578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3 · Para saberlo: más corridas</a:t>
            </a:r>
          </a:p>
          <a:p>
            <a:pPr algn="l"/>
            <a:r>
              <a:rPr sz="1300" b="0">
                <a:solidFill>
                  <a:srgbClr val="142B33"/>
                </a:solidFill>
                <a:latin typeface="Calibri"/>
              </a:rPr>
              <a:t>La </a:t>
            </a:r>
            <a:r>
              <a:rPr sz="1300" b="1">
                <a:solidFill>
                  <a:srgbClr val="142B33"/>
                </a:solidFill>
                <a:latin typeface="Calibri"/>
              </a:rPr>
              <a:t>fracción alterna</a:t>
            </a:r>
            <a:r>
              <a:rPr sz="1300" b="0">
                <a:solidFill>
                  <a:srgbClr val="142B33"/>
                </a:solidFill>
                <a:latin typeface="Calibri"/>
              </a:rPr>
              <a:t> o el </a:t>
            </a:r>
            <a:r>
              <a:rPr sz="1300" b="1">
                <a:solidFill>
                  <a:srgbClr val="142B33"/>
                </a:solidFill>
                <a:latin typeface="Calibri"/>
              </a:rPr>
              <a:t>doblez</a:t>
            </a:r>
            <a:r>
              <a:rPr sz="1300" b="0">
                <a:solidFill>
                  <a:srgbClr val="142B33"/>
                </a:solidFill>
                <a:latin typeface="Calibri"/>
              </a:rPr>
              <a:t> separan la cadena. Ejemplo 1: A = 21.63 y BCD = −2.63; AC = −18.13 y BD = −0.38</a:t>
            </a:r>
          </a:p>
        </p:txBody>
      </p:sp>
      <p:graphicFrame>
        <p:nvGraphicFramePr>
          <p:cNvPr id="6" name="Table 5"/>
          <p:cNvGraphicFramePr>
            <a:graphicFrameLocks noGrp="1"/>
          </p:cNvGraphicFramePr>
          <p:nvPr/>
        </p:nvGraphicFramePr>
        <p:xfrm>
          <a:off x="5446952" y="1417320"/>
          <a:ext cx="6196100" cy="2572508"/>
        </p:xfrm>
        <a:graphic>
          <a:graphicData uri="http://schemas.openxmlformats.org/drawingml/2006/table">
            <a:tbl>
              <a:tblPr firstRow="0" bandRow="0">
                <a:tableStyleId>{5C22544A-7EE6-4342-B048-85BDC9FD1C3A}</a:tableStyleId>
              </a:tblPr>
              <a:tblGrid>
                <a:gridCol w="929415"/>
                <a:gridCol w="743532"/>
                <a:gridCol w="743532"/>
                <a:gridCol w="805493"/>
                <a:gridCol w="805493"/>
                <a:gridCol w="2168635"/>
              </a:tblGrid>
              <a:tr h="490727">
                <a:tc>
                  <a:txBody>
                    <a:bodyPr/>
                    <a:lstStyle/>
                    <a:p>
                      <a:pPr algn="l"/>
                      <a:r>
                        <a:rPr sz="1200" b="1">
                          <a:solidFill>
                            <a:srgbClr val="FFFFFF"/>
                          </a:solidFill>
                          <a:latin typeface="Calibri"/>
                        </a:rPr>
                        <a:t>Cadena</a:t>
                      </a:r>
                    </a:p>
                  </a:txBody>
                  <a:tcPr marL="73152" marR="73152" marT="27432" marB="27432" anchor="ctr">
                    <a:solidFill>
                      <a:srgbClr val="0F4C5C"/>
                    </a:solidFill>
                  </a:tcPr>
                </a:tc>
                <a:tc>
                  <a:txBody>
                    <a:bodyPr/>
                    <a:lstStyle/>
                    <a:p>
                      <a:pPr algn="ctr"/>
                      <a:r>
                        <a:rPr sz="1200" b="1">
                          <a:solidFill>
                            <a:srgbClr val="FFFFFF"/>
                          </a:solidFill>
                          <a:latin typeface="Calibri"/>
                        </a:rPr>
                        <a:t>F</a:t>
                      </a:r>
                      <a:r>
                        <a:rPr sz="1200" b="1" baseline="-25000">
                          <a:solidFill>
                            <a:srgbClr val="FFFFFF"/>
                          </a:solidFill>
                          <a:latin typeface="Calibri"/>
                        </a:rPr>
                        <a:t>0</a:t>
                      </a:r>
                    </a:p>
                  </a:txBody>
                  <a:tcPr marL="73152" marR="73152" marT="27432" marB="27432" anchor="ctr">
                    <a:solidFill>
                      <a:srgbClr val="0F4C5C"/>
                    </a:solidFill>
                  </a:tcPr>
                </a:tc>
                <a:tc>
                  <a:txBody>
                    <a:bodyPr/>
                    <a:lstStyle/>
                    <a:p>
                      <a:pPr algn="ctr"/>
                      <a:r>
                        <a:rPr sz="1200" b="1">
                          <a:solidFill>
                            <a:srgbClr val="FFFFFF"/>
                          </a:solidFill>
                          <a:latin typeface="Calibri"/>
                        </a:rPr>
                        <a:t>Valor p</a:t>
                      </a:r>
                    </a:p>
                  </a:txBody>
                  <a:tcPr marL="73152" marR="73152" marT="27432" marB="27432" anchor="ctr">
                    <a:solidFill>
                      <a:srgbClr val="0F4C5C"/>
                    </a:solidFill>
                  </a:tcPr>
                </a:tc>
                <a:tc>
                  <a:txBody>
                    <a:bodyPr/>
                    <a:lstStyle/>
                    <a:p>
                      <a:pPr algn="ctr"/>
                      <a:r>
                        <a:rPr sz="1200" b="1">
                          <a:solidFill>
                            <a:srgbClr val="FFFFFF"/>
                          </a:solidFill>
                          <a:latin typeface="Calibri"/>
                        </a:rPr>
                        <a:t>¿Rechaza H</a:t>
                      </a:r>
                      <a:r>
                        <a:rPr sz="1200" b="1" baseline="-25000">
                          <a:solidFill>
                            <a:srgbClr val="FFFFFF"/>
                          </a:solidFill>
                          <a:latin typeface="Calibri"/>
                        </a:rPr>
                        <a:t>0</a:t>
                      </a:r>
                      <a:r>
                        <a:rPr sz="1200" b="1">
                          <a:solidFill>
                            <a:srgbClr val="FFFFFF"/>
                          </a:solidFill>
                          <a:latin typeface="Calibri"/>
                        </a:rPr>
                        <a:t>?</a:t>
                      </a:r>
                    </a:p>
                  </a:txBody>
                  <a:tcPr marL="73152" marR="73152" marT="27432" marB="27432" anchor="ctr">
                    <a:solidFill>
                      <a:srgbClr val="0F4C5C"/>
                    </a:solidFill>
                  </a:tcPr>
                </a:tc>
                <a:tc>
                  <a:txBody>
                    <a:bodyPr/>
                    <a:lstStyle/>
                    <a:p>
                      <a:pPr algn="ctr"/>
                      <a:r>
                        <a:rPr sz="1200" b="1">
                          <a:solidFill>
                            <a:srgbClr val="FFFFFF"/>
                          </a:solidFill>
                          <a:latin typeface="Calibri"/>
                        </a:rPr>
                        <a:t>Se atribuye a</a:t>
                      </a:r>
                    </a:p>
                  </a:txBody>
                  <a:tcPr marL="73152" marR="73152" marT="27432" marB="27432" anchor="ctr">
                    <a:solidFill>
                      <a:srgbClr val="0F4C5C"/>
                    </a:solidFill>
                  </a:tcPr>
                </a:tc>
                <a:tc>
                  <a:txBody>
                    <a:bodyPr/>
                    <a:lstStyle/>
                    <a:p>
                      <a:pPr algn="l"/>
                      <a:r>
                        <a:rPr sz="1200" b="1">
                          <a:solidFill>
                            <a:srgbClr val="FFFFFF"/>
                          </a:solidFill>
                          <a:latin typeface="Calibri"/>
                        </a:rPr>
                        <a:t>Por qué</a:t>
                      </a:r>
                    </a:p>
                  </a:txBody>
                  <a:tcPr marL="73152" marR="73152" marT="27432" marB="27432" anchor="ctr">
                    <a:solidFill>
                      <a:srgbClr val="0F4C5C"/>
                    </a:solidFill>
                  </a:tcPr>
                </a:tc>
              </a:tr>
              <a:tr h="490727">
                <a:tc>
                  <a:txBody>
                    <a:bodyPr/>
                    <a:lstStyle/>
                    <a:p>
                      <a:pPr algn="l"/>
                      <a:r>
                        <a:rPr sz="1200" b="0">
                          <a:solidFill>
                            <a:srgbClr val="142B33"/>
                          </a:solidFill>
                          <a:latin typeface="Calibri"/>
                        </a:rPr>
                        <a:t>A + BCD</a:t>
                      </a:r>
                    </a:p>
                  </a:txBody>
                  <a:tcPr marL="73152" marR="73152" marT="27432" marB="27432" anchor="ctr">
                    <a:solidFill>
                      <a:srgbClr val="FFFFFF"/>
                    </a:solidFill>
                  </a:tcPr>
                </a:tc>
                <a:tc>
                  <a:txBody>
                    <a:bodyPr/>
                    <a:lstStyle/>
                    <a:p>
                      <a:pPr algn="ctr"/>
                      <a:r>
                        <a:rPr sz="1200" b="0">
                          <a:solidFill>
                            <a:srgbClr val="142B33"/>
                          </a:solidFill>
                          <a:latin typeface="Calibri"/>
                        </a:rPr>
                        <a:t>222.15</a:t>
                      </a:r>
                    </a:p>
                  </a:txBody>
                  <a:tcPr marL="73152" marR="73152" marT="27432" marB="27432" anchor="ctr">
                    <a:solidFill>
                      <a:srgbClr val="FFFFFF"/>
                    </a:solidFill>
                  </a:tcPr>
                </a:tc>
                <a:tc>
                  <a:txBody>
                    <a:bodyPr/>
                    <a:lstStyle/>
                    <a:p>
                      <a:pPr algn="ctr"/>
                      <a:r>
                        <a:rPr sz="1200" b="0">
                          <a:solidFill>
                            <a:srgbClr val="142B33"/>
                          </a:solidFill>
                          <a:latin typeface="Calibri"/>
                        </a:rPr>
                        <a:t>0.0045</a:t>
                      </a:r>
                    </a:p>
                  </a:txBody>
                  <a:tcPr marL="73152" marR="73152" marT="27432" marB="27432" anchor="ctr">
                    <a:solidFill>
                      <a:srgbClr val="FFFFFF"/>
                    </a:solidFill>
                  </a:tcPr>
                </a:tc>
                <a:tc>
                  <a:txBody>
                    <a:bodyPr/>
                    <a:lstStyle/>
                    <a:p>
                      <a:pPr algn="ctr"/>
                      <a:r>
                        <a:rPr sz="1200" b="0">
                          <a:solidFill>
                            <a:srgbClr val="142B33"/>
                          </a:solidFill>
                          <a:latin typeface="Calibri"/>
                        </a:rPr>
                        <a:t>Sí</a:t>
                      </a:r>
                    </a:p>
                  </a:txBody>
                  <a:tcPr marL="73152" marR="73152" marT="27432" marB="27432" anchor="ctr">
                    <a:solidFill>
                      <a:srgbClr val="FFFFFF"/>
                    </a:solidFill>
                  </a:tcPr>
                </a:tc>
                <a:tc>
                  <a:txBody>
                    <a:bodyPr/>
                    <a:lstStyle/>
                    <a:p>
                      <a:pPr algn="ctr"/>
                      <a:r>
                        <a:rPr sz="1200" b="0">
                          <a:solidFill>
                            <a:srgbClr val="142B33"/>
                          </a:solidFill>
                          <a:latin typeface="Calibri"/>
                        </a:rPr>
                        <a:t>A</a:t>
                      </a:r>
                    </a:p>
                  </a:txBody>
                  <a:tcPr marL="73152" marR="73152" marT="27432" marB="27432" anchor="ctr">
                    <a:solidFill>
                      <a:srgbClr val="FFFFFF"/>
                    </a:solidFill>
                  </a:tcPr>
                </a:tc>
                <a:tc>
                  <a:txBody>
                    <a:bodyPr/>
                    <a:lstStyle/>
                    <a:p>
                      <a:pPr algn="l"/>
                      <a:r>
                        <a:rPr sz="1200" b="0">
                          <a:solidFill>
                            <a:srgbClr val="142B33"/>
                          </a:solidFill>
                          <a:latin typeface="Calibri"/>
                        </a:rPr>
                        <a:t>Jerarquía: la triple BCD se supone despreciable</a:t>
                      </a:r>
                    </a:p>
                  </a:txBody>
                  <a:tcPr marL="73152" marR="73152" marT="27432" marB="27432" anchor="ctr">
                    <a:solidFill>
                      <a:srgbClr val="FFFFFF"/>
                    </a:solidFill>
                  </a:tcPr>
                </a:tc>
              </a:tr>
              <a:tr h="304800">
                <a:tc>
                  <a:txBody>
                    <a:bodyPr/>
                    <a:lstStyle/>
                    <a:p>
                      <a:pPr algn="l"/>
                      <a:r>
                        <a:rPr sz="1200" b="0">
                          <a:solidFill>
                            <a:srgbClr val="142B33"/>
                          </a:solidFill>
                          <a:latin typeface="Calibri"/>
                        </a:rPr>
                        <a:t>C + ABD</a:t>
                      </a:r>
                    </a:p>
                  </a:txBody>
                  <a:tcPr marL="73152" marR="73152" marT="27432" marB="27432" anchor="ctr">
                    <a:solidFill>
                      <a:srgbClr val="F4F8F9"/>
                    </a:solidFill>
                  </a:tcPr>
                </a:tc>
                <a:tc>
                  <a:txBody>
                    <a:bodyPr/>
                    <a:lstStyle/>
                    <a:p>
                      <a:pPr algn="ctr"/>
                      <a:r>
                        <a:rPr sz="1200" b="0">
                          <a:solidFill>
                            <a:srgbClr val="142B33"/>
                          </a:solidFill>
                          <a:latin typeface="Calibri"/>
                        </a:rPr>
                        <a:t>120.62</a:t>
                      </a:r>
                    </a:p>
                  </a:txBody>
                  <a:tcPr marL="73152" marR="73152" marT="27432" marB="27432" anchor="ctr">
                    <a:solidFill>
                      <a:srgbClr val="F4F8F9"/>
                    </a:solidFill>
                  </a:tcPr>
                </a:tc>
                <a:tc>
                  <a:txBody>
                    <a:bodyPr/>
                    <a:lstStyle/>
                    <a:p>
                      <a:pPr algn="ctr"/>
                      <a:r>
                        <a:rPr sz="1200" b="0">
                          <a:solidFill>
                            <a:srgbClr val="142B33"/>
                          </a:solidFill>
                          <a:latin typeface="Calibri"/>
                        </a:rPr>
                        <a:t>0.0082</a:t>
                      </a:r>
                    </a:p>
                  </a:txBody>
                  <a:tcPr marL="73152" marR="73152" marT="27432" marB="27432" anchor="ctr">
                    <a:solidFill>
                      <a:srgbClr val="F4F8F9"/>
                    </a:solidFill>
                  </a:tcPr>
                </a:tc>
                <a:tc>
                  <a:txBody>
                    <a:bodyPr/>
                    <a:lstStyle/>
                    <a:p>
                      <a:pPr algn="ctr"/>
                      <a:r>
                        <a:rPr sz="1200" b="0">
                          <a:solidFill>
                            <a:srgbClr val="142B33"/>
                          </a:solidFill>
                          <a:latin typeface="Calibri"/>
                        </a:rPr>
                        <a:t>Sí</a:t>
                      </a:r>
                    </a:p>
                  </a:txBody>
                  <a:tcPr marL="73152" marR="73152" marT="27432" marB="27432" anchor="ctr">
                    <a:solidFill>
                      <a:srgbClr val="F4F8F9"/>
                    </a:solidFill>
                  </a:tcPr>
                </a:tc>
                <a:tc>
                  <a:txBody>
                    <a:bodyPr/>
                    <a:lstStyle/>
                    <a:p>
                      <a:pPr algn="ctr"/>
                      <a:r>
                        <a:rPr sz="1200" b="0">
                          <a:solidFill>
                            <a:srgbClr val="142B33"/>
                          </a:solidFill>
                          <a:latin typeface="Calibri"/>
                        </a:rPr>
                        <a:t>C</a:t>
                      </a:r>
                    </a:p>
                  </a:txBody>
                  <a:tcPr marL="73152" marR="73152" marT="27432" marB="27432" anchor="ctr">
                    <a:solidFill>
                      <a:srgbClr val="F4F8F9"/>
                    </a:solidFill>
                  </a:tcPr>
                </a:tc>
                <a:tc>
                  <a:txBody>
                    <a:bodyPr/>
                    <a:lstStyle/>
                    <a:p>
                      <a:pPr algn="l"/>
                      <a:r>
                        <a:rPr sz="1200" b="0">
                          <a:solidFill>
                            <a:srgbClr val="142B33"/>
                          </a:solidFill>
                          <a:latin typeface="Calibri"/>
                        </a:rPr>
                        <a:t>Jerarquía</a:t>
                      </a:r>
                    </a:p>
                  </a:txBody>
                  <a:tcPr marL="73152" marR="73152" marT="27432" marB="27432" anchor="ctr">
                    <a:solidFill>
                      <a:srgbClr val="F4F8F9"/>
                    </a:solidFill>
                  </a:tcPr>
                </a:tc>
              </a:tr>
              <a:tr h="304800">
                <a:tc>
                  <a:txBody>
                    <a:bodyPr/>
                    <a:lstStyle/>
                    <a:p>
                      <a:pPr algn="l"/>
                      <a:r>
                        <a:rPr sz="1200" b="0">
                          <a:solidFill>
                            <a:srgbClr val="142B33"/>
                          </a:solidFill>
                          <a:latin typeface="Calibri"/>
                        </a:rPr>
                        <a:t>D + ABC</a:t>
                      </a:r>
                    </a:p>
                  </a:txBody>
                  <a:tcPr marL="73152" marR="73152" marT="27432" marB="27432" anchor="ctr">
                    <a:solidFill>
                      <a:srgbClr val="FFFFFF"/>
                    </a:solidFill>
                  </a:tcPr>
                </a:tc>
                <a:tc>
                  <a:txBody>
                    <a:bodyPr/>
                    <a:lstStyle/>
                    <a:p>
                      <a:pPr algn="ctr"/>
                      <a:r>
                        <a:rPr sz="1200" b="0">
                          <a:solidFill>
                            <a:srgbClr val="142B33"/>
                          </a:solidFill>
                          <a:latin typeface="Calibri"/>
                        </a:rPr>
                        <a:t>167.54</a:t>
                      </a:r>
                    </a:p>
                  </a:txBody>
                  <a:tcPr marL="73152" marR="73152" marT="27432" marB="27432" anchor="ctr">
                    <a:solidFill>
                      <a:srgbClr val="FFFFFF"/>
                    </a:solidFill>
                  </a:tcPr>
                </a:tc>
                <a:tc>
                  <a:txBody>
                    <a:bodyPr/>
                    <a:lstStyle/>
                    <a:p>
                      <a:pPr algn="ctr"/>
                      <a:r>
                        <a:rPr sz="1200" b="0">
                          <a:solidFill>
                            <a:srgbClr val="142B33"/>
                          </a:solidFill>
                          <a:latin typeface="Calibri"/>
                        </a:rPr>
                        <a:t>0.0059</a:t>
                      </a:r>
                    </a:p>
                  </a:txBody>
                  <a:tcPr marL="73152" marR="73152" marT="27432" marB="27432" anchor="ctr">
                    <a:solidFill>
                      <a:srgbClr val="FFFFFF"/>
                    </a:solidFill>
                  </a:tcPr>
                </a:tc>
                <a:tc>
                  <a:txBody>
                    <a:bodyPr/>
                    <a:lstStyle/>
                    <a:p>
                      <a:pPr algn="ctr"/>
                      <a:r>
                        <a:rPr sz="1200" b="0">
                          <a:solidFill>
                            <a:srgbClr val="142B33"/>
                          </a:solidFill>
                          <a:latin typeface="Calibri"/>
                        </a:rPr>
                        <a:t>Sí</a:t>
                      </a:r>
                    </a:p>
                  </a:txBody>
                  <a:tcPr marL="73152" marR="73152" marT="27432" marB="27432" anchor="ctr">
                    <a:solidFill>
                      <a:srgbClr val="FFFFFF"/>
                    </a:solidFill>
                  </a:tcPr>
                </a:tc>
                <a:tc>
                  <a:txBody>
                    <a:bodyPr/>
                    <a:lstStyle/>
                    <a:p>
                      <a:pPr algn="ctr"/>
                      <a:r>
                        <a:rPr sz="1200" b="0">
                          <a:solidFill>
                            <a:srgbClr val="142B33"/>
                          </a:solidFill>
                          <a:latin typeface="Calibri"/>
                        </a:rPr>
                        <a:t>D</a:t>
                      </a:r>
                    </a:p>
                  </a:txBody>
                  <a:tcPr marL="73152" marR="73152" marT="27432" marB="27432" anchor="ctr">
                    <a:solidFill>
                      <a:srgbClr val="FFFFFF"/>
                    </a:solidFill>
                  </a:tcPr>
                </a:tc>
                <a:tc>
                  <a:txBody>
                    <a:bodyPr/>
                    <a:lstStyle/>
                    <a:p>
                      <a:pPr algn="l"/>
                      <a:r>
                        <a:rPr sz="1200" b="0">
                          <a:solidFill>
                            <a:srgbClr val="142B33"/>
                          </a:solidFill>
                          <a:latin typeface="Calibri"/>
                        </a:rPr>
                        <a:t>Jerarquía</a:t>
                      </a:r>
                    </a:p>
                  </a:txBody>
                  <a:tcPr marL="73152" marR="73152" marT="27432" marB="27432" anchor="ctr">
                    <a:solidFill>
                      <a:srgbClr val="FFFFFF"/>
                    </a:solidFill>
                  </a:tcPr>
                </a:tc>
              </a:tr>
              <a:tr h="490727">
                <a:tc>
                  <a:txBody>
                    <a:bodyPr/>
                    <a:lstStyle/>
                    <a:p>
                      <a:pPr algn="l"/>
                      <a:r>
                        <a:rPr sz="1200" b="0">
                          <a:solidFill>
                            <a:srgbClr val="142B33"/>
                          </a:solidFill>
                          <a:latin typeface="Calibri"/>
                        </a:rPr>
                        <a:t>AC + BD</a:t>
                      </a:r>
                    </a:p>
                  </a:txBody>
                  <a:tcPr marL="73152" marR="73152" marT="27432" marB="27432" anchor="ctr">
                    <a:solidFill>
                      <a:srgbClr val="F4F8F9"/>
                    </a:solidFill>
                  </a:tcPr>
                </a:tc>
                <a:tc>
                  <a:txBody>
                    <a:bodyPr/>
                    <a:lstStyle/>
                    <a:p>
                      <a:pPr algn="ctr"/>
                      <a:r>
                        <a:rPr sz="1200" b="0">
                          <a:solidFill>
                            <a:srgbClr val="142B33"/>
                          </a:solidFill>
                          <a:latin typeface="Calibri"/>
                        </a:rPr>
                        <a:t>210.62</a:t>
                      </a:r>
                    </a:p>
                  </a:txBody>
                  <a:tcPr marL="73152" marR="73152" marT="27432" marB="27432" anchor="ctr">
                    <a:solidFill>
                      <a:srgbClr val="F4F8F9"/>
                    </a:solidFill>
                  </a:tcPr>
                </a:tc>
                <a:tc>
                  <a:txBody>
                    <a:bodyPr/>
                    <a:lstStyle/>
                    <a:p>
                      <a:pPr algn="ctr"/>
                      <a:r>
                        <a:rPr sz="1200" b="0">
                          <a:solidFill>
                            <a:srgbClr val="142B33"/>
                          </a:solidFill>
                          <a:latin typeface="Calibri"/>
                        </a:rPr>
                        <a:t>0.0047</a:t>
                      </a:r>
                    </a:p>
                  </a:txBody>
                  <a:tcPr marL="73152" marR="73152" marT="27432" marB="27432" anchor="ctr">
                    <a:solidFill>
                      <a:srgbClr val="F4F8F9"/>
                    </a:solidFill>
                  </a:tcPr>
                </a:tc>
                <a:tc>
                  <a:txBody>
                    <a:bodyPr/>
                    <a:lstStyle/>
                    <a:p>
                      <a:pPr algn="ctr"/>
                      <a:r>
                        <a:rPr sz="1200" b="0">
                          <a:solidFill>
                            <a:srgbClr val="142B33"/>
                          </a:solidFill>
                          <a:latin typeface="Calibri"/>
                        </a:rPr>
                        <a:t>Sí</a:t>
                      </a:r>
                    </a:p>
                  </a:txBody>
                  <a:tcPr marL="73152" marR="73152" marT="27432" marB="27432" anchor="ctr">
                    <a:solidFill>
                      <a:srgbClr val="F4F8F9"/>
                    </a:solidFill>
                  </a:tcPr>
                </a:tc>
                <a:tc>
                  <a:txBody>
                    <a:bodyPr/>
                    <a:lstStyle/>
                    <a:p>
                      <a:pPr algn="ctr"/>
                      <a:r>
                        <a:rPr sz="1200" b="0">
                          <a:solidFill>
                            <a:srgbClr val="142B33"/>
                          </a:solidFill>
                          <a:latin typeface="Calibri"/>
                        </a:rPr>
                        <a:t>AC</a:t>
                      </a:r>
                    </a:p>
                  </a:txBody>
                  <a:tcPr marL="73152" marR="73152" marT="27432" marB="27432" anchor="ctr">
                    <a:solidFill>
                      <a:srgbClr val="F4F8F9"/>
                    </a:solidFill>
                  </a:tcPr>
                </a:tc>
                <a:tc>
                  <a:txBody>
                    <a:bodyPr/>
                    <a:lstStyle/>
                    <a:p>
                      <a:pPr algn="l"/>
                      <a:r>
                        <a:rPr sz="1200" b="0">
                          <a:solidFill>
                            <a:srgbClr val="142B33"/>
                          </a:solidFill>
                          <a:latin typeface="Calibri"/>
                        </a:rPr>
                        <a:t>Herencia: A y C activos, B inactivo</a:t>
                      </a:r>
                    </a:p>
                  </a:txBody>
                  <a:tcPr marL="73152" marR="73152" marT="27432" marB="27432" anchor="ctr">
                    <a:solidFill>
                      <a:srgbClr val="F4F8F9"/>
                    </a:solidFill>
                  </a:tcPr>
                </a:tc>
              </a:tr>
              <a:tr h="490727">
                <a:tc>
                  <a:txBody>
                    <a:bodyPr/>
                    <a:lstStyle/>
                    <a:p>
                      <a:pPr algn="l"/>
                      <a:r>
                        <a:rPr sz="1200" b="0">
                          <a:solidFill>
                            <a:srgbClr val="142B33"/>
                          </a:solidFill>
                          <a:latin typeface="Calibri"/>
                        </a:rPr>
                        <a:t>AD + BC</a:t>
                      </a:r>
                    </a:p>
                  </a:txBody>
                  <a:tcPr marL="73152" marR="73152" marT="27432" marB="27432" anchor="ctr">
                    <a:solidFill>
                      <a:srgbClr val="FFFFFF"/>
                    </a:solidFill>
                  </a:tcPr>
                </a:tc>
                <a:tc>
                  <a:txBody>
                    <a:bodyPr/>
                    <a:lstStyle/>
                    <a:p>
                      <a:pPr algn="ctr"/>
                      <a:r>
                        <a:rPr sz="1200" b="0">
                          <a:solidFill>
                            <a:srgbClr val="142B33"/>
                          </a:solidFill>
                          <a:latin typeface="Calibri"/>
                        </a:rPr>
                        <a:t>222.15</a:t>
                      </a:r>
                    </a:p>
                  </a:txBody>
                  <a:tcPr marL="73152" marR="73152" marT="27432" marB="27432" anchor="ctr">
                    <a:solidFill>
                      <a:srgbClr val="FFFFFF"/>
                    </a:solidFill>
                  </a:tcPr>
                </a:tc>
                <a:tc>
                  <a:txBody>
                    <a:bodyPr/>
                    <a:lstStyle/>
                    <a:p>
                      <a:pPr algn="ctr"/>
                      <a:r>
                        <a:rPr sz="1200" b="0">
                          <a:solidFill>
                            <a:srgbClr val="142B33"/>
                          </a:solidFill>
                          <a:latin typeface="Calibri"/>
                        </a:rPr>
                        <a:t>0.0045</a:t>
                      </a:r>
                    </a:p>
                  </a:txBody>
                  <a:tcPr marL="73152" marR="73152" marT="27432" marB="27432" anchor="ctr">
                    <a:solidFill>
                      <a:srgbClr val="FFFFFF"/>
                    </a:solidFill>
                  </a:tcPr>
                </a:tc>
                <a:tc>
                  <a:txBody>
                    <a:bodyPr/>
                    <a:lstStyle/>
                    <a:p>
                      <a:pPr algn="ctr"/>
                      <a:r>
                        <a:rPr sz="1200" b="0">
                          <a:solidFill>
                            <a:srgbClr val="142B33"/>
                          </a:solidFill>
                          <a:latin typeface="Calibri"/>
                        </a:rPr>
                        <a:t>Sí</a:t>
                      </a:r>
                    </a:p>
                  </a:txBody>
                  <a:tcPr marL="73152" marR="73152" marT="27432" marB="27432" anchor="ctr">
                    <a:solidFill>
                      <a:srgbClr val="FFFFFF"/>
                    </a:solidFill>
                  </a:tcPr>
                </a:tc>
                <a:tc>
                  <a:txBody>
                    <a:bodyPr/>
                    <a:lstStyle/>
                    <a:p>
                      <a:pPr algn="ctr"/>
                      <a:r>
                        <a:rPr sz="1200" b="0">
                          <a:solidFill>
                            <a:srgbClr val="142B33"/>
                          </a:solidFill>
                          <a:latin typeface="Calibri"/>
                        </a:rPr>
                        <a:t>AD</a:t>
                      </a:r>
                    </a:p>
                  </a:txBody>
                  <a:tcPr marL="73152" marR="73152" marT="27432" marB="27432" anchor="ctr">
                    <a:solidFill>
                      <a:srgbClr val="FFFFFF"/>
                    </a:solidFill>
                  </a:tcPr>
                </a:tc>
                <a:tc>
                  <a:txBody>
                    <a:bodyPr/>
                    <a:lstStyle/>
                    <a:p>
                      <a:pPr algn="l"/>
                      <a:r>
                        <a:rPr sz="1200" b="0">
                          <a:solidFill>
                            <a:srgbClr val="142B33"/>
                          </a:solidFill>
                          <a:latin typeface="Calibri"/>
                        </a:rPr>
                        <a:t>Herencia: A y D activos, B inactivo</a:t>
                      </a:r>
                    </a:p>
                  </a:txBody>
                  <a:tcPr marL="73152" marR="73152" marT="27432" marB="27432" anchor="ctr">
                    <a:solidFill>
                      <a:srgbClr val="FFFFFF"/>
                    </a:solidFill>
                  </a:tcPr>
                </a:tc>
              </a:tr>
            </a:tbl>
          </a:graphicData>
        </a:graphic>
      </p:graphicFrame>
      <p:sp>
        <p:nvSpPr>
          <p:cNvPr id="7" name="TextBox 6"/>
          <p:cNvSpPr txBox="1"/>
          <p:nvPr/>
        </p:nvSpPr>
        <p:spPr>
          <a:xfrm>
            <a:off x="5446952" y="4191000"/>
            <a:ext cx="6196102" cy="222504"/>
          </a:xfrm>
          <a:prstGeom prst="rect">
            <a:avLst/>
          </a:prstGeom>
          <a:noFill/>
        </p:spPr>
        <p:txBody>
          <a:bodyPr wrap="square" anchor="t" lIns="0" rIns="0" tIns="0" bIns="0">
            <a:spAutoFit/>
          </a:bodyPr>
          <a:lstStyle/>
          <a:p>
            <a:r>
              <a:rPr sz="1200" b="0">
                <a:solidFill>
                  <a:srgbClr val="5B6B73"/>
                </a:solidFill>
                <a:latin typeface="Calibri"/>
              </a:rPr>
              <a:t>Ejemplo 1 (2</a:t>
            </a:r>
            <a:r>
              <a:rPr sz="1200" b="0" baseline="30000">
                <a:solidFill>
                  <a:srgbClr val="5B6B73"/>
                </a:solidFill>
                <a:latin typeface="Calibri"/>
              </a:rPr>
              <a:t>4−1</a:t>
            </a:r>
            <a:r>
              <a:rPr sz="1200" b="0">
                <a:solidFill>
                  <a:srgbClr val="5B6B73"/>
                </a:solidFill>
                <a:latin typeface="Calibri"/>
              </a:rPr>
              <a:t>, I = ABCD), modelo reducido, gl del error = 2</a:t>
            </a:r>
          </a:p>
        </p:txBody>
      </p:sp>
      <p:sp>
        <p:nvSpPr>
          <p:cNvPr id="8" name="Rounded Rectangle 7"/>
          <p:cNvSpPr/>
          <p:nvPr/>
        </p:nvSpPr>
        <p:spPr>
          <a:xfrm>
            <a:off x="5446952" y="4614672"/>
            <a:ext cx="6196102"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Rechazar H</a:t>
            </a:r>
            <a:r>
              <a:rPr sz="1400" b="0" baseline="-25000">
                <a:solidFill>
                  <a:srgbClr val="142B33"/>
                </a:solidFill>
                <a:latin typeface="Calibri"/>
              </a:rPr>
              <a:t>0</a:t>
            </a:r>
            <a:r>
              <a:rPr sz="1400" b="0">
                <a:solidFill>
                  <a:srgbClr val="142B33"/>
                </a:solidFill>
                <a:latin typeface="Calibri"/>
              </a:rPr>
              <a:t> en AC + BD dice que </a:t>
            </a:r>
            <a:r>
              <a:rPr sz="1400" b="1">
                <a:solidFill>
                  <a:srgbClr val="142B33"/>
                </a:solidFill>
                <a:latin typeface="Calibri"/>
              </a:rPr>
              <a:t>la cadena</a:t>
            </a:r>
            <a:r>
              <a:rPr sz="1400" b="0">
                <a:solidFill>
                  <a:srgbClr val="142B33"/>
                </a:solidFill>
                <a:latin typeface="Calibri"/>
              </a:rPr>
              <a:t> pesa; que sea </a:t>
            </a:r>
            <a:r>
              <a:rPr sz="1400" b="1">
                <a:solidFill>
                  <a:srgbClr val="142B33"/>
                </a:solidFill>
                <a:latin typeface="Calibri"/>
              </a:rPr>
              <a:t>AC</a:t>
            </a:r>
            <a:r>
              <a:rPr sz="1400" b="0">
                <a:solidFill>
                  <a:srgbClr val="142B33"/>
                </a:solidFill>
                <a:latin typeface="Calibri"/>
              </a:rPr>
              <a:t> lo dice la herencia y lo </a:t>
            </a:r>
            <a:r>
              <a:rPr sz="1400" b="1">
                <a:solidFill>
                  <a:srgbClr val="142B33"/>
                </a:solidFill>
                <a:latin typeface="Calibri"/>
              </a:rPr>
              <a:t>confirman</a:t>
            </a:r>
            <a:r>
              <a:rPr sz="1400" b="0">
                <a:solidFill>
                  <a:srgbClr val="142B33"/>
                </a:solidFill>
                <a:latin typeface="Calibri"/>
              </a:rPr>
              <a:t> las corridas adicionales</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63</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analizar los datos recolectados?</a:t>
            </a:r>
          </a:p>
        </p:txBody>
      </p:sp>
      <p:sp>
        <p:nvSpPr>
          <p:cNvPr id="3" name="TextBox 2"/>
          <p:cNvSpPr txBox="1"/>
          <p:nvPr/>
        </p:nvSpPr>
        <p:spPr>
          <a:xfrm>
            <a:off x="548640" y="1417320"/>
            <a:ext cx="11094415" cy="2745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Calcular </a:t>
            </a:r>
            <a:r>
              <a:rPr sz="2000" b="1">
                <a:solidFill>
                  <a:srgbClr val="142B33"/>
                </a:solidFill>
                <a:latin typeface="Calibri"/>
              </a:rPr>
              <a:t>contrastes y efectos</a:t>
            </a:r>
            <a:r>
              <a:rPr sz="2000" b="0">
                <a:solidFill>
                  <a:srgbClr val="142B33"/>
                </a:solidFill>
                <a:latin typeface="Calibri"/>
              </a:rPr>
              <a:t> de todas las cadenas de alias</a:t>
            </a:r>
          </a:p>
          <a:p>
            <a:pPr marL="320040" indent="-320040">
              <a:spcAft>
                <a:spcPts val="600"/>
              </a:spcAft>
              <a:buClr>
                <a:srgbClr val="E36414"/>
              </a:buClr>
              <a:buFont typeface="+mj-lt"/>
              <a:buAutoNum type="arabicPeriod"/>
            </a:pPr>
            <a:r>
              <a:rPr sz="2000" b="0">
                <a:solidFill>
                  <a:srgbClr val="142B33"/>
                </a:solidFill>
                <a:latin typeface="Calibri"/>
              </a:rPr>
              <a:t>Identificar los </a:t>
            </a:r>
            <a:r>
              <a:rPr sz="2000" b="1">
                <a:solidFill>
                  <a:srgbClr val="142B33"/>
                </a:solidFill>
                <a:latin typeface="Calibri"/>
              </a:rPr>
              <a:t>efectos activos</a:t>
            </a:r>
            <a:r>
              <a:rPr sz="2000" b="0">
                <a:solidFill>
                  <a:srgbClr val="142B33"/>
                </a:solidFill>
                <a:latin typeface="Calibri"/>
              </a:rPr>
              <a:t>: gráfica normal o seminormal y Pareto</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Interpretar las cadenas</a:t>
            </a:r>
            <a:r>
              <a:rPr sz="2000" b="0">
                <a:solidFill>
                  <a:srgbClr val="142B33"/>
                </a:solidFill>
                <a:latin typeface="Calibri"/>
              </a:rPr>
              <a:t> activas: ¿a qué efecto se atribuye cada una?</a:t>
            </a:r>
          </a:p>
          <a:p>
            <a:pPr marL="320040" indent="-320040">
              <a:spcAft>
                <a:spcPts val="600"/>
              </a:spcAft>
              <a:buClr>
                <a:srgbClr val="E36414"/>
              </a:buClr>
              <a:buFont typeface="+mj-lt"/>
              <a:buAutoNum type="arabicPeriod"/>
            </a:pPr>
            <a:r>
              <a:rPr sz="2000" b="0">
                <a:solidFill>
                  <a:srgbClr val="142B33"/>
                </a:solidFill>
                <a:latin typeface="Calibri"/>
              </a:rPr>
              <a:t>Ajustar el </a:t>
            </a:r>
            <a:r>
              <a:rPr sz="2000" b="1">
                <a:solidFill>
                  <a:srgbClr val="142B33"/>
                </a:solidFill>
                <a:latin typeface="Calibri"/>
              </a:rPr>
              <a:t>modelo reducido</a:t>
            </a:r>
            <a:r>
              <a:rPr sz="2000" b="0">
                <a:solidFill>
                  <a:srgbClr val="142B33"/>
                </a:solidFill>
                <a:latin typeface="Calibri"/>
              </a:rPr>
              <a:t> y construir la </a:t>
            </a:r>
            <a:r>
              <a:rPr sz="2000" b="1">
                <a:solidFill>
                  <a:srgbClr val="142B33"/>
                </a:solidFill>
                <a:latin typeface="Calibri"/>
              </a:rPr>
              <a:t>tabla ANOVA</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Verificar los supuestos</a:t>
            </a:r>
            <a:r>
              <a:rPr sz="2000" b="0">
                <a:solidFill>
                  <a:srgbClr val="142B33"/>
                </a:solidFill>
                <a:latin typeface="Calibri"/>
              </a:rPr>
              <a:t> con los residuos</a:t>
            </a:r>
          </a:p>
          <a:p>
            <a:pPr marL="320040" indent="-320040">
              <a:spcAft>
                <a:spcPts val="600"/>
              </a:spcAft>
              <a:buClr>
                <a:srgbClr val="E36414"/>
              </a:buClr>
              <a:buFont typeface="+mj-lt"/>
              <a:buAutoNum type="arabicPeriod"/>
            </a:pPr>
            <a:r>
              <a:rPr sz="2000" b="0">
                <a:solidFill>
                  <a:srgbClr val="142B33"/>
                </a:solidFill>
                <a:latin typeface="Calibri"/>
              </a:rPr>
              <a:t>Interpretar con gráficas de efectos principales, interacción y cubo</a:t>
            </a:r>
          </a:p>
          <a:p>
            <a:pPr marL="320040" indent="-320040">
              <a:spcAft>
                <a:spcPts val="600"/>
              </a:spcAft>
              <a:buClr>
                <a:srgbClr val="E36414"/>
              </a:buClr>
              <a:buFont typeface="+mj-lt"/>
              <a:buAutoNum type="arabicPeriod"/>
            </a:pPr>
            <a:r>
              <a:rPr sz="2000" b="0">
                <a:solidFill>
                  <a:srgbClr val="142B33"/>
                </a:solidFill>
                <a:latin typeface="Calibri"/>
              </a:rPr>
              <a:t>Concluir </a:t>
            </a:r>
            <a:r>
              <a:rPr sz="2000" b="1">
                <a:solidFill>
                  <a:srgbClr val="142B33"/>
                </a:solidFill>
                <a:latin typeface="Calibri"/>
              </a:rPr>
              <a:t>en términos del problema</a:t>
            </a:r>
            <a:r>
              <a:rPr sz="2000" b="0">
                <a:solidFill>
                  <a:srgbClr val="142B33"/>
                </a:solidFill>
                <a:latin typeface="Calibri"/>
              </a:rPr>
              <a:t> y confirmar con nuevas corridas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64</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estadísticos debo calcular?</a:t>
            </a:r>
          </a:p>
        </p:txBody>
      </p:sp>
      <p:graphicFrame>
        <p:nvGraphicFramePr>
          <p:cNvPr id="3" name="Table 2"/>
          <p:cNvGraphicFramePr>
            <a:graphicFrameLocks noGrp="1"/>
          </p:cNvGraphicFramePr>
          <p:nvPr/>
        </p:nvGraphicFramePr>
        <p:xfrm>
          <a:off x="548640" y="1417320"/>
          <a:ext cx="11094413" cy="2825496"/>
        </p:xfrm>
        <a:graphic>
          <a:graphicData uri="http://schemas.openxmlformats.org/drawingml/2006/table">
            <a:tbl>
              <a:tblPr firstRow="0" bandRow="0">
                <a:tableStyleId>{5C22544A-7EE6-4342-B048-85BDC9FD1C3A}</a:tableStyleId>
              </a:tblPr>
              <a:tblGrid>
                <a:gridCol w="1775106"/>
                <a:gridCol w="2884547"/>
                <a:gridCol w="2995492"/>
                <a:gridCol w="3439268"/>
              </a:tblGrid>
              <a:tr h="366776">
                <a:tc>
                  <a:txBody>
                    <a:bodyPr/>
                    <a:lstStyle/>
                    <a:p>
                      <a:pPr algn="l"/>
                      <a:r>
                        <a:rPr sz="1600" b="1">
                          <a:solidFill>
                            <a:srgbClr val="FFFFFF"/>
                          </a:solidFill>
                          <a:latin typeface="Calibri"/>
                        </a:rPr>
                        <a:t>Estadístico</a:t>
                      </a:r>
                    </a:p>
                  </a:txBody>
                  <a:tcPr marL="73152" marR="73152" marT="27432" marB="27432" anchor="ctr">
                    <a:solidFill>
                      <a:srgbClr val="0F4C5C"/>
                    </a:solidFill>
                  </a:tcPr>
                </a:tc>
                <a:tc>
                  <a:txBody>
                    <a:bodyPr/>
                    <a:lstStyle/>
                    <a:p>
                      <a:pPr algn="ctr"/>
                      <a:r>
                        <a:rPr sz="1600" b="1">
                          <a:solidFill>
                            <a:srgbClr val="FFFFFF"/>
                          </a:solidFill>
                          <a:latin typeface="Calibri"/>
                        </a:rPr>
                        <a:t>Fórmula</a:t>
                      </a:r>
                    </a:p>
                  </a:txBody>
                  <a:tcPr marL="73152" marR="73152" marT="27432" marB="27432" anchor="ctr">
                    <a:solidFill>
                      <a:srgbClr val="0F4C5C"/>
                    </a:solidFill>
                  </a:tcPr>
                </a:tc>
                <a:tc>
                  <a:txBody>
                    <a:bodyPr/>
                    <a:lstStyle/>
                    <a:p>
                      <a:pPr algn="l"/>
                      <a:r>
                        <a:rPr sz="1600" b="1">
                          <a:solidFill>
                            <a:srgbClr val="FFFFFF"/>
                          </a:solidFill>
                          <a:latin typeface="Calibri"/>
                        </a:rPr>
                        <a:t>Qué mide</a:t>
                      </a:r>
                    </a:p>
                  </a:txBody>
                  <a:tcPr marL="73152" marR="73152" marT="27432" marB="27432" anchor="ctr">
                    <a:solidFill>
                      <a:srgbClr val="0F4C5C"/>
                    </a:solidFill>
                  </a:tcPr>
                </a:tc>
                <a:tc>
                  <a:txBody>
                    <a:bodyPr/>
                    <a:lstStyle/>
                    <a:p>
                      <a:pPr algn="l"/>
                      <a:r>
                        <a:rPr sz="1600" b="1">
                          <a:solidFill>
                            <a:srgbClr val="FFFFFF"/>
                          </a:solidFill>
                          <a:latin typeface="Calibri"/>
                        </a:rPr>
                        <a:t>Ejemplo 1, factor A (N = 8)</a:t>
                      </a:r>
                    </a:p>
                  </a:txBody>
                  <a:tcPr marL="73152" marR="73152" marT="27432" marB="27432" anchor="ctr">
                    <a:solidFill>
                      <a:srgbClr val="0F4C5C"/>
                    </a:solidFill>
                  </a:tcPr>
                </a:tc>
              </a:tr>
              <a:tr h="614680">
                <a:tc>
                  <a:txBody>
                    <a:bodyPr/>
                    <a:lstStyle/>
                    <a:p>
                      <a:pPr algn="l"/>
                      <a:r>
                        <a:rPr sz="1600" b="0">
                          <a:solidFill>
                            <a:srgbClr val="142B33"/>
                          </a:solidFill>
                          <a:latin typeface="Calibri"/>
                        </a:rPr>
                        <a:t>Contraste</a:t>
                      </a:r>
                    </a:p>
                  </a:txBody>
                  <a:tcPr marL="73152" marR="73152" marT="27432" marB="27432" anchor="ctr">
                    <a:solidFill>
                      <a:srgbClr val="FFFFFF"/>
                    </a:solidFill>
                  </a:tcPr>
                </a:tc>
                <a:tc>
                  <a:txBody>
                    <a:bodyPr/>
                    <a:lstStyle/>
                    <a:p>
                      <a:pPr algn="ctr"/>
                      <a:r>
                        <a:rPr sz="1600" b="0">
                          <a:solidFill>
                            <a:srgbClr val="142B33"/>
                          </a:solidFill>
                          <a:latin typeface="Calibri"/>
                        </a:rPr>
                        <a:t>Contraste</a:t>
                      </a:r>
                      <a:r>
                        <a:rPr sz="1600" b="0" baseline="-25000">
                          <a:solidFill>
                            <a:srgbClr val="142B33"/>
                          </a:solidFill>
                          <a:latin typeface="Calibri"/>
                        </a:rPr>
                        <a:t>i</a:t>
                      </a:r>
                      <a:r>
                        <a:rPr sz="1600" b="0">
                          <a:solidFill>
                            <a:srgbClr val="142B33"/>
                          </a:solidFill>
                          <a:latin typeface="Calibri"/>
                        </a:rPr>
                        <a:t> = Σ (signo</a:t>
                      </a:r>
                      <a:r>
                        <a:rPr sz="1600" b="0" baseline="-25000">
                          <a:solidFill>
                            <a:srgbClr val="142B33"/>
                          </a:solidFill>
                          <a:latin typeface="Calibri"/>
                        </a:rPr>
                        <a:t>i</a:t>
                      </a:r>
                      <a:r>
                        <a:rPr sz="1600" b="0">
                          <a:solidFill>
                            <a:srgbClr val="142B33"/>
                          </a:solidFill>
                          <a:latin typeface="Calibri"/>
                        </a:rPr>
                        <a:t>) · y</a:t>
                      </a:r>
                    </a:p>
                  </a:txBody>
                  <a:tcPr marL="73152" marR="73152" marT="27432" marB="27432" anchor="ctr">
                    <a:solidFill>
                      <a:srgbClr val="FFFFFF"/>
                    </a:solidFill>
                  </a:tcPr>
                </a:tc>
                <a:tc>
                  <a:txBody>
                    <a:bodyPr/>
                    <a:lstStyle/>
                    <a:p>
                      <a:pPr algn="l"/>
                      <a:r>
                        <a:rPr sz="1600" b="0">
                          <a:solidFill>
                            <a:srgbClr val="142B33"/>
                          </a:solidFill>
                          <a:latin typeface="Calibri"/>
                        </a:rPr>
                        <a:t>Suma con signos de la columna i</a:t>
                      </a:r>
                    </a:p>
                  </a:txBody>
                  <a:tcPr marL="73152" marR="73152" marT="27432" marB="27432" anchor="ctr">
                    <a:solidFill>
                      <a:srgbClr val="FFFFFF"/>
                    </a:solidFill>
                  </a:tcPr>
                </a:tc>
                <a:tc>
                  <a:txBody>
                    <a:bodyPr/>
                    <a:lstStyle/>
                    <a:p>
                      <a:pPr algn="l"/>
                      <a:r>
                        <a:rPr sz="1600" b="0">
                          <a:solidFill>
                            <a:srgbClr val="142B33"/>
                          </a:solidFill>
                          <a:latin typeface="Calibri"/>
                        </a:rPr>
                        <a:t>−45 + 100 − 45 + 65 − 75 + 60 − 80 + 96 = 76</a:t>
                      </a:r>
                    </a:p>
                  </a:txBody>
                  <a:tcPr marL="73152" marR="73152" marT="27432" marB="27432" anchor="ctr">
                    <a:solidFill>
                      <a:srgbClr val="FFFFFF"/>
                    </a:solidFill>
                  </a:tcPr>
                </a:tc>
              </a:tr>
              <a:tr h="614680">
                <a:tc>
                  <a:txBody>
                    <a:bodyPr/>
                    <a:lstStyle/>
                    <a:p>
                      <a:pPr algn="l"/>
                      <a:r>
                        <a:rPr sz="1600" b="0">
                          <a:solidFill>
                            <a:srgbClr val="142B33"/>
                          </a:solidFill>
                          <a:latin typeface="Calibri"/>
                        </a:rPr>
                        <a:t>Efecto</a:t>
                      </a:r>
                    </a:p>
                  </a:txBody>
                  <a:tcPr marL="73152" marR="73152" marT="27432" marB="27432" anchor="ctr">
                    <a:solidFill>
                      <a:srgbClr val="F4F8F9"/>
                    </a:solidFill>
                  </a:tcPr>
                </a:tc>
                <a:tc>
                  <a:txBody>
                    <a:bodyPr/>
                    <a:lstStyle/>
                    <a:p>
                      <a:pPr algn="ctr"/>
                      <a:r>
                        <a:rPr sz="1600" b="0">
                          <a:solidFill>
                            <a:srgbClr val="142B33"/>
                          </a:solidFill>
                          <a:latin typeface="Calibri"/>
                        </a:rPr>
                        <a:t>ℓ</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 / (N/2)</a:t>
                      </a:r>
                    </a:p>
                  </a:txBody>
                  <a:tcPr marL="73152" marR="73152" marT="27432" marB="27432" anchor="ctr">
                    <a:solidFill>
                      <a:srgbClr val="F4F8F9"/>
                    </a:solidFill>
                  </a:tcPr>
                </a:tc>
                <a:tc>
                  <a:txBody>
                    <a:bodyPr/>
                    <a:lstStyle/>
                    <a:p>
                      <a:pPr algn="l"/>
                      <a:r>
                        <a:rPr sz="1600" b="0">
                          <a:solidFill>
                            <a:srgbClr val="142B33"/>
                          </a:solidFill>
                          <a:latin typeface="Calibri"/>
                        </a:rPr>
                        <a:t>Promedio en (+) menos promedio en (−)</a:t>
                      </a:r>
                    </a:p>
                  </a:txBody>
                  <a:tcPr marL="73152" marR="73152" marT="27432" marB="27432" anchor="ctr">
                    <a:solidFill>
                      <a:srgbClr val="F4F8F9"/>
                    </a:solidFill>
                  </a:tcPr>
                </a:tc>
                <a:tc>
                  <a:txBody>
                    <a:bodyPr/>
                    <a:lstStyle/>
                    <a:p>
                      <a:pPr algn="l"/>
                      <a:r>
                        <a:rPr sz="1600" b="0">
                          <a:solidFill>
                            <a:srgbClr val="142B33"/>
                          </a:solidFill>
                          <a:latin typeface="Calibri"/>
                        </a:rPr>
                        <a:t>76 / 4 = 19.00</a:t>
                      </a:r>
                    </a:p>
                  </a:txBody>
                  <a:tcPr marL="73152" marR="73152" marT="27432" marB="27432" anchor="ctr">
                    <a:solidFill>
                      <a:srgbClr val="F4F8F9"/>
                    </a:solidFill>
                  </a:tcPr>
                </a:tc>
              </a:tr>
              <a:tr h="614680">
                <a:tc>
                  <a:txBody>
                    <a:bodyPr/>
                    <a:lstStyle/>
                    <a:p>
                      <a:pPr algn="l"/>
                      <a:r>
                        <a:rPr sz="1600" b="0">
                          <a:solidFill>
                            <a:srgbClr val="142B33"/>
                          </a:solidFill>
                          <a:latin typeface="Calibri"/>
                        </a:rPr>
                        <a:t>Coeficiente</a:t>
                      </a:r>
                    </a:p>
                  </a:txBody>
                  <a:tcPr marL="73152" marR="73152" marT="27432" marB="27432" anchor="ctr">
                    <a:solidFill>
                      <a:srgbClr val="FFFFFF"/>
                    </a:solidFill>
                  </a:tcPr>
                </a:tc>
                <a:tc>
                  <a:txBody>
                    <a:bodyPr/>
                    <a:lstStyle/>
                    <a:p>
                      <a:pPr algn="ctr"/>
                      <a:r>
                        <a:rPr sz="1600" b="0">
                          <a:solidFill>
                            <a:srgbClr val="142B33"/>
                          </a:solidFill>
                          <a:latin typeface="Calibri"/>
                        </a:rPr>
                        <a:t>β</a:t>
                      </a:r>
                      <a:r>
                        <a:rPr sz="1600" b="0" baseline="-25000">
                          <a:solidFill>
                            <a:srgbClr val="142B33"/>
                          </a:solidFill>
                          <a:latin typeface="Calibri"/>
                        </a:rPr>
                        <a:t>i</a:t>
                      </a:r>
                      <a:r>
                        <a:rPr sz="1600" b="0">
                          <a:solidFill>
                            <a:srgbClr val="142B33"/>
                          </a:solidFill>
                          <a:latin typeface="Calibri"/>
                        </a:rPr>
                        <a:t> estimado = ℓ</a:t>
                      </a:r>
                      <a:r>
                        <a:rPr sz="1600" b="0" baseline="-25000">
                          <a:solidFill>
                            <a:srgbClr val="142B33"/>
                          </a:solidFill>
                          <a:latin typeface="Calibri"/>
                        </a:rPr>
                        <a:t>i</a:t>
                      </a:r>
                      <a:r>
                        <a:rPr sz="1600" b="0">
                          <a:solidFill>
                            <a:srgbClr val="142B33"/>
                          </a:solidFill>
                          <a:latin typeface="Calibri"/>
                        </a:rPr>
                        <a:t> / 2</a:t>
                      </a:r>
                    </a:p>
                  </a:txBody>
                  <a:tcPr marL="73152" marR="73152" marT="27432" marB="27432" anchor="ctr">
                    <a:solidFill>
                      <a:srgbClr val="FFFFFF"/>
                    </a:solidFill>
                  </a:tcPr>
                </a:tc>
                <a:tc>
                  <a:txBody>
                    <a:bodyPr/>
                    <a:lstStyle/>
                    <a:p>
                      <a:pPr algn="l"/>
                      <a:r>
                        <a:rPr sz="1600" b="0">
                          <a:solidFill>
                            <a:srgbClr val="142B33"/>
                          </a:solidFill>
                          <a:latin typeface="Calibri"/>
                        </a:rPr>
                        <a:t>Cambio en Y por unidad codificada</a:t>
                      </a:r>
                    </a:p>
                  </a:txBody>
                  <a:tcPr marL="73152" marR="73152" marT="27432" marB="27432" anchor="ctr">
                    <a:solidFill>
                      <a:srgbClr val="FFFFFF"/>
                    </a:solidFill>
                  </a:tcPr>
                </a:tc>
                <a:tc>
                  <a:txBody>
                    <a:bodyPr/>
                    <a:lstStyle/>
                    <a:p>
                      <a:pPr algn="l"/>
                      <a:r>
                        <a:rPr sz="1600" b="0">
                          <a:solidFill>
                            <a:srgbClr val="142B33"/>
                          </a:solidFill>
                          <a:latin typeface="Calibri"/>
                        </a:rPr>
                        <a:t>19.00 / 2 = 9.50</a:t>
                      </a:r>
                    </a:p>
                  </a:txBody>
                  <a:tcPr marL="73152" marR="73152" marT="27432" marB="27432" anchor="ctr">
                    <a:solidFill>
                      <a:srgbClr val="FFFFFF"/>
                    </a:solidFill>
                  </a:tcPr>
                </a:tc>
              </a:tr>
              <a:tr h="614680">
                <a:tc>
                  <a:txBody>
                    <a:bodyPr/>
                    <a:lstStyle/>
                    <a:p>
                      <a:pPr algn="l"/>
                      <a:r>
                        <a:rPr sz="1600" b="0">
                          <a:solidFill>
                            <a:srgbClr val="142B33"/>
                          </a:solidFill>
                          <a:latin typeface="Calibri"/>
                        </a:rPr>
                        <a:t>Suma de cuadrados</a:t>
                      </a:r>
                    </a:p>
                  </a:txBody>
                  <a:tcPr marL="73152" marR="73152" marT="27432" marB="27432" anchor="ctr">
                    <a:solidFill>
                      <a:srgbClr val="F4F8F9"/>
                    </a:solidFill>
                  </a:tcPr>
                </a:tc>
                <a:tc>
                  <a:txBody>
                    <a:bodyPr/>
                    <a:lstStyle/>
                    <a:p>
                      <a:pPr algn="ctr"/>
                      <a:r>
                        <a:rPr sz="1600" b="0">
                          <a:solidFill>
                            <a:srgbClr val="142B33"/>
                          </a:solidFill>
                          <a:latin typeface="Calibri"/>
                        </a:rPr>
                        <a:t>SS</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a:t>
                      </a:r>
                      <a:r>
                        <a:rPr sz="1600" b="0" baseline="30000">
                          <a:solidFill>
                            <a:srgbClr val="142B33"/>
                          </a:solidFill>
                          <a:latin typeface="Calibri"/>
                        </a:rPr>
                        <a:t>2</a:t>
                      </a:r>
                      <a:r>
                        <a:rPr sz="1600" b="0">
                          <a:solidFill>
                            <a:srgbClr val="142B33"/>
                          </a:solidFill>
                          <a:latin typeface="Calibri"/>
                        </a:rPr>
                        <a:t> / N</a:t>
                      </a:r>
                    </a:p>
                  </a:txBody>
                  <a:tcPr marL="73152" marR="73152" marT="27432" marB="27432" anchor="ctr">
                    <a:solidFill>
                      <a:srgbClr val="F4F8F9"/>
                    </a:solidFill>
                  </a:tcPr>
                </a:tc>
                <a:tc>
                  <a:txBody>
                    <a:bodyPr/>
                    <a:lstStyle/>
                    <a:p>
                      <a:pPr algn="l"/>
                      <a:r>
                        <a:rPr sz="1600" b="0">
                          <a:solidFill>
                            <a:srgbClr val="142B33"/>
                          </a:solidFill>
                          <a:latin typeface="Calibri"/>
                        </a:rPr>
                        <a:t>Variabilidad explicada (1 g.l.)</a:t>
                      </a:r>
                    </a:p>
                  </a:txBody>
                  <a:tcPr marL="73152" marR="73152" marT="27432" marB="27432" anchor="ctr">
                    <a:solidFill>
                      <a:srgbClr val="F4F8F9"/>
                    </a:solidFill>
                  </a:tcPr>
                </a:tc>
                <a:tc>
                  <a:txBody>
                    <a:bodyPr/>
                    <a:lstStyle/>
                    <a:p>
                      <a:pPr algn="l"/>
                      <a:r>
                        <a:rPr sz="1600" b="0">
                          <a:solidFill>
                            <a:srgbClr val="142B33"/>
                          </a:solidFill>
                          <a:latin typeface="Calibri"/>
                        </a:rPr>
                        <a:t>76</a:t>
                      </a:r>
                      <a:r>
                        <a:rPr sz="1600" b="0" baseline="30000">
                          <a:solidFill>
                            <a:srgbClr val="142B33"/>
                          </a:solidFill>
                          <a:latin typeface="Calibri"/>
                        </a:rPr>
                        <a:t>2</a:t>
                      </a:r>
                      <a:r>
                        <a:rPr sz="1600" b="0">
                          <a:solidFill>
                            <a:srgbClr val="142B33"/>
                          </a:solidFill>
                          <a:latin typeface="Calibri"/>
                        </a:rPr>
                        <a:t> / 8 = 722.0</a:t>
                      </a:r>
                    </a:p>
                  </a:txBody>
                  <a:tcPr marL="73152" marR="73152" marT="27432" marB="27432" anchor="ctr">
                    <a:solidFill>
                      <a:srgbClr val="F4F8F9"/>
                    </a:solidFill>
                  </a:tcPr>
                </a:tc>
              </a:tr>
            </a:tbl>
          </a:graphicData>
        </a:graphic>
      </p:graphicFrame>
      <p:sp>
        <p:nvSpPr>
          <p:cNvPr id="4" name="Rounded Rectangle 3"/>
          <p:cNvSpPr/>
          <p:nvPr/>
        </p:nvSpPr>
        <p:spPr>
          <a:xfrm>
            <a:off x="548640" y="4443984"/>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una sola réplica, N = 2</a:t>
            </a:r>
            <a:r>
              <a:rPr sz="1600" b="0" baseline="30000">
                <a:solidFill>
                  <a:srgbClr val="142B33"/>
                </a:solidFill>
                <a:latin typeface="Calibri"/>
              </a:rPr>
              <a:t>k−p</a:t>
            </a:r>
            <a:r>
              <a:rPr sz="1600" b="0">
                <a:solidFill>
                  <a:srgbClr val="142B33"/>
                </a:solidFill>
                <a:latin typeface="Calibri"/>
              </a:rPr>
              <a:t>. El intercepto es el promedio general:  β</a:t>
            </a:r>
            <a:r>
              <a:rPr sz="1600" b="0" baseline="-25000">
                <a:solidFill>
                  <a:srgbClr val="142B33"/>
                </a:solidFill>
                <a:latin typeface="Calibri"/>
              </a:rPr>
              <a:t>0</a:t>
            </a:r>
            <a:r>
              <a:rPr sz="1600" b="0">
                <a:solidFill>
                  <a:srgbClr val="142B33"/>
                </a:solidFill>
                <a:latin typeface="Calibri"/>
              </a:rPr>
              <a:t> = ȳ</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65</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Tabla ANOVA del factorial fraccionado</a:t>
            </a:r>
          </a:p>
        </p:txBody>
      </p:sp>
      <p:graphicFrame>
        <p:nvGraphicFramePr>
          <p:cNvPr id="3" name="Table 2"/>
          <p:cNvGraphicFramePr>
            <a:graphicFrameLocks noGrp="1"/>
          </p:cNvGraphicFramePr>
          <p:nvPr/>
        </p:nvGraphicFramePr>
        <p:xfrm>
          <a:off x="548640" y="1417320"/>
          <a:ext cx="11094412" cy="2055872"/>
        </p:xfrm>
        <a:graphic>
          <a:graphicData uri="http://schemas.openxmlformats.org/drawingml/2006/table">
            <a:tbl>
              <a:tblPr firstRow="0" bandRow="0">
                <a:tableStyleId>{5C22544A-7EE6-4342-B048-85BDC9FD1C3A}</a:tableStyleId>
              </a:tblPr>
              <a:tblGrid>
                <a:gridCol w="2773603"/>
                <a:gridCol w="3661157"/>
                <a:gridCol w="1442273"/>
                <a:gridCol w="1886050"/>
                <a:gridCol w="1331329"/>
              </a:tblGrid>
              <a:tr h="382269">
                <a:tc>
                  <a:txBody>
                    <a:bodyPr/>
                    <a:lstStyle/>
                    <a:p>
                      <a:pPr algn="l"/>
                      <a:r>
                        <a:rPr sz="1700" b="1">
                          <a:solidFill>
                            <a:srgbClr val="FFFFFF"/>
                          </a:solidFill>
                          <a:latin typeface="Calibri"/>
                        </a:rPr>
                        <a:t>SV</a:t>
                      </a:r>
                    </a:p>
                  </a:txBody>
                  <a:tcPr marL="73152" marR="73152" marT="27432" marB="27432" anchor="ctr">
                    <a:solidFill>
                      <a:srgbClr val="0F4C5C"/>
                    </a:solidFill>
                  </a:tcPr>
                </a:tc>
                <a:tc>
                  <a:txBody>
                    <a:bodyPr/>
                    <a:lstStyle/>
                    <a:p>
                      <a:pPr algn="l"/>
                      <a:r>
                        <a:rPr sz="1700" b="1">
                          <a:solidFill>
                            <a:srgbClr val="FFFFFF"/>
                          </a:solidFill>
                          <a:latin typeface="Calibri"/>
                        </a:rPr>
                        <a:t>SS</a:t>
                      </a:r>
                    </a:p>
                  </a:txBody>
                  <a:tcPr marL="73152" marR="73152" marT="27432" marB="27432" anchor="ctr">
                    <a:solidFill>
                      <a:srgbClr val="0F4C5C"/>
                    </a:solidFill>
                  </a:tcPr>
                </a:tc>
                <a:tc>
                  <a:txBody>
                    <a:bodyPr/>
                    <a:lstStyle/>
                    <a:p>
                      <a:pPr algn="ctr"/>
                      <a:r>
                        <a:rPr sz="1700" b="1">
                          <a:solidFill>
                            <a:srgbClr val="FFFFFF"/>
                          </a:solidFill>
                          <a:latin typeface="Calibri"/>
                        </a:rPr>
                        <a:t>DF</a:t>
                      </a:r>
                    </a:p>
                  </a:txBody>
                  <a:tcPr marL="73152" marR="73152" marT="27432" marB="27432" anchor="ctr">
                    <a:solidFill>
                      <a:srgbClr val="0F4C5C"/>
                    </a:solidFill>
                  </a:tcPr>
                </a:tc>
                <a:tc>
                  <a:txBody>
                    <a:bodyPr/>
                    <a:lstStyle/>
                    <a:p>
                      <a:pPr algn="ctr"/>
                      <a:r>
                        <a:rPr sz="1700" b="1">
                          <a:solidFill>
                            <a:srgbClr val="FFFFFF"/>
                          </a:solidFill>
                          <a:latin typeface="Calibri"/>
                        </a:rPr>
                        <a:t>MS</a:t>
                      </a:r>
                    </a:p>
                  </a:txBody>
                  <a:tcPr marL="73152" marR="73152" marT="27432" marB="27432" anchor="ctr">
                    <a:solidFill>
                      <a:srgbClr val="0F4C5C"/>
                    </a:solidFill>
                  </a:tcPr>
                </a:tc>
                <a:tc>
                  <a:txBody>
                    <a:bodyPr/>
                    <a:lstStyle/>
                    <a:p>
                      <a:pPr algn="ctr"/>
                      <a:r>
                        <a:rPr sz="1700" b="1">
                          <a:solidFill>
                            <a:srgbClr val="FFFFFF"/>
                          </a:solidFill>
                          <a:latin typeface="Calibri"/>
                        </a:rPr>
                        <a:t>F</a:t>
                      </a:r>
                      <a:r>
                        <a:rPr sz="1700" b="1" baseline="-25000">
                          <a:solidFill>
                            <a:srgbClr val="FFFFFF"/>
                          </a:solidFill>
                          <a:latin typeface="Calibri"/>
                        </a:rPr>
                        <a:t>0</a:t>
                      </a:r>
                    </a:p>
                  </a:txBody>
                  <a:tcPr marL="73152" marR="73152" marT="27432" marB="27432" anchor="ctr">
                    <a:solidFill>
                      <a:srgbClr val="0F4C5C"/>
                    </a:solidFill>
                  </a:tcPr>
                </a:tc>
              </a:tr>
              <a:tr h="645667">
                <a:tc>
                  <a:txBody>
                    <a:bodyPr/>
                    <a:lstStyle/>
                    <a:p>
                      <a:pPr algn="l"/>
                      <a:r>
                        <a:rPr sz="1700" b="0">
                          <a:solidFill>
                            <a:srgbClr val="142B33"/>
                          </a:solidFill>
                          <a:latin typeface="Calibri"/>
                        </a:rPr>
                        <a:t>Efecto i (cadena de alias)</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i</a:t>
                      </a:r>
                      <a:r>
                        <a:rPr sz="1700" b="0">
                          <a:solidFill>
                            <a:srgbClr val="142B33"/>
                          </a:solidFill>
                          <a:latin typeface="Calibri"/>
                        </a:rPr>
                        <a:t> = (Contraste</a:t>
                      </a:r>
                      <a:r>
                        <a:rPr sz="1700" b="0" baseline="-25000">
                          <a:solidFill>
                            <a:srgbClr val="142B33"/>
                          </a:solidFill>
                          <a:latin typeface="Calibri"/>
                        </a:rPr>
                        <a:t>i</a:t>
                      </a:r>
                      <a:r>
                        <a:rPr sz="1700" b="0">
                          <a:solidFill>
                            <a:srgbClr val="142B33"/>
                          </a:solidFill>
                          <a:latin typeface="Calibri"/>
                        </a:rPr>
                        <a:t>)</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1</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SS</a:t>
                      </a:r>
                      <a:r>
                        <a:rPr sz="1700" b="0" baseline="-25000">
                          <a:solidFill>
                            <a:srgbClr val="142B33"/>
                          </a:solidFill>
                          <a:latin typeface="Calibri"/>
                        </a:rPr>
                        <a:t>i</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MS</a:t>
                      </a:r>
                      <a:r>
                        <a:rPr sz="1700" b="0" baseline="-25000">
                          <a:solidFill>
                            <a:srgbClr val="142B33"/>
                          </a:solidFill>
                          <a:latin typeface="Calibri"/>
                        </a:rPr>
                        <a:t>E</a:t>
                      </a:r>
                    </a:p>
                  </a:txBody>
                  <a:tcPr marL="73152" marR="73152" marT="27432" marB="27432" anchor="ctr">
                    <a:solidFill>
                      <a:srgbClr val="FFFFFF"/>
                    </a:solidFill>
                  </a:tcPr>
                </a:tc>
              </a:tr>
              <a:tr h="645667">
                <a:tc>
                  <a:txBody>
                    <a:bodyPr/>
                    <a:lstStyle/>
                    <a:p>
                      <a:pPr algn="l"/>
                      <a:r>
                        <a:rPr sz="1700" b="0">
                          <a:solidFill>
                            <a:srgbClr val="142B33"/>
                          </a:solidFill>
                          <a:latin typeface="Calibri"/>
                        </a:rPr>
                        <a:t>Error</a:t>
                      </a:r>
                    </a:p>
                  </a:txBody>
                  <a:tcPr marL="73152" marR="73152" marT="27432" marB="27432" anchor="ctr">
                    <a:solidFill>
                      <a:srgbClr val="F4F8F9"/>
                    </a:solidFill>
                  </a:tcPr>
                </a:tc>
                <a:tc>
                  <a:txBody>
                    <a:bodyPr/>
                    <a:lstStyle/>
                    <a:p>
                      <a:pPr algn="l"/>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SS</a:t>
                      </a:r>
                      <a:r>
                        <a:rPr sz="1700" b="0" baseline="-25000">
                          <a:solidFill>
                            <a:srgbClr val="142B33"/>
                          </a:solidFill>
                          <a:latin typeface="Calibri"/>
                        </a:rPr>
                        <a:t>T</a:t>
                      </a:r>
                      <a:r>
                        <a:rPr sz="1700" b="0">
                          <a:solidFill>
                            <a:srgbClr val="142B33"/>
                          </a:solidFill>
                          <a:latin typeface="Calibri"/>
                        </a:rPr>
                        <a:t> − Σ SS</a:t>
                      </a:r>
                      <a:r>
                        <a:rPr sz="1700" b="0" baseline="-25000">
                          <a:solidFill>
                            <a:srgbClr val="142B33"/>
                          </a:solidFill>
                          <a:latin typeface="Calibri"/>
                        </a:rPr>
                        <a:t>i</a:t>
                      </a:r>
                      <a:r>
                        <a:rPr sz="1700" b="0">
                          <a:solidFill>
                            <a:srgbClr val="142B33"/>
                          </a:solidFill>
                          <a:latin typeface="Calibri"/>
                        </a:rPr>
                        <a:t>  (por sustracción)</a:t>
                      </a:r>
                    </a:p>
                  </a:txBody>
                  <a:tcPr marL="73152" marR="73152" marT="27432" marB="27432" anchor="ctr">
                    <a:solidFill>
                      <a:srgbClr val="F4F8F9"/>
                    </a:solidFill>
                  </a:tcPr>
                </a:tc>
                <a:tc>
                  <a:txBody>
                    <a:bodyPr/>
                    <a:lstStyle/>
                    <a:p>
                      <a:pPr algn="ctr"/>
                      <a:r>
                        <a:rPr sz="1700" b="0">
                          <a:solidFill>
                            <a:srgbClr val="142B33"/>
                          </a:solidFill>
                          <a:latin typeface="Calibri"/>
                        </a:rPr>
                        <a:t>N − 1 − m</a:t>
                      </a:r>
                    </a:p>
                  </a:txBody>
                  <a:tcPr marL="73152" marR="73152" marT="27432" marB="27432" anchor="ctr">
                    <a:solidFill>
                      <a:srgbClr val="F4F8F9"/>
                    </a:solidFill>
                  </a:tcPr>
                </a:tc>
                <a:tc>
                  <a:txBody>
                    <a:bodyPr/>
                    <a:lstStyle/>
                    <a:p>
                      <a:pPr algn="ctr"/>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(N − 1 − m)</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82269">
                <a:tc>
                  <a:txBody>
                    <a:bodyPr/>
                    <a:lstStyle/>
                    <a:p>
                      <a:pPr algn="l"/>
                      <a:r>
                        <a:rPr sz="1700" b="0">
                          <a:solidFill>
                            <a:srgbClr val="142B33"/>
                          </a:solidFill>
                          <a:latin typeface="Calibri"/>
                        </a:rPr>
                        <a:t>Total</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T</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N − 1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548640" y="3674364"/>
            <a:ext cx="11094415" cy="103708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m</a:t>
            </a:r>
            <a:r>
              <a:rPr sz="1700" b="0">
                <a:solidFill>
                  <a:srgbClr val="142B33"/>
                </a:solidFill>
                <a:latin typeface="Calibri"/>
              </a:rPr>
              <a:t>: número de efectos incluidos en el modelo; </a:t>
            </a:r>
            <a:r>
              <a:rPr sz="1700" b="1">
                <a:solidFill>
                  <a:srgbClr val="142B33"/>
                </a:solidFill>
                <a:latin typeface="Calibri"/>
              </a:rPr>
              <a:t>N</a:t>
            </a:r>
            <a:r>
              <a:rPr sz="1700" b="0">
                <a:solidFill>
                  <a:srgbClr val="142B33"/>
                </a:solidFill>
                <a:latin typeface="Calibri"/>
              </a:rPr>
              <a:t>: total de corridas</a:t>
            </a:r>
          </a:p>
          <a:p>
            <a:pPr marL="320040" indent="-320040">
              <a:spcAft>
                <a:spcPts val="600"/>
              </a:spcAft>
              <a:buClr>
                <a:srgbClr val="E36414"/>
              </a:buClr>
              <a:buFont typeface="Arial"/>
              <a:buChar char="•"/>
            </a:pPr>
            <a:r>
              <a:rPr sz="1700" b="0">
                <a:solidFill>
                  <a:srgbClr val="142B33"/>
                </a:solidFill>
                <a:latin typeface="Calibri"/>
              </a:rPr>
              <a:t>Se rechaza H</a:t>
            </a:r>
            <a:r>
              <a:rPr sz="1700" b="0" baseline="-25000">
                <a:solidFill>
                  <a:srgbClr val="142B33"/>
                </a:solidFill>
                <a:latin typeface="Calibri"/>
              </a:rPr>
              <a:t>0</a:t>
            </a:r>
            <a:r>
              <a:rPr sz="1700" b="0">
                <a:solidFill>
                  <a:srgbClr val="142B33"/>
                </a:solidFill>
                <a:latin typeface="Calibri"/>
              </a:rPr>
              <a:t> si  </a:t>
            </a:r>
            <a:r>
              <a:rPr sz="1700" b="1">
                <a:solidFill>
                  <a:srgbClr val="142B33"/>
                </a:solidFill>
                <a:latin typeface="Calibri"/>
              </a:rPr>
              <a:t>F</a:t>
            </a:r>
            <a:r>
              <a:rPr sz="1700" b="1" baseline="-25000">
                <a:solidFill>
                  <a:srgbClr val="142B33"/>
                </a:solidFill>
                <a:latin typeface="Calibri"/>
              </a:rPr>
              <a:t>0</a:t>
            </a:r>
            <a:r>
              <a:rPr sz="1700" b="1">
                <a:solidFill>
                  <a:srgbClr val="142B33"/>
                </a:solidFill>
                <a:latin typeface="Calibri"/>
              </a:rPr>
              <a:t> &gt; F</a:t>
            </a:r>
            <a:r>
              <a:rPr sz="1700" b="1" baseline="-25000">
                <a:solidFill>
                  <a:srgbClr val="142B33"/>
                </a:solidFill>
                <a:latin typeface="Calibri"/>
              </a:rPr>
              <a:t>α, 1, N−1−m</a:t>
            </a:r>
            <a:r>
              <a:rPr sz="1700" b="0">
                <a:solidFill>
                  <a:srgbClr val="142B33"/>
                </a:solidFill>
                <a:latin typeface="Calibri"/>
              </a:rPr>
              <a:t>  o si el valor p &lt; α</a:t>
            </a:r>
          </a:p>
          <a:p>
            <a:pPr marL="320040" indent="-320040">
              <a:spcAft>
                <a:spcPts val="600"/>
              </a:spcAft>
              <a:buClr>
                <a:srgbClr val="E36414"/>
              </a:buClr>
              <a:buFont typeface="Arial"/>
              <a:buChar char="•"/>
            </a:pPr>
            <a:r>
              <a:rPr sz="1700" b="0">
                <a:solidFill>
                  <a:srgbClr val="142B33"/>
                </a:solidFill>
                <a:latin typeface="Calibri"/>
              </a:rPr>
              <a:t>Con </a:t>
            </a:r>
            <a:r>
              <a:rPr sz="1700" b="1">
                <a:solidFill>
                  <a:srgbClr val="142B33"/>
                </a:solidFill>
                <a:latin typeface="Calibri"/>
              </a:rPr>
              <a:t>n réplicas</a:t>
            </a:r>
            <a:r>
              <a:rPr sz="1700" b="0">
                <a:solidFill>
                  <a:srgbClr val="142B33"/>
                </a:solidFill>
                <a:latin typeface="Calibri"/>
              </a:rPr>
              <a:t>:  N = n · 2</a:t>
            </a:r>
            <a:r>
              <a:rPr sz="1700" b="0" baseline="30000">
                <a:solidFill>
                  <a:srgbClr val="142B33"/>
                </a:solidFill>
                <a:latin typeface="Calibri"/>
              </a:rPr>
              <a:t>k−p</a:t>
            </a:r>
            <a:r>
              <a:rPr sz="1700" b="0">
                <a:solidFill>
                  <a:srgbClr val="142B33"/>
                </a:solidFill>
                <a:latin typeface="Calibri"/>
              </a:rPr>
              <a:t>  y hay error puro con 2</a:t>
            </a:r>
            <a:r>
              <a:rPr sz="1700" b="0" baseline="30000">
                <a:solidFill>
                  <a:srgbClr val="142B33"/>
                </a:solidFill>
                <a:latin typeface="Calibri"/>
              </a:rPr>
              <a:t>k−p</a:t>
            </a:r>
            <a:r>
              <a:rPr sz="1700" b="0">
                <a:solidFill>
                  <a:srgbClr val="142B33"/>
                </a:solidFill>
                <a:latin typeface="Calibri"/>
              </a:rPr>
              <a:t>(n − 1) g.l.</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66</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Sin réplicas no hay error: ¿cómo decido?</a:t>
            </a:r>
          </a:p>
        </p:txBody>
      </p:sp>
      <p:sp>
        <p:nvSpPr>
          <p:cNvPr id="3" name="TextBox 2"/>
          <p:cNvSpPr txBox="1"/>
          <p:nvPr/>
        </p:nvSpPr>
        <p:spPr>
          <a:xfrm>
            <a:off x="548640" y="1417320"/>
            <a:ext cx="11094415" cy="136245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Gráfica normal o seminormal de efectos</a:t>
            </a:r>
            <a:r>
              <a:rPr sz="1800" b="0">
                <a:solidFill>
                  <a:srgbClr val="142B33"/>
                </a:solidFill>
                <a:latin typeface="Calibri"/>
              </a:rPr>
              <a:t>: los inactivos caen sobre una recta</a:t>
            </a:r>
          </a:p>
          <a:p>
            <a:pPr marL="320040" indent="-320040">
              <a:spcAft>
                <a:spcPts val="600"/>
              </a:spcAft>
              <a:buClr>
                <a:srgbClr val="E36414"/>
              </a:buClr>
              <a:buFont typeface="Arial"/>
              <a:buChar char="•"/>
            </a:pPr>
            <a:r>
              <a:rPr sz="1800" b="1">
                <a:solidFill>
                  <a:srgbClr val="142B33"/>
                </a:solidFill>
                <a:latin typeface="Calibri"/>
              </a:rPr>
              <a:t>Pareto con método de Lenth</a:t>
            </a:r>
            <a:r>
              <a:rPr sz="1800" b="0">
                <a:solidFill>
                  <a:srgbClr val="142B33"/>
                </a:solidFill>
                <a:latin typeface="Calibri"/>
              </a:rPr>
              <a:t>: activo si |efecto| &gt; margen de error; complementa la gráfica normal, no la sustituye</a:t>
            </a:r>
          </a:p>
          <a:p>
            <a:pPr marL="320040" indent="-320040">
              <a:spcAft>
                <a:spcPts val="600"/>
              </a:spcAft>
              <a:buClr>
                <a:srgbClr val="E36414"/>
              </a:buClr>
              <a:buFont typeface="Arial"/>
              <a:buChar char="•"/>
            </a:pPr>
            <a:r>
              <a:rPr sz="1800" b="0">
                <a:solidFill>
                  <a:srgbClr val="142B33"/>
                </a:solidFill>
                <a:latin typeface="Calibri"/>
              </a:rPr>
              <a:t>Los efectos descartados pasan a formar el </a:t>
            </a:r>
            <a:r>
              <a:rPr sz="1800" b="1">
                <a:solidFill>
                  <a:srgbClr val="142B33"/>
                </a:solidFill>
                <a:latin typeface="Calibri"/>
              </a:rPr>
              <a:t>error</a:t>
            </a:r>
            <a:r>
              <a:rPr sz="1800" b="0">
                <a:solidFill>
                  <a:srgbClr val="142B33"/>
                </a:solidFill>
                <a:latin typeface="Calibri"/>
              </a:rPr>
              <a:t> del ANOVA</a:t>
            </a:r>
          </a:p>
        </p:txBody>
      </p:sp>
      <p:sp>
        <p:nvSpPr>
          <p:cNvPr id="4" name="Rounded Rectangle 3"/>
          <p:cNvSpPr/>
          <p:nvPr/>
        </p:nvSpPr>
        <p:spPr>
          <a:xfrm>
            <a:off x="548640" y="2980944"/>
            <a:ext cx="11094415" cy="115933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s</a:t>
            </a:r>
            <a:r>
              <a:rPr sz="1700" b="0" baseline="-25000">
                <a:solidFill>
                  <a:srgbClr val="0F4C5C"/>
                </a:solidFill>
                <a:latin typeface="Cambria Math"/>
              </a:rPr>
              <a:t>0</a:t>
            </a:r>
            <a:r>
              <a:rPr sz="1700" b="0">
                <a:solidFill>
                  <a:srgbClr val="0F4C5C"/>
                </a:solidFill>
                <a:latin typeface="Cambria Math"/>
              </a:rPr>
              <a:t> = 1.5 · mediana |ℓ</a:t>
            </a:r>
            <a:r>
              <a:rPr sz="1700" b="0" baseline="-25000">
                <a:solidFill>
                  <a:srgbClr val="0F4C5C"/>
                </a:solidFill>
                <a:latin typeface="Cambria Math"/>
              </a:rPr>
              <a:t>i</a:t>
            </a:r>
            <a:r>
              <a:rPr sz="1700" b="0">
                <a:solidFill>
                  <a:srgbClr val="0F4C5C"/>
                </a:solidFill>
                <a:latin typeface="Cambria Math"/>
              </a:rPr>
              <a:t>|</a:t>
            </a:r>
          </a:p>
          <a:p>
            <a:pPr algn="ctr"/>
            <a:r>
              <a:rPr sz="1700" b="0">
                <a:solidFill>
                  <a:srgbClr val="0F4C5C"/>
                </a:solidFill>
                <a:latin typeface="Cambria Math"/>
              </a:rPr>
              <a:t>PSE = 1.5 · mediana { |ℓ</a:t>
            </a:r>
            <a:r>
              <a:rPr sz="1700" b="0" baseline="-25000">
                <a:solidFill>
                  <a:srgbClr val="0F4C5C"/>
                </a:solidFill>
                <a:latin typeface="Cambria Math"/>
              </a:rPr>
              <a:t>i</a:t>
            </a:r>
            <a:r>
              <a:rPr sz="1700" b="0">
                <a:solidFill>
                  <a:srgbClr val="0F4C5C"/>
                </a:solidFill>
                <a:latin typeface="Cambria Math"/>
              </a:rPr>
              <a:t>| : |ℓ</a:t>
            </a:r>
            <a:r>
              <a:rPr sz="1700" b="0" baseline="-25000">
                <a:solidFill>
                  <a:srgbClr val="0F4C5C"/>
                </a:solidFill>
                <a:latin typeface="Cambria Math"/>
              </a:rPr>
              <a:t>i</a:t>
            </a:r>
            <a:r>
              <a:rPr sz="1700" b="0">
                <a:solidFill>
                  <a:srgbClr val="0F4C5C"/>
                </a:solidFill>
                <a:latin typeface="Cambria Math"/>
              </a:rPr>
              <a:t>| &lt; 2.5 s</a:t>
            </a:r>
            <a:r>
              <a:rPr sz="1700" b="0" baseline="-25000">
                <a:solidFill>
                  <a:srgbClr val="0F4C5C"/>
                </a:solidFill>
                <a:latin typeface="Cambria Math"/>
              </a:rPr>
              <a:t>0</a:t>
            </a:r>
            <a:r>
              <a:rPr sz="1700" b="0">
                <a:solidFill>
                  <a:srgbClr val="0F4C5C"/>
                </a:solidFill>
                <a:latin typeface="Cambria Math"/>
              </a:rPr>
              <a:t> }</a:t>
            </a:r>
          </a:p>
          <a:p>
            <a:pPr algn="ctr"/>
            <a:r>
              <a:rPr sz="1700" b="0">
                <a:solidFill>
                  <a:srgbClr val="0F4C5C"/>
                </a:solidFill>
                <a:latin typeface="Cambria Math"/>
              </a:rPr>
              <a:t>ME = t</a:t>
            </a:r>
            <a:r>
              <a:rPr sz="1700" b="0" baseline="-25000">
                <a:solidFill>
                  <a:srgbClr val="0F4C5C"/>
                </a:solidFill>
                <a:latin typeface="Cambria Math"/>
              </a:rPr>
              <a:t>0.025, m/3</a:t>
            </a:r>
            <a:r>
              <a:rPr sz="1700" b="0">
                <a:solidFill>
                  <a:srgbClr val="0F4C5C"/>
                </a:solidFill>
                <a:latin typeface="Cambria Math"/>
              </a:rPr>
              <a:t> · PSE</a:t>
            </a:r>
          </a:p>
        </p:txBody>
      </p:sp>
      <p:sp>
        <p:nvSpPr>
          <p:cNvPr id="5" name="Rounded Rectangle 4"/>
          <p:cNvSpPr/>
          <p:nvPr/>
        </p:nvSpPr>
        <p:spPr>
          <a:xfrm>
            <a:off x="548640" y="4341449"/>
            <a:ext cx="1109441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Lenth solo es razonable con </a:t>
            </a:r>
            <a:r>
              <a:rPr sz="1500" b="1">
                <a:solidFill>
                  <a:srgbClr val="142B33"/>
                </a:solidFill>
                <a:latin typeface="Calibri"/>
              </a:rPr>
              <a:t>pocos efectos activos</a:t>
            </a:r>
            <a:r>
              <a:rPr sz="1500" b="0">
                <a:solidFill>
                  <a:srgbClr val="142B33"/>
                </a:solidFill>
                <a:latin typeface="Calibri"/>
              </a:rPr>
              <a:t>: en el ejemplo 1, con cinco de siete efectos grandes, no detecta ninguno (PSE = 24.75). Las cadenas activas se atribuyen con escasez, jerarquía y herencia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67</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debemos verificar sobre el modelo?</a:t>
            </a:r>
          </a:p>
        </p:txBody>
      </p:sp>
      <p:sp>
        <p:nvSpPr>
          <p:cNvPr id="3" name="Rounded Rectangle 2"/>
          <p:cNvSpPr/>
          <p:nvPr/>
        </p:nvSpPr>
        <p:spPr>
          <a:xfrm>
            <a:off x="548640" y="1417320"/>
            <a:ext cx="3845856" cy="72550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0F4C5C"/>
                </a:solidFill>
                <a:latin typeface="Cambria Math"/>
              </a:rPr>
              <a:t>e = y − ŷ</a:t>
            </a:r>
          </a:p>
        </p:txBody>
      </p:sp>
      <p:sp>
        <p:nvSpPr>
          <p:cNvPr id="4" name="TextBox 3"/>
          <p:cNvSpPr txBox="1"/>
          <p:nvPr/>
        </p:nvSpPr>
        <p:spPr>
          <a:xfrm>
            <a:off x="548640" y="2343993"/>
            <a:ext cx="3845856" cy="532384"/>
          </a:xfrm>
          <a:prstGeom prst="rect">
            <a:avLst/>
          </a:prstGeom>
          <a:noFill/>
        </p:spPr>
        <p:txBody>
          <a:bodyPr wrap="square" anchor="t" lIns="0" rIns="0" tIns="0" bIns="0">
            <a:spAutoFit/>
          </a:bodyPr>
          <a:lstStyle/>
          <a:p>
            <a:r>
              <a:rPr sz="1600" b="0">
                <a:solidFill>
                  <a:srgbClr val="142B33"/>
                </a:solidFill>
                <a:latin typeface="Calibri"/>
              </a:rPr>
              <a:t>Residuo: respuesta observada menos valor ajustado por el modelo</a:t>
            </a:r>
          </a:p>
        </p:txBody>
      </p:sp>
      <p:sp>
        <p:nvSpPr>
          <p:cNvPr id="5" name="Rounded Rectangle 4"/>
          <p:cNvSpPr/>
          <p:nvPr/>
        </p:nvSpPr>
        <p:spPr>
          <a:xfrm>
            <a:off x="548640" y="3077545"/>
            <a:ext cx="3845856"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pocos g.l. en el error, la verificación tiene </a:t>
            </a:r>
            <a:r>
              <a:rPr sz="1600" b="1">
                <a:solidFill>
                  <a:srgbClr val="142B33"/>
                </a:solidFill>
                <a:latin typeface="Calibri"/>
              </a:rPr>
              <a:t>poca potencia</a:t>
            </a:r>
          </a:p>
        </p:txBody>
      </p:sp>
      <p:graphicFrame>
        <p:nvGraphicFramePr>
          <p:cNvPr id="6" name="Table 5"/>
          <p:cNvGraphicFramePr>
            <a:graphicFrameLocks noGrp="1"/>
          </p:cNvGraphicFramePr>
          <p:nvPr/>
        </p:nvGraphicFramePr>
        <p:xfrm>
          <a:off x="4805976" y="1417320"/>
          <a:ext cx="6837077" cy="2210816"/>
        </p:xfrm>
        <a:graphic>
          <a:graphicData uri="http://schemas.openxmlformats.org/drawingml/2006/table">
            <a:tbl>
              <a:tblPr firstRow="0" bandRow="0">
                <a:tableStyleId>{5C22544A-7EE6-4342-B048-85BDC9FD1C3A}</a:tableStyleId>
              </a:tblPr>
              <a:tblGrid>
                <a:gridCol w="1777640"/>
                <a:gridCol w="2734831"/>
                <a:gridCol w="2324606"/>
              </a:tblGrid>
              <a:tr h="366776">
                <a:tc>
                  <a:txBody>
                    <a:bodyPr/>
                    <a:lstStyle/>
                    <a:p>
                      <a:pPr algn="l"/>
                      <a:r>
                        <a:rPr sz="1600" b="1">
                          <a:solidFill>
                            <a:srgbClr val="FFFFFF"/>
                          </a:solidFill>
                          <a:latin typeface="Calibri"/>
                        </a:rPr>
                        <a:t>Supuesto</a:t>
                      </a:r>
                    </a:p>
                  </a:txBody>
                  <a:tcPr marL="73152" marR="73152" marT="27432" marB="27432" anchor="ctr">
                    <a:solidFill>
                      <a:srgbClr val="0F4C5C"/>
                    </a:solidFill>
                  </a:tcPr>
                </a:tc>
                <a:tc>
                  <a:txBody>
                    <a:bodyPr/>
                    <a:lstStyle/>
                    <a:p>
                      <a:pPr algn="l"/>
                      <a:r>
                        <a:rPr sz="1600" b="1">
                          <a:solidFill>
                            <a:srgbClr val="FFFFFF"/>
                          </a:solidFill>
                          <a:latin typeface="Calibri"/>
                        </a:rPr>
                        <a:t>Prueba gráfica</a:t>
                      </a:r>
                    </a:p>
                  </a:txBody>
                  <a:tcPr marL="73152" marR="73152" marT="27432" marB="27432" anchor="ctr">
                    <a:solidFill>
                      <a:srgbClr val="0F4C5C"/>
                    </a:solidFill>
                  </a:tcPr>
                </a:tc>
                <a:tc>
                  <a:txBody>
                    <a:bodyPr/>
                    <a:lstStyle/>
                    <a:p>
                      <a:pPr algn="ctr"/>
                      <a:r>
                        <a:rPr sz="1600" b="1">
                          <a:solidFill>
                            <a:srgbClr val="FFFFFF"/>
                          </a:solidFill>
                          <a:latin typeface="Calibri"/>
                        </a:rPr>
                        <a:t>Prueba analítica</a:t>
                      </a:r>
                    </a:p>
                  </a:txBody>
                  <a:tcPr marL="73152" marR="73152" marT="27432" marB="27432" anchor="ctr">
                    <a:solidFill>
                      <a:srgbClr val="0F4C5C"/>
                    </a:solidFill>
                  </a:tcPr>
                </a:tc>
              </a:tr>
              <a:tr h="614680">
                <a:tc>
                  <a:txBody>
                    <a:bodyPr/>
                    <a:lstStyle/>
                    <a:p>
                      <a:pPr algn="l"/>
                      <a:r>
                        <a:rPr sz="1600" b="0">
                          <a:solidFill>
                            <a:srgbClr val="142B33"/>
                          </a:solidFill>
                          <a:latin typeface="Calibri"/>
                        </a:rPr>
                        <a:t>Normalidad</a:t>
                      </a:r>
                    </a:p>
                  </a:txBody>
                  <a:tcPr marL="73152" marR="73152" marT="27432" marB="27432" anchor="ctr">
                    <a:solidFill>
                      <a:srgbClr val="FFFFFF"/>
                    </a:solidFill>
                  </a:tcPr>
                </a:tc>
                <a:tc>
                  <a:txBody>
                    <a:bodyPr/>
                    <a:lstStyle/>
                    <a:p>
                      <a:pPr algn="l"/>
                      <a:r>
                        <a:rPr sz="1600" b="0">
                          <a:solidFill>
                            <a:srgbClr val="142B33"/>
                          </a:solidFill>
                          <a:latin typeface="Calibri"/>
                        </a:rPr>
                        <a:t>Probabilidad normal de residuos</a:t>
                      </a:r>
                    </a:p>
                  </a:txBody>
                  <a:tcPr marL="73152" marR="73152" marT="27432" marB="27432" anchor="ctr">
                    <a:solidFill>
                      <a:srgbClr val="FFFFFF"/>
                    </a:solidFill>
                  </a:tcPr>
                </a:tc>
                <a:tc>
                  <a:txBody>
                    <a:bodyPr/>
                    <a:lstStyle/>
                    <a:p>
                      <a:pPr algn="ctr"/>
                      <a:r>
                        <a:rPr sz="1600" b="0">
                          <a:solidFill>
                            <a:srgbClr val="142B33"/>
                          </a:solidFill>
                          <a:latin typeface="Calibri"/>
                        </a:rPr>
                        <a:t>Anderson-Darling, Shapiro-Wilk</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constante</a:t>
                      </a:r>
                    </a:p>
                  </a:txBody>
                  <a:tcPr marL="73152" marR="73152" marT="27432" marB="27432" anchor="ctr">
                    <a:solidFill>
                      <a:srgbClr val="F4F8F9"/>
                    </a:solidFill>
                  </a:tcPr>
                </a:tc>
                <a:tc>
                  <a:txBody>
                    <a:bodyPr/>
                    <a:lstStyle/>
                    <a:p>
                      <a:pPr algn="l"/>
                      <a:r>
                        <a:rPr sz="1600" b="0">
                          <a:solidFill>
                            <a:srgbClr val="142B33"/>
                          </a:solidFill>
                          <a:latin typeface="Calibri"/>
                        </a:rPr>
                        <a:t>Residuos contra ajustados y contra cada factor</a:t>
                      </a:r>
                    </a:p>
                  </a:txBody>
                  <a:tcPr marL="73152" marR="73152" marT="27432" marB="27432" anchor="ctr">
                    <a:solidFill>
                      <a:srgbClr val="F4F8F9"/>
                    </a:solidFill>
                  </a:tcPr>
                </a:tc>
                <a:tc>
                  <a:txBody>
                    <a:bodyPr/>
                    <a:lstStyle/>
                    <a:p>
                      <a:pPr algn="ctr"/>
                      <a:r>
                        <a:rPr sz="1600" b="0">
                          <a:solidFill>
                            <a:srgbClr val="142B33"/>
                          </a:solidFill>
                          <a:latin typeface="Calibri"/>
                        </a:rPr>
                        <a:t>Bartlett, Levene modificada</a:t>
                      </a:r>
                    </a:p>
                  </a:txBody>
                  <a:tcPr marL="73152" marR="73152" marT="27432" marB="27432" anchor="ctr">
                    <a:solidFill>
                      <a:srgbClr val="F4F8F9"/>
                    </a:solidFill>
                  </a:tcPr>
                </a:tc>
              </a:tr>
              <a:tr h="614680">
                <a:tc>
                  <a:txBody>
                    <a:bodyPr/>
                    <a:lstStyle/>
                    <a:p>
                      <a:pPr algn="l"/>
                      <a:r>
                        <a:rPr sz="1600" b="0">
                          <a:solidFill>
                            <a:srgbClr val="142B33"/>
                          </a:solidFill>
                          <a:latin typeface="Calibri"/>
                        </a:rPr>
                        <a:t>Independencia</a:t>
                      </a:r>
                    </a:p>
                  </a:txBody>
                  <a:tcPr marL="73152" marR="73152" marT="27432" marB="27432" anchor="ctr">
                    <a:solidFill>
                      <a:srgbClr val="FFFFFF"/>
                    </a:solidFill>
                  </a:tcPr>
                </a:tc>
                <a:tc>
                  <a:txBody>
                    <a:bodyPr/>
                    <a:lstStyle/>
                    <a:p>
                      <a:pPr algn="l"/>
                      <a:r>
                        <a:rPr sz="1600" b="0">
                          <a:solidFill>
                            <a:srgbClr val="142B33"/>
                          </a:solidFill>
                          <a:latin typeface="Calibri"/>
                        </a:rPr>
                        <a:t>Residuos contra orden de corrida</a:t>
                      </a:r>
                    </a:p>
                  </a:txBody>
                  <a:tcPr marL="73152" marR="73152" marT="27432" marB="27432" anchor="ctr">
                    <a:solidFill>
                      <a:srgbClr val="FFFFFF"/>
                    </a:solidFill>
                  </a:tcPr>
                </a:tc>
                <a:tc>
                  <a:txBody>
                    <a:bodyPr/>
                    <a:lstStyle/>
                    <a:p>
                      <a:pPr algn="ctr"/>
                      <a:r>
                        <a:rPr sz="1600" b="0">
                          <a:solidFill>
                            <a:srgbClr val="142B33"/>
                          </a:solidFill>
                          <a:latin typeface="Calibri"/>
                        </a:rPr>
                        <a:t>Durbin-Watson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68</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Normalidad de los residuos</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Rounded Rectangle 3"/>
          <p:cNvSpPr/>
          <p:nvPr/>
        </p:nvSpPr>
        <p:spPr>
          <a:xfrm>
            <a:off x="6728905" y="1417320"/>
            <a:ext cx="4914150"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H</a:t>
            </a:r>
            <a:r>
              <a:rPr sz="1800" b="0" baseline="-25000">
                <a:solidFill>
                  <a:srgbClr val="0F4C5C"/>
                </a:solidFill>
                <a:latin typeface="Cambria Math"/>
              </a:rPr>
              <a:t>0</a:t>
            </a:r>
            <a:r>
              <a:rPr sz="1800" b="0">
                <a:solidFill>
                  <a:srgbClr val="0F4C5C"/>
                </a:solidFill>
                <a:latin typeface="Cambria Math"/>
              </a:rPr>
              <a:t>: los residuos son normales</a:t>
            </a:r>
          </a:p>
          <a:p>
            <a:pPr algn="ctr"/>
            <a:r>
              <a:rPr sz="1800" b="0">
                <a:solidFill>
                  <a:srgbClr val="0F4C5C"/>
                </a:solidFill>
                <a:latin typeface="Cambria Math"/>
              </a:rPr>
              <a:t>H</a:t>
            </a:r>
            <a:r>
              <a:rPr sz="1800" b="0" baseline="-25000">
                <a:solidFill>
                  <a:srgbClr val="0F4C5C"/>
                </a:solidFill>
                <a:latin typeface="Cambria Math"/>
              </a:rPr>
              <a:t>A</a:t>
            </a:r>
            <a:r>
              <a:rPr sz="1800" b="0">
                <a:solidFill>
                  <a:srgbClr val="0F4C5C"/>
                </a:solidFill>
                <a:latin typeface="Cambria Math"/>
              </a:rPr>
              <a:t>: los residuos no son normales</a:t>
            </a:r>
          </a:p>
        </p:txBody>
      </p:sp>
      <p:graphicFrame>
        <p:nvGraphicFramePr>
          <p:cNvPr id="5" name="Table 4"/>
          <p:cNvGraphicFramePr>
            <a:graphicFrameLocks noGrp="1"/>
          </p:cNvGraphicFramePr>
          <p:nvPr/>
        </p:nvGraphicFramePr>
        <p:xfrm>
          <a:off x="6728905" y="2517526"/>
          <a:ext cx="4914149" cy="1146807"/>
        </p:xfrm>
        <a:graphic>
          <a:graphicData uri="http://schemas.openxmlformats.org/drawingml/2006/table">
            <a:tbl>
              <a:tblPr firstRow="0" bandRow="0">
                <a:tableStyleId>{5C22544A-7EE6-4342-B048-85BDC9FD1C3A}</a:tableStyleId>
              </a:tblPr>
              <a:tblGrid>
                <a:gridCol w="3544882"/>
                <a:gridCol w="1369267"/>
              </a:tblGrid>
              <a:tr h="382269">
                <a:tc>
                  <a:txBody>
                    <a:bodyPr/>
                    <a:lstStyle/>
                    <a:p>
                      <a:pPr algn="l"/>
                      <a:r>
                        <a:rPr sz="1700" b="1">
                          <a:solidFill>
                            <a:srgbClr val="FFFFFF"/>
                          </a:solidFill>
                          <a:latin typeface="Calibri"/>
                        </a:rPr>
                        <a:t>Anderson-Darling</a:t>
                      </a:r>
                    </a:p>
                  </a:txBody>
                  <a:tcPr marL="73152" marR="73152" marT="27432" marB="27432" anchor="ctr">
                    <a:solidFill>
                      <a:srgbClr val="0F4C5C"/>
                    </a:solidFill>
                  </a:tcPr>
                </a:tc>
                <a:tc>
                  <a:txBody>
                    <a:bodyPr/>
                    <a:lstStyle/>
                    <a:p>
                      <a:pPr algn="ctr"/>
                      <a:r>
                        <a:rPr sz="1700" b="1">
                          <a:solidFill>
                            <a:srgbClr val="FFFFFF"/>
                          </a:solidFill>
                          <a:latin typeface="Calibri"/>
                        </a:rPr>
                        <a:t>Valor</a:t>
                      </a:r>
                    </a:p>
                  </a:txBody>
                  <a:tcPr marL="73152" marR="73152" marT="27432" marB="27432" anchor="ctr">
                    <a:solidFill>
                      <a:srgbClr val="0F4C5C"/>
                    </a:solidFill>
                  </a:tcPr>
                </a:tc>
              </a:tr>
              <a:tr h="382269">
                <a:tc>
                  <a:txBody>
                    <a:bodyPr/>
                    <a:lstStyle/>
                    <a:p>
                      <a:pPr algn="l"/>
                      <a:r>
                        <a:rPr sz="1700" b="0">
                          <a:solidFill>
                            <a:srgbClr val="142B33"/>
                          </a:solidFill>
                          <a:latin typeface="Calibri"/>
                        </a:rPr>
                        <a:t>A</a:t>
                      </a:r>
                      <a:r>
                        <a:rPr sz="1700" b="0" baseline="30000">
                          <a:solidFill>
                            <a:srgbClr val="142B33"/>
                          </a:solidFill>
                          <a:latin typeface="Calibri"/>
                        </a:rPr>
                        <a:t>2</a:t>
                      </a:r>
                    </a:p>
                  </a:txBody>
                  <a:tcPr marL="73152" marR="73152" marT="27432" marB="27432" anchor="ctr">
                    <a:solidFill>
                      <a:srgbClr val="FFFFFF"/>
                    </a:solidFill>
                  </a:tcPr>
                </a:tc>
                <a:tc>
                  <a:txBody>
                    <a:bodyPr/>
                    <a:lstStyle/>
                    <a:p>
                      <a:pPr algn="ctr"/>
                      <a:r>
                        <a:rPr sz="1700" b="0">
                          <a:solidFill>
                            <a:srgbClr val="142B33"/>
                          </a:solidFill>
                          <a:latin typeface="Calibri"/>
                        </a:rPr>
                        <a:t>0.314</a:t>
                      </a:r>
                    </a:p>
                  </a:txBody>
                  <a:tcPr marL="73152" marR="73152" marT="27432" marB="27432" anchor="ctr">
                    <a:solidFill>
                      <a:srgbClr val="FFFFFF"/>
                    </a:solidFill>
                  </a:tcPr>
                </a:tc>
              </a:tr>
              <a:tr h="382269">
                <a:tc>
                  <a:txBody>
                    <a:bodyPr/>
                    <a:lstStyle/>
                    <a:p>
                      <a:pPr algn="l"/>
                      <a:r>
                        <a:rPr sz="1700" b="0">
                          <a:solidFill>
                            <a:srgbClr val="142B33"/>
                          </a:solidFill>
                          <a:latin typeface="Calibri"/>
                        </a:rPr>
                        <a:t>Valor p</a:t>
                      </a:r>
                    </a:p>
                  </a:txBody>
                  <a:tcPr marL="73152" marR="73152" marT="27432" marB="27432" anchor="ctr">
                    <a:solidFill>
                      <a:srgbClr val="F4F8F9"/>
                    </a:solidFill>
                  </a:tcPr>
                </a:tc>
                <a:tc>
                  <a:txBody>
                    <a:bodyPr/>
                    <a:lstStyle/>
                    <a:p>
                      <a:pPr algn="ctr"/>
                      <a:r>
                        <a:rPr sz="1700" b="0">
                          <a:solidFill>
                            <a:srgbClr val="142B33"/>
                          </a:solidFill>
                          <a:latin typeface="Calibri"/>
                        </a:rPr>
                        <a:t>0.513</a:t>
                      </a:r>
                    </a:p>
                  </a:txBody>
                  <a:tcPr marL="73152" marR="73152" marT="27432" marB="27432" anchor="ctr">
                    <a:solidFill>
                      <a:srgbClr val="F4F8F9"/>
                    </a:solidFill>
                  </a:tcPr>
                </a:tc>
              </a:tr>
            </a:tbl>
          </a:graphicData>
        </a:graphic>
      </p:graphicFrame>
      <p:sp>
        <p:nvSpPr>
          <p:cNvPr id="6" name="Rounded Rectangle 5"/>
          <p:cNvSpPr/>
          <p:nvPr/>
        </p:nvSpPr>
        <p:spPr>
          <a:xfrm>
            <a:off x="6728905" y="3865504"/>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Valor p &gt; 0.05: </a:t>
            </a:r>
            <a:r>
              <a:rPr sz="1600" b="1">
                <a:solidFill>
                  <a:srgbClr val="142B33"/>
                </a:solidFill>
                <a:latin typeface="Calibri"/>
              </a:rPr>
              <a:t>no se rechaza H</a:t>
            </a:r>
            <a:r>
              <a:rPr sz="1600" b="1" baseline="-25000">
                <a:solidFill>
                  <a:srgbClr val="142B33"/>
                </a:solidFill>
                <a:latin typeface="Calibri"/>
              </a:rPr>
              <a:t>0</a:t>
            </a:r>
            <a:r>
              <a:rPr sz="1600" b="0">
                <a:solidFill>
                  <a:srgbClr val="142B33"/>
                </a:solidFill>
                <a:latin typeface="Calibri"/>
              </a:rPr>
              <a:t>, los residuos son normales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69</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Varianza constante e independencia</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TextBox 3"/>
          <p:cNvSpPr txBox="1"/>
          <p:nvPr/>
        </p:nvSpPr>
        <p:spPr>
          <a:xfrm>
            <a:off x="6728905"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Varianza constante:</a:t>
            </a:r>
            <a:r>
              <a:rPr sz="1700" b="0">
                <a:solidFill>
                  <a:srgbClr val="142B33"/>
                </a:solidFill>
                <a:latin typeface="Calibri"/>
              </a:rPr>
              <a:t> banda horizontal, sin forma de embudo  →  se cumple</a:t>
            </a:r>
          </a:p>
          <a:p>
            <a:pPr marL="320040" indent="-320040">
              <a:spcAft>
                <a:spcPts val="600"/>
              </a:spcAft>
              <a:buClr>
                <a:srgbClr val="E36414"/>
              </a:buClr>
              <a:buFont typeface="Arial"/>
              <a:buChar char="•"/>
            </a:pPr>
            <a:r>
              <a:rPr sz="1700" b="1">
                <a:solidFill>
                  <a:srgbClr val="142B33"/>
                </a:solidFill>
                <a:latin typeface="Calibri"/>
              </a:rPr>
              <a:t>Independencia:</a:t>
            </a:r>
            <a:r>
              <a:rPr sz="1700" b="0">
                <a:solidFill>
                  <a:srgbClr val="142B33"/>
                </a:solidFill>
                <a:latin typeface="Calibri"/>
              </a:rPr>
              <a:t> residuos contra </a:t>
            </a:r>
            <a:r>
              <a:rPr sz="1700" b="1">
                <a:solidFill>
                  <a:srgbClr val="142B33"/>
                </a:solidFill>
                <a:latin typeface="Calibri"/>
              </a:rPr>
              <a:t>orden de corrida</a:t>
            </a:r>
            <a:r>
              <a:rPr sz="1700" b="0">
                <a:solidFill>
                  <a:srgbClr val="142B33"/>
                </a:solidFill>
                <a:latin typeface="Calibri"/>
              </a:rPr>
              <a:t>; sin tendencias ni rachas</a:t>
            </a:r>
          </a:p>
          <a:p>
            <a:pPr marL="320040" indent="-320040">
              <a:spcAft>
                <a:spcPts val="600"/>
              </a:spcAft>
              <a:buClr>
                <a:srgbClr val="E36414"/>
              </a:buClr>
              <a:buFont typeface="Arial"/>
              <a:buChar char="•"/>
            </a:pPr>
            <a:r>
              <a:rPr sz="1700" b="0">
                <a:solidFill>
                  <a:srgbClr val="142B33"/>
                </a:solidFill>
                <a:latin typeface="Calibri"/>
              </a:rPr>
              <a:t>Prueba analítica: </a:t>
            </a:r>
            <a:r>
              <a:rPr sz="1700" b="1">
                <a:solidFill>
                  <a:srgbClr val="142B33"/>
                </a:solidFill>
                <a:latin typeface="Calibri"/>
              </a:rPr>
              <a:t>Durbin-Watson</a:t>
            </a:r>
          </a:p>
        </p:txBody>
      </p:sp>
      <p:sp>
        <p:nvSpPr>
          <p:cNvPr id="5" name="Rounded Rectangle 4"/>
          <p:cNvSpPr/>
          <p:nvPr/>
        </p:nvSpPr>
        <p:spPr>
          <a:xfrm>
            <a:off x="6728905" y="3182365"/>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d = Σ (e</a:t>
            </a:r>
            <a:r>
              <a:rPr sz="1800" b="0" baseline="-25000">
                <a:solidFill>
                  <a:srgbClr val="0F4C5C"/>
                </a:solidFill>
                <a:latin typeface="Cambria Math"/>
              </a:rPr>
              <a:t>t</a:t>
            </a:r>
            <a:r>
              <a:rPr sz="1800" b="0">
                <a:solidFill>
                  <a:srgbClr val="0F4C5C"/>
                </a:solidFill>
                <a:latin typeface="Cambria Math"/>
              </a:rPr>
              <a:t> − e</a:t>
            </a:r>
            <a:r>
              <a:rPr sz="1800" b="0" baseline="-25000">
                <a:solidFill>
                  <a:srgbClr val="0F4C5C"/>
                </a:solidFill>
                <a:latin typeface="Cambria Math"/>
              </a:rPr>
              <a:t>t−1</a:t>
            </a:r>
            <a:r>
              <a:rPr sz="1800" b="0">
                <a:solidFill>
                  <a:srgbClr val="0F4C5C"/>
                </a:solidFill>
                <a:latin typeface="Cambria Math"/>
              </a:rPr>
              <a:t>)</a:t>
            </a:r>
            <a:r>
              <a:rPr sz="1800" b="0" baseline="30000">
                <a:solidFill>
                  <a:srgbClr val="0F4C5C"/>
                </a:solidFill>
                <a:latin typeface="Cambria Math"/>
              </a:rPr>
              <a:t>2</a:t>
            </a:r>
            <a:r>
              <a:rPr sz="1800" b="0">
                <a:solidFill>
                  <a:srgbClr val="0F4C5C"/>
                </a:solidFill>
                <a:latin typeface="Cambria Math"/>
              </a:rPr>
              <a:t> / Σ e</a:t>
            </a:r>
            <a:r>
              <a:rPr sz="1800" b="0" baseline="-25000">
                <a:solidFill>
                  <a:srgbClr val="0F4C5C"/>
                </a:solidFill>
                <a:latin typeface="Cambria Math"/>
              </a:rPr>
              <a:t>t</a:t>
            </a:r>
            <a:r>
              <a:rPr sz="1800" b="0" baseline="30000">
                <a:solidFill>
                  <a:srgbClr val="0F4C5C"/>
                </a:solidFill>
                <a:latin typeface="Cambria Math"/>
              </a:rPr>
              <a:t>2</a:t>
            </a:r>
          </a:p>
        </p:txBody>
      </p:sp>
      <p:sp>
        <p:nvSpPr>
          <p:cNvPr id="6" name="Rounded Rectangle 5"/>
          <p:cNvSpPr/>
          <p:nvPr/>
        </p:nvSpPr>
        <p:spPr>
          <a:xfrm>
            <a:off x="6728905" y="3970213"/>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Sin el orden de corrida registrado, la independencia </a:t>
            </a:r>
            <a:r>
              <a:rPr sz="1500" b="1">
                <a:solidFill>
                  <a:srgbClr val="142B33"/>
                </a:solidFill>
                <a:latin typeface="Calibri"/>
              </a:rPr>
              <a:t>no se puede verificar</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70</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se viola un supuesto?</a:t>
            </a:r>
          </a:p>
        </p:txBody>
      </p:sp>
      <p:graphicFrame>
        <p:nvGraphicFramePr>
          <p:cNvPr id="3" name="Table 2"/>
          <p:cNvGraphicFramePr>
            <a:graphicFrameLocks noGrp="1"/>
          </p:cNvGraphicFramePr>
          <p:nvPr/>
        </p:nvGraphicFramePr>
        <p:xfrm>
          <a:off x="548640" y="1417320"/>
          <a:ext cx="11094414" cy="2825496"/>
        </p:xfrm>
        <a:graphic>
          <a:graphicData uri="http://schemas.openxmlformats.org/drawingml/2006/table">
            <a:tbl>
              <a:tblPr firstRow="0" bandRow="0">
                <a:tableStyleId>{5C22544A-7EE6-4342-B048-85BDC9FD1C3A}</a:tableStyleId>
              </a:tblPr>
              <a:tblGrid>
                <a:gridCol w="2218883"/>
                <a:gridCol w="3993989"/>
                <a:gridCol w="4881542"/>
              </a:tblGrid>
              <a:tr h="366776">
                <a:tc>
                  <a:txBody>
                    <a:bodyPr/>
                    <a:lstStyle/>
                    <a:p>
                      <a:pPr algn="l"/>
                      <a:r>
                        <a:rPr sz="1600" b="1">
                          <a:solidFill>
                            <a:srgbClr val="FFFFFF"/>
                          </a:solidFill>
                          <a:latin typeface="Calibri"/>
                        </a:rPr>
                        <a:t>Problema</a:t>
                      </a:r>
                    </a:p>
                  </a:txBody>
                  <a:tcPr marL="73152" marR="73152" marT="27432" marB="27432" anchor="ctr">
                    <a:solidFill>
                      <a:srgbClr val="0F4C5C"/>
                    </a:solidFill>
                  </a:tcPr>
                </a:tc>
                <a:tc>
                  <a:txBody>
                    <a:bodyPr/>
                    <a:lstStyle/>
                    <a:p>
                      <a:pPr algn="l"/>
                      <a:r>
                        <a:rPr sz="1600" b="1">
                          <a:solidFill>
                            <a:srgbClr val="FFFFFF"/>
                          </a:solidFill>
                          <a:latin typeface="Calibri"/>
                        </a:rPr>
                        <a:t>Síntoma</a:t>
                      </a:r>
                    </a:p>
                  </a:txBody>
                  <a:tcPr marL="73152" marR="73152" marT="27432" marB="27432" anchor="ctr">
                    <a:solidFill>
                      <a:srgbClr val="0F4C5C"/>
                    </a:solidFill>
                  </a:tcPr>
                </a:tc>
                <a:tc>
                  <a:txBody>
                    <a:bodyPr/>
                    <a:lstStyle/>
                    <a:p>
                      <a:pPr algn="l"/>
                      <a:r>
                        <a:rPr sz="1600" b="1">
                          <a:solidFill>
                            <a:srgbClr val="FFFFFF"/>
                          </a:solidFill>
                          <a:latin typeface="Calibri"/>
                        </a:rPr>
                        <a:t>Qué hacer</a:t>
                      </a:r>
                    </a:p>
                  </a:txBody>
                  <a:tcPr marL="73152" marR="73152" marT="27432" marB="27432" anchor="ctr">
                    <a:solidFill>
                      <a:srgbClr val="0F4C5C"/>
                    </a:solidFill>
                  </a:tcPr>
                </a:tc>
              </a:tr>
              <a:tr h="614680">
                <a:tc>
                  <a:txBody>
                    <a:bodyPr/>
                    <a:lstStyle/>
                    <a:p>
                      <a:pPr algn="l"/>
                      <a:r>
                        <a:rPr sz="1600" b="0">
                          <a:solidFill>
                            <a:srgbClr val="142B33"/>
                          </a:solidFill>
                          <a:latin typeface="Calibri"/>
                        </a:rPr>
                        <a:t>No normalidad</a:t>
                      </a:r>
                    </a:p>
                  </a:txBody>
                  <a:tcPr marL="73152" marR="73152" marT="27432" marB="27432" anchor="ctr">
                    <a:solidFill>
                      <a:srgbClr val="FFFFFF"/>
                    </a:solidFill>
                  </a:tcPr>
                </a:tc>
                <a:tc>
                  <a:txBody>
                    <a:bodyPr/>
                    <a:lstStyle/>
                    <a:p>
                      <a:pPr algn="l"/>
                      <a:r>
                        <a:rPr sz="1600" b="0">
                          <a:solidFill>
                            <a:srgbClr val="142B33"/>
                          </a:solidFill>
                          <a:latin typeface="Calibri"/>
                        </a:rPr>
                        <a:t>Curvatura o puntos alejados en la gráfica normal</a:t>
                      </a:r>
                    </a:p>
                  </a:txBody>
                  <a:tcPr marL="73152" marR="73152" marT="27432" marB="27432" anchor="ctr">
                    <a:solidFill>
                      <a:srgbClr val="FFFFFF"/>
                    </a:solidFill>
                  </a:tcPr>
                </a:tc>
                <a:tc>
                  <a:txBody>
                    <a:bodyPr/>
                    <a:lstStyle/>
                    <a:p>
                      <a:pPr algn="l"/>
                      <a:r>
                        <a:rPr sz="1600" b="0">
                          <a:solidFill>
                            <a:srgbClr val="142B33"/>
                          </a:solidFill>
                          <a:latin typeface="Calibri"/>
                        </a:rPr>
                        <a:t>Revisar atípicos; transformar la respuesta</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no constante</a:t>
                      </a:r>
                    </a:p>
                  </a:txBody>
                  <a:tcPr marL="73152" marR="73152" marT="27432" marB="27432" anchor="ctr">
                    <a:solidFill>
                      <a:srgbClr val="F4F8F9"/>
                    </a:solidFill>
                  </a:tcPr>
                </a:tc>
                <a:tc>
                  <a:txBody>
                    <a:bodyPr/>
                    <a:lstStyle/>
                    <a:p>
                      <a:pPr algn="l"/>
                      <a:r>
                        <a:rPr sz="1600" b="0">
                          <a:solidFill>
                            <a:srgbClr val="142B33"/>
                          </a:solidFill>
                          <a:latin typeface="Calibri"/>
                        </a:rPr>
                        <a:t>Embudo en residuos contra ajustados</a:t>
                      </a:r>
                    </a:p>
                  </a:txBody>
                  <a:tcPr marL="73152" marR="73152" marT="27432" marB="27432" anchor="ctr">
                    <a:solidFill>
                      <a:srgbClr val="F4F8F9"/>
                    </a:solidFill>
                  </a:tcPr>
                </a:tc>
                <a:tc>
                  <a:txBody>
                    <a:bodyPr/>
                    <a:lstStyle/>
                    <a:p>
                      <a:pPr algn="l"/>
                      <a:r>
                        <a:rPr sz="1600" b="0">
                          <a:solidFill>
                            <a:srgbClr val="142B33"/>
                          </a:solidFill>
                          <a:latin typeface="Calibri"/>
                        </a:rPr>
                        <a:t>Transformar la respuesta (logaritmo, raíz, Box-Cox)</a:t>
                      </a:r>
                    </a:p>
                  </a:txBody>
                  <a:tcPr marL="73152" marR="73152" marT="27432" marB="27432" anchor="ctr">
                    <a:solidFill>
                      <a:srgbClr val="F4F8F9"/>
                    </a:solidFill>
                  </a:tcPr>
                </a:tc>
              </a:tr>
              <a:tr h="614680">
                <a:tc>
                  <a:txBody>
                    <a:bodyPr/>
                    <a:lstStyle/>
                    <a:p>
                      <a:pPr algn="l"/>
                      <a:r>
                        <a:rPr sz="1600" b="0">
                          <a:solidFill>
                            <a:srgbClr val="142B33"/>
                          </a:solidFill>
                          <a:latin typeface="Calibri"/>
                        </a:rPr>
                        <a:t>Dependencia</a:t>
                      </a:r>
                    </a:p>
                  </a:txBody>
                  <a:tcPr marL="73152" marR="73152" marT="27432" marB="27432" anchor="ctr">
                    <a:solidFill>
                      <a:srgbClr val="FFFFFF"/>
                    </a:solidFill>
                  </a:tcPr>
                </a:tc>
                <a:tc>
                  <a:txBody>
                    <a:bodyPr/>
                    <a:lstStyle/>
                    <a:p>
                      <a:pPr algn="l"/>
                      <a:r>
                        <a:rPr sz="1600" b="0">
                          <a:solidFill>
                            <a:srgbClr val="142B33"/>
                          </a:solidFill>
                          <a:latin typeface="Calibri"/>
                        </a:rPr>
                        <a:t>Tendencia o rachas contra el orden de corrida</a:t>
                      </a:r>
                    </a:p>
                  </a:txBody>
                  <a:tcPr marL="73152" marR="73152" marT="27432" marB="27432" anchor="ctr">
                    <a:solidFill>
                      <a:srgbClr val="FFFFFF"/>
                    </a:solidFill>
                  </a:tcPr>
                </a:tc>
                <a:tc>
                  <a:txBody>
                    <a:bodyPr/>
                    <a:lstStyle/>
                    <a:p>
                      <a:pPr algn="l"/>
                      <a:r>
                        <a:rPr sz="1600" b="0">
                          <a:solidFill>
                            <a:srgbClr val="142B33"/>
                          </a:solidFill>
                          <a:latin typeface="Calibri"/>
                        </a:rPr>
                        <a:t>Difícil de corregir: prevenir aleatorizando; incluir la fuente como bloque o covariable</a:t>
                      </a:r>
                    </a:p>
                  </a:txBody>
                  <a:tcPr marL="73152" marR="73152" marT="27432" marB="27432" anchor="ctr">
                    <a:solidFill>
                      <a:srgbClr val="FFFFFF"/>
                    </a:solidFill>
                  </a:tcPr>
                </a:tc>
              </a:tr>
              <a:tr h="614680">
                <a:tc>
                  <a:txBody>
                    <a:bodyPr/>
                    <a:lstStyle/>
                    <a:p>
                      <a:pPr algn="l"/>
                      <a:r>
                        <a:rPr sz="1600" b="0">
                          <a:solidFill>
                            <a:srgbClr val="142B33"/>
                          </a:solidFill>
                          <a:latin typeface="Calibri"/>
                        </a:rPr>
                        <a:t>Modelo incompleto</a:t>
                      </a:r>
                    </a:p>
                  </a:txBody>
                  <a:tcPr marL="73152" marR="73152" marT="27432" marB="27432" anchor="ctr">
                    <a:solidFill>
                      <a:srgbClr val="F4F8F9"/>
                    </a:solidFill>
                  </a:tcPr>
                </a:tc>
                <a:tc>
                  <a:txBody>
                    <a:bodyPr/>
                    <a:lstStyle/>
                    <a:p>
                      <a:pPr algn="l"/>
                      <a:r>
                        <a:rPr sz="1600" b="0">
                          <a:solidFill>
                            <a:srgbClr val="142B33"/>
                          </a:solidFill>
                          <a:latin typeface="Calibri"/>
                        </a:rPr>
                        <a:t>Patrón en los residuos</a:t>
                      </a:r>
                    </a:p>
                  </a:txBody>
                  <a:tcPr marL="73152" marR="73152" marT="27432" marB="27432" anchor="ctr">
                    <a:solidFill>
                      <a:srgbClr val="F4F8F9"/>
                    </a:solidFill>
                  </a:tcPr>
                </a:tc>
                <a:tc>
                  <a:txBody>
                    <a:bodyPr/>
                    <a:lstStyle/>
                    <a:p>
                      <a:pPr algn="l"/>
                      <a:r>
                        <a:rPr sz="1600" b="0">
                          <a:solidFill>
                            <a:srgbClr val="142B33"/>
                          </a:solidFill>
                          <a:latin typeface="Calibri"/>
                        </a:rPr>
                        <a:t>Revisar cadenas de alias; agregar términos o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71</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aprovecho la proyección al asignar los factores a las columnas?</a:t>
            </a:r>
          </a:p>
        </p:txBody>
      </p:sp>
      <p:graphicFrame>
        <p:nvGraphicFramePr>
          <p:cNvPr id="3" name="Table 2"/>
          <p:cNvGraphicFramePr>
            <a:graphicFrameLocks noGrp="1"/>
          </p:cNvGraphicFramePr>
          <p:nvPr/>
        </p:nvGraphicFramePr>
        <p:xfrm>
          <a:off x="548640" y="1417320"/>
          <a:ext cx="5127808" cy="2810256"/>
        </p:xfrm>
        <a:graphic>
          <a:graphicData uri="http://schemas.openxmlformats.org/drawingml/2006/table">
            <a:tbl>
              <a:tblPr firstRow="0" bandRow="0">
                <a:tableStyleId>{5C22544A-7EE6-4342-B048-85BDC9FD1C3A}</a:tableStyleId>
              </a:tblPr>
              <a:tblGrid>
                <a:gridCol w="1538342"/>
                <a:gridCol w="3589466"/>
              </a:tblGrid>
              <a:tr h="351282">
                <a:tc>
                  <a:txBody>
                    <a:bodyPr/>
                    <a:lstStyle/>
                    <a:p>
                      <a:pPr algn="l"/>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Factor del molino de bolas</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Velocidad del motor</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Modo de alimentación</a:t>
                      </a:r>
                    </a:p>
                  </a:txBody>
                  <a:tcPr marL="73152" marR="73152" marT="27432" marB="27432" anchor="ctr">
                    <a:solidFill>
                      <a:srgbClr val="FDE8D7"/>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Tamaño de la alimentación</a:t>
                      </a:r>
                    </a:p>
                  </a:txBody>
                  <a:tcPr marL="73152" marR="73152" marT="27432" marB="27432" anchor="ctr">
                    <a:solidFill>
                      <a:srgbClr val="FDE8D7"/>
                    </a:solidFill>
                  </a:tcPr>
                </a:tc>
              </a:tr>
              <a:tr h="351282">
                <a:tc>
                  <a:txBody>
                    <a:bodyPr/>
                    <a:lstStyle/>
                    <a:p>
                      <a:pPr algn="l"/>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Tipo de material</a:t>
                      </a:r>
                    </a:p>
                  </a:txBody>
                  <a:tcPr marL="73152" marR="73152" marT="27432" marB="27432" anchor="ctr">
                    <a:solidFill>
                      <a:srgbClr val="FDE8D7"/>
                    </a:solidFill>
                  </a:tcPr>
                </a:tc>
              </a:tr>
              <a:tr h="351282">
                <a:tc>
                  <a:txBody>
                    <a:bodyPr/>
                    <a:lstStyle/>
                    <a:p>
                      <a:pPr algn="l"/>
                      <a:r>
                        <a:rPr sz="1500" b="0">
                          <a:solidFill>
                            <a:srgbClr val="142B33"/>
                          </a:solidFill>
                          <a:latin typeface="Calibri"/>
                        </a:rPr>
                        <a:t>E = ABC</a:t>
                      </a:r>
                    </a:p>
                  </a:txBody>
                  <a:tcPr marL="73152" marR="73152" marT="27432" marB="27432" anchor="ctr">
                    <a:solidFill>
                      <a:srgbClr val="FFFFFF"/>
                    </a:solidFill>
                  </a:tcPr>
                </a:tc>
                <a:tc>
                  <a:txBody>
                    <a:bodyPr/>
                    <a:lstStyle/>
                    <a:p>
                      <a:pPr algn="ctr"/>
                      <a:r>
                        <a:rPr sz="1500" b="0">
                          <a:solidFill>
                            <a:srgbClr val="142B33"/>
                          </a:solidFill>
                          <a:latin typeface="Calibri"/>
                        </a:rPr>
                        <a:t>Muesca</a:t>
                      </a:r>
                    </a:p>
                  </a:txBody>
                  <a:tcPr marL="73152" marR="73152" marT="27432" marB="27432" anchor="ctr">
                    <a:solidFill>
                      <a:srgbClr val="FFFFFF"/>
                    </a:solidFill>
                  </a:tcPr>
                </a:tc>
              </a:tr>
              <a:tr h="351282">
                <a:tc>
                  <a:txBody>
                    <a:bodyPr/>
                    <a:lstStyle/>
                    <a:p>
                      <a:pPr algn="l"/>
                      <a:r>
                        <a:rPr sz="1500" b="0">
                          <a:solidFill>
                            <a:srgbClr val="142B33"/>
                          </a:solidFill>
                          <a:latin typeface="Calibri"/>
                        </a:rPr>
                        <a:t>F = BCD</a:t>
                      </a:r>
                    </a:p>
                  </a:txBody>
                  <a:tcPr marL="73152" marR="73152" marT="27432" marB="27432" anchor="ctr">
                    <a:solidFill>
                      <a:srgbClr val="F4F8F9"/>
                    </a:solidFill>
                  </a:tcPr>
                </a:tc>
                <a:tc>
                  <a:txBody>
                    <a:bodyPr/>
                    <a:lstStyle/>
                    <a:p>
                      <a:pPr algn="ctr"/>
                      <a:r>
                        <a:rPr sz="1500" b="0">
                          <a:solidFill>
                            <a:srgbClr val="142B33"/>
                          </a:solidFill>
                          <a:latin typeface="Calibri"/>
                        </a:rPr>
                        <a:t>Ángulo de la criba</a:t>
                      </a:r>
                    </a:p>
                  </a:txBody>
                  <a:tcPr marL="73152" marR="73152" marT="27432" marB="27432" anchor="ctr">
                    <a:solidFill>
                      <a:srgbClr val="F4F8F9"/>
                    </a:solidFill>
                  </a:tcPr>
                </a:tc>
              </a:tr>
              <a:tr h="351282">
                <a:tc>
                  <a:txBody>
                    <a:bodyPr/>
                    <a:lstStyle/>
                    <a:p>
                      <a:pPr algn="l"/>
                      <a:r>
                        <a:rPr sz="1500" b="0">
                          <a:solidFill>
                            <a:srgbClr val="142B33"/>
                          </a:solidFill>
                          <a:latin typeface="Calibri"/>
                        </a:rPr>
                        <a:t>G = ACD</a:t>
                      </a:r>
                    </a:p>
                  </a:txBody>
                  <a:tcPr marL="73152" marR="73152" marT="27432" marB="27432" anchor="ctr">
                    <a:solidFill>
                      <a:srgbClr val="FFFFFF"/>
                    </a:solidFill>
                  </a:tcPr>
                </a:tc>
                <a:tc>
                  <a:txBody>
                    <a:bodyPr/>
                    <a:lstStyle/>
                    <a:p>
                      <a:pPr algn="ctr"/>
                      <a:r>
                        <a:rPr sz="1500" b="0">
                          <a:solidFill>
                            <a:srgbClr val="142B33"/>
                          </a:solidFill>
                          <a:latin typeface="Calibri"/>
                        </a:rPr>
                        <a:t>Nivel de vibración de la criba</a:t>
                      </a:r>
                    </a:p>
                  </a:txBody>
                  <a:tcPr marL="73152" marR="73152" marT="27432" marB="27432" anchor="ctr">
                    <a:solidFill>
                      <a:srgbClr val="FFFFFF"/>
                    </a:solidFill>
                  </a:tcPr>
                </a:tc>
              </a:tr>
            </a:tbl>
          </a:graphicData>
        </a:graphic>
      </p:graphicFrame>
      <p:sp>
        <p:nvSpPr>
          <p:cNvPr id="4" name="TextBox 3"/>
          <p:cNvSpPr txBox="1"/>
          <p:nvPr/>
        </p:nvSpPr>
        <p:spPr>
          <a:xfrm>
            <a:off x="6087928" y="1417320"/>
            <a:ext cx="5555126" cy="28905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Resolución </a:t>
            </a:r>
            <a:r>
              <a:rPr sz="1600" b="1">
                <a:solidFill>
                  <a:srgbClr val="142B33"/>
                </a:solidFill>
                <a:latin typeface="Calibri"/>
              </a:rPr>
              <a:t>R</a:t>
            </a:r>
            <a:r>
              <a:rPr sz="1600" b="0">
                <a:solidFill>
                  <a:srgbClr val="142B33"/>
                </a:solidFill>
                <a:latin typeface="Calibri"/>
              </a:rPr>
              <a:t> ⇒ factorial completo en cualquier subconjunto de </a:t>
            </a:r>
            <a:r>
              <a:rPr sz="1600" b="1">
                <a:solidFill>
                  <a:srgbClr val="142B33"/>
                </a:solidFill>
                <a:latin typeface="Calibri"/>
              </a:rPr>
              <a:t>R − 1</a:t>
            </a:r>
            <a:r>
              <a:rPr sz="1600" b="0">
                <a:solidFill>
                  <a:srgbClr val="142B33"/>
                </a:solidFill>
                <a:latin typeface="Calibri"/>
              </a:rPr>
              <a:t> factores; en general, en todo subconjunto que </a:t>
            </a:r>
            <a:r>
              <a:rPr sz="1600" b="1">
                <a:solidFill>
                  <a:srgbClr val="142B33"/>
                </a:solidFill>
                <a:latin typeface="Calibri"/>
              </a:rPr>
              <a:t>no contenga una palabra</a:t>
            </a:r>
          </a:p>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importantes</a:t>
            </a:r>
            <a:r>
              <a:rPr sz="1600" b="0">
                <a:solidFill>
                  <a:srgbClr val="142B33"/>
                </a:solidFill>
                <a:latin typeface="Calibri"/>
              </a:rPr>
              <a:t> y que pueden interactuar: columnas del </a:t>
            </a:r>
            <a:r>
              <a:rPr sz="1600" b="1">
                <a:solidFill>
                  <a:srgbClr val="142B33"/>
                </a:solidFill>
                <a:latin typeface="Calibri"/>
              </a:rPr>
              <a:t>diseño básico</a:t>
            </a:r>
          </a:p>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menores</a:t>
            </a:r>
            <a:r>
              <a:rPr sz="1600" b="0">
                <a:solidFill>
                  <a:srgbClr val="142B33"/>
                </a:solidFill>
                <a:latin typeface="Calibri"/>
              </a:rPr>
              <a:t>: columnas generadas</a:t>
            </a:r>
          </a:p>
          <a:p>
            <a:pPr marL="320040" indent="-320040">
              <a:spcAft>
                <a:spcPts val="600"/>
              </a:spcAft>
              <a:buClr>
                <a:srgbClr val="E36414"/>
              </a:buClr>
              <a:buFont typeface="Arial"/>
              <a:buChar char="•"/>
            </a:pPr>
            <a:r>
              <a:rPr sz="1600" b="0">
                <a:solidFill>
                  <a:srgbClr val="142B33"/>
                </a:solidFill>
                <a:latin typeface="Calibri"/>
              </a:rPr>
              <a:t>Si los menores no influyen, queda un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los importantes</a:t>
            </a:r>
          </a:p>
          <a:p>
            <a:pPr marL="320040" indent="-320040">
              <a:spcAft>
                <a:spcPts val="600"/>
              </a:spcAft>
              <a:buClr>
                <a:srgbClr val="E36414"/>
              </a:buClr>
              <a:buFont typeface="Arial"/>
              <a:buChar char="•"/>
            </a:pPr>
            <a:r>
              <a:rPr sz="1600" b="0">
                <a:solidFill>
                  <a:srgbClr val="142B33"/>
                </a:solidFill>
                <a:latin typeface="Calibri"/>
              </a:rPr>
              <a:t>De 35 subconjuntos de 4 factores, </a:t>
            </a:r>
            <a:r>
              <a:rPr sz="1600" b="1">
                <a:solidFill>
                  <a:srgbClr val="142B33"/>
                </a:solidFill>
                <a:latin typeface="Calibri"/>
              </a:rPr>
              <a:t>28</a:t>
            </a:r>
            <a:r>
              <a:rPr sz="1600" b="0">
                <a:solidFill>
                  <a:srgbClr val="142B33"/>
                </a:solidFill>
                <a:latin typeface="Calibri"/>
              </a:rPr>
              <a:t> dan un 2</a:t>
            </a:r>
            <a:r>
              <a:rPr sz="1600" b="0" baseline="30000">
                <a:solidFill>
                  <a:srgbClr val="142B33"/>
                </a:solidFill>
                <a:latin typeface="Calibri"/>
              </a:rPr>
              <a:t>4</a:t>
            </a:r>
            <a:r>
              <a:rPr sz="1600" b="0">
                <a:solidFill>
                  <a:srgbClr val="142B33"/>
                </a:solidFill>
                <a:latin typeface="Calibri"/>
              </a:rPr>
              <a:t> completo</a:t>
            </a:r>
          </a:p>
        </p:txBody>
      </p:sp>
      <p:sp>
        <p:nvSpPr>
          <p:cNvPr id="5" name="Rounded Rectangle 4"/>
          <p:cNvSpPr/>
          <p:nvPr/>
        </p:nvSpPr>
        <p:spPr>
          <a:xfrm>
            <a:off x="6087928" y="4509008"/>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conclusiones son </a:t>
            </a:r>
            <a:r>
              <a:rPr sz="1500" b="1">
                <a:solidFill>
                  <a:srgbClr val="142B33"/>
                </a:solidFill>
                <a:latin typeface="Calibri"/>
              </a:rPr>
              <a:t>tentativas</a:t>
            </a:r>
            <a:r>
              <a:rPr sz="1500" b="0">
                <a:solidFill>
                  <a:srgbClr val="142B33"/>
                </a:solidFill>
                <a:latin typeface="Calibri"/>
              </a:rPr>
              <a:t>: puede haber explicaciones con interacciones de orden alto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72</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bloque? Un caso concreto</a:t>
            </a:r>
          </a:p>
        </p:txBody>
      </p:sp>
      <p:sp>
        <p:nvSpPr>
          <p:cNvPr id="3" name="TextBox 2"/>
          <p:cNvSpPr txBox="1"/>
          <p:nvPr/>
        </p:nvSpPr>
        <p:spPr>
          <a:xfrm>
            <a:off x="548640" y="1417320"/>
            <a:ext cx="4700491" cy="966216"/>
          </a:xfrm>
          <a:prstGeom prst="rect">
            <a:avLst/>
          </a:prstGeom>
          <a:noFill/>
        </p:spPr>
        <p:txBody>
          <a:bodyPr wrap="square" anchor="t" lIns="0" rIns="0" tIns="0" bIns="0">
            <a:spAutoFit/>
          </a:bodyPr>
          <a:lstStyle/>
          <a:p>
            <a:r>
              <a:rPr sz="1500" b="1">
                <a:solidFill>
                  <a:srgbClr val="142B33"/>
                </a:solidFill>
                <a:latin typeface="Calibri"/>
              </a:rPr>
              <a:t>Ejemplo 3, moldeo</a:t>
            </a:r>
            <a:r>
              <a:rPr sz="1500" b="0">
                <a:solidFill>
                  <a:srgbClr val="142B33"/>
                </a:solidFill>
                <a:latin typeface="Calibri"/>
              </a:rPr>
              <a:t>: 2</a:t>
            </a:r>
            <a:r>
              <a:rPr sz="1500" b="0" baseline="30000">
                <a:solidFill>
                  <a:srgbClr val="142B33"/>
                </a:solidFill>
                <a:latin typeface="Calibri"/>
              </a:rPr>
              <a:t>6−2</a:t>
            </a:r>
            <a:r>
              <a:rPr sz="1500" b="0" baseline="-25000">
                <a:solidFill>
                  <a:srgbClr val="142B33"/>
                </a:solidFill>
                <a:latin typeface="Calibri"/>
              </a:rPr>
              <a:t>IV</a:t>
            </a:r>
            <a:r>
              <a:rPr sz="1500" b="0">
                <a:solidFill>
                  <a:srgbClr val="142B33"/>
                </a:solidFill>
                <a:latin typeface="Calibri"/>
              </a:rPr>
              <a:t>, 16 corridas. La inyectora solo permite </a:t>
            </a:r>
            <a:r>
              <a:rPr sz="1500" b="1">
                <a:solidFill>
                  <a:srgbClr val="142B33"/>
                </a:solidFill>
                <a:latin typeface="Calibri"/>
              </a:rPr>
              <a:t>8 corridas por turno</a:t>
            </a:r>
            <a:r>
              <a:rPr sz="1500" b="0">
                <a:solidFill>
                  <a:srgbClr val="142B33"/>
                </a:solidFill>
                <a:latin typeface="Calibri"/>
              </a:rPr>
              <a:t>: mañana y tarde. En la tarde la máquina está más caliente: </a:t>
            </a:r>
            <a:r>
              <a:rPr sz="1500" b="1">
                <a:solidFill>
                  <a:srgbClr val="142B33"/>
                </a:solidFill>
                <a:latin typeface="Calibri"/>
              </a:rPr>
              <a:t>+5</a:t>
            </a:r>
            <a:r>
              <a:rPr sz="1500" b="0">
                <a:solidFill>
                  <a:srgbClr val="142B33"/>
                </a:solidFill>
                <a:latin typeface="Calibri"/>
              </a:rPr>
              <a:t> de contracción en todas sus corridas</a:t>
            </a:r>
          </a:p>
        </p:txBody>
      </p:sp>
      <p:sp>
        <p:nvSpPr>
          <p:cNvPr id="4" name="Rounded Rectangle 3"/>
          <p:cNvSpPr/>
          <p:nvPr/>
        </p:nvSpPr>
        <p:spPr>
          <a:xfrm>
            <a:off x="548640" y="2584704"/>
            <a:ext cx="4700491"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Bloque</a:t>
            </a:r>
          </a:p>
          <a:p>
            <a:pPr algn="l"/>
            <a:r>
              <a:rPr sz="1400" b="0">
                <a:solidFill>
                  <a:srgbClr val="142B33"/>
                </a:solidFill>
                <a:latin typeface="Calibri"/>
              </a:rPr>
              <a:t>Cada grupo de corridas hechas en las </a:t>
            </a:r>
            <a:r>
              <a:rPr sz="1400" b="1">
                <a:solidFill>
                  <a:srgbClr val="142B33"/>
                </a:solidFill>
                <a:latin typeface="Calibri"/>
              </a:rPr>
              <a:t>mismas condiciones</a:t>
            </a:r>
            <a:r>
              <a:rPr sz="1400" b="0">
                <a:solidFill>
                  <a:srgbClr val="142B33"/>
                </a:solidFill>
                <a:latin typeface="Calibri"/>
              </a:rPr>
              <a:t> (aquí, el mismo turno). El turno no se estudia: es variación </a:t>
            </a:r>
            <a:r>
              <a:rPr sz="1400" b="1">
                <a:solidFill>
                  <a:srgbClr val="142B33"/>
                </a:solidFill>
                <a:latin typeface="Calibri"/>
              </a:rPr>
              <a:t>molesta</a:t>
            </a:r>
            <a:r>
              <a:rPr sz="1400" b="0">
                <a:solidFill>
                  <a:srgbClr val="142B33"/>
                </a:solidFill>
                <a:latin typeface="Calibri"/>
              </a:rPr>
              <a:t> que no se puede quitar</a:t>
            </a:r>
          </a:p>
        </p:txBody>
      </p:sp>
      <p:sp>
        <p:nvSpPr>
          <p:cNvPr id="5" name="Rounded Rectangle 4"/>
          <p:cNvSpPr/>
          <p:nvPr/>
        </p:nvSpPr>
        <p:spPr>
          <a:xfrm>
            <a:off x="548640" y="4450080"/>
            <a:ext cx="4700491"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La decisión</a:t>
            </a:r>
          </a:p>
          <a:p>
            <a:pPr algn="l"/>
            <a:r>
              <a:rPr sz="1400" b="0">
                <a:solidFill>
                  <a:srgbClr val="142B33"/>
                </a:solidFill>
                <a:latin typeface="Calibri"/>
              </a:rPr>
              <a:t>¿Qué 8 corridas van en la mañana y cuáles en la tarde?</a:t>
            </a:r>
          </a:p>
        </p:txBody>
      </p:sp>
      <p:sp>
        <p:nvSpPr>
          <p:cNvPr id="6" name="TextBox 5"/>
          <p:cNvSpPr txBox="1"/>
          <p:nvPr/>
        </p:nvSpPr>
        <p:spPr>
          <a:xfrm>
            <a:off x="5660611" y="1417320"/>
            <a:ext cx="5982443" cy="501396"/>
          </a:xfrm>
          <a:prstGeom prst="rect">
            <a:avLst/>
          </a:prstGeom>
          <a:noFill/>
        </p:spPr>
        <p:txBody>
          <a:bodyPr wrap="square" anchor="t" lIns="0" rIns="0" tIns="0" bIns="0">
            <a:spAutoFit/>
          </a:bodyPr>
          <a:lstStyle/>
          <a:p>
            <a:r>
              <a:rPr sz="1500" b="1">
                <a:solidFill>
                  <a:srgbClr val="142B33"/>
                </a:solidFill>
                <a:latin typeface="Calibri"/>
              </a:rPr>
              <a:t>Reparto ingenuo</a:t>
            </a:r>
            <a:r>
              <a:rPr sz="1500" b="0">
                <a:solidFill>
                  <a:srgbClr val="142B33"/>
                </a:solidFill>
                <a:latin typeface="Calibri"/>
              </a:rPr>
              <a:t>: las 8 primeras del orden estándar en la mañana</a:t>
            </a:r>
          </a:p>
        </p:txBody>
      </p:sp>
      <p:graphicFrame>
        <p:nvGraphicFramePr>
          <p:cNvPr id="7" name="Table 6"/>
          <p:cNvGraphicFramePr>
            <a:graphicFrameLocks noGrp="1"/>
          </p:cNvGraphicFramePr>
          <p:nvPr/>
        </p:nvGraphicFramePr>
        <p:xfrm>
          <a:off x="5660611" y="2119884"/>
          <a:ext cx="5982441" cy="2224278"/>
        </p:xfrm>
        <a:graphic>
          <a:graphicData uri="http://schemas.openxmlformats.org/drawingml/2006/table">
            <a:tbl>
              <a:tblPr firstRow="0" bandRow="0">
                <a:tableStyleId>{5C22544A-7EE6-4342-B048-85BDC9FD1C3A}</a:tableStyleId>
              </a:tblPr>
              <a:tblGrid>
                <a:gridCol w="1385156"/>
                <a:gridCol w="1229923"/>
                <a:gridCol w="453758"/>
                <a:gridCol w="1385156"/>
                <a:gridCol w="1074690"/>
                <a:gridCol w="453758"/>
              </a:tblGrid>
              <a:tr h="247142">
                <a:tc>
                  <a:txBody>
                    <a:bodyPr/>
                    <a:lstStyle/>
                    <a:p>
                      <a:pPr algn="ctr"/>
                      <a:r>
                        <a:rPr sz="1300" b="1">
                          <a:solidFill>
                            <a:srgbClr val="FFFFFF"/>
                          </a:solidFill>
                          <a:latin typeface="Calibri"/>
                        </a:rPr>
                        <a:t>Corrida</a:t>
                      </a:r>
                    </a:p>
                  </a:txBody>
                  <a:tcPr marL="73152" marR="73152" marT="27432" marB="27432" anchor="ctr">
                    <a:solidFill>
                      <a:srgbClr val="0F4C5C"/>
                    </a:solidFill>
                  </a:tcPr>
                </a:tc>
                <a:tc>
                  <a:txBody>
                    <a:bodyPr/>
                    <a:lstStyle/>
                    <a:p>
                      <a:pPr algn="ctr"/>
                      <a:r>
                        <a:rPr sz="1300" b="1">
                          <a:solidFill>
                            <a:srgbClr val="FFFFFF"/>
                          </a:solidFill>
                          <a:latin typeface="Calibri"/>
                        </a:rPr>
                        <a:t>Mañana</a:t>
                      </a:r>
                    </a:p>
                  </a:txBody>
                  <a:tcPr marL="73152" marR="73152" marT="27432" marB="27432" anchor="ctr">
                    <a:solidFill>
                      <a:srgbClr val="0F4C5C"/>
                    </a:solidFill>
                  </a:tcPr>
                </a:tc>
                <a:tc>
                  <a:txBody>
                    <a:bodyPr/>
                    <a:lstStyle/>
                    <a:p>
                      <a:pPr algn="ctr"/>
                      <a:r>
                        <a:rPr sz="1300" b="1">
                          <a:solidFill>
                            <a:srgbClr val="FFFFFF"/>
                          </a:solidFill>
                          <a:latin typeface="Calibri"/>
                        </a:rPr>
                        <a:t>D</a:t>
                      </a:r>
                    </a:p>
                  </a:txBody>
                  <a:tcPr marL="73152" marR="73152" marT="27432" marB="27432" anchor="ctr">
                    <a:solidFill>
                      <a:srgbClr val="0F4C5C"/>
                    </a:solidFill>
                  </a:tcPr>
                </a:tc>
                <a:tc>
                  <a:txBody>
                    <a:bodyPr/>
                    <a:lstStyle/>
                    <a:p>
                      <a:pPr algn="ctr"/>
                      <a:r>
                        <a:rPr sz="1300" b="1">
                          <a:solidFill>
                            <a:srgbClr val="FFFFFF"/>
                          </a:solidFill>
                          <a:latin typeface="Calibri"/>
                        </a:rPr>
                        <a:t>Corrida</a:t>
                      </a:r>
                    </a:p>
                  </a:txBody>
                  <a:tcPr marL="73152" marR="73152" marT="27432" marB="27432" anchor="ctr">
                    <a:solidFill>
                      <a:srgbClr val="0F4C5C"/>
                    </a:solidFill>
                  </a:tcPr>
                </a:tc>
                <a:tc>
                  <a:txBody>
                    <a:bodyPr/>
                    <a:lstStyle/>
                    <a:p>
                      <a:pPr algn="ctr"/>
                      <a:r>
                        <a:rPr sz="1300" b="1">
                          <a:solidFill>
                            <a:srgbClr val="FFFFFF"/>
                          </a:solidFill>
                          <a:latin typeface="Calibri"/>
                        </a:rPr>
                        <a:t>Tarde</a:t>
                      </a:r>
                    </a:p>
                  </a:txBody>
                  <a:tcPr marL="73152" marR="73152" marT="27432" marB="27432" anchor="ctr">
                    <a:solidFill>
                      <a:srgbClr val="0F4C5C"/>
                    </a:solidFill>
                  </a:tcPr>
                </a:tc>
                <a:tc>
                  <a:txBody>
                    <a:bodyPr/>
                    <a:lstStyle/>
                    <a:p>
                      <a:pPr algn="ctr"/>
                      <a:r>
                        <a:rPr sz="1300" b="1">
                          <a:solidFill>
                            <a:srgbClr val="FFFFFF"/>
                          </a:solidFill>
                          <a:latin typeface="Calibri"/>
                        </a:rPr>
                        <a:t>D</a:t>
                      </a:r>
                    </a:p>
                  </a:txBody>
                  <a:tcPr marL="73152" marR="73152" marT="27432" marB="27432" anchor="ctr">
                    <a:solidFill>
                      <a:srgbClr val="0F4C5C"/>
                    </a:solidFill>
                  </a:tcPr>
                </a:tc>
              </a:tr>
              <a:tr h="247142">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9</a:t>
                      </a:r>
                    </a:p>
                  </a:txBody>
                  <a:tcPr marL="73152" marR="73152" marT="27432" marB="27432" anchor="ctr">
                    <a:solidFill>
                      <a:srgbClr val="FFFFFF"/>
                    </a:solidFill>
                  </a:tcPr>
                </a:tc>
                <a:tc>
                  <a:txBody>
                    <a:bodyPr/>
                    <a:lstStyle/>
                    <a:p>
                      <a:pPr algn="ctr"/>
                      <a:r>
                        <a:rPr sz="1300" b="0">
                          <a:solidFill>
                            <a:srgbClr val="142B33"/>
                          </a:solidFill>
                          <a:latin typeface="Calibri"/>
                        </a:rPr>
                        <a:t>df</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47142">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ae</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10</a:t>
                      </a:r>
                    </a:p>
                  </a:txBody>
                  <a:tcPr marL="73152" marR="73152" marT="27432" marB="27432" anchor="ctr">
                    <a:solidFill>
                      <a:srgbClr val="F4F8F9"/>
                    </a:solidFill>
                  </a:tcPr>
                </a:tc>
                <a:tc>
                  <a:txBody>
                    <a:bodyPr/>
                    <a:lstStyle/>
                    <a:p>
                      <a:pPr algn="ctr"/>
                      <a:r>
                        <a:rPr sz="1300" b="0">
                          <a:solidFill>
                            <a:srgbClr val="142B33"/>
                          </a:solidFill>
                          <a:latin typeface="Calibri"/>
                        </a:rPr>
                        <a:t>adef</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r h="247142">
                <a:tc>
                  <a:txBody>
                    <a:bodyPr/>
                    <a:lstStyle/>
                    <a:p>
                      <a:pPr algn="ctr"/>
                      <a:r>
                        <a:rPr sz="1300" b="0">
                          <a:solidFill>
                            <a:srgbClr val="142B33"/>
                          </a:solidFill>
                          <a:latin typeface="Calibri"/>
                        </a:rPr>
                        <a:t>3</a:t>
                      </a:r>
                    </a:p>
                  </a:txBody>
                  <a:tcPr marL="73152" marR="73152" marT="27432" marB="27432" anchor="ctr">
                    <a:solidFill>
                      <a:srgbClr val="FFFFFF"/>
                    </a:solidFill>
                  </a:tcPr>
                </a:tc>
                <a:tc>
                  <a:txBody>
                    <a:bodyPr/>
                    <a:lstStyle/>
                    <a:p>
                      <a:pPr algn="ctr"/>
                      <a:r>
                        <a:rPr sz="1300" b="0">
                          <a:solidFill>
                            <a:srgbClr val="142B33"/>
                          </a:solidFill>
                          <a:latin typeface="Calibri"/>
                        </a:rPr>
                        <a:t>bef</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11</a:t>
                      </a:r>
                    </a:p>
                  </a:txBody>
                  <a:tcPr marL="73152" marR="73152" marT="27432" marB="27432" anchor="ctr">
                    <a:solidFill>
                      <a:srgbClr val="FFFFFF"/>
                    </a:solidFill>
                  </a:tcPr>
                </a:tc>
                <a:tc>
                  <a:txBody>
                    <a:bodyPr/>
                    <a:lstStyle/>
                    <a:p>
                      <a:pPr algn="ctr"/>
                      <a:r>
                        <a:rPr sz="1300" b="0">
                          <a:solidFill>
                            <a:srgbClr val="142B33"/>
                          </a:solidFill>
                          <a:latin typeface="Calibri"/>
                        </a:rPr>
                        <a:t>bde</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47142">
                <a:tc>
                  <a:txBody>
                    <a:bodyPr/>
                    <a:lstStyle/>
                    <a:p>
                      <a:pPr algn="ctr"/>
                      <a:r>
                        <a:rPr sz="1300" b="0">
                          <a:solidFill>
                            <a:srgbClr val="142B33"/>
                          </a:solidFill>
                          <a:latin typeface="Calibri"/>
                        </a:rPr>
                        <a:t>4</a:t>
                      </a:r>
                    </a:p>
                  </a:txBody>
                  <a:tcPr marL="73152" marR="73152" marT="27432" marB="27432" anchor="ctr">
                    <a:solidFill>
                      <a:srgbClr val="F4F8F9"/>
                    </a:solidFill>
                  </a:tcPr>
                </a:tc>
                <a:tc>
                  <a:txBody>
                    <a:bodyPr/>
                    <a:lstStyle/>
                    <a:p>
                      <a:pPr algn="ctr"/>
                      <a:r>
                        <a:rPr sz="1300" b="0">
                          <a:solidFill>
                            <a:srgbClr val="142B33"/>
                          </a:solidFill>
                          <a:latin typeface="Calibri"/>
                        </a:rPr>
                        <a:t>abf</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12</a:t>
                      </a:r>
                    </a:p>
                  </a:txBody>
                  <a:tcPr marL="73152" marR="73152" marT="27432" marB="27432" anchor="ctr">
                    <a:solidFill>
                      <a:srgbClr val="F4F8F9"/>
                    </a:solidFill>
                  </a:tcPr>
                </a:tc>
                <a:tc>
                  <a:txBody>
                    <a:bodyPr/>
                    <a:lstStyle/>
                    <a:p>
                      <a:pPr algn="ctr"/>
                      <a:r>
                        <a:rPr sz="1300" b="0">
                          <a:solidFill>
                            <a:srgbClr val="142B33"/>
                          </a:solidFill>
                          <a:latin typeface="Calibri"/>
                        </a:rPr>
                        <a:t>abd</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r h="247142">
                <a:tc>
                  <a:txBody>
                    <a:bodyPr/>
                    <a:lstStyle/>
                    <a:p>
                      <a:pPr algn="ctr"/>
                      <a:r>
                        <a:rPr sz="1300" b="0">
                          <a:solidFill>
                            <a:srgbClr val="142B33"/>
                          </a:solidFill>
                          <a:latin typeface="Calibri"/>
                        </a:rPr>
                        <a:t>5</a:t>
                      </a:r>
                    </a:p>
                  </a:txBody>
                  <a:tcPr marL="73152" marR="73152" marT="27432" marB="27432" anchor="ctr">
                    <a:solidFill>
                      <a:srgbClr val="FFFFFF"/>
                    </a:solidFill>
                  </a:tcPr>
                </a:tc>
                <a:tc>
                  <a:txBody>
                    <a:bodyPr/>
                    <a:lstStyle/>
                    <a:p>
                      <a:pPr algn="ctr"/>
                      <a:r>
                        <a:rPr sz="1300" b="0">
                          <a:solidFill>
                            <a:srgbClr val="142B33"/>
                          </a:solidFill>
                          <a:latin typeface="Calibri"/>
                        </a:rPr>
                        <a:t>cef</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13</a:t>
                      </a:r>
                    </a:p>
                  </a:txBody>
                  <a:tcPr marL="73152" marR="73152" marT="27432" marB="27432" anchor="ctr">
                    <a:solidFill>
                      <a:srgbClr val="FFFFFF"/>
                    </a:solidFill>
                  </a:tcPr>
                </a:tc>
                <a:tc>
                  <a:txBody>
                    <a:bodyPr/>
                    <a:lstStyle/>
                    <a:p>
                      <a:pPr algn="ctr"/>
                      <a:r>
                        <a:rPr sz="1300" b="0">
                          <a:solidFill>
                            <a:srgbClr val="142B33"/>
                          </a:solidFill>
                          <a:latin typeface="Calibri"/>
                        </a:rPr>
                        <a:t>cde</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47142">
                <a:tc>
                  <a:txBody>
                    <a:bodyPr/>
                    <a:lstStyle/>
                    <a:p>
                      <a:pPr algn="ctr"/>
                      <a:r>
                        <a:rPr sz="1300" b="0">
                          <a:solidFill>
                            <a:srgbClr val="142B33"/>
                          </a:solidFill>
                          <a:latin typeface="Calibri"/>
                        </a:rPr>
                        <a:t>6</a:t>
                      </a:r>
                    </a:p>
                  </a:txBody>
                  <a:tcPr marL="73152" marR="73152" marT="27432" marB="27432" anchor="ctr">
                    <a:solidFill>
                      <a:srgbClr val="F4F8F9"/>
                    </a:solidFill>
                  </a:tcPr>
                </a:tc>
                <a:tc>
                  <a:txBody>
                    <a:bodyPr/>
                    <a:lstStyle/>
                    <a:p>
                      <a:pPr algn="ctr"/>
                      <a:r>
                        <a:rPr sz="1300" b="0">
                          <a:solidFill>
                            <a:srgbClr val="142B33"/>
                          </a:solidFill>
                          <a:latin typeface="Calibri"/>
                        </a:rPr>
                        <a:t>acf</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14</a:t>
                      </a:r>
                    </a:p>
                  </a:txBody>
                  <a:tcPr marL="73152" marR="73152" marT="27432" marB="27432" anchor="ctr">
                    <a:solidFill>
                      <a:srgbClr val="F4F8F9"/>
                    </a:solidFill>
                  </a:tcPr>
                </a:tc>
                <a:tc>
                  <a:txBody>
                    <a:bodyPr/>
                    <a:lstStyle/>
                    <a:p>
                      <a:pPr algn="ctr"/>
                      <a:r>
                        <a:rPr sz="1300" b="0">
                          <a:solidFill>
                            <a:srgbClr val="142B33"/>
                          </a:solidFill>
                          <a:latin typeface="Calibri"/>
                        </a:rPr>
                        <a:t>acd</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r h="247142">
                <a:tc>
                  <a:txBody>
                    <a:bodyPr/>
                    <a:lstStyle/>
                    <a:p>
                      <a:pPr algn="ctr"/>
                      <a:r>
                        <a:rPr sz="1300" b="0">
                          <a:solidFill>
                            <a:srgbClr val="142B33"/>
                          </a:solidFill>
                          <a:latin typeface="Calibri"/>
                        </a:rPr>
                        <a:t>7</a:t>
                      </a:r>
                    </a:p>
                  </a:txBody>
                  <a:tcPr marL="73152" marR="73152" marT="27432" marB="27432" anchor="ctr">
                    <a:solidFill>
                      <a:srgbClr val="FFFFFF"/>
                    </a:solidFill>
                  </a:tcPr>
                </a:tc>
                <a:tc>
                  <a:txBody>
                    <a:bodyPr/>
                    <a:lstStyle/>
                    <a:p>
                      <a:pPr algn="ctr"/>
                      <a:r>
                        <a:rPr sz="1300" b="0">
                          <a:solidFill>
                            <a:srgbClr val="142B33"/>
                          </a:solidFill>
                          <a:latin typeface="Calibri"/>
                        </a:rPr>
                        <a:t>bc</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c>
                  <a:txBody>
                    <a:bodyPr/>
                    <a:lstStyle/>
                    <a:p>
                      <a:pPr algn="ctr"/>
                      <a:r>
                        <a:rPr sz="1300" b="0">
                          <a:solidFill>
                            <a:srgbClr val="142B33"/>
                          </a:solidFill>
                          <a:latin typeface="Calibri"/>
                        </a:rPr>
                        <a:t>bcdf</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47142">
                <a:tc>
                  <a:txBody>
                    <a:bodyPr/>
                    <a:lstStyle/>
                    <a:p>
                      <a:pPr algn="ctr"/>
                      <a:r>
                        <a:rPr sz="1300" b="0">
                          <a:solidFill>
                            <a:srgbClr val="142B33"/>
                          </a:solidFill>
                          <a:latin typeface="Calibri"/>
                        </a:rPr>
                        <a:t>8</a:t>
                      </a:r>
                    </a:p>
                  </a:txBody>
                  <a:tcPr marL="73152" marR="73152" marT="27432" marB="27432" anchor="ctr">
                    <a:solidFill>
                      <a:srgbClr val="F4F8F9"/>
                    </a:solidFill>
                  </a:tcPr>
                </a:tc>
                <a:tc>
                  <a:txBody>
                    <a:bodyPr/>
                    <a:lstStyle/>
                    <a:p>
                      <a:pPr algn="ctr"/>
                      <a:r>
                        <a:rPr sz="1300" b="0">
                          <a:solidFill>
                            <a:srgbClr val="142B33"/>
                          </a:solidFill>
                          <a:latin typeface="Calibri"/>
                        </a:rPr>
                        <a:t>abce</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16</a:t>
                      </a:r>
                    </a:p>
                  </a:txBody>
                  <a:tcPr marL="73152" marR="73152" marT="27432" marB="27432" anchor="ctr">
                    <a:solidFill>
                      <a:srgbClr val="F4F8F9"/>
                    </a:solidFill>
                  </a:tcPr>
                </a:tc>
                <a:tc>
                  <a:txBody>
                    <a:bodyPr/>
                    <a:lstStyle/>
                    <a:p>
                      <a:pPr algn="ctr"/>
                      <a:r>
                        <a:rPr sz="1300" b="0">
                          <a:solidFill>
                            <a:srgbClr val="142B33"/>
                          </a:solidFill>
                          <a:latin typeface="Calibri"/>
                        </a:rPr>
                        <a:t>abcdef</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bl>
          </a:graphicData>
        </a:graphic>
      </p:graphicFrame>
      <p:sp>
        <p:nvSpPr>
          <p:cNvPr id="8" name="Rounded Rectangle 7"/>
          <p:cNvSpPr/>
          <p:nvPr/>
        </p:nvSpPr>
        <p:spPr>
          <a:xfrm>
            <a:off x="5660611" y="4545330"/>
            <a:ext cx="5982443"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Toda la mañana tiene </a:t>
            </a:r>
            <a:r>
              <a:rPr sz="1400" b="1">
                <a:solidFill>
                  <a:srgbClr val="142B33"/>
                </a:solidFill>
                <a:latin typeface="Calibri"/>
              </a:rPr>
              <a:t>D −</a:t>
            </a:r>
            <a:r>
              <a:rPr sz="1400" b="0">
                <a:solidFill>
                  <a:srgbClr val="142B33"/>
                </a:solidFill>
                <a:latin typeface="Calibri"/>
              </a:rPr>
              <a:t> y toda la tarde </a:t>
            </a:r>
            <a:r>
              <a:rPr sz="1400" b="1">
                <a:solidFill>
                  <a:srgbClr val="142B33"/>
                </a:solidFill>
                <a:latin typeface="Calibri"/>
              </a:rPr>
              <a:t>D +</a:t>
            </a:r>
            <a:r>
              <a:rPr sz="1400" b="0">
                <a:solidFill>
                  <a:srgbClr val="142B33"/>
                </a:solidFill>
                <a:latin typeface="Calibri"/>
              </a:rPr>
              <a:t>: el turno queda </a:t>
            </a:r>
            <a:r>
              <a:rPr sz="1400" b="1">
                <a:solidFill>
                  <a:srgbClr val="142B33"/>
                </a:solidFill>
                <a:latin typeface="Calibri"/>
              </a:rPr>
              <a:t>mezclado con D</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73</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pasa con los efectos según cómo se reparta?</a:t>
            </a:r>
          </a:p>
        </p:txBody>
      </p:sp>
      <p:graphicFrame>
        <p:nvGraphicFramePr>
          <p:cNvPr id="3" name="Table 2"/>
          <p:cNvGraphicFramePr>
            <a:graphicFrameLocks noGrp="1"/>
          </p:cNvGraphicFramePr>
          <p:nvPr/>
        </p:nvGraphicFramePr>
        <p:xfrm>
          <a:off x="548640" y="1417320"/>
          <a:ext cx="5875612" cy="2784346"/>
        </p:xfrm>
        <a:graphic>
          <a:graphicData uri="http://schemas.openxmlformats.org/drawingml/2006/table">
            <a:tbl>
              <a:tblPr firstRow="0" bandRow="0">
                <a:tableStyleId>{5C22544A-7EE6-4342-B048-85BDC9FD1C3A}</a:tableStyleId>
              </a:tblPr>
              <a:tblGrid>
                <a:gridCol w="1997708"/>
                <a:gridCol w="1057610"/>
                <a:gridCol w="1527659"/>
                <a:gridCol w="1292635"/>
              </a:tblGrid>
              <a:tr h="552703">
                <a:tc>
                  <a:txBody>
                    <a:bodyPr/>
                    <a:lstStyle/>
                    <a:p>
                      <a:pPr algn="l"/>
                      <a:r>
                        <a:rPr sz="1400" b="1">
                          <a:solidFill>
                            <a:srgbClr val="FFFFFF"/>
                          </a:solidFill>
                          <a:latin typeface="Calibri"/>
                        </a:rPr>
                        <a:t>Efecto</a:t>
                      </a:r>
                    </a:p>
                  </a:txBody>
                  <a:tcPr marL="73152" marR="73152" marT="27432" marB="27432" anchor="ctr">
                    <a:solidFill>
                      <a:srgbClr val="0F4C5C"/>
                    </a:solidFill>
                  </a:tcPr>
                </a:tc>
                <a:tc>
                  <a:txBody>
                    <a:bodyPr/>
                    <a:lstStyle/>
                    <a:p>
                      <a:pPr algn="ctr"/>
                      <a:r>
                        <a:rPr sz="1400" b="1">
                          <a:solidFill>
                            <a:srgbClr val="FFFFFF"/>
                          </a:solidFill>
                          <a:latin typeface="Calibri"/>
                        </a:rPr>
                        <a:t>Sin turnos</a:t>
                      </a:r>
                    </a:p>
                  </a:txBody>
                  <a:tcPr marL="73152" marR="73152" marT="27432" marB="27432" anchor="ctr">
                    <a:solidFill>
                      <a:srgbClr val="0F4C5C"/>
                    </a:solidFill>
                  </a:tcPr>
                </a:tc>
                <a:tc>
                  <a:txBody>
                    <a:bodyPr/>
                    <a:lstStyle/>
                    <a:p>
                      <a:pPr algn="ctr"/>
                      <a:r>
                        <a:rPr sz="1400" b="1">
                          <a:solidFill>
                            <a:srgbClr val="FFFFFF"/>
                          </a:solidFill>
                          <a:latin typeface="Calibri"/>
                        </a:rPr>
                        <a:t>Reparto ingenuo (por D)</a:t>
                      </a:r>
                    </a:p>
                  </a:txBody>
                  <a:tcPr marL="73152" marR="73152" marT="27432" marB="27432" anchor="ctr">
                    <a:solidFill>
                      <a:srgbClr val="0F4C5C"/>
                    </a:solidFill>
                  </a:tcPr>
                </a:tc>
                <a:tc>
                  <a:txBody>
                    <a:bodyPr/>
                    <a:lstStyle/>
                    <a:p>
                      <a:pPr algn="ctr"/>
                      <a:r>
                        <a:rPr sz="1400" b="1">
                          <a:solidFill>
                            <a:srgbClr val="FFFFFF"/>
                          </a:solidFill>
                          <a:latin typeface="Calibri"/>
                        </a:rPr>
                        <a:t>Reparto por ABD</a:t>
                      </a:r>
                    </a:p>
                  </a:txBody>
                  <a:tcPr marL="73152" marR="73152" marT="27432" marB="27432" anchor="ctr">
                    <a:solidFill>
                      <a:srgbClr val="0F4C5C"/>
                    </a:solidFill>
                  </a:tcPr>
                </a:tc>
              </a:tr>
              <a:tr h="335788">
                <a:tc>
                  <a:txBody>
                    <a:bodyPr/>
                    <a:lstStyle/>
                    <a:p>
                      <a:pPr algn="l"/>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13.88</a:t>
                      </a:r>
                    </a:p>
                  </a:txBody>
                  <a:tcPr marL="73152" marR="73152" marT="27432" marB="27432" anchor="ctr">
                    <a:solidFill>
                      <a:srgbClr val="FFFFFF"/>
                    </a:solidFill>
                  </a:tcPr>
                </a:tc>
                <a:tc>
                  <a:txBody>
                    <a:bodyPr/>
                    <a:lstStyle/>
                    <a:p>
                      <a:pPr algn="ctr"/>
                      <a:r>
                        <a:rPr sz="1400" b="0">
                          <a:solidFill>
                            <a:srgbClr val="142B33"/>
                          </a:solidFill>
                          <a:latin typeface="Calibri"/>
                        </a:rPr>
                        <a:t>13.88</a:t>
                      </a:r>
                    </a:p>
                  </a:txBody>
                  <a:tcPr marL="73152" marR="73152" marT="27432" marB="27432" anchor="ctr">
                    <a:solidFill>
                      <a:srgbClr val="FFFFFF"/>
                    </a:solidFill>
                  </a:tcPr>
                </a:tc>
                <a:tc>
                  <a:txBody>
                    <a:bodyPr/>
                    <a:lstStyle/>
                    <a:p>
                      <a:pPr algn="ctr"/>
                      <a:r>
                        <a:rPr sz="1400" b="0">
                          <a:solidFill>
                            <a:srgbClr val="142B33"/>
                          </a:solidFill>
                          <a:latin typeface="Calibri"/>
                        </a:rPr>
                        <a:t>13.88</a:t>
                      </a:r>
                    </a:p>
                  </a:txBody>
                  <a:tcPr marL="73152" marR="73152" marT="27432" marB="27432" anchor="ctr">
                    <a:solidFill>
                      <a:srgbClr val="FFFFFF"/>
                    </a:solidFill>
                  </a:tcPr>
                </a:tc>
              </a:tr>
              <a:tr h="335788">
                <a:tc>
                  <a:txBody>
                    <a:bodyPr/>
                    <a:lstStyle/>
                    <a:p>
                      <a:pPr algn="l"/>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35.63</a:t>
                      </a:r>
                    </a:p>
                  </a:txBody>
                  <a:tcPr marL="73152" marR="73152" marT="27432" marB="27432" anchor="ctr">
                    <a:solidFill>
                      <a:srgbClr val="F4F8F9"/>
                    </a:solidFill>
                  </a:tcPr>
                </a:tc>
                <a:tc>
                  <a:txBody>
                    <a:bodyPr/>
                    <a:lstStyle/>
                    <a:p>
                      <a:pPr algn="ctr"/>
                      <a:r>
                        <a:rPr sz="1400" b="0">
                          <a:solidFill>
                            <a:srgbClr val="142B33"/>
                          </a:solidFill>
                          <a:latin typeface="Calibri"/>
                        </a:rPr>
                        <a:t>35.63</a:t>
                      </a:r>
                    </a:p>
                  </a:txBody>
                  <a:tcPr marL="73152" marR="73152" marT="27432" marB="27432" anchor="ctr">
                    <a:solidFill>
                      <a:srgbClr val="F4F8F9"/>
                    </a:solidFill>
                  </a:tcPr>
                </a:tc>
                <a:tc>
                  <a:txBody>
                    <a:bodyPr/>
                    <a:lstStyle/>
                    <a:p>
                      <a:pPr algn="ctr"/>
                      <a:r>
                        <a:rPr sz="1400" b="0">
                          <a:solidFill>
                            <a:srgbClr val="142B33"/>
                          </a:solidFill>
                          <a:latin typeface="Calibri"/>
                        </a:rPr>
                        <a:t>35.63</a:t>
                      </a:r>
                    </a:p>
                  </a:txBody>
                  <a:tcPr marL="73152" marR="73152" marT="27432" marB="27432" anchor="ctr">
                    <a:solidFill>
                      <a:srgbClr val="F4F8F9"/>
                    </a:solidFill>
                  </a:tcPr>
                </a:tc>
              </a:tr>
              <a:tr h="335788">
                <a:tc>
                  <a:txBody>
                    <a:bodyPr/>
                    <a:lstStyle/>
                    <a:p>
                      <a:pPr algn="l"/>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1.38</a:t>
                      </a:r>
                    </a:p>
                  </a:txBody>
                  <a:tcPr marL="73152" marR="73152" marT="27432" marB="27432" anchor="ctr">
                    <a:solidFill>
                      <a:srgbClr val="FDE8D7"/>
                    </a:solidFill>
                  </a:tcPr>
                </a:tc>
                <a:tc>
                  <a:txBody>
                    <a:bodyPr/>
                    <a:lstStyle/>
                    <a:p>
                      <a:pPr algn="ctr"/>
                      <a:r>
                        <a:rPr sz="1400" b="0">
                          <a:solidFill>
                            <a:srgbClr val="142B33"/>
                          </a:solidFill>
                          <a:latin typeface="Calibri"/>
                        </a:rPr>
                        <a:t>6.38</a:t>
                      </a:r>
                    </a:p>
                  </a:txBody>
                  <a:tcPr marL="73152" marR="73152" marT="27432" marB="27432" anchor="ctr">
                    <a:solidFill>
                      <a:srgbClr val="FDE8D7"/>
                    </a:solidFill>
                  </a:tcPr>
                </a:tc>
                <a:tc>
                  <a:txBody>
                    <a:bodyPr/>
                    <a:lstStyle/>
                    <a:p>
                      <a:pPr algn="ctr"/>
                      <a:r>
                        <a:rPr sz="1400" b="0">
                          <a:solidFill>
                            <a:srgbClr val="142B33"/>
                          </a:solidFill>
                          <a:latin typeface="Calibri"/>
                        </a:rPr>
                        <a:t>1.38</a:t>
                      </a:r>
                    </a:p>
                  </a:txBody>
                  <a:tcPr marL="73152" marR="73152" marT="27432" marB="27432" anchor="ctr">
                    <a:solidFill>
                      <a:srgbClr val="FDE8D7"/>
                    </a:solidFill>
                  </a:tcPr>
                </a:tc>
              </a:tr>
              <a:tr h="335788">
                <a:tc>
                  <a:txBody>
                    <a:bodyPr/>
                    <a:lstStyle/>
                    <a:p>
                      <a:pPr algn="l"/>
                      <a:r>
                        <a:rPr sz="1400" b="0">
                          <a:solidFill>
                            <a:srgbClr val="142B33"/>
                          </a:solidFill>
                          <a:latin typeface="Calibri"/>
                        </a:rPr>
                        <a:t>AB</a:t>
                      </a:r>
                    </a:p>
                  </a:txBody>
                  <a:tcPr marL="73152" marR="73152" marT="27432" marB="27432" anchor="ctr">
                    <a:solidFill>
                      <a:srgbClr val="F4F8F9"/>
                    </a:solidFill>
                  </a:tcPr>
                </a:tc>
                <a:tc>
                  <a:txBody>
                    <a:bodyPr/>
                    <a:lstStyle/>
                    <a:p>
                      <a:pPr algn="ctr"/>
                      <a:r>
                        <a:rPr sz="1400" b="0">
                          <a:solidFill>
                            <a:srgbClr val="142B33"/>
                          </a:solidFill>
                          <a:latin typeface="Calibri"/>
                        </a:rPr>
                        <a:t>11.88</a:t>
                      </a:r>
                    </a:p>
                  </a:txBody>
                  <a:tcPr marL="73152" marR="73152" marT="27432" marB="27432" anchor="ctr">
                    <a:solidFill>
                      <a:srgbClr val="F4F8F9"/>
                    </a:solidFill>
                  </a:tcPr>
                </a:tc>
                <a:tc>
                  <a:txBody>
                    <a:bodyPr/>
                    <a:lstStyle/>
                    <a:p>
                      <a:pPr algn="ctr"/>
                      <a:r>
                        <a:rPr sz="1400" b="0">
                          <a:solidFill>
                            <a:srgbClr val="142B33"/>
                          </a:solidFill>
                          <a:latin typeface="Calibri"/>
                        </a:rPr>
                        <a:t>11.88</a:t>
                      </a:r>
                    </a:p>
                  </a:txBody>
                  <a:tcPr marL="73152" marR="73152" marT="27432" marB="27432" anchor="ctr">
                    <a:solidFill>
                      <a:srgbClr val="F4F8F9"/>
                    </a:solidFill>
                  </a:tcPr>
                </a:tc>
                <a:tc>
                  <a:txBody>
                    <a:bodyPr/>
                    <a:lstStyle/>
                    <a:p>
                      <a:pPr algn="ctr"/>
                      <a:r>
                        <a:rPr sz="1400" b="0">
                          <a:solidFill>
                            <a:srgbClr val="142B33"/>
                          </a:solidFill>
                          <a:latin typeface="Calibri"/>
                        </a:rPr>
                        <a:t>11.88</a:t>
                      </a:r>
                    </a:p>
                  </a:txBody>
                  <a:tcPr marL="73152" marR="73152" marT="27432" marB="27432" anchor="ctr">
                    <a:solidFill>
                      <a:srgbClr val="F4F8F9"/>
                    </a:solidFill>
                  </a:tcPr>
                </a:tc>
              </a:tr>
              <a:tr h="335788">
                <a:tc>
                  <a:txBody>
                    <a:bodyPr/>
                    <a:lstStyle/>
                    <a:p>
                      <a:pPr algn="l"/>
                      <a:r>
                        <a:rPr sz="1400" b="0">
                          <a:solidFill>
                            <a:srgbClr val="142B33"/>
                          </a:solidFill>
                          <a:latin typeface="Calibri"/>
                        </a:rPr>
                        <a:t>AD</a:t>
                      </a:r>
                    </a:p>
                  </a:txBody>
                  <a:tcPr marL="73152" marR="73152" marT="27432" marB="27432" anchor="ctr">
                    <a:solidFill>
                      <a:srgbClr val="FFFFFF"/>
                    </a:solidFill>
                  </a:tcPr>
                </a:tc>
                <a:tc>
                  <a:txBody>
                    <a:bodyPr/>
                    <a:lstStyle/>
                    <a:p>
                      <a:pPr algn="ctr"/>
                      <a:r>
                        <a:rPr sz="1400" b="0">
                          <a:solidFill>
                            <a:srgbClr val="142B33"/>
                          </a:solidFill>
                          <a:latin typeface="Calibri"/>
                        </a:rPr>
                        <a:t>−5.38</a:t>
                      </a:r>
                    </a:p>
                  </a:txBody>
                  <a:tcPr marL="73152" marR="73152" marT="27432" marB="27432" anchor="ctr">
                    <a:solidFill>
                      <a:srgbClr val="FFFFFF"/>
                    </a:solidFill>
                  </a:tcPr>
                </a:tc>
                <a:tc>
                  <a:txBody>
                    <a:bodyPr/>
                    <a:lstStyle/>
                    <a:p>
                      <a:pPr algn="ctr"/>
                      <a:r>
                        <a:rPr sz="1400" b="0">
                          <a:solidFill>
                            <a:srgbClr val="142B33"/>
                          </a:solidFill>
                          <a:latin typeface="Calibri"/>
                        </a:rPr>
                        <a:t>−5.38</a:t>
                      </a:r>
                    </a:p>
                  </a:txBody>
                  <a:tcPr marL="73152" marR="73152" marT="27432" marB="27432" anchor="ctr">
                    <a:solidFill>
                      <a:srgbClr val="FFFFFF"/>
                    </a:solidFill>
                  </a:tcPr>
                </a:tc>
                <a:tc>
                  <a:txBody>
                    <a:bodyPr/>
                    <a:lstStyle/>
                    <a:p>
                      <a:pPr algn="ctr"/>
                      <a:r>
                        <a:rPr sz="1400" b="0">
                          <a:solidFill>
                            <a:srgbClr val="142B33"/>
                          </a:solidFill>
                          <a:latin typeface="Calibri"/>
                        </a:rPr>
                        <a:t>−5.38</a:t>
                      </a:r>
                    </a:p>
                  </a:txBody>
                  <a:tcPr marL="73152" marR="73152" marT="27432" marB="27432" anchor="ctr">
                    <a:solidFill>
                      <a:srgbClr val="FFFFFF"/>
                    </a:solidFill>
                  </a:tcPr>
                </a:tc>
              </a:tr>
              <a:tr h="552703">
                <a:tc>
                  <a:txBody>
                    <a:bodyPr/>
                    <a:lstStyle/>
                    <a:p>
                      <a:pPr algn="l"/>
                      <a:r>
                        <a:rPr sz="1400" b="0">
                          <a:solidFill>
                            <a:srgbClr val="142B33"/>
                          </a:solidFill>
                          <a:latin typeface="Calibri"/>
                        </a:rPr>
                        <a:t>ABD (+ ACF + BEF + CDE)</a:t>
                      </a:r>
                    </a:p>
                  </a:txBody>
                  <a:tcPr marL="73152" marR="73152" marT="27432" marB="27432" anchor="ctr">
                    <a:solidFill>
                      <a:srgbClr val="FDE8D7"/>
                    </a:solidFill>
                  </a:tcPr>
                </a:tc>
                <a:tc>
                  <a:txBody>
                    <a:bodyPr/>
                    <a:lstStyle/>
                    <a:p>
                      <a:pPr algn="ctr"/>
                      <a:r>
                        <a:rPr sz="1400" b="0">
                          <a:solidFill>
                            <a:srgbClr val="142B33"/>
                          </a:solidFill>
                          <a:latin typeface="Calibri"/>
                        </a:rPr>
                        <a:t>0.13</a:t>
                      </a:r>
                    </a:p>
                  </a:txBody>
                  <a:tcPr marL="73152" marR="73152" marT="27432" marB="27432" anchor="ctr">
                    <a:solidFill>
                      <a:srgbClr val="FDE8D7"/>
                    </a:solidFill>
                  </a:tcPr>
                </a:tc>
                <a:tc>
                  <a:txBody>
                    <a:bodyPr/>
                    <a:lstStyle/>
                    <a:p>
                      <a:pPr algn="ctr"/>
                      <a:r>
                        <a:rPr sz="1400" b="0">
                          <a:solidFill>
                            <a:srgbClr val="142B33"/>
                          </a:solidFill>
                          <a:latin typeface="Calibri"/>
                        </a:rPr>
                        <a:t>0.13</a:t>
                      </a:r>
                    </a:p>
                  </a:txBody>
                  <a:tcPr marL="73152" marR="73152" marT="27432" marB="27432" anchor="ctr">
                    <a:solidFill>
                      <a:srgbClr val="FDE8D7"/>
                    </a:solidFill>
                  </a:tcPr>
                </a:tc>
                <a:tc>
                  <a:txBody>
                    <a:bodyPr/>
                    <a:lstStyle/>
                    <a:p>
                      <a:pPr algn="ctr"/>
                      <a:r>
                        <a:rPr sz="1400" b="0">
                          <a:solidFill>
                            <a:srgbClr val="142B33"/>
                          </a:solidFill>
                          <a:latin typeface="Calibri"/>
                        </a:rPr>
                        <a:t>5.13</a:t>
                      </a:r>
                    </a:p>
                  </a:txBody>
                  <a:tcPr marL="73152" marR="73152" marT="27432" marB="27432" anchor="ctr">
                    <a:solidFill>
                      <a:srgbClr val="FDE8D7"/>
                    </a:solidFill>
                  </a:tcPr>
                </a:tc>
              </a:tr>
            </a:tbl>
          </a:graphicData>
        </a:graphic>
      </p:graphicFrame>
      <p:sp>
        <p:nvSpPr>
          <p:cNvPr id="4" name="TextBox 3"/>
          <p:cNvSpPr txBox="1"/>
          <p:nvPr/>
        </p:nvSpPr>
        <p:spPr>
          <a:xfrm>
            <a:off x="548640" y="4402836"/>
            <a:ext cx="5875614" cy="222504"/>
          </a:xfrm>
          <a:prstGeom prst="rect">
            <a:avLst/>
          </a:prstGeom>
          <a:noFill/>
        </p:spPr>
        <p:txBody>
          <a:bodyPr wrap="square" anchor="t" lIns="0" rIns="0" tIns="0" bIns="0">
            <a:spAutoFit/>
          </a:bodyPr>
          <a:lstStyle/>
          <a:p>
            <a:r>
              <a:rPr sz="1200" b="0">
                <a:solidFill>
                  <a:srgbClr val="5B6B73"/>
                </a:solidFill>
                <a:latin typeface="Calibri"/>
              </a:rPr>
              <a:t>Datos del ejemplo 3; a la tarde se le suman 5 unidades</a:t>
            </a:r>
          </a:p>
        </p:txBody>
      </p:sp>
      <p:sp>
        <p:nvSpPr>
          <p:cNvPr id="5" name="TextBox 4"/>
          <p:cNvSpPr txBox="1"/>
          <p:nvPr/>
        </p:nvSpPr>
        <p:spPr>
          <a:xfrm>
            <a:off x="6835734" y="1417320"/>
            <a:ext cx="4807320" cy="11765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1">
                <a:solidFill>
                  <a:srgbClr val="142B33"/>
                </a:solidFill>
                <a:latin typeface="Calibri"/>
              </a:rPr>
              <a:t>Ingenuo</a:t>
            </a:r>
            <a:r>
              <a:rPr sz="1500" b="0">
                <a:solidFill>
                  <a:srgbClr val="142B33"/>
                </a:solidFill>
                <a:latin typeface="Calibri"/>
              </a:rPr>
              <a:t>: D pasa de 1.38 a </a:t>
            </a:r>
            <a:r>
              <a:rPr sz="1500" b="1">
                <a:solidFill>
                  <a:srgbClr val="142B33"/>
                </a:solidFill>
                <a:latin typeface="Calibri"/>
              </a:rPr>
              <a:t>6.38</a:t>
            </a:r>
            <a:r>
              <a:rPr sz="1500" b="0">
                <a:solidFill>
                  <a:srgbClr val="142B33"/>
                </a:solidFill>
                <a:latin typeface="Calibri"/>
              </a:rPr>
              <a:t>: parece activo y no lo es</a:t>
            </a:r>
          </a:p>
          <a:p>
            <a:pPr marL="320040" indent="-320040">
              <a:spcAft>
                <a:spcPts val="600"/>
              </a:spcAft>
              <a:buClr>
                <a:srgbClr val="E36414"/>
              </a:buClr>
              <a:buFont typeface="Arial"/>
              <a:buChar char="•"/>
            </a:pPr>
            <a:r>
              <a:rPr sz="1500" b="1">
                <a:solidFill>
                  <a:srgbClr val="142B33"/>
                </a:solidFill>
                <a:latin typeface="Calibri"/>
              </a:rPr>
              <a:t>Por ABD</a:t>
            </a:r>
            <a:r>
              <a:rPr sz="1500" b="0">
                <a:solidFill>
                  <a:srgbClr val="142B33"/>
                </a:solidFill>
                <a:latin typeface="Calibri"/>
              </a:rPr>
              <a:t>: solo cambia la cadena ABD, de 0.13 a </a:t>
            </a:r>
            <a:r>
              <a:rPr sz="1500" b="1">
                <a:solidFill>
                  <a:srgbClr val="142B33"/>
                </a:solidFill>
                <a:latin typeface="Calibri"/>
              </a:rPr>
              <a:t>5.13</a:t>
            </a:r>
          </a:p>
          <a:p>
            <a:pPr marL="320040" indent="-320040">
              <a:spcAft>
                <a:spcPts val="600"/>
              </a:spcAft>
              <a:buClr>
                <a:srgbClr val="E36414"/>
              </a:buClr>
              <a:buFont typeface="Arial"/>
              <a:buChar char="•"/>
            </a:pPr>
            <a:r>
              <a:rPr sz="1500" b="0">
                <a:solidFill>
                  <a:srgbClr val="142B33"/>
                </a:solidFill>
                <a:latin typeface="Calibri"/>
              </a:rPr>
              <a:t>Principales y dobles: </a:t>
            </a:r>
            <a:r>
              <a:rPr sz="1500" b="1">
                <a:solidFill>
                  <a:srgbClr val="142B33"/>
                </a:solidFill>
                <a:latin typeface="Calibri"/>
              </a:rPr>
              <a:t>iguales</a:t>
            </a:r>
            <a:r>
              <a:rPr sz="1500" b="0">
                <a:solidFill>
                  <a:srgbClr val="142B33"/>
                </a:solidFill>
                <a:latin typeface="Calibri"/>
              </a:rPr>
              <a:t> que sin turnos</a:t>
            </a:r>
          </a:p>
        </p:txBody>
      </p:sp>
      <p:sp>
        <p:nvSpPr>
          <p:cNvPr id="6" name="Rounded Rectangle 5"/>
          <p:cNvSpPr/>
          <p:nvPr/>
        </p:nvSpPr>
        <p:spPr>
          <a:xfrm>
            <a:off x="6835734" y="2795016"/>
            <a:ext cx="4807320"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 diferencia entre bloques </a:t>
            </a:r>
            <a:r>
              <a:rPr sz="1500" b="1">
                <a:solidFill>
                  <a:srgbClr val="142B33"/>
                </a:solidFill>
                <a:latin typeface="Calibri"/>
              </a:rPr>
              <a:t>siempre</a:t>
            </a:r>
            <a:r>
              <a:rPr sz="1500" b="0">
                <a:solidFill>
                  <a:srgbClr val="142B33"/>
                </a:solidFill>
                <a:latin typeface="Calibri"/>
              </a:rPr>
              <a:t> cae en una columna: se escoge </a:t>
            </a:r>
            <a:r>
              <a:rPr sz="1500" b="1">
                <a:solidFill>
                  <a:srgbClr val="142B33"/>
                </a:solidFill>
                <a:latin typeface="Calibri"/>
              </a:rPr>
              <a:t>cuál se sacrifica</a:t>
            </a:r>
            <a:r>
              <a:rPr sz="1500" b="0">
                <a:solidFill>
                  <a:srgbClr val="142B33"/>
                </a:solidFill>
                <a:latin typeface="Calibri"/>
              </a:rPr>
              <a:t>, una de orden alto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74</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separa un fraccionado en bloques?</a:t>
            </a:r>
          </a:p>
        </p:txBody>
      </p:sp>
      <p:graphicFrame>
        <p:nvGraphicFramePr>
          <p:cNvPr id="3" name="Table 2"/>
          <p:cNvGraphicFramePr>
            <a:graphicFrameLocks noGrp="1"/>
          </p:cNvGraphicFramePr>
          <p:nvPr/>
        </p:nvGraphicFramePr>
        <p:xfrm>
          <a:off x="548640" y="1417320"/>
          <a:ext cx="4700490" cy="2507988"/>
        </p:xfrm>
        <a:graphic>
          <a:graphicData uri="http://schemas.openxmlformats.org/drawingml/2006/table">
            <a:tbl>
              <a:tblPr firstRow="0" bandRow="0">
                <a:tableStyleId>{5C22544A-7EE6-4342-B048-85BDC9FD1C3A}</a:tableStyleId>
              </a:tblPr>
              <a:tblGrid>
                <a:gridCol w="1363142"/>
                <a:gridCol w="987103"/>
                <a:gridCol w="1363142"/>
                <a:gridCol w="987103"/>
              </a:tblGrid>
              <a:tr h="457708">
                <a:tc>
                  <a:txBody>
                    <a:bodyPr/>
                    <a:lstStyle/>
                    <a:p>
                      <a:pPr algn="ctr"/>
                      <a:r>
                        <a:rPr sz="1300" b="1">
                          <a:solidFill>
                            <a:srgbClr val="FFFFFF"/>
                          </a:solidFill>
                          <a:latin typeface="Calibri"/>
                        </a:rPr>
                        <a:t>Mañana · ABD −</a:t>
                      </a:r>
                    </a:p>
                  </a:txBody>
                  <a:tcPr marL="73152" marR="73152" marT="27432" marB="27432" anchor="ctr">
                    <a:solidFill>
                      <a:srgbClr val="0F4C5C"/>
                    </a:solidFill>
                  </a:tcPr>
                </a:tc>
                <a:tc>
                  <a:txBody>
                    <a:bodyPr/>
                    <a:lstStyle/>
                    <a:p>
                      <a:pPr algn="ctr"/>
                      <a:r>
                        <a:rPr sz="1300" b="1">
                          <a:solidFill>
                            <a:srgbClr val="FFFFFF"/>
                          </a:solidFill>
                          <a:latin typeface="Calibri"/>
                        </a:rPr>
                        <a:t>Letras en común</a:t>
                      </a:r>
                    </a:p>
                  </a:txBody>
                  <a:tcPr marL="73152" marR="73152" marT="27432" marB="27432" anchor="ctr">
                    <a:solidFill>
                      <a:srgbClr val="0F4C5C"/>
                    </a:solidFill>
                  </a:tcPr>
                </a:tc>
                <a:tc>
                  <a:txBody>
                    <a:bodyPr/>
                    <a:lstStyle/>
                    <a:p>
                      <a:pPr algn="ctr"/>
                      <a:r>
                        <a:rPr sz="1300" b="1">
                          <a:solidFill>
                            <a:srgbClr val="FFFFFF"/>
                          </a:solidFill>
                          <a:latin typeface="Calibri"/>
                        </a:rPr>
                        <a:t>Tarde · ABD +</a:t>
                      </a:r>
                    </a:p>
                  </a:txBody>
                  <a:tcPr marL="73152" marR="73152" marT="27432" marB="27432" anchor="ctr">
                    <a:solidFill>
                      <a:srgbClr val="0F4C5C"/>
                    </a:solidFill>
                  </a:tcPr>
                </a:tc>
                <a:tc>
                  <a:txBody>
                    <a:bodyPr/>
                    <a:lstStyle/>
                    <a:p>
                      <a:pPr algn="ctr"/>
                      <a:r>
                        <a:rPr sz="1300" b="1">
                          <a:solidFill>
                            <a:srgbClr val="FFFFFF"/>
                          </a:solidFill>
                          <a:latin typeface="Calibri"/>
                        </a:rPr>
                        <a:t>Letras en común</a:t>
                      </a:r>
                    </a:p>
                  </a:txBody>
                  <a:tcPr marL="73152" marR="73152" marT="27432" marB="27432" anchor="ctr">
                    <a:solidFill>
                      <a:srgbClr val="0F4C5C"/>
                    </a:solidFill>
                  </a:tcPr>
                </a:tc>
              </a:tr>
              <a:tr h="256285">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ae</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r>
              <a:tr h="256285">
                <a:tc>
                  <a:txBody>
                    <a:bodyPr/>
                    <a:lstStyle/>
                    <a:p>
                      <a:pPr algn="ctr"/>
                      <a:r>
                        <a:rPr sz="1300" b="0">
                          <a:solidFill>
                            <a:srgbClr val="142B33"/>
                          </a:solidFill>
                          <a:latin typeface="Calibri"/>
                        </a:rPr>
                        <a:t>abf</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bef</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tr>
              <a:tr h="256285">
                <a:tc>
                  <a:txBody>
                    <a:bodyPr/>
                    <a:lstStyle/>
                    <a:p>
                      <a:pPr algn="ctr"/>
                      <a:r>
                        <a:rPr sz="1300" b="0">
                          <a:solidFill>
                            <a:srgbClr val="142B33"/>
                          </a:solidFill>
                          <a:latin typeface="Calibri"/>
                        </a:rPr>
                        <a:t>cef</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acf</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r>
              <a:tr h="256285">
                <a:tc>
                  <a:txBody>
                    <a:bodyPr/>
                    <a:lstStyle/>
                    <a:p>
                      <a:pPr algn="ctr"/>
                      <a:r>
                        <a:rPr sz="1300" b="0">
                          <a:solidFill>
                            <a:srgbClr val="142B33"/>
                          </a:solidFill>
                          <a:latin typeface="Calibri"/>
                        </a:rPr>
                        <a:t>abce</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bc</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tr>
              <a:tr h="256285">
                <a:tc>
                  <a:txBody>
                    <a:bodyPr/>
                    <a:lstStyle/>
                    <a:p>
                      <a:pPr algn="ctr"/>
                      <a:r>
                        <a:rPr sz="1300" b="0">
                          <a:solidFill>
                            <a:srgbClr val="142B33"/>
                          </a:solidFill>
                          <a:latin typeface="Calibri"/>
                        </a:rPr>
                        <a:t>adef</a:t>
                      </a:r>
                    </a:p>
                  </a:txBody>
                  <a:tcPr marL="73152" marR="73152" marT="27432" marB="27432" anchor="ctr">
                    <a:solidFill>
                      <a:srgbClr val="FFFFFF"/>
                    </a:solidFill>
                  </a:tcPr>
                </a:tc>
                <a:tc>
                  <a:txBody>
                    <a:bodyPr/>
                    <a:lstStyle/>
                    <a:p>
                      <a:pPr algn="ctr"/>
                      <a:r>
                        <a:rPr sz="1300" b="0">
                          <a:solidFill>
                            <a:srgbClr val="142B33"/>
                          </a:solidFill>
                          <a:latin typeface="Calibri"/>
                        </a:rPr>
                        <a:t>2</a:t>
                      </a:r>
                    </a:p>
                  </a:txBody>
                  <a:tcPr marL="73152" marR="73152" marT="27432" marB="27432" anchor="ctr">
                    <a:solidFill>
                      <a:srgbClr val="FFFFFF"/>
                    </a:solidFill>
                  </a:tcPr>
                </a:tc>
                <a:tc>
                  <a:txBody>
                    <a:bodyPr/>
                    <a:lstStyle/>
                    <a:p>
                      <a:pPr algn="ctr"/>
                      <a:r>
                        <a:rPr sz="1300" b="0">
                          <a:solidFill>
                            <a:srgbClr val="142B33"/>
                          </a:solidFill>
                          <a:latin typeface="Calibri"/>
                        </a:rPr>
                        <a:t>df</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r>
              <a:tr h="256285">
                <a:tc>
                  <a:txBody>
                    <a:bodyPr/>
                    <a:lstStyle/>
                    <a:p>
                      <a:pPr algn="ctr"/>
                      <a:r>
                        <a:rPr sz="1300" b="0">
                          <a:solidFill>
                            <a:srgbClr val="142B33"/>
                          </a:solidFill>
                          <a:latin typeface="Calibri"/>
                        </a:rPr>
                        <a:t>bde</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abd</a:t>
                      </a:r>
                    </a:p>
                  </a:txBody>
                  <a:tcPr marL="73152" marR="73152" marT="27432" marB="27432" anchor="ctr">
                    <a:solidFill>
                      <a:srgbClr val="F4F8F9"/>
                    </a:solidFill>
                  </a:tcPr>
                </a:tc>
                <a:tc>
                  <a:txBody>
                    <a:bodyPr/>
                    <a:lstStyle/>
                    <a:p>
                      <a:pPr algn="ctr"/>
                      <a:r>
                        <a:rPr sz="1300" b="0">
                          <a:solidFill>
                            <a:srgbClr val="142B33"/>
                          </a:solidFill>
                          <a:latin typeface="Calibri"/>
                        </a:rPr>
                        <a:t>3</a:t>
                      </a:r>
                    </a:p>
                  </a:txBody>
                  <a:tcPr marL="73152" marR="73152" marT="27432" marB="27432" anchor="ctr">
                    <a:solidFill>
                      <a:srgbClr val="F4F8F9"/>
                    </a:solidFill>
                  </a:tcPr>
                </a:tc>
              </a:tr>
              <a:tr h="256285">
                <a:tc>
                  <a:txBody>
                    <a:bodyPr/>
                    <a:lstStyle/>
                    <a:p>
                      <a:pPr algn="ctr"/>
                      <a:r>
                        <a:rPr sz="1300" b="0">
                          <a:solidFill>
                            <a:srgbClr val="142B33"/>
                          </a:solidFill>
                          <a:latin typeface="Calibri"/>
                        </a:rPr>
                        <a:t>acd</a:t>
                      </a:r>
                    </a:p>
                  </a:txBody>
                  <a:tcPr marL="73152" marR="73152" marT="27432" marB="27432" anchor="ctr">
                    <a:solidFill>
                      <a:srgbClr val="FFFFFF"/>
                    </a:solidFill>
                  </a:tcPr>
                </a:tc>
                <a:tc>
                  <a:txBody>
                    <a:bodyPr/>
                    <a:lstStyle/>
                    <a:p>
                      <a:pPr algn="ctr"/>
                      <a:r>
                        <a:rPr sz="1300" b="0">
                          <a:solidFill>
                            <a:srgbClr val="142B33"/>
                          </a:solidFill>
                          <a:latin typeface="Calibri"/>
                        </a:rPr>
                        <a:t>2</a:t>
                      </a:r>
                    </a:p>
                  </a:txBody>
                  <a:tcPr marL="73152" marR="73152" marT="27432" marB="27432" anchor="ctr">
                    <a:solidFill>
                      <a:srgbClr val="FFFFFF"/>
                    </a:solidFill>
                  </a:tcPr>
                </a:tc>
                <a:tc>
                  <a:txBody>
                    <a:bodyPr/>
                    <a:lstStyle/>
                    <a:p>
                      <a:pPr algn="ctr"/>
                      <a:r>
                        <a:rPr sz="1300" b="0">
                          <a:solidFill>
                            <a:srgbClr val="142B33"/>
                          </a:solidFill>
                          <a:latin typeface="Calibri"/>
                        </a:rPr>
                        <a:t>cde</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r>
              <a:tr h="256285">
                <a:tc>
                  <a:txBody>
                    <a:bodyPr/>
                    <a:lstStyle/>
                    <a:p>
                      <a:pPr algn="ctr"/>
                      <a:r>
                        <a:rPr sz="1300" b="0">
                          <a:solidFill>
                            <a:srgbClr val="142B33"/>
                          </a:solidFill>
                          <a:latin typeface="Calibri"/>
                        </a:rPr>
                        <a:t>bcdf</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abcdef</a:t>
                      </a:r>
                    </a:p>
                  </a:txBody>
                  <a:tcPr marL="73152" marR="73152" marT="27432" marB="27432" anchor="ctr">
                    <a:solidFill>
                      <a:srgbClr val="F4F8F9"/>
                    </a:solidFill>
                  </a:tcPr>
                </a:tc>
                <a:tc>
                  <a:txBody>
                    <a:bodyPr/>
                    <a:lstStyle/>
                    <a:p>
                      <a:pPr algn="ctr"/>
                      <a:r>
                        <a:rPr sz="13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4126484"/>
            <a:ext cx="4700491" cy="207010"/>
          </a:xfrm>
          <a:prstGeom prst="rect">
            <a:avLst/>
          </a:prstGeom>
          <a:noFill/>
        </p:spPr>
        <p:txBody>
          <a:bodyPr wrap="square" anchor="t" lIns="0" rIns="0" tIns="0" bIns="0">
            <a:spAutoFit/>
          </a:bodyPr>
          <a:lstStyle/>
          <a:p>
            <a:r>
              <a:rPr sz="1100" b="0">
                <a:solidFill>
                  <a:srgbClr val="5B6B73"/>
                </a:solidFill>
                <a:latin typeface="Calibri"/>
              </a:rPr>
              <a:t>Montgomery, fig. 8-18 (la figura imprime «abef»; debe ser adef)</a:t>
            </a:r>
          </a:p>
        </p:txBody>
      </p:sp>
      <p:sp>
        <p:nvSpPr>
          <p:cNvPr id="5" name="TextBox 4"/>
          <p:cNvSpPr txBox="1"/>
          <p:nvPr/>
        </p:nvSpPr>
        <p:spPr>
          <a:xfrm>
            <a:off x="5660611" y="1417320"/>
            <a:ext cx="5982443" cy="222427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300" b="0">
                <a:solidFill>
                  <a:srgbClr val="142B33"/>
                </a:solidFill>
                <a:latin typeface="Calibri"/>
              </a:rPr>
              <a:t>Decidir cuántos bloques: </a:t>
            </a:r>
            <a:r>
              <a:rPr sz="1300" b="1">
                <a:solidFill>
                  <a:srgbClr val="142B33"/>
                </a:solidFill>
                <a:latin typeface="Calibri"/>
              </a:rPr>
              <a:t>2</a:t>
            </a:r>
            <a:r>
              <a:rPr sz="1300" b="0">
                <a:solidFill>
                  <a:srgbClr val="142B33"/>
                </a:solidFill>
                <a:latin typeface="Calibri"/>
              </a:rPr>
              <a:t> bloques confunden </a:t>
            </a:r>
            <a:r>
              <a:rPr sz="1300" b="1">
                <a:solidFill>
                  <a:srgbClr val="142B33"/>
                </a:solidFill>
                <a:latin typeface="Calibri"/>
              </a:rPr>
              <a:t>1</a:t>
            </a:r>
            <a:r>
              <a:rPr sz="1300" b="0">
                <a:solidFill>
                  <a:srgbClr val="142B33"/>
                </a:solidFill>
                <a:latin typeface="Calibri"/>
              </a:rPr>
              <a:t> columna; </a:t>
            </a:r>
            <a:r>
              <a:rPr sz="1300" b="1">
                <a:solidFill>
                  <a:srgbClr val="142B33"/>
                </a:solidFill>
                <a:latin typeface="Calibri"/>
              </a:rPr>
              <a:t>4</a:t>
            </a:r>
            <a:r>
              <a:rPr sz="1300" b="0">
                <a:solidFill>
                  <a:srgbClr val="142B33"/>
                </a:solidFill>
                <a:latin typeface="Calibri"/>
              </a:rPr>
              <a:t> confunden </a:t>
            </a:r>
            <a:r>
              <a:rPr sz="1300" b="1">
                <a:solidFill>
                  <a:srgbClr val="142B33"/>
                </a:solidFill>
                <a:latin typeface="Calibri"/>
              </a:rPr>
              <a:t>2</a:t>
            </a:r>
            <a:r>
              <a:rPr sz="1300" b="0">
                <a:solidFill>
                  <a:srgbClr val="142B33"/>
                </a:solidFill>
                <a:latin typeface="Calibri"/>
              </a:rPr>
              <a:t> y su producto</a:t>
            </a:r>
          </a:p>
          <a:p>
            <a:pPr marL="320040" indent="-320040">
              <a:spcAft>
                <a:spcPts val="600"/>
              </a:spcAft>
              <a:buClr>
                <a:srgbClr val="E36414"/>
              </a:buClr>
              <a:buFont typeface="+mj-lt"/>
              <a:buAutoNum type="arabicPeriod"/>
            </a:pPr>
            <a:r>
              <a:rPr sz="1300" b="0">
                <a:solidFill>
                  <a:srgbClr val="142B33"/>
                </a:solidFill>
                <a:latin typeface="Calibri"/>
              </a:rPr>
              <a:t>Escribir las </a:t>
            </a:r>
            <a:r>
              <a:rPr sz="1300" b="1">
                <a:solidFill>
                  <a:srgbClr val="142B33"/>
                </a:solidFill>
                <a:latin typeface="Calibri"/>
              </a:rPr>
              <a:t>cadenas de alias</a:t>
            </a:r>
            <a:r>
              <a:rPr sz="1300" b="0">
                <a:solidFill>
                  <a:srgbClr val="142B33"/>
                </a:solidFill>
                <a:latin typeface="Calibri"/>
              </a:rPr>
              <a:t> del fraccionado</a:t>
            </a:r>
          </a:p>
          <a:p>
            <a:pPr marL="320040" indent="-320040">
              <a:spcAft>
                <a:spcPts val="600"/>
              </a:spcAft>
              <a:buClr>
                <a:srgbClr val="E36414"/>
              </a:buClr>
              <a:buFont typeface="+mj-lt"/>
              <a:buAutoNum type="arabicPeriod"/>
            </a:pPr>
            <a:r>
              <a:rPr sz="1300" b="0">
                <a:solidFill>
                  <a:srgbClr val="142B33"/>
                </a:solidFill>
                <a:latin typeface="Calibri"/>
              </a:rPr>
              <a:t>Escoger una cadena con </a:t>
            </a:r>
            <a:r>
              <a:rPr sz="1300" b="1">
                <a:solidFill>
                  <a:srgbClr val="142B33"/>
                </a:solidFill>
                <a:latin typeface="Calibri"/>
              </a:rPr>
              <a:t>solo interacciones de orden alto</a:t>
            </a:r>
            <a:r>
              <a:rPr sz="1300" b="0">
                <a:solidFill>
                  <a:srgbClr val="142B33"/>
                </a:solidFill>
                <a:latin typeface="Calibri"/>
              </a:rPr>
              <a:t>: aquí ABD = ACF = BEF = CDE</a:t>
            </a:r>
          </a:p>
          <a:p>
            <a:pPr marL="320040" indent="-320040">
              <a:spcAft>
                <a:spcPts val="600"/>
              </a:spcAft>
              <a:buClr>
                <a:srgbClr val="E36414"/>
              </a:buClr>
              <a:buFont typeface="+mj-lt"/>
              <a:buAutoNum type="arabicPeriod"/>
            </a:pPr>
            <a:r>
              <a:rPr sz="1300" b="0">
                <a:solidFill>
                  <a:srgbClr val="142B33"/>
                </a:solidFill>
                <a:latin typeface="Calibri"/>
              </a:rPr>
              <a:t>Calcular el </a:t>
            </a:r>
            <a:r>
              <a:rPr sz="1300" b="1">
                <a:solidFill>
                  <a:srgbClr val="142B33"/>
                </a:solidFill>
                <a:latin typeface="Calibri"/>
              </a:rPr>
              <a:t>signo de ABD</a:t>
            </a:r>
            <a:r>
              <a:rPr sz="1300" b="0">
                <a:solidFill>
                  <a:srgbClr val="142B33"/>
                </a:solidFill>
                <a:latin typeface="Calibri"/>
              </a:rPr>
              <a:t> en cada corrida: signo de A × signo de B × signo de D</a:t>
            </a:r>
          </a:p>
          <a:p>
            <a:pPr marL="320040" indent="-320040">
              <a:spcAft>
                <a:spcPts val="600"/>
              </a:spcAft>
              <a:buClr>
                <a:srgbClr val="E36414"/>
              </a:buClr>
              <a:buFont typeface="+mj-lt"/>
              <a:buAutoNum type="arabicPeriod"/>
            </a:pPr>
            <a:r>
              <a:rPr sz="1300" b="0">
                <a:solidFill>
                  <a:srgbClr val="142B33"/>
                </a:solidFill>
                <a:latin typeface="Calibri"/>
              </a:rPr>
              <a:t>Repartir: </a:t>
            </a:r>
            <a:r>
              <a:rPr sz="1300" b="1">
                <a:solidFill>
                  <a:srgbClr val="142B33"/>
                </a:solidFill>
                <a:latin typeface="Calibri"/>
              </a:rPr>
              <a:t>ABD = −</a:t>
            </a:r>
            <a:r>
              <a:rPr sz="1300" b="0">
                <a:solidFill>
                  <a:srgbClr val="142B33"/>
                </a:solidFill>
                <a:latin typeface="Calibri"/>
              </a:rPr>
              <a:t> a la mañana (bloque 1), </a:t>
            </a:r>
            <a:r>
              <a:rPr sz="1300" b="1">
                <a:solidFill>
                  <a:srgbClr val="142B33"/>
                </a:solidFill>
                <a:latin typeface="Calibri"/>
              </a:rPr>
              <a:t>ABD = +</a:t>
            </a:r>
            <a:r>
              <a:rPr sz="1300" b="0">
                <a:solidFill>
                  <a:srgbClr val="142B33"/>
                </a:solidFill>
                <a:latin typeface="Calibri"/>
              </a:rPr>
              <a:t> a la tarde (bloque 2); ABD queda </a:t>
            </a:r>
            <a:r>
              <a:rPr sz="1300" b="1">
                <a:solidFill>
                  <a:srgbClr val="142B33"/>
                </a:solidFill>
                <a:latin typeface="Calibri"/>
              </a:rPr>
              <a:t>confundida</a:t>
            </a:r>
            <a:r>
              <a:rPr sz="1300" b="0">
                <a:solidFill>
                  <a:srgbClr val="142B33"/>
                </a:solidFill>
                <a:latin typeface="Calibri"/>
              </a:rPr>
              <a:t> con el turno</a:t>
            </a:r>
          </a:p>
        </p:txBody>
      </p:sp>
      <p:sp>
        <p:nvSpPr>
          <p:cNvPr id="6" name="Rounded Rectangle 5"/>
          <p:cNvSpPr/>
          <p:nvPr/>
        </p:nvSpPr>
        <p:spPr>
          <a:xfrm>
            <a:off x="5660611" y="3842766"/>
            <a:ext cx="5982443" cy="67716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1">
                <a:solidFill>
                  <a:srgbClr val="142B33"/>
                </a:solidFill>
                <a:latin typeface="Calibri"/>
              </a:rPr>
              <a:t>Atajo</a:t>
            </a:r>
            <a:r>
              <a:rPr sz="1300" b="0">
                <a:solidFill>
                  <a:srgbClr val="142B33"/>
                </a:solidFill>
                <a:latin typeface="Calibri"/>
              </a:rPr>
              <a:t>: letras en común con ABD. </a:t>
            </a:r>
            <a:r>
              <a:rPr sz="1300" b="1">
                <a:solidFill>
                  <a:srgbClr val="142B33"/>
                </a:solidFill>
                <a:latin typeface="Calibri"/>
              </a:rPr>
              <a:t>Par</a:t>
            </a:r>
            <a:r>
              <a:rPr sz="1300" b="0">
                <a:solidFill>
                  <a:srgbClr val="142B33"/>
                </a:solidFill>
                <a:latin typeface="Calibri"/>
              </a:rPr>
              <a:t> (0 o 2) → mañana; </a:t>
            </a:r>
            <a:r>
              <a:rPr sz="1300" b="1">
                <a:solidFill>
                  <a:srgbClr val="142B33"/>
                </a:solidFill>
                <a:latin typeface="Calibri"/>
              </a:rPr>
              <a:t>impar</a:t>
            </a:r>
            <a:r>
              <a:rPr sz="1300" b="0">
                <a:solidFill>
                  <a:srgbClr val="142B33"/>
                </a:solidFill>
                <a:latin typeface="Calibri"/>
              </a:rPr>
              <a:t> (1 o 3) → tarde. abf: a, b = 2 → mañana.  ae: a = 1 → tarde</a:t>
            </a:r>
          </a:p>
        </p:txBody>
      </p:sp>
      <p:sp>
        <p:nvSpPr>
          <p:cNvPr id="7" name="Rounded Rectangle 6"/>
          <p:cNvSpPr/>
          <p:nvPr/>
        </p:nvSpPr>
        <p:spPr>
          <a:xfrm>
            <a:off x="5660611" y="4721098"/>
            <a:ext cx="5982443" cy="108000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1">
                <a:solidFill>
                  <a:srgbClr val="142B33"/>
                </a:solidFill>
                <a:latin typeface="Calibri"/>
              </a:rPr>
              <a:t>Se pierde</a:t>
            </a:r>
            <a:r>
              <a:rPr sz="1300" b="0">
                <a:solidFill>
                  <a:srgbClr val="142B33"/>
                </a:solidFill>
                <a:latin typeface="Calibri"/>
              </a:rPr>
              <a:t> la cadena ABD = ACF = BEF = CDE: su contraste es la diferencia entre turnos (fila de </a:t>
            </a:r>
            <a:r>
              <a:rPr sz="1300" b="1">
                <a:solidFill>
                  <a:srgbClr val="142B33"/>
                </a:solidFill>
                <a:latin typeface="Calibri"/>
              </a:rPr>
              <a:t>bloques</a:t>
            </a:r>
            <a:r>
              <a:rPr sz="1300" b="0">
                <a:solidFill>
                  <a:srgbClr val="142B33"/>
                </a:solidFill>
                <a:latin typeface="Calibri"/>
              </a:rPr>
              <a:t> del ANOVA, 1 g.l.). </a:t>
            </a:r>
            <a:r>
              <a:rPr sz="1300" b="1">
                <a:solidFill>
                  <a:srgbClr val="142B33"/>
                </a:solidFill>
                <a:latin typeface="Calibri"/>
              </a:rPr>
              <a:t>Se conserva</a:t>
            </a:r>
            <a:r>
              <a:rPr sz="1300" b="0">
                <a:solidFill>
                  <a:srgbClr val="142B33"/>
                </a:solidFill>
                <a:latin typeface="Calibri"/>
              </a:rPr>
              <a:t> el resto: las otras 13 cadenas tienen 4 + y 4 − en cada turno y la diferencia se cancela en sus contrastes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75</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Enunciado: máquina CNC</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máquina CNC de cinco ejes produce el impulsor de un motor de turbina. Una característica de calidad clave es el </a:t>
            </a:r>
            <a:r>
              <a:rPr sz="1600" b="1">
                <a:solidFill>
                  <a:srgbClr val="142B33"/>
                </a:solidFill>
                <a:latin typeface="Calibri"/>
              </a:rPr>
              <a:t>perfil de los álabes</a:t>
            </a:r>
            <a:r>
              <a:rPr sz="1600" b="0">
                <a:solidFill>
                  <a:srgbClr val="142B33"/>
                </a:solidFill>
                <a:latin typeface="Calibri"/>
              </a:rPr>
              <a:t>: interesa su desviación respecto al perfil especificado en el plano, medida como la desviación estándar de la diferencia entre ambos.</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Se quiere saber </a:t>
            </a:r>
            <a:r>
              <a:rPr sz="1600" b="1">
                <a:solidFill>
                  <a:srgbClr val="142B33"/>
                </a:solidFill>
                <a:latin typeface="Calibri"/>
              </a:rPr>
              <a:t>qué parámetros de la máquina</a:t>
            </a:r>
            <a:r>
              <a:rPr sz="1600" b="0">
                <a:solidFill>
                  <a:srgbClr val="142B33"/>
                </a:solidFill>
                <a:latin typeface="Calibri"/>
              </a:rPr>
              <a:t> afectan esa desviación. Se eligen ocho factores a dos niveles: desviaciones de los ejes x, y, z y a, fabricante de la herramienta, velocidad del husillo, altura de la plantilla sujetadora y velocidad de alimentación.</a:t>
            </a:r>
          </a:p>
        </p:txBody>
      </p:sp>
      <p:sp>
        <p:nvSpPr>
          <p:cNvPr id="5" name="TextBox 4"/>
          <p:cNvSpPr txBox="1"/>
          <p:nvPr/>
        </p:nvSpPr>
        <p:spPr>
          <a:xfrm>
            <a:off x="548640" y="4371848"/>
            <a:ext cx="6196102" cy="1276096"/>
          </a:xfrm>
          <a:prstGeom prst="rect">
            <a:avLst/>
          </a:prstGeom>
          <a:noFill/>
        </p:spPr>
        <p:txBody>
          <a:bodyPr wrap="square" anchor="t" lIns="0" rIns="0" tIns="0" bIns="0">
            <a:spAutoFit/>
          </a:bodyPr>
          <a:lstStyle/>
          <a:p>
            <a:r>
              <a:rPr sz="1600" b="0">
                <a:solidFill>
                  <a:srgbClr val="142B33"/>
                </a:solidFill>
                <a:latin typeface="Calibri"/>
              </a:rPr>
              <a:t>La máquina tiene </a:t>
            </a:r>
            <a:r>
              <a:rPr sz="1600" b="1">
                <a:solidFill>
                  <a:srgbClr val="142B33"/>
                </a:solidFill>
                <a:latin typeface="Calibri"/>
              </a:rPr>
              <a:t>cuatro husillos</a:t>
            </a:r>
            <a:r>
              <a:rPr sz="1600" b="0">
                <a:solidFill>
                  <a:srgbClr val="142B33"/>
                </a:solidFill>
                <a:latin typeface="Calibri"/>
              </a:rPr>
              <a:t> (la traducción del libro los llama areómetros) que pueden diferir entre sí; deben tratarse como </a:t>
            </a:r>
            <a:r>
              <a:rPr sz="1600" b="1">
                <a:solidFill>
                  <a:srgbClr val="142B33"/>
                </a:solidFill>
                <a:latin typeface="Calibri"/>
              </a:rPr>
              <a:t>bloques</a:t>
            </a:r>
            <a:r>
              <a:rPr sz="1600" b="0">
                <a:solidFill>
                  <a:srgbClr val="142B33"/>
                </a:solidFill>
                <a:latin typeface="Calibri"/>
              </a:rPr>
              <a:t>. Los ingenieros creen que las interacciones de tres o más factores son despreciables, pero no quieren ignorar las de dos.</a:t>
            </a:r>
          </a:p>
        </p:txBody>
      </p:sp>
      <p:sp>
        <p:nvSpPr>
          <p:cNvPr id="6" name="TextBox 5"/>
          <p:cNvSpPr txBox="1"/>
          <p:nvPr/>
        </p:nvSpPr>
        <p:spPr>
          <a:xfrm>
            <a:off x="548640" y="5849112"/>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8-6</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Identificar los parámetros de la máquina que </a:t>
            </a:r>
            <a:r>
              <a:rPr sz="1500" b="1">
                <a:solidFill>
                  <a:srgbClr val="142B33"/>
                </a:solidFill>
                <a:latin typeface="Calibri"/>
              </a:rPr>
              <a:t>más afectan la desviación del perfil</a:t>
            </a:r>
            <a:r>
              <a:rPr sz="1500" b="0">
                <a:solidFill>
                  <a:srgbClr val="142B33"/>
                </a:solidFill>
                <a:latin typeface="Calibri"/>
              </a:rPr>
              <a:t>, controlando la diferencia entre husillos</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49123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Elegir entre 16 y 32 corridas y justificarlo</a:t>
            </a:r>
          </a:p>
          <a:p>
            <a:pPr marL="320040" indent="-320040">
              <a:spcAft>
                <a:spcPts val="600"/>
              </a:spcAft>
              <a:buClr>
                <a:srgbClr val="E36414"/>
              </a:buClr>
              <a:buFont typeface="+mj-lt"/>
              <a:buAutoNum type="arabicPeriod"/>
            </a:pPr>
            <a:r>
              <a:rPr sz="1500" b="0">
                <a:solidFill>
                  <a:srgbClr val="142B33"/>
                </a:solidFill>
                <a:latin typeface="Calibri"/>
              </a:rPr>
              <a:t>Repartir el diseño en cuatro bloques y ver qué se confunde</a:t>
            </a:r>
          </a:p>
          <a:p>
            <a:pPr marL="320040" indent="-320040">
              <a:spcAft>
                <a:spcPts val="600"/>
              </a:spcAft>
              <a:buClr>
                <a:srgbClr val="E36414"/>
              </a:buClr>
              <a:buFont typeface="+mj-lt"/>
              <a:buAutoNum type="arabicPeriod"/>
            </a:pPr>
            <a:r>
              <a:rPr sz="1500" b="0">
                <a:solidFill>
                  <a:srgbClr val="142B33"/>
                </a:solidFill>
                <a:latin typeface="Calibri"/>
              </a:rPr>
              <a:t>Estimar los efectos y ajustar el modelo</a:t>
            </a:r>
          </a:p>
          <a:p>
            <a:pPr marL="320040" indent="-320040">
              <a:spcAft>
                <a:spcPts val="600"/>
              </a:spcAft>
              <a:buClr>
                <a:srgbClr val="E36414"/>
              </a:buClr>
              <a:buFont typeface="+mj-lt"/>
              <a:buAutoNum type="arabicPeriod"/>
            </a:pPr>
            <a:r>
              <a:rPr sz="1500" b="0">
                <a:solidFill>
                  <a:srgbClr val="142B33"/>
                </a:solidFill>
                <a:latin typeface="Calibri"/>
              </a:rPr>
              <a:t>Interpretar los alias que queden ambiguos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76</a:t>
            </a:r>
          </a:p>
        </p:txBody>
      </p:sp>
      <p:sp>
        <p:nvSpPr>
          <p:cNvPr id="12" name="Rounded Rectangle 11"/>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Pasos 1 y 2: respuesta, factores y resolución</a:t>
            </a:r>
          </a:p>
        </p:txBody>
      </p:sp>
      <p:graphicFrame>
        <p:nvGraphicFramePr>
          <p:cNvPr id="3" name="Table 2"/>
          <p:cNvGraphicFramePr>
            <a:graphicFrameLocks noGrp="1"/>
          </p:cNvGraphicFramePr>
          <p:nvPr/>
        </p:nvGraphicFramePr>
        <p:xfrm>
          <a:off x="548640" y="1417320"/>
          <a:ext cx="5341466" cy="2882646"/>
        </p:xfrm>
        <a:graphic>
          <a:graphicData uri="http://schemas.openxmlformats.org/drawingml/2006/table">
            <a:tbl>
              <a:tblPr firstRow="0" bandRow="0">
                <a:tableStyleId>{5C22544A-7EE6-4342-B048-85BDC9FD1C3A}</a:tableStyleId>
              </a:tblPr>
              <a:tblGrid>
                <a:gridCol w="3204880"/>
                <a:gridCol w="1068293"/>
                <a:gridCol w="1068293"/>
              </a:tblGrid>
              <a:tr h="320294">
                <a:tc>
                  <a:txBody>
                    <a:bodyPr/>
                    <a:lstStyle/>
                    <a:p>
                      <a:pPr algn="l"/>
                      <a:r>
                        <a:rPr sz="1300" b="1">
                          <a:solidFill>
                            <a:srgbClr val="FFFFFF"/>
                          </a:solidFill>
                          <a:latin typeface="Calibri"/>
                        </a:rPr>
                        <a:t>Factor</a:t>
                      </a:r>
                    </a:p>
                  </a:txBody>
                  <a:tcPr marL="73152" marR="73152" marT="27432" marB="27432" anchor="ctr">
                    <a:solidFill>
                      <a:srgbClr val="0F4C5C"/>
                    </a:solidFill>
                  </a:tcPr>
                </a:tc>
                <a:tc>
                  <a:txBody>
                    <a:bodyPr/>
                    <a:lstStyle/>
                    <a:p>
                      <a:pPr algn="ctr"/>
                      <a:r>
                        <a:rPr sz="1300" b="1">
                          <a:solidFill>
                            <a:srgbClr val="FFFFFF"/>
                          </a:solidFill>
                          <a:latin typeface="Calibri"/>
                        </a:rPr>
                        <a:t>Bajo (−)</a:t>
                      </a:r>
                    </a:p>
                  </a:txBody>
                  <a:tcPr marL="73152" marR="73152" marT="27432" marB="27432" anchor="ctr">
                    <a:solidFill>
                      <a:srgbClr val="0F4C5C"/>
                    </a:solidFill>
                  </a:tcPr>
                </a:tc>
                <a:tc>
                  <a:txBody>
                    <a:bodyPr/>
                    <a:lstStyle/>
                    <a:p>
                      <a:pPr algn="ctr"/>
                      <a:r>
                        <a:rPr sz="1300" b="1">
                          <a:solidFill>
                            <a:srgbClr val="FFFFFF"/>
                          </a:solidFill>
                          <a:latin typeface="Calibri"/>
                        </a:rPr>
                        <a:t>Alto (+)</a:t>
                      </a:r>
                    </a:p>
                  </a:txBody>
                  <a:tcPr marL="73152" marR="73152" marT="27432" marB="27432" anchor="ctr">
                    <a:solidFill>
                      <a:srgbClr val="0F4C5C"/>
                    </a:solidFill>
                  </a:tcPr>
                </a:tc>
              </a:tr>
              <a:tr h="320294">
                <a:tc>
                  <a:txBody>
                    <a:bodyPr/>
                    <a:lstStyle/>
                    <a:p>
                      <a:pPr algn="l"/>
                      <a:r>
                        <a:rPr sz="1300" b="0">
                          <a:solidFill>
                            <a:srgbClr val="142B33"/>
                          </a:solidFill>
                          <a:latin typeface="Calibri"/>
                        </a:rPr>
                        <a:t>A  Desviación eje x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B  Desviación eje y (0.001 pulg)</a:t>
                      </a:r>
                    </a:p>
                  </a:txBody>
                  <a:tcPr marL="73152" marR="73152" marT="27432" marB="27432" anchor="ctr">
                    <a:solidFill>
                      <a:srgbClr val="F4F8F9"/>
                    </a:solidFill>
                  </a:tcPr>
                </a:tc>
                <a:tc>
                  <a:txBody>
                    <a:bodyPr/>
                    <a:lstStyle/>
                    <a:p>
                      <a:pPr algn="ctr"/>
                      <a:r>
                        <a:rPr sz="1300" b="0">
                          <a:solidFill>
                            <a:srgbClr val="142B33"/>
                          </a:solidFill>
                          <a:latin typeface="Calibri"/>
                        </a:rPr>
                        <a:t>0</a:t>
                      </a:r>
                    </a:p>
                  </a:txBody>
                  <a:tcPr marL="73152" marR="73152" marT="27432" marB="27432" anchor="ctr">
                    <a:solidFill>
                      <a:srgbClr val="F4F8F9"/>
                    </a:solidFill>
                  </a:tcPr>
                </a:tc>
                <a:tc>
                  <a:txBody>
                    <a:bodyPr/>
                    <a:lstStyle/>
                    <a:p>
                      <a:pPr algn="ctr"/>
                      <a:r>
                        <a:rPr sz="1300" b="0">
                          <a:solidFill>
                            <a:srgbClr val="142B33"/>
                          </a:solidFill>
                          <a:latin typeface="Calibri"/>
                        </a:rPr>
                        <a:t>15</a:t>
                      </a:r>
                    </a:p>
                  </a:txBody>
                  <a:tcPr marL="73152" marR="73152" marT="27432" marB="27432" anchor="ctr">
                    <a:solidFill>
                      <a:srgbClr val="F4F8F9"/>
                    </a:solidFill>
                  </a:tcPr>
                </a:tc>
              </a:tr>
              <a:tr h="320294">
                <a:tc>
                  <a:txBody>
                    <a:bodyPr/>
                    <a:lstStyle/>
                    <a:p>
                      <a:pPr algn="l"/>
                      <a:r>
                        <a:rPr sz="1300" b="0">
                          <a:solidFill>
                            <a:srgbClr val="142B33"/>
                          </a:solidFill>
                          <a:latin typeface="Calibri"/>
                        </a:rPr>
                        <a:t>C  Desviación eje z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D  Fabricante de la herramienta</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r>
              <a:tr h="320294">
                <a:tc>
                  <a:txBody>
                    <a:bodyPr/>
                    <a:lstStyle/>
                    <a:p>
                      <a:pPr algn="l"/>
                      <a:r>
                        <a:rPr sz="1300" b="0">
                          <a:solidFill>
                            <a:srgbClr val="142B33"/>
                          </a:solidFill>
                          <a:latin typeface="Calibri"/>
                        </a:rPr>
                        <a:t>E  Desviación eje a (0.001 grados)</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30</a:t>
                      </a:r>
                    </a:p>
                  </a:txBody>
                  <a:tcPr marL="73152" marR="73152" marT="27432" marB="27432" anchor="ctr">
                    <a:solidFill>
                      <a:srgbClr val="FFFFFF"/>
                    </a:solidFill>
                  </a:tcPr>
                </a:tc>
              </a:tr>
              <a:tr h="320294">
                <a:tc>
                  <a:txBody>
                    <a:bodyPr/>
                    <a:lstStyle/>
                    <a:p>
                      <a:pPr algn="l"/>
                      <a:r>
                        <a:rPr sz="1300" b="0">
                          <a:solidFill>
                            <a:srgbClr val="142B33"/>
                          </a:solidFill>
                          <a:latin typeface="Calibri"/>
                        </a:rPr>
                        <a:t>F  Velocidad del husillo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tr>
              <a:tr h="320294">
                <a:tc>
                  <a:txBody>
                    <a:bodyPr/>
                    <a:lstStyle/>
                    <a:p>
                      <a:pPr algn="l"/>
                      <a:r>
                        <a:rPr sz="1300" b="0">
                          <a:solidFill>
                            <a:srgbClr val="142B33"/>
                          </a:solidFill>
                          <a:latin typeface="Calibri"/>
                        </a:rPr>
                        <a:t>G  Altura de la plantilla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H  Velocidad de alimentación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tr>
            </a:tbl>
          </a:graphicData>
        </a:graphic>
      </p:graphicFrame>
      <p:sp>
        <p:nvSpPr>
          <p:cNvPr id="4" name="TextBox 3"/>
          <p:cNvSpPr txBox="1"/>
          <p:nvPr/>
        </p:nvSpPr>
        <p:spPr>
          <a:xfrm>
            <a:off x="6301587" y="1417320"/>
            <a:ext cx="5341467" cy="195605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Respuesta</a:t>
            </a:r>
            <a:r>
              <a:rPr sz="1500" b="0">
                <a:solidFill>
                  <a:srgbClr val="142B33"/>
                </a:solidFill>
                <a:latin typeface="Calibri"/>
              </a:rPr>
              <a:t>: ln(desviación estándar × 10</a:t>
            </a:r>
            <a:r>
              <a:rPr sz="1500" b="0" baseline="30000">
                <a:solidFill>
                  <a:srgbClr val="142B33"/>
                </a:solidFill>
                <a:latin typeface="Calibri"/>
              </a:rPr>
              <a:t>3</a:t>
            </a:r>
            <a:r>
              <a:rPr sz="1500" b="0">
                <a:solidFill>
                  <a:srgbClr val="142B33"/>
                </a:solidFill>
                <a:latin typeface="Calibri"/>
              </a:rPr>
              <a:t>); el logaritmo estabiliza la varianza</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Supuestos</a:t>
            </a:r>
            <a:r>
              <a:rPr sz="1500" b="0">
                <a:solidFill>
                  <a:srgbClr val="142B33"/>
                </a:solidFill>
                <a:latin typeface="Calibri"/>
              </a:rPr>
              <a:t>: triples despreciables; dobles </a:t>
            </a:r>
            <a:r>
              <a:rPr sz="1500" b="1">
                <a:solidFill>
                  <a:srgbClr val="142B33"/>
                </a:solidFill>
                <a:latin typeface="Calibri"/>
              </a:rPr>
              <a:t>no</a:t>
            </a:r>
            <a:r>
              <a:rPr sz="1500" b="0">
                <a:solidFill>
                  <a:srgbClr val="142B33"/>
                </a:solidFill>
                <a:latin typeface="Calibri"/>
              </a:rPr>
              <a:t> se ignoran</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III</a:t>
            </a:r>
            <a:r>
              <a:rPr sz="1500" b="0">
                <a:solidFill>
                  <a:srgbClr val="142B33"/>
                </a:solidFill>
                <a:latin typeface="Calibri"/>
              </a:rPr>
              <a:t> no sirve (principales + dobles); </a:t>
            </a:r>
            <a:r>
              <a:rPr sz="1500" b="1">
                <a:solidFill>
                  <a:srgbClr val="142B33"/>
                </a:solidFill>
                <a:latin typeface="Calibri"/>
              </a:rPr>
              <a:t>IV</a:t>
            </a:r>
            <a:r>
              <a:rPr sz="1500" b="0">
                <a:solidFill>
                  <a:srgbClr val="142B33"/>
                </a:solidFill>
                <a:latin typeface="Calibri"/>
              </a:rPr>
              <a:t> basta; </a:t>
            </a:r>
            <a:r>
              <a:rPr sz="1500" b="1">
                <a:solidFill>
                  <a:srgbClr val="142B33"/>
                </a:solidFill>
                <a:latin typeface="Calibri"/>
              </a:rPr>
              <a:t>V</a:t>
            </a:r>
            <a:r>
              <a:rPr sz="1500" b="0">
                <a:solidFill>
                  <a:srgbClr val="142B33"/>
                </a:solidFill>
                <a:latin typeface="Calibri"/>
              </a:rPr>
              <a:t> pide 64 corridas</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Restricción</a:t>
            </a:r>
            <a:r>
              <a:rPr sz="1500" b="0">
                <a:solidFill>
                  <a:srgbClr val="142B33"/>
                </a:solidFill>
                <a:latin typeface="Calibri"/>
              </a:rPr>
              <a:t>: 4 husillos que pueden diferir  ⇒  el diseño va en </a:t>
            </a:r>
            <a:r>
              <a:rPr sz="1500" b="1">
                <a:solidFill>
                  <a:srgbClr val="142B33"/>
                </a:solidFill>
                <a:latin typeface="Calibri"/>
              </a:rPr>
              <a:t>4 bloques</a:t>
            </a:r>
          </a:p>
        </p:txBody>
      </p:sp>
      <p:sp>
        <p:nvSpPr>
          <p:cNvPr id="5" name="Rounded Rectangle 4"/>
          <p:cNvSpPr/>
          <p:nvPr/>
        </p:nvSpPr>
        <p:spPr>
          <a:xfrm>
            <a:off x="6301587" y="3574542"/>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Resolución requerida: </a:t>
            </a:r>
            <a:r>
              <a:rPr sz="1500" b="1">
                <a:solidFill>
                  <a:srgbClr val="142B33"/>
                </a:solidFill>
                <a:latin typeface="Calibri"/>
              </a:rPr>
              <a:t>IV</a:t>
            </a:r>
            <a:r>
              <a:rPr sz="1500" b="0">
                <a:solidFill>
                  <a:srgbClr val="142B33"/>
                </a:solidFill>
                <a:latin typeface="Calibri"/>
              </a:rPr>
              <a:t>, corrida en </a:t>
            </a:r>
            <a:r>
              <a:rPr sz="1500" b="1">
                <a:solidFill>
                  <a:srgbClr val="142B33"/>
                </a:solidFill>
                <a:latin typeface="Calibri"/>
              </a:rPr>
              <a:t>cuatro bloques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77</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3: ¿16 o 32 corridas? Qué significa «confundir con bloques»</a:t>
            </a:r>
          </a:p>
        </p:txBody>
      </p:sp>
      <p:sp>
        <p:nvSpPr>
          <p:cNvPr id="3" name="Rounded Rectangle 2"/>
          <p:cNvSpPr/>
          <p:nvPr/>
        </p:nvSpPr>
        <p:spPr>
          <a:xfrm>
            <a:off x="548640" y="1417320"/>
            <a:ext cx="4807320" cy="21635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¿Qué es confundir?</a:t>
            </a:r>
          </a:p>
          <a:p>
            <a:pPr algn="l"/>
            <a:r>
              <a:rPr sz="1300" b="0">
                <a:solidFill>
                  <a:srgbClr val="142B33"/>
                </a:solidFill>
                <a:latin typeface="Calibri"/>
              </a:rPr>
              <a:t>Dos efectos están </a:t>
            </a:r>
            <a:r>
              <a:rPr sz="1300" b="1">
                <a:solidFill>
                  <a:srgbClr val="142B33"/>
                </a:solidFill>
                <a:latin typeface="Calibri"/>
              </a:rPr>
              <a:t>confundidos</a:t>
            </a:r>
            <a:r>
              <a:rPr sz="1300" b="0">
                <a:solidFill>
                  <a:srgbClr val="142B33"/>
                </a:solidFill>
                <a:latin typeface="Calibri"/>
              </a:rPr>
              <a:t> cuando se estiman con la </a:t>
            </a:r>
            <a:r>
              <a:rPr sz="1300" b="1">
                <a:solidFill>
                  <a:srgbClr val="142B33"/>
                </a:solidFill>
                <a:latin typeface="Calibri"/>
              </a:rPr>
              <a:t>misma columna de signos</a:t>
            </a:r>
            <a:r>
              <a:rPr sz="1300" b="0">
                <a:solidFill>
                  <a:srgbClr val="142B33"/>
                </a:solidFill>
                <a:latin typeface="Calibri"/>
              </a:rPr>
              <a:t>: el contraste mide su </a:t>
            </a:r>
            <a:r>
              <a:rPr sz="1300" b="1">
                <a:solidFill>
                  <a:srgbClr val="142B33"/>
                </a:solidFill>
                <a:latin typeface="Calibri"/>
              </a:rPr>
              <a:t>suma</a:t>
            </a:r>
            <a:r>
              <a:rPr sz="1300" b="0">
                <a:solidFill>
                  <a:srgbClr val="142B33"/>
                </a:solidFill>
                <a:latin typeface="Calibri"/>
              </a:rPr>
              <a:t> y los datos no los separan. Entre efectos de factores se llama </a:t>
            </a:r>
            <a:r>
              <a:rPr sz="1300" b="1">
                <a:solidFill>
                  <a:srgbClr val="142B33"/>
                </a:solidFill>
                <a:latin typeface="Calibri"/>
              </a:rPr>
              <a:t>alias</a:t>
            </a:r>
            <a:r>
              <a:rPr sz="1300" b="0">
                <a:solidFill>
                  <a:srgbClr val="142B33"/>
                </a:solidFill>
                <a:latin typeface="Calibri"/>
              </a:rPr>
              <a:t>; cuando uno de los dos es la diferencia entre bloques, </a:t>
            </a:r>
            <a:r>
              <a:rPr sz="1300" b="1">
                <a:solidFill>
                  <a:srgbClr val="142B33"/>
                </a:solidFill>
                <a:latin typeface="Calibri"/>
              </a:rPr>
              <a:t>confundido con bloques</a:t>
            </a:r>
            <a:r>
              <a:rPr sz="1300" b="0">
                <a:solidFill>
                  <a:srgbClr val="142B33"/>
                </a:solidFill>
                <a:latin typeface="Calibri"/>
              </a:rPr>
              <a:t>. Moldeo: ABD era − en la mañana y + en la tarde, su contraste medía ABD </a:t>
            </a:r>
            <a:r>
              <a:rPr sz="1300" b="1">
                <a:solidFill>
                  <a:srgbClr val="142B33"/>
                </a:solidFill>
                <a:latin typeface="Calibri"/>
              </a:rPr>
              <a:t>más</a:t>
            </a:r>
            <a:r>
              <a:rPr sz="1300" b="0">
                <a:solidFill>
                  <a:srgbClr val="142B33"/>
                </a:solidFill>
                <a:latin typeface="Calibri"/>
              </a:rPr>
              <a:t> el turno</a:t>
            </a:r>
          </a:p>
        </p:txBody>
      </p:sp>
      <p:sp>
        <p:nvSpPr>
          <p:cNvPr id="4" name="Rounded Rectangle 3"/>
          <p:cNvSpPr/>
          <p:nvPr/>
        </p:nvSpPr>
        <p:spPr>
          <a:xfrm>
            <a:off x="548640" y="3809492"/>
            <a:ext cx="4807320" cy="21635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¿Por qué 4 bloques cuestan 3 columnas?</a:t>
            </a:r>
          </a:p>
          <a:p>
            <a:pPr algn="l"/>
            <a:r>
              <a:rPr sz="1300" b="0">
                <a:solidFill>
                  <a:srgbClr val="142B33"/>
                </a:solidFill>
                <a:latin typeface="Calibri"/>
              </a:rPr>
              <a:t>Dos columnas </a:t>
            </a:r>
            <a:r>
              <a:rPr sz="1300" b="1">
                <a:solidFill>
                  <a:srgbClr val="142B33"/>
                </a:solidFill>
                <a:latin typeface="Calibri"/>
              </a:rPr>
              <a:t>P</a:t>
            </a:r>
            <a:r>
              <a:rPr sz="1300" b="0">
                <a:solidFill>
                  <a:srgbClr val="142B33"/>
                </a:solidFill>
                <a:latin typeface="Calibri"/>
              </a:rPr>
              <a:t> y </a:t>
            </a:r>
            <a:r>
              <a:rPr sz="1300" b="1">
                <a:solidFill>
                  <a:srgbClr val="142B33"/>
                </a:solidFill>
                <a:latin typeface="Calibri"/>
              </a:rPr>
              <a:t>Q</a:t>
            </a:r>
            <a:r>
              <a:rPr sz="1300" b="0">
                <a:solidFill>
                  <a:srgbClr val="142B33"/>
                </a:solidFill>
                <a:latin typeface="Calibri"/>
              </a:rPr>
              <a:t> reparten las corridas por sus 4 combinaciones de signos. Dentro de cada bloque P, Q y su producto </a:t>
            </a:r>
            <a:r>
              <a:rPr sz="1300" b="1">
                <a:solidFill>
                  <a:srgbClr val="142B33"/>
                </a:solidFill>
                <a:latin typeface="Calibri"/>
              </a:rPr>
              <a:t>PQ</a:t>
            </a:r>
            <a:r>
              <a:rPr sz="1300" b="0">
                <a:solidFill>
                  <a:srgbClr val="142B33"/>
                </a:solidFill>
                <a:latin typeface="Calibri"/>
              </a:rPr>
              <a:t> son constantes: las tres quedan confundidas (</a:t>
            </a:r>
            <a:r>
              <a:rPr sz="1300" b="1">
                <a:solidFill>
                  <a:srgbClr val="142B33"/>
                </a:solidFill>
                <a:latin typeface="Calibri"/>
              </a:rPr>
              <a:t>3 g.l.</a:t>
            </a:r>
            <a:r>
              <a:rPr sz="1300" b="0">
                <a:solidFill>
                  <a:srgbClr val="142B33"/>
                </a:solidFill>
                <a:latin typeface="Calibri"/>
              </a:rPr>
              <a:t>), y cada columna arrastra su </a:t>
            </a:r>
            <a:r>
              <a:rPr sz="1300" b="1">
                <a:solidFill>
                  <a:srgbClr val="142B33"/>
                </a:solidFill>
                <a:latin typeface="Calibri"/>
              </a:rPr>
              <a:t>cadena de alias completa</a:t>
            </a:r>
          </a:p>
        </p:txBody>
      </p:sp>
      <p:graphicFrame>
        <p:nvGraphicFramePr>
          <p:cNvPr id="5" name="Table 4"/>
          <p:cNvGraphicFramePr>
            <a:graphicFrameLocks noGrp="1"/>
          </p:cNvGraphicFramePr>
          <p:nvPr/>
        </p:nvGraphicFramePr>
        <p:xfrm>
          <a:off x="5767440" y="1417320"/>
          <a:ext cx="5875613" cy="2526027"/>
        </p:xfrm>
        <a:graphic>
          <a:graphicData uri="http://schemas.openxmlformats.org/drawingml/2006/table">
            <a:tbl>
              <a:tblPr firstRow="0" bandRow="0">
                <a:tableStyleId>{5C22544A-7EE6-4342-B048-85BDC9FD1C3A}</a:tableStyleId>
              </a:tblPr>
              <a:tblGrid>
                <a:gridCol w="2115221"/>
                <a:gridCol w="1880196"/>
                <a:gridCol w="1880196"/>
              </a:tblGrid>
              <a:tr h="320294">
                <a:tc>
                  <a:txBody>
                    <a:bodyPr/>
                    <a:lstStyle/>
                    <a:p>
                      <a:pPr algn="l"/>
                    </a:p>
                  </a:txBody>
                  <a:tcPr marL="73152" marR="73152" marT="27432" marB="27432" anchor="ctr">
                    <a:solidFill>
                      <a:srgbClr val="0F4C5C"/>
                    </a:solidFill>
                  </a:tcPr>
                </a:tc>
                <a:tc>
                  <a:txBody>
                    <a:bodyPr/>
                    <a:lstStyle/>
                    <a:p>
                      <a:pPr algn="l"/>
                      <a:r>
                        <a:rPr sz="1300" b="1">
                          <a:solidFill>
                            <a:srgbClr val="FFFFFF"/>
                          </a:solidFill>
                          <a:latin typeface="Calibri"/>
                        </a:rPr>
                        <a:t>2</a:t>
                      </a:r>
                      <a:r>
                        <a:rPr sz="1300" b="1" baseline="30000">
                          <a:solidFill>
                            <a:srgbClr val="FFFFFF"/>
                          </a:solidFill>
                          <a:latin typeface="Calibri"/>
                        </a:rPr>
                        <a:t>8−4</a:t>
                      </a:r>
                      <a:r>
                        <a:rPr sz="1300" b="1" baseline="-25000">
                          <a:solidFill>
                            <a:srgbClr val="FFFFFF"/>
                          </a:solidFill>
                          <a:latin typeface="Calibri"/>
                        </a:rPr>
                        <a:t>IV</a:t>
                      </a:r>
                    </a:p>
                  </a:txBody>
                  <a:tcPr marL="73152" marR="73152" marT="27432" marB="27432" anchor="ctr">
                    <a:solidFill>
                      <a:srgbClr val="0F4C5C"/>
                    </a:solidFill>
                  </a:tcPr>
                </a:tc>
                <a:tc>
                  <a:txBody>
                    <a:bodyPr/>
                    <a:lstStyle/>
                    <a:p>
                      <a:pPr algn="l"/>
                      <a:r>
                        <a:rPr sz="1300" b="1">
                          <a:solidFill>
                            <a:srgbClr val="FFFFFF"/>
                          </a:solidFill>
                          <a:latin typeface="Calibri"/>
                        </a:rPr>
                        <a:t>2</a:t>
                      </a:r>
                      <a:r>
                        <a:rPr sz="1300" b="1" baseline="30000">
                          <a:solidFill>
                            <a:srgbClr val="FFFFFF"/>
                          </a:solidFill>
                          <a:latin typeface="Calibri"/>
                        </a:rPr>
                        <a:t>8−3</a:t>
                      </a:r>
                      <a:r>
                        <a:rPr sz="1300" b="1" baseline="-25000">
                          <a:solidFill>
                            <a:srgbClr val="FFFFFF"/>
                          </a:solidFill>
                          <a:latin typeface="Calibri"/>
                        </a:rPr>
                        <a:t>IV</a:t>
                      </a:r>
                    </a:p>
                  </a:txBody>
                  <a:tcPr marL="73152" marR="73152" marT="27432" marB="27432" anchor="ctr">
                    <a:solidFill>
                      <a:srgbClr val="0F4C5C"/>
                    </a:solidFill>
                  </a:tcPr>
                </a:tc>
              </a:tr>
              <a:tr h="320294">
                <a:tc>
                  <a:txBody>
                    <a:bodyPr/>
                    <a:lstStyle/>
                    <a:p>
                      <a:pPr algn="l"/>
                      <a:r>
                        <a:rPr sz="1300" b="0">
                          <a:solidFill>
                            <a:srgbClr val="142B33"/>
                          </a:solidFill>
                          <a:latin typeface="Calibri"/>
                        </a:rPr>
                        <a:t>Corridas</a:t>
                      </a:r>
                    </a:p>
                  </a:txBody>
                  <a:tcPr marL="73152" marR="73152" marT="27432" marB="27432" anchor="ctr">
                    <a:solidFill>
                      <a:srgbClr val="FFFFFF"/>
                    </a:solidFill>
                  </a:tcPr>
                </a:tc>
                <a:tc>
                  <a:txBody>
                    <a:bodyPr/>
                    <a:lstStyle/>
                    <a:p>
                      <a:pPr algn="l"/>
                      <a:r>
                        <a:rPr sz="1300" b="0">
                          <a:solidFill>
                            <a:srgbClr val="142B33"/>
                          </a:solidFill>
                          <a:latin typeface="Calibri"/>
                        </a:rPr>
                        <a:t>16</a:t>
                      </a:r>
                    </a:p>
                  </a:txBody>
                  <a:tcPr marL="73152" marR="73152" marT="27432" marB="27432" anchor="ctr">
                    <a:solidFill>
                      <a:srgbClr val="FFFFFF"/>
                    </a:solidFill>
                  </a:tcPr>
                </a:tc>
                <a:tc>
                  <a:txBody>
                    <a:bodyPr/>
                    <a:lstStyle/>
                    <a:p>
                      <a:pPr algn="l"/>
                      <a:r>
                        <a:rPr sz="1300" b="0">
                          <a:solidFill>
                            <a:srgbClr val="142B33"/>
                          </a:solidFill>
                          <a:latin typeface="Calibri"/>
                        </a:rPr>
                        <a:t>32</a:t>
                      </a:r>
                    </a:p>
                  </a:txBody>
                  <a:tcPr marL="73152" marR="73152" marT="27432" marB="27432" anchor="ctr">
                    <a:solidFill>
                      <a:srgbClr val="FFFFFF"/>
                    </a:solidFill>
                  </a:tcPr>
                </a:tc>
              </a:tr>
              <a:tr h="521715">
                <a:tc>
                  <a:txBody>
                    <a:bodyPr/>
                    <a:lstStyle/>
                    <a:p>
                      <a:pPr algn="l"/>
                      <a:r>
                        <a:rPr sz="1300" b="0">
                          <a:solidFill>
                            <a:srgbClr val="142B33"/>
                          </a:solidFill>
                          <a:latin typeface="Calibri"/>
                        </a:rPr>
                        <a:t>Columnas (grados de libertad)</a:t>
                      </a:r>
                    </a:p>
                  </a:txBody>
                  <a:tcPr marL="73152" marR="73152" marT="27432" marB="27432" anchor="ctr">
                    <a:solidFill>
                      <a:srgbClr val="F4F8F9"/>
                    </a:solidFill>
                  </a:tcPr>
                </a:tc>
                <a:tc>
                  <a:txBody>
                    <a:bodyPr/>
                    <a:lstStyle/>
                    <a:p>
                      <a:pPr algn="l"/>
                      <a:r>
                        <a:rPr sz="1300" b="0">
                          <a:solidFill>
                            <a:srgbClr val="142B33"/>
                          </a:solidFill>
                          <a:latin typeface="Calibri"/>
                        </a:rPr>
                        <a:t>15</a:t>
                      </a:r>
                    </a:p>
                  </a:txBody>
                  <a:tcPr marL="73152" marR="73152" marT="27432" marB="27432" anchor="ctr">
                    <a:solidFill>
                      <a:srgbClr val="F4F8F9"/>
                    </a:solidFill>
                  </a:tcPr>
                </a:tc>
                <a:tc>
                  <a:txBody>
                    <a:bodyPr/>
                    <a:lstStyle/>
                    <a:p>
                      <a:pPr algn="l"/>
                      <a:r>
                        <a:rPr sz="1300" b="0">
                          <a:solidFill>
                            <a:srgbClr val="142B33"/>
                          </a:solidFill>
                          <a:latin typeface="Calibri"/>
                        </a:rPr>
                        <a:t>31</a:t>
                      </a:r>
                    </a:p>
                  </a:txBody>
                  <a:tcPr marL="73152" marR="73152" marT="27432" marB="27432" anchor="ctr">
                    <a:solidFill>
                      <a:srgbClr val="F4F8F9"/>
                    </a:solidFill>
                  </a:tcPr>
                </a:tc>
              </a:tr>
              <a:tr h="320294">
                <a:tc>
                  <a:txBody>
                    <a:bodyPr/>
                    <a:lstStyle/>
                    <a:p>
                      <a:pPr algn="l"/>
                      <a:r>
                        <a:rPr sz="1300" b="0">
                          <a:solidFill>
                            <a:srgbClr val="142B33"/>
                          </a:solidFill>
                          <a:latin typeface="Calibri"/>
                        </a:rPr>
                        <a:t>Cadenas solo de triples</a:t>
                      </a:r>
                    </a:p>
                  </a:txBody>
                  <a:tcPr marL="73152" marR="73152" marT="27432" marB="27432" anchor="ctr">
                    <a:solidFill>
                      <a:srgbClr val="FFFFFF"/>
                    </a:solidFill>
                  </a:tcPr>
                </a:tc>
                <a:tc>
                  <a:txBody>
                    <a:bodyPr/>
                    <a:lstStyle/>
                    <a:p>
                      <a:pPr algn="l"/>
                      <a:r>
                        <a:rPr sz="1300" b="1">
                          <a:solidFill>
                            <a:srgbClr val="142B33"/>
                          </a:solidFill>
                          <a:latin typeface="Calibri"/>
                        </a:rPr>
                        <a:t>ninguna</a:t>
                      </a:r>
                    </a:p>
                  </a:txBody>
                  <a:tcPr marL="73152" marR="73152" marT="27432" marB="27432" anchor="ctr">
                    <a:solidFill>
                      <a:srgbClr val="FFFFFF"/>
                    </a:solidFill>
                  </a:tcPr>
                </a:tc>
                <a:tc>
                  <a:txBody>
                    <a:bodyPr/>
                    <a:lstStyle/>
                    <a:p>
                      <a:pPr algn="l"/>
                      <a:r>
                        <a:rPr sz="1300" b="0">
                          <a:solidFill>
                            <a:srgbClr val="142B33"/>
                          </a:solidFill>
                          <a:latin typeface="Calibri"/>
                        </a:rPr>
                        <a:t>varias</a:t>
                      </a:r>
                    </a:p>
                  </a:txBody>
                  <a:tcPr marL="73152" marR="73152" marT="27432" marB="27432" anchor="ctr">
                    <a:solidFill>
                      <a:srgbClr val="FFFFFF"/>
                    </a:solidFill>
                  </a:tcPr>
                </a:tc>
              </a:tr>
              <a:tr h="521715">
                <a:tc>
                  <a:txBody>
                    <a:bodyPr/>
                    <a:lstStyle/>
                    <a:p>
                      <a:pPr algn="l"/>
                      <a:r>
                        <a:rPr sz="1300" b="0">
                          <a:solidFill>
                            <a:srgbClr val="142B33"/>
                          </a:solidFill>
                          <a:latin typeface="Calibri"/>
                        </a:rPr>
                        <a:t>Cadenas de dobles</a:t>
                      </a:r>
                    </a:p>
                  </a:txBody>
                  <a:tcPr marL="73152" marR="73152" marT="27432" marB="27432" anchor="ctr">
                    <a:solidFill>
                      <a:srgbClr val="F4F8F9"/>
                    </a:solidFill>
                  </a:tcPr>
                </a:tc>
                <a:tc>
                  <a:txBody>
                    <a:bodyPr/>
                    <a:lstStyle/>
                    <a:p>
                      <a:pPr algn="l"/>
                      <a:r>
                        <a:rPr sz="1300" b="0">
                          <a:solidFill>
                            <a:srgbClr val="142B33"/>
                          </a:solidFill>
                          <a:latin typeface="Calibri"/>
                        </a:rPr>
                        <a:t>7, de </a:t>
                      </a:r>
                      <a:r>
                        <a:rPr sz="1300" b="1">
                          <a:solidFill>
                            <a:srgbClr val="142B33"/>
                          </a:solidFill>
                          <a:latin typeface="Calibri"/>
                        </a:rPr>
                        <a:t>4 dobles</a:t>
                      </a:r>
                      <a:r>
                        <a:rPr sz="1300" b="0">
                          <a:solidFill>
                            <a:srgbClr val="142B33"/>
                          </a:solidFill>
                          <a:latin typeface="Calibri"/>
                        </a:rPr>
                        <a:t> cada una</a:t>
                      </a:r>
                    </a:p>
                  </a:txBody>
                  <a:tcPr marL="73152" marR="73152" marT="27432" marB="27432" anchor="ctr">
                    <a:solidFill>
                      <a:srgbClr val="F4F8F9"/>
                    </a:solidFill>
                  </a:tcPr>
                </a:tc>
                <a:tc>
                  <a:txBody>
                    <a:bodyPr/>
                    <a:lstStyle/>
                    <a:p>
                      <a:pPr algn="l"/>
                      <a:r>
                        <a:rPr sz="1300" b="0">
                          <a:solidFill>
                            <a:srgbClr val="142B33"/>
                          </a:solidFill>
                          <a:latin typeface="Calibri"/>
                        </a:rPr>
                        <a:t>7 con alias; el resto, dobles solas</a:t>
                      </a:r>
                    </a:p>
                  </a:txBody>
                  <a:tcPr marL="73152" marR="73152" marT="27432" marB="27432" anchor="ctr">
                    <a:solidFill>
                      <a:srgbClr val="F4F8F9"/>
                    </a:solidFill>
                  </a:tcPr>
                </a:tc>
              </a:tr>
              <a:tr h="521715">
                <a:tc>
                  <a:txBody>
                    <a:bodyPr/>
                    <a:lstStyle/>
                    <a:p>
                      <a:pPr algn="l"/>
                      <a:r>
                        <a:rPr sz="1300" b="0">
                          <a:solidFill>
                            <a:srgbClr val="142B33"/>
                          </a:solidFill>
                          <a:latin typeface="Calibri"/>
                        </a:rPr>
                        <a:t>Con 4 bloques se pierden</a:t>
                      </a:r>
                    </a:p>
                  </a:txBody>
                  <a:tcPr marL="73152" marR="73152" marT="27432" marB="27432" anchor="ctr">
                    <a:solidFill>
                      <a:srgbClr val="FDE8D7"/>
                    </a:solidFill>
                  </a:tcPr>
                </a:tc>
                <a:tc>
                  <a:txBody>
                    <a:bodyPr/>
                    <a:lstStyle/>
                    <a:p>
                      <a:pPr algn="l"/>
                      <a:r>
                        <a:rPr sz="1300" b="1">
                          <a:solidFill>
                            <a:srgbClr val="142B33"/>
                          </a:solidFill>
                          <a:latin typeface="Calibri"/>
                        </a:rPr>
                        <a:t>3 cadenas de dobles</a:t>
                      </a:r>
                      <a:r>
                        <a:rPr sz="1300" b="0">
                          <a:solidFill>
                            <a:srgbClr val="142B33"/>
                          </a:solidFill>
                          <a:latin typeface="Calibri"/>
                        </a:rPr>
                        <a:t> (12 dobles)</a:t>
                      </a:r>
                    </a:p>
                  </a:txBody>
                  <a:tcPr marL="73152" marR="73152" marT="27432" marB="27432" anchor="ctr">
                    <a:solidFill>
                      <a:srgbClr val="FDE8D7"/>
                    </a:solidFill>
                  </a:tcPr>
                </a:tc>
                <a:tc>
                  <a:txBody>
                    <a:bodyPr/>
                    <a:lstStyle/>
                    <a:p>
                      <a:pPr algn="l"/>
                      <a:r>
                        <a:rPr sz="1300" b="0">
                          <a:solidFill>
                            <a:srgbClr val="142B33"/>
                          </a:solidFill>
                          <a:latin typeface="Calibri"/>
                        </a:rPr>
                        <a:t>2 cadenas triples y </a:t>
                      </a:r>
                      <a:r>
                        <a:rPr sz="1300" b="1">
                          <a:solidFill>
                            <a:srgbClr val="142B33"/>
                          </a:solidFill>
                          <a:latin typeface="Calibri"/>
                        </a:rPr>
                        <a:t>EH</a:t>
                      </a:r>
                    </a:p>
                  </a:txBody>
                  <a:tcPr marL="73152" marR="73152" marT="27432" marB="27432" anchor="ctr">
                    <a:solidFill>
                      <a:srgbClr val="FDE8D7"/>
                    </a:solidFill>
                  </a:tcPr>
                </a:tc>
              </a:tr>
            </a:tbl>
          </a:graphicData>
        </a:graphic>
      </p:graphicFrame>
      <p:sp>
        <p:nvSpPr>
          <p:cNvPr id="6" name="Rounded Rectangle 5"/>
          <p:cNvSpPr/>
          <p:nvPr/>
        </p:nvSpPr>
        <p:spPr>
          <a:xfrm>
            <a:off x="5767440" y="4144518"/>
            <a:ext cx="5875614" cy="87858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0">
                <a:solidFill>
                  <a:srgbClr val="142B33"/>
                </a:solidFill>
                <a:latin typeface="Calibri"/>
              </a:rPr>
              <a:t>Montgomery: el de 16 «no puede correrse en cuatro bloques sin </a:t>
            </a:r>
            <a:r>
              <a:rPr sz="1300" b="1">
                <a:solidFill>
                  <a:srgbClr val="142B33"/>
                </a:solidFill>
                <a:latin typeface="Calibri"/>
              </a:rPr>
              <a:t>confundir cuatro interacciones de dos factores</a:t>
            </a:r>
            <a:r>
              <a:rPr sz="1300" b="0">
                <a:solidFill>
                  <a:srgbClr val="142B33"/>
                </a:solidFill>
                <a:latin typeface="Calibri"/>
              </a:rPr>
              <a:t> con los bloques»: toda columna de bloques sería una cadena de 4 dobles</a:t>
            </a:r>
          </a:p>
        </p:txBody>
      </p:sp>
      <p:sp>
        <p:nvSpPr>
          <p:cNvPr id="7" name="Rounded Rectangle 6"/>
          <p:cNvSpPr/>
          <p:nvPr/>
        </p:nvSpPr>
        <p:spPr>
          <a:xfrm>
            <a:off x="5767440" y="5224272"/>
            <a:ext cx="5875614"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Decisión</a:t>
            </a:r>
          </a:p>
          <a:p>
            <a:pPr algn="l"/>
            <a:r>
              <a:rPr sz="1300" b="0">
                <a:solidFill>
                  <a:srgbClr val="142B33"/>
                </a:solidFill>
                <a:latin typeface="Calibri"/>
              </a:rPr>
              <a:t>Se elige el </a:t>
            </a:r>
            <a:r>
              <a:rPr sz="1300" b="1">
                <a:solidFill>
                  <a:srgbClr val="142B33"/>
                </a:solidFill>
                <a:latin typeface="Calibri"/>
              </a:rPr>
              <a:t>2</a:t>
            </a:r>
            <a:r>
              <a:rPr sz="1300" b="1" baseline="30000">
                <a:solidFill>
                  <a:srgbClr val="142B33"/>
                </a:solidFill>
                <a:latin typeface="Calibri"/>
              </a:rPr>
              <a:t>8−3</a:t>
            </a:r>
            <a:r>
              <a:rPr sz="1300" b="1" baseline="-25000">
                <a:solidFill>
                  <a:srgbClr val="142B33"/>
                </a:solidFill>
                <a:latin typeface="Calibri"/>
              </a:rPr>
              <a:t>IV</a:t>
            </a:r>
            <a:r>
              <a:rPr sz="1300" b="0">
                <a:solidFill>
                  <a:srgbClr val="142B33"/>
                </a:solidFill>
                <a:latin typeface="Calibri"/>
              </a:rPr>
              <a:t> en </a:t>
            </a:r>
            <a:r>
              <a:rPr sz="1300" b="1">
                <a:solidFill>
                  <a:srgbClr val="142B33"/>
                </a:solidFill>
                <a:latin typeface="Calibri"/>
              </a:rPr>
              <a:t>4 bloques de 8</a:t>
            </a:r>
            <a:r>
              <a:rPr sz="1300" b="0">
                <a:solidFill>
                  <a:srgbClr val="142B33"/>
                </a:solidFill>
                <a:latin typeface="Calibri"/>
              </a:rPr>
              <a:t>: los bloques obligan a duplicar el experimento para no perder interacciones dobles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78</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4: generadores, relación de definición y alias</a:t>
            </a:r>
          </a:p>
        </p:txBody>
      </p:sp>
      <p:sp>
        <p:nvSpPr>
          <p:cNvPr id="3" name="Rounded Rectangle 2"/>
          <p:cNvSpPr/>
          <p:nvPr/>
        </p:nvSpPr>
        <p:spPr>
          <a:xfrm>
            <a:off x="548640" y="1417320"/>
            <a:ext cx="5341467"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F = ABC,   G = ABD,   H = BCDE</a:t>
            </a:r>
          </a:p>
        </p:txBody>
      </p:sp>
      <p:sp>
        <p:nvSpPr>
          <p:cNvPr id="4" name="Rounded Rectangle 3"/>
          <p:cNvSpPr/>
          <p:nvPr/>
        </p:nvSpPr>
        <p:spPr>
          <a:xfrm>
            <a:off x="548640" y="2205167"/>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I = ABCF = ABDG = CDFG = BCDEH</a:t>
            </a:r>
          </a:p>
          <a:p>
            <a:pPr algn="ctr"/>
            <a:r>
              <a:rPr sz="1600" b="0">
                <a:solidFill>
                  <a:srgbClr val="0F4C5C"/>
                </a:solidFill>
                <a:latin typeface="Cambria Math"/>
              </a:rPr>
              <a:t>= ADEFH = ACEGH = BEFGH</a:t>
            </a:r>
          </a:p>
        </p:txBody>
      </p:sp>
      <p:sp>
        <p:nvSpPr>
          <p:cNvPr id="5" name="Rounded Rectangle 4"/>
          <p:cNvSpPr/>
          <p:nvPr/>
        </p:nvSpPr>
        <p:spPr>
          <a:xfrm>
            <a:off x="548640" y="3235960"/>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Palabra más corta: </a:t>
            </a:r>
            <a:r>
              <a:rPr sz="1500" b="1">
                <a:solidFill>
                  <a:srgbClr val="142B33"/>
                </a:solidFill>
                <a:latin typeface="Calibri"/>
              </a:rPr>
              <a:t>4 letras</a:t>
            </a:r>
            <a:r>
              <a:rPr sz="1500" b="0">
                <a:solidFill>
                  <a:srgbClr val="142B33"/>
                </a:solidFill>
                <a:latin typeface="Calibri"/>
              </a:rPr>
              <a:t>  ⇒  </a:t>
            </a:r>
            <a:r>
              <a:rPr sz="1500" b="1">
                <a:solidFill>
                  <a:srgbClr val="142B33"/>
                </a:solidFill>
                <a:latin typeface="Calibri"/>
              </a:rPr>
              <a:t>resolución IV</a:t>
            </a:r>
          </a:p>
        </p:txBody>
      </p:sp>
      <p:graphicFrame>
        <p:nvGraphicFramePr>
          <p:cNvPr id="6" name="Table 5"/>
          <p:cNvGraphicFramePr>
            <a:graphicFrameLocks noGrp="1"/>
          </p:cNvGraphicFramePr>
          <p:nvPr/>
        </p:nvGraphicFramePr>
        <p:xfrm>
          <a:off x="6301587" y="1417320"/>
          <a:ext cx="5341467" cy="2174232"/>
        </p:xfrm>
        <a:graphic>
          <a:graphicData uri="http://schemas.openxmlformats.org/drawingml/2006/table">
            <a:tbl>
              <a:tblPr firstRow="0" bandRow="0">
                <a:tableStyleId>{5C22544A-7EE6-4342-B048-85BDC9FD1C3A}</a:tableStyleId>
              </a:tblPr>
              <a:tblGrid>
                <a:gridCol w="5341467"/>
              </a:tblGrid>
              <a:tr h="271779">
                <a:tc>
                  <a:txBody>
                    <a:bodyPr/>
                    <a:lstStyle/>
                    <a:p>
                      <a:pPr algn="ctr"/>
                      <a:r>
                        <a:rPr sz="1400" b="1">
                          <a:solidFill>
                            <a:srgbClr val="FFFFFF"/>
                          </a:solidFill>
                          <a:latin typeface="Calibri"/>
                        </a:rPr>
                        <a:t>Cadenas con más de una interacción doble</a:t>
                      </a:r>
                    </a:p>
                  </a:txBody>
                  <a:tcPr marL="73152" marR="73152" marT="27432" marB="27432" anchor="ctr">
                    <a:solidFill>
                      <a:srgbClr val="0F4C5C"/>
                    </a:solidFill>
                  </a:tcPr>
                </a:tc>
              </a:tr>
              <a:tr h="271779">
                <a:tc>
                  <a:txBody>
                    <a:bodyPr/>
                    <a:lstStyle/>
                    <a:p>
                      <a:pPr algn="ctr"/>
                      <a:r>
                        <a:rPr sz="1400" b="0">
                          <a:solidFill>
                            <a:srgbClr val="142B33"/>
                          </a:solidFill>
                          <a:latin typeface="Calibri"/>
                        </a:rPr>
                        <a:t>AB = CF = DG</a:t>
                      </a:r>
                    </a:p>
                  </a:txBody>
                  <a:tcPr marL="73152" marR="73152" marT="27432" marB="27432" anchor="ctr">
                    <a:solidFill>
                      <a:srgbClr val="FFFFFF"/>
                    </a:solidFill>
                  </a:tcPr>
                </a:tc>
              </a:tr>
              <a:tr h="271779">
                <a:tc>
                  <a:txBody>
                    <a:bodyPr/>
                    <a:lstStyle/>
                    <a:p>
                      <a:pPr algn="ctr"/>
                      <a:r>
                        <a:rPr sz="1400" b="0">
                          <a:solidFill>
                            <a:srgbClr val="142B33"/>
                          </a:solidFill>
                          <a:latin typeface="Calibri"/>
                        </a:rPr>
                        <a:t>AC = BF</a:t>
                      </a:r>
                    </a:p>
                  </a:txBody>
                  <a:tcPr marL="73152" marR="73152" marT="27432" marB="27432" anchor="ctr">
                    <a:solidFill>
                      <a:srgbClr val="F4F8F9"/>
                    </a:solidFill>
                  </a:tcPr>
                </a:tc>
              </a:tr>
              <a:tr h="271779">
                <a:tc>
                  <a:txBody>
                    <a:bodyPr/>
                    <a:lstStyle/>
                    <a:p>
                      <a:pPr algn="ctr"/>
                      <a:r>
                        <a:rPr sz="1400" b="1">
                          <a:solidFill>
                            <a:srgbClr val="142B33"/>
                          </a:solidFill>
                          <a:latin typeface="Calibri"/>
                        </a:rPr>
                        <a:t>AD = BG</a:t>
                      </a:r>
                    </a:p>
                  </a:txBody>
                  <a:tcPr marL="73152" marR="73152" marT="27432" marB="27432" anchor="ctr">
                    <a:solidFill>
                      <a:srgbClr val="FDE8D7"/>
                    </a:solidFill>
                  </a:tcPr>
                </a:tc>
              </a:tr>
              <a:tr h="271779">
                <a:tc>
                  <a:txBody>
                    <a:bodyPr/>
                    <a:lstStyle/>
                    <a:p>
                      <a:pPr algn="ctr"/>
                      <a:r>
                        <a:rPr sz="1400" b="0">
                          <a:solidFill>
                            <a:srgbClr val="142B33"/>
                          </a:solidFill>
                          <a:latin typeface="Calibri"/>
                        </a:rPr>
                        <a:t>AF = BC</a:t>
                      </a:r>
                    </a:p>
                  </a:txBody>
                  <a:tcPr marL="73152" marR="73152" marT="27432" marB="27432" anchor="ctr">
                    <a:solidFill>
                      <a:srgbClr val="F4F8F9"/>
                    </a:solidFill>
                  </a:tcPr>
                </a:tc>
              </a:tr>
              <a:tr h="271779">
                <a:tc>
                  <a:txBody>
                    <a:bodyPr/>
                    <a:lstStyle/>
                    <a:p>
                      <a:pPr algn="ctr"/>
                      <a:r>
                        <a:rPr sz="1400" b="0">
                          <a:solidFill>
                            <a:srgbClr val="142B33"/>
                          </a:solidFill>
                          <a:latin typeface="Calibri"/>
                        </a:rPr>
                        <a:t>AG = BD</a:t>
                      </a:r>
                    </a:p>
                  </a:txBody>
                  <a:tcPr marL="73152" marR="73152" marT="27432" marB="27432" anchor="ctr">
                    <a:solidFill>
                      <a:srgbClr val="FFFFFF"/>
                    </a:solidFill>
                  </a:tcPr>
                </a:tc>
              </a:tr>
              <a:tr h="271779">
                <a:tc>
                  <a:txBody>
                    <a:bodyPr/>
                    <a:lstStyle/>
                    <a:p>
                      <a:pPr algn="ctr"/>
                      <a:r>
                        <a:rPr sz="1400" b="0">
                          <a:solidFill>
                            <a:srgbClr val="142B33"/>
                          </a:solidFill>
                          <a:latin typeface="Calibri"/>
                        </a:rPr>
                        <a:t>CD = FG</a:t>
                      </a:r>
                    </a:p>
                  </a:txBody>
                  <a:tcPr marL="73152" marR="73152" marT="27432" marB="27432" anchor="ctr">
                    <a:solidFill>
                      <a:srgbClr val="F4F8F9"/>
                    </a:solidFill>
                  </a:tcPr>
                </a:tc>
              </a:tr>
              <a:tr h="271779">
                <a:tc>
                  <a:txBody>
                    <a:bodyPr/>
                    <a:lstStyle/>
                    <a:p>
                      <a:pPr algn="ctr"/>
                      <a:r>
                        <a:rPr sz="1400" b="0">
                          <a:solidFill>
                            <a:srgbClr val="142B33"/>
                          </a:solidFill>
                          <a:latin typeface="Calibri"/>
                        </a:rPr>
                        <a:t>CG = DF</a:t>
                      </a:r>
                    </a:p>
                  </a:txBody>
                  <a:tcPr marL="73152" marR="73152" marT="27432" marB="27432" anchor="ctr">
                    <a:solidFill>
                      <a:srgbClr val="FFFFFF"/>
                    </a:solidFill>
                  </a:tcPr>
                </a:tc>
              </a:tr>
            </a:tbl>
          </a:graphicData>
        </a:graphic>
      </p:graphicFrame>
      <p:sp>
        <p:nvSpPr>
          <p:cNvPr id="7" name="TextBox 6"/>
          <p:cNvSpPr txBox="1"/>
          <p:nvPr/>
        </p:nvSpPr>
        <p:spPr>
          <a:xfrm>
            <a:off x="6301587" y="3792728"/>
            <a:ext cx="5341467" cy="470407"/>
          </a:xfrm>
          <a:prstGeom prst="rect">
            <a:avLst/>
          </a:prstGeom>
          <a:noFill/>
        </p:spPr>
        <p:txBody>
          <a:bodyPr wrap="square" anchor="t" lIns="0" rIns="0" tIns="0" bIns="0">
            <a:spAutoFit/>
          </a:bodyPr>
          <a:lstStyle/>
          <a:p>
            <a:r>
              <a:rPr sz="1400" b="0">
                <a:solidFill>
                  <a:srgbClr val="5B6B73"/>
                </a:solidFill>
                <a:latin typeface="Calibri"/>
              </a:rPr>
              <a:t>Los 8 principales, limpios; las otras 13 dobles, </a:t>
            </a:r>
            <a:r>
              <a:rPr sz="1400" b="1">
                <a:solidFill>
                  <a:srgbClr val="5B6B73"/>
                </a:solidFill>
                <a:latin typeface="Calibri"/>
              </a:rPr>
              <a:t>solas</a:t>
            </a:r>
            <a:r>
              <a:rPr sz="1400" b="0">
                <a:solidFill>
                  <a:srgbClr val="5B6B73"/>
                </a:solidFill>
                <a:latin typeface="Calibri"/>
              </a:rPr>
              <a:t> en su cadena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79</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5: ¿cómo se reparten en los 4 husillos?</a:t>
            </a:r>
          </a:p>
        </p:txBody>
      </p:sp>
      <p:graphicFrame>
        <p:nvGraphicFramePr>
          <p:cNvPr id="3" name="Table 2"/>
          <p:cNvGraphicFramePr>
            <a:graphicFrameLocks noGrp="1"/>
          </p:cNvGraphicFramePr>
          <p:nvPr/>
        </p:nvGraphicFramePr>
        <p:xfrm>
          <a:off x="548640" y="1417320"/>
          <a:ext cx="5982442" cy="1203955"/>
        </p:xfrm>
        <a:graphic>
          <a:graphicData uri="http://schemas.openxmlformats.org/drawingml/2006/table">
            <a:tbl>
              <a:tblPr firstRow="0" bandRow="0">
                <a:tableStyleId>{5C22544A-7EE6-4342-B048-85BDC9FD1C3A}</a:tableStyleId>
              </a:tblPr>
              <a:tblGrid>
                <a:gridCol w="837542"/>
                <a:gridCol w="478595"/>
                <a:gridCol w="478595"/>
                <a:gridCol w="478595"/>
                <a:gridCol w="3709115"/>
              </a:tblGrid>
              <a:tr h="240791">
                <a:tc>
                  <a:txBody>
                    <a:bodyPr/>
                    <a:lstStyle/>
                    <a:p>
                      <a:pPr algn="ctr"/>
                      <a:r>
                        <a:rPr sz="1200" b="1">
                          <a:solidFill>
                            <a:srgbClr val="FFFFFF"/>
                          </a:solidFill>
                          <a:latin typeface="Calibri"/>
                        </a:rPr>
                        <a:t>Husillo</a:t>
                      </a:r>
                    </a:p>
                  </a:txBody>
                  <a:tcPr marL="73152" marR="73152" marT="27432" marB="27432" anchor="ctr">
                    <a:solidFill>
                      <a:srgbClr val="0F4C5C"/>
                    </a:solidFill>
                  </a:tcPr>
                </a:tc>
                <a:tc>
                  <a:txBody>
                    <a:bodyPr/>
                    <a:lstStyle/>
                    <a:p>
                      <a:pPr algn="ctr"/>
                      <a:r>
                        <a:rPr sz="1200" b="1">
                          <a:solidFill>
                            <a:srgbClr val="FFFFFF"/>
                          </a:solidFill>
                          <a:latin typeface="Calibri"/>
                        </a:rPr>
                        <a:t>ABE</a:t>
                      </a:r>
                    </a:p>
                  </a:txBody>
                  <a:tcPr marL="73152" marR="73152" marT="27432" marB="27432" anchor="ctr">
                    <a:solidFill>
                      <a:srgbClr val="0F4C5C"/>
                    </a:solidFill>
                  </a:tcPr>
                </a:tc>
                <a:tc>
                  <a:txBody>
                    <a:bodyPr/>
                    <a:lstStyle/>
                    <a:p>
                      <a:pPr algn="ctr"/>
                      <a:r>
                        <a:rPr sz="1200" b="1">
                          <a:solidFill>
                            <a:srgbClr val="FFFFFF"/>
                          </a:solidFill>
                          <a:latin typeface="Calibri"/>
                        </a:rPr>
                        <a:t>ABH</a:t>
                      </a:r>
                    </a:p>
                  </a:txBody>
                  <a:tcPr marL="73152" marR="73152" marT="27432" marB="27432" anchor="ctr">
                    <a:solidFill>
                      <a:srgbClr val="0F4C5C"/>
                    </a:solidFill>
                  </a:tcPr>
                </a:tc>
                <a:tc>
                  <a:txBody>
                    <a:bodyPr/>
                    <a:lstStyle/>
                    <a:p>
                      <a:pPr algn="ctr"/>
                      <a:r>
                        <a:rPr sz="1200" b="1">
                          <a:solidFill>
                            <a:srgbClr val="FFFFFF"/>
                          </a:solidFill>
                          <a:latin typeface="Calibri"/>
                        </a:rPr>
                        <a:t>EH</a:t>
                      </a:r>
                    </a:p>
                  </a:txBody>
                  <a:tcPr marL="73152" marR="73152" marT="27432" marB="27432" anchor="ctr">
                    <a:solidFill>
                      <a:srgbClr val="0F4C5C"/>
                    </a:solidFill>
                  </a:tcPr>
                </a:tc>
                <a:tc>
                  <a:txBody>
                    <a:bodyPr/>
                    <a:lstStyle/>
                    <a:p>
                      <a:pPr algn="ctr"/>
                      <a:r>
                        <a:rPr sz="1200" b="1">
                          <a:solidFill>
                            <a:srgbClr val="FFFFFF"/>
                          </a:solidFill>
                          <a:latin typeface="Calibri"/>
                        </a:rPr>
                        <a:t>Sus 8 corridas</a:t>
                      </a:r>
                    </a:p>
                  </a:txBody>
                  <a:tcPr marL="73152" marR="73152" marT="27432" marB="27432" anchor="ctr">
                    <a:solidFill>
                      <a:srgbClr val="0F4C5C"/>
                    </a:solidFill>
                  </a:tcPr>
                </a:tc>
              </a:tr>
              <a:tr h="240791">
                <a:tc>
                  <a:txBody>
                    <a:bodyPr/>
                    <a:lstStyle/>
                    <a:p>
                      <a:pPr algn="ctr"/>
                      <a:r>
                        <a:rPr sz="1200" b="0">
                          <a:solidFill>
                            <a:srgbClr val="142B33"/>
                          </a:solidFill>
                          <a:latin typeface="Calibri"/>
                        </a:rPr>
                        <a:t>Husillo 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ab, cf, dg, abcdfg, befgh, acegh, adefh, bcdeh</a:t>
                      </a:r>
                    </a:p>
                  </a:txBody>
                  <a:tcPr marL="73152" marR="73152" marT="27432" marB="27432" anchor="ctr">
                    <a:solidFill>
                      <a:srgbClr val="FFFFFF"/>
                    </a:solidFill>
                  </a:tcPr>
                </a:tc>
              </a:tr>
              <a:tr h="240791">
                <a:tc>
                  <a:txBody>
                    <a:bodyPr/>
                    <a:lstStyle/>
                    <a:p>
                      <a:pPr algn="ctr"/>
                      <a:r>
                        <a:rPr sz="1200" b="0">
                          <a:solidFill>
                            <a:srgbClr val="142B33"/>
                          </a:solidFill>
                          <a:latin typeface="Calibri"/>
                        </a:rPr>
                        <a:t>Husillo 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h, abcfh, abdgh, cdfgh, aefg, bceg, bdef, acde</a:t>
                      </a:r>
                    </a:p>
                  </a:txBody>
                  <a:tcPr marL="73152" marR="73152" marT="27432" marB="27432" anchor="ctr">
                    <a:solidFill>
                      <a:srgbClr val="F4F8F9"/>
                    </a:solidFill>
                  </a:tcPr>
                </a:tc>
              </a:tr>
              <a:tr h="240791">
                <a:tc>
                  <a:txBody>
                    <a:bodyPr/>
                    <a:lstStyle/>
                    <a:p>
                      <a:pPr algn="ctr"/>
                      <a:r>
                        <a:rPr sz="1200" b="0">
                          <a:solidFill>
                            <a:srgbClr val="142B33"/>
                          </a:solidFill>
                          <a:latin typeface="Calibri"/>
                        </a:rPr>
                        <a:t>Husillo 3</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afgh, bcgh, bdfh, acdh, e, abcef, abdeg, cdefg</a:t>
                      </a:r>
                    </a:p>
                  </a:txBody>
                  <a:tcPr marL="73152" marR="73152" marT="27432" marB="27432" anchor="ctr">
                    <a:solidFill>
                      <a:srgbClr val="FFFFFF"/>
                    </a:solidFill>
                  </a:tcPr>
                </a:tc>
              </a:tr>
              <a:tr h="240791">
                <a:tc>
                  <a:txBody>
                    <a:bodyPr/>
                    <a:lstStyle/>
                    <a:p>
                      <a:pPr algn="ctr"/>
                      <a:r>
                        <a:rPr sz="1200" b="0">
                          <a:solidFill>
                            <a:srgbClr val="142B33"/>
                          </a:solidFill>
                          <a:latin typeface="Calibri"/>
                        </a:rPr>
                        <a:t>Husillo 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bfg, acg, adf, bcd, abeh, cefh, degh, abcdefgh</a:t>
                      </a:r>
                    </a:p>
                  </a:txBody>
                  <a:tcPr marL="73152" marR="73152" marT="27432" marB="27432" anchor="ctr">
                    <a:solidFill>
                      <a:srgbClr val="F4F8F9"/>
                    </a:solidFill>
                  </a:tcPr>
                </a:tc>
              </a:tr>
            </a:tbl>
          </a:graphicData>
        </a:graphic>
      </p:graphicFrame>
      <p:sp>
        <p:nvSpPr>
          <p:cNvPr id="4" name="TextBox 3"/>
          <p:cNvSpPr txBox="1"/>
          <p:nvPr/>
        </p:nvSpPr>
        <p:spPr>
          <a:xfrm>
            <a:off x="548640" y="2822448"/>
            <a:ext cx="5982443" cy="222504"/>
          </a:xfrm>
          <a:prstGeom prst="rect">
            <a:avLst/>
          </a:prstGeom>
          <a:noFill/>
        </p:spPr>
        <p:txBody>
          <a:bodyPr wrap="square" anchor="t" lIns="0" rIns="0" tIns="0" bIns="0">
            <a:spAutoFit/>
          </a:bodyPr>
          <a:lstStyle/>
          <a:p>
            <a:r>
              <a:rPr sz="1200" b="0">
                <a:solidFill>
                  <a:srgbClr val="5B6B73"/>
                </a:solidFill>
                <a:latin typeface="Calibri"/>
              </a:rPr>
              <a:t>Las 32 corridas del 2</a:t>
            </a:r>
            <a:r>
              <a:rPr sz="1200" b="0" baseline="30000">
                <a:solidFill>
                  <a:srgbClr val="5B6B73"/>
                </a:solidFill>
                <a:latin typeface="Calibri"/>
              </a:rPr>
              <a:t>8−3</a:t>
            </a:r>
            <a:r>
              <a:rPr sz="1200" b="0" baseline="-25000">
                <a:solidFill>
                  <a:srgbClr val="5B6B73"/>
                </a:solidFill>
                <a:latin typeface="Calibri"/>
              </a:rPr>
              <a:t>IV</a:t>
            </a:r>
            <a:r>
              <a:rPr sz="1200" b="0">
                <a:solidFill>
                  <a:srgbClr val="5B6B73"/>
                </a:solidFill>
                <a:latin typeface="Calibri"/>
              </a:rPr>
              <a:t> repartidas por los signos de ABE y ABH</a:t>
            </a:r>
          </a:p>
        </p:txBody>
      </p:sp>
      <p:sp>
        <p:nvSpPr>
          <p:cNvPr id="5" name="TextBox 4"/>
          <p:cNvSpPr txBox="1"/>
          <p:nvPr/>
        </p:nvSpPr>
        <p:spPr>
          <a:xfrm>
            <a:off x="548640" y="3246120"/>
            <a:ext cx="5982443" cy="897635"/>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Escoger </a:t>
            </a:r>
            <a:r>
              <a:rPr sz="1400" b="1">
                <a:solidFill>
                  <a:srgbClr val="142B33"/>
                </a:solidFill>
                <a:latin typeface="Calibri"/>
              </a:rPr>
              <a:t>P = ABE</a:t>
            </a:r>
            <a:r>
              <a:rPr sz="1400" b="0">
                <a:solidFill>
                  <a:srgbClr val="142B33"/>
                </a:solidFill>
                <a:latin typeface="Calibri"/>
              </a:rPr>
              <a:t> y </a:t>
            </a:r>
            <a:r>
              <a:rPr sz="1400" b="1">
                <a:solidFill>
                  <a:srgbClr val="142B33"/>
                </a:solidFill>
                <a:latin typeface="Calibri"/>
              </a:rPr>
              <a:t>Q = ABH</a:t>
            </a:r>
            <a:r>
              <a:rPr sz="1400" b="0">
                <a:solidFill>
                  <a:srgbClr val="142B33"/>
                </a:solidFill>
                <a:latin typeface="Calibri"/>
              </a:rPr>
              <a:t>: cadenas </a:t>
            </a:r>
            <a:r>
              <a:rPr sz="1400" b="1">
                <a:solidFill>
                  <a:srgbClr val="142B33"/>
                </a:solidFill>
                <a:latin typeface="Calibri"/>
              </a:rPr>
              <a:t>solo de triples</a:t>
            </a:r>
          </a:p>
          <a:p>
            <a:pPr marL="320040" indent="-320040">
              <a:spcAft>
                <a:spcPts val="600"/>
              </a:spcAft>
              <a:buClr>
                <a:srgbClr val="E36414"/>
              </a:buClr>
              <a:buFont typeface="+mj-lt"/>
              <a:buAutoNum type="arabicPeriod"/>
            </a:pPr>
            <a:r>
              <a:rPr sz="1400" b="0">
                <a:solidFill>
                  <a:srgbClr val="142B33"/>
                </a:solidFill>
                <a:latin typeface="Calibri"/>
              </a:rPr>
              <a:t>Cada combinación de signos (P, Q) es un </a:t>
            </a:r>
            <a:r>
              <a:rPr sz="1400" b="1">
                <a:solidFill>
                  <a:srgbClr val="142B33"/>
                </a:solidFill>
                <a:latin typeface="Calibri"/>
              </a:rPr>
              <a:t>husillo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PQ = ABE · ABH = EH</a:t>
            </a:r>
            <a:r>
              <a:rPr sz="1400" b="0">
                <a:solidFill>
                  <a:srgbClr val="142B33"/>
                </a:solidFill>
                <a:latin typeface="Calibri"/>
              </a:rPr>
              <a:t> queda confundida también: es el precio</a:t>
            </a:r>
          </a:p>
        </p:txBody>
      </p:sp>
      <p:sp>
        <p:nvSpPr>
          <p:cNvPr id="6" name="Rounded Rectangle 5"/>
          <p:cNvSpPr/>
          <p:nvPr/>
        </p:nvSpPr>
        <p:spPr>
          <a:xfrm>
            <a:off x="6942563" y="1417320"/>
            <a:ext cx="4700491"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Se pierde</a:t>
            </a:r>
          </a:p>
          <a:p>
            <a:pPr algn="l"/>
            <a:r>
              <a:rPr sz="1300" b="0">
                <a:solidFill>
                  <a:srgbClr val="142B33"/>
                </a:solidFill>
                <a:latin typeface="Calibri"/>
              </a:rPr>
              <a:t>ABE, ABH y </a:t>
            </a:r>
            <a:r>
              <a:rPr sz="1300" b="1">
                <a:solidFill>
                  <a:srgbClr val="142B33"/>
                </a:solidFill>
                <a:latin typeface="Calibri"/>
              </a:rPr>
              <a:t>EH</a:t>
            </a:r>
            <a:r>
              <a:rPr sz="1300" b="0">
                <a:solidFill>
                  <a:srgbClr val="142B33"/>
                </a:solidFill>
                <a:latin typeface="Calibri"/>
              </a:rPr>
              <a:t> (eje a × velocidad de alimentación, considerada muy improbable)</a:t>
            </a:r>
          </a:p>
        </p:txBody>
      </p:sp>
      <p:sp>
        <p:nvSpPr>
          <p:cNvPr id="7" name="Rounded Rectangle 6"/>
          <p:cNvSpPr/>
          <p:nvPr/>
        </p:nvSpPr>
        <p:spPr>
          <a:xfrm>
            <a:off x="6942563" y="2802382"/>
            <a:ext cx="4700491"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Se conserva</a:t>
            </a:r>
          </a:p>
          <a:p>
            <a:pPr algn="l"/>
            <a:r>
              <a:rPr sz="1300" b="0">
                <a:solidFill>
                  <a:srgbClr val="142B33"/>
                </a:solidFill>
                <a:latin typeface="Calibri"/>
              </a:rPr>
              <a:t>Los 8 principales y las demás dobles: </a:t>
            </a:r>
            <a:r>
              <a:rPr sz="1300" b="1">
                <a:solidFill>
                  <a:srgbClr val="142B33"/>
                </a:solidFill>
                <a:latin typeface="Calibri"/>
              </a:rPr>
              <a:t>4 + y 4 −</a:t>
            </a:r>
            <a:r>
              <a:rPr sz="1300" b="0">
                <a:solidFill>
                  <a:srgbClr val="142B33"/>
                </a:solidFill>
                <a:latin typeface="Calibri"/>
              </a:rPr>
              <a:t> en cada husillo</a:t>
            </a:r>
          </a:p>
        </p:txBody>
      </p:sp>
      <p:sp>
        <p:nvSpPr>
          <p:cNvPr id="8" name="Rounded Rectangle 7"/>
          <p:cNvSpPr/>
          <p:nvPr/>
        </p:nvSpPr>
        <p:spPr>
          <a:xfrm>
            <a:off x="6942563" y="4187444"/>
            <a:ext cx="4700491"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Aleatorización</a:t>
            </a:r>
          </a:p>
          <a:p>
            <a:pPr algn="l"/>
            <a:r>
              <a:rPr sz="1300" b="0">
                <a:solidFill>
                  <a:srgbClr val="142B33"/>
                </a:solidFill>
                <a:latin typeface="Calibri"/>
              </a:rPr>
              <a:t>El orden se sortea </a:t>
            </a:r>
            <a:r>
              <a:rPr sz="1300" b="1">
                <a:solidFill>
                  <a:srgbClr val="142B33"/>
                </a:solidFill>
                <a:latin typeface="Calibri"/>
              </a:rPr>
              <a:t>dentro</a:t>
            </a:r>
            <a:r>
              <a:rPr sz="1300" b="0">
                <a:solidFill>
                  <a:srgbClr val="142B33"/>
                </a:solidFill>
                <a:latin typeface="Calibri"/>
              </a:rPr>
              <a:t> de cada husillo</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80</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6: ¿qué efectos son activos?</a:t>
            </a:r>
          </a:p>
        </p:txBody>
      </p:sp>
      <p:graphicFrame>
        <p:nvGraphicFramePr>
          <p:cNvPr id="3" name="Chart 2"/>
          <p:cNvGraphicFramePr>
            <a:graphicFrameLocks noGrp="1"/>
          </p:cNvGraphicFramePr>
          <p:nvPr/>
        </p:nvGraphicFramePr>
        <p:xfrm>
          <a:off x="548640" y="1417320"/>
          <a:ext cx="5555126" cy="3840480"/>
        </p:xfrm>
        <a:graphic>
          <a:graphicData uri="http://schemas.openxmlformats.org/drawingml/2006/chart">
            <c:chart xmlns:c="http://schemas.openxmlformats.org/drawingml/2006/chart" r:id="rId2"/>
          </a:graphicData>
        </a:graphic>
      </p:graphicFrame>
      <p:sp>
        <p:nvSpPr>
          <p:cNvPr id="4" name="TextBox 3"/>
          <p:cNvSpPr txBox="1"/>
          <p:nvPr/>
        </p:nvSpPr>
        <p:spPr>
          <a:xfrm>
            <a:off x="548640" y="5458968"/>
            <a:ext cx="5555126" cy="222504"/>
          </a:xfrm>
          <a:prstGeom prst="rect">
            <a:avLst/>
          </a:prstGeom>
          <a:noFill/>
        </p:spPr>
        <p:txBody>
          <a:bodyPr wrap="square" anchor="t" lIns="0" rIns="0" tIns="0" bIns="0">
            <a:spAutoFit/>
          </a:bodyPr>
          <a:lstStyle/>
          <a:p>
            <a:r>
              <a:rPr sz="1200" b="0">
                <a:solidFill>
                  <a:srgbClr val="5B6B73"/>
                </a:solidFill>
                <a:latin typeface="Calibri"/>
              </a:rPr>
              <a:t>Sin ABE, ABH y EH, confundidas con los husillos</a:t>
            </a:r>
          </a:p>
        </p:txBody>
      </p:sp>
      <p:sp>
        <p:nvSpPr>
          <p:cNvPr id="5" name="TextBox 4"/>
          <p:cNvSpPr txBox="1"/>
          <p:nvPr/>
        </p:nvSpPr>
        <p:spPr>
          <a:xfrm>
            <a:off x="6515246" y="1417320"/>
            <a:ext cx="5127808" cy="149123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Se apartan</a:t>
            </a:r>
            <a:r>
              <a:rPr sz="1500" b="0">
                <a:solidFill>
                  <a:srgbClr val="142B33"/>
                </a:solidFill>
                <a:latin typeface="Calibri"/>
              </a:rPr>
              <a:t>: AD + BG = −0.374, A = 0.290, B = −0.201</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Menores</a:t>
            </a:r>
            <a:r>
              <a:rPr sz="1500" b="0">
                <a:solidFill>
                  <a:srgbClr val="142B33"/>
                </a:solidFill>
                <a:latin typeface="Calibri"/>
              </a:rPr>
              <a:t>: G = 0.116, D = 0.108, BE = 0.099</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Lenth</a:t>
            </a:r>
            <a:r>
              <a:rPr sz="1500" b="0">
                <a:solidFill>
                  <a:srgbClr val="142B33"/>
                </a:solidFill>
                <a:latin typeface="Calibri"/>
              </a:rPr>
              <a:t>: ME = 0.116, SME = 0.223. AD + BG y A &gt; SME; B &gt; ME; G en el límite; D y BE &lt; ME</a:t>
            </a:r>
          </a:p>
          <a:p>
            <a:pPr marL="320040" indent="-320040">
              <a:spcAft>
                <a:spcPts val="600"/>
              </a:spcAft>
              <a:buClr>
                <a:srgbClr val="E36414"/>
              </a:buClr>
              <a:buFont typeface="+mj-lt"/>
              <a:buAutoNum type="arabicPeriod"/>
            </a:pPr>
            <a:r>
              <a:rPr sz="1500" b="0">
                <a:solidFill>
                  <a:srgbClr val="142B33"/>
                </a:solidFill>
                <a:latin typeface="Calibri"/>
              </a:rPr>
              <a:t>Al </a:t>
            </a:r>
            <a:r>
              <a:rPr sz="1500" b="1">
                <a:solidFill>
                  <a:srgbClr val="142B33"/>
                </a:solidFill>
                <a:latin typeface="Calibri"/>
              </a:rPr>
              <a:t>modelo</a:t>
            </a:r>
            <a:r>
              <a:rPr sz="1500" b="0">
                <a:solidFill>
                  <a:srgbClr val="142B33"/>
                </a:solidFill>
                <a:latin typeface="Calibri"/>
              </a:rPr>
              <a:t>: A, B y la cadena AD + BG</a:t>
            </a:r>
          </a:p>
        </p:txBody>
      </p:sp>
      <p:sp>
        <p:nvSpPr>
          <p:cNvPr id="6" name="Rounded Rectangle 5"/>
          <p:cNvSpPr/>
          <p:nvPr/>
        </p:nvSpPr>
        <p:spPr>
          <a:xfrm>
            <a:off x="6515246" y="3109721"/>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Las 3 columnas de los husillos </a:t>
            </a:r>
            <a:r>
              <a:rPr sz="1400" b="1">
                <a:solidFill>
                  <a:srgbClr val="142B33"/>
                </a:solidFill>
                <a:latin typeface="Calibri"/>
              </a:rPr>
              <a:t>no se grafican</a:t>
            </a:r>
            <a:r>
              <a:rPr sz="1400" b="0">
                <a:solidFill>
                  <a:srgbClr val="142B33"/>
                </a:solidFill>
                <a:latin typeface="Calibri"/>
              </a:rPr>
              <a:t>: no son efectos de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81</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7: ¿la cadena es AD o BG?</a:t>
            </a:r>
          </a:p>
        </p:txBody>
      </p:sp>
      <p:graphicFrame>
        <p:nvGraphicFramePr>
          <p:cNvPr id="3" name="Table 2"/>
          <p:cNvGraphicFramePr>
            <a:graphicFrameLocks noGrp="1"/>
          </p:cNvGraphicFramePr>
          <p:nvPr/>
        </p:nvGraphicFramePr>
        <p:xfrm>
          <a:off x="548640" y="1417320"/>
          <a:ext cx="11094414" cy="1756410"/>
        </p:xfrm>
        <a:graphic>
          <a:graphicData uri="http://schemas.openxmlformats.org/drawingml/2006/table">
            <a:tbl>
              <a:tblPr firstRow="0" bandRow="0">
                <a:tableStyleId>{5C22544A-7EE6-4342-B048-85BDC9FD1C3A}</a:tableStyleId>
              </a:tblPr>
              <a:tblGrid>
                <a:gridCol w="3328324"/>
                <a:gridCol w="3883045"/>
                <a:gridCol w="3883045"/>
              </a:tblGrid>
              <a:tr h="351282">
                <a:tc>
                  <a:txBody>
                    <a:bodyPr/>
                    <a:lstStyle/>
                    <a:p>
                      <a:pPr algn="l"/>
                    </a:p>
                  </a:txBody>
                  <a:tcPr marL="73152" marR="73152" marT="27432" marB="27432" anchor="ctr">
                    <a:solidFill>
                      <a:srgbClr val="0F4C5C"/>
                    </a:solidFill>
                  </a:tcPr>
                </a:tc>
                <a:tc>
                  <a:txBody>
                    <a:bodyPr/>
                    <a:lstStyle/>
                    <a:p>
                      <a:pPr algn="ctr"/>
                      <a:r>
                        <a:rPr sz="1500" b="1">
                          <a:solidFill>
                            <a:srgbClr val="FFFFFF"/>
                          </a:solidFill>
                          <a:latin typeface="Calibri"/>
                        </a:rPr>
                        <a:t>AD (eje x × fabricante)</a:t>
                      </a:r>
                    </a:p>
                  </a:txBody>
                  <a:tcPr marL="73152" marR="73152" marT="27432" marB="27432" anchor="ctr">
                    <a:solidFill>
                      <a:srgbClr val="0F4C5C"/>
                    </a:solidFill>
                  </a:tcPr>
                </a:tc>
                <a:tc>
                  <a:txBody>
                    <a:bodyPr/>
                    <a:lstStyle/>
                    <a:p>
                      <a:pPr algn="ctr"/>
                      <a:r>
                        <a:rPr sz="1500" b="1">
                          <a:solidFill>
                            <a:srgbClr val="FFFFFF"/>
                          </a:solidFill>
                          <a:latin typeface="Calibri"/>
                        </a:rPr>
                        <a:t>BG (eje y × altura de plantilla)</a:t>
                      </a:r>
                    </a:p>
                  </a:txBody>
                  <a:tcPr marL="73152" marR="73152" marT="27432" marB="27432" anchor="ctr">
                    <a:solidFill>
                      <a:srgbClr val="0F4C5C"/>
                    </a:solidFill>
                  </a:tcPr>
                </a:tc>
              </a:tr>
              <a:tr h="351282">
                <a:tc>
                  <a:txBody>
                    <a:bodyPr/>
                    <a:lstStyle/>
                    <a:p>
                      <a:pPr algn="l"/>
                      <a:r>
                        <a:rPr sz="1500" b="0">
                          <a:solidFill>
                            <a:srgbClr val="142B33"/>
                          </a:solidFill>
                          <a:latin typeface="Calibri"/>
                        </a:rPr>
                        <a:t>Jerarquía</a:t>
                      </a:r>
                    </a:p>
                  </a:txBody>
                  <a:tcPr marL="73152" marR="73152" marT="27432" marB="27432" anchor="ctr">
                    <a:solidFill>
                      <a:srgbClr val="FFFFFF"/>
                    </a:solidFill>
                  </a:tcPr>
                </a:tc>
                <a:tc>
                  <a:txBody>
                    <a:bodyPr/>
                    <a:lstStyle/>
                    <a:p>
                      <a:pPr algn="ctr"/>
                      <a:r>
                        <a:rPr sz="1500" b="0">
                          <a:solidFill>
                            <a:srgbClr val="142B33"/>
                          </a:solidFill>
                          <a:latin typeface="Calibri"/>
                        </a:rPr>
                        <a:t>Interacción doble</a:t>
                      </a:r>
                    </a:p>
                  </a:txBody>
                  <a:tcPr marL="73152" marR="73152" marT="27432" marB="27432" anchor="ctr">
                    <a:solidFill>
                      <a:srgbClr val="FFFFFF"/>
                    </a:solidFill>
                  </a:tcPr>
                </a:tc>
                <a:tc>
                  <a:txBody>
                    <a:bodyPr/>
                    <a:lstStyle/>
                    <a:p>
                      <a:pPr algn="ctr"/>
                      <a:r>
                        <a:rPr sz="1500" b="0">
                          <a:solidFill>
                            <a:srgbClr val="142B33"/>
                          </a:solidFill>
                          <a:latin typeface="Calibri"/>
                        </a:rPr>
                        <a:t>Interacción doble</a:t>
                      </a:r>
                    </a:p>
                  </a:txBody>
                  <a:tcPr marL="73152" marR="73152" marT="27432" marB="27432" anchor="ctr">
                    <a:solidFill>
                      <a:srgbClr val="FFFFFF"/>
                    </a:solidFill>
                  </a:tcPr>
                </a:tc>
              </a:tr>
              <a:tr h="351282">
                <a:tc>
                  <a:txBody>
                    <a:bodyPr/>
                    <a:lstStyle/>
                    <a:p>
                      <a:pPr algn="l"/>
                      <a:r>
                        <a:rPr sz="1500" b="0">
                          <a:solidFill>
                            <a:srgbClr val="142B33"/>
                          </a:solidFill>
                          <a:latin typeface="Calibri"/>
                        </a:rPr>
                        <a:t>Herencia: principal grande</a:t>
                      </a:r>
                    </a:p>
                  </a:txBody>
                  <a:tcPr marL="73152" marR="73152" marT="27432" marB="27432" anchor="ctr">
                    <a:solidFill>
                      <a:srgbClr val="F4F8F9"/>
                    </a:solidFill>
                  </a:tcPr>
                </a:tc>
                <a:tc>
                  <a:txBody>
                    <a:bodyPr/>
                    <a:lstStyle/>
                    <a:p>
                      <a:pPr algn="ctr"/>
                      <a:r>
                        <a:rPr sz="1500" b="0">
                          <a:solidFill>
                            <a:srgbClr val="142B33"/>
                          </a:solidFill>
                          <a:latin typeface="Calibri"/>
                        </a:rPr>
                        <a:t>A = 0.290</a:t>
                      </a:r>
                    </a:p>
                  </a:txBody>
                  <a:tcPr marL="73152" marR="73152" marT="27432" marB="27432" anchor="ctr">
                    <a:solidFill>
                      <a:srgbClr val="F4F8F9"/>
                    </a:solidFill>
                  </a:tcPr>
                </a:tc>
                <a:tc>
                  <a:txBody>
                    <a:bodyPr/>
                    <a:lstStyle/>
                    <a:p>
                      <a:pPr algn="ctr"/>
                      <a:r>
                        <a:rPr sz="1500" b="0">
                          <a:solidFill>
                            <a:srgbClr val="142B33"/>
                          </a:solidFill>
                          <a:latin typeface="Calibri"/>
                        </a:rPr>
                        <a:t>B = −0.201</a:t>
                      </a:r>
                    </a:p>
                  </a:txBody>
                  <a:tcPr marL="73152" marR="73152" marT="27432" marB="27432" anchor="ctr">
                    <a:solidFill>
                      <a:srgbClr val="F4F8F9"/>
                    </a:solidFill>
                  </a:tcPr>
                </a:tc>
              </a:tr>
              <a:tr h="351282">
                <a:tc>
                  <a:txBody>
                    <a:bodyPr/>
                    <a:lstStyle/>
                    <a:p>
                      <a:pPr algn="l"/>
                      <a:r>
                        <a:rPr sz="1500" b="0">
                          <a:solidFill>
                            <a:srgbClr val="142B33"/>
                          </a:solidFill>
                          <a:latin typeface="Calibri"/>
                        </a:rPr>
                        <a:t>Herencia: principal pequeño</a:t>
                      </a:r>
                    </a:p>
                  </a:txBody>
                  <a:tcPr marL="73152" marR="73152" marT="27432" marB="27432" anchor="ctr">
                    <a:solidFill>
                      <a:srgbClr val="FFFFFF"/>
                    </a:solidFill>
                  </a:tcPr>
                </a:tc>
                <a:tc>
                  <a:txBody>
                    <a:bodyPr/>
                    <a:lstStyle/>
                    <a:p>
                      <a:pPr algn="ctr"/>
                      <a:r>
                        <a:rPr sz="1500" b="0">
                          <a:solidFill>
                            <a:srgbClr val="142B33"/>
                          </a:solidFill>
                          <a:latin typeface="Calibri"/>
                        </a:rPr>
                        <a:t>D = 0.108</a:t>
                      </a:r>
                    </a:p>
                  </a:txBody>
                  <a:tcPr marL="73152" marR="73152" marT="27432" marB="27432" anchor="ctr">
                    <a:solidFill>
                      <a:srgbClr val="FFFFFF"/>
                    </a:solidFill>
                  </a:tcPr>
                </a:tc>
                <a:tc>
                  <a:txBody>
                    <a:bodyPr/>
                    <a:lstStyle/>
                    <a:p>
                      <a:pPr algn="ctr"/>
                      <a:r>
                        <a:rPr sz="1500" b="0">
                          <a:solidFill>
                            <a:srgbClr val="142B33"/>
                          </a:solidFill>
                          <a:latin typeface="Calibri"/>
                        </a:rPr>
                        <a:t>G = 0.116</a:t>
                      </a:r>
                    </a:p>
                  </a:txBody>
                  <a:tcPr marL="73152" marR="73152" marT="27432" marB="27432" anchor="ctr">
                    <a:solidFill>
                      <a:srgbClr val="FFFFFF"/>
                    </a:solidFill>
                  </a:tcPr>
                </a:tc>
              </a:tr>
              <a:tr h="351282">
                <a:tc>
                  <a:txBody>
                    <a:bodyPr/>
                    <a:lstStyle/>
                    <a:p>
                      <a:pPr algn="l"/>
                      <a:r>
                        <a:rPr sz="1500" b="0">
                          <a:solidFill>
                            <a:srgbClr val="142B33"/>
                          </a:solidFill>
                          <a:latin typeface="Calibri"/>
                        </a:rPr>
                        <a:t>Conclusión</a:t>
                      </a:r>
                    </a:p>
                  </a:txBody>
                  <a:tcPr marL="73152" marR="73152" marT="27432" marB="27432" anchor="ctr">
                    <a:solidFill>
                      <a:srgbClr val="F4F8F9"/>
                    </a:solidFill>
                  </a:tcPr>
                </a:tc>
                <a:tc>
                  <a:txBody>
                    <a:bodyPr/>
                    <a:lstStyle/>
                    <a:p>
                      <a:pPr algn="ctr"/>
                      <a:r>
                        <a:rPr sz="1500" b="1">
                          <a:solidFill>
                            <a:srgbClr val="142B33"/>
                          </a:solidFill>
                          <a:latin typeface="Calibri"/>
                        </a:rPr>
                        <a:t>Empate</a:t>
                      </a:r>
                      <a:r>
                        <a:rPr sz="1500" b="0">
                          <a:solidFill>
                            <a:srgbClr val="142B33"/>
                          </a:solidFill>
                          <a:latin typeface="Calibri"/>
                        </a:rPr>
                        <a:t>: los datos no deciden</a:t>
                      </a:r>
                    </a:p>
                  </a:txBody>
                  <a:tcPr marL="73152" marR="73152" marT="27432" marB="27432" anchor="ctr">
                    <a:solidFill>
                      <a:srgbClr val="F4F8F9"/>
                    </a:solidFill>
                  </a:tcPr>
                </a:tc>
                <a:tc>
                  <a:txBody>
                    <a:bodyPr/>
                    <a:lstStyle/>
                    <a:p>
                      <a:pPr algn="ctr"/>
                      <a:r>
                        <a:rPr sz="1500" b="1">
                          <a:solidFill>
                            <a:srgbClr val="142B33"/>
                          </a:solidFill>
                          <a:latin typeface="Calibri"/>
                        </a:rPr>
                        <a:t>Empate</a:t>
                      </a:r>
                      <a:r>
                        <a:rPr sz="1500" b="0">
                          <a:solidFill>
                            <a:srgbClr val="142B33"/>
                          </a:solidFill>
                          <a:latin typeface="Calibri"/>
                        </a:rPr>
                        <a:t>: los datos no deciden</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3545738" cy="135839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Conocimiento del proceso</a:t>
            </a:r>
          </a:p>
          <a:p>
            <a:pPr algn="l"/>
            <a:r>
              <a:rPr sz="1400" b="0">
                <a:solidFill>
                  <a:srgbClr val="142B33"/>
                </a:solidFill>
                <a:latin typeface="Calibri"/>
              </a:rPr>
              <a:t>Los ingenieros juzgan que la interacción real es </a:t>
            </a:r>
            <a:r>
              <a:rPr sz="1400" b="1">
                <a:solidFill>
                  <a:srgbClr val="142B33"/>
                </a:solidFill>
                <a:latin typeface="Calibri"/>
              </a:rPr>
              <a:t>AD</a:t>
            </a:r>
          </a:p>
        </p:txBody>
      </p:sp>
      <p:sp>
        <p:nvSpPr>
          <p:cNvPr id="5" name="Rounded Rectangle 4"/>
          <p:cNvSpPr/>
          <p:nvPr/>
        </p:nvSpPr>
        <p:spPr>
          <a:xfrm>
            <a:off x="4322978" y="3374898"/>
            <a:ext cx="3545738" cy="135839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Más corridas</a:t>
            </a:r>
          </a:p>
          <a:p>
            <a:pPr algn="l"/>
            <a:r>
              <a:rPr sz="1400" b="0">
                <a:solidFill>
                  <a:srgbClr val="142B33"/>
                </a:solidFill>
                <a:latin typeface="Calibri"/>
              </a:rPr>
              <a:t>Un </a:t>
            </a:r>
            <a:r>
              <a:rPr sz="1400" b="1">
                <a:solidFill>
                  <a:srgbClr val="142B33"/>
                </a:solidFill>
                <a:latin typeface="Calibri"/>
              </a:rPr>
              <a:t>doblez</a:t>
            </a:r>
            <a:r>
              <a:rPr sz="1400" b="0">
                <a:solidFill>
                  <a:srgbClr val="142B33"/>
                </a:solidFill>
                <a:latin typeface="Calibri"/>
              </a:rPr>
              <a:t> de A o de D separaría AD de BG</a:t>
            </a:r>
          </a:p>
        </p:txBody>
      </p:sp>
      <p:sp>
        <p:nvSpPr>
          <p:cNvPr id="6" name="Rounded Rectangle 5"/>
          <p:cNvSpPr/>
          <p:nvPr/>
        </p:nvSpPr>
        <p:spPr>
          <a:xfrm>
            <a:off x="8097316" y="3374898"/>
            <a:ext cx="3545738" cy="135839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Modelo</a:t>
            </a:r>
          </a:p>
          <a:p>
            <a:pPr algn="l"/>
            <a:r>
              <a:rPr sz="1400" b="1">
                <a:solidFill>
                  <a:srgbClr val="142B33"/>
                </a:solidFill>
                <a:latin typeface="Calibri"/>
              </a:rPr>
              <a:t>A, B, D y AD</a:t>
            </a:r>
            <a:r>
              <a:rPr sz="1400" b="0">
                <a:solidFill>
                  <a:srgbClr val="142B33"/>
                </a:solidFill>
                <a:latin typeface="Calibri"/>
              </a:rPr>
              <a:t>; D entra por </a:t>
            </a:r>
            <a:r>
              <a:rPr sz="1400" b="1">
                <a:solidFill>
                  <a:srgbClr val="142B33"/>
                </a:solidFill>
                <a:latin typeface="Calibri"/>
              </a:rPr>
              <a:t>jerarquía</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82</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8: hipótesis, modelo y ANOVA con bloques</a:t>
            </a:r>
          </a:p>
        </p:txBody>
      </p:sp>
      <p:graphicFrame>
        <p:nvGraphicFramePr>
          <p:cNvPr id="3" name="Table 2"/>
          <p:cNvGraphicFramePr>
            <a:graphicFrameLocks noGrp="1"/>
          </p:cNvGraphicFramePr>
          <p:nvPr/>
        </p:nvGraphicFramePr>
        <p:xfrm>
          <a:off x="548640" y="1417320"/>
          <a:ext cx="5555123" cy="2686304"/>
        </p:xfrm>
        <a:graphic>
          <a:graphicData uri="http://schemas.openxmlformats.org/drawingml/2006/table">
            <a:tbl>
              <a:tblPr firstRow="0" bandRow="0">
                <a:tableStyleId>{5C22544A-7EE6-4342-B048-85BDC9FD1C3A}</a:tableStyleId>
              </a:tblPr>
              <a:tblGrid>
                <a:gridCol w="1040901"/>
                <a:gridCol w="931332"/>
                <a:gridCol w="558799"/>
                <a:gridCol w="931332"/>
                <a:gridCol w="821764"/>
                <a:gridCol w="1270995"/>
              </a:tblGrid>
              <a:tr h="335788">
                <a:tc>
                  <a:txBody>
                    <a:bodyPr/>
                    <a:lstStyle/>
                    <a:p>
                      <a:pPr algn="l"/>
                      <a:r>
                        <a:rPr sz="1400" b="1">
                          <a:solidFill>
                            <a:srgbClr val="FFFFFF"/>
                          </a:solidFill>
                          <a:latin typeface="Calibri"/>
                        </a:rPr>
                        <a:t>SV</a:t>
                      </a:r>
                    </a:p>
                  </a:txBody>
                  <a:tcPr marL="73152" marR="73152" marT="27432" marB="27432" anchor="ctr">
                    <a:solidFill>
                      <a:srgbClr val="0F4C5C"/>
                    </a:solidFill>
                  </a:tcPr>
                </a:tc>
                <a:tc>
                  <a:txBody>
                    <a:bodyPr/>
                    <a:lstStyle/>
                    <a:p>
                      <a:pPr algn="ctr"/>
                      <a:r>
                        <a:rPr sz="1400" b="1">
                          <a:solidFill>
                            <a:srgbClr val="FFFFFF"/>
                          </a:solidFill>
                          <a:latin typeface="Calibri"/>
                        </a:rPr>
                        <a:t>SS</a:t>
                      </a:r>
                    </a:p>
                  </a:txBody>
                  <a:tcPr marL="73152" marR="73152" marT="27432" marB="27432" anchor="ctr">
                    <a:solidFill>
                      <a:srgbClr val="0F4C5C"/>
                    </a:solidFill>
                  </a:tcPr>
                </a:tc>
                <a:tc>
                  <a:txBody>
                    <a:bodyPr/>
                    <a:lstStyle/>
                    <a:p>
                      <a:pPr algn="ctr"/>
                      <a:r>
                        <a:rPr sz="1400" b="1">
                          <a:solidFill>
                            <a:srgbClr val="FFFFFF"/>
                          </a:solidFill>
                          <a:latin typeface="Calibri"/>
                        </a:rPr>
                        <a:t>DF</a:t>
                      </a:r>
                    </a:p>
                  </a:txBody>
                  <a:tcPr marL="73152" marR="73152" marT="27432" marB="27432" anchor="ctr">
                    <a:solidFill>
                      <a:srgbClr val="0F4C5C"/>
                    </a:solidFill>
                  </a:tcPr>
                </a:tc>
                <a:tc>
                  <a:txBody>
                    <a:bodyPr/>
                    <a:lstStyle/>
                    <a:p>
                      <a:pPr algn="ctr"/>
                      <a:r>
                        <a:rPr sz="1400" b="1">
                          <a:solidFill>
                            <a:srgbClr val="FFFFFF"/>
                          </a:solidFill>
                          <a:latin typeface="Calibri"/>
                        </a:rPr>
                        <a:t>MS</a:t>
                      </a:r>
                    </a:p>
                  </a:txBody>
                  <a:tcPr marL="73152" marR="73152" marT="27432" marB="27432" anchor="ctr">
                    <a:solidFill>
                      <a:srgbClr val="0F4C5C"/>
                    </a:solidFill>
                  </a:tcPr>
                </a:tc>
                <a:tc>
                  <a:txBody>
                    <a:bodyPr/>
                    <a:lstStyle/>
                    <a:p>
                      <a:pPr algn="ctr"/>
                      <a:r>
                        <a:rPr sz="1400" b="1">
                          <a:solidFill>
                            <a:srgbClr val="FFFFFF"/>
                          </a:solidFill>
                          <a:latin typeface="Calibri"/>
                        </a:rPr>
                        <a:t>F</a:t>
                      </a:r>
                      <a:r>
                        <a:rPr sz="1400" b="1" baseline="-25000">
                          <a:solidFill>
                            <a:srgbClr val="FFFFFF"/>
                          </a:solidFill>
                          <a:latin typeface="Calibri"/>
                        </a:rPr>
                        <a:t>0</a:t>
                      </a:r>
                    </a:p>
                  </a:txBody>
                  <a:tcPr marL="73152" marR="73152" marT="27432" marB="27432" anchor="ctr">
                    <a:solidFill>
                      <a:srgbClr val="0F4C5C"/>
                    </a:solidFill>
                  </a:tcPr>
                </a:tc>
                <a:tc>
                  <a:txBody>
                    <a:bodyPr/>
                    <a:lstStyle/>
                    <a:p>
                      <a:pPr algn="ctr"/>
                      <a:r>
                        <a:rPr sz="1400" b="1">
                          <a:solidFill>
                            <a:srgbClr val="FFFFFF"/>
                          </a:solidFill>
                          <a:latin typeface="Calibri"/>
                        </a:rPr>
                        <a:t>P-Value</a:t>
                      </a:r>
                    </a:p>
                  </a:txBody>
                  <a:tcPr marL="73152" marR="73152" marT="27432" marB="27432" anchor="ctr">
                    <a:solidFill>
                      <a:srgbClr val="0F4C5C"/>
                    </a:solidFill>
                  </a:tcPr>
                </a:tc>
              </a:tr>
              <a:tr h="335788">
                <a:tc>
                  <a:txBody>
                    <a:bodyPr/>
                    <a:lstStyle/>
                    <a:p>
                      <a:pPr algn="l"/>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0.6740</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0.6740</a:t>
                      </a:r>
                    </a:p>
                  </a:txBody>
                  <a:tcPr marL="73152" marR="73152" marT="27432" marB="27432" anchor="ctr">
                    <a:solidFill>
                      <a:srgbClr val="FFFFFF"/>
                    </a:solidFill>
                  </a:tcPr>
                </a:tc>
                <a:tc>
                  <a:txBody>
                    <a:bodyPr/>
                    <a:lstStyle/>
                    <a:p>
                      <a:pPr algn="ctr"/>
                      <a:r>
                        <a:rPr sz="1400" b="0">
                          <a:solidFill>
                            <a:srgbClr val="142B33"/>
                          </a:solidFill>
                          <a:latin typeface="Calibri"/>
                        </a:rPr>
                        <a:t>39.42</a:t>
                      </a:r>
                    </a:p>
                  </a:txBody>
                  <a:tcPr marL="73152" marR="73152" marT="27432" marB="27432" anchor="ctr">
                    <a:solidFill>
                      <a:srgbClr val="FFFFFF"/>
                    </a:solidFill>
                  </a:tcPr>
                </a:tc>
                <a:tc>
                  <a:txBody>
                    <a:bodyPr/>
                    <a:lstStyle/>
                    <a:p>
                      <a:pPr algn="ctr"/>
                      <a:r>
                        <a:rPr sz="1400" b="0">
                          <a:solidFill>
                            <a:srgbClr val="142B33"/>
                          </a:solidFill>
                          <a:latin typeface="Calibri"/>
                        </a:rPr>
                        <a:t>&lt;0.0001</a:t>
                      </a:r>
                    </a:p>
                  </a:txBody>
                  <a:tcPr marL="73152" marR="73152" marT="27432" marB="27432" anchor="ctr">
                    <a:solidFill>
                      <a:srgbClr val="FFFFFF"/>
                    </a:solidFill>
                  </a:tcPr>
                </a:tc>
              </a:tr>
              <a:tr h="335788">
                <a:tc>
                  <a:txBody>
                    <a:bodyPr/>
                    <a:lstStyle/>
                    <a:p>
                      <a:pPr algn="l"/>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0.3217</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0.3217</a:t>
                      </a:r>
                    </a:p>
                  </a:txBody>
                  <a:tcPr marL="73152" marR="73152" marT="27432" marB="27432" anchor="ctr">
                    <a:solidFill>
                      <a:srgbClr val="F4F8F9"/>
                    </a:solidFill>
                  </a:tcPr>
                </a:tc>
                <a:tc>
                  <a:txBody>
                    <a:bodyPr/>
                    <a:lstStyle/>
                    <a:p>
                      <a:pPr algn="ctr"/>
                      <a:r>
                        <a:rPr sz="1400" b="0">
                          <a:solidFill>
                            <a:srgbClr val="142B33"/>
                          </a:solidFill>
                          <a:latin typeface="Calibri"/>
                        </a:rPr>
                        <a:t>18.81</a:t>
                      </a:r>
                    </a:p>
                  </a:txBody>
                  <a:tcPr marL="73152" marR="73152" marT="27432" marB="27432" anchor="ctr">
                    <a:solidFill>
                      <a:srgbClr val="F4F8F9"/>
                    </a:solidFill>
                  </a:tcPr>
                </a:tc>
                <a:tc>
                  <a:txBody>
                    <a:bodyPr/>
                    <a:lstStyle/>
                    <a:p>
                      <a:pPr algn="ctr"/>
                      <a:r>
                        <a:rPr sz="1400" b="0">
                          <a:solidFill>
                            <a:srgbClr val="142B33"/>
                          </a:solidFill>
                          <a:latin typeface="Calibri"/>
                        </a:rPr>
                        <a:t>0.0002</a:t>
                      </a:r>
                    </a:p>
                  </a:txBody>
                  <a:tcPr marL="73152" marR="73152" marT="27432" marB="27432" anchor="ctr">
                    <a:solidFill>
                      <a:srgbClr val="F4F8F9"/>
                    </a:solidFill>
                  </a:tcPr>
                </a:tc>
              </a:tr>
              <a:tr h="335788">
                <a:tc>
                  <a:txBody>
                    <a:bodyPr/>
                    <a:lstStyle/>
                    <a:p>
                      <a:pPr algn="l"/>
                      <a:r>
                        <a:rPr sz="1400" b="0">
                          <a:solidFill>
                            <a:srgbClr val="142B33"/>
                          </a:solidFill>
                          <a:latin typeface="Calibri"/>
                        </a:rPr>
                        <a:t>D</a:t>
                      </a:r>
                    </a:p>
                  </a:txBody>
                  <a:tcPr marL="73152" marR="73152" marT="27432" marB="27432" anchor="ctr">
                    <a:solidFill>
                      <a:srgbClr val="FFFFFF"/>
                    </a:solidFill>
                  </a:tcPr>
                </a:tc>
                <a:tc>
                  <a:txBody>
                    <a:bodyPr/>
                    <a:lstStyle/>
                    <a:p>
                      <a:pPr algn="ctr"/>
                      <a:r>
                        <a:rPr sz="1400" b="0">
                          <a:solidFill>
                            <a:srgbClr val="142B33"/>
                          </a:solidFill>
                          <a:latin typeface="Calibri"/>
                        </a:rPr>
                        <a:t>0.0935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0.0935</a:t>
                      </a:r>
                    </a:p>
                  </a:txBody>
                  <a:tcPr marL="73152" marR="73152" marT="27432" marB="27432" anchor="ctr">
                    <a:solidFill>
                      <a:srgbClr val="FFFFFF"/>
                    </a:solidFill>
                  </a:tcPr>
                </a:tc>
                <a:tc>
                  <a:txBody>
                    <a:bodyPr/>
                    <a:lstStyle/>
                    <a:p>
                      <a:pPr algn="ctr"/>
                      <a:r>
                        <a:rPr sz="1400" b="0">
                          <a:solidFill>
                            <a:srgbClr val="142B33"/>
                          </a:solidFill>
                          <a:latin typeface="Calibri"/>
                        </a:rPr>
                        <a:t>5.47</a:t>
                      </a:r>
                    </a:p>
                  </a:txBody>
                  <a:tcPr marL="73152" marR="73152" marT="27432" marB="27432" anchor="ctr">
                    <a:solidFill>
                      <a:srgbClr val="FFFFFF"/>
                    </a:solidFill>
                  </a:tcPr>
                </a:tc>
                <a:tc>
                  <a:txBody>
                    <a:bodyPr/>
                    <a:lstStyle/>
                    <a:p>
                      <a:pPr algn="ctr"/>
                      <a:r>
                        <a:rPr sz="1400" b="0">
                          <a:solidFill>
                            <a:srgbClr val="142B33"/>
                          </a:solidFill>
                          <a:latin typeface="Calibri"/>
                        </a:rPr>
                        <a:t>0.0280</a:t>
                      </a:r>
                    </a:p>
                  </a:txBody>
                  <a:tcPr marL="73152" marR="73152" marT="27432" marB="27432" anchor="ctr">
                    <a:solidFill>
                      <a:srgbClr val="FFFFFF"/>
                    </a:solidFill>
                  </a:tcPr>
                </a:tc>
              </a:tr>
              <a:tr h="335788">
                <a:tc>
                  <a:txBody>
                    <a:bodyPr/>
                    <a:lstStyle/>
                    <a:p>
                      <a:pPr algn="l"/>
                      <a:r>
                        <a:rPr sz="1400" b="0">
                          <a:solidFill>
                            <a:srgbClr val="142B33"/>
                          </a:solidFill>
                          <a:latin typeface="Calibri"/>
                        </a:rPr>
                        <a:t>AD</a:t>
                      </a:r>
                    </a:p>
                  </a:txBody>
                  <a:tcPr marL="73152" marR="73152" marT="27432" marB="27432" anchor="ctr">
                    <a:solidFill>
                      <a:srgbClr val="F4F8F9"/>
                    </a:solidFill>
                  </a:tcPr>
                </a:tc>
                <a:tc>
                  <a:txBody>
                    <a:bodyPr/>
                    <a:lstStyle/>
                    <a:p>
                      <a:pPr algn="ctr"/>
                      <a:r>
                        <a:rPr sz="1400" b="0">
                          <a:solidFill>
                            <a:srgbClr val="142B33"/>
                          </a:solidFill>
                          <a:latin typeface="Calibri"/>
                        </a:rPr>
                        <a:t>1.1197</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1.1197</a:t>
                      </a:r>
                    </a:p>
                  </a:txBody>
                  <a:tcPr marL="73152" marR="73152" marT="27432" marB="27432" anchor="ctr">
                    <a:solidFill>
                      <a:srgbClr val="F4F8F9"/>
                    </a:solidFill>
                  </a:tcPr>
                </a:tc>
                <a:tc>
                  <a:txBody>
                    <a:bodyPr/>
                    <a:lstStyle/>
                    <a:p>
                      <a:pPr algn="ctr"/>
                      <a:r>
                        <a:rPr sz="1400" b="0">
                          <a:solidFill>
                            <a:srgbClr val="142B33"/>
                          </a:solidFill>
                          <a:latin typeface="Calibri"/>
                        </a:rPr>
                        <a:t>65.48</a:t>
                      </a:r>
                    </a:p>
                  </a:txBody>
                  <a:tcPr marL="73152" marR="73152" marT="27432" marB="27432" anchor="ctr">
                    <a:solidFill>
                      <a:srgbClr val="F4F8F9"/>
                    </a:solidFill>
                  </a:tcPr>
                </a:tc>
                <a:tc>
                  <a:txBody>
                    <a:bodyPr/>
                    <a:lstStyle/>
                    <a:p>
                      <a:pPr algn="ctr"/>
                      <a:r>
                        <a:rPr sz="1400" b="0">
                          <a:solidFill>
                            <a:srgbClr val="142B33"/>
                          </a:solidFill>
                          <a:latin typeface="Calibri"/>
                        </a:rPr>
                        <a:t>&lt;0.0001</a:t>
                      </a:r>
                    </a:p>
                  </a:txBody>
                  <a:tcPr marL="73152" marR="73152" marT="27432" marB="27432" anchor="ctr">
                    <a:solidFill>
                      <a:srgbClr val="F4F8F9"/>
                    </a:solidFill>
                  </a:tcPr>
                </a:tc>
              </a:tr>
              <a:tr h="335788">
                <a:tc>
                  <a:txBody>
                    <a:bodyPr/>
                    <a:lstStyle/>
                    <a:p>
                      <a:pPr algn="l"/>
                      <a:r>
                        <a:rPr sz="1400" b="1">
                          <a:solidFill>
                            <a:srgbClr val="142B33"/>
                          </a:solidFill>
                          <a:latin typeface="Calibri"/>
                        </a:rPr>
                        <a:t>Bloques</a:t>
                      </a:r>
                    </a:p>
                  </a:txBody>
                  <a:tcPr marL="73152" marR="73152" marT="27432" marB="27432" anchor="ctr">
                    <a:solidFill>
                      <a:srgbClr val="FDE8D7"/>
                    </a:solidFill>
                  </a:tcPr>
                </a:tc>
                <a:tc>
                  <a:txBody>
                    <a:bodyPr/>
                    <a:lstStyle/>
                    <a:p>
                      <a:pPr algn="ctr"/>
                      <a:r>
                        <a:rPr sz="1400" b="1">
                          <a:solidFill>
                            <a:srgbClr val="142B33"/>
                          </a:solidFill>
                          <a:latin typeface="Calibri"/>
                        </a:rPr>
                        <a:t>0.0201</a:t>
                      </a:r>
                    </a:p>
                  </a:txBody>
                  <a:tcPr marL="73152" marR="73152" marT="27432" marB="27432" anchor="ctr">
                    <a:solidFill>
                      <a:srgbClr val="FDE8D7"/>
                    </a:solidFill>
                  </a:tcPr>
                </a:tc>
                <a:tc>
                  <a:txBody>
                    <a:bodyPr/>
                    <a:lstStyle/>
                    <a:p>
                      <a:pPr algn="ctr"/>
                      <a:r>
                        <a:rPr sz="1400" b="1">
                          <a:solidFill>
                            <a:srgbClr val="142B33"/>
                          </a:solidFill>
                          <a:latin typeface="Calibri"/>
                        </a:rPr>
                        <a:t>3</a:t>
                      </a:r>
                    </a:p>
                  </a:txBody>
                  <a:tcPr marL="73152" marR="73152" marT="27432" marB="27432" anchor="ctr">
                    <a:solidFill>
                      <a:srgbClr val="FDE8D7"/>
                    </a:solidFill>
                  </a:tcPr>
                </a:tc>
                <a:tc>
                  <a:txBody>
                    <a:bodyPr/>
                    <a:lstStyle/>
                    <a:p>
                      <a:pPr algn="ctr"/>
                      <a:r>
                        <a:rPr sz="1400" b="1">
                          <a:solidFill>
                            <a:srgbClr val="142B33"/>
                          </a:solidFill>
                          <a:latin typeface="Calibri"/>
                        </a:rPr>
                        <a:t>0.0067</a:t>
                      </a:r>
                    </a:p>
                  </a:txBody>
                  <a:tcPr marL="73152" marR="73152" marT="27432" marB="27432" anchor="ctr">
                    <a:solidFill>
                      <a:srgbClr val="FDE8D7"/>
                    </a:solidFill>
                  </a:tcPr>
                </a:tc>
                <a:tc>
                  <a:txBody>
                    <a:bodyPr/>
                    <a:lstStyle/>
                    <a:p>
                      <a:pPr algn="ctr"/>
                    </a:p>
                  </a:txBody>
                  <a:tcPr marL="73152" marR="73152" marT="27432" marB="27432" anchor="ctr">
                    <a:solidFill>
                      <a:srgbClr val="FDE8D7"/>
                    </a:solidFill>
                  </a:tcPr>
                </a:tc>
                <a:tc>
                  <a:txBody>
                    <a:bodyPr/>
                    <a:lstStyle/>
                    <a:p>
                      <a:pPr algn="ctr"/>
                    </a:p>
                  </a:txBody>
                  <a:tcPr marL="73152" marR="73152" marT="27432" marB="27432" anchor="ctr">
                    <a:solidFill>
                      <a:srgbClr val="FDE8D7"/>
                    </a:solidFill>
                  </a:tcPr>
                </a:tc>
              </a:tr>
              <a:tr h="335788">
                <a:tc>
                  <a:txBody>
                    <a:bodyPr/>
                    <a:lstStyle/>
                    <a:p>
                      <a:pPr algn="l"/>
                      <a:r>
                        <a:rPr sz="1400" b="0">
                          <a:solidFill>
                            <a:srgbClr val="142B33"/>
                          </a:solidFill>
                          <a:latin typeface="Calibri"/>
                        </a:rPr>
                        <a:t>Error</a:t>
                      </a:r>
                    </a:p>
                  </a:txBody>
                  <a:tcPr marL="73152" marR="73152" marT="27432" marB="27432" anchor="ctr">
                    <a:solidFill>
                      <a:srgbClr val="F4F8F9"/>
                    </a:solidFill>
                  </a:tcPr>
                </a:tc>
                <a:tc>
                  <a:txBody>
                    <a:bodyPr/>
                    <a:lstStyle/>
                    <a:p>
                      <a:pPr algn="ctr"/>
                      <a:r>
                        <a:rPr sz="1400" b="0">
                          <a:solidFill>
                            <a:srgbClr val="142B33"/>
                          </a:solidFill>
                          <a:latin typeface="Calibri"/>
                        </a:rPr>
                        <a:t>0.4099</a:t>
                      </a:r>
                    </a:p>
                  </a:txBody>
                  <a:tcPr marL="73152" marR="73152" marT="27432" marB="27432" anchor="ctr">
                    <a:solidFill>
                      <a:srgbClr val="F4F8F9"/>
                    </a:solidFill>
                  </a:tcPr>
                </a:tc>
                <a:tc>
                  <a:txBody>
                    <a:bodyPr/>
                    <a:lstStyle/>
                    <a:p>
                      <a:pPr algn="ctr"/>
                      <a:r>
                        <a:rPr sz="1400" b="0">
                          <a:solidFill>
                            <a:srgbClr val="142B33"/>
                          </a:solidFill>
                          <a:latin typeface="Calibri"/>
                        </a:rPr>
                        <a:t>24</a:t>
                      </a:r>
                    </a:p>
                  </a:txBody>
                  <a:tcPr marL="73152" marR="73152" marT="27432" marB="27432" anchor="ctr">
                    <a:solidFill>
                      <a:srgbClr val="F4F8F9"/>
                    </a:solidFill>
                  </a:tcPr>
                </a:tc>
                <a:tc>
                  <a:txBody>
                    <a:bodyPr/>
                    <a:lstStyle/>
                    <a:p>
                      <a:pPr algn="ctr"/>
                      <a:r>
                        <a:rPr sz="1400" b="0">
                          <a:solidFill>
                            <a:srgbClr val="142B33"/>
                          </a:solidFill>
                          <a:latin typeface="Calibri"/>
                        </a:rPr>
                        <a:t>0.0171</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35788">
                <a:tc>
                  <a:txBody>
                    <a:bodyPr/>
                    <a:lstStyle/>
                    <a:p>
                      <a:pPr algn="l"/>
                      <a:r>
                        <a:rPr sz="1400" b="0">
                          <a:solidFill>
                            <a:srgbClr val="142B33"/>
                          </a:solidFill>
                          <a:latin typeface="Calibri"/>
                        </a:rPr>
                        <a:t>Total</a:t>
                      </a:r>
                    </a:p>
                  </a:txBody>
                  <a:tcPr marL="73152" marR="73152" marT="27432" marB="27432" anchor="ctr">
                    <a:solidFill>
                      <a:srgbClr val="FFFFFF"/>
                    </a:solidFill>
                  </a:tcPr>
                </a:tc>
                <a:tc>
                  <a:txBody>
                    <a:bodyPr/>
                    <a:lstStyle/>
                    <a:p>
                      <a:pPr algn="ctr"/>
                      <a:r>
                        <a:rPr sz="1400" b="0">
                          <a:solidFill>
                            <a:srgbClr val="142B33"/>
                          </a:solidFill>
                          <a:latin typeface="Calibri"/>
                        </a:rPr>
                        <a:t>2.6389</a:t>
                      </a:r>
                    </a:p>
                  </a:txBody>
                  <a:tcPr marL="73152" marR="73152" marT="27432" marB="27432" anchor="ctr">
                    <a:solidFill>
                      <a:srgbClr val="FFFFFF"/>
                    </a:solidFill>
                  </a:tcPr>
                </a:tc>
                <a:tc>
                  <a:txBody>
                    <a:bodyPr/>
                    <a:lstStyle/>
                    <a:p>
                      <a:pPr algn="ctr"/>
                      <a:r>
                        <a:rPr sz="1400" b="0">
                          <a:solidFill>
                            <a:srgbClr val="142B33"/>
                          </a:solidFill>
                          <a:latin typeface="Calibri"/>
                        </a:rPr>
                        <a:t>31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304792"/>
            <a:ext cx="5555126"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H</a:t>
            </a:r>
            <a:r>
              <a:rPr sz="1500" b="0" baseline="-25000">
                <a:solidFill>
                  <a:srgbClr val="0F4C5C"/>
                </a:solidFill>
                <a:latin typeface="Cambria Math"/>
              </a:rPr>
              <a:t>0</a:t>
            </a:r>
            <a:r>
              <a:rPr sz="1500" b="0">
                <a:solidFill>
                  <a:srgbClr val="0F4C5C"/>
                </a:solidFill>
                <a:latin typeface="Cambria Math"/>
              </a:rPr>
              <a:t>: β</a:t>
            </a:r>
            <a:r>
              <a:rPr sz="1500" b="0" baseline="-25000">
                <a:solidFill>
                  <a:srgbClr val="0F4C5C"/>
                </a:solidFill>
                <a:latin typeface="Cambria Math"/>
              </a:rPr>
              <a:t>AD</a:t>
            </a:r>
            <a:r>
              <a:rPr sz="1500" b="0">
                <a:solidFill>
                  <a:srgbClr val="0F4C5C"/>
                </a:solidFill>
                <a:latin typeface="Cambria Math"/>
              </a:rPr>
              <a:t> + β</a:t>
            </a:r>
            <a:r>
              <a:rPr sz="1500" b="0" baseline="-25000">
                <a:solidFill>
                  <a:srgbClr val="0F4C5C"/>
                </a:solidFill>
                <a:latin typeface="Cambria Math"/>
              </a:rPr>
              <a:t>BG</a:t>
            </a:r>
            <a:r>
              <a:rPr sz="1500" b="0">
                <a:solidFill>
                  <a:srgbClr val="0F4C5C"/>
                </a:solidFill>
                <a:latin typeface="Cambria Math"/>
              </a:rPr>
              <a:t> = 0,   F</a:t>
            </a:r>
            <a:r>
              <a:rPr sz="1500" b="0" baseline="-25000">
                <a:solidFill>
                  <a:srgbClr val="0F4C5C"/>
                </a:solidFill>
                <a:latin typeface="Cambria Math"/>
              </a:rPr>
              <a:t>0.05, 1, 24</a:t>
            </a:r>
            <a:r>
              <a:rPr sz="1500" b="0">
                <a:solidFill>
                  <a:srgbClr val="0F4C5C"/>
                </a:solidFill>
                <a:latin typeface="Cambria Math"/>
              </a:rPr>
              <a:t> = 4.26</a:t>
            </a:r>
          </a:p>
        </p:txBody>
      </p:sp>
      <p:sp>
        <p:nvSpPr>
          <p:cNvPr id="5" name="Rounded Rectangle 4"/>
          <p:cNvSpPr/>
          <p:nvPr/>
        </p:nvSpPr>
        <p:spPr>
          <a:xfrm>
            <a:off x="6515246" y="1417320"/>
            <a:ext cx="5127808"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Bloques = las 3 columnas de los husillos</a:t>
            </a:r>
          </a:p>
          <a:p>
            <a:pPr algn="l"/>
            <a:r>
              <a:rPr sz="1300" b="0">
                <a:solidFill>
                  <a:srgbClr val="142B33"/>
                </a:solidFill>
                <a:latin typeface="Calibri"/>
              </a:rPr>
              <a:t>SS(ABE) + SS(ABH) + SS(EH) = </a:t>
            </a:r>
            <a:r>
              <a:rPr sz="1300" b="1">
                <a:solidFill>
                  <a:srgbClr val="142B33"/>
                </a:solidFill>
                <a:latin typeface="Calibri"/>
              </a:rPr>
              <a:t>0.0201</a:t>
            </a:r>
            <a:r>
              <a:rPr sz="1300" b="0">
                <a:solidFill>
                  <a:srgbClr val="142B33"/>
                </a:solidFill>
                <a:latin typeface="Calibri"/>
              </a:rPr>
              <a:t> con </a:t>
            </a:r>
            <a:r>
              <a:rPr sz="1300" b="1">
                <a:solidFill>
                  <a:srgbClr val="142B33"/>
                </a:solidFill>
                <a:latin typeface="Calibri"/>
              </a:rPr>
              <a:t>3 g.l.</a:t>
            </a:r>
          </a:p>
        </p:txBody>
      </p:sp>
      <p:sp>
        <p:nvSpPr>
          <p:cNvPr id="6" name="Rounded Rectangle 5"/>
          <p:cNvSpPr/>
          <p:nvPr/>
        </p:nvSpPr>
        <p:spPr>
          <a:xfrm>
            <a:off x="6515246" y="2802382"/>
            <a:ext cx="5127808"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¿Por qué separarlos?</a:t>
            </a:r>
          </a:p>
          <a:p>
            <a:pPr algn="l"/>
            <a:r>
              <a:rPr sz="1300" b="0">
                <a:solidFill>
                  <a:srgbClr val="142B33"/>
                </a:solidFill>
                <a:latin typeface="Calibri"/>
              </a:rPr>
              <a:t>Para que la diferencia entre husillos </a:t>
            </a:r>
            <a:r>
              <a:rPr sz="1300" b="1">
                <a:solidFill>
                  <a:srgbClr val="142B33"/>
                </a:solidFill>
                <a:latin typeface="Calibri"/>
              </a:rPr>
              <a:t>no infle el error</a:t>
            </a:r>
          </a:p>
        </p:txBody>
      </p:sp>
      <p:sp>
        <p:nvSpPr>
          <p:cNvPr id="7" name="Rounded Rectangle 6"/>
          <p:cNvSpPr/>
          <p:nvPr/>
        </p:nvSpPr>
        <p:spPr>
          <a:xfrm>
            <a:off x="6515246" y="4187444"/>
            <a:ext cx="5127808"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¿Por qué sin F</a:t>
            </a:r>
            <a:r>
              <a:rPr sz="1500" b="1" baseline="-25000">
                <a:solidFill>
                  <a:srgbClr val="0F4C5C"/>
                </a:solidFill>
                <a:latin typeface="Cambria"/>
              </a:rPr>
              <a:t>0</a:t>
            </a:r>
            <a:r>
              <a:rPr sz="1500" b="1">
                <a:solidFill>
                  <a:srgbClr val="0F4C5C"/>
                </a:solidFill>
                <a:latin typeface="Cambria"/>
              </a:rPr>
              <a:t>?</a:t>
            </a:r>
          </a:p>
          <a:p>
            <a:pPr algn="l"/>
            <a:r>
              <a:rPr sz="1300" b="0">
                <a:solidFill>
                  <a:srgbClr val="142B33"/>
                </a:solidFill>
                <a:latin typeface="Calibri"/>
              </a:rPr>
              <a:t>Los husillos no se asignaron al azar; MS = 0.0067 &lt; 0.0171: </a:t>
            </a:r>
            <a:r>
              <a:rPr sz="1300" b="1">
                <a:solidFill>
                  <a:srgbClr val="142B33"/>
                </a:solidFill>
                <a:latin typeface="Calibri"/>
              </a:rPr>
              <a:t>casi no difieren</a:t>
            </a:r>
          </a:p>
        </p:txBody>
      </p:sp>
      <p:sp>
        <p:nvSpPr>
          <p:cNvPr id="8" name="Rounded Rectangle 7"/>
          <p:cNvSpPr/>
          <p:nvPr/>
        </p:nvSpPr>
        <p:spPr>
          <a:xfrm>
            <a:off x="6515246" y="5545073"/>
            <a:ext cx="5127808" cy="49123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Error: 31 − 4 (modelo) − 3 (bloques) = </a:t>
            </a:r>
            <a:r>
              <a:rPr sz="1400" b="1">
                <a:solidFill>
                  <a:srgbClr val="142B33"/>
                </a:solidFill>
                <a:latin typeface="Calibri"/>
              </a:rPr>
              <a:t>24 g.l.</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83</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Pasos 9 y 10: supuestos e interpretación</a:t>
            </a:r>
          </a:p>
        </p:txBody>
      </p:sp>
      <p:graphicFrame>
        <p:nvGraphicFramePr>
          <p:cNvPr id="3" name="Chart 2"/>
          <p:cNvGraphicFramePr>
            <a:graphicFrameLocks noGrp="1"/>
          </p:cNvGraphicFramePr>
          <p:nvPr/>
        </p:nvGraphicFramePr>
        <p:xfrm>
          <a:off x="548640" y="1417320"/>
          <a:ext cx="5341467" cy="3291840"/>
        </p:xfrm>
        <a:graphic>
          <a:graphicData uri="http://schemas.openxmlformats.org/drawingml/2006/chart">
            <c:chart xmlns:c="http://schemas.openxmlformats.org/drawingml/2006/chart" r:id="rId2"/>
          </a:graphicData>
        </a:graphic>
      </p:graphicFrame>
      <p:sp>
        <p:nvSpPr>
          <p:cNvPr id="4" name="TextBox 3"/>
          <p:cNvSpPr txBox="1"/>
          <p:nvPr/>
        </p:nvSpPr>
        <p:spPr>
          <a:xfrm>
            <a:off x="548640" y="4910328"/>
            <a:ext cx="5341467" cy="222504"/>
          </a:xfrm>
          <a:prstGeom prst="rect">
            <a:avLst/>
          </a:prstGeom>
          <a:noFill/>
        </p:spPr>
        <p:txBody>
          <a:bodyPr wrap="square" anchor="t" lIns="0" rIns="0" tIns="0" bIns="0">
            <a:spAutoFit/>
          </a:bodyPr>
          <a:lstStyle/>
          <a:p>
            <a:r>
              <a:rPr sz="1200" b="0">
                <a:solidFill>
                  <a:srgbClr val="5B6B73"/>
                </a:solidFill>
                <a:latin typeface="Calibri"/>
              </a:rPr>
              <a:t>Promedios del cubo A, B, D de la fig. 8-22</a:t>
            </a:r>
          </a:p>
        </p:txBody>
      </p:sp>
      <p:sp>
        <p:nvSpPr>
          <p:cNvPr id="5" name="TextBox 4"/>
          <p:cNvSpPr txBox="1"/>
          <p:nvPr/>
        </p:nvSpPr>
        <p:spPr>
          <a:xfrm>
            <a:off x="6301587" y="1417320"/>
            <a:ext cx="5341467" cy="172364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1">
                <a:solidFill>
                  <a:srgbClr val="142B33"/>
                </a:solidFill>
                <a:latin typeface="Calibri"/>
              </a:rPr>
              <a:t>Residuales</a:t>
            </a:r>
            <a:r>
              <a:rPr sz="1500" b="0">
                <a:solidFill>
                  <a:srgbClr val="142B33"/>
                </a:solidFill>
                <a:latin typeface="Calibri"/>
              </a:rPr>
              <a:t> (fig. 8-20): colas algo gruesas; se podría probar otra transformación</a:t>
            </a:r>
          </a:p>
          <a:p>
            <a:pPr marL="320040" indent="-320040">
              <a:spcAft>
                <a:spcPts val="600"/>
              </a:spcAft>
              <a:buClr>
                <a:srgbClr val="E36414"/>
              </a:buClr>
              <a:buFont typeface="Arial"/>
              <a:buChar char="•"/>
            </a:pPr>
            <a:r>
              <a:rPr sz="1500" b="0">
                <a:solidFill>
                  <a:srgbClr val="142B33"/>
                </a:solidFill>
                <a:latin typeface="Calibri"/>
              </a:rPr>
              <a:t>Proyección: </a:t>
            </a:r>
            <a:r>
              <a:rPr sz="1500" b="1">
                <a:solidFill>
                  <a:srgbClr val="142B33"/>
                </a:solidFill>
                <a:latin typeface="Calibri"/>
              </a:rPr>
              <a:t>4 réplicas de un 2</a:t>
            </a:r>
            <a:r>
              <a:rPr sz="1500" b="1" baseline="30000">
                <a:solidFill>
                  <a:srgbClr val="142B33"/>
                </a:solidFill>
                <a:latin typeface="Calibri"/>
              </a:rPr>
              <a:t>3</a:t>
            </a:r>
            <a:r>
              <a:rPr sz="1500" b="0">
                <a:solidFill>
                  <a:srgbClr val="142B33"/>
                </a:solidFill>
                <a:latin typeface="Calibri"/>
              </a:rPr>
              <a:t> en A, B, D</a:t>
            </a:r>
          </a:p>
          <a:p>
            <a:pPr marL="320040" indent="-320040">
              <a:spcAft>
                <a:spcPts val="600"/>
              </a:spcAft>
              <a:buClr>
                <a:srgbClr val="E36414"/>
              </a:buClr>
              <a:buFont typeface="Arial"/>
              <a:buChar char="•"/>
            </a:pPr>
            <a:r>
              <a:rPr sz="1500" b="0">
                <a:solidFill>
                  <a:srgbClr val="142B33"/>
                </a:solidFill>
                <a:latin typeface="Calibri"/>
              </a:rPr>
              <a:t>Con el </a:t>
            </a:r>
            <a:r>
              <a:rPr sz="1500" b="1">
                <a:solidFill>
                  <a:srgbClr val="142B33"/>
                </a:solidFill>
                <a:latin typeface="Calibri"/>
              </a:rPr>
              <a:t>fabricante 1</a:t>
            </a:r>
            <a:r>
              <a:rPr sz="1500" b="0">
                <a:solidFill>
                  <a:srgbClr val="142B33"/>
                </a:solidFill>
                <a:latin typeface="Calibri"/>
              </a:rPr>
              <a:t>, A sube mucho la desviación; con el </a:t>
            </a:r>
            <a:r>
              <a:rPr sz="1500" b="1">
                <a:solidFill>
                  <a:srgbClr val="142B33"/>
                </a:solidFill>
                <a:latin typeface="Calibri"/>
              </a:rPr>
              <a:t>2</a:t>
            </a:r>
            <a:r>
              <a:rPr sz="1500" b="0">
                <a:solidFill>
                  <a:srgbClr val="142B33"/>
                </a:solidFill>
                <a:latin typeface="Calibri"/>
              </a:rPr>
              <a:t>, casi nada</a:t>
            </a:r>
          </a:p>
          <a:p>
            <a:pPr marL="320040" indent="-320040">
              <a:spcAft>
                <a:spcPts val="600"/>
              </a:spcAft>
              <a:buClr>
                <a:srgbClr val="E36414"/>
              </a:buClr>
              <a:buFont typeface="Arial"/>
              <a:buChar char="•"/>
            </a:pPr>
            <a:r>
              <a:rPr sz="1500" b="0">
                <a:solidFill>
                  <a:srgbClr val="142B33"/>
                </a:solidFill>
                <a:latin typeface="Calibri"/>
              </a:rPr>
              <a:t>B </a:t>
            </a:r>
            <a:r>
              <a:rPr sz="1500" b="1">
                <a:solidFill>
                  <a:srgbClr val="142B33"/>
                </a:solidFill>
                <a:latin typeface="Calibri"/>
              </a:rPr>
              <a:t>alto</a:t>
            </a:r>
            <a:r>
              <a:rPr sz="1500" b="0">
                <a:solidFill>
                  <a:srgbClr val="142B33"/>
                </a:solidFill>
                <a:latin typeface="Calibri"/>
              </a:rPr>
              <a:t> baja la desviación</a:t>
            </a:r>
          </a:p>
        </p:txBody>
      </p:sp>
      <p:sp>
        <p:nvSpPr>
          <p:cNvPr id="6" name="Rounded Rectangle 5"/>
          <p:cNvSpPr/>
          <p:nvPr/>
        </p:nvSpPr>
        <p:spPr>
          <a:xfrm>
            <a:off x="6301587" y="3342132"/>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Mejor condición: </a:t>
            </a:r>
            <a:r>
              <a:rPr sz="1400" b="1">
                <a:solidFill>
                  <a:srgbClr val="142B33"/>
                </a:solidFill>
                <a:latin typeface="Calibri"/>
              </a:rPr>
              <a:t>A bajo, B alto, fabricante 1</a:t>
            </a:r>
            <a:r>
              <a:rPr sz="1400" b="0">
                <a:solidFill>
                  <a:srgbClr val="142B33"/>
                </a:solidFill>
                <a:latin typeface="Calibri"/>
              </a:rPr>
              <a:t> (promedio 0.828). Husillos casi iguales. Confirmar AD</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84</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Diseños de resolución III</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7</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Doblez y diseños de Plackett-Burman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de resolución III? El 2</a:t>
            </a:r>
            <a:r>
              <a:rPr sz="3000" b="1" baseline="30000">
                <a:solidFill>
                  <a:srgbClr val="0F4C5C"/>
                </a:solidFill>
                <a:latin typeface="Cambria"/>
              </a:rPr>
              <a:t>7−4</a:t>
            </a:r>
            <a:r>
              <a:rPr sz="3000" b="1" baseline="-25000">
                <a:solidFill>
                  <a:srgbClr val="0F4C5C"/>
                </a:solidFill>
                <a:latin typeface="Cambria"/>
              </a:rPr>
              <a:t>III</a:t>
            </a:r>
          </a:p>
        </p:txBody>
      </p:sp>
      <p:graphicFrame>
        <p:nvGraphicFramePr>
          <p:cNvPr id="3" name="Table 2"/>
          <p:cNvGraphicFramePr>
            <a:graphicFrameLocks noGrp="1"/>
          </p:cNvGraphicFramePr>
          <p:nvPr/>
        </p:nvGraphicFramePr>
        <p:xfrm>
          <a:off x="548640" y="1417320"/>
          <a:ext cx="5982441" cy="3022092"/>
        </p:xfrm>
        <a:graphic>
          <a:graphicData uri="http://schemas.openxmlformats.org/drawingml/2006/table">
            <a:tbl>
              <a:tblPr firstRow="0" bandRow="0">
                <a:tableStyleId>{5C22544A-7EE6-4342-B048-85BDC9FD1C3A}</a:tableStyleId>
              </a:tblPr>
              <a:tblGrid>
                <a:gridCol w="1059486"/>
                <a:gridCol w="347073"/>
                <a:gridCol w="347073"/>
                <a:gridCol w="347073"/>
                <a:gridCol w="940750"/>
                <a:gridCol w="940750"/>
                <a:gridCol w="940750"/>
                <a:gridCol w="1059486"/>
              </a:tblGrid>
              <a:tr h="335788">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 = AB</a:t>
                      </a:r>
                    </a:p>
                  </a:txBody>
                  <a:tcPr marL="73152" marR="73152" marT="27432" marB="27432" anchor="ctr">
                    <a:solidFill>
                      <a:srgbClr val="0F4C5C"/>
                    </a:solidFill>
                  </a:tcPr>
                </a:tc>
                <a:tc>
                  <a:txBody>
                    <a:bodyPr/>
                    <a:lstStyle/>
                    <a:p>
                      <a:pPr algn="ctr"/>
                      <a:r>
                        <a:rPr sz="1400" b="1">
                          <a:solidFill>
                            <a:srgbClr val="FFFFFF"/>
                          </a:solidFill>
                          <a:latin typeface="Calibri"/>
                        </a:rPr>
                        <a:t>E = AC</a:t>
                      </a:r>
                    </a:p>
                  </a:txBody>
                  <a:tcPr marL="73152" marR="73152" marT="27432" marB="27432" anchor="ctr">
                    <a:solidFill>
                      <a:srgbClr val="0F4C5C"/>
                    </a:solidFill>
                  </a:tcPr>
                </a:tc>
                <a:tc>
                  <a:txBody>
                    <a:bodyPr/>
                    <a:lstStyle/>
                    <a:p>
                      <a:pPr algn="ctr"/>
                      <a:r>
                        <a:rPr sz="1400" b="1">
                          <a:solidFill>
                            <a:srgbClr val="FFFFFF"/>
                          </a:solidFill>
                          <a:latin typeface="Calibri"/>
                        </a:rPr>
                        <a:t>F = BC</a:t>
                      </a:r>
                    </a:p>
                  </a:txBody>
                  <a:tcPr marL="73152" marR="73152" marT="27432" marB="27432" anchor="ctr">
                    <a:solidFill>
                      <a:srgbClr val="0F4C5C"/>
                    </a:solidFill>
                  </a:tcPr>
                </a:tc>
                <a:tc>
                  <a:txBody>
                    <a:bodyPr/>
                    <a:lstStyle/>
                    <a:p>
                      <a:pPr algn="ctr"/>
                      <a:r>
                        <a:rPr sz="1400" b="1">
                          <a:solidFill>
                            <a:srgbClr val="FFFFFF"/>
                          </a:solidFill>
                          <a:latin typeface="Calibri"/>
                        </a:rPr>
                        <a:t>G = ABC</a:t>
                      </a:r>
                    </a:p>
                  </a:txBody>
                  <a:tcPr marL="73152" marR="73152" marT="27432" marB="27432" anchor="ctr">
                    <a:solidFill>
                      <a:srgbClr val="0F4C5C"/>
                    </a:solidFill>
                  </a:tcPr>
                </a:tc>
              </a:tr>
              <a:tr h="335788">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548640" y="4640580"/>
            <a:ext cx="5982443" cy="904239"/>
          </a:xfrm>
          <a:prstGeom prst="rect">
            <a:avLst/>
          </a:prstGeom>
          <a:noFill/>
        </p:spPr>
        <p:txBody>
          <a:bodyPr wrap="square" anchor="t" lIns="0" rIns="0" tIns="0" bIns="0">
            <a:spAutoFit/>
          </a:bodyPr>
          <a:lstStyle/>
          <a:p>
            <a:r>
              <a:rPr sz="1400" b="1">
                <a:solidFill>
                  <a:srgbClr val="5B6B73"/>
                </a:solidFill>
                <a:latin typeface="Calibri"/>
              </a:rPr>
              <a:t>Resolución III</a:t>
            </a:r>
            <a:r>
              <a:rPr sz="1400" b="0">
                <a:solidFill>
                  <a:srgbClr val="5B6B73"/>
                </a:solidFill>
                <a:latin typeface="Calibri"/>
              </a:rPr>
              <a:t>: la palabra más corta de la relación de definición tiene </a:t>
            </a:r>
            <a:r>
              <a:rPr sz="1400" b="1">
                <a:solidFill>
                  <a:srgbClr val="5B6B73"/>
                </a:solidFill>
                <a:latin typeface="Calibri"/>
              </a:rPr>
              <a:t>tres letras</a:t>
            </a:r>
            <a:r>
              <a:rPr sz="1400" b="0">
                <a:solidFill>
                  <a:srgbClr val="5B6B73"/>
                </a:solidFill>
                <a:latin typeface="Calibri"/>
              </a:rPr>
              <a:t> (I = ABD = ACE = BCF = ABCG = …). Ningún principal se alía con otro principal, pero </a:t>
            </a:r>
            <a:r>
              <a:rPr sz="1400" b="1">
                <a:solidFill>
                  <a:srgbClr val="5B6B73"/>
                </a:solidFill>
                <a:latin typeface="Calibri"/>
              </a:rPr>
              <a:t>cada principal se alía con interacciones dobles</a:t>
            </a:r>
            <a:r>
              <a:rPr sz="1400" b="0">
                <a:solidFill>
                  <a:srgbClr val="5B6B73"/>
                </a:solidFill>
                <a:latin typeface="Calibri"/>
              </a:rPr>
              <a:t>.</a:t>
            </a:r>
          </a:p>
        </p:txBody>
      </p:sp>
      <p:graphicFrame>
        <p:nvGraphicFramePr>
          <p:cNvPr id="5" name="Table 4"/>
          <p:cNvGraphicFramePr>
            <a:graphicFrameLocks noGrp="1"/>
          </p:cNvGraphicFramePr>
          <p:nvPr/>
        </p:nvGraphicFramePr>
        <p:xfrm>
          <a:off x="6942563" y="1417320"/>
          <a:ext cx="4700491" cy="2810256"/>
        </p:xfrm>
        <a:graphic>
          <a:graphicData uri="http://schemas.openxmlformats.org/drawingml/2006/table">
            <a:tbl>
              <a:tblPr firstRow="0" bandRow="0">
                <a:tableStyleId>{5C22544A-7EE6-4342-B048-85BDC9FD1C3A}</a:tableStyleId>
              </a:tblPr>
              <a:tblGrid>
                <a:gridCol w="1811485"/>
                <a:gridCol w="2889006"/>
              </a:tblGrid>
              <a:tr h="35128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A + BD + CE + FG</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B + AD + CF + EG</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 + AE + BF + DG</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4F8F9"/>
                    </a:solidFill>
                  </a:tcPr>
                </a:tc>
                <a:tc>
                  <a:txBody>
                    <a:bodyPr/>
                    <a:lstStyle/>
                    <a:p>
                      <a:pPr algn="ctr"/>
                      <a:r>
                        <a:rPr sz="1500" b="0">
                          <a:solidFill>
                            <a:srgbClr val="142B33"/>
                          </a:solidFill>
                          <a:latin typeface="Calibri"/>
                        </a:rPr>
                        <a:t>D + AB + CG + EF</a:t>
                      </a:r>
                    </a:p>
                  </a:txBody>
                  <a:tcPr marL="73152" marR="73152" marT="27432" marB="27432" anchor="ctr">
                    <a:solidFill>
                      <a:srgbClr val="F4F8F9"/>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E + AC + BG + DF</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F + BC + AG + DE</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G + CD + BE + AF</a:t>
                      </a:r>
                    </a:p>
                  </a:txBody>
                  <a:tcPr marL="73152" marR="73152" marT="27432" marB="27432" anchor="ctr">
                    <a:solidFill>
                      <a:srgbClr val="FFFFFF"/>
                    </a:solidFill>
                  </a:tcPr>
                </a:tc>
              </a:tr>
            </a:tbl>
          </a:graphicData>
        </a:graphic>
      </p:graphicFrame>
      <p:sp>
        <p:nvSpPr>
          <p:cNvPr id="6" name="TextBox 5"/>
          <p:cNvSpPr txBox="1"/>
          <p:nvPr/>
        </p:nvSpPr>
        <p:spPr>
          <a:xfrm>
            <a:off x="6942563" y="4428744"/>
            <a:ext cx="4700491" cy="237998"/>
          </a:xfrm>
          <a:prstGeom prst="rect">
            <a:avLst/>
          </a:prstGeom>
          <a:noFill/>
        </p:spPr>
        <p:txBody>
          <a:bodyPr wrap="square" anchor="t" lIns="0" rIns="0" tIns="0" bIns="0">
            <a:spAutoFit/>
          </a:bodyPr>
          <a:lstStyle/>
          <a:p>
            <a:r>
              <a:rPr sz="1300" b="0">
                <a:solidFill>
                  <a:srgbClr val="5B6B73"/>
                </a:solidFill>
                <a:latin typeface="Calibri"/>
              </a:rPr>
              <a:t>Alias despreciando interacciones de tres o más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86</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el doblez y qué otras salidas hay para los alias?</a:t>
            </a:r>
          </a:p>
        </p:txBody>
      </p:sp>
      <p:sp>
        <p:nvSpPr>
          <p:cNvPr id="3" name="TextBox 2"/>
          <p:cNvSpPr txBox="1"/>
          <p:nvPr/>
        </p:nvSpPr>
        <p:spPr>
          <a:xfrm>
            <a:off x="548640" y="1417320"/>
            <a:ext cx="4486832" cy="173431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Correr una </a:t>
            </a:r>
            <a:r>
              <a:rPr sz="1600" b="1">
                <a:solidFill>
                  <a:srgbClr val="142B33"/>
                </a:solidFill>
                <a:latin typeface="Calibri"/>
              </a:rPr>
              <a:t>segunda fracción</a:t>
            </a:r>
            <a:r>
              <a:rPr sz="1600" b="0">
                <a:solidFill>
                  <a:srgbClr val="142B33"/>
                </a:solidFill>
                <a:latin typeface="Calibri"/>
              </a:rPr>
              <a:t> con signos invertidos y combinarla con la primera</a:t>
            </a:r>
          </a:p>
          <a:p>
            <a:pPr marL="320040" indent="-320040">
              <a:spcAft>
                <a:spcPts val="600"/>
              </a:spcAft>
              <a:buClr>
                <a:srgbClr val="E36414"/>
              </a:buClr>
              <a:buFont typeface="Arial"/>
              <a:buChar char="•"/>
            </a:pPr>
            <a:r>
              <a:rPr sz="1600" b="0">
                <a:solidFill>
                  <a:srgbClr val="142B33"/>
                </a:solidFill>
                <a:latin typeface="Calibri"/>
              </a:rPr>
              <a:t>Alias de la segunda fracción: </a:t>
            </a:r>
            <a:r>
              <a:rPr sz="1600" b="1">
                <a:solidFill>
                  <a:srgbClr val="142B33"/>
                </a:solidFill>
                <a:latin typeface="Calibri"/>
              </a:rPr>
              <a:t>cambiar el signo</a:t>
            </a:r>
            <a:r>
              <a:rPr sz="1600" b="0">
                <a:solidFill>
                  <a:srgbClr val="142B33"/>
                </a:solidFill>
                <a:latin typeface="Calibri"/>
              </a:rPr>
              <a:t> de los factores invertidos</a:t>
            </a:r>
          </a:p>
          <a:p>
            <a:pPr marL="320040" indent="-320040">
              <a:spcAft>
                <a:spcPts val="600"/>
              </a:spcAft>
              <a:buClr>
                <a:srgbClr val="E36414"/>
              </a:buClr>
              <a:buFont typeface="Arial"/>
              <a:buChar char="•"/>
            </a:pPr>
            <a:r>
              <a:rPr sz="1600" b="0">
                <a:solidFill>
                  <a:srgbClr val="142B33"/>
                </a:solidFill>
                <a:latin typeface="Calibri"/>
              </a:rPr>
              <a:t>Separar con </a:t>
            </a:r>
            <a:r>
              <a:rPr sz="1600" b="1">
                <a:solidFill>
                  <a:srgbClr val="142B33"/>
                </a:solidFill>
                <a:latin typeface="Calibri"/>
              </a:rPr>
              <a:t>½ (ℓ + ℓ′)</a:t>
            </a:r>
            <a:r>
              <a:rPr sz="1600" b="0">
                <a:solidFill>
                  <a:srgbClr val="142B33"/>
                </a:solidFill>
                <a:latin typeface="Calibri"/>
              </a:rPr>
              <a:t> y </a:t>
            </a:r>
            <a:r>
              <a:rPr sz="1600" b="1">
                <a:solidFill>
                  <a:srgbClr val="142B33"/>
                </a:solidFill>
                <a:latin typeface="Calibri"/>
              </a:rPr>
              <a:t>½ (ℓ − ℓ′)</a:t>
            </a:r>
            <a:r>
              <a:rPr sz="1600" b="0">
                <a:solidFill>
                  <a:srgbClr val="142B33"/>
                </a:solidFill>
                <a:latin typeface="Calibri"/>
              </a:rPr>
              <a:t>: cada una aísla una parte de la cadena</a:t>
            </a:r>
          </a:p>
        </p:txBody>
      </p:sp>
      <p:sp>
        <p:nvSpPr>
          <p:cNvPr id="4" name="Rounded Rectangle 3"/>
          <p:cNvSpPr/>
          <p:nvPr/>
        </p:nvSpPr>
        <p:spPr>
          <a:xfrm>
            <a:off x="548640" y="3352800"/>
            <a:ext cx="4486832"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dos fracciones funcionan como </a:t>
            </a:r>
            <a:r>
              <a:rPr sz="1500" b="1">
                <a:solidFill>
                  <a:srgbClr val="142B33"/>
                </a:solidFill>
                <a:latin typeface="Calibri"/>
              </a:rPr>
              <a:t>bloques</a:t>
            </a:r>
          </a:p>
        </p:txBody>
      </p:sp>
      <p:graphicFrame>
        <p:nvGraphicFramePr>
          <p:cNvPr id="5" name="Table 4"/>
          <p:cNvGraphicFramePr>
            <a:graphicFrameLocks noGrp="1"/>
          </p:cNvGraphicFramePr>
          <p:nvPr/>
        </p:nvGraphicFramePr>
        <p:xfrm>
          <a:off x="5446952" y="1417320"/>
          <a:ext cx="6196100" cy="2329685"/>
        </p:xfrm>
        <a:graphic>
          <a:graphicData uri="http://schemas.openxmlformats.org/drawingml/2006/table">
            <a:tbl>
              <a:tblPr firstRow="0" bandRow="0">
                <a:tableStyleId>{5C22544A-7EE6-4342-B048-85BDC9FD1C3A}</a:tableStyleId>
              </a:tblPr>
              <a:tblGrid>
                <a:gridCol w="1610986"/>
                <a:gridCol w="2230596"/>
                <a:gridCol w="2354518"/>
              </a:tblGrid>
              <a:tr h="335788">
                <a:tc>
                  <a:txBody>
                    <a:bodyPr/>
                    <a:lstStyle/>
                    <a:p>
                      <a:pPr algn="l"/>
                      <a:r>
                        <a:rPr sz="1400" b="1">
                          <a:solidFill>
                            <a:srgbClr val="FFFFFF"/>
                          </a:solidFill>
                          <a:latin typeface="Calibri"/>
                        </a:rPr>
                        <a:t>Estrategia</a:t>
                      </a:r>
                    </a:p>
                  </a:txBody>
                  <a:tcPr marL="73152" marR="73152" marT="27432" marB="27432" anchor="ctr">
                    <a:solidFill>
                      <a:srgbClr val="0F4C5C"/>
                    </a:solidFill>
                  </a:tcPr>
                </a:tc>
                <a:tc>
                  <a:txBody>
                    <a:bodyPr/>
                    <a:lstStyle/>
                    <a:p>
                      <a:pPr algn="ctr"/>
                      <a:r>
                        <a:rPr sz="1400" b="1">
                          <a:solidFill>
                            <a:srgbClr val="FFFFFF"/>
                          </a:solidFill>
                          <a:latin typeface="Calibri"/>
                        </a:rPr>
                        <a:t>Qué se corre</a:t>
                      </a:r>
                    </a:p>
                  </a:txBody>
                  <a:tcPr marL="73152" marR="73152" marT="27432" marB="27432" anchor="ctr">
                    <a:solidFill>
                      <a:srgbClr val="0F4C5C"/>
                    </a:solidFill>
                  </a:tcPr>
                </a:tc>
                <a:tc>
                  <a:txBody>
                    <a:bodyPr/>
                    <a:lstStyle/>
                    <a:p>
                      <a:pPr algn="l"/>
                      <a:r>
                        <a:rPr sz="1400" b="1">
                          <a:solidFill>
                            <a:srgbClr val="FFFFFF"/>
                          </a:solidFill>
                          <a:latin typeface="Calibri"/>
                        </a:rPr>
                        <a:t>Qué se gana</a:t>
                      </a:r>
                    </a:p>
                  </a:txBody>
                  <a:tcPr marL="73152" marR="73152" marT="27432" marB="27432" anchor="ctr">
                    <a:solidFill>
                      <a:srgbClr val="0F4C5C"/>
                    </a:solidFill>
                  </a:tcPr>
                </a:tc>
              </a:tr>
              <a:tr h="552703">
                <a:tc>
                  <a:txBody>
                    <a:bodyPr/>
                    <a:lstStyle/>
                    <a:p>
                      <a:pPr algn="l"/>
                      <a:r>
                        <a:rPr sz="1400" b="0">
                          <a:solidFill>
                            <a:srgbClr val="142B33"/>
                          </a:solidFill>
                          <a:latin typeface="Calibri"/>
                        </a:rPr>
                        <a:t>Confirmación</a:t>
                      </a:r>
                    </a:p>
                  </a:txBody>
                  <a:tcPr marL="73152" marR="73152" marT="27432" marB="27432" anchor="ctr">
                    <a:solidFill>
                      <a:srgbClr val="FFFFFF"/>
                    </a:solidFill>
                  </a:tcPr>
                </a:tc>
                <a:tc>
                  <a:txBody>
                    <a:bodyPr/>
                    <a:lstStyle/>
                    <a:p>
                      <a:pPr algn="ctr"/>
                      <a:r>
                        <a:rPr sz="1400" b="0">
                          <a:solidFill>
                            <a:srgbClr val="142B33"/>
                          </a:solidFill>
                          <a:latin typeface="Calibri"/>
                        </a:rPr>
                        <a:t>Una o pocas corridas nuevas</a:t>
                      </a:r>
                    </a:p>
                  </a:txBody>
                  <a:tcPr marL="73152" marR="73152" marT="27432" marB="27432" anchor="ctr">
                    <a:solidFill>
                      <a:srgbClr val="FFFFFF"/>
                    </a:solidFill>
                  </a:tcPr>
                </a:tc>
                <a:tc>
                  <a:txBody>
                    <a:bodyPr/>
                    <a:lstStyle/>
                    <a:p>
                      <a:pPr algn="l"/>
                      <a:r>
                        <a:rPr sz="1400" b="0">
                          <a:solidFill>
                            <a:srgbClr val="142B33"/>
                          </a:solidFill>
                          <a:latin typeface="Calibri"/>
                        </a:rPr>
                        <a:t>Verifica la predicción del modelo</a:t>
                      </a:r>
                    </a:p>
                  </a:txBody>
                  <a:tcPr marL="73152" marR="73152" marT="27432" marB="27432" anchor="ctr">
                    <a:solidFill>
                      <a:srgbClr val="FFFFFF"/>
                    </a:solidFill>
                  </a:tcPr>
                </a:tc>
              </a:tr>
              <a:tr h="335788">
                <a:tc>
                  <a:txBody>
                    <a:bodyPr/>
                    <a:lstStyle/>
                    <a:p>
                      <a:pPr algn="l"/>
                      <a:r>
                        <a:rPr sz="1400" b="0">
                          <a:solidFill>
                            <a:srgbClr val="142B33"/>
                          </a:solidFill>
                          <a:latin typeface="Calibri"/>
                        </a:rPr>
                        <a:t>Fracción alterna</a:t>
                      </a:r>
                    </a:p>
                  </a:txBody>
                  <a:tcPr marL="73152" marR="73152" marT="27432" marB="27432" anchor="ctr">
                    <a:solidFill>
                      <a:srgbClr val="F4F8F9"/>
                    </a:solidFill>
                  </a:tcPr>
                </a:tc>
                <a:tc>
                  <a:txBody>
                    <a:bodyPr/>
                    <a:lstStyle/>
                    <a:p>
                      <a:pPr algn="ctr"/>
                      <a:r>
                        <a:rPr sz="1400" b="0">
                          <a:solidFill>
                            <a:srgbClr val="142B33"/>
                          </a:solidFill>
                          <a:latin typeface="Calibri"/>
                        </a:rPr>
                        <a:t>La otra mitad del 2</a:t>
                      </a:r>
                      <a:r>
                        <a:rPr sz="1400" b="0" baseline="30000">
                          <a:solidFill>
                            <a:srgbClr val="142B33"/>
                          </a:solidFill>
                          <a:latin typeface="Calibri"/>
                        </a:rPr>
                        <a:t>k−1</a:t>
                      </a:r>
                    </a:p>
                  </a:txBody>
                  <a:tcPr marL="73152" marR="73152" marT="27432" marB="27432" anchor="ctr">
                    <a:solidFill>
                      <a:srgbClr val="F4F8F9"/>
                    </a:solidFill>
                  </a:tcPr>
                </a:tc>
                <a:tc>
                  <a:txBody>
                    <a:bodyPr/>
                    <a:lstStyle/>
                    <a:p>
                      <a:pPr algn="l"/>
                      <a:r>
                        <a:rPr sz="1400" b="0">
                          <a:solidFill>
                            <a:srgbClr val="142B33"/>
                          </a:solidFill>
                          <a:latin typeface="Calibri"/>
                        </a:rPr>
                        <a:t>Completa el factorial</a:t>
                      </a:r>
                    </a:p>
                  </a:txBody>
                  <a:tcPr marL="73152" marR="73152" marT="27432" marB="27432" anchor="ctr">
                    <a:solidFill>
                      <a:srgbClr val="F4F8F9"/>
                    </a:solidFill>
                  </a:tcPr>
                </a:tc>
              </a:tr>
              <a:tr h="552703">
                <a:tc>
                  <a:txBody>
                    <a:bodyPr/>
                    <a:lstStyle/>
                    <a:p>
                      <a:pPr algn="l"/>
                      <a:r>
                        <a:rPr sz="1400" b="0">
                          <a:solidFill>
                            <a:srgbClr val="142B33"/>
                          </a:solidFill>
                          <a:latin typeface="Calibri"/>
                        </a:rPr>
                        <a:t>Doblez completo</a:t>
                      </a:r>
                    </a:p>
                  </a:txBody>
                  <a:tcPr marL="73152" marR="73152" marT="27432" marB="27432" anchor="ctr">
                    <a:solidFill>
                      <a:srgbClr val="FFFFFF"/>
                    </a:solidFill>
                  </a:tcPr>
                </a:tc>
                <a:tc>
                  <a:txBody>
                    <a:bodyPr/>
                    <a:lstStyle/>
                    <a:p>
                      <a:pPr algn="ctr"/>
                      <a:r>
                        <a:rPr sz="1400" b="0">
                          <a:solidFill>
                            <a:srgbClr val="142B33"/>
                          </a:solidFill>
                          <a:latin typeface="Calibri"/>
                        </a:rPr>
                        <a:t>Todos los signos invertidos</a:t>
                      </a:r>
                    </a:p>
                  </a:txBody>
                  <a:tcPr marL="73152" marR="73152" marT="27432" marB="27432" anchor="ctr">
                    <a:solidFill>
                      <a:srgbClr val="FFFFFF"/>
                    </a:solidFill>
                  </a:tcPr>
                </a:tc>
                <a:tc>
                  <a:txBody>
                    <a:bodyPr/>
                    <a:lstStyle/>
                    <a:p>
                      <a:pPr algn="l"/>
                      <a:r>
                        <a:rPr sz="1400" b="0">
                          <a:solidFill>
                            <a:srgbClr val="142B33"/>
                          </a:solidFill>
                          <a:latin typeface="Calibri"/>
                        </a:rPr>
                        <a:t>Principales libres de dobles (III → IV)</a:t>
                      </a:r>
                    </a:p>
                  </a:txBody>
                  <a:tcPr marL="73152" marR="73152" marT="27432" marB="27432" anchor="ctr">
                    <a:solidFill>
                      <a:srgbClr val="FFFFFF"/>
                    </a:solidFill>
                  </a:tcPr>
                </a:tc>
              </a:tr>
              <a:tr h="552703">
                <a:tc>
                  <a:txBody>
                    <a:bodyPr/>
                    <a:lstStyle/>
                    <a:p>
                      <a:pPr algn="l"/>
                      <a:r>
                        <a:rPr sz="1400" b="0">
                          <a:solidFill>
                            <a:srgbClr val="142B33"/>
                          </a:solidFill>
                          <a:latin typeface="Calibri"/>
                        </a:rPr>
                        <a:t>Doblez de un factor</a:t>
                      </a:r>
                    </a:p>
                  </a:txBody>
                  <a:tcPr marL="73152" marR="73152" marT="27432" marB="27432" anchor="ctr">
                    <a:solidFill>
                      <a:srgbClr val="F4F8F9"/>
                    </a:solidFill>
                  </a:tcPr>
                </a:tc>
                <a:tc>
                  <a:txBody>
                    <a:bodyPr/>
                    <a:lstStyle/>
                    <a:p>
                      <a:pPr algn="ctr"/>
                      <a:r>
                        <a:rPr sz="1400" b="0">
                          <a:solidFill>
                            <a:srgbClr val="142B33"/>
                          </a:solidFill>
                          <a:latin typeface="Calibri"/>
                        </a:rPr>
                        <a:t>Signos de </a:t>
                      </a:r>
                      <a:r>
                        <a:rPr sz="1400" b="1">
                          <a:solidFill>
                            <a:srgbClr val="142B33"/>
                          </a:solidFill>
                          <a:latin typeface="Calibri"/>
                        </a:rPr>
                        <a:t>un</a:t>
                      </a:r>
                      <a:r>
                        <a:rPr sz="1400" b="0">
                          <a:solidFill>
                            <a:srgbClr val="142B33"/>
                          </a:solidFill>
                          <a:latin typeface="Calibri"/>
                        </a:rPr>
                        <a:t> factor invertidos</a:t>
                      </a:r>
                    </a:p>
                  </a:txBody>
                  <a:tcPr marL="73152" marR="73152" marT="27432" marB="27432" anchor="ctr">
                    <a:solidFill>
                      <a:srgbClr val="F4F8F9"/>
                    </a:solidFill>
                  </a:tcPr>
                </a:tc>
                <a:tc>
                  <a:txBody>
                    <a:bodyPr/>
                    <a:lstStyle/>
                    <a:p>
                      <a:pPr algn="l"/>
                      <a:r>
                        <a:rPr sz="1400" b="0">
                          <a:solidFill>
                            <a:srgbClr val="142B33"/>
                          </a:solidFill>
                          <a:latin typeface="Calibri"/>
                        </a:rPr>
                        <a:t>Ese factor y sus dobles, limpios</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87</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Doblez de un solo factor</a:t>
            </a:r>
          </a:p>
        </p:txBody>
      </p:sp>
      <p:graphicFrame>
        <p:nvGraphicFramePr>
          <p:cNvPr id="3" name="Table 2"/>
          <p:cNvGraphicFramePr>
            <a:graphicFrameLocks noGrp="1"/>
          </p:cNvGraphicFramePr>
          <p:nvPr/>
        </p:nvGraphicFramePr>
        <p:xfrm>
          <a:off x="548640" y="1417320"/>
          <a:ext cx="11094412" cy="2686304"/>
        </p:xfrm>
        <a:graphic>
          <a:graphicData uri="http://schemas.openxmlformats.org/drawingml/2006/table">
            <a:tbl>
              <a:tblPr firstRow="0" bandRow="0">
                <a:tableStyleId>{5C22544A-7EE6-4342-B048-85BDC9FD1C3A}</a:tableStyleId>
              </a:tblPr>
              <a:tblGrid>
                <a:gridCol w="665664"/>
                <a:gridCol w="2662659"/>
                <a:gridCol w="2662659"/>
                <a:gridCol w="2440771"/>
                <a:gridCol w="2662659"/>
              </a:tblGrid>
              <a:tr h="335788">
                <a:tc>
                  <a:txBody>
                    <a:bodyPr/>
                    <a:lstStyle/>
                    <a:p>
                      <a:pPr algn="ctr"/>
                      <a:r>
                        <a:rPr sz="1400" b="1">
                          <a:solidFill>
                            <a:srgbClr val="FFFFFF"/>
                          </a:solidFill>
                          <a:latin typeface="Calibri"/>
                        </a:rPr>
                        <a:t>i</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(1.ª fracción)</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(D invertido)</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tr>
              <a:tr h="335788">
                <a:tc>
                  <a:txBody>
                    <a:bodyPr/>
                    <a:lstStyle/>
                    <a:p>
                      <a:pPr algn="ctr"/>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CE + FG</a:t>
                      </a:r>
                    </a:p>
                  </a:txBody>
                  <a:tcPr marL="73152" marR="73152" marT="27432" marB="27432" anchor="ctr">
                    <a:solidFill>
                      <a:srgbClr val="FFFFFF"/>
                    </a:solidFill>
                  </a:tcPr>
                </a:tc>
                <a:tc>
                  <a:txBody>
                    <a:bodyPr/>
                    <a:lstStyle/>
                    <a:p>
                      <a:pPr algn="ctr"/>
                      <a:r>
                        <a:rPr sz="1400" b="0">
                          <a:solidFill>
                            <a:srgbClr val="142B33"/>
                          </a:solidFill>
                          <a:latin typeface="Calibri"/>
                        </a:rPr>
                        <a:t>BD</a:t>
                      </a:r>
                    </a:p>
                  </a:txBody>
                  <a:tcPr marL="73152" marR="73152" marT="27432" marB="27432" anchor="ctr">
                    <a:solidFill>
                      <a:srgbClr val="FFFFFF"/>
                    </a:solidFill>
                  </a:tcPr>
                </a:tc>
              </a:tr>
              <a:tr h="335788">
                <a:tc>
                  <a:txBody>
                    <a:bodyPr/>
                    <a:lstStyle/>
                    <a:p>
                      <a:pPr algn="ctr"/>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CF + EG</a:t>
                      </a:r>
                    </a:p>
                  </a:txBody>
                  <a:tcPr marL="73152" marR="73152" marT="27432" marB="27432" anchor="ctr">
                    <a:solidFill>
                      <a:srgbClr val="F4F8F9"/>
                    </a:solidFill>
                  </a:tcPr>
                </a:tc>
                <a:tc>
                  <a:txBody>
                    <a:bodyPr/>
                    <a:lstStyle/>
                    <a:p>
                      <a:pPr algn="ctr"/>
                      <a:r>
                        <a:rPr sz="1400" b="0">
                          <a:solidFill>
                            <a:srgbClr val="142B33"/>
                          </a:solidFill>
                          <a:latin typeface="Calibri"/>
                        </a:rPr>
                        <a:t>AD</a:t>
                      </a:r>
                    </a:p>
                  </a:txBody>
                  <a:tcPr marL="73152" marR="73152" marT="27432" marB="27432" anchor="ctr">
                    <a:solidFill>
                      <a:srgbClr val="F4F8F9"/>
                    </a:solidFill>
                  </a:tcPr>
                </a:tc>
              </a:tr>
              <a:tr h="335788">
                <a:tc>
                  <a:txBody>
                    <a:bodyPr/>
                    <a:lstStyle/>
                    <a:p>
                      <a:pPr algn="ctr"/>
                      <a:r>
                        <a:rPr sz="1400" b="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a:t>
                      </a:r>
                    </a:p>
                  </a:txBody>
                  <a:tcPr marL="73152" marR="73152" marT="27432" marB="27432" anchor="ctr">
                    <a:solidFill>
                      <a:srgbClr val="FFFFFF"/>
                    </a:solidFill>
                  </a:tcPr>
                </a:tc>
                <a:tc>
                  <a:txBody>
                    <a:bodyPr/>
                    <a:lstStyle/>
                    <a:p>
                      <a:pPr algn="ctr"/>
                      <a:r>
                        <a:rPr sz="1400" b="0">
                          <a:solidFill>
                            <a:srgbClr val="142B33"/>
                          </a:solidFill>
                          <a:latin typeface="Calibri"/>
                        </a:rPr>
                        <a:t>DG</a:t>
                      </a:r>
                    </a:p>
                  </a:txBody>
                  <a:tcPr marL="73152" marR="73152" marT="27432" marB="27432" anchor="ctr">
                    <a:solidFill>
                      <a:srgbClr val="FFFFFF"/>
                    </a:solidFill>
                  </a:tcPr>
                </a:tc>
              </a:tr>
              <a:tr h="335788">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AB + CG + EF</a:t>
                      </a:r>
                    </a:p>
                  </a:txBody>
                  <a:tcPr marL="73152" marR="73152" marT="27432" marB="27432" anchor="ctr">
                    <a:solidFill>
                      <a:srgbClr val="FDE8D7"/>
                    </a:solidFill>
                  </a:tcPr>
                </a:tc>
              </a:tr>
              <a:tr h="335788">
                <a:tc>
                  <a:txBody>
                    <a:bodyPr/>
                    <a:lstStyle/>
                    <a:p>
                      <a:pPr algn="ctr"/>
                      <a:r>
                        <a:rPr sz="1400" b="0">
                          <a:solidFill>
                            <a:srgbClr val="142B33"/>
                          </a:solidFill>
                          <a:latin typeface="Calibri"/>
                        </a:rPr>
                        <a:t>E</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a:t>
                      </a:r>
                    </a:p>
                  </a:txBody>
                  <a:tcPr marL="73152" marR="73152" marT="27432" marB="27432" anchor="ctr">
                    <a:solidFill>
                      <a:srgbClr val="FFFFFF"/>
                    </a:solidFill>
                  </a:tcPr>
                </a:tc>
                <a:tc>
                  <a:txBody>
                    <a:bodyPr/>
                    <a:lstStyle/>
                    <a:p>
                      <a:pPr algn="ctr"/>
                      <a:r>
                        <a:rPr sz="1400" b="0">
                          <a:solidFill>
                            <a:srgbClr val="142B33"/>
                          </a:solidFill>
                          <a:latin typeface="Calibri"/>
                        </a:rPr>
                        <a:t>DF</a:t>
                      </a:r>
                    </a:p>
                  </a:txBody>
                  <a:tcPr marL="73152" marR="73152" marT="27432" marB="27432" anchor="ctr">
                    <a:solidFill>
                      <a:srgbClr val="FFFFFF"/>
                    </a:solidFill>
                  </a:tcPr>
                </a:tc>
              </a:tr>
              <a:tr h="335788">
                <a:tc>
                  <a:txBody>
                    <a:bodyPr/>
                    <a:lstStyle/>
                    <a:p>
                      <a:pPr algn="ctr"/>
                      <a:r>
                        <a:rPr sz="1400" b="0">
                          <a:solidFill>
                            <a:srgbClr val="142B33"/>
                          </a:solidFill>
                          <a:latin typeface="Calibri"/>
                        </a:rPr>
                        <a:t>F</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a:t>
                      </a:r>
                    </a:p>
                  </a:txBody>
                  <a:tcPr marL="73152" marR="73152" marT="27432" marB="27432" anchor="ctr">
                    <a:solidFill>
                      <a:srgbClr val="F4F8F9"/>
                    </a:solidFill>
                  </a:tcPr>
                </a:tc>
                <a:tc>
                  <a:txBody>
                    <a:bodyPr/>
                    <a:lstStyle/>
                    <a:p>
                      <a:pPr algn="ctr"/>
                      <a:r>
                        <a:rPr sz="1400" b="0">
                          <a:solidFill>
                            <a:srgbClr val="142B33"/>
                          </a:solidFill>
                          <a:latin typeface="Calibri"/>
                        </a:rPr>
                        <a:t>DE</a:t>
                      </a:r>
                    </a:p>
                  </a:txBody>
                  <a:tcPr marL="73152" marR="73152" marT="27432" marB="27432" anchor="ctr">
                    <a:solidFill>
                      <a:srgbClr val="F4F8F9"/>
                    </a:solidFill>
                  </a:tcPr>
                </a:tc>
              </a:tr>
              <a:tr h="335788">
                <a:tc>
                  <a:txBody>
                    <a:bodyPr/>
                    <a:lstStyle/>
                    <a:p>
                      <a:pPr algn="ctr"/>
                      <a:r>
                        <a:rPr sz="1400" b="0">
                          <a:solidFill>
                            <a:srgbClr val="142B33"/>
                          </a:solidFill>
                          <a:latin typeface="Calibri"/>
                        </a:rPr>
                        <a:t>G</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BE + AF</a:t>
                      </a:r>
                    </a:p>
                  </a:txBody>
                  <a:tcPr marL="73152" marR="73152" marT="27432" marB="27432" anchor="ctr">
                    <a:solidFill>
                      <a:srgbClr val="FFFFFF"/>
                    </a:solidFill>
                  </a:tcPr>
                </a:tc>
                <a:tc>
                  <a:txBody>
                    <a:bodyPr/>
                    <a:lstStyle/>
                    <a:p>
                      <a:pPr algn="ctr"/>
                      <a:r>
                        <a:rPr sz="1400" b="0">
                          <a:solidFill>
                            <a:srgbClr val="142B33"/>
                          </a:solidFill>
                          <a:latin typeface="Calibri"/>
                        </a:rPr>
                        <a:t>CD</a:t>
                      </a:r>
                    </a:p>
                  </a:txBody>
                  <a:tcPr marL="73152" marR="73152" marT="27432" marB="27432" anchor="ctr">
                    <a:solidFill>
                      <a:srgbClr val="FFFFFF"/>
                    </a:solidFill>
                  </a:tcPr>
                </a:tc>
              </a:tr>
            </a:tbl>
          </a:graphicData>
        </a:graphic>
      </p:graphicFrame>
      <p:sp>
        <p:nvSpPr>
          <p:cNvPr id="4" name="Rounded Rectangle 3"/>
          <p:cNvSpPr/>
          <p:nvPr/>
        </p:nvSpPr>
        <p:spPr>
          <a:xfrm>
            <a:off x="548640" y="4304792"/>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Regla: invertir </a:t>
            </a:r>
            <a:r>
              <a:rPr sz="1600" b="1">
                <a:solidFill>
                  <a:srgbClr val="142B33"/>
                </a:solidFill>
                <a:latin typeface="Calibri"/>
              </a:rPr>
              <a:t>un</a:t>
            </a:r>
            <a:r>
              <a:rPr sz="1600" b="0">
                <a:solidFill>
                  <a:srgbClr val="142B33"/>
                </a:solidFill>
                <a:latin typeface="Calibri"/>
              </a:rPr>
              <a:t> factor deja limpios ese factor y </a:t>
            </a:r>
            <a:r>
              <a:rPr sz="1600" b="1">
                <a:solidFill>
                  <a:srgbClr val="142B33"/>
                </a:solidFill>
                <a:latin typeface="Calibri"/>
              </a:rPr>
              <a:t>todas sus interacciones dobles</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88</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Doblez completo</a:t>
            </a:r>
          </a:p>
        </p:txBody>
      </p:sp>
      <p:sp>
        <p:nvSpPr>
          <p:cNvPr id="3" name="Rounded Rectangle 2"/>
          <p:cNvSpPr/>
          <p:nvPr/>
        </p:nvSpPr>
        <p:spPr>
          <a:xfrm>
            <a:off x="548640" y="1417320"/>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Columna de A: se invierte  ·  Columna de BD: (−)(−) = +, no se invierte</a:t>
            </a:r>
          </a:p>
          <a:p>
            <a:pPr algn="ctr"/>
            <a:r>
              <a:rPr sz="1600" b="0">
                <a:solidFill>
                  <a:srgbClr val="0F4C5C"/>
                </a:solidFill>
                <a:latin typeface="Cambria Math"/>
              </a:rPr>
              <a:t>⇒  ℓ′</a:t>
            </a:r>
            <a:r>
              <a:rPr sz="1600" b="0" baseline="-25000">
                <a:solidFill>
                  <a:srgbClr val="0F4C5C"/>
                </a:solidFill>
                <a:latin typeface="Cambria Math"/>
              </a:rPr>
              <a:t>A</a:t>
            </a:r>
            <a:r>
              <a:rPr sz="1600" b="0">
                <a:solidFill>
                  <a:srgbClr val="0F4C5C"/>
                </a:solidFill>
                <a:latin typeface="Cambria Math"/>
              </a:rPr>
              <a:t> → A − BD − CE − FG</a:t>
            </a:r>
          </a:p>
        </p:txBody>
      </p:sp>
      <p:sp>
        <p:nvSpPr>
          <p:cNvPr id="4" name="Rounded Rectangle 3"/>
          <p:cNvSpPr/>
          <p:nvPr/>
        </p:nvSpPr>
        <p:spPr>
          <a:xfrm>
            <a:off x="548640" y="2448112"/>
            <a:ext cx="5341467"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efecto principal</a:t>
            </a:r>
          </a:p>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cadena de interacciones dobles</a:t>
            </a:r>
          </a:p>
        </p:txBody>
      </p:sp>
      <p:sp>
        <p:nvSpPr>
          <p:cNvPr id="5" name="TextBox 4"/>
          <p:cNvSpPr txBox="1"/>
          <p:nvPr/>
        </p:nvSpPr>
        <p:spPr>
          <a:xfrm>
            <a:off x="6301587" y="1417320"/>
            <a:ext cx="5341467" cy="18166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Se invierten los signos de </a:t>
            </a:r>
            <a:r>
              <a:rPr sz="1600" b="1">
                <a:solidFill>
                  <a:srgbClr val="142B33"/>
                </a:solidFill>
                <a:latin typeface="Calibri"/>
              </a:rPr>
              <a:t>todos</a:t>
            </a:r>
            <a:r>
              <a:rPr sz="1600" b="0">
                <a:solidFill>
                  <a:srgbClr val="142B33"/>
                </a:solidFill>
                <a:latin typeface="Calibri"/>
              </a:rPr>
              <a:t> los factores</a:t>
            </a:r>
          </a:p>
          <a:p>
            <a:pPr marL="320040" indent="-320040">
              <a:spcAft>
                <a:spcPts val="600"/>
              </a:spcAft>
              <a:buClr>
                <a:srgbClr val="E36414"/>
              </a:buClr>
              <a:buFont typeface="Arial"/>
              <a:buChar char="•"/>
            </a:pPr>
            <a:r>
              <a:rPr sz="1600" b="0">
                <a:solidFill>
                  <a:srgbClr val="142B33"/>
                </a:solidFill>
                <a:latin typeface="Calibri"/>
              </a:rPr>
              <a:t>Rompe los alias entre </a:t>
            </a:r>
            <a:r>
              <a:rPr sz="1600" b="1">
                <a:solidFill>
                  <a:srgbClr val="142B33"/>
                </a:solidFill>
                <a:latin typeface="Calibri"/>
              </a:rPr>
              <a:t>principales</a:t>
            </a:r>
            <a:r>
              <a:rPr sz="1600" b="0">
                <a:solidFill>
                  <a:srgbClr val="142B33"/>
                </a:solidFill>
                <a:latin typeface="Calibri"/>
              </a:rPr>
              <a:t> e </a:t>
            </a:r>
            <a:r>
              <a:rPr sz="1600" b="1">
                <a:solidFill>
                  <a:srgbClr val="142B33"/>
                </a:solidFill>
                <a:latin typeface="Calibri"/>
              </a:rPr>
              <a:t>interacciones dobles</a:t>
            </a:r>
          </a:p>
          <a:p>
            <a:pPr marL="320040" indent="-320040">
              <a:spcAft>
                <a:spcPts val="600"/>
              </a:spcAft>
              <a:buClr>
                <a:srgbClr val="E36414"/>
              </a:buClr>
              <a:buFont typeface="Arial"/>
              <a:buChar char="•"/>
            </a:pPr>
            <a:r>
              <a:rPr sz="1600" b="0">
                <a:solidFill>
                  <a:srgbClr val="142B33"/>
                </a:solidFill>
                <a:latin typeface="Calibri"/>
              </a:rPr>
              <a:t>Equivale a cambiar el signo de los generadores con </a:t>
            </a:r>
            <a:r>
              <a:rPr sz="1600" b="1">
                <a:solidFill>
                  <a:srgbClr val="142B33"/>
                </a:solidFill>
                <a:latin typeface="Calibri"/>
              </a:rPr>
              <a:t>número impar</a:t>
            </a:r>
            <a:r>
              <a:rPr sz="1600" b="0">
                <a:solidFill>
                  <a:srgbClr val="142B33"/>
                </a:solidFill>
                <a:latin typeface="Calibri"/>
              </a:rPr>
              <a:t> de letras</a:t>
            </a:r>
          </a:p>
          <a:p>
            <a:pPr marL="320040" indent="-320040">
              <a:spcAft>
                <a:spcPts val="600"/>
              </a:spcAft>
              <a:buClr>
                <a:srgbClr val="E36414"/>
              </a:buClr>
              <a:buFont typeface="Arial"/>
              <a:buChar char="•"/>
            </a:pPr>
            <a:r>
              <a:rPr sz="1600" b="0">
                <a:solidFill>
                  <a:srgbClr val="142B33"/>
                </a:solidFill>
                <a:latin typeface="Calibri"/>
              </a:rPr>
              <a:t>En el 2</a:t>
            </a:r>
            <a:r>
              <a:rPr sz="1600" b="0" baseline="30000">
                <a:solidFill>
                  <a:srgbClr val="142B33"/>
                </a:solidFill>
                <a:latin typeface="Calibri"/>
              </a:rPr>
              <a:t>7−4</a:t>
            </a:r>
            <a:r>
              <a:rPr sz="1600" b="0">
                <a:solidFill>
                  <a:srgbClr val="142B33"/>
                </a:solidFill>
                <a:latin typeface="Calibri"/>
              </a:rPr>
              <a:t>: ABD, ACE y BCF cambian; </a:t>
            </a:r>
            <a:r>
              <a:rPr sz="1600" b="1">
                <a:solidFill>
                  <a:srgbClr val="142B33"/>
                </a:solidFill>
                <a:latin typeface="Calibri"/>
              </a:rPr>
              <a:t>ABCG</a:t>
            </a:r>
            <a:r>
              <a:rPr sz="1600" b="0">
                <a:solidFill>
                  <a:srgbClr val="142B33"/>
                </a:solidFill>
                <a:latin typeface="Calibri"/>
              </a:rPr>
              <a:t> no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89</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Enunciado: tiempo de enfoque del ojo</a:t>
            </a:r>
          </a:p>
        </p:txBody>
      </p:sp>
      <p:sp>
        <p:nvSpPr>
          <p:cNvPr id="3" name="TextBox 2"/>
          <p:cNvSpPr txBox="1"/>
          <p:nvPr/>
        </p:nvSpPr>
        <p:spPr>
          <a:xfrm>
            <a:off x="548640" y="1417320"/>
            <a:ext cx="6196102" cy="1523999"/>
          </a:xfrm>
          <a:prstGeom prst="rect">
            <a:avLst/>
          </a:prstGeom>
          <a:noFill/>
        </p:spPr>
        <p:txBody>
          <a:bodyPr wrap="square" anchor="t" lIns="0" rIns="0" tIns="0" bIns="0">
            <a:spAutoFit/>
          </a:bodyPr>
          <a:lstStyle/>
          <a:p>
            <a:r>
              <a:rPr sz="1600" b="0">
                <a:solidFill>
                  <a:srgbClr val="142B33"/>
                </a:solidFill>
                <a:latin typeface="Calibri"/>
              </a:rPr>
              <a:t>Un experimentador estudia el </a:t>
            </a:r>
            <a:r>
              <a:rPr sz="1600" b="1">
                <a:solidFill>
                  <a:srgbClr val="142B33"/>
                </a:solidFill>
                <a:latin typeface="Calibri"/>
              </a:rPr>
              <a:t>tiempo de enfoque del ojo</a:t>
            </a:r>
            <a:r>
              <a:rPr sz="1600" b="0">
                <a:solidFill>
                  <a:srgbClr val="142B33"/>
                </a:solidFill>
                <a:latin typeface="Calibri"/>
              </a:rPr>
              <a:t>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p:txBody>
      </p:sp>
      <p:sp>
        <p:nvSpPr>
          <p:cNvPr id="4" name="TextBox 3"/>
          <p:cNvSpPr txBox="1"/>
          <p:nvPr/>
        </p:nvSpPr>
        <p:spPr>
          <a:xfrm>
            <a:off x="548640" y="3142488"/>
            <a:ext cx="6196102" cy="780288"/>
          </a:xfrm>
          <a:prstGeom prst="rect">
            <a:avLst/>
          </a:prstGeom>
          <a:noFill/>
        </p:spPr>
        <p:txBody>
          <a:bodyPr wrap="square" anchor="t" lIns="0" rIns="0" tIns="0" bIns="0">
            <a:spAutoFit/>
          </a:bodyPr>
          <a:lstStyle/>
          <a:p>
            <a:r>
              <a:rPr sz="1600" b="0">
                <a:solidFill>
                  <a:srgbClr val="142B33"/>
                </a:solidFill>
                <a:latin typeface="Calibri"/>
              </a:rPr>
              <a:t>Sospecha que </a:t>
            </a:r>
            <a:r>
              <a:rPr sz="1600" b="1">
                <a:solidFill>
                  <a:srgbClr val="142B33"/>
                </a:solidFill>
                <a:latin typeface="Calibri"/>
              </a:rPr>
              <a:t>solo unos pocos</a:t>
            </a:r>
            <a:r>
              <a:rPr sz="1600" b="0">
                <a:solidFill>
                  <a:srgbClr val="142B33"/>
                </a:solidFill>
                <a:latin typeface="Calibri"/>
              </a:rPr>
              <a:t> de los siete factores son importantes y que las interacciones de orden alto se pueden despreciar.</a:t>
            </a:r>
          </a:p>
        </p:txBody>
      </p:sp>
      <p:sp>
        <p:nvSpPr>
          <p:cNvPr id="5" name="TextBox 4"/>
          <p:cNvSpPr txBox="1"/>
          <p:nvPr/>
        </p:nvSpPr>
        <p:spPr>
          <a:xfrm>
            <a:off x="548640" y="4123944"/>
            <a:ext cx="6196102" cy="1028191"/>
          </a:xfrm>
          <a:prstGeom prst="rect">
            <a:avLst/>
          </a:prstGeom>
          <a:noFill/>
        </p:spPr>
        <p:txBody>
          <a:bodyPr wrap="square" anchor="t" lIns="0" rIns="0" tIns="0" bIns="0">
            <a:spAutoFit/>
          </a:bodyPr>
          <a:lstStyle/>
          <a:p>
            <a:r>
              <a:rPr sz="1600" b="0">
                <a:solidFill>
                  <a:srgbClr val="142B33"/>
                </a:solidFill>
                <a:latin typeface="Calibri"/>
              </a:rPr>
              <a:t>Decide hacer primero un </a:t>
            </a:r>
            <a:r>
              <a:rPr sz="1600" b="1">
                <a:solidFill>
                  <a:srgbClr val="142B33"/>
                </a:solidFill>
                <a:latin typeface="Calibri"/>
              </a:rPr>
              <a:t>experimento de tamizado</a:t>
            </a:r>
            <a:r>
              <a:rPr sz="1600" b="0">
                <a:solidFill>
                  <a:srgbClr val="142B33"/>
                </a:solidFill>
                <a:latin typeface="Calibri"/>
              </a:rPr>
              <a:t> con un 2</a:t>
            </a:r>
            <a:r>
              <a:rPr sz="1600" b="0" baseline="30000">
                <a:solidFill>
                  <a:srgbClr val="142B33"/>
                </a:solidFill>
                <a:latin typeface="Calibri"/>
              </a:rPr>
              <a:t>7−4</a:t>
            </a:r>
            <a:r>
              <a:rPr sz="1600" b="0" baseline="-25000">
                <a:solidFill>
                  <a:srgbClr val="142B33"/>
                </a:solidFill>
                <a:latin typeface="Calibri"/>
              </a:rPr>
              <a:t>III</a:t>
            </a:r>
            <a:r>
              <a:rPr sz="1600" b="0">
                <a:solidFill>
                  <a:srgbClr val="142B33"/>
                </a:solidFill>
                <a:latin typeface="Calibri"/>
              </a:rPr>
              <a:t> de 8 corridas, en orden aleatorio, para identificar los factores importantes y concentrar en ellos el estudio posterior.</a:t>
            </a:r>
          </a:p>
        </p:txBody>
      </p:sp>
      <p:sp>
        <p:nvSpPr>
          <p:cNvPr id="6" name="TextBox 5"/>
          <p:cNvSpPr txBox="1"/>
          <p:nvPr/>
        </p:nvSpPr>
        <p:spPr>
          <a:xfrm>
            <a:off x="548640" y="5353303"/>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8-7</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1">
                <a:solidFill>
                  <a:srgbClr val="142B33"/>
                </a:solidFill>
                <a:latin typeface="Calibri"/>
              </a:rPr>
              <a:t>Tamizar</a:t>
            </a:r>
            <a:r>
              <a:rPr sz="1500" b="0">
                <a:solidFill>
                  <a:srgbClr val="142B33"/>
                </a:solidFill>
                <a:latin typeface="Calibri"/>
              </a:rPr>
              <a:t>: encontrar los pocos factores que de verdad afectan el tiempo de enfoque</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efectos de la primera fracción</a:t>
            </a:r>
          </a:p>
          <a:p>
            <a:pPr marL="320040" indent="-320040">
              <a:spcAft>
                <a:spcPts val="600"/>
              </a:spcAft>
              <a:buClr>
                <a:srgbClr val="E36414"/>
              </a:buClr>
              <a:buFont typeface="+mj-lt"/>
              <a:buAutoNum type="arabicPeriod"/>
            </a:pPr>
            <a:r>
              <a:rPr sz="1500" b="0">
                <a:solidFill>
                  <a:srgbClr val="142B33"/>
                </a:solidFill>
                <a:latin typeface="Calibri"/>
              </a:rPr>
              <a:t>Listar las explicaciones compatibles con los alias</a:t>
            </a:r>
          </a:p>
          <a:p>
            <a:pPr marL="320040" indent="-320040">
              <a:spcAft>
                <a:spcPts val="600"/>
              </a:spcAft>
              <a:buClr>
                <a:srgbClr val="E36414"/>
              </a:buClr>
              <a:buFont typeface="+mj-lt"/>
              <a:buAutoNum type="arabicPeriod"/>
            </a:pPr>
            <a:r>
              <a:rPr sz="1500" b="0">
                <a:solidFill>
                  <a:srgbClr val="142B33"/>
                </a:solidFill>
                <a:latin typeface="Calibri"/>
              </a:rPr>
              <a:t>Elegir y correr una segunda fracción que las separe</a:t>
            </a:r>
          </a:p>
          <a:p>
            <a:pPr marL="320040" indent="-320040">
              <a:spcAft>
                <a:spcPts val="600"/>
              </a:spcAft>
              <a:buClr>
                <a:srgbClr val="E36414"/>
              </a:buClr>
              <a:buFont typeface="+mj-lt"/>
              <a:buAutoNum type="arabicPeriod"/>
            </a:pPr>
            <a:r>
              <a:rPr sz="1500" b="0">
                <a:solidFill>
                  <a:srgbClr val="142B33"/>
                </a:solidFill>
                <a:latin typeface="Calibri"/>
              </a:rPr>
              <a:t>Decidir qué efectos son los reales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90</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Una primera fracción ambigua</a:t>
            </a:r>
          </a:p>
        </p:txBody>
      </p:sp>
      <p:graphicFrame>
        <p:nvGraphicFramePr>
          <p:cNvPr id="3" name="Chart 2"/>
          <p:cNvGraphicFramePr>
            <a:graphicFrameLocks noGrp="1"/>
          </p:cNvGraphicFramePr>
          <p:nvPr/>
        </p:nvGraphicFramePr>
        <p:xfrm>
          <a:off x="548640" y="1417320"/>
          <a:ext cx="5341467" cy="356616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184648"/>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Grandes: ℓ</a:t>
            </a:r>
            <a:r>
              <a:rPr sz="1500" b="0" baseline="-25000">
                <a:solidFill>
                  <a:srgbClr val="142B33"/>
                </a:solidFill>
                <a:latin typeface="Calibri"/>
              </a:rPr>
              <a:t>B</a:t>
            </a:r>
            <a:r>
              <a:rPr sz="1500" b="0">
                <a:solidFill>
                  <a:srgbClr val="142B33"/>
                </a:solidFill>
                <a:latin typeface="Calibri"/>
              </a:rPr>
              <a:t> = 38.38,  ℓ</a:t>
            </a:r>
            <a:r>
              <a:rPr sz="1500" b="0" baseline="-25000">
                <a:solidFill>
                  <a:srgbClr val="142B33"/>
                </a:solidFill>
                <a:latin typeface="Calibri"/>
              </a:rPr>
              <a:t>D</a:t>
            </a:r>
            <a:r>
              <a:rPr sz="1500" b="0">
                <a:solidFill>
                  <a:srgbClr val="142B33"/>
                </a:solidFill>
                <a:latin typeface="Calibri"/>
              </a:rPr>
              <a:t> = 28.88,  ℓ</a:t>
            </a:r>
            <a:r>
              <a:rPr sz="1500" b="0" baseline="-25000">
                <a:solidFill>
                  <a:srgbClr val="142B33"/>
                </a:solidFill>
                <a:latin typeface="Calibri"/>
              </a:rPr>
              <a:t>A</a:t>
            </a:r>
            <a:r>
              <a:rPr sz="1500" b="0">
                <a:solidFill>
                  <a:srgbClr val="142B33"/>
                </a:solidFill>
                <a:latin typeface="Calibri"/>
              </a:rPr>
              <a:t> = 20.63</a:t>
            </a:r>
          </a:p>
        </p:txBody>
      </p:sp>
      <p:sp>
        <p:nvSpPr>
          <p:cNvPr id="5" name="TextBox 4"/>
          <p:cNvSpPr txBox="1"/>
          <p:nvPr/>
        </p:nvSpPr>
        <p:spPr>
          <a:xfrm>
            <a:off x="6301587" y="1417320"/>
            <a:ext cx="5341467" cy="315468"/>
          </a:xfrm>
          <a:prstGeom prst="rect">
            <a:avLst/>
          </a:prstGeom>
          <a:noFill/>
        </p:spPr>
        <p:txBody>
          <a:bodyPr wrap="square" anchor="t" lIns="0" rIns="0" tIns="0" bIns="0">
            <a:spAutoFit/>
          </a:bodyPr>
          <a:lstStyle/>
          <a:p>
            <a:r>
              <a:rPr sz="1800" b="1">
                <a:solidFill>
                  <a:srgbClr val="142B33"/>
                </a:solidFill>
                <a:latin typeface="Calibri"/>
              </a:rPr>
              <a:t>Cuatro explicaciones posibles</a:t>
            </a:r>
          </a:p>
        </p:txBody>
      </p:sp>
      <p:graphicFrame>
        <p:nvGraphicFramePr>
          <p:cNvPr id="6" name="Table 5"/>
          <p:cNvGraphicFramePr>
            <a:graphicFrameLocks noGrp="1"/>
          </p:cNvGraphicFramePr>
          <p:nvPr/>
        </p:nvGraphicFramePr>
        <p:xfrm>
          <a:off x="6301587" y="1933956"/>
          <a:ext cx="5341467" cy="1833880"/>
        </p:xfrm>
        <a:graphic>
          <a:graphicData uri="http://schemas.openxmlformats.org/drawingml/2006/table">
            <a:tbl>
              <a:tblPr firstRow="0" bandRow="0">
                <a:tableStyleId>{5C22544A-7EE6-4342-B048-85BDC9FD1C3A}</a:tableStyleId>
              </a:tblPr>
              <a:tblGrid>
                <a:gridCol w="2072440"/>
                <a:gridCol w="3269027"/>
              </a:tblGrid>
              <a:tr h="366776">
                <a:tc>
                  <a:txBody>
                    <a:bodyPr/>
                    <a:lstStyle/>
                    <a:p>
                      <a:pPr algn="ctr"/>
                      <a:r>
                        <a:rPr sz="1600" b="1">
                          <a:solidFill>
                            <a:srgbClr val="FFFFFF"/>
                          </a:solidFill>
                          <a:latin typeface="Calibri"/>
                        </a:rPr>
                        <a:t>Explicación</a:t>
                      </a:r>
                    </a:p>
                  </a:txBody>
                  <a:tcPr marL="73152" marR="73152" marT="27432" marB="27432" anchor="ctr">
                    <a:solidFill>
                      <a:srgbClr val="0F4C5C"/>
                    </a:solidFill>
                  </a:tcPr>
                </a:tc>
                <a:tc>
                  <a:txBody>
                    <a:bodyPr/>
                    <a:lstStyle/>
                    <a:p>
                      <a:pPr algn="ctr"/>
                      <a:r>
                        <a:rPr sz="1600" b="1">
                          <a:solidFill>
                            <a:srgbClr val="FFFFFF"/>
                          </a:solidFill>
                          <a:latin typeface="Calibri"/>
                        </a:rPr>
                        <a:t>Efectos activos</a:t>
                      </a:r>
                    </a:p>
                  </a:txBody>
                  <a:tcPr marL="73152" marR="73152" marT="27432" marB="27432" anchor="ctr">
                    <a:solidFill>
                      <a:srgbClr val="0F4C5C"/>
                    </a:solidFill>
                  </a:tcPr>
                </a:tc>
              </a:tr>
              <a:tr h="366776">
                <a:tc>
                  <a:txBody>
                    <a:bodyPr/>
                    <a:lstStyle/>
                    <a:p>
                      <a:pPr algn="ctr"/>
                      <a:r>
                        <a:rPr sz="1600" b="0">
                          <a:solidFill>
                            <a:srgbClr val="142B33"/>
                          </a:solidFill>
                          <a:latin typeface="Calibri"/>
                        </a:rPr>
                        <a:t>1</a:t>
                      </a:r>
                    </a:p>
                  </a:txBody>
                  <a:tcPr marL="73152" marR="73152" marT="27432" marB="27432" anchor="ctr">
                    <a:solidFill>
                      <a:srgbClr val="FFFFFF"/>
                    </a:solidFill>
                  </a:tcPr>
                </a:tc>
                <a:tc>
                  <a:txBody>
                    <a:bodyPr/>
                    <a:lstStyle/>
                    <a:p>
                      <a:pPr algn="ctr"/>
                      <a:r>
                        <a:rPr sz="1600" b="0">
                          <a:solidFill>
                            <a:srgbClr val="142B33"/>
                          </a:solidFill>
                          <a:latin typeface="Calibri"/>
                        </a:rPr>
                        <a:t>A, B y D</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p>
                  </a:txBody>
                  <a:tcPr marL="73152" marR="73152" marT="27432" marB="27432" anchor="ctr">
                    <a:solidFill>
                      <a:srgbClr val="F4F8F9"/>
                    </a:solidFill>
                  </a:tcPr>
                </a:tc>
                <a:tc>
                  <a:txBody>
                    <a:bodyPr/>
                    <a:lstStyle/>
                    <a:p>
                      <a:pPr algn="ctr"/>
                      <a:r>
                        <a:rPr sz="1600" b="0">
                          <a:solidFill>
                            <a:srgbClr val="142B33"/>
                          </a:solidFill>
                          <a:latin typeface="Calibri"/>
                        </a:rPr>
                        <a:t>A, B y la interacción AB</a:t>
                      </a:r>
                    </a:p>
                  </a:txBody>
                  <a:tcPr marL="73152" marR="73152" marT="27432" marB="27432" anchor="ctr">
                    <a:solidFill>
                      <a:srgbClr val="F4F8F9"/>
                    </a:solidFill>
                  </a:tcPr>
                </a:tc>
              </a:tr>
              <a:tr h="366776">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A, D y la interacción AD</a:t>
                      </a:r>
                    </a:p>
                  </a:txBody>
                  <a:tcPr marL="73152" marR="73152" marT="27432" marB="27432" anchor="ctr">
                    <a:solidFill>
                      <a:srgbClr val="FFFFFF"/>
                    </a:solidFill>
                  </a:tcPr>
                </a:tc>
              </a:tr>
              <a:tr h="366776">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B, D y la interacción BD</a:t>
                      </a:r>
                    </a:p>
                  </a:txBody>
                  <a:tcPr marL="73152" marR="73152" marT="27432" marB="27432" anchor="ctr">
                    <a:solidFill>
                      <a:srgbClr val="F4F8F9"/>
                    </a:solidFill>
                  </a:tcPr>
                </a:tc>
              </a:tr>
            </a:tbl>
          </a:graphicData>
        </a:graphic>
      </p:graphicFrame>
      <p:sp>
        <p:nvSpPr>
          <p:cNvPr id="7" name="Rounded Rectangle 6"/>
          <p:cNvSpPr/>
          <p:nvPr/>
        </p:nvSpPr>
        <p:spPr>
          <a:xfrm>
            <a:off x="6301587" y="3969004"/>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Como </a:t>
            </a:r>
            <a:r>
              <a:rPr sz="1500" b="1">
                <a:solidFill>
                  <a:srgbClr val="142B33"/>
                </a:solidFill>
                <a:latin typeface="Calibri"/>
              </a:rPr>
              <a:t>D = AB</a:t>
            </a:r>
            <a:r>
              <a:rPr sz="1500" b="0">
                <a:solidFill>
                  <a:srgbClr val="142B33"/>
                </a:solidFill>
                <a:latin typeface="Calibri"/>
              </a:rPr>
              <a:t>, la fracción no distingue entre ellas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91</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Qué aclara el doblez completo</a:t>
            </a:r>
          </a:p>
        </p:txBody>
      </p:sp>
      <p:graphicFrame>
        <p:nvGraphicFramePr>
          <p:cNvPr id="3" name="Table 2"/>
          <p:cNvGraphicFramePr>
            <a:graphicFrameLocks noGrp="1"/>
          </p:cNvGraphicFramePr>
          <p:nvPr/>
        </p:nvGraphicFramePr>
        <p:xfrm>
          <a:off x="548640" y="1417320"/>
          <a:ext cx="11094413" cy="3042666"/>
        </p:xfrm>
        <a:graphic>
          <a:graphicData uri="http://schemas.openxmlformats.org/drawingml/2006/table">
            <a:tbl>
              <a:tblPr firstRow="0" bandRow="0">
                <a:tableStyleId>{5C22544A-7EE6-4342-B048-85BDC9FD1C3A}</a:tableStyleId>
              </a:tblPr>
              <a:tblGrid>
                <a:gridCol w="1331329"/>
                <a:gridCol w="1886050"/>
                <a:gridCol w="1886050"/>
                <a:gridCol w="2218883"/>
                <a:gridCol w="3772101"/>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(1.ª fracción)</a:t>
                      </a:r>
                    </a:p>
                  </a:txBody>
                  <a:tcPr marL="73152" marR="73152" marT="27432" marB="27432" anchor="ctr">
                    <a:solidFill>
                      <a:srgbClr val="0F4C5C"/>
                    </a:solidFill>
                  </a:tcPr>
                </a:tc>
                <a:tc>
                  <a:txBody>
                    <a:bodyPr/>
                    <a:lstStyle/>
                    <a:p>
                      <a:pPr algn="ctr"/>
                      <a:r>
                        <a:rPr sz="1500" b="1">
                          <a:solidFill>
                            <a:srgbClr val="FFFFFF"/>
                          </a:solidFill>
                          <a:latin typeface="Calibri"/>
                        </a:rPr>
                        <a:t>ℓ′  (doblez)</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20.63</a:t>
                      </a:r>
                    </a:p>
                  </a:txBody>
                  <a:tcPr marL="73152" marR="73152" marT="27432" marB="27432" anchor="ctr">
                    <a:solidFill>
                      <a:srgbClr val="FDE8D7"/>
                    </a:solidFill>
                  </a:tcPr>
                </a:tc>
                <a:tc>
                  <a:txBody>
                    <a:bodyPr/>
                    <a:lstStyle/>
                    <a:p>
                      <a:pPr algn="ctr"/>
                      <a:r>
                        <a:rPr sz="1500" b="0">
                          <a:solidFill>
                            <a:srgbClr val="142B33"/>
                          </a:solidFill>
                          <a:latin typeface="Calibri"/>
                        </a:rPr>
                        <a:t>−17.68</a:t>
                      </a:r>
                    </a:p>
                  </a:txBody>
                  <a:tcPr marL="73152" marR="73152" marT="27432" marB="27432" anchor="ctr">
                    <a:solidFill>
                      <a:srgbClr val="FDE8D7"/>
                    </a:solidFill>
                  </a:tcPr>
                </a:tc>
                <a:tc>
                  <a:txBody>
                    <a:bodyPr/>
                    <a:lstStyle/>
                    <a:p>
                      <a:pPr algn="ctr"/>
                      <a:r>
                        <a:rPr sz="1500" b="0">
                          <a:solidFill>
                            <a:srgbClr val="142B33"/>
                          </a:solidFill>
                          <a:latin typeface="Calibri"/>
                        </a:rPr>
                        <a:t>A = 1.48</a:t>
                      </a:r>
                    </a:p>
                  </a:txBody>
                  <a:tcPr marL="73152" marR="73152" marT="27432" marB="27432" anchor="ctr">
                    <a:solidFill>
                      <a:srgbClr val="FDE8D7"/>
                    </a:solidFill>
                  </a:tcPr>
                </a:tc>
                <a:tc>
                  <a:txBody>
                    <a:bodyPr/>
                    <a:lstStyle/>
                    <a:p>
                      <a:pPr algn="ctr"/>
                      <a:r>
                        <a:rPr sz="1500" b="0">
                          <a:solidFill>
                            <a:srgbClr val="142B33"/>
                          </a:solidFill>
                          <a:latin typeface="Calibri"/>
                        </a:rPr>
                        <a:t>BD + CE + FG = 19.15</a:t>
                      </a:r>
                    </a:p>
                  </a:txBody>
                  <a:tcPr marL="73152" marR="73152" marT="27432" marB="27432" anchor="ctr">
                    <a:solidFill>
                      <a:srgbClr val="FDE8D7"/>
                    </a:solidFill>
                  </a:tcPr>
                </a:tc>
              </a:tr>
              <a:tr h="351282">
                <a:tc>
                  <a:txBody>
                    <a:bodyPr/>
                    <a:lstStyle/>
                    <a:p>
                      <a:pPr algn="ctr"/>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38.38</a:t>
                      </a:r>
                    </a:p>
                  </a:txBody>
                  <a:tcPr marL="73152" marR="73152" marT="27432" marB="27432" anchor="ctr">
                    <a:solidFill>
                      <a:srgbClr val="FDE8D7"/>
                    </a:solidFill>
                  </a:tcPr>
                </a:tc>
                <a:tc>
                  <a:txBody>
                    <a:bodyPr/>
                    <a:lstStyle/>
                    <a:p>
                      <a:pPr algn="ctr"/>
                      <a:r>
                        <a:rPr sz="1500" b="0">
                          <a:solidFill>
                            <a:srgbClr val="142B33"/>
                          </a:solidFill>
                          <a:latin typeface="Calibri"/>
                        </a:rPr>
                        <a:t>37.73</a:t>
                      </a:r>
                    </a:p>
                  </a:txBody>
                  <a:tcPr marL="73152" marR="73152" marT="27432" marB="27432" anchor="ctr">
                    <a:solidFill>
                      <a:srgbClr val="FDE8D7"/>
                    </a:solidFill>
                  </a:tcPr>
                </a:tc>
                <a:tc>
                  <a:txBody>
                    <a:bodyPr/>
                    <a:lstStyle/>
                    <a:p>
                      <a:pPr algn="ctr"/>
                      <a:r>
                        <a:rPr sz="1500" b="0">
                          <a:solidFill>
                            <a:srgbClr val="142B33"/>
                          </a:solidFill>
                          <a:latin typeface="Calibri"/>
                        </a:rPr>
                        <a:t>B = 38.05</a:t>
                      </a:r>
                    </a:p>
                  </a:txBody>
                  <a:tcPr marL="73152" marR="73152" marT="27432" marB="27432" anchor="ctr">
                    <a:solidFill>
                      <a:srgbClr val="FDE8D7"/>
                    </a:solidFill>
                  </a:tcPr>
                </a:tc>
                <a:tc>
                  <a:txBody>
                    <a:bodyPr/>
                    <a:lstStyle/>
                    <a:p>
                      <a:pPr algn="ctr"/>
                      <a:r>
                        <a:rPr sz="1500" b="0">
                          <a:solidFill>
                            <a:srgbClr val="142B33"/>
                          </a:solidFill>
                          <a:latin typeface="Calibri"/>
                        </a:rPr>
                        <a:t>AD + CF + EG = 0.33</a:t>
                      </a:r>
                    </a:p>
                  </a:txBody>
                  <a:tcPr marL="73152" marR="73152" marT="27432" marB="27432" anchor="ctr">
                    <a:solidFill>
                      <a:srgbClr val="FDE8D7"/>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−3.33</a:t>
                      </a:r>
                    </a:p>
                  </a:txBody>
                  <a:tcPr marL="73152" marR="73152" marT="27432" marB="27432" anchor="ctr">
                    <a:solidFill>
                      <a:srgbClr val="FFFFFF"/>
                    </a:solidFill>
                  </a:tcPr>
                </a:tc>
                <a:tc>
                  <a:txBody>
                    <a:bodyPr/>
                    <a:lstStyle/>
                    <a:p>
                      <a:pPr algn="ctr"/>
                      <a:r>
                        <a:rPr sz="1500" b="0">
                          <a:solidFill>
                            <a:srgbClr val="142B33"/>
                          </a:solidFill>
                          <a:latin typeface="Calibri"/>
                        </a:rPr>
                        <a:t>C = −1.80</a:t>
                      </a:r>
                    </a:p>
                  </a:txBody>
                  <a:tcPr marL="73152" marR="73152" marT="27432" marB="27432" anchor="ctr">
                    <a:solidFill>
                      <a:srgbClr val="FFFFFF"/>
                    </a:solidFill>
                  </a:tcPr>
                </a:tc>
                <a:tc>
                  <a:txBody>
                    <a:bodyPr/>
                    <a:lstStyle/>
                    <a:p>
                      <a:pPr algn="ctr"/>
                      <a:r>
                        <a:rPr sz="1500" b="0">
                          <a:solidFill>
                            <a:srgbClr val="142B33"/>
                          </a:solidFill>
                          <a:latin typeface="Calibri"/>
                        </a:rPr>
                        <a:t>AE + BF + DG = 1.53</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28.88</a:t>
                      </a:r>
                    </a:p>
                  </a:txBody>
                  <a:tcPr marL="73152" marR="73152" marT="27432" marB="27432" anchor="ctr">
                    <a:solidFill>
                      <a:srgbClr val="FDE8D7"/>
                    </a:solidFill>
                  </a:tcPr>
                </a:tc>
                <a:tc>
                  <a:txBody>
                    <a:bodyPr/>
                    <a:lstStyle/>
                    <a:p>
                      <a:pPr algn="ctr"/>
                      <a:r>
                        <a:rPr sz="1500" b="0">
                          <a:solidFill>
                            <a:srgbClr val="142B33"/>
                          </a:solidFill>
                          <a:latin typeface="Calibri"/>
                        </a:rPr>
                        <a:t>29.88</a:t>
                      </a:r>
                    </a:p>
                  </a:txBody>
                  <a:tcPr marL="73152" marR="73152" marT="27432" marB="27432" anchor="ctr">
                    <a:solidFill>
                      <a:srgbClr val="FDE8D7"/>
                    </a:solidFill>
                  </a:tcPr>
                </a:tc>
                <a:tc>
                  <a:txBody>
                    <a:bodyPr/>
                    <a:lstStyle/>
                    <a:p>
                      <a:pPr algn="ctr"/>
                      <a:r>
                        <a:rPr sz="1500" b="0">
                          <a:solidFill>
                            <a:srgbClr val="142B33"/>
                          </a:solidFill>
                          <a:latin typeface="Calibri"/>
                        </a:rPr>
                        <a:t>D = 29.38</a:t>
                      </a:r>
                    </a:p>
                  </a:txBody>
                  <a:tcPr marL="73152" marR="73152" marT="27432" marB="27432" anchor="ctr">
                    <a:solidFill>
                      <a:srgbClr val="FDE8D7"/>
                    </a:solidFill>
                  </a:tcPr>
                </a:tc>
                <a:tc>
                  <a:txBody>
                    <a:bodyPr/>
                    <a:lstStyle/>
                    <a:p>
                      <a:pPr algn="ctr"/>
                      <a:r>
                        <a:rPr sz="1500" b="0">
                          <a:solidFill>
                            <a:srgbClr val="142B33"/>
                          </a:solidFill>
                          <a:latin typeface="Calibri"/>
                        </a:rPr>
                        <a:t>AB + CG + EF = −0.50</a:t>
                      </a:r>
                    </a:p>
                  </a:txBody>
                  <a:tcPr marL="73152" marR="73152" marT="27432" marB="27432" anchor="ctr">
                    <a:solidFill>
                      <a:srgbClr val="FDE8D7"/>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0.53</a:t>
                      </a:r>
                    </a:p>
                  </a:txBody>
                  <a:tcPr marL="73152" marR="73152" marT="27432" marB="27432" anchor="ctr">
                    <a:solidFill>
                      <a:srgbClr val="FFFFFF"/>
                    </a:solidFill>
                  </a:tcPr>
                </a:tc>
                <a:tc>
                  <a:txBody>
                    <a:bodyPr/>
                    <a:lstStyle/>
                    <a:p>
                      <a:pPr algn="ctr"/>
                      <a:r>
                        <a:rPr sz="1500" b="0">
                          <a:solidFill>
                            <a:srgbClr val="142B33"/>
                          </a:solidFill>
                          <a:latin typeface="Calibri"/>
                        </a:rPr>
                        <a:t>E = 0.13</a:t>
                      </a:r>
                    </a:p>
                  </a:txBody>
                  <a:tcPr marL="73152" marR="73152" marT="27432" marB="27432" anchor="ctr">
                    <a:solidFill>
                      <a:srgbClr val="FFFFFF"/>
                    </a:solidFill>
                  </a:tcPr>
                </a:tc>
                <a:tc>
                  <a:txBody>
                    <a:bodyPr/>
                    <a:lstStyle/>
                    <a:p>
                      <a:pPr algn="ctr"/>
                      <a:r>
                        <a:rPr sz="1500" b="0">
                          <a:solidFill>
                            <a:srgbClr val="142B33"/>
                          </a:solidFill>
                          <a:latin typeface="Calibri"/>
                        </a:rPr>
                        <a:t>AC + BG + DF = −0.40</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−0.63</a:t>
                      </a:r>
                    </a:p>
                  </a:txBody>
                  <a:tcPr marL="73152" marR="73152" marT="27432" marB="27432" anchor="ctr">
                    <a:solidFill>
                      <a:srgbClr val="F4F8F9"/>
                    </a:solidFill>
                  </a:tcPr>
                </a:tc>
                <a:tc>
                  <a:txBody>
                    <a:bodyPr/>
                    <a:lstStyle/>
                    <a:p>
                      <a:pPr algn="ctr"/>
                      <a:r>
                        <a:rPr sz="1500" b="0">
                          <a:solidFill>
                            <a:srgbClr val="142B33"/>
                          </a:solidFill>
                          <a:latin typeface="Calibri"/>
                        </a:rPr>
                        <a:t>1.63</a:t>
                      </a:r>
                    </a:p>
                  </a:txBody>
                  <a:tcPr marL="73152" marR="73152" marT="27432" marB="27432" anchor="ctr">
                    <a:solidFill>
                      <a:srgbClr val="F4F8F9"/>
                    </a:solidFill>
                  </a:tcPr>
                </a:tc>
                <a:tc>
                  <a:txBody>
                    <a:bodyPr/>
                    <a:lstStyle/>
                    <a:p>
                      <a:pPr algn="ctr"/>
                      <a:r>
                        <a:rPr sz="1500" b="0">
                          <a:solidFill>
                            <a:srgbClr val="142B33"/>
                          </a:solidFill>
                          <a:latin typeface="Calibri"/>
                        </a:rPr>
                        <a:t>F = 0.50</a:t>
                      </a:r>
                    </a:p>
                  </a:txBody>
                  <a:tcPr marL="73152" marR="73152" marT="27432" marB="27432" anchor="ctr">
                    <a:solidFill>
                      <a:srgbClr val="F4F8F9"/>
                    </a:solidFill>
                  </a:tcPr>
                </a:tc>
                <a:tc>
                  <a:txBody>
                    <a:bodyPr/>
                    <a:lstStyle/>
                    <a:p>
                      <a:pPr algn="ctr"/>
                      <a:r>
                        <a:rPr sz="1500" b="0">
                          <a:solidFill>
                            <a:srgbClr val="142B33"/>
                          </a:solidFill>
                          <a:latin typeface="Calibri"/>
                        </a:rPr>
                        <a:t>BC + AG + DE = −1.13</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−2.43</a:t>
                      </a:r>
                    </a:p>
                  </a:txBody>
                  <a:tcPr marL="73152" marR="73152" marT="27432" marB="27432" anchor="ctr">
                    <a:solidFill>
                      <a:srgbClr val="FFFFFF"/>
                    </a:solidFill>
                  </a:tcPr>
                </a:tc>
                <a:tc>
                  <a:txBody>
                    <a:bodyPr/>
                    <a:lstStyle/>
                    <a:p>
                      <a:pPr algn="ctr"/>
                      <a:r>
                        <a:rPr sz="1500" b="0">
                          <a:solidFill>
                            <a:srgbClr val="142B33"/>
                          </a:solidFill>
                          <a:latin typeface="Calibri"/>
                        </a:rPr>
                        <a:t>2.68</a:t>
                      </a:r>
                    </a:p>
                  </a:txBody>
                  <a:tcPr marL="73152" marR="73152" marT="27432" marB="27432" anchor="ctr">
                    <a:solidFill>
                      <a:srgbClr val="FFFFFF"/>
                    </a:solidFill>
                  </a:tcPr>
                </a:tc>
                <a:tc>
                  <a:txBody>
                    <a:bodyPr/>
                    <a:lstStyle/>
                    <a:p>
                      <a:pPr algn="ctr"/>
                      <a:r>
                        <a:rPr sz="1500" b="0">
                          <a:solidFill>
                            <a:srgbClr val="142B33"/>
                          </a:solidFill>
                          <a:latin typeface="Calibri"/>
                        </a:rPr>
                        <a:t>G = 0.13</a:t>
                      </a:r>
                    </a:p>
                  </a:txBody>
                  <a:tcPr marL="73152" marR="73152" marT="27432" marB="27432" anchor="ctr">
                    <a:solidFill>
                      <a:srgbClr val="FFFFFF"/>
                    </a:solidFill>
                  </a:tcPr>
                </a:tc>
                <a:tc>
                  <a:txBody>
                    <a:bodyPr/>
                    <a:lstStyle/>
                    <a:p>
                      <a:pPr algn="ctr"/>
                      <a:r>
                        <a:rPr sz="1500" b="0">
                          <a:solidFill>
                            <a:srgbClr val="142B33"/>
                          </a:solidFill>
                          <a:latin typeface="Calibri"/>
                        </a:rPr>
                        <a:t>CD + BE + AF = −2.55</a:t>
                      </a:r>
                    </a:p>
                  </a:txBody>
                  <a:tcPr marL="73152" marR="73152" marT="27432" marB="27432" anchor="ctr">
                    <a:solidFill>
                      <a:srgbClr val="FFFFFF"/>
                    </a:solidFill>
                  </a:tcPr>
                </a:tc>
              </a:tr>
            </a:tbl>
          </a:graphicData>
        </a:graphic>
      </p:graphicFrame>
      <p:sp>
        <p:nvSpPr>
          <p:cNvPr id="4" name="Rounded Rectangle 3"/>
          <p:cNvSpPr/>
          <p:nvPr/>
        </p:nvSpPr>
        <p:spPr>
          <a:xfrm>
            <a:off x="548640" y="4661154"/>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Activos: </a:t>
            </a:r>
            <a:r>
              <a:rPr sz="1600" b="1">
                <a:solidFill>
                  <a:srgbClr val="142B33"/>
                </a:solidFill>
                <a:latin typeface="Calibri"/>
              </a:rPr>
              <a:t>B</a:t>
            </a:r>
            <a:r>
              <a:rPr sz="1600" b="0">
                <a:solidFill>
                  <a:srgbClr val="142B33"/>
                </a:solidFill>
                <a:latin typeface="Calibri"/>
              </a:rPr>
              <a:t>, </a:t>
            </a:r>
            <a:r>
              <a:rPr sz="1600" b="1">
                <a:solidFill>
                  <a:srgbClr val="142B33"/>
                </a:solidFill>
                <a:latin typeface="Calibri"/>
              </a:rPr>
              <a:t>D</a:t>
            </a:r>
            <a:r>
              <a:rPr sz="1600" b="0">
                <a:solidFill>
                  <a:srgbClr val="142B33"/>
                </a:solidFill>
                <a:latin typeface="Calibri"/>
              </a:rPr>
              <a:t> y la cadena </a:t>
            </a:r>
            <a:r>
              <a:rPr sz="1600" b="1">
                <a:solidFill>
                  <a:srgbClr val="142B33"/>
                </a:solidFill>
                <a:latin typeface="Calibri"/>
              </a:rPr>
              <a:t>BD + CE + FG</a:t>
            </a:r>
            <a:r>
              <a:rPr sz="1600" b="0">
                <a:solidFill>
                  <a:srgbClr val="142B33"/>
                </a:solidFill>
                <a:latin typeface="Calibri"/>
              </a:rPr>
              <a:t>, que es razonable atribuir a BD. Diseño combinado: 2</a:t>
            </a:r>
            <a:r>
              <a:rPr sz="1600" b="0" baseline="30000">
                <a:solidFill>
                  <a:srgbClr val="142B33"/>
                </a:solidFill>
                <a:latin typeface="Calibri"/>
              </a:rPr>
              <a:t>7−3</a:t>
            </a:r>
            <a:r>
              <a:rPr sz="1600" b="0">
                <a:solidFill>
                  <a:srgbClr val="142B33"/>
                </a:solidFill>
                <a:latin typeface="Calibri"/>
              </a:rPr>
              <a:t> de resolución </a:t>
            </a:r>
            <a:r>
              <a:rPr sz="1600" b="1">
                <a:solidFill>
                  <a:srgbClr val="142B33"/>
                </a:solidFill>
                <a:latin typeface="Calibri"/>
              </a:rPr>
              <a:t>IV</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92</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relación de definición del diseño combinado?</a:t>
            </a:r>
          </a:p>
        </p:txBody>
      </p:sp>
      <p:graphicFrame>
        <p:nvGraphicFramePr>
          <p:cNvPr id="3" name="Table 2"/>
          <p:cNvGraphicFramePr>
            <a:graphicFrameLocks noGrp="1"/>
          </p:cNvGraphicFramePr>
          <p:nvPr/>
        </p:nvGraphicFramePr>
        <p:xfrm>
          <a:off x="548640" y="1417320"/>
          <a:ext cx="4807319" cy="1756410"/>
        </p:xfrm>
        <a:graphic>
          <a:graphicData uri="http://schemas.openxmlformats.org/drawingml/2006/table">
            <a:tbl>
              <a:tblPr firstRow="0" bandRow="0">
                <a:tableStyleId>{5C22544A-7EE6-4342-B048-85BDC9FD1C3A}</a:tableStyleId>
              </a:tblPr>
              <a:tblGrid>
                <a:gridCol w="688272"/>
                <a:gridCol w="1916575"/>
                <a:gridCol w="1090647"/>
                <a:gridCol w="1111825"/>
              </a:tblGrid>
              <a:tr h="351282">
                <a:tc>
                  <a:txBody>
                    <a:bodyPr/>
                    <a:lstStyle/>
                    <a:p>
                      <a:pPr algn="ctr"/>
                    </a:p>
                  </a:txBody>
                  <a:tcPr marL="73152" marR="73152" marT="27432" marB="27432" anchor="ctr">
                    <a:solidFill>
                      <a:srgbClr val="0F4C5C"/>
                    </a:solidFill>
                  </a:tcPr>
                </a:tc>
                <a:tc>
                  <a:txBody>
                    <a:bodyPr/>
                    <a:lstStyle/>
                    <a:p>
                      <a:pPr algn="ctr"/>
                      <a:r>
                        <a:rPr sz="1500" b="1">
                          <a:solidFill>
                            <a:srgbClr val="FFFFFF"/>
                          </a:solidFill>
                          <a:latin typeface="Calibri"/>
                        </a:rPr>
                        <a:t>1.ª fracción</a:t>
                      </a:r>
                    </a:p>
                  </a:txBody>
                  <a:tcPr marL="73152" marR="73152" marT="27432" marB="27432" anchor="ctr">
                    <a:solidFill>
                      <a:srgbClr val="0F4C5C"/>
                    </a:solidFill>
                  </a:tcPr>
                </a:tc>
                <a:tc>
                  <a:txBody>
                    <a:bodyPr/>
                    <a:lstStyle/>
                    <a:p>
                      <a:pPr algn="ctr"/>
                      <a:r>
                        <a:rPr sz="1500" b="1">
                          <a:solidFill>
                            <a:srgbClr val="FFFFFF"/>
                          </a:solidFill>
                          <a:latin typeface="Calibri"/>
                        </a:rPr>
                        <a:t>Doblez</a:t>
                      </a:r>
                    </a:p>
                  </a:txBody>
                  <a:tcPr marL="73152" marR="73152" marT="27432" marB="27432" anchor="ctr">
                    <a:solidFill>
                      <a:srgbClr val="0F4C5C"/>
                    </a:solidFill>
                  </a:tcPr>
                </a:tc>
                <a:tc>
                  <a:txBody>
                    <a:bodyPr/>
                    <a:lstStyle/>
                    <a:p>
                      <a:pPr algn="ctr"/>
                      <a:r>
                        <a:rPr sz="1500" b="1">
                          <a:solidFill>
                            <a:srgbClr val="FFFFFF"/>
                          </a:solidFill>
                          <a:latin typeface="Calibri"/>
                        </a:rPr>
                        <a:t>Signo</a:t>
                      </a:r>
                    </a:p>
                  </a:txBody>
                  <a:tcPr marL="73152" marR="73152" marT="27432" marB="27432" anchor="ctr">
                    <a:solidFill>
                      <a:srgbClr val="0F4C5C"/>
                    </a:solidFill>
                  </a:tcPr>
                </a:tc>
              </a:tr>
              <a:tr h="351282">
                <a:tc>
                  <a:txBody>
                    <a:bodyPr/>
                    <a:lstStyle/>
                    <a:p>
                      <a:pPr algn="ctr"/>
                      <a:r>
                        <a:rPr sz="1500" b="0">
                          <a:solidFill>
                            <a:srgbClr val="142B33"/>
                          </a:solidFill>
                          <a:latin typeface="Calibri"/>
                        </a:rPr>
                        <a:t>ABD</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tr>
              <a:tr h="351282">
                <a:tc>
                  <a:txBody>
                    <a:bodyPr/>
                    <a:lstStyle/>
                    <a:p>
                      <a:pPr algn="ctr"/>
                      <a:r>
                        <a:rPr sz="1500" b="0">
                          <a:solidFill>
                            <a:srgbClr val="142B33"/>
                          </a:solidFill>
                          <a:latin typeface="Calibri"/>
                        </a:rPr>
                        <a:t>ACE</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distinto</a:t>
                      </a:r>
                    </a:p>
                  </a:txBody>
                  <a:tcPr marL="73152" marR="73152" marT="27432" marB="27432" anchor="ctr">
                    <a:solidFill>
                      <a:srgbClr val="F4F8F9"/>
                    </a:solidFill>
                  </a:tcPr>
                </a:tc>
              </a:tr>
              <a:tr h="351282">
                <a:tc>
                  <a:txBody>
                    <a:bodyPr/>
                    <a:lstStyle/>
                    <a:p>
                      <a:pPr algn="ctr"/>
                      <a:r>
                        <a:rPr sz="1500" b="0">
                          <a:solidFill>
                            <a:srgbClr val="142B33"/>
                          </a:solidFill>
                          <a:latin typeface="Calibri"/>
                        </a:rPr>
                        <a:t>BCF</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tr>
              <a:tr h="351282">
                <a:tc>
                  <a:txBody>
                    <a:bodyPr/>
                    <a:lstStyle/>
                    <a:p>
                      <a:pPr algn="ctr"/>
                      <a:r>
                        <a:rPr sz="1500" b="0">
                          <a:solidFill>
                            <a:srgbClr val="142B33"/>
                          </a:solidFill>
                          <a:latin typeface="Calibri"/>
                        </a:rPr>
                        <a:t>ABCG</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igual</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4807320"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L = 1,  U = 3  ⇒  L + U − 1 = 3 generadores</a:t>
            </a:r>
          </a:p>
        </p:txBody>
      </p:sp>
      <p:sp>
        <p:nvSpPr>
          <p:cNvPr id="5" name="Rounded Rectangle 4"/>
          <p:cNvSpPr/>
          <p:nvPr/>
        </p:nvSpPr>
        <p:spPr>
          <a:xfrm>
            <a:off x="57674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ABCG,   (ABD)(ACE) = BCDE,   (ABD)(BCF) = ACDF</a:t>
            </a:r>
          </a:p>
        </p:txBody>
      </p:sp>
      <p:sp>
        <p:nvSpPr>
          <p:cNvPr id="6" name="Rounded Rectangle 5"/>
          <p:cNvSpPr/>
          <p:nvPr/>
        </p:nvSpPr>
        <p:spPr>
          <a:xfrm>
            <a:off x="5767440" y="2170460"/>
            <a:ext cx="5875614"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I = ABCG = BCDE = ACDF = ADEG</a:t>
            </a:r>
          </a:p>
          <a:p>
            <a:pPr algn="ctr"/>
            <a:r>
              <a:rPr sz="1800" b="0">
                <a:solidFill>
                  <a:srgbClr val="0F4C5C"/>
                </a:solidFill>
                <a:latin typeface="Cambria Math"/>
              </a:rPr>
              <a:t>= BDFG = ABEF = CEFG</a:t>
            </a:r>
          </a:p>
        </p:txBody>
      </p:sp>
      <p:sp>
        <p:nvSpPr>
          <p:cNvPr id="7" name="Rounded Rectangle 6"/>
          <p:cNvSpPr/>
          <p:nvPr/>
        </p:nvSpPr>
        <p:spPr>
          <a:xfrm>
            <a:off x="5767440" y="3270666"/>
            <a:ext cx="5875614"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Siete palabras de 4 letras: </a:t>
            </a:r>
            <a:r>
              <a:rPr sz="1600" b="1">
                <a:solidFill>
                  <a:srgbClr val="142B33"/>
                </a:solidFill>
                <a:latin typeface="Calibri"/>
              </a:rPr>
              <a:t>2</a:t>
            </a:r>
            <a:r>
              <a:rPr sz="1600" b="1" baseline="30000">
                <a:solidFill>
                  <a:srgbClr val="142B33"/>
                </a:solidFill>
                <a:latin typeface="Calibri"/>
              </a:rPr>
              <a:t>7−3</a:t>
            </a:r>
            <a:r>
              <a:rPr sz="1600" b="1" baseline="-25000">
                <a:solidFill>
                  <a:srgbClr val="142B33"/>
                </a:solidFill>
                <a:latin typeface="Calibri"/>
              </a:rPr>
              <a:t>IV</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93</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diseños de Plackett-Burman?</a:t>
            </a:r>
          </a:p>
        </p:txBody>
      </p:sp>
      <p:sp>
        <p:nvSpPr>
          <p:cNvPr id="3" name="TextBox 2"/>
          <p:cNvSpPr txBox="1"/>
          <p:nvPr/>
        </p:nvSpPr>
        <p:spPr>
          <a:xfrm>
            <a:off x="548640" y="1417320"/>
            <a:ext cx="5555126" cy="19202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III para </a:t>
            </a:r>
            <a:r>
              <a:rPr sz="1800" b="1">
                <a:solidFill>
                  <a:srgbClr val="142B33"/>
                </a:solidFill>
                <a:latin typeface="Calibri"/>
              </a:rPr>
              <a:t>k = N − 1</a:t>
            </a:r>
            <a:r>
              <a:rPr sz="1800" b="0">
                <a:solidFill>
                  <a:srgbClr val="142B33"/>
                </a:solidFill>
                <a:latin typeface="Calibri"/>
              </a:rPr>
              <a:t> factores en N corridas</a:t>
            </a:r>
          </a:p>
          <a:p>
            <a:pPr marL="320040" indent="-320040">
              <a:spcAft>
                <a:spcPts val="600"/>
              </a:spcAft>
              <a:buClr>
                <a:srgbClr val="E36414"/>
              </a:buClr>
              <a:buFont typeface="Arial"/>
              <a:buChar char="•"/>
            </a:pPr>
            <a:r>
              <a:rPr sz="1800" b="0">
                <a:solidFill>
                  <a:srgbClr val="142B33"/>
                </a:solidFill>
                <a:latin typeface="Calibri"/>
              </a:rPr>
              <a:t>N </a:t>
            </a:r>
            <a:r>
              <a:rPr sz="1800" b="1">
                <a:solidFill>
                  <a:srgbClr val="142B33"/>
                </a:solidFill>
                <a:latin typeface="Calibri"/>
              </a:rPr>
              <a:t>múltiplo de 4</a:t>
            </a:r>
            <a:r>
              <a:rPr sz="1800" b="0">
                <a:solidFill>
                  <a:srgbClr val="142B33"/>
                </a:solidFill>
                <a:latin typeface="Calibri"/>
              </a:rPr>
              <a:t>: 12, 20, 24, 28, 36</a:t>
            </a:r>
          </a:p>
          <a:p>
            <a:pPr marL="320040" indent="-320040">
              <a:spcAft>
                <a:spcPts val="600"/>
              </a:spcAft>
              <a:buClr>
                <a:srgbClr val="E36414"/>
              </a:buClr>
              <a:buFont typeface="Arial"/>
              <a:buChar char="•"/>
            </a:pPr>
            <a:r>
              <a:rPr sz="1800" b="0">
                <a:solidFill>
                  <a:srgbClr val="142B33"/>
                </a:solidFill>
                <a:latin typeface="Calibri"/>
              </a:rPr>
              <a:t>Para N = 12, 20, 24 y 36 se construye </a:t>
            </a:r>
            <a:r>
              <a:rPr sz="1800" b="1">
                <a:solidFill>
                  <a:srgbClr val="142B33"/>
                </a:solidFill>
                <a:latin typeface="Calibri"/>
              </a:rPr>
              <a:t>desplazando cíclicamente</a:t>
            </a:r>
            <a:r>
              <a:rPr sz="1800" b="0">
                <a:solidFill>
                  <a:srgbClr val="142B33"/>
                </a:solidFill>
                <a:latin typeface="Calibri"/>
              </a:rPr>
              <a:t> un renglón generador y agregando un renglón de signos −</a:t>
            </a:r>
          </a:p>
        </p:txBody>
      </p:sp>
      <p:graphicFrame>
        <p:nvGraphicFramePr>
          <p:cNvPr id="4" name="Table 3"/>
          <p:cNvGraphicFramePr>
            <a:graphicFrameLocks noGrp="1"/>
          </p:cNvGraphicFramePr>
          <p:nvPr/>
        </p:nvGraphicFramePr>
        <p:xfrm>
          <a:off x="548640" y="3538728"/>
          <a:ext cx="5555125" cy="1343152"/>
        </p:xfrm>
        <a:graphic>
          <a:graphicData uri="http://schemas.openxmlformats.org/drawingml/2006/table">
            <a:tbl>
              <a:tblPr firstRow="0" bandRow="0">
                <a:tableStyleId>{5C22544A-7EE6-4342-B048-85BDC9FD1C3A}</a:tableStyleId>
              </a:tblPr>
              <a:tblGrid>
                <a:gridCol w="555512"/>
                <a:gridCol w="4999613"/>
              </a:tblGrid>
              <a:tr h="335788">
                <a:tc>
                  <a:txBody>
                    <a:bodyPr/>
                    <a:lstStyle/>
                    <a:p>
                      <a:pPr algn="ctr"/>
                      <a:r>
                        <a:rPr sz="1400" b="1">
                          <a:solidFill>
                            <a:srgbClr val="FFFFFF"/>
                          </a:solidFill>
                          <a:latin typeface="Calibri"/>
                        </a:rPr>
                        <a:t>N</a:t>
                      </a:r>
                    </a:p>
                  </a:txBody>
                  <a:tcPr marL="73152" marR="73152" marT="27432" marB="27432" anchor="ctr">
                    <a:solidFill>
                      <a:srgbClr val="0F4C5C"/>
                    </a:solidFill>
                  </a:tcPr>
                </a:tc>
                <a:tc>
                  <a:txBody>
                    <a:bodyPr/>
                    <a:lstStyle/>
                    <a:p>
                      <a:pPr algn="ctr"/>
                      <a:r>
                        <a:rPr sz="1400" b="1">
                          <a:solidFill>
                            <a:srgbClr val="FFFFFF"/>
                          </a:solidFill>
                          <a:latin typeface="Calibri"/>
                        </a:rPr>
                        <a:t>Renglón generador</a:t>
                      </a:r>
                    </a:p>
                  </a:txBody>
                  <a:tcPr marL="73152" marR="73152" marT="27432" marB="27432" anchor="ctr">
                    <a:solidFill>
                      <a:srgbClr val="0F4C5C"/>
                    </a:solidFill>
                  </a:tcPr>
                </a:tc>
              </a:tr>
              <a:tr h="335788">
                <a:tc>
                  <a:txBody>
                    <a:bodyPr/>
                    <a:lstStyle/>
                    <a:p>
                      <a:pPr algn="ctr"/>
                      <a:r>
                        <a:rPr sz="1400" b="0">
                          <a:solidFill>
                            <a:srgbClr val="142B33"/>
                          </a:solidFill>
                          <a:latin typeface="Calibri"/>
                        </a:rPr>
                        <a:t>12</a:t>
                      </a:r>
                    </a:p>
                  </a:txBody>
                  <a:tcPr marL="73152" marR="73152" marT="27432" marB="27432" anchor="ctr">
                    <a:solidFill>
                      <a:srgbClr val="FFFFFF"/>
                    </a:solidFill>
                  </a:tcPr>
                </a:tc>
                <a:tc>
                  <a:txBody>
                    <a:bodyPr/>
                    <a:lstStyle/>
                    <a:p>
                      <a:pPr algn="ctr"/>
                      <a:r>
                        <a:rPr sz="1400" b="0">
                          <a:solidFill>
                            <a:srgbClr val="142B33"/>
                          </a:solidFill>
                          <a:latin typeface="Calibri"/>
                        </a:rPr>
                        <a:t>+ + − + + + − − − + −</a:t>
                      </a:r>
                    </a:p>
                  </a:txBody>
                  <a:tcPr marL="73152" marR="73152" marT="27432" marB="27432" anchor="ctr">
                    <a:solidFill>
                      <a:srgbClr val="FFFFFF"/>
                    </a:solidFill>
                  </a:tcPr>
                </a:tc>
              </a:tr>
              <a:tr h="335788">
                <a:tc>
                  <a:txBody>
                    <a:bodyPr/>
                    <a:lstStyle/>
                    <a:p>
                      <a:pPr algn="ctr"/>
                      <a:r>
                        <a:rPr sz="1400" b="0">
                          <a:solidFill>
                            <a:srgbClr val="142B33"/>
                          </a:solidFill>
                          <a:latin typeface="Calibri"/>
                        </a:rPr>
                        <a:t>20</a:t>
                      </a:r>
                    </a:p>
                  </a:txBody>
                  <a:tcPr marL="73152" marR="73152" marT="27432" marB="27432" anchor="ctr">
                    <a:solidFill>
                      <a:srgbClr val="F4F8F9"/>
                    </a:solidFill>
                  </a:tcPr>
                </a:tc>
                <a:tc>
                  <a:txBody>
                    <a:bodyPr/>
                    <a:lstStyle/>
                    <a:p>
                      <a:pPr algn="ctr"/>
                      <a:r>
                        <a:rPr sz="1400" b="0">
                          <a:solidFill>
                            <a:srgbClr val="142B33"/>
                          </a:solidFill>
                          <a:latin typeface="Calibri"/>
                        </a:rPr>
                        <a:t>+ + − − + + + + − + − + − − − − + + −</a:t>
                      </a:r>
                    </a:p>
                  </a:txBody>
                  <a:tcPr marL="73152" marR="73152" marT="27432" marB="27432" anchor="ctr">
                    <a:solidFill>
                      <a:srgbClr val="F4F8F9"/>
                    </a:solidFill>
                  </a:tcPr>
                </a:tc>
              </a:tr>
              <a:tr h="335788">
                <a:tc>
                  <a:txBody>
                    <a:bodyPr/>
                    <a:lstStyle/>
                    <a:p>
                      <a:pPr algn="ctr"/>
                      <a:r>
                        <a:rPr sz="1400" b="0">
                          <a:solidFill>
                            <a:srgbClr val="142B33"/>
                          </a:solidFill>
                          <a:latin typeface="Calibri"/>
                        </a:rPr>
                        <a:t>24</a:t>
                      </a:r>
                    </a:p>
                  </a:txBody>
                  <a:tcPr marL="73152" marR="73152" marT="27432" marB="27432" anchor="ctr">
                    <a:solidFill>
                      <a:srgbClr val="FFFFFF"/>
                    </a:solidFill>
                  </a:tcPr>
                </a:tc>
                <a:tc>
                  <a:txBody>
                    <a:bodyPr/>
                    <a:lstStyle/>
                    <a:p>
                      <a:pPr algn="ctr"/>
                      <a:r>
                        <a:rPr sz="1400" b="0">
                          <a:solidFill>
                            <a:srgbClr val="142B33"/>
                          </a:solidFill>
                          <a:latin typeface="Calibri"/>
                        </a:rPr>
                        <a:t>+ + + + + − + − + + − − + + − − + − + − − − −</a:t>
                      </a:r>
                    </a:p>
                  </a:txBody>
                  <a:tcPr marL="73152" marR="73152" marT="27432" marB="27432" anchor="ctr">
                    <a:solidFill>
                      <a:srgbClr val="FFFFFF"/>
                    </a:solidFill>
                  </a:tcPr>
                </a:tc>
              </a:tr>
            </a:tbl>
          </a:graphicData>
        </a:graphic>
      </p:graphicFrame>
      <p:sp>
        <p:nvSpPr>
          <p:cNvPr id="5" name="Rounded Rectangle 4"/>
          <p:cNvSpPr/>
          <p:nvPr/>
        </p:nvSpPr>
        <p:spPr>
          <a:xfrm>
            <a:off x="6515246" y="1417320"/>
            <a:ext cx="5127808"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Alias parciales</a:t>
            </a:r>
          </a:p>
          <a:p>
            <a:pPr algn="l"/>
            <a:r>
              <a:rPr sz="1400" b="0">
                <a:solidFill>
                  <a:srgbClr val="142B33"/>
                </a:solidFill>
                <a:latin typeface="Calibri"/>
              </a:rPr>
              <a:t>En el de 12 corridas cada principal es alias </a:t>
            </a:r>
            <a:r>
              <a:rPr sz="1400" b="1">
                <a:solidFill>
                  <a:srgbClr val="142B33"/>
                </a:solidFill>
                <a:latin typeface="Calibri"/>
              </a:rPr>
              <a:t>parcial</a:t>
            </a:r>
            <a:r>
              <a:rPr sz="1400" b="0">
                <a:solidFill>
                  <a:srgbClr val="142B33"/>
                </a:solidFill>
                <a:latin typeface="Calibri"/>
              </a:rPr>
              <a:t> (con peso fraccionario) de 45 interacciones dobles; una interacción real puede aparecer como </a:t>
            </a:r>
            <a:r>
              <a:rPr sz="1400" b="1">
                <a:solidFill>
                  <a:srgbClr val="142B33"/>
                </a:solidFill>
                <a:latin typeface="Calibri"/>
              </a:rPr>
              <a:t>varios</a:t>
            </a:r>
            <a:r>
              <a:rPr sz="1400" b="0">
                <a:solidFill>
                  <a:srgbClr val="142B33"/>
                </a:solidFill>
                <a:latin typeface="Calibri"/>
              </a:rPr>
              <a:t> falsos principales</a:t>
            </a:r>
          </a:p>
        </p:txBody>
      </p:sp>
      <p:sp>
        <p:nvSpPr>
          <p:cNvPr id="6" name="Rounded Rectangle 5"/>
          <p:cNvSpPr/>
          <p:nvPr/>
        </p:nvSpPr>
        <p:spPr>
          <a:xfrm>
            <a:off x="6515246" y="3282696"/>
            <a:ext cx="5127808"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Proyectividad 3</a:t>
            </a:r>
          </a:p>
          <a:p>
            <a:pPr algn="l"/>
            <a:r>
              <a:rPr sz="1400" b="0">
                <a:solidFill>
                  <a:srgbClr val="142B33"/>
                </a:solidFill>
                <a:latin typeface="Calibri"/>
              </a:rPr>
              <a:t>En cualquier par: 3 réplicas de un 2</a:t>
            </a:r>
            <a:r>
              <a:rPr sz="1400" b="0" baseline="30000">
                <a:solidFill>
                  <a:srgbClr val="142B33"/>
                </a:solidFill>
                <a:latin typeface="Calibri"/>
              </a:rPr>
              <a:t>2</a:t>
            </a:r>
            <a:r>
              <a:rPr sz="1400" b="0">
                <a:solidFill>
                  <a:srgbClr val="142B33"/>
                </a:solidFill>
                <a:latin typeface="Calibri"/>
              </a:rPr>
              <a:t>; en cualquier trío: un 2</a:t>
            </a:r>
            <a:r>
              <a:rPr sz="1400" b="0" baseline="30000">
                <a:solidFill>
                  <a:srgbClr val="142B33"/>
                </a:solidFill>
                <a:latin typeface="Calibri"/>
              </a:rPr>
              <a:t>3</a:t>
            </a:r>
            <a:r>
              <a:rPr sz="1400" b="0">
                <a:solidFill>
                  <a:srgbClr val="142B33"/>
                </a:solidFill>
                <a:latin typeface="Calibri"/>
              </a:rPr>
              <a:t> completo + un 2</a:t>
            </a:r>
            <a:r>
              <a:rPr sz="1400" b="0" baseline="30000">
                <a:solidFill>
                  <a:srgbClr val="142B33"/>
                </a:solidFill>
                <a:latin typeface="Calibri"/>
              </a:rPr>
              <a:t>3−1</a:t>
            </a:r>
            <a:r>
              <a:rPr sz="1400" b="0">
                <a:solidFill>
                  <a:srgbClr val="142B33"/>
                </a:solidFill>
                <a:latin typeface="Calibri"/>
              </a:rPr>
              <a:t> (no balanceado). Un 2</a:t>
            </a:r>
            <a:r>
              <a:rPr sz="1400" b="0" baseline="30000">
                <a:solidFill>
                  <a:srgbClr val="142B33"/>
                </a:solidFill>
                <a:latin typeface="Calibri"/>
              </a:rPr>
              <a:t>k−p</a:t>
            </a:r>
            <a:r>
              <a:rPr sz="1400" b="0" baseline="-25000">
                <a:solidFill>
                  <a:srgbClr val="142B33"/>
                </a:solidFill>
                <a:latin typeface="Calibri"/>
              </a:rPr>
              <a:t>III</a:t>
            </a:r>
            <a:r>
              <a:rPr sz="1400" b="0">
                <a:solidFill>
                  <a:srgbClr val="142B33"/>
                </a:solidFill>
                <a:latin typeface="Calibri"/>
              </a:rPr>
              <a:t> solo tiene proyectividad 2</a:t>
            </a:r>
          </a:p>
        </p:txBody>
      </p:sp>
      <p:sp>
        <p:nvSpPr>
          <p:cNvPr id="7" name="TextBox 6"/>
          <p:cNvSpPr txBox="1"/>
          <p:nvPr/>
        </p:nvSpPr>
        <p:spPr>
          <a:xfrm>
            <a:off x="6515246" y="5120640"/>
            <a:ext cx="5127808" cy="77952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Úselos </a:t>
            </a:r>
            <a:r>
              <a:rPr sz="1500" b="1">
                <a:solidFill>
                  <a:srgbClr val="142B33"/>
                </a:solidFill>
                <a:latin typeface="Calibri"/>
              </a:rPr>
              <a:t>con mucho cuidado</a:t>
            </a:r>
            <a:r>
              <a:rPr sz="1500" b="0">
                <a:solidFill>
                  <a:srgbClr val="142B33"/>
                </a:solidFill>
                <a:latin typeface="Calibri"/>
              </a:rPr>
              <a:t>, para tamizado sin interacciones esperadas; un </a:t>
            </a:r>
            <a:r>
              <a:rPr sz="1500" b="1">
                <a:solidFill>
                  <a:srgbClr val="142B33"/>
                </a:solidFill>
                <a:latin typeface="Calibri"/>
              </a:rPr>
              <a:t>2</a:t>
            </a:r>
            <a:r>
              <a:rPr sz="1500" b="1" baseline="30000">
                <a:solidFill>
                  <a:srgbClr val="142B33"/>
                </a:solidFill>
                <a:latin typeface="Calibri"/>
              </a:rPr>
              <a:t>k−p</a:t>
            </a:r>
            <a:r>
              <a:rPr sz="1500" b="0">
                <a:solidFill>
                  <a:srgbClr val="142B33"/>
                </a:solidFill>
                <a:latin typeface="Calibri"/>
              </a:rPr>
              <a:t> de tamaño parecido puede ser mejor elección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94</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construye un Plackett-Burman de 12 corridas?</a:t>
            </a:r>
          </a:p>
        </p:txBody>
      </p:sp>
      <p:graphicFrame>
        <p:nvGraphicFramePr>
          <p:cNvPr id="3" name="Table 2"/>
          <p:cNvGraphicFramePr>
            <a:graphicFrameLocks noGrp="1"/>
          </p:cNvGraphicFramePr>
          <p:nvPr/>
        </p:nvGraphicFramePr>
        <p:xfrm>
          <a:off x="548640" y="1417320"/>
          <a:ext cx="7050727" cy="3130283"/>
        </p:xfrm>
        <a:graphic>
          <a:graphicData uri="http://schemas.openxmlformats.org/drawingml/2006/table">
            <a:tbl>
              <a:tblPr firstRow="0" bandRow="0">
                <a:tableStyleId>{5C22544A-7EE6-4342-B048-85BDC9FD1C3A}</a:tableStyleId>
              </a:tblPr>
              <a:tblGrid>
                <a:gridCol w="1531620"/>
                <a:gridCol w="501737"/>
                <a:gridCol w="501737"/>
                <a:gridCol w="501737"/>
                <a:gridCol w="501737"/>
                <a:gridCol w="501737"/>
                <a:gridCol w="501737"/>
                <a:gridCol w="501737"/>
                <a:gridCol w="501737"/>
                <a:gridCol w="501737"/>
                <a:gridCol w="501737"/>
                <a:gridCol w="501737"/>
              </a:tblGrid>
              <a:tr h="240791">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F</a:t>
                      </a:r>
                    </a:p>
                  </a:txBody>
                  <a:tcPr marL="73152" marR="73152" marT="27432" marB="27432" anchor="ctr">
                    <a:solidFill>
                      <a:srgbClr val="0F4C5C"/>
                    </a:solidFill>
                  </a:tcPr>
                </a:tc>
                <a:tc>
                  <a:txBody>
                    <a:bodyPr/>
                    <a:lstStyle/>
                    <a:p>
                      <a:pPr algn="ctr"/>
                      <a:r>
                        <a:rPr sz="1200" b="1">
                          <a:solidFill>
                            <a:srgbClr val="FFFFFF"/>
                          </a:solidFill>
                          <a:latin typeface="Calibri"/>
                        </a:rPr>
                        <a:t>G</a:t>
                      </a:r>
                    </a:p>
                  </a:txBody>
                  <a:tcPr marL="73152" marR="73152" marT="27432" marB="27432" anchor="ctr">
                    <a:solidFill>
                      <a:srgbClr val="0F4C5C"/>
                    </a:solidFill>
                  </a:tcPr>
                </a:tc>
                <a:tc>
                  <a:txBody>
                    <a:bodyPr/>
                    <a:lstStyle/>
                    <a:p>
                      <a:pPr algn="ctr"/>
                      <a:r>
                        <a:rPr sz="1200" b="1">
                          <a:solidFill>
                            <a:srgbClr val="FFFFFF"/>
                          </a:solidFill>
                          <a:latin typeface="Calibri"/>
                        </a:rPr>
                        <a:t>H</a:t>
                      </a:r>
                    </a:p>
                  </a:txBody>
                  <a:tcPr marL="73152" marR="73152" marT="27432" marB="27432" anchor="ctr">
                    <a:solidFill>
                      <a:srgbClr val="0F4C5C"/>
                    </a:solidFill>
                  </a:tcPr>
                </a:tc>
                <a:tc>
                  <a:txBody>
                    <a:bodyPr/>
                    <a:lstStyle/>
                    <a:p>
                      <a:pPr algn="ctr"/>
                      <a:r>
                        <a:rPr sz="1200" b="1">
                          <a:solidFill>
                            <a:srgbClr val="FFFFFF"/>
                          </a:solidFill>
                          <a:latin typeface="Calibri"/>
                        </a:rPr>
                        <a:t>J</a:t>
                      </a:r>
                    </a:p>
                  </a:txBody>
                  <a:tcPr marL="73152" marR="73152" marT="27432" marB="27432" anchor="ctr">
                    <a:solidFill>
                      <a:srgbClr val="0F4C5C"/>
                    </a:solidFill>
                  </a:tcPr>
                </a:tc>
                <a:tc>
                  <a:txBody>
                    <a:bodyPr/>
                    <a:lstStyle/>
                    <a:p>
                      <a:pPr algn="ctr"/>
                      <a:r>
                        <a:rPr sz="1200" b="1">
                          <a:solidFill>
                            <a:srgbClr val="FFFFFF"/>
                          </a:solidFill>
                          <a:latin typeface="Calibri"/>
                        </a:rPr>
                        <a:t>K</a:t>
                      </a:r>
                    </a:p>
                  </a:txBody>
                  <a:tcPr marL="73152" marR="73152" marT="27432" marB="27432" anchor="ctr">
                    <a:solidFill>
                      <a:srgbClr val="0F4C5C"/>
                    </a:solidFill>
                  </a:tcPr>
                </a:tc>
                <a:tc>
                  <a:txBody>
                    <a:bodyPr/>
                    <a:lstStyle/>
                    <a:p>
                      <a:pPr algn="ctr"/>
                      <a:r>
                        <a:rPr sz="1200" b="1">
                          <a:solidFill>
                            <a:srgbClr val="FFFFFF"/>
                          </a:solidFill>
                          <a:latin typeface="Calibri"/>
                        </a:rPr>
                        <a:t>L</a:t>
                      </a:r>
                    </a:p>
                  </a:txBody>
                  <a:tcPr marL="73152" marR="73152" marT="27432" marB="27432" anchor="ctr">
                    <a:solidFill>
                      <a:srgbClr val="0F4C5C"/>
                    </a:solidFill>
                  </a:tcPr>
                </a:tc>
              </a:tr>
              <a:tr h="240791">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8010857" y="1417320"/>
            <a:ext cx="3632197"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el </a:t>
            </a:r>
            <a:r>
              <a:rPr sz="1500" b="1">
                <a:solidFill>
                  <a:srgbClr val="142B33"/>
                </a:solidFill>
                <a:latin typeface="Calibri"/>
              </a:rPr>
              <a:t>renglón generador</a:t>
            </a:r>
            <a:r>
              <a:rPr sz="1500" b="0">
                <a:solidFill>
                  <a:srgbClr val="142B33"/>
                </a:solidFill>
                <a:latin typeface="Calibri"/>
              </a:rPr>
              <a:t> como fila 1</a:t>
            </a:r>
          </a:p>
          <a:p>
            <a:pPr marL="320040" indent="-320040">
              <a:spcAft>
                <a:spcPts val="600"/>
              </a:spcAft>
              <a:buClr>
                <a:srgbClr val="E36414"/>
              </a:buClr>
              <a:buFont typeface="+mj-lt"/>
              <a:buAutoNum type="arabicPeriod"/>
            </a:pPr>
            <a:r>
              <a:rPr sz="1500" b="0">
                <a:solidFill>
                  <a:srgbClr val="142B33"/>
                </a:solidFill>
                <a:latin typeface="Calibri"/>
              </a:rPr>
              <a:t>Desplazar </a:t>
            </a:r>
            <a:r>
              <a:rPr sz="1500" b="1">
                <a:solidFill>
                  <a:srgbClr val="142B33"/>
                </a:solidFill>
                <a:latin typeface="Calibri"/>
              </a:rPr>
              <a:t>una posición</a:t>
            </a:r>
            <a:r>
              <a:rPr sz="1500" b="0">
                <a:solidFill>
                  <a:srgbClr val="142B33"/>
                </a:solidFill>
                <a:latin typeface="Calibri"/>
              </a:rPr>
              <a:t> a la derecha para cada fila nueva</a:t>
            </a:r>
          </a:p>
          <a:p>
            <a:pPr marL="320040" indent="-320040">
              <a:spcAft>
                <a:spcPts val="600"/>
              </a:spcAft>
              <a:buClr>
                <a:srgbClr val="E36414"/>
              </a:buClr>
              <a:buFont typeface="+mj-lt"/>
              <a:buAutoNum type="arabicPeriod"/>
            </a:pPr>
            <a:r>
              <a:rPr sz="1500" b="0">
                <a:solidFill>
                  <a:srgbClr val="142B33"/>
                </a:solidFill>
                <a:latin typeface="Calibri"/>
              </a:rPr>
              <a:t>Repetir hasta </a:t>
            </a:r>
            <a:r>
              <a:rPr sz="1500" b="1">
                <a:solidFill>
                  <a:srgbClr val="142B33"/>
                </a:solidFill>
                <a:latin typeface="Calibri"/>
              </a:rPr>
              <a:t>N − 1</a:t>
            </a:r>
            <a:r>
              <a:rPr sz="1500" b="0">
                <a:solidFill>
                  <a:srgbClr val="142B33"/>
                </a:solidFill>
                <a:latin typeface="Calibri"/>
              </a:rPr>
              <a:t> filas</a:t>
            </a:r>
          </a:p>
          <a:p>
            <a:pPr marL="320040" indent="-320040">
              <a:spcAft>
                <a:spcPts val="600"/>
              </a:spcAft>
              <a:buClr>
                <a:srgbClr val="E36414"/>
              </a:buClr>
              <a:buFont typeface="+mj-lt"/>
              <a:buAutoNum type="arabicPeriod"/>
            </a:pPr>
            <a:r>
              <a:rPr sz="1500" b="0">
                <a:solidFill>
                  <a:srgbClr val="142B33"/>
                </a:solidFill>
                <a:latin typeface="Calibri"/>
              </a:rPr>
              <a:t>Agregar una fila de </a:t>
            </a:r>
            <a:r>
              <a:rPr sz="1500" b="1">
                <a:solidFill>
                  <a:srgbClr val="142B33"/>
                </a:solidFill>
                <a:latin typeface="Calibri"/>
              </a:rPr>
              <a:t>signos −</a:t>
            </a:r>
          </a:p>
        </p:txBody>
      </p:sp>
      <p:sp>
        <p:nvSpPr>
          <p:cNvPr id="5" name="Rounded Rectangle 4"/>
          <p:cNvSpPr/>
          <p:nvPr/>
        </p:nvSpPr>
        <p:spPr>
          <a:xfrm>
            <a:off x="8010857" y="3342132"/>
            <a:ext cx="3632197"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N = 12:  + + − + + + − − − + −</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95</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6 · Enunciado: Plackett-Burman con datos simulados</a:t>
            </a:r>
          </a:p>
        </p:txBody>
      </p:sp>
      <p:sp>
        <p:nvSpPr>
          <p:cNvPr id="3" name="TextBox 2"/>
          <p:cNvSpPr txBox="1"/>
          <p:nvPr/>
        </p:nvSpPr>
        <p:spPr>
          <a:xfrm>
            <a:off x="548640" y="1417320"/>
            <a:ext cx="6196102" cy="1028191"/>
          </a:xfrm>
          <a:prstGeom prst="rect">
            <a:avLst/>
          </a:prstGeom>
          <a:noFill/>
        </p:spPr>
        <p:txBody>
          <a:bodyPr wrap="square" anchor="t" lIns="0" rIns="0" tIns="0" bIns="0">
            <a:spAutoFit/>
          </a:bodyPr>
          <a:lstStyle/>
          <a:p>
            <a:r>
              <a:rPr sz="1600" b="0">
                <a:solidFill>
                  <a:srgbClr val="142B33"/>
                </a:solidFill>
                <a:latin typeface="Calibri"/>
              </a:rPr>
              <a:t>Se quiere tamizar </a:t>
            </a:r>
            <a:r>
              <a:rPr sz="1600" b="1">
                <a:solidFill>
                  <a:srgbClr val="142B33"/>
                </a:solidFill>
                <a:latin typeface="Calibri"/>
              </a:rPr>
              <a:t>11 factores</a:t>
            </a:r>
            <a:r>
              <a:rPr sz="1600" b="0">
                <a:solidFill>
                  <a:srgbClr val="142B33"/>
                </a:solidFill>
                <a:latin typeface="Calibri"/>
              </a:rPr>
              <a:t> (A a L, sin I) con el mínimo de corridas. Un Plackett-Burman de </a:t>
            </a:r>
            <a:r>
              <a:rPr sz="1600" b="1">
                <a:solidFill>
                  <a:srgbClr val="142B33"/>
                </a:solidFill>
                <a:latin typeface="Calibri"/>
              </a:rPr>
              <a:t>12 corridas</a:t>
            </a:r>
            <a:r>
              <a:rPr sz="1600" b="0">
                <a:solidFill>
                  <a:srgbClr val="142B33"/>
                </a:solidFill>
                <a:latin typeface="Calibri"/>
              </a:rPr>
              <a:t> lo permite: es de resolución III y cada interacción doble queda repartida parcialmente sobre varios efectos principales.</a:t>
            </a:r>
          </a:p>
        </p:txBody>
      </p:sp>
      <p:sp>
        <p:nvSpPr>
          <p:cNvPr id="4" name="TextBox 3"/>
          <p:cNvSpPr txBox="1"/>
          <p:nvPr/>
        </p:nvSpPr>
        <p:spPr>
          <a:xfrm>
            <a:off x="548640" y="2646680"/>
            <a:ext cx="6196102" cy="1276096"/>
          </a:xfrm>
          <a:prstGeom prst="rect">
            <a:avLst/>
          </a:prstGeom>
          <a:noFill/>
        </p:spPr>
        <p:txBody>
          <a:bodyPr wrap="square" anchor="t" lIns="0" rIns="0" tIns="0" bIns="0">
            <a:spAutoFit/>
          </a:bodyPr>
          <a:lstStyle/>
          <a:p>
            <a:r>
              <a:rPr sz="1600" b="0">
                <a:solidFill>
                  <a:srgbClr val="142B33"/>
                </a:solidFill>
                <a:latin typeface="Calibri"/>
              </a:rPr>
              <a:t>Para ver qué pasa cuando hay interacciones, Montgomery </a:t>
            </a:r>
            <a:r>
              <a:rPr sz="1600" b="1">
                <a:solidFill>
                  <a:srgbClr val="142B33"/>
                </a:solidFill>
                <a:latin typeface="Calibri"/>
              </a:rPr>
              <a:t>simula</a:t>
            </a:r>
            <a:r>
              <a:rPr sz="1600" b="0">
                <a:solidFill>
                  <a:srgbClr val="142B33"/>
                </a:solidFill>
                <a:latin typeface="Calibri"/>
              </a:rPr>
              <a:t> los datos con un modelo conocido: tres efectos principales activos (A, B y D), dos interacciones (AB y AD) y un error normal de varianza 9. Los demás factores no tienen ningún efecto.</a:t>
            </a:r>
          </a:p>
        </p:txBody>
      </p:sp>
      <p:sp>
        <p:nvSpPr>
          <p:cNvPr id="5" name="TextBox 4"/>
          <p:cNvSpPr txBox="1"/>
          <p:nvPr/>
        </p:nvSpPr>
        <p:spPr>
          <a:xfrm>
            <a:off x="548640" y="4123944"/>
            <a:ext cx="6196102" cy="532384"/>
          </a:xfrm>
          <a:prstGeom prst="rect">
            <a:avLst/>
          </a:prstGeom>
          <a:noFill/>
        </p:spPr>
        <p:txBody>
          <a:bodyPr wrap="square" anchor="t" lIns="0" rIns="0" tIns="0" bIns="0">
            <a:spAutoFit/>
          </a:bodyPr>
          <a:lstStyle/>
          <a:p>
            <a:r>
              <a:rPr sz="1600" b="0">
                <a:solidFill>
                  <a:srgbClr val="142B33"/>
                </a:solidFill>
                <a:latin typeface="Calibri"/>
              </a:rPr>
              <a:t>El analista no conoce ese modelo: solo ve las 12 respuestas y analiza el diseño como se haría en la práctica.</a:t>
            </a:r>
          </a:p>
        </p:txBody>
      </p:sp>
      <p:sp>
        <p:nvSpPr>
          <p:cNvPr id="6" name="TextBox 5"/>
          <p:cNvSpPr txBox="1"/>
          <p:nvPr/>
        </p:nvSpPr>
        <p:spPr>
          <a:xfrm>
            <a:off x="548640" y="4857496"/>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8-8</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Comprobar si el análisis del Plackett-Burman </a:t>
            </a:r>
            <a:r>
              <a:rPr sz="1500" b="1">
                <a:solidFill>
                  <a:srgbClr val="142B33"/>
                </a:solidFill>
                <a:latin typeface="Calibri"/>
              </a:rPr>
              <a:t>recupera el modelo verdadero</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11 efectos principales</a:t>
            </a:r>
          </a:p>
          <a:p>
            <a:pPr marL="320040" indent="-320040">
              <a:spcAft>
                <a:spcPts val="600"/>
              </a:spcAft>
              <a:buClr>
                <a:srgbClr val="E36414"/>
              </a:buClr>
              <a:buFont typeface="+mj-lt"/>
              <a:buAutoNum type="arabicPeriod"/>
            </a:pPr>
            <a:r>
              <a:rPr sz="1500" b="0">
                <a:solidFill>
                  <a:srgbClr val="142B33"/>
                </a:solidFill>
                <a:latin typeface="Calibri"/>
              </a:rPr>
              <a:t>Compararlos con el modelo que generó los datos</a:t>
            </a:r>
          </a:p>
          <a:p>
            <a:pPr marL="320040" indent="-320040">
              <a:spcAft>
                <a:spcPts val="600"/>
              </a:spcAft>
              <a:buClr>
                <a:srgbClr val="E36414"/>
              </a:buClr>
              <a:buFont typeface="+mj-lt"/>
              <a:buAutoNum type="arabicPeriod"/>
            </a:pPr>
            <a:r>
              <a:rPr sz="1500" b="0">
                <a:solidFill>
                  <a:srgbClr val="142B33"/>
                </a:solidFill>
                <a:latin typeface="Calibri"/>
              </a:rPr>
              <a:t>Explicar de dónde salen los efectos falsos</a:t>
            </a:r>
          </a:p>
          <a:p>
            <a:pPr marL="320040" indent="-320040">
              <a:spcAft>
                <a:spcPts val="600"/>
              </a:spcAft>
              <a:buClr>
                <a:srgbClr val="E36414"/>
              </a:buClr>
              <a:buFont typeface="+mj-lt"/>
              <a:buAutoNum type="arabicPeriod"/>
            </a:pPr>
            <a:r>
              <a:rPr sz="1500" b="0">
                <a:solidFill>
                  <a:srgbClr val="142B33"/>
                </a:solidFill>
                <a:latin typeface="Calibri"/>
              </a:rPr>
              <a:t>Decidir qué diseño habría sido mejor</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96</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6 · Plackett-Burman con datos simulados</a:t>
            </a:r>
          </a:p>
        </p:txBody>
      </p:sp>
      <p:sp>
        <p:nvSpPr>
          <p:cNvPr id="3" name="Rounded Rectangle 2"/>
          <p:cNvSpPr/>
          <p:nvPr/>
        </p:nvSpPr>
        <p:spPr>
          <a:xfrm>
            <a:off x="5486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y = 200 + 8x</a:t>
            </a:r>
            <a:r>
              <a:rPr sz="1600" b="0" baseline="-25000">
                <a:solidFill>
                  <a:srgbClr val="0F4C5C"/>
                </a:solidFill>
                <a:latin typeface="Cambria Math"/>
              </a:rPr>
              <a:t>1</a:t>
            </a:r>
            <a:r>
              <a:rPr sz="1600" b="0">
                <a:solidFill>
                  <a:srgbClr val="0F4C5C"/>
                </a:solidFill>
                <a:latin typeface="Cambria Math"/>
              </a:rPr>
              <a:t> + 10x</a:t>
            </a:r>
            <a:r>
              <a:rPr sz="1600" b="0" baseline="-25000">
                <a:solidFill>
                  <a:srgbClr val="0F4C5C"/>
                </a:solidFill>
                <a:latin typeface="Cambria Math"/>
              </a:rPr>
              <a:t>2</a:t>
            </a:r>
            <a:r>
              <a:rPr sz="1600" b="0">
                <a:solidFill>
                  <a:srgbClr val="0F4C5C"/>
                </a:solidFill>
                <a:latin typeface="Cambria Math"/>
              </a:rPr>
              <a:t> + 12x</a:t>
            </a:r>
            <a:r>
              <a:rPr sz="1600" b="0" baseline="-25000">
                <a:solidFill>
                  <a:srgbClr val="0F4C5C"/>
                </a:solidFill>
                <a:latin typeface="Cambria Math"/>
              </a:rPr>
              <a:t>4</a:t>
            </a:r>
            <a:r>
              <a:rPr sz="1600" b="0">
                <a:solidFill>
                  <a:srgbClr val="0F4C5C"/>
                </a:solidFill>
                <a:latin typeface="Cambria Math"/>
              </a:rPr>
              <a:t> − 12x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r>
              <a:rPr sz="1600" b="0">
                <a:solidFill>
                  <a:srgbClr val="0F4C5C"/>
                </a:solidFill>
                <a:latin typeface="Cambria Math"/>
              </a:rPr>
              <a:t> + 9x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4</a:t>
            </a:r>
            <a:r>
              <a:rPr sz="1600" b="0">
                <a:solidFill>
                  <a:srgbClr val="0F4C5C"/>
                </a:solidFill>
                <a:latin typeface="Cambria Math"/>
              </a:rPr>
              <a:t> + ε</a:t>
            </a:r>
          </a:p>
        </p:txBody>
      </p:sp>
      <p:graphicFrame>
        <p:nvGraphicFramePr>
          <p:cNvPr id="4" name="Chart 3"/>
          <p:cNvGraphicFramePr>
            <a:graphicFrameLocks noGrp="1"/>
          </p:cNvGraphicFramePr>
          <p:nvPr/>
        </p:nvGraphicFramePr>
        <p:xfrm>
          <a:off x="548640" y="2170460"/>
          <a:ext cx="5875614" cy="3200400"/>
        </p:xfrm>
        <a:graphic>
          <a:graphicData uri="http://schemas.openxmlformats.org/drawingml/2006/chart">
            <c:chart xmlns:c="http://schemas.openxmlformats.org/drawingml/2006/chart" r:id="rId2"/>
          </a:graphicData>
        </a:graphic>
      </p:graphicFrame>
      <p:sp>
        <p:nvSpPr>
          <p:cNvPr id="5" name="Rounded Rectangle 4"/>
          <p:cNvSpPr/>
          <p:nvPr/>
        </p:nvSpPr>
        <p:spPr>
          <a:xfrm>
            <a:off x="6835734" y="1417320"/>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Lo que es real</a:t>
            </a:r>
          </a:p>
          <a:p>
            <a:pPr algn="l"/>
            <a:r>
              <a:rPr sz="1500" b="1">
                <a:solidFill>
                  <a:srgbClr val="142B33"/>
                </a:solidFill>
                <a:latin typeface="Calibri"/>
              </a:rPr>
              <a:t>A, B, D</a:t>
            </a:r>
            <a:r>
              <a:rPr sz="1500" b="0">
                <a:solidFill>
                  <a:srgbClr val="142B33"/>
                </a:solidFill>
                <a:latin typeface="Calibri"/>
              </a:rPr>
              <a:t>, AB y AD</a:t>
            </a:r>
          </a:p>
        </p:txBody>
      </p:sp>
      <p:sp>
        <p:nvSpPr>
          <p:cNvPr id="6" name="Rounded Rectangle 5"/>
          <p:cNvSpPr/>
          <p:nvPr/>
        </p:nvSpPr>
        <p:spPr>
          <a:xfrm>
            <a:off x="6835734" y="2895346"/>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Lo que aparece</a:t>
            </a:r>
          </a:p>
          <a:p>
            <a:pPr algn="l"/>
            <a:r>
              <a:rPr sz="1500" b="1">
                <a:solidFill>
                  <a:srgbClr val="142B33"/>
                </a:solidFill>
                <a:latin typeface="Calibri"/>
              </a:rPr>
              <a:t>Siete</a:t>
            </a:r>
            <a:r>
              <a:rPr sz="1500" b="0">
                <a:solidFill>
                  <a:srgbClr val="142B33"/>
                </a:solidFill>
                <a:latin typeface="Calibri"/>
              </a:rPr>
              <a:t> efectos grandes: A, B, C, D, E, J y K</a:t>
            </a:r>
          </a:p>
        </p:txBody>
      </p:sp>
      <p:sp>
        <p:nvSpPr>
          <p:cNvPr id="7" name="Rounded Rectangle 6"/>
          <p:cNvSpPr/>
          <p:nvPr/>
        </p:nvSpPr>
        <p:spPr>
          <a:xfrm>
            <a:off x="6835734" y="4373372"/>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Recomendación</a:t>
            </a:r>
          </a:p>
          <a:p>
            <a:pPr algn="l"/>
            <a:r>
              <a:rPr sz="1500" b="0">
                <a:solidFill>
                  <a:srgbClr val="142B33"/>
                </a:solidFill>
                <a:latin typeface="Calibri"/>
              </a:rPr>
              <a:t>Preferir un </a:t>
            </a:r>
            <a:r>
              <a:rPr sz="1500" b="1">
                <a:solidFill>
                  <a:srgbClr val="142B33"/>
                </a:solidFill>
                <a:latin typeface="Calibri"/>
              </a:rPr>
              <a:t>2</a:t>
            </a:r>
            <a:r>
              <a:rPr sz="1500" b="1" baseline="30000">
                <a:solidFill>
                  <a:srgbClr val="142B33"/>
                </a:solidFill>
                <a:latin typeface="Calibri"/>
              </a:rPr>
              <a:t>11−7</a:t>
            </a:r>
            <a:r>
              <a:rPr sz="1500" b="1" baseline="-25000">
                <a:solidFill>
                  <a:srgbClr val="142B33"/>
                </a:solidFill>
                <a:latin typeface="Calibri"/>
              </a:rPr>
              <a:t>III</a:t>
            </a:r>
            <a:r>
              <a:rPr sz="1500" b="0">
                <a:solidFill>
                  <a:srgbClr val="142B33"/>
                </a:solidFill>
                <a:latin typeface="Calibri"/>
              </a:rPr>
              <a:t> de 16 corridas a un PB de 12 que haya que doblar</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97</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Diseños de resolución IV y V</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8</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Diseños mínimos, doblez y fracciones irregulares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de resolución IV y cómo se obtiene de uno de resolución III?</a:t>
            </a:r>
          </a:p>
        </p:txBody>
      </p:sp>
      <p:sp>
        <p:nvSpPr>
          <p:cNvPr id="3" name="TextBox 2"/>
          <p:cNvSpPr txBox="1"/>
          <p:nvPr/>
        </p:nvSpPr>
        <p:spPr>
          <a:xfrm>
            <a:off x="548640" y="1417320"/>
            <a:ext cx="5127808"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Principales </a:t>
            </a:r>
            <a:r>
              <a:rPr sz="1500" b="1">
                <a:solidFill>
                  <a:srgbClr val="142B33"/>
                </a:solidFill>
                <a:latin typeface="Calibri"/>
              </a:rPr>
              <a:t>separados</a:t>
            </a:r>
            <a:r>
              <a:rPr sz="1500" b="0">
                <a:solidFill>
                  <a:srgbClr val="142B33"/>
                </a:solidFill>
                <a:latin typeface="Calibri"/>
              </a:rPr>
              <a:t> de las interacciones dobles; algunas dobles son </a:t>
            </a:r>
            <a:r>
              <a:rPr sz="1500" b="1">
                <a:solidFill>
                  <a:srgbClr val="142B33"/>
                </a:solidFill>
                <a:latin typeface="Calibri"/>
              </a:rPr>
              <a:t>alias entre sí</a:t>
            </a:r>
          </a:p>
          <a:p>
            <a:pPr marL="320040" indent="-320040">
              <a:spcAft>
                <a:spcPts val="600"/>
              </a:spcAft>
              <a:buClr>
                <a:srgbClr val="E36414"/>
              </a:buClr>
              <a:buFont typeface="Arial"/>
              <a:buChar char="•"/>
            </a:pPr>
            <a:r>
              <a:rPr sz="1500" b="0">
                <a:solidFill>
                  <a:srgbClr val="142B33"/>
                </a:solidFill>
                <a:latin typeface="Calibri"/>
              </a:rPr>
              <a:t>Suprimiendo triples, los principales se estiman </a:t>
            </a:r>
            <a:r>
              <a:rPr sz="1500" b="1">
                <a:solidFill>
                  <a:srgbClr val="142B33"/>
                </a:solidFill>
                <a:latin typeface="Calibri"/>
              </a:rPr>
              <a:t>directamente</a:t>
            </a:r>
          </a:p>
          <a:p>
            <a:pPr marL="320040" indent="-320040">
              <a:spcAft>
                <a:spcPts val="600"/>
              </a:spcAft>
              <a:buClr>
                <a:srgbClr val="E36414"/>
              </a:buClr>
              <a:buFont typeface="Arial"/>
              <a:buChar char="•"/>
            </a:pPr>
            <a:r>
              <a:rPr sz="1500" b="0">
                <a:solidFill>
                  <a:srgbClr val="142B33"/>
                </a:solidFill>
                <a:latin typeface="Calibri"/>
              </a:rPr>
              <a:t>Tamaño mínimo </a:t>
            </a:r>
            <a:r>
              <a:rPr sz="1500" b="1">
                <a:solidFill>
                  <a:srgbClr val="142B33"/>
                </a:solidFill>
                <a:latin typeface="Calibri"/>
              </a:rPr>
              <a:t>N ≥ 2k</a:t>
            </a:r>
            <a:r>
              <a:rPr sz="1500" b="0">
                <a:solidFill>
                  <a:srgbClr val="142B33"/>
                </a:solidFill>
                <a:latin typeface="Calibri"/>
              </a:rPr>
              <a:t>; con exactamente 2k corridas se llama diseño </a:t>
            </a:r>
            <a:r>
              <a:rPr sz="1500" b="1">
                <a:solidFill>
                  <a:srgbClr val="142B33"/>
                </a:solidFill>
                <a:latin typeface="Calibri"/>
              </a:rPr>
              <a:t>mínimo</a:t>
            </a:r>
          </a:p>
        </p:txBody>
      </p:sp>
      <p:graphicFrame>
        <p:nvGraphicFramePr>
          <p:cNvPr id="4" name="Table 3"/>
          <p:cNvGraphicFramePr>
            <a:graphicFrameLocks noGrp="1"/>
          </p:cNvGraphicFramePr>
          <p:nvPr/>
        </p:nvGraphicFramePr>
        <p:xfrm>
          <a:off x="548640" y="3259836"/>
          <a:ext cx="5127808" cy="1343152"/>
        </p:xfrm>
        <a:graphic>
          <a:graphicData uri="http://schemas.openxmlformats.org/drawingml/2006/table">
            <a:tbl>
              <a:tblPr firstRow="0" bandRow="0">
                <a:tableStyleId>{5C22544A-7EE6-4342-B048-85BDC9FD1C3A}</a:tableStyleId>
              </a:tblPr>
              <a:tblGrid>
                <a:gridCol w="1924168"/>
                <a:gridCol w="1279472"/>
                <a:gridCol w="1924168"/>
              </a:tblGrid>
              <a:tr h="335788">
                <a:tc>
                  <a:txBody>
                    <a:bodyPr/>
                    <a:lstStyle/>
                    <a:p>
                      <a:pPr algn="ctr"/>
                      <a:r>
                        <a:rPr sz="1400" b="1">
                          <a:solidFill>
                            <a:srgbClr val="FFFFFF"/>
                          </a:solidFill>
                          <a:latin typeface="Calibri"/>
                        </a:rPr>
                        <a:t>Diseño mínimo</a:t>
                      </a:r>
                    </a:p>
                  </a:txBody>
                  <a:tcPr marL="73152" marR="73152" marT="27432" marB="27432" anchor="ctr">
                    <a:solidFill>
                      <a:srgbClr val="0F4C5C"/>
                    </a:solidFill>
                  </a:tcPr>
                </a:tc>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Corridas = 2k</a:t>
                      </a:r>
                    </a:p>
                  </a:txBody>
                  <a:tcPr marL="73152" marR="73152" marT="27432" marB="27432" anchor="ctr">
                    <a:solidFill>
                      <a:srgbClr val="0F4C5C"/>
                    </a:solidFill>
                  </a:tcPr>
                </a:tc>
              </a:tr>
              <a:tr h="335788">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r>
              <a:tr h="335788">
                <a:tc>
                  <a:txBody>
                    <a:bodyPr/>
                    <a:lstStyle/>
                    <a:p>
                      <a:pPr algn="ctr"/>
                      <a:r>
                        <a:rPr sz="1400" b="0">
                          <a:solidFill>
                            <a:srgbClr val="142B33"/>
                          </a:solidFill>
                          <a:latin typeface="Calibri"/>
                        </a:rPr>
                        <a:t>2</a:t>
                      </a:r>
                      <a:r>
                        <a:rPr sz="1400" b="0" baseline="30000">
                          <a:solidFill>
                            <a:srgbClr val="142B33"/>
                          </a:solidFill>
                          <a:latin typeface="Calibri"/>
                        </a:rPr>
                        <a:t>16−11</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r>
            </a:tbl>
          </a:graphicData>
        </a:graphic>
      </p:graphicFrame>
      <p:graphicFrame>
        <p:nvGraphicFramePr>
          <p:cNvPr id="5" name="Table 4"/>
          <p:cNvGraphicFramePr>
            <a:graphicFrameLocks noGrp="1"/>
          </p:cNvGraphicFramePr>
          <p:nvPr/>
        </p:nvGraphicFramePr>
        <p:xfrm>
          <a:off x="6087928" y="1417320"/>
          <a:ext cx="5555124" cy="2388861"/>
        </p:xfrm>
        <a:graphic>
          <a:graphicData uri="http://schemas.openxmlformats.org/drawingml/2006/table">
            <a:tbl>
              <a:tblPr firstRow="0" bandRow="0">
                <a:tableStyleId>{5C22544A-7EE6-4342-B048-85BDC9FD1C3A}</a:tableStyleId>
              </a:tblPr>
              <a:tblGrid>
                <a:gridCol w="3499008"/>
                <a:gridCol w="685372"/>
                <a:gridCol w="685372"/>
                <a:gridCol w="685372"/>
              </a:tblGrid>
              <a:tr h="265429">
                <a:tc>
                  <a:txBody>
                    <a:bodyPr/>
                    <a:lstStyle/>
                    <a:p>
                      <a:pPr algn="ctr"/>
                      <a:r>
                        <a:rPr sz="1300" b="1">
                          <a:solidFill>
                            <a:srgbClr val="FFFFFF"/>
                          </a:solidFill>
                          <a:latin typeface="Calibri"/>
                        </a:rPr>
                        <a:t>D (columna I)</a:t>
                      </a:r>
                    </a:p>
                  </a:txBody>
                  <a:tcPr marL="73152" marR="73152" marT="27432" marB="27432" anchor="ctr">
                    <a:solidFill>
                      <a:srgbClr val="0F4C5C"/>
                    </a:solidFill>
                  </a:tcPr>
                </a:tc>
                <a:tc>
                  <a:txBody>
                    <a:bodyPr/>
                    <a:lstStyle/>
                    <a:p>
                      <a:pPr algn="ctr"/>
                      <a:r>
                        <a:rPr sz="1300" b="1">
                          <a:solidFill>
                            <a:srgbClr val="FFFFFF"/>
                          </a:solidFill>
                          <a:latin typeface="Calibri"/>
                        </a:rPr>
                        <a:t>A</a:t>
                      </a:r>
                    </a:p>
                  </a:txBody>
                  <a:tcPr marL="73152" marR="73152" marT="27432" marB="27432" anchor="ctr">
                    <a:solidFill>
                      <a:srgbClr val="0F4C5C"/>
                    </a:solidFill>
                  </a:tcPr>
                </a:tc>
                <a:tc>
                  <a:txBody>
                    <a:bodyPr/>
                    <a:lstStyle/>
                    <a:p>
                      <a:pPr algn="ctr"/>
                      <a:r>
                        <a:rPr sz="1300" b="1">
                          <a:solidFill>
                            <a:srgbClr val="FFFFFF"/>
                          </a:solidFill>
                          <a:latin typeface="Calibri"/>
                        </a:rPr>
                        <a:t>B</a:t>
                      </a:r>
                    </a:p>
                  </a:txBody>
                  <a:tcPr marL="73152" marR="73152" marT="27432" marB="27432" anchor="ctr">
                    <a:solidFill>
                      <a:srgbClr val="0F4C5C"/>
                    </a:solidFill>
                  </a:tcPr>
                </a:tc>
                <a:tc>
                  <a:txBody>
                    <a:bodyPr/>
                    <a:lstStyle/>
                    <a:p>
                      <a:pPr algn="ctr"/>
                      <a:r>
                        <a:rPr sz="1300" b="1">
                          <a:solidFill>
                            <a:srgbClr val="FFFFFF"/>
                          </a:solidFill>
                          <a:latin typeface="Calibri"/>
                        </a:rPr>
                        <a:t>C</a:t>
                      </a:r>
                    </a:p>
                  </a:txBody>
                  <a:tcPr marL="73152" marR="73152" marT="27432" marB="27432" anchor="ctr">
                    <a:solidFill>
                      <a:srgbClr val="0F4C5C"/>
                    </a:solidFill>
                  </a:tcPr>
                </a:tc>
              </a:tr>
              <a:tr h="265429">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r>
              <a:tr h="265429">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r>
              <a:tr h="265429">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r>
              <a:tr h="265429">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r>
              <a:tr h="265429">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r>
              <a:tr h="265429">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r h="265429">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65429">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r>
            </a:tbl>
          </a:graphicData>
        </a:graphic>
      </p:graphicFrame>
      <p:sp>
        <p:nvSpPr>
          <p:cNvPr id="6" name="TextBox 5"/>
          <p:cNvSpPr txBox="1"/>
          <p:nvPr/>
        </p:nvSpPr>
        <p:spPr>
          <a:xfrm>
            <a:off x="6087928" y="4007358"/>
            <a:ext cx="5555126" cy="1032256"/>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Tomar el </a:t>
            </a:r>
            <a:r>
              <a:rPr sz="1400" b="1">
                <a:solidFill>
                  <a:srgbClr val="142B33"/>
                </a:solidFill>
                <a:latin typeface="Calibri"/>
              </a:rPr>
              <a:t>2</a:t>
            </a:r>
            <a:r>
              <a:rPr sz="1400" b="1" baseline="30000">
                <a:solidFill>
                  <a:srgbClr val="142B33"/>
                </a:solidFill>
                <a:latin typeface="Calibri"/>
              </a:rPr>
              <a:t>k−p</a:t>
            </a:r>
            <a:r>
              <a:rPr sz="1400" b="1" baseline="-25000">
                <a:solidFill>
                  <a:srgbClr val="142B33"/>
                </a:solidFill>
                <a:latin typeface="Calibri"/>
              </a:rPr>
              <a:t>III</a:t>
            </a:r>
            <a:r>
              <a:rPr sz="1400" b="0">
                <a:solidFill>
                  <a:srgbClr val="142B33"/>
                </a:solidFill>
                <a:latin typeface="Calibri"/>
              </a:rPr>
              <a:t> y agregar la fracción con </a:t>
            </a:r>
            <a:r>
              <a:rPr sz="1400" b="1">
                <a:solidFill>
                  <a:srgbClr val="142B33"/>
                </a:solidFill>
                <a:latin typeface="Calibri"/>
              </a:rPr>
              <a:t>todos los signos invertidos</a:t>
            </a:r>
          </a:p>
          <a:p>
            <a:pPr marL="320040" indent="-320040">
              <a:spcAft>
                <a:spcPts val="600"/>
              </a:spcAft>
              <a:buClr>
                <a:srgbClr val="E36414"/>
              </a:buClr>
              <a:buFont typeface="+mj-lt"/>
              <a:buAutoNum type="arabicPeriod"/>
            </a:pPr>
            <a:r>
              <a:rPr sz="1400" b="0">
                <a:solidFill>
                  <a:srgbClr val="142B33"/>
                </a:solidFill>
                <a:latin typeface="Calibri"/>
              </a:rPr>
              <a:t>La columna </a:t>
            </a:r>
            <a:r>
              <a:rPr sz="1400" b="1">
                <a:solidFill>
                  <a:srgbClr val="142B33"/>
                </a:solidFill>
                <a:latin typeface="Calibri"/>
              </a:rPr>
              <a:t>I</a:t>
            </a:r>
            <a:r>
              <a:rPr sz="1400" b="0">
                <a:solidFill>
                  <a:srgbClr val="142B33"/>
                </a:solidFill>
                <a:latin typeface="Calibri"/>
              </a:rPr>
              <a:t> pasa de + a −: se asigna al factor </a:t>
            </a:r>
            <a:r>
              <a:rPr sz="1400" b="1">
                <a:solidFill>
                  <a:srgbClr val="142B33"/>
                </a:solidFill>
                <a:latin typeface="Calibri"/>
              </a:rPr>
              <a:t>k + 1</a:t>
            </a:r>
            <a:r>
              <a:rPr sz="1400" b="0">
                <a:solidFill>
                  <a:srgbClr val="142B33"/>
                </a:solidFill>
                <a:latin typeface="Calibri"/>
              </a:rPr>
              <a:t>  ⇒  2</a:t>
            </a:r>
            <a:r>
              <a:rPr sz="1400" b="0" baseline="30000">
                <a:solidFill>
                  <a:srgbClr val="142B33"/>
                </a:solidFill>
                <a:latin typeface="Calibri"/>
              </a:rPr>
              <a:t>3−1</a:t>
            </a:r>
            <a:r>
              <a:rPr sz="1400" b="0" baseline="-25000">
                <a:solidFill>
                  <a:srgbClr val="142B33"/>
                </a:solidFill>
                <a:latin typeface="Calibri"/>
              </a:rPr>
              <a:t>III</a:t>
            </a:r>
            <a:r>
              <a:rPr sz="1400" b="0">
                <a:solidFill>
                  <a:srgbClr val="142B33"/>
                </a:solidFill>
                <a:latin typeface="Calibri"/>
              </a:rPr>
              <a:t> → 2</a:t>
            </a:r>
            <a:r>
              <a:rPr sz="1400" b="0" baseline="30000">
                <a:solidFill>
                  <a:srgbClr val="142B33"/>
                </a:solidFill>
                <a:latin typeface="Calibri"/>
              </a:rPr>
              <a:t>4−1</a:t>
            </a:r>
            <a:r>
              <a:rPr sz="1400" b="0" baseline="-25000">
                <a:solidFill>
                  <a:srgbClr val="142B33"/>
                </a:solidFill>
                <a:latin typeface="Calibri"/>
              </a:rPr>
              <a:t>IV</a:t>
            </a:r>
            <a:r>
              <a:rPr sz="1400" b="0">
                <a:solidFill>
                  <a:srgbClr val="142B33"/>
                </a:solidFill>
                <a:latin typeface="Calibri"/>
              </a:rPr>
              <a:t>, I = ABCD</a:t>
            </a:r>
          </a:p>
        </p:txBody>
      </p:sp>
      <p:sp>
        <p:nvSpPr>
          <p:cNvPr id="7" name="TextBox 6"/>
          <p:cNvSpPr txBox="1"/>
          <p:nvPr/>
        </p:nvSpPr>
        <p:spPr>
          <a:xfrm>
            <a:off x="6087928" y="5240782"/>
            <a:ext cx="5555126" cy="408432"/>
          </a:xfrm>
          <a:prstGeom prst="rect">
            <a:avLst/>
          </a:prstGeom>
          <a:noFill/>
        </p:spPr>
        <p:txBody>
          <a:bodyPr wrap="square" anchor="t" lIns="0" rIns="0" tIns="0" bIns="0">
            <a:spAutoFit/>
          </a:bodyPr>
          <a:lstStyle/>
          <a:p>
            <a:r>
              <a:rPr sz="1200" b="0">
                <a:solidFill>
                  <a:srgbClr val="5B6B73"/>
                </a:solidFill>
                <a:latin typeface="Calibri"/>
              </a:rPr>
              <a:t>Tabla 8-27 del libro: arriba la fracción original (I = ABC), abajo la invertida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99</a:t>
            </a:r>
          </a:p>
        </p:txBody>
      </p:sp>
      <p:sp>
        <p:nvSpPr>
          <p:cNvPr id="10" name="Rounded Rectangle 9"/>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dobla un diseño de resolución IV?</a:t>
            </a:r>
          </a:p>
        </p:txBody>
      </p:sp>
      <p:graphicFrame>
        <p:nvGraphicFramePr>
          <p:cNvPr id="3" name="Table 2"/>
          <p:cNvGraphicFramePr>
            <a:graphicFrameLocks noGrp="1"/>
          </p:cNvGraphicFramePr>
          <p:nvPr/>
        </p:nvGraphicFramePr>
        <p:xfrm>
          <a:off x="548640" y="1417320"/>
          <a:ext cx="11094413" cy="1224279"/>
        </p:xfrm>
        <a:graphic>
          <a:graphicData uri="http://schemas.openxmlformats.org/drawingml/2006/table">
            <a:tbl>
              <a:tblPr firstRow="0" bandRow="0">
                <a:tableStyleId>{5C22544A-7EE6-4342-B048-85BDC9FD1C3A}</a:tableStyleId>
              </a:tblPr>
              <a:tblGrid>
                <a:gridCol w="2995492"/>
                <a:gridCol w="2662659"/>
                <a:gridCol w="2551715"/>
                <a:gridCol w="2884547"/>
              </a:tblGrid>
              <a:tr h="552703">
                <a:tc>
                  <a:txBody>
                    <a:bodyPr/>
                    <a:lstStyle/>
                    <a:p>
                      <a:pPr algn="l"/>
                      <a:r>
                        <a:rPr sz="1400" b="1">
                          <a:solidFill>
                            <a:srgbClr val="FFFFFF"/>
                          </a:solidFill>
                          <a:latin typeface="Calibri"/>
                        </a:rPr>
                        <a:t>Diseño original</a:t>
                      </a:r>
                    </a:p>
                  </a:txBody>
                  <a:tcPr marL="73152" marR="73152" marT="27432" marB="27432" anchor="ctr">
                    <a:solidFill>
                      <a:srgbClr val="0F4C5C"/>
                    </a:solidFill>
                  </a:tcPr>
                </a:tc>
                <a:tc>
                  <a:txBody>
                    <a:bodyPr/>
                    <a:lstStyle/>
                    <a:p>
                      <a:pPr algn="ctr"/>
                      <a:r>
                        <a:rPr sz="1400" b="1">
                          <a:solidFill>
                            <a:srgbClr val="FFFFFF"/>
                          </a:solidFill>
                          <a:latin typeface="Calibri"/>
                        </a:rPr>
                        <a:t>Segunda fracción</a:t>
                      </a:r>
                    </a:p>
                  </a:txBody>
                  <a:tcPr marL="73152" marR="73152" marT="27432" marB="27432" anchor="ctr">
                    <a:solidFill>
                      <a:srgbClr val="0F4C5C"/>
                    </a:solidFill>
                  </a:tcPr>
                </a:tc>
                <a:tc>
                  <a:txBody>
                    <a:bodyPr/>
                    <a:lstStyle/>
                    <a:p>
                      <a:pPr algn="ctr"/>
                      <a:r>
                        <a:rPr sz="1400" b="1">
                          <a:solidFill>
                            <a:srgbClr val="FFFFFF"/>
                          </a:solidFill>
                          <a:latin typeface="Calibri"/>
                        </a:rPr>
                        <a:t>Diseño combinado</a:t>
                      </a:r>
                    </a:p>
                  </a:txBody>
                  <a:tcPr marL="73152" marR="73152" marT="27432" marB="27432" anchor="ctr">
                    <a:solidFill>
                      <a:srgbClr val="0F4C5C"/>
                    </a:solidFill>
                  </a:tcPr>
                </a:tc>
                <a:tc>
                  <a:txBody>
                    <a:bodyPr/>
                    <a:lstStyle/>
                    <a:p>
                      <a:pPr algn="ctr"/>
                      <a:r>
                        <a:rPr sz="1400" b="1">
                          <a:solidFill>
                            <a:srgbClr val="FFFFFF"/>
                          </a:solidFill>
                          <a:latin typeface="Calibri"/>
                        </a:rPr>
                        <a:t>Interacciones dobles que siguen aliadas</a:t>
                      </a:r>
                    </a:p>
                  </a:txBody>
                  <a:tcPr marL="73152" marR="73152" marT="27432" marB="27432" anchor="ctr">
                    <a:solidFill>
                      <a:srgbClr val="0F4C5C"/>
                    </a:solidFill>
                  </a:tcPr>
                </a:tc>
              </a:tr>
              <a:tr h="335788">
                <a:tc>
                  <a:txBody>
                    <a:bodyPr/>
                    <a:lstStyle/>
                    <a:p>
                      <a:pPr algn="l"/>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r>
                        <a:rPr sz="1400" b="0">
                          <a:solidFill>
                            <a:srgbClr val="142B33"/>
                          </a:solidFill>
                          <a:latin typeface="Calibri"/>
                        </a:rPr>
                        <a:t>:  I = ABCE,  I = BCDF</a:t>
                      </a:r>
                    </a:p>
                  </a:txBody>
                  <a:tcPr marL="73152" marR="73152" marT="27432" marB="27432" anchor="ctr">
                    <a:solidFill>
                      <a:srgbClr val="FFFFFF"/>
                    </a:solidFill>
                  </a:tcPr>
                </a:tc>
                <a:tc>
                  <a:txBody>
                    <a:bodyPr/>
                    <a:lstStyle/>
                    <a:p>
                      <a:pPr algn="ctr"/>
                      <a:r>
                        <a:rPr sz="1400" b="0">
                          <a:solidFill>
                            <a:srgbClr val="142B33"/>
                          </a:solidFill>
                          <a:latin typeface="Calibri"/>
                        </a:rPr>
                        <a:t>I = −ABCE,  I = −BCDF</a:t>
                      </a:r>
                    </a:p>
                  </a:txBody>
                  <a:tcPr marL="73152" marR="73152" marT="27432" marB="27432" anchor="ctr">
                    <a:solidFill>
                      <a:srgbClr val="FFFFFF"/>
                    </a:solidFill>
                  </a:tcPr>
                </a:tc>
                <a:tc>
                  <a:txBody>
                    <a:bodyPr/>
                    <a:lstStyle/>
                    <a:p>
                      <a:pPr algn="ctr"/>
                      <a:r>
                        <a:rPr sz="1400" b="0">
                          <a:solidFill>
                            <a:srgbClr val="142B33"/>
                          </a:solidFill>
                          <a:latin typeface="Calibri"/>
                        </a:rPr>
                        <a:t>I = ADEF</a:t>
                      </a:r>
                    </a:p>
                  </a:txBody>
                  <a:tcPr marL="73152" marR="73152" marT="27432" marB="27432" anchor="ctr">
                    <a:solidFill>
                      <a:srgbClr val="FFFFFF"/>
                    </a:solidFill>
                  </a:tcPr>
                </a:tc>
                <a:tc>
                  <a:txBody>
                    <a:bodyPr/>
                    <a:lstStyle/>
                    <a:p>
                      <a:pPr algn="ctr"/>
                      <a:r>
                        <a:rPr sz="1400" b="0">
                          <a:solidFill>
                            <a:srgbClr val="142B33"/>
                          </a:solidFill>
                          <a:latin typeface="Calibri"/>
                        </a:rPr>
                        <a:t>AD = EF,  AE = DF,  AF = DE</a:t>
                      </a:r>
                    </a:p>
                  </a:txBody>
                  <a:tcPr marL="73152" marR="73152" marT="27432" marB="27432" anchor="ctr">
                    <a:solidFill>
                      <a:srgbClr val="FFFFFF"/>
                    </a:solidFill>
                  </a:tcPr>
                </a:tc>
              </a:tr>
              <a:tr h="335788">
                <a:tc>
                  <a:txBody>
                    <a:bodyPr/>
                    <a:lstStyle/>
                    <a:p>
                      <a:pPr algn="l"/>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r>
                        <a:rPr sz="1400" b="0">
                          <a:solidFill>
                            <a:srgbClr val="142B33"/>
                          </a:solidFill>
                          <a:latin typeface="Calibri"/>
                        </a:rPr>
                        <a:t>:  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CDFG = BCDEH = BEFGH</a:t>
                      </a:r>
                    </a:p>
                  </a:txBody>
                  <a:tcPr marL="73152" marR="73152" marT="27432" marB="27432" anchor="ctr">
                    <a:solidFill>
                      <a:srgbClr val="F4F8F9"/>
                    </a:solidFill>
                  </a:tcPr>
                </a:tc>
                <a:tc>
                  <a:txBody>
                    <a:bodyPr/>
                    <a:lstStyle/>
                    <a:p>
                      <a:pPr algn="ctr"/>
                      <a:r>
                        <a:rPr sz="1400" b="0">
                          <a:solidFill>
                            <a:srgbClr val="142B33"/>
                          </a:solidFill>
                          <a:latin typeface="Calibri"/>
                        </a:rPr>
                        <a:t>CD = FG,  CF = DG,  CG = DF</a:t>
                      </a:r>
                    </a:p>
                  </a:txBody>
                  <a:tcPr marL="73152" marR="73152" marT="27432" marB="27432" anchor="ctr">
                    <a:solidFill>
                      <a:srgbClr val="F4F8F9"/>
                    </a:solidFill>
                  </a:tcPr>
                </a:tc>
              </a:tr>
            </a:tbl>
          </a:graphicData>
        </a:graphic>
      </p:graphicFrame>
      <p:sp>
        <p:nvSpPr>
          <p:cNvPr id="4" name="Rounded Rectangle 3"/>
          <p:cNvSpPr/>
          <p:nvPr/>
        </p:nvSpPr>
        <p:spPr>
          <a:xfrm>
            <a:off x="548640"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Objetivos</a:t>
            </a:r>
          </a:p>
          <a:p>
            <a:pPr algn="l"/>
            <a:r>
              <a:rPr sz="1400" b="0">
                <a:solidFill>
                  <a:srgbClr val="142B33"/>
                </a:solidFill>
                <a:latin typeface="Calibri"/>
              </a:rPr>
              <a:t>Romper muchas cadenas, una cadena específica, o las de un factor específico</a:t>
            </a:r>
          </a:p>
        </p:txBody>
      </p:sp>
      <p:sp>
        <p:nvSpPr>
          <p:cNvPr id="5" name="Rounded Rectangle 4"/>
          <p:cNvSpPr/>
          <p:nvPr/>
        </p:nvSpPr>
        <p:spPr>
          <a:xfrm>
            <a:off x="4322978"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Procedimiento</a:t>
            </a:r>
          </a:p>
          <a:p>
            <a:pPr algn="l"/>
            <a:r>
              <a:rPr sz="1400" b="0">
                <a:solidFill>
                  <a:srgbClr val="142B33"/>
                </a:solidFill>
                <a:latin typeface="Calibri"/>
              </a:rPr>
              <a:t>Invertir los generadores con </a:t>
            </a:r>
            <a:r>
              <a:rPr sz="1400" b="1">
                <a:solidFill>
                  <a:srgbClr val="142B33"/>
                </a:solidFill>
                <a:latin typeface="Calibri"/>
              </a:rPr>
              <a:t>número impar</a:t>
            </a:r>
            <a:r>
              <a:rPr sz="1400" b="0">
                <a:solidFill>
                  <a:srgbClr val="142B33"/>
                </a:solidFill>
                <a:latin typeface="Calibri"/>
              </a:rPr>
              <a:t> de letras</a:t>
            </a:r>
          </a:p>
        </p:txBody>
      </p:sp>
      <p:sp>
        <p:nvSpPr>
          <p:cNvPr id="6" name="Rounded Rectangle 5"/>
          <p:cNvSpPr/>
          <p:nvPr/>
        </p:nvSpPr>
        <p:spPr>
          <a:xfrm>
            <a:off x="8097316"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Advertencia</a:t>
            </a:r>
          </a:p>
          <a:p>
            <a:pPr algn="l"/>
            <a:r>
              <a:rPr sz="1400" b="0">
                <a:solidFill>
                  <a:srgbClr val="142B33"/>
                </a:solidFill>
                <a:latin typeface="Calibri"/>
              </a:rPr>
              <a:t>Con cadenas de </a:t>
            </a:r>
            <a:r>
              <a:rPr sz="1400" b="1">
                <a:solidFill>
                  <a:srgbClr val="142B33"/>
                </a:solidFill>
                <a:latin typeface="Calibri"/>
              </a:rPr>
              <a:t>más de dos</a:t>
            </a:r>
            <a:r>
              <a:rPr sz="1400" b="0">
                <a:solidFill>
                  <a:srgbClr val="142B33"/>
                </a:solidFill>
                <a:latin typeface="Calibri"/>
              </a:rPr>
              <a:t> interacciones dobles, no se separan todas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100</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de resolución V?</a:t>
            </a:r>
          </a:p>
        </p:txBody>
      </p:sp>
      <p:sp>
        <p:nvSpPr>
          <p:cNvPr id="3" name="TextBox 2"/>
          <p:cNvSpPr txBox="1"/>
          <p:nvPr/>
        </p:nvSpPr>
        <p:spPr>
          <a:xfrm>
            <a:off x="548640" y="1417320"/>
            <a:ext cx="5555126" cy="99059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Principales e interacciones dobles </a:t>
            </a:r>
            <a:r>
              <a:rPr sz="1600" b="1">
                <a:solidFill>
                  <a:srgbClr val="142B33"/>
                </a:solidFill>
                <a:latin typeface="Calibri"/>
              </a:rPr>
              <a:t>sin alias entre sí</a:t>
            </a:r>
          </a:p>
          <a:p>
            <a:pPr marL="320040" indent="-320040">
              <a:spcAft>
                <a:spcPts val="600"/>
              </a:spcAft>
              <a:buClr>
                <a:srgbClr val="E36414"/>
              </a:buClr>
              <a:buFont typeface="Arial"/>
              <a:buChar char="•"/>
            </a:pPr>
            <a:r>
              <a:rPr sz="1600" b="0">
                <a:solidFill>
                  <a:srgbClr val="142B33"/>
                </a:solidFill>
                <a:latin typeface="Calibri"/>
              </a:rPr>
              <a:t>Palabra más corta de </a:t>
            </a:r>
            <a:r>
              <a:rPr sz="1600" b="1">
                <a:solidFill>
                  <a:srgbClr val="142B33"/>
                </a:solidFill>
                <a:latin typeface="Calibri"/>
              </a:rPr>
              <a:t>5 letras</a:t>
            </a:r>
          </a:p>
          <a:p>
            <a:pPr marL="320040" indent="-320040">
              <a:spcAft>
                <a:spcPts val="600"/>
              </a:spcAft>
              <a:buClr>
                <a:srgbClr val="E36414"/>
              </a:buClr>
              <a:buFont typeface="Arial"/>
              <a:buChar char="•"/>
            </a:pPr>
            <a:r>
              <a:rPr sz="1600" b="0">
                <a:solidFill>
                  <a:srgbClr val="142B33"/>
                </a:solidFill>
                <a:latin typeface="Calibri"/>
              </a:rPr>
              <a:t>Ejemplos: </a:t>
            </a:r>
            <a:r>
              <a:rPr sz="1600" b="1">
                <a:solidFill>
                  <a:srgbClr val="142B33"/>
                </a:solidFill>
                <a:latin typeface="Calibri"/>
              </a:rPr>
              <a:t>2</a:t>
            </a:r>
            <a:r>
              <a:rPr sz="1600" b="1" baseline="30000">
                <a:solidFill>
                  <a:srgbClr val="142B33"/>
                </a:solidFill>
                <a:latin typeface="Calibri"/>
              </a:rPr>
              <a:t>5−1</a:t>
            </a:r>
            <a:r>
              <a:rPr sz="1600" b="0">
                <a:solidFill>
                  <a:srgbClr val="142B33"/>
                </a:solidFill>
                <a:latin typeface="Calibri"/>
              </a:rPr>
              <a:t>, I = ABCDE;  </a:t>
            </a:r>
            <a:r>
              <a:rPr sz="1600" b="1">
                <a:solidFill>
                  <a:srgbClr val="142B33"/>
                </a:solidFill>
                <a:latin typeface="Calibri"/>
              </a:rPr>
              <a:t>2</a:t>
            </a:r>
            <a:r>
              <a:rPr sz="1600" b="1" baseline="30000">
                <a:solidFill>
                  <a:srgbClr val="142B33"/>
                </a:solidFill>
                <a:latin typeface="Calibri"/>
              </a:rPr>
              <a:t>8−2</a:t>
            </a:r>
            <a:r>
              <a:rPr sz="1600" b="0">
                <a:solidFill>
                  <a:srgbClr val="142B33"/>
                </a:solidFill>
                <a:latin typeface="Calibri"/>
              </a:rPr>
              <a:t>, I = ABCDG = ABEFH</a:t>
            </a:r>
          </a:p>
        </p:txBody>
      </p:sp>
      <p:sp>
        <p:nvSpPr>
          <p:cNvPr id="4" name="Rounded Rectangle 3"/>
          <p:cNvSpPr/>
          <p:nvPr/>
        </p:nvSpPr>
        <p:spPr>
          <a:xfrm>
            <a:off x="548640" y="2609087"/>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Doblez parcial</a:t>
            </a:r>
            <a:r>
              <a:rPr sz="1500" b="0">
                <a:solidFill>
                  <a:srgbClr val="142B33"/>
                </a:solidFill>
                <a:latin typeface="Calibri"/>
              </a:rPr>
              <a:t>: separar una o dos interacciones agregando </a:t>
            </a:r>
            <a:r>
              <a:rPr sz="1500" b="1">
                <a:solidFill>
                  <a:srgbClr val="142B33"/>
                </a:solidFill>
                <a:latin typeface="Calibri"/>
              </a:rPr>
              <a:t>pocas corridas</a:t>
            </a:r>
          </a:p>
        </p:txBody>
      </p:sp>
      <p:graphicFrame>
        <p:nvGraphicFramePr>
          <p:cNvPr id="5" name="Table 4"/>
          <p:cNvGraphicFramePr>
            <a:graphicFrameLocks noGrp="1"/>
          </p:cNvGraphicFramePr>
          <p:nvPr/>
        </p:nvGraphicFramePr>
        <p:xfrm>
          <a:off x="6515246" y="1417320"/>
          <a:ext cx="5127808" cy="2081784"/>
        </p:xfrm>
        <a:graphic>
          <a:graphicData uri="http://schemas.openxmlformats.org/drawingml/2006/table">
            <a:tbl>
              <a:tblPr firstRow="0" bandRow="0">
                <a:tableStyleId>{5C22544A-7EE6-4342-B048-85BDC9FD1C3A}</a:tableStyleId>
              </a:tblPr>
              <a:tblGrid>
                <a:gridCol w="1538342"/>
                <a:gridCol w="3589466"/>
              </a:tblGrid>
              <a:tr h="614680">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Fracción irregular de resolución V</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 corridas</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24 corridas (3/4 del 2</a:t>
                      </a:r>
                      <a:r>
                        <a:rPr sz="1600" b="0" baseline="30000">
                          <a:solidFill>
                            <a:srgbClr val="142B33"/>
                          </a:solidFill>
                          <a:latin typeface="Calibri"/>
                        </a:rPr>
                        <a:t>5</a:t>
                      </a:r>
                      <a:r>
                        <a:rPr sz="1600" b="0">
                          <a:solidFill>
                            <a:srgbClr val="142B33"/>
                          </a:solidFill>
                          <a:latin typeface="Calibri"/>
                        </a:rPr>
                        <a:t>)</a:t>
                      </a:r>
                    </a:p>
                  </a:txBody>
                  <a:tcPr marL="73152" marR="73152" marT="27432" marB="27432" anchor="ctr">
                    <a:solidFill>
                      <a:srgbClr val="F4F8F9"/>
                    </a:solidFill>
                  </a:tcPr>
                </a:tc>
              </a:tr>
              <a:tr h="366776">
                <a:tc>
                  <a:txBody>
                    <a:bodyPr/>
                    <a:lstStyle/>
                    <a:p>
                      <a:pPr algn="ctr"/>
                      <a:r>
                        <a:rPr sz="1600" b="0">
                          <a:solidFill>
                            <a:srgbClr val="142B33"/>
                          </a:solidFill>
                          <a:latin typeface="Calibri"/>
                        </a:rPr>
                        <a:t>6, 7 u 8</a:t>
                      </a:r>
                    </a:p>
                  </a:txBody>
                  <a:tcPr marL="73152" marR="73152" marT="27432" marB="27432" anchor="ctr">
                    <a:solidFill>
                      <a:srgbClr val="FFFFFF"/>
                    </a:solidFill>
                  </a:tcPr>
                </a:tc>
                <a:tc>
                  <a:txBody>
                    <a:bodyPr/>
                    <a:lstStyle/>
                    <a:p>
                      <a:pPr algn="ctr"/>
                      <a:r>
                        <a:rPr sz="1600" b="0">
                          <a:solidFill>
                            <a:srgbClr val="142B33"/>
                          </a:solidFill>
                          <a:latin typeface="Calibri"/>
                        </a:rPr>
                        <a:t>48 corridas</a:t>
                      </a:r>
                    </a:p>
                  </a:txBody>
                  <a:tcPr marL="73152" marR="73152" marT="27432" marB="27432" anchor="ctr">
                    <a:solidFill>
                      <a:srgbClr val="FFFFFF"/>
                    </a:solidFill>
                  </a:tcPr>
                </a:tc>
              </a:tr>
              <a:tr h="366776">
                <a:tc>
                  <a:txBody>
                    <a:bodyPr/>
                    <a:lstStyle/>
                    <a:p>
                      <a:pPr algn="ctr"/>
                      <a:r>
                        <a:rPr sz="1600" b="0">
                          <a:solidFill>
                            <a:srgbClr val="142B33"/>
                          </a:solidFill>
                          <a:latin typeface="Calibri"/>
                        </a:rPr>
                        <a:t>9</a:t>
                      </a:r>
                    </a:p>
                  </a:txBody>
                  <a:tcPr marL="73152" marR="73152" marT="27432" marB="27432" anchor="ctr">
                    <a:solidFill>
                      <a:srgbClr val="F4F8F9"/>
                    </a:solidFill>
                  </a:tcPr>
                </a:tc>
                <a:tc>
                  <a:txBody>
                    <a:bodyPr/>
                    <a:lstStyle/>
                    <a:p>
                      <a:pPr algn="ctr"/>
                      <a:r>
                        <a:rPr sz="1600" b="0">
                          <a:solidFill>
                            <a:srgbClr val="142B33"/>
                          </a:solidFill>
                          <a:latin typeface="Calibri"/>
                        </a:rPr>
                        <a:t>96 corridas</a:t>
                      </a:r>
                    </a:p>
                  </a:txBody>
                  <a:tcPr marL="73152" marR="73152" marT="27432" marB="27432" anchor="ctr">
                    <a:solidFill>
                      <a:srgbClr val="F4F8F9"/>
                    </a:solidFill>
                  </a:tcPr>
                </a:tc>
              </a:tr>
            </a:tbl>
          </a:graphicData>
        </a:graphic>
      </p:graphicFrame>
      <p:sp>
        <p:nvSpPr>
          <p:cNvPr id="6" name="TextBox 5"/>
          <p:cNvSpPr txBox="1"/>
          <p:nvPr/>
        </p:nvSpPr>
        <p:spPr>
          <a:xfrm>
            <a:off x="6515246" y="3700272"/>
            <a:ext cx="5127808" cy="237998"/>
          </a:xfrm>
          <a:prstGeom prst="rect">
            <a:avLst/>
          </a:prstGeom>
          <a:noFill/>
        </p:spPr>
        <p:txBody>
          <a:bodyPr wrap="square" anchor="t" lIns="0" rIns="0" tIns="0" bIns="0">
            <a:spAutoFit/>
          </a:bodyPr>
          <a:lstStyle/>
          <a:p>
            <a:r>
              <a:rPr sz="1300" b="0">
                <a:solidFill>
                  <a:srgbClr val="5B6B73"/>
                </a:solidFill>
                <a:latin typeface="Calibri"/>
              </a:rPr>
              <a:t>Fuente: Montgomery, sec. 8-6 y tabla 8-28</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101</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Resumen · ¿Cuántos factores caben en N corridas?</a:t>
            </a:r>
          </a:p>
        </p:txBody>
      </p:sp>
      <p:graphicFrame>
        <p:nvGraphicFramePr>
          <p:cNvPr id="3" name="Table 2"/>
          <p:cNvGraphicFramePr>
            <a:graphicFrameLocks noGrp="1"/>
          </p:cNvGraphicFramePr>
          <p:nvPr/>
        </p:nvGraphicFramePr>
        <p:xfrm>
          <a:off x="548640" y="1417320"/>
          <a:ext cx="11094413" cy="1988820"/>
        </p:xfrm>
        <a:graphic>
          <a:graphicData uri="http://schemas.openxmlformats.org/drawingml/2006/table">
            <a:tbl>
              <a:tblPr firstRow="0" bandRow="0">
                <a:tableStyleId>{5C22544A-7EE6-4342-B048-85BDC9FD1C3A}</a:tableStyleId>
              </a:tblPr>
              <a:tblGrid>
                <a:gridCol w="3993989"/>
                <a:gridCol w="1775106"/>
                <a:gridCol w="1775106"/>
                <a:gridCol w="1775106"/>
                <a:gridCol w="1775106"/>
              </a:tblGrid>
              <a:tr h="397764">
                <a:tc>
                  <a:txBody>
                    <a:bodyPr/>
                    <a:lstStyle/>
                    <a:p>
                      <a:pPr algn="l"/>
                      <a:r>
                        <a:rPr sz="1800" b="1">
                          <a:solidFill>
                            <a:srgbClr val="FFFFFF"/>
                          </a:solidFill>
                          <a:latin typeface="Calibri"/>
                        </a:rPr>
                        <a:t>Tipo de diseño</a:t>
                      </a:r>
                    </a:p>
                  </a:txBody>
                  <a:tcPr marL="73152" marR="73152" marT="27432" marB="27432" anchor="ctr">
                    <a:solidFill>
                      <a:srgbClr val="0F4C5C"/>
                    </a:solidFill>
                  </a:tcPr>
                </a:tc>
                <a:tc>
                  <a:txBody>
                    <a:bodyPr/>
                    <a:lstStyle/>
                    <a:p>
                      <a:pPr algn="ctr"/>
                      <a:r>
                        <a:rPr sz="1800" b="1">
                          <a:solidFill>
                            <a:srgbClr val="FFFFFF"/>
                          </a:solidFill>
                          <a:latin typeface="Calibri"/>
                        </a:rPr>
                        <a:t>4 corridas</a:t>
                      </a:r>
                    </a:p>
                  </a:txBody>
                  <a:tcPr marL="73152" marR="73152" marT="27432" marB="27432" anchor="ctr">
                    <a:solidFill>
                      <a:srgbClr val="0F4C5C"/>
                    </a:solidFill>
                  </a:tcPr>
                </a:tc>
                <a:tc>
                  <a:txBody>
                    <a:bodyPr/>
                    <a:lstStyle/>
                    <a:p>
                      <a:pPr algn="ctr"/>
                      <a:r>
                        <a:rPr sz="1800" b="1">
                          <a:solidFill>
                            <a:srgbClr val="FFFFFF"/>
                          </a:solidFill>
                          <a:latin typeface="Calibri"/>
                        </a:rPr>
                        <a:t>8 corridas</a:t>
                      </a:r>
                    </a:p>
                  </a:txBody>
                  <a:tcPr marL="73152" marR="73152" marT="27432" marB="27432" anchor="ctr">
                    <a:solidFill>
                      <a:srgbClr val="0F4C5C"/>
                    </a:solidFill>
                  </a:tcPr>
                </a:tc>
                <a:tc>
                  <a:txBody>
                    <a:bodyPr/>
                    <a:lstStyle/>
                    <a:p>
                      <a:pPr algn="ctr"/>
                      <a:r>
                        <a:rPr sz="1800" b="1">
                          <a:solidFill>
                            <a:srgbClr val="FFFFFF"/>
                          </a:solidFill>
                          <a:latin typeface="Calibri"/>
                        </a:rPr>
                        <a:t>16 corridas</a:t>
                      </a:r>
                    </a:p>
                  </a:txBody>
                  <a:tcPr marL="73152" marR="73152" marT="27432" marB="27432" anchor="ctr">
                    <a:solidFill>
                      <a:srgbClr val="0F4C5C"/>
                    </a:solidFill>
                  </a:tcPr>
                </a:tc>
                <a:tc>
                  <a:txBody>
                    <a:bodyPr/>
                    <a:lstStyle/>
                    <a:p>
                      <a:pPr algn="ctr"/>
                      <a:r>
                        <a:rPr sz="1800" b="1">
                          <a:solidFill>
                            <a:srgbClr val="FFFFFF"/>
                          </a:solidFill>
                          <a:latin typeface="Calibri"/>
                        </a:rPr>
                        <a:t>32 corridas</a:t>
                      </a:r>
                    </a:p>
                  </a:txBody>
                  <a:tcPr marL="73152" marR="73152" marT="27432" marB="27432" anchor="ctr">
                    <a:solidFill>
                      <a:srgbClr val="0F4C5C"/>
                    </a:solidFill>
                  </a:tcPr>
                </a:tc>
              </a:tr>
              <a:tr h="397764">
                <a:tc>
                  <a:txBody>
                    <a:bodyPr/>
                    <a:lstStyle/>
                    <a:p>
                      <a:pPr algn="l"/>
                      <a:r>
                        <a:rPr sz="1800" b="0">
                          <a:solidFill>
                            <a:srgbClr val="142B33"/>
                          </a:solidFill>
                          <a:latin typeface="Calibri"/>
                        </a:rPr>
                        <a:t>Factorial completo</a:t>
                      </a:r>
                    </a:p>
                  </a:txBody>
                  <a:tcPr marL="73152" marR="73152" marT="27432" marB="27432" anchor="ctr">
                    <a:solidFill>
                      <a:srgbClr val="FFFFFF"/>
                    </a:solidFill>
                  </a:tcPr>
                </a:tc>
                <a:tc>
                  <a:txBody>
                    <a:bodyPr/>
                    <a:lstStyle/>
                    <a:p>
                      <a:pPr algn="ctr"/>
                      <a:r>
                        <a:rPr sz="1800" b="0">
                          <a:solidFill>
                            <a:srgbClr val="142B33"/>
                          </a:solidFill>
                          <a:latin typeface="Calibri"/>
                        </a:rPr>
                        <a:t>2</a:t>
                      </a:r>
                    </a:p>
                  </a:txBody>
                  <a:tcPr marL="73152" marR="73152" marT="27432" marB="27432" anchor="ctr">
                    <a:solidFill>
                      <a:srgbClr val="FFFFFF"/>
                    </a:solidFill>
                  </a:tcPr>
                </a:tc>
                <a:tc>
                  <a:txBody>
                    <a:bodyPr/>
                    <a:lstStyle/>
                    <a:p>
                      <a:pPr algn="ctr"/>
                      <a:r>
                        <a:rPr sz="1800" b="0">
                          <a:solidFill>
                            <a:srgbClr val="142B33"/>
                          </a:solidFill>
                          <a:latin typeface="Calibri"/>
                        </a:rPr>
                        <a:t>3</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5</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un medio</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4</a:t>
                      </a:r>
                    </a:p>
                  </a:txBody>
                  <a:tcPr marL="73152" marR="73152" marT="27432" marB="27432" anchor="ctr">
                    <a:solidFill>
                      <a:srgbClr val="F4F8F9"/>
                    </a:solidFill>
                  </a:tcPr>
                </a:tc>
                <a:tc>
                  <a:txBody>
                    <a:bodyPr/>
                    <a:lstStyle/>
                    <a:p>
                      <a:pPr algn="ctr"/>
                      <a:r>
                        <a:rPr sz="1800" b="0">
                          <a:solidFill>
                            <a:srgbClr val="142B33"/>
                          </a:solidFill>
                          <a:latin typeface="Calibri"/>
                        </a:rPr>
                        <a:t>5</a:t>
                      </a:r>
                    </a:p>
                  </a:txBody>
                  <a:tcPr marL="73152" marR="73152" marT="27432" marB="27432" anchor="ctr">
                    <a:solidFill>
                      <a:srgbClr val="F4F8F9"/>
                    </a:solidFill>
                  </a:tcPr>
                </a:tc>
                <a:tc>
                  <a:txBody>
                    <a:bodyPr/>
                    <a:lstStyle/>
                    <a:p>
                      <a:pPr algn="ctr"/>
                      <a:r>
                        <a:rPr sz="1800" b="0">
                          <a:solidFill>
                            <a:srgbClr val="142B33"/>
                          </a:solidFill>
                          <a:latin typeface="Calibri"/>
                        </a:rPr>
                        <a:t>6</a:t>
                      </a:r>
                    </a:p>
                  </a:txBody>
                  <a:tcPr marL="73152" marR="73152" marT="27432" marB="27432" anchor="ctr">
                    <a:solidFill>
                      <a:srgbClr val="F4F8F9"/>
                    </a:solidFill>
                  </a:tcPr>
                </a:tc>
              </a:tr>
              <a:tr h="397764">
                <a:tc>
                  <a:txBody>
                    <a:bodyPr/>
                    <a:lstStyle/>
                    <a:p>
                      <a:pPr algn="l"/>
                      <a:r>
                        <a:rPr sz="1800" b="0">
                          <a:solidFill>
                            <a:srgbClr val="142B33"/>
                          </a:solidFill>
                          <a:latin typeface="Calibri"/>
                        </a:rPr>
                        <a:t>Fracción de resolución IV</a:t>
                      </a:r>
                    </a:p>
                  </a:txBody>
                  <a:tcPr marL="73152" marR="73152" marT="27432" marB="27432" anchor="ctr">
                    <a:solidFill>
                      <a:srgbClr val="FFFFFF"/>
                    </a:solidFill>
                  </a:tcPr>
                </a:tc>
                <a:tc>
                  <a:txBody>
                    <a:bodyPr/>
                    <a:lstStyle/>
                    <a:p>
                      <a:pPr algn="ctr"/>
                      <a:r>
                        <a:rPr sz="1800" b="0">
                          <a:solidFill>
                            <a:srgbClr val="142B33"/>
                          </a:solidFill>
                          <a:latin typeface="Calibri"/>
                        </a:rPr>
                        <a:t>—</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6 a 8</a:t>
                      </a:r>
                    </a:p>
                  </a:txBody>
                  <a:tcPr marL="73152" marR="73152" marT="27432" marB="27432" anchor="ctr">
                    <a:solidFill>
                      <a:srgbClr val="FFFFFF"/>
                    </a:solidFill>
                  </a:tcPr>
                </a:tc>
                <a:tc>
                  <a:txBody>
                    <a:bodyPr/>
                    <a:lstStyle/>
                    <a:p>
                      <a:pPr algn="ctr"/>
                      <a:r>
                        <a:rPr sz="1800" b="0">
                          <a:solidFill>
                            <a:srgbClr val="142B33"/>
                          </a:solidFill>
                          <a:latin typeface="Calibri"/>
                        </a:rPr>
                        <a:t>7 a 16</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de resolución III</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5 a 7</a:t>
                      </a:r>
                    </a:p>
                  </a:txBody>
                  <a:tcPr marL="73152" marR="73152" marT="27432" marB="27432" anchor="ctr">
                    <a:solidFill>
                      <a:srgbClr val="F4F8F9"/>
                    </a:solidFill>
                  </a:tcPr>
                </a:tc>
                <a:tc>
                  <a:txBody>
                    <a:bodyPr/>
                    <a:lstStyle/>
                    <a:p>
                      <a:pPr algn="ctr"/>
                      <a:r>
                        <a:rPr sz="1800" b="0">
                          <a:solidFill>
                            <a:srgbClr val="142B33"/>
                          </a:solidFill>
                          <a:latin typeface="Calibri"/>
                        </a:rPr>
                        <a:t>9 a 15</a:t>
                      </a:r>
                    </a:p>
                  </a:txBody>
                  <a:tcPr marL="73152" marR="73152" marT="27432" marB="27432" anchor="ctr">
                    <a:solidFill>
                      <a:srgbClr val="F4F8F9"/>
                    </a:solidFill>
                  </a:tcPr>
                </a:tc>
                <a:tc>
                  <a:txBody>
                    <a:bodyPr/>
                    <a:lstStyle/>
                    <a:p>
                      <a:pPr algn="ctr"/>
                      <a:r>
                        <a:rPr sz="1800" b="0">
                          <a:solidFill>
                            <a:srgbClr val="142B33"/>
                          </a:solidFill>
                          <a:latin typeface="Calibri"/>
                        </a:rPr>
                        <a:t>17 a 31</a:t>
                      </a:r>
                    </a:p>
                  </a:txBody>
                  <a:tcPr marL="73152" marR="73152" marT="27432" marB="27432" anchor="ctr">
                    <a:solidFill>
                      <a:srgbClr val="F4F8F9"/>
                    </a:solidFill>
                  </a:tcPr>
                </a:tc>
              </a:tr>
            </a:tbl>
          </a:graphicData>
        </a:graphic>
      </p:graphicFrame>
      <p:sp>
        <p:nvSpPr>
          <p:cNvPr id="4" name="TextBox 3"/>
          <p:cNvSpPr txBox="1"/>
          <p:nvPr/>
        </p:nvSpPr>
        <p:spPr>
          <a:xfrm>
            <a:off x="548640" y="3607308"/>
            <a:ext cx="11094415" cy="268985"/>
          </a:xfrm>
          <a:prstGeom prst="rect">
            <a:avLst/>
          </a:prstGeom>
          <a:noFill/>
        </p:spPr>
        <p:txBody>
          <a:bodyPr wrap="square" anchor="t" lIns="0" rIns="0" tIns="0" bIns="0">
            <a:spAutoFit/>
          </a:bodyPr>
          <a:lstStyle/>
          <a:p>
            <a:r>
              <a:rPr sz="1500" b="0">
                <a:solidFill>
                  <a:srgbClr val="142B33"/>
                </a:solidFill>
                <a:latin typeface="Calibri"/>
              </a:rPr>
              <a:t>Las celdas indican el </a:t>
            </a:r>
            <a:r>
              <a:rPr sz="1500" b="1">
                <a:solidFill>
                  <a:srgbClr val="142B33"/>
                </a:solidFill>
                <a:latin typeface="Calibri"/>
              </a:rPr>
              <a:t>número de factores</a:t>
            </a:r>
            <a:r>
              <a:rPr sz="1500" b="0">
                <a:solidFill>
                  <a:srgbClr val="142B33"/>
                </a:solidFill>
                <a:latin typeface="Calibri"/>
              </a:rPr>
              <a:t> que se pueden estudiar</a:t>
            </a:r>
          </a:p>
        </p:txBody>
      </p:sp>
      <p:sp>
        <p:nvSpPr>
          <p:cNvPr id="5" name="Rounded Rectangle 4"/>
          <p:cNvSpPr/>
          <p:nvPr/>
        </p:nvSpPr>
        <p:spPr>
          <a:xfrm>
            <a:off x="548640"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III</a:t>
            </a:r>
          </a:p>
          <a:p>
            <a:pPr algn="l"/>
            <a:r>
              <a:rPr sz="1700" b="0">
                <a:solidFill>
                  <a:srgbClr val="142B33"/>
                </a:solidFill>
                <a:latin typeface="Calibri"/>
              </a:rPr>
              <a:t>Máximo </a:t>
            </a:r>
            <a:r>
              <a:rPr sz="1700" b="1">
                <a:solidFill>
                  <a:srgbClr val="142B33"/>
                </a:solidFill>
                <a:latin typeface="Calibri"/>
              </a:rPr>
              <a:t>k = N − 1</a:t>
            </a:r>
            <a:r>
              <a:rPr sz="1700" b="0">
                <a:solidFill>
                  <a:srgbClr val="142B33"/>
                </a:solidFill>
                <a:latin typeface="Calibri"/>
              </a:rPr>
              <a:t> factores</a:t>
            </a:r>
          </a:p>
        </p:txBody>
      </p:sp>
      <p:sp>
        <p:nvSpPr>
          <p:cNvPr id="6" name="Rounded Rectangle 5"/>
          <p:cNvSpPr/>
          <p:nvPr/>
        </p:nvSpPr>
        <p:spPr>
          <a:xfrm>
            <a:off x="6210147"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IV</a:t>
            </a:r>
          </a:p>
          <a:p>
            <a:pPr algn="l"/>
            <a:r>
              <a:rPr sz="1700" b="0">
                <a:solidFill>
                  <a:srgbClr val="142B33"/>
                </a:solidFill>
                <a:latin typeface="Calibri"/>
              </a:rPr>
              <a:t>Mínimo </a:t>
            </a:r>
            <a:r>
              <a:rPr sz="1700" b="1">
                <a:solidFill>
                  <a:srgbClr val="142B33"/>
                </a:solidFill>
                <a:latin typeface="Calibri"/>
              </a:rPr>
              <a:t>N = 2k</a:t>
            </a:r>
            <a:r>
              <a:rPr sz="17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102</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Cierre</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9</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Lo que hay que recordar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Lo que hay que recordar</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Ideas clave</a:t>
            </a:r>
          </a:p>
        </p:txBody>
      </p:sp>
      <p:sp>
        <p:nvSpPr>
          <p:cNvPr id="4" name="TextBox 3"/>
          <p:cNvSpPr txBox="1"/>
          <p:nvPr/>
        </p:nvSpPr>
        <p:spPr>
          <a:xfrm>
            <a:off x="548640" y="1964944"/>
            <a:ext cx="5341467"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Muchos factores en pocas corridas, </a:t>
            </a:r>
            <a:r>
              <a:rPr sz="1700" b="1">
                <a:solidFill>
                  <a:srgbClr val="142B33"/>
                </a:solidFill>
                <a:latin typeface="Calibri"/>
              </a:rPr>
              <a:t>a cambio de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relación de definición</a:t>
            </a:r>
            <a:r>
              <a:rPr sz="1700" b="0">
                <a:solidFill>
                  <a:srgbClr val="142B33"/>
                </a:solidFill>
                <a:latin typeface="Calibri"/>
              </a:rPr>
              <a:t> determina los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resolución</a:t>
            </a:r>
            <a:r>
              <a:rPr sz="1700" b="0">
                <a:solidFill>
                  <a:srgbClr val="142B33"/>
                </a:solidFill>
                <a:latin typeface="Calibri"/>
              </a:rPr>
              <a:t> dice qué tan grave es la mezcla</a:t>
            </a:r>
          </a:p>
          <a:p>
            <a:pPr marL="320040" indent="-320040">
              <a:spcAft>
                <a:spcPts val="600"/>
              </a:spcAft>
              <a:buClr>
                <a:srgbClr val="E36414"/>
              </a:buClr>
              <a:buFont typeface="Arial"/>
              <a:buChar char="•"/>
            </a:pPr>
            <a:r>
              <a:rPr sz="1700" b="0">
                <a:solidFill>
                  <a:srgbClr val="142B33"/>
                </a:solidFill>
                <a:latin typeface="Calibri"/>
              </a:rPr>
              <a:t>Análisis: efectos → gráfica normal → ANOVA reducido → residuos</a:t>
            </a:r>
          </a:p>
          <a:p>
            <a:pPr marL="320040" indent="-320040">
              <a:spcAft>
                <a:spcPts val="600"/>
              </a:spcAft>
              <a:buClr>
                <a:srgbClr val="E36414"/>
              </a:buClr>
              <a:buFont typeface="Arial"/>
              <a:buChar char="•"/>
            </a:pPr>
            <a:r>
              <a:rPr sz="1700" b="0">
                <a:solidFill>
                  <a:srgbClr val="142B33"/>
                </a:solidFill>
                <a:latin typeface="Calibri"/>
              </a:rPr>
              <a:t>Las conclusiones son </a:t>
            </a:r>
            <a:r>
              <a:rPr sz="1700" b="1">
                <a:solidFill>
                  <a:srgbClr val="142B33"/>
                </a:solidFill>
                <a:latin typeface="Calibri"/>
              </a:rPr>
              <a:t>tentativas</a:t>
            </a:r>
            <a:r>
              <a:rPr sz="1700" b="0">
                <a:solidFill>
                  <a:srgbClr val="142B33"/>
                </a:solidFill>
                <a:latin typeface="Calibri"/>
              </a:rPr>
              <a:t>: hay que confirmar</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Errores frecuentes</a:t>
            </a:r>
          </a:p>
        </p:txBody>
      </p:sp>
      <p:sp>
        <p:nvSpPr>
          <p:cNvPr id="6" name="TextBox 5"/>
          <p:cNvSpPr txBox="1"/>
          <p:nvPr/>
        </p:nvSpPr>
        <p:spPr>
          <a:xfrm>
            <a:off x="6301587" y="1964944"/>
            <a:ext cx="5341467" cy="225526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Interpretar un efecto </a:t>
            </a:r>
            <a:r>
              <a:rPr sz="1700" b="1">
                <a:solidFill>
                  <a:srgbClr val="142B33"/>
                </a:solidFill>
                <a:latin typeface="Calibri"/>
              </a:rPr>
              <a:t>sin revisar sus alias</a:t>
            </a:r>
          </a:p>
          <a:p>
            <a:pPr marL="320040" indent="-320040">
              <a:spcAft>
                <a:spcPts val="600"/>
              </a:spcAft>
              <a:buClr>
                <a:srgbClr val="E36414"/>
              </a:buClr>
              <a:buFont typeface="Arial"/>
              <a:buChar char="•"/>
            </a:pPr>
            <a:r>
              <a:rPr sz="1700" b="0">
                <a:solidFill>
                  <a:srgbClr val="142B33"/>
                </a:solidFill>
                <a:latin typeface="Calibri"/>
              </a:rPr>
              <a:t>Usar resolución III </a:t>
            </a:r>
            <a:r>
              <a:rPr sz="1700" b="1">
                <a:solidFill>
                  <a:srgbClr val="142B33"/>
                </a:solidFill>
                <a:latin typeface="Calibri"/>
              </a:rPr>
              <a:t>sin prever un doblez</a:t>
            </a:r>
            <a:r>
              <a:rPr sz="1700" b="0">
                <a:solidFill>
                  <a:srgbClr val="142B33"/>
                </a:solidFill>
                <a:latin typeface="Calibri"/>
              </a:rPr>
              <a:t> cuando puede haber interacciones</a:t>
            </a:r>
          </a:p>
          <a:p>
            <a:pPr marL="320040" indent="-320040">
              <a:spcAft>
                <a:spcPts val="600"/>
              </a:spcAft>
              <a:buClr>
                <a:srgbClr val="E36414"/>
              </a:buClr>
              <a:buFont typeface="Arial"/>
              <a:buChar char="•"/>
            </a:pPr>
            <a:r>
              <a:rPr sz="1700" b="0">
                <a:solidFill>
                  <a:srgbClr val="142B33"/>
                </a:solidFill>
                <a:latin typeface="Calibri"/>
              </a:rPr>
              <a:t>No aleatorizar o no guardar el </a:t>
            </a:r>
            <a:r>
              <a:rPr sz="1700" b="1">
                <a:solidFill>
                  <a:srgbClr val="142B33"/>
                </a:solidFill>
                <a:latin typeface="Calibri"/>
              </a:rPr>
              <a:t>orden de corrida</a:t>
            </a:r>
          </a:p>
          <a:p>
            <a:pPr marL="320040" indent="-320040">
              <a:spcAft>
                <a:spcPts val="600"/>
              </a:spcAft>
              <a:buClr>
                <a:srgbClr val="E36414"/>
              </a:buClr>
              <a:buFont typeface="Arial"/>
              <a:buChar char="•"/>
            </a:pPr>
            <a:r>
              <a:rPr sz="1700" b="0">
                <a:solidFill>
                  <a:srgbClr val="142B33"/>
                </a:solidFill>
                <a:latin typeface="Calibri"/>
              </a:rPr>
              <a:t>No cuidar la </a:t>
            </a:r>
            <a:r>
              <a:rPr sz="1700" b="1">
                <a:solidFill>
                  <a:srgbClr val="142B33"/>
                </a:solidFill>
                <a:latin typeface="Calibri"/>
              </a:rPr>
              <a:t>asignación</a:t>
            </a:r>
            <a:r>
              <a:rPr sz="1700" b="0">
                <a:solidFill>
                  <a:srgbClr val="142B33"/>
                </a:solidFill>
                <a:latin typeface="Calibri"/>
              </a:rPr>
              <a:t> de factores a columnas (alias y proyección)</a:t>
            </a:r>
          </a:p>
          <a:p>
            <a:pPr marL="320040" indent="-320040">
              <a:spcAft>
                <a:spcPts val="600"/>
              </a:spcAft>
              <a:buClr>
                <a:srgbClr val="E36414"/>
              </a:buClr>
              <a:buFont typeface="Arial"/>
              <a:buChar char="•"/>
            </a:pPr>
            <a:r>
              <a:rPr sz="1700" b="0">
                <a:solidFill>
                  <a:srgbClr val="142B33"/>
                </a:solidFill>
                <a:latin typeface="Calibri"/>
              </a:rPr>
              <a:t>Dar por definitivo lo que no se ha confirmado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104</a:t>
            </a:r>
          </a:p>
        </p:txBody>
      </p:sp>
      <p:sp>
        <p:nvSpPr>
          <p:cNvPr id="9" name="Rounded Rectangle 8"/>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9 · Cierre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Referencias</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Fuente de la teoría y de los ejemplos</a:t>
            </a:r>
          </a:p>
        </p:txBody>
      </p:sp>
      <p:sp>
        <p:nvSpPr>
          <p:cNvPr id="4" name="TextBox 3"/>
          <p:cNvSpPr txBox="1"/>
          <p:nvPr/>
        </p:nvSpPr>
        <p:spPr>
          <a:xfrm>
            <a:off x="548640" y="1964944"/>
            <a:ext cx="5341467" cy="87248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Montgomery, D. C. (2004). Diseño y análisis de experimentos, 2.ª ed. Limusa-Wiley. Capítulos 6, 7 y 8 (ejemplos 8-1 a 8-8)</a:t>
            </a:r>
          </a:p>
        </p:txBody>
      </p:sp>
      <p:sp>
        <p:nvSpPr>
          <p:cNvPr id="5" name="Rounded Rectangle 4"/>
          <p:cNvSpPr/>
          <p:nvPr/>
        </p:nvSpPr>
        <p:spPr>
          <a:xfrm>
            <a:off x="548640" y="303860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Todos los cálculos se rehicieron a partir de los datos</a:t>
            </a:r>
          </a:p>
        </p:txBody>
      </p:sp>
      <p:sp>
        <p:nvSpPr>
          <p:cNvPr id="6" name="TextBox 5"/>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Bibliografía del curso para profundizar</a:t>
            </a:r>
          </a:p>
        </p:txBody>
      </p:sp>
      <p:sp>
        <p:nvSpPr>
          <p:cNvPr id="7" name="TextBox 6"/>
          <p:cNvSpPr txBox="1"/>
          <p:nvPr/>
        </p:nvSpPr>
        <p:spPr>
          <a:xfrm>
            <a:off x="6301587" y="1964944"/>
            <a:ext cx="5341467" cy="174497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Gutiérrez Pulido, H. y De la Vara Salazar, R. (2008). Análisis y diseño de experimentos. McGraw-Hill</a:t>
            </a:r>
          </a:p>
          <a:p>
            <a:pPr marL="320040" indent="-320040">
              <a:spcAft>
                <a:spcPts val="600"/>
              </a:spcAft>
              <a:buClr>
                <a:srgbClr val="E36414"/>
              </a:buClr>
              <a:buFont typeface="Arial"/>
              <a:buChar char="•"/>
            </a:pPr>
            <a:r>
              <a:rPr sz="1700" b="0">
                <a:solidFill>
                  <a:srgbClr val="142B33"/>
                </a:solidFill>
                <a:latin typeface="Calibri"/>
              </a:rPr>
              <a:t>Box, G. E. P., Hunter, J. S. y Hunter, W. G. (2005). Statistics for Experimenters. John Wiley &amp; Sons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105</a:t>
            </a:r>
          </a:p>
        </p:txBody>
      </p:sp>
      <p:sp>
        <p:nvSpPr>
          <p:cNvPr id="10" name="Rounded Rectangle 9"/>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9 · Cierre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¿Preguntas?</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Diseños factoriales fraccionados 2</a:t>
            </a:r>
            <a:r>
              <a:rPr sz="2200" b="0" baseline="30000">
                <a:solidFill>
                  <a:srgbClr val="CFE3E8"/>
                </a:solidFill>
                <a:latin typeface="Calibri"/>
              </a:rPr>
              <a:t>k−p</a:t>
            </a:r>
          </a:p>
        </p:txBody>
      </p:sp>
      <p:sp>
        <p:nvSpPr>
          <p:cNvPr id="4" name="Oval 3"/>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5" name="Oval 4"/>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6" name="Oval 5"/>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