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el factor C</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numCache>
            </c:numRef>
          </c:xVal>
          <c:yVal>
            <c:numRef>
              <c:f>Sheet1!$B$2:$B$17</c:f>
              <c:numCache>
                <c:formatCode>General</c:formatCode>
                <c:ptCount val="16"/>
                <c:pt idx="0">
                  <c:v>-2.5</c:v>
                </c:pt>
                <c:pt idx="1">
                  <c:v>-0.5</c:v>
                </c:pt>
                <c:pt idx="2">
                  <c:v>-0.25</c:v>
                </c:pt>
                <c:pt idx="3">
                  <c:v>2.0</c:v>
                </c:pt>
                <c:pt idx="4">
                  <c:v>-4.5</c:v>
                </c:pt>
                <c:pt idx="5">
                  <c:v>4.5</c:v>
                </c:pt>
                <c:pt idx="6">
                  <c:v>-6.25</c:v>
                </c:pt>
                <c:pt idx="7">
                  <c:v>2.0</c:v>
                </c:pt>
                <c:pt idx="8">
                  <c:v>-0.5</c:v>
                </c:pt>
                <c:pt idx="9">
                  <c:v>1.5</c:v>
                </c:pt>
                <c:pt idx="10">
                  <c:v>1.75</c:v>
                </c:pt>
                <c:pt idx="11">
                  <c:v>2.0</c:v>
                </c:pt>
                <c:pt idx="12">
                  <c:v>7.5</c:v>
                </c:pt>
                <c:pt idx="13">
                  <c:v>-5.5</c:v>
                </c:pt>
                <c:pt idx="14">
                  <c:v>4.75</c:v>
                </c:pt>
                <c:pt idx="15">
                  <c:v>-6.0</c:v>
                </c:pt>
              </c:numCache>
            </c:numRef>
          </c:yVal>
          <c:smooth val="0"/>
        </c:ser>
        <c:axId val="-2128940872"/>
        <c:axId val="-2129643912"/>
      </c:scatterChart>
      <c:valAx>
        <c:axId val="-2128940872"/>
        <c:scaling>
          <c:orientation val="minMax"/>
          <c:max val="2.0"/>
          <c:min val="-2.0"/>
        </c:scaling>
        <c:delete val="0"/>
        <c:axPos val="b"/>
        <c:title>
          <c:tx>
            <c:rich>
              <a:bodyPr/>
              <a:lstStyle/>
              <a:p>
                <a:r>
                  <a:rPr sz="1200" b="0">
                    <a:solidFill>
                      <a:srgbClr val="5B6B73"/>
                    </a:solidFill>
                    <a:latin typeface="Calibri"/>
                  </a:rPr>
                  <a:t>Nivel de C (tiempo de retención)</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majorUnit val="1.0"/>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mismo orden que usamos en los temas anteriores: primero para qué sirve el diseño y en qué casos conviene, luego su vocabulario, después cómo se construye y cómo se corre, el modelo y las hipótesis, el análisis estadístico, los ejemplos, la verificación de supuestos, el manejo en Minitab y un cierre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mide qué tan grave es la mezcla de efectos. Se escribe con número romano como subíndice y es igual al número de letras de la palabra más corta de la relación de definición.</a:t>
            </a:r>
          </a:p>
          <a:p/>
          <a:p>
            <a:r>
              <a:t>Resolución III: los efectos principales no se confunden entre sí, pero sí con interacciones de dos factores. Resolución IV: los efectos principales quedan libres de interacciones dobles, pero las interacciones dobles se confunden entre sí. Resolución V: efectos principales e interacciones dobles quedan libres unos de otros; solo se confunden con interacciones de tres o más factores.</a:t>
            </a:r>
          </a:p>
          <a:p/>
          <a:p>
            <a:r>
              <a:t>Regla práctica: usar la resolución más alta que permita el presupuesto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p>
            <a:r>
              <a:t>De esta tabla sale la fracción: elegir media fracción es quedarse con las filas en que una columna de interacción tiene el mismo signo.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 Minitab ofrece estos diseños con generadores predeterminados; para el 26−2, por ejemplo, usa E = ABC y F = BCD.</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usa Minitab para trazar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los dos efectos pequeños quedan cerca del origen y los otros cinco quedan claramente más lejos.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Once efectos caen sobre una recta alrededor de cero; cuatro se separan claramente: B (33.88), A (11.13), C (10.88) y AB (6.88).</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proceso de moldeo por inyección las piezas se contraen demasiado. Se estudian seis factores: A temperatura de moldeo, B velocidad del tornillo (enroscado), C tiempo de retención, D duración del ciclo, E tamaño del vaciadero y F presión de retención. Se corre un 26−2 de resolución IV con E = ABC y F = BCD: 16 corridas en lugar de 64.</a:t>
            </a:r>
          </a:p>
          <a:p/>
          <a:p>
            <a:r>
              <a:t>La tabla muestra los ocho efectos de mayor magnitud. Sobresalen B (35.63), A (13.88) y la cadena AB + CE (11.88). Como A y B son activos y C y E no, la cadena se atribuye a AB.</a:t>
            </a:r>
          </a:p>
          <a:p/>
          <a:p>
            <a:r>
              <a:t>El ANOVA del modelo A, B, AB confirma que los tres términos son significativos (F0.05, 1, 12 = 4.75), con R² = 96.26 %. Fuente: Montgomery, ejemplo 8-4. El libro no presenta la tabla ANOVA de este ejemplo; se calculó aquí a partir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Gráfica de interacción: con la velocidad del tornillo baja (B −), la contracción es pequeña y casi no depende de la temperatura; con B alta, la contracción es grande y muy sensible a la temperatura. La recomendación para reducir la contracción media es trabajar con B en nivel bajo (en el estudio se decidió bajar tanto la temperatura como la velocidad).</a:t>
            </a:r>
          </a:p>
          <a:p/>
          <a:p>
            <a:r>
              <a:t>Los residuos contra el tiempo de retención (C) muestran algo más: con C bajo los residuos están muy concentrados y con C alto están mucho más dispersos. C no afecta la media de la contracción, pero sí su variabilidad: es un efecto de dispersión. El libro lo cuantifica con el estadístico F* = ln[S²(C+)/S²(C−)] = 2.50, el único que se separa en la gráfica normal de los quince valores. Conclusión: B bajo para reducir la contracción media y C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(disponible en Minitab)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3 la gráfica de residuos contra el factor C mostró más dispersión con C alto. El criterio del libro es el estadístico F* = ln[S²(+)/S²(−)], que se calcula para cada columna de signos: si las varianzas son iguales, F* es aproximadamente normal con media cero, y se juzga con una gráfica de probabilidad normal de los quince valores. La desviación estándar de los residuos es 5.70 con C alto y 1.63 con C bajo, de modo que F* = 2.50 para C, el único valor que se separa de los demás. Esto solo es válido si el modelo de localización (A, B, AB) es correcto.</a:t>
            </a:r>
          </a:p>
          <a:p/>
          <a:p>
            <a:r>
              <a:t>Como apoyo descriptivo se agrega aquí la prueba de Bartlett sobre los residuos agrupados por nivel de C: χ² = 8.32 con 1 grado de libertad y valor p = 0.0039. No está en el libro y debe leerse con cautela: los residuos de un mismo modelo no son muestras independientes, C se eligió después de mirar quince columnas y Bartlett es sensible a la falta de normalidad.</a:t>
            </a:r>
          </a:p>
          <a:p/>
          <a:p>
            <a:r>
              <a:t>Aquí la violación del supuesto es en sí misma un hallazgo: el tiempo de retención no cambia la contracción media, pero sí su variabilidad. La decisión es fijar C en el nivel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 o, si la varianza depende de un factor, tratarlo como efecto de dispersión y aprovecharlo.</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en Minitab sigue cinco pasos. Crear el diseño: Minitab genera la matriz y el orden aleatorio. Ingresar la respuesta en la hoja de trabajo. Analizar el diseño: efectos, alias, ANOVA y gráficas de efectos. Verificar supuestos con las gráficas de residuos y las pruebas analíticas. Interpretar con gráficas factoriales y, si hace falta, agregar un doblez.</a:t>
            </a:r>
          </a:p>
          <a:p/>
          <a:p>
            <a:r>
              <a:t>Minitab llama «plegar» al doblez. Los nombres de menús y opciones se cotejaron con la documentación de soporte de Minitab en español; pueden variar entre versiones.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Crear diseño factorial. En tipo de diseño se deja «Factorial de 2 niveles (generadores predeterminados)» y se indica el número de factores.</a:t>
            </a:r>
          </a:p>
          <a:p/>
          <a:p>
            <a:r>
              <a:t>En «Diseños» se elige la fracción: Minitab lista las opciones con sus corridas y su resolución; ahí mismo se definen réplicas, puntos centrales y bloques. En «Factores» se escribe el nombre real de cada factor y sus niveles bajo y alto. En «Opciones» se deja marcada la casilla de aleatorizar corridas y se elige la fracción (principal u otra) o el plegado del diseño, que es como Minitab llama al doblez. En «Resultados» se pide la estructura de alias.</a:t>
            </a:r>
          </a:p>
          <a:p/>
          <a:p>
            <a:r>
              <a:t>Si se necesitan generadores propios, se usa el tipo «Factorial de 2 niveles (especificar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botón «Mostrar diseños disponibles» abre una tabla que cruza el número de corridas con el número de factores e indica la resolución de cada combinación. Es la misma información de la tabla de diseños recomendados.</a:t>
            </a:r>
          </a:p>
          <a:p/>
          <a:p>
            <a:r>
              <a:t>Se lee así: con 5 factores y 16 corridas el diseño es de resolución V; con 7 factores y 8 corridas es de resolución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aceptar, Minitab escribe el diseño en la hoja de trabajo. Las cuatro primeras columnas son de control: OrdenEst (orden estándar), OrdenCorrida (el orden aleatorio en que se debe ejecutar), PtCentral y Bloques. Luego viene una columna por factor.</a:t>
            </a:r>
          </a:p>
          <a:p/>
          <a:p>
            <a:r>
              <a:t>La respuesta se digita en la primera columna libre, con un nombre descriptivo, en la fila de la corrida correspondiente. No se deben borrar ni reordenar a mano las columnas de control.</a:t>
            </a:r>
          </a:p>
          <a:p/>
          <a:p>
            <a:r>
              <a:t>Si los datos ya existen en una hoja (por ejemplo, de un experimento corrido antes), no hace falta crear el diseño: se usa Estadísticas &gt; DOE &gt; Factorial &gt; Definir diseño factorial personalizado, indicando qué columnas son los factores.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Analizar diseño factorial. En «Respuestas» se selecciona la columna de la respuesta.</a:t>
            </a:r>
          </a:p>
          <a:p/>
          <a:p>
            <a:r>
              <a:t>En «Términos» se decide qué entra al modelo. En el primer análisis se incluyen todos los términos disponibles para ver todos los efectos; después se regresa y se dejan solo los activos, con lo cual los descartados pasan al error.</a:t>
            </a:r>
          </a:p>
          <a:p/>
          <a:p>
            <a:r>
              <a:t>En «Gráficas» se marcan las gráficas de efectos (Pareto, Normal y Normales (absolutos), que es la seminormal) y las gráficas de residuos «Cuatro en uno». Cuando no hay grados de libertad para el error, Minitab traza la línea de referencia con el método de Lenth. En «Almacenamiento» se piden los ajustes y los residuos para las pruebas analíticas.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tiene tres partes que hay que leer en orden. Primero la estructura de alias: confirma qué efectos están mezclados; hay que revisarla antes de interpretar cualquier efecto. Segundo, el análisis de varianza: cada término con sus grados de libertad, suma de cuadrados, F y valor p; se rechaza H0 para los términos con valor p menor que 0.05. Tercero, el resumen del modelo: S es la raíz del cuadrado medio del error y R-cuadrado el porcentaje de variabilidad explicada.</a:t>
            </a:r>
          </a:p>
          <a:p/>
          <a:p>
            <a:r>
              <a:t>La salida mostrada es la que corresponde al modelo reducido del ejemplo 1; los valores se calcularon a partir de los datos y deben coincidir con los que entregue Minitab.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interpretar: las gráficas factoriales muestran los efectos principales y las interacciones; la gráfica de cubo muestra la respuesta media en cada vértice de los factores activos.</a:t>
            </a:r>
          </a:p>
          <a:p/>
          <a:p>
            <a:r>
              <a:t>Para los supuestos: las gráficas de residuos «Cuatro en uno» se piden dentro del análisis; la prueba de normalidad se aplica a la columna de residuos almacenada, y la prueba de igualdad de varianzas compara la dispersión de los residuos entre niveles de un factor.</a:t>
            </a:r>
          </a:p>
          <a:p/>
          <a:p>
            <a:r>
              <a:t>Para ampliar el experimento: Modificar diseño permite plegar el diseño, es decir hacer el doblez (en todos los factores o en uno solo); Minitab agrega las corridas nuevas a la hoja. Los diseños de Plackett-Burman se crean desde el mismo cuadro de Crear diseño factorial, eligiendo ese tipo de diseño.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¿Para qué sirven?</a:t>
            </a:r>
          </a:p>
          <a:p>
            <a:pPr algn="l"/>
            <a:r>
              <a:rPr sz="1500" b="0">
                <a:solidFill>
                  <a:srgbClr val="142B33"/>
                </a:solidFill>
                <a:latin typeface="Calibri"/>
              </a:rPr>
              <a:t>El problema de las corridas y los casos de uso</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Nomenclatura</a:t>
            </a:r>
          </a:p>
          <a:p>
            <a:pPr algn="l"/>
            <a:r>
              <a:rPr sz="1500" b="0">
                <a:solidFill>
                  <a:srgbClr val="142B33"/>
                </a:solidFill>
                <a:latin typeface="Calibri"/>
              </a:rPr>
              <a:t>2</a:t>
            </a:r>
            <a:r>
              <a:rPr sz="1500" b="0" baseline="30000">
                <a:solidFill>
                  <a:srgbClr val="142B33"/>
                </a:solidFill>
                <a:latin typeface="Calibri"/>
              </a:rPr>
              <a:t>k−p</a:t>
            </a:r>
            <a:r>
              <a:rPr sz="1500" b="0">
                <a:solidFill>
                  <a:srgbClr val="142B33"/>
                </a:solidFill>
                <a:latin typeface="Calibri"/>
              </a:rPr>
              <a:t>, generador, alias, resolución</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Construcción y protocolo</a:t>
            </a:r>
          </a:p>
          <a:p>
            <a:pPr algn="l"/>
            <a:r>
              <a:rPr sz="1500" b="0">
                <a:solidFill>
                  <a:srgbClr val="142B33"/>
                </a:solidFill>
                <a:latin typeface="Calibri"/>
              </a:rPr>
              <a:t>Fracciones un medio, un cuarto y general</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Modelo e hipótesis</a:t>
            </a:r>
          </a:p>
          <a:p>
            <a:pPr algn="l"/>
            <a:r>
              <a:rPr sz="1500" b="0">
                <a:solidFill>
                  <a:srgbClr val="142B33"/>
                </a:solidFill>
                <a:latin typeface="Calibri"/>
              </a:rPr>
              <a:t>Qué se estima y qué se prueba</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Análisis estadístico</a:t>
            </a:r>
          </a:p>
          <a:p>
            <a:pPr algn="l"/>
            <a:r>
              <a:rPr sz="1500" b="0">
                <a:solidFill>
                  <a:srgbClr val="142B33"/>
                </a:solidFill>
                <a:latin typeface="Calibri"/>
              </a:rPr>
              <a:t>Contrastes, efectos, ANOVA, efectos activos</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Ejemplos</a:t>
            </a:r>
          </a:p>
          <a:p>
            <a:pPr algn="l"/>
            <a:r>
              <a:rPr sz="1500" b="0">
                <a:solidFill>
                  <a:srgbClr val="142B33"/>
                </a:solidFill>
                <a:latin typeface="Calibri"/>
              </a:rPr>
              <a:t>Resolución IV, V y un cuarto de fracción</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Resolver ambigüedades</a:t>
            </a:r>
          </a:p>
          <a:p>
            <a:pPr algn="l"/>
            <a:r>
              <a:rPr sz="1500" b="0">
                <a:solidFill>
                  <a:srgbClr val="142B33"/>
                </a:solidFill>
                <a:latin typeface="Calibri"/>
              </a:rPr>
              <a:t>Fracción alterna, doblez,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Supuestos</a:t>
            </a:r>
          </a:p>
          <a:p>
            <a:pPr algn="l"/>
            <a:r>
              <a:rPr sz="1500" b="0">
                <a:solidFill>
                  <a:srgbClr val="142B33"/>
                </a:solidFill>
                <a:latin typeface="Calibri"/>
              </a:rPr>
              <a:t>Residuos, pruebas gráficas y analíticas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Minitab</a:t>
            </a:r>
          </a:p>
          <a:p>
            <a:pPr algn="l"/>
            <a:r>
              <a:rPr sz="1500" b="0">
                <a:solidFill>
                  <a:srgbClr val="142B33"/>
                </a:solidFill>
                <a:latin typeface="Calibri"/>
              </a:rPr>
              <a:t>Crear el diseño, ingresar datos y analizar</a:t>
            </a:r>
          </a:p>
        </p:txBody>
      </p:sp>
      <p:sp>
        <p:nvSpPr>
          <p:cNvPr id="12" name="Rounded Rectangle 11"/>
          <p:cNvSpPr/>
          <p:nvPr/>
        </p:nvSpPr>
        <p:spPr>
          <a:xfrm>
            <a:off x="9607052"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10 · Cierre</a:t>
            </a:r>
          </a:p>
          <a:p>
            <a:pPr algn="l"/>
            <a:r>
              <a:rPr sz="1500" b="0">
                <a:solidFill>
                  <a:srgbClr val="142B33"/>
                </a:solidFill>
                <a:latin typeface="Calibri"/>
              </a:rPr>
              <a:t>Ideas clave y errores frecuentes</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4" name="TextBox 13"/>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¿Para qué sirven?</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problema que resuelven y cuándo conviene usarlos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Nomenclatura</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vocabulario propio del diseño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graphicFrame>
        <p:nvGraphicFramePr>
          <p:cNvPr id="3" name="Table 2"/>
          <p:cNvGraphicFramePr>
            <a:graphicFrameLocks noGrp="1"/>
          </p:cNvGraphicFramePr>
          <p:nvPr/>
        </p:nvGraphicFramePr>
        <p:xfrm>
          <a:off x="548640" y="1417320"/>
          <a:ext cx="11094412" cy="2210816"/>
        </p:xfrm>
        <a:graphic>
          <a:graphicData uri="http://schemas.openxmlformats.org/drawingml/2006/table">
            <a:tbl>
              <a:tblPr firstRow="0" bandRow="0">
                <a:tableStyleId>{5C22544A-7EE6-4342-B048-85BDC9FD1C3A}</a:tableStyleId>
              </a:tblPr>
              <a:tblGrid>
                <a:gridCol w="1442273"/>
                <a:gridCol w="3328324"/>
                <a:gridCol w="3550212"/>
                <a:gridCol w="2773603"/>
              </a:tblGrid>
              <a:tr h="366776">
                <a:tc>
                  <a:txBody>
                    <a:bodyPr/>
                    <a:lstStyle/>
                    <a:p>
                      <a:pPr algn="l"/>
                      <a:r>
                        <a:rPr sz="1600" b="1">
                          <a:solidFill>
                            <a:srgbClr val="FFFFFF"/>
                          </a:solidFill>
                          <a:latin typeface="Calibri"/>
                        </a:rPr>
                        <a:t>Resolución</a:t>
                      </a:r>
                    </a:p>
                  </a:txBody>
                  <a:tcPr marL="73152" marR="73152" marT="27432" marB="27432" anchor="ctr">
                    <a:solidFill>
                      <a:srgbClr val="0F4C5C"/>
                    </a:solidFill>
                  </a:tcPr>
                </a:tc>
                <a:tc>
                  <a:txBody>
                    <a:bodyPr/>
                    <a:lstStyle/>
                    <a:p>
                      <a:pPr algn="l"/>
                      <a:r>
                        <a:rPr sz="1600" b="1">
                          <a:solidFill>
                            <a:srgbClr val="FFFFFF"/>
                          </a:solidFill>
                          <a:latin typeface="Calibri"/>
                        </a:rPr>
                        <a:t>Efectos principales</a:t>
                      </a:r>
                    </a:p>
                  </a:txBody>
                  <a:tcPr marL="73152" marR="73152" marT="27432" marB="27432" anchor="ctr">
                    <a:solidFill>
                      <a:srgbClr val="0F4C5C"/>
                    </a:solidFill>
                  </a:tcPr>
                </a:tc>
                <a:tc>
                  <a:txBody>
                    <a:bodyPr/>
                    <a:lstStyle/>
                    <a:p>
                      <a:pPr algn="l"/>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Ejemplo</a:t>
                      </a:r>
                    </a:p>
                  </a:txBody>
                  <a:tcPr marL="73152" marR="73152" marT="27432" marB="27432" anchor="ctr">
                    <a:solidFill>
                      <a:srgbClr val="0F4C5C"/>
                    </a:solidFill>
                  </a:tcPr>
                </a:tc>
              </a:tr>
              <a:tr h="614680">
                <a:tc>
                  <a:txBody>
                    <a:bodyPr/>
                    <a:lstStyle/>
                    <a:p>
                      <a:pPr algn="l"/>
                      <a:r>
                        <a:rPr sz="1600" b="0">
                          <a:solidFill>
                            <a:srgbClr val="142B33"/>
                          </a:solidFill>
                          <a:latin typeface="Calibri"/>
                        </a:rPr>
                        <a:t>III</a:t>
                      </a:r>
                    </a:p>
                  </a:txBody>
                  <a:tcPr marL="73152" marR="73152" marT="27432" marB="27432" anchor="ctr">
                    <a:solidFill>
                      <a:srgbClr val="FFFFFF"/>
                    </a:solidFill>
                  </a:tcPr>
                </a:tc>
                <a:tc>
                  <a:txBody>
                    <a:bodyPr/>
                    <a:lstStyle/>
                    <a:p>
                      <a:pPr algn="l"/>
                      <a:r>
                        <a:rPr sz="1600" b="0">
                          <a:solidFill>
                            <a:srgbClr val="142B33"/>
                          </a:solidFill>
                          <a:latin typeface="Calibri"/>
                        </a:rPr>
                        <a:t>Alias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Algunas son alias entre sí</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3−1</a:t>
                      </a:r>
                      <a:r>
                        <a:rPr sz="1600" b="0" baseline="-25000">
                          <a:solidFill>
                            <a:srgbClr val="142B33"/>
                          </a:solidFill>
                          <a:latin typeface="Calibri"/>
                        </a:rPr>
                        <a:t>III</a:t>
                      </a:r>
                      <a:r>
                        <a:rPr sz="1600" b="0">
                          <a:solidFill>
                            <a:srgbClr val="142B33"/>
                          </a:solidFill>
                          <a:latin typeface="Calibri"/>
                        </a:rPr>
                        <a:t>,  I = ABC</a:t>
                      </a:r>
                    </a:p>
                  </a:txBody>
                  <a:tcPr marL="73152" marR="73152" marT="27432" marB="27432" anchor="ctr">
                    <a:solidFill>
                      <a:srgbClr val="FFFFFF"/>
                    </a:solidFill>
                  </a:tcPr>
                </a:tc>
              </a:tr>
              <a:tr h="614680">
                <a:tc>
                  <a:txBody>
                    <a:bodyPr/>
                    <a:lstStyle/>
                    <a:p>
                      <a:pPr algn="l"/>
                      <a:r>
                        <a:rPr sz="1600" b="0">
                          <a:solidFill>
                            <a:srgbClr val="142B33"/>
                          </a:solidFill>
                          <a:latin typeface="Calibri"/>
                        </a:rPr>
                        <a:t>IV</a:t>
                      </a:r>
                    </a:p>
                  </a:txBody>
                  <a:tcPr marL="73152" marR="73152" marT="27432" marB="27432" anchor="ctr">
                    <a:solidFill>
                      <a:srgbClr val="F4F8F9"/>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4F8F9"/>
                    </a:solidFill>
                  </a:tcPr>
                </a:tc>
                <a:tc>
                  <a:txBody>
                    <a:bodyPr/>
                    <a:lstStyle/>
                    <a:p>
                      <a:pPr algn="l"/>
                      <a:r>
                        <a:rPr sz="1600" b="0">
                          <a:solidFill>
                            <a:srgbClr val="142B33"/>
                          </a:solidFill>
                          <a:latin typeface="Calibri"/>
                        </a:rPr>
                        <a:t>Alias entre sí</a:t>
                      </a:r>
                    </a:p>
                  </a:txBody>
                  <a:tcPr marL="73152" marR="73152" marT="27432" marB="27432" anchor="ctr">
                    <a:solidFill>
                      <a:srgbClr val="F4F8F9"/>
                    </a:solidFill>
                  </a:tcPr>
                </a:tc>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r>
                        <a:rPr sz="1600" b="0">
                          <a:solidFill>
                            <a:srgbClr val="142B33"/>
                          </a:solidFill>
                          <a:latin typeface="Calibri"/>
                        </a:rPr>
                        <a:t>,  I = ABCD</a:t>
                      </a:r>
                    </a:p>
                  </a:txBody>
                  <a:tcPr marL="73152" marR="73152" marT="27432" marB="27432" anchor="ctr">
                    <a:solidFill>
                      <a:srgbClr val="F4F8F9"/>
                    </a:solidFill>
                  </a:tcPr>
                </a:tc>
              </a:tr>
              <a:tr h="614680">
                <a:tc>
                  <a:txBody>
                    <a:bodyPr/>
                    <a:lstStyle/>
                    <a:p>
                      <a:pPr algn="l"/>
                      <a:r>
                        <a:rPr sz="1600" b="0">
                          <a:solidFill>
                            <a:srgbClr val="142B33"/>
                          </a:solidFill>
                          <a:latin typeface="Calibri"/>
                        </a:rPr>
                        <a:t>V</a:t>
                      </a:r>
                    </a:p>
                  </a:txBody>
                  <a:tcPr marL="73152" marR="73152" marT="27432" marB="27432" anchor="ctr">
                    <a:solidFill>
                      <a:srgbClr val="FFFFFF"/>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Libres entre sí; alias de las de 3 factores</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5−1</a:t>
                      </a:r>
                      <a:r>
                        <a:rPr sz="1600" b="0" baseline="-25000">
                          <a:solidFill>
                            <a:srgbClr val="142B33"/>
                          </a:solidFill>
                          <a:latin typeface="Calibri"/>
                        </a:rPr>
                        <a:t>V</a:t>
                      </a:r>
                      <a:r>
                        <a:rPr sz="1600" b="0">
                          <a:solidFill>
                            <a:srgbClr val="142B33"/>
                          </a:solidFill>
                          <a:latin typeface="Calibri"/>
                        </a:rPr>
                        <a:t>,  I = ABCDE</a:t>
                      </a:r>
                    </a:p>
                  </a:txBody>
                  <a:tcPr marL="73152" marR="73152" marT="27432" marB="27432" anchor="ctr">
                    <a:solidFill>
                      <a:srgbClr val="FFFFFF"/>
                    </a:solidFill>
                  </a:tcPr>
                </a:tc>
              </a:tr>
            </a:tbl>
          </a:graphicData>
        </a:graphic>
      </p:graphicFrame>
      <p:sp>
        <p:nvSpPr>
          <p:cNvPr id="4" name="Rounded Rectangle 3"/>
          <p:cNvSpPr/>
          <p:nvPr/>
        </p:nvSpPr>
        <p:spPr>
          <a:xfrm>
            <a:off x="548640" y="3829304"/>
            <a:ext cx="11094415"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 número de letras de la palabra más corta de la relación de definición</a:t>
            </a:r>
          </a:p>
        </p:txBody>
      </p:sp>
      <p:sp>
        <p:nvSpPr>
          <p:cNvPr id="5" name="Rounded Rectangle 4"/>
          <p:cNvSpPr/>
          <p:nvPr/>
        </p:nvSpPr>
        <p:spPr>
          <a:xfrm>
            <a:off x="548640" y="4617151"/>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 mayor resolución, menos supuestos hay que hacer sobre qué interacciones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Construcción y protocolo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se arma la fracción y cómo se corre el experimento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firstRow="0" bandRow="0">
                <a:tableStyleId>{5C22544A-7EE6-4342-B048-85BDC9FD1C3A}</a:tableStyleId>
              </a:tblPr>
              <a:tblGrid>
                <a:gridCol w="777717"/>
                <a:gridCol w="538419"/>
                <a:gridCol w="538419"/>
                <a:gridCol w="538419"/>
                <a:gridCol w="897366"/>
                <a:gridCol w="2692099"/>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tr>
            </a:tbl>
          </a:graphicData>
        </a:graphic>
      </p:graphicFrame>
      <p:sp>
        <p:nvSpPr>
          <p:cNvPr id="4" name="TextBox 3"/>
          <p:cNvSpPr txBox="1"/>
          <p:nvPr/>
        </p:nvSpPr>
        <p:spPr>
          <a:xfrm>
            <a:off x="6942563" y="1417320"/>
            <a:ext cx="4700491" cy="32207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firstRow="0" bandRow="0">
                <a:tableStyleId>{5C22544A-7EE6-4342-B048-85BDC9FD1C3A}</a:tableStyleId>
              </a:tblPr>
              <a:tblGrid>
                <a:gridCol w="1173028"/>
                <a:gridCol w="495278"/>
                <a:gridCol w="495278"/>
                <a:gridCol w="495278"/>
                <a:gridCol w="495278"/>
                <a:gridCol w="664715"/>
                <a:gridCol w="664715"/>
                <a:gridCol w="664715"/>
                <a:gridCol w="834153"/>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cuarto: dos generadores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propiedad de proyección</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Modelo e hipótesis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se estima y qué se prueba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Análisis estadístico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De los datos a los efectos activos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Ejemplos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Media fracción de resolución IV y V, y un cuarto de fracción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411480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420624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5" name="Rounded Rectangle 4"/>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Contracción en moldeo por inyección</a:t>
            </a:r>
          </a:p>
        </p:txBody>
      </p:sp>
      <p:sp>
        <p:nvSpPr>
          <p:cNvPr id="3" name="TextBox 2"/>
          <p:cNvSpPr txBox="1"/>
          <p:nvPr/>
        </p:nvSpPr>
        <p:spPr>
          <a:xfrm>
            <a:off x="548640"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Respuesta: </a:t>
            </a:r>
            <a:r>
              <a:rPr sz="1700" b="1">
                <a:solidFill>
                  <a:srgbClr val="142B33"/>
                </a:solidFill>
                <a:latin typeface="Calibri"/>
              </a:rPr>
              <a:t>contracción</a:t>
            </a:r>
            <a:r>
              <a:rPr sz="1700" b="0">
                <a:solidFill>
                  <a:srgbClr val="142B33"/>
                </a:solidFill>
                <a:latin typeface="Calibri"/>
              </a:rPr>
              <a:t> de la pieza, × 10 (se quiere reducir)</a:t>
            </a:r>
          </a:p>
          <a:p>
            <a:pPr marL="320040" indent="-320040">
              <a:spcAft>
                <a:spcPts val="600"/>
              </a:spcAft>
              <a:buClr>
                <a:srgbClr val="E36414"/>
              </a:buClr>
              <a:buFont typeface="Arial"/>
              <a:buChar char="•"/>
            </a:pPr>
            <a:r>
              <a:rPr sz="1700" b="0">
                <a:solidFill>
                  <a:srgbClr val="142B33"/>
                </a:solidFill>
                <a:latin typeface="Calibri"/>
              </a:rPr>
              <a:t>Seis factores en 16 corridas: </a:t>
            </a:r>
            <a:r>
              <a:rPr sz="1700" b="1">
                <a:solidFill>
                  <a:srgbClr val="142B33"/>
                </a:solidFill>
                <a:latin typeface="Calibri"/>
              </a:rPr>
              <a:t>E = ABC, F = BCD</a:t>
            </a:r>
          </a:p>
          <a:p>
            <a:pPr marL="320040" indent="-320040">
              <a:spcAft>
                <a:spcPts val="600"/>
              </a:spcAft>
              <a:buClr>
                <a:srgbClr val="E36414"/>
              </a:buClr>
              <a:buFont typeface="Arial"/>
              <a:buChar char="•"/>
            </a:pPr>
            <a:r>
              <a:rPr sz="1700" b="0">
                <a:solidFill>
                  <a:srgbClr val="142B33"/>
                </a:solidFill>
                <a:latin typeface="Calibri"/>
              </a:rPr>
              <a:t>Resolución IV: I = ABCE = BCDF = ADEF</a:t>
            </a:r>
          </a:p>
        </p:txBody>
      </p:sp>
      <p:graphicFrame>
        <p:nvGraphicFramePr>
          <p:cNvPr id="4" name="Table 3"/>
          <p:cNvGraphicFramePr>
            <a:graphicFrameLocks noGrp="1"/>
          </p:cNvGraphicFramePr>
          <p:nvPr/>
        </p:nvGraphicFramePr>
        <p:xfrm>
          <a:off x="548640" y="3182365"/>
          <a:ext cx="4914149" cy="3022092"/>
        </p:xfrm>
        <a:graphic>
          <a:graphicData uri="http://schemas.openxmlformats.org/drawingml/2006/table">
            <a:tbl>
              <a:tblPr firstRow="0" bandRow="0">
                <a:tableStyleId>{5C22544A-7EE6-4342-B048-85BDC9FD1C3A}</a:tableStyleId>
              </a:tblPr>
              <a:tblGrid>
                <a:gridCol w="2157771"/>
                <a:gridCol w="1433873"/>
                <a:gridCol w="1322505"/>
              </a:tblGrid>
              <a:tr h="335788">
                <a:tc>
                  <a:txBody>
                    <a:bodyPr/>
                    <a:lstStyle/>
                    <a:p>
                      <a:pPr algn="ctr"/>
                      <a:r>
                        <a:rPr sz="1400" b="1">
                          <a:solidFill>
                            <a:srgbClr val="FFFFFF"/>
                          </a:solidFill>
                          <a:latin typeface="Calibri"/>
                        </a:rPr>
                        <a:t>Cadena</a:t>
                      </a:r>
                    </a:p>
                  </a:txBody>
                  <a:tcPr marL="73152" marR="73152" marT="27432" marB="27432" anchor="ctr">
                    <a:solidFill>
                      <a:srgbClr val="0F4C5C"/>
                    </a:solidFill>
                  </a:tcPr>
                </a:tc>
                <a:tc>
                  <a:txBody>
                    <a:bodyPr/>
                    <a:lstStyle/>
                    <a:p>
                      <a:pPr algn="ctr"/>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r>
              <a:tr h="335788">
                <a:tc>
                  <a:txBody>
                    <a:bodyPr/>
                    <a:lstStyle/>
                    <a:p>
                      <a:pPr algn="ctr"/>
                      <a:r>
                        <a:rPr sz="1400" b="0">
                          <a:solidFill>
                            <a:srgbClr val="142B33"/>
                          </a:solidFill>
                          <a:latin typeface="Calibri"/>
                        </a:rPr>
                        <a:t>B</a:t>
                      </a:r>
                    </a:p>
                  </a:txBody>
                  <a:tcPr marL="73152" marR="73152" marT="27432" marB="27432" anchor="ctr">
                    <a:solidFill>
                      <a:srgbClr val="FDE8D7"/>
                    </a:solidFill>
                  </a:tcPr>
                </a:tc>
                <a:tc>
                  <a:txBody>
                    <a:bodyPr/>
                    <a:lstStyle/>
                    <a:p>
                      <a:pPr algn="ctr"/>
                      <a:r>
                        <a:rPr sz="1400" b="0">
                          <a:solidFill>
                            <a:srgbClr val="142B33"/>
                          </a:solidFill>
                          <a:latin typeface="Calibri"/>
                        </a:rPr>
                        <a:t>35.625</a:t>
                      </a:r>
                    </a:p>
                  </a:txBody>
                  <a:tcPr marL="73152" marR="73152" marT="27432" marB="27432" anchor="ctr">
                    <a:solidFill>
                      <a:srgbClr val="FDE8D7"/>
                    </a:solidFill>
                  </a:tcPr>
                </a:tc>
                <a:tc>
                  <a:txBody>
                    <a:bodyPr/>
                    <a:lstStyle/>
                    <a:p>
                      <a:pPr algn="ctr"/>
                      <a:r>
                        <a:rPr sz="1400" b="0">
                          <a:solidFill>
                            <a:srgbClr val="142B33"/>
                          </a:solidFill>
                          <a:latin typeface="Calibri"/>
                        </a:rPr>
                        <a:t>5076.56</a:t>
                      </a:r>
                    </a:p>
                  </a:txBody>
                  <a:tcPr marL="73152" marR="73152" marT="27432" marB="27432" anchor="ctr">
                    <a:solidFill>
                      <a:srgbClr val="FDE8D7"/>
                    </a:solidFill>
                  </a:tcPr>
                </a:tc>
              </a:tr>
              <a:tr h="335788">
                <a:tc>
                  <a:txBody>
                    <a:bodyPr/>
                    <a:lstStyle/>
                    <a:p>
                      <a:pPr algn="ctr"/>
                      <a:r>
                        <a:rPr sz="1400" b="0">
                          <a:solidFill>
                            <a:srgbClr val="142B33"/>
                          </a:solidFill>
                          <a:latin typeface="Calibri"/>
                        </a:rPr>
                        <a:t>A</a:t>
                      </a:r>
                    </a:p>
                  </a:txBody>
                  <a:tcPr marL="73152" marR="73152" marT="27432" marB="27432" anchor="ctr">
                    <a:solidFill>
                      <a:srgbClr val="FDE8D7"/>
                    </a:solidFill>
                  </a:tcPr>
                </a:tc>
                <a:tc>
                  <a:txBody>
                    <a:bodyPr/>
                    <a:lstStyle/>
                    <a:p>
                      <a:pPr algn="ctr"/>
                      <a:r>
                        <a:rPr sz="1400" b="0">
                          <a:solidFill>
                            <a:srgbClr val="142B33"/>
                          </a:solidFill>
                          <a:latin typeface="Calibri"/>
                        </a:rPr>
                        <a:t>13.875</a:t>
                      </a:r>
                    </a:p>
                  </a:txBody>
                  <a:tcPr marL="73152" marR="73152" marT="27432" marB="27432" anchor="ctr">
                    <a:solidFill>
                      <a:srgbClr val="FDE8D7"/>
                    </a:solidFill>
                  </a:tcPr>
                </a:tc>
                <a:tc>
                  <a:txBody>
                    <a:bodyPr/>
                    <a:lstStyle/>
                    <a:p>
                      <a:pPr algn="ctr"/>
                      <a:r>
                        <a:rPr sz="1400" b="0">
                          <a:solidFill>
                            <a:srgbClr val="142B33"/>
                          </a:solidFill>
                          <a:latin typeface="Calibri"/>
                        </a:rPr>
                        <a:t>770.06</a:t>
                      </a:r>
                    </a:p>
                  </a:txBody>
                  <a:tcPr marL="73152" marR="73152" marT="27432" marB="27432" anchor="ctr">
                    <a:solidFill>
                      <a:srgbClr val="FDE8D7"/>
                    </a:solidFill>
                  </a:tcPr>
                </a:tc>
              </a:tr>
              <a:tr h="335788">
                <a:tc>
                  <a:txBody>
                    <a:bodyPr/>
                    <a:lstStyle/>
                    <a:p>
                      <a:pPr algn="ctr"/>
                      <a:r>
                        <a:rPr sz="1400" b="0">
                          <a:solidFill>
                            <a:srgbClr val="142B33"/>
                          </a:solidFill>
                          <a:latin typeface="Calibri"/>
                        </a:rPr>
                        <a:t>AB + CE</a:t>
                      </a:r>
                    </a:p>
                  </a:txBody>
                  <a:tcPr marL="73152" marR="73152" marT="27432" marB="27432" anchor="ctr">
                    <a:solidFill>
                      <a:srgbClr val="FDE8D7"/>
                    </a:solidFill>
                  </a:tcPr>
                </a:tc>
                <a:tc>
                  <a:txBody>
                    <a:bodyPr/>
                    <a:lstStyle/>
                    <a:p>
                      <a:pPr algn="ctr"/>
                      <a:r>
                        <a:rPr sz="1400" b="0">
                          <a:solidFill>
                            <a:srgbClr val="142B33"/>
                          </a:solidFill>
                          <a:latin typeface="Calibri"/>
                        </a:rPr>
                        <a:t>11.875</a:t>
                      </a:r>
                    </a:p>
                  </a:txBody>
                  <a:tcPr marL="73152" marR="73152" marT="27432" marB="27432" anchor="ctr">
                    <a:solidFill>
                      <a:srgbClr val="FDE8D7"/>
                    </a:solidFill>
                  </a:tcPr>
                </a:tc>
                <a:tc>
                  <a:txBody>
                    <a:bodyPr/>
                    <a:lstStyle/>
                    <a:p>
                      <a:pPr algn="ctr"/>
                      <a:r>
                        <a:rPr sz="1400" b="0">
                          <a:solidFill>
                            <a:srgbClr val="142B33"/>
                          </a:solidFill>
                          <a:latin typeface="Calibri"/>
                        </a:rPr>
                        <a:t>564.06</a:t>
                      </a:r>
                    </a:p>
                  </a:txBody>
                  <a:tcPr marL="73152" marR="73152" marT="27432" marB="27432" anchor="ctr">
                    <a:solidFill>
                      <a:srgbClr val="FDE8D7"/>
                    </a:solidFill>
                  </a:tcPr>
                </a:tc>
              </a:tr>
              <a:tr h="335788">
                <a:tc>
                  <a:txBody>
                    <a:bodyPr/>
                    <a:lstStyle/>
                    <a:p>
                      <a:pPr algn="ctr"/>
                      <a:r>
                        <a:rPr sz="1400" b="0">
                          <a:solidFill>
                            <a:srgbClr val="142B33"/>
                          </a:solidFill>
                          <a:latin typeface="Calibri"/>
                        </a:rPr>
                        <a:t>AD + EF</a:t>
                      </a:r>
                    </a:p>
                  </a:txBody>
                  <a:tcPr marL="73152" marR="73152" marT="27432" marB="27432" anchor="ctr">
                    <a:solidFill>
                      <a:srgbClr val="F4F8F9"/>
                    </a:solidFill>
                  </a:tcPr>
                </a:tc>
                <a:tc>
                  <a:txBody>
                    <a:bodyPr/>
                    <a:lstStyle/>
                    <a:p>
                      <a:pPr algn="ctr"/>
                      <a:r>
                        <a:rPr sz="1400" b="0">
                          <a:solidFill>
                            <a:srgbClr val="142B33"/>
                          </a:solidFill>
                          <a:latin typeface="Calibri"/>
                        </a:rPr>
                        <a:t>−5.375</a:t>
                      </a:r>
                    </a:p>
                  </a:txBody>
                  <a:tcPr marL="73152" marR="73152" marT="27432" marB="27432" anchor="ctr">
                    <a:solidFill>
                      <a:srgbClr val="F4F8F9"/>
                    </a:solidFill>
                  </a:tcPr>
                </a:tc>
                <a:tc>
                  <a:txBody>
                    <a:bodyPr/>
                    <a:lstStyle/>
                    <a:p>
                      <a:pPr algn="ctr"/>
                      <a:r>
                        <a:rPr sz="1400" b="0">
                          <a:solidFill>
                            <a:srgbClr val="142B33"/>
                          </a:solidFill>
                          <a:latin typeface="Calibri"/>
                        </a:rPr>
                        <a:t>115.56</a:t>
                      </a:r>
                    </a:p>
                  </a:txBody>
                  <a:tcPr marL="73152" marR="73152" marT="27432" marB="27432" anchor="ctr">
                    <a:solidFill>
                      <a:srgbClr val="F4F8F9"/>
                    </a:solidFill>
                  </a:tcPr>
                </a:tc>
              </a:tr>
              <a:tr h="335788">
                <a:tc>
                  <a:txBody>
                    <a:bodyPr/>
                    <a:lstStyle/>
                    <a:p>
                      <a:pPr algn="ctr"/>
                      <a:r>
                        <a:rPr sz="1400" b="0">
                          <a:solidFill>
                            <a:srgbClr val="142B33"/>
                          </a:solidFill>
                          <a:latin typeface="Calibri"/>
                        </a:rPr>
                        <a:t>ABF (+ alias)</a:t>
                      </a:r>
                    </a:p>
                  </a:txBody>
                  <a:tcPr marL="73152" marR="73152" marT="27432" marB="27432" anchor="ctr">
                    <a:solidFill>
                      <a:srgbClr val="FFFFFF"/>
                    </a:solidFill>
                  </a:tcPr>
                </a:tc>
                <a:tc>
                  <a:txBody>
                    <a:bodyPr/>
                    <a:lstStyle/>
                    <a:p>
                      <a:pPr algn="ctr"/>
                      <a:r>
                        <a:rPr sz="1400" b="0">
                          <a:solidFill>
                            <a:srgbClr val="142B33"/>
                          </a:solidFill>
                          <a:latin typeface="Calibri"/>
                        </a:rPr>
                        <a:t>−4.875</a:t>
                      </a:r>
                    </a:p>
                  </a:txBody>
                  <a:tcPr marL="73152" marR="73152" marT="27432" marB="27432" anchor="ctr">
                    <a:solidFill>
                      <a:srgbClr val="FFFFFF"/>
                    </a:solidFill>
                  </a:tcPr>
                </a:tc>
                <a:tc>
                  <a:txBody>
                    <a:bodyPr/>
                    <a:lstStyle/>
                    <a:p>
                      <a:pPr algn="ctr"/>
                      <a:r>
                        <a:rPr sz="1400" b="0">
                          <a:solidFill>
                            <a:srgbClr val="142B33"/>
                          </a:solidFill>
                          <a:latin typeface="Calibri"/>
                        </a:rPr>
                        <a:t>95.06</a:t>
                      </a:r>
                    </a:p>
                  </a:txBody>
                  <a:tcPr marL="73152" marR="73152" marT="27432" marB="27432" anchor="ctr">
                    <a:solidFill>
                      <a:srgbClr val="FFFFFF"/>
                    </a:solidFill>
                  </a:tcPr>
                </a:tc>
              </a:tr>
              <a:tr h="335788">
                <a:tc>
                  <a:txBody>
                    <a:bodyPr/>
                    <a:lstStyle/>
                    <a:p>
                      <a:pPr algn="ctr"/>
                      <a:r>
                        <a:rPr sz="1400" b="0">
                          <a:solidFill>
                            <a:srgbClr val="142B33"/>
                          </a:solidFill>
                          <a:latin typeface="Calibri"/>
                        </a:rPr>
                        <a:t>AE + BC + DF</a:t>
                      </a:r>
                    </a:p>
                  </a:txBody>
                  <a:tcPr marL="73152" marR="73152" marT="27432" marB="27432" anchor="ctr">
                    <a:solidFill>
                      <a:srgbClr val="F4F8F9"/>
                    </a:solidFill>
                  </a:tcPr>
                </a:tc>
                <a:tc>
                  <a:txBody>
                    <a:bodyPr/>
                    <a:lstStyle/>
                    <a:p>
                      <a:pPr algn="ctr"/>
                      <a:r>
                        <a:rPr sz="1400" b="0">
                          <a:solidFill>
                            <a:srgbClr val="142B33"/>
                          </a:solidFill>
                          <a:latin typeface="Calibri"/>
                        </a:rPr>
                        <a:t>−1.875</a:t>
                      </a:r>
                    </a:p>
                  </a:txBody>
                  <a:tcPr marL="73152" marR="73152" marT="27432" marB="27432" anchor="ctr">
                    <a:solidFill>
                      <a:srgbClr val="F4F8F9"/>
                    </a:solidFill>
                  </a:tcPr>
                </a:tc>
                <a:tc>
                  <a:txBody>
                    <a:bodyPr/>
                    <a:lstStyle/>
                    <a:p>
                      <a:pPr algn="ctr"/>
                      <a:r>
                        <a:rPr sz="1400" b="0">
                          <a:solidFill>
                            <a:srgbClr val="142B33"/>
                          </a:solidFill>
                          <a:latin typeface="Calibri"/>
                        </a:rPr>
                        <a:t>14.06</a:t>
                      </a:r>
                    </a:p>
                  </a:txBody>
                  <a:tcPr marL="73152" marR="73152" marT="27432" marB="27432" anchor="ctr">
                    <a:solidFill>
                      <a:srgbClr val="F4F8F9"/>
                    </a:solidFill>
                  </a:tcPr>
                </a:tc>
              </a:tr>
              <a:tr h="335788">
                <a:tc>
                  <a:txBody>
                    <a:bodyPr/>
                    <a:lstStyle/>
                    <a:p>
                      <a:pPr algn="ctr"/>
                      <a:r>
                        <a:rPr sz="1400" b="0">
                          <a:solidFill>
                            <a:srgbClr val="142B33"/>
                          </a:solidFill>
                          <a:latin typeface="Calibri"/>
                        </a:rPr>
                        <a:t>AC + BE</a:t>
                      </a:r>
                    </a:p>
                  </a:txBody>
                  <a:tcPr marL="73152" marR="73152" marT="27432" marB="27432" anchor="ctr">
                    <a:solidFill>
                      <a:srgbClr val="FFFFFF"/>
                    </a:solidFill>
                  </a:tcPr>
                </a:tc>
                <a:tc>
                  <a:txBody>
                    <a:bodyPr/>
                    <a:lstStyle/>
                    <a:p>
                      <a:pPr algn="ctr"/>
                      <a:r>
                        <a:rPr sz="1400" b="0">
                          <a:solidFill>
                            <a:srgbClr val="142B33"/>
                          </a:solidFill>
                          <a:latin typeface="Calibri"/>
                        </a:rPr>
                        <a:t>−1.625</a:t>
                      </a:r>
                    </a:p>
                  </a:txBody>
                  <a:tcPr marL="73152" marR="73152" marT="27432" marB="27432" anchor="ctr">
                    <a:solidFill>
                      <a:srgbClr val="FFFFFF"/>
                    </a:solidFill>
                  </a:tcPr>
                </a:tc>
                <a:tc>
                  <a:txBody>
                    <a:bodyPr/>
                    <a:lstStyle/>
                    <a:p>
                      <a:pPr algn="ctr"/>
                      <a:r>
                        <a:rPr sz="1400" b="0">
                          <a:solidFill>
                            <a:srgbClr val="142B33"/>
                          </a:solidFill>
                          <a:latin typeface="Calibri"/>
                        </a:rPr>
                        <a:t>10.56</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4F8F9"/>
                    </a:solidFill>
                  </a:tcPr>
                </a:tc>
                <a:tc>
                  <a:txBody>
                    <a:bodyPr/>
                    <a:lstStyle/>
                    <a:p>
                      <a:pPr algn="ctr"/>
                      <a:r>
                        <a:rPr sz="1400" b="0">
                          <a:solidFill>
                            <a:srgbClr val="142B33"/>
                          </a:solidFill>
                          <a:latin typeface="Calibri"/>
                        </a:rPr>
                        <a:t>1.375</a:t>
                      </a:r>
                    </a:p>
                  </a:txBody>
                  <a:tcPr marL="73152" marR="73152" marT="27432" marB="27432" anchor="ctr">
                    <a:solidFill>
                      <a:srgbClr val="F4F8F9"/>
                    </a:solidFill>
                  </a:tcPr>
                </a:tc>
                <a:tc>
                  <a:txBody>
                    <a:bodyPr/>
                    <a:lstStyle/>
                    <a:p>
                      <a:pPr algn="ctr"/>
                      <a:r>
                        <a:rPr sz="1400" b="0">
                          <a:solidFill>
                            <a:srgbClr val="142B33"/>
                          </a:solidFill>
                          <a:latin typeface="Calibri"/>
                        </a:rPr>
                        <a:t>7.56</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874270" y="1417320"/>
          <a:ext cx="5768783" cy="2107692"/>
        </p:xfrm>
        <a:graphic>
          <a:graphicData uri="http://schemas.openxmlformats.org/drawingml/2006/table">
            <a:tbl>
              <a:tblPr firstRow="0" bandRow="0">
                <a:tableStyleId>{5C22544A-7EE6-4342-B048-85BDC9FD1C3A}</a:tableStyleId>
              </a:tblPr>
              <a:tblGrid>
                <a:gridCol w="836864"/>
                <a:gridCol w="1060028"/>
                <a:gridCol w="569067"/>
                <a:gridCol w="1060028"/>
                <a:gridCol w="948446"/>
                <a:gridCol w="129435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874270" y="3726180"/>
            <a:ext cx="5768785"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Rounded Rectangle 6"/>
          <p:cNvSpPr/>
          <p:nvPr/>
        </p:nvSpPr>
        <p:spPr>
          <a:xfrm>
            <a:off x="5874270" y="4479320"/>
            <a:ext cx="576878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AB + CE se atribuye a </a:t>
            </a:r>
            <a:r>
              <a:rPr sz="1500" b="1">
                <a:solidFill>
                  <a:srgbClr val="142B33"/>
                </a:solidFill>
                <a:latin typeface="Calibri"/>
              </a:rPr>
              <a:t>AB</a:t>
            </a:r>
            <a:r>
              <a:rPr sz="1500" b="0">
                <a:solidFill>
                  <a:srgbClr val="142B33"/>
                </a:solidFill>
                <a:latin typeface="Calibri"/>
              </a:rPr>
              <a:t>: A y B son activos, C y E no</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Interacción AB y dispersión</a:t>
            </a:r>
          </a:p>
        </p:txBody>
      </p:sp>
      <p:graphicFrame>
        <p:nvGraphicFramePr>
          <p:cNvPr id="3" name="Chart 2"/>
          <p:cNvGraphicFramePr>
            <a:graphicFrameLocks noGrp="1"/>
          </p:cNvGraphicFramePr>
          <p:nvPr/>
        </p:nvGraphicFramePr>
        <p:xfrm>
          <a:off x="548640" y="1417320"/>
          <a:ext cx="5341467" cy="393192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a:t>
            </a:r>
          </a:p>
        </p:txBody>
      </p:sp>
      <p:graphicFrame>
        <p:nvGraphicFramePr>
          <p:cNvPr id="5" name="Chart 4"/>
          <p:cNvGraphicFramePr>
            <a:graphicFrameLocks noGrp="1"/>
          </p:cNvGraphicFramePr>
          <p:nvPr/>
        </p:nvGraphicFramePr>
        <p:xfrm>
          <a:off x="6301587" y="1417320"/>
          <a:ext cx="5341467" cy="393192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C alto</a:t>
            </a:r>
            <a:r>
              <a:rPr sz="1500" b="0">
                <a:solidFill>
                  <a:srgbClr val="142B33"/>
                </a:solidFill>
                <a:latin typeface="Calibri"/>
              </a:rPr>
              <a:t> los residuos se dispersan mucho más (F* = 2.50)</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Resolver ambigüedades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Fracción alterna, doblez y diseños de Plackett-Burman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los alias me dejan dudas?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Agregar la fracción alterna</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Resolución III saturada: el 2</a:t>
            </a:r>
            <a:r>
              <a:rPr sz="3000" b="1" baseline="30000">
                <a:solidFill>
                  <a:srgbClr val="0F4C5C"/>
                </a:solidFill>
                <a:latin typeface="Cambria"/>
              </a:rPr>
              <a:t>7−4</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Supuestos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debemos verificar sobre el modelo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Cuando la varianza no es constante</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F*</a:t>
            </a:r>
            <a:r>
              <a:rPr sz="2000" b="0" baseline="-25000">
                <a:solidFill>
                  <a:srgbClr val="0F4C5C"/>
                </a:solidFill>
                <a:latin typeface="Cambria Math"/>
              </a:rPr>
              <a:t>i</a:t>
            </a:r>
            <a:r>
              <a:rPr sz="2000" b="0">
                <a:solidFill>
                  <a:srgbClr val="0F4C5C"/>
                </a:solidFill>
                <a:latin typeface="Cambria Math"/>
              </a:rPr>
              <a:t> = ln [ S</a:t>
            </a:r>
            <a:r>
              <a:rPr sz="2000" b="0" baseline="30000">
                <a:solidFill>
                  <a:srgbClr val="0F4C5C"/>
                </a:solidFill>
                <a:latin typeface="Cambria Math"/>
              </a:rPr>
              <a:t>2</a:t>
            </a:r>
            <a:r>
              <a:rPr sz="2000" b="0">
                <a:solidFill>
                  <a:srgbClr val="0F4C5C"/>
                </a:solidFill>
                <a:latin typeface="Cambria Math"/>
              </a:rPr>
              <a:t>(i+) / S</a:t>
            </a:r>
            <a:r>
              <a:rPr sz="2000" b="0" baseline="30000">
                <a:solidFill>
                  <a:srgbClr val="0F4C5C"/>
                </a:solidFill>
                <a:latin typeface="Cambria Math"/>
              </a:rPr>
              <a:t>2</a:t>
            </a:r>
            <a:r>
              <a:rPr sz="2000" b="0">
                <a:solidFill>
                  <a:srgbClr val="0F4C5C"/>
                </a:solidFill>
                <a:latin typeface="Cambria Math"/>
              </a:rPr>
              <a:t>(i−) ]</a:t>
            </a:r>
          </a:p>
        </p:txBody>
      </p:sp>
      <p:sp>
        <p:nvSpPr>
          <p:cNvPr id="4" name="TextBox 3"/>
          <p:cNvSpPr txBox="1"/>
          <p:nvPr/>
        </p:nvSpPr>
        <p:spPr>
          <a:xfrm>
            <a:off x="548640" y="2239873"/>
            <a:ext cx="5341467" cy="733806"/>
          </a:xfrm>
          <a:prstGeom prst="rect">
            <a:avLst/>
          </a:prstGeom>
          <a:noFill/>
        </p:spPr>
        <p:txBody>
          <a:bodyPr wrap="square" anchor="t" lIns="0" rIns="0" tIns="0" bIns="0">
            <a:spAutoFit/>
          </a:bodyPr>
          <a:lstStyle/>
          <a:p>
            <a:r>
              <a:rPr sz="1500" b="0">
                <a:solidFill>
                  <a:srgbClr val="142B33"/>
                </a:solidFill>
                <a:latin typeface="Calibri"/>
              </a:rPr>
              <a:t>Criterio del libro: se calcula para cada columna y se grafica en probabilidad normal. Si no hay efecto de dispersión, F* es aproximadamente normal con media cero</a:t>
            </a:r>
          </a:p>
        </p:txBody>
      </p:sp>
      <p:graphicFrame>
        <p:nvGraphicFramePr>
          <p:cNvPr id="5" name="Table 4"/>
          <p:cNvGraphicFramePr>
            <a:graphicFrameLocks noGrp="1"/>
          </p:cNvGraphicFramePr>
          <p:nvPr/>
        </p:nvGraphicFramePr>
        <p:xfrm>
          <a:off x="548640" y="3174847"/>
          <a:ext cx="5341466" cy="1348232"/>
        </p:xfrm>
        <a:graphic>
          <a:graphicData uri="http://schemas.openxmlformats.org/drawingml/2006/table">
            <a:tbl>
              <a:tblPr firstRow="0" bandRow="0">
                <a:tableStyleId>{5C22544A-7EE6-4342-B048-85BDC9FD1C3A}</a:tableStyleId>
              </a:tblPr>
              <a:tblGrid>
                <a:gridCol w="1602440"/>
                <a:gridCol w="2670733"/>
                <a:gridCol w="1068293"/>
              </a:tblGrid>
              <a:tr h="614680">
                <a:tc>
                  <a:txBody>
                    <a:bodyPr/>
                    <a:lstStyle/>
                    <a:p>
                      <a:pPr algn="ctr"/>
                      <a:r>
                        <a:rPr sz="1600" b="1">
                          <a:solidFill>
                            <a:srgbClr val="FFFFFF"/>
                          </a:solidFill>
                          <a:latin typeface="Calibri"/>
                        </a:rPr>
                        <a:t>Nivel de C</a:t>
                      </a:r>
                    </a:p>
                  </a:txBody>
                  <a:tcPr marL="73152" marR="73152" marT="27432" marB="27432" anchor="ctr">
                    <a:solidFill>
                      <a:srgbClr val="0F4C5C"/>
                    </a:solidFill>
                  </a:tcPr>
                </a:tc>
                <a:tc>
                  <a:txBody>
                    <a:bodyPr/>
                    <a:lstStyle/>
                    <a:p>
                      <a:pPr algn="ctr"/>
                      <a:r>
                        <a:rPr sz="1600" b="1">
                          <a:solidFill>
                            <a:srgbClr val="FFFFFF"/>
                          </a:solidFill>
                          <a:latin typeface="Calibri"/>
                        </a:rPr>
                        <a:t>Desv. estándar de residuos</a:t>
                      </a:r>
                    </a:p>
                  </a:txBody>
                  <a:tcPr marL="73152" marR="73152" marT="27432" marB="27432" anchor="ctr">
                    <a:solidFill>
                      <a:srgbClr val="0F4C5C"/>
                    </a:solidFill>
                  </a:tcPr>
                </a:tc>
                <a:tc>
                  <a:txBody>
                    <a:bodyPr/>
                    <a:lstStyle/>
                    <a:p>
                      <a:pPr algn="ctr"/>
                      <a:r>
                        <a:rPr sz="1600" b="1">
                          <a:solidFill>
                            <a:srgbClr val="FFFFFF"/>
                          </a:solidFill>
                          <a:latin typeface="Calibri"/>
                        </a:rPr>
                        <a:t>n</a:t>
                      </a:r>
                    </a:p>
                  </a:txBody>
                  <a:tcPr marL="73152" marR="73152" marT="27432" marB="27432" anchor="ctr">
                    <a:solidFill>
                      <a:srgbClr val="0F4C5C"/>
                    </a:solidFill>
                  </a:tcPr>
                </a:tc>
              </a:tr>
              <a:tr h="366776">
                <a:tc>
                  <a:txBody>
                    <a:bodyPr/>
                    <a:lstStyle/>
                    <a:p>
                      <a:pPr algn="ctr"/>
                      <a:r>
                        <a:rPr sz="1600" b="0">
                          <a:solidFill>
                            <a:srgbClr val="142B33"/>
                          </a:solidFill>
                          <a:latin typeface="Calibri"/>
                        </a:rPr>
                        <a:t>C alto (+)</a:t>
                      </a:r>
                    </a:p>
                  </a:txBody>
                  <a:tcPr marL="73152" marR="73152" marT="27432" marB="27432" anchor="ctr">
                    <a:solidFill>
                      <a:srgbClr val="FFFFFF"/>
                    </a:solidFill>
                  </a:tcPr>
                </a:tc>
                <a:tc>
                  <a:txBody>
                    <a:bodyPr/>
                    <a:lstStyle/>
                    <a:p>
                      <a:pPr algn="ctr"/>
                      <a:r>
                        <a:rPr sz="1600" b="0">
                          <a:solidFill>
                            <a:srgbClr val="142B33"/>
                          </a:solidFill>
                          <a:latin typeface="Calibri"/>
                        </a:rPr>
                        <a:t>5.70</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C bajo (−)</a:t>
                      </a:r>
                    </a:p>
                  </a:txBody>
                  <a:tcPr marL="73152" marR="73152" marT="27432" marB="27432" anchor="ctr">
                    <a:solidFill>
                      <a:srgbClr val="F4F8F9"/>
                    </a:solidFill>
                  </a:tcPr>
                </a:tc>
                <a:tc>
                  <a:txBody>
                    <a:bodyPr/>
                    <a:lstStyle/>
                    <a:p>
                      <a:pPr algn="ctr"/>
                      <a:r>
                        <a:rPr sz="1600" b="0">
                          <a:solidFill>
                            <a:srgbClr val="142B33"/>
                          </a:solidFill>
                          <a:latin typeface="Calibri"/>
                        </a:rPr>
                        <a:t>1.63</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r>
            </a:tbl>
          </a:graphicData>
        </a:graphic>
      </p:graphicFrame>
      <p:sp>
        <p:nvSpPr>
          <p:cNvPr id="6" name="Rounded Rectangle 5"/>
          <p:cNvSpPr/>
          <p:nvPr/>
        </p:nvSpPr>
        <p:spPr>
          <a:xfrm>
            <a:off x="548640" y="4724247"/>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 de C = ln(5.70</a:t>
            </a:r>
            <a:r>
              <a:rPr sz="1600" b="0" baseline="30000">
                <a:solidFill>
                  <a:srgbClr val="142B33"/>
                </a:solidFill>
                <a:latin typeface="Calibri"/>
              </a:rPr>
              <a:t>2</a:t>
            </a:r>
            <a:r>
              <a:rPr sz="1600" b="0">
                <a:solidFill>
                  <a:srgbClr val="142B33"/>
                </a:solidFill>
                <a:latin typeface="Calibri"/>
              </a:rPr>
              <a:t> / 1.63</a:t>
            </a:r>
            <a:r>
              <a:rPr sz="1600" b="0" baseline="30000">
                <a:solidFill>
                  <a:srgbClr val="142B33"/>
                </a:solidFill>
                <a:latin typeface="Calibri"/>
              </a:rPr>
              <a:t>2</a:t>
            </a:r>
            <a:r>
              <a:rPr sz="1600" b="0">
                <a:solidFill>
                  <a:srgbClr val="142B33"/>
                </a:solidFill>
                <a:latin typeface="Calibri"/>
              </a:rPr>
              <a:t>) = </a:t>
            </a:r>
            <a:r>
              <a:rPr sz="1600" b="1">
                <a:solidFill>
                  <a:srgbClr val="142B33"/>
                </a:solidFill>
                <a:latin typeface="Calibri"/>
              </a:rPr>
              <a:t>2.50</a:t>
            </a:r>
            <a:r>
              <a:rPr sz="1600" b="0">
                <a:solidFill>
                  <a:srgbClr val="142B33"/>
                </a:solidFill>
                <a:latin typeface="Calibri"/>
              </a:rPr>
              <a:t>: el único de los quince que se separa</a:t>
            </a:r>
          </a:p>
        </p:txBody>
      </p:sp>
      <p:sp>
        <p:nvSpPr>
          <p:cNvPr id="7" name="TextBox 6"/>
          <p:cNvSpPr txBox="1"/>
          <p:nvPr/>
        </p:nvSpPr>
        <p:spPr>
          <a:xfrm>
            <a:off x="6301587" y="1417320"/>
            <a:ext cx="5341467" cy="182727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 no cambia la media, pero sí la </a:t>
            </a:r>
            <a:r>
              <a:rPr sz="1700" b="1">
                <a:solidFill>
                  <a:srgbClr val="142B33"/>
                </a:solidFill>
                <a:latin typeface="Calibri"/>
              </a:rPr>
              <a:t>variabilidad</a:t>
            </a:r>
            <a:r>
              <a:rPr sz="1700" b="0">
                <a:solidFill>
                  <a:srgbClr val="142B33"/>
                </a:solidFill>
                <a:latin typeface="Calibri"/>
              </a:rPr>
              <a:t>: efecto de dispersión</a:t>
            </a:r>
          </a:p>
          <a:p>
            <a:pPr marL="320040" indent="-320040">
              <a:spcAft>
                <a:spcPts val="600"/>
              </a:spcAft>
              <a:buClr>
                <a:srgbClr val="E36414"/>
              </a:buClr>
              <a:buFont typeface="Arial"/>
              <a:buChar char="•"/>
            </a:pPr>
            <a:r>
              <a:rPr sz="1700" b="0">
                <a:solidFill>
                  <a:srgbClr val="142B33"/>
                </a:solidFill>
                <a:latin typeface="Calibri"/>
              </a:rPr>
              <a:t>Decisión: </a:t>
            </a:r>
            <a:r>
              <a:rPr sz="1700" b="1">
                <a:solidFill>
                  <a:srgbClr val="142B33"/>
                </a:solidFill>
                <a:latin typeface="Calibri"/>
              </a:rPr>
              <a:t>C bajo</a:t>
            </a:r>
            <a:r>
              <a:rPr sz="1700" b="0">
                <a:solidFill>
                  <a:srgbClr val="142B33"/>
                </a:solidFill>
                <a:latin typeface="Calibri"/>
              </a:rPr>
              <a:t> reduce la variabilidad entre piezas</a:t>
            </a:r>
          </a:p>
          <a:p>
            <a:pPr marL="320040" indent="-320040">
              <a:spcAft>
                <a:spcPts val="600"/>
              </a:spcAft>
              <a:buClr>
                <a:srgbClr val="E36414"/>
              </a:buClr>
              <a:buFont typeface="Arial"/>
              <a:buChar char="•"/>
            </a:pPr>
            <a:r>
              <a:rPr sz="1700" b="0">
                <a:solidFill>
                  <a:srgbClr val="142B33"/>
                </a:solidFill>
                <a:latin typeface="Calibri"/>
              </a:rPr>
              <a:t>Válido solo si el modelo de localización (A, B, AB) es correcto</a:t>
            </a:r>
          </a:p>
        </p:txBody>
      </p:sp>
      <p:graphicFrame>
        <p:nvGraphicFramePr>
          <p:cNvPr id="8" name="Table 7"/>
          <p:cNvGraphicFramePr>
            <a:graphicFrameLocks noGrp="1"/>
          </p:cNvGraphicFramePr>
          <p:nvPr/>
        </p:nvGraphicFramePr>
        <p:xfrm>
          <a:off x="6301587" y="3445764"/>
          <a:ext cx="5341466" cy="1467104"/>
        </p:xfrm>
        <a:graphic>
          <a:graphicData uri="http://schemas.openxmlformats.org/drawingml/2006/table">
            <a:tbl>
              <a:tblPr firstRow="0" bandRow="0">
                <a:tableStyleId>{5C22544A-7EE6-4342-B048-85BDC9FD1C3A}</a:tableStyleId>
              </a:tblPr>
              <a:tblGrid>
                <a:gridCol w="3471953"/>
                <a:gridCol w="1869513"/>
              </a:tblGrid>
              <a:tr h="366776">
                <a:tc>
                  <a:txBody>
                    <a:bodyPr/>
                    <a:lstStyle/>
                    <a:p>
                      <a:pPr algn="l"/>
                      <a:r>
                        <a:rPr sz="1600" b="1">
                          <a:solidFill>
                            <a:srgbClr val="FFFFFF"/>
                          </a:solidFill>
                          <a:latin typeface="Calibri"/>
                        </a:rPr>
                        <a:t>Bartlett (apoyo descriptivo)</a:t>
                      </a:r>
                    </a:p>
                  </a:txBody>
                  <a:tcPr marL="73152" marR="73152" marT="27432" marB="27432" anchor="ctr">
                    <a:solidFill>
                      <a:srgbClr val="0F4C5C"/>
                    </a:solidFill>
                  </a:tcPr>
                </a:tc>
                <a:tc>
                  <a:txBody>
                    <a:bodyPr/>
                    <a:lstStyle/>
                    <a:p>
                      <a:pPr algn="ctr"/>
                      <a:r>
                        <a:rPr sz="1600" b="1">
                          <a:solidFill>
                            <a:srgbClr val="FFFFFF"/>
                          </a:solidFill>
                          <a:latin typeface="Calibri"/>
                        </a:rPr>
                        <a:t>Valor</a:t>
                      </a:r>
                    </a:p>
                  </a:txBody>
                  <a:tcPr marL="73152" marR="73152" marT="27432" marB="27432" anchor="ctr">
                    <a:solidFill>
                      <a:srgbClr val="0F4C5C"/>
                    </a:solidFill>
                  </a:tcPr>
                </a:tc>
              </a:tr>
              <a:tr h="366776">
                <a:tc>
                  <a:txBody>
                    <a:bodyPr/>
                    <a:lstStyle/>
                    <a:p>
                      <a:pPr algn="l"/>
                      <a:r>
                        <a:rPr sz="1600" b="0">
                          <a:solidFill>
                            <a:srgbClr val="142B33"/>
                          </a:solidFill>
                          <a:latin typeface="Calibri"/>
                        </a:rPr>
                        <a:t>Estadístico χ</a:t>
                      </a:r>
                      <a:r>
                        <a:rPr sz="1600" b="0" baseline="30000">
                          <a:solidFill>
                            <a:srgbClr val="142B33"/>
                          </a:solidFill>
                          <a:latin typeface="Calibri"/>
                        </a:rPr>
                        <a:t>2</a:t>
                      </a:r>
                    </a:p>
                  </a:txBody>
                  <a:tcPr marL="73152" marR="73152" marT="27432" marB="27432" anchor="ctr">
                    <a:solidFill>
                      <a:srgbClr val="FFFFFF"/>
                    </a:solidFill>
                  </a:tcPr>
                </a:tc>
                <a:tc>
                  <a:txBody>
                    <a:bodyPr/>
                    <a:lstStyle/>
                    <a:p>
                      <a:pPr algn="ctr"/>
                      <a:r>
                        <a:rPr sz="1600" b="0">
                          <a:solidFill>
                            <a:srgbClr val="142B33"/>
                          </a:solidFill>
                          <a:latin typeface="Calibri"/>
                        </a:rPr>
                        <a:t>8.32</a:t>
                      </a:r>
                    </a:p>
                  </a:txBody>
                  <a:tcPr marL="73152" marR="73152" marT="27432" marB="27432" anchor="ctr">
                    <a:solidFill>
                      <a:srgbClr val="FFFFFF"/>
                    </a:solidFill>
                  </a:tcPr>
                </a:tc>
              </a:tr>
              <a:tr h="366776">
                <a:tc>
                  <a:txBody>
                    <a:bodyPr/>
                    <a:lstStyle/>
                    <a:p>
                      <a:pPr algn="l"/>
                      <a:r>
                        <a:rPr sz="1600" b="0">
                          <a:solidFill>
                            <a:srgbClr val="142B33"/>
                          </a:solidFill>
                          <a:latin typeface="Calibri"/>
                        </a:rPr>
                        <a:t>g.l.</a:t>
                      </a:r>
                    </a:p>
                  </a:txBody>
                  <a:tcPr marL="73152" marR="73152" marT="27432" marB="27432" anchor="ctr">
                    <a:solidFill>
                      <a:srgbClr val="F4F8F9"/>
                    </a:solidFill>
                  </a:tcPr>
                </a:tc>
                <a:tc>
                  <a:txBody>
                    <a:bodyPr/>
                    <a:lstStyle/>
                    <a:p>
                      <a:pPr algn="ctr"/>
                      <a:r>
                        <a:rPr sz="1600" b="0">
                          <a:solidFill>
                            <a:srgbClr val="142B33"/>
                          </a:solidFill>
                          <a:latin typeface="Calibri"/>
                        </a:rPr>
                        <a:t>1</a:t>
                      </a:r>
                    </a:p>
                  </a:txBody>
                  <a:tcPr marL="73152" marR="73152" marT="27432" marB="27432" anchor="ctr">
                    <a:solidFill>
                      <a:srgbClr val="F4F8F9"/>
                    </a:solidFill>
                  </a:tcPr>
                </a:tc>
              </a:tr>
              <a:tr h="366776">
                <a:tc>
                  <a:txBody>
                    <a:bodyPr/>
                    <a:lstStyle/>
                    <a:p>
                      <a:pPr algn="l"/>
                      <a:r>
                        <a:rPr sz="1600" b="0">
                          <a:solidFill>
                            <a:srgbClr val="142B33"/>
                          </a:solidFill>
                          <a:latin typeface="Calibri"/>
                        </a:rPr>
                        <a:t>Valor p</a:t>
                      </a:r>
                    </a:p>
                  </a:txBody>
                  <a:tcPr marL="73152" marR="73152" marT="27432" marB="27432" anchor="ctr">
                    <a:solidFill>
                      <a:srgbClr val="FFFFFF"/>
                    </a:solidFill>
                  </a:tcPr>
                </a:tc>
                <a:tc>
                  <a:txBody>
                    <a:bodyPr/>
                    <a:lstStyle/>
                    <a:p>
                      <a:pPr algn="ctr"/>
                      <a:r>
                        <a:rPr sz="1600" b="0">
                          <a:solidFill>
                            <a:srgbClr val="142B33"/>
                          </a:solidFill>
                          <a:latin typeface="Calibri"/>
                        </a:rPr>
                        <a:t>0.0039</a:t>
                      </a:r>
                    </a:p>
                  </a:txBody>
                  <a:tcPr marL="73152" marR="73152" marT="27432" marB="27432" anchor="ctr">
                    <a:solidFill>
                      <a:srgbClr val="FFFFFF"/>
                    </a:solidFill>
                  </a:tcPr>
                </a:tc>
              </a:tr>
            </a:tbl>
          </a:graphicData>
        </a:graphic>
      </p:graphicFrame>
      <p:sp>
        <p:nvSpPr>
          <p:cNvPr id="9" name="TextBox 8"/>
          <p:cNvSpPr txBox="1"/>
          <p:nvPr/>
        </p:nvSpPr>
        <p:spPr>
          <a:xfrm>
            <a:off x="6301587" y="5114036"/>
            <a:ext cx="5341467" cy="687323"/>
          </a:xfrm>
          <a:prstGeom prst="rect">
            <a:avLst/>
          </a:prstGeom>
          <a:noFill/>
        </p:spPr>
        <p:txBody>
          <a:bodyPr wrap="square" anchor="t" lIns="0" rIns="0" tIns="0" bIns="0">
            <a:spAutoFit/>
          </a:bodyPr>
          <a:lstStyle/>
          <a:p>
            <a:r>
              <a:rPr sz="1400" b="0">
                <a:solidFill>
                  <a:srgbClr val="5B6B73"/>
                </a:solidFill>
                <a:latin typeface="Calibri"/>
              </a:rPr>
              <a:t>Bartlett no está en el libro y es solo indicativo: los residuos no son independientes y C se eligió después de ver los datos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(logaritmo, raíz, Box-Cox) o tratar como efecto de dispersión</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Minitab</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crear el diseño, ingresar los datos y analizarlos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Minitab en cinco pasos</a:t>
            </a:r>
          </a:p>
        </p:txBody>
      </p:sp>
      <p:sp>
        <p:nvSpPr>
          <p:cNvPr id="3" name="Rounded Rectangle 2"/>
          <p:cNvSpPr/>
          <p:nvPr/>
        </p:nvSpPr>
        <p:spPr>
          <a:xfrm>
            <a:off x="548640"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1 · Crear el diseño</a:t>
            </a:r>
          </a:p>
          <a:p>
            <a:pPr algn="l"/>
            <a:r>
              <a:rPr sz="1800" b="0">
                <a:solidFill>
                  <a:srgbClr val="142B33"/>
                </a:solidFill>
                <a:latin typeface="Calibri"/>
              </a:rPr>
              <a:t>Estadísticas &gt; DOE &gt; Factorial &gt; Crear diseño factorial</a:t>
            </a:r>
          </a:p>
        </p:txBody>
      </p:sp>
      <p:sp>
        <p:nvSpPr>
          <p:cNvPr id="4" name="Rounded Rectangle 3"/>
          <p:cNvSpPr/>
          <p:nvPr/>
        </p:nvSpPr>
        <p:spPr>
          <a:xfrm>
            <a:off x="4322978"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2 · Ingresar la respuesta</a:t>
            </a:r>
          </a:p>
          <a:p>
            <a:pPr algn="l"/>
            <a:r>
              <a:rPr sz="1800" b="0">
                <a:solidFill>
                  <a:srgbClr val="142B33"/>
                </a:solidFill>
                <a:latin typeface="Calibri"/>
              </a:rPr>
              <a:t>Una columna nueva en la hoja de trabajo</a:t>
            </a:r>
          </a:p>
        </p:txBody>
      </p:sp>
      <p:sp>
        <p:nvSpPr>
          <p:cNvPr id="5" name="Rounded Rectangle 4"/>
          <p:cNvSpPr/>
          <p:nvPr/>
        </p:nvSpPr>
        <p:spPr>
          <a:xfrm>
            <a:off x="8097316"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3 · Analizar</a:t>
            </a:r>
          </a:p>
          <a:p>
            <a:pPr algn="l"/>
            <a:r>
              <a:rPr sz="1800" b="0">
                <a:solidFill>
                  <a:srgbClr val="142B33"/>
                </a:solidFill>
                <a:latin typeface="Calibri"/>
              </a:rPr>
              <a:t>Estadísticas &gt; DOE &gt; Factorial &gt; Analizar diseño factorial</a:t>
            </a:r>
          </a:p>
        </p:txBody>
      </p:sp>
      <p:sp>
        <p:nvSpPr>
          <p:cNvPr id="6" name="Rounded Rectangle 5"/>
          <p:cNvSpPr/>
          <p:nvPr/>
        </p:nvSpPr>
        <p:spPr>
          <a:xfrm>
            <a:off x="548640"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4 · Verificar supuestos</a:t>
            </a:r>
          </a:p>
          <a:p>
            <a:pPr algn="l"/>
            <a:r>
              <a:rPr sz="1800" b="0">
                <a:solidFill>
                  <a:srgbClr val="142B33"/>
                </a:solidFill>
                <a:latin typeface="Calibri"/>
              </a:rPr>
              <a:t>Gráficas de residuos y prueba de normalidad</a:t>
            </a:r>
          </a:p>
        </p:txBody>
      </p:sp>
      <p:sp>
        <p:nvSpPr>
          <p:cNvPr id="7" name="Rounded Rectangle 6"/>
          <p:cNvSpPr/>
          <p:nvPr/>
        </p:nvSpPr>
        <p:spPr>
          <a:xfrm>
            <a:off x="4322978"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5 · Interpretar y ampliar</a:t>
            </a:r>
          </a:p>
          <a:p>
            <a:pPr algn="l"/>
            <a:r>
              <a:rPr sz="1800" b="0">
                <a:solidFill>
                  <a:srgbClr val="142B33"/>
                </a:solidFill>
                <a:latin typeface="Calibri"/>
              </a:rPr>
              <a:t>Gráficas factoriales; Modificar diseño &gt; Plegar diseño</a:t>
            </a:r>
          </a:p>
        </p:txBody>
      </p:sp>
      <p:sp>
        <p:nvSpPr>
          <p:cNvPr id="8" name="TextBox 7"/>
          <p:cNvSpPr txBox="1"/>
          <p:nvPr/>
        </p:nvSpPr>
        <p:spPr>
          <a:xfrm>
            <a:off x="548640" y="5555487"/>
            <a:ext cx="11094415" cy="237998"/>
          </a:xfrm>
          <a:prstGeom prst="rect">
            <a:avLst/>
          </a:prstGeom>
          <a:noFill/>
        </p:spPr>
        <p:txBody>
          <a:bodyPr wrap="square" anchor="t" lIns="0" rIns="0" tIns="0" bIns="0">
            <a:spAutoFit/>
          </a:bodyPr>
          <a:lstStyle/>
          <a:p>
            <a:r>
              <a:rPr sz="1300" b="0">
                <a:solidFill>
                  <a:srgbClr val="5B6B73"/>
                </a:solidFill>
                <a:latin typeface="Calibri"/>
              </a:rPr>
              <a:t>Nombres cotejados con la documentación de soporte de Minitab en español; pueden variar entre versiones</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Crear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0403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Crear diseño factorial…</a:t>
            </a:r>
          </a:p>
        </p:txBody>
      </p:sp>
      <p:graphicFrame>
        <p:nvGraphicFramePr>
          <p:cNvPr id="10" name="Table 9"/>
          <p:cNvGraphicFramePr>
            <a:graphicFrameLocks noGrp="1"/>
          </p:cNvGraphicFramePr>
          <p:nvPr/>
        </p:nvGraphicFramePr>
        <p:xfrm>
          <a:off x="548640" y="2121408"/>
          <a:ext cx="11094415" cy="2815336"/>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Tipo de diseño</a:t>
                      </a:r>
                    </a:p>
                  </a:txBody>
                  <a:tcPr marL="73152" marR="73152" marT="27432" marB="27432" anchor="ctr">
                    <a:solidFill>
                      <a:srgbClr val="FFFFFF"/>
                    </a:solidFill>
                  </a:tcPr>
                </a:tc>
                <a:tc>
                  <a:txBody>
                    <a:bodyPr/>
                    <a:lstStyle/>
                    <a:p>
                      <a:pPr algn="l"/>
                      <a:r>
                        <a:rPr sz="1600" b="0">
                          <a:solidFill>
                            <a:srgbClr val="142B33"/>
                          </a:solidFill>
                          <a:latin typeface="Calibri"/>
                        </a:rPr>
                        <a:t>Factorial de 2 niveles (generadores predeterminados)</a:t>
                      </a:r>
                    </a:p>
                  </a:txBody>
                  <a:tcPr marL="73152" marR="73152" marT="27432" marB="27432" anchor="ctr">
                    <a:solidFill>
                      <a:srgbClr val="FFFFFF"/>
                    </a:solidFill>
                  </a:tcPr>
                </a:tc>
              </a:tr>
              <a:tr h="366776">
                <a:tc>
                  <a:txBody>
                    <a:bodyPr/>
                    <a:lstStyle/>
                    <a:p>
                      <a:pPr algn="l"/>
                      <a:r>
                        <a:rPr sz="1600" b="0">
                          <a:solidFill>
                            <a:srgbClr val="142B33"/>
                          </a:solidFill>
                          <a:latin typeface="Calibri"/>
                        </a:rPr>
                        <a:t>Número de factores</a:t>
                      </a:r>
                    </a:p>
                  </a:txBody>
                  <a:tcPr marL="73152" marR="73152" marT="27432" marB="27432" anchor="ctr">
                    <a:solidFill>
                      <a:srgbClr val="F4F8F9"/>
                    </a:solidFill>
                  </a:tcPr>
                </a:tc>
                <a:tc>
                  <a:txBody>
                    <a:bodyPr/>
                    <a:lstStyle/>
                    <a:p>
                      <a:pPr algn="l"/>
                      <a:r>
                        <a:rPr sz="1600" b="0">
                          <a:solidFill>
                            <a:srgbClr val="142B33"/>
                          </a:solidFill>
                          <a:latin typeface="Calibri"/>
                        </a:rPr>
                        <a:t>El número k de factores del experimento</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Diseños…</a:t>
                      </a:r>
                    </a:p>
                  </a:txBody>
                  <a:tcPr marL="73152" marR="73152" marT="27432" marB="27432" anchor="ctr">
                    <a:solidFill>
                      <a:srgbClr val="FFFFFF"/>
                    </a:solidFill>
                  </a:tcPr>
                </a:tc>
                <a:tc>
                  <a:txBody>
                    <a:bodyPr/>
                    <a:lstStyle/>
                    <a:p>
                      <a:pPr algn="l"/>
                      <a:r>
                        <a:rPr sz="1600" b="0">
                          <a:solidFill>
                            <a:srgbClr val="142B33"/>
                          </a:solidFill>
                          <a:latin typeface="Calibri"/>
                        </a:rPr>
                        <a:t>La fracción (1/2, 1/4…): muestra corridas y resolución. Réplicas, puntos centrales, bloques</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Factores…</a:t>
                      </a:r>
                    </a:p>
                  </a:txBody>
                  <a:tcPr marL="73152" marR="73152" marT="27432" marB="27432" anchor="ctr">
                    <a:solidFill>
                      <a:srgbClr val="F4F8F9"/>
                    </a:solidFill>
                  </a:tcPr>
                </a:tc>
                <a:tc>
                  <a:txBody>
                    <a:bodyPr/>
                    <a:lstStyle/>
                    <a:p>
                      <a:pPr algn="l"/>
                      <a:r>
                        <a:rPr sz="1600" b="0">
                          <a:solidFill>
                            <a:srgbClr val="142B33"/>
                          </a:solidFill>
                          <a:latin typeface="Calibri"/>
                        </a:rPr>
                        <a:t>Nombre, tipo y niveles bajo y alto de cada factor</a:t>
                      </a:r>
                    </a:p>
                  </a:txBody>
                  <a:tcPr marL="73152" marR="73152" marT="27432" marB="27432" anchor="ctr">
                    <a:solidFill>
                      <a:srgbClr val="F4F8F9"/>
                    </a:solidFill>
                  </a:tcPr>
                </a:tc>
              </a:tr>
              <a:tr h="366776">
                <a:tc>
                  <a:txBody>
                    <a:bodyPr/>
                    <a:lstStyle/>
                    <a:p>
                      <a:pPr algn="l"/>
                      <a:r>
                        <a:rPr sz="1600" b="0">
                          <a:solidFill>
                            <a:srgbClr val="142B33"/>
                          </a:solidFill>
                          <a:latin typeface="Calibri"/>
                        </a:rPr>
                        <a:t>Botón Opciones…</a:t>
                      </a:r>
                    </a:p>
                  </a:txBody>
                  <a:tcPr marL="73152" marR="73152" marT="27432" marB="27432" anchor="ctr">
                    <a:solidFill>
                      <a:srgbClr val="FFFFFF"/>
                    </a:solidFill>
                  </a:tcPr>
                </a:tc>
                <a:tc>
                  <a:txBody>
                    <a:bodyPr/>
                    <a:lstStyle/>
                    <a:p>
                      <a:pPr algn="l"/>
                      <a:r>
                        <a:rPr sz="1600" b="0">
                          <a:solidFill>
                            <a:srgbClr val="142B33"/>
                          </a:solidFill>
                          <a:latin typeface="Calibri"/>
                        </a:rPr>
                        <a:t>Aleatorizar corridas; fracción principal u otra; plegar diseño (doblez)</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Resultados…</a:t>
                      </a:r>
                    </a:p>
                  </a:txBody>
                  <a:tcPr marL="73152" marR="73152" marT="27432" marB="27432" anchor="ctr">
                    <a:solidFill>
                      <a:srgbClr val="F4F8F9"/>
                    </a:solidFill>
                  </a:tcPr>
                </a:tc>
                <a:tc>
                  <a:txBody>
                    <a:bodyPr/>
                    <a:lstStyle/>
                    <a:p>
                      <a:pPr algn="l"/>
                      <a:r>
                        <a:rPr sz="1600" b="0">
                          <a:solidFill>
                            <a:srgbClr val="142B33"/>
                          </a:solidFill>
                          <a:latin typeface="Calibri"/>
                        </a:rPr>
                        <a:t>Tabla de resumen y estructura de alias</a:t>
                      </a:r>
                    </a:p>
                  </a:txBody>
                  <a:tcPr marL="73152" marR="73152" marT="27432" marB="27432" anchor="ctr">
                    <a:solidFill>
                      <a:srgbClr val="F4F8F9"/>
                    </a:solidFill>
                  </a:tcPr>
                </a:tc>
              </a:tr>
            </a:tbl>
          </a:graphicData>
        </a:graphic>
      </p:graphicFrame>
      <p:sp>
        <p:nvSpPr>
          <p:cNvPr id="11" name="TextBox 10"/>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2" name="TextBox 11"/>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¿Qué fracciones ofrece Minitab?</a:t>
            </a:r>
          </a:p>
        </p:txBody>
      </p:sp>
      <p:graphicFrame>
        <p:nvGraphicFramePr>
          <p:cNvPr id="3" name="Table 2"/>
          <p:cNvGraphicFramePr>
            <a:graphicFrameLocks noGrp="1"/>
          </p:cNvGraphicFramePr>
          <p:nvPr/>
        </p:nvGraphicFramePr>
        <p:xfrm>
          <a:off x="548640" y="1417320"/>
          <a:ext cx="11094412" cy="1988820"/>
        </p:xfrm>
        <a:graphic>
          <a:graphicData uri="http://schemas.openxmlformats.org/drawingml/2006/table">
            <a:tbl>
              <a:tblPr firstRow="0" bandRow="0">
                <a:tableStyleId>{5C22544A-7EE6-4342-B048-85BDC9FD1C3A}</a:tableStyleId>
              </a:tblPr>
              <a:tblGrid>
                <a:gridCol w="1351444"/>
                <a:gridCol w="1623828"/>
                <a:gridCol w="1623828"/>
                <a:gridCol w="1623828"/>
                <a:gridCol w="1623828"/>
                <a:gridCol w="1623828"/>
                <a:gridCol w="1623828"/>
              </a:tblGrid>
              <a:tr h="397764">
                <a:tc>
                  <a:txBody>
                    <a:bodyPr/>
                    <a:lstStyle/>
                    <a:p>
                      <a:pPr algn="ctr"/>
                      <a:r>
                        <a:rPr sz="1800" b="1">
                          <a:solidFill>
                            <a:srgbClr val="FFFFFF"/>
                          </a:solidFill>
                          <a:latin typeface="Calibri"/>
                        </a:rPr>
                        <a:t>Corridas</a:t>
                      </a:r>
                    </a:p>
                  </a:txBody>
                  <a:tcPr marL="73152" marR="73152" marT="27432" marB="27432" anchor="ctr">
                    <a:solidFill>
                      <a:srgbClr val="0F4C5C"/>
                    </a:solidFill>
                  </a:tcPr>
                </a:tc>
                <a:tc>
                  <a:txBody>
                    <a:bodyPr/>
                    <a:lstStyle/>
                    <a:p>
                      <a:pPr algn="ctr"/>
                      <a:r>
                        <a:rPr sz="1800" b="1">
                          <a:solidFill>
                            <a:srgbClr val="FFFFFF"/>
                          </a:solidFill>
                          <a:latin typeface="Calibri"/>
                        </a:rPr>
                        <a:t>3 factores</a:t>
                      </a:r>
                    </a:p>
                  </a:txBody>
                  <a:tcPr marL="73152" marR="73152" marT="27432" marB="27432" anchor="ctr">
                    <a:solidFill>
                      <a:srgbClr val="0F4C5C"/>
                    </a:solidFill>
                  </a:tcPr>
                </a:tc>
                <a:tc>
                  <a:txBody>
                    <a:bodyPr/>
                    <a:lstStyle/>
                    <a:p>
                      <a:pPr algn="ctr"/>
                      <a:r>
                        <a:rPr sz="1800" b="1">
                          <a:solidFill>
                            <a:srgbClr val="FFFFFF"/>
                          </a:solidFill>
                          <a:latin typeface="Calibri"/>
                        </a:rPr>
                        <a:t>4 factores</a:t>
                      </a:r>
                    </a:p>
                  </a:txBody>
                  <a:tcPr marL="73152" marR="73152" marT="27432" marB="27432" anchor="ctr">
                    <a:solidFill>
                      <a:srgbClr val="0F4C5C"/>
                    </a:solidFill>
                  </a:tcPr>
                </a:tc>
                <a:tc>
                  <a:txBody>
                    <a:bodyPr/>
                    <a:lstStyle/>
                    <a:p>
                      <a:pPr algn="ctr"/>
                      <a:r>
                        <a:rPr sz="1800" b="1">
                          <a:solidFill>
                            <a:srgbClr val="FFFFFF"/>
                          </a:solidFill>
                          <a:latin typeface="Calibri"/>
                        </a:rPr>
                        <a:t>5 factores</a:t>
                      </a:r>
                    </a:p>
                  </a:txBody>
                  <a:tcPr marL="73152" marR="73152" marT="27432" marB="27432" anchor="ctr">
                    <a:solidFill>
                      <a:srgbClr val="0F4C5C"/>
                    </a:solidFill>
                  </a:tcPr>
                </a:tc>
                <a:tc>
                  <a:txBody>
                    <a:bodyPr/>
                    <a:lstStyle/>
                    <a:p>
                      <a:pPr algn="ctr"/>
                      <a:r>
                        <a:rPr sz="1800" b="1">
                          <a:solidFill>
                            <a:srgbClr val="FFFFFF"/>
                          </a:solidFill>
                          <a:latin typeface="Calibri"/>
                        </a:rPr>
                        <a:t>6 factores</a:t>
                      </a:r>
                    </a:p>
                  </a:txBody>
                  <a:tcPr marL="73152" marR="73152" marT="27432" marB="27432" anchor="ctr">
                    <a:solidFill>
                      <a:srgbClr val="0F4C5C"/>
                    </a:solidFill>
                  </a:tcPr>
                </a:tc>
                <a:tc>
                  <a:txBody>
                    <a:bodyPr/>
                    <a:lstStyle/>
                    <a:p>
                      <a:pPr algn="ctr"/>
                      <a:r>
                        <a:rPr sz="1800" b="1">
                          <a:solidFill>
                            <a:srgbClr val="FFFFFF"/>
                          </a:solidFill>
                          <a:latin typeface="Calibri"/>
                        </a:rPr>
                        <a:t>7 factores</a:t>
                      </a:r>
                    </a:p>
                  </a:txBody>
                  <a:tcPr marL="73152" marR="73152" marT="27432" marB="27432" anchor="ctr">
                    <a:solidFill>
                      <a:srgbClr val="0F4C5C"/>
                    </a:solidFill>
                  </a:tcPr>
                </a:tc>
                <a:tc>
                  <a:txBody>
                    <a:bodyPr/>
                    <a:lstStyle/>
                    <a:p>
                      <a:pPr algn="ctr"/>
                      <a:r>
                        <a:rPr sz="1800" b="1">
                          <a:solidFill>
                            <a:srgbClr val="FFFFFF"/>
                          </a:solidFill>
                          <a:latin typeface="Calibri"/>
                        </a:rPr>
                        <a:t>8 factores</a:t>
                      </a:r>
                    </a:p>
                  </a:txBody>
                  <a:tcPr marL="73152" marR="73152" marT="27432" marB="27432" anchor="ctr">
                    <a:solidFill>
                      <a:srgbClr val="0F4C5C"/>
                    </a:solidFill>
                  </a:tcPr>
                </a:tc>
              </a:tr>
              <a:tr h="397764">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III</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97764">
                <a:tc>
                  <a:txBody>
                    <a:bodyPr/>
                    <a:lstStyle/>
                    <a:p>
                      <a:pPr algn="ctr"/>
                      <a:r>
                        <a:rPr sz="1800" b="0">
                          <a:solidFill>
                            <a:srgbClr val="142B33"/>
                          </a:solidFill>
                          <a:latin typeface="Calibri"/>
                        </a:rPr>
                        <a:t>8</a:t>
                      </a: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97764">
                <a:tc>
                  <a:txBody>
                    <a:bodyPr/>
                    <a:lstStyle/>
                    <a:p>
                      <a:pPr algn="ctr"/>
                      <a:r>
                        <a:rPr sz="1800" b="0">
                          <a:solidFill>
                            <a:srgbClr val="142B33"/>
                          </a:solidFill>
                          <a:latin typeface="Calibri"/>
                        </a:rPr>
                        <a:t>16</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r>
                        <a:rPr sz="1800" b="0">
                          <a:solidFill>
                            <a:srgbClr val="142B33"/>
                          </a:solidFill>
                          <a:latin typeface="Calibri"/>
                        </a:rPr>
                        <a:t>Completo</a:t>
                      </a:r>
                    </a:p>
                  </a:txBody>
                  <a:tcPr marL="73152" marR="73152" marT="27432" marB="27432" anchor="ctr">
                    <a:solidFill>
                      <a:srgbClr val="FFFFFF"/>
                    </a:solidFill>
                  </a:tcPr>
                </a:tc>
                <a:tc>
                  <a:txBody>
                    <a:bodyPr/>
                    <a:lstStyle/>
                    <a:p>
                      <a:pPr algn="ctr"/>
                      <a:r>
                        <a:rPr sz="1800" b="0">
                          <a:solidFill>
                            <a:srgbClr val="142B33"/>
                          </a:solidFill>
                          <a:latin typeface="Calibri"/>
                        </a:rPr>
                        <a:t>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r>
              <a:tr h="397764">
                <a:tc>
                  <a:txBody>
                    <a:bodyPr/>
                    <a:lstStyle/>
                    <a:p>
                      <a:pPr algn="ctr"/>
                      <a:r>
                        <a:rPr sz="1800" b="0">
                          <a:solidFill>
                            <a:srgbClr val="142B33"/>
                          </a:solidFill>
                          <a:latin typeface="Calibri"/>
                        </a:rPr>
                        <a:t>32</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VI</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Botón </a:t>
            </a:r>
            <a:r>
              <a:rPr sz="1600" b="1">
                <a:solidFill>
                  <a:srgbClr val="142B33"/>
                </a:solidFill>
                <a:latin typeface="Calibri"/>
              </a:rPr>
              <a:t>Mostrar diseños disponibles…</a:t>
            </a:r>
            <a:r>
              <a:rPr sz="1600" b="0">
                <a:solidFill>
                  <a:srgbClr val="142B33"/>
                </a:solidFill>
                <a:latin typeface="Calibri"/>
              </a:rPr>
              <a:t>: resolución de cada combinación de factores y corridas</a:t>
            </a:r>
          </a:p>
        </p:txBody>
      </p:sp>
      <p:sp>
        <p:nvSpPr>
          <p:cNvPr id="5" name="TextBox 4"/>
          <p:cNvSpPr txBox="1"/>
          <p:nvPr/>
        </p:nvSpPr>
        <p:spPr>
          <a:xfrm>
            <a:off x="548640" y="4330700"/>
            <a:ext cx="11094415" cy="34569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Elija la celda con la </a:t>
            </a:r>
            <a:r>
              <a:rPr sz="1700" b="1">
                <a:solidFill>
                  <a:srgbClr val="142B33"/>
                </a:solidFill>
                <a:latin typeface="Calibri"/>
              </a:rPr>
              <a:t>mayor resolución</a:t>
            </a:r>
            <a:r>
              <a:rPr sz="1700" b="0">
                <a:solidFill>
                  <a:srgbClr val="142B33"/>
                </a:solidFill>
                <a:latin typeface="Calibri"/>
              </a:rPr>
              <a:t> que permita su presupuesto de corridas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2 · Hoja de trabajo e ingreso de datos</a:t>
            </a:r>
          </a:p>
        </p:txBody>
      </p:sp>
      <p:graphicFrame>
        <p:nvGraphicFramePr>
          <p:cNvPr id="3" name="Table 2"/>
          <p:cNvGraphicFramePr>
            <a:graphicFrameLocks noGrp="1"/>
          </p:cNvGraphicFramePr>
          <p:nvPr/>
        </p:nvGraphicFramePr>
        <p:xfrm>
          <a:off x="548640" y="1417320"/>
          <a:ext cx="7157559" cy="3239007"/>
        </p:xfrm>
        <a:graphic>
          <a:graphicData uri="http://schemas.openxmlformats.org/drawingml/2006/table">
            <a:tbl>
              <a:tblPr firstRow="0" bandRow="0">
                <a:tableStyleId>{5C22544A-7EE6-4342-B048-85BDC9FD1C3A}</a:tableStyleId>
              </a:tblPr>
              <a:tblGrid>
                <a:gridCol w="930483"/>
                <a:gridCol w="1288361"/>
                <a:gridCol w="1002059"/>
                <a:gridCol w="858907"/>
                <a:gridCol w="429453"/>
                <a:gridCol w="429453"/>
                <a:gridCol w="429453"/>
                <a:gridCol w="429453"/>
                <a:gridCol w="1359937"/>
              </a:tblGrid>
              <a:tr h="552703">
                <a:tc>
                  <a:txBody>
                    <a:bodyPr/>
                    <a:lstStyle/>
                    <a:p>
                      <a:pPr algn="ctr"/>
                      <a:r>
                        <a:rPr sz="1400" b="1">
                          <a:solidFill>
                            <a:srgbClr val="FFFFFF"/>
                          </a:solidFill>
                          <a:latin typeface="Calibri"/>
                        </a:rPr>
                        <a:t>OrdenEst</a:t>
                      </a:r>
                    </a:p>
                  </a:txBody>
                  <a:tcPr marL="73152" marR="73152" marT="27432" marB="27432" anchor="ctr">
                    <a:solidFill>
                      <a:srgbClr val="0F4C5C"/>
                    </a:solidFill>
                  </a:tcPr>
                </a:tc>
                <a:tc>
                  <a:txBody>
                    <a:bodyPr/>
                    <a:lstStyle/>
                    <a:p>
                      <a:pPr algn="ctr"/>
                      <a:r>
                        <a:rPr sz="1400" b="1">
                          <a:solidFill>
                            <a:srgbClr val="FFFFFF"/>
                          </a:solidFill>
                          <a:latin typeface="Calibri"/>
                        </a:rPr>
                        <a:t>OrdenCorrida</a:t>
                      </a:r>
                    </a:p>
                  </a:txBody>
                  <a:tcPr marL="73152" marR="73152" marT="27432" marB="27432" anchor="ctr">
                    <a:solidFill>
                      <a:srgbClr val="0F4C5C"/>
                    </a:solidFill>
                  </a:tcPr>
                </a:tc>
                <a:tc>
                  <a:txBody>
                    <a:bodyPr/>
                    <a:lstStyle/>
                    <a:p>
                      <a:pPr algn="ctr"/>
                      <a:r>
                        <a:rPr sz="1400" b="1">
                          <a:solidFill>
                            <a:srgbClr val="FFFFFF"/>
                          </a:solidFill>
                          <a:latin typeface="Calibri"/>
                        </a:rPr>
                        <a:t>PtCentral</a:t>
                      </a:r>
                    </a:p>
                  </a:txBody>
                  <a:tcPr marL="73152" marR="73152" marT="27432" marB="27432" anchor="ctr">
                    <a:solidFill>
                      <a:srgbClr val="0F4C5C"/>
                    </a:solidFill>
                  </a:tcPr>
                </a:tc>
                <a:tc>
                  <a:txBody>
                    <a:bodyPr/>
                    <a:lstStyle/>
                    <a:p>
                      <a:pPr algn="ctr"/>
                      <a:r>
                        <a:rPr sz="1400" b="1">
                          <a:solidFill>
                            <a:srgbClr val="FFFFFF"/>
                          </a:solidFill>
                          <a:latin typeface="Calibri"/>
                        </a:rPr>
                        <a:t>Bloques</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a:t>
                      </a:r>
                    </a:p>
                  </a:txBody>
                  <a:tcPr marL="73152" marR="73152" marT="27432" marB="27432" anchor="ctr">
                    <a:solidFill>
                      <a:srgbClr val="0F4C5C"/>
                    </a:solidFill>
                  </a:tcPr>
                </a:tc>
                <a:tc>
                  <a:txBody>
                    <a:bodyPr/>
                    <a:lstStyle/>
                    <a:p>
                      <a:pPr algn="ctr"/>
                      <a:r>
                        <a:rPr sz="1400" b="1">
                          <a:solidFill>
                            <a:srgbClr val="FFFFFF"/>
                          </a:solidFill>
                          <a:latin typeface="Calibri"/>
                        </a:rPr>
                        <a:t>Filtración</a:t>
                      </a:r>
                    </a:p>
                  </a:txBody>
                  <a:tcPr marL="73152" marR="73152" marT="27432" marB="27432" anchor="ctr">
                    <a:solidFill>
                      <a:srgbClr val="0F4C5C"/>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60</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80</a:t>
                      </a:r>
                    </a:p>
                  </a:txBody>
                  <a:tcPr marL="73152" marR="73152" marT="27432" marB="27432" anchor="ctr">
                    <a:solidFill>
                      <a:srgbClr val="F4F8F9"/>
                    </a:solidFill>
                  </a:tcPr>
                </a:tc>
              </a:tr>
              <a:tr h="335788">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65</a:t>
                      </a:r>
                    </a:p>
                  </a:txBody>
                  <a:tcPr marL="73152" marR="73152" marT="27432" marB="27432" anchor="ctr">
                    <a:solidFill>
                      <a:srgbClr val="FFFFFF"/>
                    </a:solidFill>
                  </a:tcPr>
                </a:tc>
              </a:tr>
              <a:tr h="335788">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45</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bl>
          </a:graphicData>
        </a:graphic>
      </p:graphicFrame>
      <p:sp>
        <p:nvSpPr>
          <p:cNvPr id="4" name="TextBox 3"/>
          <p:cNvSpPr txBox="1"/>
          <p:nvPr/>
        </p:nvSpPr>
        <p:spPr>
          <a:xfrm>
            <a:off x="548640" y="4857496"/>
            <a:ext cx="7157566" cy="237998"/>
          </a:xfrm>
          <a:prstGeom prst="rect">
            <a:avLst/>
          </a:prstGeom>
          <a:noFill/>
        </p:spPr>
        <p:txBody>
          <a:bodyPr wrap="square" anchor="t" lIns="0" rIns="0" tIns="0" bIns="0">
            <a:spAutoFit/>
          </a:bodyPr>
          <a:lstStyle/>
          <a:p>
            <a:r>
              <a:rPr sz="1300" b="0">
                <a:solidFill>
                  <a:srgbClr val="5B6B73"/>
                </a:solidFill>
                <a:latin typeface="Calibri"/>
              </a:rPr>
              <a:t>Ejemplo 1 en la hoja de trabajo, ordenado por OrdenCorrida</a:t>
            </a:r>
          </a:p>
        </p:txBody>
      </p:sp>
      <p:sp>
        <p:nvSpPr>
          <p:cNvPr id="5" name="TextBox 4"/>
          <p:cNvSpPr txBox="1"/>
          <p:nvPr/>
        </p:nvSpPr>
        <p:spPr>
          <a:xfrm>
            <a:off x="8117686" y="1417320"/>
            <a:ext cx="3525368"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Columnas de control: </a:t>
            </a:r>
            <a:r>
              <a:rPr sz="1600" b="1">
                <a:solidFill>
                  <a:srgbClr val="142B33"/>
                </a:solidFill>
                <a:latin typeface="Calibri"/>
              </a:rPr>
              <a:t>OrdenEst, OrdenCorrida, PtCentral, Bloques</a:t>
            </a:r>
          </a:p>
          <a:p>
            <a:pPr marL="320040" indent="-320040">
              <a:spcAft>
                <a:spcPts val="600"/>
              </a:spcAft>
              <a:buClr>
                <a:srgbClr val="E36414"/>
              </a:buClr>
              <a:buFont typeface="Arial"/>
              <a:buChar char="•"/>
            </a:pPr>
            <a:r>
              <a:rPr sz="1600" b="0">
                <a:solidFill>
                  <a:srgbClr val="142B33"/>
                </a:solidFill>
                <a:latin typeface="Calibri"/>
              </a:rPr>
              <a:t>Una columna por </a:t>
            </a:r>
            <a:r>
              <a:rPr sz="1600" b="1">
                <a:solidFill>
                  <a:srgbClr val="142B33"/>
                </a:solidFill>
                <a:latin typeface="Calibri"/>
              </a:rPr>
              <a:t>factor</a:t>
            </a:r>
          </a:p>
          <a:p>
            <a:pPr marL="320040" indent="-320040">
              <a:spcAft>
                <a:spcPts val="600"/>
              </a:spcAft>
              <a:buClr>
                <a:srgbClr val="E36414"/>
              </a:buClr>
              <a:buFont typeface="Arial"/>
              <a:buChar char="•"/>
            </a:pPr>
            <a:r>
              <a:rPr sz="1600" b="0">
                <a:solidFill>
                  <a:srgbClr val="142B33"/>
                </a:solidFill>
                <a:latin typeface="Calibri"/>
              </a:rPr>
              <a:t>La </a:t>
            </a:r>
            <a:r>
              <a:rPr sz="1600" b="1">
                <a:solidFill>
                  <a:srgbClr val="142B33"/>
                </a:solidFill>
                <a:latin typeface="Calibri"/>
              </a:rPr>
              <a:t>respuesta</a:t>
            </a:r>
            <a:r>
              <a:rPr sz="1600" b="0">
                <a:solidFill>
                  <a:srgbClr val="142B33"/>
                </a:solidFill>
                <a:latin typeface="Calibri"/>
              </a:rPr>
              <a:t> se digita en la primera columna libre</a:t>
            </a:r>
          </a:p>
          <a:p>
            <a:pPr marL="320040" indent="-320040">
              <a:spcAft>
                <a:spcPts val="600"/>
              </a:spcAft>
              <a:buClr>
                <a:srgbClr val="E36414"/>
              </a:buClr>
              <a:buFont typeface="Arial"/>
              <a:buChar char="•"/>
            </a:pPr>
            <a:r>
              <a:rPr sz="1600" b="0">
                <a:solidFill>
                  <a:srgbClr val="142B33"/>
                </a:solidFill>
                <a:latin typeface="Calibri"/>
              </a:rPr>
              <a:t>No reordenar ni borrar las columnas de control</a:t>
            </a:r>
          </a:p>
        </p:txBody>
      </p:sp>
      <p:sp>
        <p:nvSpPr>
          <p:cNvPr id="6" name="Rounded Rectangle 5"/>
          <p:cNvSpPr/>
          <p:nvPr/>
        </p:nvSpPr>
        <p:spPr>
          <a:xfrm>
            <a:off x="8117686" y="3683000"/>
            <a:ext cx="352536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Datos ya existentes: </a:t>
            </a:r>
            <a:r>
              <a:rPr sz="1500" b="1">
                <a:solidFill>
                  <a:srgbClr val="142B33"/>
                </a:solidFill>
                <a:latin typeface="Calibri"/>
              </a:rPr>
              <a:t>Definir diseño factorial personalizado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3 · Analizar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3832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Analizar diseño factorial…</a:t>
            </a:r>
          </a:p>
        </p:txBody>
      </p:sp>
      <p:graphicFrame>
        <p:nvGraphicFramePr>
          <p:cNvPr id="10" name="Table 9"/>
          <p:cNvGraphicFramePr>
            <a:graphicFrameLocks noGrp="1"/>
          </p:cNvGraphicFramePr>
          <p:nvPr/>
        </p:nvGraphicFramePr>
        <p:xfrm>
          <a:off x="548640" y="2121408"/>
          <a:ext cx="11094415" cy="2081784"/>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Respuestas</a:t>
                      </a:r>
                    </a:p>
                  </a:txBody>
                  <a:tcPr marL="73152" marR="73152" marT="27432" marB="27432" anchor="ctr">
                    <a:solidFill>
                      <a:srgbClr val="FFFFFF"/>
                    </a:solidFill>
                  </a:tcPr>
                </a:tc>
                <a:tc>
                  <a:txBody>
                    <a:bodyPr/>
                    <a:lstStyle/>
                    <a:p>
                      <a:pPr algn="l"/>
                      <a:r>
                        <a:rPr sz="1600" b="0">
                          <a:solidFill>
                            <a:srgbClr val="142B33"/>
                          </a:solidFill>
                          <a:latin typeface="Calibri"/>
                        </a:rPr>
                        <a:t>La columna con la respuesta</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Términos…</a:t>
                      </a:r>
                    </a:p>
                  </a:txBody>
                  <a:tcPr marL="73152" marR="73152" marT="27432" marB="27432" anchor="ctr">
                    <a:solidFill>
                      <a:srgbClr val="F4F8F9"/>
                    </a:solidFill>
                  </a:tcPr>
                </a:tc>
                <a:tc>
                  <a:txBody>
                    <a:bodyPr/>
                    <a:lstStyle/>
                    <a:p>
                      <a:pPr algn="l"/>
                      <a:r>
                        <a:rPr sz="1600" b="0">
                          <a:solidFill>
                            <a:srgbClr val="142B33"/>
                          </a:solidFill>
                          <a:latin typeface="Calibri"/>
                        </a:rPr>
                        <a:t>1.ª pasada: todos los términos.  2.ª pasada: solo los efectos activos</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Gráficas…</a:t>
                      </a:r>
                    </a:p>
                  </a:txBody>
                  <a:tcPr marL="73152" marR="73152" marT="27432" marB="27432" anchor="ctr">
                    <a:solidFill>
                      <a:srgbClr val="FFFFFF"/>
                    </a:solidFill>
                  </a:tcPr>
                </a:tc>
                <a:tc>
                  <a:txBody>
                    <a:bodyPr/>
                    <a:lstStyle/>
                    <a:p>
                      <a:pPr algn="l"/>
                      <a:r>
                        <a:rPr sz="1600" b="0">
                          <a:solidFill>
                            <a:srgbClr val="142B33"/>
                          </a:solidFill>
                          <a:latin typeface="Calibri"/>
                        </a:rPr>
                        <a:t>Gráficas de efectos: Pareto, Normal, Normales (absolutos).  Residuos: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Almacenamiento…</a:t>
                      </a:r>
                    </a:p>
                  </a:txBody>
                  <a:tcPr marL="73152" marR="73152" marT="27432" marB="27432" anchor="ctr">
                    <a:solidFill>
                      <a:srgbClr val="F4F8F9"/>
                    </a:solidFill>
                  </a:tcPr>
                </a:tc>
                <a:tc>
                  <a:txBody>
                    <a:bodyPr/>
                    <a:lstStyle/>
                    <a:p>
                      <a:pPr algn="l"/>
                      <a:r>
                        <a:rPr sz="1600" b="0">
                          <a:solidFill>
                            <a:srgbClr val="142B33"/>
                          </a:solidFill>
                          <a:latin typeface="Calibri"/>
                        </a:rPr>
                        <a:t>Ajustes y Residuos (para las pruebas de supuestos)</a:t>
                      </a:r>
                    </a:p>
                  </a:txBody>
                  <a:tcPr marL="73152" marR="73152" marT="27432" marB="27432" anchor="ctr">
                    <a:solidFill>
                      <a:srgbClr val="F4F8F9"/>
                    </a:solidFill>
                  </a:tcPr>
                </a:tc>
              </a:tr>
            </a:tbl>
          </a:graphicData>
        </a:graphic>
      </p:graphicFrame>
      <p:sp>
        <p:nvSpPr>
          <p:cNvPr id="11" name="Rounded Rectangle 10"/>
          <p:cNvSpPr/>
          <p:nvPr/>
        </p:nvSpPr>
        <p:spPr>
          <a:xfrm>
            <a:off x="548640" y="4404360"/>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Sin réplicas, la primera pasada no da valores p: se decide con la gráfica normal y el Pareto</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4 · Leer la salida</a:t>
            </a:r>
          </a:p>
        </p:txBody>
      </p:sp>
      <p:sp>
        <p:nvSpPr>
          <p:cNvPr id="3" name="Rectangle 2"/>
          <p:cNvSpPr/>
          <p:nvPr/>
        </p:nvSpPr>
        <p:spPr>
          <a:xfrm>
            <a:off x="548640" y="1417320"/>
            <a:ext cx="6837078" cy="4410456"/>
          </a:xfrm>
          <a:prstGeom prst="rect">
            <a:avLst/>
          </a:prstGeom>
          <a:solidFill>
            <a:srgbClr val="F4F8F9"/>
          </a:solidFill>
          <a:ln w="952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a:lstStyle/>
          <a:p>
            <a:pPr algn="l"/>
            <a:r>
              <a:rPr sz="1200" b="1">
                <a:solidFill>
                  <a:srgbClr val="0F4C5C"/>
                </a:solidFill>
                <a:latin typeface="Courier New"/>
              </a:rPr>
              <a:t>Estructura de alias</a:t>
            </a:r>
          </a:p>
          <a:p>
            <a:pPr algn="l"/>
            <a:r>
              <a:rPr sz="1200" b="0">
                <a:solidFill>
                  <a:srgbClr val="142B33"/>
                </a:solidFill>
                <a:latin typeface="Courier New"/>
              </a:rPr>
              <a:t>I + ABCD</a:t>
            </a:r>
          </a:p>
          <a:p>
            <a:pPr algn="l"/>
            <a:r>
              <a:rPr sz="1200" b="0">
                <a:solidFill>
                  <a:srgbClr val="142B33"/>
                </a:solidFill>
                <a:latin typeface="Courier New"/>
              </a:rPr>
              <a:t>A + BCD        AB + CD</a:t>
            </a:r>
          </a:p>
          <a:p>
            <a:pPr algn="l"/>
            <a:r>
              <a:rPr sz="1200" b="0">
                <a:solidFill>
                  <a:srgbClr val="142B33"/>
                </a:solidFill>
                <a:latin typeface="Courier New"/>
              </a:rPr>
              <a:t>B + ACD        AC + BD</a:t>
            </a:r>
          </a:p>
          <a:p>
            <a:pPr algn="l"/>
            <a:r>
              <a:rPr sz="1200" b="0">
                <a:solidFill>
                  <a:srgbClr val="142B33"/>
                </a:solidFill>
                <a:latin typeface="Courier New"/>
              </a:rPr>
              <a:t>C + ABD        AD + BC</a:t>
            </a:r>
          </a:p>
          <a:p>
            <a:pPr algn="l"/>
            <a:r>
              <a:rPr sz="1200" b="0">
                <a:solidFill>
                  <a:srgbClr val="142B33"/>
                </a:solidFill>
                <a:latin typeface="Courier New"/>
              </a:rPr>
              <a:t>D + ABC</a:t>
            </a:r>
          </a:p>
          <a:p>
            <a:pPr algn="l"/>
            <a:r>
              <a:rPr sz="1200" b="0">
                <a:solidFill>
                  <a:srgbClr val="142B33"/>
                </a:solidFill>
                <a:latin typeface="Courier New"/>
              </a:rPr>
              <a:t> </a:t>
            </a:r>
          </a:p>
          <a:p>
            <a:pPr algn="l"/>
            <a:r>
              <a:rPr sz="1200" b="1">
                <a:solidFill>
                  <a:srgbClr val="0F4C5C"/>
                </a:solidFill>
                <a:latin typeface="Courier New"/>
              </a:rPr>
              <a:t>Análisis de Varianza</a:t>
            </a:r>
          </a:p>
          <a:p>
            <a:pPr algn="l"/>
            <a:r>
              <a:rPr sz="1200" b="0">
                <a:solidFill>
                  <a:srgbClr val="142B33"/>
                </a:solidFill>
                <a:latin typeface="Courier New"/>
              </a:rPr>
              <a:t>Fuente                    GL   SC Ajust.  MC Ajust.  Valor F  Valor p</a:t>
            </a:r>
          </a:p>
          <a:p>
            <a:pPr algn="l"/>
            <a:r>
              <a:rPr sz="1200" b="0">
                <a:solidFill>
                  <a:srgbClr val="142B33"/>
                </a:solidFill>
                <a:latin typeface="Courier New"/>
              </a:rPr>
              <a:t>Modelo                     5     3065.00     613.00   188.62    0.005</a:t>
            </a:r>
          </a:p>
          <a:p>
            <a:pPr algn="l"/>
            <a:r>
              <a:rPr sz="1200" b="0">
                <a:solidFill>
                  <a:srgbClr val="142B33"/>
                </a:solidFill>
                <a:latin typeface="Courier New"/>
              </a:rPr>
              <a:t>  Lineal                   3     1658.50     552.83   170.10    0.006</a:t>
            </a:r>
          </a:p>
          <a:p>
            <a:pPr algn="l"/>
            <a:r>
              <a:rPr sz="1200" b="0">
                <a:solidFill>
                  <a:srgbClr val="142B33"/>
                </a:solidFill>
                <a:latin typeface="Courier New"/>
              </a:rPr>
              <a:t>    A                      1      722.00     722.00   222.15    0.004</a:t>
            </a:r>
          </a:p>
          <a:p>
            <a:pPr algn="l"/>
            <a:r>
              <a:rPr sz="1200" b="0">
                <a:solidFill>
                  <a:srgbClr val="142B33"/>
                </a:solidFill>
                <a:latin typeface="Courier New"/>
              </a:rPr>
              <a:t>    C                      1      392.00     392.00   120.62    0.008</a:t>
            </a:r>
          </a:p>
          <a:p>
            <a:pPr algn="l"/>
            <a:r>
              <a:rPr sz="1200" b="0">
                <a:solidFill>
                  <a:srgbClr val="142B33"/>
                </a:solidFill>
                <a:latin typeface="Courier New"/>
              </a:rPr>
              <a:t>    D                      1      544.50     544.50   167.54    0.006</a:t>
            </a:r>
          </a:p>
          <a:p>
            <a:pPr algn="l"/>
            <a:r>
              <a:rPr sz="1200" b="0">
                <a:solidFill>
                  <a:srgbClr val="142B33"/>
                </a:solidFill>
                <a:latin typeface="Courier New"/>
              </a:rPr>
              <a:t>  Interacciones de 2 t.    2     1406.50     703.25   216.38    0.005</a:t>
            </a:r>
          </a:p>
          <a:p>
            <a:pPr algn="l"/>
            <a:r>
              <a:rPr sz="1200" b="0">
                <a:solidFill>
                  <a:srgbClr val="142B33"/>
                </a:solidFill>
                <a:latin typeface="Courier New"/>
              </a:rPr>
              <a:t>    A*C                    1      684.50     684.50   210.62    0.005</a:t>
            </a:r>
          </a:p>
          <a:p>
            <a:pPr algn="l"/>
            <a:r>
              <a:rPr sz="1200" b="0">
                <a:solidFill>
                  <a:srgbClr val="142B33"/>
                </a:solidFill>
                <a:latin typeface="Courier New"/>
              </a:rPr>
              <a:t>    A*D                    1      722.00     722.00   222.15    0.004</a:t>
            </a:r>
          </a:p>
          <a:p>
            <a:pPr algn="l"/>
            <a:r>
              <a:rPr sz="1200" b="0">
                <a:solidFill>
                  <a:srgbClr val="142B33"/>
                </a:solidFill>
                <a:latin typeface="Courier New"/>
              </a:rPr>
              <a:t>Error                      2        6.50       3.25</a:t>
            </a:r>
          </a:p>
          <a:p>
            <a:pPr algn="l"/>
            <a:r>
              <a:rPr sz="1200" b="0">
                <a:solidFill>
                  <a:srgbClr val="142B33"/>
                </a:solidFill>
                <a:latin typeface="Courier New"/>
              </a:rPr>
              <a:t>Total                      7     3071.50</a:t>
            </a:r>
          </a:p>
          <a:p>
            <a:pPr algn="l"/>
            <a:r>
              <a:rPr sz="1200" b="0">
                <a:solidFill>
                  <a:srgbClr val="142B33"/>
                </a:solidFill>
                <a:latin typeface="Courier New"/>
              </a:rPr>
              <a:t> </a:t>
            </a:r>
          </a:p>
          <a:p>
            <a:pPr algn="l"/>
            <a:r>
              <a:rPr sz="1200" b="1">
                <a:solidFill>
                  <a:srgbClr val="0F4C5C"/>
                </a:solidFill>
                <a:latin typeface="Courier New"/>
              </a:rPr>
              <a:t>Resumen del modelo</a:t>
            </a:r>
          </a:p>
          <a:p>
            <a:pPr algn="l"/>
            <a:r>
              <a:rPr sz="1200" b="0">
                <a:solidFill>
                  <a:srgbClr val="142B33"/>
                </a:solidFill>
                <a:latin typeface="Courier New"/>
              </a:rPr>
              <a:t>      S  R-cuadrado  R-cuadrado(ajustado)  R-cuadrado (pred)</a:t>
            </a:r>
          </a:p>
          <a:p>
            <a:pPr algn="l"/>
            <a:r>
              <a:rPr sz="1200" b="0">
                <a:solidFill>
                  <a:srgbClr val="142B33"/>
                </a:solidFill>
                <a:latin typeface="Courier New"/>
              </a:rPr>
              <a:t>1.80278      99.79%                99.26%             96.61%</a:t>
            </a:r>
          </a:p>
        </p:txBody>
      </p:sp>
      <p:sp>
        <p:nvSpPr>
          <p:cNvPr id="4" name="TextBox 3"/>
          <p:cNvSpPr txBox="1"/>
          <p:nvPr/>
        </p:nvSpPr>
        <p:spPr>
          <a:xfrm>
            <a:off x="7797198" y="1417320"/>
            <a:ext cx="3845856" cy="173431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Estructura de alias</a:t>
            </a:r>
            <a:r>
              <a:rPr sz="1600" b="0">
                <a:solidFill>
                  <a:srgbClr val="142B33"/>
                </a:solidFill>
                <a:latin typeface="Calibri"/>
              </a:rPr>
              <a:t>: qué está mezclado con qué</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Análisis de varianza</a:t>
            </a:r>
            <a:r>
              <a:rPr sz="1600" b="0">
                <a:solidFill>
                  <a:srgbClr val="142B33"/>
                </a:solidFill>
                <a:latin typeface="Calibri"/>
              </a:rPr>
              <a:t>: valor p &lt; 0.05  →  término significativo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Resumen del modelo</a:t>
            </a:r>
            <a:r>
              <a:rPr sz="1600" b="0">
                <a:solidFill>
                  <a:srgbClr val="142B33"/>
                </a:solidFill>
                <a:latin typeface="Calibri"/>
              </a:rPr>
              <a:t>: S = raíz de MS</a:t>
            </a:r>
            <a:r>
              <a:rPr sz="1600" b="0" baseline="-25000">
                <a:solidFill>
                  <a:srgbClr val="142B33"/>
                </a:solidFill>
                <a:latin typeface="Calibri"/>
              </a:rPr>
              <a:t>E</a:t>
            </a:r>
            <a:r>
              <a:rPr sz="1600" b="0">
                <a:solidFill>
                  <a:srgbClr val="142B33"/>
                </a:solidFill>
                <a:latin typeface="Calibri"/>
              </a:rPr>
              <a:t>;  R-cuadrado = % explicado</a:t>
            </a:r>
          </a:p>
        </p:txBody>
      </p:sp>
      <p:sp>
        <p:nvSpPr>
          <p:cNvPr id="5" name="Rounded Rectangle 4"/>
          <p:cNvSpPr/>
          <p:nvPr/>
        </p:nvSpPr>
        <p:spPr>
          <a:xfrm>
            <a:off x="7797198" y="3352800"/>
            <a:ext cx="384585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Valores calculados a partir de los datos del ejemplo 1; verifíquelos en Minitab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5 · Gráficas, supuestos y doblez</a:t>
            </a:r>
          </a:p>
        </p:txBody>
      </p:sp>
      <p:graphicFrame>
        <p:nvGraphicFramePr>
          <p:cNvPr id="3" name="Table 2"/>
          <p:cNvGraphicFramePr>
            <a:graphicFrameLocks noGrp="1"/>
          </p:cNvGraphicFramePr>
          <p:nvPr/>
        </p:nvGraphicFramePr>
        <p:xfrm>
          <a:off x="548640" y="1417320"/>
          <a:ext cx="11094414" cy="2934208"/>
        </p:xfrm>
        <a:graphic>
          <a:graphicData uri="http://schemas.openxmlformats.org/drawingml/2006/table">
            <a:tbl>
              <a:tblPr firstRow="0" bandRow="0">
                <a:tableStyleId>{5C22544A-7EE6-4342-B048-85BDC9FD1C3A}</a:tableStyleId>
              </a:tblPr>
              <a:tblGrid>
                <a:gridCol w="3993989"/>
                <a:gridCol w="7100425"/>
              </a:tblGrid>
              <a:tr h="366776">
                <a:tc>
                  <a:txBody>
                    <a:bodyPr/>
                    <a:lstStyle/>
                    <a:p>
                      <a:pPr algn="l"/>
                      <a:r>
                        <a:rPr sz="1600" b="1">
                          <a:solidFill>
                            <a:srgbClr val="FFFFFF"/>
                          </a:solidFill>
                          <a:latin typeface="Calibri"/>
                        </a:rPr>
                        <a:t>Para…</a:t>
                      </a:r>
                    </a:p>
                  </a:txBody>
                  <a:tcPr marL="73152" marR="73152" marT="27432" marB="27432" anchor="ctr">
                    <a:solidFill>
                      <a:srgbClr val="0F4C5C"/>
                    </a:solidFill>
                  </a:tcPr>
                </a:tc>
                <a:tc>
                  <a:txBody>
                    <a:bodyPr/>
                    <a:lstStyle/>
                    <a:p>
                      <a:pPr algn="l"/>
                      <a:r>
                        <a:rPr sz="1600" b="1">
                          <a:solidFill>
                            <a:srgbClr val="FFFFFF"/>
                          </a:solidFill>
                          <a:latin typeface="Calibri"/>
                        </a:rPr>
                        <a:t>Ruta en Minitab</a:t>
                      </a:r>
                    </a:p>
                  </a:txBody>
                  <a:tcPr marL="73152" marR="73152" marT="27432" marB="27432" anchor="ctr">
                    <a:solidFill>
                      <a:srgbClr val="0F4C5C"/>
                    </a:solidFill>
                  </a:tcPr>
                </a:tc>
              </a:tr>
              <a:tr h="366776">
                <a:tc>
                  <a:txBody>
                    <a:bodyPr/>
                    <a:lstStyle/>
                    <a:p>
                      <a:pPr algn="l"/>
                      <a:r>
                        <a:rPr sz="1600" b="0">
                          <a:solidFill>
                            <a:srgbClr val="142B33"/>
                          </a:solidFill>
                          <a:latin typeface="Calibri"/>
                        </a:rPr>
                        <a:t>Efectos principales e interacciones</a:t>
                      </a:r>
                    </a:p>
                  </a:txBody>
                  <a:tcPr marL="73152" marR="73152" marT="27432" marB="27432" anchor="ctr">
                    <a:solidFill>
                      <a:srgbClr val="FFFFFF"/>
                    </a:solidFill>
                  </a:tcPr>
                </a:tc>
                <a:tc>
                  <a:txBody>
                    <a:bodyPr/>
                    <a:lstStyle/>
                    <a:p>
                      <a:pPr algn="l"/>
                      <a:r>
                        <a:rPr sz="1600" b="0">
                          <a:solidFill>
                            <a:srgbClr val="142B33"/>
                          </a:solidFill>
                          <a:latin typeface="Calibri"/>
                        </a:rPr>
                        <a:t>Estadísticas &gt; DOE &gt; Factorial &gt; Gráficas factoriales…</a:t>
                      </a:r>
                    </a:p>
                  </a:txBody>
                  <a:tcPr marL="73152" marR="73152" marT="27432" marB="27432" anchor="ctr">
                    <a:solidFill>
                      <a:srgbClr val="FFFFFF"/>
                    </a:solidFill>
                  </a:tcPr>
                </a:tc>
              </a:tr>
              <a:tr h="366776">
                <a:tc>
                  <a:txBody>
                    <a:bodyPr/>
                    <a:lstStyle/>
                    <a:p>
                      <a:pPr algn="l"/>
                      <a:r>
                        <a:rPr sz="1600" b="0">
                          <a:solidFill>
                            <a:srgbClr val="142B33"/>
                          </a:solidFill>
                          <a:latin typeface="Calibri"/>
                        </a:rPr>
                        <a:t>Respuesta en cada vértice</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Factorial &gt; Gráfica de cubo…</a:t>
                      </a:r>
                    </a:p>
                  </a:txBody>
                  <a:tcPr marL="73152" marR="73152" marT="27432" marB="27432" anchor="ctr">
                    <a:solidFill>
                      <a:srgbClr val="F4F8F9"/>
                    </a:solidFill>
                  </a:tcPr>
                </a:tc>
              </a:tr>
              <a:tr h="366776">
                <a:tc>
                  <a:txBody>
                    <a:bodyPr/>
                    <a:lstStyle/>
                    <a:p>
                      <a:pPr algn="l"/>
                      <a:r>
                        <a:rPr sz="1600" b="0">
                          <a:solidFill>
                            <a:srgbClr val="142B33"/>
                          </a:solidFill>
                          <a:latin typeface="Calibri"/>
                        </a:rPr>
                        <a:t>Residuos (normalidad, ajustes, orden)</a:t>
                      </a:r>
                    </a:p>
                  </a:txBody>
                  <a:tcPr marL="73152" marR="73152" marT="27432" marB="27432" anchor="ctr">
                    <a:solidFill>
                      <a:srgbClr val="FFFFFF"/>
                    </a:solidFill>
                  </a:tcPr>
                </a:tc>
                <a:tc>
                  <a:txBody>
                    <a:bodyPr/>
                    <a:lstStyle/>
                    <a:p>
                      <a:pPr algn="l"/>
                      <a:r>
                        <a:rPr sz="1600" b="0">
                          <a:solidFill>
                            <a:srgbClr val="142B33"/>
                          </a:solidFill>
                          <a:latin typeface="Calibri"/>
                        </a:rPr>
                        <a:t>Analizar diseño factorial &gt; Gráficas… &gt;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Prueba de normalidad</a:t>
                      </a:r>
                    </a:p>
                  </a:txBody>
                  <a:tcPr marL="73152" marR="73152" marT="27432" marB="27432" anchor="ctr">
                    <a:solidFill>
                      <a:srgbClr val="F4F8F9"/>
                    </a:solidFill>
                  </a:tcPr>
                </a:tc>
                <a:tc>
                  <a:txBody>
                    <a:bodyPr/>
                    <a:lstStyle/>
                    <a:p>
                      <a:pPr algn="l"/>
                      <a:r>
                        <a:rPr sz="1600" b="0">
                          <a:solidFill>
                            <a:srgbClr val="142B33"/>
                          </a:solidFill>
                          <a:latin typeface="Calibri"/>
                        </a:rPr>
                        <a:t>Estadísticas &gt; Estadísticas básicas &gt; Prueba de normalidad…</a:t>
                      </a:r>
                    </a:p>
                  </a:txBody>
                  <a:tcPr marL="73152" marR="73152" marT="27432" marB="27432" anchor="ctr">
                    <a:solidFill>
                      <a:srgbClr val="F4F8F9"/>
                    </a:solidFill>
                  </a:tcPr>
                </a:tc>
              </a:tr>
              <a:tr h="366776">
                <a:tc>
                  <a:txBody>
                    <a:bodyPr/>
                    <a:lstStyle/>
                    <a:p>
                      <a:pPr algn="l"/>
                      <a:r>
                        <a:rPr sz="1600" b="0">
                          <a:solidFill>
                            <a:srgbClr val="142B33"/>
                          </a:solidFill>
                          <a:latin typeface="Calibri"/>
                        </a:rPr>
                        <a:t>Igualdad de varianzas</a:t>
                      </a:r>
                    </a:p>
                  </a:txBody>
                  <a:tcPr marL="73152" marR="73152" marT="27432" marB="27432" anchor="ctr">
                    <a:solidFill>
                      <a:srgbClr val="FFFFFF"/>
                    </a:solidFill>
                  </a:tcPr>
                </a:tc>
                <a:tc>
                  <a:txBody>
                    <a:bodyPr/>
                    <a:lstStyle/>
                    <a:p>
                      <a:pPr algn="l"/>
                      <a:r>
                        <a:rPr sz="1600" b="0">
                          <a:solidFill>
                            <a:srgbClr val="142B33"/>
                          </a:solidFill>
                          <a:latin typeface="Calibri"/>
                        </a:rPr>
                        <a:t>Estadísticas &gt; ANOVA &gt; Prueba de igualdad de varianzas…</a:t>
                      </a:r>
                    </a:p>
                  </a:txBody>
                  <a:tcPr marL="73152" marR="73152" marT="27432" marB="27432" anchor="ctr">
                    <a:solidFill>
                      <a:srgbClr val="FFFFFF"/>
                    </a:solidFill>
                  </a:tcPr>
                </a:tc>
              </a:tr>
              <a:tr h="366776">
                <a:tc>
                  <a:txBody>
                    <a:bodyPr/>
                    <a:lstStyle/>
                    <a:p>
                      <a:pPr algn="l"/>
                      <a:r>
                        <a:rPr sz="1600" b="0">
                          <a:solidFill>
                            <a:srgbClr val="142B33"/>
                          </a:solidFill>
                          <a:latin typeface="Calibri"/>
                        </a:rPr>
                        <a:t>Doblez completo o de un factor</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Modificar diseño… &gt; Plegar diseño</a:t>
                      </a:r>
                    </a:p>
                  </a:txBody>
                  <a:tcPr marL="73152" marR="73152" marT="27432" marB="27432" anchor="ctr">
                    <a:solidFill>
                      <a:srgbClr val="F4F8F9"/>
                    </a:solidFill>
                  </a:tcPr>
                </a:tc>
              </a:tr>
              <a:tr h="366776">
                <a:tc>
                  <a:txBody>
                    <a:bodyPr/>
                    <a:lstStyle/>
                    <a:p>
                      <a:pPr algn="l"/>
                      <a:r>
                        <a:rPr sz="1600" b="0">
                          <a:solidFill>
                            <a:srgbClr val="142B33"/>
                          </a:solidFill>
                          <a:latin typeface="Calibri"/>
                        </a:rPr>
                        <a:t>Plackett-Burman</a:t>
                      </a:r>
                    </a:p>
                  </a:txBody>
                  <a:tcPr marL="73152" marR="73152" marT="27432" marB="27432" anchor="ctr">
                    <a:solidFill>
                      <a:srgbClr val="FFFFFF"/>
                    </a:solidFill>
                  </a:tcPr>
                </a:tc>
                <a:tc>
                  <a:txBody>
                    <a:bodyPr/>
                    <a:lstStyle/>
                    <a:p>
                      <a:pPr algn="l"/>
                      <a:r>
                        <a:rPr sz="1600" b="0">
                          <a:solidFill>
                            <a:srgbClr val="142B33"/>
                          </a:solidFill>
                          <a:latin typeface="Calibri"/>
                        </a:rPr>
                        <a:t>Crear diseño factorial… &gt; Diseño de Plackett-Burman</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10</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8-2, 8-3, 8-4 y 8-7)</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23540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a:p>
            <a:pPr marL="320040" indent="-320040">
              <a:spcAft>
                <a:spcPts val="600"/>
              </a:spcAft>
              <a:buClr>
                <a:srgbClr val="E36414"/>
              </a:buClr>
              <a:buFont typeface="Arial"/>
              <a:buChar char="•"/>
            </a:pPr>
            <a:r>
              <a:rPr sz="1700" b="0">
                <a:solidFill>
                  <a:srgbClr val="142B33"/>
                </a:solidFill>
                <a:latin typeface="Calibri"/>
              </a:rPr>
              <a:t>Grima, P., Marco, L. y Tort-Martorell, X. (2004). Estadística práctica con Minitab. Pearson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