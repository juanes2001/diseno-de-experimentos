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k = 3</c:v>
                </c:pt>
                <c:pt idx="1">
                  <c:v>k = 4</c:v>
                </c:pt>
                <c:pt idx="2">
                  <c:v>k = 5</c:v>
                </c:pt>
                <c:pt idx="3">
                  <c:v>k = 6</c:v>
                </c:pt>
                <c:pt idx="4">
                  <c:v>k = 7</c:v>
                </c:pt>
                <c:pt idx="5">
                  <c:v>k = 8</c:v>
                </c:pt>
                <c:pt idx="6">
                  <c:v>k = 9</c:v>
                </c:pt>
                <c:pt idx="7">
                  <c:v>k = 10</c:v>
                </c:pt>
              </c:strCache>
            </c:strRef>
          </c:cat>
          <c:val>
            <c:numRef>
              <c:f>Sheet1!$B$2:$B$9</c:f>
              <c:numCache>
                <c:formatCode>General</c:formatCode>
                <c:ptCount val="8"/>
                <c:pt idx="0">
                  <c:v>8</c:v>
                </c:pt>
                <c:pt idx="1">
                  <c:v>16</c:v>
                </c:pt>
                <c:pt idx="2">
                  <c:v>32</c:v>
                </c:pt>
                <c:pt idx="3">
                  <c:v>64</c:v>
                </c:pt>
                <c:pt idx="4">
                  <c:v>128</c:v>
                </c:pt>
                <c:pt idx="5">
                  <c:v>256</c:v>
                </c:pt>
                <c:pt idx="6">
                  <c:v>512</c:v>
                </c:pt>
                <c:pt idx="7">
                  <c:v>1024</c:v>
                </c:pt>
              </c:numCache>
            </c:numRef>
          </c:val>
        </c:ser>
        <c:dLbls>
          <c:numFmt formatCode="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b"/>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l"/>
        <c:majorGridlines>
          <c:spPr>
            <a:ln w="6350">
              <a:solidFill>
                <a:srgbClr val="DDE5E8"/>
              </a:solidFill>
            </a:ln>
          </c:spPr>
        </c:majorGridlines>
        <c:title>
          <c:tx>
            <c:rich>
              <a:bodyPr/>
              <a:lstStyle/>
              <a:p>
                <a:r>
                  <a:rPr sz="1200" b="0">
                    <a:solidFill>
                      <a:srgbClr val="5B6B73"/>
                    </a:solidFill>
                    <a:latin typeface="Calibri"/>
                  </a:rPr>
                  <a:t>Corridas del factorial completo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seminormal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2"/>
            <c:marker>
              <c:symbol val="circle"/>
              <c:size val="10"/>
              <c:spPr>
                <a:solidFill>
                  <a:srgbClr val="E36414"/>
                </a:solidFill>
                <a:ln>
                  <a:solidFill>
                    <a:srgbClr val="FFFFFF"/>
                  </a:solidFill>
                </a:ln>
              </c:spPr>
            </c:marker>
          </c:dPt>
          <c:dPt>
            <c:idx val="3"/>
            <c:marker>
              <c:symbol val="circle"/>
              <c:size val="10"/>
              <c:spPr>
                <a:solidFill>
                  <a:srgbClr val="E36414"/>
                </a:solidFill>
                <a:ln>
                  <a:solidFill>
                    <a:srgbClr val="FFFFFF"/>
                  </a:solidFill>
                </a:ln>
              </c:spPr>
            </c:marker>
          </c:dPt>
          <c:dPt>
            <c:idx val="4"/>
            <c:marker>
              <c:symbol val="circle"/>
              <c:size val="10"/>
              <c:spPr>
                <a:solidFill>
                  <a:srgbClr val="E36414"/>
                </a:solidFill>
                <a:ln>
                  <a:solidFill>
                    <a:srgbClr val="FFFFFF"/>
                  </a:solidFill>
                </a:ln>
              </c:spPr>
            </c:marker>
          </c:dPt>
          <c:dPt>
            <c:idx val="5"/>
            <c:marker>
              <c:symbol val="circle"/>
              <c:size val="10"/>
              <c:spPr>
                <a:solidFill>
                  <a:srgbClr val="E36414"/>
                </a:solidFill>
                <a:ln>
                  <a:solidFill>
                    <a:srgbClr val="FFFFFF"/>
                  </a:solidFill>
                </a:ln>
              </c:spPr>
            </c:marker>
          </c:dPt>
          <c:dPt>
            <c:idx val="6"/>
            <c:marker>
              <c:symbol val="circle"/>
              <c:size val="10"/>
              <c:spPr>
                <a:solidFill>
                  <a:srgbClr val="E36414"/>
                </a:solidFill>
                <a:ln>
                  <a:solidFill>
                    <a:srgbClr val="FFFFFF"/>
                  </a:solidFill>
                </a:ln>
              </c:spPr>
            </c:marker>
          </c:dPt>
          <c:dLbls>
            <c:dLbl>
              <c:idx val="0"/>
              <c:tx>
                <c:rich>
                  <a:bodyPr/>
                  <a:lstStyle/>
                  <a:p>
                    <a:r>
                      <a:rPr sz="1300" b="1">
                        <a:solidFill>
                          <a:srgbClr val="E36414"/>
                        </a:solidFill>
                      </a:rPr>
                      <a:t>AB</a:t>
                    </a:r>
                  </a:p>
                </c:rich>
              </c:tx>
              <c:dLblPos val="r"/>
              <c:showLegendKey val="0"/>
              <c:showVal val="1"/>
              <c:showCatName val="0"/>
              <c:showSerName val="0"/>
              <c:showPercent val="0"/>
              <c:showBubbleSize val="0"/>
            </c:dLbl>
            <c:dLbl>
              <c:idx val="1"/>
              <c:tx>
                <c:rich>
                  <a:bodyPr/>
                  <a:lstStyle/>
                  <a:p>
                    <a:r>
                      <a:rPr sz="1300" b="1">
                        <a:solidFill>
                          <a:srgbClr val="E36414"/>
                        </a:solidFill>
                      </a:rPr>
                      <a:t>B</a:t>
                    </a:r>
                  </a:p>
                </c:rich>
              </c:tx>
              <c:dLblPos val="r"/>
              <c:showLegendKey val="0"/>
              <c:showVal val="1"/>
              <c:showCatName val="0"/>
              <c:showSerName val="0"/>
              <c:showPercent val="0"/>
              <c:showBubbleSize val="0"/>
            </c:dLbl>
            <c:dLbl>
              <c:idx val="2"/>
              <c:tx>
                <c:rich>
                  <a:bodyPr/>
                  <a:lstStyle/>
                  <a:p>
                    <a:r>
                      <a:rPr sz="1300" b="1">
                        <a:solidFill>
                          <a:srgbClr val="E36414"/>
                        </a:solidFill>
                      </a:rPr>
                      <a:t>C</a:t>
                    </a:r>
                  </a:p>
                </c:rich>
              </c:tx>
              <c:dLblPos val="r"/>
              <c:showLegendKey val="0"/>
              <c:showVal val="1"/>
              <c:showCatName val="0"/>
              <c:showSerName val="0"/>
              <c:showPercent val="0"/>
              <c:showBubbleSize val="0"/>
            </c:dLbl>
            <c:dLbl>
              <c:idx val="3"/>
              <c:tx>
                <c:rich>
                  <a:bodyPr/>
                  <a:lstStyle/>
                  <a:p>
                    <a:r>
                      <a:rPr sz="1300" b="1">
                        <a:solidFill>
                          <a:srgbClr val="E36414"/>
                        </a:solidFill>
                      </a:rPr>
                      <a:t>D</a:t>
                    </a:r>
                  </a:p>
                </c:rich>
              </c:tx>
              <c:dLblPos val="r"/>
              <c:showLegendKey val="0"/>
              <c:showVal val="1"/>
              <c:showCatName val="0"/>
              <c:showSerName val="0"/>
              <c:showPercent val="0"/>
              <c:showBubbleSize val="0"/>
            </c:dLbl>
            <c:dLbl>
              <c:idx val="4"/>
              <c:tx>
                <c:rich>
                  <a:bodyPr/>
                  <a:lstStyle/>
                  <a:p>
                    <a:r>
                      <a:rPr sz="1300" b="1">
                        <a:solidFill>
                          <a:srgbClr val="E36414"/>
                        </a:solidFill>
                      </a:rPr>
                      <a:t>AC</a:t>
                    </a:r>
                  </a:p>
                </c:rich>
              </c:tx>
              <c:dLblPos val="r"/>
              <c:showLegendKey val="0"/>
              <c:showVal val="1"/>
              <c:showCatName val="0"/>
              <c:showSerName val="0"/>
              <c:showPercent val="0"/>
              <c:showBubbleSize val="0"/>
            </c:dLbl>
            <c:dLbl>
              <c:idx val="5"/>
              <c:tx>
                <c:rich>
                  <a:bodyPr/>
                  <a:lstStyle/>
                  <a:p>
                    <a:r>
                      <a:rPr sz="1300" b="1">
                        <a:solidFill>
                          <a:srgbClr val="E36414"/>
                        </a:solidFill>
                      </a:rPr>
                      <a:t>A</a:t>
                    </a:r>
                  </a:p>
                </c:rich>
              </c:tx>
              <c:dLblPos val="r"/>
              <c:showLegendKey val="0"/>
              <c:showVal val="1"/>
              <c:showCatName val="0"/>
              <c:showSerName val="0"/>
              <c:showPercent val="0"/>
              <c:showBubbleSize val="0"/>
            </c:dLbl>
            <c:dLbl>
              <c:idx val="6"/>
              <c:tx>
                <c:rich>
                  <a:bodyPr/>
                  <a:lstStyle/>
                  <a:p>
                    <a:r>
                      <a:rPr sz="1300" b="1">
                        <a:solidFill>
                          <a:srgbClr val="E36414"/>
                        </a:solidFill>
                      </a:rPr>
                      <a:t>AD</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Sheet1!$A$2:$A$8</c:f>
              <c:numCache>
                <c:formatCode>General</c:formatCode>
                <c:ptCount val="7"/>
                <c:pt idx="0">
                  <c:v>1.0</c:v>
                </c:pt>
                <c:pt idx="1">
                  <c:v>1.5</c:v>
                </c:pt>
                <c:pt idx="2">
                  <c:v>14.0</c:v>
                </c:pt>
                <c:pt idx="3">
                  <c:v>16.5</c:v>
                </c:pt>
                <c:pt idx="4">
                  <c:v>18.5</c:v>
                </c:pt>
                <c:pt idx="5">
                  <c:v>19.0</c:v>
                </c:pt>
                <c:pt idx="6">
                  <c:v>19.0</c:v>
                </c:pt>
              </c:numCache>
            </c:numRef>
          </c:xVal>
          <c:yVal>
            <c:numRef>
              <c:f>Sheet1!$B$2:$B$8</c:f>
              <c:numCache>
                <c:formatCode>General</c:formatCode>
                <c:ptCount val="7"/>
                <c:pt idx="0">
                  <c:v>0.08964235107576252</c:v>
                </c:pt>
                <c:pt idx="1">
                  <c:v>0.2718800053992607</c:v>
                </c:pt>
                <c:pt idx="2">
                  <c:v>0.46370775145717896</c:v>
                </c:pt>
                <c:pt idx="3">
                  <c:v>0.6744897501960817</c:v>
                </c:pt>
                <c:pt idx="4">
                  <c:v>0.9208229763683786</c:v>
                </c:pt>
                <c:pt idx="5">
                  <c:v>1.2418667918433202</c:v>
                </c:pt>
                <c:pt idx="6">
                  <c:v>1.8027430907391906</c:v>
                </c:pt>
              </c:numCache>
            </c:numRef>
          </c:yVal>
          <c:smooth val="0"/>
        </c:ser>
        <c:ser>
          <c:idx val="1"/>
          <c:order val="1"/>
          <c:tx>
            <c:strRef>
              <c:f>Sheet1!$B$10</c:f>
              <c:strCache>
                <c:ptCount val="1"/>
                <c:pt idx="0">
                  <c:v>Recta</c:v>
                </c:pt>
              </c:strCache>
            </c:strRef>
          </c:tx>
          <c:spPr>
            <a:ln w="19050">
              <a:solidFill>
                <a:srgbClr val="E36414"/>
              </a:solidFill>
            </a:ln>
          </c:spPr>
          <c:marker>
            <c:symbol val="none"/>
          </c:marker>
          <c:xVal>
            <c:numRef>
              <c:f>Sheet1!$A$11:$A$12</c:f>
              <c:numCache>
                <c:formatCode>General</c:formatCode>
                <c:ptCount val="2"/>
                <c:pt idx="0">
                  <c:v>0.0</c:v>
                </c:pt>
                <c:pt idx="1">
                  <c:v>10.942620080368114</c:v>
                </c:pt>
              </c:numCache>
            </c:numRef>
          </c:xVal>
          <c:yVal>
            <c:numRef>
              <c:f>Sheet1!$B$11:$B$12</c:f>
              <c:numCache>
                <c:formatCode>General</c:formatCode>
                <c:ptCount val="2"/>
                <c:pt idx="0">
                  <c:v>0.0</c:v>
                </c:pt>
                <c:pt idx="1">
                  <c:v>1.8027430907391906</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seminormal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1"/>
            <c:marker>
              <c:symbol val="circle"/>
              <c:size val="10"/>
              <c:spPr>
                <a:solidFill>
                  <a:srgbClr val="E36414"/>
                </a:solidFill>
                <a:ln>
                  <a:solidFill>
                    <a:srgbClr val="FFFFFF"/>
                  </a:solidFill>
                </a:ln>
              </c:spPr>
            </c:marker>
          </c:dPt>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11"/>
              <c:tx>
                <c:rich>
                  <a:bodyPr/>
                  <a:lstStyle/>
                  <a:p>
                    <a:r>
                      <a:rPr sz="1300" b="1">
                        <a:solidFill>
                          <a:srgbClr val="E36414"/>
                        </a:solidFill>
                      </a:rPr>
                      <a:t>AB</a:t>
                    </a:r>
                  </a:p>
                </c:rich>
              </c:tx>
              <c:dLblPos val="r"/>
              <c:showLegendKey val="0"/>
              <c:showVal val="1"/>
              <c:showCatName val="0"/>
              <c:showSerName val="0"/>
              <c:showPercent val="0"/>
              <c:showBubbleSize val="0"/>
            </c:dLbl>
            <c:dLbl>
              <c:idx val="12"/>
              <c:tx>
                <c:rich>
                  <a:bodyPr/>
                  <a:lstStyle/>
                  <a:p>
                    <a:r>
                      <a:rPr sz="1300" b="1">
                        <a:solidFill>
                          <a:srgbClr val="E36414"/>
                        </a:solidFill>
                      </a:rPr>
                      <a:t>C</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-1.375</c:v>
                </c:pt>
                <c:pt idx="1">
                  <c:v>-0.875</c:v>
                </c:pt>
                <c:pt idx="2">
                  <c:v>-0.125</c:v>
                </c:pt>
                <c:pt idx="3">
                  <c:v>-0.125</c:v>
                </c:pt>
                <c:pt idx="4">
                  <c:v>0.375</c:v>
                </c:pt>
                <c:pt idx="5">
                  <c:v>0.375</c:v>
                </c:pt>
                <c:pt idx="6">
                  <c:v>0.625</c:v>
                </c:pt>
                <c:pt idx="7">
                  <c:v>0.625</c:v>
                </c:pt>
                <c:pt idx="8">
                  <c:v>0.875</c:v>
                </c:pt>
                <c:pt idx="9">
                  <c:v>1.125</c:v>
                </c:pt>
                <c:pt idx="10">
                  <c:v>1.125</c:v>
                </c:pt>
                <c:pt idx="11">
                  <c:v>6.875</c:v>
                </c:pt>
                <c:pt idx="12">
                  <c:v>10.875</c:v>
                </c:pt>
                <c:pt idx="13">
                  <c:v>11.125</c:v>
                </c:pt>
                <c:pt idx="14">
                  <c:v>33.875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-1.2887989237118709</c:v>
                </c:pt>
                <c:pt idx="1">
                  <c:v>2.72272611819398</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de efectos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AE</c:v>
                </c:pt>
                <c:pt idx="2">
                  <c:v>AD</c:v>
                </c:pt>
                <c:pt idx="3">
                  <c:v>DE</c:v>
                </c:pt>
                <c:pt idx="4">
                  <c:v>AB</c:v>
                </c:pt>
                <c:pt idx="5">
                  <c:v>C</c:v>
                </c:pt>
                <c:pt idx="6">
                  <c:v>A</c:v>
                </c:pt>
                <c:pt idx="7">
                  <c:v>B</c:v>
                </c:pt>
              </c:strCache>
            </c:strRef>
          </c:cat>
          <c:val>
            <c:numRef>
              <c:f>Sheet1!$B$2:$B$9</c:f>
              <c:numCache>
                <c:formatCode>General</c:formatCode>
                <c:ptCount val="8"/>
                <c:pt idx="0">
                  <c:v>0.875</c:v>
                </c:pt>
                <c:pt idx="1">
                  <c:v>1.125</c:v>
                </c:pt>
                <c:pt idx="2">
                  <c:v>1.125</c:v>
                </c:pt>
                <c:pt idx="3">
                  <c:v>1.375</c:v>
                </c:pt>
                <c:pt idx="4">
                  <c:v>6.875</c:v>
                </c:pt>
                <c:pt idx="5">
                  <c:v>10.875</c:v>
                </c:pt>
                <c:pt idx="6">
                  <c:v>11.125</c:v>
                </c:pt>
                <c:pt idx="7">
                  <c:v>33.875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Gráfica normal con recta de Daniel (fig. 8-12)</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dPt>
            <c:idx val="12"/>
            <c:marker>
              <c:symbol val="circle"/>
              <c:size val="10"/>
              <c:spPr>
                <a:solidFill>
                  <a:srgbClr val="E36414"/>
                </a:solidFill>
                <a:ln>
                  <a:solidFill>
                    <a:srgbClr val="FFFFFF"/>
                  </a:solidFill>
                </a:ln>
              </c:spPr>
            </c:marker>
          </c:dPt>
          <c:dPt>
            <c:idx val="13"/>
            <c:marker>
              <c:symbol val="circle"/>
              <c:size val="10"/>
              <c:spPr>
                <a:solidFill>
                  <a:srgbClr val="E36414"/>
                </a:solidFill>
                <a:ln>
                  <a:solidFill>
                    <a:srgbClr val="FFFFFF"/>
                  </a:solidFill>
                </a:ln>
              </c:spPr>
            </c:marker>
          </c:dPt>
          <c:dPt>
            <c:idx val="14"/>
            <c:marker>
              <c:symbol val="circle"/>
              <c:size val="10"/>
              <c:spPr>
                <a:solidFill>
                  <a:srgbClr val="E36414"/>
                </a:solidFill>
                <a:ln>
                  <a:solidFill>
                    <a:srgbClr val="FFFFFF"/>
                  </a:solidFill>
                </a:ln>
              </c:spPr>
            </c:marker>
          </c:dPt>
          <c:dLbls>
            <c:dLbl>
              <c:idx val="0"/>
              <c:tx>
                <c:rich>
                  <a:bodyPr/>
                  <a:lstStyle/>
                  <a:p>
                    <a:r>
                      <a:rPr sz="1300" b="1">
                        <a:solidFill>
                          <a:srgbClr val="E36414"/>
                        </a:solidFill>
                      </a:rPr>
                      <a:t>AD + EF</a:t>
                    </a:r>
                  </a:p>
                </c:rich>
              </c:tx>
              <c:dLblPos val="r"/>
              <c:showLegendKey val="0"/>
              <c:showVal val="1"/>
              <c:showCatName val="0"/>
              <c:showSerName val="0"/>
              <c:showPercent val="0"/>
              <c:showBubbleSize val="0"/>
            </c:dLbl>
            <c:dLbl>
              <c:idx val="1"/>
              <c:tx>
                <c:rich>
                  <a:bodyPr/>
                  <a:lstStyle/>
                  <a:p>
                    <a:r>
                      <a:rPr sz="1300" b="1">
                        <a:solidFill>
                          <a:srgbClr val="E36414"/>
                        </a:solidFill>
                      </a:rPr>
                      <a:t>ABF</a:t>
                    </a:r>
                  </a:p>
                </c:rich>
              </c:tx>
              <c:dLblPos val="r"/>
              <c:showLegendKey val="0"/>
              <c:showVal val="1"/>
              <c:showCatName val="0"/>
              <c:showSerName val="0"/>
              <c:showPercent val="0"/>
              <c:showBubbleSize val="0"/>
            </c:dLbl>
            <c:dLbl>
              <c:idx val="12"/>
              <c:tx>
                <c:rich>
                  <a:bodyPr/>
                  <a:lstStyle/>
                  <a:p>
                    <a:r>
                      <a:rPr sz="1300" b="1">
                        <a:solidFill>
                          <a:srgbClr val="E36414"/>
                        </a:solidFill>
                      </a:rPr>
                      <a:t>AB + CE</a:t>
                    </a:r>
                  </a:p>
                </c:rich>
              </c:tx>
              <c:dLblPos val="r"/>
              <c:showLegendKey val="0"/>
              <c:showVal val="1"/>
              <c:showCatName val="0"/>
              <c:showSerName val="0"/>
              <c:showPercent val="0"/>
              <c:showBubbleSize val="0"/>
            </c:dLbl>
            <c:dLbl>
              <c:idx val="13"/>
              <c:tx>
                <c:rich>
                  <a:bodyPr/>
                  <a:lstStyle/>
                  <a:p>
                    <a:r>
                      <a:rPr sz="1300" b="1">
                        <a:solidFill>
                          <a:srgbClr val="E36414"/>
                        </a:solidFill>
                      </a:rPr>
                      <a:t>A</a:t>
                    </a:r>
                  </a:p>
                </c:rich>
              </c:tx>
              <c:dLblPos val="r"/>
              <c:showLegendKey val="0"/>
              <c:showVal val="1"/>
              <c:showCatName val="0"/>
              <c:showSerName val="0"/>
              <c:showPercent val="0"/>
              <c:showBubbleSize val="0"/>
            </c:dLbl>
            <c:dLbl>
              <c:idx val="14"/>
              <c:tx>
                <c:rich>
                  <a:bodyPr/>
                  <a:lstStyle/>
                  <a:p>
                    <a:r>
                      <a:rPr sz="1300" b="1">
                        <a:solidFill>
                          <a:srgbClr val="E36414"/>
                        </a:solidFill>
                      </a:rPr>
                      <a:t>B</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Sheet1!$A$2:$A$16</c:f>
              <c:numCache>
                <c:formatCode>General</c:formatCode>
                <c:ptCount val="15"/>
                <c:pt idx="0">
                  <c:v>-5.375</c:v>
                </c:pt>
                <c:pt idx="1">
                  <c:v>-4.875</c:v>
                </c:pt>
                <c:pt idx="2">
                  <c:v>-1.875</c:v>
                </c:pt>
                <c:pt idx="3">
                  <c:v>-1.625</c:v>
                </c:pt>
                <c:pt idx="4">
                  <c:v>-0.875</c:v>
                </c:pt>
                <c:pt idx="5">
                  <c:v>-0.125</c:v>
                </c:pt>
                <c:pt idx="6">
                  <c:v>-0.125</c:v>
                </c:pt>
                <c:pt idx="7">
                  <c:v>0.125</c:v>
                </c:pt>
                <c:pt idx="8">
                  <c:v>0.375</c:v>
                </c:pt>
                <c:pt idx="9">
                  <c:v>0.375</c:v>
                </c:pt>
                <c:pt idx="10">
                  <c:v>0.625</c:v>
                </c:pt>
                <c:pt idx="11">
                  <c:v>1.375</c:v>
                </c:pt>
                <c:pt idx="12">
                  <c:v>11.875</c:v>
                </c:pt>
                <c:pt idx="13">
                  <c:v>13.875</c:v>
                </c:pt>
                <c:pt idx="14">
                  <c:v>35.625</c:v>
                </c:pt>
              </c:numCache>
            </c:numRef>
          </c:xVal>
          <c:yVal>
            <c:numRef>
              <c:f>Sheet1!$B$2:$B$16</c:f>
              <c:numCache>
                <c:formatCode>General</c:formatCode>
                <c:ptCount val="15"/>
                <c:pt idx="0">
                  <c:v>-1.8339146358159142</c:v>
                </c:pt>
                <c:pt idx="1">
                  <c:v>-1.2815515655446008</c:v>
                </c:pt>
                <c:pt idx="2">
                  <c:v>-0.9674215661017014</c:v>
                </c:pt>
                <c:pt idx="3">
                  <c:v>-0.727913290881644</c:v>
                </c:pt>
                <c:pt idx="4">
                  <c:v>-0.5244005127080407</c:v>
                </c:pt>
                <c:pt idx="5">
                  <c:v>-0.34069482708779547</c:v>
                </c:pt>
                <c:pt idx="6">
                  <c:v>-0.1678940047881054</c:v>
                </c:pt>
                <c:pt idx="7">
                  <c:v>0.0</c:v>
                </c:pt>
                <c:pt idx="8">
                  <c:v>0.1678940047881054</c:v>
                </c:pt>
                <c:pt idx="9">
                  <c:v>0.34069482708779536</c:v>
                </c:pt>
                <c:pt idx="10">
                  <c:v>0.5244005127080407</c:v>
                </c:pt>
                <c:pt idx="11">
                  <c:v>0.7279132908816445</c:v>
                </c:pt>
                <c:pt idx="12">
                  <c:v>0.9674215661017014</c:v>
                </c:pt>
                <c:pt idx="13">
                  <c:v>1.2815515655446008</c:v>
                </c:pt>
                <c:pt idx="14">
                  <c:v>1.8339146358159142</c:v>
                </c:pt>
              </c:numCache>
            </c:numRef>
          </c:yVal>
          <c:smooth val="0"/>
        </c:ser>
        <c:ser>
          <c:idx val="1"/>
          <c:order val="1"/>
          <c:tx>
            <c:strRef>
              <c:f>Sheet1!$B$18</c:f>
              <c:strCache>
                <c:ptCount val="1"/>
                <c:pt idx="0">
                  <c:v>Recta</c:v>
                </c:pt>
              </c:strCache>
            </c:strRef>
          </c:tx>
          <c:spPr>
            <a:ln w="19050">
              <a:solidFill>
                <a:srgbClr val="E36414"/>
              </a:solidFill>
            </a:ln>
          </c:spPr>
          <c:marker>
            <c:symbol val="none"/>
          </c:marker>
          <c:xVal>
            <c:numRef>
              <c:f>Sheet1!$A$19:$A$20</c:f>
              <c:numCache>
                <c:formatCode>General</c:formatCode>
                <c:ptCount val="2"/>
                <c:pt idx="0">
                  <c:v>-4.950469909104288</c:v>
                </c:pt>
                <c:pt idx="1">
                  <c:v>4.750207267177459</c:v>
                </c:pt>
              </c:numCache>
            </c:numRef>
          </c:xVal>
          <c:yVal>
            <c:numRef>
              <c:f>Sheet1!$B$19:$B$20</c:f>
              <c:numCache>
                <c:formatCode>General</c:formatCode>
                <c:ptCount val="2"/>
                <c:pt idx="0">
                  <c:v>-1.8339146358159142</c:v>
                </c:pt>
                <c:pt idx="1">
                  <c:v>1.8339146358159142</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Efecto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Pareto (los 8 mayores)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Sheet1!$A$2:$A$9</c:f>
              <c:strCache>
                <c:ptCount val="8"/>
                <c:pt idx="0">
                  <c:v>D</c:v>
                </c:pt>
                <c:pt idx="1">
                  <c:v>AC + BE</c:v>
                </c:pt>
                <c:pt idx="2">
                  <c:v>AE + BC + DF</c:v>
                </c:pt>
                <c:pt idx="3">
                  <c:v>ABF</c:v>
                </c:pt>
                <c:pt idx="4">
                  <c:v>AD + EF</c:v>
                </c:pt>
                <c:pt idx="5">
                  <c:v>AB + CE</c:v>
                </c:pt>
                <c:pt idx="6">
                  <c:v>A</c:v>
                </c:pt>
                <c:pt idx="7">
                  <c:v>B</c:v>
                </c:pt>
              </c:strCache>
            </c:strRef>
          </c:cat>
          <c:val>
            <c:numRef>
              <c:f>Sheet1!$B$2:$B$9</c:f>
              <c:numCache>
                <c:formatCode>General</c:formatCode>
                <c:ptCount val="8"/>
                <c:pt idx="0">
                  <c:v>1.375</c:v>
                </c:pt>
                <c:pt idx="1">
                  <c:v>1.625</c:v>
                </c:pt>
                <c:pt idx="2">
                  <c:v>1.875</c:v>
                </c:pt>
                <c:pt idx="3">
                  <c:v>4.875</c:v>
                </c:pt>
                <c:pt idx="4">
                  <c:v>5.375</c:v>
                </c:pt>
                <c:pt idx="5">
                  <c:v>11.875</c:v>
                </c:pt>
                <c:pt idx="6">
                  <c:v>13.875</c:v>
                </c:pt>
                <c:pt idx="7">
                  <c:v>35.625</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Interacción AB (fig. 8-13)</a:t>
            </a:r>
          </a:p>
        </c:rich>
      </c:tx>
      <c:layout/>
      <c:overlay val="0"/>
    </c:title>
    <c:autoTitleDeleted val="0"/>
    <c:plotArea>
      <c:lineChart>
        <c:grouping val="standard"/>
        <c:varyColors val="0"/>
        <c:ser>
          <c:idx val="0"/>
          <c:order val="0"/>
          <c:tx>
            <c:strRef>
              <c:f>Sheet1!$B$1</c:f>
              <c:strCache>
                <c:ptCount val="1"/>
                <c:pt idx="0">
                  <c:v>B bajo (−)</c:v>
                </c:pt>
              </c:strCache>
            </c:strRef>
          </c:tx>
          <c:spPr>
            <a:ln w="31750">
              <a:solidFill>
                <a:srgbClr val="0F4C5C"/>
              </a:solidFill>
            </a:ln>
          </c:spPr>
          <c:marker>
            <c:symbol val="circle"/>
            <c:size val="9"/>
            <c:spPr>
              <a:solidFill>
                <a:srgbClr val="0F4C5C"/>
              </a:solidFill>
              <a:ln>
                <a:solidFill>
                  <a:srgbClr val="FFFFFF"/>
                </a:solidFill>
              </a:ln>
            </c:spPr>
          </c:marker>
          <c:cat>
            <c:strRef>
              <c:f>Sheet1!$A$2:$A$3</c:f>
              <c:strCache>
                <c:ptCount val="2"/>
                <c:pt idx="0">
                  <c:v>A bajo (−)</c:v>
                </c:pt>
                <c:pt idx="1">
                  <c:v>A alto (+)</c:v>
                </c:pt>
              </c:strCache>
            </c:strRef>
          </c:cat>
          <c:val>
            <c:numRef>
              <c:f>Sheet1!$B$2:$B$3</c:f>
              <c:numCache>
                <c:formatCode>General</c:formatCode>
                <c:ptCount val="2"/>
                <c:pt idx="0">
                  <c:v>8.5</c:v>
                </c:pt>
                <c:pt idx="1">
                  <c:v>10.5</c:v>
                </c:pt>
              </c:numCache>
            </c:numRef>
          </c:val>
          <c:smooth val="0"/>
        </c:ser>
        <c:ser>
          <c:idx val="1"/>
          <c:order val="1"/>
          <c:tx>
            <c:strRef>
              <c:f>Sheet1!$C$1</c:f>
              <c:strCache>
                <c:ptCount val="1"/>
                <c:pt idx="0">
                  <c:v>B alto (+)</c:v>
                </c:pt>
              </c:strCache>
            </c:strRef>
          </c:tx>
          <c:spPr>
            <a:ln w="31750">
              <a:solidFill>
                <a:srgbClr val="E36414"/>
              </a:solidFill>
            </a:ln>
          </c:spPr>
          <c:marker>
            <c:symbol val="circle"/>
            <c:size val="9"/>
            <c:spPr>
              <a:solidFill>
                <a:srgbClr val="E36414"/>
              </a:solidFill>
              <a:ln>
                <a:solidFill>
                  <a:srgbClr val="FFFFFF"/>
                </a:solidFill>
              </a:ln>
            </c:spPr>
          </c:marker>
          <c:cat>
            <c:strRef>
              <c:f>Sheet1!$A$2:$A$3</c:f>
              <c:strCache>
                <c:ptCount val="2"/>
                <c:pt idx="0">
                  <c:v>A bajo (−)</c:v>
                </c:pt>
                <c:pt idx="1">
                  <c:v>A alto (+)</c:v>
                </c:pt>
              </c:strCache>
            </c:strRef>
          </c:cat>
          <c:val>
            <c:numRef>
              <c:f>Sheet1!$C$2:$C$3</c:f>
              <c:numCache>
                <c:formatCode>General</c:formatCode>
                <c:ptCount val="2"/>
                <c:pt idx="0">
                  <c:v>32.25</c:v>
                </c:pt>
                <c:pt idx="1">
                  <c:v>58.0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9AA8AE"/>
            </a:solidFill>
          </a:ln>
        </c:spPr>
        <c:crossAx val="2140495176"/>
        <c:crosses val="autoZero"/>
        <c:auto val="1"/>
        <c:lblAlgn val="ctr"/>
        <c:lblOffset val="100"/>
        <c:noMultiLvlLbl val="0"/>
      </c:catAx>
      <c:valAx>
        <c:axId val="2140495176"/>
        <c:scaling/>
        <c:delete val="0"/>
        <c:axPos val="l"/>
        <c:majorGridlines>
          <c:spPr>
            <a:ln w="6350">
              <a:solidFill>
                <a:srgbClr val="DDE5E8"/>
              </a:solidFill>
            </a:ln>
          </c:spPr>
        </c:majorGridlines>
        <c:title>
          <c:tx>
            <c:rich>
              <a:bodyPr/>
              <a:lstStyle/>
              <a:p>
                <a:r>
                  <a:rPr sz="1200" b="0">
                    <a:solidFill>
                      <a:srgbClr val="5B6B73"/>
                    </a:solidFill>
                    <a:latin typeface="Calibri"/>
                  </a:rPr>
                  <a:t>Contracción promedio</a:t>
                </a:r>
              </a:p>
            </c:rich>
          </c:tx>
          <c:layout/>
          <c:overlay val="0"/>
        </c:title>
        <c:majorTickMark val="out"/>
        <c:minorTickMark val="none"/>
        <c:tickLblPos val="nextTo"/>
        <c:spPr>
          <a:ln>
            <a:solidFill>
              <a:srgbClr val="9AA8AE"/>
            </a:solidFill>
          </a:ln>
        </c:spPr>
        <c:crossAx val="2118791784"/>
        <c:crosses val="autoZero"/>
      </c:valAx>
    </c:plotArea>
    <c:legend>
      <c:legendPos val="b"/>
      <c:layout/>
      <c:overlay val="0"/>
      <c:txPr>
        <a:bodyPr/>
        <a:lstStyle/>
        <a:p>
          <a:pPr>
            <a:defRPr sz="1200"/>
          </a:pPr>
        </a:p>
      </c:txPr>
    </c:legend>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Probabilidad normal de los residuos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-2.8125</c:v>
                </c:pt>
                <c:pt idx="1">
                  <c:v>-1.6875</c:v>
                </c:pt>
                <c:pt idx="2">
                  <c:v>-1.6875</c:v>
                </c:pt>
                <c:pt idx="3">
                  <c:v>-1.0625</c:v>
                </c:pt>
                <c:pt idx="4">
                  <c:v>-0.8125</c:v>
                </c:pt>
                <c:pt idx="5">
                  <c:v>-0.6875</c:v>
                </c:pt>
                <c:pt idx="6">
                  <c:v>-0.0625</c:v>
                </c:pt>
                <c:pt idx="7">
                  <c:v>0.0625</c:v>
                </c:pt>
                <c:pt idx="8">
                  <c:v>0.1875</c:v>
                </c:pt>
                <c:pt idx="9">
                  <c:v>0.3125</c:v>
                </c:pt>
                <c:pt idx="10">
                  <c:v>1.0625</c:v>
                </c:pt>
                <c:pt idx="11">
                  <c:v>1.1875</c:v>
                </c:pt>
                <c:pt idx="12">
                  <c:v>1.1875</c:v>
                </c:pt>
                <c:pt idx="13">
                  <c:v>1.3125</c:v>
                </c:pt>
                <c:pt idx="14">
                  <c:v>1.3125</c:v>
                </c:pt>
                <c:pt idx="15">
                  <c:v>2.1875</c:v>
                </c:pt>
              </c:numCache>
            </c:numRef>
          </c:xVal>
          <c:yVal>
            <c:numRef>
              <c:f>Sheet1!$B$2:$B$17</c:f>
              <c:numCache>
                <c:formatCode>General</c:formatCode>
                <c:ptCount val="16"/>
                <c:pt idx="0">
                  <c:v>-1.862731867421651</c:v>
                </c:pt>
                <c:pt idx="1">
                  <c:v>-1.3180108973035367</c:v>
                </c:pt>
                <c:pt idx="2">
                  <c:v>-1.009990169249582</c:v>
                </c:pt>
                <c:pt idx="3">
                  <c:v>-0.7764217611479276</c:v>
                </c:pt>
                <c:pt idx="4">
                  <c:v>-0.579132162255556</c:v>
                </c:pt>
                <c:pt idx="5">
                  <c:v>-0.40225006532172525</c:v>
                </c:pt>
                <c:pt idx="6">
                  <c:v>-0.2372021093287877</c:v>
                </c:pt>
                <c:pt idx="7">
                  <c:v>-0.0784124127331122</c:v>
                </c:pt>
                <c:pt idx="8">
                  <c:v>0.0784124127331122</c:v>
                </c:pt>
                <c:pt idx="9">
                  <c:v>0.2372021093287877</c:v>
                </c:pt>
                <c:pt idx="10">
                  <c:v>0.40225006532172525</c:v>
                </c:pt>
                <c:pt idx="11">
                  <c:v>0.579132162255556</c:v>
                </c:pt>
                <c:pt idx="12">
                  <c:v>0.7764217611479276</c:v>
                </c:pt>
                <c:pt idx="13">
                  <c:v>1.009990169249582</c:v>
                </c:pt>
                <c:pt idx="14">
                  <c:v>1.3180108973035367</c:v>
                </c:pt>
                <c:pt idx="15">
                  <c:v>1.862731867421651</c:v>
                </c:pt>
              </c:numCache>
            </c:numRef>
          </c:yVal>
          <c:smooth val="0"/>
        </c:ser>
        <c:ser>
          <c:idx val="1"/>
          <c:order val="1"/>
          <c:tx>
            <c:strRef>
              <c:f>Sheet1!$B$19</c:f>
              <c:strCache>
                <c:ptCount val="1"/>
                <c:pt idx="0">
                  <c:v>Recta</c:v>
                </c:pt>
              </c:strCache>
            </c:strRef>
          </c:tx>
          <c:spPr>
            <a:ln w="19050">
              <a:solidFill>
                <a:srgbClr val="E36414"/>
              </a:solidFill>
            </a:ln>
          </c:spPr>
          <c:marker>
            <c:symbol val="none"/>
          </c:marker>
          <c:xVal>
            <c:numRef>
              <c:f>Sheet1!$A$20:$A$21</c:f>
              <c:numCache>
                <c:formatCode>General</c:formatCode>
                <c:ptCount val="2"/>
                <c:pt idx="0">
                  <c:v>-2.8125</c:v>
                </c:pt>
                <c:pt idx="1">
                  <c:v>2.1875</c:v>
                </c:pt>
              </c:numCache>
            </c:numRef>
          </c:xVal>
          <c:yVal>
            <c:numRef>
              <c:f>Sheet1!$B$20:$B$21</c:f>
              <c:numCache>
                <c:formatCode>General</c:formatCode>
                <c:ptCount val="2"/>
                <c:pt idx="0">
                  <c:v>-1.9961207541782773</c:v>
                </c:pt>
                <c:pt idx="1">
                  <c:v>1.5525383643608823</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Residuo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Puntuación normal</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title>
      <c:tx>
        <c:rich>
          <a:bodyPr/>
          <a:lstStyle/>
          <a:p>
            <a:r>
              <a:rPr sz="1400" b="1">
                <a:solidFill>
                  <a:srgbClr val="0F4C5C"/>
                </a:solidFill>
              </a:rPr>
              <a:t>Residuos contra valores ajustados</a:t>
            </a:r>
          </a:p>
        </c:rich>
      </c:tx>
      <c:layout/>
      <c:overlay val="0"/>
    </c:title>
    <c:plotArea>
      <c:scatterChart>
        <c:scatterStyle val="lineMarker"/>
        <c:varyColors val="0"/>
        <c:ser>
          <c:idx val="0"/>
          <c:order val="0"/>
          <c:tx>
            <c:strRef>
              <c:f>Sheet1!$B$1</c:f>
              <c:strCache>
                <c:ptCount val="1"/>
                <c:pt idx="0">
                  <c:v>Datos</c:v>
                </c:pt>
              </c:strCache>
            </c:strRef>
          </c:tx>
          <c:spPr>
            <a:ln w="47625">
              <a:noFill/>
            </a:ln>
          </c:spPr>
          <c:marker>
            <c:symbol val="circle"/>
            <c:size val="9"/>
            <c:spPr>
              <a:solidFill>
                <a:srgbClr val="0F4C5C"/>
              </a:solidFill>
              <a:ln>
                <a:solidFill>
                  <a:srgbClr val="FFFFFF"/>
                </a:solidFill>
              </a:ln>
            </c:spPr>
          </c:marker>
          <c:xVal>
            <c:numRef>
              <c:f>Sheet1!$A$2:$A$17</c:f>
              <c:numCache>
                <c:formatCode>General</c:formatCode>
                <c:ptCount val="16"/>
                <c:pt idx="0">
                  <c:v>5.8125</c:v>
                </c:pt>
                <c:pt idx="1">
                  <c:v>10.0625</c:v>
                </c:pt>
                <c:pt idx="2">
                  <c:v>32.8125</c:v>
                </c:pt>
                <c:pt idx="3">
                  <c:v>50.8125</c:v>
                </c:pt>
                <c:pt idx="4">
                  <c:v>16.6875</c:v>
                </c:pt>
                <c:pt idx="5">
                  <c:v>20.9375</c:v>
                </c:pt>
                <c:pt idx="6">
                  <c:v>43.6875</c:v>
                </c:pt>
                <c:pt idx="7">
                  <c:v>61.6875</c:v>
                </c:pt>
                <c:pt idx="8">
                  <c:v>5.8125</c:v>
                </c:pt>
                <c:pt idx="9">
                  <c:v>10.0625</c:v>
                </c:pt>
                <c:pt idx="10">
                  <c:v>32.8125</c:v>
                </c:pt>
                <c:pt idx="11">
                  <c:v>50.8125</c:v>
                </c:pt>
                <c:pt idx="12">
                  <c:v>16.6875</c:v>
                </c:pt>
                <c:pt idx="13">
                  <c:v>20.9375</c:v>
                </c:pt>
                <c:pt idx="14">
                  <c:v>43.6875</c:v>
                </c:pt>
                <c:pt idx="15">
                  <c:v>61.6875</c:v>
                </c:pt>
              </c:numCache>
            </c:numRef>
          </c:xVal>
          <c:yVal>
            <c:numRef>
              <c:f>Sheet1!$B$2:$B$17</c:f>
              <c:numCache>
                <c:formatCode>General</c:formatCode>
                <c:ptCount val="16"/>
                <c:pt idx="0">
                  <c:v>2.1875</c:v>
                </c:pt>
                <c:pt idx="1">
                  <c:v>-1.0625</c:v>
                </c:pt>
                <c:pt idx="2">
                  <c:v>1.1875</c:v>
                </c:pt>
                <c:pt idx="3">
                  <c:v>1.1875</c:v>
                </c:pt>
                <c:pt idx="4">
                  <c:v>-0.6875</c:v>
                </c:pt>
                <c:pt idx="5">
                  <c:v>1.0625</c:v>
                </c:pt>
                <c:pt idx="6">
                  <c:v>1.3125</c:v>
                </c:pt>
                <c:pt idx="7">
                  <c:v>-1.6875</c:v>
                </c:pt>
                <c:pt idx="8">
                  <c:v>0.1875</c:v>
                </c:pt>
                <c:pt idx="9">
                  <c:v>-0.0625</c:v>
                </c:pt>
                <c:pt idx="10">
                  <c:v>-2.8125</c:v>
                </c:pt>
                <c:pt idx="11">
                  <c:v>-0.8125</c:v>
                </c:pt>
                <c:pt idx="12">
                  <c:v>-1.6875</c:v>
                </c:pt>
                <c:pt idx="13">
                  <c:v>0.0625</c:v>
                </c:pt>
                <c:pt idx="14">
                  <c:v>0.3125</c:v>
                </c:pt>
                <c:pt idx="15">
                  <c:v>1.3125</c:v>
                </c:pt>
              </c:numCache>
            </c:numRef>
          </c:yVal>
          <c:smooth val="0"/>
        </c:ser>
        <c:axId val="-2128940872"/>
        <c:axId val="-2129643912"/>
      </c:scatterChart>
      <c:valAx>
        <c:axId val="-2128940872"/>
        <c:scaling>
          <c:orientation val="minMax"/>
        </c:scaling>
        <c:delete val="0"/>
        <c:axPos val="b"/>
        <c:title>
          <c:tx>
            <c:rich>
              <a:bodyPr/>
              <a:lstStyle/>
              <a:p>
                <a:r>
                  <a:rPr sz="1200" b="0">
                    <a:solidFill>
                      <a:srgbClr val="5B6B73"/>
                    </a:solidFill>
                    <a:latin typeface="Calibri"/>
                  </a:rPr>
                  <a:t>Valor ajustado</a:t>
                </a:r>
              </a:p>
            </c:rich>
          </c:tx>
          <c:layout/>
          <c:overlay val="0"/>
        </c:title>
        <c:numFmt formatCode="General" sourceLinked="1"/>
        <c:majorTickMark val="out"/>
        <c:minorTickMark val="none"/>
        <c:tickLblPos val="low"/>
        <c:spPr>
          <a:ln>
            <a:solidFill>
              <a:srgbClr val="9AA8AE"/>
            </a:solidFill>
          </a:ln>
        </c:spPr>
        <c:crossAx val="-2129643912"/>
        <c:crosses val="autoZero"/>
        <c:crossBetween val="midCat"/>
      </c:valAx>
      <c:valAx>
        <c:axId val="-2129643912"/>
        <c:scaling>
          <c:orientation val="minMax"/>
        </c:scaling>
        <c:delete val="0"/>
        <c:axPos val="l"/>
        <c:majorGridlines>
          <c:spPr>
            <a:ln w="6350">
              <a:solidFill>
                <a:srgbClr val="DDE5E8"/>
              </a:solidFill>
            </a:ln>
          </c:spPr>
        </c:majorGridlines>
        <c:title>
          <c:tx>
            <c:rich>
              <a:bodyPr/>
              <a:lstStyle/>
              <a:p>
                <a:r>
                  <a:rPr sz="1200" b="0">
                    <a:solidFill>
                      <a:srgbClr val="5B6B73"/>
                    </a:solidFill>
                    <a:latin typeface="Calibri"/>
                  </a:rPr>
                  <a:t>Residuo</a:t>
                </a:r>
              </a:p>
            </c:rich>
          </c:tx>
          <c:layout/>
          <c:overlay val="0"/>
        </c:title>
        <c:numFmt formatCode="0.0" sourceLinked="0"/>
        <c:majorTickMark val="out"/>
        <c:minorTickMark val="none"/>
        <c:tickLblPos val="low"/>
        <c:spPr>
          <a:ln>
            <a:solidFill>
              <a:srgbClr val="9AA8AE"/>
            </a:solidFill>
          </a:ln>
        </c:spPr>
        <c:crossAx val="-2128940872"/>
        <c:crosses val="autoZero"/>
        <c:crossBetween val="midCat"/>
      </c:valAx>
    </c:plotArea>
    <c:plotVisOnly val="1"/>
    <c:dispBlanksAs val="gap"/>
    <c:showDLblsOverMax val="0"/>
  </c:chart>
  <c:txPr>
    <a:bodyPr/>
    <a:lstStyle/>
    <a:p>
      <a:pPr>
        <a:defRPr sz="1200">
          <a:solidFill>
            <a:srgbClr val="142B33"/>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Primera fracción: efectos estimados</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Sheet1!$A$2:$A$8</c:f>
              <c:strCache>
                <c:ptCount val="7"/>
                <c:pt idx="0">
                  <c:v>B</c:v>
                </c:pt>
                <c:pt idx="1">
                  <c:v>D</c:v>
                </c:pt>
                <c:pt idx="2">
                  <c:v>A</c:v>
                </c:pt>
                <c:pt idx="3">
                  <c:v>G</c:v>
                </c:pt>
                <c:pt idx="4">
                  <c:v>F</c:v>
                </c:pt>
                <c:pt idx="5">
                  <c:v>E</c:v>
                </c:pt>
                <c:pt idx="6">
                  <c:v>C</c:v>
                </c:pt>
              </c:strCache>
            </c:strRef>
          </c:cat>
          <c:val>
            <c:numRef>
              <c:f>Sheet1!$B$2:$B$8</c:f>
              <c:numCache>
                <c:formatCode>General</c:formatCode>
                <c:ptCount val="7"/>
                <c:pt idx="0">
                  <c:v>38.37500000000001</c:v>
                </c:pt>
                <c:pt idx="1">
                  <c:v>28.875000000000007</c:v>
                </c:pt>
                <c:pt idx="2">
                  <c:v>20.625</c:v>
                </c:pt>
                <c:pt idx="3">
                  <c:v>-2.424999999999997</c:v>
                </c:pt>
                <c:pt idx="4">
                  <c:v>-0.625</c:v>
                </c:pt>
                <c:pt idx="5">
                  <c:v>-0.2749999999999986</c:v>
                </c:pt>
                <c:pt idx="6">
                  <c:v>-0.2749999999999986</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 estimado (ms)</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1">
                <a:solidFill>
                  <a:srgbClr val="0F4C5C"/>
                </a:solidFill>
              </a:rPr>
              <a:t>Efectos estimados (valor absoluto)</a:t>
            </a:r>
          </a:p>
        </c:rich>
      </c:tx>
      <c:layout/>
      <c:overlay val="0"/>
    </c:title>
    <c:autoTitleDeleted val="0"/>
    <c:plotArea>
      <c:barChart>
        <c:barDir val="bar"/>
        <c:grouping val="clustered"/>
        <c:ser>
          <c:idx val="0"/>
          <c:order val="0"/>
          <c:tx>
            <c:strRef>
              <c:f>Sheet1!$B$1</c:f>
              <c:strCache>
                <c:ptCount val="1"/>
                <c:pt idx="0">
                  <c:v>Valor</c:v>
                </c:pt>
              </c:strCache>
            </c:strRef>
          </c:tx>
          <c:spPr>
            <a:solidFill>
              <a:srgbClr val="0F4C5C"/>
            </a:solidFill>
          </c:spPr>
          <c:invertIfNegative val="0"/>
          <c:cat>
            <c:strRef>
              <c:f>Sheet1!$A$2:$A$12</c:f>
              <c:strCache>
                <c:ptCount val="11"/>
                <c:pt idx="0">
                  <c:v>L</c:v>
                </c:pt>
                <c:pt idx="1">
                  <c:v>F</c:v>
                </c:pt>
                <c:pt idx="2">
                  <c:v>G</c:v>
                </c:pt>
                <c:pt idx="3">
                  <c:v>H</c:v>
                </c:pt>
                <c:pt idx="4">
                  <c:v>K</c:v>
                </c:pt>
                <c:pt idx="5">
                  <c:v>J</c:v>
                </c:pt>
                <c:pt idx="6">
                  <c:v>A</c:v>
                </c:pt>
                <c:pt idx="7">
                  <c:v>B</c:v>
                </c:pt>
                <c:pt idx="8">
                  <c:v>E</c:v>
                </c:pt>
                <c:pt idx="9">
                  <c:v>C</c:v>
                </c:pt>
                <c:pt idx="10">
                  <c:v>D</c:v>
                </c:pt>
              </c:strCache>
            </c:strRef>
          </c:cat>
          <c:val>
            <c:numRef>
              <c:f>Sheet1!$B$2:$B$12</c:f>
              <c:numCache>
                <c:formatCode>General</c:formatCode>
                <c:ptCount val="11"/>
                <c:pt idx="0">
                  <c:v>0.3333333333333333</c:v>
                </c:pt>
                <c:pt idx="1">
                  <c:v>1.0</c:v>
                </c:pt>
                <c:pt idx="2">
                  <c:v>2.3333333333333335</c:v>
                </c:pt>
                <c:pt idx="3">
                  <c:v>3.0</c:v>
                </c:pt>
                <c:pt idx="4">
                  <c:v>11.666666666666666</c:v>
                </c:pt>
                <c:pt idx="5">
                  <c:v>12.666666666666666</c:v>
                </c:pt>
                <c:pt idx="6">
                  <c:v>12.666666666666666</c:v>
                </c:pt>
                <c:pt idx="7">
                  <c:v>13.333333333333334</c:v>
                </c:pt>
                <c:pt idx="8">
                  <c:v>13.666666666666666</c:v>
                </c:pt>
                <c:pt idx="9">
                  <c:v>13.666666666666666</c:v>
                </c:pt>
                <c:pt idx="10">
                  <c:v>34.0</c:v>
                </c:pt>
              </c:numCache>
            </c:numRef>
          </c:val>
        </c:ser>
        <c:dLbls>
          <c:numFmt formatCode="0.00" sourceLinked="0"/>
          <c:txPr>
            <a:bodyPr/>
            <a:lstStyle/>
            <a:p>
              <a:pPr>
                <a:defRPr sz="1200">
                  <a:solidFill>
                    <a:srgbClr val="142B33"/>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low"/>
        <c:spPr>
          <a:ln>
            <a:solidFill>
              <a:srgbClr val="9AA8AE"/>
            </a:solidFill>
          </a:ln>
        </c:spPr>
        <c:crossAx val="-2113994440"/>
        <c:crosses val="autoZero"/>
        <c:auto val="1"/>
        <c:lblAlgn val="ctr"/>
        <c:lblOffset val="100"/>
        <c:tickLblSkip val="1"/>
        <c:noMultiLvlLbl val="0"/>
      </c:catAx>
      <c:valAx>
        <c:axId val="-2113994440"/>
        <c:scaling/>
        <c:delete val="0"/>
        <c:axPos val="b"/>
        <c:majorGridlines>
          <c:spPr>
            <a:ln w="6350">
              <a:solidFill>
                <a:srgbClr val="DDE5E8"/>
              </a:solidFill>
            </a:ln>
          </c:spPr>
        </c:majorGridlines>
        <c:title>
          <c:tx>
            <c:rich>
              <a:bodyPr/>
              <a:lstStyle/>
              <a:p>
                <a:r>
                  <a:rPr sz="1200" b="0">
                    <a:solidFill>
                      <a:srgbClr val="5B6B73"/>
                    </a:solidFill>
                    <a:latin typeface="Calibri"/>
                  </a:rPr>
                  <a:t>|Efecto|</a:t>
                </a:r>
              </a:p>
            </c:rich>
          </c:tx>
          <c:layout/>
          <c:overlay val="0"/>
        </c:title>
        <c:numFmt formatCode="0" sourceLinked="0"/>
        <c:majorTickMark val="out"/>
        <c:minorTickMark val="none"/>
        <c:tickLblPos val="nextTo"/>
        <c:spPr>
          <a:ln>
            <a:solidFill>
              <a:srgbClr val="9AA8AE"/>
            </a:solidFill>
          </a:ln>
        </c:spPr>
        <c:crossAx val="-2068027336"/>
        <c:crosses val="autoZero"/>
      </c:valAx>
    </c:plotArea>
    <c:dispBlanksAs val="gap"/>
  </c:chart>
  <c:txPr>
    <a:bodyPr/>
    <a:lstStyle/>
    <a:p>
      <a:pPr>
        <a:defRPr sz="1200">
          <a:solidFill>
            <a:srgbClr val="142B3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clase sigue el orden del capítulo 8 de Montgomery. Primero el propósito del diseño, su vocabulario y el repaso de la tabla del 2k. Después la resolución, que es la idea que organiza todo lo demás. Luego las fracciones de menor a mayor complejidad: la fracción un medio con sus ejemplos, cómo se encadenan las fracciones en secuencia, la fracción un cuarto y el caso general 2k−p con su análisis, su proyección y su separación en bloques. Al final, los diseños de resolución III con el doblez y los de Plackett-Burman, y los de resolución IV y V. Cierra con las ideas clave.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factorial 2k completo el número de corridas se duplica con cada factor que se agrega: con 7 factores ya son 128 corridas y con 10 son 1024. En las primeras etapas de una investigación suele haber muchos factores candidatos y pocos recursos, de modo que el factorial completo deja de ser viable.</a:t>
            </a:r>
          </a:p>
          <a:p/>
          <a:p>
            <a:r>
              <a:t>El factorial fraccionado corre solo una parte del factorial completo, elegida de forma que todavía se puedan estimar los efectos principales y las interacciones de orden bajo. El precio que se paga es que algunos efectos quedan mezclados entre sí (alias). Por eso su uso típico es el tamizado (cribado o screening): identificar, entre muchos factores, los pocos que realmente afectan la respuesta.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completo con N corridas tiene N − 1 grados de libertad para estimar efectos. La tabla muestra cómo se reparten. En un 26 hay 63 grados de libertad, pero solo 6 corresponden a efectos principales y 15 a interacciones de dos factores; los 42 restantes se gastan en interacciones de tres o más factores, que con frecuencia se pueden suponer despreciables.</a:t>
            </a:r>
          </a:p>
          <a:p/>
          <a:p>
            <a:r>
              <a:t>Si se acepta que esas interacciones de orden alto son despreciables, la información sobre efectos principales e interacciones dobles se puede obtener con una fracción del experimento.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Escasez de efectos: cuando hay muchas variables, el sistema suele estar dominado por unos pocos efectos principales e interacciones de orden bajo.</a:t>
            </a:r>
          </a:p>
          <a:p/>
          <a:p>
            <a:r>
              <a:t>Proyección: si algunos factores resultan inactivos, el fraccionado se convierte en un diseño más fuerte (incluso un factorial completo, a veces con réplicas) en los factores que sí importan.</a:t>
            </a:r>
          </a:p>
          <a:p/>
          <a:p>
            <a:r>
              <a:t>Experimentación secuencial: no hay que correr todo de una vez. Se corre una fracción, se analiza y, si quedan dudas, se agrega otra fracción; juntas forman un diseño mayor que resuelve las ambigüedades.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Conviene cuando hay muchos factores (Montgomery señala que incluso con cuatro suele preferirse empezar con la fracción 24−1), cuando cada corrida es costosa o lenta, cuando se está en una etapa exploratoria y cuando es razonable suponer que las interacciones de tres o más factores son despreciables.</a:t>
            </a:r>
          </a:p>
          <a:p/>
          <a:p>
            <a:r>
              <a:t>No conviene cuando hay pocos factores y el factorial completo es barato, cuando se sabe que hay interacciones importantes entre muchos factores, o cuando se necesita un modelo detallado para optimizar: para eso están los factoriales completos y las superficies de respuesta, normalmente en una etapa posterior. Las conclusiones de un fraccionado son tentativas y deben confirmarse.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notación resume el diseño completo. La base 2 indica que cada factor tiene dos niveles (bajo y alto, codificados −1 y +1). k es el número de factores que se estudian. p es el número de generadores, es decir, cuántas veces se parte el factorial por la mitad. El diseño tiene N = 2k−p corridas y es una fracción 1/2p del factorial completo.</a:t>
            </a:r>
          </a:p>
          <a:p/>
          <a:p>
            <a:r>
              <a:t>Ejemplo: un 26−2 estudia 6 factores en 16 corridas, que es la cuarta parte de las 64 del factorial completo.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Generador: la interacción que define la fracción; por ejemplo ABCD en I = ABCD, que equivale a definir D = ABC. Palabra: cada interacción que aparece en la relación de definición, sea un generador o un producto de generadores.</a:t>
            </a:r>
          </a:p>
          <a:p/>
          <a:p>
            <a:r>
              <a:t>Relación de definición: el conjunto de todas las palabras iguales a la identidad I; incluye los generadores y todos sus productos.</a:t>
            </a:r>
          </a:p>
          <a:p/>
          <a:p>
            <a:r>
              <a:t>Alias: efectos que se estiman con la misma columna de signos (o con la opuesta, en una fracción alterna) y por tanto no se pueden distinguir. Una cadena de alias es el grupo completo de efectos que comparten columna.</a:t>
            </a:r>
          </a:p>
          <a:p/>
          <a:p>
            <a:r>
              <a:t>Fracción principal: la que se obtiene con todos los generadores en signo positivo. Las demás son fracciones alternas; todas juntas forman la familia.</a:t>
            </a:r>
          </a:p>
          <a:p/>
          <a:p>
            <a:r>
              <a:t>Diseño básico: el factorial completo en k − p factores sobre el que se construye la fracción. Diseño saturado: el que estudia k = N − 1 factores en N corridas.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fraccionar hay que saber leer la tabla del factorial completo, porque la fracción se recorta de ella. La tabla usa dos alfabetos. Las letras mayúsculas A, B, C encabezan las columnas y nombran los factores (y también sus efectos). Las letras minúsculas identifican las filas, es decir, las combinaciones de tratamientos: una letra presente indica que ese factor está en su nivel alto (+1) y una letra ausente indica que está en su nivel bajo (−1). Así, ac es la corrida con A y C altos y B bajo, y (1) es la corrida con todos los factores en nivel bajo.</a:t>
            </a:r>
          </a:p>
          <a:p/>
          <a:p>
            <a:r>
              <a:t>Las filas se escriben en el orden estándar o de Yates: se introduce un factor a la vez y se combina con todos los anteriores. Para tres factores: (1), a, b, ab, c, ac, bc, abc. En ese orden la columna A alterna −, +; la de B va de dos en dos y la de C de cuatro en cuatro. Montgomery usa la misma minúscula para nombrar la corrida y para denotar la respuesta (o el total de respuestas) observada en ella; por eso más adelante se escriben contrastes como a − b − c + abc. La letra I se reserva para la columna identidad, de modo que el noveno factor se llama J.</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columnas de los factores no bastan: hace falta una columna por cada efecto que el diseño puede estimar, y un 2k estima 2k − 1 efectos. Las columnas de las interacciones se obtienen multiplicando, fila por fila, los signos de los factores que las componen: en la corrida a, A es + y B es −, de modo que AB es −; en la corrida ab, ambos son + y AB es +. La columna ABC es el producto de las tres. Se agrega además la columna I, toda positiva, que corresponde al promedio general.</a:t>
            </a:r>
          </a:p>
          <a:p/>
          <a:p>
            <a:r>
              <a:t>La tabla completa tiene tres propiedades que se usan en todo el tema. Cada columna de efecto tiene la mitad de signos positivos y la mitad negativos (está balanceada). El producto de dos columnas cualesquiera es otra columna de la tabla, y una letra multiplicada por sí misma da I porque (±1)² = 1: A·AB = A²B = B. Las columnas son ortogonales entre sí, por lo que cada efecto se estima de forma independiente con su propio contraste: la suma de las respuestas multiplicadas por los signos de la columna, dividida entre N/2.</a:t>
            </a:r>
          </a:p>
          <a:p/>
          <a:p>
            <a:r>
              <a:t>De esta tabla sale la fracción: elegir media fracción es quedarse con las filas en que una columna de interacción tiene el mismo signo.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es una etiqueta que resume qué tan grave es la mezcla de efectos en un diseño fraccionado. Se escribe con número romano como subíndice: 23−1III se lee «dos a la tres menos uno, resolución tres».</a:t>
            </a:r>
          </a:p>
          <a:p/>
          <a:p>
            <a:r>
              <a:t>Montgomery la define así: un diseño es de resolución R cuando ningún efecto de p factores es alias de otro efecto que contenga menos de R − p factores. Leída de forma más sencilla: si dos efectos son alias, entre los dos suman al menos R letras.</a:t>
            </a:r>
          </a:p>
          <a:p/>
          <a:p>
            <a:r>
              <a:t>Con esa lectura se entiende cada caso. En resolución III, un efecto principal (1 letra) no puede ser alias de otro principal (1 + 1 = 2 letras), pero sí de una interacción doble (1 + 2 = 3). En resolución IV, un principal solo puede ser alias de una interacción triple (1 + 3 = 4), y dos interacciones dobles sí pueden ser alias entre sí (2 + 2 = 4). En resolución V, un principal solo se mezcla con interacciones de cuatro factores y una doble con triples (2 + 3 = 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regla práctica es directa: la resolución es igual al número de letras de la palabra más corta de la relación de definición. Por eso Montgomery llama a los diseños de resolución III, IV y V diseños «de tres, cuatro y cinco letras».</a:t>
            </a:r>
          </a:p>
          <a:p/>
          <a:p>
            <a:r>
              <a:t>La razón es la regla de los alias. Si la palabra más corta tiene L letras, al multiplicarla por un efecto principal se obtiene un alias de L − 1 letras, y la suma de los dos es justamente L.</a:t>
            </a:r>
          </a:p>
          <a:p/>
          <a:p>
            <a:r>
              <a:t>La resolución la decide quien elige los generadores. En una fracción un medio, usar como generador la interacción de mayor orden da la resolución más alta posible, que es R = k. En una fracción un cuarto importa también la interacción generalizada: con E = ABC y F = BCD las tres palabras tienen cuatro letras (resolución IV); con E = ABC y F = ABCD aparece la palabra DEF, de tres letras, y el diseño baja a resolución III con el mismo número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resolución dice qué hay que suponer despreciable para leer los resultados sin ambigüedad.</a:t>
            </a:r>
          </a:p>
          <a:p/>
          <a:p>
            <a:r>
              <a:t>Con resolución III, cada efecto principal está mezclado con interacciones dobles: para interpretar un efecto principal hay que suponer que esas interacciones no existen. Sirve para tamizar muchos factores cuando se cree que casi no hay interacciones.</a:t>
            </a:r>
          </a:p>
          <a:p/>
          <a:p>
            <a:r>
              <a:t>Con resolución IV, los efectos principales solo están mezclados con interacciones triples, que casi siempre son despreciables, así que se estiman limpios. Las interacciones dobles quedan en cadenas entre sí: se ve que una cadena es grande, pero no cuál de sus interacciones la causa sin más información.</a:t>
            </a:r>
          </a:p>
          <a:p/>
          <a:p>
            <a:r>
              <a:t>Con resolución V, si las interacciones triples son despreciables, todos los efectos principales y todas las interacciones dobles se estiman de forma única.</a:t>
            </a:r>
          </a:p>
          <a:p/>
          <a:p>
            <a:r>
              <a:t>Montgomery recomienda usar la resolución más alta que permita el grado de fraccionamiento: entre más alta, menos restrictivos son los supuestos necesarios para una interpretación única.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parte de la tabla de signos del 23 completo y se conservan solo las corridas en las que la columna ABC es positiva: a, b, c y abc. ABC es el generador de la fracción y, como en esas corridas la columna ABC coincide con la columna identidad, se escribe I = ABC.</a:t>
            </a:r>
          </a:p>
          <a:p/>
          <a:p>
            <a:r>
              <a:t>Las otras cuatro corridas, (1), ab, ac y bc, forman la fracción alterna, I = −ABC. En el cubo se ve que cada fracción ocupa cuatro vértices no adyacentes y que, al proyectar sobre cualquier cara, queda un factorial 22 completo.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corridas solo hay tres grados de libertad. Al calcular el contraste de A se usa exactamente la misma combinación de corridas que para BC: las dos columnas de signos son idénticas dentro de la fracción. Por eso lo que se estima no es A sino A + BC. Se dice que A y BC son alias.</a:t>
            </a:r>
          </a:p>
          <a:p/>
          <a:p>
            <a:r>
              <a:t>Regla para obtenerlos: se multiplica el efecto por cada palabra de la relación de definición, recordando que cualquier letra al cuadrado es la identidad. Así A·ABC = A²BC = BC.</a:t>
            </a:r>
          </a:p>
          <a:p/>
          <a:p>
            <a:r>
              <a:t>En la fracción alterna (I = −ABC) los alias cambian de signo: se estima A − BC. Si se corren las dos fracciones, la semisuma y la semidiferencia de las dos estimaciones separan A de BC.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dos mitades del 23 son igual de válidas. La fracción principal, I = +ABC, tiene las corridas a, b, c y abc. La fracción alterna o complementaria, I = −ABC, tiene las otras cuatro: (1), ab, ac y bc. En la alterna los alias cambian de signo: ℓ′A estima A − BC. Montgomery señala que en la práctica no importa cuál de las dos se corra; ambas pertenecen a la misma familia.</a:t>
            </a:r>
          </a:p>
          <a:p/>
          <a:p>
            <a:r>
              <a:t>Si después de correr una se corre también la otra, se tienen las ocho corridas del 23 completo, corrido en dos bloques de cuatro con ABC confundida con los bloques. Los efectos se separan sumando y restando las estimaciones de las dos fracciones: la semisuma deja el efecto principal y la semidiferencia deja la interacción.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Método del diseño básico. Primero se escribe el factorial completo en k − 1 factores: tiene el número correcto de corridas pero le falta una columna. Después se agrega el último factor igualando sus signos a los de la interacción de mayor orden de los demás. Para cuatro factores: se escribe el 23 en A, B y C y se define D = ABC, lo que equivale a I = ABCD.</a:t>
            </a:r>
          </a:p>
          <a:p/>
          <a:p>
            <a:r>
              <a:t>Usar la interacción de mayor orden garantiza la resolución más alta posible, que en una fracción un medio es igual a k. La fracción alterna se obtiene con D = −ABC. Otra forma de verlo: se divide el 2k en dos bloques confundiendo la interacción de mayor orden, ABC···K; cada bloque es una fracción 2k−1 de máxima resolución.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mirar el diseño solo en algunos de sus factores, como si los demás no existieran. Montgomery enuncia la regla general: un fraccionado de resolución R contiene un factorial completo, posiblemente con réplicas, en cualquier subconjunto de R − 1 factores.</a:t>
            </a:r>
          </a:p>
          <a:p/>
          <a:p>
            <a:r>
              <a:t>La consecuencia práctica es útil: si se cree que a lo sumo R − 1 factores son importantes, un diseño de resolución R es la elección adecuada, porque si la sospecha es correcta el diseño se convierte en un factorial completo en los factores activos.</a:t>
            </a:r>
          </a:p>
          <a:p/>
          <a:p>
            <a:r>
              <a:t>Como la fracción un medio de máxima resolución tiene R = k, todo 2k−1 se proyecta en un factorial completo en cualesquiera k − 1 de sus factores, en dos réplicas de un completo en cualesquiera k − 2, en cuatro réplicas en cualesquiera k − 3, y así sucesivamente. El 23−1III se proyecta en un 22 completo en cualquier par de factores: es la figura 8-2 del libro, donde el cubo deja un cuadrado completo en cada una de sus tres caras.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En la planta piloto se quiere estudiar los factores que se cree influyen en el índice de filtración del producto (gal/h): A temperatura, B presión, C concentración de formaldehído y D velocidad de agitación, cada uno a dos niveles.</a:t>
            </a:r>
          </a:p>
          <a:p/>
          <a:p>
            <a:r>
              <a:t>Con las condiciones actuales la filtración ronda los 75 gal/h y el proceso trabaja con la concentración de formaldehído en el nivel alto. El ingeniero quiere reducir el formaldehído tanto como sea posible, pero hasta ahora cada intento ha bajado la filtración.</a:t>
            </a:r>
          </a:p>
          <a:p/>
          <a:p>
            <a:r>
              <a:t>El factorial completo 24 exige 16 corridas. Para ahorrar, se corre solo la mitad: 8 corridas, elegidas con D = ABC (I = ABCD). Cada combinación se corre una vez, en orden aleatorio.</a:t>
            </a:r>
          </a:p>
          <a:p/>
          <a:p>
            <a:r>
              <a:t>Objetivo: Encontrar las condiciones que maximizan la filtración y ver si se puede trabajar con menos formaldehído sin perderla</a:t>
            </a:r>
          </a:p>
          <a:p/>
          <a:p>
            <a:r>
              <a:t>Se pide: construir la fracción y escribir sus alias; estimar los efectos e identificar los activos; interpretar las cadenas de alias grandes; proponer el modelo y la mejor condición. Fuente: Montgomery, ejemplos 6-2 y 8-1.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producto químico se fabrica en un recipiente a presión y se quiere aumentar su índice de filtración. Se estudian cuatro factores a dos niveles: A temperatura, B presión, C concentración de formaldehído y D velocidad de agitación. El factorial completo exigiría 16 corridas; se corre la fracción un medio con D = ABC, es decir I = ABCD, en 8 corridas.</a:t>
            </a:r>
          </a:p>
          <a:p/>
          <a:p>
            <a:r>
              <a:t>Es un diseño de resolución IV: cada efecto principal es alias de una interacción triple, y las interacciones dobles son alias por pares (AB = CD, AC = BD, AD = BC). Fuente de los datos: Montgomery, ejemplo 8-1.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muestra el efecto estimado con cada columna y la cadena de alias que realmente estima. Tres efectos principales son grandes: A (19.0), C (14.0) y D (16.5). También son grandes las cadenas AC + BD (−18.5) y AD + BC (19.0). B y AB + CD son pequeños.</a:t>
            </a:r>
          </a:p>
          <a:p/>
          <a:p>
            <a:r>
              <a:t>En la gráfica seminormal la recta de Daniel se traza solo con los efectos pequeños (B y AB + CD) y pasa por el origen: es lo que se esperaría si todos los efectos fueran ruido. Los otros cinco se apartan mucho de ella. Esa es la primera clasificación para el ANOVA: lo que se aleja de la recta entra al modelo (A, C, D, AC + BD y AD + BC) y lo que queda sobre ella (B y AB + CD) pasa al error. Esta gráfica es un cálculo propio: el libro solo presenta la tabla de efectos.</a:t>
            </a:r>
          </a:p>
          <a:p/>
          <a:p>
            <a:r>
              <a:t>Interpretación de las cadenas: como B no tiene efecto, es más razonable atribuir AC + BD a AC y AD + BC a AD. Montgomery lo justifica con la navaja de Ockham: la explicación más simple suele ser la correcta. El modelo tentativo es A, C, D, AC y AD.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ajusta el modelo con A, C, D, AC y AD. Los dos efectos descartados (B y AB) forman el error, con 2 grados de libertad. Los cinco términos son significativos al 5 %: todos tienen F0 mayor que F0.05, 1, 2 = 18.51 y valores p menores que 0.01. El modelo explica el 99.79 % de la variabilidad.</a:t>
            </a:r>
          </a:p>
          <a:p/>
          <a:p>
            <a:r>
              <a:t>Advertencia: esta tabla ANOVA no aparece en el libro, que en este ejemplo solo estima los efectos y da el modelo; se calculó aquí a partir de los datos. El error tiene solo 2 grados de libertad y se formó con los dos efectos más pequeños, elegidos después de ver los datos, de modo que los valores F y p son optimistas y los supuestos apenas se pueden verificar. La conclusión es tentativa.</a:t>
            </a:r>
          </a:p>
          <a:p/>
          <a:p>
            <a:r>
              <a:t>Interpretación: la temperatura (A) aumenta la filtración; el efecto de la concentración (C) depende de la temperatura (interacción AC negativa) y el de la agitación (D) también (interacción AD positiva). La presión (B) no influye, de modo que el diseño se proyecta en un 23 completo en A, C y D. La mejor condición es A alto, C bajo y D alto. El factorial completo original llegó a las mismas conclusiones con el doble de corridas.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manufactura de un circuito integrado se quiere mejorar el rendimiento del proceso. Se investigan cinco factores a dos niveles: A ajuste de apertura (pequeña, grande), B tiempo de exposición (20 % por debajo y por encima del nominal), C tiempo de desarrollo (30 y 45 s), D tamaño de la máscara (pequeña, grande) y E tiempo de grabado (14.5 y 15.5 min).</a:t>
            </a:r>
          </a:p>
          <a:p/>
          <a:p>
            <a:r>
              <a:t>El factorial completo 25 exige 32 corridas. Se decide correr la mitad, 16 corridas, con E = ABCD (I = ABCDE), una sola réplica de cada combinación y en orden aleatorio.</a:t>
            </a:r>
          </a:p>
          <a:p/>
          <a:p>
            <a:r>
              <a:t>Sin réplicas no hay una estimación directa del error: la significancia de los efectos se tiene que juzgar con los propios efectos.</a:t>
            </a:r>
          </a:p>
          <a:p/>
          <a:p>
            <a:r>
              <a:t>Objetivo: Saber qué factores e interacciones afectan el rendimiento y en qué niveles conviene operar</a:t>
            </a:r>
          </a:p>
          <a:p/>
          <a:p>
            <a:r>
              <a:t>Se pide: identificar la resolución y los alias; estimar los 15 efectos y decidir cuáles son activos; ajustar el modelo reducido y validar los supuestos; recomendar las condiciones de operación.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fabricación de un circuito integrado se quiere mejorar el rendimiento del proceso. Se estudian cinco factores: A ajuste de apertura, B tiempo de exposición, C tiempo de desarrollo, D tamaño de la máscara y E tiempo de grabado. El factorial completo tendría 32 corridas; se corre la fracción un medio con E = ABCD (I = ABCDE) en 16 corridas.</a:t>
            </a:r>
          </a:p>
          <a:p/>
          <a:p>
            <a:r>
              <a:t>Es de resolución V: los efectos principales son alias de interacciones de cuatro factores y las interacciones dobles de interacciones triples. Si las interacciones de tres o más factores son despreciables, todos los efectos principales y todas las interacciones dobles se estiman limpios. Fuente: Montgomery, ejemplo 8-2.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y 15 efectos estimados no hay error, así que se usa la gráfica de probabilidad normal de los efectos. La recta de Daniel se ajusta con los efectos pequeños, que se comportan como ruido normal de media cero. Once efectos caen sobre ella alrededor de cero; cuatro se separan claramente: B (33.88), A (11.13), C (10.88) y AB (6.88).</a:t>
            </a:r>
          </a:p>
          <a:p/>
          <a:p>
            <a:r>
              <a:t>Esa es la primera clasificación para el ANOVA: los cuatro que se apartan forman el modelo reducido y los once que quedan sobre la recta se combinan como error, con 11 grados de libertad.</a:t>
            </a:r>
          </a:p>
          <a:p/>
          <a:p>
            <a:r>
              <a:t>El método de Lenth coincide: el pseudo error estándar es PSE = 0.9375 y el margen de error es ME = 2.41; solo esos cuatro efectos lo superan.</a:t>
            </a:r>
          </a:p>
          <a:p/>
          <a:p>
            <a:r>
              <a:t>Como el diseño es de resolución V, AB es alias de CDE, una interacción triple, y se atribuye a AB suponiendo que las interacciones triples son despreciables.</a:t>
            </a:r>
          </a:p>
          <a:p/>
          <a:p>
            <a:r>
              <a:t>El libro usa solo la gráfica normal en este ejemplo; el cálculo de Lenth y el Pareto se agregaron aquí.</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reducido incluye A, B, C y AB; los once efectos descartados forman el error con 11 grados de libertad. Los cuatro términos son altamente significativos (F0.05, 1, 11 = 4.84) y el modelo explica el 99.51 % de la variabilidad.</a:t>
            </a:r>
          </a:p>
          <a:p/>
          <a:p>
            <a:r>
              <a:t>Los tres efectos principales son positivos: el rendimiento aumenta con apertura grande, mayor tiempo de exposición y mayor tiempo de desarrollo. La interacción AB es positiva: el efecto de la apertura es mayor cuando el tiempo de exposición es alto.</a:t>
            </a:r>
          </a:p>
          <a:p/>
          <a:p>
            <a:r>
              <a:t>Como D y E no influyen, el diseño se proyecta en dos réplicas de un 23 en A, B y C. La mejor condición es A, B y C en nivel alto, con rendimiento promedio de 61.5. D y E se pueden fijar donde resulte más económico.</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uso de fraccionados lleva con frecuencia a una gran economía, sobre todo si las corridas se pueden hacer en etapas. Con cuatro factores, en lugar de correr las 16 corridas del 24, Montgomery recomienda casi siempre correr primero la fracción 24−1IV de 8 corridas, analizarla y después decidir qué hacer.</a:t>
            </a:r>
          </a:p>
          <a:p/>
          <a:p>
            <a:r>
              <a:t>Si quedan ambigüedades, siempre se puede correr la fracción alterna y completar el 24. Cuando se completa así, las dos mitades funcionan como bloques del diseño completo, con la interacción de mayor orden (ABCD) confundida con los bloques. Lo único que se pierde por haber experimentado en dos etapas es la información de esa interacción, que de todos modos suele ser despreciable.</a:t>
            </a:r>
          </a:p>
          <a:p/>
          <a:p>
            <a:r>
              <a:t>La ventaja es que muchas veces la primera fracción da información suficiente para pasar a la etapa siguiente sin correr la segunda: agregar o quitar factores, cambiar la respuesta o mover los niveles a otros rangos.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figura 8-11 del libro, adaptada de Box, resume las posibilidades de seguimiento después de un fraccionado inicial. Moverse a una nueva región para explorar una tendencia aparente de la respuesta. Agregar otra fracción para resolver las ambigüedades de la primera. Reescalar algunos factores, porque pudieron haberse variado en rangos inapropiados. Eliminar factores que resultaron insignificantes y agregar otros nuevos. Hacer réplicas para mejorar la precisión de las estimaciones o porque algunas corridas se hicieron mal. Y aumentar el diseño, por ejemplo con puntos centrales y axiales, para modelar una curvatura aparente.</a:t>
            </a:r>
          </a:p>
          <a:p/>
          <a:p>
            <a:r>
              <a:t>La idea de fondo es que el primer experimento casi nunca es el último: sirve para aprender y orientar el siguiente.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primera fracción del índice de filtración quedaron dos cadenas grandes: AC + BD = −18.5 y AD + BC = 19.0. Se atribuyeron a AC y AD porque B no parecía influir, pero esa decisión se apoyó en el juicio del analista.</a:t>
            </a:r>
          </a:p>
          <a:p/>
          <a:p>
            <a:r>
              <a:t>El ingeniero no quiere depender de ese juicio antes de cambiar el proceso. Tiene la posibilidad de volver a la planta piloto y hacer 8 corridas más.</a:t>
            </a:r>
          </a:p>
          <a:p/>
          <a:p>
            <a:r>
              <a:t>Decide correr la fracción alterna, I = −ABCD (D = −ABC): las ocho combinaciones del 24 que no se corrieron la primera vez.</a:t>
            </a:r>
          </a:p>
          <a:p/>
          <a:p>
            <a:r>
              <a:t>Objetivo: Separar AC de BD y AD de BC con datos, sin depender del juicio</a:t>
            </a:r>
          </a:p>
          <a:p/>
          <a:p>
            <a:r>
              <a:t>Se pide: construir la fracción alterna y escribir sus alias; estimar sus efectos; combinar las dos fracciones y aislar cada efecto; decidir qué interacciones son las reales.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ejemplo 1 quedaron dos cadenas grandes, AC + BD y AD + BC. Atribuirlas a AC y AD fue una decisión razonable, pero se apoyó en el juicio del analista. Para no depender de él se corre la fracción alterna, I = −ABCD, que se construye con el mismo diseño básico pero con D = −ABC.</a:t>
            </a:r>
          </a:p>
          <a:p/>
          <a:p>
            <a:r>
              <a:t>Sus ocho corridas son las que faltaban del 24. En esta fracción todas las cadenas de alias cambian de signo: ℓ′A estima A − BCD y ℓ′AC estima AC − BD. Las estimaciones obtenidas son ℓ′A = 24.25, ℓ′B = 4.75, ℓ′C = 5.75, ℓ′D = 12.75, ℓ′AB = 1.25, ℓ′AC = −17.75 y ℓ′AD = 14.25. Fuente: Montgomery, ejemplo 8-3.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no depender del juicio del analista se corre la fracción alterna, con D = −ABC. Sus estimaciones ℓ′ tienen los alias con signo contrario: ℓ′A estima A − BCD.</a:t>
            </a:r>
          </a:p>
          <a:p/>
          <a:p>
            <a:r>
              <a:t>La semisuma de las dos estimaciones aísla el primer efecto de cada cadena y la semidiferencia el segundo. El resultado confirma la interpretación inicial: AC = −18.13 mientras BD = −0.38, y AD = 16.63 mientras BC = 2.38. Las interacciones reales eran AC y AD.</a:t>
            </a:r>
          </a:p>
          <a:p/>
          <a:p>
            <a:r>
              <a:t>Las 16 corridas forman el factorial 24 completo, corrido en dos bloques con ABCD confundida con bloques.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Agregar la fracción alterna es en sí un experimento de confirmación: aporta información que fortalece, o corrige, las conclusiones de la primera fracción.</a:t>
            </a:r>
          </a:p>
          <a:p/>
          <a:p>
            <a:r>
              <a:t>Montgomery menciona una forma más barata. Se usa el modelo ajustado para predecir la respuesta en un punto de interés dentro de la región explorada, que no sea uno de los puntos ya corridos. Después se corre ese ensayo, de preferencia varias veces, y se compara lo observado con lo predicho. Si coinciden dentro del error, el modelo queda respaldado; si no, falta algo en él.</a:t>
            </a:r>
          </a:p>
          <a:p/>
          <a:p>
            <a:r>
              <a:t>En el ejemplo 1, el modelo con A, C, D, AC y AD predice 70.75 en el centro de la región, donde todos los factores codificados valen cero. Correr unas cuantas veces en el centro y obtener valores cercanos a 70.75 confirmaría el modelo. Si el promedio en el centro se alejara mucho, indicaría además una curvatura que el diseño de dos niveles no puede ver.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 número moderadamente grande de factores suelen convenir fracciones más pequeñas. Una fracción un cuarto del 2k tiene 2k−2 corridas y se llama diseño 2k−2.</a:t>
            </a:r>
          </a:p>
          <a:p/>
          <a:p>
            <a:r>
              <a:t>Necesita dos generadores, P y Q. Las igualdades I = P e I = Q se llaman relaciones generadoras. Los signos de P y Q determinan cuál de las cuatro fracciones se obtiene; las cuatro forman una familia, y la que tiene P y Q positivos es la fracción principal.</a:t>
            </a:r>
          </a:p>
          <a:p/>
          <a:p>
            <a:r>
              <a:t>La relación de definición completa contiene todas las columnas iguales a la identidad: P, Q y su producto PQ, que se llama interacción generalizada. Así, I = P = Q = PQ, y cada efecto tiene tres alias: se obtienen multiplicando el efecto por cada una de las tres palabras. Hay que elegir los generadores de modo que los efectos que pueden ser importantes no queden aliados entre sí.</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una fracción 1/4 se necesitan dos generadores, P y Q. Su producto PQ, la interacción generalizada, también pertenece a la relación de definición: I = P = Q = PQ. Cada efecto tiene entonces tres alias.</a:t>
            </a:r>
          </a:p>
          <a:p/>
          <a:p>
            <a:r>
              <a:t>Ejemplo: 26−2 con E = ABC y F = BCD. Las palabras son ABCE, BCDF y su producto ADEF. La palabra más corta tiene cuatro letras, así que es resolución IV: los efectos principales son alias de interacciones de tres y cinco factores, y las interacciones dobles son alias entre sí y de interacciones de orden superior. Las 15 cadenas son seis de efectos principales, siete de interacciones dobles y dos formadas solo por interacciones triples.</a:t>
            </a:r>
          </a:p>
          <a:p/>
          <a:p>
            <a:r>
              <a:t>Construcción: se escribe el 24 completo en A, B, C y D (16 corridas) y se agregan las columnas E = ABC y F = BCD.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usa el método del diseño básico. Primero se escribe el factorial completo en k − 2 = 4 factores, A, B, C y D: tiene las 16 corridas necesarias pero solo cuatro columnas. Después se agregan los dos factores restantes asociando sus signos a dos interacciones elegidas de los primeros cuatro: E = ABC y F = BCD. Esto equivale a las relaciones generadoras I = ABCE e I = BCDF.</a:t>
            </a:r>
          </a:p>
          <a:p/>
          <a:p>
            <a:r>
              <a:t>Montgomery da otra forma de verlo: se divide el 26 en cuatro bloques confundiendo ABCE y BCDF, y se elige el bloque en que las dos son positivas. Ese bloque es la fracción principal.</a:t>
            </a:r>
          </a:p>
          <a:p/>
          <a:p>
            <a:r>
              <a:t>La tabla es la del libro (tabla 8-9) y es el diseño que se usa en el ejemplo 3.</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Además de la principal hay tres fracciones alternas, una por cada combinación de signos negativos en los generadores. Se construyen con el mismo diseño básico, cambiando el signo de la columna correspondiente. Por ejemplo, para la fracción con I = ABCE e I = −BCDF se usa F = −BCD, y la columna de F queda + + − − − − + + − − + + + + − −.</a:t>
            </a:r>
          </a:p>
          <a:p/>
          <a:p>
            <a:r>
              <a:t>Al cambiar el signo de un generador cambia también el de la interacción generalizada: la relación de definición de esa fracción es I = ABCE = −BCDF = −ADEF. Los alias se obtienen igual, arrastrando los signos: A = BCE = −DEF = −ABCDF, de modo que ℓA estima en realidad A + BCE − DEF − ABCDF.</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hace falta saberlo. Antes de experimentar nadie sabe cuáles factores son activos; eso es justamente lo que el experimento va a averiguar. Lo que se decide antes son supuestos generales, y lo que se averigua después sale de la misma fracción.</a:t>
            </a:r>
          </a:p>
          <a:p/>
          <a:p>
            <a:r>
              <a:t>Antes de correr: se aceptan dos principios. Escasez de efectos: en la mayoría de los procesos solo unos pocos factores importan, aunque no se sepa cuáles. Jerarquía: las interacciones de tres o más factores casi siempre son despreciables. Con eso se elige la resolución; con resolución IV, todo efecto principal sale libre de las interacciones dobles, sea cual sea el factor que resulte activo. Si el ingeniero sospecha que algunos factores importan más, los asigna a columnas que no formen una palabra, por ejemplo a las del diseño básico.</a:t>
            </a:r>
          </a:p>
          <a:p/>
          <a:p>
            <a:r>
              <a:t>Se corre una sola vez la fracción. No se necesita el factorial completo: con las 16 corridas del 26−2 se calculan 15 contrastes, uno por cadena de alias, y esos 15 efectos van a la gráfica de Daniel.</a:t>
            </a:r>
          </a:p>
          <a:p/>
          <a:p>
            <a:r>
              <a:t>Después de correr: la gráfica dice qué factores son activos. Recién entonces se pregunta qué diseño forman las corridas ya hechas en esos factores; eso es la proyección. Si los activos no forman una palabra, se tiene un factorial completo en ellos. Si forman una palabra, queda alguna ambigüedad entre alias, y se resuelve agregando corridas (fracción alterna o doblez) que se suman a las ya hechas.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tienda de café quiere mejorar el puntaje de sabor de su bebida (0 a 100, promedio de un panel de catadores). Se sospecha de tres factores, cada uno a dos niveles: A temperatura del agua (88 o 96 °C), B molienda (gruesa o fina) y C tiempo de infusión (3 o 4 min).</a:t>
            </a:r>
          </a:p>
          <a:p/>
          <a:p>
            <a:r>
              <a:t>Cada preparación consume un lote de café y una sesión del panel, así que solo hay presupuesto para 4 corridas, la mitad de las 8 del factorial 23. Se corre la fracción un medio con C = AB (I = ABC): las preparaciones a, b, c y abc. Si hace falta, más adelante se pueden pagar 4 corridas más.</a:t>
            </a:r>
          </a:p>
          <a:p/>
          <a:p>
            <a:r>
              <a:t>Se analizan dos situaciones posibles. Caso 1: el tiempo de infusión no influye en el sabor. Caso 2: el tiempo de infusión tampoco influye, pero la temperatura y la molienda interactúan. El experimentador no sabe cuál de las dos es la real; solo ve los cuatro puntajes.</a:t>
            </a:r>
          </a:p>
          <a:p/>
          <a:p>
            <a:r>
              <a:t>Objetivo: Ver, con cuentas a mano, qué se puede concluir con 4 corridas, cuándo la proyección basta y cuándo hace falta un doblez</a:t>
            </a:r>
          </a:p>
          <a:p/>
          <a:p>
            <a:r>
              <a:t>Se pide: escribir la fracción, la palabra y los alias; caso 1: calcular los contrastes y proyectar en A y B; caso 2: identificar la ambigüedad entre C y AB; caso 2: correr la fracción alterna y separar C de AB. Fuente: ejemplo construido para la clase, con datos inventados.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ver la proyección y el doblez con cuentas a mano se usa la fracción más pequeña posible. Se quiere mejorar el puntaje de sabor de un café (escala 0 a 100) y se estudian tres factores a dos niveles: A temperatura del agua (88 o 96 °C), B molienda (gruesa o fina) y C tiempo de infusión (3 o 4 min). El factorial completo 23 tiene 8 corridas; se corre la mitad, 4 corridas, con C = AB, es decir I = ABC.</a:t>
            </a:r>
          </a:p>
          <a:p/>
          <a:p>
            <a:r>
              <a:t>Notación. Cada factor se codifica x = −1 en el nivel bajo y x = +1 en el alto. Una corrida se nombra con las letras de los factores que están en nivel alto: a es A alto y B, C bajos; abc es todo alto; (1) es todo bajo. La palabra ABC dice que en todas las corridas xAxBxC = +1. Por eso la columna de A coincide con la de BC, la de B con AC y la de C con AB: son alias.</a:t>
            </a:r>
          </a:p>
          <a:p/>
          <a:p>
            <a:r>
              <a:t>ℓA es el contraste de la columna A dividido entre 2, es decir el promedio de las corridas con A alto menos el de las corridas con A bajo. La flecha ℓA → A + BC se lee «ℓA estima la suma del efecto de A y el de la interacción BC»: con estos datos no se pueden separar.</a:t>
            </a:r>
          </a:p>
          <a:p/>
          <a:p>
            <a:r>
              <a:t>Los datos de los dos casos que siguen son inventados y sin error experimental, para que las cuentas den números redondos. Con datos reales habría ruido, y por eso en la práctica se usan fracciones más grandes y la gráfica de Daniel.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Suponga que el sabor responde así (el experimentador no lo sabe): y = 70 + 5xA + 3xB. Es decir, A sube el puntaje en 10 puntos al pasar de bajo a alto, B lo sube en 6, y C no hace nada. Las cuatro corridas dan a = 72, b = 68, c = 62 y abc = 78.</a:t>
            </a:r>
          </a:p>
          <a:p/>
          <a:p>
            <a:r>
              <a:t>Los contrastes: ℓA = (a + abc − b − c)/2 = (72 + 78 − 68 − 62)/2 = 10, que estima A + BC. ℓB = (b + abc − a − c)/2 = 6, que estima B + AC. ℓC = (c + abc − a − b)/2 = 0, que estima C + AB.</a:t>
            </a:r>
          </a:p>
          <a:p/>
          <a:p>
            <a:r>
              <a:t>Lectura: ℓC = 0, así que C no influye (y AB tampoco, o tendrían que cancelarse exactamente, lo que es muy improbable). Se borra la columna C. En las columnas A y B quedan las cuatro combinaciones (+, −), (−, +), (−, −) y (+, +), cada una una vez: la fracción se proyectó en un 22 completo en A y B. Como A y B no forman una palabra (la única palabra es ABC), el resultado es un factorial completo, y ℓA = 10 y ℓB = 6 se atribuyen a A y B.</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suponga que la verdad oculta es y = 70 + 5xA + 3xB + 4xAxB: C sigue sin hacer nada, pero A y B interactúan (la molienda fina rinde más cuando el agua está caliente). Las mismas cuatro corridas dan a = 68, b = 64, c = 66 y abc = 82.</a:t>
            </a:r>
          </a:p>
          <a:p/>
          <a:p>
            <a:r>
              <a:t>Los contrastes son ℓA = 10, ℓB = 6 y ℓC = 8. Los tres son grandes, y aquí aparece el problema: ℓC = 8 estima C + AB. Hay dos explicaciones igual de lógicas: o el tiempo de infusión C sube el sabor en 8 puntos, o C no hace nada y lo que se ve es la interacción AB. Con estas cuatro corridas no hay forma de distinguirlas.</a:t>
            </a:r>
          </a:p>
          <a:p/>
          <a:p>
            <a:r>
              <a:t>La razón es que los tres factores aparentemente activos, A, B y C, forman la palabra ABC. Si se intenta proyectar en A, B y C, solo están 4 de las 8 combinaciones del 23: las que cumplen xAxBxC = +1. No hay proyección en un factorial completo, y la duda solo se resuelve corriendo las combinaciones que faltan.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corren las cuatro combinaciones que faltaban: (1), ab, ac y bc. Es la fracción alterna, I = −ABC (C = −AB). En una fracción 23−1 coincide con el doblez completo: se obtiene invirtiendo todos los signos de la primera (a = (+, −, −) pasa a ser (−, +, +) = bc). Los resultados son (1) = 66, ab = 82, ac = 68 y bc = 64.</a:t>
            </a:r>
          </a:p>
          <a:p/>
          <a:p>
            <a:r>
              <a:t>En la segunda fracción los alias cambian de signo, porque ahora xAxBxC = −1: ℓ′C estima C − AB, ℓ′A estima A − BC y ℓ′B estima B − AC. Se obtiene ℓ′C = −8.</a:t>
            </a:r>
          </a:p>
          <a:p/>
          <a:p>
            <a:r>
              <a:t>Combinando: ½(ℓC + ℓ′C) = ½(8 − 8) = 0 es el efecto de C, y ½(ℓC − ℓ′C) = ½(8 + 8) = 8 es la interacción AB. La duda queda resuelta: C no influye y lo que se veía era la interacción entre temperatura y molienda. De paso, A = 10 y B = 6, con BC = AC = 0.</a:t>
            </a:r>
          </a:p>
          <a:p/>
          <a:p>
            <a:r>
              <a:t>Las 8 corridas juntas forman el 23 completo. Las primeras cuatro no se desperdiciaron: se usaron en la combinación. Así funciona la experimentación secuencial.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Proyectar es lo que pasa con el diseño cuando, después del análisis, algunos factores resultan inactivos. Si un factor no influye en la respuesta, su columna ya no sirve para explicar nada y se puede borrar. Lo que queda son las columnas de los factores activos, y la pregunta es qué diseño forman esas columnas por sí solas.</a:t>
            </a:r>
          </a:p>
          <a:p/>
          <a:p>
            <a:r>
              <a:t>Para saberlo basta contar: se miran las 16 corridas solo en las columnas que quedan y se anota cuántas veces aparece cada combinación de signos.</a:t>
            </a:r>
          </a:p>
          <a:p/>
          <a:p>
            <a:r>
              <a:t>Ejemplo con el 26−2 (E = ABC, F = BCD). Suponga que solo A, B y C importan. Se borran D, E y F. En las columnas A, B y C aparecen las ocho combinaciones del 23, y cada una exactamente dos veces: la corrida 1 y la 9 son (−, −, −), la 2 y la 10 son (+, −, −), y así sucesivamente. Las 16 corridas son entonces dos réplicas completas de un 23.</a:t>
            </a:r>
          </a:p>
          <a:p/>
          <a:p>
            <a:r>
              <a:t>Eso tiene una consecuencia práctica: las dos corridas de cada par se hicieron en las mismas condiciones de A, B y C, así que su diferencia es error puro. El fraccionado no replicado se convierte en un factorial replicado con 16 − 8 = 8 grados de libertad para el error, y el ANOVA ya no depende de descartar efectos.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cuatro factores activos el resultado depende de cuáles sean. Hay 24 = 16 combinaciones posibles y 16 corridas, así que solo hay dos posibilidades: o aparecen todas una vez (factorial completo) o aparece la mitad dos veces (fracción replicada).</a:t>
            </a:r>
          </a:p>
          <a:p/>
          <a:p>
            <a:r>
              <a:t>Si los cuatro factores son A, B, C y D, se obtienen las 16 combinaciones, una vez cada una: es el diseño básico. Lo mismo pasa con un subconjunto menos obvio, como A, B, E y F: también aparecen las 16 combinaciones.</a:t>
            </a:r>
          </a:p>
          <a:p/>
          <a:p>
            <a:r>
              <a:t>Pero si los cuatro factores son A, B, C y E, solo aparecen 8 combinaciones, dos veces cada una. La razón es que ABCE es una palabra de la relación de definición: en todas las corridas el producto de los signos de A, B, C y E vale +1, porque E se construyó como ABC. Conocidos A, B y C, el signo de E queda fijado, y las combinaciones con E distinto de ABC nunca se corren. El resultado son dos réplicas de un 24−1 con I = ABCE, y en él E sigue confundido con ABC.</a:t>
            </a:r>
          </a:p>
          <a:p/>
          <a:p>
            <a:r>
              <a:t>Regla: un subconjunto de factores se proyecta en un factorial completo si no contiene ninguna palabra de la relación de definición. Por eso, al asignar factores a columnas, conviene que los que se creen más importantes no formen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resume lo que se obtiene al contar combinaciones en cada tamaño de subconjunto, como en las dos diapositivas anteriores. Un 2k−2 se pliega en un factorial completo o en un fraccionado en cualquier subconjunto de r ≤ k − 2 factores. La diferencia la marca la relación de definición: los subconjuntos que forman factoriales completos son los que no son palabras de ella.</a:t>
            </a:r>
          </a:p>
          <a:p/>
          <a:p>
            <a:r>
              <a:t>Para el 26−2 con I = ABCE = BCDF = ADEF hay 15 subconjuntos de cuatro factores. Tres son palabras (ABCE, BCDF y ADEF), y en ellos el diseño se pliega en dos réplicas de un 24−1. En los otros doce, como ABCD o ABCF, se proyecta en una réplica de un 24 completo.</a:t>
            </a:r>
          </a:p>
          <a:p/>
          <a:p>
            <a:r>
              <a:t>En cualquier subconjunto de tres factores se proyecta en dos réplicas de un 23: como el diseño es de resolución IV, ninguna palabra tiene tres letras, así que ningún trío queda amarrado. En cualquier par de factores se proyecta en cuatro réplicas de un 22.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piezas fabricadas en un proceso de moldeo por inyección presentan una contracción excesiva, y eso causa problemas en las operaciones de ensamble posteriores.</a:t>
            </a:r>
          </a:p>
          <a:p/>
          <a:p>
            <a: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a:p/>
          <a:p>
            <a:r>
              <a:t>El factorial completo serían 64 corridas. El equipo usa un 26−2 de 16 corridas, con E = ABC y F = BCD, corridas en orden aleatorio.</a:t>
            </a:r>
          </a:p>
          <a:p/>
          <a:p>
            <a:r>
              <a:t>Objetivo: Aprender cómo afecta cada factor la contracción, algo de cómo interactúan y cómo reducirla</a:t>
            </a:r>
          </a:p>
          <a:p/>
          <a:p>
            <a:r>
              <a:t>Se pide: escribir la relación de definición y la resolución; identificar los efectos activos y sus alias; ajustar el modelo y hacer el ANOVA; proyectar en los factores activos e interpretar la interacción.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diseño tiene 16 corridas y una sola réplica, así que no hay error puro: los 15 grados de libertad se gastan en 15 contrastes, uno por cadena de alias. Para decidir cuáles son reales, Montgomery usa la gráfica de probabilidad normal de los efectos (fig. 8-12). Aquí se le agrega la recta de Daniel, ajustada con los efectos pequeños, y el diagrama de Pareto.</a:t>
            </a:r>
          </a:p>
          <a:p/>
          <a:p>
            <a:r>
              <a:t>Cómo se lee. Los efectos nulos son solo ruido y caen sobre la recta, alrededor de cero; un efecto real se aparta de ella. Tres se apartan con claridad: B, velocidad del tornillo (35.63); A, temperatura del molde (13.88); y la cadena AB + CE (11.88). Todos son positivos: suben la contracción.</a:t>
            </a:r>
          </a:p>
          <a:p/>
          <a:p>
            <a:r>
              <a:t>¿Por qué AB y no CE? C y E no tienen efecto principal (−0.88 y 0.38). Por el principio de herencia, una interacción suele ser activa solo si alguno de sus factores lo es; A y B lo son, C y E no. Se atribuye la cadena a AB.</a:t>
            </a:r>
          </a:p>
          <a:p/>
          <a:p>
            <a:r>
              <a:t>Dos efectos quedan en una zona gris: AD + EF (−5.38) y ABF (−4.88). Son mucho menores que los tres anteriores. El método de Lenth da PSE = 0.9375, ME = 2.41 y SME = 4.89: los dos superan el ME, y AD + EF apenas supera el SME. Montgomery los deja fuera del modelo. En AD + EF, de los cuatro factores solo A es activo; D, E y F no tienen efecto principal (1.38, 0.38 y 0.38). ABF es una cadena de interacciones triples, que por jerarquía se suponen despreciables. Además, su tamaño no cambia las conclusiones. Quedan en el error.</a:t>
            </a:r>
          </a:p>
          <a:p/>
          <a:p>
            <a:r>
              <a:t>Primera clasificación para el ANOVA: al modelo A, B y AB; al error, los otros doce.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la clasificación anterior se ajusta el modelo con A, B y AB. La tabla de la izquierda muestra las 15 cadenas, como la tabla 8-11 del libro, con su efecto y su suma de cuadrados; las tres que entran al modelo están resaltadas. Los doce efectos descartados forman el error, con 12 grados de libertad: su SS suma 248.75.</a:t>
            </a:r>
          </a:p>
          <a:p/>
          <a:p>
            <a:r>
              <a:t>El factor C también está en la tabla: su efecto es −0.875 y su SS 3.06, de modo que no cambia la contracción promedio y va al error.</a:t>
            </a:r>
          </a:p>
          <a:p/>
          <a:p>
            <a:r>
              <a:t>Hipótesis para cada término: H0: el efecto es cero; HA: no lo es. Los tres términos tienen F0 muy por encima de F0.05, 1, 12 = 4.75 y valores p menores que 0.001: se rechaza H0 en los tres. El modelo explica el 96.26 % de la variabilidad de la contracción.</a:t>
            </a:r>
          </a:p>
          <a:p/>
          <a:p>
            <a:r>
              <a:t>Lectura de los coeficientes: cada coeficiente es la mitad del efecto. La contracción promedio es 27.31; subir la velocidad del tornillo (B) la aumenta 17.81 por encima del promedio, subir la temperatura (A) la aumenta 6.94, y cuando las dos están altas se suma otro 5.94. Para reducir la contracción conviene A y B en nivel bajo.</a:t>
            </a:r>
          </a:p>
          <a:p/>
          <a:p>
            <a:r>
              <a:t>El libro no presenta esta tabla ANOVA; se calculó aquí a partir de los datos de la tabla 8-10. Fuente: Montgomery, ejemplo 8-4.</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Solo A y B resultaron activos, así que C, D, E y F se pueden borrar del diseño. Al contar combinaciones en las columnas de A y B, cada una de las cuatro aparece cuatro veces: el 26−2 se proyecta en cuatro réplicas de un 22, como dice la regla para cualquier par de factores de un diseño de resolución IV. La tabla muestra las cuatro contracciones de cada combinación y su promedio.</a:t>
            </a:r>
          </a:p>
          <a:p/>
          <a:p>
            <a:r>
              <a:t>Esa proyección explica el ANOVA anterior: con cuatro réplicas por combinación hay 4 × 3 = 12 grados de libertad de error puro, los mismos 12 del ANOVA del modelo A, B y AB.</a:t>
            </a:r>
          </a:p>
          <a:p/>
          <a:p>
            <a:r>
              <a:t>La gráfica de interacción se construye con los cuatro promedios. Con la velocidad del tornillo baja (B −) la contracción es pequeña y casi no depende de la temperatura: 8.50 y 10.50. Con B alta es grande y muy sensible a la temperatura: 32.25 y 58.00. Las rectas no son paralelas: eso es la interacción AB. La recomendación para reducir la contracción es trabajar con A y B en nivel bajo. Fuente: Montgomery, ejemplo 8-4 (fig. 8-13).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reglas se generalizan. Con p generadores independientes, la relación de definición completa tiene 2p − 1 palabras: los p generadores más todos sus productos. Cada efecto tiene 2p − 1 alias. El diseño solo permite estimar 2k−p − 1 cadenas de alias, una por cada grado de libertad.</a:t>
            </a:r>
          </a:p>
          <a:p/>
          <a:p>
            <a:r>
              <a:t>La resolución es la longitud de la palabra más corta. Para construirlo se escribe el factorial completo en k − p factores y se agregan p columnas definidas por los generadores.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criterio: máxima resolución. Segundo criterio, para desempatar entre diseños de igual resolución: aberración mínima, es decir, el menor número de palabras de longitud mínima.</a:t>
            </a:r>
          </a:p>
          <a:p/>
          <a:p>
            <a:r>
              <a:t>La tabla compara tres diseños 27−2 de resolución IV. El diseño C tiene una sola palabra de cuatro letras, frente a tres y dos de los diseños A y B; por eso deja menos interacciones dobles confundidas entre sí y es el preferido. En la práctica no hay que buscar los generadores: las tablas de diseños recomendados ya entregan el diseño de máxima resolución y aberración mínima, y el software estadístico trae generadores predeterminados.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tabla reúne los diseños de máxima resolución y aberración mínima para 3 a 8 factores con un máximo de 32 corridas. Se lee por filas: número de factores, diseño con su resolución, corridas y generadores. Todos los generadores admiten signo positivo o negativo; con todos positivos se obtiene la fracción principal.</a:t>
            </a:r>
          </a:p>
          <a:p/>
          <a:p>
            <a:r>
              <a:t>Nota para quien coteje con el libro: la tabla 8-14 de Montgomery imprime el 27−3 con resolución III. Es una errata: todas las palabras de su relación de definición tienen cuatro letras y el propio texto lo trata como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Ejemplo 8-5 de Montgomery. Se tienen siete factores, interesa estimar los siete efectos principales y tener una idea de las interacciones dobles, y se está dispuesto a suponer despreciables las interacciones de tres o más factores. Eso pide resolución IV.</a:t>
            </a:r>
          </a:p>
          <a:p/>
          <a:p>
            <a:r>
              <a:t>La tabla de diseños recomendados ofrece dos de resolución IV: el 27−2 de 32 corridas y el 27−3 de 16. En el de 16 corridas los siete efectos principales son alias de interacciones triples y las interacciones dobles quedan aliadas en grupos de tres: cumple el objetivo. El de 32 corridas permitiría además estimar de forma única 15 de las 21 interacciones dobles, más información de la que se necesita. Se elige el 27−3.</a:t>
            </a:r>
          </a:p>
          <a:p/>
          <a:p>
            <a:r>
              <a:t>Se construye con el 24 en A, B, C y D y las columnas E = ABC, F = BCD y G = ACD. La relación de definición completa tiene siete palabras, todas de cuatro letras.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protocolo experimental tiene ocho pasos. Se define la respuesta y los factores con sus dos niveles. Se decide qué interacciones se está dispuesto a despreciar, y de ahí sale la resolución necesaria. Se elige el diseño de la tabla y se revisa su estructura de alias antes de correr. Se asignan los factores reales a las letras cuidando que los más importantes no queden aliados entre sí. Se construye la matriz de diseño. Se aleatoriza el orden de las corridas. Se ejecuta registrando el orden real, y se planea desde el principio una corrida de confirmación o una segunda fracción.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sortea el orden en que se ejecutan las corridas, de modo que los efectos de variables no controladas (tiempo, desgaste, lote, operario) se repartan al azar y no se confundan con los factores. La tabla muestra un 24−1 ya aleatorizado: la primera corrida que se ejecuta es la que el sorteo dejó en primer lugar, no la primera del orden estándar.</a:t>
            </a:r>
          </a:p>
          <a:p/>
          <a:p>
            <a:r>
              <a:t>En cada corrida se reajustan todos los niveles, aunque coincidan con los de la corrida anterior. Se conserva el orden de corrida porque se necesita para verificar el supuesto de independencia. Si no es posible hacer todas las corridas en condiciones homogéneas, se forman bloques confundiendo con ellos una cadena de alias de orden alto.</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modelo es el mismo del factorial 2k: un modelo de regresión en variables codificadas, donde cada x vale −1 o +1. β0 es la media general, y cada coeficiente se estima con la mitad del efecto correspondiente: βj con la mitad del efecto principal del factor j y βij con la mitad del efecto de la interacción. El error ε se supone normal, independiente, con media cero y varianza constante σ².</a:t>
            </a:r>
          </a:p>
          <a:p/>
          <a:p>
            <a:r>
              <a:t>La diferencia con el factorial completo es que no todos los términos se pueden estimar por separado. Cada columna del diseño estima una cadena de alias completa: el efecto que nos interesa más todos sus alias. El modelo final incluye un solo término por cada cadena que resulte activa, el que se juzga más razonable; las cadenas inactivas quedan fuera.</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plantea una hipótesis por cada cadena de alias que se quiere probar. La hipótesis nula dice que el efecto de la cadena es cero y la alterna que es distinto de cero.</a:t>
            </a:r>
          </a:p>
          <a:p/>
          <a:p>
            <a:r>
              <a:t>Montgomery no plantea hipótesis en el capítulo de fraccionados; en el del 2k plantea la hipótesis global de que todos los coeficientes son cero y luego prueba cada efecto con F. La formulación por cadena es la adaptación de esa idea al fraccionado.</a:t>
            </a:r>
          </a:p>
          <a:p/>
          <a:p>
            <a:r>
              <a:t>Lo que realmente se prueba es la cadena completa: rechazar H0 para la columna de A significa que A + BCD es distinto de cero. Atribuirlo a A es una decisión del analista, apoyada en el supuesto de que BCD es despreciable.</a:t>
            </a:r>
          </a:p>
          <a:p/>
          <a:p>
            <a:r>
              <a:t>Regla de decisión: se rechaza H0 si F0 supera el valor crítico Fα, 1, gl del error, o de forma equivalente si el valor p es menor que α = 0.05.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ruta de análisis tiene siete pasos. Se calculan los contrastes y los efectos de todas las cadenas de alias. Se identifican los efectos activos: si no hay réplicas, con la gráfica de probabilidad normal o seminormal y el diagrama de Pareto. Se interpreta cada cadena activa para decidir a qué efecto se atribuye. Se ajusta el modelo reducido y se construye la tabla ANOVA, usando los efectos descartados como error. Se verifican los supuestos con los residuos. Se interpretan los efectos con gráficas de efectos principales, de interacción y de cubo. Por último se informa la conclusión en términos del problema del investigador y se confirma.</a:t>
            </a:r>
          </a:p>
          <a:p/>
          <a:p>
            <a:r>
              <a:t>Es una adaptación del procedimiento de seis pasos que Montgomery da para el 2k: estimar efectos, formar el modelo inicial, hacer las pruebas, refinar el modelo, analizar residuales e interpretar.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cada columna de signos se calculan cuatro cantidades. El contraste es la suma de las respuestas multiplicadas por los signos de la columna. El efecto es el contraste dividido entre N/2: la diferencia entre el promedio de la respuesta en el nivel alto y en el nivel bajo. El coeficiente de regresión es la mitad del efecto. La suma de cuadrados, con un grado de libertad, es el contraste al cuadrado dividido entre N.</a:t>
            </a:r>
          </a:p>
          <a:p/>
          <a:p>
            <a:r>
              <a:t>La última columna muestra el cálculo para el factor A del ejemplo 1 (N = 8): contraste 76, efecto 19.00, coeficiente 9.50 y suma de cuadrados 722.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efecto que entra al modelo aporta una fila con un grado de libertad; su cuadrado medio es igual a su suma de cuadrados. El error se obtiene por sustracción: la suma de cuadrados total menos las de los m efectos del modelo, con N − 1 − m grados de libertad. Ese error está formado por los efectos que se juzgaron inactivos.</a:t>
            </a:r>
          </a:p>
          <a:p/>
          <a:p>
            <a:r>
              <a:t>El estadístico de prueba de cada efecto es F0 = MS del efecto / MS del error, que se compara con F de 1 y N − 1 − m grados de libertad.</a:t>
            </a:r>
          </a:p>
          <a:p/>
          <a:p>
            <a:r>
              <a:t>Si el diseño tiene n réplicas, N = n·2k−p y el error incluye además el error puro, con 2k−p(n − 1) grados de libertad.</a:t>
            </a:r>
          </a:p>
          <a:p/>
          <a:p>
            <a:r>
              <a:t>Montgomery presenta esta tabla para el 2k con réplicas; la versión para el fraccionado es la misma con N = 2k−p y coincide con las ANOVA de sus ejemplos.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 una sola réplica, el modelo completo consume todos los grados de libertad y no queda error para hacer pruebas F. Hay tres herramientas.</a:t>
            </a:r>
          </a:p>
          <a:p/>
          <a:p>
            <a:r>
              <a:t>La gráfica de probabilidad normal (o seminormal) de los efectos: los efectos inactivos se comportan como ruido normal de media cero y caen sobre una recta; los activos se alejan de ella.</a:t>
            </a:r>
          </a:p>
          <a:p/>
          <a:p>
            <a:r>
              <a:t>El método de Lenth, que traza la línea de referencia del diagrama de Pareto: estima un pseudo error estándar (PSE) a partir de la mediana de los efectos y declara activo todo efecto cuyo valor absoluto supere el margen de error.</a:t>
            </a:r>
          </a:p>
          <a:p/>
          <a:p>
            <a:r>
              <a:t>Montgomery advierte que el método de Lenth solo es razonable cuando hay pocos efectos activos y recomienda usarlo como complemento de la gráfica normal. En el ejemplo 1, donde cinco de siete efectos son grandes, Lenth no detecta ninguno (PSE = 24.75).</a:t>
            </a:r>
          </a:p>
          <a:p/>
          <a:p>
            <a:r>
              <a:t>Y los principios de interpretación de cadenas: escasez de efectos (Montgomery lo nombra en la introducción del capítulo), jerarquía (los efectos de orden bajo son más probables; Montgomery lo invoca en el ejemplo 8-6, pág. 335, para conservar el factor D en el modelo junto con la interacción AD) y herencia (una interacción es más creíble si sus factores tienen efecto principal; este nombre es usual en otros textos, como Wu y Hamada).</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pruebas F del ANOVA son válidas si los errores son normales, tienen varianza constante y son independientes. Los errores no se observan, así que se trabaja con los residuos: la diferencia entre cada respuesta observada y el valor que predice el modelo ajustado.</a:t>
            </a:r>
          </a:p>
          <a:p/>
          <a:p>
            <a:r>
              <a:t>Montgomery verifica los supuestos con gráficas de residuales y solo da pruebas formales para la igualdad de varianzas (Bartlett y Levene modificada). Siguiendo la estructura de la clase, aquí se propone además una prueba analítica para cada supuesto; Anderson-Darling, Shapiro-Wilk y Durbin-Watson no provienen del libro. Normalidad: gráfica de probabilidad normal de los residuos y prueba de Anderson-Darling o Shapiro-Wilk. Varianza constante: gráfica de residuos contra valores ajustados y contra cada factor, y prueba de Bartlett o de Levene modificada; Bartlett es muy sensible a la falta de normalidad y no debe usarse si esta está en duda. Independencia: gráfica de residuos contra el orden de corrida y prueba de Durbin-Watson.</a:t>
            </a:r>
          </a:p>
          <a:p/>
          <a:p>
            <a:r>
              <a:t>En un fraccionado sin réplicas los residuos provienen de los efectos descartados; si el modelo deja pocos grados de libertad para el error, la verificación tiene poca potencia.</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Hipótesis: H0: los residuos siguen una distribución normal; HA: no la siguen.</a:t>
            </a:r>
          </a:p>
          <a:p/>
          <a:p>
            <a:r>
              <a:t>Prueba gráfica: en la gráfica de probabilidad normal los 16 residuos se alinean razonablemente sobre una recta, sin puntos alejados.</a:t>
            </a:r>
          </a:p>
          <a:p/>
          <a:p>
            <a:r>
              <a:t>Prueba analítica: el estadístico de Anderson-Darling es A² = 0.314, con valor p = 0.513. Como el valor p es mayor que 0.05, no se rechaza H0: los residuos son normales.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Varianza constante: en la gráfica de residuos contra valores ajustados los puntos forman una banda horizontal, sin forma de embudo; la dispersión es similar para rendimientos bajos y altos. No hay evidencia contra el supuesto.</a:t>
            </a:r>
          </a:p>
          <a:p/>
          <a:p>
            <a:r>
              <a:t>Independencia: se verifica graficando los residuos contra el orden real de corrida y con la prueba de Durbin-Watson. Requiere haber registrado el orden de corrida durante el experimento; el ejemplo del libro no lo reporta, así que aquí no se puede calcular. Por eso el protocolo insiste en aleatorizar y guardar ese orden.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falla la normalidad: revisar datos atípicos y errores de registro, y considerar una transformación de la respuesta; el ANOVA es robusto a desviaciones moderadas.</a:t>
            </a:r>
          </a:p>
          <a:p/>
          <a:p>
            <a:r>
              <a:t>Si la varianza no es constante: transformar la respuesta (logaritmo, raíz cuadrada, recíproco; la elección puede guiarse por la relación entre la desviación estándar y la media, o por el método de Box-Cox).</a:t>
            </a:r>
          </a:p>
          <a:p/>
          <a:p>
            <a:r>
              <a:t>Si falla la independencia: es un problema potencialmente serio y difícil de corregir; la aleatorización es la principal forma de prevenirlo. Si existe una fuente identificable (tiempo, lote), debe controlarse en experimentos futuros o incluirse en el análisis como bloque o covariable.</a:t>
            </a:r>
          </a:p>
          <a:p/>
          <a:p>
            <a:r>
              <a:t>Si el modelo deja residuos con patrón: probablemente falta un término; hay que revisar las cadenas de alias y, si es necesario, agregar corridas.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diseño de resolución R contiene un factorial completo en cualquier subconjunto de R − 1 factores. Si al analizar resulta que solo unos pocos factores son activos, se descartan los demás y el diseño se convierte, sin correr nada más, en un factorial completo (posiblemente con réplicas) en los factores activos.</a:t>
            </a:r>
          </a:p>
          <a:p/>
          <a:p>
            <a:r>
              <a:t>En general, un 2k−p se proyecta en un factorial completo en cualquier subconjunto de r ≤ k − p factores que no contenga una palabra de la relación de definición; si la contiene, lo que queda es un factorial fraccionado con réplicas. Consecuencia práctica: al asignar los factores a las columnas conviene que los que se creen más importantes no formen juntos una palabra.</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proyección permite asignar los factores con estrategia. En el 27−3IV de 16 corridas hay 35 subconjuntos de cuatro factores; siete son palabras de la relación de definición y los otros 28 forman un 24 completo. Uno de ellos, el más obvio, es el de las columnas del diseño básico: A, B, C y D.</a:t>
            </a:r>
          </a:p>
          <a:p/>
          <a:p>
            <a:r>
              <a:t>Montgomery lo ilustra con un molino de bolas con siete factores. Se tiene bastante certeza de que la velocidad del motor, el modo de alimentación, el tamaño de la alimentación y el tipo de material afectan la eficiencia y pueden interactuar; se sabe menos de la muesca, el ángulo de la criba y el nivel de vibración, que probablemente son insignificantes. La estrategia es asignar los cuatro primeros a las columnas A, B, C y D y las «variables menores» a E, F y G. Si se está en lo correcto y estas resultan despreciables, queda un 24 completo en las variables clave.</a:t>
            </a:r>
          </a:p>
          <a:p/>
          <a:p>
            <a:r>
              <a:t>Las conclusiones obtenidas así deben considerarse tentativas: suele haber explicaciones alternativas basadas en interacciones de orden superior.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veces un fraccionado tiene tantas corridas que no se pueden hacer todas en condiciones homogéneas. Entonces se confunde con bloques, igual que un 2k. La tabla XII del apéndice de Montgomery da los arreglos recomendados; en ellos el bloque más pequeño tiene ocho corridas.</a:t>
            </a:r>
          </a:p>
          <a:p/>
          <a:p>
            <a:r>
              <a:t>El procedimiento: se elige para confundir con los bloques una cadena de alias formada solo por interacciones de orden alto, para no perder efectos de interés. En el 26−2 con I = ABCE = BCDF = ADEF hay dos cadenas formadas solo por interacciones triples; la tabla sugiere ABD (con sus alias CDE, ACF y BEF).</a:t>
            </a:r>
          </a:p>
          <a:p/>
          <a:p>
            <a:r>
              <a:t>Las corridas se reparten según el signo de ABD. El bloque principal contiene las combinaciones de tratamientos con un número par de letras en común con ABD, es decir, las que cumplen L = x1 + x2 + x4 = 0 (mod 2), donde x vale 1 si la letra está presente y 0 si no.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máquina CNC de cinco ejes produce el impulsor de un motor de turbina. Una característica de calidad clave es el perfil de los álabes: interesa su desviación respecto al perfil especificado en el plano, medida como la desviación estándar de la diferencia entre ambos.</a:t>
            </a:r>
          </a:p>
          <a:p/>
          <a:p>
            <a:r>
              <a:t>Se quiere saber qué parámetros de la máquina afectan esa desviación. Se eligen ocho factores a dos niveles: desviaciones de los ejes x, y, z y a, fabricante de la herramienta, velocidad del husillo, altura de la plantilla sujetadora y velocidad de alimentación.</a:t>
            </a:r>
          </a:p>
          <a:p/>
          <a:p>
            <a:r>
              <a:t>La máquina tiene cuatro husillos (la traducción del libro los llama areómetros) que pueden diferir entre sí; deben tratarse como bloques. Los ingenieros creen que las interacciones de tres o más factores son despreciables, pero no quieren ignorar las de dos.</a:t>
            </a:r>
          </a:p>
          <a:p/>
          <a:p>
            <a:r>
              <a:t>Objetivo: Identificar los parámetros de la máquina que más afectan la desviación del perfil, controlando la diferencia entre husillos</a:t>
            </a:r>
          </a:p>
          <a:p/>
          <a:p>
            <a:r>
              <a:t>Se pide: elegir entre 16 y 32 corridas y justificarlo; repartir el diseño en cuatro bloques y ver qué se confunde; estimar los efectos y ajustar el modelo; interpretar los alias que queden ambiguos. Fuente: Montgomery, ejemplo 8-6.</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Una máquina CNC de cinco ejes maquina un propulsor para un motor de turbina. La respuesta es la desviación del perfil de los álabes respecto al plano: la desviación estándar de la diferencia entre el perfil real y el especificado. Se estudian ocho factores. La máquina tiene cuatro areómetros que pueden diferir, así que se tratan como bloques. Fuente: Montgomery, ejemplo 8-6.</a:t>
            </a:r>
          </a:p>
          <a:p/>
          <a:p>
            <a:r>
              <a:t>Los ingenieros confían en que las interacciones de tres o más factores no importan, pero no quieren ignorar las dobles. La tabla de diseños ofrece dos de resolución IV: el 28−4 de 16 corridas y el 28−3 de 32. El de 16 tiene muchas interacciones dobles aliadas entre sí y no se puede correr en cuatro bloques sin confundir cuatro interacciones dobles con ellos. Se elige el 28−3 en cuatro bloques, con F = ABC, G = ABD y H = BCDE. Quedan confundidas con los bloques una cadena de interacciones triples y la interacción EH, entre la desviación del eje a y la velocidad de alimentación, que los ingenieros consideran muy improbable.</a:t>
            </a:r>
          </a:p>
          <a:p/>
          <a:p>
            <a:r>
              <a:t>Como la respuesta es una desviación estándar, se analiza su logaritmo.</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la gráfica normal de los efectos solo sobresalen A (desviación del eje x), B (desviación del eje y) y la cadena AD + BG. AD es la interacción del eje x con el fabricante de la herramienta y BG la del eje y con la altura de la plantilla. Como las dos incluyen un efecto principal grande, no hay una simplificación lógica obvia: hace falta conocimiento del proceso o más corridas para separarlas.</a:t>
            </a:r>
          </a:p>
          <a:p/>
          <a:p>
            <a:r>
              <a:t>Suponiendo, por conocimiento del proceso, que la interacción es AD, el modelo lleva A, B, D y AD. D entra aunque su efecto sea pequeño para respetar el principio de jerarquía. El efecto de los bloques es pequeño: los areómetros no difieren mucho. La gráfica normal de residuales sugiere colas algo más gruesas que las normales.</a:t>
            </a:r>
          </a:p>
          <a:p/>
          <a:p>
            <a:r>
              <a:t>Interpretación: con el fabricante 1 la respuesta crece mucho al pasar A de bajo a alto; con el fabricante 2 casi no cambia. La mejor combinación es A en nivel bajo, B en nivel alto y la herramienta del fabricante 1. La tabla ANOVA es la del libro (tabla 8-18).</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III permiten estudiar hasta k = N − 1 factores en N corridas, con N múltiplo de 4. El 27−4 estudia siete factores en solo ocho corridas: se escribe el 23 completo en A, B y C y se definen D = AB, E = AC, F = BC y G = ABC. Se dice que el diseño está saturado porque usa todos los grados de libertad para efectos principales.</a:t>
            </a:r>
          </a:p>
          <a:p/>
          <a:p>
            <a:r>
              <a:t>El costo es alto: cada efecto principal es alias de tres interacciones dobles. Solo sirve si se puede suponer que las interacciones son despreciables o si se planea un doblez posterior.</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27−4 tiene cuatro generadores: I = ABD, I = ACE, I = BCF e I = ABCG. Su relación de definición completa se obtiene multiplicando los generadores de dos en dos, de tres en tres y los cuatro a la vez: tiene 24 − 1 = 15 palabras. La más corta tiene tres letras, así que es de resolución III.</a:t>
            </a:r>
          </a:p>
          <a:p/>
          <a:p>
            <a:r>
              <a:t>Cada efecto tiene 15 alias. Si se suponen despreciables las interacciones de tres o más factores, cada estimación es la suma del efecto principal y de tres interacciones dobles; son las cadenas de la tabla de la diapositiva anterior (ecuación 8-1 del libro).</a:t>
            </a:r>
          </a:p>
          <a:p/>
          <a:p>
            <a:r>
              <a:t>Es una fracción un dieciseisavo del 27. Hay 16 diseños en la familia, uno por cada combinación de signos de los cuatro generadores; con todos positivos se tiene la fracción principal.</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 27−4 saturado se obtienen diseños de resolución III para menos de siete factores en ocho corridas: basta eliminar columnas. Si se elimina G queda un 26−3III, con D = AB, E = AC y F = BC.</a:t>
            </a:r>
          </a:p>
          <a:p/>
          <a:p>
            <a:r>
              <a:t>Regla: al eliminar d factores, la nueva relación de definición está formada por las palabras de la original que no contienen ninguna de las letras eliminadas. Para el 26−3 quedan siete palabras: I = ABD = ACE = BCF = BCDE = ACDF = ABEF = DEF.</a:t>
            </a:r>
          </a:p>
          <a:p/>
          <a:p>
            <a:r>
              <a:t>Hay que elegir bien qué columnas se eliminan. Si se eliminan B, D, F y G quedan tres factores en ocho corridas, pero el diseño resulta ser dos réplicas de un 23−1, cuando con las mismas ocho corridas se podría tener un 23 completo en A, C y E.</a:t>
            </a:r>
          </a:p>
          <a:p/>
          <a:p>
            <a:r>
              <a:t>La misma idea da diseños saturados mayores: con el 24 en A, B, C y D y once factores nuevos igualados a todas sus interacciones se obtiene el 215−11III, que estudia 15 factores en 16 corridas, cada uno alias de siete interacciones dobles. Del mismo modo, el 231−26III estudia 31 factores en 32 corridas.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III cada efecto principal está mezclado con interacciones dobles. Para separarlos se usa el ensamblaje secuencial: se corre una segunda fracción en la que se han invertido los signos de algunos factores y se combinan las dos. A esta técnica se le llama doblez o plegado (fold over).</a:t>
            </a:r>
          </a:p>
          <a:p/>
          <a:p>
            <a:r>
              <a:t>La estructura de alias de la segunda fracción no hay que calcularla de cero: se obtiene cambiando el signo de los factores invertidos en la estructura de alias de la fracción original. Después, como con la fracción alterna, la semisuma y la semidiferencia de las estimaciones de las dos fracciones separan los efectos.</a:t>
            </a:r>
          </a:p>
          <a:p/>
          <a:p>
            <a:r>
              <a:t>Hay dos variantes. El doblez de un solo factor invierte los signos de un factor. El doblez completo, o reflexión, invierte los signos de todos.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Junto a la fracción principal del 27−4 se corre una segunda fracción con los signos de solo la columna D invertidos. Los alias de la segunda fracción se obtienen reemplazando D por −D en la estructura original: ℓ′A estima A − BD + CE + FG, y como −D = AB + CG + EF, ℓ′D estima D − AB − CG − EF (ecuación 8-2).</a:t>
            </a:r>
          </a:p>
          <a:p/>
          <a:p>
            <a:r>
              <a:t>Al combinar las dos fracciones, D queda limpio y cada una de sus interacciones dobles, BD, AD, DG, DF, DE y CD, queda aislada en una semidiferencia.</a:t>
            </a:r>
          </a:p>
          <a:p/>
          <a:p>
            <a:r>
              <a:t>Regla general de Montgomery: si a un fraccionado de resolución III o mayor se le agrega una fracción con los signos de un solo factor invertidos, el diseño combinado estima ese efecto principal y todas sus interacciones dobles. Se supone que las interacciones de tres o más factores son despreciables.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el doblez completo, o reflexión, se agrega una segunda fracción con los signos de todos los factores invertidos. La columna de cada factor cambia de signo, pero la de cada interacción doble no, porque es producto de dos signos invertidos: (−)(−) = +. Por eso, en la segunda fracción cada efecto principal queda aliado con sus interacciones dobles con signo contrario: ℓ′A estima A − BD − CE − FG. La semisuma deja los efectos principales limpios y la semidiferencia deja las cadenas de interacciones dobles.</a:t>
            </a:r>
          </a:p>
          <a:p/>
          <a:p>
            <a:r>
              <a:t>Montgomery lo resume así: el doblez completo rompe los vínculos de alias entre los efectos principales y las interacciones dobles, y el diseño combinado estima todos los efectos principales libres de interacciones dobles.</a:t>
            </a:r>
          </a:p>
          <a:p/>
          <a:p>
            <a:r>
              <a:t>Un detalle útil para construirlo: invertir todos los signos equivale a cambiar el signo de los generadores con número impar de letras. En el 27−4, ABD, ACE y BCF cambian de signo y ABCG no.</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experimentador estudia el tiempo de enfoque del ojo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a:p/>
          <a:p>
            <a:r>
              <a:t>Sospecha que solo unos pocos de los siete factores son importantes y que las interacciones de orden alto se pueden despreciar.</a:t>
            </a:r>
          </a:p>
          <a:p/>
          <a:p>
            <a:r>
              <a:t>Decide hacer primero un experimento de tamizado con un 27−4III de 8 corridas, en orden aleatorio, para identificar los factores importantes y concentrar en ellos el estudio posterior.</a:t>
            </a:r>
          </a:p>
          <a:p/>
          <a:p>
            <a:r>
              <a:t>Objetivo: Tamizar: encontrar los pocos factores que de verdad afectan el tiempo de enfoque</a:t>
            </a:r>
          </a:p>
          <a:p/>
          <a:p>
            <a:r>
              <a:t>Se pide: estimar los efectos de la primera fracción; listar las explicaciones compatibles con los alias; elegir y correr una segunda fracción que las separe; decidir qué efectos son los reales. Fuente: Montgomery, ejemplo 8-7.</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Experimento sobre el tiempo de enfoque del ojo con siete factores: A agudeza visual, B distancia al objetivo, C forma del objetivo, D nivel de iluminación, E tamaño del objetivo, F densidad y G sujeto. Se corre el 27−4 de ocho corridas. Fuente: Montgomery, ejemplo 8-7.</a:t>
            </a:r>
          </a:p>
          <a:p/>
          <a:p>
            <a:r>
              <a:t>Tres estimaciones son grandes: ℓB = 38.38, ℓD = 28.88 y ℓA = 20.63. La lectura más simple es que A, B y D son activos. Pero como D = AB, hay otras tres explicaciones igual de lógicas: A, B y la interacción AB; A, D y la interacción AD; o B, D y la interacción BD. La fracción sola no permite distinguirlas.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corre una segunda fracción de ocho corridas con los signos de todos los factores invertidos. En ella cada efecto principal aparece con sus interacciones dobles con signo negativo, de modo que la semisuma aísla el efecto principal y la semidiferencia aísla el grupo de interacciones.</a:t>
            </a:r>
          </a:p>
          <a:p/>
          <a:p>
            <a:r>
              <a:t>Resultado: los efectos principales grandes son B = 38.05 y D = 29.38. El efecto de A es solo 1.48; lo que parecía el efecto de A era en realidad la cadena BD + CE + FG = 19.15, que es razonable atribuir a BD porque B y D son activos. BD sigue aliada con CE y FG; en el estudio se confirmó con experimentos posteriores. La explicación más plausible era la cuarta.</a:t>
            </a:r>
          </a:p>
          <a:p/>
          <a:p>
            <a:r>
              <a:t>Las 16 corridas forman un 27−3 de resolución IV: el doblez completo de un diseño de resolución III siempre produce uno de resolución IV.</a:t>
            </a:r>
          </a:p>
          <a:p/>
          <a:p>
            <a:r>
              <a:t>Nota para quien coteje con el libro: en la fila F, Montgomery imprime −1.53; con sus propios datos el valor es −1.13.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da una regla sencilla. Cada fracción por separado tiene L + U generadores: L palabras con el mismo signo en las dos fracciones y U palabras con signo distinto. El diseño combinado tiene L + U − 1 generadores: las L palabras de igual signo y U − 1 palabras formadas por productos pares independientes de las palabras de signo distinto. Productos pares son las palabras tomadas de dos en dos, de cuatro en cuatro, etc.</a:t>
            </a:r>
          </a:p>
          <a:p/>
          <a:p>
            <a:r>
              <a:t>En el ejemplo 5, la primera fracción tiene I = ABD, ACE, BCF y ABCG; el doblez tiene I = −ABD, −ACE, −BCF y ABCG. Así, L = 1 (ABCG) y U = 3. El combinado usa ABCG y dos productos pares, por ejemplo (ABD)(ACE) = BCDE y (ABD)(BCF) = ACDF.</a:t>
            </a:r>
          </a:p>
          <a:p/>
          <a:p>
            <a:r>
              <a:t>La relación completa del diseño combinado tiene siete palabras, todas de cuatro letras: es un 27−3IV. El doblez completo de un diseño de resolución III da un diseño de resolución IV.</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 diseños de resolución III para estudiar k = N − 1 factores en N corridas, donde N es múltiplo de 4 y no solo potencia de 2: 12, 20, 24, 28, 36. Dan tamaños intermedios entre los de los diseños 2k−p (8, 16, 32 corridas).</a:t>
            </a:r>
          </a:p>
          <a:p/>
          <a:p>
            <a:r>
              <a:t>Se construyen a partir de un renglón generador que se desplaza cíclicamente una posición cada vez; al final se agrega un renglón con todos los signos negativos. Para N = 28 la construcción es distinta, con tres bloques de signos.</a:t>
            </a:r>
          </a:p>
          <a:p/>
          <a:p>
            <a:r>
              <a:t>Advertencia: su estructura de alias es muy compleja. En el diseño de 12 corridas cada efecto principal es alias parcial de todas las interacciones dobles en las que no participa. Si hay interacciones importantes, pueden aparecer como falsos efectos principales. Montgomery recomienda usarlos con mucho cuidado. A su favor: se proyectan en un factorial completo en cualesquiera tres factores, y bajo ciertas condiciones sus alias se pueden desenredar con técnicas de regresión.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N = 12, 20, 24 y 36 el diseño se arma con el renglón de signos de la tabla 8-23 del libro. Se escribe ese renglón como primera fila (o primera columna). La segunda fila se obtiene desplazando la primera una posición hacia la derecha y pasando el último elemento al principio. Se repite el desplazamiento hasta tener k = N − 1 filas, y al final se agrega una fila con todos los signos negativos.</a:t>
            </a:r>
          </a:p>
          <a:p/>
          <a:p>
            <a:r>
              <a:t>La tabla es el diseño de 12 corridas para 11 factores construido de esa forma, el mismo del ejemplo 6. La letra I no se usa como factor porque está reservada para la identidad. Para N = 28 la construcción es distinta: tres bloques de signos X, Y y Z de 9 × 9 se disponen en forma cíclica y se agrega la fila de signos negativos.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Plackett-Burman no geométricos tienen estructuras de alias muy intrincadas. En el diseño de 12 corridas, cada efecto principal es alias parcial de todas las interacciones dobles en las que no interviene. Por ejemplo, la interacción AB es alias parcial de los nueve efectos principales C, D, …, K, y cada efecto principal es alias parcial de 45 interacciones dobles. «Parcial» quiere decir que la interacción no se suma completa a la estimación, sino con un peso fraccionario. En diseños mayores la situación es aún más compleja; Montgomery recomienda usarlos con mucho cuidado.</a:t>
            </a:r>
          </a:p>
          <a:p/>
          <a:p>
            <a:r>
              <a:t>Su ventaja está en la proyección. El de 12 corridas se proyecta en tres réplicas de un 22 completo en cualquier par de factores, y en cualquier trío de factores en un 23 completo más una fracción 23−1. Por eso se dice que tiene proyectividad 3, mientras que un 2k−pIII solo tiene proyectividad 2. Las proyecciones en tres y cuatro factores no son balanceadas.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quiere tamizar 11 factores (A a L, sin I) con el mínimo de corridas. Un Plackett-Burman de 12 corridas lo permite: es de resolución III y cada interacción doble queda repartida parcialmente sobre varios efectos principales.</a:t>
            </a:r>
          </a:p>
          <a:p/>
          <a:p>
            <a:r>
              <a:t>Para ver qué pasa cuando hay interacciones, Montgomery simula los datos con un modelo conocido: tres efectos principales activos (A, B y D), dos interacciones (AB y AD) y un error normal de varianza 9. Los demás factores no tienen ningún efecto.</a:t>
            </a:r>
          </a:p>
          <a:p/>
          <a:p>
            <a:r>
              <a:t>El analista no conoce ese modelo: solo ve las 12 respuestas y analiza el diseño como se haría en la práctica.</a:t>
            </a:r>
          </a:p>
          <a:p/>
          <a:p>
            <a:r>
              <a:t>Objetivo: Comprobar si el análisis del Plackett-Burman recupera el modelo verdadero</a:t>
            </a:r>
          </a:p>
          <a:p/>
          <a:p>
            <a:r>
              <a:t>Se pide: estimar los 11 efectos principales; compararlos con el modelo que generó los datos; explicar de dónde salen los efectos falsos; decidir qué diseño habría sido mejor. Fuente: Montgomery, ejemplo 8-8.</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Montgomery simula datos para mostrar la dificultad (ejemplo 8-8). El modelo verdadero tiene tres efectos principales, A, B y D, y dos interacciones, AB y AD, más un error normal con varianza 9. Se corre el Plackett-Burman de 12 corridas para 11 factores.</a:t>
            </a:r>
          </a:p>
          <a:p/>
          <a:p>
            <a:r>
              <a:t>Al estimar los efectos aparecen siete grandes: A, B, C, D, E, J y K. Solo tres son reales; los demás son interacciones que se repartieron como alias parciales sobre otros efectos principales. Con estos datos no es evidente cuáles de esos efectos son en realidad interacciones. Un doblez del diseño resolvería en general los efectos principales, pero suele dejar incertidumbre sobre las interacciones.</a:t>
            </a:r>
          </a:p>
          <a:p/>
          <a:p>
            <a:r>
              <a:t>Recomendación del libro: si la elección es entre un 211−7III geométrico de 16 corridas y un Plackett-Burman de 12 que quizá haya que doblar (24 corridas), el geométrico puede ser mejor elección. Nota para quien coteje: la tabla 8-26 imprime 12.667 para el efecto de C; con los datos es 13.667, que es lo que da su propio coeficiente.</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conclusiones de un fraccionado son tentativas porque siempre existe una explicación alternativa basada en los alias. Hay cuatro formas de resolver la duda.</a:t>
            </a:r>
          </a:p>
          <a:p/>
          <a:p>
            <a:r>
              <a:t>Corrida de confirmación: predecir con el modelo la respuesta en una condición nueva y comprobarla. Fracción alterna: en una fracción un medio, correr la otra mitad completa el factorial. Doblez completo: correr una segunda fracción con los signos de todos los factores invertidos; separa los efectos principales de las interacciones dobles y convierte un diseño de resolución III en uno de resolución IV. Doblez de un factor: invertir los signos de un solo factor; en un diseño de resolución III o mayor, y despreciando interacciones de tres o más factores, deja limpio ese factor y todas sus interacciones dobles. Cuesta las mismas corridas que el doblez completo.</a:t>
            </a:r>
          </a:p>
          <a:p/>
          <a:p>
            <a:r>
              <a:t>Cuando se agrega una segunda fracción, las dos se combinan con la semisuma y la semidiferencia de las estimaciones.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2k−p es de resolución IV si los efectos principales están separados de las interacciones dobles y algunas interacciones dobles son alias entre sí. Si se suprimen las interacciones de tres o más factores, los efectos principales se estiman directamente. Ya se vieron dos: el 26−2IV del ejemplo 3 y el 27−3IV que resultó de combinar las dos fracciones del ejemplo 5.</a:t>
            </a:r>
          </a:p>
          <a:p/>
          <a:p>
            <a:r>
              <a:t>Hay un límite inferior de tamaño: todo diseño 2k−pIV debe tener al menos 2k corridas. Los diseños de resolución IV con exactamente 2k corridas se llaman diseños mínimos. Por ejemplo, el 24−1IV tiene 8 = 2·4 corridas y el 28−4IV tiene 16 = 2·8.</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diseños de resolución IV se pueden obtener doblando un diseño de resolución III. Se toma el 2k−pIII, se le agrega la segunda fracción con todos los signos invertidos, y se aprovecha la columna identidad: en la primera fracción es toda +, y en la segunda se cambia a toda −. Esa columna se asigna al factor k + 1. El resultado es un 2k+1−pIV.</a:t>
            </a:r>
          </a:p>
          <a:p/>
          <a:p>
            <a:r>
              <a:t>La tabla es la del libro (tabla 8-27): del 23−1III con I = ABC se obtiene un 24−1IV, y es fácil verificar que su relación de definición es I = ABCD. Con cuatro corridas más se gana un factor y se sube de resolución III a IV.</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También se doblan diseños de resolución IV, para separar interacciones dobles que son alias entre sí. Montgomery y Runger señalan tres objetivos posibles: romper tantas cadenas de interacciones dobles como sea posible, romper las de una cadena específica, o romper las que incluyen un factor específico.</a:t>
            </a:r>
          </a:p>
          <a:p/>
          <a:p>
            <a:r>
              <a:t>Una forma de hacerlo es correr una segunda fracción en la que se invierte el signo de todos los generadores con número impar de letras. En el 26−2 del ejemplo 3, con I = ABCE e I = BCDF, la segunda fracción usa I = −ABCE e I = −BCDF, y el diseño combinado tiene un solo generador, I = ADEF. Sigue siendo de resolución IV, pero las únicas interacciones dobles que quedan con alias son AD = EF, AE = DF y AF = DE. En el 28−3IV, con I = ABCF, ABDG y BCDEH, el combinado queda con I = CDFG = BCDEH = BEFGH y solo CD = FG, CF = DG y CG = DF siguen aliadas.</a:t>
            </a:r>
          </a:p>
          <a:p/>
          <a:p>
            <a:r>
              <a:t>Advertencia: el doblez de un resolución III garantiza un combinado de resolución IV, pero el doblez de un resolución IV no necesariamente separa todas las interacciones dobles. Si la fracción original tiene una cadena con más de dos interacciones dobles, el doblez no las separa por completo.</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un diseño de resolución V los efectos principales y las interacciones dobles no tienen como alias otros principales ni otras interacciones dobles. Son diseños muy poderosos: si las interacciones de tres o más factores son despreciables, estiman de forma única todos los efectos principales y todas las interacciones dobles. La palabra más corta de su relación de definición debe tener cinco letras. Ejemplos: el 25−1 con I = ABCDE y el 28−2 con I = ABCDG = ABEFH.</a:t>
            </a:r>
          </a:p>
          <a:p/>
          <a:p>
            <a:r>
              <a:t>Su problema es el tamaño: los diseños estándar de resolución V son grandes cuando el número de factores es moderado. Por eso interesan las fracciones irregulares de resolución V, disponibles para 4 a 9 factores: 12 corridas para 4 factores, 24 para 5 (tabla 8-28 del libro, tres cuartas partes del 25), 48 para 6, 7 u 8, y 96 para 9.</a:t>
            </a:r>
          </a:p>
          <a:p/>
          <a:p>
            <a:r>
              <a:t>Por último, Montgomery señala que el doblez completo de un diseño de resolución IV o V suele ser innecesario: en general solo hay una o dos interacciones aliadas de interés, y sus alias se pueden separar agregando unas pocas corridas a la fracción original. Esa técnica se llama doblez parcial (ver ejemplo 10-5 del libro).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tabla se lee por columnas. Con 16 corridas se puede hacer un factorial completo de 4 factores, una fracción un medio de 5, una fracción de resolución IV para 6 a 8 factores, o una de resolución III para 9 a 15.</a:t>
            </a:r>
          </a:p>
          <a:p/>
          <a:p>
            <a:r>
              <a:t>Dos límites útiles: un diseño de resolución III admite como máximo k = N − 1 factores (diseño saturado), y un diseño de resolución IV necesita al menos N = 2k corridas.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factorial fraccionado estudia muchos factores en pocas corridas a cambio de mezclar efectos. La notación 2k−p dice cuántos factores, cuántos generadores y cuántas corridas. La relación de definición determina los alias y la resolución dice qué tan grave es la mezcla. El análisis es el del 2k: contrastes, efectos, gráfica normal de efectos, ANOVA del modelo reducido y residuos. Las conclusiones son tentativas y se confirman con una fracción alterna, un doblez o una corrida de verificación.</a:t>
            </a:r>
          </a:p>
          <a:p/>
          <a:p>
            <a:r>
              <a:t>Errores frecuentes: interpretar un efecto sin mirar sus alias; usar una resolución III sin prever un doblez cuando puede haber interacciones; no aleatorizar o no guardar el orden de corrida; no cuidar la asignación de los factores a las columnas cuando se tiene idea de cuáles importan; y dar por definitivas las conclusiones sin confirmar.</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ejemplos numéricos y la teoría provienen de Montgomery (capítulos 6, 7 y 8); todos los cálculos (efectos, sumas de cuadrados, ANOVA, pruebas de supuestos) se rehicieron a partir de los datos. Los demás títulos son la bibliografía del curso recomendada para este tema, para quien quiera profundizar.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chart" Target="../charts/chart4.xml"/><Relationship Id="rId4"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notesSlide" Target="../notesSlides/notesSlide4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7.xml"/><Relationship Id="rId3" Type="http://schemas.openxmlformats.org/officeDocument/2006/relationships/notesSlide" Target="../notesSlides/notesSlide48.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8.xml"/><Relationship Id="rId3" Type="http://schemas.openxmlformats.org/officeDocument/2006/relationships/notesSlide" Target="../notesSlides/notesSlide6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9.xml"/><Relationship Id="rId3" Type="http://schemas.openxmlformats.org/officeDocument/2006/relationships/notesSlide" Target="../notesSlides/notesSlide6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9.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6.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0.xml"/><Relationship Id="rId3" Type="http://schemas.openxmlformats.org/officeDocument/2006/relationships/notesSlide" Target="../notesSlides/notesSlide78.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9.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1.xml"/><Relationship Id="rId3" Type="http://schemas.openxmlformats.org/officeDocument/2006/relationships/notesSlide" Target="../notesSlides/notesSlide8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6.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Diseños factoriales fraccionados 2</a:t>
            </a:r>
            <a:r>
              <a:rPr sz="4600" b="1" baseline="30000">
                <a:solidFill>
                  <a:srgbClr val="FFFFFF"/>
                </a:solidFill>
                <a:latin typeface="Cambria"/>
              </a:rPr>
              <a:t>k−p</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Tema 6 · Diseño de Experimentos Avanzados (3008475)</a:t>
            </a:r>
          </a:p>
        </p:txBody>
      </p:sp>
      <p:sp>
        <p:nvSpPr>
          <p:cNvPr id="4" name="TextBox 3"/>
          <p:cNvSpPr txBox="1"/>
          <p:nvPr/>
        </p:nvSpPr>
        <p:spPr>
          <a:xfrm>
            <a:off x="548640" y="4846320"/>
            <a:ext cx="11094415" cy="914400"/>
          </a:xfrm>
          <a:prstGeom prst="rect">
            <a:avLst/>
          </a:prstGeom>
          <a:noFill/>
        </p:spPr>
        <p:txBody>
          <a:bodyPr wrap="square" anchor="t" lIns="0" rIns="0" tIns="0" bIns="0">
            <a:spAutoFit/>
          </a:bodyPr>
          <a:lstStyle/>
          <a:p>
            <a:r>
              <a:rPr sz="1600" b="0">
                <a:solidFill>
                  <a:srgbClr val="FFFFFF"/>
                </a:solidFill>
                <a:latin typeface="Calibri"/>
              </a:rPr>
              <a:t>Juan Esteban Rodríguez Ochoa · Sebastián Zapata Henao</a:t>
            </a:r>
          </a:p>
          <a:p>
            <a:r>
              <a:rPr sz="1600" b="0">
                <a:solidFill>
                  <a:srgbClr val="FFFFFF"/>
                </a:solidFill>
                <a:latin typeface="Calibri"/>
              </a:rPr>
              <a:t>Universidad Nacional de Colombia · 31 de octubre de 2026</a:t>
            </a:r>
          </a:p>
        </p:txBody>
      </p:sp>
      <p:sp>
        <p:nvSpPr>
          <p:cNvPr id="5" name="Oval 4"/>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6" name="Oval 5"/>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8" name="Oval 7"/>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Ruta de la clase</a:t>
            </a:r>
          </a:p>
        </p:txBody>
      </p:sp>
      <p:sp>
        <p:nvSpPr>
          <p:cNvPr id="3" name="Rounded Rectangle 2"/>
          <p:cNvSpPr/>
          <p:nvPr/>
        </p:nvSpPr>
        <p:spPr>
          <a:xfrm>
            <a:off x="548640"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Propósito y vocabulario</a:t>
            </a:r>
          </a:p>
          <a:p>
            <a:pPr algn="l"/>
            <a:r>
              <a:rPr sz="1500" b="0">
                <a:solidFill>
                  <a:srgbClr val="142B33"/>
                </a:solidFill>
                <a:latin typeface="Calibri"/>
              </a:rPr>
              <a:t>Para qué sirven, notación y la tabla del 2</a:t>
            </a:r>
            <a:r>
              <a:rPr sz="1500" b="0" baseline="30000">
                <a:solidFill>
                  <a:srgbClr val="142B33"/>
                </a:solidFill>
                <a:latin typeface="Calibri"/>
              </a:rPr>
              <a:t>k</a:t>
            </a:r>
          </a:p>
        </p:txBody>
      </p:sp>
      <p:sp>
        <p:nvSpPr>
          <p:cNvPr id="4" name="Rounded Rectangle 3"/>
          <p:cNvSpPr/>
          <p:nvPr/>
        </p:nvSpPr>
        <p:spPr>
          <a:xfrm>
            <a:off x="2813243"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Resolución</a:t>
            </a:r>
          </a:p>
          <a:p>
            <a:pPr algn="l"/>
            <a:r>
              <a:rPr sz="1500" b="0">
                <a:solidFill>
                  <a:srgbClr val="142B33"/>
                </a:solidFill>
                <a:latin typeface="Calibri"/>
              </a:rPr>
              <a:t>Qué tanto se mezclan los efectos</a:t>
            </a:r>
          </a:p>
        </p:txBody>
      </p:sp>
      <p:sp>
        <p:nvSpPr>
          <p:cNvPr id="5" name="Rounded Rectangle 4"/>
          <p:cNvSpPr/>
          <p:nvPr/>
        </p:nvSpPr>
        <p:spPr>
          <a:xfrm>
            <a:off x="5077846"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Fracción un medio</a:t>
            </a:r>
          </a:p>
          <a:p>
            <a:pPr algn="l"/>
            <a:r>
              <a:rPr sz="1500" b="0">
                <a:solidFill>
                  <a:srgbClr val="142B33"/>
                </a:solidFill>
                <a:latin typeface="Calibri"/>
              </a:rPr>
              <a:t>Alias, construcción, proyección y ejemplos</a:t>
            </a:r>
          </a:p>
        </p:txBody>
      </p:sp>
      <p:sp>
        <p:nvSpPr>
          <p:cNvPr id="6" name="Rounded Rectangle 5"/>
          <p:cNvSpPr/>
          <p:nvPr/>
        </p:nvSpPr>
        <p:spPr>
          <a:xfrm>
            <a:off x="7342449"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Secuencias</a:t>
            </a:r>
          </a:p>
          <a:p>
            <a:pPr algn="l"/>
            <a:r>
              <a:rPr sz="1500" b="0">
                <a:solidFill>
                  <a:srgbClr val="142B33"/>
                </a:solidFill>
                <a:latin typeface="Calibri"/>
              </a:rPr>
              <a:t>Correr una fracción, analizar y decidir</a:t>
            </a:r>
          </a:p>
        </p:txBody>
      </p:sp>
      <p:sp>
        <p:nvSpPr>
          <p:cNvPr id="7" name="Rounded Rectangle 6"/>
          <p:cNvSpPr/>
          <p:nvPr/>
        </p:nvSpPr>
        <p:spPr>
          <a:xfrm>
            <a:off x="9607052" y="1417320"/>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5 · Fracción un cuarto</a:t>
            </a:r>
          </a:p>
          <a:p>
            <a:pPr algn="l"/>
            <a:r>
              <a:rPr sz="1500" b="0">
                <a:solidFill>
                  <a:srgbClr val="142B33"/>
                </a:solidFill>
                <a:latin typeface="Calibri"/>
              </a:rPr>
              <a:t>Dos generadores, alternas, proyección y ejemplo</a:t>
            </a:r>
          </a:p>
        </p:txBody>
      </p:sp>
      <p:sp>
        <p:nvSpPr>
          <p:cNvPr id="8" name="Rounded Rectangle 7"/>
          <p:cNvSpPr/>
          <p:nvPr/>
        </p:nvSpPr>
        <p:spPr>
          <a:xfrm>
            <a:off x="548640"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6 · Caso general 2</a:t>
            </a:r>
            <a:r>
              <a:rPr sz="1700" b="1" baseline="30000">
                <a:solidFill>
                  <a:srgbClr val="0F4C5C"/>
                </a:solidFill>
                <a:latin typeface="Cambria"/>
              </a:rPr>
              <a:t>k−p</a:t>
            </a:r>
          </a:p>
          <a:p>
            <a:pPr algn="l"/>
            <a:r>
              <a:rPr sz="1500" b="0">
                <a:solidFill>
                  <a:srgbClr val="142B33"/>
                </a:solidFill>
                <a:latin typeface="Calibri"/>
              </a:rPr>
              <a:t>Elección, análisis, supuestos, proyección y bloques</a:t>
            </a:r>
          </a:p>
        </p:txBody>
      </p:sp>
      <p:sp>
        <p:nvSpPr>
          <p:cNvPr id="9" name="Rounded Rectangle 8"/>
          <p:cNvSpPr/>
          <p:nvPr/>
        </p:nvSpPr>
        <p:spPr>
          <a:xfrm>
            <a:off x="2813243"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7 · Resolución III</a:t>
            </a:r>
          </a:p>
          <a:p>
            <a:pPr algn="l"/>
            <a:r>
              <a:rPr sz="1500" b="0">
                <a:solidFill>
                  <a:srgbClr val="142B33"/>
                </a:solidFill>
                <a:latin typeface="Calibri"/>
              </a:rPr>
              <a:t>Saturados, doblez y Plackett-Burman</a:t>
            </a:r>
          </a:p>
        </p:txBody>
      </p:sp>
      <p:sp>
        <p:nvSpPr>
          <p:cNvPr id="10" name="Rounded Rectangle 9"/>
          <p:cNvSpPr/>
          <p:nvPr/>
        </p:nvSpPr>
        <p:spPr>
          <a:xfrm>
            <a:off x="5077846"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8 · Resolución IV y V</a:t>
            </a:r>
          </a:p>
          <a:p>
            <a:pPr algn="l"/>
            <a:r>
              <a:rPr sz="1500" b="0">
                <a:solidFill>
                  <a:srgbClr val="142B33"/>
                </a:solidFill>
                <a:latin typeface="Calibri"/>
              </a:rPr>
              <a:t>Diseños mínimos, doblez y fracciones irregulares</a:t>
            </a:r>
          </a:p>
        </p:txBody>
      </p:sp>
      <p:sp>
        <p:nvSpPr>
          <p:cNvPr id="11" name="Rounded Rectangle 10"/>
          <p:cNvSpPr/>
          <p:nvPr/>
        </p:nvSpPr>
        <p:spPr>
          <a:xfrm>
            <a:off x="7342449" y="3546601"/>
            <a:ext cx="2036003"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9 · Cierre</a:t>
            </a:r>
          </a:p>
          <a:p>
            <a:pPr algn="l"/>
            <a:r>
              <a:rPr sz="1500" b="0">
                <a:solidFill>
                  <a:srgbClr val="142B33"/>
                </a:solidFill>
                <a:latin typeface="Calibri"/>
              </a:rPr>
              <a:t>Ideas clave y errores frecuentes</a:t>
            </a:r>
          </a:p>
        </p:txBody>
      </p:sp>
      <p:sp>
        <p:nvSpPr>
          <p:cNvPr id="12" name="TextBox 11"/>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a:t>
            </a:r>
          </a:p>
        </p:txBody>
      </p:sp>
      <p:sp>
        <p:nvSpPr>
          <p:cNvPr id="13" name="TextBox 12"/>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a:t>
            </a:r>
          </a:p>
        </p:txBody>
      </p:sp>
      <p:sp>
        <p:nvSpPr>
          <p:cNvPr id="14" name="Rounded Rectangle 13"/>
          <p:cNvSpPr/>
          <p:nvPr/>
        </p:nvSpPr>
        <p:spPr>
          <a:xfrm>
            <a:off x="548640" y="91440"/>
            <a:ext cx="13441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Introducción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Propósito y vocabulario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1</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Para qué sirven, cómo se nombran y la tabla del 2</a:t>
            </a:r>
            <a:r>
              <a:rPr sz="2000" b="0" baseline="30000">
                <a:solidFill>
                  <a:srgbClr val="CFE3E8"/>
                </a:solidFill>
                <a:latin typeface="Calibri"/>
              </a:rPr>
              <a:t>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problema resuelven los factoriales fraccionados?</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En un 2</a:t>
            </a:r>
            <a:r>
              <a:rPr sz="1800" b="0" baseline="30000">
                <a:solidFill>
                  <a:srgbClr val="142B33"/>
                </a:solidFill>
                <a:latin typeface="Calibri"/>
              </a:rPr>
              <a:t>k</a:t>
            </a:r>
            <a:r>
              <a:rPr sz="1800" b="0">
                <a:solidFill>
                  <a:srgbClr val="142B33"/>
                </a:solidFill>
                <a:latin typeface="Calibri"/>
              </a:rPr>
              <a:t> completo las corridas </a:t>
            </a:r>
            <a:r>
              <a:rPr sz="1800" b="1">
                <a:solidFill>
                  <a:srgbClr val="142B33"/>
                </a:solidFill>
                <a:latin typeface="Calibri"/>
              </a:rPr>
              <a:t>se duplican</a:t>
            </a:r>
            <a:r>
              <a:rPr sz="1800" b="0">
                <a:solidFill>
                  <a:srgbClr val="142B33"/>
                </a:solidFill>
                <a:latin typeface="Calibri"/>
              </a:rPr>
              <a:t> con cada factor nuevo</a:t>
            </a:r>
          </a:p>
          <a:p>
            <a:pPr marL="320040" indent="-320040">
              <a:spcAft>
                <a:spcPts val="600"/>
              </a:spcAft>
              <a:buClr>
                <a:srgbClr val="E36414"/>
              </a:buClr>
              <a:buFont typeface="Arial"/>
              <a:buChar char="•"/>
            </a:pPr>
            <a:r>
              <a:rPr sz="1800" b="0">
                <a:solidFill>
                  <a:srgbClr val="142B33"/>
                </a:solidFill>
                <a:latin typeface="Calibri"/>
              </a:rPr>
              <a:t>Con muchos factores el experimento completo es inviable en tiempo y costo</a:t>
            </a:r>
          </a:p>
          <a:p>
            <a:pPr marL="320040" indent="-320040">
              <a:spcAft>
                <a:spcPts val="600"/>
              </a:spcAft>
              <a:buClr>
                <a:srgbClr val="E36414"/>
              </a:buClr>
              <a:buFont typeface="Arial"/>
              <a:buChar char="•"/>
            </a:pPr>
            <a:r>
              <a:rPr sz="1800" b="0">
                <a:solidFill>
                  <a:srgbClr val="142B33"/>
                </a:solidFill>
                <a:latin typeface="Calibri"/>
              </a:rPr>
              <a:t>El fraccionado corre </a:t>
            </a:r>
            <a:r>
              <a:rPr sz="1800" b="1">
                <a:solidFill>
                  <a:srgbClr val="142B33"/>
                </a:solidFill>
                <a:latin typeface="Calibri"/>
              </a:rPr>
              <a:t>solo una parte</a:t>
            </a:r>
            <a:r>
              <a:rPr sz="1800" b="0">
                <a:solidFill>
                  <a:srgbClr val="142B33"/>
                </a:solidFill>
                <a:latin typeface="Calibri"/>
              </a:rPr>
              <a:t> del 2</a:t>
            </a:r>
            <a:r>
              <a:rPr sz="1800" b="0" baseline="30000">
                <a:solidFill>
                  <a:srgbClr val="142B33"/>
                </a:solidFill>
                <a:latin typeface="Calibri"/>
              </a:rPr>
              <a:t>k</a:t>
            </a:r>
            <a:r>
              <a:rPr sz="1800" b="0">
                <a:solidFill>
                  <a:srgbClr val="142B33"/>
                </a:solidFill>
                <a:latin typeface="Calibri"/>
              </a:rPr>
              <a:t>, elegida con criterio</a:t>
            </a:r>
          </a:p>
          <a:p>
            <a:pPr marL="320040" indent="-320040">
              <a:spcAft>
                <a:spcPts val="600"/>
              </a:spcAft>
              <a:buClr>
                <a:srgbClr val="E36414"/>
              </a:buClr>
              <a:buFont typeface="Arial"/>
              <a:buChar char="•"/>
            </a:pPr>
            <a:r>
              <a:rPr sz="1800" b="0">
                <a:solidFill>
                  <a:srgbClr val="142B33"/>
                </a:solidFill>
                <a:latin typeface="Calibri"/>
              </a:rPr>
              <a:t>Uso principal: </a:t>
            </a:r>
            <a:r>
              <a:rPr sz="1800" b="1">
                <a:solidFill>
                  <a:srgbClr val="142B33"/>
                </a:solidFill>
                <a:latin typeface="Calibri"/>
              </a:rPr>
              <a:t>tamizado</a:t>
            </a:r>
            <a:r>
              <a:rPr sz="1800" b="0">
                <a:solidFill>
                  <a:srgbClr val="142B33"/>
                </a:solidFill>
                <a:latin typeface="Calibri"/>
              </a:rPr>
              <a:t> de factores en etapas tempranas</a:t>
            </a:r>
          </a:p>
        </p:txBody>
      </p:sp>
      <p:sp>
        <p:nvSpPr>
          <p:cNvPr id="4" name="Rounded Rectangle 3"/>
          <p:cNvSpPr/>
          <p:nvPr/>
        </p:nvSpPr>
        <p:spPr>
          <a:xfrm>
            <a:off x="548640" y="4178808"/>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costo: algunos efectos quedan mezclados entre sí (</a:t>
            </a:r>
            <a:r>
              <a:rPr sz="1600" b="1">
                <a:solidFill>
                  <a:srgbClr val="142B33"/>
                </a:solidFill>
                <a:latin typeface="Calibri"/>
              </a:rPr>
              <a:t>alias</a:t>
            </a:r>
            <a:r>
              <a:rPr sz="1600" b="0">
                <a:solidFill>
                  <a:srgbClr val="142B33"/>
                </a:solidFill>
                <a:latin typeface="Calibri"/>
              </a:rPr>
              <a:t>)</a:t>
            </a:r>
          </a:p>
        </p:txBody>
      </p:sp>
      <p:graphicFrame>
        <p:nvGraphicFramePr>
          <p:cNvPr id="5" name="Chart 4"/>
          <p:cNvGraphicFramePr>
            <a:graphicFrameLocks noGrp="1"/>
          </p:cNvGraphicFramePr>
          <p:nvPr/>
        </p:nvGraphicFramePr>
        <p:xfrm>
          <a:off x="6301587" y="1417320"/>
          <a:ext cx="5341467" cy="4206240"/>
        </p:xfrm>
        <a:graphic>
          <a:graphicData uri="http://schemas.openxmlformats.org/drawingml/2006/chart">
            <c:chart xmlns:c="http://schemas.openxmlformats.org/drawingml/2006/chart" r:id="rId2"/>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gastan las corridas de un 2</a:t>
            </a:r>
            <a:r>
              <a:rPr sz="3000" b="1" baseline="30000">
                <a:solidFill>
                  <a:srgbClr val="0F4C5C"/>
                </a:solidFill>
                <a:latin typeface="Cambria"/>
              </a:rPr>
              <a:t>k</a:t>
            </a:r>
            <a:r>
              <a:rPr sz="3000" b="1">
                <a:solidFill>
                  <a:srgbClr val="0F4C5C"/>
                </a:solidFill>
                <a:latin typeface="Cambria"/>
              </a:rPr>
              <a:t> completo?</a:t>
            </a:r>
          </a:p>
        </p:txBody>
      </p:sp>
      <p:graphicFrame>
        <p:nvGraphicFramePr>
          <p:cNvPr id="3" name="Table 2"/>
          <p:cNvGraphicFramePr>
            <a:graphicFrameLocks noGrp="1"/>
          </p:cNvGraphicFramePr>
          <p:nvPr/>
        </p:nvGraphicFramePr>
        <p:xfrm>
          <a:off x="548640" y="1417320"/>
          <a:ext cx="11094413" cy="2448560"/>
        </p:xfrm>
        <a:graphic>
          <a:graphicData uri="http://schemas.openxmlformats.org/drawingml/2006/table">
            <a:tbl>
              <a:tblPr firstRow="0" bandRow="0">
                <a:tableStyleId>{5C22544A-7EE6-4342-B048-85BDC9FD1C3A}</a:tableStyleId>
              </a:tblPr>
              <a:tblGrid>
                <a:gridCol w="1125415"/>
                <a:gridCol w="1219804"/>
                <a:gridCol w="1974922"/>
                <a:gridCol w="2730039"/>
                <a:gridCol w="2446870"/>
                <a:gridCol w="1597363"/>
              </a:tblGrid>
              <a:tr h="614680">
                <a:tc>
                  <a:txBody>
                    <a:bodyPr/>
                    <a:lstStyle/>
                    <a:p>
                      <a:pPr algn="ctr"/>
                      <a:r>
                        <a:rPr sz="1600" b="1">
                          <a:solidFill>
                            <a:srgbClr val="FFFFFF"/>
                          </a:solidFill>
                          <a:latin typeface="Calibri"/>
                        </a:rPr>
                        <a:t>Factores k</a:t>
                      </a:r>
                    </a:p>
                  </a:txBody>
                  <a:tcPr marL="73152" marR="73152" marT="27432" marB="27432" anchor="ctr">
                    <a:solidFill>
                      <a:srgbClr val="0F4C5C"/>
                    </a:solidFill>
                  </a:tcPr>
                </a:tc>
                <a:tc>
                  <a:txBody>
                    <a:bodyPr/>
                    <a:lstStyle/>
                    <a:p>
                      <a:pPr algn="ctr"/>
                      <a:r>
                        <a:rPr sz="1600" b="1">
                          <a:solidFill>
                            <a:srgbClr val="FFFFFF"/>
                          </a:solidFill>
                          <a:latin typeface="Calibri"/>
                        </a:rPr>
                        <a:t>Corridas 2</a:t>
                      </a:r>
                      <a:r>
                        <a:rPr sz="1600" b="1" baseline="30000">
                          <a:solidFill>
                            <a:srgbClr val="FFFFFF"/>
                          </a:solidFill>
                          <a:latin typeface="Calibri"/>
                        </a:rPr>
                        <a:t>k</a:t>
                      </a:r>
                    </a:p>
                  </a:txBody>
                  <a:tcPr marL="73152" marR="73152" marT="27432" marB="27432" anchor="ctr">
                    <a:solidFill>
                      <a:srgbClr val="0F4C5C"/>
                    </a:solidFill>
                  </a:tcPr>
                </a:tc>
                <a:tc>
                  <a:txBody>
                    <a:bodyPr/>
                    <a:lstStyle/>
                    <a:p>
                      <a:pPr algn="ctr"/>
                      <a:r>
                        <a:rPr sz="1600" b="1">
                          <a:solidFill>
                            <a:srgbClr val="FFFFFF"/>
                          </a:solidFill>
                          <a:latin typeface="Calibri"/>
                        </a:rPr>
                        <a:t>Efectos principales</a:t>
                      </a:r>
                    </a:p>
                  </a:txBody>
                  <a:tcPr marL="73152" marR="73152" marT="27432" marB="27432" anchor="ctr">
                    <a:solidFill>
                      <a:srgbClr val="0F4C5C"/>
                    </a:solidFill>
                  </a:tcPr>
                </a:tc>
                <a:tc>
                  <a:txBody>
                    <a:bodyPr/>
                    <a:lstStyle/>
                    <a:p>
                      <a:pPr algn="ctr"/>
                      <a:r>
                        <a:rPr sz="1600" b="1">
                          <a:solidFill>
                            <a:srgbClr val="FFFFFF"/>
                          </a:solidFill>
                          <a:latin typeface="Calibri"/>
                        </a:rPr>
                        <a:t>Interacciones de 2 factores</a:t>
                      </a:r>
                    </a:p>
                  </a:txBody>
                  <a:tcPr marL="73152" marR="73152" marT="27432" marB="27432" anchor="ctr">
                    <a:solidFill>
                      <a:srgbClr val="0F4C5C"/>
                    </a:solidFill>
                  </a:tcPr>
                </a:tc>
                <a:tc>
                  <a:txBody>
                    <a:bodyPr/>
                    <a:lstStyle/>
                    <a:p>
                      <a:pPr algn="ctr"/>
                      <a:r>
                        <a:rPr sz="1600" b="1">
                          <a:solidFill>
                            <a:srgbClr val="FFFFFF"/>
                          </a:solidFill>
                          <a:latin typeface="Calibri"/>
                        </a:rPr>
                        <a:t>Interacciones de 3 o más</a:t>
                      </a:r>
                    </a:p>
                  </a:txBody>
                  <a:tcPr marL="73152" marR="73152" marT="27432" marB="27432" anchor="ctr">
                    <a:solidFill>
                      <a:srgbClr val="0F4C5C"/>
                    </a:solidFill>
                  </a:tcPr>
                </a:tc>
                <a:tc>
                  <a:txBody>
                    <a:bodyPr/>
                    <a:lstStyle/>
                    <a:p>
                      <a:pPr algn="ctr"/>
                      <a:r>
                        <a:rPr sz="1600" b="1">
                          <a:solidFill>
                            <a:srgbClr val="FFFFFF"/>
                          </a:solidFill>
                          <a:latin typeface="Calibri"/>
                        </a:rPr>
                        <a:t>% en orden alto</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6</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33 %</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32</a:t>
                      </a:r>
                    </a:p>
                  </a:txBody>
                  <a:tcPr marL="73152" marR="73152" marT="27432" marB="27432" anchor="ctr">
                    <a:solidFill>
                      <a:srgbClr val="F4F8F9"/>
                    </a:solidFill>
                  </a:tcPr>
                </a:tc>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10</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52 %</a:t>
                      </a:r>
                    </a:p>
                  </a:txBody>
                  <a:tcPr marL="73152" marR="73152" marT="27432" marB="27432" anchor="ctr">
                    <a:solidFill>
                      <a:srgbClr val="F4F8F9"/>
                    </a:solidFill>
                  </a:tcPr>
                </a:tc>
              </a:tr>
              <a:tr h="366776">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64</a:t>
                      </a:r>
                    </a:p>
                  </a:txBody>
                  <a:tcPr marL="73152" marR="73152" marT="27432" marB="27432" anchor="ctr">
                    <a:solidFill>
                      <a:srgbClr val="FDE8D7"/>
                    </a:solidFill>
                  </a:tcPr>
                </a:tc>
                <a:tc>
                  <a:txBody>
                    <a:bodyPr/>
                    <a:lstStyle/>
                    <a:p>
                      <a:pPr algn="ctr"/>
                      <a:r>
                        <a:rPr sz="1600" b="0">
                          <a:solidFill>
                            <a:srgbClr val="142B33"/>
                          </a:solidFill>
                          <a:latin typeface="Calibri"/>
                        </a:rPr>
                        <a:t>6</a:t>
                      </a:r>
                    </a:p>
                  </a:txBody>
                  <a:tcPr marL="73152" marR="73152" marT="27432" marB="27432" anchor="ctr">
                    <a:solidFill>
                      <a:srgbClr val="FDE8D7"/>
                    </a:solidFill>
                  </a:tcPr>
                </a:tc>
                <a:tc>
                  <a:txBody>
                    <a:bodyPr/>
                    <a:lstStyle/>
                    <a:p>
                      <a:pPr algn="ctr"/>
                      <a:r>
                        <a:rPr sz="1600" b="0">
                          <a:solidFill>
                            <a:srgbClr val="142B33"/>
                          </a:solidFill>
                          <a:latin typeface="Calibri"/>
                        </a:rPr>
                        <a:t>15</a:t>
                      </a:r>
                    </a:p>
                  </a:txBody>
                  <a:tcPr marL="73152" marR="73152" marT="27432" marB="27432" anchor="ctr">
                    <a:solidFill>
                      <a:srgbClr val="FDE8D7"/>
                    </a:solidFill>
                  </a:tcPr>
                </a:tc>
                <a:tc>
                  <a:txBody>
                    <a:bodyPr/>
                    <a:lstStyle/>
                    <a:p>
                      <a:pPr algn="ctr"/>
                      <a:r>
                        <a:rPr sz="1600" b="0">
                          <a:solidFill>
                            <a:srgbClr val="142B33"/>
                          </a:solidFill>
                          <a:latin typeface="Calibri"/>
                        </a:rPr>
                        <a:t>42</a:t>
                      </a:r>
                    </a:p>
                  </a:txBody>
                  <a:tcPr marL="73152" marR="73152" marT="27432" marB="27432" anchor="ctr">
                    <a:solidFill>
                      <a:srgbClr val="FDE8D7"/>
                    </a:solidFill>
                  </a:tcPr>
                </a:tc>
                <a:tc>
                  <a:txBody>
                    <a:bodyPr/>
                    <a:lstStyle/>
                    <a:p>
                      <a:pPr algn="ctr"/>
                      <a:r>
                        <a:rPr sz="1600" b="0">
                          <a:solidFill>
                            <a:srgbClr val="142B33"/>
                          </a:solidFill>
                          <a:latin typeface="Calibri"/>
                        </a:rPr>
                        <a:t>67 %</a:t>
                      </a:r>
                    </a:p>
                  </a:txBody>
                  <a:tcPr marL="73152" marR="73152" marT="27432" marB="27432" anchor="ctr">
                    <a:solidFill>
                      <a:srgbClr val="FDE8D7"/>
                    </a:solidFill>
                  </a:tcPr>
                </a:tc>
              </a:tr>
              <a:tr h="366776">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128</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21</a:t>
                      </a:r>
                    </a:p>
                  </a:txBody>
                  <a:tcPr marL="73152" marR="73152" marT="27432" marB="27432" anchor="ctr">
                    <a:solidFill>
                      <a:srgbClr val="F4F8F9"/>
                    </a:solidFill>
                  </a:tcPr>
                </a:tc>
                <a:tc>
                  <a:txBody>
                    <a:bodyPr/>
                    <a:lstStyle/>
                    <a:p>
                      <a:pPr algn="ctr"/>
                      <a:r>
                        <a:rPr sz="1600" b="0">
                          <a:solidFill>
                            <a:srgbClr val="142B33"/>
                          </a:solidFill>
                          <a:latin typeface="Calibri"/>
                        </a:rPr>
                        <a:t>99</a:t>
                      </a:r>
                    </a:p>
                  </a:txBody>
                  <a:tcPr marL="73152" marR="73152" marT="27432" marB="27432" anchor="ctr">
                    <a:solidFill>
                      <a:srgbClr val="F4F8F9"/>
                    </a:solidFill>
                  </a:tcPr>
                </a:tc>
                <a:tc>
                  <a:txBody>
                    <a:bodyPr/>
                    <a:lstStyle/>
                    <a:p>
                      <a:pPr algn="ctr"/>
                      <a:r>
                        <a:rPr sz="1600" b="0">
                          <a:solidFill>
                            <a:srgbClr val="142B33"/>
                          </a:solidFill>
                          <a:latin typeface="Calibri"/>
                        </a:rPr>
                        <a:t>78 %</a:t>
                      </a:r>
                    </a:p>
                  </a:txBody>
                  <a:tcPr marL="73152" marR="73152" marT="27432" marB="27432" anchor="ctr">
                    <a:solidFill>
                      <a:srgbClr val="F4F8F9"/>
                    </a:solidFill>
                  </a:tcPr>
                </a:tc>
              </a:tr>
              <a:tr h="366776">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256</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28</a:t>
                      </a:r>
                    </a:p>
                  </a:txBody>
                  <a:tcPr marL="73152" marR="73152" marT="27432" marB="27432" anchor="ctr">
                    <a:solidFill>
                      <a:srgbClr val="FFFFFF"/>
                    </a:solidFill>
                  </a:tcPr>
                </a:tc>
                <a:tc>
                  <a:txBody>
                    <a:bodyPr/>
                    <a:lstStyle/>
                    <a:p>
                      <a:pPr algn="ctr"/>
                      <a:r>
                        <a:rPr sz="1600" b="0">
                          <a:solidFill>
                            <a:srgbClr val="142B33"/>
                          </a:solidFill>
                          <a:latin typeface="Calibri"/>
                        </a:rPr>
                        <a:t>219</a:t>
                      </a:r>
                    </a:p>
                  </a:txBody>
                  <a:tcPr marL="73152" marR="73152" marT="27432" marB="27432" anchor="ctr">
                    <a:solidFill>
                      <a:srgbClr val="FFFFFF"/>
                    </a:solidFill>
                  </a:tcPr>
                </a:tc>
                <a:tc>
                  <a:txBody>
                    <a:bodyPr/>
                    <a:lstStyle/>
                    <a:p>
                      <a:pPr algn="ctr"/>
                      <a:r>
                        <a:rPr sz="1600" b="0">
                          <a:solidFill>
                            <a:srgbClr val="142B33"/>
                          </a:solidFill>
                          <a:latin typeface="Calibri"/>
                        </a:rPr>
                        <a:t>86 %</a:t>
                      </a:r>
                    </a:p>
                  </a:txBody>
                  <a:tcPr marL="73152" marR="73152" marT="27432" marB="27432" anchor="ctr">
                    <a:solidFill>
                      <a:srgbClr val="FFFFFF"/>
                    </a:solidFill>
                  </a:tcPr>
                </a:tc>
              </a:tr>
            </a:tbl>
          </a:graphicData>
        </a:graphic>
      </p:graphicFrame>
      <p:sp>
        <p:nvSpPr>
          <p:cNvPr id="4" name="Rounded Rectangle 3"/>
          <p:cNvSpPr/>
          <p:nvPr/>
        </p:nvSpPr>
        <p:spPr>
          <a:xfrm>
            <a:off x="548640" y="4067048"/>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En un 2</a:t>
            </a:r>
            <a:r>
              <a:rPr sz="1600" b="0" baseline="30000">
                <a:solidFill>
                  <a:srgbClr val="142B33"/>
                </a:solidFill>
                <a:latin typeface="Calibri"/>
              </a:rPr>
              <a:t>6</a:t>
            </a:r>
            <a:r>
              <a:rPr sz="1600" b="0">
                <a:solidFill>
                  <a:srgbClr val="142B33"/>
                </a:solidFill>
                <a:latin typeface="Calibri"/>
              </a:rPr>
              <a:t>, </a:t>
            </a:r>
            <a:r>
              <a:rPr sz="1600" b="1">
                <a:solidFill>
                  <a:srgbClr val="142B33"/>
                </a:solidFill>
                <a:latin typeface="Calibri"/>
              </a:rPr>
              <a:t>42 de 63</a:t>
            </a:r>
            <a:r>
              <a:rPr sz="1600" b="0">
                <a:solidFill>
                  <a:srgbClr val="142B33"/>
                </a:solidFill>
                <a:latin typeface="Calibri"/>
              </a:rPr>
              <a:t> grados de libertad estiman interacciones de tres o más factores. Si se pueden suponer despreciables, esa es la información que el fraccionado sacrifica.</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a:t>
            </a:r>
          </a:p>
        </p:txBody>
      </p:sp>
      <p:sp>
        <p:nvSpPr>
          <p:cNvPr id="7" name="Rounded Rectangle 6"/>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Tres ideas que justifican correr solo una fracción</a:t>
            </a:r>
          </a:p>
        </p:txBody>
      </p:sp>
      <p:sp>
        <p:nvSpPr>
          <p:cNvPr id="3" name="Rounded Rectangle 2"/>
          <p:cNvSpPr/>
          <p:nvPr/>
        </p:nvSpPr>
        <p:spPr>
          <a:xfrm>
            <a:off x="548640"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Escasez de efectos</a:t>
            </a:r>
          </a:p>
          <a:p>
            <a:pPr algn="l"/>
            <a:r>
              <a:rPr sz="2200" b="0">
                <a:solidFill>
                  <a:srgbClr val="142B33"/>
                </a:solidFill>
                <a:latin typeface="Calibri"/>
              </a:rPr>
              <a:t>De muchos factores, pocos son activos. Dominan los efectos principales y las interacciones de orden bajo.</a:t>
            </a:r>
          </a:p>
        </p:txBody>
      </p:sp>
      <p:sp>
        <p:nvSpPr>
          <p:cNvPr id="4" name="Rounded Rectangle 3"/>
          <p:cNvSpPr/>
          <p:nvPr/>
        </p:nvSpPr>
        <p:spPr>
          <a:xfrm>
            <a:off x="4322978"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Proyección</a:t>
            </a:r>
          </a:p>
          <a:p>
            <a:pPr algn="l"/>
            <a:r>
              <a:rPr sz="2200" b="0">
                <a:solidFill>
                  <a:srgbClr val="142B33"/>
                </a:solidFill>
                <a:latin typeface="Calibri"/>
              </a:rPr>
              <a:t>Al descartar factores inactivos, la fracción se proyecta en un diseño más fuerte en los que quedan, a menudo un factorial completo.</a:t>
            </a:r>
          </a:p>
        </p:txBody>
      </p:sp>
      <p:sp>
        <p:nvSpPr>
          <p:cNvPr id="5" name="Rounded Rectangle 4"/>
          <p:cNvSpPr/>
          <p:nvPr/>
        </p:nvSpPr>
        <p:spPr>
          <a:xfrm>
            <a:off x="8097316" y="1417320"/>
            <a:ext cx="3545738" cy="31247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2400" b="1">
                <a:solidFill>
                  <a:srgbClr val="0F4C5C"/>
                </a:solidFill>
                <a:latin typeface="Cambria"/>
              </a:rPr>
              <a:t>Experimentación secuencial</a:t>
            </a:r>
          </a:p>
          <a:p>
            <a:pPr algn="l"/>
            <a:r>
              <a:rPr sz="2200" b="0">
                <a:solidFill>
                  <a:srgbClr val="142B33"/>
                </a:solidFill>
                <a:latin typeface="Calibri"/>
              </a:rPr>
              <a:t>Se corre una fracción, se analiza y se decide. Dos fracciones se combinan para resolver dudas.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¿Cuándo usar un factorial fraccionado?</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Úselo cuando…</a:t>
            </a:r>
          </a:p>
        </p:txBody>
      </p:sp>
      <p:sp>
        <p:nvSpPr>
          <p:cNvPr id="4" name="TextBox 3"/>
          <p:cNvSpPr txBox="1"/>
          <p:nvPr/>
        </p:nvSpPr>
        <p:spPr>
          <a:xfrm>
            <a:off x="548640"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a:t>
            </a:r>
            <a:r>
              <a:rPr sz="1800" b="1">
                <a:solidFill>
                  <a:srgbClr val="142B33"/>
                </a:solidFill>
                <a:latin typeface="Calibri"/>
              </a:rPr>
              <a:t>muchos factores</a:t>
            </a:r>
            <a:r>
              <a:rPr sz="1800" b="0">
                <a:solidFill>
                  <a:srgbClr val="142B33"/>
                </a:solidFill>
                <a:latin typeface="Calibri"/>
              </a:rPr>
              <a:t> candidatos</a:t>
            </a:r>
          </a:p>
          <a:p>
            <a:pPr marL="320040" indent="-320040">
              <a:spcAft>
                <a:spcPts val="600"/>
              </a:spcAft>
              <a:buClr>
                <a:srgbClr val="E36414"/>
              </a:buClr>
              <a:buFont typeface="Arial"/>
              <a:buChar char="•"/>
            </a:pPr>
            <a:r>
              <a:rPr sz="1800" b="0">
                <a:solidFill>
                  <a:srgbClr val="142B33"/>
                </a:solidFill>
                <a:latin typeface="Calibri"/>
              </a:rPr>
              <a:t>Cada corrida es </a:t>
            </a:r>
            <a:r>
              <a:rPr sz="1800" b="1">
                <a:solidFill>
                  <a:srgbClr val="142B33"/>
                </a:solidFill>
                <a:latin typeface="Calibri"/>
              </a:rPr>
              <a:t>costosa o lenta</a:t>
            </a:r>
          </a:p>
          <a:p>
            <a:pPr marL="320040" indent="-320040">
              <a:spcAft>
                <a:spcPts val="600"/>
              </a:spcAft>
              <a:buClr>
                <a:srgbClr val="E36414"/>
              </a:buClr>
              <a:buFont typeface="Arial"/>
              <a:buChar char="•"/>
            </a:pPr>
            <a:r>
              <a:rPr sz="1800" b="0">
                <a:solidFill>
                  <a:srgbClr val="142B33"/>
                </a:solidFill>
                <a:latin typeface="Calibri"/>
              </a:rPr>
              <a:t>La etapa es </a:t>
            </a:r>
            <a:r>
              <a:rPr sz="1800" b="1">
                <a:solidFill>
                  <a:srgbClr val="142B33"/>
                </a:solidFill>
                <a:latin typeface="Calibri"/>
              </a:rPr>
              <a:t>exploratoria</a:t>
            </a:r>
            <a:r>
              <a:rPr sz="1800" b="0">
                <a:solidFill>
                  <a:srgbClr val="142B33"/>
                </a:solidFill>
                <a:latin typeface="Calibri"/>
              </a:rPr>
              <a:t>: interesa saber qué factores importan</a:t>
            </a:r>
          </a:p>
          <a:p>
            <a:pPr marL="320040" indent="-320040">
              <a:spcAft>
                <a:spcPts val="600"/>
              </a:spcAft>
              <a:buClr>
                <a:srgbClr val="E36414"/>
              </a:buClr>
              <a:buFont typeface="Arial"/>
              <a:buChar char="•"/>
            </a:pPr>
            <a:r>
              <a:rPr sz="1800" b="0">
                <a:solidFill>
                  <a:srgbClr val="142B33"/>
                </a:solidFill>
                <a:latin typeface="Calibri"/>
              </a:rPr>
              <a:t>Es razonable despreciar interacciones de </a:t>
            </a:r>
            <a:r>
              <a:rPr sz="1800" b="1">
                <a:solidFill>
                  <a:srgbClr val="142B33"/>
                </a:solidFill>
                <a:latin typeface="Calibri"/>
              </a:rPr>
              <a:t>tres o más</a:t>
            </a:r>
            <a:r>
              <a:rPr sz="1800" b="0">
                <a:solidFill>
                  <a:srgbClr val="142B33"/>
                </a:solidFill>
                <a:latin typeface="Calibri"/>
              </a:rPr>
              <a:t> factores</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Tenga cuidado cuando…</a:t>
            </a:r>
          </a:p>
        </p:txBody>
      </p:sp>
      <p:sp>
        <p:nvSpPr>
          <p:cNvPr id="6" name="TextBox 5"/>
          <p:cNvSpPr txBox="1"/>
          <p:nvPr/>
        </p:nvSpPr>
        <p:spPr>
          <a:xfrm>
            <a:off x="6301587" y="1964944"/>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Hay pocos factores y el factorial completo es barato</a:t>
            </a:r>
          </a:p>
          <a:p>
            <a:pPr marL="320040" indent="-320040">
              <a:spcAft>
                <a:spcPts val="600"/>
              </a:spcAft>
              <a:buClr>
                <a:srgbClr val="E36414"/>
              </a:buClr>
              <a:buFont typeface="Arial"/>
              <a:buChar char="•"/>
            </a:pPr>
            <a:r>
              <a:rPr sz="1800" b="0">
                <a:solidFill>
                  <a:srgbClr val="142B33"/>
                </a:solidFill>
                <a:latin typeface="Calibri"/>
              </a:rPr>
              <a:t>Se esperan interacciones entre muchos factores</a:t>
            </a:r>
          </a:p>
          <a:p>
            <a:pPr marL="320040" indent="-320040">
              <a:spcAft>
                <a:spcPts val="600"/>
              </a:spcAft>
              <a:buClr>
                <a:srgbClr val="E36414"/>
              </a:buClr>
              <a:buFont typeface="Arial"/>
              <a:buChar char="•"/>
            </a:pPr>
            <a:r>
              <a:rPr sz="1800" b="0">
                <a:solidFill>
                  <a:srgbClr val="142B33"/>
                </a:solidFill>
                <a:latin typeface="Calibri"/>
              </a:rPr>
              <a:t>El objetivo es </a:t>
            </a:r>
            <a:r>
              <a:rPr sz="1800" b="1">
                <a:solidFill>
                  <a:srgbClr val="142B33"/>
                </a:solidFill>
                <a:latin typeface="Calibri"/>
              </a:rPr>
              <a:t>optimizar</a:t>
            </a:r>
            <a:r>
              <a:rPr sz="1800" b="0">
                <a:solidFill>
                  <a:srgbClr val="142B33"/>
                </a:solidFill>
                <a:latin typeface="Calibri"/>
              </a:rPr>
              <a:t>, no tamizar</a:t>
            </a:r>
          </a:p>
          <a:p>
            <a:pPr marL="320040" indent="-320040">
              <a:spcAft>
                <a:spcPts val="600"/>
              </a:spcAft>
              <a:buClr>
                <a:srgbClr val="E36414"/>
              </a:buClr>
              <a:buFont typeface="Arial"/>
              <a:buChar char="•"/>
            </a:pPr>
            <a:r>
              <a:rPr sz="1800" b="0">
                <a:solidFill>
                  <a:srgbClr val="142B33"/>
                </a:solidFill>
                <a:latin typeface="Calibri"/>
              </a:rPr>
              <a:t>No habrá recursos para </a:t>
            </a:r>
            <a:r>
              <a:rPr sz="1800" b="1">
                <a:solidFill>
                  <a:srgbClr val="142B33"/>
                </a:solidFill>
                <a:latin typeface="Calibri"/>
              </a:rPr>
              <a:t>confirmar</a:t>
            </a:r>
            <a:r>
              <a:rPr sz="1800" b="0">
                <a:solidFill>
                  <a:srgbClr val="142B33"/>
                </a:solidFill>
                <a:latin typeface="Calibri"/>
              </a:rPr>
              <a:t> las conclusiones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2</a:t>
            </a:r>
            <a:r>
              <a:rPr sz="3000" b="1" baseline="30000">
                <a:solidFill>
                  <a:srgbClr val="0F4C5C"/>
                </a:solidFill>
                <a:latin typeface="Cambria"/>
              </a:rPr>
              <a:t>k−p</a:t>
            </a:r>
            <a:r>
              <a:rPr sz="3000" b="1">
                <a:solidFill>
                  <a:srgbClr val="0F4C5C"/>
                </a:solidFill>
                <a:latin typeface="Cambria"/>
              </a:rPr>
              <a:t>?</a:t>
            </a:r>
          </a:p>
        </p:txBody>
      </p:sp>
      <p:sp>
        <p:nvSpPr>
          <p:cNvPr id="3" name="Rounded Rectangle 2"/>
          <p:cNvSpPr/>
          <p:nvPr/>
        </p:nvSpPr>
        <p:spPr>
          <a:xfrm>
            <a:off x="548640" y="1417320"/>
            <a:ext cx="4914150" cy="121139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5400" b="0">
                <a:solidFill>
                  <a:srgbClr val="0F4C5C"/>
                </a:solidFill>
                <a:latin typeface="Cambria Math"/>
              </a:rPr>
              <a:t>2</a:t>
            </a:r>
            <a:r>
              <a:rPr sz="5400" b="0" baseline="30000">
                <a:solidFill>
                  <a:srgbClr val="0F4C5C"/>
                </a:solidFill>
                <a:latin typeface="Cambria Math"/>
              </a:rPr>
              <a:t>k−p</a:t>
            </a:r>
          </a:p>
        </p:txBody>
      </p:sp>
      <p:sp>
        <p:nvSpPr>
          <p:cNvPr id="4" name="TextBox 3"/>
          <p:cNvSpPr txBox="1"/>
          <p:nvPr/>
        </p:nvSpPr>
        <p:spPr>
          <a:xfrm>
            <a:off x="548640" y="2829885"/>
            <a:ext cx="4914150" cy="18059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2</a:t>
            </a:r>
            <a:r>
              <a:rPr sz="1800" b="0">
                <a:solidFill>
                  <a:srgbClr val="142B33"/>
                </a:solidFill>
                <a:latin typeface="Calibri"/>
              </a:rPr>
              <a:t>: niveles de cada factor (−1 y +1)</a:t>
            </a:r>
          </a:p>
          <a:p>
            <a:pPr marL="320040" indent="-320040">
              <a:spcAft>
                <a:spcPts val="600"/>
              </a:spcAft>
              <a:buClr>
                <a:srgbClr val="E36414"/>
              </a:buClr>
              <a:buFont typeface="Arial"/>
              <a:buChar char="•"/>
            </a:pPr>
            <a:r>
              <a:rPr sz="1800" b="1">
                <a:solidFill>
                  <a:srgbClr val="142B33"/>
                </a:solidFill>
                <a:latin typeface="Calibri"/>
              </a:rPr>
              <a:t>k</a:t>
            </a:r>
            <a:r>
              <a:rPr sz="1800" b="0">
                <a:solidFill>
                  <a:srgbClr val="142B33"/>
                </a:solidFill>
                <a:latin typeface="Calibri"/>
              </a:rPr>
              <a:t>: número de factores</a:t>
            </a:r>
          </a:p>
          <a:p>
            <a:pPr marL="320040" indent="-320040">
              <a:spcAft>
                <a:spcPts val="600"/>
              </a:spcAft>
              <a:buClr>
                <a:srgbClr val="E36414"/>
              </a:buClr>
              <a:buFont typeface="Arial"/>
              <a:buChar char="•"/>
            </a:pPr>
            <a:r>
              <a:rPr sz="1800" b="1">
                <a:solidFill>
                  <a:srgbClr val="142B33"/>
                </a:solidFill>
                <a:latin typeface="Calibri"/>
              </a:rPr>
              <a:t>p</a:t>
            </a:r>
            <a:r>
              <a:rPr sz="1800" b="0">
                <a:solidFill>
                  <a:srgbClr val="142B33"/>
                </a:solidFill>
                <a:latin typeface="Calibri"/>
              </a:rPr>
              <a:t>: número de generadores</a:t>
            </a:r>
          </a:p>
          <a:p>
            <a:pPr marL="320040" indent="-320040">
              <a:spcAft>
                <a:spcPts val="600"/>
              </a:spcAft>
              <a:buClr>
                <a:srgbClr val="E36414"/>
              </a:buClr>
              <a:buFont typeface="Arial"/>
              <a:buChar char="•"/>
            </a:pPr>
            <a:r>
              <a:rPr sz="1800" b="1">
                <a:solidFill>
                  <a:srgbClr val="142B33"/>
                </a:solidFill>
                <a:latin typeface="Calibri"/>
              </a:rPr>
              <a:t>N = 2</a:t>
            </a:r>
            <a:r>
              <a:rPr sz="1800" b="1" baseline="30000">
                <a:solidFill>
                  <a:srgbClr val="142B33"/>
                </a:solidFill>
                <a:latin typeface="Calibri"/>
              </a:rPr>
              <a:t>k−p</a:t>
            </a:r>
            <a:r>
              <a:rPr sz="1800" b="0">
                <a:solidFill>
                  <a:srgbClr val="142B33"/>
                </a:solidFill>
                <a:latin typeface="Calibri"/>
              </a:rPr>
              <a:t>: número de corridas</a:t>
            </a:r>
          </a:p>
          <a:p>
            <a:pPr marL="320040" indent="-320040">
              <a:spcAft>
                <a:spcPts val="600"/>
              </a:spcAft>
              <a:buClr>
                <a:srgbClr val="E36414"/>
              </a:buClr>
              <a:buFont typeface="Arial"/>
              <a:buChar char="•"/>
            </a:pPr>
            <a:r>
              <a:rPr sz="1800" b="0">
                <a:solidFill>
                  <a:srgbClr val="142B33"/>
                </a:solidFill>
                <a:latin typeface="Calibri"/>
              </a:rPr>
              <a:t>Fracción </a:t>
            </a:r>
            <a:r>
              <a:rPr sz="1800" b="1">
                <a:solidFill>
                  <a:srgbClr val="142B33"/>
                </a:solidFill>
                <a:latin typeface="Calibri"/>
              </a:rPr>
              <a:t>1/2</a:t>
            </a:r>
            <a:r>
              <a:rPr sz="1800" b="1" baseline="30000">
                <a:solidFill>
                  <a:srgbClr val="142B33"/>
                </a:solidFill>
                <a:latin typeface="Calibri"/>
              </a:rPr>
              <a:t>p</a:t>
            </a:r>
            <a:r>
              <a:rPr sz="1800" b="0">
                <a:solidFill>
                  <a:srgbClr val="142B33"/>
                </a:solidFill>
                <a:latin typeface="Calibri"/>
              </a:rPr>
              <a:t> del factorial completo</a:t>
            </a:r>
          </a:p>
        </p:txBody>
      </p:sp>
      <p:graphicFrame>
        <p:nvGraphicFramePr>
          <p:cNvPr id="5" name="Table 4"/>
          <p:cNvGraphicFramePr>
            <a:graphicFrameLocks noGrp="1"/>
          </p:cNvGraphicFramePr>
          <p:nvPr/>
        </p:nvGraphicFramePr>
        <p:xfrm>
          <a:off x="5874270" y="1417320"/>
          <a:ext cx="5768782" cy="2200656"/>
        </p:xfrm>
        <a:graphic>
          <a:graphicData uri="http://schemas.openxmlformats.org/drawingml/2006/table">
            <a:tbl>
              <a:tblPr firstRow="0" bandRow="0">
                <a:tableStyleId>{5C22544A-7EE6-4342-B048-85BDC9FD1C3A}</a:tableStyleId>
              </a:tblPr>
              <a:tblGrid>
                <a:gridCol w="959910"/>
                <a:gridCol w="1202218"/>
                <a:gridCol w="1202218"/>
                <a:gridCol w="1202218"/>
                <a:gridCol w="1202218"/>
              </a:tblGrid>
              <a:tr h="366776">
                <a:tc>
                  <a:txBody>
                    <a:bodyPr/>
                    <a:lstStyle/>
                    <a:p>
                      <a:pPr algn="ctr"/>
                      <a:r>
                        <a:rPr sz="1600" b="1">
                          <a:solidFill>
                            <a:srgbClr val="FFFFFF"/>
                          </a:solidFill>
                          <a:latin typeface="Calibri"/>
                        </a:rPr>
                        <a:t>Diseño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c>
                  <a:txBody>
                    <a:bodyPr/>
                    <a:lstStyle/>
                    <a:p>
                      <a:pPr algn="ctr"/>
                      <a:r>
                        <a:rPr sz="1600" b="1">
                          <a:solidFill>
                            <a:srgbClr val="FFFFFF"/>
                          </a:solidFill>
                          <a:latin typeface="Calibri"/>
                        </a:rPr>
                        <a:t>Completo</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3−1</a:t>
                      </a:r>
                    </a:p>
                  </a:txBody>
                  <a:tcPr marL="73152" marR="73152" marT="27432" marB="27432" anchor="ctr">
                    <a:solidFill>
                      <a:srgbClr val="FFFFFF"/>
                    </a:solidFill>
                  </a:tcPr>
                </a:tc>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p>
                  </a:txBody>
                  <a:tcPr marL="73152" marR="73152" marT="27432" marB="27432" anchor="ctr">
                    <a:solidFill>
                      <a:srgbClr val="F4F8F9"/>
                    </a:solidFill>
                  </a:tcPr>
                </a:tc>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1/2</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5−1</a:t>
                      </a:r>
                    </a:p>
                  </a:txBody>
                  <a:tcPr marL="73152" marR="73152" marT="27432" marB="27432" anchor="ctr">
                    <a:solidFill>
                      <a:srgbClr val="FFFFFF"/>
                    </a:solidFill>
                  </a:tcPr>
                </a:tc>
                <a:tc>
                  <a:txBody>
                    <a:bodyPr/>
                    <a:lstStyle/>
                    <a:p>
                      <a:pPr algn="ctr"/>
                      <a:r>
                        <a:rPr sz="1600" b="0">
                          <a:solidFill>
                            <a:srgbClr val="142B33"/>
                          </a:solidFill>
                          <a:latin typeface="Calibri"/>
                        </a:rPr>
                        <a:t>5</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1/2</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6−2</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c>
                  <a:txBody>
                    <a:bodyPr/>
                    <a:lstStyle/>
                    <a:p>
                      <a:pPr algn="ctr"/>
                      <a:r>
                        <a:rPr sz="1600" b="0">
                          <a:solidFill>
                            <a:srgbClr val="142B33"/>
                          </a:solidFill>
                          <a:latin typeface="Calibri"/>
                        </a:rPr>
                        <a:t>1/4</a:t>
                      </a:r>
                    </a:p>
                  </a:txBody>
                  <a:tcPr marL="73152" marR="73152" marT="27432" marB="27432" anchor="ctr">
                    <a:solidFill>
                      <a:srgbClr val="F4F8F9"/>
                    </a:solidFill>
                  </a:tcPr>
                </a:tc>
                <a:tc>
                  <a:txBody>
                    <a:bodyPr/>
                    <a:lstStyle/>
                    <a:p>
                      <a:pPr algn="ctr"/>
                      <a:r>
                        <a:rPr sz="1600" b="0">
                          <a:solidFill>
                            <a:srgbClr val="142B33"/>
                          </a:solidFill>
                          <a:latin typeface="Calibri"/>
                        </a:rPr>
                        <a:t>64</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7−4</a:t>
                      </a:r>
                    </a:p>
                  </a:txBody>
                  <a:tcPr marL="73152" marR="73152" marT="27432" marB="27432" anchor="ctr">
                    <a:solidFill>
                      <a:srgbClr val="FFFFFF"/>
                    </a:solidFill>
                  </a:tcPr>
                </a:tc>
                <a:tc>
                  <a:txBody>
                    <a:bodyPr/>
                    <a:lstStyle/>
                    <a:p>
                      <a:pPr algn="ctr"/>
                      <a:r>
                        <a:rPr sz="1600" b="0">
                          <a:solidFill>
                            <a:srgbClr val="142B33"/>
                          </a:solidFill>
                          <a:latin typeface="Calibri"/>
                        </a:rPr>
                        <a:t>7</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c>
                  <a:txBody>
                    <a:bodyPr/>
                    <a:lstStyle/>
                    <a:p>
                      <a:pPr algn="ctr"/>
                      <a:r>
                        <a:rPr sz="1600" b="0">
                          <a:solidFill>
                            <a:srgbClr val="142B33"/>
                          </a:solidFill>
                          <a:latin typeface="Calibri"/>
                        </a:rPr>
                        <a:t>1/16</a:t>
                      </a:r>
                    </a:p>
                  </a:txBody>
                  <a:tcPr marL="73152" marR="73152" marT="27432" marB="27432" anchor="ctr">
                    <a:solidFill>
                      <a:srgbClr val="FFFFFF"/>
                    </a:solidFill>
                  </a:tcPr>
                </a:tc>
                <a:tc>
                  <a:txBody>
                    <a:bodyPr/>
                    <a:lstStyle/>
                    <a:p>
                      <a:pPr algn="ctr"/>
                      <a:r>
                        <a:rPr sz="1600" b="0">
                          <a:solidFill>
                            <a:srgbClr val="142B33"/>
                          </a:solidFill>
                          <a:latin typeface="Calibri"/>
                        </a:rPr>
                        <a:t>128</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Vocabulario propio del diseño</a:t>
            </a:r>
          </a:p>
        </p:txBody>
      </p:sp>
      <p:graphicFrame>
        <p:nvGraphicFramePr>
          <p:cNvPr id="3" name="Table 2"/>
          <p:cNvGraphicFramePr>
            <a:graphicFrameLocks noGrp="1"/>
          </p:cNvGraphicFramePr>
          <p:nvPr/>
        </p:nvGraphicFramePr>
        <p:xfrm>
          <a:off x="548640" y="1417320"/>
          <a:ext cx="11094414" cy="3300984"/>
        </p:xfrm>
        <a:graphic>
          <a:graphicData uri="http://schemas.openxmlformats.org/drawingml/2006/table">
            <a:tbl>
              <a:tblPr firstRow="0" bandRow="0">
                <a:tableStyleId>{5C22544A-7EE6-4342-B048-85BDC9FD1C3A}</a:tableStyleId>
              </a:tblPr>
              <a:tblGrid>
                <a:gridCol w="2884547"/>
                <a:gridCol w="8209867"/>
              </a:tblGrid>
              <a:tr h="366776">
                <a:tc>
                  <a:txBody>
                    <a:bodyPr/>
                    <a:lstStyle/>
                    <a:p>
                      <a:pPr algn="l"/>
                      <a:r>
                        <a:rPr sz="1600" b="1">
                          <a:solidFill>
                            <a:srgbClr val="FFFFFF"/>
                          </a:solidFill>
                          <a:latin typeface="Calibri"/>
                        </a:rPr>
                        <a:t>Término</a:t>
                      </a:r>
                    </a:p>
                  </a:txBody>
                  <a:tcPr marL="73152" marR="73152" marT="27432" marB="27432" anchor="ctr">
                    <a:solidFill>
                      <a:srgbClr val="0F4C5C"/>
                    </a:solidFill>
                  </a:tcPr>
                </a:tc>
                <a:tc>
                  <a:txBody>
                    <a:bodyPr/>
                    <a:lstStyle/>
                    <a:p>
                      <a:pPr algn="l"/>
                      <a:r>
                        <a:rPr sz="1600" b="1">
                          <a:solidFill>
                            <a:srgbClr val="FFFFFF"/>
                          </a:solidFill>
                          <a:latin typeface="Calibri"/>
                        </a:rPr>
                        <a:t>Significado</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a:t>
                      </a:r>
                    </a:p>
                  </a:txBody>
                  <a:tcPr marL="73152" marR="73152" marT="27432" marB="27432" anchor="ctr">
                    <a:solidFill>
                      <a:srgbClr val="FFFFFF"/>
                    </a:solidFill>
                  </a:tcPr>
                </a:tc>
                <a:tc>
                  <a:txBody>
                    <a:bodyPr/>
                    <a:lstStyle/>
                    <a:p>
                      <a:pPr algn="l"/>
                      <a:r>
                        <a:rPr sz="1600" b="0">
                          <a:solidFill>
                            <a:srgbClr val="142B33"/>
                          </a:solidFill>
                          <a:latin typeface="Calibri"/>
                        </a:rPr>
                        <a:t>Interacción que define la fracción: ABCD en I = ABCD (equivale a D = ABC)</a:t>
                      </a:r>
                    </a:p>
                  </a:txBody>
                  <a:tcPr marL="73152" marR="73152" marT="27432" marB="27432" anchor="ctr">
                    <a:solidFill>
                      <a:srgbClr val="FFFFFF"/>
                    </a:solidFill>
                  </a:tcPr>
                </a:tc>
              </a:tr>
              <a:tr h="366776">
                <a:tc>
                  <a:txBody>
                    <a:bodyPr/>
                    <a:lstStyle/>
                    <a:p>
                      <a:pPr algn="l"/>
                      <a:r>
                        <a:rPr sz="1600" b="0">
                          <a:solidFill>
                            <a:srgbClr val="142B33"/>
                          </a:solidFill>
                          <a:latin typeface="Calibri"/>
                        </a:rPr>
                        <a:t>Palabra</a:t>
                      </a:r>
                    </a:p>
                  </a:txBody>
                  <a:tcPr marL="73152" marR="73152" marT="27432" marB="27432" anchor="ctr">
                    <a:solidFill>
                      <a:srgbClr val="F4F8F9"/>
                    </a:solidFill>
                  </a:tcPr>
                </a:tc>
                <a:tc>
                  <a:txBody>
                    <a:bodyPr/>
                    <a:lstStyle/>
                    <a:p>
                      <a:pPr algn="l"/>
                      <a:r>
                        <a:rPr sz="1600" b="0">
                          <a:solidFill>
                            <a:srgbClr val="142B33"/>
                          </a:solidFill>
                          <a:latin typeface="Calibri"/>
                        </a:rPr>
                        <a:t>Cada interacción de la relación de definición: generadores y sus productos</a:t>
                      </a:r>
                    </a:p>
                  </a:txBody>
                  <a:tcPr marL="73152" marR="73152" marT="27432" marB="27432" anchor="ctr">
                    <a:solidFill>
                      <a:srgbClr val="F4F8F9"/>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FFFFF"/>
                    </a:solidFill>
                  </a:tcPr>
                </a:tc>
                <a:tc>
                  <a:txBody>
                    <a:bodyPr/>
                    <a:lstStyle/>
                    <a:p>
                      <a:pPr algn="l"/>
                      <a:r>
                        <a:rPr sz="1600" b="0">
                          <a:solidFill>
                            <a:srgbClr val="142B33"/>
                          </a:solidFill>
                          <a:latin typeface="Calibri"/>
                        </a:rPr>
                        <a:t>El conjunto de todas las palabras, que son iguales a la identidad I</a:t>
                      </a:r>
                    </a:p>
                  </a:txBody>
                  <a:tcPr marL="73152" marR="73152" marT="27432" marB="27432" anchor="ctr">
                    <a:solidFill>
                      <a:srgbClr val="FFFFFF"/>
                    </a:solidFill>
                  </a:tcPr>
                </a:tc>
              </a:tr>
              <a:tr h="366776">
                <a:tc>
                  <a:txBody>
                    <a:bodyPr/>
                    <a:lstStyle/>
                    <a:p>
                      <a:pPr algn="l"/>
                      <a:r>
                        <a:rPr sz="1600" b="0">
                          <a:solidFill>
                            <a:srgbClr val="142B33"/>
                          </a:solidFill>
                          <a:latin typeface="Calibri"/>
                        </a:rPr>
                        <a:t>Alias</a:t>
                      </a:r>
                    </a:p>
                  </a:txBody>
                  <a:tcPr marL="73152" marR="73152" marT="27432" marB="27432" anchor="ctr">
                    <a:solidFill>
                      <a:srgbClr val="F4F8F9"/>
                    </a:solidFill>
                  </a:tcPr>
                </a:tc>
                <a:tc>
                  <a:txBody>
                    <a:bodyPr/>
                    <a:lstStyle/>
                    <a:p>
                      <a:pPr algn="l"/>
                      <a:r>
                        <a:rPr sz="1600" b="0">
                          <a:solidFill>
                            <a:srgbClr val="142B33"/>
                          </a:solidFill>
                          <a:latin typeface="Calibri"/>
                        </a:rPr>
                        <a:t>Efectos que comparten columna de signos (igual u opuesta) y no se distinguen</a:t>
                      </a:r>
                    </a:p>
                  </a:txBody>
                  <a:tcPr marL="73152" marR="73152" marT="27432" marB="27432" anchor="ctr">
                    <a:solidFill>
                      <a:srgbClr val="F4F8F9"/>
                    </a:solidFill>
                  </a:tcPr>
                </a:tc>
              </a:tr>
              <a:tr h="366776">
                <a:tc>
                  <a:txBody>
                    <a:bodyPr/>
                    <a:lstStyle/>
                    <a:p>
                      <a:pPr algn="l"/>
                      <a:r>
                        <a:rPr sz="1600" b="0">
                          <a:solidFill>
                            <a:srgbClr val="142B33"/>
                          </a:solidFill>
                          <a:latin typeface="Calibri"/>
                        </a:rPr>
                        <a:t>Fracción principal</a:t>
                      </a:r>
                    </a:p>
                  </a:txBody>
                  <a:tcPr marL="73152" marR="73152" marT="27432" marB="27432" anchor="ctr">
                    <a:solidFill>
                      <a:srgbClr val="FFFFFF"/>
                    </a:solidFill>
                  </a:tcPr>
                </a:tc>
                <a:tc>
                  <a:txBody>
                    <a:bodyPr/>
                    <a:lstStyle/>
                    <a:p>
                      <a:pPr algn="l"/>
                      <a:r>
                        <a:rPr sz="1600" b="0">
                          <a:solidFill>
                            <a:srgbClr val="142B33"/>
                          </a:solidFill>
                          <a:latin typeface="Calibri"/>
                        </a:rPr>
                        <a:t>La que usa todos los generadores con signo +</a:t>
                      </a:r>
                    </a:p>
                  </a:txBody>
                  <a:tcPr marL="73152" marR="73152" marT="27432" marB="27432" anchor="ctr">
                    <a:solidFill>
                      <a:srgbClr val="FFFFFF"/>
                    </a:solidFill>
                  </a:tcPr>
                </a:tc>
              </a:tr>
              <a:tr h="366776">
                <a:tc>
                  <a:txBody>
                    <a:bodyPr/>
                    <a:lstStyle/>
                    <a:p>
                      <a:pPr algn="l"/>
                      <a:r>
                        <a:rPr sz="1600" b="0">
                          <a:solidFill>
                            <a:srgbClr val="142B33"/>
                          </a:solidFill>
                          <a:latin typeface="Calibri"/>
                        </a:rPr>
                        <a:t>Fracción alterna</a:t>
                      </a:r>
                    </a:p>
                  </a:txBody>
                  <a:tcPr marL="73152" marR="73152" marT="27432" marB="27432" anchor="ctr">
                    <a:solidFill>
                      <a:srgbClr val="F4F8F9"/>
                    </a:solidFill>
                  </a:tcPr>
                </a:tc>
                <a:tc>
                  <a:txBody>
                    <a:bodyPr/>
                    <a:lstStyle/>
                    <a:p>
                      <a:pPr algn="l"/>
                      <a:r>
                        <a:rPr sz="1600" b="0">
                          <a:solidFill>
                            <a:srgbClr val="142B33"/>
                          </a:solidFill>
                          <a:latin typeface="Calibri"/>
                        </a:rPr>
                        <a:t>Cualquier otra de la misma familia (algún generador con signo −)</a:t>
                      </a:r>
                    </a:p>
                  </a:txBody>
                  <a:tcPr marL="73152" marR="73152" marT="27432" marB="27432" anchor="ctr">
                    <a:solidFill>
                      <a:srgbClr val="F4F8F9"/>
                    </a:solidFill>
                  </a:tcPr>
                </a:tc>
              </a:tr>
              <a:tr h="366776">
                <a:tc>
                  <a:txBody>
                    <a:bodyPr/>
                    <a:lstStyle/>
                    <a:p>
                      <a:pPr algn="l"/>
                      <a:r>
                        <a:rPr sz="1600" b="0">
                          <a:solidFill>
                            <a:srgbClr val="142B33"/>
                          </a:solidFill>
                          <a:latin typeface="Calibri"/>
                        </a:rPr>
                        <a:t>Diseño básico</a:t>
                      </a:r>
                    </a:p>
                  </a:txBody>
                  <a:tcPr marL="73152" marR="73152" marT="27432" marB="27432" anchor="ctr">
                    <a:solidFill>
                      <a:srgbClr val="FFFFFF"/>
                    </a:solidFill>
                  </a:tcPr>
                </a:tc>
                <a:tc>
                  <a:txBody>
                    <a:bodyPr/>
                    <a:lstStyle/>
                    <a:p>
                      <a:pPr algn="l"/>
                      <a:r>
                        <a:rPr sz="1600" b="0">
                          <a:solidFill>
                            <a:srgbClr val="142B33"/>
                          </a:solidFill>
                          <a:latin typeface="Calibri"/>
                        </a:rPr>
                        <a:t>Factorial completo en k − p factores sobre el que se construye</a:t>
                      </a:r>
                    </a:p>
                  </a:txBody>
                  <a:tcPr marL="73152" marR="73152" marT="27432" marB="27432" anchor="ctr">
                    <a:solidFill>
                      <a:srgbClr val="FFFFFF"/>
                    </a:solidFill>
                  </a:tcPr>
                </a:tc>
              </a:tr>
              <a:tr h="366776">
                <a:tc>
                  <a:txBody>
                    <a:bodyPr/>
                    <a:lstStyle/>
                    <a:p>
                      <a:pPr algn="l"/>
                      <a:r>
                        <a:rPr sz="1600" b="0">
                          <a:solidFill>
                            <a:srgbClr val="142B33"/>
                          </a:solidFill>
                          <a:latin typeface="Calibri"/>
                        </a:rPr>
                        <a:t>Diseño saturado</a:t>
                      </a:r>
                    </a:p>
                  </a:txBody>
                  <a:tcPr marL="73152" marR="73152" marT="27432" marB="27432" anchor="ctr">
                    <a:solidFill>
                      <a:srgbClr val="F4F8F9"/>
                    </a:solidFill>
                  </a:tcPr>
                </a:tc>
                <a:tc>
                  <a:txBody>
                    <a:bodyPr/>
                    <a:lstStyle/>
                    <a:p>
                      <a:pPr algn="l"/>
                      <a:r>
                        <a:rPr sz="1600" b="0">
                          <a:solidFill>
                            <a:srgbClr val="142B33"/>
                          </a:solidFill>
                          <a:latin typeface="Calibri"/>
                        </a:rPr>
                        <a:t>Estudia k = N − 1 factores en N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a:t>
            </a:r>
          </a:p>
        </p:txBody>
      </p:sp>
      <p:sp>
        <p:nvSpPr>
          <p:cNvPr id="6" name="Rounded Rectangle 5"/>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lee la tabla de un factorial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9" cy="3626358"/>
        </p:xfrm>
        <a:graphic>
          <a:graphicData uri="http://schemas.openxmlformats.org/drawingml/2006/table">
            <a:tbl>
              <a:tblPr firstRow="0" bandRow="0">
                <a:tableStyleId>{5C22544A-7EE6-4342-B048-85BDC9FD1C3A}</a:tableStyleId>
              </a:tblPr>
              <a:tblGrid>
                <a:gridCol w="777717"/>
                <a:gridCol w="538419"/>
                <a:gridCol w="538419"/>
                <a:gridCol w="538419"/>
                <a:gridCol w="897366"/>
                <a:gridCol w="2692099"/>
              </a:tblGrid>
              <a:tr h="58369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Etiqueta</a:t>
                      </a:r>
                    </a:p>
                  </a:txBody>
                  <a:tcPr marL="73152" marR="73152" marT="27432" marB="27432" anchor="ctr">
                    <a:solidFill>
                      <a:srgbClr val="0F4C5C"/>
                    </a:solidFill>
                  </a:tcPr>
                </a:tc>
                <a:tc>
                  <a:txBody>
                    <a:bodyPr/>
                    <a:lstStyle/>
                    <a:p>
                      <a:pPr algn="ctr"/>
                      <a:r>
                        <a:rPr sz="1500" b="1">
                          <a:solidFill>
                            <a:srgbClr val="FFFFFF"/>
                          </a:solidFill>
                          <a:latin typeface="Calibri"/>
                        </a:rPr>
                        <a:t>Factores en nivel alto</a:t>
                      </a:r>
                    </a:p>
                  </a:txBody>
                  <a:tcPr marL="73152" marR="73152" marT="27432" marB="27432" anchor="ctr">
                    <a:solidFill>
                      <a:srgbClr val="0F4C5C"/>
                    </a:solidFill>
                  </a:tcPr>
                </a:tc>
              </a:tr>
              <a:tr h="58369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ninguno (todos en nivel bajo)</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A y B</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A y C</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B y C</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A, B y C</a:t>
                      </a:r>
                    </a:p>
                  </a:txBody>
                  <a:tcPr marL="73152" marR="73152" marT="27432" marB="27432" anchor="ctr">
                    <a:solidFill>
                      <a:srgbClr val="F4F8F9"/>
                    </a:solidFill>
                  </a:tcPr>
                </a:tc>
              </a:tr>
            </a:tbl>
          </a:graphicData>
        </a:graphic>
      </p:graphicFrame>
      <p:sp>
        <p:nvSpPr>
          <p:cNvPr id="4" name="TextBox 3"/>
          <p:cNvSpPr txBox="1"/>
          <p:nvPr/>
        </p:nvSpPr>
        <p:spPr>
          <a:xfrm>
            <a:off x="6942563" y="1417320"/>
            <a:ext cx="4700491" cy="32207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Columnas, mayúsculas</a:t>
            </a:r>
            <a:r>
              <a:rPr sz="1600" b="0">
                <a:solidFill>
                  <a:srgbClr val="142B33"/>
                </a:solidFill>
                <a:latin typeface="Calibri"/>
              </a:rPr>
              <a:t>: los factores A, B, C (y sus efectos)</a:t>
            </a:r>
          </a:p>
          <a:p>
            <a:pPr marL="320040" indent="-320040">
              <a:spcAft>
                <a:spcPts val="600"/>
              </a:spcAft>
              <a:buClr>
                <a:srgbClr val="E36414"/>
              </a:buClr>
              <a:buFont typeface="Arial"/>
              <a:buChar char="•"/>
            </a:pPr>
            <a:r>
              <a:rPr sz="1600" b="1">
                <a:solidFill>
                  <a:srgbClr val="142B33"/>
                </a:solidFill>
                <a:latin typeface="Calibri"/>
              </a:rPr>
              <a:t>Filas, minúsculas</a:t>
            </a:r>
            <a:r>
              <a:rPr sz="1600" b="0">
                <a:solidFill>
                  <a:srgbClr val="142B33"/>
                </a:solidFill>
                <a:latin typeface="Calibri"/>
              </a:rPr>
              <a:t>: las combinaciones de tratamientos</a:t>
            </a:r>
          </a:p>
          <a:p>
            <a:pPr marL="320040" indent="-320040">
              <a:spcAft>
                <a:spcPts val="600"/>
              </a:spcAft>
              <a:buClr>
                <a:srgbClr val="E36414"/>
              </a:buClr>
              <a:buFont typeface="Arial"/>
              <a:buChar char="•"/>
            </a:pPr>
            <a:r>
              <a:rPr sz="1600" b="0">
                <a:solidFill>
                  <a:srgbClr val="142B33"/>
                </a:solidFill>
                <a:latin typeface="Calibri"/>
              </a:rPr>
              <a:t>Letra </a:t>
            </a:r>
            <a:r>
              <a:rPr sz="1600" b="1">
                <a:solidFill>
                  <a:srgbClr val="142B33"/>
                </a:solidFill>
                <a:latin typeface="Calibri"/>
              </a:rPr>
              <a:t>presente</a:t>
            </a:r>
            <a:r>
              <a:rPr sz="1600" b="0">
                <a:solidFill>
                  <a:srgbClr val="142B33"/>
                </a:solidFill>
                <a:latin typeface="Calibri"/>
              </a:rPr>
              <a:t> = factor en nivel alto (+); </a:t>
            </a:r>
            <a:r>
              <a:rPr sz="1600" b="1">
                <a:solidFill>
                  <a:srgbClr val="142B33"/>
                </a:solidFill>
                <a:latin typeface="Calibri"/>
              </a:rPr>
              <a:t>ausente</a:t>
            </a:r>
            <a:r>
              <a:rPr sz="1600" b="0">
                <a:solidFill>
                  <a:srgbClr val="142B33"/>
                </a:solidFill>
                <a:latin typeface="Calibri"/>
              </a:rPr>
              <a:t> = nivel bajo (−)</a:t>
            </a:r>
          </a:p>
          <a:p>
            <a:pPr marL="320040" indent="-320040">
              <a:spcAft>
                <a:spcPts val="600"/>
              </a:spcAft>
              <a:buClr>
                <a:srgbClr val="E36414"/>
              </a:buClr>
              <a:buFont typeface="Arial"/>
              <a:buChar char="•"/>
            </a:pPr>
            <a:r>
              <a:rPr sz="1600" b="1">
                <a:solidFill>
                  <a:srgbClr val="142B33"/>
                </a:solidFill>
                <a:latin typeface="Calibri"/>
              </a:rPr>
              <a:t>(1)</a:t>
            </a:r>
            <a:r>
              <a:rPr sz="1600" b="0">
                <a:solidFill>
                  <a:srgbClr val="142B33"/>
                </a:solidFill>
                <a:latin typeface="Calibri"/>
              </a:rPr>
              <a:t> = todos los factores en nivel bajo</a:t>
            </a:r>
          </a:p>
          <a:p>
            <a:pPr marL="320040" indent="-320040">
              <a:spcAft>
                <a:spcPts val="600"/>
              </a:spcAft>
              <a:buClr>
                <a:srgbClr val="E36414"/>
              </a:buClr>
              <a:buFont typeface="Arial"/>
              <a:buChar char="•"/>
            </a:pPr>
            <a:r>
              <a:rPr sz="1600" b="1">
                <a:solidFill>
                  <a:srgbClr val="142B33"/>
                </a:solidFill>
                <a:latin typeface="Calibri"/>
              </a:rPr>
              <a:t>Orden estándar (Yates)</a:t>
            </a:r>
            <a:r>
              <a:rPr sz="1600" b="0">
                <a:solidFill>
                  <a:srgbClr val="142B33"/>
                </a:solidFill>
                <a:latin typeface="Calibri"/>
              </a:rPr>
              <a:t>: A alterna de uno en uno, B de dos en dos, C de cuatro en cuatro</a:t>
            </a:r>
          </a:p>
          <a:p>
            <a:pPr marL="320040" indent="-320040">
              <a:spcAft>
                <a:spcPts val="600"/>
              </a:spcAft>
              <a:buClr>
                <a:srgbClr val="E36414"/>
              </a:buClr>
              <a:buFont typeface="Arial"/>
              <a:buChar char="•"/>
            </a:pPr>
            <a:r>
              <a:rPr sz="1600" b="0">
                <a:solidFill>
                  <a:srgbClr val="142B33"/>
                </a:solidFill>
                <a:latin typeface="Calibri"/>
              </a:rPr>
              <a:t>La minúscula también denota la </a:t>
            </a:r>
            <a:r>
              <a:rPr sz="1600" b="1">
                <a:solidFill>
                  <a:srgbClr val="142B33"/>
                </a:solidFill>
                <a:latin typeface="Calibri"/>
              </a:rPr>
              <a:t>respuesta observada</a:t>
            </a:r>
            <a:r>
              <a:rPr sz="1600" b="0">
                <a:solidFill>
                  <a:srgbClr val="142B33"/>
                </a:solidFill>
                <a:latin typeface="Calibri"/>
              </a:rPr>
              <a:t> en esa corrida</a:t>
            </a:r>
          </a:p>
        </p:txBody>
      </p:sp>
      <p:sp>
        <p:nvSpPr>
          <p:cNvPr id="5" name="Rounded Rectangle 4"/>
          <p:cNvSpPr/>
          <p:nvPr/>
        </p:nvSpPr>
        <p:spPr>
          <a:xfrm>
            <a:off x="6942563" y="4839208"/>
            <a:ext cx="4700491"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 letra I se reserva para la identidad; por eso tras H el siguiente factor es J</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a:t>
            </a:r>
          </a:p>
        </p:txBody>
      </p:sp>
      <p:sp>
        <p:nvSpPr>
          <p:cNvPr id="8" name="Rounded Rectangle 7"/>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completa la tabla de signos del 2</a:t>
            </a:r>
            <a:r>
              <a:rPr sz="3000" b="1" baseline="30000">
                <a:solidFill>
                  <a:srgbClr val="0F4C5C"/>
                </a:solidFill>
                <a:latin typeface="Cambria"/>
              </a:rPr>
              <a:t>k</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38" cy="3161538"/>
        </p:xfrm>
        <a:graphic>
          <a:graphicData uri="http://schemas.openxmlformats.org/drawingml/2006/table">
            <a:tbl>
              <a:tblPr firstRow="0" bandRow="0">
                <a:tableStyleId>{5C22544A-7EE6-4342-B048-85BDC9FD1C3A}</a:tableStyleId>
              </a:tblPr>
              <a:tblGrid>
                <a:gridCol w="1173028"/>
                <a:gridCol w="495278"/>
                <a:gridCol w="495278"/>
                <a:gridCol w="495278"/>
                <a:gridCol w="495278"/>
                <a:gridCol w="664715"/>
                <a:gridCol w="664715"/>
                <a:gridCol w="664715"/>
                <a:gridCol w="834153"/>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780026"/>
            <a:ext cx="5982443"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Las columnas de interacción son </a:t>
            </a:r>
            <a:r>
              <a:rPr sz="1400" b="1">
                <a:solidFill>
                  <a:srgbClr val="142B33"/>
                </a:solidFill>
                <a:latin typeface="Calibri"/>
              </a:rPr>
              <a:t>productos de signos</a:t>
            </a:r>
            <a:r>
              <a:rPr sz="1400" b="0">
                <a:solidFill>
                  <a:srgbClr val="142B33"/>
                </a:solidFill>
                <a:latin typeface="Calibri"/>
              </a:rPr>
              <a:t>: en la fila a, AB = (+)(−) = −</a:t>
            </a:r>
          </a:p>
        </p:txBody>
      </p:sp>
      <p:sp>
        <p:nvSpPr>
          <p:cNvPr id="5" name="TextBox 4"/>
          <p:cNvSpPr txBox="1"/>
          <p:nvPr/>
        </p:nvSpPr>
        <p:spPr>
          <a:xfrm>
            <a:off x="6942563" y="1417320"/>
            <a:ext cx="4700491" cy="289051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a:t>
            </a:r>
            <a:r>
              <a:rPr sz="1600" b="1">
                <a:solidFill>
                  <a:srgbClr val="142B33"/>
                </a:solidFill>
                <a:latin typeface="Calibri"/>
              </a:rPr>
              <a:t> − 1 columnas</a:t>
            </a:r>
            <a:r>
              <a:rPr sz="1600" b="0">
                <a:solidFill>
                  <a:srgbClr val="142B33"/>
                </a:solidFill>
                <a:latin typeface="Calibri"/>
              </a:rPr>
              <a:t> de efectos: 3 principales, 3 dobles y 1 triple en el 2</a:t>
            </a:r>
            <a:r>
              <a:rPr sz="1600" b="0" baseline="30000">
                <a:solidFill>
                  <a:srgbClr val="142B33"/>
                </a:solidFill>
                <a:latin typeface="Calibri"/>
              </a:rPr>
              <a:t>3</a:t>
            </a:r>
          </a:p>
          <a:p>
            <a:pPr marL="320040" indent="-320040">
              <a:spcAft>
                <a:spcPts val="600"/>
              </a:spcAft>
              <a:buClr>
                <a:srgbClr val="E36414"/>
              </a:buClr>
              <a:buFont typeface="Arial"/>
              <a:buChar char="•"/>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es toda positiva y corresponde al promedio general</a:t>
            </a:r>
          </a:p>
          <a:p>
            <a:pPr marL="320040" indent="-320040">
              <a:spcAft>
                <a:spcPts val="600"/>
              </a:spcAft>
              <a:buClr>
                <a:srgbClr val="E36414"/>
              </a:buClr>
              <a:buFont typeface="Arial"/>
              <a:buChar char="•"/>
            </a:pPr>
            <a:r>
              <a:rPr sz="1600" b="0">
                <a:solidFill>
                  <a:srgbClr val="142B33"/>
                </a:solidFill>
                <a:latin typeface="Calibri"/>
              </a:rPr>
              <a:t>Cada columna de efecto tiene </a:t>
            </a:r>
            <a:r>
              <a:rPr sz="1600" b="1">
                <a:solidFill>
                  <a:srgbClr val="142B33"/>
                </a:solidFill>
                <a:latin typeface="Calibri"/>
              </a:rPr>
              <a:t>N/2 signos +</a:t>
            </a:r>
            <a:r>
              <a:rPr sz="1600" b="0">
                <a:solidFill>
                  <a:srgbClr val="142B33"/>
                </a:solidFill>
                <a:latin typeface="Calibri"/>
              </a:rPr>
              <a:t> y </a:t>
            </a:r>
            <a:r>
              <a:rPr sz="1600" b="1">
                <a:solidFill>
                  <a:srgbClr val="142B33"/>
                </a:solidFill>
                <a:latin typeface="Calibri"/>
              </a:rPr>
              <a:t>N/2 signos −</a:t>
            </a:r>
          </a:p>
          <a:p>
            <a:pPr marL="320040" indent="-320040">
              <a:spcAft>
                <a:spcPts val="600"/>
              </a:spcAft>
              <a:buClr>
                <a:srgbClr val="E36414"/>
              </a:buClr>
              <a:buFont typeface="Arial"/>
              <a:buChar char="•"/>
            </a:pPr>
            <a:r>
              <a:rPr sz="1600" b="0">
                <a:solidFill>
                  <a:srgbClr val="142B33"/>
                </a:solidFill>
                <a:latin typeface="Calibri"/>
              </a:rPr>
              <a:t>El producto de dos columnas es otra columna; una letra al cuadrado es I</a:t>
            </a:r>
          </a:p>
          <a:p>
            <a:pPr marL="320040" indent="-320040">
              <a:spcAft>
                <a:spcPts val="600"/>
              </a:spcAft>
              <a:buClr>
                <a:srgbClr val="E36414"/>
              </a:buClr>
              <a:buFont typeface="Arial"/>
              <a:buChar char="•"/>
            </a:pPr>
            <a:r>
              <a:rPr sz="1600" b="0">
                <a:solidFill>
                  <a:srgbClr val="142B33"/>
                </a:solidFill>
                <a:latin typeface="Calibri"/>
              </a:rPr>
              <a:t>Columnas </a:t>
            </a:r>
            <a:r>
              <a:rPr sz="1600" b="1">
                <a:solidFill>
                  <a:srgbClr val="142B33"/>
                </a:solidFill>
                <a:latin typeface="Calibri"/>
              </a:rPr>
              <a:t>ortogonales</a:t>
            </a:r>
            <a:r>
              <a:rPr sz="1600" b="0">
                <a:solidFill>
                  <a:srgbClr val="142B33"/>
                </a:solidFill>
                <a:latin typeface="Calibri"/>
              </a:rPr>
              <a:t>: cada efecto se estima con su propio contraste</a:t>
            </a:r>
          </a:p>
        </p:txBody>
      </p:sp>
      <p:sp>
        <p:nvSpPr>
          <p:cNvPr id="6" name="Rounded Rectangle 5"/>
          <p:cNvSpPr/>
          <p:nvPr/>
        </p:nvSpPr>
        <p:spPr>
          <a:xfrm>
            <a:off x="6942563" y="4509008"/>
            <a:ext cx="4700491"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A · AB = A</a:t>
            </a:r>
            <a:r>
              <a:rPr sz="1800" b="0" baseline="30000">
                <a:solidFill>
                  <a:srgbClr val="0F4C5C"/>
                </a:solidFill>
                <a:latin typeface="Cambria Math"/>
              </a:rPr>
              <a:t>2</a:t>
            </a:r>
            <a:r>
              <a:rPr sz="1800" b="0">
                <a:solidFill>
                  <a:srgbClr val="0F4C5C"/>
                </a:solidFill>
                <a:latin typeface="Cambria Math"/>
              </a:rPr>
              <a:t>B = B</a:t>
            </a:r>
          </a:p>
          <a:p>
            <a:pPr algn="ctr"/>
            <a:r>
              <a:rPr sz="1800" b="0">
                <a:solidFill>
                  <a:srgbClr val="0F4C5C"/>
                </a:solidFill>
                <a:latin typeface="Cambria Math"/>
              </a:rPr>
              <a:t>ℓ</a:t>
            </a:r>
            <a:r>
              <a:rPr sz="1800" b="0" baseline="-25000">
                <a:solidFill>
                  <a:srgbClr val="0F4C5C"/>
                </a:solidFill>
                <a:latin typeface="Cambria Math"/>
              </a:rPr>
              <a:t>A</a:t>
            </a:r>
            <a:r>
              <a:rPr sz="1800" b="0">
                <a:solidFill>
                  <a:srgbClr val="0F4C5C"/>
                </a:solidFill>
                <a:latin typeface="Cambria Math"/>
              </a:rPr>
              <a:t> = Σ (signo</a:t>
            </a:r>
            <a:r>
              <a:rPr sz="1800" b="0" baseline="-25000">
                <a:solidFill>
                  <a:srgbClr val="0F4C5C"/>
                </a:solidFill>
                <a:latin typeface="Cambria Math"/>
              </a:rPr>
              <a:t>A</a:t>
            </a:r>
            <a:r>
              <a:rPr sz="1800" b="0">
                <a:solidFill>
                  <a:srgbClr val="0F4C5C"/>
                </a:solidFill>
                <a:latin typeface="Cambria Math"/>
              </a:rPr>
              <a:t>) · y / (N/2)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Propósito y vocabulario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11</a:t>
            </a:r>
          </a:p>
        </p:txBody>
      </p:sp>
      <p:sp>
        <p:nvSpPr>
          <p:cNvPr id="9" name="Rounded Rectangle 8"/>
          <p:cNvSpPr/>
          <p:nvPr/>
        </p:nvSpPr>
        <p:spPr>
          <a:xfrm>
            <a:off x="548640" y="91440"/>
            <a:ext cx="289864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1 · Propósito y vocabulario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Resolución del diseño</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2</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Qué tanto se mezclan los efectos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resolución de un diseño?</a:t>
            </a:r>
          </a:p>
        </p:txBody>
      </p:sp>
      <p:sp>
        <p:nvSpPr>
          <p:cNvPr id="3" name="Rounded Rectangle 2"/>
          <p:cNvSpPr/>
          <p:nvPr/>
        </p:nvSpPr>
        <p:spPr>
          <a:xfrm>
            <a:off x="548640" y="1417320"/>
            <a:ext cx="4914150"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Si dos efectos son alias, entre los dos suman al menos </a:t>
            </a:r>
            <a:r>
              <a:rPr sz="1900" b="1">
                <a:solidFill>
                  <a:srgbClr val="0F4C5C"/>
                </a:solidFill>
                <a:latin typeface="Cambria Math"/>
              </a:rPr>
              <a:t>R</a:t>
            </a:r>
            <a:r>
              <a:rPr sz="1900" b="0">
                <a:solidFill>
                  <a:srgbClr val="0F4C5C"/>
                </a:solidFill>
                <a:latin typeface="Cambria Math"/>
              </a:rPr>
              <a:t> letras</a:t>
            </a:r>
          </a:p>
        </p:txBody>
      </p:sp>
      <p:sp>
        <p:nvSpPr>
          <p:cNvPr id="4" name="TextBox 3"/>
          <p:cNvSpPr txBox="1"/>
          <p:nvPr/>
        </p:nvSpPr>
        <p:spPr>
          <a:xfrm>
            <a:off x="548640" y="2222520"/>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escribe como subíndice romano: </a:t>
            </a:r>
            <a:r>
              <a:rPr sz="1600" b="1">
                <a:solidFill>
                  <a:srgbClr val="142B33"/>
                </a:solidFill>
                <a:latin typeface="Calibri"/>
              </a:rPr>
              <a:t>2</a:t>
            </a:r>
            <a:r>
              <a:rPr sz="1600" b="1" baseline="30000">
                <a:solidFill>
                  <a:srgbClr val="142B33"/>
                </a:solidFill>
                <a:latin typeface="Calibri"/>
              </a:rPr>
              <a:t>3−1</a:t>
            </a:r>
            <a:r>
              <a:rPr sz="1600" b="1" baseline="-25000">
                <a:solidFill>
                  <a:srgbClr val="142B33"/>
                </a:solidFill>
                <a:latin typeface="Calibri"/>
              </a:rPr>
              <a:t>III</a:t>
            </a:r>
          </a:p>
          <a:p>
            <a:pPr marL="320040" indent="-320040">
              <a:spcAft>
                <a:spcPts val="600"/>
              </a:spcAft>
              <a:buClr>
                <a:srgbClr val="E36414"/>
              </a:buClr>
              <a:buFont typeface="Arial"/>
              <a:buChar char="•"/>
            </a:pPr>
            <a:r>
              <a:rPr sz="1600" b="0">
                <a:solidFill>
                  <a:srgbClr val="142B33"/>
                </a:solidFill>
                <a:latin typeface="Calibri"/>
              </a:rPr>
              <a:t>Definición del libro: ningún efecto de </a:t>
            </a:r>
            <a:r>
              <a:rPr sz="1600" b="1">
                <a:solidFill>
                  <a:srgbClr val="142B33"/>
                </a:solidFill>
                <a:latin typeface="Calibri"/>
              </a:rPr>
              <a:t>p</a:t>
            </a:r>
            <a:r>
              <a:rPr sz="1600" b="0">
                <a:solidFill>
                  <a:srgbClr val="142B33"/>
                </a:solidFill>
                <a:latin typeface="Calibri"/>
              </a:rPr>
              <a:t> factores es alias de otro con menos de </a:t>
            </a:r>
            <a:r>
              <a:rPr sz="1600" b="1">
                <a:solidFill>
                  <a:srgbClr val="142B33"/>
                </a:solidFill>
                <a:latin typeface="Calibri"/>
              </a:rPr>
              <a:t>R − p</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Cuanto </a:t>
            </a:r>
            <a:r>
              <a:rPr sz="1600" b="1">
                <a:solidFill>
                  <a:srgbClr val="142B33"/>
                </a:solidFill>
                <a:latin typeface="Calibri"/>
              </a:rPr>
              <a:t>mayor</a:t>
            </a:r>
            <a:r>
              <a:rPr sz="1600" b="0">
                <a:solidFill>
                  <a:srgbClr val="142B33"/>
                </a:solidFill>
                <a:latin typeface="Calibri"/>
              </a:rPr>
              <a:t> R, menos se mezclan los efectos de orden bajo</a:t>
            </a:r>
          </a:p>
        </p:txBody>
      </p:sp>
      <p:graphicFrame>
        <p:nvGraphicFramePr>
          <p:cNvPr id="5" name="Table 4"/>
          <p:cNvGraphicFramePr>
            <a:graphicFrameLocks noGrp="1"/>
          </p:cNvGraphicFramePr>
          <p:nvPr/>
        </p:nvGraphicFramePr>
        <p:xfrm>
          <a:off x="5874270" y="1417320"/>
          <a:ext cx="5768783" cy="2334768"/>
        </p:xfrm>
        <a:graphic>
          <a:graphicData uri="http://schemas.openxmlformats.org/drawingml/2006/table">
            <a:tbl>
              <a:tblPr firstRow="0" bandRow="0">
                <a:tableStyleId>{5C22544A-7EE6-4342-B048-85BDC9FD1C3A}</a:tableStyleId>
              </a:tblPr>
              <a:tblGrid>
                <a:gridCol w="1038381"/>
                <a:gridCol w="2365201"/>
                <a:gridCol w="2365201"/>
              </a:tblGrid>
              <a:tr h="583692">
                <a:tc>
                  <a:txBody>
                    <a:bodyPr/>
                    <a:lstStyle/>
                    <a:p>
                      <a:pPr algn="l"/>
                      <a:r>
                        <a:rPr sz="1500" b="1">
                          <a:solidFill>
                            <a:srgbClr val="FFFFFF"/>
                          </a:solidFill>
                          <a:latin typeface="Calibri"/>
                        </a:rPr>
                        <a:t>Resolución</a:t>
                      </a:r>
                    </a:p>
                  </a:txBody>
                  <a:tcPr marL="73152" marR="73152" marT="27432" marB="27432" anchor="ctr">
                    <a:solidFill>
                      <a:srgbClr val="0F4C5C"/>
                    </a:solidFill>
                  </a:tcPr>
                </a:tc>
                <a:tc>
                  <a:txBody>
                    <a:bodyPr/>
                    <a:lstStyle/>
                    <a:p>
                      <a:pPr algn="l"/>
                      <a:r>
                        <a:rPr sz="1500" b="1">
                          <a:solidFill>
                            <a:srgbClr val="FFFFFF"/>
                          </a:solidFill>
                          <a:latin typeface="Calibri"/>
                        </a:rPr>
                        <a:t>Un efecto principal es alias de…</a:t>
                      </a:r>
                    </a:p>
                  </a:txBody>
                  <a:tcPr marL="73152" marR="73152" marT="27432" marB="27432" anchor="ctr">
                    <a:solidFill>
                      <a:srgbClr val="0F4C5C"/>
                    </a:solidFill>
                  </a:tcPr>
                </a:tc>
                <a:tc>
                  <a:txBody>
                    <a:bodyPr/>
                    <a:lstStyle/>
                    <a:p>
                      <a:pPr algn="l"/>
                      <a:r>
                        <a:rPr sz="1500" b="1">
                          <a:solidFill>
                            <a:srgbClr val="FFFFFF"/>
                          </a:solidFill>
                          <a:latin typeface="Calibri"/>
                        </a:rPr>
                        <a:t>Una interacción doble es alias de…</a:t>
                      </a:r>
                    </a:p>
                  </a:txBody>
                  <a:tcPr marL="73152" marR="73152" marT="27432" marB="27432" anchor="ctr">
                    <a:solidFill>
                      <a:srgbClr val="0F4C5C"/>
                    </a:solidFill>
                  </a:tcPr>
                </a:tc>
              </a:tr>
              <a:tr h="583692">
                <a:tc>
                  <a:txBody>
                    <a:bodyPr/>
                    <a:lstStyle/>
                    <a:p>
                      <a:pPr algn="l"/>
                      <a:r>
                        <a:rPr sz="1500" b="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2</a:t>
                      </a:r>
                      <a:r>
                        <a:rPr sz="1500" b="0">
                          <a:solidFill>
                            <a:srgbClr val="142B33"/>
                          </a:solidFill>
                          <a:latin typeface="Calibri"/>
                        </a:rPr>
                        <a:t> factores (1 + 2 = 3)</a:t>
                      </a:r>
                    </a:p>
                  </a:txBody>
                  <a:tcPr marL="73152" marR="73152" marT="27432" marB="27432" anchor="ctr">
                    <a:solidFill>
                      <a:srgbClr val="FFFFFF"/>
                    </a:solidFill>
                  </a:tcPr>
                </a:tc>
                <a:tc>
                  <a:txBody>
                    <a:bodyPr/>
                    <a:lstStyle/>
                    <a:p>
                      <a:pPr algn="l"/>
                      <a:r>
                        <a:rPr sz="1500" b="0">
                          <a:solidFill>
                            <a:srgbClr val="142B33"/>
                          </a:solidFill>
                          <a:latin typeface="Calibri"/>
                        </a:rPr>
                        <a:t>principales u otras dobles</a:t>
                      </a:r>
                    </a:p>
                  </a:txBody>
                  <a:tcPr marL="73152" marR="73152" marT="27432" marB="27432" anchor="ctr">
                    <a:solidFill>
                      <a:srgbClr val="FFFFFF"/>
                    </a:solidFill>
                  </a:tcPr>
                </a:tc>
              </a:tr>
              <a:tr h="583692">
                <a:tc>
                  <a:txBody>
                    <a:bodyPr/>
                    <a:lstStyle/>
                    <a:p>
                      <a:pPr algn="l"/>
                      <a:r>
                        <a:rPr sz="1500" b="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interacciones de </a:t>
                      </a:r>
                      <a:r>
                        <a:rPr sz="1500" b="1">
                          <a:solidFill>
                            <a:srgbClr val="142B33"/>
                          </a:solidFill>
                          <a:latin typeface="Calibri"/>
                        </a:rPr>
                        <a:t>3</a:t>
                      </a:r>
                      <a:r>
                        <a:rPr sz="1500" b="0">
                          <a:solidFill>
                            <a:srgbClr val="142B33"/>
                          </a:solidFill>
                          <a:latin typeface="Calibri"/>
                        </a:rPr>
                        <a:t> factores (1 + 3 = 4)</a:t>
                      </a:r>
                    </a:p>
                  </a:txBody>
                  <a:tcPr marL="73152" marR="73152" marT="27432" marB="27432" anchor="ctr">
                    <a:solidFill>
                      <a:srgbClr val="F4F8F9"/>
                    </a:solidFill>
                  </a:tcPr>
                </a:tc>
                <a:tc>
                  <a:txBody>
                    <a:bodyPr/>
                    <a:lstStyle/>
                    <a:p>
                      <a:pPr algn="l"/>
                      <a:r>
                        <a:rPr sz="1500" b="0">
                          <a:solidFill>
                            <a:srgbClr val="142B33"/>
                          </a:solidFill>
                          <a:latin typeface="Calibri"/>
                        </a:rPr>
                        <a:t>otras </a:t>
                      </a:r>
                      <a:r>
                        <a:rPr sz="1500" b="1">
                          <a:solidFill>
                            <a:srgbClr val="142B33"/>
                          </a:solidFill>
                          <a:latin typeface="Calibri"/>
                        </a:rPr>
                        <a:t>dobles</a:t>
                      </a:r>
                      <a:r>
                        <a:rPr sz="1500" b="0">
                          <a:solidFill>
                            <a:srgbClr val="142B33"/>
                          </a:solidFill>
                          <a:latin typeface="Calibri"/>
                        </a:rPr>
                        <a:t> (2 + 2 = 4)</a:t>
                      </a:r>
                    </a:p>
                  </a:txBody>
                  <a:tcPr marL="73152" marR="73152" marT="27432" marB="27432" anchor="ctr">
                    <a:solidFill>
                      <a:srgbClr val="F4F8F9"/>
                    </a:solidFill>
                  </a:tcPr>
                </a:tc>
              </a:tr>
              <a:tr h="583692">
                <a:tc>
                  <a:txBody>
                    <a:bodyPr/>
                    <a:lstStyle/>
                    <a:p>
                      <a:pPr algn="l"/>
                      <a:r>
                        <a:rPr sz="1500" b="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4</a:t>
                      </a:r>
                      <a:r>
                        <a:rPr sz="1500" b="0">
                          <a:solidFill>
                            <a:srgbClr val="142B33"/>
                          </a:solidFill>
                          <a:latin typeface="Calibri"/>
                        </a:rPr>
                        <a:t> factores (1 + 4 = 5)</a:t>
                      </a:r>
                    </a:p>
                  </a:txBody>
                  <a:tcPr marL="73152" marR="73152" marT="27432" marB="27432" anchor="ctr">
                    <a:solidFill>
                      <a:srgbClr val="FFFFFF"/>
                    </a:solidFill>
                  </a:tcPr>
                </a:tc>
                <a:tc>
                  <a:txBody>
                    <a:bodyPr/>
                    <a:lstStyle/>
                    <a:p>
                      <a:pPr algn="l"/>
                      <a:r>
                        <a:rPr sz="1500" b="0">
                          <a:solidFill>
                            <a:srgbClr val="142B33"/>
                          </a:solidFill>
                          <a:latin typeface="Calibri"/>
                        </a:rPr>
                        <a:t>interacciones de </a:t>
                      </a:r>
                      <a:r>
                        <a:rPr sz="1500" b="1">
                          <a:solidFill>
                            <a:srgbClr val="142B33"/>
                          </a:solidFill>
                          <a:latin typeface="Calibri"/>
                        </a:rPr>
                        <a:t>3</a:t>
                      </a:r>
                      <a:r>
                        <a:rPr sz="1500" b="0">
                          <a:solidFill>
                            <a:srgbClr val="142B33"/>
                          </a:solidFill>
                          <a:latin typeface="Calibri"/>
                        </a:rPr>
                        <a:t> factores (2 + 3 = 5)</a:t>
                      </a:r>
                    </a:p>
                  </a:txBody>
                  <a:tcPr marL="73152" marR="73152" marT="27432" marB="27432" anchor="ctr">
                    <a:solidFill>
                      <a:srgbClr val="FFFFFF"/>
                    </a:solidFill>
                  </a:tcPr>
                </a:tc>
              </a:tr>
            </a:tbl>
          </a:graphicData>
        </a:graphic>
      </p:graphicFrame>
      <p:sp>
        <p:nvSpPr>
          <p:cNvPr id="6" name="Rounded Rectangle 5"/>
          <p:cNvSpPr/>
          <p:nvPr/>
        </p:nvSpPr>
        <p:spPr>
          <a:xfrm>
            <a:off x="5874270" y="3953256"/>
            <a:ext cx="5768785"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ninguna de las tres un efecto principal es alias de </a:t>
            </a:r>
            <a:r>
              <a:rPr sz="1500" b="1">
                <a:solidFill>
                  <a:srgbClr val="142B33"/>
                </a:solidFill>
                <a:latin typeface="Calibri"/>
              </a:rPr>
              <a:t>otro principal</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13</a:t>
            </a:r>
          </a:p>
        </p:txBody>
      </p:sp>
      <p:sp>
        <p:nvSpPr>
          <p:cNvPr id="9" name="Rounded Rectangle 8"/>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calcula la resolución?</a:t>
            </a:r>
          </a:p>
        </p:txBody>
      </p:sp>
      <p:sp>
        <p:nvSpPr>
          <p:cNvPr id="3" name="Rounded Rectangle 2"/>
          <p:cNvSpPr/>
          <p:nvPr/>
        </p:nvSpPr>
        <p:spPr>
          <a:xfrm>
            <a:off x="548640" y="1417320"/>
            <a:ext cx="11094415"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Resolución = número de letras de la </a:t>
            </a:r>
            <a:r>
              <a:rPr sz="1900" b="1">
                <a:solidFill>
                  <a:srgbClr val="0F4C5C"/>
                </a:solidFill>
                <a:latin typeface="Cambria Math"/>
              </a:rPr>
              <a:t>palabra más corta</a:t>
            </a:r>
            <a:r>
              <a:rPr sz="1900" b="0">
                <a:solidFill>
                  <a:srgbClr val="0F4C5C"/>
                </a:solidFill>
                <a:latin typeface="Cambria Math"/>
              </a:rPr>
              <a:t> de la relación de definición</a:t>
            </a:r>
          </a:p>
        </p:txBody>
      </p:sp>
      <p:graphicFrame>
        <p:nvGraphicFramePr>
          <p:cNvPr id="4" name="Table 3"/>
          <p:cNvGraphicFramePr>
            <a:graphicFrameLocks noGrp="1"/>
          </p:cNvGraphicFramePr>
          <p:nvPr/>
        </p:nvGraphicFramePr>
        <p:xfrm>
          <a:off x="548640" y="2222520"/>
          <a:ext cx="11094412" cy="2107692"/>
        </p:xfrm>
        <a:graphic>
          <a:graphicData uri="http://schemas.openxmlformats.org/drawingml/2006/table">
            <a:tbl>
              <a:tblPr firstRow="0" bandRow="0">
                <a:tableStyleId>{5C22544A-7EE6-4342-B048-85BDC9FD1C3A}</a:tableStyleId>
              </a:tblPr>
              <a:tblGrid>
                <a:gridCol w="1331329"/>
                <a:gridCol w="2440771"/>
                <a:gridCol w="3550212"/>
                <a:gridCol w="1996994"/>
                <a:gridCol w="1775106"/>
              </a:tblGrid>
              <a:tr h="35128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Generadores</a:t>
                      </a:r>
                    </a:p>
                  </a:txBody>
                  <a:tcPr marL="73152" marR="73152" marT="27432" marB="27432" anchor="ctr">
                    <a:solidFill>
                      <a:srgbClr val="0F4C5C"/>
                    </a:solidFill>
                  </a:tcPr>
                </a:tc>
                <a:tc>
                  <a:txBody>
                    <a:bodyPr/>
                    <a:lstStyle/>
                    <a:p>
                      <a:pPr algn="ctr"/>
                      <a:r>
                        <a:rPr sz="1500" b="1">
                          <a:solidFill>
                            <a:srgbClr val="FFFFFF"/>
                          </a:solidFill>
                          <a:latin typeface="Calibri"/>
                        </a:rPr>
                        <a:t>Relación de definición</a:t>
                      </a:r>
                    </a:p>
                  </a:txBody>
                  <a:tcPr marL="73152" marR="73152" marT="27432" marB="27432" anchor="ctr">
                    <a:solidFill>
                      <a:srgbClr val="0F4C5C"/>
                    </a:solidFill>
                  </a:tcPr>
                </a:tc>
                <a:tc>
                  <a:txBody>
                    <a:bodyPr/>
                    <a:lstStyle/>
                    <a:p>
                      <a:pPr algn="ctr"/>
                      <a:r>
                        <a:rPr sz="1500" b="1">
                          <a:solidFill>
                            <a:srgbClr val="FFFFFF"/>
                          </a:solidFill>
                          <a:latin typeface="Calibri"/>
                        </a:rPr>
                        <a:t>Palabra más corta</a:t>
                      </a:r>
                    </a:p>
                  </a:txBody>
                  <a:tcPr marL="73152" marR="73152" marT="27432" marB="27432" anchor="ctr">
                    <a:solidFill>
                      <a:srgbClr val="0F4C5C"/>
                    </a:solidFill>
                  </a:tcPr>
                </a:tc>
                <a:tc>
                  <a:txBody>
                    <a:bodyPr/>
                    <a:lstStyle/>
                    <a:p>
                      <a:pPr algn="ctr"/>
                      <a:r>
                        <a:rPr sz="1500" b="1">
                          <a:solidFill>
                            <a:srgbClr val="FFFFFF"/>
                          </a:solidFill>
                          <a:latin typeface="Calibri"/>
                        </a:rPr>
                        <a:t>Resolución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p>
                  </a:txBody>
                  <a:tcPr marL="73152" marR="73152" marT="27432" marB="27432" anchor="ctr">
                    <a:solidFill>
                      <a:srgbClr val="FFFFFF"/>
                    </a:solidFill>
                  </a:tcPr>
                </a:tc>
                <a:tc>
                  <a:txBody>
                    <a:bodyPr/>
                    <a:lstStyle/>
                    <a:p>
                      <a:pPr algn="ctr"/>
                      <a:r>
                        <a:rPr sz="1500" b="0">
                          <a:solidFill>
                            <a:srgbClr val="142B33"/>
                          </a:solidFill>
                          <a:latin typeface="Calibri"/>
                        </a:rPr>
                        <a:t>C = AB</a:t>
                      </a:r>
                    </a:p>
                  </a:txBody>
                  <a:tcPr marL="73152" marR="73152" marT="27432" marB="27432" anchor="ctr">
                    <a:solidFill>
                      <a:srgbClr val="FFFFFF"/>
                    </a:solidFill>
                  </a:tcPr>
                </a:tc>
                <a:tc>
                  <a:txBody>
                    <a:bodyPr/>
                    <a:lstStyle/>
                    <a:p>
                      <a:pPr algn="ctr"/>
                      <a:r>
                        <a:rPr sz="1500" b="0">
                          <a:solidFill>
                            <a:srgbClr val="142B33"/>
                          </a:solidFill>
                          <a:latin typeface="Calibri"/>
                        </a:rPr>
                        <a:t>I = ABC</a:t>
                      </a:r>
                    </a:p>
                  </a:txBody>
                  <a:tcPr marL="73152" marR="73152" marT="27432" marB="27432" anchor="ctr">
                    <a:solidFill>
                      <a:srgbClr val="FFFFFF"/>
                    </a:solidFill>
                  </a:tcPr>
                </a:tc>
                <a:tc>
                  <a:txBody>
                    <a:bodyPr/>
                    <a:lstStyle/>
                    <a:p>
                      <a:pPr algn="ctr"/>
                      <a:r>
                        <a:rPr sz="1500" b="0">
                          <a:solidFill>
                            <a:srgbClr val="142B33"/>
                          </a:solidFill>
                          <a:latin typeface="Calibri"/>
                        </a:rPr>
                        <a:t>3 letras</a:t>
                      </a:r>
                    </a:p>
                  </a:txBody>
                  <a:tcPr marL="73152" marR="73152" marT="27432" marB="27432" anchor="ctr">
                    <a:solidFill>
                      <a:srgbClr val="FFFFFF"/>
                    </a:solidFill>
                  </a:tcPr>
                </a:tc>
                <a:tc>
                  <a:txBody>
                    <a:bodyPr/>
                    <a:lstStyle/>
                    <a:p>
                      <a:pPr algn="ctr"/>
                      <a:r>
                        <a:rPr sz="1500" b="0">
                          <a:solidFill>
                            <a:srgbClr val="142B33"/>
                          </a:solidFill>
                          <a:latin typeface="Calibri"/>
                        </a:rPr>
                        <a:t>III</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4−1</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I = ABCD</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5−1</a:t>
                      </a:r>
                    </a:p>
                  </a:txBody>
                  <a:tcPr marL="73152" marR="73152" marT="27432" marB="27432" anchor="ctr">
                    <a:solidFill>
                      <a:srgbClr val="FFFFFF"/>
                    </a:solidFill>
                  </a:tcPr>
                </a:tc>
                <a:tc>
                  <a:txBody>
                    <a:bodyPr/>
                    <a:lstStyle/>
                    <a:p>
                      <a:pPr algn="ctr"/>
                      <a:r>
                        <a:rPr sz="1500" b="0">
                          <a:solidFill>
                            <a:srgbClr val="142B33"/>
                          </a:solidFill>
                          <a:latin typeface="Calibri"/>
                        </a:rPr>
                        <a:t>E = ABCD</a:t>
                      </a:r>
                    </a:p>
                  </a:txBody>
                  <a:tcPr marL="73152" marR="73152" marT="27432" marB="27432" anchor="ctr">
                    <a:solidFill>
                      <a:srgbClr val="FFFFFF"/>
                    </a:solidFill>
                  </a:tcPr>
                </a:tc>
                <a:tc>
                  <a:txBody>
                    <a:bodyPr/>
                    <a:lstStyle/>
                    <a:p>
                      <a:pPr algn="ctr"/>
                      <a:r>
                        <a:rPr sz="1500" b="0">
                          <a:solidFill>
                            <a:srgbClr val="142B33"/>
                          </a:solidFill>
                          <a:latin typeface="Calibri"/>
                        </a:rPr>
                        <a:t>I = ABCDE</a:t>
                      </a:r>
                    </a:p>
                  </a:txBody>
                  <a:tcPr marL="73152" marR="73152" marT="27432" marB="27432" anchor="ctr">
                    <a:solidFill>
                      <a:srgbClr val="FFFFFF"/>
                    </a:solidFill>
                  </a:tcPr>
                </a:tc>
                <a:tc>
                  <a:txBody>
                    <a:bodyPr/>
                    <a:lstStyle/>
                    <a:p>
                      <a:pPr algn="ctr"/>
                      <a:r>
                        <a:rPr sz="1500" b="0">
                          <a:solidFill>
                            <a:srgbClr val="142B33"/>
                          </a:solidFill>
                          <a:latin typeface="Calibri"/>
                        </a:rPr>
                        <a:t>5 letras</a:t>
                      </a:r>
                    </a:p>
                  </a:txBody>
                  <a:tcPr marL="73152" marR="73152" marT="27432" marB="27432" anchor="ctr">
                    <a:solidFill>
                      <a:srgbClr val="FFFFFF"/>
                    </a:solidFill>
                  </a:tcPr>
                </a:tc>
                <a:tc>
                  <a:txBody>
                    <a:bodyPr/>
                    <a:lstStyle/>
                    <a:p>
                      <a:pPr algn="ctr"/>
                      <a:r>
                        <a:rPr sz="1500" b="0">
                          <a:solidFill>
                            <a:srgbClr val="142B33"/>
                          </a:solidFill>
                          <a:latin typeface="Calibri"/>
                        </a:rPr>
                        <a:t>V</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4F8F9"/>
                    </a:solidFill>
                  </a:tcPr>
                </a:tc>
                <a:tc>
                  <a:txBody>
                    <a:bodyPr/>
                    <a:lstStyle/>
                    <a:p>
                      <a:pPr algn="ctr"/>
                      <a:r>
                        <a:rPr sz="1500" b="0">
                          <a:solidFill>
                            <a:srgbClr val="142B33"/>
                          </a:solidFill>
                          <a:latin typeface="Calibri"/>
                        </a:rPr>
                        <a:t>E = ABC,  F = BCD</a:t>
                      </a:r>
                    </a:p>
                  </a:txBody>
                  <a:tcPr marL="73152" marR="73152" marT="27432" marB="27432" anchor="ctr">
                    <a:solidFill>
                      <a:srgbClr val="F4F8F9"/>
                    </a:solidFill>
                  </a:tcPr>
                </a:tc>
                <a:tc>
                  <a:txBody>
                    <a:bodyPr/>
                    <a:lstStyle/>
                    <a:p>
                      <a:pPr algn="ctr"/>
                      <a:r>
                        <a:rPr sz="1500" b="0">
                          <a:solidFill>
                            <a:srgbClr val="142B33"/>
                          </a:solidFill>
                          <a:latin typeface="Calibri"/>
                        </a:rPr>
                        <a:t>I = ABCE = BCDF = ADEF</a:t>
                      </a:r>
                    </a:p>
                  </a:txBody>
                  <a:tcPr marL="73152" marR="73152" marT="27432" marB="27432" anchor="ctr">
                    <a:solidFill>
                      <a:srgbClr val="F4F8F9"/>
                    </a:solidFill>
                  </a:tcPr>
                </a:tc>
                <a:tc>
                  <a:txBody>
                    <a:bodyPr/>
                    <a:lstStyle/>
                    <a:p>
                      <a:pPr algn="ctr"/>
                      <a:r>
                        <a:rPr sz="1500" b="0">
                          <a:solidFill>
                            <a:srgbClr val="142B33"/>
                          </a:solidFill>
                          <a:latin typeface="Calibri"/>
                        </a:rPr>
                        <a:t>4 letras</a:t>
                      </a:r>
                    </a:p>
                  </a:txBody>
                  <a:tcPr marL="73152" marR="73152" marT="27432" marB="27432" anchor="ctr">
                    <a:solidFill>
                      <a:srgbClr val="F4F8F9"/>
                    </a:solidFill>
                  </a:tcPr>
                </a:tc>
                <a:tc>
                  <a:txBody>
                    <a:bodyPr/>
                    <a:lstStyle/>
                    <a:p>
                      <a:pPr algn="ctr"/>
                      <a:r>
                        <a:rPr sz="1500" b="0">
                          <a:solidFill>
                            <a:srgbClr val="142B33"/>
                          </a:solidFill>
                          <a:latin typeface="Calibri"/>
                        </a:rPr>
                        <a:t>IV</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6−2</a:t>
                      </a:r>
                    </a:p>
                  </a:txBody>
                  <a:tcPr marL="73152" marR="73152" marT="27432" marB="27432" anchor="ctr">
                    <a:solidFill>
                      <a:srgbClr val="FDE8D7"/>
                    </a:solidFill>
                  </a:tcPr>
                </a:tc>
                <a:tc>
                  <a:txBody>
                    <a:bodyPr/>
                    <a:lstStyle/>
                    <a:p>
                      <a:pPr algn="ctr"/>
                      <a:r>
                        <a:rPr sz="1500" b="0">
                          <a:solidFill>
                            <a:srgbClr val="142B33"/>
                          </a:solidFill>
                          <a:latin typeface="Calibri"/>
                        </a:rPr>
                        <a:t>E = ABC,  F = ABCD</a:t>
                      </a:r>
                    </a:p>
                  </a:txBody>
                  <a:tcPr marL="73152" marR="73152" marT="27432" marB="27432" anchor="ctr">
                    <a:solidFill>
                      <a:srgbClr val="FDE8D7"/>
                    </a:solidFill>
                  </a:tcPr>
                </a:tc>
                <a:tc>
                  <a:txBody>
                    <a:bodyPr/>
                    <a:lstStyle/>
                    <a:p>
                      <a:pPr algn="ctr"/>
                      <a:r>
                        <a:rPr sz="1500" b="0">
                          <a:solidFill>
                            <a:srgbClr val="142B33"/>
                          </a:solidFill>
                          <a:latin typeface="Calibri"/>
                        </a:rPr>
                        <a:t>I = ABCE = ABCDF = DEF</a:t>
                      </a:r>
                    </a:p>
                  </a:txBody>
                  <a:tcPr marL="73152" marR="73152" marT="27432" marB="27432" anchor="ctr">
                    <a:solidFill>
                      <a:srgbClr val="FDE8D7"/>
                    </a:solidFill>
                  </a:tcPr>
                </a:tc>
                <a:tc>
                  <a:txBody>
                    <a:bodyPr/>
                    <a:lstStyle/>
                    <a:p>
                      <a:pPr algn="ctr"/>
                      <a:r>
                        <a:rPr sz="1500" b="0">
                          <a:solidFill>
                            <a:srgbClr val="142B33"/>
                          </a:solidFill>
                          <a:latin typeface="Calibri"/>
                        </a:rPr>
                        <a:t>3 letras</a:t>
                      </a:r>
                    </a:p>
                  </a:txBody>
                  <a:tcPr marL="73152" marR="73152" marT="27432" marB="27432" anchor="ctr">
                    <a:solidFill>
                      <a:srgbClr val="FDE8D7"/>
                    </a:solidFill>
                  </a:tcPr>
                </a:tc>
                <a:tc>
                  <a:txBody>
                    <a:bodyPr/>
                    <a:lstStyle/>
                    <a:p>
                      <a:pPr algn="ctr"/>
                      <a:r>
                        <a:rPr sz="1500" b="0">
                          <a:solidFill>
                            <a:srgbClr val="142B33"/>
                          </a:solidFill>
                          <a:latin typeface="Calibri"/>
                        </a:rPr>
                        <a:t>III</a:t>
                      </a:r>
                    </a:p>
                  </a:txBody>
                  <a:tcPr marL="73152" marR="73152" marT="27432" marB="27432" anchor="ctr">
                    <a:solidFill>
                      <a:srgbClr val="FDE8D7"/>
                    </a:solidFill>
                  </a:tcPr>
                </a:tc>
              </a:tr>
            </a:tbl>
          </a:graphicData>
        </a:graphic>
      </p:graphicFrame>
      <p:sp>
        <p:nvSpPr>
          <p:cNvPr id="5" name="Rounded Rectangle 4"/>
          <p:cNvSpPr/>
          <p:nvPr/>
        </p:nvSpPr>
        <p:spPr>
          <a:xfrm>
            <a:off x="548640" y="4531380"/>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Mismo número de corridas, distinta resolución: la elección de los generadores </a:t>
            </a:r>
            <a:r>
              <a:rPr sz="1500" b="1">
                <a:solidFill>
                  <a:srgbClr val="142B33"/>
                </a:solidFill>
                <a:latin typeface="Calibri"/>
              </a:rPr>
              <a:t>importa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14</a:t>
            </a:r>
          </a:p>
        </p:txBody>
      </p:sp>
      <p:sp>
        <p:nvSpPr>
          <p:cNvPr id="8" name="Rounded Rectangle 7"/>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supuestos exige cada resolución?</a:t>
            </a:r>
          </a:p>
        </p:txBody>
      </p:sp>
      <p:graphicFrame>
        <p:nvGraphicFramePr>
          <p:cNvPr id="3" name="Table 2"/>
          <p:cNvGraphicFramePr>
            <a:graphicFrameLocks noGrp="1"/>
          </p:cNvGraphicFramePr>
          <p:nvPr/>
        </p:nvGraphicFramePr>
        <p:xfrm>
          <a:off x="548640" y="1417320"/>
          <a:ext cx="11094413" cy="2334768"/>
        </p:xfrm>
        <a:graphic>
          <a:graphicData uri="http://schemas.openxmlformats.org/drawingml/2006/table">
            <a:tbl>
              <a:tblPr firstRow="0" bandRow="0">
                <a:tableStyleId>{5C22544A-7EE6-4342-B048-85BDC9FD1C3A}</a:tableStyleId>
              </a:tblPr>
              <a:tblGrid>
                <a:gridCol w="1442273"/>
                <a:gridCol w="3439268"/>
                <a:gridCol w="3217380"/>
                <a:gridCol w="2995492"/>
              </a:tblGrid>
              <a:tr h="583692">
                <a:tc>
                  <a:txBody>
                    <a:bodyPr/>
                    <a:lstStyle/>
                    <a:p>
                      <a:pPr algn="l"/>
                      <a:r>
                        <a:rPr sz="1500" b="1">
                          <a:solidFill>
                            <a:srgbClr val="FFFFFF"/>
                          </a:solidFill>
                          <a:latin typeface="Calibri"/>
                        </a:rPr>
                        <a:t>Resolución</a:t>
                      </a:r>
                    </a:p>
                  </a:txBody>
                  <a:tcPr marL="73152" marR="73152" marT="27432" marB="27432" anchor="ctr">
                    <a:solidFill>
                      <a:srgbClr val="0F4C5C"/>
                    </a:solidFill>
                  </a:tcPr>
                </a:tc>
                <a:tc>
                  <a:txBody>
                    <a:bodyPr/>
                    <a:lstStyle/>
                    <a:p>
                      <a:pPr algn="ctr"/>
                      <a:r>
                        <a:rPr sz="1500" b="1">
                          <a:solidFill>
                            <a:srgbClr val="FFFFFF"/>
                          </a:solidFill>
                          <a:latin typeface="Calibri"/>
                        </a:rPr>
                        <a:t>Para leer los principales hay que suponer despreciables…</a:t>
                      </a:r>
                    </a:p>
                  </a:txBody>
                  <a:tcPr marL="73152" marR="73152" marT="27432" marB="27432" anchor="ctr">
                    <a:solidFill>
                      <a:srgbClr val="0F4C5C"/>
                    </a:solidFill>
                  </a:tcPr>
                </a:tc>
                <a:tc>
                  <a:txBody>
                    <a:bodyPr/>
                    <a:lstStyle/>
                    <a:p>
                      <a:pPr algn="l"/>
                      <a:r>
                        <a:rPr sz="1500" b="1">
                          <a:solidFill>
                            <a:srgbClr val="FFFFFF"/>
                          </a:solidFill>
                          <a:latin typeface="Calibri"/>
                        </a:rPr>
                        <a:t>Las interacciones dobles…</a:t>
                      </a:r>
                    </a:p>
                  </a:txBody>
                  <a:tcPr marL="73152" marR="73152" marT="27432" marB="27432" anchor="ctr">
                    <a:solidFill>
                      <a:srgbClr val="0F4C5C"/>
                    </a:solidFill>
                  </a:tcPr>
                </a:tc>
                <a:tc>
                  <a:txBody>
                    <a:bodyPr/>
                    <a:lstStyle/>
                    <a:p>
                      <a:pPr algn="l"/>
                      <a:r>
                        <a:rPr sz="1500" b="1">
                          <a:solidFill>
                            <a:srgbClr val="FFFFFF"/>
                          </a:solidFill>
                          <a:latin typeface="Calibri"/>
                        </a:rPr>
                        <a:t>Uso típico</a:t>
                      </a:r>
                    </a:p>
                  </a:txBody>
                  <a:tcPr marL="73152" marR="73152" marT="27432" marB="27432" anchor="ctr">
                    <a:solidFill>
                      <a:srgbClr val="0F4C5C"/>
                    </a:solidFill>
                  </a:tcPr>
                </a:tc>
              </a:tr>
              <a:tr h="583692">
                <a:tc>
                  <a:txBody>
                    <a:bodyPr/>
                    <a:lstStyle/>
                    <a:p>
                      <a:pPr algn="l"/>
                      <a:r>
                        <a:rPr sz="1500" b="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las interacciones </a:t>
                      </a:r>
                      <a:r>
                        <a:rPr sz="1500" b="1">
                          <a:solidFill>
                            <a:srgbClr val="142B33"/>
                          </a:solidFill>
                          <a:latin typeface="Calibri"/>
                        </a:rPr>
                        <a:t>dobles</a:t>
                      </a:r>
                    </a:p>
                  </a:txBody>
                  <a:tcPr marL="73152" marR="73152" marT="27432" marB="27432" anchor="ctr">
                    <a:solidFill>
                      <a:srgbClr val="FFFFFF"/>
                    </a:solidFill>
                  </a:tcPr>
                </a:tc>
                <a:tc>
                  <a:txBody>
                    <a:bodyPr/>
                    <a:lstStyle/>
                    <a:p>
                      <a:pPr algn="l"/>
                      <a:r>
                        <a:rPr sz="1500" b="0">
                          <a:solidFill>
                            <a:srgbClr val="142B33"/>
                          </a:solidFill>
                          <a:latin typeface="Calibri"/>
                        </a:rPr>
                        <a:t>no se pueden separar de los principales</a:t>
                      </a:r>
                    </a:p>
                  </a:txBody>
                  <a:tcPr marL="73152" marR="73152" marT="27432" marB="27432" anchor="ctr">
                    <a:solidFill>
                      <a:srgbClr val="FFFFFF"/>
                    </a:solidFill>
                  </a:tcPr>
                </a:tc>
                <a:tc>
                  <a:txBody>
                    <a:bodyPr/>
                    <a:lstStyle/>
                    <a:p>
                      <a:pPr algn="l"/>
                      <a:r>
                        <a:rPr sz="1500" b="0">
                          <a:solidFill>
                            <a:srgbClr val="142B33"/>
                          </a:solidFill>
                          <a:latin typeface="Calibri"/>
                        </a:rPr>
                        <a:t>Tamizar muchos factores sin interacciones esperadas</a:t>
                      </a:r>
                    </a:p>
                  </a:txBody>
                  <a:tcPr marL="73152" marR="73152" marT="27432" marB="27432" anchor="ctr">
                    <a:solidFill>
                      <a:srgbClr val="FFFFFF"/>
                    </a:solidFill>
                  </a:tcPr>
                </a:tc>
              </a:tr>
              <a:tr h="583692">
                <a:tc>
                  <a:txBody>
                    <a:bodyPr/>
                    <a:lstStyle/>
                    <a:p>
                      <a:pPr algn="l"/>
                      <a:r>
                        <a:rPr sz="1500" b="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las interacciones </a:t>
                      </a:r>
                      <a:r>
                        <a:rPr sz="1500" b="1">
                          <a:solidFill>
                            <a:srgbClr val="142B33"/>
                          </a:solidFill>
                          <a:latin typeface="Calibri"/>
                        </a:rPr>
                        <a:t>triples</a:t>
                      </a:r>
                    </a:p>
                  </a:txBody>
                  <a:tcPr marL="73152" marR="73152" marT="27432" marB="27432" anchor="ctr">
                    <a:solidFill>
                      <a:srgbClr val="F4F8F9"/>
                    </a:solidFill>
                  </a:tcPr>
                </a:tc>
                <a:tc>
                  <a:txBody>
                    <a:bodyPr/>
                    <a:lstStyle/>
                    <a:p>
                      <a:pPr algn="l"/>
                      <a:r>
                        <a:rPr sz="1500" b="0">
                          <a:solidFill>
                            <a:srgbClr val="142B33"/>
                          </a:solidFill>
                          <a:latin typeface="Calibri"/>
                        </a:rPr>
                        <a:t>quedan en cadenas entre sí</a:t>
                      </a:r>
                    </a:p>
                  </a:txBody>
                  <a:tcPr marL="73152" marR="73152" marT="27432" marB="27432" anchor="ctr">
                    <a:solidFill>
                      <a:srgbClr val="F4F8F9"/>
                    </a:solidFill>
                  </a:tcPr>
                </a:tc>
                <a:tc>
                  <a:txBody>
                    <a:bodyPr/>
                    <a:lstStyle/>
                    <a:p>
                      <a:pPr algn="l"/>
                      <a:r>
                        <a:rPr sz="1500" b="0">
                          <a:solidFill>
                            <a:srgbClr val="142B33"/>
                          </a:solidFill>
                          <a:latin typeface="Calibri"/>
                        </a:rPr>
                        <a:t>Tamizar cuando puede haber interacciones</a:t>
                      </a:r>
                    </a:p>
                  </a:txBody>
                  <a:tcPr marL="73152" marR="73152" marT="27432" marB="27432" anchor="ctr">
                    <a:solidFill>
                      <a:srgbClr val="F4F8F9"/>
                    </a:solidFill>
                  </a:tcPr>
                </a:tc>
              </a:tr>
              <a:tr h="583692">
                <a:tc>
                  <a:txBody>
                    <a:bodyPr/>
                    <a:lstStyle/>
                    <a:p>
                      <a:pPr algn="l"/>
                      <a:r>
                        <a:rPr sz="1500" b="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las de </a:t>
                      </a:r>
                      <a:r>
                        <a:rPr sz="1500" b="1">
                          <a:solidFill>
                            <a:srgbClr val="142B33"/>
                          </a:solidFill>
                          <a:latin typeface="Calibri"/>
                        </a:rPr>
                        <a:t>cuatro</a:t>
                      </a:r>
                      <a:r>
                        <a:rPr sz="1500" b="0">
                          <a:solidFill>
                            <a:srgbClr val="142B33"/>
                          </a:solidFill>
                          <a:latin typeface="Calibri"/>
                        </a:rPr>
                        <a:t> factores</a:t>
                      </a:r>
                    </a:p>
                  </a:txBody>
                  <a:tcPr marL="73152" marR="73152" marT="27432" marB="27432" anchor="ctr">
                    <a:solidFill>
                      <a:srgbClr val="FFFFFF"/>
                    </a:solidFill>
                  </a:tcPr>
                </a:tc>
                <a:tc>
                  <a:txBody>
                    <a:bodyPr/>
                    <a:lstStyle/>
                    <a:p>
                      <a:pPr algn="l"/>
                      <a:r>
                        <a:rPr sz="1500" b="0">
                          <a:solidFill>
                            <a:srgbClr val="142B33"/>
                          </a:solidFill>
                          <a:latin typeface="Calibri"/>
                        </a:rPr>
                        <a:t>se estiman limpias si las triples son despreciables</a:t>
                      </a:r>
                    </a:p>
                  </a:txBody>
                  <a:tcPr marL="73152" marR="73152" marT="27432" marB="27432" anchor="ctr">
                    <a:solidFill>
                      <a:srgbClr val="FFFFFF"/>
                    </a:solidFill>
                  </a:tcPr>
                </a:tc>
                <a:tc>
                  <a:txBody>
                    <a:bodyPr/>
                    <a:lstStyle/>
                    <a:p>
                      <a:pPr algn="l"/>
                      <a:r>
                        <a:rPr sz="1500" b="0">
                          <a:solidFill>
                            <a:srgbClr val="142B33"/>
                          </a:solidFill>
                          <a:latin typeface="Calibri"/>
                        </a:rPr>
                        <a:t>Estimar principales e interacciones dobles</a:t>
                      </a:r>
                    </a:p>
                  </a:txBody>
                  <a:tcPr marL="73152" marR="73152" marT="27432" marB="27432" anchor="ctr">
                    <a:solidFill>
                      <a:srgbClr val="FFFFFF"/>
                    </a:solidFill>
                  </a:tcPr>
                </a:tc>
              </a:tr>
            </a:tbl>
          </a:graphicData>
        </a:graphic>
      </p:graphicFrame>
      <p:sp>
        <p:nvSpPr>
          <p:cNvPr id="4" name="Rounded Rectangle 3"/>
          <p:cNvSpPr/>
          <p:nvPr/>
        </p:nvSpPr>
        <p:spPr>
          <a:xfrm>
            <a:off x="548640" y="395325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la </a:t>
            </a:r>
            <a:r>
              <a:rPr sz="1600" b="1">
                <a:solidFill>
                  <a:srgbClr val="142B33"/>
                </a:solidFill>
                <a:latin typeface="Calibri"/>
              </a:rPr>
              <a:t>resolución más alta</a:t>
            </a:r>
            <a:r>
              <a:rPr sz="1600" b="0">
                <a:solidFill>
                  <a:srgbClr val="142B33"/>
                </a:solidFill>
                <a:latin typeface="Calibri"/>
              </a:rPr>
              <a:t> que permita el presupuesto de corridas. A más resolución, menos supuestos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Resolución del diseño</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15</a:t>
            </a:r>
          </a:p>
        </p:txBody>
      </p:sp>
      <p:sp>
        <p:nvSpPr>
          <p:cNvPr id="7" name="Rounded Rectangle 6"/>
          <p:cNvSpPr/>
          <p:nvPr/>
        </p:nvSpPr>
        <p:spPr>
          <a:xfrm>
            <a:off x="548640" y="91440"/>
            <a:ext cx="274320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2 · Resolución del diseño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medio 2</a:t>
            </a:r>
            <a:r>
              <a:rPr sz="4400" b="1" baseline="30000">
                <a:solidFill>
                  <a:srgbClr val="FFFFFF"/>
                </a:solidFill>
                <a:latin typeface="Cambria"/>
              </a:rPr>
              <a:t>k−1</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3</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Alias, construcción, proyección y dos ejemplos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La fracción un medio: el 2</a:t>
            </a:r>
            <a:r>
              <a:rPr sz="3000" b="1" baseline="30000">
                <a:solidFill>
                  <a:srgbClr val="0F4C5C"/>
                </a:solidFill>
                <a:latin typeface="Cambria"/>
              </a:rPr>
              <a:t>3−1</a:t>
            </a:r>
            <a:r>
              <a:rPr sz="3000" b="1">
                <a:solidFill>
                  <a:srgbClr val="0F4C5C"/>
                </a:solidFill>
                <a:latin typeface="Cambria"/>
              </a:rPr>
              <a:t> con I = ABC</a:t>
            </a:r>
          </a:p>
        </p:txBody>
      </p:sp>
      <p:graphicFrame>
        <p:nvGraphicFramePr>
          <p:cNvPr id="3" name="Table 2"/>
          <p:cNvGraphicFramePr>
            <a:graphicFrameLocks noGrp="1"/>
          </p:cNvGraphicFramePr>
          <p:nvPr/>
        </p:nvGraphicFramePr>
        <p:xfrm>
          <a:off x="548640" y="1417320"/>
          <a:ext cx="5982443" cy="3161538"/>
        </p:xfrm>
        <a:graphic>
          <a:graphicData uri="http://schemas.openxmlformats.org/drawingml/2006/table">
            <a:tbl>
              <a:tblPr firstRow="0" bandRow="0">
                <a:tableStyleId>{5C22544A-7EE6-4342-B048-85BDC9FD1C3A}</a:tableStyleId>
              </a:tblPr>
              <a:tblGrid>
                <a:gridCol w="1278907"/>
                <a:gridCol w="539983"/>
                <a:gridCol w="539983"/>
                <a:gridCol w="539983"/>
                <a:gridCol w="724714"/>
                <a:gridCol w="724714"/>
                <a:gridCol w="724714"/>
                <a:gridCol w="909445"/>
              </a:tblGrid>
              <a:tr h="351282">
                <a:tc>
                  <a:txBody>
                    <a:bodyPr/>
                    <a:lstStyle/>
                    <a:p>
                      <a:pPr algn="l"/>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AB</a:t>
                      </a:r>
                    </a:p>
                  </a:txBody>
                  <a:tcPr marL="73152" marR="73152" marT="27432" marB="27432" anchor="ctr">
                    <a:solidFill>
                      <a:srgbClr val="0F4C5C"/>
                    </a:solidFill>
                  </a:tcPr>
                </a:tc>
                <a:tc>
                  <a:txBody>
                    <a:bodyPr/>
                    <a:lstStyle/>
                    <a:p>
                      <a:pPr algn="ctr"/>
                      <a:r>
                        <a:rPr sz="1500" b="1">
                          <a:solidFill>
                            <a:srgbClr val="FFFFFF"/>
                          </a:solidFill>
                          <a:latin typeface="Calibri"/>
                        </a:rPr>
                        <a:t>AC</a:t>
                      </a:r>
                    </a:p>
                  </a:txBody>
                  <a:tcPr marL="73152" marR="73152" marT="27432" marB="27432" anchor="ctr">
                    <a:solidFill>
                      <a:srgbClr val="0F4C5C"/>
                    </a:solidFill>
                  </a:tcPr>
                </a:tc>
                <a:tc>
                  <a:txBody>
                    <a:bodyPr/>
                    <a:lstStyle/>
                    <a:p>
                      <a:pPr algn="ctr"/>
                      <a:r>
                        <a:rPr sz="1500" b="1">
                          <a:solidFill>
                            <a:srgbClr val="FFFFFF"/>
                          </a:solidFill>
                          <a:latin typeface="Calibri"/>
                        </a:rPr>
                        <a:t>BC</a:t>
                      </a:r>
                    </a:p>
                  </a:txBody>
                  <a:tcPr marL="73152" marR="73152" marT="27432" marB="27432" anchor="ctr">
                    <a:solidFill>
                      <a:srgbClr val="0F4C5C"/>
                    </a:solidFill>
                  </a:tcPr>
                </a:tc>
                <a:tc>
                  <a:txBody>
                    <a:bodyPr/>
                    <a:lstStyle/>
                    <a:p>
                      <a:pPr algn="ctr"/>
                      <a:r>
                        <a:rPr sz="1500" b="1">
                          <a:solidFill>
                            <a:srgbClr val="FFFFFF"/>
                          </a:solidFill>
                          <a:latin typeface="Calibri"/>
                        </a:rPr>
                        <a:t>ABC</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l"/>
                      <a:r>
                        <a:rPr sz="1500" b="0">
                          <a:solidFill>
                            <a:srgbClr val="142B33"/>
                          </a:solidFill>
                          <a:latin typeface="Calibri"/>
                        </a:rPr>
                        <a:t>bc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l"/>
                      <a:r>
                        <a:rPr sz="1500" b="0">
                          <a:solidFill>
                            <a:srgbClr val="142B33"/>
                          </a:solidFill>
                          <a:latin typeface="Calibri"/>
                        </a:rPr>
                        <a:t>abc</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bl>
          </a:graphicData>
        </a:graphic>
      </p:graphicFrame>
      <p:sp>
        <p:nvSpPr>
          <p:cNvPr id="4" name="Rounded Rectangle 3"/>
          <p:cNvSpPr/>
          <p:nvPr/>
        </p:nvSpPr>
        <p:spPr>
          <a:xfrm>
            <a:off x="548640" y="4780026"/>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Fracción principal: corridas con </a:t>
            </a:r>
            <a:r>
              <a:rPr sz="1500" b="1">
                <a:solidFill>
                  <a:srgbClr val="142B33"/>
                </a:solidFill>
                <a:latin typeface="Calibri"/>
              </a:rPr>
              <a:t>ABC = +</a:t>
            </a:r>
            <a:r>
              <a:rPr sz="1500" b="0">
                <a:solidFill>
                  <a:srgbClr val="142B33"/>
                </a:solidFill>
                <a:latin typeface="Calibri"/>
              </a:rPr>
              <a:t>  →  a, b, c, abc</a:t>
            </a:r>
          </a:p>
        </p:txBody>
      </p:sp>
      <p:cxnSp>
        <p:nvCxnSpPr>
          <p:cNvPr id="5" name="Connector 4"/>
          <p:cNvCxnSpPr/>
          <p:nvPr/>
        </p:nvCxnSpPr>
        <p:spPr>
          <a:xfrm>
            <a:off x="8028011" y="3942527"/>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8028011"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028011"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9692219" y="3310128"/>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9692219" y="2278319"/>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893399" y="3310128"/>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8893399"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0557607" y="1645920"/>
            <a:ext cx="0" cy="166420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028011" y="2278319"/>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8028011"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9692219" y="1645920"/>
            <a:ext cx="865388" cy="632399"/>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893399" y="1645920"/>
            <a:ext cx="166420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872563" y="378707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86763" y="3613343"/>
            <a:ext cx="640080" cy="292608"/>
          </a:xfrm>
          <a:prstGeom prst="rect">
            <a:avLst/>
          </a:prstGeom>
          <a:noFill/>
        </p:spPr>
        <p:txBody>
          <a:bodyPr wrap="square" anchor="t" lIns="0" rIns="0" tIns="0" bIns="0">
            <a:spAutoFit/>
          </a:bodyPr>
          <a:lstStyle/>
          <a:p>
            <a:pPr algn="r"/>
            <a:r>
              <a:rPr sz="1500" b="0">
                <a:solidFill>
                  <a:srgbClr val="5B6B73"/>
                </a:solidFill>
                <a:latin typeface="Cambria Math"/>
              </a:rPr>
              <a:t>(1)</a:t>
            </a:r>
          </a:p>
        </p:txBody>
      </p:sp>
      <p:sp>
        <p:nvSpPr>
          <p:cNvPr id="19" name="Oval 18"/>
          <p:cNvSpPr/>
          <p:nvPr/>
        </p:nvSpPr>
        <p:spPr>
          <a:xfrm>
            <a:off x="9536771" y="378707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93387" y="3613343"/>
            <a:ext cx="640080" cy="292608"/>
          </a:xfrm>
          <a:prstGeom prst="rect">
            <a:avLst/>
          </a:prstGeom>
          <a:noFill/>
        </p:spPr>
        <p:txBody>
          <a:bodyPr wrap="square" anchor="t" lIns="0" rIns="0" tIns="0" bIns="0">
            <a:spAutoFit/>
          </a:bodyPr>
          <a:lstStyle/>
          <a:p>
            <a:pPr algn="l"/>
            <a:r>
              <a:rPr sz="1500" b="1">
                <a:solidFill>
                  <a:srgbClr val="E36414"/>
                </a:solidFill>
                <a:latin typeface="Cambria Math"/>
              </a:rPr>
              <a:t>a</a:t>
            </a:r>
          </a:p>
        </p:txBody>
      </p:sp>
      <p:sp>
        <p:nvSpPr>
          <p:cNvPr id="21" name="Oval 20"/>
          <p:cNvSpPr/>
          <p:nvPr/>
        </p:nvSpPr>
        <p:spPr>
          <a:xfrm>
            <a:off x="8737951" y="315468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52151" y="2980944"/>
            <a:ext cx="640080" cy="292608"/>
          </a:xfrm>
          <a:prstGeom prst="rect">
            <a:avLst/>
          </a:prstGeom>
          <a:noFill/>
        </p:spPr>
        <p:txBody>
          <a:bodyPr wrap="square" anchor="t" lIns="0" rIns="0" tIns="0" bIns="0">
            <a:spAutoFit/>
          </a:bodyPr>
          <a:lstStyle/>
          <a:p>
            <a:pPr algn="r"/>
            <a:r>
              <a:rPr sz="1500" b="1">
                <a:solidFill>
                  <a:srgbClr val="E36414"/>
                </a:solidFill>
                <a:latin typeface="Cambria Math"/>
              </a:rPr>
              <a:t>b</a:t>
            </a:r>
          </a:p>
        </p:txBody>
      </p:sp>
      <p:sp>
        <p:nvSpPr>
          <p:cNvPr id="23" name="Oval 22"/>
          <p:cNvSpPr/>
          <p:nvPr/>
        </p:nvSpPr>
        <p:spPr>
          <a:xfrm>
            <a:off x="10402159" y="315468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758775" y="2980944"/>
            <a:ext cx="640080" cy="292608"/>
          </a:xfrm>
          <a:prstGeom prst="rect">
            <a:avLst/>
          </a:prstGeom>
          <a:noFill/>
        </p:spPr>
        <p:txBody>
          <a:bodyPr wrap="square" anchor="t" lIns="0" rIns="0" tIns="0" bIns="0">
            <a:spAutoFit/>
          </a:bodyPr>
          <a:lstStyle/>
          <a:p>
            <a:pPr algn="l"/>
            <a:r>
              <a:rPr sz="1500" b="0">
                <a:solidFill>
                  <a:srgbClr val="5B6B73"/>
                </a:solidFill>
                <a:latin typeface="Cambria Math"/>
              </a:rPr>
              <a:t>ab</a:t>
            </a:r>
          </a:p>
        </p:txBody>
      </p:sp>
      <p:sp>
        <p:nvSpPr>
          <p:cNvPr id="25" name="Oval 24"/>
          <p:cNvSpPr/>
          <p:nvPr/>
        </p:nvSpPr>
        <p:spPr>
          <a:xfrm>
            <a:off x="7872563" y="2122871"/>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86763" y="1949135"/>
            <a:ext cx="640080" cy="292608"/>
          </a:xfrm>
          <a:prstGeom prst="rect">
            <a:avLst/>
          </a:prstGeom>
          <a:noFill/>
        </p:spPr>
        <p:txBody>
          <a:bodyPr wrap="square" anchor="t" lIns="0" rIns="0" tIns="0" bIns="0">
            <a:spAutoFit/>
          </a:bodyPr>
          <a:lstStyle/>
          <a:p>
            <a:pPr algn="r"/>
            <a:r>
              <a:rPr sz="1500" b="1">
                <a:solidFill>
                  <a:srgbClr val="E36414"/>
                </a:solidFill>
                <a:latin typeface="Cambria Math"/>
              </a:rPr>
              <a:t>c</a:t>
            </a:r>
          </a:p>
        </p:txBody>
      </p:sp>
      <p:sp>
        <p:nvSpPr>
          <p:cNvPr id="27" name="Oval 26"/>
          <p:cNvSpPr/>
          <p:nvPr/>
        </p:nvSpPr>
        <p:spPr>
          <a:xfrm>
            <a:off x="9536771" y="2122871"/>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93387" y="1949135"/>
            <a:ext cx="640080" cy="292608"/>
          </a:xfrm>
          <a:prstGeom prst="rect">
            <a:avLst/>
          </a:prstGeom>
          <a:noFill/>
        </p:spPr>
        <p:txBody>
          <a:bodyPr wrap="square" anchor="t" lIns="0" rIns="0" tIns="0" bIns="0">
            <a:spAutoFit/>
          </a:bodyPr>
          <a:lstStyle/>
          <a:p>
            <a:pPr algn="l"/>
            <a:r>
              <a:rPr sz="1500" b="0">
                <a:solidFill>
                  <a:srgbClr val="5B6B73"/>
                </a:solidFill>
                <a:latin typeface="Cambria Math"/>
              </a:rPr>
              <a:t>ac</a:t>
            </a:r>
          </a:p>
        </p:txBody>
      </p:sp>
      <p:sp>
        <p:nvSpPr>
          <p:cNvPr id="29" name="Oval 28"/>
          <p:cNvSpPr/>
          <p:nvPr/>
        </p:nvSpPr>
        <p:spPr>
          <a:xfrm>
            <a:off x="8737951"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52151" y="1316736"/>
            <a:ext cx="640080" cy="292608"/>
          </a:xfrm>
          <a:prstGeom prst="rect">
            <a:avLst/>
          </a:prstGeom>
          <a:noFill/>
        </p:spPr>
        <p:txBody>
          <a:bodyPr wrap="square" anchor="t" lIns="0" rIns="0" tIns="0" bIns="0">
            <a:spAutoFit/>
          </a:bodyPr>
          <a:lstStyle/>
          <a:p>
            <a:pPr algn="r"/>
            <a:r>
              <a:rPr sz="1500" b="0">
                <a:solidFill>
                  <a:srgbClr val="5B6B73"/>
                </a:solidFill>
                <a:latin typeface="Cambria Math"/>
              </a:rPr>
              <a:t>bc</a:t>
            </a:r>
          </a:p>
        </p:txBody>
      </p:sp>
      <p:sp>
        <p:nvSpPr>
          <p:cNvPr id="31" name="Oval 30"/>
          <p:cNvSpPr/>
          <p:nvPr/>
        </p:nvSpPr>
        <p:spPr>
          <a:xfrm>
            <a:off x="10402159"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58775" y="1316736"/>
            <a:ext cx="640080" cy="292608"/>
          </a:xfrm>
          <a:prstGeom prst="rect">
            <a:avLst/>
          </a:prstGeom>
          <a:noFill/>
        </p:spPr>
        <p:txBody>
          <a:bodyPr wrap="square" anchor="t" lIns="0" rIns="0" tIns="0" bIns="0">
            <a:spAutoFit/>
          </a:bodyPr>
          <a:lstStyle/>
          <a:p>
            <a:pPr algn="l"/>
            <a:r>
              <a:rPr sz="1500" b="1">
                <a:solidFill>
                  <a:srgbClr val="E36414"/>
                </a:solidFill>
                <a:latin typeface="Cambria Math"/>
              </a:rPr>
              <a:t>abc</a:t>
            </a:r>
          </a:p>
        </p:txBody>
      </p:sp>
      <p:sp>
        <p:nvSpPr>
          <p:cNvPr id="33" name="TextBox 32"/>
          <p:cNvSpPr txBox="1"/>
          <p:nvPr/>
        </p:nvSpPr>
        <p:spPr>
          <a:xfrm>
            <a:off x="6942563" y="507492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principal (I = ABC)</a:t>
            </a:r>
          </a:p>
        </p:txBody>
      </p:sp>
      <p:sp>
        <p:nvSpPr>
          <p:cNvPr id="34" name="TextBox 3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5" name="TextBox 3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17</a:t>
            </a:r>
          </a:p>
        </p:txBody>
      </p:sp>
      <p:sp>
        <p:nvSpPr>
          <p:cNvPr id="36" name="Rounded Rectangle 35"/>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alias y cómo se obtienen?</a:t>
            </a:r>
          </a:p>
        </p:txBody>
      </p:sp>
      <p:sp>
        <p:nvSpPr>
          <p:cNvPr id="3" name="Rounded Rectangle 2"/>
          <p:cNvSpPr/>
          <p:nvPr/>
        </p:nvSpPr>
        <p:spPr>
          <a:xfrm>
            <a:off x="548640" y="1417320"/>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ℓ</a:t>
            </a:r>
            <a:r>
              <a:rPr sz="2000" b="0" baseline="-25000">
                <a:solidFill>
                  <a:srgbClr val="0F4C5C"/>
                </a:solidFill>
                <a:latin typeface="Cambria Math"/>
              </a:rPr>
              <a:t>A</a:t>
            </a:r>
            <a:r>
              <a:rPr sz="2000" b="0">
                <a:solidFill>
                  <a:srgbClr val="0F4C5C"/>
                </a:solidFill>
                <a:latin typeface="Cambria Math"/>
              </a:rPr>
              <a:t> = ½ (a − b − c + abc) = ℓ</a:t>
            </a:r>
            <a:r>
              <a:rPr sz="2000" b="0" baseline="-25000">
                <a:solidFill>
                  <a:srgbClr val="0F4C5C"/>
                </a:solidFill>
                <a:latin typeface="Cambria Math"/>
              </a:rPr>
              <a:t>BC</a:t>
            </a:r>
          </a:p>
        </p:txBody>
      </p:sp>
      <p:sp>
        <p:nvSpPr>
          <p:cNvPr id="4" name="TextBox 3"/>
          <p:cNvSpPr txBox="1"/>
          <p:nvPr/>
        </p:nvSpPr>
        <p:spPr>
          <a:xfrm>
            <a:off x="548640" y="2239873"/>
            <a:ext cx="5341467" cy="164134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Dentro de la fracción, las columnas de </a:t>
            </a:r>
            <a:r>
              <a:rPr sz="1800" b="1">
                <a:solidFill>
                  <a:srgbClr val="142B33"/>
                </a:solidFill>
                <a:latin typeface="Calibri"/>
              </a:rPr>
              <a:t>A</a:t>
            </a:r>
            <a:r>
              <a:rPr sz="1800" b="0">
                <a:solidFill>
                  <a:srgbClr val="142B33"/>
                </a:solidFill>
                <a:latin typeface="Calibri"/>
              </a:rPr>
              <a:t> y de </a:t>
            </a:r>
            <a:r>
              <a:rPr sz="1800" b="1">
                <a:solidFill>
                  <a:srgbClr val="142B33"/>
                </a:solidFill>
                <a:latin typeface="Calibri"/>
              </a:rPr>
              <a:t>BC</a:t>
            </a:r>
            <a:r>
              <a:rPr sz="1800" b="0">
                <a:solidFill>
                  <a:srgbClr val="142B33"/>
                </a:solidFill>
                <a:latin typeface="Calibri"/>
              </a:rPr>
              <a:t> son idénticas</a:t>
            </a:r>
          </a:p>
          <a:p>
            <a:pPr marL="320040" indent="-320040">
              <a:spcAft>
                <a:spcPts val="600"/>
              </a:spcAft>
              <a:buClr>
                <a:srgbClr val="E36414"/>
              </a:buClr>
              <a:buFont typeface="Arial"/>
              <a:buChar char="•"/>
            </a:pPr>
            <a:r>
              <a:rPr sz="1800" b="0">
                <a:solidFill>
                  <a:srgbClr val="142B33"/>
                </a:solidFill>
                <a:latin typeface="Calibri"/>
              </a:rPr>
              <a:t>No se estima A, sino </a:t>
            </a:r>
            <a:r>
              <a:rPr sz="1800" b="1">
                <a:solidFill>
                  <a:srgbClr val="142B33"/>
                </a:solidFill>
                <a:latin typeface="Calibri"/>
              </a:rPr>
              <a:t>A + BC</a:t>
            </a:r>
          </a:p>
          <a:p>
            <a:pPr marL="320040" indent="-320040">
              <a:spcAft>
                <a:spcPts val="600"/>
              </a:spcAft>
              <a:buClr>
                <a:srgbClr val="E36414"/>
              </a:buClr>
              <a:buFont typeface="Arial"/>
              <a:buChar char="•"/>
            </a:pPr>
            <a:r>
              <a:rPr sz="1800" b="1">
                <a:solidFill>
                  <a:srgbClr val="142B33"/>
                </a:solidFill>
                <a:latin typeface="Calibri"/>
              </a:rPr>
              <a:t>Regla:</a:t>
            </a:r>
            <a:r>
              <a:rPr sz="1800" b="0">
                <a:solidFill>
                  <a:srgbClr val="142B33"/>
                </a:solidFill>
                <a:latin typeface="Calibri"/>
              </a:rPr>
              <a:t> multiplicar el efecto por la relación de definición (letra² = I)</a:t>
            </a:r>
          </a:p>
        </p:txBody>
      </p:sp>
      <p:sp>
        <p:nvSpPr>
          <p:cNvPr id="5" name="Rounded Rectangle 4"/>
          <p:cNvSpPr/>
          <p:nvPr/>
        </p:nvSpPr>
        <p:spPr>
          <a:xfrm>
            <a:off x="548640" y="4082389"/>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A · I = A · ABC = A</a:t>
            </a:r>
            <a:r>
              <a:rPr sz="2000" b="0" baseline="30000">
                <a:solidFill>
                  <a:srgbClr val="0F4C5C"/>
                </a:solidFill>
                <a:latin typeface="Cambria Math"/>
              </a:rPr>
              <a:t>2</a:t>
            </a:r>
            <a:r>
              <a:rPr sz="2000" b="0">
                <a:solidFill>
                  <a:srgbClr val="0F4C5C"/>
                </a:solidFill>
                <a:latin typeface="Cambria Math"/>
              </a:rPr>
              <a:t>BC = BC</a:t>
            </a:r>
          </a:p>
        </p:txBody>
      </p:sp>
      <p:graphicFrame>
        <p:nvGraphicFramePr>
          <p:cNvPr id="6" name="Table 5"/>
          <p:cNvGraphicFramePr>
            <a:graphicFrameLocks noGrp="1"/>
          </p:cNvGraphicFramePr>
          <p:nvPr/>
        </p:nvGraphicFramePr>
        <p:xfrm>
          <a:off x="6301587" y="1417320"/>
          <a:ext cx="5341466" cy="1715008"/>
        </p:xfrm>
        <a:graphic>
          <a:graphicData uri="http://schemas.openxmlformats.org/drawingml/2006/table">
            <a:tbl>
              <a:tblPr firstRow="0" bandRow="0">
                <a:tableStyleId>{5C22544A-7EE6-4342-B048-85BDC9FD1C3A}</a:tableStyleId>
              </a:tblPr>
              <a:tblGrid>
                <a:gridCol w="854634"/>
                <a:gridCol w="2243416"/>
                <a:gridCol w="2243416"/>
              </a:tblGrid>
              <a:tr h="614680">
                <a:tc>
                  <a:txBody>
                    <a:bodyPr/>
                    <a:lstStyle/>
                    <a:p>
                      <a:pPr algn="ctr"/>
                    </a:p>
                  </a:txBody>
                  <a:tcPr marL="73152" marR="73152" marT="27432" marB="27432" anchor="ctr">
                    <a:solidFill>
                      <a:srgbClr val="0F4C5C"/>
                    </a:solidFill>
                  </a:tcPr>
                </a:tc>
                <a:tc>
                  <a:txBody>
                    <a:bodyPr/>
                    <a:lstStyle/>
                    <a:p>
                      <a:pPr algn="ctr"/>
                      <a:r>
                        <a:rPr sz="1600" b="1">
                          <a:solidFill>
                            <a:srgbClr val="FFFFFF"/>
                          </a:solidFill>
                          <a:latin typeface="Calibri"/>
                        </a:rPr>
                        <a:t>Principal (I = ABC)</a:t>
                      </a:r>
                    </a:p>
                  </a:txBody>
                  <a:tcPr marL="73152" marR="73152" marT="27432" marB="27432" anchor="ctr">
                    <a:solidFill>
                      <a:srgbClr val="0F4C5C"/>
                    </a:solidFill>
                  </a:tcPr>
                </a:tc>
                <a:tc>
                  <a:txBody>
                    <a:bodyPr/>
                    <a:lstStyle/>
                    <a:p>
                      <a:pPr algn="ctr"/>
                      <a:r>
                        <a:rPr sz="1600" b="1">
                          <a:solidFill>
                            <a:srgbClr val="FFFFFF"/>
                          </a:solidFill>
                          <a:latin typeface="Calibri"/>
                        </a:rPr>
                        <a:t>Alterna (I = −ABC)</a:t>
                      </a:r>
                    </a:p>
                  </a:txBody>
                  <a:tcPr marL="73152" marR="73152" marT="27432" marB="27432" anchor="ctr">
                    <a:solidFill>
                      <a:srgbClr val="0F4C5C"/>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c>
                  <a:txBody>
                    <a:bodyPr/>
                    <a:lstStyle/>
                    <a:p>
                      <a:pPr algn="ctr"/>
                      <a:r>
                        <a:rPr sz="1600" b="0">
                          <a:solidFill>
                            <a:srgbClr val="142B33"/>
                          </a:solidFill>
                          <a:latin typeface="Calibri"/>
                        </a:rPr>
                        <a:t>A − BC</a:t>
                      </a:r>
                    </a:p>
                  </a:txBody>
                  <a:tcPr marL="73152" marR="73152" marT="27432" marB="27432" anchor="ctr">
                    <a:solidFill>
                      <a:srgbClr val="FFFFFF"/>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c>
                  <a:txBody>
                    <a:bodyPr/>
                    <a:lstStyle/>
                    <a:p>
                      <a:pPr algn="ctr"/>
                      <a:r>
                        <a:rPr sz="1600" b="0">
                          <a:solidFill>
                            <a:srgbClr val="142B33"/>
                          </a:solidFill>
                          <a:latin typeface="Calibri"/>
                        </a:rPr>
                        <a:t>B − AC</a:t>
                      </a:r>
                    </a:p>
                  </a:txBody>
                  <a:tcPr marL="73152" marR="73152" marT="27432" marB="27432" anchor="ctr">
                    <a:solidFill>
                      <a:srgbClr val="F4F8F9"/>
                    </a:solidFill>
                  </a:tcPr>
                </a:tc>
              </a:tr>
              <a:tr h="366776">
                <a:tc>
                  <a:txBody>
                    <a:bodyPr/>
                    <a:lstStyle/>
                    <a:p>
                      <a:pPr algn="ctr"/>
                      <a:r>
                        <a:rPr sz="1600" b="0">
                          <a:solidFill>
                            <a:srgbClr val="142B33"/>
                          </a:solidFill>
                          <a:latin typeface="Calibri"/>
                        </a:rPr>
                        <a:t>ℓ</a:t>
                      </a:r>
                      <a:r>
                        <a:rPr sz="1600" b="0" baseline="-2500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c>
                  <a:txBody>
                    <a:bodyPr/>
                    <a:lstStyle/>
                    <a:p>
                      <a:pPr algn="ctr"/>
                      <a:r>
                        <a:rPr sz="1600" b="0">
                          <a:solidFill>
                            <a:srgbClr val="142B33"/>
                          </a:solidFill>
                          <a:latin typeface="Calibri"/>
                        </a:rPr>
                        <a:t>C − AB</a:t>
                      </a:r>
                    </a:p>
                  </a:txBody>
                  <a:tcPr marL="73152" marR="73152" marT="27432" marB="27432" anchor="ctr">
                    <a:solidFill>
                      <a:srgbClr val="FFFFFF"/>
                    </a:solidFill>
                  </a:tcPr>
                </a:tc>
              </a:tr>
            </a:tbl>
          </a:graphicData>
        </a:graphic>
      </p:graphicFrame>
      <p:sp>
        <p:nvSpPr>
          <p:cNvPr id="7" name="Rounded Rectangle 6"/>
          <p:cNvSpPr/>
          <p:nvPr/>
        </p:nvSpPr>
        <p:spPr>
          <a:xfrm>
            <a:off x="6301587" y="3333495"/>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las dos fracciones se separan el efecto principal y la interacción</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18</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Fracción principal, fracción alterna y familia</a:t>
            </a:r>
          </a:p>
        </p:txBody>
      </p:sp>
      <p:cxnSp>
        <p:nvCxnSpPr>
          <p:cNvPr id="3" name="Connector 2"/>
          <p:cNvCxnSpPr/>
          <p:nvPr/>
        </p:nvCxnSpPr>
        <p:spPr>
          <a:xfrm>
            <a:off x="1923184" y="3417588"/>
            <a:ext cx="1283817"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V="1">
            <a:off x="1923184" y="2929737"/>
            <a:ext cx="667585"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923184" y="2133770"/>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3207001" y="2929737"/>
            <a:ext cx="667586"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3207001" y="2133770"/>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590769" y="2929737"/>
            <a:ext cx="128381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590769" y="1645919"/>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3874587" y="1645919"/>
            <a:ext cx="0" cy="1283818"/>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23184" y="2133770"/>
            <a:ext cx="1283817"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1923184" y="1645919"/>
            <a:ext cx="667585"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207001" y="1645919"/>
            <a:ext cx="667586" cy="487851"/>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590769" y="1645919"/>
            <a:ext cx="1283818" cy="0"/>
          </a:xfrm>
          <a:prstGeom prst="line">
            <a:avLst/>
          </a:prstGeom>
          <a:ln w="15875">
            <a:solidFill>
              <a:srgbClr val="9AA8AE"/>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767736" y="3262140"/>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81936" y="3088404"/>
            <a:ext cx="640080" cy="292608"/>
          </a:xfrm>
          <a:prstGeom prst="rect">
            <a:avLst/>
          </a:prstGeom>
          <a:noFill/>
        </p:spPr>
        <p:txBody>
          <a:bodyPr wrap="square" anchor="t" lIns="0" rIns="0" tIns="0" bIns="0">
            <a:spAutoFit/>
          </a:bodyPr>
          <a:lstStyle/>
          <a:p>
            <a:pPr algn="r"/>
            <a:r>
              <a:rPr sz="1500" b="1">
                <a:solidFill>
                  <a:srgbClr val="E36414"/>
                </a:solidFill>
                <a:latin typeface="Cambria Math"/>
              </a:rPr>
              <a:t>(1)</a:t>
            </a:r>
          </a:p>
        </p:txBody>
      </p:sp>
      <p:sp>
        <p:nvSpPr>
          <p:cNvPr id="17" name="Oval 16"/>
          <p:cNvSpPr/>
          <p:nvPr/>
        </p:nvSpPr>
        <p:spPr>
          <a:xfrm>
            <a:off x="3051553" y="3262140"/>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08169" y="3088404"/>
            <a:ext cx="640080" cy="292608"/>
          </a:xfrm>
          <a:prstGeom prst="rect">
            <a:avLst/>
          </a:prstGeom>
          <a:noFill/>
        </p:spPr>
        <p:txBody>
          <a:bodyPr wrap="square" anchor="t" lIns="0" rIns="0" tIns="0" bIns="0">
            <a:spAutoFit/>
          </a:bodyPr>
          <a:lstStyle/>
          <a:p>
            <a:pPr algn="l"/>
            <a:r>
              <a:rPr sz="1500" b="0">
                <a:solidFill>
                  <a:srgbClr val="5B6B73"/>
                </a:solidFill>
                <a:latin typeface="Cambria Math"/>
              </a:rPr>
              <a:t>a</a:t>
            </a:r>
          </a:p>
        </p:txBody>
      </p:sp>
      <p:sp>
        <p:nvSpPr>
          <p:cNvPr id="19" name="Oval 18"/>
          <p:cNvSpPr/>
          <p:nvPr/>
        </p:nvSpPr>
        <p:spPr>
          <a:xfrm>
            <a:off x="2435321" y="2774289"/>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49521" y="2600553"/>
            <a:ext cx="640080" cy="292608"/>
          </a:xfrm>
          <a:prstGeom prst="rect">
            <a:avLst/>
          </a:prstGeom>
          <a:noFill/>
        </p:spPr>
        <p:txBody>
          <a:bodyPr wrap="square" anchor="t" lIns="0" rIns="0" tIns="0" bIns="0">
            <a:spAutoFit/>
          </a:bodyPr>
          <a:lstStyle/>
          <a:p>
            <a:pPr algn="r"/>
            <a:r>
              <a:rPr sz="1500" b="0">
                <a:solidFill>
                  <a:srgbClr val="5B6B73"/>
                </a:solidFill>
                <a:latin typeface="Cambria Math"/>
              </a:rPr>
              <a:t>b</a:t>
            </a:r>
          </a:p>
        </p:txBody>
      </p:sp>
      <p:sp>
        <p:nvSpPr>
          <p:cNvPr id="21" name="Oval 20"/>
          <p:cNvSpPr/>
          <p:nvPr/>
        </p:nvSpPr>
        <p:spPr>
          <a:xfrm>
            <a:off x="3719139" y="2774289"/>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075755" y="2600553"/>
            <a:ext cx="640080" cy="292608"/>
          </a:xfrm>
          <a:prstGeom prst="rect">
            <a:avLst/>
          </a:prstGeom>
          <a:noFill/>
        </p:spPr>
        <p:txBody>
          <a:bodyPr wrap="square" anchor="t" lIns="0" rIns="0" tIns="0" bIns="0">
            <a:spAutoFit/>
          </a:bodyPr>
          <a:lstStyle/>
          <a:p>
            <a:pPr algn="l"/>
            <a:r>
              <a:rPr sz="1500" b="1">
                <a:solidFill>
                  <a:srgbClr val="E36414"/>
                </a:solidFill>
                <a:latin typeface="Cambria Math"/>
              </a:rPr>
              <a:t>ab</a:t>
            </a:r>
          </a:p>
        </p:txBody>
      </p:sp>
      <p:sp>
        <p:nvSpPr>
          <p:cNvPr id="23" name="Oval 22"/>
          <p:cNvSpPr/>
          <p:nvPr/>
        </p:nvSpPr>
        <p:spPr>
          <a:xfrm>
            <a:off x="1767736" y="197832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81936" y="1804586"/>
            <a:ext cx="640080" cy="292608"/>
          </a:xfrm>
          <a:prstGeom prst="rect">
            <a:avLst/>
          </a:prstGeom>
          <a:noFill/>
        </p:spPr>
        <p:txBody>
          <a:bodyPr wrap="square" anchor="t" lIns="0" rIns="0" tIns="0" bIns="0">
            <a:spAutoFit/>
          </a:bodyPr>
          <a:lstStyle/>
          <a:p>
            <a:pPr algn="r"/>
            <a:r>
              <a:rPr sz="1500" b="0">
                <a:solidFill>
                  <a:srgbClr val="5B6B73"/>
                </a:solidFill>
                <a:latin typeface="Cambria Math"/>
              </a:rPr>
              <a:t>c</a:t>
            </a:r>
          </a:p>
        </p:txBody>
      </p:sp>
      <p:sp>
        <p:nvSpPr>
          <p:cNvPr id="25" name="Oval 24"/>
          <p:cNvSpPr/>
          <p:nvPr/>
        </p:nvSpPr>
        <p:spPr>
          <a:xfrm>
            <a:off x="3051553" y="197832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408169" y="1804586"/>
            <a:ext cx="640080" cy="292608"/>
          </a:xfrm>
          <a:prstGeom prst="rect">
            <a:avLst/>
          </a:prstGeom>
          <a:noFill/>
        </p:spPr>
        <p:txBody>
          <a:bodyPr wrap="square" anchor="t" lIns="0" rIns="0" tIns="0" bIns="0">
            <a:spAutoFit/>
          </a:bodyPr>
          <a:lstStyle/>
          <a:p>
            <a:pPr algn="l"/>
            <a:r>
              <a:rPr sz="1500" b="1">
                <a:solidFill>
                  <a:srgbClr val="E36414"/>
                </a:solidFill>
                <a:latin typeface="Cambria Math"/>
              </a:rPr>
              <a:t>ac</a:t>
            </a:r>
          </a:p>
        </p:txBody>
      </p:sp>
      <p:sp>
        <p:nvSpPr>
          <p:cNvPr id="27" name="Oval 26"/>
          <p:cNvSpPr/>
          <p:nvPr/>
        </p:nvSpPr>
        <p:spPr>
          <a:xfrm>
            <a:off x="2435321" y="1490472"/>
            <a:ext cx="310896" cy="310896"/>
          </a:xfrm>
          <a:prstGeom prst="ellipse">
            <a:avLst/>
          </a:prstGeom>
          <a:solidFill>
            <a:srgbClr val="E36414"/>
          </a:solidFill>
          <a:ln w="19050">
            <a:solidFill>
              <a:srgbClr val="E364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749521" y="1316736"/>
            <a:ext cx="640080" cy="292608"/>
          </a:xfrm>
          <a:prstGeom prst="rect">
            <a:avLst/>
          </a:prstGeom>
          <a:noFill/>
        </p:spPr>
        <p:txBody>
          <a:bodyPr wrap="square" anchor="t" lIns="0" rIns="0" tIns="0" bIns="0">
            <a:spAutoFit/>
          </a:bodyPr>
          <a:lstStyle/>
          <a:p>
            <a:pPr algn="r"/>
            <a:r>
              <a:rPr sz="1500" b="1">
                <a:solidFill>
                  <a:srgbClr val="E36414"/>
                </a:solidFill>
                <a:latin typeface="Cambria Math"/>
              </a:rPr>
              <a:t>bc</a:t>
            </a:r>
          </a:p>
        </p:txBody>
      </p:sp>
      <p:sp>
        <p:nvSpPr>
          <p:cNvPr id="29" name="Oval 28"/>
          <p:cNvSpPr/>
          <p:nvPr/>
        </p:nvSpPr>
        <p:spPr>
          <a:xfrm>
            <a:off x="3719139" y="1490472"/>
            <a:ext cx="310896" cy="310896"/>
          </a:xfrm>
          <a:prstGeom prst="ellipse">
            <a:avLst/>
          </a:prstGeom>
          <a:solidFill>
            <a:srgbClr val="FFFFFF"/>
          </a:solidFill>
          <a:ln w="19050">
            <a:solidFill>
              <a:srgbClr val="9AA8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075755" y="1316736"/>
            <a:ext cx="640080" cy="292608"/>
          </a:xfrm>
          <a:prstGeom prst="rect">
            <a:avLst/>
          </a:prstGeom>
          <a:noFill/>
        </p:spPr>
        <p:txBody>
          <a:bodyPr wrap="square" anchor="t" lIns="0" rIns="0" tIns="0" bIns="0">
            <a:spAutoFit/>
          </a:bodyPr>
          <a:lstStyle/>
          <a:p>
            <a:pPr algn="l"/>
            <a:r>
              <a:rPr sz="1500" b="0">
                <a:solidFill>
                  <a:srgbClr val="5B6B73"/>
                </a:solidFill>
                <a:latin typeface="Cambria Math"/>
              </a:rPr>
              <a:t>abc</a:t>
            </a:r>
          </a:p>
        </p:txBody>
      </p:sp>
      <p:sp>
        <p:nvSpPr>
          <p:cNvPr id="31" name="TextBox 30"/>
          <p:cNvSpPr txBox="1"/>
          <p:nvPr/>
        </p:nvSpPr>
        <p:spPr>
          <a:xfrm>
            <a:off x="548640" y="4343400"/>
            <a:ext cx="4700491" cy="365760"/>
          </a:xfrm>
          <a:prstGeom prst="rect">
            <a:avLst/>
          </a:prstGeom>
          <a:noFill/>
        </p:spPr>
        <p:txBody>
          <a:bodyPr wrap="square" anchor="t" lIns="0" rIns="0" tIns="0" bIns="0">
            <a:spAutoFit/>
          </a:bodyPr>
          <a:lstStyle/>
          <a:p>
            <a:pPr algn="ctr"/>
            <a:r>
              <a:rPr sz="1300" b="0">
                <a:solidFill>
                  <a:srgbClr val="5B6B73"/>
                </a:solidFill>
                <a:latin typeface="Calibri"/>
              </a:rPr>
              <a:t>Vértices rellenos: fracción alterna (I = −ABC)</a:t>
            </a:r>
          </a:p>
        </p:txBody>
      </p:sp>
      <p:sp>
        <p:nvSpPr>
          <p:cNvPr id="32" name="TextBox 31"/>
          <p:cNvSpPr txBox="1"/>
          <p:nvPr/>
        </p:nvSpPr>
        <p:spPr>
          <a:xfrm>
            <a:off x="548640" y="4910328"/>
            <a:ext cx="4700491"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Principal </a:t>
            </a:r>
            <a:r>
              <a:rPr sz="1500" b="1">
                <a:solidFill>
                  <a:srgbClr val="142B33"/>
                </a:solidFill>
                <a:latin typeface="Calibri"/>
              </a:rPr>
              <a:t>I = +ABC</a:t>
            </a:r>
            <a:r>
              <a:rPr sz="1500" b="0">
                <a:solidFill>
                  <a:srgbClr val="142B33"/>
                </a:solidFill>
                <a:latin typeface="Calibri"/>
              </a:rPr>
              <a:t>: a, b, c, abc</a:t>
            </a:r>
          </a:p>
          <a:p>
            <a:pPr marL="320040" indent="-320040">
              <a:spcAft>
                <a:spcPts val="600"/>
              </a:spcAft>
              <a:buClr>
                <a:srgbClr val="E36414"/>
              </a:buClr>
              <a:buFont typeface="Arial"/>
              <a:buChar char="•"/>
            </a:pPr>
            <a:r>
              <a:rPr sz="1500" b="0">
                <a:solidFill>
                  <a:srgbClr val="142B33"/>
                </a:solidFill>
                <a:latin typeface="Calibri"/>
              </a:rPr>
              <a:t>Alterna </a:t>
            </a:r>
            <a:r>
              <a:rPr sz="1500" b="1">
                <a:solidFill>
                  <a:srgbClr val="142B33"/>
                </a:solidFill>
                <a:latin typeface="Calibri"/>
              </a:rPr>
              <a:t>I = −ABC</a:t>
            </a:r>
            <a:r>
              <a:rPr sz="1500" b="0">
                <a:solidFill>
                  <a:srgbClr val="142B33"/>
                </a:solidFill>
                <a:latin typeface="Calibri"/>
              </a:rPr>
              <a:t>: (1), ab, ac, bc</a:t>
            </a:r>
          </a:p>
          <a:p>
            <a:pPr marL="320040" indent="-320040">
              <a:spcAft>
                <a:spcPts val="600"/>
              </a:spcAft>
              <a:buClr>
                <a:srgbClr val="E36414"/>
              </a:buClr>
              <a:buFont typeface="Arial"/>
              <a:buChar char="•"/>
            </a:pPr>
            <a:r>
              <a:rPr sz="1500" b="0">
                <a:solidFill>
                  <a:srgbClr val="142B33"/>
                </a:solidFill>
                <a:latin typeface="Calibri"/>
              </a:rPr>
              <a:t>Las dos juntas forman el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en dos bloques</a:t>
            </a:r>
          </a:p>
        </p:txBody>
      </p:sp>
      <p:sp>
        <p:nvSpPr>
          <p:cNvPr id="33" name="Rounded Rectangle 32"/>
          <p:cNvSpPr/>
          <p:nvPr/>
        </p:nvSpPr>
        <p:spPr>
          <a:xfrm>
            <a:off x="5660611" y="1417320"/>
            <a:ext cx="5982443"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½ (A + BC + A − BC) → A</a:t>
            </a:r>
          </a:p>
          <a:p>
            <a:pPr algn="ctr"/>
            <a:r>
              <a:rPr sz="1600" b="0">
                <a:solidFill>
                  <a:srgbClr val="0F4C5C"/>
                </a:solidFill>
                <a:latin typeface="Cambria Math"/>
              </a:rPr>
              <a:t>½ (ℓ</a:t>
            </a:r>
            <a:r>
              <a:rPr sz="1600" b="0" baseline="-25000">
                <a:solidFill>
                  <a:srgbClr val="0F4C5C"/>
                </a:solidFill>
                <a:latin typeface="Cambria Math"/>
              </a:rPr>
              <a:t>A</a:t>
            </a:r>
            <a:r>
              <a:rPr sz="1600" b="0">
                <a:solidFill>
                  <a:srgbClr val="0F4C5C"/>
                </a:solidFill>
                <a:latin typeface="Cambria Math"/>
              </a:rPr>
              <a:t> − ℓ′</a:t>
            </a:r>
            <a:r>
              <a:rPr sz="1600" b="0" baseline="-25000">
                <a:solidFill>
                  <a:srgbClr val="0F4C5C"/>
                </a:solidFill>
                <a:latin typeface="Cambria Math"/>
              </a:rPr>
              <a:t>A</a:t>
            </a:r>
            <a:r>
              <a:rPr sz="1600" b="0">
                <a:solidFill>
                  <a:srgbClr val="0F4C5C"/>
                </a:solidFill>
                <a:latin typeface="Cambria Math"/>
              </a:rPr>
              <a:t>) = ½ (A + BC − A + BC) → BC</a:t>
            </a:r>
          </a:p>
        </p:txBody>
      </p:sp>
      <p:graphicFrame>
        <p:nvGraphicFramePr>
          <p:cNvPr id="34" name="Table 33"/>
          <p:cNvGraphicFramePr>
            <a:graphicFrameLocks noGrp="1"/>
          </p:cNvGraphicFramePr>
          <p:nvPr/>
        </p:nvGraphicFramePr>
        <p:xfrm>
          <a:off x="5660611" y="2448112"/>
          <a:ext cx="5982441" cy="1467104"/>
        </p:xfrm>
        <a:graphic>
          <a:graphicData uri="http://schemas.openxmlformats.org/drawingml/2006/table">
            <a:tbl>
              <a:tblPr firstRow="0" bandRow="0">
                <a:tableStyleId>{5C22544A-7EE6-4342-B048-85BDC9FD1C3A}</a:tableStyleId>
              </a:tblPr>
              <a:tblGrid>
                <a:gridCol w="475591"/>
                <a:gridCol w="2753425"/>
                <a:gridCol w="2753425"/>
              </a:tblGrid>
              <a:tr h="366776">
                <a:tc>
                  <a:txBody>
                    <a:bodyPr/>
                    <a:lstStyle/>
                    <a:p>
                      <a:pPr algn="ctr"/>
                      <a:r>
                        <a:rPr sz="1600" b="1">
                          <a:solidFill>
                            <a:srgbClr val="FFFFFF"/>
                          </a:solidFill>
                          <a:latin typeface="Calibri"/>
                        </a:rPr>
                        <a:t>i</a:t>
                      </a:r>
                    </a:p>
                  </a:txBody>
                  <a:tcPr marL="73152" marR="73152" marT="27432" marB="27432" anchor="ctr">
                    <a:solidFill>
                      <a:srgbClr val="0F4C5C"/>
                    </a:solidFill>
                  </a:tcPr>
                </a:tc>
                <a:tc>
                  <a:txBody>
                    <a:bodyPr/>
                    <a:lstStyle/>
                    <a:p>
                      <a:pPr algn="ctr"/>
                      <a:r>
                        <a:rPr sz="1600" b="1">
                          <a:solidFill>
                            <a:srgbClr val="FFFFFF"/>
                          </a:solidFill>
                          <a:latin typeface="Calibri"/>
                        </a:rPr>
                        <a:t>De ½ (ℓ</a:t>
                      </a:r>
                      <a:r>
                        <a:rPr sz="1600" b="1" baseline="-25000">
                          <a:solidFill>
                            <a:srgbClr val="FFFFFF"/>
                          </a:solidFill>
                          <a:latin typeface="Calibri"/>
                        </a:rPr>
                        <a:t>i</a:t>
                      </a:r>
                      <a:r>
                        <a:rPr sz="1600" b="1">
                          <a:solidFill>
                            <a:srgbClr val="FFFFFF"/>
                          </a:solidFill>
                          <a:latin typeface="Calibri"/>
                        </a:rPr>
                        <a:t> + ℓ′</a:t>
                      </a:r>
                      <a:r>
                        <a:rPr sz="1600" b="1" baseline="-25000">
                          <a:solidFill>
                            <a:srgbClr val="FFFFFF"/>
                          </a:solidFill>
                          <a:latin typeface="Calibri"/>
                        </a:rPr>
                        <a:t>i</a:t>
                      </a:r>
                      <a:r>
                        <a:rPr sz="1600" b="1">
                          <a:solidFill>
                            <a:srgbClr val="FFFFFF"/>
                          </a:solidFill>
                          <a:latin typeface="Calibri"/>
                        </a:rPr>
                        <a:t>)</a:t>
                      </a:r>
                    </a:p>
                  </a:txBody>
                  <a:tcPr marL="73152" marR="73152" marT="27432" marB="27432" anchor="ctr">
                    <a:solidFill>
                      <a:srgbClr val="0F4C5C"/>
                    </a:solidFill>
                  </a:tcPr>
                </a:tc>
                <a:tc>
                  <a:txBody>
                    <a:bodyPr/>
                    <a:lstStyle/>
                    <a:p>
                      <a:pPr algn="ctr"/>
                      <a:r>
                        <a:rPr sz="1600" b="1">
                          <a:solidFill>
                            <a:srgbClr val="FFFFFF"/>
                          </a:solidFill>
                          <a:latin typeface="Calibri"/>
                        </a:rPr>
                        <a:t>De ½ (ℓ</a:t>
                      </a:r>
                      <a:r>
                        <a:rPr sz="1600" b="1" baseline="-25000">
                          <a:solidFill>
                            <a:srgbClr val="FFFFFF"/>
                          </a:solidFill>
                          <a:latin typeface="Calibri"/>
                        </a:rPr>
                        <a:t>i</a:t>
                      </a:r>
                      <a:r>
                        <a:rPr sz="1600" b="1">
                          <a:solidFill>
                            <a:srgbClr val="FFFFFF"/>
                          </a:solidFill>
                          <a:latin typeface="Calibri"/>
                        </a:rPr>
                        <a:t> − ℓ′</a:t>
                      </a:r>
                      <a:r>
                        <a:rPr sz="1600" b="1" baseline="-25000">
                          <a:solidFill>
                            <a:srgbClr val="FFFFFF"/>
                          </a:solidFill>
                          <a:latin typeface="Calibri"/>
                        </a:rPr>
                        <a:t>i</a:t>
                      </a:r>
                      <a:r>
                        <a:rPr sz="1600" b="1">
                          <a:solidFill>
                            <a:srgbClr val="FFFFFF"/>
                          </a:solidFill>
                          <a:latin typeface="Calibri"/>
                        </a:rPr>
                        <a:t>)</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BC</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AC</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AB</a:t>
                      </a:r>
                    </a:p>
                  </a:txBody>
                  <a:tcPr marL="73152" marR="73152" marT="27432" marB="27432" anchor="ctr">
                    <a:solidFill>
                      <a:srgbClr val="FFFFFF"/>
                    </a:solidFill>
                  </a:tcPr>
                </a:tc>
              </a:tr>
            </a:tbl>
          </a:graphicData>
        </a:graphic>
      </p:graphicFrame>
      <p:sp>
        <p:nvSpPr>
          <p:cNvPr id="35" name="Rounded Rectangle 34"/>
          <p:cNvSpPr/>
          <p:nvPr/>
        </p:nvSpPr>
        <p:spPr>
          <a:xfrm>
            <a:off x="5660611" y="4116384"/>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práctica </a:t>
            </a:r>
            <a:r>
              <a:rPr sz="1500" b="1">
                <a:solidFill>
                  <a:srgbClr val="142B33"/>
                </a:solidFill>
                <a:latin typeface="Calibri"/>
              </a:rPr>
              <a:t>no importa</a:t>
            </a:r>
            <a:r>
              <a:rPr sz="1500" b="0">
                <a:solidFill>
                  <a:srgbClr val="142B33"/>
                </a:solidFill>
                <a:latin typeface="Calibri"/>
              </a:rPr>
              <a:t> cuál de las dos fracciones se corra</a:t>
            </a:r>
          </a:p>
        </p:txBody>
      </p:sp>
      <p:sp>
        <p:nvSpPr>
          <p:cNvPr id="36" name="TextBox 3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37" name="TextBox 3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19</a:t>
            </a:r>
          </a:p>
        </p:txBody>
      </p:sp>
      <p:sp>
        <p:nvSpPr>
          <p:cNvPr id="38" name="Rounded Rectangle 3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construyo una fracción un medio?</a:t>
            </a:r>
          </a:p>
        </p:txBody>
      </p:sp>
      <p:sp>
        <p:nvSpPr>
          <p:cNvPr id="3" name="TextBox 2"/>
          <p:cNvSpPr txBox="1"/>
          <p:nvPr/>
        </p:nvSpPr>
        <p:spPr>
          <a:xfrm>
            <a:off x="548640" y="1417320"/>
            <a:ext cx="5341467" cy="192023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800" b="0">
                <a:solidFill>
                  <a:srgbClr val="142B33"/>
                </a:solidFill>
                <a:latin typeface="Calibri"/>
              </a:rPr>
              <a:t>Escribir el </a:t>
            </a:r>
            <a:r>
              <a:rPr sz="1800" b="1">
                <a:solidFill>
                  <a:srgbClr val="142B33"/>
                </a:solidFill>
                <a:latin typeface="Calibri"/>
              </a:rPr>
              <a:t>diseño básico</a:t>
            </a:r>
            <a:r>
              <a:rPr sz="1800" b="0">
                <a:solidFill>
                  <a:srgbClr val="142B33"/>
                </a:solidFill>
                <a:latin typeface="Calibri"/>
              </a:rPr>
              <a:t>: factorial completo en k − 1 factores</a:t>
            </a:r>
          </a:p>
          <a:p>
            <a:pPr marL="320040" indent="-320040">
              <a:spcAft>
                <a:spcPts val="600"/>
              </a:spcAft>
              <a:buClr>
                <a:srgbClr val="E36414"/>
              </a:buClr>
              <a:buFont typeface="+mj-lt"/>
              <a:buAutoNum type="arabicPeriod"/>
            </a:pPr>
            <a:r>
              <a:rPr sz="1800" b="0">
                <a:solidFill>
                  <a:srgbClr val="142B33"/>
                </a:solidFill>
                <a:latin typeface="Calibri"/>
              </a:rPr>
              <a:t>Agregar el factor k con los signos de la </a:t>
            </a:r>
            <a:r>
              <a:rPr sz="1800" b="1">
                <a:solidFill>
                  <a:srgbClr val="142B33"/>
                </a:solidFill>
                <a:latin typeface="Calibri"/>
              </a:rPr>
              <a:t>interacción de mayor orden</a:t>
            </a:r>
          </a:p>
          <a:p>
            <a:pPr marL="320040" indent="-320040">
              <a:spcAft>
                <a:spcPts val="600"/>
              </a:spcAft>
              <a:buClr>
                <a:srgbClr val="E36414"/>
              </a:buClr>
              <a:buFont typeface="+mj-lt"/>
              <a:buAutoNum type="arabicPeriod"/>
            </a:pPr>
            <a:r>
              <a:rPr sz="1800" b="0">
                <a:solidFill>
                  <a:srgbClr val="142B33"/>
                </a:solidFill>
                <a:latin typeface="Calibri"/>
              </a:rPr>
              <a:t>Para la fracción alterna, usar el signo contrario</a:t>
            </a:r>
          </a:p>
        </p:txBody>
      </p:sp>
      <p:sp>
        <p:nvSpPr>
          <p:cNvPr id="4" name="Rounded Rectangle 3"/>
          <p:cNvSpPr/>
          <p:nvPr/>
        </p:nvSpPr>
        <p:spPr>
          <a:xfrm>
            <a:off x="548640" y="3538728"/>
            <a:ext cx="5341467"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D = ABC   ⇔   I = ABCD</a:t>
            </a:r>
          </a:p>
        </p:txBody>
      </p:sp>
      <p:sp>
        <p:nvSpPr>
          <p:cNvPr id="5" name="Rounded Rectangle 4"/>
          <p:cNvSpPr/>
          <p:nvPr/>
        </p:nvSpPr>
        <p:spPr>
          <a:xfrm>
            <a:off x="548640" y="4361281"/>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 fracción un medio de mayor resolución tiene </a:t>
            </a:r>
            <a:r>
              <a:rPr sz="1600" b="1">
                <a:solidFill>
                  <a:srgbClr val="142B33"/>
                </a:solidFill>
                <a:latin typeface="Calibri"/>
              </a:rPr>
              <a:t>resolución k</a:t>
            </a:r>
          </a:p>
        </p:txBody>
      </p:sp>
      <p:graphicFrame>
        <p:nvGraphicFramePr>
          <p:cNvPr id="6" name="Table 5"/>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1421124"/>
                <a:gridCol w="465540"/>
                <a:gridCol w="465540"/>
                <a:gridCol w="465540"/>
                <a:gridCol w="1421124"/>
                <a:gridCol w="1102596"/>
              </a:tblGrid>
              <a:tr h="351282">
                <a:tc>
                  <a:txBody>
                    <a:bodyPr/>
                    <a:lstStyle/>
                    <a:p>
                      <a:pPr algn="l"/>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r>
              <a:tr h="351282">
                <a:tc>
                  <a:txBody>
                    <a:bodyPr/>
                    <a:lstStyle/>
                    <a:p>
                      <a:pPr algn="l"/>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r>
              <a:tr h="351282">
                <a:tc>
                  <a:txBody>
                    <a:bodyPr/>
                    <a:lstStyle/>
                    <a:p>
                      <a:pPr algn="l"/>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r>
              <a:tr h="351282">
                <a:tc>
                  <a:txBody>
                    <a:bodyPr/>
                    <a:lstStyle/>
                    <a:p>
                      <a:pPr algn="l"/>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r>
              <a:tr h="351282">
                <a:tc>
                  <a:txBody>
                    <a:bodyPr/>
                    <a:lstStyle/>
                    <a:p>
                      <a:pPr algn="l"/>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r>
              <a:tr h="351282">
                <a:tc>
                  <a:txBody>
                    <a:bodyPr/>
                    <a:lstStyle/>
                    <a:p>
                      <a:pPr algn="l"/>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r>
              <a:tr h="351282">
                <a:tc>
                  <a:txBody>
                    <a:bodyPr/>
                    <a:lstStyle/>
                    <a:p>
                      <a:pPr algn="l"/>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r>
              <a:tr h="351282">
                <a:tc>
                  <a:txBody>
                    <a:bodyPr/>
                    <a:lstStyle/>
                    <a:p>
                      <a:pPr algn="l"/>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20</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¿En qué se proyecta una fracción un medio?</a:t>
            </a:r>
          </a:p>
        </p:txBody>
      </p:sp>
      <p:sp>
        <p:nvSpPr>
          <p:cNvPr id="3" name="Rounded Rectangle 2"/>
          <p:cNvSpPr/>
          <p:nvPr/>
        </p:nvSpPr>
        <p:spPr>
          <a:xfrm>
            <a:off x="548640" y="1417320"/>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Resolución R ⇒ factorial completo en cualquier subconjunto de </a:t>
            </a:r>
            <a:r>
              <a:rPr sz="1800" b="1">
                <a:solidFill>
                  <a:srgbClr val="0F4C5C"/>
                </a:solidFill>
                <a:latin typeface="Cambria Math"/>
              </a:rPr>
              <a:t>R − 1</a:t>
            </a:r>
            <a:r>
              <a:rPr sz="1800" b="0">
                <a:solidFill>
                  <a:srgbClr val="0F4C5C"/>
                </a:solidFill>
                <a:latin typeface="Cambria Math"/>
              </a:rPr>
              <a:t> factores</a:t>
            </a:r>
          </a:p>
        </p:txBody>
      </p:sp>
      <p:sp>
        <p:nvSpPr>
          <p:cNvPr id="4" name="TextBox 3"/>
          <p:cNvSpPr txBox="1"/>
          <p:nvPr/>
        </p:nvSpPr>
        <p:spPr>
          <a:xfrm>
            <a:off x="548640" y="2205167"/>
            <a:ext cx="4914150" cy="14864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Fracción un medio de máxima resolución: </a:t>
            </a:r>
            <a:r>
              <a:rPr sz="1600" b="1">
                <a:solidFill>
                  <a:srgbClr val="142B33"/>
                </a:solidFill>
                <a:latin typeface="Calibri"/>
              </a:rPr>
              <a:t>R = k</a:t>
            </a:r>
          </a:p>
          <a:p>
            <a:pPr marL="320040" indent="-320040">
              <a:spcAft>
                <a:spcPts val="600"/>
              </a:spcAft>
              <a:buClr>
                <a:srgbClr val="E36414"/>
              </a:buClr>
              <a:buFont typeface="Arial"/>
              <a:buChar char="•"/>
            </a:pPr>
            <a:r>
              <a:rPr sz="1600" b="0">
                <a:solidFill>
                  <a:srgbClr val="142B33"/>
                </a:solidFill>
                <a:latin typeface="Calibri"/>
              </a:rPr>
              <a:t>Si a lo sumo R − 1 factores importan, un diseño de resolución R es </a:t>
            </a:r>
            <a:r>
              <a:rPr sz="1600" b="1">
                <a:solidFill>
                  <a:srgbClr val="142B33"/>
                </a:solidFill>
                <a:latin typeface="Calibri"/>
              </a:rPr>
              <a:t>adecuado</a:t>
            </a:r>
          </a:p>
          <a:p>
            <a:pPr marL="320040" indent="-320040">
              <a:spcAft>
                <a:spcPts val="600"/>
              </a:spcAft>
              <a:buClr>
                <a:srgbClr val="E36414"/>
              </a:buClr>
              <a:buFont typeface="Arial"/>
              <a:buChar char="•"/>
            </a:pPr>
            <a:r>
              <a:rPr sz="1600" b="0">
                <a:solidFill>
                  <a:srgbClr val="142B33"/>
                </a:solidFill>
                <a:latin typeface="Calibri"/>
              </a:rPr>
              <a:t>Los factores descartados se convierten en </a:t>
            </a:r>
            <a:r>
              <a:rPr sz="1600" b="1">
                <a:solidFill>
                  <a:srgbClr val="142B33"/>
                </a:solidFill>
                <a:latin typeface="Calibri"/>
              </a:rPr>
              <a:t>réplicas</a:t>
            </a:r>
          </a:p>
        </p:txBody>
      </p:sp>
      <p:graphicFrame>
        <p:nvGraphicFramePr>
          <p:cNvPr id="5" name="Table 4"/>
          <p:cNvGraphicFramePr>
            <a:graphicFrameLocks noGrp="1"/>
          </p:cNvGraphicFramePr>
          <p:nvPr/>
        </p:nvGraphicFramePr>
        <p:xfrm>
          <a:off x="5874270" y="1417320"/>
          <a:ext cx="5768784" cy="2102358"/>
        </p:xfrm>
        <a:graphic>
          <a:graphicData uri="http://schemas.openxmlformats.org/drawingml/2006/table">
            <a:tbl>
              <a:tblPr firstRow="0" bandRow="0">
                <a:tableStyleId>{5C22544A-7EE6-4342-B048-85BDC9FD1C3A}</a:tableStyleId>
              </a:tblPr>
              <a:tblGrid>
                <a:gridCol w="1269132"/>
                <a:gridCol w="1499884"/>
                <a:gridCol w="1499884"/>
                <a:gridCol w="1499884"/>
              </a:tblGrid>
              <a:tr h="583692">
                <a:tc>
                  <a:txBody>
                    <a:bodyPr/>
                    <a:lstStyle/>
                    <a:p>
                      <a:pPr algn="ctr"/>
                      <a:r>
                        <a:rPr sz="1500" b="1">
                          <a:solidFill>
                            <a:srgbClr val="FFFFFF"/>
                          </a:solidFill>
                          <a:latin typeface="Calibri"/>
                        </a:rPr>
                        <a:t>Diseño</a:t>
                      </a:r>
                    </a:p>
                  </a:txBody>
                  <a:tcPr marL="73152" marR="73152" marT="27432" marB="27432" anchor="ctr">
                    <a:solidFill>
                      <a:srgbClr val="0F4C5C"/>
                    </a:solidFill>
                  </a:tcPr>
                </a:tc>
                <a:tc>
                  <a:txBody>
                    <a:bodyPr/>
                    <a:lstStyle/>
                    <a:p>
                      <a:pPr algn="ctr"/>
                      <a:r>
                        <a:rPr sz="1500" b="1">
                          <a:solidFill>
                            <a:srgbClr val="FFFFFF"/>
                          </a:solidFill>
                          <a:latin typeface="Calibri"/>
                        </a:rPr>
                        <a:t>En k − 1 factores</a:t>
                      </a:r>
                    </a:p>
                  </a:txBody>
                  <a:tcPr marL="73152" marR="73152" marT="27432" marB="27432" anchor="ctr">
                    <a:solidFill>
                      <a:srgbClr val="0F4C5C"/>
                    </a:solidFill>
                  </a:tcPr>
                </a:tc>
                <a:tc>
                  <a:txBody>
                    <a:bodyPr/>
                    <a:lstStyle/>
                    <a:p>
                      <a:pPr algn="ctr"/>
                      <a:r>
                        <a:rPr sz="1500" b="1">
                          <a:solidFill>
                            <a:srgbClr val="FFFFFF"/>
                          </a:solidFill>
                          <a:latin typeface="Calibri"/>
                        </a:rPr>
                        <a:t>En k − 2</a:t>
                      </a:r>
                    </a:p>
                  </a:txBody>
                  <a:tcPr marL="73152" marR="73152" marT="27432" marB="27432" anchor="ctr">
                    <a:solidFill>
                      <a:srgbClr val="0F4C5C"/>
                    </a:solidFill>
                  </a:tcPr>
                </a:tc>
                <a:tc>
                  <a:txBody>
                    <a:bodyPr/>
                    <a:lstStyle/>
                    <a:p>
                      <a:pPr algn="ctr"/>
                      <a:r>
                        <a:rPr sz="1500" b="1">
                          <a:solidFill>
                            <a:srgbClr val="FFFFFF"/>
                          </a:solidFill>
                          <a:latin typeface="Calibri"/>
                        </a:rPr>
                        <a:t>En k − 3</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a:t>
                      </a:r>
                    </a:p>
                  </a:txBody>
                  <a:tcPr marL="73152" marR="73152" marT="27432" marB="27432" anchor="ctr">
                    <a:solidFill>
                      <a:srgbClr val="FFFFFF"/>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ctr"/>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a:t>
                      </a:r>
                    </a:p>
                  </a:txBody>
                  <a:tcPr marL="73152" marR="73152" marT="27432" marB="27432" anchor="ctr">
                    <a:solidFill>
                      <a:srgbClr val="F4F8F9"/>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r h="583692">
                <a:tc>
                  <a:txBody>
                    <a:bodyPr/>
                    <a:lstStyle/>
                    <a:p>
                      <a:pPr algn="ctr"/>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ctr"/>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a:t>
                      </a:r>
                    </a:p>
                  </a:txBody>
                  <a:tcPr marL="73152" marR="73152" marT="27432" marB="27432" anchor="ctr">
                    <a:solidFill>
                      <a:srgbClr val="FFFFFF"/>
                    </a:solidFill>
                  </a:tcPr>
                </a:tc>
                <a:tc>
                  <a:txBody>
                    <a:bodyPr/>
                    <a:lstStyle/>
                    <a:p>
                      <a:pPr algn="ctr"/>
                      <a:r>
                        <a:rPr sz="1500" b="0">
                          <a:solidFill>
                            <a:srgbClr val="142B33"/>
                          </a:solidFill>
                          <a:latin typeface="Calibri"/>
                        </a:rPr>
                        <a:t>2 réplicas de 2</a:t>
                      </a:r>
                      <a:r>
                        <a:rPr sz="1500" b="0" baseline="3000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 réplicas de 2</a:t>
                      </a:r>
                      <a:r>
                        <a:rPr sz="1500" b="0" baseline="30000">
                          <a:solidFill>
                            <a:srgbClr val="142B33"/>
                          </a:solidFill>
                          <a:latin typeface="Calibri"/>
                        </a:rPr>
                        <a:t>2</a:t>
                      </a:r>
                    </a:p>
                  </a:txBody>
                  <a:tcPr marL="73152" marR="73152" marT="27432" marB="27432" anchor="ctr">
                    <a:solidFill>
                      <a:srgbClr val="FFFFFF"/>
                    </a:solidFill>
                  </a:tcPr>
                </a:tc>
              </a:tr>
            </a:tbl>
          </a:graphicData>
        </a:graphic>
      </p:graphicFrame>
      <p:sp>
        <p:nvSpPr>
          <p:cNvPr id="6" name="TextBox 5"/>
          <p:cNvSpPr txBox="1"/>
          <p:nvPr/>
        </p:nvSpPr>
        <p:spPr>
          <a:xfrm>
            <a:off x="5874270" y="3720846"/>
            <a:ext cx="5768785" cy="470407"/>
          </a:xfrm>
          <a:prstGeom prst="rect">
            <a:avLst/>
          </a:prstGeom>
          <a:noFill/>
        </p:spPr>
        <p:txBody>
          <a:bodyPr wrap="square" anchor="t" lIns="0" rIns="0" tIns="0" bIns="0">
            <a:spAutoFit/>
          </a:bodyPr>
          <a:lstStyle/>
          <a:p>
            <a:r>
              <a:rPr sz="1400" b="0">
                <a:solidFill>
                  <a:srgbClr val="5B6B73"/>
                </a:solidFill>
                <a:latin typeface="Calibri"/>
              </a:rPr>
              <a:t>Ejemplo: el 2</a:t>
            </a:r>
            <a:r>
              <a:rPr sz="1400" b="0" baseline="30000">
                <a:solidFill>
                  <a:srgbClr val="5B6B73"/>
                </a:solidFill>
                <a:latin typeface="Calibri"/>
              </a:rPr>
              <a:t>3−1</a:t>
            </a:r>
            <a:r>
              <a:rPr sz="1400" b="0">
                <a:solidFill>
                  <a:srgbClr val="5B6B73"/>
                </a:solidFill>
                <a:latin typeface="Calibri"/>
              </a:rPr>
              <a:t> deja un cuadrado completo en cada cara del cubo (Montgomery, fig. 8-2)</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índice de filtración</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 producto químico se fabrica en un recipiente a presión. En la planta piloto se quiere estudiar los factores que se cree influyen en el </a:t>
            </a:r>
            <a:r>
              <a:rPr sz="1600" b="1">
                <a:solidFill>
                  <a:srgbClr val="142B33"/>
                </a:solidFill>
                <a:latin typeface="Calibri"/>
              </a:rPr>
              <a:t>índice de filtración</a:t>
            </a:r>
            <a:r>
              <a:rPr sz="1600" b="0">
                <a:solidFill>
                  <a:srgbClr val="142B33"/>
                </a:solidFill>
                <a:latin typeface="Calibri"/>
              </a:rPr>
              <a:t> del producto (gal/h): A temperatura, B presión, C concentración de formaldehído y D velocidad de agitación, cada uno a dos niveles.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Con las condiciones actuales la filtración ronda los 75 gal/h y el proceso trabaja con la concentración de formaldehído en el nivel alto. El ingeniero quiere </a:t>
            </a:r>
            <a:r>
              <a:rPr sz="1600" b="1">
                <a:solidFill>
                  <a:srgbClr val="142B33"/>
                </a:solidFill>
                <a:latin typeface="Calibri"/>
              </a:rPr>
              <a:t>reducir el formaldehído</a:t>
            </a:r>
            <a:r>
              <a:rPr sz="1600" b="0">
                <a:solidFill>
                  <a:srgbClr val="142B33"/>
                </a:solidFill>
                <a:latin typeface="Calibri"/>
              </a:rPr>
              <a:t> tanto como sea posible, pero hasta ahora cada intento ha bajado la filtración.</a:t>
            </a:r>
          </a:p>
        </p:txBody>
      </p:sp>
      <p:sp>
        <p:nvSpPr>
          <p:cNvPr id="5" name="TextBox 4"/>
          <p:cNvSpPr txBox="1"/>
          <p:nvPr/>
        </p:nvSpPr>
        <p:spPr>
          <a:xfrm>
            <a:off x="548640" y="4371848"/>
            <a:ext cx="6196102" cy="1028191"/>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4</a:t>
            </a:r>
            <a:r>
              <a:rPr sz="1600" b="0">
                <a:solidFill>
                  <a:srgbClr val="142B33"/>
                </a:solidFill>
                <a:latin typeface="Calibri"/>
              </a:rPr>
              <a:t> exige 16 corridas. Para ahorrar, se corre solo </a:t>
            </a:r>
            <a:r>
              <a:rPr sz="1600" b="1">
                <a:solidFill>
                  <a:srgbClr val="142B33"/>
                </a:solidFill>
                <a:latin typeface="Calibri"/>
              </a:rPr>
              <a:t>la mitad: 8 corridas</a:t>
            </a:r>
            <a:r>
              <a:rPr sz="1600" b="0">
                <a:solidFill>
                  <a:srgbClr val="142B33"/>
                </a:solidFill>
                <a:latin typeface="Calibri"/>
              </a:rPr>
              <a:t>, elegidas con D = ABC (I = ABCD). Cada combinación se corre una vez, en orden aleatorio.</a:t>
            </a:r>
          </a:p>
        </p:txBody>
      </p:sp>
      <p:sp>
        <p:nvSpPr>
          <p:cNvPr id="6" name="TextBox 5"/>
          <p:cNvSpPr txBox="1"/>
          <p:nvPr/>
        </p:nvSpPr>
        <p:spPr>
          <a:xfrm>
            <a:off x="548640" y="5601207"/>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ejemplos 6-2 y 8-1</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Encontrar las condiciones que </a:t>
            </a:r>
            <a:r>
              <a:rPr sz="1500" b="1">
                <a:solidFill>
                  <a:srgbClr val="142B33"/>
                </a:solidFill>
                <a:latin typeface="Calibri"/>
              </a:rPr>
              <a:t>maximizan la filtración</a:t>
            </a:r>
            <a:r>
              <a:rPr sz="1500" b="0">
                <a:solidFill>
                  <a:srgbClr val="142B33"/>
                </a:solidFill>
                <a:latin typeface="Calibri"/>
              </a:rPr>
              <a:t> y ver si se puede trabajar con </a:t>
            </a:r>
            <a:r>
              <a:rPr sz="1500" b="1">
                <a:solidFill>
                  <a:srgbClr val="142B33"/>
                </a:solidFill>
                <a:latin typeface="Calibri"/>
              </a:rPr>
              <a:t>menos formaldehído</a:t>
            </a:r>
            <a:r>
              <a:rPr sz="1500" b="0">
                <a:solidFill>
                  <a:srgbClr val="142B33"/>
                </a:solidFill>
                <a:latin typeface="Calibri"/>
              </a:rPr>
              <a:t> sin perderla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y escribir sus alias</a:t>
            </a:r>
          </a:p>
          <a:p>
            <a:pPr marL="320040" indent="-320040">
              <a:spcAft>
                <a:spcPts val="600"/>
              </a:spcAft>
              <a:buClr>
                <a:srgbClr val="E36414"/>
              </a:buClr>
              <a:buFont typeface="+mj-lt"/>
              <a:buAutoNum type="arabicPeriod"/>
            </a:pPr>
            <a:r>
              <a:rPr sz="1500" b="0">
                <a:solidFill>
                  <a:srgbClr val="142B33"/>
                </a:solidFill>
                <a:latin typeface="Calibri"/>
              </a:rPr>
              <a:t>Estimar los efectos e identificar los activos</a:t>
            </a:r>
          </a:p>
          <a:p>
            <a:pPr marL="320040" indent="-320040">
              <a:spcAft>
                <a:spcPts val="600"/>
              </a:spcAft>
              <a:buClr>
                <a:srgbClr val="E36414"/>
              </a:buClr>
              <a:buFont typeface="+mj-lt"/>
              <a:buAutoNum type="arabicPeriod"/>
            </a:pPr>
            <a:r>
              <a:rPr sz="1500" b="0">
                <a:solidFill>
                  <a:srgbClr val="142B33"/>
                </a:solidFill>
                <a:latin typeface="Calibri"/>
              </a:rPr>
              <a:t>Interpretar las cadenas de alias grandes</a:t>
            </a:r>
          </a:p>
          <a:p>
            <a:pPr marL="320040" indent="-320040">
              <a:spcAft>
                <a:spcPts val="600"/>
              </a:spcAft>
              <a:buClr>
                <a:srgbClr val="E36414"/>
              </a:buClr>
              <a:buFont typeface="+mj-lt"/>
              <a:buAutoNum type="arabicPeriod"/>
            </a:pPr>
            <a:r>
              <a:rPr sz="1500" b="0">
                <a:solidFill>
                  <a:srgbClr val="142B33"/>
                </a:solidFill>
                <a:latin typeface="Calibri"/>
              </a:rPr>
              <a:t>Proponer el modelo y la mejor condición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22</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Índice de filtración, 2</a:t>
            </a:r>
            <a:r>
              <a:rPr sz="3000" b="1" baseline="30000">
                <a:solidFill>
                  <a:srgbClr val="0F4C5C"/>
                </a:solidFill>
                <a:latin typeface="Cambria"/>
              </a:rPr>
              <a:t>4−1</a:t>
            </a:r>
            <a:r>
              <a:rPr sz="3000" b="1" baseline="-25000">
                <a:solidFill>
                  <a:srgbClr val="0F4C5C"/>
                </a:solidFill>
                <a:latin typeface="Cambria"/>
              </a:rPr>
              <a:t>IV</a:t>
            </a:r>
          </a:p>
        </p:txBody>
      </p:sp>
      <p:sp>
        <p:nvSpPr>
          <p:cNvPr id="3" name="TextBox 2"/>
          <p:cNvSpPr txBox="1"/>
          <p:nvPr/>
        </p:nvSpPr>
        <p:spPr>
          <a:xfrm>
            <a:off x="548640" y="1417320"/>
            <a:ext cx="5341467"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índice de filtración</a:t>
            </a:r>
            <a:r>
              <a:rPr sz="1800" b="0">
                <a:solidFill>
                  <a:srgbClr val="142B33"/>
                </a:solidFill>
                <a:latin typeface="Calibri"/>
              </a:rPr>
              <a:t> (se quiere aumentar)</a:t>
            </a:r>
          </a:p>
          <a:p>
            <a:pPr marL="320040" indent="-320040">
              <a:spcAft>
                <a:spcPts val="600"/>
              </a:spcAft>
              <a:buClr>
                <a:srgbClr val="E36414"/>
              </a:buClr>
              <a:buFont typeface="Arial"/>
              <a:buChar char="•"/>
            </a:pPr>
            <a:r>
              <a:rPr sz="1800" b="0">
                <a:solidFill>
                  <a:srgbClr val="142B33"/>
                </a:solidFill>
                <a:latin typeface="Calibri"/>
              </a:rPr>
              <a:t>A: temperatura · B: presión · C: concentración · D: velocidad de agitación</a:t>
            </a:r>
          </a:p>
          <a:p>
            <a:pPr marL="320040" indent="-320040">
              <a:spcAft>
                <a:spcPts val="600"/>
              </a:spcAft>
              <a:buClr>
                <a:srgbClr val="E36414"/>
              </a:buClr>
              <a:buFont typeface="Arial"/>
              <a:buChar char="•"/>
            </a:pPr>
            <a:r>
              <a:rPr sz="1800" b="0">
                <a:solidFill>
                  <a:srgbClr val="142B33"/>
                </a:solidFill>
                <a:latin typeface="Calibri"/>
              </a:rPr>
              <a:t>Fracción un medio con </a:t>
            </a:r>
            <a:r>
              <a:rPr sz="1800" b="1">
                <a:solidFill>
                  <a:srgbClr val="142B33"/>
                </a:solidFill>
                <a:latin typeface="Calibri"/>
              </a:rPr>
              <a:t>D = ABC</a:t>
            </a:r>
            <a:r>
              <a:rPr sz="1800" b="0">
                <a:solidFill>
                  <a:srgbClr val="142B33"/>
                </a:solidFill>
                <a:latin typeface="Calibri"/>
              </a:rPr>
              <a:t>  (I = ABCD), 8 corridas</a:t>
            </a:r>
          </a:p>
          <a:p>
            <a:pPr marL="320040" indent="-320040">
              <a:spcAft>
                <a:spcPts val="600"/>
              </a:spcAft>
              <a:buClr>
                <a:srgbClr val="E36414"/>
              </a:buClr>
              <a:buFont typeface="Arial"/>
              <a:buChar char="•"/>
            </a:pPr>
            <a:r>
              <a:rPr sz="1800" b="0">
                <a:solidFill>
                  <a:srgbClr val="142B33"/>
                </a:solidFill>
                <a:latin typeface="Calibri"/>
              </a:rPr>
              <a:t>Resolución IV: principales libres de interacciones dobles</a:t>
            </a:r>
          </a:p>
        </p:txBody>
      </p:sp>
      <p:graphicFrame>
        <p:nvGraphicFramePr>
          <p:cNvPr id="4" name="Table 3"/>
          <p:cNvGraphicFramePr>
            <a:graphicFrameLocks noGrp="1"/>
          </p:cNvGraphicFramePr>
          <p:nvPr/>
        </p:nvGraphicFramePr>
        <p:xfrm>
          <a:off x="548640" y="4178808"/>
          <a:ext cx="5341467" cy="1988820"/>
        </p:xfrm>
        <a:graphic>
          <a:graphicData uri="http://schemas.openxmlformats.org/drawingml/2006/table">
            <a:tbl>
              <a:tblPr firstRow="0" bandRow="0">
                <a:tableStyleId>{5C22544A-7EE6-4342-B048-85BDC9FD1C3A}</a:tableStyleId>
              </a:tblPr>
              <a:tblGrid>
                <a:gridCol w="2571535"/>
                <a:gridCol w="2769932"/>
              </a:tblGrid>
              <a:tr h="583692">
                <a:tc>
                  <a:txBody>
                    <a:bodyPr/>
                    <a:lstStyle/>
                    <a:p>
                      <a:pPr algn="ctr"/>
                      <a:r>
                        <a:rPr sz="1500" b="1">
                          <a:solidFill>
                            <a:srgbClr val="FFFFFF"/>
                          </a:solidFill>
                          <a:latin typeface="Calibri"/>
                        </a:rPr>
                        <a:t>Alias de los principales</a:t>
                      </a:r>
                    </a:p>
                  </a:txBody>
                  <a:tcPr marL="73152" marR="73152" marT="27432" marB="27432" anchor="ctr">
                    <a:solidFill>
                      <a:srgbClr val="0F4C5C"/>
                    </a:solidFill>
                  </a:tcPr>
                </a:tc>
                <a:tc>
                  <a:txBody>
                    <a:bodyPr/>
                    <a:lstStyle/>
                    <a:p>
                      <a:pPr algn="ctr"/>
                      <a:r>
                        <a:rPr sz="1500" b="1">
                          <a:solidFill>
                            <a:srgbClr val="FFFFFF"/>
                          </a:solidFill>
                          <a:latin typeface="Calibri"/>
                        </a:rPr>
                        <a:t>Alias de las interacciones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BCD</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ACD</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ABD</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r h="351282">
                <a:tc>
                  <a:txBody>
                    <a:bodyPr/>
                    <a:lstStyle/>
                    <a:p>
                      <a:pPr algn="ctr"/>
                      <a:r>
                        <a:rPr sz="1500" b="0">
                          <a:solidFill>
                            <a:srgbClr val="142B33"/>
                          </a:solidFill>
                          <a:latin typeface="Calibri"/>
                        </a:rPr>
                        <a:t>D = ABC</a:t>
                      </a:r>
                    </a:p>
                  </a:txBody>
                  <a:tcPr marL="73152" marR="73152" marT="27432" marB="27432" anchor="ctr">
                    <a:solidFill>
                      <a:srgbClr val="F4F8F9"/>
                    </a:solidFill>
                  </a:tcPr>
                </a:tc>
                <a:tc>
                  <a:txBody>
                    <a:bodyPr/>
                    <a:lstStyle/>
                    <a:p>
                      <a:pPr algn="ctr"/>
                      <a:r>
                        <a:rPr sz="1500" b="0">
                          <a:solidFill>
                            <a:srgbClr val="142B33"/>
                          </a:solidFill>
                          <a:latin typeface="Calibri"/>
                        </a:rPr>
                        <a:t>—</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6301587" y="1417320"/>
          <a:ext cx="5341465" cy="3161538"/>
        </p:xfrm>
        <a:graphic>
          <a:graphicData uri="http://schemas.openxmlformats.org/drawingml/2006/table">
            <a:tbl>
              <a:tblPr firstRow="0" bandRow="0">
                <a:tableStyleId>{5C22544A-7EE6-4342-B048-85BDC9FD1C3A}</a:tableStyleId>
              </a:tblPr>
              <a:tblGrid>
                <a:gridCol w="1207817"/>
                <a:gridCol w="395664"/>
                <a:gridCol w="395664"/>
                <a:gridCol w="395664"/>
                <a:gridCol w="395664"/>
                <a:gridCol w="937099"/>
                <a:gridCol w="161389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100</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bd</a:t>
                      </a:r>
                    </a:p>
                  </a:txBody>
                  <a:tcPr marL="73152" marR="73152" marT="27432" marB="27432" anchor="ctr">
                    <a:solidFill>
                      <a:srgbClr val="FFFFFF"/>
                    </a:solidFill>
                  </a:tcPr>
                </a:tc>
                <a:tc>
                  <a:txBody>
                    <a:bodyPr/>
                    <a:lstStyle/>
                    <a:p>
                      <a:pPr algn="ctr"/>
                      <a:r>
                        <a:rPr sz="1500" b="0">
                          <a:solidFill>
                            <a:srgbClr val="142B33"/>
                          </a:solidFill>
                          <a:latin typeface="Calibri"/>
                        </a:rPr>
                        <a:t>45</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cd</a:t>
                      </a:r>
                    </a:p>
                  </a:txBody>
                  <a:tcPr marL="73152" marR="73152" marT="27432" marB="27432" anchor="ctr">
                    <a:solidFill>
                      <a:srgbClr val="FFFFFF"/>
                    </a:solidFill>
                  </a:tcPr>
                </a:tc>
                <a:tc>
                  <a:txBody>
                    <a:bodyPr/>
                    <a:lstStyle/>
                    <a:p>
                      <a:pPr algn="ctr"/>
                      <a:r>
                        <a:rPr sz="1500" b="0">
                          <a:solidFill>
                            <a:srgbClr val="142B33"/>
                          </a:solidFill>
                          <a:latin typeface="Calibri"/>
                        </a:rPr>
                        <a:t>75</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60</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a:t>
                      </a:r>
                    </a:p>
                  </a:txBody>
                  <a:tcPr marL="73152" marR="73152" marT="27432" marB="27432" anchor="ctr">
                    <a:solidFill>
                      <a:srgbClr val="FFFFFF"/>
                    </a:solidFill>
                  </a:tcPr>
                </a:tc>
                <a:tc>
                  <a:txBody>
                    <a:bodyPr/>
                    <a:lstStyle/>
                    <a:p>
                      <a:pPr algn="ctr"/>
                      <a:r>
                        <a:rPr sz="1500" b="0">
                          <a:solidFill>
                            <a:srgbClr val="142B33"/>
                          </a:solidFill>
                          <a:latin typeface="Calibri"/>
                        </a:rPr>
                        <a:t>80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abcd</a:t>
                      </a:r>
                    </a:p>
                  </a:txBody>
                  <a:tcPr marL="73152" marR="73152" marT="27432" marB="27432" anchor="ctr">
                    <a:solidFill>
                      <a:srgbClr val="F4F8F9"/>
                    </a:solidFill>
                  </a:tcPr>
                </a:tc>
                <a:tc>
                  <a:txBody>
                    <a:bodyPr/>
                    <a:lstStyle/>
                    <a:p>
                      <a:pPr algn="ctr"/>
                      <a:r>
                        <a:rPr sz="1500" b="0">
                          <a:solidFill>
                            <a:srgbClr val="142B33"/>
                          </a:solidFill>
                          <a:latin typeface="Calibri"/>
                        </a:rPr>
                        <a:t>96</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23</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Efectos estimados y alias</a:t>
            </a:r>
          </a:p>
        </p:txBody>
      </p:sp>
      <p:graphicFrame>
        <p:nvGraphicFramePr>
          <p:cNvPr id="3" name="Table 2"/>
          <p:cNvGraphicFramePr>
            <a:graphicFrameLocks noGrp="1"/>
          </p:cNvGraphicFramePr>
          <p:nvPr/>
        </p:nvGraphicFramePr>
        <p:xfrm>
          <a:off x="548640" y="1417320"/>
          <a:ext cx="4914148" cy="2934208"/>
        </p:xfrm>
        <a:graphic>
          <a:graphicData uri="http://schemas.openxmlformats.org/drawingml/2006/table">
            <a:tbl>
              <a:tblPr firstRow="0" bandRow="0">
                <a:tableStyleId>{5C22544A-7EE6-4342-B048-85BDC9FD1C3A}</a:tableStyleId>
              </a:tblPr>
              <a:tblGrid>
                <a:gridCol w="1770314"/>
                <a:gridCol w="1571917"/>
                <a:gridCol w="1571917"/>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Efecto</a:t>
                      </a:r>
                    </a:p>
                  </a:txBody>
                  <a:tcPr marL="73152" marR="73152" marT="27432" marB="27432" anchor="ctr">
                    <a:solidFill>
                      <a:srgbClr val="0F4C5C"/>
                    </a:solidFill>
                  </a:tcPr>
                </a:tc>
                <a:tc>
                  <a:txBody>
                    <a:bodyPr/>
                    <a:lstStyle/>
                    <a:p>
                      <a:pPr algn="ctr"/>
                      <a:r>
                        <a:rPr sz="1600" b="1">
                          <a:solidFill>
                            <a:srgbClr val="FFFFFF"/>
                          </a:solidFill>
                          <a:latin typeface="Calibri"/>
                        </a:rPr>
                        <a:t>Estima</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 + BCD</a:t>
                      </a:r>
                    </a:p>
                  </a:txBody>
                  <a:tcPr marL="73152" marR="73152" marT="27432" marB="27432" anchor="ctr">
                    <a:solidFill>
                      <a:srgbClr val="FDE8D7"/>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B + ACD</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DE8D7"/>
                    </a:solidFill>
                  </a:tcPr>
                </a:tc>
                <a:tc>
                  <a:txBody>
                    <a:bodyPr/>
                    <a:lstStyle/>
                    <a:p>
                      <a:pPr algn="ctr"/>
                      <a:r>
                        <a:rPr sz="1600" b="0">
                          <a:solidFill>
                            <a:srgbClr val="142B33"/>
                          </a:solidFill>
                          <a:latin typeface="Calibri"/>
                        </a:rPr>
                        <a:t>14.00</a:t>
                      </a:r>
                    </a:p>
                  </a:txBody>
                  <a:tcPr marL="73152" marR="73152" marT="27432" marB="27432" anchor="ctr">
                    <a:solidFill>
                      <a:srgbClr val="FDE8D7"/>
                    </a:solidFill>
                  </a:tcPr>
                </a:tc>
                <a:tc>
                  <a:txBody>
                    <a:bodyPr/>
                    <a:lstStyle/>
                    <a:p>
                      <a:pPr algn="ctr"/>
                      <a:r>
                        <a:rPr sz="1600" b="0">
                          <a:solidFill>
                            <a:srgbClr val="142B33"/>
                          </a:solidFill>
                          <a:latin typeface="Calibri"/>
                        </a:rPr>
                        <a:t>C + ABD</a:t>
                      </a:r>
                    </a:p>
                  </a:txBody>
                  <a:tcPr marL="73152" marR="73152" marT="27432" marB="27432" anchor="ctr">
                    <a:solidFill>
                      <a:srgbClr val="FDE8D7"/>
                    </a:solidFill>
                  </a:tcPr>
                </a:tc>
              </a:tr>
              <a:tr h="366776">
                <a:tc>
                  <a:txBody>
                    <a:bodyPr/>
                    <a:lstStyle/>
                    <a:p>
                      <a:pPr algn="ctr"/>
                      <a:r>
                        <a:rPr sz="1600" b="0">
                          <a:solidFill>
                            <a:srgbClr val="142B33"/>
                          </a:solidFill>
                          <a:latin typeface="Calibri"/>
                        </a:rPr>
                        <a:t>D</a:t>
                      </a:r>
                    </a:p>
                  </a:txBody>
                  <a:tcPr marL="73152" marR="73152" marT="27432" marB="27432" anchor="ctr">
                    <a:solidFill>
                      <a:srgbClr val="FDE8D7"/>
                    </a:solidFill>
                  </a:tcPr>
                </a:tc>
                <a:tc>
                  <a:txBody>
                    <a:bodyPr/>
                    <a:lstStyle/>
                    <a:p>
                      <a:pPr algn="ctr"/>
                      <a:r>
                        <a:rPr sz="1600" b="0">
                          <a:solidFill>
                            <a:srgbClr val="142B33"/>
                          </a:solidFill>
                          <a:latin typeface="Calibri"/>
                        </a:rPr>
                        <a:t>16.50</a:t>
                      </a:r>
                    </a:p>
                  </a:txBody>
                  <a:tcPr marL="73152" marR="73152" marT="27432" marB="27432" anchor="ctr">
                    <a:solidFill>
                      <a:srgbClr val="FDE8D7"/>
                    </a:solidFill>
                  </a:tcPr>
                </a:tc>
                <a:tc>
                  <a:txBody>
                    <a:bodyPr/>
                    <a:lstStyle/>
                    <a:p>
                      <a:pPr algn="ctr"/>
                      <a:r>
                        <a:rPr sz="1600" b="0">
                          <a:solidFill>
                            <a:srgbClr val="142B33"/>
                          </a:solidFill>
                          <a:latin typeface="Calibri"/>
                        </a:rPr>
                        <a:t>D + ABC</a:t>
                      </a:r>
                    </a:p>
                  </a:txBody>
                  <a:tcPr marL="73152" marR="73152" marT="27432" marB="27432" anchor="ctr">
                    <a:solidFill>
                      <a:srgbClr val="FDE8D7"/>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AB + CD</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AC + BD</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AD + BC</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 es pequeño  →  AC + BD se atribuye a </a:t>
            </a:r>
            <a:r>
              <a:rPr sz="1500" b="1">
                <a:solidFill>
                  <a:srgbClr val="142B33"/>
                </a:solidFill>
                <a:latin typeface="Calibri"/>
              </a:rPr>
              <a:t>AC</a:t>
            </a:r>
            <a:r>
              <a:rPr sz="1500" b="0">
                <a:solidFill>
                  <a:srgbClr val="142B33"/>
                </a:solidFill>
                <a:latin typeface="Calibri"/>
              </a:rPr>
              <a:t> y AD + BC a </a:t>
            </a:r>
            <a:r>
              <a:rPr sz="1500" b="1">
                <a:solidFill>
                  <a:srgbClr val="142B33"/>
                </a:solidFill>
                <a:latin typeface="Calibri"/>
              </a:rPr>
              <a:t>AD</a:t>
            </a:r>
          </a:p>
        </p:txBody>
      </p:sp>
      <p:graphicFrame>
        <p:nvGraphicFramePr>
          <p:cNvPr id="5" name="Chart 4"/>
          <p:cNvGraphicFramePr>
            <a:graphicFrameLocks noGrp="1"/>
          </p:cNvGraphicFramePr>
          <p:nvPr/>
        </p:nvGraphicFramePr>
        <p:xfrm>
          <a:off x="5874270" y="1417320"/>
          <a:ext cx="5768785" cy="3749039"/>
        </p:xfrm>
        <a:graphic>
          <a:graphicData uri="http://schemas.openxmlformats.org/drawingml/2006/chart">
            <c:chart xmlns:c="http://schemas.openxmlformats.org/drawingml/2006/chart" r:id="rId2"/>
          </a:graphicData>
        </a:graphic>
      </p:graphicFrame>
      <p:sp>
        <p:nvSpPr>
          <p:cNvPr id="6" name="Rounded Rectangle 5"/>
          <p:cNvSpPr/>
          <p:nvPr/>
        </p:nvSpPr>
        <p:spPr>
          <a:xfrm>
            <a:off x="5874270" y="5367527"/>
            <a:ext cx="5768785"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Lejos de la recta → </a:t>
            </a:r>
            <a:r>
              <a:rPr sz="1400" b="1">
                <a:solidFill>
                  <a:srgbClr val="142B33"/>
                </a:solidFill>
                <a:latin typeface="Calibri"/>
              </a:rPr>
              <a:t>modelo</a:t>
            </a:r>
            <a:r>
              <a:rPr sz="1400" b="0">
                <a:solidFill>
                  <a:srgbClr val="142B33"/>
                </a:solidFill>
                <a:latin typeface="Calibri"/>
              </a:rPr>
              <a:t> (A, C, D, AC, AD).  Sobre la recta → </a:t>
            </a:r>
            <a:r>
              <a:rPr sz="1400" b="1">
                <a:solidFill>
                  <a:srgbClr val="142B33"/>
                </a:solidFill>
                <a:latin typeface="Calibri"/>
              </a:rPr>
              <a:t>error</a:t>
            </a:r>
            <a:r>
              <a:rPr sz="1400" b="0">
                <a:solidFill>
                  <a:srgbClr val="142B33"/>
                </a:solidFill>
                <a:latin typeface="Calibri"/>
              </a:rPr>
              <a:t> (B,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24</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ANOVA e interpretación</a:t>
            </a:r>
          </a:p>
        </p:txBody>
      </p:sp>
      <p:graphicFrame>
        <p:nvGraphicFramePr>
          <p:cNvPr id="3" name="Table 2"/>
          <p:cNvGraphicFramePr>
            <a:graphicFrameLocks noGrp="1"/>
          </p:cNvGraphicFramePr>
          <p:nvPr/>
        </p:nvGraphicFramePr>
        <p:xfrm>
          <a:off x="548640" y="1417320"/>
          <a:ext cx="5982440" cy="2810256"/>
        </p:xfrm>
        <a:graphic>
          <a:graphicData uri="http://schemas.openxmlformats.org/drawingml/2006/table">
            <a:tbl>
              <a:tblPr firstRow="0" bandRow="0">
                <a:tableStyleId>{5C22544A-7EE6-4342-B048-85BDC9FD1C3A}</a:tableStyleId>
              </a:tblPr>
              <a:tblGrid>
                <a:gridCol w="921320"/>
                <a:gridCol w="1044163"/>
                <a:gridCol w="626498"/>
                <a:gridCol w="921320"/>
                <a:gridCol w="1044163"/>
                <a:gridCol w="1424976"/>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C</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392.0</a:t>
                      </a:r>
                    </a:p>
                  </a:txBody>
                  <a:tcPr marL="73152" marR="73152" marT="27432" marB="27432" anchor="ctr">
                    <a:solidFill>
                      <a:srgbClr val="F4F8F9"/>
                    </a:solidFill>
                  </a:tcPr>
                </a:tc>
                <a:tc>
                  <a:txBody>
                    <a:bodyPr/>
                    <a:lstStyle/>
                    <a:p>
                      <a:pPr algn="ctr"/>
                      <a:r>
                        <a:rPr sz="1500" b="0">
                          <a:solidFill>
                            <a:srgbClr val="142B33"/>
                          </a:solidFill>
                          <a:latin typeface="Calibri"/>
                        </a:rPr>
                        <a:t>120.62</a:t>
                      </a:r>
                    </a:p>
                  </a:txBody>
                  <a:tcPr marL="73152" marR="73152" marT="27432" marB="27432" anchor="ctr">
                    <a:solidFill>
                      <a:srgbClr val="F4F8F9"/>
                    </a:solidFill>
                  </a:tcPr>
                </a:tc>
                <a:tc>
                  <a:txBody>
                    <a:bodyPr/>
                    <a:lstStyle/>
                    <a:p>
                      <a:pPr algn="ctr"/>
                      <a:r>
                        <a:rPr sz="1500" b="0">
                          <a:solidFill>
                            <a:srgbClr val="142B33"/>
                          </a:solidFill>
                          <a:latin typeface="Calibri"/>
                        </a:rPr>
                        <a:t>0.0082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544.5</a:t>
                      </a:r>
                    </a:p>
                  </a:txBody>
                  <a:tcPr marL="73152" marR="73152" marT="27432" marB="27432" anchor="ctr">
                    <a:solidFill>
                      <a:srgbClr val="FFFFFF"/>
                    </a:solidFill>
                  </a:tcPr>
                </a:tc>
                <a:tc>
                  <a:txBody>
                    <a:bodyPr/>
                    <a:lstStyle/>
                    <a:p>
                      <a:pPr algn="ctr"/>
                      <a:r>
                        <a:rPr sz="1500" b="0">
                          <a:solidFill>
                            <a:srgbClr val="142B33"/>
                          </a:solidFill>
                          <a:latin typeface="Calibri"/>
                        </a:rPr>
                        <a:t>167.54</a:t>
                      </a:r>
                    </a:p>
                  </a:txBody>
                  <a:tcPr marL="73152" marR="73152" marT="27432" marB="27432" anchor="ctr">
                    <a:solidFill>
                      <a:srgbClr val="FFFFFF"/>
                    </a:solidFill>
                  </a:tcPr>
                </a:tc>
                <a:tc>
                  <a:txBody>
                    <a:bodyPr/>
                    <a:lstStyle/>
                    <a:p>
                      <a:pPr algn="ctr"/>
                      <a:r>
                        <a:rPr sz="1500" b="0">
                          <a:solidFill>
                            <a:srgbClr val="142B33"/>
                          </a:solidFill>
                          <a:latin typeface="Calibri"/>
                        </a:rPr>
                        <a:t>0.0059</a:t>
                      </a:r>
                    </a:p>
                  </a:txBody>
                  <a:tcPr marL="73152" marR="73152" marT="27432" marB="27432" anchor="ctr">
                    <a:solidFill>
                      <a:srgbClr val="FFFFFF"/>
                    </a:solidFill>
                  </a:tcPr>
                </a:tc>
              </a:tr>
              <a:tr h="351282">
                <a:tc>
                  <a:txBody>
                    <a:bodyPr/>
                    <a:lstStyle/>
                    <a:p>
                      <a:pPr algn="l"/>
                      <a:r>
                        <a:rPr sz="1500" b="0">
                          <a:solidFill>
                            <a:srgbClr val="142B33"/>
                          </a:solidFill>
                          <a:latin typeface="Calibri"/>
                        </a:rPr>
                        <a:t>AC</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684.5</a:t>
                      </a:r>
                    </a:p>
                  </a:txBody>
                  <a:tcPr marL="73152" marR="73152" marT="27432" marB="27432" anchor="ctr">
                    <a:solidFill>
                      <a:srgbClr val="F4F8F9"/>
                    </a:solidFill>
                  </a:tcPr>
                </a:tc>
                <a:tc>
                  <a:txBody>
                    <a:bodyPr/>
                    <a:lstStyle/>
                    <a:p>
                      <a:pPr algn="ctr"/>
                      <a:r>
                        <a:rPr sz="1500" b="0">
                          <a:solidFill>
                            <a:srgbClr val="142B33"/>
                          </a:solidFill>
                          <a:latin typeface="Calibri"/>
                        </a:rPr>
                        <a:t>210.62</a:t>
                      </a:r>
                    </a:p>
                  </a:txBody>
                  <a:tcPr marL="73152" marR="73152" marT="27432" marB="27432" anchor="ctr">
                    <a:solidFill>
                      <a:srgbClr val="F4F8F9"/>
                    </a:solidFill>
                  </a:tcPr>
                </a:tc>
                <a:tc>
                  <a:txBody>
                    <a:bodyPr/>
                    <a:lstStyle/>
                    <a:p>
                      <a:pPr algn="ctr"/>
                      <a:r>
                        <a:rPr sz="1500" b="0">
                          <a:solidFill>
                            <a:srgbClr val="142B33"/>
                          </a:solidFill>
                          <a:latin typeface="Calibri"/>
                        </a:rPr>
                        <a:t>0.0047</a:t>
                      </a:r>
                    </a:p>
                  </a:txBody>
                  <a:tcPr marL="73152" marR="73152" marT="27432" marB="27432" anchor="ctr">
                    <a:solidFill>
                      <a:srgbClr val="F4F8F9"/>
                    </a:solidFill>
                  </a:tcPr>
                </a:tc>
              </a:tr>
              <a:tr h="351282">
                <a:tc>
                  <a:txBody>
                    <a:bodyPr/>
                    <a:lstStyle/>
                    <a:p>
                      <a:pPr algn="l"/>
                      <a:r>
                        <a:rPr sz="1500" b="0">
                          <a:solidFill>
                            <a:srgbClr val="142B33"/>
                          </a:solidFill>
                          <a:latin typeface="Calibri"/>
                        </a:rPr>
                        <a:t>AD</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722.0</a:t>
                      </a:r>
                    </a:p>
                  </a:txBody>
                  <a:tcPr marL="73152" marR="73152" marT="27432" marB="27432" anchor="ctr">
                    <a:solidFill>
                      <a:srgbClr val="FFFFFF"/>
                    </a:solidFill>
                  </a:tcPr>
                </a:tc>
                <a:tc>
                  <a:txBody>
                    <a:bodyPr/>
                    <a:lstStyle/>
                    <a:p>
                      <a:pPr algn="ctr"/>
                      <a:r>
                        <a:rPr sz="1500" b="0">
                          <a:solidFill>
                            <a:srgbClr val="142B33"/>
                          </a:solidFill>
                          <a:latin typeface="Calibri"/>
                        </a:rPr>
                        <a:t>222.15</a:t>
                      </a:r>
                    </a:p>
                  </a:txBody>
                  <a:tcPr marL="73152" marR="73152" marT="27432" marB="27432" anchor="ctr">
                    <a:solidFill>
                      <a:srgbClr val="FFFFFF"/>
                    </a:solidFill>
                  </a:tcPr>
                </a:tc>
                <a:tc>
                  <a:txBody>
                    <a:bodyPr/>
                    <a:lstStyle/>
                    <a:p>
                      <a:pPr algn="ctr"/>
                      <a:r>
                        <a:rPr sz="1500" b="0">
                          <a:solidFill>
                            <a:srgbClr val="142B33"/>
                          </a:solidFill>
                          <a:latin typeface="Calibri"/>
                        </a:rPr>
                        <a:t>0.0045</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3.25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3071.5</a:t>
                      </a:r>
                    </a:p>
                  </a:txBody>
                  <a:tcPr marL="73152" marR="73152" marT="27432" marB="27432" anchor="ctr">
                    <a:solidFill>
                      <a:srgbClr val="FFFFFF"/>
                    </a:solidFill>
                  </a:tcPr>
                </a:tc>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Rounded Rectangle 3"/>
          <p:cNvSpPr/>
          <p:nvPr/>
        </p:nvSpPr>
        <p:spPr>
          <a:xfrm>
            <a:off x="548640" y="4428744"/>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sp>
        <p:nvSpPr>
          <p:cNvPr id="5" name="TextBox 4"/>
          <p:cNvSpPr txBox="1"/>
          <p:nvPr/>
        </p:nvSpPr>
        <p:spPr>
          <a:xfrm>
            <a:off x="6942563" y="1417320"/>
            <a:ext cx="4700491" cy="190957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Todos los términos: F</a:t>
            </a:r>
            <a:r>
              <a:rPr sz="1700" b="0" baseline="-25000">
                <a:solidFill>
                  <a:srgbClr val="142B33"/>
                </a:solidFill>
                <a:latin typeface="Calibri"/>
              </a:rPr>
              <a:t>0</a:t>
            </a:r>
            <a:r>
              <a:rPr sz="1700" b="0">
                <a:solidFill>
                  <a:srgbClr val="142B33"/>
                </a:solidFill>
                <a:latin typeface="Calibri"/>
              </a:rPr>
              <a:t> &gt; F</a:t>
            </a:r>
            <a:r>
              <a:rPr sz="1700" b="0" baseline="-25000">
                <a:solidFill>
                  <a:srgbClr val="142B33"/>
                </a:solidFill>
                <a:latin typeface="Calibri"/>
              </a:rPr>
              <a:t>0.05, 1, 2</a:t>
            </a:r>
            <a:r>
              <a:rPr sz="1700" b="0">
                <a:solidFill>
                  <a:srgbClr val="142B33"/>
                </a:solidFill>
                <a:latin typeface="Calibri"/>
              </a:rPr>
              <a:t> = 18.51  →  se rechaza H</a:t>
            </a:r>
            <a:r>
              <a:rPr sz="1700" b="0" baseline="-25000">
                <a:solidFill>
                  <a:srgbClr val="142B33"/>
                </a:solidFill>
                <a:latin typeface="Calibri"/>
              </a:rPr>
              <a:t>0</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99.79 %;  R</a:t>
            </a:r>
            <a:r>
              <a:rPr sz="1700" b="0" baseline="30000">
                <a:solidFill>
                  <a:srgbClr val="142B33"/>
                </a:solidFill>
                <a:latin typeface="Calibri"/>
              </a:rPr>
              <a:t>2</a:t>
            </a:r>
            <a:r>
              <a:rPr sz="1700" b="0">
                <a:solidFill>
                  <a:srgbClr val="142B33"/>
                </a:solidFill>
                <a:latin typeface="Calibri"/>
              </a:rPr>
              <a:t> ajustado = 99.26 %</a:t>
            </a:r>
          </a:p>
          <a:p>
            <a:pPr marL="320040" indent="-320040">
              <a:spcAft>
                <a:spcPts val="600"/>
              </a:spcAft>
              <a:buClr>
                <a:srgbClr val="E36414"/>
              </a:buClr>
              <a:buFont typeface="Arial"/>
              <a:buChar char="•"/>
            </a:pPr>
            <a:r>
              <a:rPr sz="1700" b="0">
                <a:solidFill>
                  <a:srgbClr val="142B33"/>
                </a:solidFill>
                <a:latin typeface="Calibri"/>
              </a:rPr>
              <a:t>B no influye: el diseño se </a:t>
            </a:r>
            <a:r>
              <a:rPr sz="1700" b="1">
                <a:solidFill>
                  <a:srgbClr val="142B33"/>
                </a:solidFill>
                <a:latin typeface="Calibri"/>
              </a:rPr>
              <a:t>proyecta</a:t>
            </a:r>
            <a:r>
              <a:rPr sz="1700" b="0">
                <a:solidFill>
                  <a:srgbClr val="142B33"/>
                </a:solidFill>
                <a:latin typeface="Calibri"/>
              </a:rPr>
              <a:t> en un 2</a:t>
            </a:r>
            <a:r>
              <a:rPr sz="1700" b="0" baseline="30000">
                <a:solidFill>
                  <a:srgbClr val="142B33"/>
                </a:solidFill>
                <a:latin typeface="Calibri"/>
              </a:rPr>
              <a:t>3</a:t>
            </a:r>
            <a:r>
              <a:rPr sz="1700" b="0">
                <a:solidFill>
                  <a:srgbClr val="142B33"/>
                </a:solidFill>
                <a:latin typeface="Calibri"/>
              </a:rPr>
              <a:t> completo en A, C, D</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alto, C bajo, D alto</a:t>
            </a:r>
          </a:p>
        </p:txBody>
      </p:sp>
      <p:sp>
        <p:nvSpPr>
          <p:cNvPr id="6" name="Rounded Rectangle 5"/>
          <p:cNvSpPr/>
          <p:nvPr/>
        </p:nvSpPr>
        <p:spPr>
          <a:xfrm>
            <a:off x="6942563" y="3528060"/>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ANOVA calculada aquí (no está en el libro). Solo 2 g.l. de error: conclusión </a:t>
            </a:r>
            <a:r>
              <a:rPr sz="1500" b="1">
                <a:solidFill>
                  <a:srgbClr val="142B33"/>
                </a:solidFill>
                <a:latin typeface="Calibri"/>
              </a:rPr>
              <a:t>tentativa</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25</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Enunciado: rendimiento de un circuito integrado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En la manufactura de un circuito integrado se quiere </a:t>
            </a:r>
            <a:r>
              <a:rPr sz="1600" b="1">
                <a:solidFill>
                  <a:srgbClr val="142B33"/>
                </a:solidFill>
                <a:latin typeface="Calibri"/>
              </a:rPr>
              <a:t>mejorar el rendimiento</a:t>
            </a:r>
            <a:r>
              <a:rPr sz="1600" b="0">
                <a:solidFill>
                  <a:srgbClr val="142B33"/>
                </a:solidFill>
                <a:latin typeface="Calibri"/>
              </a:rPr>
              <a:t> del proceso. Se investigan cinco factores a dos niveles: A ajuste de apertura (pequeña, grande), B tiempo de exposición (20 % por debajo y por encima del nominal), C tiempo de desarrollo (30 y 45 s), D tamaño de la máscara (pequeña, grande) y E tiempo de grabado (14.5 y 15.5 min).</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2</a:t>
            </a:r>
            <a:r>
              <a:rPr sz="1600" b="0" baseline="30000">
                <a:solidFill>
                  <a:srgbClr val="142B33"/>
                </a:solidFill>
                <a:latin typeface="Calibri"/>
              </a:rPr>
              <a:t>5</a:t>
            </a:r>
            <a:r>
              <a:rPr sz="1600" b="0">
                <a:solidFill>
                  <a:srgbClr val="142B33"/>
                </a:solidFill>
                <a:latin typeface="Calibri"/>
              </a:rPr>
              <a:t> exige 32 corridas. Se decide correr </a:t>
            </a:r>
            <a:r>
              <a:rPr sz="1600" b="1">
                <a:solidFill>
                  <a:srgbClr val="142B33"/>
                </a:solidFill>
                <a:latin typeface="Calibri"/>
              </a:rPr>
              <a:t>la mitad, 16 corridas</a:t>
            </a:r>
            <a:r>
              <a:rPr sz="1600" b="0">
                <a:solidFill>
                  <a:srgbClr val="142B33"/>
                </a:solidFill>
                <a:latin typeface="Calibri"/>
              </a:rPr>
              <a:t>, con E = ABCD (I = ABCDE), una sola réplica de cada combinación y en orden aleatorio.</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Sin réplicas no hay una estimación directa del error: la significancia de los efectos se tiene que juzgar con los propios efectos.</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8-2</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Saber qué factores e interacciones </a:t>
            </a:r>
            <a:r>
              <a:rPr sz="1500" b="1">
                <a:solidFill>
                  <a:srgbClr val="142B33"/>
                </a:solidFill>
                <a:latin typeface="Calibri"/>
              </a:rPr>
              <a:t>afectan el rendimiento</a:t>
            </a:r>
            <a:r>
              <a:rPr sz="1500" b="0">
                <a:solidFill>
                  <a:srgbClr val="142B33"/>
                </a:solidFill>
                <a:latin typeface="Calibri"/>
              </a:rPr>
              <a:t> y en qué niveles conviene operar</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Identificar la resolución y los alias</a:t>
            </a:r>
          </a:p>
          <a:p>
            <a:pPr marL="320040" indent="-320040">
              <a:spcAft>
                <a:spcPts val="600"/>
              </a:spcAft>
              <a:buClr>
                <a:srgbClr val="E36414"/>
              </a:buClr>
              <a:buFont typeface="+mj-lt"/>
              <a:buAutoNum type="arabicPeriod"/>
            </a:pPr>
            <a:r>
              <a:rPr sz="1500" b="0">
                <a:solidFill>
                  <a:srgbClr val="142B33"/>
                </a:solidFill>
                <a:latin typeface="Calibri"/>
              </a:rPr>
              <a:t>Estimar los 15 efectos y decidir cuáles son activos</a:t>
            </a:r>
          </a:p>
          <a:p>
            <a:pPr marL="320040" indent="-320040">
              <a:spcAft>
                <a:spcPts val="600"/>
              </a:spcAft>
              <a:buClr>
                <a:srgbClr val="E36414"/>
              </a:buClr>
              <a:buFont typeface="+mj-lt"/>
              <a:buAutoNum type="arabicPeriod"/>
            </a:pPr>
            <a:r>
              <a:rPr sz="1500" b="0">
                <a:solidFill>
                  <a:srgbClr val="142B33"/>
                </a:solidFill>
                <a:latin typeface="Calibri"/>
              </a:rPr>
              <a:t>Ajustar el modelo reducido y validar los supuestos</a:t>
            </a:r>
          </a:p>
          <a:p>
            <a:pPr marL="320040" indent="-320040">
              <a:spcAft>
                <a:spcPts val="600"/>
              </a:spcAft>
              <a:buClr>
                <a:srgbClr val="E36414"/>
              </a:buClr>
              <a:buFont typeface="+mj-lt"/>
              <a:buAutoNum type="arabicPeriod"/>
            </a:pPr>
            <a:r>
              <a:rPr sz="1500" b="0">
                <a:solidFill>
                  <a:srgbClr val="142B33"/>
                </a:solidFill>
                <a:latin typeface="Calibri"/>
              </a:rPr>
              <a:t>Recomendar las condiciones de operación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26</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Rendimiento de un circuito integrado</a:t>
            </a:r>
          </a:p>
        </p:txBody>
      </p:sp>
      <p:sp>
        <p:nvSpPr>
          <p:cNvPr id="3" name="TextBox 2"/>
          <p:cNvSpPr txBox="1"/>
          <p:nvPr/>
        </p:nvSpPr>
        <p:spPr>
          <a:xfrm>
            <a:off x="548640" y="1417320"/>
            <a:ext cx="5555126" cy="19202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Respuesta: </a:t>
            </a:r>
            <a:r>
              <a:rPr sz="1800" b="1">
                <a:solidFill>
                  <a:srgbClr val="142B33"/>
                </a:solidFill>
                <a:latin typeface="Calibri"/>
              </a:rPr>
              <a:t>rendimiento</a:t>
            </a:r>
            <a:r>
              <a:rPr sz="1800" b="0">
                <a:solidFill>
                  <a:srgbClr val="142B33"/>
                </a:solidFill>
                <a:latin typeface="Calibri"/>
              </a:rPr>
              <a:t> del proceso (se quiere aumentar)</a:t>
            </a:r>
          </a:p>
          <a:p>
            <a:pPr marL="320040" indent="-320040">
              <a:spcAft>
                <a:spcPts val="600"/>
              </a:spcAft>
              <a:buClr>
                <a:srgbClr val="E36414"/>
              </a:buClr>
              <a:buFont typeface="Arial"/>
              <a:buChar char="•"/>
            </a:pPr>
            <a:r>
              <a:rPr sz="1800" b="0">
                <a:solidFill>
                  <a:srgbClr val="142B33"/>
                </a:solidFill>
                <a:latin typeface="Calibri"/>
              </a:rPr>
              <a:t>Cinco factores, 16 corridas: </a:t>
            </a:r>
            <a:r>
              <a:rPr sz="1800" b="1">
                <a:solidFill>
                  <a:srgbClr val="142B33"/>
                </a:solidFill>
                <a:latin typeface="Calibri"/>
              </a:rPr>
              <a:t>E = ABCD</a:t>
            </a:r>
            <a:r>
              <a:rPr sz="1800" b="0">
                <a:solidFill>
                  <a:srgbClr val="142B33"/>
                </a:solidFill>
                <a:latin typeface="Calibri"/>
              </a:rPr>
              <a:t>  (I = ABCDE)</a:t>
            </a:r>
          </a:p>
          <a:p>
            <a:pPr marL="320040" indent="-320040">
              <a:spcAft>
                <a:spcPts val="600"/>
              </a:spcAft>
              <a:buClr>
                <a:srgbClr val="E36414"/>
              </a:buClr>
              <a:buFont typeface="Arial"/>
              <a:buChar char="•"/>
            </a:pPr>
            <a:r>
              <a:rPr sz="1800" b="1">
                <a:solidFill>
                  <a:srgbClr val="142B33"/>
                </a:solidFill>
                <a:latin typeface="Calibri"/>
              </a:rPr>
              <a:t>Resolución V</a:t>
            </a:r>
            <a:r>
              <a:rPr sz="1800" b="0">
                <a:solidFill>
                  <a:srgbClr val="142B33"/>
                </a:solidFill>
                <a:latin typeface="Calibri"/>
              </a:rPr>
              <a:t>: principales e interacciones dobles libres entre sí</a:t>
            </a:r>
          </a:p>
        </p:txBody>
      </p:sp>
      <p:graphicFrame>
        <p:nvGraphicFramePr>
          <p:cNvPr id="4" name="Table 3"/>
          <p:cNvGraphicFramePr>
            <a:graphicFrameLocks noGrp="1"/>
          </p:cNvGraphicFramePr>
          <p:nvPr/>
        </p:nvGraphicFramePr>
        <p:xfrm>
          <a:off x="548640" y="3538728"/>
          <a:ext cx="5555124" cy="2107692"/>
        </p:xfrm>
        <a:graphic>
          <a:graphicData uri="http://schemas.openxmlformats.org/drawingml/2006/table">
            <a:tbl>
              <a:tblPr firstRow="0" bandRow="0">
                <a:tableStyleId>{5C22544A-7EE6-4342-B048-85BDC9FD1C3A}</a:tableStyleId>
              </a:tblPr>
              <a:tblGrid>
                <a:gridCol w="2628120"/>
                <a:gridCol w="1463502"/>
                <a:gridCol w="1463502"/>
              </a:tblGrid>
              <a:tr h="351282">
                <a:tc>
                  <a:txBody>
                    <a:bodyPr/>
                    <a:lstStyle/>
                    <a:p>
                      <a:pPr algn="l"/>
                      <a:r>
                        <a:rPr sz="1500" b="1">
                          <a:solidFill>
                            <a:srgbClr val="FFFFFF"/>
                          </a:solidFill>
                          <a:latin typeface="Calibri"/>
                        </a:rPr>
                        <a:t>Factor</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c>
                  <a:txBody>
                    <a:bodyPr/>
                    <a:lstStyle/>
                    <a:p>
                      <a:pPr algn="ctr"/>
                      <a:r>
                        <a:rPr sz="1500" b="1">
                          <a:solidFill>
                            <a:srgbClr val="FFFFFF"/>
                          </a:solidFill>
                          <a:latin typeface="Calibri"/>
                        </a:rPr>
                        <a:t>Nivel (+)</a:t>
                      </a:r>
                    </a:p>
                  </a:txBody>
                  <a:tcPr marL="73152" marR="73152" marT="27432" marB="27432" anchor="ctr">
                    <a:solidFill>
                      <a:srgbClr val="0F4C5C"/>
                    </a:solidFill>
                  </a:tcPr>
                </a:tc>
              </a:tr>
              <a:tr h="351282">
                <a:tc>
                  <a:txBody>
                    <a:bodyPr/>
                    <a:lstStyle/>
                    <a:p>
                      <a:pPr algn="l"/>
                      <a:r>
                        <a:rPr sz="1500" b="0">
                          <a:solidFill>
                            <a:srgbClr val="142B33"/>
                          </a:solidFill>
                          <a:latin typeface="Calibri"/>
                        </a:rPr>
                        <a:t>A  Apertura</a:t>
                      </a:r>
                    </a:p>
                  </a:txBody>
                  <a:tcPr marL="73152" marR="73152" marT="27432" marB="27432" anchor="ctr">
                    <a:solidFill>
                      <a:srgbClr val="FFFFFF"/>
                    </a:solidFill>
                  </a:tcPr>
                </a:tc>
                <a:tc>
                  <a:txBody>
                    <a:bodyPr/>
                    <a:lstStyle/>
                    <a:p>
                      <a:pPr algn="ctr"/>
                      <a:r>
                        <a:rPr sz="1500" b="0">
                          <a:solidFill>
                            <a:srgbClr val="142B33"/>
                          </a:solidFill>
                          <a:latin typeface="Calibri"/>
                        </a:rPr>
                        <a:t>pequeña</a:t>
                      </a:r>
                    </a:p>
                  </a:txBody>
                  <a:tcPr marL="73152" marR="73152" marT="27432" marB="27432" anchor="ctr">
                    <a:solidFill>
                      <a:srgbClr val="FFFFFF"/>
                    </a:solidFill>
                  </a:tcPr>
                </a:tc>
                <a:tc>
                  <a:txBody>
                    <a:bodyPr/>
                    <a:lstStyle/>
                    <a:p>
                      <a:pPr algn="ctr"/>
                      <a:r>
                        <a:rPr sz="1500" b="0">
                          <a:solidFill>
                            <a:srgbClr val="142B33"/>
                          </a:solidFill>
                          <a:latin typeface="Calibri"/>
                        </a:rPr>
                        <a:t>grande</a:t>
                      </a:r>
                    </a:p>
                  </a:txBody>
                  <a:tcPr marL="73152" marR="73152" marT="27432" marB="27432" anchor="ctr">
                    <a:solidFill>
                      <a:srgbClr val="FFFFFF"/>
                    </a:solidFill>
                  </a:tcPr>
                </a:tc>
              </a:tr>
              <a:tr h="351282">
                <a:tc>
                  <a:txBody>
                    <a:bodyPr/>
                    <a:lstStyle/>
                    <a:p>
                      <a:pPr algn="l"/>
                      <a:r>
                        <a:rPr sz="1500" b="0">
                          <a:solidFill>
                            <a:srgbClr val="142B33"/>
                          </a:solidFill>
                          <a:latin typeface="Calibri"/>
                        </a:rPr>
                        <a:t>B  Tiempo de exposición</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c>
                  <a:txBody>
                    <a:bodyPr/>
                    <a:lstStyle/>
                    <a:p>
                      <a:pPr algn="ctr"/>
                      <a:r>
                        <a:rPr sz="1500" b="0">
                          <a:solidFill>
                            <a:srgbClr val="142B33"/>
                          </a:solidFill>
                          <a:latin typeface="Calibri"/>
                        </a:rPr>
                        <a:t>+20 %</a:t>
                      </a:r>
                    </a:p>
                  </a:txBody>
                  <a:tcPr marL="73152" marR="73152" marT="27432" marB="27432" anchor="ctr">
                    <a:solidFill>
                      <a:srgbClr val="F4F8F9"/>
                    </a:solidFill>
                  </a:tcPr>
                </a:tc>
              </a:tr>
              <a:tr h="351282">
                <a:tc>
                  <a:txBody>
                    <a:bodyPr/>
                    <a:lstStyle/>
                    <a:p>
                      <a:pPr algn="l"/>
                      <a:r>
                        <a:rPr sz="1500" b="0">
                          <a:solidFill>
                            <a:srgbClr val="142B33"/>
                          </a:solidFill>
                          <a:latin typeface="Calibri"/>
                        </a:rPr>
                        <a:t>C  Tiempo de desarrollo</a:t>
                      </a:r>
                    </a:p>
                  </a:txBody>
                  <a:tcPr marL="73152" marR="73152" marT="27432" marB="27432" anchor="ctr">
                    <a:solidFill>
                      <a:srgbClr val="FFFFFF"/>
                    </a:solidFill>
                  </a:tcPr>
                </a:tc>
                <a:tc>
                  <a:txBody>
                    <a:bodyPr/>
                    <a:lstStyle/>
                    <a:p>
                      <a:pPr algn="ctr"/>
                      <a:r>
                        <a:rPr sz="1500" b="0">
                          <a:solidFill>
                            <a:srgbClr val="142B33"/>
                          </a:solidFill>
                          <a:latin typeface="Calibri"/>
                        </a:rPr>
                        <a:t>30 s</a:t>
                      </a:r>
                    </a:p>
                  </a:txBody>
                  <a:tcPr marL="73152" marR="73152" marT="27432" marB="27432" anchor="ctr">
                    <a:solidFill>
                      <a:srgbClr val="FFFFFF"/>
                    </a:solidFill>
                  </a:tcPr>
                </a:tc>
                <a:tc>
                  <a:txBody>
                    <a:bodyPr/>
                    <a:lstStyle/>
                    <a:p>
                      <a:pPr algn="ctr"/>
                      <a:r>
                        <a:rPr sz="1500" b="0">
                          <a:solidFill>
                            <a:srgbClr val="142B33"/>
                          </a:solidFill>
                          <a:latin typeface="Calibri"/>
                        </a:rPr>
                        <a:t>45 s</a:t>
                      </a:r>
                    </a:p>
                  </a:txBody>
                  <a:tcPr marL="73152" marR="73152" marT="27432" marB="27432" anchor="ctr">
                    <a:solidFill>
                      <a:srgbClr val="FFFFFF"/>
                    </a:solidFill>
                  </a:tcPr>
                </a:tc>
              </a:tr>
              <a:tr h="351282">
                <a:tc>
                  <a:txBody>
                    <a:bodyPr/>
                    <a:lstStyle/>
                    <a:p>
                      <a:pPr algn="l"/>
                      <a:r>
                        <a:rPr sz="1500" b="0">
                          <a:solidFill>
                            <a:srgbClr val="142B33"/>
                          </a:solidFill>
                          <a:latin typeface="Calibri"/>
                        </a:rPr>
                        <a:t>D  Tamaño de máscara</a:t>
                      </a:r>
                    </a:p>
                  </a:txBody>
                  <a:tcPr marL="73152" marR="73152" marT="27432" marB="27432" anchor="ctr">
                    <a:solidFill>
                      <a:srgbClr val="F4F8F9"/>
                    </a:solidFill>
                  </a:tcPr>
                </a:tc>
                <a:tc>
                  <a:txBody>
                    <a:bodyPr/>
                    <a:lstStyle/>
                    <a:p>
                      <a:pPr algn="ctr"/>
                      <a:r>
                        <a:rPr sz="1500" b="0">
                          <a:solidFill>
                            <a:srgbClr val="142B33"/>
                          </a:solidFill>
                          <a:latin typeface="Calibri"/>
                        </a:rPr>
                        <a:t>pequeña</a:t>
                      </a:r>
                    </a:p>
                  </a:txBody>
                  <a:tcPr marL="73152" marR="73152" marT="27432" marB="27432" anchor="ctr">
                    <a:solidFill>
                      <a:srgbClr val="F4F8F9"/>
                    </a:solidFill>
                  </a:tcPr>
                </a:tc>
                <a:tc>
                  <a:txBody>
                    <a:bodyPr/>
                    <a:lstStyle/>
                    <a:p>
                      <a:pPr algn="ctr"/>
                      <a:r>
                        <a:rPr sz="1500" b="0">
                          <a:solidFill>
                            <a:srgbClr val="142B33"/>
                          </a:solidFill>
                          <a:latin typeface="Calibri"/>
                        </a:rPr>
                        <a:t>grande</a:t>
                      </a:r>
                    </a:p>
                  </a:txBody>
                  <a:tcPr marL="73152" marR="73152" marT="27432" marB="27432" anchor="ctr">
                    <a:solidFill>
                      <a:srgbClr val="F4F8F9"/>
                    </a:solidFill>
                  </a:tcPr>
                </a:tc>
              </a:tr>
              <a:tr h="351282">
                <a:tc>
                  <a:txBody>
                    <a:bodyPr/>
                    <a:lstStyle/>
                    <a:p>
                      <a:pPr algn="l"/>
                      <a:r>
                        <a:rPr sz="1500" b="0">
                          <a:solidFill>
                            <a:srgbClr val="142B33"/>
                          </a:solidFill>
                          <a:latin typeface="Calibri"/>
                        </a:rPr>
                        <a:t>E  Tiempo de grabado</a:t>
                      </a:r>
                    </a:p>
                  </a:txBody>
                  <a:tcPr marL="73152" marR="73152" marT="27432" marB="27432" anchor="ctr">
                    <a:solidFill>
                      <a:srgbClr val="FFFFFF"/>
                    </a:solidFill>
                  </a:tcPr>
                </a:tc>
                <a:tc>
                  <a:txBody>
                    <a:bodyPr/>
                    <a:lstStyle/>
                    <a:p>
                      <a:pPr algn="ctr"/>
                      <a:r>
                        <a:rPr sz="1500" b="0">
                          <a:solidFill>
                            <a:srgbClr val="142B33"/>
                          </a:solidFill>
                          <a:latin typeface="Calibri"/>
                        </a:rPr>
                        <a:t>14.5 min</a:t>
                      </a:r>
                    </a:p>
                  </a:txBody>
                  <a:tcPr marL="73152" marR="73152" marT="27432" marB="27432" anchor="ctr">
                    <a:solidFill>
                      <a:srgbClr val="FFFFFF"/>
                    </a:solidFill>
                  </a:tcPr>
                </a:tc>
                <a:tc>
                  <a:txBody>
                    <a:bodyPr/>
                    <a:lstStyle/>
                    <a:p>
                      <a:pPr algn="ctr"/>
                      <a:r>
                        <a:rPr sz="1500" b="0">
                          <a:solidFill>
                            <a:srgbClr val="142B33"/>
                          </a:solidFill>
                          <a:latin typeface="Calibri"/>
                        </a:rPr>
                        <a:t>15.5 min</a:t>
                      </a:r>
                    </a:p>
                  </a:txBody>
                  <a:tcPr marL="73152" marR="73152" marT="27432" marB="27432" anchor="ctr">
                    <a:solidFill>
                      <a:srgbClr val="FFFFFF"/>
                    </a:solidFill>
                  </a:tcPr>
                </a:tc>
              </a:tr>
            </a:tbl>
          </a:graphicData>
        </a:graphic>
      </p:graphicFrame>
      <p:graphicFrame>
        <p:nvGraphicFramePr>
          <p:cNvPr id="5" name="Table 4"/>
          <p:cNvGraphicFramePr>
            <a:graphicFrameLocks noGrp="1"/>
          </p:cNvGraphicFramePr>
          <p:nvPr/>
        </p:nvGraphicFramePr>
        <p:xfrm>
          <a:off x="6515246" y="1417320"/>
          <a:ext cx="5127806" cy="4715256"/>
        </p:xfrm>
        <a:graphic>
          <a:graphicData uri="http://schemas.openxmlformats.org/drawingml/2006/table">
            <a:tbl>
              <a:tblPr firstRow="0" bandRow="0">
                <a:tableStyleId>{5C22544A-7EE6-4342-B048-85BDC9FD1C3A}</a:tableStyleId>
              </a:tblPr>
              <a:tblGrid>
                <a:gridCol w="1694660"/>
                <a:gridCol w="555147"/>
                <a:gridCol w="555147"/>
                <a:gridCol w="555147"/>
                <a:gridCol w="555147"/>
                <a:gridCol w="555147"/>
                <a:gridCol w="657411"/>
              </a:tblGrid>
              <a:tr h="277368">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Y</a:t>
                      </a:r>
                    </a:p>
                  </a:txBody>
                  <a:tcPr marL="73152" marR="73152" marT="27432" marB="27432" anchor="ctr">
                    <a:solidFill>
                      <a:srgbClr val="0F4C5C"/>
                    </a:solidFill>
                  </a:tcPr>
                </a:tc>
              </a:tr>
              <a:tr h="277368">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8</a:t>
                      </a:r>
                    </a:p>
                  </a:txBody>
                  <a:tcPr marL="73152" marR="73152" marT="27432" marB="27432" anchor="ctr">
                    <a:solidFill>
                      <a:srgbClr val="FFFFFF"/>
                    </a:solidFill>
                  </a:tcPr>
                </a:tc>
              </a:tr>
              <a:tr h="277368">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9</a:t>
                      </a:r>
                    </a:p>
                  </a:txBody>
                  <a:tcPr marL="73152" marR="73152" marT="27432" marB="27432" anchor="ctr">
                    <a:solidFill>
                      <a:srgbClr val="F4F8F9"/>
                    </a:solidFill>
                  </a:tcPr>
                </a:tc>
              </a:tr>
              <a:tr h="277368">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34</a:t>
                      </a:r>
                    </a:p>
                  </a:txBody>
                  <a:tcPr marL="73152" marR="73152" marT="27432" marB="27432" anchor="ctr">
                    <a:solidFill>
                      <a:srgbClr val="FFFFFF"/>
                    </a:solidFill>
                  </a:tcPr>
                </a:tc>
              </a:tr>
              <a:tr h="277368">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52</a:t>
                      </a:r>
                    </a:p>
                  </a:txBody>
                  <a:tcPr marL="73152" marR="73152" marT="27432" marB="27432" anchor="ctr">
                    <a:solidFill>
                      <a:srgbClr val="F4F8F9"/>
                    </a:solidFill>
                  </a:tcPr>
                </a:tc>
              </a:tr>
              <a:tr h="277368">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16</a:t>
                      </a:r>
                    </a:p>
                  </a:txBody>
                  <a:tcPr marL="73152" marR="73152" marT="27432" marB="27432" anchor="ctr">
                    <a:solidFill>
                      <a:srgbClr val="FFFFFF"/>
                    </a:solidFill>
                  </a:tcPr>
                </a:tc>
              </a:tr>
              <a:tr h="277368">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22</a:t>
                      </a:r>
                    </a:p>
                  </a:txBody>
                  <a:tcPr marL="73152" marR="73152" marT="27432" marB="27432" anchor="ctr">
                    <a:solidFill>
                      <a:srgbClr val="F4F8F9"/>
                    </a:solidFill>
                  </a:tcPr>
                </a:tc>
              </a:tr>
              <a:tr h="277368">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45</a:t>
                      </a:r>
                    </a:p>
                  </a:txBody>
                  <a:tcPr marL="73152" marR="73152" marT="27432" marB="27432" anchor="ctr">
                    <a:solidFill>
                      <a:srgbClr val="FFFFFF"/>
                    </a:solidFill>
                  </a:tcPr>
                </a:tc>
              </a:tr>
              <a:tr h="277368">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60</a:t>
                      </a:r>
                    </a:p>
                  </a:txBody>
                  <a:tcPr marL="73152" marR="73152" marT="27432" marB="27432" anchor="ctr">
                    <a:solidFill>
                      <a:srgbClr val="F4F8F9"/>
                    </a:solidFill>
                  </a:tcPr>
                </a:tc>
              </a:tr>
              <a:tr h="277368">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6</a:t>
                      </a:r>
                    </a:p>
                  </a:txBody>
                  <a:tcPr marL="73152" marR="73152" marT="27432" marB="27432" anchor="ctr">
                    <a:solidFill>
                      <a:srgbClr val="FFFFFF"/>
                    </a:solidFill>
                  </a:tcPr>
                </a:tc>
              </a:tr>
              <a:tr h="277368">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10</a:t>
                      </a:r>
                    </a:p>
                  </a:txBody>
                  <a:tcPr marL="73152" marR="73152" marT="27432" marB="27432" anchor="ctr">
                    <a:solidFill>
                      <a:srgbClr val="F4F8F9"/>
                    </a:solidFill>
                  </a:tcPr>
                </a:tc>
              </a:tr>
              <a:tr h="277368">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30</a:t>
                      </a:r>
                    </a:p>
                  </a:txBody>
                  <a:tcPr marL="73152" marR="73152" marT="27432" marB="27432" anchor="ctr">
                    <a:solidFill>
                      <a:srgbClr val="FFFFFF"/>
                    </a:solidFill>
                  </a:tcPr>
                </a:tc>
              </a:tr>
              <a:tr h="277368">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50</a:t>
                      </a:r>
                    </a:p>
                  </a:txBody>
                  <a:tcPr marL="73152" marR="73152" marT="27432" marB="27432" anchor="ctr">
                    <a:solidFill>
                      <a:srgbClr val="F4F8F9"/>
                    </a:solidFill>
                  </a:tcPr>
                </a:tc>
              </a:tr>
              <a:tr h="277368">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15</a:t>
                      </a:r>
                    </a:p>
                  </a:txBody>
                  <a:tcPr marL="73152" marR="73152" marT="27432" marB="27432" anchor="ctr">
                    <a:solidFill>
                      <a:srgbClr val="FFFFFF"/>
                    </a:solidFill>
                  </a:tcPr>
                </a:tc>
              </a:tr>
              <a:tr h="277368">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21</a:t>
                      </a:r>
                    </a:p>
                  </a:txBody>
                  <a:tcPr marL="73152" marR="73152" marT="27432" marB="27432" anchor="ctr">
                    <a:solidFill>
                      <a:srgbClr val="F4F8F9"/>
                    </a:solidFill>
                  </a:tcPr>
                </a:tc>
              </a:tr>
              <a:tr h="277368">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200" b="0">
                          <a:solidFill>
                            <a:srgbClr val="142B33"/>
                          </a:solidFill>
                          <a:latin typeface="Calibri"/>
                        </a:rPr>
                        <a:t>44</a:t>
                      </a:r>
                    </a:p>
                  </a:txBody>
                  <a:tcPr marL="73152" marR="73152" marT="27432" marB="27432" anchor="ctr">
                    <a:solidFill>
                      <a:srgbClr val="FFFFFF"/>
                    </a:solidFill>
                  </a:tcPr>
                </a:tc>
              </a:tr>
              <a:tr h="277368">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200" b="0">
                          <a:solidFill>
                            <a:srgbClr val="142B33"/>
                          </a:solidFill>
                          <a:latin typeface="Calibri"/>
                        </a:rPr>
                        <a:t>63</a:t>
                      </a:r>
                    </a:p>
                  </a:txBody>
                  <a:tcPr marL="73152" marR="73152" marT="27432" marB="27432" anchor="ctr">
                    <a:solidFill>
                      <a:srgbClr val="F4F8F9"/>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27</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Fuera de la recta → </a:t>
            </a:r>
            <a:r>
              <a:rPr sz="1400" b="1">
                <a:solidFill>
                  <a:srgbClr val="142B33"/>
                </a:solidFill>
                <a:latin typeface="Calibri"/>
              </a:rPr>
              <a:t>modelo</a:t>
            </a:r>
            <a:r>
              <a:rPr sz="1400" b="0">
                <a:solidFill>
                  <a:srgbClr val="142B33"/>
                </a:solidFill>
                <a:latin typeface="Calibri"/>
              </a:rPr>
              <a:t> (B, A, C, AB).  Sobre la recta → </a:t>
            </a:r>
            <a:r>
              <a:rPr sz="1400" b="1">
                <a:solidFill>
                  <a:srgbClr val="142B33"/>
                </a:solidFill>
                <a:latin typeface="Calibri"/>
              </a:rPr>
              <a:t>error</a:t>
            </a:r>
            <a:r>
              <a:rPr sz="1400" b="0">
                <a:solidFill>
                  <a:srgbClr val="142B33"/>
                </a:solidFill>
                <a:latin typeface="Calibri"/>
              </a:rPr>
              <a:t> (11 g.l.)</a:t>
            </a:r>
          </a:p>
        </p:txBody>
      </p:sp>
      <p:graphicFrame>
        <p:nvGraphicFramePr>
          <p:cNvPr id="5" name="Chart 4"/>
          <p:cNvGraphicFramePr>
            <a:graphicFrameLocks noGrp="1"/>
          </p:cNvGraphicFramePr>
          <p:nvPr/>
        </p:nvGraphicFramePr>
        <p:xfrm>
          <a:off x="6301587" y="1417320"/>
          <a:ext cx="5341467" cy="3108960"/>
        </p:xfrm>
        <a:graphic>
          <a:graphicData uri="http://schemas.openxmlformats.org/drawingml/2006/chart">
            <c:chart xmlns:c="http://schemas.openxmlformats.org/drawingml/2006/chart" r:id="rId3"/>
          </a:graphicData>
        </a:graphic>
      </p:graphicFrame>
      <p:sp>
        <p:nvSpPr>
          <p:cNvPr id="6" name="Rounded Rectangle 5"/>
          <p:cNvSpPr/>
          <p:nvPr/>
        </p:nvSpPr>
        <p:spPr>
          <a:xfrm>
            <a:off x="6301587" y="47274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Lenth: PSE = 0.9375,  ME = 2.41.  Activos: </a:t>
            </a:r>
            <a:r>
              <a:rPr sz="1500" b="1">
                <a:solidFill>
                  <a:srgbClr val="142B33"/>
                </a:solidFill>
                <a:latin typeface="Calibri"/>
              </a:rPr>
              <a:t>B, A, C y AB</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28</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ANOVA y conclusión</a:t>
            </a:r>
          </a:p>
        </p:txBody>
      </p:sp>
      <p:graphicFrame>
        <p:nvGraphicFramePr>
          <p:cNvPr id="3" name="Table 2"/>
          <p:cNvGraphicFramePr>
            <a:graphicFrameLocks noGrp="1"/>
          </p:cNvGraphicFramePr>
          <p:nvPr/>
        </p:nvGraphicFramePr>
        <p:xfrm>
          <a:off x="548640" y="1417320"/>
          <a:ext cx="5982442" cy="2458974"/>
        </p:xfrm>
        <a:graphic>
          <a:graphicData uri="http://schemas.openxmlformats.org/drawingml/2006/table">
            <a:tbl>
              <a:tblPr firstRow="0" bandRow="0">
                <a:tableStyleId>{5C22544A-7EE6-4342-B048-85BDC9FD1C3A}</a:tableStyleId>
              </a:tblPr>
              <a:tblGrid>
                <a:gridCol w="851391"/>
                <a:gridCol w="1078429"/>
                <a:gridCol w="578946"/>
                <a:gridCol w="1078429"/>
                <a:gridCol w="1078429"/>
                <a:gridCol w="131681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495.06</a:t>
                      </a:r>
                    </a:p>
                  </a:txBody>
                  <a:tcPr marL="73152" marR="73152" marT="27432" marB="27432" anchor="ctr">
                    <a:solidFill>
                      <a:srgbClr val="FFFFFF"/>
                    </a:solidFill>
                  </a:tcPr>
                </a:tc>
                <a:tc>
                  <a:txBody>
                    <a:bodyPr/>
                    <a:lstStyle/>
                    <a:p>
                      <a:pPr algn="ctr"/>
                      <a:r>
                        <a:rPr sz="1500" b="0">
                          <a:solidFill>
                            <a:srgbClr val="142B33"/>
                          </a:solidFill>
                          <a:latin typeface="Calibri"/>
                        </a:rPr>
                        <a:t>193.20</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4590.06</a:t>
                      </a:r>
                    </a:p>
                  </a:txBody>
                  <a:tcPr marL="73152" marR="73152" marT="27432" marB="27432" anchor="ctr">
                    <a:solidFill>
                      <a:srgbClr val="F4F8F9"/>
                    </a:solidFill>
                  </a:tcPr>
                </a:tc>
                <a:tc>
                  <a:txBody>
                    <a:bodyPr/>
                    <a:lstStyle/>
                    <a:p>
                      <a:pPr algn="ctr"/>
                      <a:r>
                        <a:rPr sz="1500" b="0">
                          <a:solidFill>
                            <a:srgbClr val="142B33"/>
                          </a:solidFill>
                          <a:latin typeface="Calibri"/>
                        </a:rPr>
                        <a:t>1791.24</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473.06</a:t>
                      </a:r>
                    </a:p>
                  </a:txBody>
                  <a:tcPr marL="73152" marR="73152" marT="27432" marB="27432" anchor="ctr">
                    <a:solidFill>
                      <a:srgbClr val="FFFFFF"/>
                    </a:solidFill>
                  </a:tcPr>
                </a:tc>
                <a:tc>
                  <a:txBody>
                    <a:bodyPr/>
                    <a:lstStyle/>
                    <a:p>
                      <a:pPr algn="ctr"/>
                      <a:r>
                        <a:rPr sz="1500" b="0">
                          <a:solidFill>
                            <a:srgbClr val="142B33"/>
                          </a:solidFill>
                          <a:latin typeface="Calibri"/>
                        </a:rPr>
                        <a:t>184.61</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AB</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189.06</a:t>
                      </a:r>
                    </a:p>
                  </a:txBody>
                  <a:tcPr marL="73152" marR="73152" marT="27432" marB="27432" anchor="ctr">
                    <a:solidFill>
                      <a:srgbClr val="F4F8F9"/>
                    </a:solidFill>
                  </a:tcPr>
                </a:tc>
                <a:tc>
                  <a:txBody>
                    <a:bodyPr/>
                    <a:lstStyle/>
                    <a:p>
                      <a:pPr algn="ctr"/>
                      <a:r>
                        <a:rPr sz="1500" b="0">
                          <a:solidFill>
                            <a:srgbClr val="142B33"/>
                          </a:solidFill>
                          <a:latin typeface="Calibri"/>
                        </a:rPr>
                        <a:t>73.78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Error</a:t>
                      </a:r>
                    </a:p>
                  </a:txBody>
                  <a:tcPr marL="73152" marR="73152" marT="27432" marB="27432" anchor="ctr">
                    <a:solidFill>
                      <a:srgbClr val="FFFFFF"/>
                    </a:solidFill>
                  </a:tcPr>
                </a:tc>
                <a:tc>
                  <a:txBody>
                    <a:bodyPr/>
                    <a:lstStyle/>
                    <a:p>
                      <a:pPr algn="ctr"/>
                      <a:r>
                        <a:rPr sz="1500" b="0">
                          <a:solidFill>
                            <a:srgbClr val="142B33"/>
                          </a:solidFill>
                          <a:latin typeface="Calibri"/>
                        </a:rPr>
                        <a:t>28.19</a:t>
                      </a:r>
                    </a:p>
                  </a:txBody>
                  <a:tcPr marL="73152" marR="73152" marT="27432" marB="27432" anchor="ctr">
                    <a:solidFill>
                      <a:srgbClr val="FFFFFF"/>
                    </a:solidFill>
                  </a:tcPr>
                </a:tc>
                <a:tc>
                  <a:txBody>
                    <a:bodyPr/>
                    <a:lstStyle/>
                    <a:p>
                      <a:pPr algn="ctr"/>
                      <a:r>
                        <a:rPr sz="1500" b="0">
                          <a:solidFill>
                            <a:srgbClr val="142B33"/>
                          </a:solidFill>
                          <a:latin typeface="Calibri"/>
                        </a:rPr>
                        <a:t>11</a:t>
                      </a:r>
                    </a:p>
                  </a:txBody>
                  <a:tcPr marL="73152" marR="73152" marT="27432" marB="27432" anchor="ctr">
                    <a:solidFill>
                      <a:srgbClr val="FFFFFF"/>
                    </a:solidFill>
                  </a:tcPr>
                </a:tc>
                <a:tc>
                  <a:txBody>
                    <a:bodyPr/>
                    <a:lstStyle/>
                    <a:p>
                      <a:pPr algn="ctr"/>
                      <a:r>
                        <a:rPr sz="1500" b="0">
                          <a:solidFill>
                            <a:srgbClr val="142B33"/>
                          </a:solidFill>
                          <a:latin typeface="Calibri"/>
                        </a:rPr>
                        <a:t>2.5625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Total</a:t>
                      </a:r>
                    </a:p>
                  </a:txBody>
                  <a:tcPr marL="73152" marR="73152" marT="27432" marB="27432" anchor="ctr">
                    <a:solidFill>
                      <a:srgbClr val="F4F8F9"/>
                    </a:solidFill>
                  </a:tcPr>
                </a:tc>
                <a:tc>
                  <a:txBody>
                    <a:bodyPr/>
                    <a:lstStyle/>
                    <a:p>
                      <a:pPr algn="ctr"/>
                      <a:r>
                        <a:rPr sz="1500" b="0">
                          <a:solidFill>
                            <a:srgbClr val="142B33"/>
                          </a:solidFill>
                          <a:latin typeface="Calibri"/>
                        </a:rPr>
                        <a:t>5775.44</a:t>
                      </a:r>
                    </a:p>
                  </a:txBody>
                  <a:tcPr marL="73152" marR="73152" marT="27432" marB="27432" anchor="ctr">
                    <a:solidFill>
                      <a:srgbClr val="F4F8F9"/>
                    </a:solidFill>
                  </a:tcPr>
                </a:tc>
                <a:tc>
                  <a:txBody>
                    <a:bodyPr/>
                    <a:lstStyle/>
                    <a:p>
                      <a:pPr algn="ctr"/>
                      <a:r>
                        <a:rPr sz="1500" b="0">
                          <a:solidFill>
                            <a:srgbClr val="142B33"/>
                          </a:solidFill>
                          <a:latin typeface="Calibri"/>
                        </a:rPr>
                        <a:t>15</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4" name="Rounded Rectangle 3"/>
          <p:cNvSpPr/>
          <p:nvPr/>
        </p:nvSpPr>
        <p:spPr>
          <a:xfrm>
            <a:off x="548640" y="4077462"/>
            <a:ext cx="5982443"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30.31 + 5.56 x</a:t>
            </a:r>
            <a:r>
              <a:rPr sz="1600" b="0" baseline="-25000">
                <a:solidFill>
                  <a:srgbClr val="0F4C5C"/>
                </a:solidFill>
                <a:latin typeface="Cambria Math"/>
              </a:rPr>
              <a:t>1</a:t>
            </a:r>
            <a:r>
              <a:rPr sz="1600" b="0">
                <a:solidFill>
                  <a:srgbClr val="0F4C5C"/>
                </a:solidFill>
                <a:latin typeface="Cambria Math"/>
              </a:rPr>
              <a:t> + 16.94 x</a:t>
            </a:r>
            <a:r>
              <a:rPr sz="1600" b="0" baseline="-25000">
                <a:solidFill>
                  <a:srgbClr val="0F4C5C"/>
                </a:solidFill>
                <a:latin typeface="Cambria Math"/>
              </a:rPr>
              <a:t>2</a:t>
            </a:r>
            <a:r>
              <a:rPr sz="1600" b="0">
                <a:solidFill>
                  <a:srgbClr val="0F4C5C"/>
                </a:solidFill>
                <a:latin typeface="Cambria Math"/>
              </a:rPr>
              <a:t> + 5.44 x</a:t>
            </a:r>
            <a:r>
              <a:rPr sz="1600" b="0" baseline="-25000">
                <a:solidFill>
                  <a:srgbClr val="0F4C5C"/>
                </a:solidFill>
                <a:latin typeface="Cambria Math"/>
              </a:rPr>
              <a:t>3</a:t>
            </a:r>
            <a:r>
              <a:rPr sz="1600" b="0">
                <a:solidFill>
                  <a:srgbClr val="0F4C5C"/>
                </a:solidFill>
                <a:latin typeface="Cambria Math"/>
              </a:rPr>
              <a:t> + 3.44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5" name="TextBox 4"/>
          <p:cNvSpPr txBox="1"/>
          <p:nvPr/>
        </p:nvSpPr>
        <p:spPr>
          <a:xfrm>
            <a:off x="6942563" y="1417320"/>
            <a:ext cx="4700491"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F</a:t>
            </a:r>
            <a:r>
              <a:rPr sz="1700" b="0" baseline="-25000">
                <a:solidFill>
                  <a:srgbClr val="142B33"/>
                </a:solidFill>
                <a:latin typeface="Calibri"/>
              </a:rPr>
              <a:t>0.05, 1, 11</a:t>
            </a:r>
            <a:r>
              <a:rPr sz="1700" b="0">
                <a:solidFill>
                  <a:srgbClr val="142B33"/>
                </a:solidFill>
                <a:latin typeface="Calibri"/>
              </a:rPr>
              <a:t> = 4.84: los cuatro términos son significativos</a:t>
            </a:r>
          </a:p>
          <a:p>
            <a:pPr marL="320040" indent="-320040">
              <a:spcAft>
                <a:spcPts val="600"/>
              </a:spcAft>
              <a:buClr>
                <a:srgbClr val="E36414"/>
              </a:buClr>
              <a:buFont typeface="Arial"/>
              <a:buChar char="•"/>
            </a:pPr>
            <a:r>
              <a:rPr sz="1700" b="0">
                <a:solidFill>
                  <a:srgbClr val="142B33"/>
                </a:solidFill>
                <a:latin typeface="Calibri"/>
              </a:rPr>
              <a:t>R</a:t>
            </a:r>
            <a:r>
              <a:rPr sz="1700" b="0" baseline="30000">
                <a:solidFill>
                  <a:srgbClr val="142B33"/>
                </a:solidFill>
                <a:latin typeface="Calibri"/>
              </a:rPr>
              <a:t>2</a:t>
            </a:r>
            <a:r>
              <a:rPr sz="1700" b="0">
                <a:solidFill>
                  <a:srgbClr val="142B33"/>
                </a:solidFill>
                <a:latin typeface="Calibri"/>
              </a:rPr>
              <a:t> = 99.51 %;  R</a:t>
            </a:r>
            <a:r>
              <a:rPr sz="1700" b="0" baseline="30000">
                <a:solidFill>
                  <a:srgbClr val="142B33"/>
                </a:solidFill>
                <a:latin typeface="Calibri"/>
              </a:rPr>
              <a:t>2</a:t>
            </a:r>
            <a:r>
              <a:rPr sz="1700" b="0">
                <a:solidFill>
                  <a:srgbClr val="142B33"/>
                </a:solidFill>
                <a:latin typeface="Calibri"/>
              </a:rPr>
              <a:t> ajustado = 99.33 %</a:t>
            </a:r>
          </a:p>
          <a:p>
            <a:pPr marL="320040" indent="-320040">
              <a:spcAft>
                <a:spcPts val="600"/>
              </a:spcAft>
              <a:buClr>
                <a:srgbClr val="E36414"/>
              </a:buClr>
              <a:buFont typeface="Arial"/>
              <a:buChar char="•"/>
            </a:pPr>
            <a:r>
              <a:rPr sz="1700" b="0">
                <a:solidFill>
                  <a:srgbClr val="142B33"/>
                </a:solidFill>
                <a:latin typeface="Calibri"/>
              </a:rPr>
              <a:t>D y E no influyen: proyección en </a:t>
            </a:r>
            <a:r>
              <a:rPr sz="1700" b="1">
                <a:solidFill>
                  <a:srgbClr val="142B33"/>
                </a:solidFill>
                <a:latin typeface="Calibri"/>
              </a:rPr>
              <a:t>dos réplicas de un 2</a:t>
            </a:r>
            <a:r>
              <a:rPr sz="1700" b="1" baseline="30000">
                <a:solidFill>
                  <a:srgbClr val="142B33"/>
                </a:solidFill>
                <a:latin typeface="Calibri"/>
              </a:rPr>
              <a:t>3</a:t>
            </a:r>
            <a:r>
              <a:rPr sz="1700" b="0">
                <a:solidFill>
                  <a:srgbClr val="142B33"/>
                </a:solidFill>
                <a:latin typeface="Calibri"/>
              </a:rPr>
              <a:t> en A, B, C</a:t>
            </a:r>
          </a:p>
          <a:p>
            <a:pPr marL="320040" indent="-320040">
              <a:spcAft>
                <a:spcPts val="600"/>
              </a:spcAft>
              <a:buClr>
                <a:srgbClr val="E36414"/>
              </a:buClr>
              <a:buFont typeface="Arial"/>
              <a:buChar char="•"/>
            </a:pPr>
            <a:r>
              <a:rPr sz="1700" b="0">
                <a:solidFill>
                  <a:srgbClr val="142B33"/>
                </a:solidFill>
                <a:latin typeface="Calibri"/>
              </a:rPr>
              <a:t>Mejor condición: </a:t>
            </a:r>
            <a:r>
              <a:rPr sz="1700" b="1">
                <a:solidFill>
                  <a:srgbClr val="142B33"/>
                </a:solidFill>
                <a:latin typeface="Calibri"/>
              </a:rPr>
              <a:t>A, B y C altos</a:t>
            </a:r>
            <a:r>
              <a:rPr sz="1700" b="0">
                <a:solidFill>
                  <a:srgbClr val="142B33"/>
                </a:solidFill>
                <a:latin typeface="Calibri"/>
              </a:rPr>
              <a:t> (promedio 61.5)</a:t>
            </a:r>
          </a:p>
          <a:p>
            <a:pPr marL="320040" indent="-320040">
              <a:spcAft>
                <a:spcPts val="600"/>
              </a:spcAft>
              <a:buClr>
                <a:srgbClr val="E36414"/>
              </a:buClr>
              <a:buFont typeface="Arial"/>
              <a:buChar char="•"/>
            </a:pPr>
            <a:r>
              <a:rPr sz="1700" b="0">
                <a:solidFill>
                  <a:srgbClr val="142B33"/>
                </a:solidFill>
                <a:latin typeface="Calibri"/>
              </a:rPr>
              <a:t>D y E se fijan donde sea más económico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medio 2</a:t>
            </a:r>
            <a:r>
              <a:rPr sz="1000" b="0" baseline="30000">
                <a:solidFill>
                  <a:srgbClr val="5B6B73"/>
                </a:solidFill>
                <a:latin typeface="Calibri"/>
              </a:rPr>
              <a:t>k−1</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29</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3 · La fracción un medio 2</a:t>
            </a:r>
            <a:r>
              <a:rPr sz="1100" b="1" baseline="30000">
                <a:solidFill>
                  <a:srgbClr val="FFFFFF"/>
                </a:solidFill>
                <a:latin typeface="Calibri"/>
              </a:rPr>
              <a:t>k−1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Secuencias de diseños fraccionados</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4</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Correr una fracción, analizar y decidir el paso siguiente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experimentar en secuencia?</a:t>
            </a:r>
          </a:p>
        </p:txBody>
      </p:sp>
      <p:sp>
        <p:nvSpPr>
          <p:cNvPr id="3" name="TextBox 2"/>
          <p:cNvSpPr txBox="1"/>
          <p:nvPr/>
        </p:nvSpPr>
        <p:spPr>
          <a:xfrm>
            <a:off x="548640" y="1417320"/>
            <a:ext cx="5555126" cy="1909571"/>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Correr la </a:t>
            </a:r>
            <a:r>
              <a:rPr sz="1700" b="1">
                <a:solidFill>
                  <a:srgbClr val="142B33"/>
                </a:solidFill>
                <a:latin typeface="Calibri"/>
              </a:rPr>
              <a:t>primera fracción</a:t>
            </a:r>
            <a:r>
              <a:rPr sz="1700" b="0">
                <a:solidFill>
                  <a:srgbClr val="142B33"/>
                </a:solidFill>
                <a:latin typeface="Calibri"/>
              </a:rPr>
              <a:t>: 2</a:t>
            </a:r>
            <a:r>
              <a:rPr sz="1700" b="0" baseline="30000">
                <a:solidFill>
                  <a:srgbClr val="142B33"/>
                </a:solidFill>
                <a:latin typeface="Calibri"/>
              </a:rPr>
              <a:t>4−1</a:t>
            </a:r>
            <a:r>
              <a:rPr sz="1700" b="0" baseline="-25000">
                <a:solidFill>
                  <a:srgbClr val="142B33"/>
                </a:solidFill>
                <a:latin typeface="Calibri"/>
              </a:rPr>
              <a:t>IV</a:t>
            </a:r>
            <a:r>
              <a:rPr sz="1700" b="0">
                <a:solidFill>
                  <a:srgbClr val="142B33"/>
                </a:solidFill>
                <a:latin typeface="Calibri"/>
              </a:rPr>
              <a:t>, 8 corridas</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Analizar</a:t>
            </a:r>
            <a:r>
              <a:rPr sz="1700" b="0">
                <a:solidFill>
                  <a:srgbClr val="142B33"/>
                </a:solidFill>
                <a:latin typeface="Calibri"/>
              </a:rPr>
              <a:t>: ¿los resultados son claros?</a:t>
            </a:r>
          </a:p>
          <a:p>
            <a:pPr marL="320040" indent="-320040">
              <a:spcAft>
                <a:spcPts val="600"/>
              </a:spcAft>
              <a:buClr>
                <a:srgbClr val="E36414"/>
              </a:buClr>
              <a:buFont typeface="+mj-lt"/>
              <a:buAutoNum type="arabicPeriod"/>
            </a:pPr>
            <a:r>
              <a:rPr sz="1700" b="0">
                <a:solidFill>
                  <a:srgbClr val="142B33"/>
                </a:solidFill>
                <a:latin typeface="Calibri"/>
              </a:rPr>
              <a:t>Si hay ambigüedad, correr la </a:t>
            </a:r>
            <a:r>
              <a:rPr sz="1700" b="1">
                <a:solidFill>
                  <a:srgbClr val="142B33"/>
                </a:solidFill>
                <a:latin typeface="Calibri"/>
              </a:rPr>
              <a:t>fracción alterna</a:t>
            </a:r>
            <a:r>
              <a:rPr sz="1700" b="0">
                <a:solidFill>
                  <a:srgbClr val="142B33"/>
                </a:solidFill>
                <a:latin typeface="Calibri"/>
              </a:rPr>
              <a:t>: 8 corridas más</a:t>
            </a:r>
          </a:p>
          <a:p>
            <a:pPr marL="320040" indent="-320040">
              <a:spcAft>
                <a:spcPts val="600"/>
              </a:spcAft>
              <a:buClr>
                <a:srgbClr val="E36414"/>
              </a:buClr>
              <a:buFont typeface="+mj-lt"/>
              <a:buAutoNum type="arabicPeriod"/>
            </a:pPr>
            <a:r>
              <a:rPr sz="1700" b="0">
                <a:solidFill>
                  <a:srgbClr val="142B33"/>
                </a:solidFill>
                <a:latin typeface="Calibri"/>
              </a:rPr>
              <a:t>Las 16 corridas forman el </a:t>
            </a:r>
            <a:r>
              <a:rPr sz="1700" b="1">
                <a:solidFill>
                  <a:srgbClr val="142B33"/>
                </a:solidFill>
                <a:latin typeface="Calibri"/>
              </a:rPr>
              <a:t>2</a:t>
            </a:r>
            <a:r>
              <a:rPr sz="1700" b="1" baseline="30000">
                <a:solidFill>
                  <a:srgbClr val="142B33"/>
                </a:solidFill>
                <a:latin typeface="Calibri"/>
              </a:rPr>
              <a:t>4</a:t>
            </a:r>
            <a:r>
              <a:rPr sz="1700" b="1">
                <a:solidFill>
                  <a:srgbClr val="142B33"/>
                </a:solidFill>
                <a:latin typeface="Calibri"/>
              </a:rPr>
              <a:t> completo</a:t>
            </a:r>
            <a:r>
              <a:rPr sz="1700" b="0">
                <a:solidFill>
                  <a:srgbClr val="142B33"/>
                </a:solidFill>
                <a:latin typeface="Calibri"/>
              </a:rPr>
              <a:t> en dos bloques</a:t>
            </a:r>
          </a:p>
        </p:txBody>
      </p:sp>
      <p:sp>
        <p:nvSpPr>
          <p:cNvPr id="4" name="Rounded Rectangle 3"/>
          <p:cNvSpPr/>
          <p:nvPr/>
        </p:nvSpPr>
        <p:spPr>
          <a:xfrm>
            <a:off x="6515246" y="1417320"/>
            <a:ext cx="5127808"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Lo que se pierde</a:t>
            </a:r>
          </a:p>
          <a:p>
            <a:pPr algn="l"/>
            <a:r>
              <a:rPr sz="1600" b="0">
                <a:solidFill>
                  <a:srgbClr val="142B33"/>
                </a:solidFill>
                <a:latin typeface="Calibri"/>
              </a:rPr>
              <a:t>Solo la interacción de mayor orden, </a:t>
            </a:r>
            <a:r>
              <a:rPr sz="1600" b="1">
                <a:solidFill>
                  <a:srgbClr val="142B33"/>
                </a:solidFill>
                <a:latin typeface="Calibri"/>
              </a:rPr>
              <a:t>ABCD</a:t>
            </a:r>
            <a:r>
              <a:rPr sz="1600" b="0">
                <a:solidFill>
                  <a:srgbClr val="142B33"/>
                </a:solidFill>
                <a:latin typeface="Calibri"/>
              </a:rPr>
              <a:t>, que queda confundida con los bloques</a:t>
            </a:r>
          </a:p>
        </p:txBody>
      </p:sp>
      <p:sp>
        <p:nvSpPr>
          <p:cNvPr id="5" name="Rounded Rectangle 4"/>
          <p:cNvSpPr/>
          <p:nvPr/>
        </p:nvSpPr>
        <p:spPr>
          <a:xfrm>
            <a:off x="6515246" y="2941828"/>
            <a:ext cx="5127808"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Lo que se gana</a:t>
            </a:r>
          </a:p>
          <a:p>
            <a:pPr algn="l"/>
            <a:r>
              <a:rPr sz="1600" b="0">
                <a:solidFill>
                  <a:srgbClr val="142B33"/>
                </a:solidFill>
                <a:latin typeface="Calibri"/>
              </a:rPr>
              <a:t>Muchas veces la primera fracción </a:t>
            </a:r>
            <a:r>
              <a:rPr sz="1600" b="1">
                <a:solidFill>
                  <a:srgbClr val="142B33"/>
                </a:solidFill>
                <a:latin typeface="Calibri"/>
              </a:rPr>
              <a:t>basta</a:t>
            </a:r>
            <a:r>
              <a:rPr sz="1600" b="0">
                <a:solidFill>
                  <a:srgbClr val="142B33"/>
                </a:solidFill>
                <a:latin typeface="Calibri"/>
              </a:rPr>
              <a:t> para decidir el paso siguiente</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31</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opciones hay después de la primera fracción?</a:t>
            </a:r>
          </a:p>
        </p:txBody>
      </p:sp>
      <p:sp>
        <p:nvSpPr>
          <p:cNvPr id="3" name="Rounded Rectangle 2"/>
          <p:cNvSpPr/>
          <p:nvPr/>
        </p:nvSpPr>
        <p:spPr>
          <a:xfrm>
            <a:off x="548640"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a · Moverse</a:t>
            </a:r>
          </a:p>
          <a:p>
            <a:pPr algn="l"/>
            <a:r>
              <a:rPr sz="1600" b="0">
                <a:solidFill>
                  <a:srgbClr val="142B33"/>
                </a:solidFill>
                <a:latin typeface="Calibri"/>
              </a:rPr>
              <a:t>A una nueva región, para explorar una </a:t>
            </a:r>
            <a:r>
              <a:rPr sz="1600" b="1">
                <a:solidFill>
                  <a:srgbClr val="142B33"/>
                </a:solidFill>
                <a:latin typeface="Calibri"/>
              </a:rPr>
              <a:t>tendencia</a:t>
            </a:r>
            <a:r>
              <a:rPr sz="1600" b="0">
                <a:solidFill>
                  <a:srgbClr val="142B33"/>
                </a:solidFill>
                <a:latin typeface="Calibri"/>
              </a:rPr>
              <a:t> aparente de la respuesta</a:t>
            </a:r>
          </a:p>
        </p:txBody>
      </p:sp>
      <p:sp>
        <p:nvSpPr>
          <p:cNvPr id="4" name="Rounded Rectangle 3"/>
          <p:cNvSpPr/>
          <p:nvPr/>
        </p:nvSpPr>
        <p:spPr>
          <a:xfrm>
            <a:off x="4322978"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b · Agregar otra fracción</a:t>
            </a:r>
          </a:p>
          <a:p>
            <a:pPr algn="l"/>
            <a:r>
              <a:rPr sz="1600" b="0">
                <a:solidFill>
                  <a:srgbClr val="142B33"/>
                </a:solidFill>
                <a:latin typeface="Calibri"/>
              </a:rPr>
              <a:t>Para resolver las </a:t>
            </a:r>
            <a:r>
              <a:rPr sz="1600" b="1">
                <a:solidFill>
                  <a:srgbClr val="142B33"/>
                </a:solidFill>
                <a:latin typeface="Calibri"/>
              </a:rPr>
              <a:t>ambigüedades</a:t>
            </a:r>
            <a:r>
              <a:rPr sz="1600" b="0">
                <a:solidFill>
                  <a:srgbClr val="142B33"/>
                </a:solidFill>
                <a:latin typeface="Calibri"/>
              </a:rPr>
              <a:t> de la primera</a:t>
            </a:r>
          </a:p>
        </p:txBody>
      </p:sp>
      <p:sp>
        <p:nvSpPr>
          <p:cNvPr id="5" name="Rounded Rectangle 4"/>
          <p:cNvSpPr/>
          <p:nvPr/>
        </p:nvSpPr>
        <p:spPr>
          <a:xfrm>
            <a:off x="8097316" y="1417320"/>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 · Reescalar factores</a:t>
            </a:r>
          </a:p>
          <a:p>
            <a:pPr algn="l"/>
            <a:r>
              <a:rPr sz="1600" b="0">
                <a:solidFill>
                  <a:srgbClr val="142B33"/>
                </a:solidFill>
                <a:latin typeface="Calibri"/>
              </a:rPr>
              <a:t>Si sus niveles se eligieron en </a:t>
            </a:r>
            <a:r>
              <a:rPr sz="1600" b="1">
                <a:solidFill>
                  <a:srgbClr val="142B33"/>
                </a:solidFill>
                <a:latin typeface="Calibri"/>
              </a:rPr>
              <a:t>rangos inapropiados</a:t>
            </a:r>
          </a:p>
        </p:txBody>
      </p:sp>
      <p:sp>
        <p:nvSpPr>
          <p:cNvPr id="6" name="Rounded Rectangle 5"/>
          <p:cNvSpPr/>
          <p:nvPr/>
        </p:nvSpPr>
        <p:spPr>
          <a:xfrm>
            <a:off x="548640"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d · Eliminar y agregar factores</a:t>
            </a:r>
          </a:p>
          <a:p>
            <a:pPr algn="l"/>
            <a:r>
              <a:rPr sz="1600" b="0">
                <a:solidFill>
                  <a:srgbClr val="142B33"/>
                </a:solidFill>
                <a:latin typeface="Calibri"/>
              </a:rPr>
              <a:t>Quitar los que no influyen y </a:t>
            </a:r>
            <a:r>
              <a:rPr sz="1600" b="1">
                <a:solidFill>
                  <a:srgbClr val="142B33"/>
                </a:solidFill>
                <a:latin typeface="Calibri"/>
              </a:rPr>
              <a:t>probar otros</a:t>
            </a:r>
          </a:p>
        </p:txBody>
      </p:sp>
      <p:sp>
        <p:nvSpPr>
          <p:cNvPr id="7" name="Rounded Rectangle 6"/>
          <p:cNvSpPr/>
          <p:nvPr/>
        </p:nvSpPr>
        <p:spPr>
          <a:xfrm>
            <a:off x="4322978"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e · Hacer réplicas</a:t>
            </a:r>
          </a:p>
          <a:p>
            <a:pPr algn="l"/>
            <a:r>
              <a:rPr sz="1600" b="0">
                <a:solidFill>
                  <a:srgbClr val="142B33"/>
                </a:solidFill>
                <a:latin typeface="Calibri"/>
              </a:rPr>
              <a:t>Para mejorar las estimaciones o </a:t>
            </a:r>
            <a:r>
              <a:rPr sz="1600" b="1">
                <a:solidFill>
                  <a:srgbClr val="142B33"/>
                </a:solidFill>
                <a:latin typeface="Calibri"/>
              </a:rPr>
              <a:t>repetir corridas</a:t>
            </a:r>
            <a:r>
              <a:rPr sz="1600" b="0">
                <a:solidFill>
                  <a:srgbClr val="142B33"/>
                </a:solidFill>
                <a:latin typeface="Calibri"/>
              </a:rPr>
              <a:t> mal hechas</a:t>
            </a:r>
          </a:p>
        </p:txBody>
      </p:sp>
      <p:sp>
        <p:nvSpPr>
          <p:cNvPr id="8" name="Rounded Rectangle 7"/>
          <p:cNvSpPr/>
          <p:nvPr/>
        </p:nvSpPr>
        <p:spPr>
          <a:xfrm>
            <a:off x="8097316" y="3376168"/>
            <a:ext cx="3545738" cy="173024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 · Aumentar el diseño</a:t>
            </a:r>
          </a:p>
          <a:p>
            <a:pPr algn="l"/>
            <a:r>
              <a:rPr sz="1600" b="0">
                <a:solidFill>
                  <a:srgbClr val="142B33"/>
                </a:solidFill>
                <a:latin typeface="Calibri"/>
              </a:rPr>
              <a:t>Para modelar una </a:t>
            </a:r>
            <a:r>
              <a:rPr sz="1600" b="1">
                <a:solidFill>
                  <a:srgbClr val="142B33"/>
                </a:solidFill>
                <a:latin typeface="Calibri"/>
              </a:rPr>
              <a:t>curvatura</a:t>
            </a:r>
            <a:r>
              <a:rPr sz="1600" b="0">
                <a:solidFill>
                  <a:srgbClr val="142B33"/>
                </a:solidFill>
                <a:latin typeface="Calibri"/>
              </a:rPr>
              <a:t> aparente</a:t>
            </a:r>
          </a:p>
        </p:txBody>
      </p:sp>
      <p:sp>
        <p:nvSpPr>
          <p:cNvPr id="9" name="TextBox 8"/>
          <p:cNvSpPr txBox="1"/>
          <p:nvPr/>
        </p:nvSpPr>
        <p:spPr>
          <a:xfrm>
            <a:off x="548640" y="5307584"/>
            <a:ext cx="11094415" cy="237998"/>
          </a:xfrm>
          <a:prstGeom prst="rect">
            <a:avLst/>
          </a:prstGeom>
          <a:noFill/>
        </p:spPr>
        <p:txBody>
          <a:bodyPr wrap="square" anchor="t" lIns="0" rIns="0" tIns="0" bIns="0">
            <a:spAutoFit/>
          </a:bodyPr>
          <a:lstStyle/>
          <a:p>
            <a:r>
              <a:rPr sz="1300" b="0">
                <a:solidFill>
                  <a:srgbClr val="5B6B73"/>
                </a:solidFill>
                <a:latin typeface="Calibri"/>
              </a:rPr>
              <a:t>Fuente: Montgomery, fig. 8-11, adaptada de Box (Sequential Experimentation and Sequential Assembly of Designs)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32</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Enunciado: la fracción alterna (continuación)</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Con la primera fracción del índice de filtración quedaron dos cadenas grandes: AC + BD = −18.5 y AD + BC = 19.0. Se atribuyeron a AC y AD porque B no parecía influir, pero esa decisión se apoyó en el juicio del analista.</a:t>
            </a:r>
          </a:p>
        </p:txBody>
      </p:sp>
      <p:sp>
        <p:nvSpPr>
          <p:cNvPr id="4" name="TextBox 3"/>
          <p:cNvSpPr txBox="1"/>
          <p:nvPr/>
        </p:nvSpPr>
        <p:spPr>
          <a:xfrm>
            <a:off x="548640" y="2646680"/>
            <a:ext cx="6196102" cy="780288"/>
          </a:xfrm>
          <a:prstGeom prst="rect">
            <a:avLst/>
          </a:prstGeom>
          <a:noFill/>
        </p:spPr>
        <p:txBody>
          <a:bodyPr wrap="square" anchor="t" lIns="0" rIns="0" tIns="0" bIns="0">
            <a:spAutoFit/>
          </a:bodyPr>
          <a:lstStyle/>
          <a:p>
            <a:r>
              <a:rPr sz="1600" b="0">
                <a:solidFill>
                  <a:srgbClr val="142B33"/>
                </a:solidFill>
                <a:latin typeface="Calibri"/>
              </a:rPr>
              <a:t>El ingeniero no quiere depender de ese juicio antes de cambiar el proceso. Tiene la posibilidad de volver a la planta piloto y hacer </a:t>
            </a:r>
            <a:r>
              <a:rPr sz="1600" b="1">
                <a:solidFill>
                  <a:srgbClr val="142B33"/>
                </a:solidFill>
                <a:latin typeface="Calibri"/>
              </a:rPr>
              <a:t>8 corridas más</a:t>
            </a:r>
            <a:r>
              <a:rPr sz="1600" b="0">
                <a:solidFill>
                  <a:srgbClr val="142B33"/>
                </a:solidFill>
                <a:latin typeface="Calibri"/>
              </a:rPr>
              <a:t>.</a:t>
            </a:r>
          </a:p>
        </p:txBody>
      </p:sp>
      <p:sp>
        <p:nvSpPr>
          <p:cNvPr id="5" name="TextBox 4"/>
          <p:cNvSpPr txBox="1"/>
          <p:nvPr/>
        </p:nvSpPr>
        <p:spPr>
          <a:xfrm>
            <a:off x="548640" y="3628136"/>
            <a:ext cx="6196102" cy="780288"/>
          </a:xfrm>
          <a:prstGeom prst="rect">
            <a:avLst/>
          </a:prstGeom>
          <a:noFill/>
        </p:spPr>
        <p:txBody>
          <a:bodyPr wrap="square" anchor="t" lIns="0" rIns="0" tIns="0" bIns="0">
            <a:spAutoFit/>
          </a:bodyPr>
          <a:lstStyle/>
          <a:p>
            <a:r>
              <a:rPr sz="1600" b="0">
                <a:solidFill>
                  <a:srgbClr val="142B33"/>
                </a:solidFill>
                <a:latin typeface="Calibri"/>
              </a:rPr>
              <a:t>Decide correr la </a:t>
            </a:r>
            <a:r>
              <a:rPr sz="1600" b="1">
                <a:solidFill>
                  <a:srgbClr val="142B33"/>
                </a:solidFill>
                <a:latin typeface="Calibri"/>
              </a:rPr>
              <a:t>fracción alterna</a:t>
            </a:r>
            <a:r>
              <a:rPr sz="1600" b="0">
                <a:solidFill>
                  <a:srgbClr val="142B33"/>
                </a:solidFill>
                <a:latin typeface="Calibri"/>
              </a:rPr>
              <a:t>, I = −ABCD (D = −ABC): las ocho combinaciones del 2</a:t>
            </a:r>
            <a:r>
              <a:rPr sz="1600" b="0" baseline="30000">
                <a:solidFill>
                  <a:srgbClr val="142B33"/>
                </a:solidFill>
                <a:latin typeface="Calibri"/>
              </a:rPr>
              <a:t>4</a:t>
            </a:r>
            <a:r>
              <a:rPr sz="1600" b="0">
                <a:solidFill>
                  <a:srgbClr val="142B33"/>
                </a:solidFill>
                <a:latin typeface="Calibri"/>
              </a:rPr>
              <a:t> que no se corrieron la primera vez.</a:t>
            </a:r>
          </a:p>
        </p:txBody>
      </p:sp>
      <p:sp>
        <p:nvSpPr>
          <p:cNvPr id="6" name="TextBox 5"/>
          <p:cNvSpPr txBox="1"/>
          <p:nvPr/>
        </p:nvSpPr>
        <p:spPr>
          <a:xfrm>
            <a:off x="548640" y="4609591"/>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8-3</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Separar </a:t>
            </a:r>
            <a:r>
              <a:rPr sz="1500" b="1">
                <a:solidFill>
                  <a:srgbClr val="142B33"/>
                </a:solidFill>
                <a:latin typeface="Calibri"/>
              </a:rPr>
              <a:t>AC de BD</a:t>
            </a:r>
            <a:r>
              <a:rPr sz="1500" b="0">
                <a:solidFill>
                  <a:srgbClr val="142B33"/>
                </a:solidFill>
                <a:latin typeface="Calibri"/>
              </a:rPr>
              <a:t> y </a:t>
            </a:r>
            <a:r>
              <a:rPr sz="1500" b="1">
                <a:solidFill>
                  <a:srgbClr val="142B33"/>
                </a:solidFill>
                <a:latin typeface="Calibri"/>
              </a:rPr>
              <a:t>AD de BC</a:t>
            </a:r>
            <a:r>
              <a:rPr sz="1500" b="0">
                <a:solidFill>
                  <a:srgbClr val="142B33"/>
                </a:solidFill>
                <a:latin typeface="Calibri"/>
              </a:rPr>
              <a:t> con datos, sin depender del juicio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Construir la fracción alterna y escribir sus alias</a:t>
            </a:r>
          </a:p>
          <a:p>
            <a:pPr marL="320040" indent="-320040">
              <a:spcAft>
                <a:spcPts val="600"/>
              </a:spcAft>
              <a:buClr>
                <a:srgbClr val="E36414"/>
              </a:buClr>
              <a:buFont typeface="+mj-lt"/>
              <a:buAutoNum type="arabicPeriod"/>
            </a:pPr>
            <a:r>
              <a:rPr sz="1500" b="0">
                <a:solidFill>
                  <a:srgbClr val="142B33"/>
                </a:solidFill>
                <a:latin typeface="Calibri"/>
              </a:rPr>
              <a:t>Estimar sus efectos</a:t>
            </a:r>
          </a:p>
          <a:p>
            <a:pPr marL="320040" indent="-320040">
              <a:spcAft>
                <a:spcPts val="600"/>
              </a:spcAft>
              <a:buClr>
                <a:srgbClr val="E36414"/>
              </a:buClr>
              <a:buFont typeface="+mj-lt"/>
              <a:buAutoNum type="arabicPeriod"/>
            </a:pPr>
            <a:r>
              <a:rPr sz="1500" b="0">
                <a:solidFill>
                  <a:srgbClr val="142B33"/>
                </a:solidFill>
                <a:latin typeface="Calibri"/>
              </a:rPr>
              <a:t>Combinar las dos fracciones y aislar cada efecto</a:t>
            </a:r>
          </a:p>
          <a:p>
            <a:pPr marL="320040" indent="-320040">
              <a:spcAft>
                <a:spcPts val="600"/>
              </a:spcAft>
              <a:buClr>
                <a:srgbClr val="E36414"/>
              </a:buClr>
              <a:buFont typeface="+mj-lt"/>
              <a:buAutoNum type="arabicPeriod"/>
            </a:pPr>
            <a:r>
              <a:rPr sz="1500" b="0">
                <a:solidFill>
                  <a:srgbClr val="142B33"/>
                </a:solidFill>
                <a:latin typeface="Calibri"/>
              </a:rPr>
              <a:t>Decidir qué interacciones son las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33</a:t>
            </a:r>
          </a:p>
        </p:txBody>
      </p:sp>
      <p:sp>
        <p:nvSpPr>
          <p:cNvPr id="12" name="Rounded Rectangle 11"/>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La fracción alterna I = −ABCD</a:t>
            </a:r>
          </a:p>
        </p:txBody>
      </p:sp>
      <p:graphicFrame>
        <p:nvGraphicFramePr>
          <p:cNvPr id="3" name="Table 2"/>
          <p:cNvGraphicFramePr>
            <a:graphicFrameLocks noGrp="1"/>
          </p:cNvGraphicFramePr>
          <p:nvPr/>
        </p:nvGraphicFramePr>
        <p:xfrm>
          <a:off x="548640" y="1417320"/>
          <a:ext cx="5555122" cy="3161538"/>
        </p:xfrm>
        <a:graphic>
          <a:graphicData uri="http://schemas.openxmlformats.org/drawingml/2006/table">
            <a:tbl>
              <a:tblPr firstRow="0" bandRow="0">
                <a:tableStyleId>{5C22544A-7EE6-4342-B048-85BDC9FD1C3A}</a:tableStyleId>
              </a:tblPr>
              <a:tblGrid>
                <a:gridCol w="1066878"/>
                <a:gridCol w="349494"/>
                <a:gridCol w="349494"/>
                <a:gridCol w="349494"/>
                <a:gridCol w="1186442"/>
                <a:gridCol w="827750"/>
                <a:gridCol w="1425570"/>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 = −ABC</a:t>
                      </a:r>
                    </a:p>
                  </a:txBody>
                  <a:tcPr marL="73152" marR="73152" marT="27432" marB="27432" anchor="ctr">
                    <a:solidFill>
                      <a:srgbClr val="0F4C5C"/>
                    </a:solidFill>
                  </a:tcPr>
                </a:tc>
                <a:tc>
                  <a:txBody>
                    <a:bodyPr/>
                    <a:lstStyle/>
                    <a:p>
                      <a:pPr algn="ctr"/>
                      <a:r>
                        <a:rPr sz="1500" b="1">
                          <a:solidFill>
                            <a:srgbClr val="FFFFFF"/>
                          </a:solidFill>
                          <a:latin typeface="Calibri"/>
                        </a:rPr>
                        <a:t>Trat.</a:t>
                      </a:r>
                    </a:p>
                  </a:txBody>
                  <a:tcPr marL="73152" marR="73152" marT="27432" marB="27432" anchor="ctr">
                    <a:solidFill>
                      <a:srgbClr val="0F4C5C"/>
                    </a:solidFill>
                  </a:tcPr>
                </a:tc>
                <a:tc>
                  <a:txBody>
                    <a:bodyPr/>
                    <a:lstStyle/>
                    <a:p>
                      <a:pPr algn="ctr"/>
                      <a:r>
                        <a:rPr sz="1500" b="1">
                          <a:solidFill>
                            <a:srgbClr val="FFFFFF"/>
                          </a:solidFill>
                          <a:latin typeface="Calibri"/>
                        </a:rPr>
                        <a:t>Filtración</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43</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a:t>
                      </a:r>
                    </a:p>
                  </a:txBody>
                  <a:tcPr marL="73152" marR="73152" marT="27432" marB="27432" anchor="ctr">
                    <a:solidFill>
                      <a:srgbClr val="F4F8F9"/>
                    </a:solidFill>
                  </a:tcPr>
                </a:tc>
                <a:tc>
                  <a:txBody>
                    <a:bodyPr/>
                    <a:lstStyle/>
                    <a:p>
                      <a:pPr algn="ctr"/>
                      <a:r>
                        <a:rPr sz="1500" b="0">
                          <a:solidFill>
                            <a:srgbClr val="142B33"/>
                          </a:solidFill>
                          <a:latin typeface="Calibri"/>
                        </a:rPr>
                        <a:t>71</a:t>
                      </a: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a:t>
                      </a:r>
                    </a:p>
                  </a:txBody>
                  <a:tcPr marL="73152" marR="73152" marT="27432" marB="27432" anchor="ctr">
                    <a:solidFill>
                      <a:srgbClr val="FFFFFF"/>
                    </a:solidFill>
                  </a:tcPr>
                </a:tc>
                <a:tc>
                  <a:txBody>
                    <a:bodyPr/>
                    <a:lstStyle/>
                    <a:p>
                      <a:pPr algn="ctr"/>
                      <a:r>
                        <a:rPr sz="1500" b="0">
                          <a:solidFill>
                            <a:srgbClr val="142B33"/>
                          </a:solidFill>
                          <a:latin typeface="Calibri"/>
                        </a:rPr>
                        <a:t>48</a:t>
                      </a: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c>
                  <a:txBody>
                    <a:bodyPr/>
                    <a:lstStyle/>
                    <a:p>
                      <a:pPr algn="ctr"/>
                      <a:r>
                        <a:rPr sz="1500" b="0">
                          <a:solidFill>
                            <a:srgbClr val="142B33"/>
                          </a:solidFill>
                          <a:latin typeface="Calibri"/>
                        </a:rPr>
                        <a:t>104</a:t>
                      </a: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acd</a:t>
                      </a:r>
                    </a:p>
                  </a:txBody>
                  <a:tcPr marL="73152" marR="73152" marT="27432" marB="27432" anchor="ctr">
                    <a:solidFill>
                      <a:srgbClr val="F4F8F9"/>
                    </a:solidFill>
                  </a:tcPr>
                </a:tc>
                <a:tc>
                  <a:txBody>
                    <a:bodyPr/>
                    <a:lstStyle/>
                    <a:p>
                      <a:pPr algn="ctr"/>
                      <a:r>
                        <a:rPr sz="1500" b="0">
                          <a:solidFill>
                            <a:srgbClr val="142B33"/>
                          </a:solidFill>
                          <a:latin typeface="Calibri"/>
                        </a:rPr>
                        <a:t>86</a:t>
                      </a: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bcd</a:t>
                      </a:r>
                    </a:p>
                  </a:txBody>
                  <a:tcPr marL="73152" marR="73152" marT="27432" marB="27432" anchor="ctr">
                    <a:solidFill>
                      <a:srgbClr val="FFFFFF"/>
                    </a:solidFill>
                  </a:tcPr>
                </a:tc>
                <a:tc>
                  <a:txBody>
                    <a:bodyPr/>
                    <a:lstStyle/>
                    <a:p>
                      <a:pPr algn="ctr"/>
                      <a:r>
                        <a:rPr sz="1500" b="0">
                          <a:solidFill>
                            <a:srgbClr val="142B33"/>
                          </a:solidFill>
                          <a:latin typeface="Calibri"/>
                        </a:rPr>
                        <a:t>70</a:t>
                      </a: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500" b="0">
                          <a:solidFill>
                            <a:srgbClr val="142B33"/>
                          </a:solidFill>
                          <a:latin typeface="Calibri"/>
                        </a:rPr>
                        <a:t>65</a:t>
                      </a:r>
                    </a:p>
                  </a:txBody>
                  <a:tcPr marL="73152" marR="73152" marT="27432" marB="27432" anchor="ctr">
                    <a:solidFill>
                      <a:srgbClr val="F4F8F9"/>
                    </a:solidFill>
                  </a:tcPr>
                </a:tc>
              </a:tr>
            </a:tbl>
          </a:graphicData>
        </a:graphic>
      </p:graphicFrame>
      <p:graphicFrame>
        <p:nvGraphicFramePr>
          <p:cNvPr id="4" name="Table 3"/>
          <p:cNvGraphicFramePr>
            <a:graphicFrameLocks noGrp="1"/>
          </p:cNvGraphicFramePr>
          <p:nvPr/>
        </p:nvGraphicFramePr>
        <p:xfrm>
          <a:off x="6515246" y="1417320"/>
          <a:ext cx="5127808" cy="2810256"/>
        </p:xfrm>
        <a:graphic>
          <a:graphicData uri="http://schemas.openxmlformats.org/drawingml/2006/table">
            <a:tbl>
              <a:tblPr firstRow="0" bandRow="0">
                <a:tableStyleId>{5C22544A-7EE6-4342-B048-85BDC9FD1C3A}</a:tableStyleId>
              </a:tblPr>
              <a:tblGrid>
                <a:gridCol w="3080660"/>
                <a:gridCol w="2047148"/>
              </a:tblGrid>
              <a:tr h="351282">
                <a:tc>
                  <a:txBody>
                    <a:bodyPr/>
                    <a:lstStyle/>
                    <a:p>
                      <a:pPr algn="ctr"/>
                      <a:r>
                        <a:rPr sz="1500" b="1">
                          <a:solidFill>
                            <a:srgbClr val="FFFFFF"/>
                          </a:solidFill>
                          <a:latin typeface="Calibri"/>
                        </a:rPr>
                        <a:t>Estimación</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r>
                        <a:rPr sz="1500" b="0">
                          <a:solidFill>
                            <a:srgbClr val="142B33"/>
                          </a:solidFill>
                          <a:latin typeface="Calibri"/>
                        </a:rPr>
                        <a:t> = 24.25</a:t>
                      </a:r>
                    </a:p>
                  </a:txBody>
                  <a:tcPr marL="73152" marR="73152" marT="27432" marB="27432" anchor="ctr">
                    <a:solidFill>
                      <a:srgbClr val="FFFFFF"/>
                    </a:solidFill>
                  </a:tcPr>
                </a:tc>
                <a:tc>
                  <a:txBody>
                    <a:bodyPr/>
                    <a:lstStyle/>
                    <a:p>
                      <a:pPr algn="ctr"/>
                      <a:r>
                        <a:rPr sz="1500" b="0">
                          <a:solidFill>
                            <a:srgbClr val="142B33"/>
                          </a:solidFill>
                          <a:latin typeface="Calibri"/>
                        </a:rPr>
                        <a:t>A − BCD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r>
                        <a:rPr sz="1500" b="0">
                          <a:solidFill>
                            <a:srgbClr val="142B33"/>
                          </a:solidFill>
                          <a:latin typeface="Calibri"/>
                        </a:rPr>
                        <a:t> = 4.75</a:t>
                      </a:r>
                    </a:p>
                  </a:txBody>
                  <a:tcPr marL="73152" marR="73152" marT="27432" marB="27432" anchor="ctr">
                    <a:solidFill>
                      <a:srgbClr val="F4F8F9"/>
                    </a:solidFill>
                  </a:tcPr>
                </a:tc>
                <a:tc>
                  <a:txBody>
                    <a:bodyPr/>
                    <a:lstStyle/>
                    <a:p>
                      <a:pPr algn="ctr"/>
                      <a:r>
                        <a:rPr sz="1500" b="0">
                          <a:solidFill>
                            <a:srgbClr val="142B33"/>
                          </a:solidFill>
                          <a:latin typeface="Calibri"/>
                        </a:rPr>
                        <a:t>B − ACD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r>
                        <a:rPr sz="1500" b="0">
                          <a:solidFill>
                            <a:srgbClr val="142B33"/>
                          </a:solidFill>
                          <a:latin typeface="Calibri"/>
                        </a:rPr>
                        <a:t> = 5.75</a:t>
                      </a:r>
                    </a:p>
                  </a:txBody>
                  <a:tcPr marL="73152" marR="73152" marT="27432" marB="27432" anchor="ctr">
                    <a:solidFill>
                      <a:srgbClr val="FFFFFF"/>
                    </a:solidFill>
                  </a:tcPr>
                </a:tc>
                <a:tc>
                  <a:txBody>
                    <a:bodyPr/>
                    <a:lstStyle/>
                    <a:p>
                      <a:pPr algn="ctr"/>
                      <a:r>
                        <a:rPr sz="1500" b="0">
                          <a:solidFill>
                            <a:srgbClr val="142B33"/>
                          </a:solidFill>
                          <a:latin typeface="Calibri"/>
                        </a:rPr>
                        <a:t>C − ABD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D</a:t>
                      </a:r>
                      <a:r>
                        <a:rPr sz="1500" b="0">
                          <a:solidFill>
                            <a:srgbClr val="142B33"/>
                          </a:solidFill>
                          <a:latin typeface="Calibri"/>
                        </a:rPr>
                        <a:t> = 12.75</a:t>
                      </a:r>
                    </a:p>
                  </a:txBody>
                  <a:tcPr marL="73152" marR="73152" marT="27432" marB="27432" anchor="ctr">
                    <a:solidFill>
                      <a:srgbClr val="F4F8F9"/>
                    </a:solidFill>
                  </a:tcPr>
                </a:tc>
                <a:tc>
                  <a:txBody>
                    <a:bodyPr/>
                    <a:lstStyle/>
                    <a:p>
                      <a:pPr algn="ctr"/>
                      <a:r>
                        <a:rPr sz="1500" b="0">
                          <a:solidFill>
                            <a:srgbClr val="142B33"/>
                          </a:solidFill>
                          <a:latin typeface="Calibri"/>
                        </a:rPr>
                        <a:t>D − ABC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AB</a:t>
                      </a:r>
                      <a:r>
                        <a:rPr sz="1500" b="0">
                          <a:solidFill>
                            <a:srgbClr val="142B33"/>
                          </a:solidFill>
                          <a:latin typeface="Calibri"/>
                        </a:rPr>
                        <a:t> = 1.25</a:t>
                      </a:r>
                    </a:p>
                  </a:txBody>
                  <a:tcPr marL="73152" marR="73152" marT="27432" marB="27432" anchor="ctr">
                    <a:solidFill>
                      <a:srgbClr val="FFFFFF"/>
                    </a:solidFill>
                  </a:tcPr>
                </a:tc>
                <a:tc>
                  <a:txBody>
                    <a:bodyPr/>
                    <a:lstStyle/>
                    <a:p>
                      <a:pPr algn="ctr"/>
                      <a:r>
                        <a:rPr sz="1500" b="0">
                          <a:solidFill>
                            <a:srgbClr val="142B33"/>
                          </a:solidFill>
                          <a:latin typeface="Calibri"/>
                        </a:rPr>
                        <a:t>AB − CD</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AC</a:t>
                      </a:r>
                      <a:r>
                        <a:rPr sz="1500" b="0">
                          <a:solidFill>
                            <a:srgbClr val="142B33"/>
                          </a:solidFill>
                          <a:latin typeface="Calibri"/>
                        </a:rPr>
                        <a:t> = −17.75</a:t>
                      </a:r>
                    </a:p>
                  </a:txBody>
                  <a:tcPr marL="73152" marR="73152" marT="27432" marB="27432" anchor="ctr">
                    <a:solidFill>
                      <a:srgbClr val="F4F8F9"/>
                    </a:solidFill>
                  </a:tcPr>
                </a:tc>
                <a:tc>
                  <a:txBody>
                    <a:bodyPr/>
                    <a:lstStyle/>
                    <a:p>
                      <a:pPr algn="ctr"/>
                      <a:r>
                        <a:rPr sz="1500" b="0">
                          <a:solidFill>
                            <a:srgbClr val="142B33"/>
                          </a:solidFill>
                          <a:latin typeface="Calibri"/>
                        </a:rPr>
                        <a:t>AC − BD</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AD</a:t>
                      </a:r>
                      <a:r>
                        <a:rPr sz="1500" b="0">
                          <a:solidFill>
                            <a:srgbClr val="142B33"/>
                          </a:solidFill>
                          <a:latin typeface="Calibri"/>
                        </a:rPr>
                        <a:t> = 14.25</a:t>
                      </a:r>
                    </a:p>
                  </a:txBody>
                  <a:tcPr marL="73152" marR="73152" marT="27432" marB="27432" anchor="ctr">
                    <a:solidFill>
                      <a:srgbClr val="FFFFFF"/>
                    </a:solidFill>
                  </a:tcPr>
                </a:tc>
                <a:tc>
                  <a:txBody>
                    <a:bodyPr/>
                    <a:lstStyle/>
                    <a:p>
                      <a:pPr algn="ctr"/>
                      <a:r>
                        <a:rPr sz="1500" b="0">
                          <a:solidFill>
                            <a:srgbClr val="142B33"/>
                          </a:solidFill>
                          <a:latin typeface="Calibri"/>
                        </a:rPr>
                        <a:t>AD − BC</a:t>
                      </a:r>
                    </a:p>
                  </a:txBody>
                  <a:tcPr marL="73152" marR="73152" marT="27432" marB="27432" anchor="ctr">
                    <a:solidFill>
                      <a:srgbClr val="FFFFFF"/>
                    </a:solidFill>
                  </a:tcPr>
                </a:tc>
              </a:tr>
            </a:tbl>
          </a:graphicData>
        </a:graphic>
      </p:graphicFrame>
      <p:sp>
        <p:nvSpPr>
          <p:cNvPr id="5" name="Rounded Rectangle 4"/>
          <p:cNvSpPr/>
          <p:nvPr/>
        </p:nvSpPr>
        <p:spPr>
          <a:xfrm>
            <a:off x="6515246" y="4428744"/>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la fracción alterna los alias aparecen con </a:t>
            </a:r>
            <a:r>
              <a:rPr sz="1500" b="1">
                <a:solidFill>
                  <a:srgbClr val="142B33"/>
                </a:solidFill>
                <a:latin typeface="Calibri"/>
              </a:rPr>
              <a:t>signo contrario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34</a:t>
            </a:r>
          </a:p>
        </p:txBody>
      </p:sp>
      <p:sp>
        <p:nvSpPr>
          <p:cNvPr id="8" name="Rounded Rectangle 7"/>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1 · Combinar las dos fracciones</a:t>
            </a:r>
          </a:p>
        </p:txBody>
      </p:sp>
      <p:graphicFrame>
        <p:nvGraphicFramePr>
          <p:cNvPr id="3" name="Table 2"/>
          <p:cNvGraphicFramePr>
            <a:graphicFrameLocks noGrp="1"/>
          </p:cNvGraphicFramePr>
          <p:nvPr/>
        </p:nvGraphicFramePr>
        <p:xfrm>
          <a:off x="548640" y="1417320"/>
          <a:ext cx="11094412" cy="2934208"/>
        </p:xfrm>
        <a:graphic>
          <a:graphicData uri="http://schemas.openxmlformats.org/drawingml/2006/table">
            <a:tbl>
              <a:tblPr firstRow="0" bandRow="0">
                <a:tableStyleId>{5C22544A-7EE6-4342-B048-85BDC9FD1C3A}</a:tableStyleId>
              </a:tblPr>
              <a:tblGrid>
                <a:gridCol w="1532085"/>
                <a:gridCol w="2562281"/>
                <a:gridCol w="2905680"/>
                <a:gridCol w="2047183"/>
                <a:gridCol w="2047183"/>
              </a:tblGrid>
              <a:tr h="366776">
                <a:tc>
                  <a:txBody>
                    <a:bodyPr/>
                    <a:lstStyle/>
                    <a:p>
                      <a:pPr algn="ctr"/>
                      <a:r>
                        <a:rPr sz="1600" b="1">
                          <a:solidFill>
                            <a:srgbClr val="FFFFFF"/>
                          </a:solidFill>
                          <a:latin typeface="Calibri"/>
                        </a:rPr>
                        <a:t>Columna</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ℓ′  (I = −ABCD)</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c>
                  <a:txBody>
                    <a:bodyPr/>
                    <a:lstStyle/>
                    <a:p>
                      <a:pPr algn="ctr"/>
                      <a:r>
                        <a:rPr sz="1600" b="1">
                          <a:solidFill>
                            <a:srgbClr val="FFFFFF"/>
                          </a:solidFill>
                          <a:latin typeface="Calibri"/>
                        </a:rPr>
                        <a:t>½ (ℓ − ℓ′)</a:t>
                      </a:r>
                    </a:p>
                  </a:txBody>
                  <a:tcPr marL="73152" marR="73152" marT="27432" marB="27432" anchor="ctr">
                    <a:solidFill>
                      <a:srgbClr val="0F4C5C"/>
                    </a:solidFill>
                  </a:tcPr>
                </a:tc>
              </a:tr>
              <a:tr h="366776">
                <a:tc>
                  <a:txBody>
                    <a:bodyPr/>
                    <a:lstStyle/>
                    <a:p>
                      <a:pPr algn="ctr"/>
                      <a:r>
                        <a:rPr sz="1600" b="0">
                          <a:solidFill>
                            <a:srgbClr val="142B33"/>
                          </a:solidFill>
                          <a:latin typeface="Calibri"/>
                        </a:rPr>
                        <a:t>A</a:t>
                      </a:r>
                    </a:p>
                  </a:txBody>
                  <a:tcPr marL="73152" marR="73152" marT="27432" marB="27432" anchor="ctr">
                    <a:solidFill>
                      <a:srgbClr val="FFFFFF"/>
                    </a:solidFill>
                  </a:tcPr>
                </a:tc>
                <a:tc>
                  <a:txBody>
                    <a:bodyPr/>
                    <a:lstStyle/>
                    <a:p>
                      <a:pPr algn="ctr"/>
                      <a:r>
                        <a:rPr sz="1600" b="0">
                          <a:solidFill>
                            <a:srgbClr val="142B33"/>
                          </a:solidFill>
                          <a:latin typeface="Calibri"/>
                        </a:rPr>
                        <a:t>19.00</a:t>
                      </a:r>
                    </a:p>
                  </a:txBody>
                  <a:tcPr marL="73152" marR="73152" marT="27432" marB="27432" anchor="ctr">
                    <a:solidFill>
                      <a:srgbClr val="FFFFFF"/>
                    </a:solidFill>
                  </a:tcPr>
                </a:tc>
                <a:tc>
                  <a:txBody>
                    <a:bodyPr/>
                    <a:lstStyle/>
                    <a:p>
                      <a:pPr algn="ctr"/>
                      <a:r>
                        <a:rPr sz="1600" b="0">
                          <a:solidFill>
                            <a:srgbClr val="142B33"/>
                          </a:solidFill>
                          <a:latin typeface="Calibri"/>
                        </a:rPr>
                        <a:t>24.25</a:t>
                      </a:r>
                    </a:p>
                  </a:txBody>
                  <a:tcPr marL="73152" marR="73152" marT="27432" marB="27432" anchor="ctr">
                    <a:solidFill>
                      <a:srgbClr val="FFFFFF"/>
                    </a:solidFill>
                  </a:tcPr>
                </a:tc>
                <a:tc>
                  <a:txBody>
                    <a:bodyPr/>
                    <a:lstStyle/>
                    <a:p>
                      <a:pPr algn="ctr"/>
                      <a:r>
                        <a:rPr sz="1600" b="0">
                          <a:solidFill>
                            <a:srgbClr val="142B33"/>
                          </a:solidFill>
                          <a:latin typeface="Calibri"/>
                        </a:rPr>
                        <a:t>A = 21.63</a:t>
                      </a:r>
                    </a:p>
                  </a:txBody>
                  <a:tcPr marL="73152" marR="73152" marT="27432" marB="27432" anchor="ctr">
                    <a:solidFill>
                      <a:srgbClr val="FFFFFF"/>
                    </a:solidFill>
                  </a:tcPr>
                </a:tc>
                <a:tc>
                  <a:txBody>
                    <a:bodyPr/>
                    <a:lstStyle/>
                    <a:p>
                      <a:pPr algn="ctr"/>
                      <a:r>
                        <a:rPr sz="1600" b="0">
                          <a:solidFill>
                            <a:srgbClr val="142B33"/>
                          </a:solidFill>
                          <a:latin typeface="Calibri"/>
                        </a:rPr>
                        <a:t>BCD = −2.63</a:t>
                      </a:r>
                    </a:p>
                  </a:txBody>
                  <a:tcPr marL="73152" marR="73152" marT="27432" marB="27432" anchor="ctr">
                    <a:solidFill>
                      <a:srgbClr val="FFFFFF"/>
                    </a:solidFill>
                  </a:tcPr>
                </a:tc>
              </a:tr>
              <a:tr h="366776">
                <a:tc>
                  <a:txBody>
                    <a:bodyPr/>
                    <a:lstStyle/>
                    <a:p>
                      <a:pPr algn="ctr"/>
                      <a:r>
                        <a:rPr sz="1600" b="0">
                          <a:solidFill>
                            <a:srgbClr val="142B33"/>
                          </a:solidFill>
                          <a:latin typeface="Calibri"/>
                        </a:rPr>
                        <a:t>B</a:t>
                      </a:r>
                    </a:p>
                  </a:txBody>
                  <a:tcPr marL="73152" marR="73152" marT="27432" marB="27432" anchor="ctr">
                    <a:solidFill>
                      <a:srgbClr val="F4F8F9"/>
                    </a:solidFill>
                  </a:tcPr>
                </a:tc>
                <a:tc>
                  <a:txBody>
                    <a:bodyPr/>
                    <a:lstStyle/>
                    <a:p>
                      <a:pPr algn="ctr"/>
                      <a:r>
                        <a:rPr sz="1600" b="0">
                          <a:solidFill>
                            <a:srgbClr val="142B33"/>
                          </a:solidFill>
                          <a:latin typeface="Calibri"/>
                        </a:rPr>
                        <a:t>1.50</a:t>
                      </a:r>
                    </a:p>
                  </a:txBody>
                  <a:tcPr marL="73152" marR="73152" marT="27432" marB="27432" anchor="ctr">
                    <a:solidFill>
                      <a:srgbClr val="F4F8F9"/>
                    </a:solidFill>
                  </a:tcPr>
                </a:tc>
                <a:tc>
                  <a:txBody>
                    <a:bodyPr/>
                    <a:lstStyle/>
                    <a:p>
                      <a:pPr algn="ctr"/>
                      <a:r>
                        <a:rPr sz="1600" b="0">
                          <a:solidFill>
                            <a:srgbClr val="142B33"/>
                          </a:solidFill>
                          <a:latin typeface="Calibri"/>
                        </a:rPr>
                        <a:t>4.75</a:t>
                      </a:r>
                    </a:p>
                  </a:txBody>
                  <a:tcPr marL="73152" marR="73152" marT="27432" marB="27432" anchor="ctr">
                    <a:solidFill>
                      <a:srgbClr val="F4F8F9"/>
                    </a:solidFill>
                  </a:tcPr>
                </a:tc>
                <a:tc>
                  <a:txBody>
                    <a:bodyPr/>
                    <a:lstStyle/>
                    <a:p>
                      <a:pPr algn="ctr"/>
                      <a:r>
                        <a:rPr sz="1600" b="0">
                          <a:solidFill>
                            <a:srgbClr val="142B33"/>
                          </a:solidFill>
                          <a:latin typeface="Calibri"/>
                        </a:rPr>
                        <a:t>B = 3.13</a:t>
                      </a:r>
                    </a:p>
                  </a:txBody>
                  <a:tcPr marL="73152" marR="73152" marT="27432" marB="27432" anchor="ctr">
                    <a:solidFill>
                      <a:srgbClr val="F4F8F9"/>
                    </a:solidFill>
                  </a:tcPr>
                </a:tc>
                <a:tc>
                  <a:txBody>
                    <a:bodyPr/>
                    <a:lstStyle/>
                    <a:p>
                      <a:pPr algn="ctr"/>
                      <a:r>
                        <a:rPr sz="1600" b="0">
                          <a:solidFill>
                            <a:srgbClr val="142B33"/>
                          </a:solidFill>
                          <a:latin typeface="Calibri"/>
                        </a:rPr>
                        <a:t>ACD = −1.63</a:t>
                      </a:r>
                    </a:p>
                  </a:txBody>
                  <a:tcPr marL="73152" marR="73152" marT="27432" marB="27432" anchor="ctr">
                    <a:solidFill>
                      <a:srgbClr val="F4F8F9"/>
                    </a:solidFill>
                  </a:tcPr>
                </a:tc>
              </a:tr>
              <a:tr h="366776">
                <a:tc>
                  <a:txBody>
                    <a:bodyPr/>
                    <a:lstStyle/>
                    <a:p>
                      <a:pPr algn="ctr"/>
                      <a:r>
                        <a:rPr sz="1600" b="0">
                          <a:solidFill>
                            <a:srgbClr val="142B33"/>
                          </a:solidFill>
                          <a:latin typeface="Calibri"/>
                        </a:rPr>
                        <a:t>C</a:t>
                      </a:r>
                    </a:p>
                  </a:txBody>
                  <a:tcPr marL="73152" marR="73152" marT="27432" marB="27432" anchor="ctr">
                    <a:solidFill>
                      <a:srgbClr val="FFFFFF"/>
                    </a:solidFill>
                  </a:tcPr>
                </a:tc>
                <a:tc>
                  <a:txBody>
                    <a:bodyPr/>
                    <a:lstStyle/>
                    <a:p>
                      <a:pPr algn="ctr"/>
                      <a:r>
                        <a:rPr sz="1600" b="0">
                          <a:solidFill>
                            <a:srgbClr val="142B33"/>
                          </a:solidFill>
                          <a:latin typeface="Calibri"/>
                        </a:rPr>
                        <a:t>14.00</a:t>
                      </a:r>
                    </a:p>
                  </a:txBody>
                  <a:tcPr marL="73152" marR="73152" marT="27432" marB="27432" anchor="ctr">
                    <a:solidFill>
                      <a:srgbClr val="FFFFFF"/>
                    </a:solidFill>
                  </a:tcPr>
                </a:tc>
                <a:tc>
                  <a:txBody>
                    <a:bodyPr/>
                    <a:lstStyle/>
                    <a:p>
                      <a:pPr algn="ctr"/>
                      <a:r>
                        <a:rPr sz="1600" b="0">
                          <a:solidFill>
                            <a:srgbClr val="142B33"/>
                          </a:solidFill>
                          <a:latin typeface="Calibri"/>
                        </a:rPr>
                        <a:t>5.75</a:t>
                      </a:r>
                    </a:p>
                  </a:txBody>
                  <a:tcPr marL="73152" marR="73152" marT="27432" marB="27432" anchor="ctr">
                    <a:solidFill>
                      <a:srgbClr val="FFFFFF"/>
                    </a:solidFill>
                  </a:tcPr>
                </a:tc>
                <a:tc>
                  <a:txBody>
                    <a:bodyPr/>
                    <a:lstStyle/>
                    <a:p>
                      <a:pPr algn="ctr"/>
                      <a:r>
                        <a:rPr sz="1600" b="0">
                          <a:solidFill>
                            <a:srgbClr val="142B33"/>
                          </a:solidFill>
                          <a:latin typeface="Calibri"/>
                        </a:rPr>
                        <a:t>C = 9.88</a:t>
                      </a:r>
                    </a:p>
                  </a:txBody>
                  <a:tcPr marL="73152" marR="73152" marT="27432" marB="27432" anchor="ctr">
                    <a:solidFill>
                      <a:srgbClr val="FFFFFF"/>
                    </a:solidFill>
                  </a:tcPr>
                </a:tc>
                <a:tc>
                  <a:txBody>
                    <a:bodyPr/>
                    <a:lstStyle/>
                    <a:p>
                      <a:pPr algn="ctr"/>
                      <a:r>
                        <a:rPr sz="1600" b="0">
                          <a:solidFill>
                            <a:srgbClr val="142B33"/>
                          </a:solidFill>
                          <a:latin typeface="Calibri"/>
                        </a:rPr>
                        <a:t>ABD = 4.13</a:t>
                      </a:r>
                    </a:p>
                  </a:txBody>
                  <a:tcPr marL="73152" marR="73152" marT="27432" marB="27432" anchor="ctr">
                    <a:solidFill>
                      <a:srgbClr val="FFFFFF"/>
                    </a:solidFill>
                  </a:tcPr>
                </a:tc>
              </a:tr>
              <a:tr h="366776">
                <a:tc>
                  <a:txBody>
                    <a:bodyPr/>
                    <a:lstStyle/>
                    <a:p>
                      <a:pPr algn="ctr"/>
                      <a:r>
                        <a:rPr sz="1600" b="0">
                          <a:solidFill>
                            <a:srgbClr val="142B33"/>
                          </a:solidFill>
                          <a:latin typeface="Calibri"/>
                        </a:rPr>
                        <a:t>D</a:t>
                      </a:r>
                    </a:p>
                  </a:txBody>
                  <a:tcPr marL="73152" marR="73152" marT="27432" marB="27432" anchor="ctr">
                    <a:solidFill>
                      <a:srgbClr val="F4F8F9"/>
                    </a:solidFill>
                  </a:tcPr>
                </a:tc>
                <a:tc>
                  <a:txBody>
                    <a:bodyPr/>
                    <a:lstStyle/>
                    <a:p>
                      <a:pPr algn="ctr"/>
                      <a:r>
                        <a:rPr sz="1600" b="0">
                          <a:solidFill>
                            <a:srgbClr val="142B33"/>
                          </a:solidFill>
                          <a:latin typeface="Calibri"/>
                        </a:rPr>
                        <a:t>16.50</a:t>
                      </a:r>
                    </a:p>
                  </a:txBody>
                  <a:tcPr marL="73152" marR="73152" marT="27432" marB="27432" anchor="ctr">
                    <a:solidFill>
                      <a:srgbClr val="F4F8F9"/>
                    </a:solidFill>
                  </a:tcPr>
                </a:tc>
                <a:tc>
                  <a:txBody>
                    <a:bodyPr/>
                    <a:lstStyle/>
                    <a:p>
                      <a:pPr algn="ctr"/>
                      <a:r>
                        <a:rPr sz="1600" b="0">
                          <a:solidFill>
                            <a:srgbClr val="142B33"/>
                          </a:solidFill>
                          <a:latin typeface="Calibri"/>
                        </a:rPr>
                        <a:t>12.75</a:t>
                      </a:r>
                    </a:p>
                  </a:txBody>
                  <a:tcPr marL="73152" marR="73152" marT="27432" marB="27432" anchor="ctr">
                    <a:solidFill>
                      <a:srgbClr val="F4F8F9"/>
                    </a:solidFill>
                  </a:tcPr>
                </a:tc>
                <a:tc>
                  <a:txBody>
                    <a:bodyPr/>
                    <a:lstStyle/>
                    <a:p>
                      <a:pPr algn="ctr"/>
                      <a:r>
                        <a:rPr sz="1600" b="0">
                          <a:solidFill>
                            <a:srgbClr val="142B33"/>
                          </a:solidFill>
                          <a:latin typeface="Calibri"/>
                        </a:rPr>
                        <a:t>D = 14.63</a:t>
                      </a:r>
                    </a:p>
                  </a:txBody>
                  <a:tcPr marL="73152" marR="73152" marT="27432" marB="27432" anchor="ctr">
                    <a:solidFill>
                      <a:srgbClr val="F4F8F9"/>
                    </a:solidFill>
                  </a:tcPr>
                </a:tc>
                <a:tc>
                  <a:txBody>
                    <a:bodyPr/>
                    <a:lstStyle/>
                    <a:p>
                      <a:pPr algn="ctr"/>
                      <a:r>
                        <a:rPr sz="1600" b="0">
                          <a:solidFill>
                            <a:srgbClr val="142B33"/>
                          </a:solidFill>
                          <a:latin typeface="Calibri"/>
                        </a:rPr>
                        <a:t>ABC = 1.88</a:t>
                      </a:r>
                    </a:p>
                  </a:txBody>
                  <a:tcPr marL="73152" marR="73152" marT="27432" marB="27432" anchor="ctr">
                    <a:solidFill>
                      <a:srgbClr val="F4F8F9"/>
                    </a:solidFill>
                  </a:tcPr>
                </a:tc>
              </a:tr>
              <a:tr h="366776">
                <a:tc>
                  <a:txBody>
                    <a:bodyPr/>
                    <a:lstStyle/>
                    <a:p>
                      <a:pPr algn="ctr"/>
                      <a:r>
                        <a:rPr sz="1600" b="0">
                          <a:solidFill>
                            <a:srgbClr val="142B33"/>
                          </a:solidFill>
                          <a:latin typeface="Calibri"/>
                        </a:rPr>
                        <a:t>AB</a:t>
                      </a:r>
                    </a:p>
                  </a:txBody>
                  <a:tcPr marL="73152" marR="73152" marT="27432" marB="27432" anchor="ctr">
                    <a:solidFill>
                      <a:srgbClr val="FFFFFF"/>
                    </a:solidFill>
                  </a:tcPr>
                </a:tc>
                <a:tc>
                  <a:txBody>
                    <a:bodyPr/>
                    <a:lstStyle/>
                    <a:p>
                      <a:pPr algn="ctr"/>
                      <a:r>
                        <a:rPr sz="1600" b="0">
                          <a:solidFill>
                            <a:srgbClr val="142B33"/>
                          </a:solidFill>
                          <a:latin typeface="Calibri"/>
                        </a:rPr>
                        <a:t>−1.00</a:t>
                      </a:r>
                    </a:p>
                  </a:txBody>
                  <a:tcPr marL="73152" marR="73152" marT="27432" marB="27432" anchor="ctr">
                    <a:solidFill>
                      <a:srgbClr val="FFFFFF"/>
                    </a:solidFill>
                  </a:tcPr>
                </a:tc>
                <a:tc>
                  <a:txBody>
                    <a:bodyPr/>
                    <a:lstStyle/>
                    <a:p>
                      <a:pPr algn="ctr"/>
                      <a:r>
                        <a:rPr sz="1600" b="0">
                          <a:solidFill>
                            <a:srgbClr val="142B33"/>
                          </a:solidFill>
                          <a:latin typeface="Calibri"/>
                        </a:rPr>
                        <a:t>1.25</a:t>
                      </a:r>
                    </a:p>
                  </a:txBody>
                  <a:tcPr marL="73152" marR="73152" marT="27432" marB="27432" anchor="ctr">
                    <a:solidFill>
                      <a:srgbClr val="FFFFFF"/>
                    </a:solidFill>
                  </a:tcPr>
                </a:tc>
                <a:tc>
                  <a:txBody>
                    <a:bodyPr/>
                    <a:lstStyle/>
                    <a:p>
                      <a:pPr algn="ctr"/>
                      <a:r>
                        <a:rPr sz="1600" b="0">
                          <a:solidFill>
                            <a:srgbClr val="142B33"/>
                          </a:solidFill>
                          <a:latin typeface="Calibri"/>
                        </a:rPr>
                        <a:t>AB = 0.13</a:t>
                      </a:r>
                    </a:p>
                  </a:txBody>
                  <a:tcPr marL="73152" marR="73152" marT="27432" marB="27432" anchor="ctr">
                    <a:solidFill>
                      <a:srgbClr val="FFFFFF"/>
                    </a:solidFill>
                  </a:tcPr>
                </a:tc>
                <a:tc>
                  <a:txBody>
                    <a:bodyPr/>
                    <a:lstStyle/>
                    <a:p>
                      <a:pPr algn="ctr"/>
                      <a:r>
                        <a:rPr sz="1600" b="0">
                          <a:solidFill>
                            <a:srgbClr val="142B33"/>
                          </a:solidFill>
                          <a:latin typeface="Calibri"/>
                        </a:rPr>
                        <a:t>CD = −1.13</a:t>
                      </a:r>
                    </a:p>
                  </a:txBody>
                  <a:tcPr marL="73152" marR="73152" marT="27432" marB="27432" anchor="ctr">
                    <a:solidFill>
                      <a:srgbClr val="FFFFFF"/>
                    </a:solidFill>
                  </a:tcPr>
                </a:tc>
              </a:tr>
              <a:tr h="366776">
                <a:tc>
                  <a:txBody>
                    <a:bodyPr/>
                    <a:lstStyle/>
                    <a:p>
                      <a:pPr algn="ctr"/>
                      <a:r>
                        <a:rPr sz="1600" b="0">
                          <a:solidFill>
                            <a:srgbClr val="142B33"/>
                          </a:solidFill>
                          <a:latin typeface="Calibri"/>
                        </a:rPr>
                        <a:t>AC</a:t>
                      </a:r>
                    </a:p>
                  </a:txBody>
                  <a:tcPr marL="73152" marR="73152" marT="27432" marB="27432" anchor="ctr">
                    <a:solidFill>
                      <a:srgbClr val="FDE8D7"/>
                    </a:solidFill>
                  </a:tcPr>
                </a:tc>
                <a:tc>
                  <a:txBody>
                    <a:bodyPr/>
                    <a:lstStyle/>
                    <a:p>
                      <a:pPr algn="ctr"/>
                      <a:r>
                        <a:rPr sz="1600" b="0">
                          <a:solidFill>
                            <a:srgbClr val="142B33"/>
                          </a:solidFill>
                          <a:latin typeface="Calibri"/>
                        </a:rPr>
                        <a:t>−18.50</a:t>
                      </a:r>
                    </a:p>
                  </a:txBody>
                  <a:tcPr marL="73152" marR="73152" marT="27432" marB="27432" anchor="ctr">
                    <a:solidFill>
                      <a:srgbClr val="FDE8D7"/>
                    </a:solidFill>
                  </a:tcPr>
                </a:tc>
                <a:tc>
                  <a:txBody>
                    <a:bodyPr/>
                    <a:lstStyle/>
                    <a:p>
                      <a:pPr algn="ctr"/>
                      <a:r>
                        <a:rPr sz="1600" b="0">
                          <a:solidFill>
                            <a:srgbClr val="142B33"/>
                          </a:solidFill>
                          <a:latin typeface="Calibri"/>
                        </a:rPr>
                        <a:t>−17.75</a:t>
                      </a:r>
                    </a:p>
                  </a:txBody>
                  <a:tcPr marL="73152" marR="73152" marT="27432" marB="27432" anchor="ctr">
                    <a:solidFill>
                      <a:srgbClr val="FDE8D7"/>
                    </a:solidFill>
                  </a:tcPr>
                </a:tc>
                <a:tc>
                  <a:txBody>
                    <a:bodyPr/>
                    <a:lstStyle/>
                    <a:p>
                      <a:pPr algn="ctr"/>
                      <a:r>
                        <a:rPr sz="1600" b="0">
                          <a:solidFill>
                            <a:srgbClr val="142B33"/>
                          </a:solidFill>
                          <a:latin typeface="Calibri"/>
                        </a:rPr>
                        <a:t>AC = −18.13</a:t>
                      </a:r>
                    </a:p>
                  </a:txBody>
                  <a:tcPr marL="73152" marR="73152" marT="27432" marB="27432" anchor="ctr">
                    <a:solidFill>
                      <a:srgbClr val="FDE8D7"/>
                    </a:solidFill>
                  </a:tcPr>
                </a:tc>
                <a:tc>
                  <a:txBody>
                    <a:bodyPr/>
                    <a:lstStyle/>
                    <a:p>
                      <a:pPr algn="ctr"/>
                      <a:r>
                        <a:rPr sz="1600" b="0">
                          <a:solidFill>
                            <a:srgbClr val="142B33"/>
                          </a:solidFill>
                          <a:latin typeface="Calibri"/>
                        </a:rPr>
                        <a:t>BD = −0.38</a:t>
                      </a:r>
                    </a:p>
                  </a:txBody>
                  <a:tcPr marL="73152" marR="73152" marT="27432" marB="27432" anchor="ctr">
                    <a:solidFill>
                      <a:srgbClr val="FDE8D7"/>
                    </a:solidFill>
                  </a:tcPr>
                </a:tc>
              </a:tr>
              <a:tr h="366776">
                <a:tc>
                  <a:txBody>
                    <a:bodyPr/>
                    <a:lstStyle/>
                    <a:p>
                      <a:pPr algn="ctr"/>
                      <a:r>
                        <a:rPr sz="1600" b="0">
                          <a:solidFill>
                            <a:srgbClr val="142B33"/>
                          </a:solidFill>
                          <a:latin typeface="Calibri"/>
                        </a:rPr>
                        <a:t>AD</a:t>
                      </a:r>
                    </a:p>
                  </a:txBody>
                  <a:tcPr marL="73152" marR="73152" marT="27432" marB="27432" anchor="ctr">
                    <a:solidFill>
                      <a:srgbClr val="FDE8D7"/>
                    </a:solidFill>
                  </a:tcPr>
                </a:tc>
                <a:tc>
                  <a:txBody>
                    <a:bodyPr/>
                    <a:lstStyle/>
                    <a:p>
                      <a:pPr algn="ctr"/>
                      <a:r>
                        <a:rPr sz="1600" b="0">
                          <a:solidFill>
                            <a:srgbClr val="142B33"/>
                          </a:solidFill>
                          <a:latin typeface="Calibri"/>
                        </a:rPr>
                        <a:t>19.00</a:t>
                      </a:r>
                    </a:p>
                  </a:txBody>
                  <a:tcPr marL="73152" marR="73152" marT="27432" marB="27432" anchor="ctr">
                    <a:solidFill>
                      <a:srgbClr val="FDE8D7"/>
                    </a:solidFill>
                  </a:tcPr>
                </a:tc>
                <a:tc>
                  <a:txBody>
                    <a:bodyPr/>
                    <a:lstStyle/>
                    <a:p>
                      <a:pPr algn="ctr"/>
                      <a:r>
                        <a:rPr sz="1600" b="0">
                          <a:solidFill>
                            <a:srgbClr val="142B33"/>
                          </a:solidFill>
                          <a:latin typeface="Calibri"/>
                        </a:rPr>
                        <a:t>14.25</a:t>
                      </a:r>
                    </a:p>
                  </a:txBody>
                  <a:tcPr marL="73152" marR="73152" marT="27432" marB="27432" anchor="ctr">
                    <a:solidFill>
                      <a:srgbClr val="FDE8D7"/>
                    </a:solidFill>
                  </a:tcPr>
                </a:tc>
                <a:tc>
                  <a:txBody>
                    <a:bodyPr/>
                    <a:lstStyle/>
                    <a:p>
                      <a:pPr algn="ctr"/>
                      <a:r>
                        <a:rPr sz="1600" b="0">
                          <a:solidFill>
                            <a:srgbClr val="142B33"/>
                          </a:solidFill>
                          <a:latin typeface="Calibri"/>
                        </a:rPr>
                        <a:t>AD = 16.63</a:t>
                      </a:r>
                    </a:p>
                  </a:txBody>
                  <a:tcPr marL="73152" marR="73152" marT="27432" marB="27432" anchor="ctr">
                    <a:solidFill>
                      <a:srgbClr val="FDE8D7"/>
                    </a:solidFill>
                  </a:tcPr>
                </a:tc>
                <a:tc>
                  <a:txBody>
                    <a:bodyPr/>
                    <a:lstStyle/>
                    <a:p>
                      <a:pPr algn="ctr"/>
                      <a:r>
                        <a:rPr sz="1600" b="0">
                          <a:solidFill>
                            <a:srgbClr val="142B33"/>
                          </a:solidFill>
                          <a:latin typeface="Calibri"/>
                        </a:rPr>
                        <a:t>BC = 2.38</a:t>
                      </a:r>
                    </a:p>
                  </a:txBody>
                  <a:tcPr marL="73152" marR="73152" marT="27432" marB="27432" anchor="ctr">
                    <a:solidFill>
                      <a:srgbClr val="FDE8D7"/>
                    </a:solidFill>
                  </a:tcPr>
                </a:tc>
              </a:tr>
            </a:tbl>
          </a:graphicData>
        </a:graphic>
      </p:graphicFrame>
      <p:sp>
        <p:nvSpPr>
          <p:cNvPr id="4" name="Rounded Rectangle 3"/>
          <p:cNvSpPr/>
          <p:nvPr/>
        </p:nvSpPr>
        <p:spPr>
          <a:xfrm>
            <a:off x="548640" y="4552696"/>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confirma la interpretación: las interacciones activas son </a:t>
            </a:r>
            <a:r>
              <a:rPr sz="1600" b="1">
                <a:solidFill>
                  <a:srgbClr val="142B33"/>
                </a:solidFill>
                <a:latin typeface="Calibri"/>
              </a:rPr>
              <a:t>AC</a:t>
            </a:r>
            <a:r>
              <a:rPr sz="1600" b="0">
                <a:solidFill>
                  <a:srgbClr val="142B33"/>
                </a:solidFill>
                <a:latin typeface="Calibri"/>
              </a:rPr>
              <a:t> y </a:t>
            </a:r>
            <a:r>
              <a:rPr sz="1600" b="1">
                <a:solidFill>
                  <a:srgbClr val="142B33"/>
                </a:solidFill>
                <a:latin typeface="Calibri"/>
              </a:rPr>
              <a:t>AD</a:t>
            </a:r>
            <a:r>
              <a:rPr sz="1600" b="0">
                <a:solidFill>
                  <a:srgbClr val="142B33"/>
                </a:solidFill>
                <a:latin typeface="Calibri"/>
              </a:rPr>
              <a:t>, no BD ni BC</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35</a:t>
            </a:r>
          </a:p>
        </p:txBody>
      </p:sp>
      <p:sp>
        <p:nvSpPr>
          <p:cNvPr id="7" name="Rounded Rectangle 6"/>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confirma una conclusión?</a:t>
            </a:r>
          </a:p>
        </p:txBody>
      </p:sp>
      <p:sp>
        <p:nvSpPr>
          <p:cNvPr id="3" name="Rounded Rectangle 2"/>
          <p:cNvSpPr/>
          <p:nvPr/>
        </p:nvSpPr>
        <p:spPr>
          <a:xfrm>
            <a:off x="548640" y="1417320"/>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Fracción alterna</a:t>
            </a:r>
          </a:p>
          <a:p>
            <a:pPr algn="l"/>
            <a:r>
              <a:rPr sz="1600" b="0">
                <a:solidFill>
                  <a:srgbClr val="142B33"/>
                </a:solidFill>
                <a:latin typeface="Calibri"/>
              </a:rPr>
              <a:t>Confirma y separa alias: duplica las corridas</a:t>
            </a:r>
          </a:p>
        </p:txBody>
      </p:sp>
      <p:sp>
        <p:nvSpPr>
          <p:cNvPr id="4" name="Rounded Rectangle 3"/>
          <p:cNvSpPr/>
          <p:nvPr/>
        </p:nvSpPr>
        <p:spPr>
          <a:xfrm>
            <a:off x="548640" y="2941828"/>
            <a:ext cx="4486832" cy="1295908"/>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800" b="1">
                <a:solidFill>
                  <a:srgbClr val="0F4C5C"/>
                </a:solidFill>
                <a:latin typeface="Cambria"/>
              </a:rPr>
              <a:t>Corrida de confirmación</a:t>
            </a:r>
          </a:p>
          <a:p>
            <a:pPr algn="l"/>
            <a:r>
              <a:rPr sz="1600" b="0">
                <a:solidFill>
                  <a:srgbClr val="142B33"/>
                </a:solidFill>
                <a:latin typeface="Calibri"/>
              </a:rPr>
              <a:t>Predecir con el modelo en un punto </a:t>
            </a:r>
            <a:r>
              <a:rPr sz="1600" b="1">
                <a:solidFill>
                  <a:srgbClr val="142B33"/>
                </a:solidFill>
                <a:latin typeface="Calibri"/>
              </a:rPr>
              <a:t>nuevo</a:t>
            </a:r>
            <a:r>
              <a:rPr sz="1600" b="0">
                <a:solidFill>
                  <a:srgbClr val="142B33"/>
                </a:solidFill>
                <a:latin typeface="Calibri"/>
              </a:rPr>
              <a:t>, correrlo varias veces y comparar</a:t>
            </a:r>
          </a:p>
        </p:txBody>
      </p:sp>
      <p:sp>
        <p:nvSpPr>
          <p:cNvPr id="5" name="Rounded Rectangle 4"/>
          <p:cNvSpPr/>
          <p:nvPr/>
        </p:nvSpPr>
        <p:spPr>
          <a:xfrm>
            <a:off x="5446952" y="1417320"/>
            <a:ext cx="6196102"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ŷ = 70.75 + 9.50 x</a:t>
            </a:r>
            <a:r>
              <a:rPr sz="1500" b="0" baseline="-25000">
                <a:solidFill>
                  <a:srgbClr val="0F4C5C"/>
                </a:solidFill>
                <a:latin typeface="Cambria Math"/>
              </a:rPr>
              <a:t>1</a:t>
            </a:r>
            <a:r>
              <a:rPr sz="1500" b="0">
                <a:solidFill>
                  <a:srgbClr val="0F4C5C"/>
                </a:solidFill>
                <a:latin typeface="Cambria Math"/>
              </a:rPr>
              <a:t> + 7.00 x</a:t>
            </a:r>
            <a:r>
              <a:rPr sz="1500" b="0" baseline="-25000">
                <a:solidFill>
                  <a:srgbClr val="0F4C5C"/>
                </a:solidFill>
                <a:latin typeface="Cambria Math"/>
              </a:rPr>
              <a:t>3</a:t>
            </a:r>
            <a:r>
              <a:rPr sz="1500" b="0">
                <a:solidFill>
                  <a:srgbClr val="0F4C5C"/>
                </a:solidFill>
                <a:latin typeface="Cambria Math"/>
              </a:rPr>
              <a:t> + 8.25 x</a:t>
            </a:r>
            <a:r>
              <a:rPr sz="1500" b="0" baseline="-25000">
                <a:solidFill>
                  <a:srgbClr val="0F4C5C"/>
                </a:solidFill>
                <a:latin typeface="Cambria Math"/>
              </a:rPr>
              <a:t>4</a:t>
            </a:r>
            <a:r>
              <a:rPr sz="1500" b="0">
                <a:solidFill>
                  <a:srgbClr val="0F4C5C"/>
                </a:solidFill>
                <a:latin typeface="Cambria Math"/>
              </a:rPr>
              <a:t> − 9.25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3</a:t>
            </a:r>
            <a:r>
              <a:rPr sz="1500" b="0">
                <a:solidFill>
                  <a:srgbClr val="0F4C5C"/>
                </a:solidFill>
                <a:latin typeface="Cambria Math"/>
              </a:rPr>
              <a:t> + 9.50 x</a:t>
            </a:r>
            <a:r>
              <a:rPr sz="1500" b="0" baseline="-25000">
                <a:solidFill>
                  <a:srgbClr val="0F4C5C"/>
                </a:solidFill>
                <a:latin typeface="Cambria Math"/>
              </a:rPr>
              <a:t>1</a:t>
            </a:r>
            <a:r>
              <a:rPr sz="1500" b="0">
                <a:solidFill>
                  <a:srgbClr val="0F4C5C"/>
                </a:solidFill>
                <a:latin typeface="Cambria Math"/>
              </a:rPr>
              <a:t>x</a:t>
            </a:r>
            <a:r>
              <a:rPr sz="1500" b="0" baseline="-25000">
                <a:solidFill>
                  <a:srgbClr val="0F4C5C"/>
                </a:solidFill>
                <a:latin typeface="Cambria Math"/>
              </a:rPr>
              <a:t>4</a:t>
            </a:r>
          </a:p>
        </p:txBody>
      </p:sp>
      <p:graphicFrame>
        <p:nvGraphicFramePr>
          <p:cNvPr id="6" name="Table 5"/>
          <p:cNvGraphicFramePr>
            <a:graphicFrameLocks noGrp="1"/>
          </p:cNvGraphicFramePr>
          <p:nvPr/>
        </p:nvGraphicFramePr>
        <p:xfrm>
          <a:off x="5446952" y="2153107"/>
          <a:ext cx="6196101" cy="733552"/>
        </p:xfrm>
        <a:graphic>
          <a:graphicData uri="http://schemas.openxmlformats.org/drawingml/2006/table">
            <a:tbl>
              <a:tblPr firstRow="0" bandRow="0">
                <a:tableStyleId>{5C22544A-7EE6-4342-B048-85BDC9FD1C3A}</a:tableStyleId>
              </a:tblPr>
              <a:tblGrid>
                <a:gridCol w="3007137"/>
                <a:gridCol w="713321"/>
                <a:gridCol w="713321"/>
                <a:gridCol w="713321"/>
                <a:gridCol w="1049001"/>
              </a:tblGrid>
              <a:tr h="366776">
                <a:tc>
                  <a:txBody>
                    <a:bodyPr/>
                    <a:lstStyle/>
                    <a:p>
                      <a:pPr algn="ctr"/>
                      <a:r>
                        <a:rPr sz="1600" b="1">
                          <a:solidFill>
                            <a:srgbClr val="FFFFFF"/>
                          </a:solidFill>
                          <a:latin typeface="Calibri"/>
                        </a:rPr>
                        <a:t>Punto</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1</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3</a:t>
                      </a:r>
                    </a:p>
                  </a:txBody>
                  <a:tcPr marL="73152" marR="73152" marT="27432" marB="27432" anchor="ctr">
                    <a:solidFill>
                      <a:srgbClr val="0F4C5C"/>
                    </a:solidFill>
                  </a:tcPr>
                </a:tc>
                <a:tc>
                  <a:txBody>
                    <a:bodyPr/>
                    <a:lstStyle/>
                    <a:p>
                      <a:pPr algn="ctr"/>
                      <a:r>
                        <a:rPr sz="1600" b="1">
                          <a:solidFill>
                            <a:srgbClr val="FFFFFF"/>
                          </a:solidFill>
                          <a:latin typeface="Calibri"/>
                        </a:rPr>
                        <a:t>x</a:t>
                      </a:r>
                      <a:r>
                        <a:rPr sz="1600" b="1" baseline="-25000">
                          <a:solidFill>
                            <a:srgbClr val="FFFFFF"/>
                          </a:solidFill>
                          <a:latin typeface="Calibri"/>
                        </a:rPr>
                        <a:t>4</a:t>
                      </a:r>
                    </a:p>
                  </a:txBody>
                  <a:tcPr marL="73152" marR="73152" marT="27432" marB="27432" anchor="ctr">
                    <a:solidFill>
                      <a:srgbClr val="0F4C5C"/>
                    </a:solidFill>
                  </a:tcPr>
                </a:tc>
                <a:tc>
                  <a:txBody>
                    <a:bodyPr/>
                    <a:lstStyle/>
                    <a:p>
                      <a:pPr algn="ctr"/>
                      <a:r>
                        <a:rPr sz="1600" b="1">
                          <a:solidFill>
                            <a:srgbClr val="FFFFFF"/>
                          </a:solidFill>
                          <a:latin typeface="Calibri"/>
                        </a:rPr>
                        <a:t>ŷ</a:t>
                      </a:r>
                    </a:p>
                  </a:txBody>
                  <a:tcPr marL="73152" marR="73152" marT="27432" marB="27432" anchor="ctr">
                    <a:solidFill>
                      <a:srgbClr val="0F4C5C"/>
                    </a:solidFill>
                  </a:tcPr>
                </a:tc>
              </a:tr>
              <a:tr h="366776">
                <a:tc>
                  <a:txBody>
                    <a:bodyPr/>
                    <a:lstStyle/>
                    <a:p>
                      <a:pPr algn="ctr"/>
                      <a:r>
                        <a:rPr sz="1600" b="0">
                          <a:solidFill>
                            <a:srgbClr val="142B33"/>
                          </a:solidFill>
                          <a:latin typeface="Calibri"/>
                        </a:rPr>
                        <a:t>Centro de la región</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0</a:t>
                      </a:r>
                    </a:p>
                  </a:txBody>
                  <a:tcPr marL="73152" marR="73152" marT="27432" marB="27432" anchor="ctr">
                    <a:solidFill>
                      <a:srgbClr val="FFFFFF"/>
                    </a:solidFill>
                  </a:tcPr>
                </a:tc>
                <a:tc>
                  <a:txBody>
                    <a:bodyPr/>
                    <a:lstStyle/>
                    <a:p>
                      <a:pPr algn="ctr"/>
                      <a:r>
                        <a:rPr sz="1600" b="0">
                          <a:solidFill>
                            <a:srgbClr val="142B33"/>
                          </a:solidFill>
                          <a:latin typeface="Calibri"/>
                        </a:rPr>
                        <a:t>70.75</a:t>
                      </a:r>
                    </a:p>
                  </a:txBody>
                  <a:tcPr marL="73152" marR="73152" marT="27432" marB="27432" anchor="ctr">
                    <a:solidFill>
                      <a:srgbClr val="FFFFFF"/>
                    </a:solidFill>
                  </a:tcPr>
                </a:tc>
              </a:tr>
            </a:tbl>
          </a:graphicData>
        </a:graphic>
      </p:graphicFrame>
      <p:sp>
        <p:nvSpPr>
          <p:cNvPr id="7" name="Rounded Rectangle 6"/>
          <p:cNvSpPr/>
          <p:nvPr/>
        </p:nvSpPr>
        <p:spPr>
          <a:xfrm>
            <a:off x="5446952" y="3087827"/>
            <a:ext cx="619610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 las corridas en el centro se alejan de 70.75, el modelo </a:t>
            </a:r>
            <a:r>
              <a:rPr sz="1500" b="1">
                <a:solidFill>
                  <a:srgbClr val="142B33"/>
                </a:solidFill>
                <a:latin typeface="Calibri"/>
              </a:rPr>
              <a:t>no</a:t>
            </a:r>
            <a:r>
              <a:rPr sz="1500" b="0">
                <a:solidFill>
                  <a:srgbClr val="142B33"/>
                </a:solidFill>
                <a:latin typeface="Calibri"/>
              </a:rPr>
              <a:t> queda confirmado (o hay curvatura)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Secuencias de diseños fraccionados</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36</a:t>
            </a:r>
          </a:p>
        </p:txBody>
      </p:sp>
      <p:sp>
        <p:nvSpPr>
          <p:cNvPr id="10" name="Rounded Rectangle 9"/>
          <p:cNvSpPr/>
          <p:nvPr/>
        </p:nvSpPr>
        <p:spPr>
          <a:xfrm>
            <a:off x="548640" y="91440"/>
            <a:ext cx="3753612"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4 · Secuencias de diseños fraccionados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La fracción un cuarto 2</a:t>
            </a:r>
            <a:r>
              <a:rPr sz="4400" b="1" baseline="30000">
                <a:solidFill>
                  <a:srgbClr val="FFFFFF"/>
                </a:solidFill>
                <a:latin typeface="Cambria"/>
              </a:rPr>
              <a:t>k−2</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5</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Dos generadores, fracciones alternas, proyección y un ejemplo</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una fracción un cuarto?</a:t>
            </a:r>
          </a:p>
        </p:txBody>
      </p:sp>
      <p:sp>
        <p:nvSpPr>
          <p:cNvPr id="3" name="Rounded Rectangle 2"/>
          <p:cNvSpPr/>
          <p:nvPr/>
        </p:nvSpPr>
        <p:spPr>
          <a:xfrm>
            <a:off x="548640" y="1417320"/>
            <a:ext cx="5341467" cy="79491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3000" b="0">
                <a:solidFill>
                  <a:srgbClr val="0F4C5C"/>
                </a:solidFill>
                <a:latin typeface="Cambria Math"/>
              </a:rPr>
              <a:t>I = P = Q = PQ</a:t>
            </a:r>
          </a:p>
        </p:txBody>
      </p:sp>
      <p:sp>
        <p:nvSpPr>
          <p:cNvPr id="4" name="TextBox 3"/>
          <p:cNvSpPr txBox="1"/>
          <p:nvPr/>
        </p:nvSpPr>
        <p:spPr>
          <a:xfrm>
            <a:off x="548640" y="2413406"/>
            <a:ext cx="5341467" cy="156870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k−2</a:t>
            </a:r>
            <a:r>
              <a:rPr sz="1600" b="0">
                <a:solidFill>
                  <a:srgbClr val="142B33"/>
                </a:solidFill>
                <a:latin typeface="Calibri"/>
              </a:rPr>
              <a:t> corridas: la cuarta parte del 2</a:t>
            </a:r>
            <a:r>
              <a:rPr sz="1600" b="0" baseline="30000">
                <a:solidFill>
                  <a:srgbClr val="142B33"/>
                </a:solidFill>
                <a:latin typeface="Calibri"/>
              </a:rPr>
              <a:t>k</a:t>
            </a:r>
          </a:p>
          <a:p>
            <a:pPr marL="320040" indent="-320040">
              <a:spcAft>
                <a:spcPts val="600"/>
              </a:spcAft>
              <a:buClr>
                <a:srgbClr val="E36414"/>
              </a:buClr>
              <a:buFont typeface="Arial"/>
              <a:buChar char="•"/>
            </a:pPr>
            <a:r>
              <a:rPr sz="1600" b="0">
                <a:solidFill>
                  <a:srgbClr val="142B33"/>
                </a:solidFill>
                <a:latin typeface="Calibri"/>
              </a:rPr>
              <a:t>Dos generadores </a:t>
            </a:r>
            <a:r>
              <a:rPr sz="1600" b="1">
                <a:solidFill>
                  <a:srgbClr val="142B33"/>
                </a:solidFill>
                <a:latin typeface="Calibri"/>
              </a:rPr>
              <a:t>P</a:t>
            </a:r>
            <a:r>
              <a:rPr sz="1600" b="0">
                <a:solidFill>
                  <a:srgbClr val="142B33"/>
                </a:solidFill>
                <a:latin typeface="Calibri"/>
              </a:rPr>
              <a:t> y </a:t>
            </a:r>
            <a:r>
              <a:rPr sz="1600" b="1">
                <a:solidFill>
                  <a:srgbClr val="142B33"/>
                </a:solidFill>
                <a:latin typeface="Calibri"/>
              </a:rPr>
              <a:t>Q</a:t>
            </a:r>
            <a:r>
              <a:rPr sz="1600" b="0">
                <a:solidFill>
                  <a:srgbClr val="142B33"/>
                </a:solidFill>
                <a:latin typeface="Calibri"/>
              </a:rPr>
              <a:t>: relaciones generadoras I = P e I = Q</a:t>
            </a:r>
          </a:p>
          <a:p>
            <a:pPr marL="320040" indent="-320040">
              <a:spcAft>
                <a:spcPts val="600"/>
              </a:spcAft>
              <a:buClr>
                <a:srgbClr val="E36414"/>
              </a:buClr>
              <a:buFont typeface="Arial"/>
              <a:buChar char="•"/>
            </a:pPr>
            <a:r>
              <a:rPr sz="1600" b="1">
                <a:solidFill>
                  <a:srgbClr val="142B33"/>
                </a:solidFill>
                <a:latin typeface="Calibri"/>
              </a:rPr>
              <a:t>PQ</a:t>
            </a:r>
            <a:r>
              <a:rPr sz="1600" b="0">
                <a:solidFill>
                  <a:srgbClr val="142B33"/>
                </a:solidFill>
                <a:latin typeface="Calibri"/>
              </a:rPr>
              <a:t>: interacción generalizada (producto, letra² = I)</a:t>
            </a:r>
          </a:p>
          <a:p>
            <a:pPr marL="320040" indent="-320040">
              <a:spcAft>
                <a:spcPts val="600"/>
              </a:spcAft>
              <a:buClr>
                <a:srgbClr val="E36414"/>
              </a:buClr>
              <a:buFont typeface="Arial"/>
              <a:buChar char="•"/>
            </a:pPr>
            <a:r>
              <a:rPr sz="1600" b="0">
                <a:solidFill>
                  <a:srgbClr val="142B33"/>
                </a:solidFill>
                <a:latin typeface="Calibri"/>
              </a:rPr>
              <a:t>Cada efecto tiene </a:t>
            </a:r>
            <a:r>
              <a:rPr sz="1600" b="1">
                <a:solidFill>
                  <a:srgbClr val="142B33"/>
                </a:solidFill>
                <a:latin typeface="Calibri"/>
              </a:rPr>
              <a:t>tres alias</a:t>
            </a:r>
          </a:p>
        </p:txBody>
      </p:sp>
      <p:graphicFrame>
        <p:nvGraphicFramePr>
          <p:cNvPr id="5" name="Table 4"/>
          <p:cNvGraphicFramePr>
            <a:graphicFrameLocks noGrp="1"/>
          </p:cNvGraphicFramePr>
          <p:nvPr/>
        </p:nvGraphicFramePr>
        <p:xfrm>
          <a:off x="6301587" y="1417320"/>
          <a:ext cx="5341467" cy="2081784"/>
        </p:xfrm>
        <a:graphic>
          <a:graphicData uri="http://schemas.openxmlformats.org/drawingml/2006/table">
            <a:tbl>
              <a:tblPr firstRow="0" bandRow="0">
                <a:tableStyleId>{5C22544A-7EE6-4342-B048-85BDC9FD1C3A}</a:tableStyleId>
              </a:tblPr>
              <a:tblGrid>
                <a:gridCol w="2937807"/>
                <a:gridCol w="2403660"/>
              </a:tblGrid>
              <a:tr h="614680">
                <a:tc>
                  <a:txBody>
                    <a:bodyPr/>
                    <a:lstStyle/>
                    <a:p>
                      <a:pPr algn="ctr"/>
                      <a:r>
                        <a:rPr sz="1600" b="1">
                          <a:solidFill>
                            <a:srgbClr val="FFFFFF"/>
                          </a:solidFill>
                          <a:latin typeface="Calibri"/>
                        </a:rPr>
                        <a:t>Signos de los generadores</a:t>
                      </a:r>
                    </a:p>
                  </a:txBody>
                  <a:tcPr marL="73152" marR="73152" marT="27432" marB="27432" anchor="ctr">
                    <a:solidFill>
                      <a:srgbClr val="0F4C5C"/>
                    </a:solidFill>
                  </a:tcPr>
                </a:tc>
                <a:tc>
                  <a:txBody>
                    <a:bodyPr/>
                    <a:lstStyle/>
                    <a:p>
                      <a:pPr algn="ctr"/>
                      <a:r>
                        <a:rPr sz="1600" b="1">
                          <a:solidFill>
                            <a:srgbClr val="FFFFFF"/>
                          </a:solidFill>
                          <a:latin typeface="Calibri"/>
                        </a:rPr>
                        <a:t>Fracción</a:t>
                      </a:r>
                    </a:p>
                  </a:txBody>
                  <a:tcPr marL="73152" marR="73152" marT="27432" marB="27432" anchor="ctr">
                    <a:solidFill>
                      <a:srgbClr val="0F4C5C"/>
                    </a:solidFill>
                  </a:tcPr>
                </a:tc>
              </a:tr>
              <a:tr h="366776">
                <a:tc>
                  <a:txBody>
                    <a:bodyPr/>
                    <a:lstStyle/>
                    <a:p>
                      <a:pPr algn="ctr"/>
                      <a:r>
                        <a:rPr sz="1600" b="0">
                          <a:solidFill>
                            <a:srgbClr val="142B33"/>
                          </a:solidFill>
                          <a:latin typeface="Calibri"/>
                        </a:rPr>
                        <a:t>+P,  +Q</a:t>
                      </a:r>
                    </a:p>
                  </a:txBody>
                  <a:tcPr marL="73152" marR="73152" marT="27432" marB="27432" anchor="ctr">
                    <a:solidFill>
                      <a:srgbClr val="FFFFFF"/>
                    </a:solidFill>
                  </a:tcPr>
                </a:tc>
                <a:tc>
                  <a:txBody>
                    <a:bodyPr/>
                    <a:lstStyle/>
                    <a:p>
                      <a:pPr algn="ctr"/>
                      <a:r>
                        <a:rPr sz="1600" b="0">
                          <a:solidFill>
                            <a:srgbClr val="142B33"/>
                          </a:solidFill>
                          <a:latin typeface="Calibri"/>
                        </a:rPr>
                        <a:t>Principal</a:t>
                      </a:r>
                    </a:p>
                  </a:txBody>
                  <a:tcPr marL="73152" marR="73152" marT="27432" marB="27432" anchor="ctr">
                    <a:solidFill>
                      <a:srgbClr val="FFFFFF"/>
                    </a:solidFill>
                  </a:tcPr>
                </a:tc>
              </a:tr>
              <a:tr h="366776">
                <a:tc>
                  <a:txBody>
                    <a:bodyPr/>
                    <a:lstStyle/>
                    <a:p>
                      <a:pPr algn="ctr"/>
                      <a:r>
                        <a:rPr sz="1600" b="0">
                          <a:solidFill>
                            <a:srgbClr val="142B33"/>
                          </a:solidFill>
                          <a:latin typeface="Calibri"/>
                        </a:rPr>
                        <a:t>+P,  −Q</a:t>
                      </a:r>
                    </a:p>
                  </a:txBody>
                  <a:tcPr marL="73152" marR="73152" marT="27432" marB="27432" anchor="ctr">
                    <a:solidFill>
                      <a:srgbClr val="F4F8F9"/>
                    </a:solidFill>
                  </a:tcPr>
                </a:tc>
                <a:tc>
                  <a:txBody>
                    <a:bodyPr/>
                    <a:lstStyle/>
                    <a:p>
                      <a:pPr algn="ctr"/>
                      <a:r>
                        <a:rPr sz="1600" b="0">
                          <a:solidFill>
                            <a:srgbClr val="142B33"/>
                          </a:solidFill>
                          <a:latin typeface="Calibri"/>
                        </a:rPr>
                        <a:t>Alterna</a:t>
                      </a:r>
                    </a:p>
                  </a:txBody>
                  <a:tcPr marL="73152" marR="73152" marT="27432" marB="27432" anchor="ctr">
                    <a:solidFill>
                      <a:srgbClr val="F4F8F9"/>
                    </a:solidFill>
                  </a:tcPr>
                </a:tc>
              </a:tr>
              <a:tr h="366776">
                <a:tc>
                  <a:txBody>
                    <a:bodyPr/>
                    <a:lstStyle/>
                    <a:p>
                      <a:pPr algn="ctr"/>
                      <a:r>
                        <a:rPr sz="1600" b="0">
                          <a:solidFill>
                            <a:srgbClr val="142B33"/>
                          </a:solidFill>
                          <a:latin typeface="Calibri"/>
                        </a:rPr>
                        <a:t>−P,  +Q</a:t>
                      </a:r>
                    </a:p>
                  </a:txBody>
                  <a:tcPr marL="73152" marR="73152" marT="27432" marB="27432" anchor="ctr">
                    <a:solidFill>
                      <a:srgbClr val="FFFFFF"/>
                    </a:solidFill>
                  </a:tcPr>
                </a:tc>
                <a:tc>
                  <a:txBody>
                    <a:bodyPr/>
                    <a:lstStyle/>
                    <a:p>
                      <a:pPr algn="ctr"/>
                      <a:r>
                        <a:rPr sz="1600" b="0">
                          <a:solidFill>
                            <a:srgbClr val="142B33"/>
                          </a:solidFill>
                          <a:latin typeface="Calibri"/>
                        </a:rPr>
                        <a:t>Alterna</a:t>
                      </a:r>
                    </a:p>
                  </a:txBody>
                  <a:tcPr marL="73152" marR="73152" marT="27432" marB="27432" anchor="ctr">
                    <a:solidFill>
                      <a:srgbClr val="FFFFFF"/>
                    </a:solidFill>
                  </a:tcPr>
                </a:tc>
              </a:tr>
              <a:tr h="366776">
                <a:tc>
                  <a:txBody>
                    <a:bodyPr/>
                    <a:lstStyle/>
                    <a:p>
                      <a:pPr algn="ctr"/>
                      <a:r>
                        <a:rPr sz="1600" b="0">
                          <a:solidFill>
                            <a:srgbClr val="142B33"/>
                          </a:solidFill>
                          <a:latin typeface="Calibri"/>
                        </a:rPr>
                        <a:t>−P,  −Q</a:t>
                      </a:r>
                    </a:p>
                  </a:txBody>
                  <a:tcPr marL="73152" marR="73152" marT="27432" marB="27432" anchor="ctr">
                    <a:solidFill>
                      <a:srgbClr val="F4F8F9"/>
                    </a:solidFill>
                  </a:tcPr>
                </a:tc>
                <a:tc>
                  <a:txBody>
                    <a:bodyPr/>
                    <a:lstStyle/>
                    <a:p>
                      <a:pPr algn="ctr"/>
                      <a:r>
                        <a:rPr sz="1600" b="0">
                          <a:solidFill>
                            <a:srgbClr val="142B33"/>
                          </a:solidFill>
                          <a:latin typeface="Calibri"/>
                        </a:rPr>
                        <a:t>Alterna</a:t>
                      </a:r>
                    </a:p>
                  </a:txBody>
                  <a:tcPr marL="73152" marR="73152" marT="27432" marB="27432" anchor="ctr">
                    <a:solidFill>
                      <a:srgbClr val="F4F8F9"/>
                    </a:solidFill>
                  </a:tcPr>
                </a:tc>
              </a:tr>
            </a:tbl>
          </a:graphicData>
        </a:graphic>
      </p:graphicFrame>
      <p:sp>
        <p:nvSpPr>
          <p:cNvPr id="6" name="Rounded Rectangle 5"/>
          <p:cNvSpPr/>
          <p:nvPr/>
        </p:nvSpPr>
        <p:spPr>
          <a:xfrm>
            <a:off x="6301587" y="370027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cuatro fracciones forman una </a:t>
            </a:r>
            <a:r>
              <a:rPr sz="1500" b="1">
                <a:solidFill>
                  <a:srgbClr val="142B33"/>
                </a:solidFill>
                <a:latin typeface="Calibri"/>
              </a:rPr>
              <a:t>familia</a:t>
            </a:r>
            <a:r>
              <a:rPr sz="1500" b="0">
                <a:solidFill>
                  <a:srgbClr val="142B33"/>
                </a:solidFill>
                <a:latin typeface="Calibri"/>
              </a:rPr>
              <a:t>: juntas son el 2</a:t>
            </a:r>
            <a:r>
              <a:rPr sz="1500" b="0" baseline="30000">
                <a:solidFill>
                  <a:srgbClr val="142B33"/>
                </a:solidFill>
                <a:latin typeface="Calibri"/>
              </a:rPr>
              <a:t>k</a:t>
            </a:r>
            <a:r>
              <a:rPr sz="1500" b="0">
                <a:solidFill>
                  <a:srgbClr val="142B33"/>
                </a:solidFill>
                <a:latin typeface="Calibri"/>
              </a:rPr>
              <a:t> completo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38</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2</a:t>
            </a:r>
            <a:r>
              <a:rPr sz="3000" b="1" baseline="30000">
                <a:solidFill>
                  <a:srgbClr val="0F4C5C"/>
                </a:solidFill>
                <a:latin typeface="Cambria"/>
              </a:rPr>
              <a:t>6−2</a:t>
            </a:r>
            <a:r>
              <a:rPr sz="3000" b="1" baseline="-25000">
                <a:solidFill>
                  <a:srgbClr val="0F4C5C"/>
                </a:solidFill>
                <a:latin typeface="Cambria"/>
              </a:rPr>
              <a:t>IV</a:t>
            </a:r>
            <a:r>
              <a:rPr sz="3000" b="1">
                <a:solidFill>
                  <a:srgbClr val="0F4C5C"/>
                </a:solidFill>
                <a:latin typeface="Cambria"/>
              </a:rPr>
              <a:t>: relación de definición y alias</a:t>
            </a:r>
          </a:p>
        </p:txBody>
      </p:sp>
      <p:sp>
        <p:nvSpPr>
          <p:cNvPr id="3" name="TextBox 2"/>
          <p:cNvSpPr txBox="1"/>
          <p:nvPr/>
        </p:nvSpPr>
        <p:spPr>
          <a:xfrm>
            <a:off x="548640" y="1417320"/>
            <a:ext cx="5127808" cy="100126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Dos generadores </a:t>
            </a:r>
            <a:r>
              <a:rPr sz="1800" b="1">
                <a:solidFill>
                  <a:srgbClr val="142B33"/>
                </a:solidFill>
                <a:latin typeface="Calibri"/>
              </a:rPr>
              <a:t>P</a:t>
            </a:r>
            <a:r>
              <a:rPr sz="1800" b="0">
                <a:solidFill>
                  <a:srgbClr val="142B33"/>
                </a:solidFill>
                <a:latin typeface="Calibri"/>
              </a:rPr>
              <a:t> y </a:t>
            </a:r>
            <a:r>
              <a:rPr sz="1800" b="1">
                <a:solidFill>
                  <a:srgbClr val="142B33"/>
                </a:solidFill>
                <a:latin typeface="Calibri"/>
              </a:rPr>
              <a:t>Q</a:t>
            </a:r>
            <a:r>
              <a:rPr sz="1800" b="0">
                <a:solidFill>
                  <a:srgbClr val="142B33"/>
                </a:solidFill>
                <a:latin typeface="Calibri"/>
              </a:rPr>
              <a:t>; su producto </a:t>
            </a:r>
            <a:r>
              <a:rPr sz="1800" b="1">
                <a:solidFill>
                  <a:srgbClr val="142B33"/>
                </a:solidFill>
                <a:latin typeface="Calibri"/>
              </a:rPr>
              <a:t>PQ</a:t>
            </a:r>
            <a:r>
              <a:rPr sz="1800" b="0">
                <a:solidFill>
                  <a:srgbClr val="142B33"/>
                </a:solidFill>
                <a:latin typeface="Calibri"/>
              </a:rPr>
              <a:t> también es palabra</a:t>
            </a:r>
          </a:p>
          <a:p>
            <a:pPr marL="320040" indent="-320040">
              <a:spcAft>
                <a:spcPts val="600"/>
              </a:spcAft>
              <a:buClr>
                <a:srgbClr val="E36414"/>
              </a:buClr>
              <a:buFont typeface="Arial"/>
              <a:buChar char="•"/>
            </a:pPr>
            <a:r>
              <a:rPr sz="1800" b="0">
                <a:solidFill>
                  <a:srgbClr val="142B33"/>
                </a:solidFill>
                <a:latin typeface="Calibri"/>
              </a:rPr>
              <a:t>Cada efecto tiene </a:t>
            </a:r>
            <a:r>
              <a:rPr sz="1800" b="1">
                <a:solidFill>
                  <a:srgbClr val="142B33"/>
                </a:solidFill>
                <a:latin typeface="Calibri"/>
              </a:rPr>
              <a:t>tres alias</a:t>
            </a:r>
          </a:p>
        </p:txBody>
      </p:sp>
      <p:sp>
        <p:nvSpPr>
          <p:cNvPr id="4" name="Rounded Rectangle 3"/>
          <p:cNvSpPr/>
          <p:nvPr/>
        </p:nvSpPr>
        <p:spPr>
          <a:xfrm>
            <a:off x="548640" y="2619756"/>
            <a:ext cx="5127808" cy="1263456"/>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I = P = Q = PQ</a:t>
            </a:r>
          </a:p>
          <a:p>
            <a:pPr algn="ctr"/>
            <a:r>
              <a:rPr sz="1900" b="0">
                <a:solidFill>
                  <a:srgbClr val="0F4C5C"/>
                </a:solidFill>
                <a:latin typeface="Cambria Math"/>
              </a:rPr>
              <a:t>2</a:t>
            </a:r>
            <a:r>
              <a:rPr sz="1900" b="0" baseline="30000">
                <a:solidFill>
                  <a:srgbClr val="0F4C5C"/>
                </a:solidFill>
                <a:latin typeface="Cambria Math"/>
              </a:rPr>
              <a:t>6−2</a:t>
            </a:r>
            <a:r>
              <a:rPr sz="1900" b="0">
                <a:solidFill>
                  <a:srgbClr val="0F4C5C"/>
                </a:solidFill>
                <a:latin typeface="Cambria Math"/>
              </a:rPr>
              <a:t>:  E = ABC,  F = BCD</a:t>
            </a:r>
          </a:p>
          <a:p>
            <a:pPr algn="ctr"/>
            <a:r>
              <a:rPr sz="1900" b="0">
                <a:solidFill>
                  <a:srgbClr val="0F4C5C"/>
                </a:solidFill>
                <a:latin typeface="Cambria Math"/>
              </a:rPr>
              <a:t>I = ABCE = BCDF = ADEF</a:t>
            </a:r>
          </a:p>
        </p:txBody>
      </p:sp>
      <p:sp>
        <p:nvSpPr>
          <p:cNvPr id="5" name="Rounded Rectangle 4"/>
          <p:cNvSpPr/>
          <p:nvPr/>
        </p:nvSpPr>
        <p:spPr>
          <a:xfrm>
            <a:off x="548640" y="4084380"/>
            <a:ext cx="5127808"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Palabra más corta: 4 letras  →  </a:t>
            </a:r>
            <a:r>
              <a:rPr sz="1600" b="1">
                <a:solidFill>
                  <a:srgbClr val="142B33"/>
                </a:solidFill>
                <a:latin typeface="Calibri"/>
              </a:rPr>
              <a:t>resolución IV</a:t>
            </a:r>
          </a:p>
        </p:txBody>
      </p:sp>
      <p:graphicFrame>
        <p:nvGraphicFramePr>
          <p:cNvPr id="6" name="Table 5"/>
          <p:cNvGraphicFramePr>
            <a:graphicFrameLocks noGrp="1"/>
          </p:cNvGraphicFramePr>
          <p:nvPr/>
        </p:nvGraphicFramePr>
        <p:xfrm>
          <a:off x="6087928" y="1417320"/>
          <a:ext cx="5555125" cy="2810256"/>
        </p:xfrm>
        <a:graphic>
          <a:graphicData uri="http://schemas.openxmlformats.org/drawingml/2006/table">
            <a:tbl>
              <a:tblPr firstRow="0" bandRow="0">
                <a:tableStyleId>{5C22544A-7EE6-4342-B048-85BDC9FD1C3A}</a:tableStyleId>
              </a:tblPr>
              <a:tblGrid>
                <a:gridCol w="2331781"/>
                <a:gridCol w="3223344"/>
              </a:tblGrid>
              <a:tr h="351282">
                <a:tc>
                  <a:txBody>
                    <a:bodyPr/>
                    <a:lstStyle/>
                    <a:p>
                      <a:pPr algn="ctr"/>
                      <a:r>
                        <a:rPr sz="1500" b="1">
                          <a:solidFill>
                            <a:srgbClr val="FFFFFF"/>
                          </a:solidFill>
                          <a:latin typeface="Calibri"/>
                        </a:rPr>
                        <a:t>Efectos principales</a:t>
                      </a:r>
                    </a:p>
                  </a:txBody>
                  <a:tcPr marL="73152" marR="73152" marT="27432" marB="27432" anchor="ctr">
                    <a:solidFill>
                      <a:srgbClr val="0F4C5C"/>
                    </a:solidFill>
                  </a:tcPr>
                </a:tc>
                <a:tc>
                  <a:txBody>
                    <a:bodyPr/>
                    <a:lstStyle/>
                    <a:p>
                      <a:pPr algn="ctr"/>
                      <a:r>
                        <a:rPr sz="1500" b="1">
                          <a:solidFill>
                            <a:srgbClr val="FFFFFF"/>
                          </a:solidFill>
                          <a:latin typeface="Calibri"/>
                        </a:rPr>
                        <a:t>Interacciones de 2 factores</a:t>
                      </a:r>
                    </a:p>
                  </a:txBody>
                  <a:tcPr marL="73152" marR="73152" marT="27432" marB="27432" anchor="ctr">
                    <a:solidFill>
                      <a:srgbClr val="0F4C5C"/>
                    </a:solidFill>
                  </a:tcPr>
                </a:tc>
              </a:tr>
              <a:tr h="351282">
                <a:tc>
                  <a:txBody>
                    <a:bodyPr/>
                    <a:lstStyle/>
                    <a:p>
                      <a:pPr algn="ctr"/>
                      <a:r>
                        <a:rPr sz="1500" b="0">
                          <a:solidFill>
                            <a:srgbClr val="142B33"/>
                          </a:solidFill>
                          <a:latin typeface="Calibri"/>
                        </a:rPr>
                        <a:t>A = BCE = DEF</a:t>
                      </a:r>
                    </a:p>
                  </a:txBody>
                  <a:tcPr marL="73152" marR="73152" marT="27432" marB="27432" anchor="ctr">
                    <a:solidFill>
                      <a:srgbClr val="FFFFFF"/>
                    </a:solidFill>
                  </a:tcPr>
                </a:tc>
                <a:tc>
                  <a:txBody>
                    <a:bodyPr/>
                    <a:lstStyle/>
                    <a:p>
                      <a:pPr algn="ctr"/>
                      <a:r>
                        <a:rPr sz="1500" b="0">
                          <a:solidFill>
                            <a:srgbClr val="142B33"/>
                          </a:solidFill>
                          <a:latin typeface="Calibri"/>
                        </a:rPr>
                        <a:t>AB = CE</a:t>
                      </a:r>
                    </a:p>
                  </a:txBody>
                  <a:tcPr marL="73152" marR="73152" marT="27432" marB="27432" anchor="ctr">
                    <a:solidFill>
                      <a:srgbClr val="FFFFFF"/>
                    </a:solidFill>
                  </a:tcPr>
                </a:tc>
              </a:tr>
              <a:tr h="351282">
                <a:tc>
                  <a:txBody>
                    <a:bodyPr/>
                    <a:lstStyle/>
                    <a:p>
                      <a:pPr algn="ctr"/>
                      <a:r>
                        <a:rPr sz="1500" b="0">
                          <a:solidFill>
                            <a:srgbClr val="142B33"/>
                          </a:solidFill>
                          <a:latin typeface="Calibri"/>
                        </a:rPr>
                        <a:t>B = ACE = CDF</a:t>
                      </a:r>
                    </a:p>
                  </a:txBody>
                  <a:tcPr marL="73152" marR="73152" marT="27432" marB="27432" anchor="ctr">
                    <a:solidFill>
                      <a:srgbClr val="F4F8F9"/>
                    </a:solidFill>
                  </a:tcPr>
                </a:tc>
                <a:tc>
                  <a:txBody>
                    <a:bodyPr/>
                    <a:lstStyle/>
                    <a:p>
                      <a:pPr algn="ctr"/>
                      <a:r>
                        <a:rPr sz="1500" b="0">
                          <a:solidFill>
                            <a:srgbClr val="142B33"/>
                          </a:solidFill>
                          <a:latin typeface="Calibri"/>
                        </a:rPr>
                        <a:t>AC = BE</a:t>
                      </a:r>
                    </a:p>
                  </a:txBody>
                  <a:tcPr marL="73152" marR="73152" marT="27432" marB="27432" anchor="ctr">
                    <a:solidFill>
                      <a:srgbClr val="F4F8F9"/>
                    </a:solidFill>
                  </a:tcPr>
                </a:tc>
              </a:tr>
              <a:tr h="351282">
                <a:tc>
                  <a:txBody>
                    <a:bodyPr/>
                    <a:lstStyle/>
                    <a:p>
                      <a:pPr algn="ctr"/>
                      <a:r>
                        <a:rPr sz="1500" b="0">
                          <a:solidFill>
                            <a:srgbClr val="142B33"/>
                          </a:solidFill>
                          <a:latin typeface="Calibri"/>
                        </a:rPr>
                        <a:t>C = ABE = BDF</a:t>
                      </a:r>
                    </a:p>
                  </a:txBody>
                  <a:tcPr marL="73152" marR="73152" marT="27432" marB="27432" anchor="ctr">
                    <a:solidFill>
                      <a:srgbClr val="FFFFFF"/>
                    </a:solidFill>
                  </a:tcPr>
                </a:tc>
                <a:tc>
                  <a:txBody>
                    <a:bodyPr/>
                    <a:lstStyle/>
                    <a:p>
                      <a:pPr algn="ctr"/>
                      <a:r>
                        <a:rPr sz="1500" b="0">
                          <a:solidFill>
                            <a:srgbClr val="142B33"/>
                          </a:solidFill>
                          <a:latin typeface="Calibri"/>
                        </a:rPr>
                        <a:t>AD = EF</a:t>
                      </a:r>
                    </a:p>
                  </a:txBody>
                  <a:tcPr marL="73152" marR="73152" marT="27432" marB="27432" anchor="ctr">
                    <a:solidFill>
                      <a:srgbClr val="FFFFFF"/>
                    </a:solidFill>
                  </a:tcPr>
                </a:tc>
              </a:tr>
              <a:tr h="351282">
                <a:tc>
                  <a:txBody>
                    <a:bodyPr/>
                    <a:lstStyle/>
                    <a:p>
                      <a:pPr algn="ctr"/>
                      <a:r>
                        <a:rPr sz="1500" b="0">
                          <a:solidFill>
                            <a:srgbClr val="142B33"/>
                          </a:solidFill>
                          <a:latin typeface="Calibri"/>
                        </a:rPr>
                        <a:t>D = BCF = AEF</a:t>
                      </a:r>
                    </a:p>
                  </a:txBody>
                  <a:tcPr marL="73152" marR="73152" marT="27432" marB="27432" anchor="ctr">
                    <a:solidFill>
                      <a:srgbClr val="F4F8F9"/>
                    </a:solidFill>
                  </a:tcPr>
                </a:tc>
                <a:tc>
                  <a:txBody>
                    <a:bodyPr/>
                    <a:lstStyle/>
                    <a:p>
                      <a:pPr algn="ctr"/>
                      <a:r>
                        <a:rPr sz="1500" b="0">
                          <a:solidFill>
                            <a:srgbClr val="142B33"/>
                          </a:solidFill>
                          <a:latin typeface="Calibri"/>
                        </a:rPr>
                        <a:t>AE = BC = DF</a:t>
                      </a:r>
                    </a:p>
                  </a:txBody>
                  <a:tcPr marL="73152" marR="73152" marT="27432" marB="27432" anchor="ctr">
                    <a:solidFill>
                      <a:srgbClr val="F4F8F9"/>
                    </a:solidFill>
                  </a:tcPr>
                </a:tc>
              </a:tr>
              <a:tr h="351282">
                <a:tc>
                  <a:txBody>
                    <a:bodyPr/>
                    <a:lstStyle/>
                    <a:p>
                      <a:pPr algn="ctr"/>
                      <a:r>
                        <a:rPr sz="1500" b="0">
                          <a:solidFill>
                            <a:srgbClr val="142B33"/>
                          </a:solidFill>
                          <a:latin typeface="Calibri"/>
                        </a:rPr>
                        <a:t>E = ABC = ADF</a:t>
                      </a:r>
                    </a:p>
                  </a:txBody>
                  <a:tcPr marL="73152" marR="73152" marT="27432" marB="27432" anchor="ctr">
                    <a:solidFill>
                      <a:srgbClr val="FFFFFF"/>
                    </a:solidFill>
                  </a:tcPr>
                </a:tc>
                <a:tc>
                  <a:txBody>
                    <a:bodyPr/>
                    <a:lstStyle/>
                    <a:p>
                      <a:pPr algn="ctr"/>
                      <a:r>
                        <a:rPr sz="1500" b="0">
                          <a:solidFill>
                            <a:srgbClr val="142B33"/>
                          </a:solidFill>
                          <a:latin typeface="Calibri"/>
                        </a:rPr>
                        <a:t>AF = DE</a:t>
                      </a:r>
                    </a:p>
                  </a:txBody>
                  <a:tcPr marL="73152" marR="73152" marT="27432" marB="27432" anchor="ctr">
                    <a:solidFill>
                      <a:srgbClr val="FFFFFF"/>
                    </a:solidFill>
                  </a:tcPr>
                </a:tc>
              </a:tr>
              <a:tr h="351282">
                <a:tc>
                  <a:txBody>
                    <a:bodyPr/>
                    <a:lstStyle/>
                    <a:p>
                      <a:pPr algn="ctr"/>
                      <a:r>
                        <a:rPr sz="1500" b="0">
                          <a:solidFill>
                            <a:srgbClr val="142B33"/>
                          </a:solidFill>
                          <a:latin typeface="Calibri"/>
                        </a:rPr>
                        <a:t>F = BCD = ADE</a:t>
                      </a:r>
                    </a:p>
                  </a:txBody>
                  <a:tcPr marL="73152" marR="73152" marT="27432" marB="27432" anchor="ctr">
                    <a:solidFill>
                      <a:srgbClr val="F4F8F9"/>
                    </a:solidFill>
                  </a:tcPr>
                </a:tc>
                <a:tc>
                  <a:txBody>
                    <a:bodyPr/>
                    <a:lstStyle/>
                    <a:p>
                      <a:pPr algn="ctr"/>
                      <a:r>
                        <a:rPr sz="1500" b="0">
                          <a:solidFill>
                            <a:srgbClr val="142B33"/>
                          </a:solidFill>
                          <a:latin typeface="Calibri"/>
                        </a:rPr>
                        <a:t>BD = CF</a:t>
                      </a:r>
                    </a:p>
                  </a:txBody>
                  <a:tcPr marL="73152" marR="73152" marT="27432" marB="27432" anchor="ctr">
                    <a:solidFill>
                      <a:srgbClr val="F4F8F9"/>
                    </a:solidFill>
                  </a:tcPr>
                </a:tc>
              </a:tr>
              <a:tr h="351282">
                <a:tc>
                  <a:txBody>
                    <a:bodyPr/>
                    <a:lstStyle/>
                    <a:p>
                      <a:pPr algn="ctr"/>
                    </a:p>
                  </a:txBody>
                  <a:tcPr marL="73152" marR="73152" marT="27432" marB="27432" anchor="ctr">
                    <a:solidFill>
                      <a:srgbClr val="FFFFFF"/>
                    </a:solidFill>
                  </a:tcPr>
                </a:tc>
                <a:tc>
                  <a:txBody>
                    <a:bodyPr/>
                    <a:lstStyle/>
                    <a:p>
                      <a:pPr algn="ctr"/>
                      <a:r>
                        <a:rPr sz="1500" b="0">
                          <a:solidFill>
                            <a:srgbClr val="142B33"/>
                          </a:solidFill>
                          <a:latin typeface="Calibri"/>
                        </a:rPr>
                        <a:t>BF = CD</a:t>
                      </a:r>
                    </a:p>
                  </a:txBody>
                  <a:tcPr marL="73152" marR="73152" marT="27432" marB="27432" anchor="ctr">
                    <a:solidFill>
                      <a:srgbClr val="FFFFFF"/>
                    </a:solidFill>
                  </a:tcPr>
                </a:tc>
              </a:tr>
            </a:tbl>
          </a:graphicData>
        </a:graphic>
      </p:graphicFrame>
      <p:sp>
        <p:nvSpPr>
          <p:cNvPr id="7" name="TextBox 6"/>
          <p:cNvSpPr txBox="1"/>
          <p:nvPr/>
        </p:nvSpPr>
        <p:spPr>
          <a:xfrm>
            <a:off x="6087928" y="4428744"/>
            <a:ext cx="5555126" cy="439419"/>
          </a:xfrm>
          <a:prstGeom prst="rect">
            <a:avLst/>
          </a:prstGeom>
          <a:noFill/>
        </p:spPr>
        <p:txBody>
          <a:bodyPr wrap="square" anchor="t" lIns="0" rIns="0" tIns="0" bIns="0">
            <a:spAutoFit/>
          </a:bodyPr>
          <a:lstStyle/>
          <a:p>
            <a:r>
              <a:rPr sz="1300" b="0">
                <a:solidFill>
                  <a:srgbClr val="5B6B73"/>
                </a:solidFill>
                <a:latin typeface="Calibri"/>
              </a:rPr>
              <a:t>Faltan dos cadenas, solo de interacciones triples: ABD = CDE = ACF = BEF y ACD = BDE = ABF = CEF</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39</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555123" cy="4404360"/>
        </p:xfrm>
        <a:graphic>
          <a:graphicData uri="http://schemas.openxmlformats.org/drawingml/2006/table">
            <a:tbl>
              <a:tblPr firstRow="0" bandRow="0">
                <a:tableStyleId>{5C22544A-7EE6-4342-B048-85BDC9FD1C3A}</a:tableStyleId>
              </a:tblPr>
              <a:tblGrid>
                <a:gridCol w="1288789"/>
                <a:gridCol w="422189"/>
                <a:gridCol w="422189"/>
                <a:gridCol w="422189"/>
                <a:gridCol w="422189"/>
                <a:gridCol w="1288789"/>
                <a:gridCol w="1288789"/>
              </a:tblGrid>
              <a:tr h="259080">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 = ABC</a:t>
                      </a:r>
                    </a:p>
                  </a:txBody>
                  <a:tcPr marL="73152" marR="73152" marT="27432" marB="27432" anchor="ctr">
                    <a:solidFill>
                      <a:srgbClr val="0F4C5C"/>
                    </a:solidFill>
                  </a:tcPr>
                </a:tc>
                <a:tc>
                  <a:txBody>
                    <a:bodyPr/>
                    <a:lstStyle/>
                    <a:p>
                      <a:pPr algn="ctr"/>
                      <a:r>
                        <a:rPr sz="1200" b="1">
                          <a:solidFill>
                            <a:srgbClr val="FFFFFF"/>
                          </a:solidFill>
                          <a:latin typeface="Calibri"/>
                        </a:rPr>
                        <a:t>F = BCD</a:t>
                      </a:r>
                    </a:p>
                  </a:txBody>
                  <a:tcPr marL="73152" marR="73152" marT="27432" marB="27432" anchor="ctr">
                    <a:solidFill>
                      <a:srgbClr val="0F4C5C"/>
                    </a:solidFill>
                  </a:tcPr>
                </a:tc>
              </a:tr>
              <a:tr h="259080">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13</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14</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59080">
                <a:tc>
                  <a:txBody>
                    <a:bodyPr/>
                    <a:lstStyle/>
                    <a:p>
                      <a:pPr algn="ctr"/>
                      <a:r>
                        <a:rPr sz="1200" b="0">
                          <a:solidFill>
                            <a:srgbClr val="142B33"/>
                          </a:solidFill>
                          <a:latin typeface="Calibri"/>
                        </a:rPr>
                        <a:t>15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59080">
                <a:tc>
                  <a:txBody>
                    <a:bodyPr/>
                    <a:lstStyle/>
                    <a:p>
                      <a:pPr algn="ctr"/>
                      <a:r>
                        <a:rPr sz="1200" b="0">
                          <a:solidFill>
                            <a:srgbClr val="142B33"/>
                          </a:solidFill>
                          <a:latin typeface="Calibri"/>
                        </a:rPr>
                        <a:t>16</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6515246" y="1417320"/>
            <a:ext cx="5127808" cy="1238504"/>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Escribir el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A, B, C, D (diseño básico)</a:t>
            </a:r>
          </a:p>
          <a:p>
            <a:pPr marL="320040" indent="-320040">
              <a:spcAft>
                <a:spcPts val="600"/>
              </a:spcAft>
              <a:buClr>
                <a:srgbClr val="E36414"/>
              </a:buClr>
              <a:buFont typeface="+mj-lt"/>
              <a:buAutoNum type="arabicPeriod"/>
            </a:pPr>
            <a:r>
              <a:rPr sz="1600" b="0">
                <a:solidFill>
                  <a:srgbClr val="142B33"/>
                </a:solidFill>
                <a:latin typeface="Calibri"/>
              </a:rPr>
              <a:t>Agregar </a:t>
            </a:r>
            <a:r>
              <a:rPr sz="1600" b="1">
                <a:solidFill>
                  <a:srgbClr val="142B33"/>
                </a:solidFill>
                <a:latin typeface="Calibri"/>
              </a:rPr>
              <a:t>E = ABC</a:t>
            </a:r>
            <a:r>
              <a:rPr sz="1600" b="0">
                <a:solidFill>
                  <a:srgbClr val="142B33"/>
                </a:solidFill>
                <a:latin typeface="Calibri"/>
              </a:rPr>
              <a:t> y </a:t>
            </a:r>
            <a:r>
              <a:rPr sz="1600" b="1">
                <a:solidFill>
                  <a:srgbClr val="142B33"/>
                </a:solidFill>
                <a:latin typeface="Calibri"/>
              </a:rPr>
              <a:t>F = BCD</a:t>
            </a:r>
          </a:p>
          <a:p>
            <a:pPr marL="320040" indent="-320040">
              <a:spcAft>
                <a:spcPts val="600"/>
              </a:spcAft>
              <a:buClr>
                <a:srgbClr val="E36414"/>
              </a:buClr>
              <a:buFont typeface="+mj-lt"/>
              <a:buAutoNum type="arabicPeriod"/>
            </a:pPr>
            <a:r>
              <a:rPr sz="1600" b="0">
                <a:solidFill>
                  <a:srgbClr val="142B33"/>
                </a:solidFill>
                <a:latin typeface="Calibri"/>
              </a:rPr>
              <a:t>Con todos los signos positivos: </a:t>
            </a:r>
            <a:r>
              <a:rPr sz="1600" b="1">
                <a:solidFill>
                  <a:srgbClr val="142B33"/>
                </a:solidFill>
                <a:latin typeface="Calibri"/>
              </a:rPr>
              <a:t>fracción principal</a:t>
            </a:r>
          </a:p>
        </p:txBody>
      </p:sp>
      <p:sp>
        <p:nvSpPr>
          <p:cNvPr id="5" name="Rounded Rectangle 4"/>
          <p:cNvSpPr/>
          <p:nvPr/>
        </p:nvSpPr>
        <p:spPr>
          <a:xfrm>
            <a:off x="6515246" y="2856992"/>
            <a:ext cx="5127808"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I = ABCE,   I = BCDF</a:t>
            </a:r>
          </a:p>
        </p:txBody>
      </p:sp>
      <p:sp>
        <p:nvSpPr>
          <p:cNvPr id="6" name="Rounded Rectangle 5"/>
          <p:cNvSpPr/>
          <p:nvPr/>
        </p:nvSpPr>
        <p:spPr>
          <a:xfrm>
            <a:off x="6515246" y="3679545"/>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Alternativa: 4 bloques del 2</a:t>
            </a:r>
            <a:r>
              <a:rPr sz="1400" b="0" baseline="30000">
                <a:solidFill>
                  <a:srgbClr val="142B33"/>
                </a:solidFill>
                <a:latin typeface="Calibri"/>
              </a:rPr>
              <a:t>6</a:t>
            </a:r>
            <a:r>
              <a:rPr sz="1400" b="0">
                <a:solidFill>
                  <a:srgbClr val="142B33"/>
                </a:solidFill>
                <a:latin typeface="Calibri"/>
              </a:rPr>
              <a:t> con ABCE y BCDF confundidas; se toma el bloque en que ambas son +</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40</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¿Cuáles son las fracciones alternas del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11094414" cy="1833880"/>
        </p:xfrm>
        <a:graphic>
          <a:graphicData uri="http://schemas.openxmlformats.org/drawingml/2006/table">
            <a:tbl>
              <a:tblPr firstRow="0" bandRow="0">
                <a:tableStyleId>{5C22544A-7EE6-4342-B048-85BDC9FD1C3A}</a:tableStyleId>
              </a:tblPr>
              <a:tblGrid>
                <a:gridCol w="3328324"/>
                <a:gridCol w="3328324"/>
                <a:gridCol w="4437766"/>
              </a:tblGrid>
              <a:tr h="366776">
                <a:tc>
                  <a:txBody>
                    <a:bodyPr/>
                    <a:lstStyle/>
                    <a:p>
                      <a:pPr algn="l"/>
                      <a:r>
                        <a:rPr sz="1600" b="1">
                          <a:solidFill>
                            <a:srgbClr val="FFFFFF"/>
                          </a:solidFill>
                          <a:latin typeface="Calibri"/>
                        </a:rPr>
                        <a:t>Generadores</a:t>
                      </a:r>
                    </a:p>
                  </a:txBody>
                  <a:tcPr marL="73152" marR="73152" marT="27432" marB="27432" anchor="ctr">
                    <a:solidFill>
                      <a:srgbClr val="0F4C5C"/>
                    </a:solidFill>
                  </a:tcPr>
                </a:tc>
                <a:tc>
                  <a:txBody>
                    <a:bodyPr/>
                    <a:lstStyle/>
                    <a:p>
                      <a:pPr algn="ctr"/>
                      <a:r>
                        <a:rPr sz="1600" b="1">
                          <a:solidFill>
                            <a:srgbClr val="FFFFFF"/>
                          </a:solidFill>
                          <a:latin typeface="Calibri"/>
                        </a:rPr>
                        <a:t>Cómo se construye</a:t>
                      </a:r>
                    </a:p>
                  </a:txBody>
                  <a:tcPr marL="73152" marR="73152" marT="27432" marB="27432" anchor="ctr">
                    <a:solidFill>
                      <a:srgbClr val="0F4C5C"/>
                    </a:solidFill>
                  </a:tcPr>
                </a:tc>
                <a:tc>
                  <a:txBody>
                    <a:bodyPr/>
                    <a:lstStyle/>
                    <a:p>
                      <a:pPr algn="l"/>
                      <a:r>
                        <a:rPr sz="1600" b="1">
                          <a:solidFill>
                            <a:srgbClr val="FFFFFF"/>
                          </a:solidFill>
                          <a:latin typeface="Calibri"/>
                        </a:rPr>
                        <a:t>Relación de definición completa</a:t>
                      </a:r>
                    </a:p>
                  </a:txBody>
                  <a:tcPr marL="73152" marR="73152" marT="27432" marB="27432" anchor="ctr">
                    <a:solidFill>
                      <a:srgbClr val="0F4C5C"/>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  (principal)</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DE8D7"/>
                    </a:solidFill>
                  </a:tcPr>
                </a:tc>
                <a:tc>
                  <a:txBody>
                    <a:bodyPr/>
                    <a:lstStyle/>
                    <a:p>
                      <a:pPr algn="ctr"/>
                      <a:r>
                        <a:rPr sz="1600" b="0">
                          <a:solidFill>
                            <a:srgbClr val="142B33"/>
                          </a:solidFill>
                          <a:latin typeface="Calibri"/>
                        </a:rPr>
                        <a:t>E = ABC,  F = −BCD</a:t>
                      </a:r>
                    </a:p>
                  </a:txBody>
                  <a:tcPr marL="73152" marR="73152" marT="27432" marB="27432" anchor="ctr">
                    <a:solidFill>
                      <a:srgbClr val="FDE8D7"/>
                    </a:solidFill>
                  </a:tcPr>
                </a:tc>
                <a:tc>
                  <a:txBody>
                    <a:bodyPr/>
                    <a:lstStyle/>
                    <a:p>
                      <a:pPr algn="l"/>
                      <a:r>
                        <a:rPr sz="1600" b="0">
                          <a:solidFill>
                            <a:srgbClr val="142B33"/>
                          </a:solidFill>
                          <a:latin typeface="Calibri"/>
                        </a:rPr>
                        <a:t>I = ABCE = −BCDF = −ADEF</a:t>
                      </a:r>
                    </a:p>
                  </a:txBody>
                  <a:tcPr marL="73152" marR="73152" marT="27432" marB="27432" anchor="ctr">
                    <a:solidFill>
                      <a:srgbClr val="FDE8D7"/>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FFFFF"/>
                    </a:solidFill>
                  </a:tcPr>
                </a:tc>
                <a:tc>
                  <a:txBody>
                    <a:bodyPr/>
                    <a:lstStyle/>
                    <a:p>
                      <a:pPr algn="ctr"/>
                      <a:r>
                        <a:rPr sz="1600" b="0">
                          <a:solidFill>
                            <a:srgbClr val="142B33"/>
                          </a:solidFill>
                          <a:latin typeface="Calibri"/>
                        </a:rPr>
                        <a:t>E = −ABC,  F = BCD</a:t>
                      </a:r>
                    </a:p>
                  </a:txBody>
                  <a:tcPr marL="73152" marR="73152" marT="27432" marB="27432" anchor="ctr">
                    <a:solidFill>
                      <a:srgbClr val="FFFFFF"/>
                    </a:solidFill>
                  </a:tcPr>
                </a:tc>
                <a:tc>
                  <a:txBody>
                    <a:bodyPr/>
                    <a:lstStyle/>
                    <a:p>
                      <a:pPr algn="l"/>
                      <a:r>
                        <a:rPr sz="1600" b="0">
                          <a:solidFill>
                            <a:srgbClr val="142B33"/>
                          </a:solidFill>
                          <a:latin typeface="Calibri"/>
                        </a:rPr>
                        <a:t>I = −ABCE = BCDF = −ADEF</a:t>
                      </a:r>
                    </a:p>
                  </a:txBody>
                  <a:tcPr marL="73152" marR="73152" marT="27432" marB="27432" anchor="ctr">
                    <a:solidFill>
                      <a:srgbClr val="FFFFFF"/>
                    </a:solidFill>
                  </a:tcPr>
                </a:tc>
              </a:tr>
              <a:tr h="366776">
                <a:tc>
                  <a:txBody>
                    <a:bodyPr/>
                    <a:lstStyle/>
                    <a:p>
                      <a:pPr algn="l"/>
                      <a:r>
                        <a:rPr sz="1600" b="0">
                          <a:solidFill>
                            <a:srgbClr val="142B33"/>
                          </a:solidFill>
                          <a:latin typeface="Calibri"/>
                        </a:rPr>
                        <a:t>I = −ABCE,  I = −BCDF</a:t>
                      </a:r>
                    </a:p>
                  </a:txBody>
                  <a:tcPr marL="73152" marR="73152" marT="27432" marB="27432" anchor="ctr">
                    <a:solidFill>
                      <a:srgbClr val="F4F8F9"/>
                    </a:solidFill>
                  </a:tcPr>
                </a:tc>
                <a:tc>
                  <a:txBody>
                    <a:bodyPr/>
                    <a:lstStyle/>
                    <a:p>
                      <a:pPr algn="ctr"/>
                      <a:r>
                        <a:rPr sz="1600" b="0">
                          <a:solidFill>
                            <a:srgbClr val="142B33"/>
                          </a:solidFill>
                          <a:latin typeface="Calibri"/>
                        </a:rPr>
                        <a:t>E = −ABC,  F = −BCD</a:t>
                      </a:r>
                    </a:p>
                  </a:txBody>
                  <a:tcPr marL="73152" marR="73152" marT="27432" marB="27432" anchor="ctr">
                    <a:solidFill>
                      <a:srgbClr val="F4F8F9"/>
                    </a:solidFill>
                  </a:tcPr>
                </a:tc>
                <a:tc>
                  <a:txBody>
                    <a:bodyPr/>
                    <a:lstStyle/>
                    <a:p>
                      <a:pPr algn="l"/>
                      <a:r>
                        <a:rPr sz="1600" b="0">
                          <a:solidFill>
                            <a:srgbClr val="142B33"/>
                          </a:solidFill>
                          <a:latin typeface="Calibri"/>
                        </a:rPr>
                        <a:t>I = −ABCE = −BCDF = ADEF</a:t>
                      </a:r>
                    </a:p>
                  </a:txBody>
                  <a:tcPr marL="73152" marR="73152" marT="27432" marB="27432" anchor="ctr">
                    <a:solidFill>
                      <a:srgbClr val="F4F8F9"/>
                    </a:solidFill>
                  </a:tcPr>
                </a:tc>
              </a:tr>
            </a:tbl>
          </a:graphicData>
        </a:graphic>
      </p:graphicFrame>
      <p:sp>
        <p:nvSpPr>
          <p:cNvPr id="4" name="Rounded Rectangle 3"/>
          <p:cNvSpPr/>
          <p:nvPr/>
        </p:nvSpPr>
        <p:spPr>
          <a:xfrm>
            <a:off x="548640" y="3452368"/>
            <a:ext cx="11094415"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Con F = −BCD:   A = BCE = −DEF = −ABCDF   ⇒   ℓ</a:t>
            </a:r>
            <a:r>
              <a:rPr sz="1700" b="0" baseline="-25000">
                <a:solidFill>
                  <a:srgbClr val="0F4C5C"/>
                </a:solidFill>
                <a:latin typeface="Cambria Math"/>
              </a:rPr>
              <a:t>A</a:t>
            </a:r>
            <a:r>
              <a:rPr sz="1700" b="0">
                <a:solidFill>
                  <a:srgbClr val="0F4C5C"/>
                </a:solidFill>
                <a:latin typeface="Cambria Math"/>
              </a:rPr>
              <a:t> → A + BCE − DEF − ABCDF</a:t>
            </a:r>
          </a:p>
        </p:txBody>
      </p:sp>
      <p:sp>
        <p:nvSpPr>
          <p:cNvPr id="5" name="Rounded Rectangle 4"/>
          <p:cNvSpPr/>
          <p:nvPr/>
        </p:nvSpPr>
        <p:spPr>
          <a:xfrm>
            <a:off x="548640" y="4222861"/>
            <a:ext cx="11094415"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El signo de la interacción generalizada es el </a:t>
            </a:r>
            <a:r>
              <a:rPr sz="1500" b="1">
                <a:solidFill>
                  <a:srgbClr val="142B33"/>
                </a:solidFill>
                <a:latin typeface="Calibri"/>
              </a:rPr>
              <a:t>producto</a:t>
            </a:r>
            <a:r>
              <a:rPr sz="1500" b="0">
                <a:solidFill>
                  <a:srgbClr val="142B33"/>
                </a:solidFill>
                <a:latin typeface="Calibri"/>
              </a:rPr>
              <a:t> de los signos de los generadores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41</a:t>
            </a:r>
          </a:p>
        </p:txBody>
      </p:sp>
      <p:sp>
        <p:nvSpPr>
          <p:cNvPr id="8" name="Rounded Rectangle 7"/>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sabe qué factores importan antes de correr?</a:t>
            </a:r>
          </a:p>
        </p:txBody>
      </p:sp>
      <p:sp>
        <p:nvSpPr>
          <p:cNvPr id="3" name="Rounded Rectangle 2"/>
          <p:cNvSpPr/>
          <p:nvPr/>
        </p:nvSpPr>
        <p:spPr>
          <a:xfrm>
            <a:off x="548640" y="1417320"/>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 · Antes de correr</a:t>
            </a:r>
          </a:p>
          <a:p>
            <a:pPr algn="l"/>
            <a:r>
              <a:rPr sz="1500" b="0">
                <a:solidFill>
                  <a:srgbClr val="142B33"/>
                </a:solidFill>
                <a:latin typeface="Calibri"/>
              </a:rPr>
              <a:t>Supuestos: </a:t>
            </a:r>
            <a:r>
              <a:rPr sz="1500" b="1">
                <a:solidFill>
                  <a:srgbClr val="142B33"/>
                </a:solidFill>
                <a:latin typeface="Calibri"/>
              </a:rPr>
              <a:t>escasez de efectos</a:t>
            </a:r>
            <a:r>
              <a:rPr sz="1500" b="0">
                <a:solidFill>
                  <a:srgbClr val="142B33"/>
                </a:solidFill>
                <a:latin typeface="Calibri"/>
              </a:rPr>
              <a:t> y </a:t>
            </a:r>
            <a:r>
              <a:rPr sz="1500" b="1">
                <a:solidFill>
                  <a:srgbClr val="142B33"/>
                </a:solidFill>
                <a:latin typeface="Calibri"/>
              </a:rPr>
              <a:t>jerarquía</a:t>
            </a:r>
            <a:r>
              <a:rPr sz="1500" b="0">
                <a:solidFill>
                  <a:srgbClr val="142B33"/>
                </a:solidFill>
                <a:latin typeface="Calibri"/>
              </a:rPr>
              <a:t>  →  se elige la </a:t>
            </a:r>
            <a:r>
              <a:rPr sz="1500" b="1">
                <a:solidFill>
                  <a:srgbClr val="142B33"/>
                </a:solidFill>
                <a:latin typeface="Calibri"/>
              </a:rPr>
              <a:t>resolución</a:t>
            </a:r>
            <a:r>
              <a:rPr sz="1500" b="0">
                <a:solidFill>
                  <a:srgbClr val="142B33"/>
                </a:solidFill>
                <a:latin typeface="Calibri"/>
              </a:rPr>
              <a:t> y la asignación de columnas</a:t>
            </a:r>
          </a:p>
        </p:txBody>
      </p:sp>
      <p:sp>
        <p:nvSpPr>
          <p:cNvPr id="4" name="Rounded Rectangle 3"/>
          <p:cNvSpPr/>
          <p:nvPr/>
        </p:nvSpPr>
        <p:spPr>
          <a:xfrm>
            <a:off x="3600747" y="1417320"/>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2 · Se corre la fracción</a:t>
            </a:r>
          </a:p>
          <a:p>
            <a:pPr algn="l"/>
            <a:r>
              <a:rPr sz="1500" b="1">
                <a:solidFill>
                  <a:srgbClr val="142B33"/>
                </a:solidFill>
                <a:latin typeface="Calibri"/>
              </a:rPr>
              <a:t>Una sola vez</a:t>
            </a:r>
            <a:r>
              <a:rPr sz="1500" b="0">
                <a:solidFill>
                  <a:srgbClr val="142B33"/>
                </a:solidFill>
                <a:latin typeface="Calibri"/>
              </a:rPr>
              <a:t>: 2</a:t>
            </a:r>
            <a:r>
              <a:rPr sz="1500" b="0" baseline="30000">
                <a:solidFill>
                  <a:srgbClr val="142B33"/>
                </a:solidFill>
                <a:latin typeface="Calibri"/>
              </a:rPr>
              <a:t>k−p</a:t>
            </a:r>
            <a:r>
              <a:rPr sz="1500" b="0">
                <a:solidFill>
                  <a:srgbClr val="142B33"/>
                </a:solidFill>
                <a:latin typeface="Calibri"/>
              </a:rPr>
              <a:t> corridas, sin el factorial completo</a:t>
            </a:r>
          </a:p>
        </p:txBody>
      </p:sp>
      <p:sp>
        <p:nvSpPr>
          <p:cNvPr id="5" name="Rounded Rectangle 4"/>
          <p:cNvSpPr/>
          <p:nvPr/>
        </p:nvSpPr>
        <p:spPr>
          <a:xfrm>
            <a:off x="548640" y="3546601"/>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3 · Gráfica de Daniel</a:t>
            </a:r>
          </a:p>
          <a:p>
            <a:pPr algn="l"/>
            <a:r>
              <a:rPr sz="1500" b="0">
                <a:solidFill>
                  <a:srgbClr val="142B33"/>
                </a:solidFill>
                <a:latin typeface="Calibri"/>
              </a:rPr>
              <a:t>Con los efectos de la </a:t>
            </a:r>
            <a:r>
              <a:rPr sz="1500" b="1">
                <a:solidFill>
                  <a:srgbClr val="142B33"/>
                </a:solidFill>
                <a:latin typeface="Calibri"/>
              </a:rPr>
              <a:t>propia fracción</a:t>
            </a:r>
            <a:r>
              <a:rPr sz="1500" b="0">
                <a:solidFill>
                  <a:srgbClr val="142B33"/>
                </a:solidFill>
                <a:latin typeface="Calibri"/>
              </a:rPr>
              <a:t> se ve qué factores son activos</a:t>
            </a:r>
          </a:p>
        </p:txBody>
      </p:sp>
      <p:sp>
        <p:nvSpPr>
          <p:cNvPr id="6" name="Rounded Rectangle 5"/>
          <p:cNvSpPr/>
          <p:nvPr/>
        </p:nvSpPr>
        <p:spPr>
          <a:xfrm>
            <a:off x="3600747" y="3546601"/>
            <a:ext cx="2823507" cy="1900681"/>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4 · Proyección</a:t>
            </a:r>
          </a:p>
          <a:p>
            <a:pPr algn="l"/>
            <a:r>
              <a:rPr sz="1500" b="0">
                <a:solidFill>
                  <a:srgbClr val="142B33"/>
                </a:solidFill>
                <a:latin typeface="Calibri"/>
              </a:rPr>
              <a:t>¿Qué diseño forman las corridas </a:t>
            </a:r>
            <a:r>
              <a:rPr sz="1500" b="1">
                <a:solidFill>
                  <a:srgbClr val="142B33"/>
                </a:solidFill>
                <a:latin typeface="Calibri"/>
              </a:rPr>
              <a:t>ya hechas</a:t>
            </a:r>
            <a:r>
              <a:rPr sz="1500" b="0">
                <a:solidFill>
                  <a:srgbClr val="142B33"/>
                </a:solidFill>
                <a:latin typeface="Calibri"/>
              </a:rPr>
              <a:t> en los factores activos?</a:t>
            </a:r>
          </a:p>
        </p:txBody>
      </p:sp>
      <p:graphicFrame>
        <p:nvGraphicFramePr>
          <p:cNvPr id="7" name="Table 6"/>
          <p:cNvGraphicFramePr>
            <a:graphicFrameLocks noGrp="1"/>
          </p:cNvGraphicFramePr>
          <p:nvPr/>
        </p:nvGraphicFramePr>
        <p:xfrm>
          <a:off x="6835734" y="1417320"/>
          <a:ext cx="4807320" cy="1518666"/>
        </p:xfrm>
        <a:graphic>
          <a:graphicData uri="http://schemas.openxmlformats.org/drawingml/2006/table">
            <a:tbl>
              <a:tblPr firstRow="0" bandRow="0">
                <a:tableStyleId>{5C22544A-7EE6-4342-B048-85BDC9FD1C3A}</a:tableStyleId>
              </a:tblPr>
              <a:tblGrid>
                <a:gridCol w="2163294"/>
                <a:gridCol w="2644026"/>
              </a:tblGrid>
              <a:tr h="351282">
                <a:tc>
                  <a:txBody>
                    <a:bodyPr/>
                    <a:lstStyle/>
                    <a:p>
                      <a:pPr algn="l"/>
                      <a:r>
                        <a:rPr sz="1500" b="1">
                          <a:solidFill>
                            <a:srgbClr val="FFFFFF"/>
                          </a:solidFill>
                          <a:latin typeface="Calibri"/>
                        </a:rPr>
                        <a:t>Los activos…</a:t>
                      </a:r>
                    </a:p>
                  </a:txBody>
                  <a:tcPr marL="73152" marR="73152" marT="27432" marB="27432" anchor="ctr">
                    <a:solidFill>
                      <a:srgbClr val="0F4C5C"/>
                    </a:solidFill>
                  </a:tcPr>
                </a:tc>
                <a:tc>
                  <a:txBody>
                    <a:bodyPr/>
                    <a:lstStyle/>
                    <a:p>
                      <a:pPr algn="l"/>
                      <a:r>
                        <a:rPr sz="1500" b="1">
                          <a:solidFill>
                            <a:srgbClr val="FFFFFF"/>
                          </a:solidFill>
                          <a:latin typeface="Calibri"/>
                        </a:rPr>
                        <a:t>Resultado</a:t>
                      </a:r>
                    </a:p>
                  </a:txBody>
                  <a:tcPr marL="73152" marR="73152" marT="27432" marB="27432" anchor="ctr">
                    <a:solidFill>
                      <a:srgbClr val="0F4C5C"/>
                    </a:solidFill>
                  </a:tcPr>
                </a:tc>
              </a:tr>
              <a:tr h="583692">
                <a:tc>
                  <a:txBody>
                    <a:bodyPr/>
                    <a:lstStyle/>
                    <a:p>
                      <a:pPr algn="l"/>
                      <a:r>
                        <a:rPr sz="1500" b="1">
                          <a:solidFill>
                            <a:srgbClr val="142B33"/>
                          </a:solidFill>
                          <a:latin typeface="Calibri"/>
                        </a:rPr>
                        <a:t>No</a:t>
                      </a:r>
                      <a:r>
                        <a:rPr sz="1500" b="0">
                          <a:solidFill>
                            <a:srgbClr val="142B33"/>
                          </a:solidFill>
                          <a:latin typeface="Calibri"/>
                        </a:rPr>
                        <a:t> forman una palabra</a:t>
                      </a:r>
                    </a:p>
                  </a:txBody>
                  <a:tcPr marL="73152" marR="73152" marT="27432" marB="27432" anchor="ctr">
                    <a:solidFill>
                      <a:srgbClr val="FFFFFF"/>
                    </a:solidFill>
                  </a:tcPr>
                </a:tc>
                <a:tc>
                  <a:txBody>
                    <a:bodyPr/>
                    <a:lstStyle/>
                    <a:p>
                      <a:pPr algn="l"/>
                      <a:r>
                        <a:rPr sz="1500" b="0">
                          <a:solidFill>
                            <a:srgbClr val="142B33"/>
                          </a:solidFill>
                          <a:latin typeface="Calibri"/>
                        </a:rPr>
                        <a:t>Factorial </a:t>
                      </a:r>
                      <a:r>
                        <a:rPr sz="1500" b="1">
                          <a:solidFill>
                            <a:srgbClr val="142B33"/>
                          </a:solidFill>
                          <a:latin typeface="Calibri"/>
                        </a:rPr>
                        <a:t>completo</a:t>
                      </a:r>
                      <a:r>
                        <a:rPr sz="1500" b="0">
                          <a:solidFill>
                            <a:srgbClr val="142B33"/>
                          </a:solidFill>
                          <a:latin typeface="Calibri"/>
                        </a:rPr>
                        <a:t> en ellos: listo</a:t>
                      </a:r>
                    </a:p>
                  </a:txBody>
                  <a:tcPr marL="73152" marR="73152" marT="27432" marB="27432" anchor="ctr">
                    <a:solidFill>
                      <a:srgbClr val="FFFFFF"/>
                    </a:solidFill>
                  </a:tcPr>
                </a:tc>
              </a:tr>
              <a:tr h="583692">
                <a:tc>
                  <a:txBody>
                    <a:bodyPr/>
                    <a:lstStyle/>
                    <a:p>
                      <a:pPr algn="l"/>
                      <a:r>
                        <a:rPr sz="1500" b="1">
                          <a:solidFill>
                            <a:srgbClr val="142B33"/>
                          </a:solidFill>
                          <a:latin typeface="Calibri"/>
                        </a:rPr>
                        <a:t>Sí</a:t>
                      </a:r>
                      <a:r>
                        <a:rPr sz="1500" b="0">
                          <a:solidFill>
                            <a:srgbClr val="142B33"/>
                          </a:solidFill>
                          <a:latin typeface="Calibri"/>
                        </a:rPr>
                        <a:t> forman una palabra</a:t>
                      </a:r>
                    </a:p>
                  </a:txBody>
                  <a:tcPr marL="73152" marR="73152" marT="27432" marB="27432" anchor="ctr">
                    <a:solidFill>
                      <a:srgbClr val="F4F8F9"/>
                    </a:solidFill>
                  </a:tcPr>
                </a:tc>
                <a:tc>
                  <a:txBody>
                    <a:bodyPr/>
                    <a:lstStyle/>
                    <a:p>
                      <a:pPr algn="l"/>
                      <a:r>
                        <a:rPr sz="1500" b="0">
                          <a:solidFill>
                            <a:srgbClr val="142B33"/>
                          </a:solidFill>
                          <a:latin typeface="Calibri"/>
                        </a:rPr>
                        <a:t>Ambigüedad entre alias  →  </a:t>
                      </a:r>
                      <a:r>
                        <a:rPr sz="1500" b="1">
                          <a:solidFill>
                            <a:srgbClr val="142B33"/>
                          </a:solidFill>
                          <a:latin typeface="Calibri"/>
                        </a:rPr>
                        <a:t>doblez</a:t>
                      </a:r>
                      <a:r>
                        <a:rPr sz="1500" b="0">
                          <a:solidFill>
                            <a:srgbClr val="142B33"/>
                          </a:solidFill>
                          <a:latin typeface="Calibri"/>
                        </a:rPr>
                        <a:t> o fracción alterna</a:t>
                      </a:r>
                    </a:p>
                  </a:txBody>
                  <a:tcPr marL="73152" marR="73152" marT="27432" marB="27432" anchor="ctr">
                    <a:solidFill>
                      <a:srgbClr val="F4F8F9"/>
                    </a:solidFill>
                  </a:tcPr>
                </a:tc>
              </a:tr>
            </a:tbl>
          </a:graphicData>
        </a:graphic>
      </p:graphicFrame>
      <p:sp>
        <p:nvSpPr>
          <p:cNvPr id="8" name="Rounded Rectangle 7"/>
          <p:cNvSpPr/>
          <p:nvPr/>
        </p:nvSpPr>
        <p:spPr>
          <a:xfrm>
            <a:off x="6835734" y="3137154"/>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 proyección </a:t>
            </a:r>
            <a:r>
              <a:rPr sz="1500" b="1">
                <a:solidFill>
                  <a:srgbClr val="142B33"/>
                </a:solidFill>
                <a:latin typeface="Calibri"/>
              </a:rPr>
              <a:t>no se planea</a:t>
            </a:r>
            <a:r>
              <a:rPr sz="1500" b="0">
                <a:solidFill>
                  <a:srgbClr val="142B33"/>
                </a:solidFill>
                <a:latin typeface="Calibri"/>
              </a:rPr>
              <a:t>: es lo que vale lo ya corrido una vez se sabe qué importa</a:t>
            </a:r>
          </a:p>
        </p:txBody>
      </p:sp>
      <p:sp>
        <p:nvSpPr>
          <p:cNvPr id="9" name="Rounded Rectangle 8"/>
          <p:cNvSpPr/>
          <p:nvPr/>
        </p:nvSpPr>
        <p:spPr>
          <a:xfrm>
            <a:off x="6835734" y="4077462"/>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corridas nuevas </a:t>
            </a:r>
            <a:r>
              <a:rPr sz="1500" b="1">
                <a:solidFill>
                  <a:srgbClr val="142B33"/>
                </a:solidFill>
                <a:latin typeface="Calibri"/>
              </a:rPr>
              <a:t>se suman</a:t>
            </a:r>
            <a:r>
              <a:rPr sz="1500" b="0">
                <a:solidFill>
                  <a:srgbClr val="142B33"/>
                </a:solidFill>
                <a:latin typeface="Calibri"/>
              </a:rPr>
              <a:t> a las anteriores: nunca se empieza de cero</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42</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Enunciado: el sabor de un café</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tienda de café quiere mejorar el </a:t>
            </a:r>
            <a:r>
              <a:rPr sz="1600" b="1">
                <a:solidFill>
                  <a:srgbClr val="142B33"/>
                </a:solidFill>
                <a:latin typeface="Calibri"/>
              </a:rPr>
              <a:t>puntaje de sabor</a:t>
            </a:r>
            <a:r>
              <a:rPr sz="1600" b="0">
                <a:solidFill>
                  <a:srgbClr val="142B33"/>
                </a:solidFill>
                <a:latin typeface="Calibri"/>
              </a:rPr>
              <a:t> de su bebida (0 a 100, promedio de un panel de catadores). Se sospecha de tres factores, cada uno a dos niveles: A temperatura del agua (88 o 96 °C), B molienda (gruesa o fina) y C tiempo de infusión (3 o 4 min).</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Cada preparación consume un lote de café y una sesión del panel, así que solo hay presupuesto para </a:t>
            </a:r>
            <a:r>
              <a:rPr sz="1600" b="1">
                <a:solidFill>
                  <a:srgbClr val="142B33"/>
                </a:solidFill>
                <a:latin typeface="Calibri"/>
              </a:rPr>
              <a:t>4 corridas</a:t>
            </a:r>
            <a:r>
              <a:rPr sz="1600" b="0">
                <a:solidFill>
                  <a:srgbClr val="142B33"/>
                </a:solidFill>
                <a:latin typeface="Calibri"/>
              </a:rPr>
              <a:t>, la mitad de las 8 del factorial 2</a:t>
            </a:r>
            <a:r>
              <a:rPr sz="1600" b="0" baseline="30000">
                <a:solidFill>
                  <a:srgbClr val="142B33"/>
                </a:solidFill>
                <a:latin typeface="Calibri"/>
              </a:rPr>
              <a:t>3</a:t>
            </a:r>
            <a:r>
              <a:rPr sz="1600" b="0">
                <a:solidFill>
                  <a:srgbClr val="142B33"/>
                </a:solidFill>
                <a:latin typeface="Calibri"/>
              </a:rPr>
              <a:t>. Se corre la fracción un medio con </a:t>
            </a:r>
            <a:r>
              <a:rPr sz="1600" b="1">
                <a:solidFill>
                  <a:srgbClr val="142B33"/>
                </a:solidFill>
                <a:latin typeface="Calibri"/>
              </a:rPr>
              <a:t>C = AB</a:t>
            </a:r>
            <a:r>
              <a:rPr sz="1600" b="0">
                <a:solidFill>
                  <a:srgbClr val="142B33"/>
                </a:solidFill>
                <a:latin typeface="Calibri"/>
              </a:rPr>
              <a:t> (I = ABC): las preparaciones a, b, c y abc. Si hace falta, más adelante se pueden pagar 4 corridas más.</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Se analizan dos situaciones posibles. </a:t>
            </a:r>
            <a:r>
              <a:rPr sz="1600" b="1">
                <a:solidFill>
                  <a:srgbClr val="142B33"/>
                </a:solidFill>
                <a:latin typeface="Calibri"/>
              </a:rPr>
              <a:t>Caso 1</a:t>
            </a:r>
            <a:r>
              <a:rPr sz="1600" b="0">
                <a:solidFill>
                  <a:srgbClr val="142B33"/>
                </a:solidFill>
                <a:latin typeface="Calibri"/>
              </a:rPr>
              <a:t>: el tiempo de infusión no influye en el sabor. </a:t>
            </a:r>
            <a:r>
              <a:rPr sz="1600" b="1">
                <a:solidFill>
                  <a:srgbClr val="142B33"/>
                </a:solidFill>
                <a:latin typeface="Calibri"/>
              </a:rPr>
              <a:t>Caso 2</a:t>
            </a:r>
            <a:r>
              <a:rPr sz="1600" b="0">
                <a:solidFill>
                  <a:srgbClr val="142B33"/>
                </a:solidFill>
                <a:latin typeface="Calibri"/>
              </a:rPr>
              <a:t>: el tiempo de infusión tampoco influye, pero la temperatura y la molienda interactúan. El experimentador no sabe cuál de las dos es la real; solo ve los cuatro puntajes.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ejemplo construido para la clase, con datos inventados</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Ver, con cuentas a mano, qué se puede concluir con 4 corridas, cuándo la </a:t>
            </a:r>
            <a:r>
              <a:rPr sz="1500" b="1">
                <a:solidFill>
                  <a:srgbClr val="142B33"/>
                </a:solidFill>
                <a:latin typeface="Calibri"/>
              </a:rPr>
              <a:t>proyección</a:t>
            </a:r>
            <a:r>
              <a:rPr sz="1500" b="0">
                <a:solidFill>
                  <a:srgbClr val="142B33"/>
                </a:solidFill>
                <a:latin typeface="Calibri"/>
              </a:rPr>
              <a:t> basta y cuándo hace falta un </a:t>
            </a:r>
            <a:r>
              <a:rPr sz="1500" b="1">
                <a:solidFill>
                  <a:srgbClr val="142B33"/>
                </a:solidFill>
                <a:latin typeface="Calibri"/>
              </a:rPr>
              <a:t>doblez</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fracción, la palabra y los alias</a:t>
            </a:r>
          </a:p>
          <a:p>
            <a:pPr marL="320040" indent="-320040">
              <a:spcAft>
                <a:spcPts val="600"/>
              </a:spcAft>
              <a:buClr>
                <a:srgbClr val="E36414"/>
              </a:buClr>
              <a:buFont typeface="+mj-lt"/>
              <a:buAutoNum type="arabicPeriod"/>
            </a:pPr>
            <a:r>
              <a:rPr sz="1500" b="0">
                <a:solidFill>
                  <a:srgbClr val="142B33"/>
                </a:solidFill>
                <a:latin typeface="Calibri"/>
              </a:rPr>
              <a:t>Caso 1: calcular los contrastes y proyectar en A y B</a:t>
            </a:r>
          </a:p>
          <a:p>
            <a:pPr marL="320040" indent="-320040">
              <a:spcAft>
                <a:spcPts val="600"/>
              </a:spcAft>
              <a:buClr>
                <a:srgbClr val="E36414"/>
              </a:buClr>
              <a:buFont typeface="+mj-lt"/>
              <a:buAutoNum type="arabicPeriod"/>
            </a:pPr>
            <a:r>
              <a:rPr sz="1500" b="0">
                <a:solidFill>
                  <a:srgbClr val="142B33"/>
                </a:solidFill>
                <a:latin typeface="Calibri"/>
              </a:rPr>
              <a:t>Caso 2: identificar la ambigüedad entre C y AB</a:t>
            </a:r>
          </a:p>
          <a:p>
            <a:pPr marL="320040" indent="-320040">
              <a:spcAft>
                <a:spcPts val="600"/>
              </a:spcAft>
              <a:buClr>
                <a:srgbClr val="E36414"/>
              </a:buClr>
              <a:buFont typeface="+mj-lt"/>
              <a:buAutoNum type="arabicPeriod"/>
            </a:pPr>
            <a:r>
              <a:rPr sz="1500" b="0">
                <a:solidFill>
                  <a:srgbClr val="142B33"/>
                </a:solidFill>
                <a:latin typeface="Calibri"/>
              </a:rPr>
              <a:t>Caso 2: correr la fracción alterna y separar C de AB</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43</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didáctico · Una fracción pequeña y su notación</a:t>
            </a:r>
          </a:p>
        </p:txBody>
      </p:sp>
      <p:graphicFrame>
        <p:nvGraphicFramePr>
          <p:cNvPr id="3" name="Table 2"/>
          <p:cNvGraphicFramePr>
            <a:graphicFrameLocks noGrp="1"/>
          </p:cNvGraphicFramePr>
          <p:nvPr/>
        </p:nvGraphicFramePr>
        <p:xfrm>
          <a:off x="548640" y="1417320"/>
          <a:ext cx="5127807" cy="1560067"/>
        </p:xfrm>
        <a:graphic>
          <a:graphicData uri="http://schemas.openxmlformats.org/drawingml/2006/table">
            <a:tbl>
              <a:tblPr firstRow="0" bandRow="0">
                <a:tableStyleId>{5C22544A-7EE6-4342-B048-85BDC9FD1C3A}</a:tableStyleId>
              </a:tblPr>
              <a:tblGrid>
                <a:gridCol w="2153679"/>
                <a:gridCol w="1487064"/>
                <a:gridCol w="1487064"/>
              </a:tblGrid>
              <a:tr h="552703">
                <a:tc>
                  <a:txBody>
                    <a:bodyPr/>
                    <a:lstStyle/>
                    <a:p>
                      <a:pPr algn="l"/>
                      <a:r>
                        <a:rPr sz="1400" b="1">
                          <a:solidFill>
                            <a:srgbClr val="FFFFFF"/>
                          </a:solidFill>
                          <a:latin typeface="Calibri"/>
                        </a:rPr>
                        <a:t>Factor</a:t>
                      </a:r>
                    </a:p>
                  </a:txBody>
                  <a:tcPr marL="73152" marR="73152" marT="27432" marB="27432" anchor="ctr">
                    <a:solidFill>
                      <a:srgbClr val="0F4C5C"/>
                    </a:solidFill>
                  </a:tcPr>
                </a:tc>
                <a:tc>
                  <a:txBody>
                    <a:bodyPr/>
                    <a:lstStyle/>
                    <a:p>
                      <a:pPr algn="ctr"/>
                      <a:r>
                        <a:rPr sz="1400" b="1">
                          <a:solidFill>
                            <a:srgbClr val="FFFFFF"/>
                          </a:solidFill>
                          <a:latin typeface="Calibri"/>
                        </a:rPr>
                        <a:t>Nivel bajo (x = −1)</a:t>
                      </a:r>
                    </a:p>
                  </a:txBody>
                  <a:tcPr marL="73152" marR="73152" marT="27432" marB="27432" anchor="ctr">
                    <a:solidFill>
                      <a:srgbClr val="0F4C5C"/>
                    </a:solidFill>
                  </a:tcPr>
                </a:tc>
                <a:tc>
                  <a:txBody>
                    <a:bodyPr/>
                    <a:lstStyle/>
                    <a:p>
                      <a:pPr algn="ctr"/>
                      <a:r>
                        <a:rPr sz="1400" b="1">
                          <a:solidFill>
                            <a:srgbClr val="FFFFFF"/>
                          </a:solidFill>
                          <a:latin typeface="Calibri"/>
                        </a:rPr>
                        <a:t>Nivel alto (x = +1)</a:t>
                      </a:r>
                    </a:p>
                  </a:txBody>
                  <a:tcPr marL="73152" marR="73152" marT="27432" marB="27432" anchor="ctr">
                    <a:solidFill>
                      <a:srgbClr val="0F4C5C"/>
                    </a:solidFill>
                  </a:tcPr>
                </a:tc>
              </a:tr>
              <a:tr h="335788">
                <a:tc>
                  <a:txBody>
                    <a:bodyPr/>
                    <a:lstStyle/>
                    <a:p>
                      <a:pPr algn="l"/>
                      <a:r>
                        <a:rPr sz="1400" b="0">
                          <a:solidFill>
                            <a:srgbClr val="142B33"/>
                          </a:solidFill>
                          <a:latin typeface="Calibri"/>
                        </a:rPr>
                        <a:t>A  Temperatura del agua</a:t>
                      </a:r>
                    </a:p>
                  </a:txBody>
                  <a:tcPr marL="73152" marR="73152" marT="27432" marB="27432" anchor="ctr">
                    <a:solidFill>
                      <a:srgbClr val="FFFFFF"/>
                    </a:solidFill>
                  </a:tcPr>
                </a:tc>
                <a:tc>
                  <a:txBody>
                    <a:bodyPr/>
                    <a:lstStyle/>
                    <a:p>
                      <a:pPr algn="ctr"/>
                      <a:r>
                        <a:rPr sz="1400" b="0">
                          <a:solidFill>
                            <a:srgbClr val="142B33"/>
                          </a:solidFill>
                          <a:latin typeface="Calibri"/>
                        </a:rPr>
                        <a:t>88 °C</a:t>
                      </a:r>
                    </a:p>
                  </a:txBody>
                  <a:tcPr marL="73152" marR="73152" marT="27432" marB="27432" anchor="ctr">
                    <a:solidFill>
                      <a:srgbClr val="FFFFFF"/>
                    </a:solidFill>
                  </a:tcPr>
                </a:tc>
                <a:tc>
                  <a:txBody>
                    <a:bodyPr/>
                    <a:lstStyle/>
                    <a:p>
                      <a:pPr algn="ctr"/>
                      <a:r>
                        <a:rPr sz="1400" b="0">
                          <a:solidFill>
                            <a:srgbClr val="142B33"/>
                          </a:solidFill>
                          <a:latin typeface="Calibri"/>
                        </a:rPr>
                        <a:t>96 °C</a:t>
                      </a:r>
                    </a:p>
                  </a:txBody>
                  <a:tcPr marL="73152" marR="73152" marT="27432" marB="27432" anchor="ctr">
                    <a:solidFill>
                      <a:srgbClr val="FFFFFF"/>
                    </a:solidFill>
                  </a:tcPr>
                </a:tc>
              </a:tr>
              <a:tr h="335788">
                <a:tc>
                  <a:txBody>
                    <a:bodyPr/>
                    <a:lstStyle/>
                    <a:p>
                      <a:pPr algn="l"/>
                      <a:r>
                        <a:rPr sz="1400" b="0">
                          <a:solidFill>
                            <a:srgbClr val="142B33"/>
                          </a:solidFill>
                          <a:latin typeface="Calibri"/>
                        </a:rPr>
                        <a:t>B  Molienda</a:t>
                      </a:r>
                    </a:p>
                  </a:txBody>
                  <a:tcPr marL="73152" marR="73152" marT="27432" marB="27432" anchor="ctr">
                    <a:solidFill>
                      <a:srgbClr val="F4F8F9"/>
                    </a:solidFill>
                  </a:tcPr>
                </a:tc>
                <a:tc>
                  <a:txBody>
                    <a:bodyPr/>
                    <a:lstStyle/>
                    <a:p>
                      <a:pPr algn="ctr"/>
                      <a:r>
                        <a:rPr sz="1400" b="0">
                          <a:solidFill>
                            <a:srgbClr val="142B33"/>
                          </a:solidFill>
                          <a:latin typeface="Calibri"/>
                        </a:rPr>
                        <a:t>gruesa</a:t>
                      </a:r>
                    </a:p>
                  </a:txBody>
                  <a:tcPr marL="73152" marR="73152" marT="27432" marB="27432" anchor="ctr">
                    <a:solidFill>
                      <a:srgbClr val="F4F8F9"/>
                    </a:solidFill>
                  </a:tcPr>
                </a:tc>
                <a:tc>
                  <a:txBody>
                    <a:bodyPr/>
                    <a:lstStyle/>
                    <a:p>
                      <a:pPr algn="ctr"/>
                      <a:r>
                        <a:rPr sz="1400" b="0">
                          <a:solidFill>
                            <a:srgbClr val="142B33"/>
                          </a:solidFill>
                          <a:latin typeface="Calibri"/>
                        </a:rPr>
                        <a:t>fina</a:t>
                      </a:r>
                    </a:p>
                  </a:txBody>
                  <a:tcPr marL="73152" marR="73152" marT="27432" marB="27432" anchor="ctr">
                    <a:solidFill>
                      <a:srgbClr val="F4F8F9"/>
                    </a:solidFill>
                  </a:tcPr>
                </a:tc>
              </a:tr>
              <a:tr h="335788">
                <a:tc>
                  <a:txBody>
                    <a:bodyPr/>
                    <a:lstStyle/>
                    <a:p>
                      <a:pPr algn="l"/>
                      <a:r>
                        <a:rPr sz="1400" b="0">
                          <a:solidFill>
                            <a:srgbClr val="142B33"/>
                          </a:solidFill>
                          <a:latin typeface="Calibri"/>
                        </a:rPr>
                        <a:t>C  Tiempo de infusión</a:t>
                      </a:r>
                    </a:p>
                  </a:txBody>
                  <a:tcPr marL="73152" marR="73152" marT="27432" marB="27432" anchor="ctr">
                    <a:solidFill>
                      <a:srgbClr val="FFFFFF"/>
                    </a:solidFill>
                  </a:tcPr>
                </a:tc>
                <a:tc>
                  <a:txBody>
                    <a:bodyPr/>
                    <a:lstStyle/>
                    <a:p>
                      <a:pPr algn="ctr"/>
                      <a:r>
                        <a:rPr sz="1400" b="0">
                          <a:solidFill>
                            <a:srgbClr val="142B33"/>
                          </a:solidFill>
                          <a:latin typeface="Calibri"/>
                        </a:rPr>
                        <a:t>3 min</a:t>
                      </a:r>
                    </a:p>
                  </a:txBody>
                  <a:tcPr marL="73152" marR="73152" marT="27432" marB="27432" anchor="ctr">
                    <a:solidFill>
                      <a:srgbClr val="FFFFFF"/>
                    </a:solidFill>
                  </a:tcPr>
                </a:tc>
                <a:tc>
                  <a:txBody>
                    <a:bodyPr/>
                    <a:lstStyle/>
                    <a:p>
                      <a:pPr algn="ctr"/>
                      <a:r>
                        <a:rPr sz="1400" b="0">
                          <a:solidFill>
                            <a:srgbClr val="142B33"/>
                          </a:solidFill>
                          <a:latin typeface="Calibri"/>
                        </a:rPr>
                        <a:t>4 min</a:t>
                      </a:r>
                    </a:p>
                  </a:txBody>
                  <a:tcPr marL="73152" marR="73152" marT="27432" marB="27432" anchor="ctr">
                    <a:solidFill>
                      <a:srgbClr val="FFFFFF"/>
                    </a:solidFill>
                  </a:tcPr>
                </a:tc>
              </a:tr>
            </a:tbl>
          </a:graphicData>
        </a:graphic>
      </p:graphicFrame>
      <p:graphicFrame>
        <p:nvGraphicFramePr>
          <p:cNvPr id="4" name="Table 3"/>
          <p:cNvGraphicFramePr>
            <a:graphicFrameLocks noGrp="1"/>
          </p:cNvGraphicFramePr>
          <p:nvPr/>
        </p:nvGraphicFramePr>
        <p:xfrm>
          <a:off x="548640" y="3178556"/>
          <a:ext cx="5127807" cy="1756410"/>
        </p:xfrm>
        <a:graphic>
          <a:graphicData uri="http://schemas.openxmlformats.org/drawingml/2006/table">
            <a:tbl>
              <a:tblPr firstRow="0" bandRow="0">
                <a:tableStyleId>{5C22544A-7EE6-4342-B048-85BDC9FD1C3A}</a:tableStyleId>
              </a:tblPr>
              <a:tblGrid>
                <a:gridCol w="2016358"/>
                <a:gridCol w="660531"/>
                <a:gridCol w="660531"/>
                <a:gridCol w="1790387"/>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5" name="TextBox 4"/>
          <p:cNvSpPr txBox="1"/>
          <p:nvPr/>
        </p:nvSpPr>
        <p:spPr>
          <a:xfrm>
            <a:off x="548640" y="5136134"/>
            <a:ext cx="5127808" cy="439419"/>
          </a:xfrm>
          <a:prstGeom prst="rect">
            <a:avLst/>
          </a:prstGeom>
          <a:noFill/>
        </p:spPr>
        <p:txBody>
          <a:bodyPr wrap="square" anchor="t" lIns="0" rIns="0" tIns="0" bIns="0">
            <a:spAutoFit/>
          </a:bodyPr>
          <a:lstStyle/>
          <a:p>
            <a:r>
              <a:rPr sz="1300" b="0">
                <a:solidFill>
                  <a:srgbClr val="5B6B73"/>
                </a:solidFill>
                <a:latin typeface="Calibri"/>
              </a:rPr>
              <a:t>Respuesta: </a:t>
            </a:r>
            <a:r>
              <a:rPr sz="1300" b="1">
                <a:solidFill>
                  <a:srgbClr val="5B6B73"/>
                </a:solidFill>
                <a:latin typeface="Calibri"/>
              </a:rPr>
              <a:t>puntaje de sabor</a:t>
            </a:r>
            <a:r>
              <a:rPr sz="1300" b="0">
                <a:solidFill>
                  <a:srgbClr val="5B6B73"/>
                </a:solidFill>
                <a:latin typeface="Calibri"/>
              </a:rPr>
              <a:t> (0 a 100). Datos ilustrativos, sin error.</a:t>
            </a:r>
          </a:p>
        </p:txBody>
      </p:sp>
      <p:graphicFrame>
        <p:nvGraphicFramePr>
          <p:cNvPr id="6" name="Table 5"/>
          <p:cNvGraphicFramePr>
            <a:graphicFrameLocks noGrp="1"/>
          </p:cNvGraphicFramePr>
          <p:nvPr/>
        </p:nvGraphicFramePr>
        <p:xfrm>
          <a:off x="6087928" y="1417320"/>
          <a:ext cx="5555125" cy="2903219"/>
        </p:xfrm>
        <a:graphic>
          <a:graphicData uri="http://schemas.openxmlformats.org/drawingml/2006/table">
            <a:tbl>
              <a:tblPr firstRow="0" bandRow="0">
                <a:tableStyleId>{5C22544A-7EE6-4342-B048-85BDC9FD1C3A}</a:tableStyleId>
              </a:tblPr>
              <a:tblGrid>
                <a:gridCol w="1777640"/>
                <a:gridCol w="3777485"/>
              </a:tblGrid>
              <a:tr h="335788">
                <a:tc>
                  <a:txBody>
                    <a:bodyPr/>
                    <a:lstStyle/>
                    <a:p>
                      <a:pPr algn="l"/>
                      <a:r>
                        <a:rPr sz="1400" b="1">
                          <a:solidFill>
                            <a:srgbClr val="FFFFFF"/>
                          </a:solidFill>
                          <a:latin typeface="Calibri"/>
                        </a:rPr>
                        <a:t>Símbolo</a:t>
                      </a:r>
                    </a:p>
                  </a:txBody>
                  <a:tcPr marL="73152" marR="73152" marT="27432" marB="27432" anchor="ctr">
                    <a:solidFill>
                      <a:srgbClr val="0F4C5C"/>
                    </a:solidFill>
                  </a:tcPr>
                </a:tc>
                <a:tc>
                  <a:txBody>
                    <a:bodyPr/>
                    <a:lstStyle/>
                    <a:p>
                      <a:pPr algn="l"/>
                      <a:r>
                        <a:rPr sz="1400" b="1">
                          <a:solidFill>
                            <a:srgbClr val="FFFFFF"/>
                          </a:solidFill>
                          <a:latin typeface="Calibri"/>
                        </a:rPr>
                        <a:t>Significa</a:t>
                      </a:r>
                    </a:p>
                  </a:txBody>
                  <a:tcPr marL="73152" marR="73152" marT="27432" marB="27432" anchor="ctr">
                    <a:solidFill>
                      <a:srgbClr val="0F4C5C"/>
                    </a:solidFill>
                  </a:tcPr>
                </a:tc>
              </a:tr>
              <a:tr h="335788">
                <a:tc>
                  <a:txBody>
                    <a:bodyPr/>
                    <a:lstStyle/>
                    <a:p>
                      <a:pPr algn="l"/>
                      <a:r>
                        <a:rPr sz="1400" b="0">
                          <a:solidFill>
                            <a:srgbClr val="142B33"/>
                          </a:solidFill>
                          <a:latin typeface="Calibri"/>
                        </a:rPr>
                        <a:t>x = −1, +1</a:t>
                      </a:r>
                    </a:p>
                  </a:txBody>
                  <a:tcPr marL="73152" marR="73152" marT="27432" marB="27432" anchor="ctr">
                    <a:solidFill>
                      <a:srgbClr val="FFFFFF"/>
                    </a:solidFill>
                  </a:tcPr>
                </a:tc>
                <a:tc>
                  <a:txBody>
                    <a:bodyPr/>
                    <a:lstStyle/>
                    <a:p>
                      <a:pPr algn="l"/>
                      <a:r>
                        <a:rPr sz="1400" b="0">
                          <a:solidFill>
                            <a:srgbClr val="142B33"/>
                          </a:solidFill>
                          <a:latin typeface="Calibri"/>
                        </a:rPr>
                        <a:t>Nivel bajo, nivel alto</a:t>
                      </a:r>
                    </a:p>
                  </a:txBody>
                  <a:tcPr marL="73152" marR="73152" marT="27432" marB="27432" anchor="ctr">
                    <a:solidFill>
                      <a:srgbClr val="FFFFFF"/>
                    </a:solidFill>
                  </a:tcPr>
                </a:tc>
              </a:tr>
              <a:tr h="552703">
                <a:tc>
                  <a:txBody>
                    <a:bodyPr/>
                    <a:lstStyle/>
                    <a:p>
                      <a:pPr algn="l"/>
                      <a:r>
                        <a:rPr sz="1400" b="0">
                          <a:solidFill>
                            <a:srgbClr val="142B33"/>
                          </a:solidFill>
                          <a:latin typeface="Calibri"/>
                        </a:rPr>
                        <a:t>a, abc, (1)</a:t>
                      </a:r>
                    </a:p>
                  </a:txBody>
                  <a:tcPr marL="73152" marR="73152" marT="27432" marB="27432" anchor="ctr">
                    <a:solidFill>
                      <a:srgbClr val="F4F8F9"/>
                    </a:solidFill>
                  </a:tcPr>
                </a:tc>
                <a:tc>
                  <a:txBody>
                    <a:bodyPr/>
                    <a:lstStyle/>
                    <a:p>
                      <a:pPr algn="l"/>
                      <a:r>
                        <a:rPr sz="1400" b="0">
                          <a:solidFill>
                            <a:srgbClr val="142B33"/>
                          </a:solidFill>
                          <a:latin typeface="Calibri"/>
                        </a:rPr>
                        <a:t>Letras de los factores en </a:t>
                      </a:r>
                      <a:r>
                        <a:rPr sz="1400" b="1">
                          <a:solidFill>
                            <a:srgbClr val="142B33"/>
                          </a:solidFill>
                          <a:latin typeface="Calibri"/>
                        </a:rPr>
                        <a:t>alto</a:t>
                      </a:r>
                      <a:r>
                        <a:rPr sz="1400" b="0">
                          <a:solidFill>
                            <a:srgbClr val="142B33"/>
                          </a:solidFill>
                          <a:latin typeface="Calibri"/>
                        </a:rPr>
                        <a:t>; (1) = todos bajos</a:t>
                      </a:r>
                    </a:p>
                  </a:txBody>
                  <a:tcPr marL="73152" marR="73152" marT="27432" marB="27432" anchor="ctr">
                    <a:solidFill>
                      <a:srgbClr val="F4F8F9"/>
                    </a:solidFill>
                  </a:tcPr>
                </a:tc>
              </a:tr>
              <a:tr h="335788">
                <a:tc>
                  <a:txBody>
                    <a:bodyPr/>
                    <a:lstStyle/>
                    <a:p>
                      <a:pPr algn="l"/>
                      <a:r>
                        <a:rPr sz="1400" b="0">
                          <a:solidFill>
                            <a:srgbClr val="142B33"/>
                          </a:solidFill>
                          <a:latin typeface="Calibri"/>
                        </a:rPr>
                        <a:t>I = ABC</a:t>
                      </a:r>
                    </a:p>
                  </a:txBody>
                  <a:tcPr marL="73152" marR="73152" marT="27432" marB="27432" anchor="ctr">
                    <a:solidFill>
                      <a:srgbClr val="FFFFFF"/>
                    </a:solidFill>
                  </a:tcPr>
                </a:tc>
                <a:tc>
                  <a:txBody>
                    <a:bodyPr/>
                    <a:lstStyle/>
                    <a:p>
                      <a:pPr algn="l"/>
                      <a:r>
                        <a:rPr sz="1400" b="0">
                          <a:solidFill>
                            <a:srgbClr val="142B33"/>
                          </a:solidFill>
                          <a:latin typeface="Calibri"/>
                        </a:rPr>
                        <a:t>x</a:t>
                      </a:r>
                      <a:r>
                        <a:rPr sz="1400" b="0" baseline="-25000">
                          <a:solidFill>
                            <a:srgbClr val="142B33"/>
                          </a:solidFill>
                          <a:latin typeface="Calibri"/>
                        </a:rPr>
                        <a:t>A</a:t>
                      </a:r>
                      <a:r>
                        <a:rPr sz="1400" b="0">
                          <a:solidFill>
                            <a:srgbClr val="142B33"/>
                          </a:solidFill>
                          <a:latin typeface="Calibri"/>
                        </a:rPr>
                        <a:t>x</a:t>
                      </a:r>
                      <a:r>
                        <a:rPr sz="1400" b="0" baseline="-25000">
                          <a:solidFill>
                            <a:srgbClr val="142B33"/>
                          </a:solidFill>
                          <a:latin typeface="Calibri"/>
                        </a:rPr>
                        <a:t>B</a:t>
                      </a:r>
                      <a:r>
                        <a:rPr sz="1400" b="0">
                          <a:solidFill>
                            <a:srgbClr val="142B33"/>
                          </a:solidFill>
                          <a:latin typeface="Calibri"/>
                        </a:rPr>
                        <a:t>x</a:t>
                      </a:r>
                      <a:r>
                        <a:rPr sz="1400" b="0" baseline="-25000">
                          <a:solidFill>
                            <a:srgbClr val="142B33"/>
                          </a:solidFill>
                          <a:latin typeface="Calibri"/>
                        </a:rPr>
                        <a:t>C</a:t>
                      </a:r>
                      <a:r>
                        <a:rPr sz="1400" b="0">
                          <a:solidFill>
                            <a:srgbClr val="142B33"/>
                          </a:solidFill>
                          <a:latin typeface="Calibri"/>
                        </a:rPr>
                        <a:t> = +1 en </a:t>
                      </a:r>
                      <a:r>
                        <a:rPr sz="1400" b="1">
                          <a:solidFill>
                            <a:srgbClr val="142B33"/>
                          </a:solidFill>
                          <a:latin typeface="Calibri"/>
                        </a:rPr>
                        <a:t>todas</a:t>
                      </a:r>
                      <a:r>
                        <a:rPr sz="1400" b="0">
                          <a:solidFill>
                            <a:srgbClr val="142B33"/>
                          </a:solidFill>
                          <a:latin typeface="Calibri"/>
                        </a:rPr>
                        <a:t> las corridas</a:t>
                      </a:r>
                    </a:p>
                  </a:txBody>
                  <a:tcPr marL="73152" marR="73152" marT="27432" marB="27432" anchor="ctr">
                    <a:solidFill>
                      <a:srgbClr val="FFFFFF"/>
                    </a:solidFill>
                  </a:tcPr>
                </a:tc>
              </a:tr>
              <a:tr h="335788">
                <a:tc>
                  <a:txBody>
                    <a:bodyPr/>
                    <a:lstStyle/>
                    <a:p>
                      <a:pPr algn="l"/>
                      <a:r>
                        <a:rPr sz="1400" b="0">
                          <a:solidFill>
                            <a:srgbClr val="142B33"/>
                          </a:solidFill>
                          <a:latin typeface="Calibri"/>
                        </a:rPr>
                        <a:t>A = BC</a:t>
                      </a:r>
                    </a:p>
                  </a:txBody>
                  <a:tcPr marL="73152" marR="73152" marT="27432" marB="27432" anchor="ctr">
                    <a:solidFill>
                      <a:srgbClr val="F4F8F9"/>
                    </a:solidFill>
                  </a:tcPr>
                </a:tc>
                <a:tc>
                  <a:txBody>
                    <a:bodyPr/>
                    <a:lstStyle/>
                    <a:p>
                      <a:pPr algn="l"/>
                      <a:r>
                        <a:rPr sz="1400" b="0">
                          <a:solidFill>
                            <a:srgbClr val="142B33"/>
                          </a:solidFill>
                          <a:latin typeface="Calibri"/>
                        </a:rPr>
                        <a:t>Columnas idénticas: </a:t>
                      </a:r>
                      <a:r>
                        <a:rPr sz="1400" b="1">
                          <a:solidFill>
                            <a:srgbClr val="142B33"/>
                          </a:solidFill>
                          <a:latin typeface="Calibri"/>
                        </a:rPr>
                        <a:t>alias</a:t>
                      </a:r>
                    </a:p>
                  </a:txBody>
                  <a:tcPr marL="73152" marR="73152" marT="27432" marB="27432" anchor="ctr">
                    <a:solidFill>
                      <a:srgbClr val="F4F8F9"/>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l"/>
                      <a:r>
                        <a:rPr sz="1400" b="0">
                          <a:solidFill>
                            <a:srgbClr val="142B33"/>
                          </a:solidFill>
                          <a:latin typeface="Calibri"/>
                        </a:rPr>
                        <a:t>Promedio con A alto − promedio con A bajo</a:t>
                      </a:r>
                    </a:p>
                  </a:txBody>
                  <a:tcPr marL="73152" marR="73152" marT="27432" marB="27432" anchor="ctr">
                    <a:solidFill>
                      <a:srgbClr val="FFFFFF"/>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r>
                        <a:rPr sz="1400" b="0">
                          <a:solidFill>
                            <a:srgbClr val="142B33"/>
                          </a:solidFill>
                          <a:latin typeface="Calibri"/>
                        </a:rPr>
                        <a:t> → A + BC</a:t>
                      </a:r>
                    </a:p>
                  </a:txBody>
                  <a:tcPr marL="73152" marR="73152" marT="27432" marB="27432" anchor="ctr">
                    <a:solidFill>
                      <a:srgbClr val="F4F8F9"/>
                    </a:solidFill>
                  </a:tcPr>
                </a:tc>
                <a:tc>
                  <a:txBody>
                    <a:bodyPr/>
                    <a:lstStyle/>
                    <a:p>
                      <a:pPr algn="l"/>
                      <a:r>
                        <a:rPr sz="1400" b="0">
                          <a:solidFill>
                            <a:srgbClr val="142B33"/>
                          </a:solidFill>
                          <a:latin typeface="Calibri"/>
                        </a:rPr>
                        <a:t>ℓ</a:t>
                      </a:r>
                      <a:r>
                        <a:rPr sz="1400" b="0" baseline="-25000">
                          <a:solidFill>
                            <a:srgbClr val="142B33"/>
                          </a:solidFill>
                          <a:latin typeface="Calibri"/>
                        </a:rPr>
                        <a:t>A</a:t>
                      </a:r>
                      <a:r>
                        <a:rPr sz="1400" b="0">
                          <a:solidFill>
                            <a:srgbClr val="142B33"/>
                          </a:solidFill>
                          <a:latin typeface="Calibri"/>
                        </a:rPr>
                        <a:t> estima la </a:t>
                      </a:r>
                      <a:r>
                        <a:rPr sz="1400" b="1">
                          <a:solidFill>
                            <a:srgbClr val="142B33"/>
                          </a:solidFill>
                          <a:latin typeface="Calibri"/>
                        </a:rPr>
                        <a:t>suma</a:t>
                      </a:r>
                      <a:r>
                        <a:rPr sz="1400" b="0">
                          <a:solidFill>
                            <a:srgbClr val="142B33"/>
                          </a:solidFill>
                          <a:latin typeface="Calibri"/>
                        </a:rPr>
                        <a:t> de los dos efectos</a:t>
                      </a:r>
                    </a:p>
                  </a:txBody>
                  <a:tcPr marL="73152" marR="73152" marT="27432" marB="27432" anchor="ctr">
                    <a:solidFill>
                      <a:srgbClr val="F4F8F9"/>
                    </a:solidFill>
                  </a:tcPr>
                </a:tc>
              </a:tr>
              <a:tr h="335788">
                <a:tc>
                  <a:txBody>
                    <a:bodyPr/>
                    <a:lstStyle/>
                    <a:p>
                      <a:pPr algn="l"/>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l"/>
                      <a:r>
                        <a:rPr sz="1400" b="0">
                          <a:solidFill>
                            <a:srgbClr val="142B33"/>
                          </a:solidFill>
                          <a:latin typeface="Calibri"/>
                        </a:rPr>
                        <a:t>Lo mismo, calculado en la </a:t>
                      </a:r>
                      <a:r>
                        <a:rPr sz="1400" b="1">
                          <a:solidFill>
                            <a:srgbClr val="142B33"/>
                          </a:solidFill>
                          <a:latin typeface="Calibri"/>
                        </a:rPr>
                        <a:t>segunda</a:t>
                      </a:r>
                      <a:r>
                        <a:rPr sz="1400" b="0">
                          <a:solidFill>
                            <a:srgbClr val="142B33"/>
                          </a:solidFill>
                          <a:latin typeface="Calibri"/>
                        </a:rPr>
                        <a:t> fracción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44</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1 · C no influye: la proyección</a:t>
            </a:r>
          </a:p>
        </p:txBody>
      </p:sp>
      <p:sp>
        <p:nvSpPr>
          <p:cNvPr id="3" name="Rounded Rectangle 2"/>
          <p:cNvSpPr/>
          <p:nvPr/>
        </p:nvSpPr>
        <p:spPr>
          <a:xfrm>
            <a:off x="548640" y="1417320"/>
            <a:ext cx="5875614"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Verdad oculta:  y = 70 + 5x</a:t>
            </a:r>
            <a:r>
              <a:rPr sz="1700" b="0" baseline="-25000">
                <a:solidFill>
                  <a:srgbClr val="0F4C5C"/>
                </a:solidFill>
                <a:latin typeface="Cambria Math"/>
              </a:rPr>
              <a:t>A</a:t>
            </a:r>
            <a:r>
              <a:rPr sz="1700" b="0">
                <a:solidFill>
                  <a:srgbClr val="0F4C5C"/>
                </a:solidFill>
                <a:latin typeface="Cambria Math"/>
              </a:rPr>
              <a:t> + 3x</a:t>
            </a:r>
            <a:r>
              <a:rPr sz="17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87813"/>
          <a:ext cx="5875612" cy="1756410"/>
        </p:xfrm>
        <a:graphic>
          <a:graphicData uri="http://schemas.openxmlformats.org/drawingml/2006/table">
            <a:tbl>
              <a:tblPr firstRow="0" bandRow="0">
                <a:tableStyleId>{5C22544A-7EE6-4342-B048-85BDC9FD1C3A}</a:tableStyleId>
              </a:tblPr>
              <a:tblGrid>
                <a:gridCol w="1969859"/>
                <a:gridCol w="645298"/>
                <a:gridCol w="645298"/>
                <a:gridCol w="645298"/>
                <a:gridCol w="1969859"/>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72</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68</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62</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78</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45391"/>
          <a:ext cx="5875613" cy="1343152"/>
        </p:xfrm>
        <a:graphic>
          <a:graphicData uri="http://schemas.openxmlformats.org/drawingml/2006/table">
            <a:tbl>
              <a:tblPr firstRow="0" bandRow="0">
                <a:tableStyleId>{5C22544A-7EE6-4342-B048-85BDC9FD1C3A}</a:tableStyleId>
              </a:tblPr>
              <a:tblGrid>
                <a:gridCol w="1516976"/>
                <a:gridCol w="2296831"/>
                <a:gridCol w="961464"/>
                <a:gridCol w="1100342"/>
              </a:tblGrid>
              <a:tr h="335788">
                <a:tc>
                  <a:txBody>
                    <a:bodyPr/>
                    <a:lstStyle/>
                    <a:p>
                      <a:pPr algn="ctr"/>
                      <a:r>
                        <a:rPr sz="1400" b="1">
                          <a:solidFill>
                            <a:srgbClr val="FFFFFF"/>
                          </a:solidFill>
                          <a:latin typeface="Calibri"/>
                        </a:rPr>
                        <a:t>Contraste</a:t>
                      </a:r>
                    </a:p>
                  </a:txBody>
                  <a:tcPr marL="73152" marR="73152" marT="27432" marB="27432" anchor="ctr">
                    <a:solidFill>
                      <a:srgbClr val="0F4C5C"/>
                    </a:solidFill>
                  </a:tcPr>
                </a:tc>
                <a:tc>
                  <a:txBody>
                    <a:bodyPr/>
                    <a:lstStyle/>
                    <a:p>
                      <a:pPr algn="ctr"/>
                      <a:r>
                        <a:rPr sz="1400" b="1">
                          <a:solidFill>
                            <a:srgbClr val="FFFFFF"/>
                          </a:solidFill>
                          <a:latin typeface="Calibri"/>
                        </a:rPr>
                        <a:t>Cuenta</a:t>
                      </a:r>
                    </a:p>
                  </a:txBody>
                  <a:tcPr marL="73152" marR="73152" marT="27432" marB="27432" anchor="ctr">
                    <a:solidFill>
                      <a:srgbClr val="0F4C5C"/>
                    </a:solidFill>
                  </a:tcPr>
                </a:tc>
                <a:tc>
                  <a:txBody>
                    <a:bodyPr/>
                    <a:lstStyle/>
                    <a:p>
                      <a:pPr algn="ctr"/>
                      <a:r>
                        <a:rPr sz="1400" b="1">
                          <a:solidFill>
                            <a:srgbClr val="FFFFFF"/>
                          </a:solidFill>
                          <a:latin typeface="Calibri"/>
                        </a:rPr>
                        <a:t>Valor</a:t>
                      </a:r>
                    </a:p>
                  </a:txBody>
                  <a:tcPr marL="73152" marR="73152" marT="27432" marB="27432" anchor="ctr">
                    <a:solidFill>
                      <a:srgbClr val="0F4C5C"/>
                    </a:solidFill>
                  </a:tcPr>
                </a:tc>
                <a:tc>
                  <a:txBody>
                    <a:bodyPr/>
                    <a:lstStyle/>
                    <a:p>
                      <a:pPr algn="ctr"/>
                      <a:r>
                        <a:rPr sz="1400" b="1">
                          <a:solidFill>
                            <a:srgbClr val="FFFFFF"/>
                          </a:solidFill>
                          <a:latin typeface="Calibri"/>
                        </a:rPr>
                        <a:t>Estima</a:t>
                      </a:r>
                    </a:p>
                  </a:txBody>
                  <a:tcPr marL="73152" marR="73152" marT="27432" marB="27432" anchor="ctr">
                    <a:solidFill>
                      <a:srgbClr val="0F4C5C"/>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abc − b − c)/2</a:t>
                      </a:r>
                    </a:p>
                  </a:txBody>
                  <a:tcPr marL="73152" marR="73152" marT="27432" marB="27432" anchor="ctr">
                    <a:solidFill>
                      <a:srgbClr val="FFFFFF"/>
                    </a:solidFill>
                  </a:tcPr>
                </a:tc>
                <a:tc>
                  <a:txBody>
                    <a:bodyPr/>
                    <a:lstStyle/>
                    <a:p>
                      <a:pPr algn="ctr"/>
                      <a:r>
                        <a:rPr sz="1400" b="0">
                          <a:solidFill>
                            <a:srgbClr val="142B33"/>
                          </a:solidFill>
                          <a:latin typeface="Calibri"/>
                        </a:rPr>
                        <a:t>10</a:t>
                      </a:r>
                    </a:p>
                  </a:txBody>
                  <a:tcPr marL="73152" marR="73152" marT="27432" marB="27432" anchor="ctr">
                    <a:solidFill>
                      <a:srgbClr val="FFFFFF"/>
                    </a:solidFill>
                  </a:tcPr>
                </a:tc>
                <a:tc>
                  <a:txBody>
                    <a:bodyPr/>
                    <a:lstStyle/>
                    <a:p>
                      <a:pPr algn="ctr"/>
                      <a:r>
                        <a:rPr sz="1400" b="0">
                          <a:solidFill>
                            <a:srgbClr val="142B33"/>
                          </a:solidFill>
                          <a:latin typeface="Calibri"/>
                        </a:rPr>
                        <a:t>A + BC</a:t>
                      </a:r>
                    </a:p>
                  </a:txBody>
                  <a:tcPr marL="73152" marR="73152" marT="27432" marB="27432" anchor="ctr">
                    <a:solidFill>
                      <a:srgbClr val="FFFFFF"/>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abc − a − c)/2</a:t>
                      </a:r>
                    </a:p>
                  </a:txBody>
                  <a:tcPr marL="73152" marR="73152" marT="27432" marB="27432" anchor="ctr">
                    <a:solidFill>
                      <a:srgbClr val="F4F8F9"/>
                    </a:solidFill>
                  </a:tcPr>
                </a:tc>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B + AC</a:t>
                      </a:r>
                    </a:p>
                  </a:txBody>
                  <a:tcPr marL="73152" marR="73152" marT="27432" marB="27432" anchor="ctr">
                    <a:solidFill>
                      <a:srgbClr val="F4F8F9"/>
                    </a:solidFill>
                  </a:tcPr>
                </a:tc>
              </a:tr>
              <a:tr h="335788">
                <a:tc>
                  <a:txBody>
                    <a:bodyPr/>
                    <a:lstStyle/>
                    <a:p>
                      <a:pPr algn="ctr"/>
                      <a:r>
                        <a:rPr sz="1400" b="0">
                          <a:solidFill>
                            <a:srgbClr val="142B33"/>
                          </a:solidFill>
                          <a:latin typeface="Calibri"/>
                        </a:rPr>
                        <a:t>ℓ</a:t>
                      </a:r>
                      <a:r>
                        <a:rPr sz="1400" b="0" baseline="-2500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abc − a − b)/2</a:t>
                      </a:r>
                    </a:p>
                  </a:txBody>
                  <a:tcPr marL="73152" marR="73152" marT="27432" marB="27432" anchor="ctr">
                    <a:solidFill>
                      <a:srgbClr val="FFFFFF"/>
                    </a:solidFill>
                  </a:tcPr>
                </a:tc>
                <a:tc>
                  <a:txBody>
                    <a:bodyPr/>
                    <a:lstStyle/>
                    <a:p>
                      <a:pPr algn="ctr"/>
                      <a:r>
                        <a:rPr sz="1400" b="0">
                          <a:solidFill>
                            <a:srgbClr val="142B33"/>
                          </a:solidFill>
                          <a:latin typeface="Calibri"/>
                        </a:rPr>
                        <a:t>0</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bl>
          </a:graphicData>
        </a:graphic>
      </p:graphicFrame>
      <p:sp>
        <p:nvSpPr>
          <p:cNvPr id="6" name="TextBox 5"/>
          <p:cNvSpPr txBox="1"/>
          <p:nvPr/>
        </p:nvSpPr>
        <p:spPr>
          <a:xfrm>
            <a:off x="6835734" y="1417320"/>
            <a:ext cx="4807320" cy="299973"/>
          </a:xfrm>
          <a:prstGeom prst="rect">
            <a:avLst/>
          </a:prstGeom>
          <a:noFill/>
        </p:spPr>
        <p:txBody>
          <a:bodyPr wrap="square" anchor="t" lIns="0" rIns="0" tIns="0" bIns="0">
            <a:spAutoFit/>
          </a:bodyPr>
          <a:lstStyle/>
          <a:p>
            <a:r>
              <a:rPr sz="1700" b="1">
                <a:solidFill>
                  <a:srgbClr val="142B33"/>
                </a:solidFill>
                <a:latin typeface="Calibri"/>
              </a:rPr>
              <a:t>Se borra C</a:t>
            </a:r>
            <a:r>
              <a:rPr sz="1700" b="0">
                <a:solidFill>
                  <a:srgbClr val="142B33"/>
                </a:solidFill>
                <a:latin typeface="Calibri"/>
              </a:rPr>
              <a:t> y se miran solo A y B</a:t>
            </a:r>
          </a:p>
        </p:txBody>
      </p:sp>
      <p:graphicFrame>
        <p:nvGraphicFramePr>
          <p:cNvPr id="7" name="Table 6"/>
          <p:cNvGraphicFramePr>
            <a:graphicFrameLocks noGrp="1"/>
          </p:cNvGraphicFramePr>
          <p:nvPr/>
        </p:nvGraphicFramePr>
        <p:xfrm>
          <a:off x="6835734" y="1918462"/>
          <a:ext cx="4807319" cy="1756410"/>
        </p:xfrm>
        <a:graphic>
          <a:graphicData uri="http://schemas.openxmlformats.org/drawingml/2006/table">
            <a:tbl>
              <a:tblPr firstRow="0" bandRow="0">
                <a:tableStyleId>{5C22544A-7EE6-4342-B048-85BDC9FD1C3A}</a:tableStyleId>
              </a:tblPr>
              <a:tblGrid>
                <a:gridCol w="2904423"/>
                <a:gridCol w="951448"/>
                <a:gridCol w="951448"/>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bl>
          </a:graphicData>
        </a:graphic>
      </p:graphicFrame>
      <p:sp>
        <p:nvSpPr>
          <p:cNvPr id="8" name="Rounded Rectangle 7"/>
          <p:cNvSpPr/>
          <p:nvPr/>
        </p:nvSpPr>
        <p:spPr>
          <a:xfrm>
            <a:off x="6835734" y="3876040"/>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4 combinaciones de A y B, una vez cada una: </a:t>
            </a:r>
            <a:r>
              <a:rPr sz="1500" b="1">
                <a:solidFill>
                  <a:srgbClr val="142B33"/>
                </a:solidFill>
                <a:latin typeface="Calibri"/>
              </a:rPr>
              <a:t>2</a:t>
            </a:r>
            <a:r>
              <a:rPr sz="1500" b="1" baseline="30000">
                <a:solidFill>
                  <a:srgbClr val="142B33"/>
                </a:solidFill>
                <a:latin typeface="Calibri"/>
              </a:rPr>
              <a:t>2</a:t>
            </a:r>
            <a:r>
              <a:rPr sz="1500" b="1">
                <a:solidFill>
                  <a:srgbClr val="142B33"/>
                </a:solidFill>
                <a:latin typeface="Calibri"/>
              </a:rPr>
              <a:t> completo</a:t>
            </a:r>
          </a:p>
        </p:txBody>
      </p:sp>
      <p:sp>
        <p:nvSpPr>
          <p:cNvPr id="9" name="Rounded Rectangle 8"/>
          <p:cNvSpPr/>
          <p:nvPr/>
        </p:nvSpPr>
        <p:spPr>
          <a:xfrm>
            <a:off x="6835734" y="4816348"/>
            <a:ext cx="480732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y B </a:t>
            </a:r>
            <a:r>
              <a:rPr sz="1500" b="1">
                <a:solidFill>
                  <a:srgbClr val="142B33"/>
                </a:solidFill>
                <a:latin typeface="Calibri"/>
              </a:rPr>
              <a:t>no</a:t>
            </a:r>
            <a:r>
              <a:rPr sz="1500" b="0">
                <a:solidFill>
                  <a:srgbClr val="142B33"/>
                </a:solidFill>
                <a:latin typeface="Calibri"/>
              </a:rPr>
              <a:t> forman palabra  →  no hay ambigüedad: A = 10, B = 6</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45</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¿Es C o es AB? Una ambigüedad</a:t>
            </a:r>
          </a:p>
        </p:txBody>
      </p:sp>
      <p:sp>
        <p:nvSpPr>
          <p:cNvPr id="3" name="Rounded Rectangle 2"/>
          <p:cNvSpPr/>
          <p:nvPr/>
        </p:nvSpPr>
        <p:spPr>
          <a:xfrm>
            <a:off x="548640" y="1417320"/>
            <a:ext cx="5555126"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Verdad oculta:  y = 70 + 5x</a:t>
            </a:r>
            <a:r>
              <a:rPr sz="1600" b="0" baseline="-25000">
                <a:solidFill>
                  <a:srgbClr val="0F4C5C"/>
                </a:solidFill>
                <a:latin typeface="Cambria Math"/>
              </a:rPr>
              <a:t>A</a:t>
            </a:r>
            <a:r>
              <a:rPr sz="1600" b="0">
                <a:solidFill>
                  <a:srgbClr val="0F4C5C"/>
                </a:solidFill>
                <a:latin typeface="Cambria Math"/>
              </a:rPr>
              <a:t> + 3x</a:t>
            </a:r>
            <a:r>
              <a:rPr sz="1600" b="0" baseline="-25000">
                <a:solidFill>
                  <a:srgbClr val="0F4C5C"/>
                </a:solidFill>
                <a:latin typeface="Cambria Math"/>
              </a:rPr>
              <a:t>B</a:t>
            </a:r>
            <a:r>
              <a:rPr sz="1600" b="0">
                <a:solidFill>
                  <a:srgbClr val="0F4C5C"/>
                </a:solidFill>
                <a:latin typeface="Cambria Math"/>
              </a:rPr>
              <a:t> + 4x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p>
        </p:txBody>
      </p:sp>
      <p:graphicFrame>
        <p:nvGraphicFramePr>
          <p:cNvPr id="4" name="Table 3"/>
          <p:cNvGraphicFramePr>
            <a:graphicFrameLocks noGrp="1"/>
          </p:cNvGraphicFramePr>
          <p:nvPr/>
        </p:nvGraphicFramePr>
        <p:xfrm>
          <a:off x="548640" y="2170460"/>
          <a:ext cx="5555124" cy="1756410"/>
        </p:xfrm>
        <a:graphic>
          <a:graphicData uri="http://schemas.openxmlformats.org/drawingml/2006/table">
            <a:tbl>
              <a:tblPr firstRow="0" bandRow="0">
                <a:tableStyleId>{5C22544A-7EE6-4342-B048-85BDC9FD1C3A}</a:tableStyleId>
              </a:tblPr>
              <a:tblGrid>
                <a:gridCol w="1862412"/>
                <a:gridCol w="610100"/>
                <a:gridCol w="610100"/>
                <a:gridCol w="610100"/>
                <a:gridCol w="1862412"/>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abc</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548640" y="4128038"/>
          <a:ext cx="5555125" cy="1405128"/>
        </p:xfrm>
        <a:graphic>
          <a:graphicData uri="http://schemas.openxmlformats.org/drawingml/2006/table">
            <a:tbl>
              <a:tblPr firstRow="0" bandRow="0">
                <a:tableStyleId>{5C22544A-7EE6-4342-B048-85BDC9FD1C3A}</a:tableStyleId>
              </a:tblPr>
              <a:tblGrid>
                <a:gridCol w="2354710"/>
                <a:gridCol w="1492421"/>
                <a:gridCol w="1707994"/>
              </a:tblGrid>
              <a:tr h="351282">
                <a:tc>
                  <a:txBody>
                    <a:bodyPr/>
                    <a:lstStyle/>
                    <a:p>
                      <a:pPr algn="ctr"/>
                      <a:r>
                        <a:rPr sz="1500" b="1">
                          <a:solidFill>
                            <a:srgbClr val="FFFFFF"/>
                          </a:solidFill>
                          <a:latin typeface="Calibri"/>
                        </a:rPr>
                        <a:t>Contraste</a:t>
                      </a:r>
                    </a:p>
                  </a:txBody>
                  <a:tcPr marL="73152" marR="73152" marT="27432" marB="27432" anchor="ctr">
                    <a:solidFill>
                      <a:srgbClr val="0F4C5C"/>
                    </a:solidFill>
                  </a:tcPr>
                </a:tc>
                <a:tc>
                  <a:txBody>
                    <a:bodyPr/>
                    <a:lstStyle/>
                    <a:p>
                      <a:pPr algn="ctr"/>
                      <a:r>
                        <a:rPr sz="1500" b="1">
                          <a:solidFill>
                            <a:srgbClr val="FFFFFF"/>
                          </a:solidFill>
                          <a:latin typeface="Calibri"/>
                        </a:rPr>
                        <a:t>Valor</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BC</a:t>
                      </a:r>
                    </a:p>
                  </a:txBody>
                  <a:tcPr marL="73152" marR="73152" marT="27432" marB="27432" anchor="ctr">
                    <a:solidFill>
                      <a:srgbClr val="FFFFFF"/>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AC</a:t>
                      </a:r>
                    </a:p>
                  </a:txBody>
                  <a:tcPr marL="73152" marR="73152" marT="27432" marB="27432" anchor="ctr">
                    <a:solidFill>
                      <a:srgbClr val="F4F8F9"/>
                    </a:solidFill>
                  </a:tcPr>
                </a:tc>
              </a:tr>
              <a:tr h="351282">
                <a:tc>
                  <a:txBody>
                    <a:bodyPr/>
                    <a:lstStyle/>
                    <a:p>
                      <a:pPr algn="ctr"/>
                      <a:r>
                        <a:rPr sz="1500" b="0">
                          <a:solidFill>
                            <a:srgbClr val="142B33"/>
                          </a:solidFill>
                          <a:latin typeface="Calibri"/>
                        </a:rPr>
                        <a:t>ℓ</a:t>
                      </a:r>
                      <a:r>
                        <a:rPr sz="1500" b="0" baseline="-2500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1">
                          <a:solidFill>
                            <a:srgbClr val="142B33"/>
                          </a:solidFill>
                          <a:latin typeface="Calibri"/>
                        </a:rPr>
                        <a:t>C + AB</a:t>
                      </a:r>
                    </a:p>
                  </a:txBody>
                  <a:tcPr marL="73152" marR="73152" marT="27432" marB="27432" anchor="ctr">
                    <a:solidFill>
                      <a:srgbClr val="FDE8D7"/>
                    </a:solidFill>
                  </a:tcPr>
                </a:tc>
              </a:tr>
            </a:tbl>
          </a:graphicData>
        </a:graphic>
      </p:graphicFrame>
      <p:sp>
        <p:nvSpPr>
          <p:cNvPr id="6" name="Rounded Rectangle 5"/>
          <p:cNvSpPr/>
          <p:nvPr/>
        </p:nvSpPr>
        <p:spPr>
          <a:xfrm>
            <a:off x="6515246" y="1417320"/>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1</a:t>
            </a:r>
          </a:p>
          <a:p>
            <a:pPr algn="l"/>
            <a:r>
              <a:rPr sz="1500" b="1">
                <a:solidFill>
                  <a:srgbClr val="142B33"/>
                </a:solidFill>
                <a:latin typeface="Calibri"/>
              </a:rPr>
              <a:t>C</a:t>
            </a:r>
            <a:r>
              <a:rPr sz="1500" b="0">
                <a:solidFill>
                  <a:srgbClr val="142B33"/>
                </a:solidFill>
                <a:latin typeface="Calibri"/>
              </a:rPr>
              <a:t> (tiempo de infusión) sube el sabor 8 puntos</a:t>
            </a:r>
          </a:p>
        </p:txBody>
      </p:sp>
      <p:sp>
        <p:nvSpPr>
          <p:cNvPr id="7" name="Rounded Rectangle 6"/>
          <p:cNvSpPr/>
          <p:nvPr/>
        </p:nvSpPr>
        <p:spPr>
          <a:xfrm>
            <a:off x="6515246" y="2895346"/>
            <a:ext cx="5127808"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Explicación 2</a:t>
            </a:r>
          </a:p>
          <a:p>
            <a:pPr algn="l"/>
            <a:r>
              <a:rPr sz="1500" b="0">
                <a:solidFill>
                  <a:srgbClr val="142B33"/>
                </a:solidFill>
                <a:latin typeface="Calibri"/>
              </a:rPr>
              <a:t>C no hace nada; es la interacción </a:t>
            </a:r>
            <a:r>
              <a:rPr sz="1500" b="1">
                <a:solidFill>
                  <a:srgbClr val="142B33"/>
                </a:solidFill>
                <a:latin typeface="Calibri"/>
              </a:rPr>
              <a:t>AB</a:t>
            </a:r>
            <a:r>
              <a:rPr sz="1500" b="0">
                <a:solidFill>
                  <a:srgbClr val="142B33"/>
                </a:solidFill>
                <a:latin typeface="Calibri"/>
              </a:rPr>
              <a:t> (temperatura × molienda)</a:t>
            </a:r>
          </a:p>
        </p:txBody>
      </p:sp>
      <p:sp>
        <p:nvSpPr>
          <p:cNvPr id="8" name="Rounded Rectangle 7"/>
          <p:cNvSpPr/>
          <p:nvPr/>
        </p:nvSpPr>
        <p:spPr>
          <a:xfrm>
            <a:off x="6515246" y="4345940"/>
            <a:ext cx="5127808"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 B y C forman la palabra </a:t>
            </a:r>
            <a:r>
              <a:rPr sz="1500" b="1">
                <a:solidFill>
                  <a:srgbClr val="142B33"/>
                </a:solidFill>
                <a:latin typeface="Calibri"/>
              </a:rPr>
              <a:t>ABC</a:t>
            </a:r>
            <a:r>
              <a:rPr sz="1500" b="0">
                <a:solidFill>
                  <a:srgbClr val="142B33"/>
                </a:solidFill>
                <a:latin typeface="Calibri"/>
              </a:rPr>
              <a:t>: solo se corrieron 4 de las 8 combinaciones  →  no se pueden separar</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46</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Caso 2 · El doblez resuelve la duda</a:t>
            </a:r>
          </a:p>
        </p:txBody>
      </p:sp>
      <p:graphicFrame>
        <p:nvGraphicFramePr>
          <p:cNvPr id="3" name="Table 2"/>
          <p:cNvGraphicFramePr>
            <a:graphicFrameLocks noGrp="1"/>
          </p:cNvGraphicFramePr>
          <p:nvPr/>
        </p:nvGraphicFramePr>
        <p:xfrm>
          <a:off x="548640" y="1417320"/>
          <a:ext cx="4700489" cy="1756410"/>
        </p:xfrm>
        <a:graphic>
          <a:graphicData uri="http://schemas.openxmlformats.org/drawingml/2006/table">
            <a:tbl>
              <a:tblPr firstRow="0" bandRow="0">
                <a:tableStyleId>{5C22544A-7EE6-4342-B048-85BDC9FD1C3A}</a:tableStyleId>
              </a:tblPr>
              <a:tblGrid>
                <a:gridCol w="1285983"/>
                <a:gridCol w="421270"/>
                <a:gridCol w="421270"/>
                <a:gridCol w="1285983"/>
                <a:gridCol w="1285983"/>
              </a:tblGrid>
              <a:tr h="351282">
                <a:tc>
                  <a:txBody>
                    <a:bodyPr/>
                    <a:lstStyle/>
                    <a:p>
                      <a:pPr algn="ctr"/>
                      <a:r>
                        <a:rPr sz="1500" b="1">
                          <a:solidFill>
                            <a:srgbClr val="FFFFFF"/>
                          </a:solidFill>
                          <a:latin typeface="Calibri"/>
                        </a:rPr>
                        <a:t>Corrida</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 = −AB</a:t>
                      </a:r>
                    </a:p>
                  </a:txBody>
                  <a:tcPr marL="73152" marR="73152" marT="27432" marB="27432" anchor="ctr">
                    <a:solidFill>
                      <a:srgbClr val="0F4C5C"/>
                    </a:solidFill>
                  </a:tcPr>
                </a:tc>
                <a:tc>
                  <a:txBody>
                    <a:bodyPr/>
                    <a:lstStyle/>
                    <a:p>
                      <a:pPr algn="ctr"/>
                      <a:r>
                        <a:rPr sz="1500" b="1">
                          <a:solidFill>
                            <a:srgbClr val="FFFFFF"/>
                          </a:solidFill>
                          <a:latin typeface="Calibri"/>
                        </a:rPr>
                        <a:t>Sabor y</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66</a:t>
                      </a:r>
                    </a:p>
                  </a:txBody>
                  <a:tcPr marL="73152" marR="73152" marT="27432" marB="27432" anchor="ctr">
                    <a:solidFill>
                      <a:srgbClr val="FFFFFF"/>
                    </a:solidFill>
                  </a:tcPr>
                </a:tc>
              </a:tr>
              <a:tr h="351282">
                <a:tc>
                  <a:txBody>
                    <a:bodyPr/>
                    <a:lstStyle/>
                    <a:p>
                      <a:pPr algn="ctr"/>
                      <a:r>
                        <a:rPr sz="1500" b="0">
                          <a:solidFill>
                            <a:srgbClr val="142B33"/>
                          </a:solidFill>
                          <a:latin typeface="Calibri"/>
                        </a:rPr>
                        <a:t>ab</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82</a:t>
                      </a:r>
                    </a:p>
                  </a:txBody>
                  <a:tcPr marL="73152" marR="73152" marT="27432" marB="27432" anchor="ctr">
                    <a:solidFill>
                      <a:srgbClr val="F4F8F9"/>
                    </a:solidFill>
                  </a:tcPr>
                </a:tc>
              </a:tr>
              <a:tr h="351282">
                <a:tc>
                  <a:txBody>
                    <a:bodyPr/>
                    <a:lstStyle/>
                    <a:p>
                      <a:pPr algn="ctr"/>
                      <a:r>
                        <a:rPr sz="1500" b="0">
                          <a:solidFill>
                            <a:srgbClr val="142B33"/>
                          </a:solidFill>
                          <a:latin typeface="Calibri"/>
                        </a:rPr>
                        <a:t>ac</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68</a:t>
                      </a:r>
                    </a:p>
                  </a:txBody>
                  <a:tcPr marL="73152" marR="73152" marT="27432" marB="27432" anchor="ctr">
                    <a:solidFill>
                      <a:srgbClr val="FFFFFF"/>
                    </a:solidFill>
                  </a:tcPr>
                </a:tc>
              </a:tr>
              <a:tr h="351282">
                <a:tc>
                  <a:txBody>
                    <a:bodyPr/>
                    <a:lstStyle/>
                    <a:p>
                      <a:pPr algn="ctr"/>
                      <a:r>
                        <a:rPr sz="1500" b="0">
                          <a:solidFill>
                            <a:srgbClr val="142B33"/>
                          </a:solidFill>
                          <a:latin typeface="Calibri"/>
                        </a:rPr>
                        <a:t>bc</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64</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700491"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½ (ℓ + ℓ′) → el efecto principal</a:t>
            </a:r>
          </a:p>
          <a:p>
            <a:pPr algn="ctr"/>
            <a:r>
              <a:rPr sz="1700" b="0">
                <a:solidFill>
                  <a:srgbClr val="0F4C5C"/>
                </a:solidFill>
                <a:latin typeface="Cambria Math"/>
              </a:rPr>
              <a:t>½ (ℓ − ℓ′) → su alias</a:t>
            </a:r>
          </a:p>
        </p:txBody>
      </p:sp>
      <p:graphicFrame>
        <p:nvGraphicFramePr>
          <p:cNvPr id="5" name="Table 4"/>
          <p:cNvGraphicFramePr>
            <a:graphicFrameLocks noGrp="1"/>
          </p:cNvGraphicFramePr>
          <p:nvPr/>
        </p:nvGraphicFramePr>
        <p:xfrm>
          <a:off x="5660611" y="1417320"/>
          <a:ext cx="5982441" cy="1637538"/>
        </p:xfrm>
        <a:graphic>
          <a:graphicData uri="http://schemas.openxmlformats.org/drawingml/2006/table">
            <a:tbl>
              <a:tblPr firstRow="0" bandRow="0">
                <a:tableStyleId>{5C22544A-7EE6-4342-B048-85BDC9FD1C3A}</a:tableStyleId>
              </a:tblPr>
              <a:tblGrid>
                <a:gridCol w="852534"/>
                <a:gridCol w="1330248"/>
                <a:gridCol w="1521333"/>
                <a:gridCol w="1139163"/>
                <a:gridCol w="1139163"/>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ℓ′  (I = −ABC)</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10</a:t>
                      </a:r>
                    </a:p>
                  </a:txBody>
                  <a:tcPr marL="73152" marR="73152" marT="27432" marB="27432" anchor="ctr">
                    <a:solidFill>
                      <a:srgbClr val="FFFFFF"/>
                    </a:solidFill>
                  </a:tcPr>
                </a:tc>
                <a:tc>
                  <a:txBody>
                    <a:bodyPr/>
                    <a:lstStyle/>
                    <a:p>
                      <a:pPr algn="ctr"/>
                      <a:r>
                        <a:rPr sz="1500" b="0">
                          <a:solidFill>
                            <a:srgbClr val="142B33"/>
                          </a:solidFill>
                          <a:latin typeface="Calibri"/>
                        </a:rPr>
                        <a:t>A = 10</a:t>
                      </a:r>
                    </a:p>
                  </a:txBody>
                  <a:tcPr marL="73152" marR="73152" marT="27432" marB="27432" anchor="ctr">
                    <a:solidFill>
                      <a:srgbClr val="FFFFFF"/>
                    </a:solidFill>
                  </a:tcPr>
                </a:tc>
                <a:tc>
                  <a:txBody>
                    <a:bodyPr/>
                    <a:lstStyle/>
                    <a:p>
                      <a:pPr algn="ctr"/>
                      <a:r>
                        <a:rPr sz="1500" b="0">
                          <a:solidFill>
                            <a:srgbClr val="142B33"/>
                          </a:solidFill>
                          <a:latin typeface="Calibri"/>
                        </a:rPr>
                        <a:t>BC = 0</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B = 6</a:t>
                      </a:r>
                    </a:p>
                  </a:txBody>
                  <a:tcPr marL="73152" marR="73152" marT="27432" marB="27432" anchor="ctr">
                    <a:solidFill>
                      <a:srgbClr val="F4F8F9"/>
                    </a:solidFill>
                  </a:tcPr>
                </a:tc>
                <a:tc>
                  <a:txBody>
                    <a:bodyPr/>
                    <a:lstStyle/>
                    <a:p>
                      <a:pPr algn="ctr"/>
                      <a:r>
                        <a:rPr sz="1500" b="0">
                          <a:solidFill>
                            <a:srgbClr val="142B33"/>
                          </a:solidFill>
                          <a:latin typeface="Calibri"/>
                        </a:rPr>
                        <a:t>AC = 0</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−8</a:t>
                      </a:r>
                    </a:p>
                  </a:txBody>
                  <a:tcPr marL="73152" marR="73152" marT="27432" marB="27432" anchor="ctr">
                    <a:solidFill>
                      <a:srgbClr val="FDE8D7"/>
                    </a:solidFill>
                  </a:tcPr>
                </a:tc>
                <a:tc>
                  <a:txBody>
                    <a:bodyPr/>
                    <a:lstStyle/>
                    <a:p>
                      <a:pPr algn="ctr"/>
                      <a:r>
                        <a:rPr sz="1500" b="0">
                          <a:solidFill>
                            <a:srgbClr val="142B33"/>
                          </a:solidFill>
                          <a:latin typeface="Calibri"/>
                        </a:rPr>
                        <a:t>C = 0</a:t>
                      </a:r>
                    </a:p>
                  </a:txBody>
                  <a:tcPr marL="73152" marR="73152" marT="27432" marB="27432" anchor="ctr">
                    <a:solidFill>
                      <a:srgbClr val="FDE8D7"/>
                    </a:solidFill>
                  </a:tcPr>
                </a:tc>
                <a:tc>
                  <a:txBody>
                    <a:bodyPr/>
                    <a:lstStyle/>
                    <a:p>
                      <a:pPr algn="ctr"/>
                      <a:r>
                        <a:rPr sz="1500" b="0">
                          <a:solidFill>
                            <a:srgbClr val="142B33"/>
                          </a:solidFill>
                          <a:latin typeface="Calibri"/>
                        </a:rPr>
                        <a:t>AB = 8</a:t>
                      </a:r>
                    </a:p>
                  </a:txBody>
                  <a:tcPr marL="73152" marR="73152" marT="27432" marB="27432" anchor="ctr">
                    <a:solidFill>
                      <a:srgbClr val="FDE8D7"/>
                    </a:solidFill>
                  </a:tcPr>
                </a:tc>
              </a:tr>
            </a:tbl>
          </a:graphicData>
        </a:graphic>
      </p:graphicFrame>
      <p:sp>
        <p:nvSpPr>
          <p:cNvPr id="6" name="Rounded Rectangle 5"/>
          <p:cNvSpPr/>
          <p:nvPr/>
        </p:nvSpPr>
        <p:spPr>
          <a:xfrm>
            <a:off x="5660611" y="3256025"/>
            <a:ext cx="5982443"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ℓ′</a:t>
            </a:r>
            <a:r>
              <a:rPr sz="1500" b="0" baseline="-25000">
                <a:solidFill>
                  <a:srgbClr val="0F4C5C"/>
                </a:solidFill>
                <a:latin typeface="Cambria Math"/>
              </a:rPr>
              <a:t>C</a:t>
            </a:r>
            <a:r>
              <a:rPr sz="1500" b="0">
                <a:solidFill>
                  <a:srgbClr val="0F4C5C"/>
                </a:solidFill>
                <a:latin typeface="Cambria Math"/>
              </a:rPr>
              <a:t> → C − AB  (en la segunda fracción x</a:t>
            </a:r>
            <a:r>
              <a:rPr sz="1500" b="0" baseline="-25000">
                <a:solidFill>
                  <a:srgbClr val="0F4C5C"/>
                </a:solidFill>
                <a:latin typeface="Cambria Math"/>
              </a:rPr>
              <a:t>A</a:t>
            </a:r>
            <a:r>
              <a:rPr sz="1500" b="0">
                <a:solidFill>
                  <a:srgbClr val="0F4C5C"/>
                </a:solidFill>
                <a:latin typeface="Cambria Math"/>
              </a:rPr>
              <a:t>x</a:t>
            </a:r>
            <a:r>
              <a:rPr sz="1500" b="0" baseline="-25000">
                <a:solidFill>
                  <a:srgbClr val="0F4C5C"/>
                </a:solidFill>
                <a:latin typeface="Cambria Math"/>
              </a:rPr>
              <a:t>B</a:t>
            </a:r>
            <a:r>
              <a:rPr sz="1500" b="0">
                <a:solidFill>
                  <a:srgbClr val="0F4C5C"/>
                </a:solidFill>
                <a:latin typeface="Cambria Math"/>
              </a:rPr>
              <a:t>x</a:t>
            </a:r>
            <a:r>
              <a:rPr sz="1500" b="0" baseline="-25000">
                <a:solidFill>
                  <a:srgbClr val="0F4C5C"/>
                </a:solidFill>
                <a:latin typeface="Cambria Math"/>
              </a:rPr>
              <a:t>C</a:t>
            </a:r>
            <a:r>
              <a:rPr sz="1500" b="0">
                <a:solidFill>
                  <a:srgbClr val="0F4C5C"/>
                </a:solidFill>
                <a:latin typeface="Cambria Math"/>
              </a:rPr>
              <a:t> = −1)</a:t>
            </a:r>
          </a:p>
        </p:txBody>
      </p:sp>
      <p:sp>
        <p:nvSpPr>
          <p:cNvPr id="7" name="Rounded Rectangle 6"/>
          <p:cNvSpPr/>
          <p:nvPr/>
        </p:nvSpPr>
        <p:spPr>
          <a:xfrm>
            <a:off x="5660611" y="3991813"/>
            <a:ext cx="5982443"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 = 0 y </a:t>
            </a:r>
            <a:r>
              <a:rPr sz="1500" b="1">
                <a:solidFill>
                  <a:srgbClr val="142B33"/>
                </a:solidFill>
                <a:latin typeface="Calibri"/>
              </a:rPr>
              <a:t>AB = 8</a:t>
            </a:r>
            <a:r>
              <a:rPr sz="1500" b="0">
                <a:solidFill>
                  <a:srgbClr val="142B33"/>
                </a:solidFill>
                <a:latin typeface="Calibri"/>
              </a:rPr>
              <a:t>: era la interacción, no el tiempo de infusión</a:t>
            </a:r>
          </a:p>
        </p:txBody>
      </p:sp>
      <p:sp>
        <p:nvSpPr>
          <p:cNvPr id="8" name="Rounded Rectangle 7"/>
          <p:cNvSpPr/>
          <p:nvPr/>
        </p:nvSpPr>
        <p:spPr>
          <a:xfrm>
            <a:off x="5660611" y="4932121"/>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4 + 4 corridas =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nada se desperdició</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47</a:t>
            </a:r>
          </a:p>
        </p:txBody>
      </p:sp>
      <p:sp>
        <p:nvSpPr>
          <p:cNvPr id="11" name="Rounded Rectangle 10"/>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significa proyectar un fraccionado?</a:t>
            </a:r>
          </a:p>
        </p:txBody>
      </p:sp>
      <p:sp>
        <p:nvSpPr>
          <p:cNvPr id="3" name="TextBox 2"/>
          <p:cNvSpPr txBox="1"/>
          <p:nvPr/>
        </p:nvSpPr>
        <p:spPr>
          <a:xfrm>
            <a:off x="548640"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Decidir qué factores son </a:t>
            </a:r>
            <a:r>
              <a:rPr sz="1600" b="1">
                <a:solidFill>
                  <a:srgbClr val="142B33"/>
                </a:solidFill>
                <a:latin typeface="Calibri"/>
              </a:rPr>
              <a:t>inactivos</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Borrar</a:t>
            </a:r>
            <a:r>
              <a:rPr sz="1600" b="0">
                <a:solidFill>
                  <a:srgbClr val="142B33"/>
                </a:solidFill>
                <a:latin typeface="Calibri"/>
              </a:rPr>
              <a:t> sus columnas de la tabla del diseño</a:t>
            </a:r>
          </a:p>
          <a:p>
            <a:pPr marL="320040" indent="-320040">
              <a:spcAft>
                <a:spcPts val="600"/>
              </a:spcAft>
              <a:buClr>
                <a:srgbClr val="E36414"/>
              </a:buClr>
              <a:buFont typeface="+mj-lt"/>
              <a:buAutoNum type="arabicPeriod"/>
            </a:pPr>
            <a:r>
              <a:rPr sz="1600" b="0">
                <a:solidFill>
                  <a:srgbClr val="142B33"/>
                </a:solidFill>
                <a:latin typeface="Calibri"/>
              </a:rPr>
              <a:t>​</a:t>
            </a:r>
            <a:r>
              <a:rPr sz="1600" b="1">
                <a:solidFill>
                  <a:srgbClr val="142B33"/>
                </a:solidFill>
                <a:latin typeface="Calibri"/>
              </a:rPr>
              <a:t>Contar</a:t>
            </a:r>
            <a:r>
              <a:rPr sz="1600" b="0">
                <a:solidFill>
                  <a:srgbClr val="142B33"/>
                </a:solidFill>
                <a:latin typeface="Calibri"/>
              </a:rPr>
              <a:t> cuántas veces aparece cada combinación de signos en las columnas que quedan</a:t>
            </a:r>
          </a:p>
          <a:p>
            <a:pPr marL="320040" indent="-320040">
              <a:spcAft>
                <a:spcPts val="600"/>
              </a:spcAft>
              <a:buClr>
                <a:srgbClr val="E36414"/>
              </a:buClr>
              <a:buFont typeface="+mj-lt"/>
              <a:buAutoNum type="arabicPeriod"/>
            </a:pPr>
            <a:r>
              <a:rPr sz="1600" b="0">
                <a:solidFill>
                  <a:srgbClr val="142B33"/>
                </a:solidFill>
                <a:latin typeface="Calibri"/>
              </a:rPr>
              <a:t>Leer el diseño que resulta: ¿están </a:t>
            </a:r>
            <a:r>
              <a:rPr sz="1600" b="1">
                <a:solidFill>
                  <a:srgbClr val="142B33"/>
                </a:solidFill>
                <a:latin typeface="Calibri"/>
              </a:rPr>
              <a:t>todas</a:t>
            </a:r>
            <a:r>
              <a:rPr sz="1600" b="0">
                <a:solidFill>
                  <a:srgbClr val="142B33"/>
                </a:solidFill>
                <a:latin typeface="Calibri"/>
              </a:rPr>
              <a:t> las combinaciones? ¿cuántas veces?</a:t>
            </a:r>
          </a:p>
        </p:txBody>
      </p:sp>
      <p:sp>
        <p:nvSpPr>
          <p:cNvPr id="4" name="Rounded Rectangle 3"/>
          <p:cNvSpPr/>
          <p:nvPr/>
        </p:nvSpPr>
        <p:spPr>
          <a:xfrm>
            <a:off x="548640" y="3435096"/>
            <a:ext cx="5341467"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2</a:t>
            </a:r>
            <a:r>
              <a:rPr sz="1500" b="0" baseline="30000">
                <a:solidFill>
                  <a:srgbClr val="142B33"/>
                </a:solidFill>
                <a:latin typeface="Calibri"/>
              </a:rPr>
              <a:t>6−2</a:t>
            </a:r>
            <a:r>
              <a:rPr sz="1500" b="0">
                <a:solidFill>
                  <a:srgbClr val="142B33"/>
                </a:solidFill>
                <a:latin typeface="Calibri"/>
              </a:rPr>
              <a:t> con solo A, B, C activos: </a:t>
            </a:r>
            <a:r>
              <a:rPr sz="1500" b="1">
                <a:solidFill>
                  <a:srgbClr val="142B33"/>
                </a:solidFill>
                <a:latin typeface="Calibri"/>
              </a:rPr>
              <a:t>8 combinaciones × 2 veces</a:t>
            </a:r>
            <a:r>
              <a:rPr sz="1500" b="0">
                <a:solidFill>
                  <a:srgbClr val="142B33"/>
                </a:solidFill>
                <a:latin typeface="Calibri"/>
              </a:rPr>
              <a:t> = dos réplicas de un 2</a:t>
            </a:r>
            <a:r>
              <a:rPr sz="1500" b="0" baseline="30000">
                <a:solidFill>
                  <a:srgbClr val="142B33"/>
                </a:solidFill>
                <a:latin typeface="Calibri"/>
              </a:rPr>
              <a:t>3</a:t>
            </a:r>
            <a:r>
              <a:rPr sz="1500" b="0">
                <a:solidFill>
                  <a:srgbClr val="142B33"/>
                </a:solidFill>
                <a:latin typeface="Calibri"/>
              </a:rPr>
              <a:t>  →  </a:t>
            </a:r>
            <a:r>
              <a:rPr sz="1500" b="1">
                <a:solidFill>
                  <a:srgbClr val="142B33"/>
                </a:solidFill>
                <a:latin typeface="Calibri"/>
              </a:rPr>
              <a:t>8 g.l. de error puro</a:t>
            </a:r>
          </a:p>
        </p:txBody>
      </p:sp>
      <p:graphicFrame>
        <p:nvGraphicFramePr>
          <p:cNvPr id="5" name="Table 4"/>
          <p:cNvGraphicFramePr>
            <a:graphicFrameLocks noGrp="1"/>
          </p:cNvGraphicFramePr>
          <p:nvPr/>
        </p:nvGraphicFramePr>
        <p:xfrm>
          <a:off x="6301587" y="1417320"/>
          <a:ext cx="5341464" cy="3161538"/>
        </p:xfrm>
        <a:graphic>
          <a:graphicData uri="http://schemas.openxmlformats.org/drawingml/2006/table">
            <a:tbl>
              <a:tblPr firstRow="0" bandRow="0">
                <a:tableStyleId>{5C22544A-7EE6-4342-B048-85BDC9FD1C3A}</a:tableStyleId>
              </a:tblPr>
              <a:tblGrid>
                <a:gridCol w="609536"/>
                <a:gridCol w="609536"/>
                <a:gridCol w="609536"/>
                <a:gridCol w="2069217"/>
                <a:gridCol w="1443639"/>
              </a:tblGrid>
              <a:tr h="35128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Corridas</a:t>
                      </a:r>
                    </a:p>
                  </a:txBody>
                  <a:tcPr marL="73152" marR="73152" marT="27432" marB="27432" anchor="ctr">
                    <a:solidFill>
                      <a:srgbClr val="0F4C5C"/>
                    </a:solidFill>
                  </a:tcPr>
                </a:tc>
                <a:tc>
                  <a:txBody>
                    <a:bodyPr/>
                    <a:lstStyle/>
                    <a:p>
                      <a:pPr algn="ctr"/>
                      <a:r>
                        <a:rPr sz="1500" b="1">
                          <a:solidFill>
                            <a:srgbClr val="FFFFFF"/>
                          </a:solidFill>
                          <a:latin typeface="Calibri"/>
                        </a:rPr>
                        <a:t>Veces</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1 y 9</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2 y 10</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 y 11</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4 y 12</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5 y 13</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 y 14</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7 y 15</a:t>
                      </a:r>
                    </a:p>
                  </a:txBody>
                  <a:tcPr marL="73152" marR="73152" marT="27432" marB="27432" anchor="ctr">
                    <a:solidFill>
                      <a:srgbClr val="FFFFFF"/>
                    </a:solidFill>
                  </a:tcPr>
                </a:tc>
                <a:tc>
                  <a:txBody>
                    <a:bodyPr/>
                    <a:lstStyle/>
                    <a:p>
                      <a:pPr algn="ctr"/>
                      <a:r>
                        <a:rPr sz="1500" b="0">
                          <a:solidFill>
                            <a:srgbClr val="142B33"/>
                          </a:solidFill>
                          <a:latin typeface="Calibri"/>
                        </a:rPr>
                        <a:t>2</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8 y 16</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r>
            </a:tbl>
          </a:graphicData>
        </a:graphic>
      </p:graphicFrame>
      <p:sp>
        <p:nvSpPr>
          <p:cNvPr id="6" name="TextBox 5"/>
          <p:cNvSpPr txBox="1"/>
          <p:nvPr/>
        </p:nvSpPr>
        <p:spPr>
          <a:xfrm>
            <a:off x="6301587" y="4780026"/>
            <a:ext cx="5341467" cy="222504"/>
          </a:xfrm>
          <a:prstGeom prst="rect">
            <a:avLst/>
          </a:prstGeom>
          <a:noFill/>
        </p:spPr>
        <p:txBody>
          <a:bodyPr wrap="square" anchor="t" lIns="0" rIns="0" tIns="0" bIns="0">
            <a:spAutoFit/>
          </a:bodyPr>
          <a:lstStyle/>
          <a:p>
            <a:r>
              <a:rPr sz="1200" b="0">
                <a:solidFill>
                  <a:srgbClr val="5B6B73"/>
                </a:solidFill>
                <a:latin typeface="Calibri"/>
              </a:rPr>
              <a:t>Corridas numeradas como en la tabla del 2</a:t>
            </a:r>
            <a:r>
              <a:rPr sz="1200" b="0" baseline="30000">
                <a:solidFill>
                  <a:srgbClr val="5B6B73"/>
                </a:solidFill>
                <a:latin typeface="Calibri"/>
              </a:rPr>
              <a:t>6−2</a:t>
            </a:r>
            <a:r>
              <a:rPr sz="1200" b="0">
                <a:solidFill>
                  <a:srgbClr val="5B6B73"/>
                </a:solidFill>
                <a:latin typeface="Calibri"/>
              </a:rPr>
              <a:t> (E = ABC, F = BCD)</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48</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¿Por qué importa si los factores forman una palabra?</a:t>
            </a:r>
          </a:p>
        </p:txBody>
      </p:sp>
      <p:graphicFrame>
        <p:nvGraphicFramePr>
          <p:cNvPr id="3" name="Table 2"/>
          <p:cNvGraphicFramePr>
            <a:graphicFrameLocks noGrp="1"/>
          </p:cNvGraphicFramePr>
          <p:nvPr/>
        </p:nvGraphicFramePr>
        <p:xfrm>
          <a:off x="548640" y="1417320"/>
          <a:ext cx="5127806" cy="3022092"/>
        </p:xfrm>
        <a:graphic>
          <a:graphicData uri="http://schemas.openxmlformats.org/drawingml/2006/table">
            <a:tbl>
              <a:tblPr firstRow="0" bandRow="0">
                <a:tableStyleId>{5C22544A-7EE6-4342-B048-85BDC9FD1C3A}</a:tableStyleId>
              </a:tblPr>
              <a:tblGrid>
                <a:gridCol w="525220"/>
                <a:gridCol w="525220"/>
                <a:gridCol w="525220"/>
                <a:gridCol w="525220"/>
                <a:gridCol w="1782984"/>
                <a:gridCol w="1243942"/>
              </a:tblGrid>
              <a:tr h="335788">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E</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Veces</a:t>
                      </a:r>
                    </a:p>
                  </a:txBody>
                  <a:tcPr marL="73152" marR="73152" marT="27432" marB="27432" anchor="ctr">
                    <a:solidFill>
                      <a:srgbClr val="0F4C5C"/>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1 y 9</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2 y 10</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3 y 11</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4 y 12</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5 y 13</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6 y 14</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r h="335788">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400" b="0">
                          <a:solidFill>
                            <a:srgbClr val="142B33"/>
                          </a:solidFill>
                          <a:latin typeface="Calibri"/>
                        </a:rPr>
                        <a:t>7 y 15</a:t>
                      </a:r>
                    </a:p>
                  </a:txBody>
                  <a:tcPr marL="73152" marR="73152" marT="27432" marB="27432" anchor="ctr">
                    <a:solidFill>
                      <a:srgbClr val="FFFFFF"/>
                    </a:solidFill>
                  </a:tcPr>
                </a:tc>
                <a:tc>
                  <a:txBody>
                    <a:bodyPr/>
                    <a:lstStyle/>
                    <a:p>
                      <a:pPr algn="ctr"/>
                      <a:r>
                        <a:rPr sz="1400" b="0">
                          <a:solidFill>
                            <a:srgbClr val="142B33"/>
                          </a:solidFill>
                          <a:latin typeface="Calibri"/>
                        </a:rPr>
                        <a:t>2</a:t>
                      </a:r>
                    </a:p>
                  </a:txBody>
                  <a:tcPr marL="73152" marR="73152" marT="27432" marB="27432" anchor="ctr">
                    <a:solidFill>
                      <a:srgbClr val="FFFFFF"/>
                    </a:solidFill>
                  </a:tcPr>
                </a:tc>
              </a:tr>
              <a:tr h="335788">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400" b="0">
                          <a:solidFill>
                            <a:srgbClr val="142B33"/>
                          </a:solidFill>
                          <a:latin typeface="Calibri"/>
                        </a:rPr>
                        <a:t>8 y 16</a:t>
                      </a:r>
                    </a:p>
                  </a:txBody>
                  <a:tcPr marL="73152" marR="73152" marT="27432" marB="27432" anchor="ctr">
                    <a:solidFill>
                      <a:srgbClr val="F4F8F9"/>
                    </a:solidFill>
                  </a:tcPr>
                </a:tc>
                <a:tc>
                  <a:txBody>
                    <a:bodyPr/>
                    <a:lstStyle/>
                    <a:p>
                      <a:pPr algn="ctr"/>
                      <a:r>
                        <a:rPr sz="1400" b="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127808"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En todas las filas </a:t>
            </a:r>
            <a:r>
              <a:rPr sz="1400" b="1">
                <a:solidFill>
                  <a:srgbClr val="142B33"/>
                </a:solidFill>
                <a:latin typeface="Calibri"/>
              </a:rPr>
              <a:t>E = A·B·C</a:t>
            </a:r>
            <a:r>
              <a:rPr sz="1400" b="0">
                <a:solidFill>
                  <a:srgbClr val="142B33"/>
                </a:solidFill>
                <a:latin typeface="Calibri"/>
              </a:rPr>
              <a:t>: falta la mitad de las combinaciones</a:t>
            </a:r>
          </a:p>
        </p:txBody>
      </p:sp>
      <p:graphicFrame>
        <p:nvGraphicFramePr>
          <p:cNvPr id="5" name="Table 4"/>
          <p:cNvGraphicFramePr>
            <a:graphicFrameLocks noGrp="1"/>
          </p:cNvGraphicFramePr>
          <p:nvPr/>
        </p:nvGraphicFramePr>
        <p:xfrm>
          <a:off x="6087928" y="1417320"/>
          <a:ext cx="5555124" cy="1560067"/>
        </p:xfrm>
        <a:graphic>
          <a:graphicData uri="http://schemas.openxmlformats.org/drawingml/2006/table">
            <a:tbl>
              <a:tblPr firstRow="0" bandRow="0">
                <a:tableStyleId>{5C22544A-7EE6-4342-B048-85BDC9FD1C3A}</a:tableStyleId>
              </a:tblPr>
              <a:tblGrid>
                <a:gridCol w="1388781"/>
                <a:gridCol w="1111025"/>
                <a:gridCol w="1222127"/>
                <a:gridCol w="1833191"/>
              </a:tblGrid>
              <a:tr h="552703">
                <a:tc>
                  <a:txBody>
                    <a:bodyPr/>
                    <a:lstStyle/>
                    <a:p>
                      <a:pPr algn="l"/>
                      <a:r>
                        <a:rPr sz="1400" b="1">
                          <a:solidFill>
                            <a:srgbClr val="FFFFFF"/>
                          </a:solidFill>
                          <a:latin typeface="Calibri"/>
                        </a:rPr>
                        <a:t>Factores activos</a:t>
                      </a:r>
                    </a:p>
                  </a:txBody>
                  <a:tcPr marL="73152" marR="73152" marT="27432" marB="27432" anchor="ctr">
                    <a:solidFill>
                      <a:srgbClr val="0F4C5C"/>
                    </a:solidFill>
                  </a:tcPr>
                </a:tc>
                <a:tc>
                  <a:txBody>
                    <a:bodyPr/>
                    <a:lstStyle/>
                    <a:p>
                      <a:pPr algn="ctr"/>
                      <a:r>
                        <a:rPr sz="1400" b="1">
                          <a:solidFill>
                            <a:srgbClr val="FFFFFF"/>
                          </a:solidFill>
                          <a:latin typeface="Calibri"/>
                        </a:rPr>
                        <a:t>¿Es palabra?</a:t>
                      </a:r>
                    </a:p>
                  </a:txBody>
                  <a:tcPr marL="73152" marR="73152" marT="27432" marB="27432" anchor="ctr">
                    <a:solidFill>
                      <a:srgbClr val="0F4C5C"/>
                    </a:solidFill>
                  </a:tcPr>
                </a:tc>
                <a:tc>
                  <a:txBody>
                    <a:bodyPr/>
                    <a:lstStyle/>
                    <a:p>
                      <a:pPr algn="ctr"/>
                      <a:r>
                        <a:rPr sz="1400" b="1">
                          <a:solidFill>
                            <a:srgbClr val="FFFFFF"/>
                          </a:solidFill>
                          <a:latin typeface="Calibri"/>
                        </a:rPr>
                        <a:t>Comb. × veces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r>
              <a:tr h="335788">
                <a:tc>
                  <a:txBody>
                    <a:bodyPr/>
                    <a:lstStyle/>
                    <a:p>
                      <a:pPr algn="l"/>
                      <a:r>
                        <a:rPr sz="1400" b="0">
                          <a:solidFill>
                            <a:srgbClr val="142B33"/>
                          </a:solidFill>
                          <a:latin typeface="Calibri"/>
                        </a:rPr>
                        <a:t>A, B, C, D</a:t>
                      </a:r>
                    </a:p>
                  </a:txBody>
                  <a:tcPr marL="73152" marR="73152" marT="27432" marB="27432" anchor="ctr">
                    <a:solidFill>
                      <a:srgbClr val="FFFFFF"/>
                    </a:solidFill>
                  </a:tcPr>
                </a:tc>
                <a:tc>
                  <a:txBody>
                    <a:bodyPr/>
                    <a:lstStyle/>
                    <a:p>
                      <a:pPr algn="ctr"/>
                      <a:r>
                        <a:rPr sz="1400" b="0">
                          <a:solidFill>
                            <a:srgbClr val="142B33"/>
                          </a:solidFill>
                          <a:latin typeface="Calibri"/>
                        </a:rPr>
                        <a:t>No</a:t>
                      </a:r>
                    </a:p>
                  </a:txBody>
                  <a:tcPr marL="73152" marR="73152" marT="27432" marB="27432" anchor="ctr">
                    <a:solidFill>
                      <a:srgbClr val="FFFFFF"/>
                    </a:solidFill>
                  </a:tcPr>
                </a:tc>
                <a:tc>
                  <a:txBody>
                    <a:bodyPr/>
                    <a:lstStyle/>
                    <a:p>
                      <a:pPr algn="ctr"/>
                      <a:r>
                        <a:rPr sz="1400" b="0">
                          <a:solidFill>
                            <a:srgbClr val="142B33"/>
                          </a:solidFill>
                          <a:latin typeface="Calibri"/>
                        </a:rPr>
                        <a:t>16 × 1</a:t>
                      </a:r>
                    </a:p>
                  </a:txBody>
                  <a:tcPr marL="73152" marR="73152" marT="27432" marB="27432" anchor="ctr">
                    <a:solidFill>
                      <a:srgbClr val="FFFFFF"/>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FFFFF"/>
                    </a:solidFill>
                  </a:tcPr>
                </a:tc>
              </a:tr>
              <a:tr h="335788">
                <a:tc>
                  <a:txBody>
                    <a:bodyPr/>
                    <a:lstStyle/>
                    <a:p>
                      <a:pPr algn="l"/>
                      <a:r>
                        <a:rPr sz="1400" b="0">
                          <a:solidFill>
                            <a:srgbClr val="142B33"/>
                          </a:solidFill>
                          <a:latin typeface="Calibri"/>
                        </a:rPr>
                        <a:t>A, B, E, F</a:t>
                      </a:r>
                    </a:p>
                  </a:txBody>
                  <a:tcPr marL="73152" marR="73152" marT="27432" marB="27432" anchor="ctr">
                    <a:solidFill>
                      <a:srgbClr val="F4F8F9"/>
                    </a:solidFill>
                  </a:tcPr>
                </a:tc>
                <a:tc>
                  <a:txBody>
                    <a:bodyPr/>
                    <a:lstStyle/>
                    <a:p>
                      <a:pPr algn="ctr"/>
                      <a:r>
                        <a:rPr sz="1400" b="0">
                          <a:solidFill>
                            <a:srgbClr val="142B33"/>
                          </a:solidFill>
                          <a:latin typeface="Calibri"/>
                        </a:rPr>
                        <a:t>No</a:t>
                      </a:r>
                    </a:p>
                  </a:txBody>
                  <a:tcPr marL="73152" marR="73152" marT="27432" marB="27432" anchor="ctr">
                    <a:solidFill>
                      <a:srgbClr val="F4F8F9"/>
                    </a:solidFill>
                  </a:tcPr>
                </a:tc>
                <a:tc>
                  <a:txBody>
                    <a:bodyPr/>
                    <a:lstStyle/>
                    <a:p>
                      <a:pPr algn="ctr"/>
                      <a:r>
                        <a:rPr sz="1400" b="0">
                          <a:solidFill>
                            <a:srgbClr val="142B33"/>
                          </a:solidFill>
                          <a:latin typeface="Calibri"/>
                        </a:rPr>
                        <a:t>16 × 1</a:t>
                      </a:r>
                    </a:p>
                  </a:txBody>
                  <a:tcPr marL="73152" marR="73152" marT="27432" marB="27432" anchor="ctr">
                    <a:solidFill>
                      <a:srgbClr val="F4F8F9"/>
                    </a:solidFill>
                  </a:tcPr>
                </a:tc>
                <a:tc>
                  <a:txBody>
                    <a:bodyPr/>
                    <a:lstStyle/>
                    <a:p>
                      <a:pPr algn="ctr"/>
                      <a:r>
                        <a:rPr sz="1400" b="1">
                          <a:solidFill>
                            <a:srgbClr val="142B33"/>
                          </a:solidFill>
                          <a:latin typeface="Calibri"/>
                        </a:rPr>
                        <a:t>2</a:t>
                      </a:r>
                      <a:r>
                        <a:rPr sz="1400" b="1" baseline="30000">
                          <a:solidFill>
                            <a:srgbClr val="142B33"/>
                          </a:solidFill>
                          <a:latin typeface="Calibri"/>
                        </a:rPr>
                        <a:t>4</a:t>
                      </a:r>
                      <a:r>
                        <a:rPr sz="1400" b="0">
                          <a:solidFill>
                            <a:srgbClr val="142B33"/>
                          </a:solidFill>
                          <a:latin typeface="Calibri"/>
                        </a:rPr>
                        <a:t> completo</a:t>
                      </a:r>
                    </a:p>
                  </a:txBody>
                  <a:tcPr marL="73152" marR="73152" marT="27432" marB="27432" anchor="ctr">
                    <a:solidFill>
                      <a:srgbClr val="F4F8F9"/>
                    </a:solidFill>
                  </a:tcPr>
                </a:tc>
              </a:tr>
              <a:tr h="335788">
                <a:tc>
                  <a:txBody>
                    <a:bodyPr/>
                    <a:lstStyle/>
                    <a:p>
                      <a:pPr algn="l"/>
                      <a:r>
                        <a:rPr sz="1400" b="0">
                          <a:solidFill>
                            <a:srgbClr val="142B33"/>
                          </a:solidFill>
                          <a:latin typeface="Calibri"/>
                        </a:rPr>
                        <a:t>A, B, C, E</a:t>
                      </a:r>
                    </a:p>
                  </a:txBody>
                  <a:tcPr marL="73152" marR="73152" marT="27432" marB="27432" anchor="ctr">
                    <a:solidFill>
                      <a:srgbClr val="FDE8D7"/>
                    </a:solidFill>
                  </a:tcPr>
                </a:tc>
                <a:tc>
                  <a:txBody>
                    <a:bodyPr/>
                    <a:lstStyle/>
                    <a:p>
                      <a:pPr algn="ctr"/>
                      <a:r>
                        <a:rPr sz="1400" b="0">
                          <a:solidFill>
                            <a:srgbClr val="142B33"/>
                          </a:solidFill>
                          <a:latin typeface="Calibri"/>
                        </a:rPr>
                        <a:t>Sí (ABCE)</a:t>
                      </a:r>
                    </a:p>
                  </a:txBody>
                  <a:tcPr marL="73152" marR="73152" marT="27432" marB="27432" anchor="ctr">
                    <a:solidFill>
                      <a:srgbClr val="FDE8D7"/>
                    </a:solidFill>
                  </a:tcPr>
                </a:tc>
                <a:tc>
                  <a:txBody>
                    <a:bodyPr/>
                    <a:lstStyle/>
                    <a:p>
                      <a:pPr algn="ctr"/>
                      <a:r>
                        <a:rPr sz="1400" b="0">
                          <a:solidFill>
                            <a:srgbClr val="142B33"/>
                          </a:solidFill>
                          <a:latin typeface="Calibri"/>
                        </a:rPr>
                        <a:t>8 × 2</a:t>
                      </a:r>
                    </a:p>
                  </a:txBody>
                  <a:tcPr marL="73152" marR="73152" marT="27432" marB="27432" anchor="ctr">
                    <a:solidFill>
                      <a:srgbClr val="FDE8D7"/>
                    </a:solidFill>
                  </a:tcPr>
                </a:tc>
                <a:tc>
                  <a:txBody>
                    <a:bodyPr/>
                    <a:lstStyle/>
                    <a:p>
                      <a:pPr algn="ctr"/>
                      <a:r>
                        <a:rPr sz="1400" b="0">
                          <a:solidFill>
                            <a:srgbClr val="142B33"/>
                          </a:solidFill>
                          <a:latin typeface="Calibri"/>
                        </a:rPr>
                        <a:t>2 réplicas de </a:t>
                      </a:r>
                      <a:r>
                        <a:rPr sz="1400" b="1">
                          <a:solidFill>
                            <a:srgbClr val="142B33"/>
                          </a:solidFill>
                          <a:latin typeface="Calibri"/>
                        </a:rPr>
                        <a:t>2</a:t>
                      </a:r>
                      <a:r>
                        <a:rPr sz="1400" b="1" baseline="30000">
                          <a:solidFill>
                            <a:srgbClr val="142B33"/>
                          </a:solidFill>
                          <a:latin typeface="Calibri"/>
                        </a:rPr>
                        <a:t>4−1</a:t>
                      </a:r>
                    </a:p>
                  </a:txBody>
                  <a:tcPr marL="73152" marR="73152" marT="27432" marB="27432" anchor="ctr">
                    <a:solidFill>
                      <a:srgbClr val="FDE8D7"/>
                    </a:solidFill>
                  </a:tcPr>
                </a:tc>
              </a:tr>
            </a:tbl>
          </a:graphicData>
        </a:graphic>
      </p:graphicFrame>
      <p:sp>
        <p:nvSpPr>
          <p:cNvPr id="6" name="Rounded Rectangle 5"/>
          <p:cNvSpPr/>
          <p:nvPr/>
        </p:nvSpPr>
        <p:spPr>
          <a:xfrm>
            <a:off x="6087928" y="3178556"/>
            <a:ext cx="5555126"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ABCE palabra  ⇒  x</a:t>
            </a:r>
            <a:r>
              <a:rPr sz="1600" b="0" baseline="-25000">
                <a:solidFill>
                  <a:srgbClr val="0F4C5C"/>
                </a:solidFill>
                <a:latin typeface="Cambria Math"/>
              </a:rPr>
              <a:t>A</a:t>
            </a:r>
            <a:r>
              <a:rPr sz="1600" b="0">
                <a:solidFill>
                  <a:srgbClr val="0F4C5C"/>
                </a:solidFill>
                <a:latin typeface="Cambria Math"/>
              </a:rPr>
              <a:t>x</a:t>
            </a:r>
            <a:r>
              <a:rPr sz="1600" b="0" baseline="-25000">
                <a:solidFill>
                  <a:srgbClr val="0F4C5C"/>
                </a:solidFill>
                <a:latin typeface="Cambria Math"/>
              </a:rPr>
              <a:t>B</a:t>
            </a:r>
            <a:r>
              <a:rPr sz="1600" b="0">
                <a:solidFill>
                  <a:srgbClr val="0F4C5C"/>
                </a:solidFill>
                <a:latin typeface="Cambria Math"/>
              </a:rPr>
              <a:t>x</a:t>
            </a:r>
            <a:r>
              <a:rPr sz="1600" b="0" baseline="-25000">
                <a:solidFill>
                  <a:srgbClr val="0F4C5C"/>
                </a:solidFill>
                <a:latin typeface="Cambria Math"/>
              </a:rPr>
              <a:t>C</a:t>
            </a:r>
            <a:r>
              <a:rPr sz="1600" b="0">
                <a:solidFill>
                  <a:srgbClr val="0F4C5C"/>
                </a:solidFill>
                <a:latin typeface="Cambria Math"/>
              </a:rPr>
              <a:t>x</a:t>
            </a:r>
            <a:r>
              <a:rPr sz="1600" b="0" baseline="-25000">
                <a:solidFill>
                  <a:srgbClr val="0F4C5C"/>
                </a:solidFill>
                <a:latin typeface="Cambria Math"/>
              </a:rPr>
              <a:t>E</a:t>
            </a:r>
            <a:r>
              <a:rPr sz="1600" b="0">
                <a:solidFill>
                  <a:srgbClr val="0F4C5C"/>
                </a:solidFill>
                <a:latin typeface="Cambria Math"/>
              </a:rPr>
              <a:t> = +1 siempre</a:t>
            </a:r>
          </a:p>
          <a:p>
            <a:pPr algn="ctr"/>
            <a:r>
              <a:rPr sz="1600" b="0">
                <a:solidFill>
                  <a:srgbClr val="0F4C5C"/>
                </a:solidFill>
                <a:latin typeface="Cambria Math"/>
              </a:rPr>
              <a:t>⇒  E queda fijado por A, B y C</a:t>
            </a:r>
          </a:p>
        </p:txBody>
      </p:sp>
      <p:sp>
        <p:nvSpPr>
          <p:cNvPr id="7" name="Rounded Rectangle 6"/>
          <p:cNvSpPr/>
          <p:nvPr/>
        </p:nvSpPr>
        <p:spPr>
          <a:xfrm>
            <a:off x="6087928" y="4209348"/>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Factorial completo ⇔ el subconjunto </a:t>
            </a:r>
            <a:r>
              <a:rPr sz="1500" b="1">
                <a:solidFill>
                  <a:srgbClr val="142B33"/>
                </a:solidFill>
                <a:latin typeface="Calibri"/>
              </a:rPr>
              <a:t>no contiene una palabra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49</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¿en qué se proyecta el 2</a:t>
            </a:r>
            <a:r>
              <a:rPr sz="3000" b="1" baseline="30000">
                <a:solidFill>
                  <a:srgbClr val="0F4C5C"/>
                </a:solidFill>
                <a:latin typeface="Cambria"/>
              </a:rPr>
              <a:t>6−2</a:t>
            </a:r>
            <a:r>
              <a:rPr sz="3000" b="1">
                <a:solidFill>
                  <a:srgbClr val="0F4C5C"/>
                </a:solidFill>
                <a:latin typeface="Cambria"/>
              </a:rPr>
              <a:t>?</a:t>
            </a:r>
          </a:p>
        </p:txBody>
      </p:sp>
      <p:graphicFrame>
        <p:nvGraphicFramePr>
          <p:cNvPr id="3" name="Table 2"/>
          <p:cNvGraphicFramePr>
            <a:graphicFrameLocks noGrp="1"/>
          </p:cNvGraphicFramePr>
          <p:nvPr/>
        </p:nvGraphicFramePr>
        <p:xfrm>
          <a:off x="548640" y="1417320"/>
          <a:ext cx="5982443" cy="2221230"/>
        </p:xfrm>
        <a:graphic>
          <a:graphicData uri="http://schemas.openxmlformats.org/drawingml/2006/table">
            <a:tbl>
              <a:tblPr firstRow="0" bandRow="0">
                <a:tableStyleId>{5C22544A-7EE6-4342-B048-85BDC9FD1C3A}</a:tableStyleId>
              </a:tblPr>
              <a:tblGrid>
                <a:gridCol w="3290344"/>
                <a:gridCol w="2692099"/>
              </a:tblGrid>
              <a:tr h="351282">
                <a:tc>
                  <a:txBody>
                    <a:bodyPr/>
                    <a:lstStyle/>
                    <a:p>
                      <a:pPr algn="l"/>
                      <a:r>
                        <a:rPr sz="1500" b="1">
                          <a:solidFill>
                            <a:srgbClr val="FFFFFF"/>
                          </a:solidFill>
                          <a:latin typeface="Calibri"/>
                        </a:rPr>
                        <a:t>Subconjunto de factores</a:t>
                      </a:r>
                    </a:p>
                  </a:txBody>
                  <a:tcPr marL="73152" marR="73152" marT="27432" marB="27432" anchor="ctr">
                    <a:solidFill>
                      <a:srgbClr val="0F4C5C"/>
                    </a:solidFill>
                  </a:tcPr>
                </a:tc>
                <a:tc>
                  <a:txBody>
                    <a:bodyPr/>
                    <a:lstStyle/>
                    <a:p>
                      <a:pPr algn="ctr"/>
                      <a:r>
                        <a:rPr sz="1500" b="1">
                          <a:solidFill>
                            <a:srgbClr val="FFFFFF"/>
                          </a:solidFill>
                          <a:latin typeface="Calibri"/>
                        </a:rPr>
                        <a:t>Se proyecta en…</a:t>
                      </a:r>
                    </a:p>
                  </a:txBody>
                  <a:tcPr marL="73152" marR="73152" marT="27432" marB="27432" anchor="ctr">
                    <a:solidFill>
                      <a:srgbClr val="0F4C5C"/>
                    </a:solidFill>
                  </a:tcPr>
                </a:tc>
              </a:tr>
              <a:tr h="583692">
                <a:tc>
                  <a:txBody>
                    <a:bodyPr/>
                    <a:lstStyle/>
                    <a:p>
                      <a:pPr algn="l"/>
                      <a:r>
                        <a:rPr sz="1500" b="0">
                          <a:solidFill>
                            <a:srgbClr val="142B33"/>
                          </a:solidFill>
                          <a:latin typeface="Calibri"/>
                        </a:rPr>
                        <a:t>4 factores que </a:t>
                      </a:r>
                      <a:r>
                        <a:rPr sz="1500" b="1">
                          <a:solidFill>
                            <a:srgbClr val="142B33"/>
                          </a:solidFill>
                          <a:latin typeface="Calibri"/>
                        </a:rPr>
                        <a:t>no</a:t>
                      </a:r>
                      <a:r>
                        <a:rPr sz="1500" b="0">
                          <a:solidFill>
                            <a:srgbClr val="142B33"/>
                          </a:solidFill>
                          <a:latin typeface="Calibri"/>
                        </a:rPr>
                        <a:t> son palabra (12, p. ej. ABCD)</a:t>
                      </a:r>
                    </a:p>
                  </a:txBody>
                  <a:tcPr marL="73152" marR="73152" marT="27432" marB="27432" anchor="ctr">
                    <a:solidFill>
                      <a:srgbClr val="FFFFFF"/>
                    </a:solidFill>
                  </a:tcPr>
                </a:tc>
                <a:tc>
                  <a:txBody>
                    <a:bodyPr/>
                    <a:lstStyle/>
                    <a:p>
                      <a:pPr algn="ctr"/>
                      <a:r>
                        <a:rPr sz="1500" b="0">
                          <a:solidFill>
                            <a:srgbClr val="142B33"/>
                          </a:solidFill>
                          <a:latin typeface="Calibri"/>
                        </a:rPr>
                        <a:t>Una réplica de un </a:t>
                      </a:r>
                      <a:r>
                        <a:rPr sz="1500" b="1">
                          <a:solidFill>
                            <a:srgbClr val="142B33"/>
                          </a:solidFill>
                          <a:latin typeface="Calibri"/>
                        </a:rPr>
                        <a:t>2</a:t>
                      </a:r>
                      <a:r>
                        <a:rPr sz="1500" b="1" baseline="30000">
                          <a:solidFill>
                            <a:srgbClr val="142B33"/>
                          </a:solidFill>
                          <a:latin typeface="Calibri"/>
                        </a:rPr>
                        <a:t>4</a:t>
                      </a:r>
                      <a:r>
                        <a:rPr sz="1500" b="1">
                          <a:solidFill>
                            <a:srgbClr val="142B33"/>
                          </a:solidFill>
                          <a:latin typeface="Calibri"/>
                        </a:rPr>
                        <a:t> completo</a:t>
                      </a:r>
                    </a:p>
                  </a:txBody>
                  <a:tcPr marL="73152" marR="73152" marT="27432" marB="27432" anchor="ctr">
                    <a:solidFill>
                      <a:srgbClr val="FFFFFF"/>
                    </a:solidFill>
                  </a:tcPr>
                </a:tc>
              </a:tr>
              <a:tr h="583692">
                <a:tc>
                  <a:txBody>
                    <a:bodyPr/>
                    <a:lstStyle/>
                    <a:p>
                      <a:pPr algn="l"/>
                      <a:r>
                        <a:rPr sz="1500" b="0">
                          <a:solidFill>
                            <a:srgbClr val="142B33"/>
                          </a:solidFill>
                          <a:latin typeface="Calibri"/>
                        </a:rPr>
                        <a:t>4 factores que </a:t>
                      </a:r>
                      <a:r>
                        <a:rPr sz="1500" b="1">
                          <a:solidFill>
                            <a:srgbClr val="142B33"/>
                          </a:solidFill>
                          <a:latin typeface="Calibri"/>
                        </a:rPr>
                        <a:t>sí</a:t>
                      </a:r>
                      <a:r>
                        <a:rPr sz="1500" b="0">
                          <a:solidFill>
                            <a:srgbClr val="142B33"/>
                          </a:solidFill>
                          <a:latin typeface="Calibri"/>
                        </a:rPr>
                        <a:t> son palabra (ABCE, BCDF, ADEF)</a:t>
                      </a:r>
                    </a:p>
                  </a:txBody>
                  <a:tcPr marL="73152" marR="73152" marT="27432" marB="27432" anchor="ctr">
                    <a:solidFill>
                      <a:srgbClr val="F4F8F9"/>
                    </a:solidFill>
                  </a:tcPr>
                </a:tc>
                <a:tc>
                  <a:txBody>
                    <a:bodyPr/>
                    <a:lstStyle/>
                    <a:p>
                      <a:pPr algn="ctr"/>
                      <a:r>
                        <a:rPr sz="1500" b="0">
                          <a:solidFill>
                            <a:srgbClr val="142B33"/>
                          </a:solidFill>
                          <a:latin typeface="Calibri"/>
                        </a:rPr>
                        <a:t>Dos réplicas de un </a:t>
                      </a:r>
                      <a:r>
                        <a:rPr sz="1500" b="1">
                          <a:solidFill>
                            <a:srgbClr val="142B33"/>
                          </a:solidFill>
                          <a:latin typeface="Calibri"/>
                        </a:rPr>
                        <a:t>2</a:t>
                      </a:r>
                      <a:r>
                        <a:rPr sz="1500" b="1" baseline="30000">
                          <a:solidFill>
                            <a:srgbClr val="142B33"/>
                          </a:solidFill>
                          <a:latin typeface="Calibri"/>
                        </a:rPr>
                        <a:t>4−1</a:t>
                      </a:r>
                    </a:p>
                  </a:txBody>
                  <a:tcPr marL="73152" marR="73152" marT="27432" marB="27432" anchor="ctr">
                    <a:solidFill>
                      <a:srgbClr val="F4F8F9"/>
                    </a:solidFill>
                  </a:tcPr>
                </a:tc>
              </a:tr>
              <a:tr h="351282">
                <a:tc>
                  <a:txBody>
                    <a:bodyPr/>
                    <a:lstStyle/>
                    <a:p>
                      <a:pPr algn="l"/>
                      <a:r>
                        <a:rPr sz="1500" b="0">
                          <a:solidFill>
                            <a:srgbClr val="142B33"/>
                          </a:solidFill>
                          <a:latin typeface="Calibri"/>
                        </a:rPr>
                        <a:t>Cualesquiera 3 factores</a:t>
                      </a:r>
                    </a:p>
                  </a:txBody>
                  <a:tcPr marL="73152" marR="73152" marT="27432" marB="27432" anchor="ctr">
                    <a:solidFill>
                      <a:srgbClr val="FFFFFF"/>
                    </a:solidFill>
                  </a:tcPr>
                </a:tc>
                <a:tc>
                  <a:txBody>
                    <a:bodyPr/>
                    <a:lstStyle/>
                    <a:p>
                      <a:pPr algn="ctr"/>
                      <a:r>
                        <a:rPr sz="1500" b="0">
                          <a:solidFill>
                            <a:srgbClr val="142B33"/>
                          </a:solidFill>
                          <a:latin typeface="Calibri"/>
                        </a:rPr>
                        <a:t>Dos réplicas de un </a:t>
                      </a:r>
                      <a:r>
                        <a:rPr sz="1500" b="1">
                          <a:solidFill>
                            <a:srgbClr val="142B33"/>
                          </a:solidFill>
                          <a:latin typeface="Calibri"/>
                        </a:rPr>
                        <a:t>2</a:t>
                      </a:r>
                      <a:r>
                        <a:rPr sz="1500" b="1" baseline="30000">
                          <a:solidFill>
                            <a:srgbClr val="142B33"/>
                          </a:solidFill>
                          <a:latin typeface="Calibri"/>
                        </a:rPr>
                        <a:t>3</a:t>
                      </a:r>
                    </a:p>
                  </a:txBody>
                  <a:tcPr marL="73152" marR="73152" marT="27432" marB="27432" anchor="ctr">
                    <a:solidFill>
                      <a:srgbClr val="FFFFFF"/>
                    </a:solidFill>
                  </a:tcPr>
                </a:tc>
              </a:tr>
              <a:tr h="351282">
                <a:tc>
                  <a:txBody>
                    <a:bodyPr/>
                    <a:lstStyle/>
                    <a:p>
                      <a:pPr algn="l"/>
                      <a:r>
                        <a:rPr sz="1500" b="0">
                          <a:solidFill>
                            <a:srgbClr val="142B33"/>
                          </a:solidFill>
                          <a:latin typeface="Calibri"/>
                        </a:rPr>
                        <a:t>Cualesquiera 2 factores</a:t>
                      </a:r>
                    </a:p>
                  </a:txBody>
                  <a:tcPr marL="73152" marR="73152" marT="27432" marB="27432" anchor="ctr">
                    <a:solidFill>
                      <a:srgbClr val="F4F8F9"/>
                    </a:solidFill>
                  </a:tcPr>
                </a:tc>
                <a:tc>
                  <a:txBody>
                    <a:bodyPr/>
                    <a:lstStyle/>
                    <a:p>
                      <a:pPr algn="ctr"/>
                      <a:r>
                        <a:rPr sz="1500" b="0">
                          <a:solidFill>
                            <a:srgbClr val="142B33"/>
                          </a:solidFill>
                          <a:latin typeface="Calibri"/>
                        </a:rPr>
                        <a:t>Cuatro réplicas de un </a:t>
                      </a:r>
                      <a:r>
                        <a:rPr sz="1500" b="1">
                          <a:solidFill>
                            <a:srgbClr val="142B33"/>
                          </a:solidFill>
                          <a:latin typeface="Calibri"/>
                        </a:rPr>
                        <a:t>2</a:t>
                      </a:r>
                      <a:r>
                        <a:rPr sz="1500" b="1" baseline="30000">
                          <a:solidFill>
                            <a:srgbClr val="142B33"/>
                          </a:solidFill>
                          <a:latin typeface="Calibri"/>
                        </a:rPr>
                        <a:t>2</a:t>
                      </a:r>
                    </a:p>
                  </a:txBody>
                  <a:tcPr marL="73152" marR="73152" marT="27432" marB="27432" anchor="ctr">
                    <a:solidFill>
                      <a:srgbClr val="F4F8F9"/>
                    </a:solidFill>
                  </a:tcPr>
                </a:tc>
              </a:tr>
            </a:tbl>
          </a:graphicData>
        </a:graphic>
      </p:graphicFrame>
      <p:sp>
        <p:nvSpPr>
          <p:cNvPr id="4" name="Rounded Rectangle 3"/>
          <p:cNvSpPr/>
          <p:nvPr/>
        </p:nvSpPr>
        <p:spPr>
          <a:xfrm>
            <a:off x="6942563" y="1417320"/>
            <a:ext cx="4700491"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Subconjunto que </a:t>
            </a:r>
            <a:r>
              <a:rPr sz="1800" b="1">
                <a:solidFill>
                  <a:srgbClr val="0F4C5C"/>
                </a:solidFill>
                <a:latin typeface="Cambria Math"/>
              </a:rPr>
              <a:t>no</a:t>
            </a:r>
            <a:r>
              <a:rPr sz="1800" b="0">
                <a:solidFill>
                  <a:srgbClr val="0F4C5C"/>
                </a:solidFill>
                <a:latin typeface="Cambria Math"/>
              </a:rPr>
              <a:t> es palabra ⇒ factorial completo</a:t>
            </a:r>
          </a:p>
        </p:txBody>
      </p:sp>
      <p:sp>
        <p:nvSpPr>
          <p:cNvPr id="5" name="TextBox 4"/>
          <p:cNvSpPr txBox="1"/>
          <p:nvPr/>
        </p:nvSpPr>
        <p:spPr>
          <a:xfrm>
            <a:off x="6942563" y="2205167"/>
            <a:ext cx="4700491" cy="11562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En general: completo o fraccionado en cualquier subconjunto de </a:t>
            </a:r>
            <a:r>
              <a:rPr sz="1600" b="1">
                <a:solidFill>
                  <a:srgbClr val="142B33"/>
                </a:solidFill>
                <a:latin typeface="Calibri"/>
              </a:rPr>
              <a:t>r ≤ k − 2</a:t>
            </a:r>
            <a:r>
              <a:rPr sz="1600" b="0">
                <a:solidFill>
                  <a:srgbClr val="142B33"/>
                </a:solidFill>
                <a:latin typeface="Calibri"/>
              </a:rPr>
              <a:t> factores</a:t>
            </a:r>
          </a:p>
          <a:p>
            <a:pPr marL="320040" indent="-320040">
              <a:spcAft>
                <a:spcPts val="600"/>
              </a:spcAft>
              <a:buClr>
                <a:srgbClr val="E36414"/>
              </a:buClr>
              <a:buFont typeface="Arial"/>
              <a:buChar char="•"/>
            </a:pPr>
            <a:r>
              <a:rPr sz="1600" b="0">
                <a:solidFill>
                  <a:srgbClr val="142B33"/>
                </a:solidFill>
                <a:latin typeface="Calibri"/>
              </a:rPr>
              <a:t>Por eso conviene que los factores que se creen importantes </a:t>
            </a:r>
            <a:r>
              <a:rPr sz="1600" b="1">
                <a:solidFill>
                  <a:srgbClr val="142B33"/>
                </a:solidFill>
                <a:latin typeface="Calibri"/>
              </a:rPr>
              <a:t>no formen una palabra</a:t>
            </a:r>
          </a:p>
        </p:txBody>
      </p:sp>
      <p:sp>
        <p:nvSpPr>
          <p:cNvPr id="6" name="Rounded Rectangle 5"/>
          <p:cNvSpPr/>
          <p:nvPr/>
        </p:nvSpPr>
        <p:spPr>
          <a:xfrm>
            <a:off x="6942563" y="3562543"/>
            <a:ext cx="4700491" cy="97155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De los 15 subconjuntos de 4 factores: </a:t>
            </a:r>
            <a:r>
              <a:rPr sz="1500" b="1">
                <a:solidFill>
                  <a:srgbClr val="142B33"/>
                </a:solidFill>
                <a:latin typeface="Calibri"/>
              </a:rPr>
              <a:t>12</a:t>
            </a:r>
            <a:r>
              <a:rPr sz="1500" b="0">
                <a:solidFill>
                  <a:srgbClr val="142B33"/>
                </a:solidFill>
                <a:latin typeface="Calibri"/>
              </a:rPr>
              <a:t> dan un 2</a:t>
            </a:r>
            <a:r>
              <a:rPr sz="1500" b="0" baseline="30000">
                <a:solidFill>
                  <a:srgbClr val="142B33"/>
                </a:solidFill>
                <a:latin typeface="Calibri"/>
              </a:rPr>
              <a:t>4</a:t>
            </a:r>
            <a:r>
              <a:rPr sz="1500" b="0">
                <a:solidFill>
                  <a:srgbClr val="142B33"/>
                </a:solidFill>
                <a:latin typeface="Calibri"/>
              </a:rPr>
              <a:t> completo y </a:t>
            </a:r>
            <a:r>
              <a:rPr sz="1500" b="1">
                <a:solidFill>
                  <a:srgbClr val="142B33"/>
                </a:solidFill>
                <a:latin typeface="Calibri"/>
              </a:rPr>
              <a:t>3</a:t>
            </a:r>
            <a:r>
              <a:rPr sz="1500" b="0">
                <a:solidFill>
                  <a:srgbClr val="142B33"/>
                </a:solidFill>
                <a:latin typeface="Calibri"/>
              </a:rPr>
              <a:t> (las palabras) dan un 2</a:t>
            </a:r>
            <a:r>
              <a:rPr sz="1500" b="0" baseline="30000">
                <a:solidFill>
                  <a:srgbClr val="142B33"/>
                </a:solidFill>
                <a:latin typeface="Calibri"/>
              </a:rPr>
              <a:t>4−1</a:t>
            </a:r>
            <a:r>
              <a:rPr sz="1500" b="0">
                <a:solidFill>
                  <a:srgbClr val="142B33"/>
                </a:solidFill>
                <a:latin typeface="Calibri"/>
              </a:rPr>
              <a:t> replicado</a:t>
            </a:r>
          </a:p>
        </p:txBody>
      </p:sp>
      <p:sp>
        <p:nvSpPr>
          <p:cNvPr id="7" name="Rounded Rectangle 6"/>
          <p:cNvSpPr/>
          <p:nvPr/>
        </p:nvSpPr>
        <p:spPr>
          <a:xfrm>
            <a:off x="6942563" y="4735261"/>
            <a:ext cx="4700491"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En el ejemplo 3 solo A y B resultan activos: el 2</a:t>
            </a:r>
            <a:r>
              <a:rPr sz="1500" b="0" baseline="30000">
                <a:solidFill>
                  <a:srgbClr val="142B33"/>
                </a:solidFill>
                <a:latin typeface="Calibri"/>
              </a:rPr>
              <a:t>6−2</a:t>
            </a:r>
            <a:r>
              <a:rPr sz="1500" b="0">
                <a:solidFill>
                  <a:srgbClr val="142B33"/>
                </a:solidFill>
                <a:latin typeface="Calibri"/>
              </a:rPr>
              <a:t> queda en </a:t>
            </a:r>
            <a:r>
              <a:rPr sz="1500" b="1">
                <a:solidFill>
                  <a:srgbClr val="142B33"/>
                </a:solidFill>
                <a:latin typeface="Calibri"/>
              </a:rPr>
              <a:t>cuatro réplicas de un 2</a:t>
            </a:r>
            <a:r>
              <a:rPr sz="1500" b="1" baseline="30000">
                <a:solidFill>
                  <a:srgbClr val="142B33"/>
                </a:solidFill>
                <a:latin typeface="Calibri"/>
              </a:rPr>
              <a:t>2</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50</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Enunciado: contracción en moldeo por inyección</a:t>
            </a:r>
          </a:p>
        </p:txBody>
      </p:sp>
      <p:sp>
        <p:nvSpPr>
          <p:cNvPr id="3" name="TextBox 2"/>
          <p:cNvSpPr txBox="1"/>
          <p:nvPr/>
        </p:nvSpPr>
        <p:spPr>
          <a:xfrm>
            <a:off x="548640" y="1417320"/>
            <a:ext cx="6196102" cy="780288"/>
          </a:xfrm>
          <a:prstGeom prst="rect">
            <a:avLst/>
          </a:prstGeom>
          <a:noFill/>
        </p:spPr>
        <p:txBody>
          <a:bodyPr wrap="square" anchor="t" lIns="0" rIns="0" tIns="0" bIns="0">
            <a:spAutoFit/>
          </a:bodyPr>
          <a:lstStyle/>
          <a:p>
            <a:r>
              <a:rPr sz="1600" b="0">
                <a:solidFill>
                  <a:srgbClr val="142B33"/>
                </a:solidFill>
                <a:latin typeface="Calibri"/>
              </a:rPr>
              <a:t>Las piezas fabricadas en un proceso de moldeo por inyección presentan una </a:t>
            </a:r>
            <a:r>
              <a:rPr sz="1600" b="1">
                <a:solidFill>
                  <a:srgbClr val="142B33"/>
                </a:solidFill>
                <a:latin typeface="Calibri"/>
              </a:rPr>
              <a:t>contracción excesiva</a:t>
            </a:r>
            <a:r>
              <a:rPr sz="1600" b="0">
                <a:solidFill>
                  <a:srgbClr val="142B33"/>
                </a:solidFill>
                <a:latin typeface="Calibri"/>
              </a:rPr>
              <a:t>, y eso causa problemas en las operaciones de ensamble posteriores.</a:t>
            </a:r>
          </a:p>
        </p:txBody>
      </p:sp>
      <p:sp>
        <p:nvSpPr>
          <p:cNvPr id="4" name="TextBox 3"/>
          <p:cNvSpPr txBox="1"/>
          <p:nvPr/>
        </p:nvSpPr>
        <p:spPr>
          <a:xfrm>
            <a:off x="548640" y="2398775"/>
            <a:ext cx="6196102" cy="1523999"/>
          </a:xfrm>
          <a:prstGeom prst="rect">
            <a:avLst/>
          </a:prstGeom>
          <a:noFill/>
        </p:spPr>
        <p:txBody>
          <a:bodyPr wrap="square" anchor="t" lIns="0" rIns="0" tIns="0" bIns="0">
            <a:spAutoFit/>
          </a:bodyPr>
          <a:lstStyle/>
          <a:p>
            <a:r>
              <a:rPr sz="1600" b="0">
                <a:solidFill>
                  <a:srgbClr val="142B33"/>
                </a:solidFill>
                <a:latin typeface="Calibri"/>
              </a:rPr>
              <a:t>Un equipo de mejora de la calidad decide estudiar el proceso con un experimento diseñado. Investiga seis factores a dos niveles: A temperatura del molde, B velocidad del tornillo, C tiempo de retención, D duración del ciclo, E tamaño de la compuerta (vaciadero) y F presión de retención. La respuesta es la contracción (× 10).</a:t>
            </a:r>
          </a:p>
        </p:txBody>
      </p:sp>
      <p:sp>
        <p:nvSpPr>
          <p:cNvPr id="5" name="TextBox 4"/>
          <p:cNvSpPr txBox="1"/>
          <p:nvPr/>
        </p:nvSpPr>
        <p:spPr>
          <a:xfrm>
            <a:off x="548640" y="4123944"/>
            <a:ext cx="6196102" cy="780288"/>
          </a:xfrm>
          <a:prstGeom prst="rect">
            <a:avLst/>
          </a:prstGeom>
          <a:noFill/>
        </p:spPr>
        <p:txBody>
          <a:bodyPr wrap="square" anchor="t" lIns="0" rIns="0" tIns="0" bIns="0">
            <a:spAutoFit/>
          </a:bodyPr>
          <a:lstStyle/>
          <a:p>
            <a:r>
              <a:rPr sz="1600" b="0">
                <a:solidFill>
                  <a:srgbClr val="142B33"/>
                </a:solidFill>
                <a:latin typeface="Calibri"/>
              </a:rPr>
              <a:t>El factorial completo serían 64 corridas. El equipo usa un </a:t>
            </a:r>
            <a:r>
              <a:rPr sz="1600" b="1">
                <a:solidFill>
                  <a:srgbClr val="142B33"/>
                </a:solidFill>
                <a:latin typeface="Calibri"/>
              </a:rPr>
              <a:t>2</a:t>
            </a:r>
            <a:r>
              <a:rPr sz="1600" b="1" baseline="30000">
                <a:solidFill>
                  <a:srgbClr val="142B33"/>
                </a:solidFill>
                <a:latin typeface="Calibri"/>
              </a:rPr>
              <a:t>6−2</a:t>
            </a:r>
            <a:r>
              <a:rPr sz="1600" b="1">
                <a:solidFill>
                  <a:srgbClr val="142B33"/>
                </a:solidFill>
                <a:latin typeface="Calibri"/>
              </a:rPr>
              <a:t> de 16 corridas</a:t>
            </a:r>
            <a:r>
              <a:rPr sz="1600" b="0">
                <a:solidFill>
                  <a:srgbClr val="142B33"/>
                </a:solidFill>
                <a:latin typeface="Calibri"/>
              </a:rPr>
              <a:t>, con E = ABC y F = BCD, corridas en orden aleatorio.</a:t>
            </a:r>
          </a:p>
        </p:txBody>
      </p:sp>
      <p:sp>
        <p:nvSpPr>
          <p:cNvPr id="6" name="TextBox 5"/>
          <p:cNvSpPr txBox="1"/>
          <p:nvPr/>
        </p:nvSpPr>
        <p:spPr>
          <a:xfrm>
            <a:off x="548640" y="5105400"/>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8-4</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Aprender cómo afecta cada factor la contracción, </a:t>
            </a:r>
            <a:r>
              <a:rPr sz="1500" b="1">
                <a:solidFill>
                  <a:srgbClr val="142B33"/>
                </a:solidFill>
                <a:latin typeface="Calibri"/>
              </a:rPr>
              <a:t>algo de cómo interactúan</a:t>
            </a:r>
            <a:r>
              <a:rPr sz="1500" b="0">
                <a:solidFill>
                  <a:srgbClr val="142B33"/>
                </a:solidFill>
                <a:latin typeface="Calibri"/>
              </a:rPr>
              <a:t> y cómo </a:t>
            </a:r>
            <a:r>
              <a:rPr sz="1500" b="1">
                <a:solidFill>
                  <a:srgbClr val="142B33"/>
                </a:solidFill>
                <a:latin typeface="Calibri"/>
              </a:rPr>
              <a:t>reducirla</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la relación de definición y la resolución</a:t>
            </a:r>
          </a:p>
          <a:p>
            <a:pPr marL="320040" indent="-320040">
              <a:spcAft>
                <a:spcPts val="600"/>
              </a:spcAft>
              <a:buClr>
                <a:srgbClr val="E36414"/>
              </a:buClr>
              <a:buFont typeface="+mj-lt"/>
              <a:buAutoNum type="arabicPeriod"/>
            </a:pPr>
            <a:r>
              <a:rPr sz="1500" b="0">
                <a:solidFill>
                  <a:srgbClr val="142B33"/>
                </a:solidFill>
                <a:latin typeface="Calibri"/>
              </a:rPr>
              <a:t>Identificar los efectos activos y sus alias</a:t>
            </a:r>
          </a:p>
          <a:p>
            <a:pPr marL="320040" indent="-320040">
              <a:spcAft>
                <a:spcPts val="600"/>
              </a:spcAft>
              <a:buClr>
                <a:srgbClr val="E36414"/>
              </a:buClr>
              <a:buFont typeface="+mj-lt"/>
              <a:buAutoNum type="arabicPeriod"/>
            </a:pPr>
            <a:r>
              <a:rPr sz="1500" b="0">
                <a:solidFill>
                  <a:srgbClr val="142B33"/>
                </a:solidFill>
                <a:latin typeface="Calibri"/>
              </a:rPr>
              <a:t>Ajustar el modelo y hacer el ANOVA</a:t>
            </a:r>
          </a:p>
          <a:p>
            <a:pPr marL="320040" indent="-320040">
              <a:spcAft>
                <a:spcPts val="600"/>
              </a:spcAft>
              <a:buClr>
                <a:srgbClr val="E36414"/>
              </a:buClr>
              <a:buFont typeface="+mj-lt"/>
              <a:buAutoNum type="arabicPeriod"/>
            </a:pPr>
            <a:r>
              <a:rPr sz="1500" b="0">
                <a:solidFill>
                  <a:srgbClr val="142B33"/>
                </a:solidFill>
                <a:latin typeface="Calibri"/>
              </a:rPr>
              <a:t>Proyectar en los factores activos e interpretar la interacción</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51</a:t>
            </a:r>
          </a:p>
        </p:txBody>
      </p:sp>
      <p:sp>
        <p:nvSpPr>
          <p:cNvPr id="12" name="Rounded Rectangle 11"/>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¿Qué efectos son activos?</a:t>
            </a:r>
          </a:p>
        </p:txBody>
      </p:sp>
      <p:graphicFrame>
        <p:nvGraphicFramePr>
          <p:cNvPr id="3" name="Chart 2"/>
          <p:cNvGraphicFramePr>
            <a:graphicFrameLocks noGrp="1"/>
          </p:cNvGraphicFramePr>
          <p:nvPr/>
        </p:nvGraphicFramePr>
        <p:xfrm>
          <a:off x="548640" y="1417320"/>
          <a:ext cx="5341467" cy="384048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45896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Al </a:t>
            </a:r>
            <a:r>
              <a:rPr sz="1500" b="1">
                <a:solidFill>
                  <a:srgbClr val="142B33"/>
                </a:solidFill>
                <a:latin typeface="Calibri"/>
              </a:rPr>
              <a:t>modelo</a:t>
            </a:r>
            <a:r>
              <a:rPr sz="1500" b="0">
                <a:solidFill>
                  <a:srgbClr val="142B33"/>
                </a:solidFill>
                <a:latin typeface="Calibri"/>
              </a:rPr>
              <a:t>: A, B y AB.  Al </a:t>
            </a:r>
            <a:r>
              <a:rPr sz="1500" b="1">
                <a:solidFill>
                  <a:srgbClr val="142B33"/>
                </a:solidFill>
                <a:latin typeface="Calibri"/>
              </a:rPr>
              <a:t>error</a:t>
            </a:r>
            <a:r>
              <a:rPr sz="1500" b="0">
                <a:solidFill>
                  <a:srgbClr val="142B33"/>
                </a:solidFill>
                <a:latin typeface="Calibri"/>
              </a:rPr>
              <a:t>: los otros 12 efectos</a:t>
            </a:r>
          </a:p>
        </p:txBody>
      </p:sp>
      <p:sp>
        <p:nvSpPr>
          <p:cNvPr id="5" name="TextBox 4"/>
          <p:cNvSpPr txBox="1"/>
          <p:nvPr/>
        </p:nvSpPr>
        <p:spPr>
          <a:xfrm>
            <a:off x="6301587" y="1417320"/>
            <a:ext cx="5341467" cy="206451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Sobre la recta</a:t>
            </a:r>
            <a:r>
              <a:rPr sz="1400" b="0">
                <a:solidFill>
                  <a:srgbClr val="142B33"/>
                </a:solidFill>
                <a:latin typeface="Calibri"/>
              </a:rPr>
              <a:t> = ruido: 10 efectos cerca de cero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Se apartan con claridad</a:t>
            </a:r>
            <a:r>
              <a:rPr sz="1400" b="0">
                <a:solidFill>
                  <a:srgbClr val="142B33"/>
                </a:solidFill>
                <a:latin typeface="Calibri"/>
              </a:rPr>
              <a:t>: B = 35.63, A = 13.88 y AB + CE = 11.88</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AB + CE se atribuye a AB</a:t>
            </a:r>
            <a:r>
              <a:rPr sz="1400" b="0">
                <a:solidFill>
                  <a:srgbClr val="142B33"/>
                </a:solidFill>
                <a:latin typeface="Calibri"/>
              </a:rPr>
              <a:t>: A y B son activos; C (−0.88) y E (0.38) no</a:t>
            </a:r>
          </a:p>
          <a:p>
            <a:pPr marL="320040" indent="-320040">
              <a:spcAft>
                <a:spcPts val="600"/>
              </a:spcAft>
              <a:buClr>
                <a:srgbClr val="E36414"/>
              </a:buClr>
              <a:buFont typeface="+mj-lt"/>
              <a:buAutoNum type="arabicPeriod"/>
            </a:pPr>
            <a:r>
              <a:rPr sz="1400" b="0">
                <a:solidFill>
                  <a:srgbClr val="142B33"/>
                </a:solidFill>
                <a:latin typeface="Calibri"/>
              </a:rPr>
              <a:t>​</a:t>
            </a:r>
            <a:r>
              <a:rPr sz="1400" b="1">
                <a:solidFill>
                  <a:srgbClr val="142B33"/>
                </a:solidFill>
                <a:latin typeface="Calibri"/>
              </a:rPr>
              <a:t>Zona gris</a:t>
            </a:r>
            <a:r>
              <a:rPr sz="1400" b="0">
                <a:solidFill>
                  <a:srgbClr val="142B33"/>
                </a:solidFill>
                <a:latin typeface="Calibri"/>
              </a:rPr>
              <a:t>: AD + EF = −5.38 y ABF = −4.88. Lenth: ME = 2.41, SME = 4.89; mucho menores que los tres grandes, quedan en el error</a:t>
            </a:r>
          </a:p>
        </p:txBody>
      </p:sp>
      <p:graphicFrame>
        <p:nvGraphicFramePr>
          <p:cNvPr id="6" name="Chart 5"/>
          <p:cNvGraphicFramePr>
            <a:graphicFrameLocks noGrp="1"/>
          </p:cNvGraphicFramePr>
          <p:nvPr/>
        </p:nvGraphicFramePr>
        <p:xfrm>
          <a:off x="6301587" y="3683000"/>
          <a:ext cx="5341467" cy="2377440"/>
        </p:xfrm>
        <a:graphic>
          <a:graphicData uri="http://schemas.openxmlformats.org/drawingml/2006/chart">
            <c:chart xmlns:c="http://schemas.openxmlformats.org/drawingml/2006/chart" r:id="rId3"/>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52</a:t>
            </a:r>
          </a:p>
        </p:txBody>
      </p:sp>
      <p:sp>
        <p:nvSpPr>
          <p:cNvPr id="9" name="Rounded Rectangle 8"/>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Modelo y ANOVA</a:t>
            </a:r>
          </a:p>
        </p:txBody>
      </p:sp>
      <p:graphicFrame>
        <p:nvGraphicFramePr>
          <p:cNvPr id="3" name="Table 2"/>
          <p:cNvGraphicFramePr>
            <a:graphicFrameLocks noGrp="1"/>
          </p:cNvGraphicFramePr>
          <p:nvPr/>
        </p:nvGraphicFramePr>
        <p:xfrm>
          <a:off x="548640" y="1417320"/>
          <a:ext cx="4486832" cy="3706368"/>
        </p:xfrm>
        <a:graphic>
          <a:graphicData uri="http://schemas.openxmlformats.org/drawingml/2006/table">
            <a:tbl>
              <a:tblPr firstRow="0" bandRow="0">
                <a:tableStyleId>{5C22544A-7EE6-4342-B048-85BDC9FD1C3A}</a:tableStyleId>
              </a:tblPr>
              <a:tblGrid>
                <a:gridCol w="2596635"/>
                <a:gridCol w="983284"/>
                <a:gridCol w="906913"/>
              </a:tblGrid>
              <a:tr h="231648">
                <a:tc>
                  <a:txBody>
                    <a:bodyPr/>
                    <a:lstStyle/>
                    <a:p>
                      <a:pPr algn="ctr"/>
                      <a:r>
                        <a:rPr sz="1200" b="1">
                          <a:solidFill>
                            <a:srgbClr val="FFFFFF"/>
                          </a:solidFill>
                          <a:latin typeface="Calibri"/>
                        </a:rPr>
                        <a:t>Cadena (tabla 8-11)</a:t>
                      </a:r>
                    </a:p>
                  </a:txBody>
                  <a:tcPr marL="73152" marR="73152" marT="27432" marB="27432" anchor="ctr">
                    <a:solidFill>
                      <a:srgbClr val="0F4C5C"/>
                    </a:solidFill>
                  </a:tcPr>
                </a:tc>
                <a:tc>
                  <a:txBody>
                    <a:bodyPr/>
                    <a:lstStyle/>
                    <a:p>
                      <a:pPr algn="ctr"/>
                      <a:r>
                        <a:rPr sz="1200" b="1">
                          <a:solidFill>
                            <a:srgbClr val="FFFFFF"/>
                          </a:solidFill>
                          <a:latin typeface="Calibri"/>
                        </a:rPr>
                        <a:t>Efecto</a:t>
                      </a:r>
                    </a:p>
                  </a:txBody>
                  <a:tcPr marL="73152" marR="73152" marT="27432" marB="27432" anchor="ctr">
                    <a:solidFill>
                      <a:srgbClr val="0F4C5C"/>
                    </a:solidFill>
                  </a:tcPr>
                </a:tc>
                <a:tc>
                  <a:txBody>
                    <a:bodyPr/>
                    <a:lstStyle/>
                    <a:p>
                      <a:pPr algn="ctr"/>
                      <a:r>
                        <a:rPr sz="1200" b="1">
                          <a:solidFill>
                            <a:srgbClr val="FFFFFF"/>
                          </a:solidFill>
                          <a:latin typeface="Calibri"/>
                        </a:rPr>
                        <a:t>SS</a:t>
                      </a:r>
                    </a:p>
                  </a:txBody>
                  <a:tcPr marL="73152" marR="73152" marT="27432" marB="27432" anchor="ctr">
                    <a:solidFill>
                      <a:srgbClr val="0F4C5C"/>
                    </a:solidFill>
                  </a:tcPr>
                </a:tc>
              </a:tr>
              <a:tr h="231648">
                <a:tc>
                  <a:txBody>
                    <a:bodyPr/>
                    <a:lstStyle/>
                    <a:p>
                      <a:pPr algn="ctr"/>
                      <a:r>
                        <a:rPr sz="1200" b="0">
                          <a:solidFill>
                            <a:srgbClr val="142B33"/>
                          </a:solidFill>
                          <a:latin typeface="Calibri"/>
                        </a:rPr>
                        <a:t>A</a:t>
                      </a:r>
                    </a:p>
                  </a:txBody>
                  <a:tcPr marL="73152" marR="73152" marT="27432" marB="27432" anchor="ctr">
                    <a:solidFill>
                      <a:srgbClr val="FDE8D7"/>
                    </a:solidFill>
                  </a:tcPr>
                </a:tc>
                <a:tc>
                  <a:txBody>
                    <a:bodyPr/>
                    <a:lstStyle/>
                    <a:p>
                      <a:pPr algn="ctr"/>
                      <a:r>
                        <a:rPr sz="1200" b="0">
                          <a:solidFill>
                            <a:srgbClr val="142B33"/>
                          </a:solidFill>
                          <a:latin typeface="Calibri"/>
                        </a:rPr>
                        <a:t>13.875</a:t>
                      </a:r>
                    </a:p>
                  </a:txBody>
                  <a:tcPr marL="73152" marR="73152" marT="27432" marB="27432" anchor="ctr">
                    <a:solidFill>
                      <a:srgbClr val="FDE8D7"/>
                    </a:solidFill>
                  </a:tcPr>
                </a:tc>
                <a:tc>
                  <a:txBody>
                    <a:bodyPr/>
                    <a:lstStyle/>
                    <a:p>
                      <a:pPr algn="ctr"/>
                      <a:r>
                        <a:rPr sz="1200" b="0">
                          <a:solidFill>
                            <a:srgbClr val="142B33"/>
                          </a:solidFill>
                          <a:latin typeface="Calibri"/>
                        </a:rPr>
                        <a:t>770.06</a:t>
                      </a:r>
                    </a:p>
                  </a:txBody>
                  <a:tcPr marL="73152" marR="73152" marT="27432" marB="27432" anchor="ctr">
                    <a:solidFill>
                      <a:srgbClr val="FDE8D7"/>
                    </a:solidFill>
                  </a:tcPr>
                </a:tc>
              </a:tr>
              <a:tr h="231648">
                <a:tc>
                  <a:txBody>
                    <a:bodyPr/>
                    <a:lstStyle/>
                    <a:p>
                      <a:pPr algn="ctr"/>
                      <a:r>
                        <a:rPr sz="1200" b="0">
                          <a:solidFill>
                            <a:srgbClr val="142B33"/>
                          </a:solidFill>
                          <a:latin typeface="Calibri"/>
                        </a:rPr>
                        <a:t>B</a:t>
                      </a:r>
                    </a:p>
                  </a:txBody>
                  <a:tcPr marL="73152" marR="73152" marT="27432" marB="27432" anchor="ctr">
                    <a:solidFill>
                      <a:srgbClr val="FDE8D7"/>
                    </a:solidFill>
                  </a:tcPr>
                </a:tc>
                <a:tc>
                  <a:txBody>
                    <a:bodyPr/>
                    <a:lstStyle/>
                    <a:p>
                      <a:pPr algn="ctr"/>
                      <a:r>
                        <a:rPr sz="1200" b="0">
                          <a:solidFill>
                            <a:srgbClr val="142B33"/>
                          </a:solidFill>
                          <a:latin typeface="Calibri"/>
                        </a:rPr>
                        <a:t>35.625</a:t>
                      </a:r>
                    </a:p>
                  </a:txBody>
                  <a:tcPr marL="73152" marR="73152" marT="27432" marB="27432" anchor="ctr">
                    <a:solidFill>
                      <a:srgbClr val="FDE8D7"/>
                    </a:solidFill>
                  </a:tcPr>
                </a:tc>
                <a:tc>
                  <a:txBody>
                    <a:bodyPr/>
                    <a:lstStyle/>
                    <a:p>
                      <a:pPr algn="ctr"/>
                      <a:r>
                        <a:rPr sz="1200" b="0">
                          <a:solidFill>
                            <a:srgbClr val="142B33"/>
                          </a:solidFill>
                          <a:latin typeface="Calibri"/>
                        </a:rPr>
                        <a:t>5076.56</a:t>
                      </a:r>
                    </a:p>
                  </a:txBody>
                  <a:tcPr marL="73152" marR="73152" marT="27432" marB="27432" anchor="ctr">
                    <a:solidFill>
                      <a:srgbClr val="FDE8D7"/>
                    </a:solidFill>
                  </a:tcPr>
                </a:tc>
              </a:tr>
              <a:tr h="231648">
                <a:tc>
                  <a:txBody>
                    <a:bodyPr/>
                    <a:lstStyle/>
                    <a:p>
                      <a:pPr algn="ctr"/>
                      <a:r>
                        <a:rPr sz="1200" b="0">
                          <a:solidFill>
                            <a:srgbClr val="142B33"/>
                          </a:solidFill>
                          <a:latin typeface="Calibri"/>
                        </a:rPr>
                        <a:t>C</a:t>
                      </a:r>
                    </a:p>
                  </a:txBody>
                  <a:tcPr marL="73152" marR="73152" marT="27432" marB="27432" anchor="ctr">
                    <a:solidFill>
                      <a:srgbClr val="FFFFFF"/>
                    </a:solidFill>
                  </a:tcPr>
                </a:tc>
                <a:tc>
                  <a:txBody>
                    <a:bodyPr/>
                    <a:lstStyle/>
                    <a:p>
                      <a:pPr algn="ctr"/>
                      <a:r>
                        <a:rPr sz="1200" b="0">
                          <a:solidFill>
                            <a:srgbClr val="142B33"/>
                          </a:solidFill>
                          <a:latin typeface="Calibri"/>
                        </a:rPr>
                        <a:t>−0.875</a:t>
                      </a:r>
                    </a:p>
                  </a:txBody>
                  <a:tcPr marL="73152" marR="73152" marT="27432" marB="27432" anchor="ctr">
                    <a:solidFill>
                      <a:srgbClr val="FFFFFF"/>
                    </a:solidFill>
                  </a:tcPr>
                </a:tc>
                <a:tc>
                  <a:txBody>
                    <a:bodyPr/>
                    <a:lstStyle/>
                    <a:p>
                      <a:pPr algn="ctr"/>
                      <a:r>
                        <a:rPr sz="1200" b="0">
                          <a:solidFill>
                            <a:srgbClr val="142B33"/>
                          </a:solidFill>
                          <a:latin typeface="Calibri"/>
                        </a:rPr>
                        <a:t>3.06</a:t>
                      </a:r>
                    </a:p>
                  </a:txBody>
                  <a:tcPr marL="73152" marR="73152" marT="27432" marB="27432" anchor="ctr">
                    <a:solidFill>
                      <a:srgbClr val="FFFFFF"/>
                    </a:solidFill>
                  </a:tcPr>
                </a:tc>
              </a:tr>
              <a:tr h="231648">
                <a:tc>
                  <a:txBody>
                    <a:bodyPr/>
                    <a:lstStyle/>
                    <a:p>
                      <a:pPr algn="ctr"/>
                      <a:r>
                        <a:rPr sz="1200" b="0">
                          <a:solidFill>
                            <a:srgbClr val="142B33"/>
                          </a:solidFill>
                          <a:latin typeface="Calibri"/>
                        </a:rPr>
                        <a:t>D</a:t>
                      </a:r>
                    </a:p>
                  </a:txBody>
                  <a:tcPr marL="73152" marR="73152" marT="27432" marB="27432" anchor="ctr">
                    <a:solidFill>
                      <a:srgbClr val="F4F8F9"/>
                    </a:solidFill>
                  </a:tcPr>
                </a:tc>
                <a:tc>
                  <a:txBody>
                    <a:bodyPr/>
                    <a:lstStyle/>
                    <a:p>
                      <a:pPr algn="ctr"/>
                      <a:r>
                        <a:rPr sz="1200" b="0">
                          <a:solidFill>
                            <a:srgbClr val="142B33"/>
                          </a:solidFill>
                          <a:latin typeface="Calibri"/>
                        </a:rPr>
                        <a:t>1.375</a:t>
                      </a:r>
                    </a:p>
                  </a:txBody>
                  <a:tcPr marL="73152" marR="73152" marT="27432" marB="27432" anchor="ctr">
                    <a:solidFill>
                      <a:srgbClr val="F4F8F9"/>
                    </a:solidFill>
                  </a:tcPr>
                </a:tc>
                <a:tc>
                  <a:txBody>
                    <a:bodyPr/>
                    <a:lstStyle/>
                    <a:p>
                      <a:pPr algn="ctr"/>
                      <a:r>
                        <a:rPr sz="1200" b="0">
                          <a:solidFill>
                            <a:srgbClr val="142B33"/>
                          </a:solidFill>
                          <a:latin typeface="Calibri"/>
                        </a:rPr>
                        <a:t>7.56</a:t>
                      </a:r>
                    </a:p>
                  </a:txBody>
                  <a:tcPr marL="73152" marR="73152" marT="27432" marB="27432" anchor="ctr">
                    <a:solidFill>
                      <a:srgbClr val="F4F8F9"/>
                    </a:solidFill>
                  </a:tcPr>
                </a:tc>
              </a:tr>
              <a:tr h="231648">
                <a:tc>
                  <a:txBody>
                    <a:bodyPr/>
                    <a:lstStyle/>
                    <a:p>
                      <a:pPr algn="ctr"/>
                      <a:r>
                        <a:rPr sz="1200" b="0">
                          <a:solidFill>
                            <a:srgbClr val="142B33"/>
                          </a:solidFill>
                          <a:latin typeface="Calibri"/>
                        </a:rPr>
                        <a:t>E</a:t>
                      </a:r>
                    </a:p>
                  </a:txBody>
                  <a:tcPr marL="73152" marR="73152" marT="27432" marB="27432" anchor="ctr">
                    <a:solidFill>
                      <a:srgbClr val="FFFFFF"/>
                    </a:solidFill>
                  </a:tcPr>
                </a:tc>
                <a:tc>
                  <a:txBody>
                    <a:bodyPr/>
                    <a:lstStyle/>
                    <a:p>
                      <a:pPr algn="ctr"/>
                      <a:r>
                        <a:rPr sz="1200" b="0">
                          <a:solidFill>
                            <a:srgbClr val="142B33"/>
                          </a:solidFill>
                          <a:latin typeface="Calibri"/>
                        </a:rPr>
                        <a:t>0.375</a:t>
                      </a:r>
                    </a:p>
                  </a:txBody>
                  <a:tcPr marL="73152" marR="73152" marT="27432" marB="27432" anchor="ctr">
                    <a:solidFill>
                      <a:srgbClr val="FFFFFF"/>
                    </a:solidFill>
                  </a:tcPr>
                </a:tc>
                <a:tc>
                  <a:txBody>
                    <a:bodyPr/>
                    <a:lstStyle/>
                    <a:p>
                      <a:pPr algn="ctr"/>
                      <a:r>
                        <a:rPr sz="1200" b="0">
                          <a:solidFill>
                            <a:srgbClr val="142B33"/>
                          </a:solidFill>
                          <a:latin typeface="Calibri"/>
                        </a:rPr>
                        <a:t>0.56</a:t>
                      </a:r>
                    </a:p>
                  </a:txBody>
                  <a:tcPr marL="73152" marR="73152" marT="27432" marB="27432" anchor="ctr">
                    <a:solidFill>
                      <a:srgbClr val="FFFFFF"/>
                    </a:solidFill>
                  </a:tcPr>
                </a:tc>
              </a:tr>
              <a:tr h="231648">
                <a:tc>
                  <a:txBody>
                    <a:bodyPr/>
                    <a:lstStyle/>
                    <a:p>
                      <a:pPr algn="ctr"/>
                      <a:r>
                        <a:rPr sz="1200" b="0">
                          <a:solidFill>
                            <a:srgbClr val="142B33"/>
                          </a:solidFill>
                          <a:latin typeface="Calibri"/>
                        </a:rPr>
                        <a:t>F</a:t>
                      </a:r>
                    </a:p>
                  </a:txBody>
                  <a:tcPr marL="73152" marR="73152" marT="27432" marB="27432" anchor="ctr">
                    <a:solidFill>
                      <a:srgbClr val="F4F8F9"/>
                    </a:solidFill>
                  </a:tcPr>
                </a:tc>
                <a:tc>
                  <a:txBody>
                    <a:bodyPr/>
                    <a:lstStyle/>
                    <a:p>
                      <a:pPr algn="ctr"/>
                      <a:r>
                        <a:rPr sz="1200" b="0">
                          <a:solidFill>
                            <a:srgbClr val="142B33"/>
                          </a:solidFill>
                          <a:latin typeface="Calibri"/>
                        </a:rPr>
                        <a:t>0.375</a:t>
                      </a:r>
                    </a:p>
                  </a:txBody>
                  <a:tcPr marL="73152" marR="73152" marT="27432" marB="27432" anchor="ctr">
                    <a:solidFill>
                      <a:srgbClr val="F4F8F9"/>
                    </a:solidFill>
                  </a:tcPr>
                </a:tc>
                <a:tc>
                  <a:txBody>
                    <a:bodyPr/>
                    <a:lstStyle/>
                    <a:p>
                      <a:pPr algn="ctr"/>
                      <a:r>
                        <a:rPr sz="1200" b="0">
                          <a:solidFill>
                            <a:srgbClr val="142B33"/>
                          </a:solidFill>
                          <a:latin typeface="Calibri"/>
                        </a:rPr>
                        <a:t>0.56</a:t>
                      </a:r>
                    </a:p>
                  </a:txBody>
                  <a:tcPr marL="73152" marR="73152" marT="27432" marB="27432" anchor="ctr">
                    <a:solidFill>
                      <a:srgbClr val="F4F8F9"/>
                    </a:solidFill>
                  </a:tcPr>
                </a:tc>
              </a:tr>
              <a:tr h="231648">
                <a:tc>
                  <a:txBody>
                    <a:bodyPr/>
                    <a:lstStyle/>
                    <a:p>
                      <a:pPr algn="ctr"/>
                      <a:r>
                        <a:rPr sz="1200" b="0">
                          <a:solidFill>
                            <a:srgbClr val="142B33"/>
                          </a:solidFill>
                          <a:latin typeface="Calibri"/>
                        </a:rPr>
                        <a:t>AB + CE</a:t>
                      </a:r>
                    </a:p>
                  </a:txBody>
                  <a:tcPr marL="73152" marR="73152" marT="27432" marB="27432" anchor="ctr">
                    <a:solidFill>
                      <a:srgbClr val="FDE8D7"/>
                    </a:solidFill>
                  </a:tcPr>
                </a:tc>
                <a:tc>
                  <a:txBody>
                    <a:bodyPr/>
                    <a:lstStyle/>
                    <a:p>
                      <a:pPr algn="ctr"/>
                      <a:r>
                        <a:rPr sz="1200" b="0">
                          <a:solidFill>
                            <a:srgbClr val="142B33"/>
                          </a:solidFill>
                          <a:latin typeface="Calibri"/>
                        </a:rPr>
                        <a:t>11.875</a:t>
                      </a:r>
                    </a:p>
                  </a:txBody>
                  <a:tcPr marL="73152" marR="73152" marT="27432" marB="27432" anchor="ctr">
                    <a:solidFill>
                      <a:srgbClr val="FDE8D7"/>
                    </a:solidFill>
                  </a:tcPr>
                </a:tc>
                <a:tc>
                  <a:txBody>
                    <a:bodyPr/>
                    <a:lstStyle/>
                    <a:p>
                      <a:pPr algn="ctr"/>
                      <a:r>
                        <a:rPr sz="1200" b="0">
                          <a:solidFill>
                            <a:srgbClr val="142B33"/>
                          </a:solidFill>
                          <a:latin typeface="Calibri"/>
                        </a:rPr>
                        <a:t>564.06</a:t>
                      </a:r>
                    </a:p>
                  </a:txBody>
                  <a:tcPr marL="73152" marR="73152" marT="27432" marB="27432" anchor="ctr">
                    <a:solidFill>
                      <a:srgbClr val="FDE8D7"/>
                    </a:solidFill>
                  </a:tcPr>
                </a:tc>
              </a:tr>
              <a:tr h="231648">
                <a:tc>
                  <a:txBody>
                    <a:bodyPr/>
                    <a:lstStyle/>
                    <a:p>
                      <a:pPr algn="ctr"/>
                      <a:r>
                        <a:rPr sz="1200" b="0">
                          <a:solidFill>
                            <a:srgbClr val="142B33"/>
                          </a:solidFill>
                          <a:latin typeface="Calibri"/>
                        </a:rPr>
                        <a:t>AC + BE</a:t>
                      </a:r>
                    </a:p>
                  </a:txBody>
                  <a:tcPr marL="73152" marR="73152" marT="27432" marB="27432" anchor="ctr">
                    <a:solidFill>
                      <a:srgbClr val="F4F8F9"/>
                    </a:solidFill>
                  </a:tcPr>
                </a:tc>
                <a:tc>
                  <a:txBody>
                    <a:bodyPr/>
                    <a:lstStyle/>
                    <a:p>
                      <a:pPr algn="ctr"/>
                      <a:r>
                        <a:rPr sz="1200" b="0">
                          <a:solidFill>
                            <a:srgbClr val="142B33"/>
                          </a:solidFill>
                          <a:latin typeface="Calibri"/>
                        </a:rPr>
                        <a:t>−1.625</a:t>
                      </a:r>
                    </a:p>
                  </a:txBody>
                  <a:tcPr marL="73152" marR="73152" marT="27432" marB="27432" anchor="ctr">
                    <a:solidFill>
                      <a:srgbClr val="F4F8F9"/>
                    </a:solidFill>
                  </a:tcPr>
                </a:tc>
                <a:tc>
                  <a:txBody>
                    <a:bodyPr/>
                    <a:lstStyle/>
                    <a:p>
                      <a:pPr algn="ctr"/>
                      <a:r>
                        <a:rPr sz="1200" b="0">
                          <a:solidFill>
                            <a:srgbClr val="142B33"/>
                          </a:solidFill>
                          <a:latin typeface="Calibri"/>
                        </a:rPr>
                        <a:t>10.56</a:t>
                      </a:r>
                    </a:p>
                  </a:txBody>
                  <a:tcPr marL="73152" marR="73152" marT="27432" marB="27432" anchor="ctr">
                    <a:solidFill>
                      <a:srgbClr val="F4F8F9"/>
                    </a:solidFill>
                  </a:tcPr>
                </a:tc>
              </a:tr>
              <a:tr h="231648">
                <a:tc>
                  <a:txBody>
                    <a:bodyPr/>
                    <a:lstStyle/>
                    <a:p>
                      <a:pPr algn="ctr"/>
                      <a:r>
                        <a:rPr sz="1200" b="0">
                          <a:solidFill>
                            <a:srgbClr val="142B33"/>
                          </a:solidFill>
                          <a:latin typeface="Calibri"/>
                        </a:rPr>
                        <a:t>AD + EF</a:t>
                      </a:r>
                    </a:p>
                  </a:txBody>
                  <a:tcPr marL="73152" marR="73152" marT="27432" marB="27432" anchor="ctr">
                    <a:solidFill>
                      <a:srgbClr val="FFFFFF"/>
                    </a:solidFill>
                  </a:tcPr>
                </a:tc>
                <a:tc>
                  <a:txBody>
                    <a:bodyPr/>
                    <a:lstStyle/>
                    <a:p>
                      <a:pPr algn="ctr"/>
                      <a:r>
                        <a:rPr sz="1200" b="0">
                          <a:solidFill>
                            <a:srgbClr val="142B33"/>
                          </a:solidFill>
                          <a:latin typeface="Calibri"/>
                        </a:rPr>
                        <a:t>−5.375</a:t>
                      </a:r>
                    </a:p>
                  </a:txBody>
                  <a:tcPr marL="73152" marR="73152" marT="27432" marB="27432" anchor="ctr">
                    <a:solidFill>
                      <a:srgbClr val="FFFFFF"/>
                    </a:solidFill>
                  </a:tcPr>
                </a:tc>
                <a:tc>
                  <a:txBody>
                    <a:bodyPr/>
                    <a:lstStyle/>
                    <a:p>
                      <a:pPr algn="ctr"/>
                      <a:r>
                        <a:rPr sz="1200" b="0">
                          <a:solidFill>
                            <a:srgbClr val="142B33"/>
                          </a:solidFill>
                          <a:latin typeface="Calibri"/>
                        </a:rPr>
                        <a:t>115.56</a:t>
                      </a:r>
                    </a:p>
                  </a:txBody>
                  <a:tcPr marL="73152" marR="73152" marT="27432" marB="27432" anchor="ctr">
                    <a:solidFill>
                      <a:srgbClr val="FFFFFF"/>
                    </a:solidFill>
                  </a:tcPr>
                </a:tc>
              </a:tr>
              <a:tr h="231648">
                <a:tc>
                  <a:txBody>
                    <a:bodyPr/>
                    <a:lstStyle/>
                    <a:p>
                      <a:pPr algn="ctr"/>
                      <a:r>
                        <a:rPr sz="1200" b="0">
                          <a:solidFill>
                            <a:srgbClr val="142B33"/>
                          </a:solidFill>
                          <a:latin typeface="Calibri"/>
                        </a:rPr>
                        <a:t>AE + BC + DF</a:t>
                      </a:r>
                    </a:p>
                  </a:txBody>
                  <a:tcPr marL="73152" marR="73152" marT="27432" marB="27432" anchor="ctr">
                    <a:solidFill>
                      <a:srgbClr val="F4F8F9"/>
                    </a:solidFill>
                  </a:tcPr>
                </a:tc>
                <a:tc>
                  <a:txBody>
                    <a:bodyPr/>
                    <a:lstStyle/>
                    <a:p>
                      <a:pPr algn="ctr"/>
                      <a:r>
                        <a:rPr sz="1200" b="0">
                          <a:solidFill>
                            <a:srgbClr val="142B33"/>
                          </a:solidFill>
                          <a:latin typeface="Calibri"/>
                        </a:rPr>
                        <a:t>−1.875</a:t>
                      </a:r>
                    </a:p>
                  </a:txBody>
                  <a:tcPr marL="73152" marR="73152" marT="27432" marB="27432" anchor="ctr">
                    <a:solidFill>
                      <a:srgbClr val="F4F8F9"/>
                    </a:solidFill>
                  </a:tcPr>
                </a:tc>
                <a:tc>
                  <a:txBody>
                    <a:bodyPr/>
                    <a:lstStyle/>
                    <a:p>
                      <a:pPr algn="ctr"/>
                      <a:r>
                        <a:rPr sz="1200" b="0">
                          <a:solidFill>
                            <a:srgbClr val="142B33"/>
                          </a:solidFill>
                          <a:latin typeface="Calibri"/>
                        </a:rPr>
                        <a:t>14.06</a:t>
                      </a:r>
                    </a:p>
                  </a:txBody>
                  <a:tcPr marL="73152" marR="73152" marT="27432" marB="27432" anchor="ctr">
                    <a:solidFill>
                      <a:srgbClr val="F4F8F9"/>
                    </a:solidFill>
                  </a:tcPr>
                </a:tc>
              </a:tr>
              <a:tr h="231648">
                <a:tc>
                  <a:txBody>
                    <a:bodyPr/>
                    <a:lstStyle/>
                    <a:p>
                      <a:pPr algn="ctr"/>
                      <a:r>
                        <a:rPr sz="1200" b="0">
                          <a:solidFill>
                            <a:srgbClr val="142B33"/>
                          </a:solidFill>
                          <a:latin typeface="Calibri"/>
                        </a:rPr>
                        <a:t>AF + DE</a:t>
                      </a:r>
                    </a:p>
                  </a:txBody>
                  <a:tcPr marL="73152" marR="73152" marT="27432" marB="27432" anchor="ctr">
                    <a:solidFill>
                      <a:srgbClr val="FFFFFF"/>
                    </a:solidFill>
                  </a:tcPr>
                </a:tc>
                <a:tc>
                  <a:txBody>
                    <a:bodyPr/>
                    <a:lstStyle/>
                    <a:p>
                      <a:pPr algn="ctr"/>
                      <a:r>
                        <a:rPr sz="1200" b="0">
                          <a:solidFill>
                            <a:srgbClr val="142B33"/>
                          </a:solidFill>
                          <a:latin typeface="Calibri"/>
                        </a:rPr>
                        <a:t>0.625</a:t>
                      </a:r>
                    </a:p>
                  </a:txBody>
                  <a:tcPr marL="73152" marR="73152" marT="27432" marB="27432" anchor="ctr">
                    <a:solidFill>
                      <a:srgbClr val="FFFFFF"/>
                    </a:solidFill>
                  </a:tcPr>
                </a:tc>
                <a:tc>
                  <a:txBody>
                    <a:bodyPr/>
                    <a:lstStyle/>
                    <a:p>
                      <a:pPr algn="ctr"/>
                      <a:r>
                        <a:rPr sz="1200" b="0">
                          <a:solidFill>
                            <a:srgbClr val="142B33"/>
                          </a:solidFill>
                          <a:latin typeface="Calibri"/>
                        </a:rPr>
                        <a:t>1.56</a:t>
                      </a:r>
                    </a:p>
                  </a:txBody>
                  <a:tcPr marL="73152" marR="73152" marT="27432" marB="27432" anchor="ctr">
                    <a:solidFill>
                      <a:srgbClr val="FFFFFF"/>
                    </a:solidFill>
                  </a:tcPr>
                </a:tc>
              </a:tr>
              <a:tr h="231648">
                <a:tc>
                  <a:txBody>
                    <a:bodyPr/>
                    <a:lstStyle/>
                    <a:p>
                      <a:pPr algn="ctr"/>
                      <a:r>
                        <a:rPr sz="1200" b="0">
                          <a:solidFill>
                            <a:srgbClr val="142B33"/>
                          </a:solidFill>
                          <a:latin typeface="Calibri"/>
                        </a:rPr>
                        <a:t>BD + CF</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BF + CD</a:t>
                      </a:r>
                    </a:p>
                  </a:txBody>
                  <a:tcPr marL="73152" marR="73152" marT="27432" marB="27432" anchor="ctr">
                    <a:solidFill>
                      <a:srgbClr val="FFFFFF"/>
                    </a:solidFill>
                  </a:tcPr>
                </a:tc>
                <a:tc>
                  <a:txBody>
                    <a:bodyPr/>
                    <a:lstStyle/>
                    <a:p>
                      <a:pPr algn="ctr"/>
                      <a:r>
                        <a:rPr sz="1200" b="0">
                          <a:solidFill>
                            <a:srgbClr val="142B33"/>
                          </a:solidFill>
                          <a:latin typeface="Calibri"/>
                        </a:rPr>
                        <a:t>−0.125</a:t>
                      </a:r>
                    </a:p>
                  </a:txBody>
                  <a:tcPr marL="73152" marR="73152" marT="27432" marB="27432" anchor="ctr">
                    <a:solidFill>
                      <a:srgbClr val="FFFFFF"/>
                    </a:solidFill>
                  </a:tcPr>
                </a:tc>
                <a:tc>
                  <a:txBody>
                    <a:bodyPr/>
                    <a:lstStyle/>
                    <a:p>
                      <a:pPr algn="ctr"/>
                      <a:r>
                        <a:rPr sz="1200" b="0">
                          <a:solidFill>
                            <a:srgbClr val="142B33"/>
                          </a:solidFill>
                          <a:latin typeface="Calibri"/>
                        </a:rPr>
                        <a:t>0.06</a:t>
                      </a:r>
                    </a:p>
                  </a:txBody>
                  <a:tcPr marL="73152" marR="73152" marT="27432" marB="27432" anchor="ctr">
                    <a:solidFill>
                      <a:srgbClr val="FFFFFF"/>
                    </a:solidFill>
                  </a:tcPr>
                </a:tc>
              </a:tr>
              <a:tr h="231648">
                <a:tc>
                  <a:txBody>
                    <a:bodyPr/>
                    <a:lstStyle/>
                    <a:p>
                      <a:pPr algn="ctr"/>
                      <a:r>
                        <a:rPr sz="1200" b="0">
                          <a:solidFill>
                            <a:srgbClr val="142B33"/>
                          </a:solidFill>
                          <a:latin typeface="Calibri"/>
                        </a:rPr>
                        <a:t>ABD (+ alias)</a:t>
                      </a:r>
                    </a:p>
                  </a:txBody>
                  <a:tcPr marL="73152" marR="73152" marT="27432" marB="27432" anchor="ctr">
                    <a:solidFill>
                      <a:srgbClr val="F4F8F9"/>
                    </a:solidFill>
                  </a:tcPr>
                </a:tc>
                <a:tc>
                  <a:txBody>
                    <a:bodyPr/>
                    <a:lstStyle/>
                    <a:p>
                      <a:pPr algn="ctr"/>
                      <a:r>
                        <a:rPr sz="1200" b="0">
                          <a:solidFill>
                            <a:srgbClr val="142B33"/>
                          </a:solidFill>
                          <a:latin typeface="Calibri"/>
                        </a:rPr>
                        <a:t>0.125</a:t>
                      </a:r>
                    </a:p>
                  </a:txBody>
                  <a:tcPr marL="73152" marR="73152" marT="27432" marB="27432" anchor="ctr">
                    <a:solidFill>
                      <a:srgbClr val="F4F8F9"/>
                    </a:solidFill>
                  </a:tcPr>
                </a:tc>
                <a:tc>
                  <a:txBody>
                    <a:bodyPr/>
                    <a:lstStyle/>
                    <a:p>
                      <a:pPr algn="ctr"/>
                      <a:r>
                        <a:rPr sz="1200" b="0">
                          <a:solidFill>
                            <a:srgbClr val="142B33"/>
                          </a:solidFill>
                          <a:latin typeface="Calibri"/>
                        </a:rPr>
                        <a:t>0.06</a:t>
                      </a:r>
                    </a:p>
                  </a:txBody>
                  <a:tcPr marL="73152" marR="73152" marT="27432" marB="27432" anchor="ctr">
                    <a:solidFill>
                      <a:srgbClr val="F4F8F9"/>
                    </a:solidFill>
                  </a:tcPr>
                </a:tc>
              </a:tr>
              <a:tr h="231648">
                <a:tc>
                  <a:txBody>
                    <a:bodyPr/>
                    <a:lstStyle/>
                    <a:p>
                      <a:pPr algn="ctr"/>
                      <a:r>
                        <a:rPr sz="1200" b="0">
                          <a:solidFill>
                            <a:srgbClr val="142B33"/>
                          </a:solidFill>
                          <a:latin typeface="Calibri"/>
                        </a:rPr>
                        <a:t>ABF (+ alias)</a:t>
                      </a:r>
                    </a:p>
                  </a:txBody>
                  <a:tcPr marL="73152" marR="73152" marT="27432" marB="27432" anchor="ctr">
                    <a:solidFill>
                      <a:srgbClr val="FFFFFF"/>
                    </a:solidFill>
                  </a:tcPr>
                </a:tc>
                <a:tc>
                  <a:txBody>
                    <a:bodyPr/>
                    <a:lstStyle/>
                    <a:p>
                      <a:pPr algn="ctr"/>
                      <a:r>
                        <a:rPr sz="1200" b="0">
                          <a:solidFill>
                            <a:srgbClr val="142B33"/>
                          </a:solidFill>
                          <a:latin typeface="Calibri"/>
                        </a:rPr>
                        <a:t>−4.875</a:t>
                      </a:r>
                    </a:p>
                  </a:txBody>
                  <a:tcPr marL="73152" marR="73152" marT="27432" marB="27432" anchor="ctr">
                    <a:solidFill>
                      <a:srgbClr val="FFFFFF"/>
                    </a:solidFill>
                  </a:tcPr>
                </a:tc>
                <a:tc>
                  <a:txBody>
                    <a:bodyPr/>
                    <a:lstStyle/>
                    <a:p>
                      <a:pPr algn="ctr"/>
                      <a:r>
                        <a:rPr sz="1200" b="0">
                          <a:solidFill>
                            <a:srgbClr val="142B33"/>
                          </a:solidFill>
                          <a:latin typeface="Calibri"/>
                        </a:rPr>
                        <a:t>95.06</a:t>
                      </a:r>
                    </a:p>
                  </a:txBody>
                  <a:tcPr marL="73152" marR="73152" marT="27432" marB="27432" anchor="ctr">
                    <a:solidFill>
                      <a:srgbClr val="FFFFFF"/>
                    </a:solidFill>
                  </a:tcPr>
                </a:tc>
              </a:tr>
            </a:tbl>
          </a:graphicData>
        </a:graphic>
      </p:graphicFrame>
      <p:sp>
        <p:nvSpPr>
          <p:cNvPr id="4" name="Rounded Rectangle 3"/>
          <p:cNvSpPr/>
          <p:nvPr/>
        </p:nvSpPr>
        <p:spPr>
          <a:xfrm>
            <a:off x="548640" y="5324856"/>
            <a:ext cx="4486832" cy="67716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300" b="0">
                <a:solidFill>
                  <a:srgbClr val="142B33"/>
                </a:solidFill>
                <a:latin typeface="Calibri"/>
              </a:rPr>
              <a:t>A, B y AB explican </a:t>
            </a:r>
            <a:r>
              <a:rPr sz="1300" b="1">
                <a:solidFill>
                  <a:srgbClr val="142B33"/>
                </a:solidFill>
                <a:latin typeface="Calibri"/>
              </a:rPr>
              <a:t>6411 de 6659</a:t>
            </a:r>
            <a:r>
              <a:rPr sz="1300" b="0">
                <a:solidFill>
                  <a:srgbClr val="142B33"/>
                </a:solidFill>
                <a:latin typeface="Calibri"/>
              </a:rPr>
              <a:t> de la SS total. C (−0.875) es ruido</a:t>
            </a:r>
          </a:p>
        </p:txBody>
      </p:sp>
      <p:graphicFrame>
        <p:nvGraphicFramePr>
          <p:cNvPr id="5" name="Table 4"/>
          <p:cNvGraphicFramePr>
            <a:graphicFrameLocks noGrp="1"/>
          </p:cNvGraphicFramePr>
          <p:nvPr/>
        </p:nvGraphicFramePr>
        <p:xfrm>
          <a:off x="5446952" y="1417320"/>
          <a:ext cx="6196099" cy="2107692"/>
        </p:xfrm>
        <a:graphic>
          <a:graphicData uri="http://schemas.openxmlformats.org/drawingml/2006/table">
            <a:tbl>
              <a:tblPr firstRow="0" bandRow="0">
                <a:tableStyleId>{5C22544A-7EE6-4342-B048-85BDC9FD1C3A}</a:tableStyleId>
              </a:tblPr>
              <a:tblGrid>
                <a:gridCol w="898854"/>
                <a:gridCol w="1138548"/>
                <a:gridCol w="611220"/>
                <a:gridCol w="1138548"/>
                <a:gridCol w="1018701"/>
                <a:gridCol w="1390228"/>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770.06</a:t>
                      </a:r>
                    </a:p>
                  </a:txBody>
                  <a:tcPr marL="73152" marR="73152" marT="27432" marB="27432" anchor="ctr">
                    <a:solidFill>
                      <a:srgbClr val="FFFFFF"/>
                    </a:solidFill>
                  </a:tcPr>
                </a:tc>
                <a:tc>
                  <a:txBody>
                    <a:bodyPr/>
                    <a:lstStyle/>
                    <a:p>
                      <a:pPr algn="ctr"/>
                      <a:r>
                        <a:rPr sz="1500" b="0">
                          <a:solidFill>
                            <a:srgbClr val="142B33"/>
                          </a:solidFill>
                          <a:latin typeface="Calibri"/>
                        </a:rPr>
                        <a:t>37.15</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5076.56</a:t>
                      </a:r>
                    </a:p>
                  </a:txBody>
                  <a:tcPr marL="73152" marR="73152" marT="27432" marB="27432" anchor="ctr">
                    <a:solidFill>
                      <a:srgbClr val="F4F8F9"/>
                    </a:solidFill>
                  </a:tcPr>
                </a:tc>
                <a:tc>
                  <a:txBody>
                    <a:bodyPr/>
                    <a:lstStyle/>
                    <a:p>
                      <a:pPr algn="ctr"/>
                      <a:r>
                        <a:rPr sz="1500" b="0">
                          <a:solidFill>
                            <a:srgbClr val="142B33"/>
                          </a:solidFill>
                          <a:latin typeface="Calibri"/>
                        </a:rPr>
                        <a:t>244.90</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AB</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564.06</a:t>
                      </a:r>
                    </a:p>
                  </a:txBody>
                  <a:tcPr marL="73152" marR="73152" marT="27432" marB="27432" anchor="ctr">
                    <a:solidFill>
                      <a:srgbClr val="FFFFFF"/>
                    </a:solidFill>
                  </a:tcPr>
                </a:tc>
                <a:tc>
                  <a:txBody>
                    <a:bodyPr/>
                    <a:lstStyle/>
                    <a:p>
                      <a:pPr algn="ctr"/>
                      <a:r>
                        <a:rPr sz="1500" b="0">
                          <a:solidFill>
                            <a:srgbClr val="142B33"/>
                          </a:solidFill>
                          <a:latin typeface="Calibri"/>
                        </a:rPr>
                        <a:t>27.21</a:t>
                      </a:r>
                    </a:p>
                  </a:txBody>
                  <a:tcPr marL="73152" marR="73152" marT="27432" marB="27432" anchor="ctr">
                    <a:solidFill>
                      <a:srgbClr val="FFFFFF"/>
                    </a:solidFill>
                  </a:tcPr>
                </a:tc>
                <a:tc>
                  <a:txBody>
                    <a:bodyPr/>
                    <a:lstStyle/>
                    <a:p>
                      <a:pPr algn="ctr"/>
                      <a:r>
                        <a:rPr sz="1500" b="0">
                          <a:solidFill>
                            <a:srgbClr val="142B33"/>
                          </a:solidFill>
                          <a:latin typeface="Calibri"/>
                        </a:rPr>
                        <a:t>0.0002</a:t>
                      </a: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248.75</a:t>
                      </a:r>
                    </a:p>
                  </a:txBody>
                  <a:tcPr marL="73152" marR="73152" marT="27432" marB="27432" anchor="ctr">
                    <a:solidFill>
                      <a:srgbClr val="F4F8F9"/>
                    </a:solidFill>
                  </a:tcPr>
                </a:tc>
                <a:tc>
                  <a:txBody>
                    <a:bodyPr/>
                    <a:lstStyle/>
                    <a:p>
                      <a:pPr algn="ctr"/>
                      <a:r>
                        <a:rPr sz="1500" b="0">
                          <a:solidFill>
                            <a:srgbClr val="142B33"/>
                          </a:solidFill>
                          <a:latin typeface="Calibri"/>
                        </a:rPr>
                        <a:t>12</a:t>
                      </a:r>
                    </a:p>
                  </a:txBody>
                  <a:tcPr marL="73152" marR="73152" marT="27432" marB="27432" anchor="ctr">
                    <a:solidFill>
                      <a:srgbClr val="F4F8F9"/>
                    </a:solidFill>
                  </a:tcPr>
                </a:tc>
                <a:tc>
                  <a:txBody>
                    <a:bodyPr/>
                    <a:lstStyle/>
                    <a:p>
                      <a:pPr algn="ctr"/>
                      <a:r>
                        <a:rPr sz="1500" b="0">
                          <a:solidFill>
                            <a:srgbClr val="142B33"/>
                          </a:solidFill>
                          <a:latin typeface="Calibri"/>
                        </a:rPr>
                        <a:t>20.73</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6659.44</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6" name="Rounded Rectangle 5"/>
          <p:cNvSpPr/>
          <p:nvPr/>
        </p:nvSpPr>
        <p:spPr>
          <a:xfrm>
            <a:off x="5446952" y="3726180"/>
            <a:ext cx="6196102"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ŷ = 27.31 + 6.94 x</a:t>
            </a:r>
            <a:r>
              <a:rPr sz="1600" b="0" baseline="-25000">
                <a:solidFill>
                  <a:srgbClr val="0F4C5C"/>
                </a:solidFill>
                <a:latin typeface="Cambria Math"/>
              </a:rPr>
              <a:t>1</a:t>
            </a:r>
            <a:r>
              <a:rPr sz="1600" b="0">
                <a:solidFill>
                  <a:srgbClr val="0F4C5C"/>
                </a:solidFill>
                <a:latin typeface="Cambria Math"/>
              </a:rPr>
              <a:t> + 17.81 x</a:t>
            </a:r>
            <a:r>
              <a:rPr sz="1600" b="0" baseline="-25000">
                <a:solidFill>
                  <a:srgbClr val="0F4C5C"/>
                </a:solidFill>
                <a:latin typeface="Cambria Math"/>
              </a:rPr>
              <a:t>2</a:t>
            </a:r>
            <a:r>
              <a:rPr sz="1600" b="0">
                <a:solidFill>
                  <a:srgbClr val="0F4C5C"/>
                </a:solidFill>
                <a:latin typeface="Cambria Math"/>
              </a:rPr>
              <a:t> + 5.94 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p>
        </p:txBody>
      </p:sp>
      <p:sp>
        <p:nvSpPr>
          <p:cNvPr id="7" name="TextBox 6"/>
          <p:cNvSpPr txBox="1"/>
          <p:nvPr/>
        </p:nvSpPr>
        <p:spPr>
          <a:xfrm>
            <a:off x="5446952" y="4479320"/>
            <a:ext cx="6196102" cy="1176528"/>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F</a:t>
            </a:r>
            <a:r>
              <a:rPr sz="1500" b="0" baseline="-25000">
                <a:solidFill>
                  <a:srgbClr val="142B33"/>
                </a:solidFill>
                <a:latin typeface="Calibri"/>
              </a:rPr>
              <a:t>0</a:t>
            </a:r>
            <a:r>
              <a:rPr sz="1500" b="0">
                <a:solidFill>
                  <a:srgbClr val="142B33"/>
                </a:solidFill>
                <a:latin typeface="Calibri"/>
              </a:rPr>
              <a:t> &gt; F</a:t>
            </a:r>
            <a:r>
              <a:rPr sz="1500" b="0" baseline="-25000">
                <a:solidFill>
                  <a:srgbClr val="142B33"/>
                </a:solidFill>
                <a:latin typeface="Calibri"/>
              </a:rPr>
              <a:t>0.05, 1, 12</a:t>
            </a:r>
            <a:r>
              <a:rPr sz="1500" b="0">
                <a:solidFill>
                  <a:srgbClr val="142B33"/>
                </a:solidFill>
                <a:latin typeface="Calibri"/>
              </a:rPr>
              <a:t> = 4.75 en los tres: </a:t>
            </a:r>
            <a:r>
              <a:rPr sz="1500" b="1">
                <a:solidFill>
                  <a:srgbClr val="142B33"/>
                </a:solidFill>
                <a:latin typeface="Calibri"/>
              </a:rPr>
              <a:t>se rechaza H</a:t>
            </a:r>
            <a:r>
              <a:rPr sz="1500" b="1" baseline="-25000">
                <a:solidFill>
                  <a:srgbClr val="142B33"/>
                </a:solidFill>
                <a:latin typeface="Calibri"/>
              </a:rPr>
              <a:t>0</a:t>
            </a:r>
          </a:p>
          <a:p>
            <a:pPr marL="320040" indent="-320040">
              <a:spcAft>
                <a:spcPts val="600"/>
              </a:spcAft>
              <a:buClr>
                <a:srgbClr val="E36414"/>
              </a:buClr>
              <a:buFont typeface="Arial"/>
              <a:buChar char="•"/>
            </a:pPr>
            <a:r>
              <a:rPr sz="1500" b="0">
                <a:solidFill>
                  <a:srgbClr val="142B33"/>
                </a:solidFill>
                <a:latin typeface="Calibri"/>
              </a:rPr>
              <a:t>R</a:t>
            </a:r>
            <a:r>
              <a:rPr sz="1500" b="0" baseline="30000">
                <a:solidFill>
                  <a:srgbClr val="142B33"/>
                </a:solidFill>
                <a:latin typeface="Calibri"/>
              </a:rPr>
              <a:t>2</a:t>
            </a:r>
            <a:r>
              <a:rPr sz="1500" b="0">
                <a:solidFill>
                  <a:srgbClr val="142B33"/>
                </a:solidFill>
                <a:latin typeface="Calibri"/>
              </a:rPr>
              <a:t> = 96.26 %</a:t>
            </a:r>
          </a:p>
          <a:p>
            <a:pPr marL="320040" indent="-320040">
              <a:spcAft>
                <a:spcPts val="600"/>
              </a:spcAft>
              <a:buClr>
                <a:srgbClr val="E36414"/>
              </a:buClr>
              <a:buFont typeface="Arial"/>
              <a:buChar char="•"/>
            </a:pPr>
            <a:r>
              <a:rPr sz="1500" b="0">
                <a:solidFill>
                  <a:srgbClr val="142B33"/>
                </a:solidFill>
                <a:latin typeface="Calibri"/>
              </a:rPr>
              <a:t>Coeficiente = efecto / 2. Para </a:t>
            </a:r>
            <a:r>
              <a:rPr sz="1500" b="1">
                <a:solidFill>
                  <a:srgbClr val="142B33"/>
                </a:solidFill>
                <a:latin typeface="Calibri"/>
              </a:rPr>
              <a:t>reducir</a:t>
            </a:r>
            <a:r>
              <a:rPr sz="1500" b="0">
                <a:solidFill>
                  <a:srgbClr val="142B33"/>
                </a:solidFill>
                <a:latin typeface="Calibri"/>
              </a:rPr>
              <a:t> la contracción: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53</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3 · Proyección en A y B e interacción</a:t>
            </a:r>
          </a:p>
        </p:txBody>
      </p:sp>
      <p:graphicFrame>
        <p:nvGraphicFramePr>
          <p:cNvPr id="3" name="Table 2"/>
          <p:cNvGraphicFramePr>
            <a:graphicFrameLocks noGrp="1"/>
          </p:cNvGraphicFramePr>
          <p:nvPr/>
        </p:nvGraphicFramePr>
        <p:xfrm>
          <a:off x="548640" y="1417320"/>
          <a:ext cx="5341466" cy="1988820"/>
        </p:xfrm>
        <a:graphic>
          <a:graphicData uri="http://schemas.openxmlformats.org/drawingml/2006/table">
            <a:tbl>
              <a:tblPr firstRow="0" bandRow="0">
                <a:tableStyleId>{5C22544A-7EE6-4342-B048-85BDC9FD1C3A}</a:tableStyleId>
              </a:tblPr>
              <a:tblGrid>
                <a:gridCol w="640976"/>
                <a:gridCol w="640976"/>
                <a:gridCol w="2670733"/>
                <a:gridCol w="1388781"/>
              </a:tblGrid>
              <a:tr h="583692">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Las 4 corridas (contracción)</a:t>
                      </a:r>
                    </a:p>
                  </a:txBody>
                  <a:tcPr marL="73152" marR="73152" marT="27432" marB="27432" anchor="ctr">
                    <a:solidFill>
                      <a:srgbClr val="0F4C5C"/>
                    </a:solidFill>
                  </a:tcPr>
                </a:tc>
                <a:tc>
                  <a:txBody>
                    <a:bodyPr/>
                    <a:lstStyle/>
                    <a:p>
                      <a:pPr algn="ctr"/>
                      <a:r>
                        <a:rPr sz="1500" b="1">
                          <a:solidFill>
                            <a:srgbClr val="FFFFFF"/>
                          </a:solidFill>
                          <a:latin typeface="Calibri"/>
                        </a:rPr>
                        <a:t>Promedio</a:t>
                      </a:r>
                    </a:p>
                  </a:txBody>
                  <a:tcPr marL="73152" marR="73152" marT="27432" marB="27432" anchor="ctr">
                    <a:solidFill>
                      <a:srgbClr val="0F4C5C"/>
                    </a:solidFill>
                  </a:tcPr>
                </a:tc>
              </a:tr>
              <a:tr h="351282">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500" b="0">
                          <a:solidFill>
                            <a:srgbClr val="142B33"/>
                          </a:solidFill>
                          <a:latin typeface="Calibri"/>
                        </a:rPr>
                        <a:t>6,  4,  8,  16</a:t>
                      </a:r>
                    </a:p>
                  </a:txBody>
                  <a:tcPr marL="73152" marR="73152" marT="27432" marB="27432" anchor="ctr">
                    <a:solidFill>
                      <a:srgbClr val="FDE8D7"/>
                    </a:solidFill>
                  </a:tcPr>
                </a:tc>
                <a:tc>
                  <a:txBody>
                    <a:bodyPr/>
                    <a:lstStyle/>
                    <a:p>
                      <a:pPr algn="ctr"/>
                      <a:r>
                        <a:rPr sz="1500" b="0">
                          <a:solidFill>
                            <a:srgbClr val="142B33"/>
                          </a:solidFill>
                          <a:latin typeface="Calibri"/>
                        </a:rPr>
                        <a:t>8.50</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10,  15,  12,  5</a:t>
                      </a:r>
                    </a:p>
                  </a:txBody>
                  <a:tcPr marL="73152" marR="73152" marT="27432" marB="27432" anchor="ctr">
                    <a:solidFill>
                      <a:srgbClr val="F4F8F9"/>
                    </a:solidFill>
                  </a:tcPr>
                </a:tc>
                <a:tc>
                  <a:txBody>
                    <a:bodyPr/>
                    <a:lstStyle/>
                    <a:p>
                      <a:pPr algn="ctr"/>
                      <a:r>
                        <a:rPr sz="1500" b="0">
                          <a:solidFill>
                            <a:srgbClr val="142B33"/>
                          </a:solidFill>
                          <a:latin typeface="Calibri"/>
                        </a:rPr>
                        <a:t>10.50</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32,  26,  34,  37</a:t>
                      </a:r>
                    </a:p>
                  </a:txBody>
                  <a:tcPr marL="73152" marR="73152" marT="27432" marB="27432" anchor="ctr">
                    <a:solidFill>
                      <a:srgbClr val="FFFFFF"/>
                    </a:solidFill>
                  </a:tcPr>
                </a:tc>
                <a:tc>
                  <a:txBody>
                    <a:bodyPr/>
                    <a:lstStyle/>
                    <a:p>
                      <a:pPr algn="ctr"/>
                      <a:r>
                        <a:rPr sz="1500" b="0">
                          <a:solidFill>
                            <a:srgbClr val="142B33"/>
                          </a:solidFill>
                          <a:latin typeface="Calibri"/>
                        </a:rPr>
                        <a:t>32.25</a:t>
                      </a:r>
                    </a:p>
                  </a:txBody>
                  <a:tcPr marL="73152" marR="73152" marT="27432" marB="27432" anchor="ctr">
                    <a:solidFill>
                      <a:srgbClr val="FFFFFF"/>
                    </a:solidFill>
                  </a:tcPr>
                </a:tc>
              </a:tr>
              <a:tr h="351282">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60,  60,  60,  52</a:t>
                      </a:r>
                    </a:p>
                  </a:txBody>
                  <a:tcPr marL="73152" marR="73152" marT="27432" marB="27432" anchor="ctr">
                    <a:solidFill>
                      <a:srgbClr val="F4F8F9"/>
                    </a:solidFill>
                  </a:tcPr>
                </a:tc>
                <a:tc>
                  <a:txBody>
                    <a:bodyPr/>
                    <a:lstStyle/>
                    <a:p>
                      <a:pPr algn="ctr"/>
                      <a:r>
                        <a:rPr sz="1500" b="0">
                          <a:solidFill>
                            <a:srgbClr val="142B33"/>
                          </a:solidFill>
                          <a:latin typeface="Calibri"/>
                        </a:rPr>
                        <a:t>58.00</a:t>
                      </a:r>
                    </a:p>
                  </a:txBody>
                  <a:tcPr marL="73152" marR="73152" marT="27432" marB="27432" anchor="ctr">
                    <a:solidFill>
                      <a:srgbClr val="F4F8F9"/>
                    </a:solidFill>
                  </a:tcPr>
                </a:tc>
              </a:tr>
            </a:tbl>
          </a:graphicData>
        </a:graphic>
      </p:graphicFrame>
      <p:sp>
        <p:nvSpPr>
          <p:cNvPr id="4" name="Rounded Rectangle 3"/>
          <p:cNvSpPr/>
          <p:nvPr/>
        </p:nvSpPr>
        <p:spPr>
          <a:xfrm>
            <a:off x="548640" y="360730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Cada combinación de A y B aparece </a:t>
            </a:r>
            <a:r>
              <a:rPr sz="1500" b="1">
                <a:solidFill>
                  <a:srgbClr val="142B33"/>
                </a:solidFill>
                <a:latin typeface="Calibri"/>
              </a:rPr>
              <a:t>4 veces</a:t>
            </a:r>
            <a:r>
              <a:rPr sz="1500" b="0">
                <a:solidFill>
                  <a:srgbClr val="142B33"/>
                </a:solidFill>
                <a:latin typeface="Calibri"/>
              </a:rPr>
              <a:t>: cuatro réplicas de un </a:t>
            </a:r>
            <a:r>
              <a:rPr sz="1500" b="1">
                <a:solidFill>
                  <a:srgbClr val="142B33"/>
                </a:solidFill>
                <a:latin typeface="Calibri"/>
              </a:rPr>
              <a:t>2</a:t>
            </a:r>
            <a:r>
              <a:rPr sz="1500" b="1" baseline="30000">
                <a:solidFill>
                  <a:srgbClr val="142B33"/>
                </a:solidFill>
                <a:latin typeface="Calibri"/>
              </a:rPr>
              <a:t>2</a:t>
            </a:r>
            <a:r>
              <a:rPr sz="1500" b="0">
                <a:solidFill>
                  <a:srgbClr val="142B33"/>
                </a:solidFill>
                <a:latin typeface="Calibri"/>
              </a:rPr>
              <a:t>  →  </a:t>
            </a:r>
            <a:r>
              <a:rPr sz="1500" b="1">
                <a:solidFill>
                  <a:srgbClr val="142B33"/>
                </a:solidFill>
                <a:latin typeface="Calibri"/>
              </a:rPr>
              <a:t>12 g.l.</a:t>
            </a:r>
            <a:r>
              <a:rPr sz="1500" b="0">
                <a:solidFill>
                  <a:srgbClr val="142B33"/>
                </a:solidFill>
                <a:latin typeface="Calibri"/>
              </a:rPr>
              <a:t> de error puro</a:t>
            </a:r>
          </a:p>
        </p:txBody>
      </p:sp>
      <p:sp>
        <p:nvSpPr>
          <p:cNvPr id="5" name="Rounded Rectangle 4"/>
          <p:cNvSpPr/>
          <p:nvPr/>
        </p:nvSpPr>
        <p:spPr>
          <a:xfrm>
            <a:off x="548640" y="4547616"/>
            <a:ext cx="5341467" cy="491235"/>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Así se obtienen los 12 g.l. del error del ANOVA</a:t>
            </a:r>
          </a:p>
        </p:txBody>
      </p:sp>
      <p:graphicFrame>
        <p:nvGraphicFramePr>
          <p:cNvPr id="6" name="Chart 5"/>
          <p:cNvGraphicFramePr>
            <a:graphicFrameLocks noGrp="1"/>
          </p:cNvGraphicFramePr>
          <p:nvPr/>
        </p:nvGraphicFramePr>
        <p:xfrm>
          <a:off x="6301587" y="1417320"/>
          <a:ext cx="5341467" cy="3566160"/>
        </p:xfrm>
        <a:graphic>
          <a:graphicData uri="http://schemas.openxmlformats.org/drawingml/2006/chart">
            <c:chart xmlns:c="http://schemas.openxmlformats.org/drawingml/2006/chart" r:id="rId2"/>
          </a:graphicData>
        </a:graphic>
      </p:graphicFrame>
      <p:sp>
        <p:nvSpPr>
          <p:cNvPr id="7" name="Rounded Rectangle 6"/>
          <p:cNvSpPr/>
          <p:nvPr/>
        </p:nvSpPr>
        <p:spPr>
          <a:xfrm>
            <a:off x="6301587" y="5184648"/>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Con </a:t>
            </a:r>
            <a:r>
              <a:rPr sz="1500" b="1">
                <a:solidFill>
                  <a:srgbClr val="142B33"/>
                </a:solidFill>
                <a:latin typeface="Calibri"/>
              </a:rPr>
              <a:t>B bajo</a:t>
            </a:r>
            <a:r>
              <a:rPr sz="1500" b="0">
                <a:solidFill>
                  <a:srgbClr val="142B33"/>
                </a:solidFill>
                <a:latin typeface="Calibri"/>
              </a:rPr>
              <a:t> la contracción es pequeña a cualquier temperatura. Recomendación: </a:t>
            </a:r>
            <a:r>
              <a:rPr sz="1500" b="1">
                <a:solidFill>
                  <a:srgbClr val="142B33"/>
                </a:solidFill>
                <a:latin typeface="Calibri"/>
              </a:rPr>
              <a:t>A y B bajos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La fracción un cuarto 2</a:t>
            </a:r>
            <a:r>
              <a:rPr sz="1000" b="0" baseline="30000">
                <a:solidFill>
                  <a:srgbClr val="5B6B73"/>
                </a:solidFill>
                <a:latin typeface="Calibri"/>
              </a:rPr>
              <a:t>k−2</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54</a:t>
            </a:r>
          </a:p>
        </p:txBody>
      </p:sp>
      <p:sp>
        <p:nvSpPr>
          <p:cNvPr id="10" name="Rounded Rectangle 9"/>
          <p:cNvSpPr/>
          <p:nvPr/>
        </p:nvSpPr>
        <p:spPr>
          <a:xfrm>
            <a:off x="548640" y="91440"/>
            <a:ext cx="313182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5 · La fracción un cuarto 2</a:t>
            </a:r>
            <a:r>
              <a:rPr sz="1100" b="1" baseline="30000">
                <a:solidFill>
                  <a:srgbClr val="FFFFFF"/>
                </a:solidFill>
                <a:latin typeface="Calibri"/>
              </a:rPr>
              <a:t>k−2</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El diseño 2</a:t>
            </a:r>
            <a:r>
              <a:rPr sz="4400" b="1" baseline="30000">
                <a:solidFill>
                  <a:srgbClr val="FFFFFF"/>
                </a:solidFill>
                <a:latin typeface="Cambria"/>
              </a:rPr>
              <a:t>k−p</a:t>
            </a:r>
            <a:r>
              <a:rPr sz="4400" b="1">
                <a:solidFill>
                  <a:srgbClr val="FFFFFF"/>
                </a:solidFill>
                <a:latin typeface="Cambria"/>
              </a:rPr>
              <a:t> general</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6</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Elección, protocolo, análisis, supuestos, proyección y bloques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El caso general 2</a:t>
            </a:r>
            <a:r>
              <a:rPr sz="3000" b="1" baseline="30000">
                <a:solidFill>
                  <a:srgbClr val="0F4C5C"/>
                </a:solidFill>
                <a:latin typeface="Cambria"/>
              </a:rPr>
              <a:t>k−p</a:t>
            </a:r>
          </a:p>
        </p:txBody>
      </p:sp>
      <p:graphicFrame>
        <p:nvGraphicFramePr>
          <p:cNvPr id="3" name="Table 2"/>
          <p:cNvGraphicFramePr>
            <a:graphicFrameLocks noGrp="1"/>
          </p:cNvGraphicFramePr>
          <p:nvPr/>
        </p:nvGraphicFramePr>
        <p:xfrm>
          <a:off x="548640" y="1417320"/>
          <a:ext cx="11094415" cy="3058152"/>
        </p:xfrm>
        <a:graphic>
          <a:graphicData uri="http://schemas.openxmlformats.org/drawingml/2006/table">
            <a:tbl>
              <a:tblPr firstRow="0" bandRow="0">
                <a:tableStyleId>{5C22544A-7EE6-4342-B048-85BDC9FD1C3A}</a:tableStyleId>
              </a:tblPr>
              <a:tblGrid>
                <a:gridCol w="4437766"/>
                <a:gridCol w="6656649"/>
              </a:tblGrid>
              <a:tr h="382269">
                <a:tc>
                  <a:txBody>
                    <a:bodyPr/>
                    <a:lstStyle/>
                    <a:p>
                      <a:pPr algn="l"/>
                      <a:r>
                        <a:rPr sz="1700" b="1">
                          <a:solidFill>
                            <a:srgbClr val="FFFFFF"/>
                          </a:solidFill>
                          <a:latin typeface="Calibri"/>
                        </a:rPr>
                        <a:t>Concepto</a:t>
                      </a:r>
                    </a:p>
                  </a:txBody>
                  <a:tcPr marL="73152" marR="73152" marT="27432" marB="27432" anchor="ctr">
                    <a:solidFill>
                      <a:srgbClr val="0F4C5C"/>
                    </a:solidFill>
                  </a:tcPr>
                </a:tc>
                <a:tc>
                  <a:txBody>
                    <a:bodyPr/>
                    <a:lstStyle/>
                    <a:p>
                      <a:pPr algn="l"/>
                      <a:r>
                        <a:rPr sz="1700" b="1">
                          <a:solidFill>
                            <a:srgbClr val="FFFFFF"/>
                          </a:solidFill>
                          <a:latin typeface="Calibri"/>
                        </a:rPr>
                        <a:t>Regla</a:t>
                      </a:r>
                    </a:p>
                  </a:txBody>
                  <a:tcPr marL="73152" marR="73152" marT="27432" marB="27432" anchor="ctr">
                    <a:solidFill>
                      <a:srgbClr val="0F4C5C"/>
                    </a:solidFill>
                  </a:tcPr>
                </a:tc>
              </a:tr>
              <a:tr h="382269">
                <a:tc>
                  <a:txBody>
                    <a:bodyPr/>
                    <a:lstStyle/>
                    <a:p>
                      <a:pPr algn="l"/>
                      <a:r>
                        <a:rPr sz="1700" b="0">
                          <a:solidFill>
                            <a:srgbClr val="142B33"/>
                          </a:solidFill>
                          <a:latin typeface="Calibri"/>
                        </a:rPr>
                        <a:t>Corridas</a:t>
                      </a:r>
                    </a:p>
                  </a:txBody>
                  <a:tcPr marL="73152" marR="73152" marT="27432" marB="27432" anchor="ctr">
                    <a:solidFill>
                      <a:srgbClr val="FFFFFF"/>
                    </a:solidFill>
                  </a:tcPr>
                </a:tc>
                <a:tc>
                  <a:txBody>
                    <a:bodyPr/>
                    <a:lstStyle/>
                    <a:p>
                      <a:pPr algn="l"/>
                      <a:r>
                        <a:rPr sz="1700" b="0">
                          <a:solidFill>
                            <a:srgbClr val="142B33"/>
                          </a:solidFill>
                          <a:latin typeface="Calibri"/>
                        </a:rPr>
                        <a:t>N = 2</a:t>
                      </a:r>
                      <a:r>
                        <a:rPr sz="1700" b="0" baseline="30000">
                          <a:solidFill>
                            <a:srgbClr val="142B33"/>
                          </a:solidFill>
                          <a:latin typeface="Calibri"/>
                        </a:rPr>
                        <a:t>k−p</a:t>
                      </a:r>
                    </a:p>
                  </a:txBody>
                  <a:tcPr marL="73152" marR="73152" marT="27432" marB="27432" anchor="ctr">
                    <a:solidFill>
                      <a:srgbClr val="FFFFFF"/>
                    </a:solidFill>
                  </a:tcPr>
                </a:tc>
              </a:tr>
              <a:tr h="382269">
                <a:tc>
                  <a:txBody>
                    <a:bodyPr/>
                    <a:lstStyle/>
                    <a:p>
                      <a:pPr algn="l"/>
                      <a:r>
                        <a:rPr sz="1700" b="0">
                          <a:solidFill>
                            <a:srgbClr val="142B33"/>
                          </a:solidFill>
                          <a:latin typeface="Calibri"/>
                        </a:rPr>
                        <a:t>Generadores independientes</a:t>
                      </a:r>
                    </a:p>
                  </a:txBody>
                  <a:tcPr marL="73152" marR="73152" marT="27432" marB="27432" anchor="ctr">
                    <a:solidFill>
                      <a:srgbClr val="F4F8F9"/>
                    </a:solidFill>
                  </a:tcPr>
                </a:tc>
                <a:tc>
                  <a:txBody>
                    <a:bodyPr/>
                    <a:lstStyle/>
                    <a:p>
                      <a:pPr algn="l"/>
                      <a:r>
                        <a:rPr sz="1700" b="0">
                          <a:solidFill>
                            <a:srgbClr val="142B33"/>
                          </a:solidFill>
                          <a:latin typeface="Calibri"/>
                        </a:rPr>
                        <a:t>p</a:t>
                      </a:r>
                    </a:p>
                  </a:txBody>
                  <a:tcPr marL="73152" marR="73152" marT="27432" marB="27432" anchor="ctr">
                    <a:solidFill>
                      <a:srgbClr val="F4F8F9"/>
                    </a:solidFill>
                  </a:tcPr>
                </a:tc>
              </a:tr>
              <a:tr h="382269">
                <a:tc>
                  <a:txBody>
                    <a:bodyPr/>
                    <a:lstStyle/>
                    <a:p>
                      <a:pPr algn="l"/>
                      <a:r>
                        <a:rPr sz="1700" b="0">
                          <a:solidFill>
                            <a:srgbClr val="142B33"/>
                          </a:solidFill>
                          <a:latin typeface="Calibri"/>
                        </a:rPr>
                        <a:t>Palabras de la relación de definición</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(generadores y todos sus productos)</a:t>
                      </a:r>
                    </a:p>
                  </a:txBody>
                  <a:tcPr marL="73152" marR="73152" marT="27432" marB="27432" anchor="ctr">
                    <a:solidFill>
                      <a:srgbClr val="FFFFFF"/>
                    </a:solidFill>
                  </a:tcPr>
                </a:tc>
              </a:tr>
              <a:tr h="382269">
                <a:tc>
                  <a:txBody>
                    <a:bodyPr/>
                    <a:lstStyle/>
                    <a:p>
                      <a:pPr algn="l"/>
                      <a:r>
                        <a:rPr sz="1700" b="0">
                          <a:solidFill>
                            <a:srgbClr val="142B33"/>
                          </a:solidFill>
                          <a:latin typeface="Calibri"/>
                        </a:rPr>
                        <a:t>Alias de cada efecto</a:t>
                      </a:r>
                    </a:p>
                  </a:txBody>
                  <a:tcPr marL="73152" marR="73152" marT="27432" marB="27432" anchor="ctr">
                    <a:solidFill>
                      <a:srgbClr val="F4F8F9"/>
                    </a:solidFill>
                  </a:tcPr>
                </a:tc>
                <a:tc>
                  <a:txBody>
                    <a:bodyPr/>
                    <a:lstStyle/>
                    <a:p>
                      <a:pPr algn="l"/>
                      <a:r>
                        <a:rPr sz="1700" b="0">
                          <a:solidFill>
                            <a:srgbClr val="142B33"/>
                          </a:solidFill>
                          <a:latin typeface="Calibri"/>
                        </a:rPr>
                        <a:t>2</a:t>
                      </a:r>
                      <a:r>
                        <a:rPr sz="1700" b="0" baseline="30000">
                          <a:solidFill>
                            <a:srgbClr val="142B33"/>
                          </a:solidFill>
                          <a:latin typeface="Calibri"/>
                        </a:rPr>
                        <a:t>p</a:t>
                      </a:r>
                      <a:r>
                        <a:rPr sz="1700" b="0">
                          <a:solidFill>
                            <a:srgbClr val="142B33"/>
                          </a:solidFill>
                          <a:latin typeface="Calibri"/>
                        </a:rPr>
                        <a:t> − 1  (efecto × cada palabra)</a:t>
                      </a:r>
                    </a:p>
                  </a:txBody>
                  <a:tcPr marL="73152" marR="73152" marT="27432" marB="27432" anchor="ctr">
                    <a:solidFill>
                      <a:srgbClr val="F4F8F9"/>
                    </a:solidFill>
                  </a:tcPr>
                </a:tc>
              </a:tr>
              <a:tr h="382269">
                <a:tc>
                  <a:txBody>
                    <a:bodyPr/>
                    <a:lstStyle/>
                    <a:p>
                      <a:pPr algn="l"/>
                      <a:r>
                        <a:rPr sz="1700" b="0">
                          <a:solidFill>
                            <a:srgbClr val="142B33"/>
                          </a:solidFill>
                          <a:latin typeface="Calibri"/>
                        </a:rPr>
                        <a:t>Cadenas de alias estimables</a:t>
                      </a:r>
                    </a:p>
                  </a:txBody>
                  <a:tcPr marL="73152" marR="73152" marT="27432" marB="27432" anchor="ctr">
                    <a:solidFill>
                      <a:srgbClr val="FFFFFF"/>
                    </a:solidFill>
                  </a:tcPr>
                </a:tc>
                <a:tc>
                  <a:txBody>
                    <a:bodyPr/>
                    <a:lstStyle/>
                    <a:p>
                      <a:pPr algn="l"/>
                      <a:r>
                        <a:rPr sz="1700" b="0">
                          <a:solidFill>
                            <a:srgbClr val="142B33"/>
                          </a:solidFill>
                          <a:latin typeface="Calibri"/>
                        </a:rPr>
                        <a:t>2</a:t>
                      </a:r>
                      <a:r>
                        <a:rPr sz="1700" b="0" baseline="30000">
                          <a:solidFill>
                            <a:srgbClr val="142B33"/>
                          </a:solidFill>
                          <a:latin typeface="Calibri"/>
                        </a:rPr>
                        <a:t>k−p</a:t>
                      </a:r>
                      <a:r>
                        <a:rPr sz="1700" b="0">
                          <a:solidFill>
                            <a:srgbClr val="142B33"/>
                          </a:solidFill>
                          <a:latin typeface="Calibri"/>
                        </a:rPr>
                        <a:t> − 1  (una por grado de libertad)</a:t>
                      </a:r>
                    </a:p>
                  </a:txBody>
                  <a:tcPr marL="73152" marR="73152" marT="27432" marB="27432" anchor="ctr">
                    <a:solidFill>
                      <a:srgbClr val="FFFFFF"/>
                    </a:solidFill>
                  </a:tcPr>
                </a:tc>
              </a:tr>
              <a:tr h="382269">
                <a:tc>
                  <a:txBody>
                    <a:bodyPr/>
                    <a:lstStyle/>
                    <a:p>
                      <a:pPr algn="l"/>
                      <a:r>
                        <a:rPr sz="1700" b="0">
                          <a:solidFill>
                            <a:srgbClr val="142B33"/>
                          </a:solidFill>
                          <a:latin typeface="Calibri"/>
                        </a:rPr>
                        <a:t>Resolución</a:t>
                      </a:r>
                    </a:p>
                  </a:txBody>
                  <a:tcPr marL="73152" marR="73152" marT="27432" marB="27432" anchor="ctr">
                    <a:solidFill>
                      <a:srgbClr val="F4F8F9"/>
                    </a:solidFill>
                  </a:tcPr>
                </a:tc>
                <a:tc>
                  <a:txBody>
                    <a:bodyPr/>
                    <a:lstStyle/>
                    <a:p>
                      <a:pPr algn="l"/>
                      <a:r>
                        <a:rPr sz="1700" b="0">
                          <a:solidFill>
                            <a:srgbClr val="142B33"/>
                          </a:solidFill>
                          <a:latin typeface="Calibri"/>
                        </a:rPr>
                        <a:t>Longitud de la palabra más corta</a:t>
                      </a:r>
                    </a:p>
                  </a:txBody>
                  <a:tcPr marL="73152" marR="73152" marT="27432" marB="27432" anchor="ctr">
                    <a:solidFill>
                      <a:srgbClr val="F4F8F9"/>
                    </a:solidFill>
                  </a:tcPr>
                </a:tc>
              </a:tr>
              <a:tr h="382269">
                <a:tc>
                  <a:txBody>
                    <a:bodyPr/>
                    <a:lstStyle/>
                    <a:p>
                      <a:pPr algn="l"/>
                      <a:r>
                        <a:rPr sz="1700" b="0">
                          <a:solidFill>
                            <a:srgbClr val="142B33"/>
                          </a:solidFill>
                          <a:latin typeface="Calibri"/>
                        </a:rPr>
                        <a:t>Construcción</a:t>
                      </a:r>
                    </a:p>
                  </a:txBody>
                  <a:tcPr marL="73152" marR="73152" marT="27432" marB="27432" anchor="ctr">
                    <a:solidFill>
                      <a:srgbClr val="FFFFFF"/>
                    </a:solidFill>
                  </a:tcPr>
                </a:tc>
                <a:tc>
                  <a:txBody>
                    <a:bodyPr/>
                    <a:lstStyle/>
                    <a:p>
                      <a:pPr algn="l"/>
                      <a:r>
                        <a:rPr sz="1700" b="0">
                          <a:solidFill>
                            <a:srgbClr val="142B33"/>
                          </a:solidFill>
                          <a:latin typeface="Calibri"/>
                        </a:rPr>
                        <a:t>Factorial completo en k − p factores + p columnas generadas</a:t>
                      </a:r>
                    </a:p>
                  </a:txBody>
                  <a:tcPr marL="73152" marR="73152" marT="27432" marB="27432" anchor="ctr">
                    <a:solidFill>
                      <a:srgbClr val="FFFFFF"/>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56</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generadores elijo?</a:t>
            </a:r>
          </a:p>
        </p:txBody>
      </p:sp>
      <p:graphicFrame>
        <p:nvGraphicFramePr>
          <p:cNvPr id="3" name="Table 2"/>
          <p:cNvGraphicFramePr>
            <a:graphicFrameLocks noGrp="1"/>
          </p:cNvGraphicFramePr>
          <p:nvPr/>
        </p:nvGraphicFramePr>
        <p:xfrm>
          <a:off x="548640" y="1417320"/>
          <a:ext cx="11094412" cy="2081784"/>
        </p:xfrm>
        <a:graphic>
          <a:graphicData uri="http://schemas.openxmlformats.org/drawingml/2006/table">
            <a:tbl>
              <a:tblPr firstRow="0" bandRow="0">
                <a:tableStyleId>{5C22544A-7EE6-4342-B048-85BDC9FD1C3A}</a:tableStyleId>
              </a:tblPr>
              <a:tblGrid>
                <a:gridCol w="2773603"/>
                <a:gridCol w="2773603"/>
                <a:gridCol w="2773603"/>
                <a:gridCol w="2773603"/>
              </a:tblGrid>
              <a:tr h="366776">
                <a:tc>
                  <a:txBody>
                    <a:bodyPr/>
                    <a:lstStyle/>
                    <a:p>
                      <a:pPr algn="l"/>
                    </a:p>
                  </a:txBody>
                  <a:tcPr marL="73152" marR="73152" marT="27432" marB="27432" anchor="ctr">
                    <a:solidFill>
                      <a:srgbClr val="0F4C5C"/>
                    </a:solidFill>
                  </a:tcPr>
                </a:tc>
                <a:tc>
                  <a:txBody>
                    <a:bodyPr/>
                    <a:lstStyle/>
                    <a:p>
                      <a:pPr algn="ctr"/>
                      <a:r>
                        <a:rPr sz="1600" b="1">
                          <a:solidFill>
                            <a:srgbClr val="FFFFFF"/>
                          </a:solidFill>
                          <a:latin typeface="Calibri"/>
                        </a:rPr>
                        <a:t>Diseño A</a:t>
                      </a:r>
                    </a:p>
                  </a:txBody>
                  <a:tcPr marL="73152" marR="73152" marT="27432" marB="27432" anchor="ctr">
                    <a:solidFill>
                      <a:srgbClr val="0F4C5C"/>
                    </a:solidFill>
                  </a:tcPr>
                </a:tc>
                <a:tc>
                  <a:txBody>
                    <a:bodyPr/>
                    <a:lstStyle/>
                    <a:p>
                      <a:pPr algn="ctr"/>
                      <a:r>
                        <a:rPr sz="1600" b="1">
                          <a:solidFill>
                            <a:srgbClr val="FFFFFF"/>
                          </a:solidFill>
                          <a:latin typeface="Calibri"/>
                        </a:rPr>
                        <a:t>Diseño B</a:t>
                      </a:r>
                    </a:p>
                  </a:txBody>
                  <a:tcPr marL="73152" marR="73152" marT="27432" marB="27432" anchor="ctr">
                    <a:solidFill>
                      <a:srgbClr val="0F4C5C"/>
                    </a:solidFill>
                  </a:tcPr>
                </a:tc>
                <a:tc>
                  <a:txBody>
                    <a:bodyPr/>
                    <a:lstStyle/>
                    <a:p>
                      <a:pPr algn="ctr"/>
                      <a:r>
                        <a:rPr sz="1600" b="1">
                          <a:solidFill>
                            <a:srgbClr val="FFFFFF"/>
                          </a:solidFill>
                          <a:latin typeface="Calibri"/>
                        </a:rPr>
                        <a:t>Diseño C</a:t>
                      </a:r>
                    </a:p>
                  </a:txBody>
                  <a:tcPr marL="73152" marR="73152" marT="27432" marB="27432" anchor="ctr">
                    <a:solidFill>
                      <a:srgbClr val="0F4C5C"/>
                    </a:solidFill>
                  </a:tcPr>
                </a:tc>
              </a:tr>
              <a:tr h="366776">
                <a:tc>
                  <a:txBody>
                    <a:bodyPr/>
                    <a:lstStyle/>
                    <a:p>
                      <a:pPr algn="l"/>
                      <a:r>
                        <a:rPr sz="1600" b="0">
                          <a:solidFill>
                            <a:srgbClr val="142B33"/>
                          </a:solidFill>
                          <a:latin typeface="Calibri"/>
                        </a:rPr>
                        <a:t>Generadores</a:t>
                      </a:r>
                    </a:p>
                  </a:txBody>
                  <a:tcPr marL="73152" marR="73152" marT="27432" marB="27432" anchor="ctr">
                    <a:solidFill>
                      <a:srgbClr val="FFFFFF"/>
                    </a:solidFill>
                  </a:tcPr>
                </a:tc>
                <a:tc>
                  <a:txBody>
                    <a:bodyPr/>
                    <a:lstStyle/>
                    <a:p>
                      <a:pPr algn="ctr"/>
                      <a:r>
                        <a:rPr sz="1600" b="0">
                          <a:solidFill>
                            <a:srgbClr val="142B33"/>
                          </a:solidFill>
                          <a:latin typeface="Calibri"/>
                        </a:rPr>
                        <a:t>F = ABC,  G = BCD</a:t>
                      </a:r>
                    </a:p>
                  </a:txBody>
                  <a:tcPr marL="73152" marR="73152" marT="27432" marB="27432" anchor="ctr">
                    <a:solidFill>
                      <a:srgbClr val="FFFFFF"/>
                    </a:solidFill>
                  </a:tcPr>
                </a:tc>
                <a:tc>
                  <a:txBody>
                    <a:bodyPr/>
                    <a:lstStyle/>
                    <a:p>
                      <a:pPr algn="ctr"/>
                      <a:r>
                        <a:rPr sz="1600" b="0">
                          <a:solidFill>
                            <a:srgbClr val="142B33"/>
                          </a:solidFill>
                          <a:latin typeface="Calibri"/>
                        </a:rPr>
                        <a:t>F = ABC,  G = ADE</a:t>
                      </a:r>
                    </a:p>
                  </a:txBody>
                  <a:tcPr marL="73152" marR="73152" marT="27432" marB="27432" anchor="ctr">
                    <a:solidFill>
                      <a:srgbClr val="FFFFFF"/>
                    </a:solidFill>
                  </a:tcPr>
                </a:tc>
                <a:tc>
                  <a:txBody>
                    <a:bodyPr/>
                    <a:lstStyle/>
                    <a:p>
                      <a:pPr algn="ctr"/>
                      <a:r>
                        <a:rPr sz="1600" b="0">
                          <a:solidFill>
                            <a:srgbClr val="142B33"/>
                          </a:solidFill>
                          <a:latin typeface="Calibri"/>
                        </a:rPr>
                        <a:t>F = ABCD,  G = ABDE</a:t>
                      </a:r>
                    </a:p>
                  </a:txBody>
                  <a:tcPr marL="73152" marR="73152" marT="27432" marB="27432" anchor="ctr">
                    <a:solidFill>
                      <a:srgbClr val="FFFFFF"/>
                    </a:solidFill>
                  </a:tcPr>
                </a:tc>
              </a:tr>
              <a:tr h="366776">
                <a:tc>
                  <a:txBody>
                    <a:bodyPr/>
                    <a:lstStyle/>
                    <a:p>
                      <a:pPr algn="l"/>
                      <a:r>
                        <a:rPr sz="1600" b="0">
                          <a:solidFill>
                            <a:srgbClr val="142B33"/>
                          </a:solidFill>
                          <a:latin typeface="Calibri"/>
                        </a:rPr>
                        <a:t>Relación de definición</a:t>
                      </a:r>
                    </a:p>
                  </a:txBody>
                  <a:tcPr marL="73152" marR="73152" marT="27432" marB="27432" anchor="ctr">
                    <a:solidFill>
                      <a:srgbClr val="F4F8F9"/>
                    </a:solidFill>
                  </a:tcPr>
                </a:tc>
                <a:tc>
                  <a:txBody>
                    <a:bodyPr/>
                    <a:lstStyle/>
                    <a:p>
                      <a:pPr algn="ctr"/>
                      <a:r>
                        <a:rPr sz="1600" b="0">
                          <a:solidFill>
                            <a:srgbClr val="142B33"/>
                          </a:solidFill>
                          <a:latin typeface="Calibri"/>
                        </a:rPr>
                        <a:t>I = ABCF = BCDG = ADFG</a:t>
                      </a:r>
                    </a:p>
                  </a:txBody>
                  <a:tcPr marL="73152" marR="73152" marT="27432" marB="27432" anchor="ctr">
                    <a:solidFill>
                      <a:srgbClr val="F4F8F9"/>
                    </a:solidFill>
                  </a:tcPr>
                </a:tc>
                <a:tc>
                  <a:txBody>
                    <a:bodyPr/>
                    <a:lstStyle/>
                    <a:p>
                      <a:pPr algn="ctr"/>
                      <a:r>
                        <a:rPr sz="1600" b="0">
                          <a:solidFill>
                            <a:srgbClr val="142B33"/>
                          </a:solidFill>
                          <a:latin typeface="Calibri"/>
                        </a:rPr>
                        <a:t>I = ABCF = ADEG = BCDEFG</a:t>
                      </a:r>
                    </a:p>
                  </a:txBody>
                  <a:tcPr marL="73152" marR="73152" marT="27432" marB="27432" anchor="ctr">
                    <a:solidFill>
                      <a:srgbClr val="F4F8F9"/>
                    </a:solidFill>
                  </a:tcPr>
                </a:tc>
                <a:tc>
                  <a:txBody>
                    <a:bodyPr/>
                    <a:lstStyle/>
                    <a:p>
                      <a:pPr algn="ctr"/>
                      <a:r>
                        <a:rPr sz="1600" b="0">
                          <a:solidFill>
                            <a:srgbClr val="142B33"/>
                          </a:solidFill>
                          <a:latin typeface="Calibri"/>
                        </a:rPr>
                        <a:t>I = ABCDF = ABDEG = CEFG</a:t>
                      </a:r>
                    </a:p>
                  </a:txBody>
                  <a:tcPr marL="73152" marR="73152" marT="27432" marB="27432" anchor="ctr">
                    <a:solidFill>
                      <a:srgbClr val="F4F8F9"/>
                    </a:solidFill>
                  </a:tcPr>
                </a:tc>
              </a:tr>
              <a:tr h="366776">
                <a:tc>
                  <a:txBody>
                    <a:bodyPr/>
                    <a:lstStyle/>
                    <a:p>
                      <a:pPr algn="l"/>
                      <a:r>
                        <a:rPr sz="1600" b="0">
                          <a:solidFill>
                            <a:srgbClr val="142B33"/>
                          </a:solidFill>
                          <a:latin typeface="Calibri"/>
                        </a:rPr>
                        <a:t>Longitud de las palabras</a:t>
                      </a:r>
                    </a:p>
                  </a:txBody>
                  <a:tcPr marL="73152" marR="73152" marT="27432" marB="27432" anchor="ctr">
                    <a:solidFill>
                      <a:srgbClr val="FFFFFF"/>
                    </a:solidFill>
                  </a:tcPr>
                </a:tc>
                <a:tc>
                  <a:txBody>
                    <a:bodyPr/>
                    <a:lstStyle/>
                    <a:p>
                      <a:pPr algn="ctr"/>
                      <a:r>
                        <a:rPr sz="1600" b="0">
                          <a:solidFill>
                            <a:srgbClr val="142B33"/>
                          </a:solidFill>
                          <a:latin typeface="Calibri"/>
                        </a:rPr>
                        <a:t>4, 4, 4</a:t>
                      </a:r>
                    </a:p>
                  </a:txBody>
                  <a:tcPr marL="73152" marR="73152" marT="27432" marB="27432" anchor="ctr">
                    <a:solidFill>
                      <a:srgbClr val="FFFFFF"/>
                    </a:solidFill>
                  </a:tcPr>
                </a:tc>
                <a:tc>
                  <a:txBody>
                    <a:bodyPr/>
                    <a:lstStyle/>
                    <a:p>
                      <a:pPr algn="ctr"/>
                      <a:r>
                        <a:rPr sz="1600" b="0">
                          <a:solidFill>
                            <a:srgbClr val="142B33"/>
                          </a:solidFill>
                          <a:latin typeface="Calibri"/>
                        </a:rPr>
                        <a:t>4, 4, 6</a:t>
                      </a:r>
                    </a:p>
                  </a:txBody>
                  <a:tcPr marL="73152" marR="73152" marT="27432" marB="27432" anchor="ctr">
                    <a:solidFill>
                      <a:srgbClr val="FFFFFF"/>
                    </a:solidFill>
                  </a:tcPr>
                </a:tc>
                <a:tc>
                  <a:txBody>
                    <a:bodyPr/>
                    <a:lstStyle/>
                    <a:p>
                      <a:pPr algn="ctr"/>
                      <a:r>
                        <a:rPr sz="1600" b="0">
                          <a:solidFill>
                            <a:srgbClr val="142B33"/>
                          </a:solidFill>
                          <a:latin typeface="Calibri"/>
                        </a:rPr>
                        <a:t>4, 5, 5</a:t>
                      </a:r>
                    </a:p>
                  </a:txBody>
                  <a:tcPr marL="73152" marR="73152" marT="27432" marB="27432" anchor="ctr">
                    <a:solidFill>
                      <a:srgbClr val="FFFFFF"/>
                    </a:solidFill>
                  </a:tcPr>
                </a:tc>
              </a:tr>
              <a:tr h="614680">
                <a:tc>
                  <a:txBody>
                    <a:bodyPr/>
                    <a:lstStyle/>
                    <a:p>
                      <a:pPr algn="l"/>
                      <a:r>
                        <a:rPr sz="1600" b="0">
                          <a:solidFill>
                            <a:srgbClr val="142B33"/>
                          </a:solidFill>
                          <a:latin typeface="Calibri"/>
                        </a:rPr>
                        <a:t>Cadenas de interacciones dobles aliadas</a:t>
                      </a:r>
                    </a:p>
                  </a:txBody>
                  <a:tcPr marL="73152" marR="73152" marT="27432" marB="27432" anchor="ctr">
                    <a:solidFill>
                      <a:srgbClr val="F4F8F9"/>
                    </a:solidFill>
                  </a:tcPr>
                </a:tc>
                <a:tc>
                  <a:txBody>
                    <a:bodyPr/>
                    <a:lstStyle/>
                    <a:p>
                      <a:pPr algn="ctr"/>
                      <a:r>
                        <a:rPr sz="1600" b="0">
                          <a:solidFill>
                            <a:srgbClr val="142B33"/>
                          </a:solidFill>
                          <a:latin typeface="Calibri"/>
                        </a:rPr>
                        <a:t>7</a:t>
                      </a:r>
                    </a:p>
                  </a:txBody>
                  <a:tcPr marL="73152" marR="73152" marT="27432" marB="27432" anchor="ctr">
                    <a:solidFill>
                      <a:srgbClr val="F4F8F9"/>
                    </a:solidFill>
                  </a:tcPr>
                </a:tc>
                <a:tc>
                  <a:txBody>
                    <a:bodyPr/>
                    <a:lstStyle/>
                    <a:p>
                      <a:pPr algn="ctr"/>
                      <a:r>
                        <a:rPr sz="1600" b="0">
                          <a:solidFill>
                            <a:srgbClr val="142B33"/>
                          </a:solidFill>
                          <a:latin typeface="Calibri"/>
                        </a:rPr>
                        <a:t>6</a:t>
                      </a:r>
                    </a:p>
                  </a:txBody>
                  <a:tcPr marL="73152" marR="73152" marT="27432" marB="27432" anchor="ctr">
                    <a:solidFill>
                      <a:srgbClr val="F4F8F9"/>
                    </a:solidFill>
                  </a:tcPr>
                </a:tc>
                <a:tc>
                  <a:txBody>
                    <a:bodyPr/>
                    <a:lstStyle/>
                    <a:p>
                      <a:pPr algn="ctr"/>
                      <a:r>
                        <a:rPr sz="1600" b="0">
                          <a:solidFill>
                            <a:srgbClr val="142B33"/>
                          </a:solidFill>
                          <a:latin typeface="Calibri"/>
                        </a:rPr>
                        <a:t>3</a:t>
                      </a:r>
                    </a:p>
                  </a:txBody>
                  <a:tcPr marL="73152" marR="73152" marT="27432" marB="27432" anchor="ctr">
                    <a:solidFill>
                      <a:srgbClr val="F4F8F9"/>
                    </a:solidFill>
                  </a:tcPr>
                </a:tc>
              </a:tr>
            </a:tbl>
          </a:graphicData>
        </a:graphic>
      </p:graphicFrame>
      <p:sp>
        <p:nvSpPr>
          <p:cNvPr id="4" name="TextBox 3"/>
          <p:cNvSpPr txBox="1"/>
          <p:nvPr/>
        </p:nvSpPr>
        <p:spPr>
          <a:xfrm>
            <a:off x="548640" y="3700272"/>
            <a:ext cx="11094415" cy="691387"/>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Máxima resolución</a:t>
            </a:r>
            <a:r>
              <a:rPr sz="1700" b="0">
                <a:solidFill>
                  <a:srgbClr val="142B33"/>
                </a:solidFill>
                <a:latin typeface="Calibri"/>
              </a:rPr>
              <a:t>: la palabra más corta, lo más larga posible</a:t>
            </a:r>
          </a:p>
          <a:p>
            <a:pPr marL="320040" indent="-320040">
              <a:spcAft>
                <a:spcPts val="600"/>
              </a:spcAft>
              <a:buClr>
                <a:srgbClr val="E36414"/>
              </a:buClr>
              <a:buFont typeface="+mj-lt"/>
              <a:buAutoNum type="arabicPeriod"/>
            </a:pPr>
            <a:r>
              <a:rPr sz="1700" b="0">
                <a:solidFill>
                  <a:srgbClr val="142B33"/>
                </a:solidFill>
                <a:latin typeface="Calibri"/>
              </a:rPr>
              <a:t>​</a:t>
            </a:r>
            <a:r>
              <a:rPr sz="1700" b="1">
                <a:solidFill>
                  <a:srgbClr val="142B33"/>
                </a:solidFill>
                <a:latin typeface="Calibri"/>
              </a:rPr>
              <a:t>Aberración mínima</a:t>
            </a:r>
            <a:r>
              <a:rPr sz="1700" b="0">
                <a:solidFill>
                  <a:srgbClr val="142B33"/>
                </a:solidFill>
                <a:latin typeface="Calibri"/>
              </a:rPr>
              <a:t>: el menor número de palabras de longitud mínima</a:t>
            </a:r>
          </a:p>
        </p:txBody>
      </p:sp>
      <p:sp>
        <p:nvSpPr>
          <p:cNvPr id="5" name="Rounded Rectangle 4"/>
          <p:cNvSpPr/>
          <p:nvPr/>
        </p:nvSpPr>
        <p:spPr>
          <a:xfrm>
            <a:off x="548640" y="4592828"/>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El diseño C tiene una sola palabra de 4 letras: es el de </a:t>
            </a:r>
            <a:r>
              <a:rPr sz="1600" b="1">
                <a:solidFill>
                  <a:srgbClr val="142B33"/>
                </a:solidFill>
                <a:latin typeface="Calibri"/>
              </a:rPr>
              <a:t>aberración mínima</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57</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Diseños recomendados hasta 32 corridas</a:t>
            </a:r>
          </a:p>
        </p:txBody>
      </p:sp>
      <p:graphicFrame>
        <p:nvGraphicFramePr>
          <p:cNvPr id="3" name="Table 2"/>
          <p:cNvGraphicFramePr>
            <a:graphicFrameLocks noGrp="1"/>
          </p:cNvGraphicFramePr>
          <p:nvPr/>
        </p:nvGraphicFramePr>
        <p:xfrm>
          <a:off x="548640" y="1417320"/>
          <a:ext cx="11094412" cy="4365244"/>
        </p:xfrm>
        <a:graphic>
          <a:graphicData uri="http://schemas.openxmlformats.org/drawingml/2006/table">
            <a:tbl>
              <a:tblPr firstRow="0" bandRow="0">
                <a:tableStyleId>{5C22544A-7EE6-4342-B048-85BDC9FD1C3A}</a:tableStyleId>
              </a:tblPr>
              <a:tblGrid>
                <a:gridCol w="1442273"/>
                <a:gridCol w="1886050"/>
                <a:gridCol w="1442273"/>
                <a:gridCol w="6323816"/>
              </a:tblGrid>
              <a:tr h="335788">
                <a:tc>
                  <a:txBody>
                    <a:bodyPr/>
                    <a:lstStyle/>
                    <a:p>
                      <a:pPr algn="ctr"/>
                      <a:r>
                        <a:rPr sz="1400" b="1">
                          <a:solidFill>
                            <a:srgbClr val="FFFFFF"/>
                          </a:solidFill>
                          <a:latin typeface="Calibri"/>
                        </a:rPr>
                        <a:t>Factores</a:t>
                      </a:r>
                    </a:p>
                  </a:txBody>
                  <a:tcPr marL="73152" marR="73152" marT="27432" marB="27432" anchor="ctr">
                    <a:solidFill>
                      <a:srgbClr val="0F4C5C"/>
                    </a:solidFill>
                  </a:tcPr>
                </a:tc>
                <a:tc>
                  <a:txBody>
                    <a:bodyPr/>
                    <a:lstStyle/>
                    <a:p>
                      <a:pPr algn="ctr"/>
                      <a:r>
                        <a:rPr sz="1400" b="1">
                          <a:solidFill>
                            <a:srgbClr val="FFFFFF"/>
                          </a:solidFill>
                          <a:latin typeface="Calibri"/>
                        </a:rPr>
                        <a:t>Diseño</a:t>
                      </a:r>
                    </a:p>
                  </a:txBody>
                  <a:tcPr marL="73152" marR="73152" marT="27432" marB="27432" anchor="ctr">
                    <a:solidFill>
                      <a:srgbClr val="0F4C5C"/>
                    </a:solidFill>
                  </a:tcPr>
                </a:tc>
                <a:tc>
                  <a:txBody>
                    <a:bodyPr/>
                    <a:lstStyle/>
                    <a:p>
                      <a:pPr algn="ctr"/>
                      <a:r>
                        <a:rPr sz="1400" b="1">
                          <a:solidFill>
                            <a:srgbClr val="FFFFFF"/>
                          </a:solidFill>
                          <a:latin typeface="Calibri"/>
                        </a:rPr>
                        <a:t>Corridas</a:t>
                      </a:r>
                    </a:p>
                  </a:txBody>
                  <a:tcPr marL="73152" marR="73152" marT="27432" marB="27432" anchor="ctr">
                    <a:solidFill>
                      <a:srgbClr val="0F4C5C"/>
                    </a:solidFill>
                  </a:tcPr>
                </a:tc>
                <a:tc>
                  <a:txBody>
                    <a:bodyPr/>
                    <a:lstStyle/>
                    <a:p>
                      <a:pPr algn="ctr"/>
                      <a:r>
                        <a:rPr sz="1400" b="1">
                          <a:solidFill>
                            <a:srgbClr val="FFFFFF"/>
                          </a:solidFill>
                          <a:latin typeface="Calibri"/>
                        </a:rPr>
                        <a:t>Generadores</a:t>
                      </a:r>
                    </a:p>
                  </a:txBody>
                  <a:tcPr marL="73152" marR="73152" marT="27432" marB="27432" anchor="ctr">
                    <a:solidFill>
                      <a:srgbClr val="0F4C5C"/>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3−1</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4</a:t>
                      </a:r>
                    </a:p>
                  </a:txBody>
                  <a:tcPr marL="73152" marR="73152" marT="27432" marB="27432" anchor="ctr">
                    <a:solidFill>
                      <a:srgbClr val="FFFFFF"/>
                    </a:solidFill>
                  </a:tcPr>
                </a:tc>
                <a:tc>
                  <a:txBody>
                    <a:bodyPr/>
                    <a:lstStyle/>
                    <a:p>
                      <a:pPr algn="ctr"/>
                      <a:r>
                        <a:rPr sz="1400" b="0">
                          <a:solidFill>
                            <a:srgbClr val="142B33"/>
                          </a:solidFill>
                          <a:latin typeface="Calibri"/>
                        </a:rPr>
                        <a:t>C = AB</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4−1</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5−1</a:t>
                      </a:r>
                      <a:r>
                        <a:rPr sz="1400" b="0" baseline="-25000">
                          <a:solidFill>
                            <a:srgbClr val="142B33"/>
                          </a:solidFill>
                          <a:latin typeface="Calibri"/>
                        </a:rPr>
                        <a:t>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ABCD</a:t>
                      </a:r>
                    </a:p>
                  </a:txBody>
                  <a:tcPr marL="73152" marR="73152" marT="27432" marB="27432" anchor="ctr">
                    <a:solidFill>
                      <a:srgbClr val="FFFFFF"/>
                    </a:solidFill>
                  </a:tcPr>
                </a:tc>
              </a:tr>
              <a:tr h="335788">
                <a:tc>
                  <a:txBody>
                    <a:bodyPr/>
                    <a:lstStyle/>
                    <a:p>
                      <a:pPr algn="ctr"/>
                      <a:r>
                        <a:rPr sz="1400" b="0">
                          <a:solidFill>
                            <a:srgbClr val="142B33"/>
                          </a:solidFill>
                          <a:latin typeface="Calibri"/>
                        </a:rPr>
                        <a:t>5</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5−2</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6−1</a:t>
                      </a:r>
                      <a:r>
                        <a:rPr sz="1400" b="0" baseline="-25000">
                          <a:solidFill>
                            <a:srgbClr val="142B33"/>
                          </a:solidFill>
                          <a:latin typeface="Calibri"/>
                        </a:rPr>
                        <a:t>VI</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ABCDE</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ABC,  F = BCD</a:t>
                      </a:r>
                    </a:p>
                  </a:txBody>
                  <a:tcPr marL="73152" marR="73152" marT="27432" marB="27432" anchor="ctr">
                    <a:solidFill>
                      <a:srgbClr val="F4F8F9"/>
                    </a:solidFill>
                  </a:tcPr>
                </a:tc>
              </a:tr>
              <a:tr h="335788">
                <a:tc>
                  <a:txBody>
                    <a:bodyPr/>
                    <a:lstStyle/>
                    <a:p>
                      <a:pPr algn="ctr"/>
                      <a:r>
                        <a:rPr sz="1400" b="0">
                          <a:solidFill>
                            <a:srgbClr val="142B33"/>
                          </a:solidFill>
                          <a:latin typeface="Calibri"/>
                        </a:rPr>
                        <a:t>6</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D = AB,  E = AC,  F = BC</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7−2</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32</a:t>
                      </a:r>
                    </a:p>
                  </a:txBody>
                  <a:tcPr marL="73152" marR="73152" marT="27432" marB="27432" anchor="ctr">
                    <a:solidFill>
                      <a:srgbClr val="F4F8F9"/>
                    </a:solidFill>
                  </a:tcPr>
                </a:tc>
                <a:tc>
                  <a:txBody>
                    <a:bodyPr/>
                    <a:lstStyle/>
                    <a:p>
                      <a:pPr algn="ctr"/>
                      <a:r>
                        <a:rPr sz="1400" b="0">
                          <a:solidFill>
                            <a:srgbClr val="142B33"/>
                          </a:solidFill>
                          <a:latin typeface="Calibri"/>
                        </a:rPr>
                        <a:t>F = ABCD,  G = ABDE</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7−3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16</a:t>
                      </a:r>
                    </a:p>
                  </a:txBody>
                  <a:tcPr marL="73152" marR="73152" marT="27432" marB="27432" anchor="ctr">
                    <a:solidFill>
                      <a:srgbClr val="FFFFFF"/>
                    </a:solidFill>
                  </a:tcPr>
                </a:tc>
                <a:tc>
                  <a:txBody>
                    <a:bodyPr/>
                    <a:lstStyle/>
                    <a:p>
                      <a:pPr algn="ctr"/>
                      <a:r>
                        <a:rPr sz="1400" b="0">
                          <a:solidFill>
                            <a:srgbClr val="142B33"/>
                          </a:solidFill>
                          <a:latin typeface="Calibri"/>
                        </a:rPr>
                        <a:t>E = ABC,  F = BCD,  G = ACD</a:t>
                      </a:r>
                    </a:p>
                  </a:txBody>
                  <a:tcPr marL="73152" marR="73152" marT="27432" marB="27432" anchor="ctr">
                    <a:solidFill>
                      <a:srgbClr val="FFFFFF"/>
                    </a:solidFill>
                  </a:tcPr>
                </a:tc>
              </a:tr>
              <a:tr h="335788">
                <a:tc>
                  <a:txBody>
                    <a:bodyPr/>
                    <a:lstStyle/>
                    <a:p>
                      <a:pPr algn="ctr"/>
                      <a:r>
                        <a:rPr sz="1400" b="0">
                          <a:solidFill>
                            <a:srgbClr val="142B33"/>
                          </a:solidFill>
                          <a:latin typeface="Calibri"/>
                        </a:rPr>
                        <a:t>7</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7−4</a:t>
                      </a:r>
                      <a:r>
                        <a:rPr sz="1400" b="0" baseline="-25000">
                          <a:solidFill>
                            <a:srgbClr val="142B33"/>
                          </a:solidFill>
                          <a:latin typeface="Calibri"/>
                        </a:rPr>
                        <a:t>III</a:t>
                      </a:r>
                    </a:p>
                  </a:txBody>
                  <a:tcPr marL="73152" marR="73152" marT="27432" marB="27432" anchor="ctr">
                    <a:solidFill>
                      <a:srgbClr val="F4F8F9"/>
                    </a:solidFill>
                  </a:tcPr>
                </a:tc>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D = AB,  E = AC,  F = BC,  G = ABC</a:t>
                      </a:r>
                    </a:p>
                  </a:txBody>
                  <a:tcPr marL="73152" marR="73152" marT="27432" marB="27432" anchor="ctr">
                    <a:solidFill>
                      <a:srgbClr val="F4F8F9"/>
                    </a:solidFill>
                  </a:tcPr>
                </a:tc>
              </a:tr>
              <a:tr h="335788">
                <a:tc>
                  <a:txBody>
                    <a:bodyPr/>
                    <a:lstStyle/>
                    <a:p>
                      <a:pPr algn="ctr"/>
                      <a:r>
                        <a:rPr sz="1400" b="0">
                          <a:solidFill>
                            <a:srgbClr val="142B33"/>
                          </a:solidFill>
                          <a:latin typeface="Calibri"/>
                        </a:rPr>
                        <a:t>8</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p>
                  </a:txBody>
                  <a:tcPr marL="73152" marR="73152" marT="27432" marB="27432" anchor="ctr">
                    <a:solidFill>
                      <a:srgbClr val="FFFFFF"/>
                    </a:solidFill>
                  </a:tcPr>
                </a:tc>
                <a:tc>
                  <a:txBody>
                    <a:bodyPr/>
                    <a:lstStyle/>
                    <a:p>
                      <a:pPr algn="ctr"/>
                      <a:r>
                        <a:rPr sz="1400" b="0">
                          <a:solidFill>
                            <a:srgbClr val="142B33"/>
                          </a:solidFill>
                          <a:latin typeface="Calibri"/>
                        </a:rPr>
                        <a:t>32</a:t>
                      </a:r>
                    </a:p>
                  </a:txBody>
                  <a:tcPr marL="73152" marR="73152" marT="27432" marB="27432" anchor="ctr">
                    <a:solidFill>
                      <a:srgbClr val="FFFFFF"/>
                    </a:solidFill>
                  </a:tcPr>
                </a:tc>
                <a:tc>
                  <a:txBody>
                    <a:bodyPr/>
                    <a:lstStyle/>
                    <a:p>
                      <a:pPr algn="ctr"/>
                      <a:r>
                        <a:rPr sz="1400" b="0">
                          <a:solidFill>
                            <a:srgbClr val="142B33"/>
                          </a:solidFill>
                          <a:latin typeface="Calibri"/>
                        </a:rPr>
                        <a:t>F = ABC,  G = ABD,  H = BCDE</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400" b="0">
                          <a:solidFill>
                            <a:srgbClr val="142B33"/>
                          </a:solidFill>
                          <a:latin typeface="Calibri"/>
                        </a:rPr>
                        <a:t>2</a:t>
                      </a:r>
                      <a:r>
                        <a:rPr sz="1400" b="0" baseline="30000">
                          <a:solidFill>
                            <a:srgbClr val="142B33"/>
                          </a:solidFill>
                          <a:latin typeface="Calibri"/>
                        </a:rPr>
                        <a:t>8−4</a:t>
                      </a:r>
                      <a:r>
                        <a:rPr sz="1400" b="0" baseline="-25000">
                          <a:solidFill>
                            <a:srgbClr val="142B33"/>
                          </a:solidFill>
                          <a:latin typeface="Calibri"/>
                        </a:rPr>
                        <a:t>IV</a:t>
                      </a:r>
                    </a:p>
                  </a:txBody>
                  <a:tcPr marL="73152" marR="73152" marT="27432" marB="27432" anchor="ctr">
                    <a:solidFill>
                      <a:srgbClr val="F4F8F9"/>
                    </a:solidFill>
                  </a:tcPr>
                </a:tc>
                <a:tc>
                  <a:txBody>
                    <a:bodyPr/>
                    <a:lstStyle/>
                    <a:p>
                      <a:pPr algn="ctr"/>
                      <a:r>
                        <a:rPr sz="1400" b="0">
                          <a:solidFill>
                            <a:srgbClr val="142B33"/>
                          </a:solidFill>
                          <a:latin typeface="Calibri"/>
                        </a:rPr>
                        <a:t>16</a:t>
                      </a:r>
                    </a:p>
                  </a:txBody>
                  <a:tcPr marL="73152" marR="73152" marT="27432" marB="27432" anchor="ctr">
                    <a:solidFill>
                      <a:srgbClr val="F4F8F9"/>
                    </a:solidFill>
                  </a:tcPr>
                </a:tc>
                <a:tc>
                  <a:txBody>
                    <a:bodyPr/>
                    <a:lstStyle/>
                    <a:p>
                      <a:pPr algn="ctr"/>
                      <a:r>
                        <a:rPr sz="1400" b="0">
                          <a:solidFill>
                            <a:srgbClr val="142B33"/>
                          </a:solidFill>
                          <a:latin typeface="Calibri"/>
                        </a:rPr>
                        <a:t>E = BCD,  F = ACD,  G = ABC,  H = ABD</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58</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elijo un diseño para siete factores?</a:t>
            </a:r>
          </a:p>
        </p:txBody>
      </p:sp>
      <p:graphicFrame>
        <p:nvGraphicFramePr>
          <p:cNvPr id="3" name="Table 2"/>
          <p:cNvGraphicFramePr>
            <a:graphicFrameLocks noGrp="1"/>
          </p:cNvGraphicFramePr>
          <p:nvPr/>
        </p:nvGraphicFramePr>
        <p:xfrm>
          <a:off x="548640" y="1417320"/>
          <a:ext cx="5341466" cy="2453640"/>
        </p:xfrm>
        <a:graphic>
          <a:graphicData uri="http://schemas.openxmlformats.org/drawingml/2006/table">
            <a:tbl>
              <a:tblPr firstRow="0" bandRow="0">
                <a:tableStyleId>{5C22544A-7EE6-4342-B048-85BDC9FD1C3A}</a:tableStyleId>
              </a:tblPr>
              <a:tblGrid>
                <a:gridCol w="1922928"/>
                <a:gridCol w="1709269"/>
                <a:gridCol w="1709269"/>
              </a:tblGrid>
              <a:tr h="351282">
                <a:tc>
                  <a:txBody>
                    <a:bodyPr/>
                    <a:lstStyle/>
                    <a:p>
                      <a:pPr algn="l"/>
                    </a:p>
                  </a:txBody>
                  <a:tcPr marL="73152" marR="73152" marT="27432" marB="27432" anchor="ctr">
                    <a:solidFill>
                      <a:srgbClr val="0F4C5C"/>
                    </a:solidFill>
                  </a:tcPr>
                </a:tc>
                <a:tc>
                  <a:txBody>
                    <a:bodyPr/>
                    <a:lstStyle/>
                    <a:p>
                      <a:pPr algn="ctr"/>
                      <a:r>
                        <a:rPr sz="1500" b="1">
                          <a:solidFill>
                            <a:srgbClr val="FFFFFF"/>
                          </a:solidFill>
                          <a:latin typeface="Calibri"/>
                        </a:rPr>
                        <a:t>2</a:t>
                      </a:r>
                      <a:r>
                        <a:rPr sz="1500" b="1" baseline="30000">
                          <a:solidFill>
                            <a:srgbClr val="FFFFFF"/>
                          </a:solidFill>
                          <a:latin typeface="Calibri"/>
                        </a:rPr>
                        <a:t>7−3</a:t>
                      </a:r>
                      <a:r>
                        <a:rPr sz="1500" b="1" baseline="-25000">
                          <a:solidFill>
                            <a:srgbClr val="FFFFFF"/>
                          </a:solidFill>
                          <a:latin typeface="Calibri"/>
                        </a:rPr>
                        <a:t>IV</a:t>
                      </a:r>
                    </a:p>
                  </a:txBody>
                  <a:tcPr marL="73152" marR="73152" marT="27432" marB="27432" anchor="ctr">
                    <a:solidFill>
                      <a:srgbClr val="0F4C5C"/>
                    </a:solidFill>
                  </a:tcPr>
                </a:tc>
                <a:tc>
                  <a:txBody>
                    <a:bodyPr/>
                    <a:lstStyle/>
                    <a:p>
                      <a:pPr algn="ctr"/>
                      <a:r>
                        <a:rPr sz="1500" b="1">
                          <a:solidFill>
                            <a:srgbClr val="FFFFFF"/>
                          </a:solidFill>
                          <a:latin typeface="Calibri"/>
                        </a:rPr>
                        <a:t>2</a:t>
                      </a:r>
                      <a:r>
                        <a:rPr sz="1500" b="1" baseline="30000">
                          <a:solidFill>
                            <a:srgbClr val="FFFFFF"/>
                          </a:solidFill>
                          <a:latin typeface="Calibri"/>
                        </a:rPr>
                        <a:t>7−2</a:t>
                      </a:r>
                      <a:r>
                        <a:rPr sz="1500" b="1" baseline="-25000">
                          <a:solidFill>
                            <a:srgbClr val="FFFFFF"/>
                          </a:solidFill>
                          <a:latin typeface="Calibri"/>
                        </a:rPr>
                        <a:t>IV</a:t>
                      </a:r>
                    </a:p>
                  </a:txBody>
                  <a:tcPr marL="73152" marR="73152" marT="27432" marB="27432" anchor="ctr">
                    <a:solidFill>
                      <a:srgbClr val="0F4C5C"/>
                    </a:solidFill>
                  </a:tcPr>
                </a:tc>
              </a:tr>
              <a:tr h="351282">
                <a:tc>
                  <a:txBody>
                    <a:bodyPr/>
                    <a:lstStyle/>
                    <a:p>
                      <a:pPr algn="l"/>
                      <a:r>
                        <a:rPr sz="1500" b="0">
                          <a:solidFill>
                            <a:srgbClr val="142B33"/>
                          </a:solidFill>
                          <a:latin typeface="Calibri"/>
                        </a:rPr>
                        <a:t>Corridas</a:t>
                      </a:r>
                    </a:p>
                  </a:txBody>
                  <a:tcPr marL="73152" marR="73152" marT="27432" marB="27432" anchor="ctr">
                    <a:solidFill>
                      <a:srgbClr val="FDE8D7"/>
                    </a:solidFill>
                  </a:tcPr>
                </a:tc>
                <a:tc>
                  <a:txBody>
                    <a:bodyPr/>
                    <a:lstStyle/>
                    <a:p>
                      <a:pPr algn="ctr"/>
                      <a:r>
                        <a:rPr sz="1500" b="0">
                          <a:solidFill>
                            <a:srgbClr val="142B33"/>
                          </a:solidFill>
                          <a:latin typeface="Calibri"/>
                        </a:rPr>
                        <a:t>16</a:t>
                      </a:r>
                    </a:p>
                  </a:txBody>
                  <a:tcPr marL="73152" marR="73152" marT="27432" marB="27432" anchor="ctr">
                    <a:solidFill>
                      <a:srgbClr val="FDE8D7"/>
                    </a:solidFill>
                  </a:tcPr>
                </a:tc>
                <a:tc>
                  <a:txBody>
                    <a:bodyPr/>
                    <a:lstStyle/>
                    <a:p>
                      <a:pPr algn="ctr"/>
                      <a:r>
                        <a:rPr sz="1500" b="0">
                          <a:solidFill>
                            <a:srgbClr val="142B33"/>
                          </a:solidFill>
                          <a:latin typeface="Calibri"/>
                        </a:rPr>
                        <a:t>32</a:t>
                      </a:r>
                    </a:p>
                  </a:txBody>
                  <a:tcPr marL="73152" marR="73152" marT="27432" marB="27432" anchor="ctr">
                    <a:solidFill>
                      <a:srgbClr val="FDE8D7"/>
                    </a:solidFill>
                  </a:tcPr>
                </a:tc>
              </a:tr>
              <a:tr h="583692">
                <a:tc>
                  <a:txBody>
                    <a:bodyPr/>
                    <a:lstStyle/>
                    <a:p>
                      <a:pPr algn="l"/>
                      <a:r>
                        <a:rPr sz="1500" b="0">
                          <a:solidFill>
                            <a:srgbClr val="142B33"/>
                          </a:solidFill>
                          <a:latin typeface="Calibri"/>
                        </a:rPr>
                        <a:t>Efectos principales</a:t>
                      </a:r>
                    </a:p>
                  </a:txBody>
                  <a:tcPr marL="73152" marR="73152" marT="27432" marB="27432" anchor="ctr">
                    <a:solidFill>
                      <a:srgbClr val="F4F8F9"/>
                    </a:solidFill>
                  </a:tcPr>
                </a:tc>
                <a:tc>
                  <a:txBody>
                    <a:bodyPr/>
                    <a:lstStyle/>
                    <a:p>
                      <a:pPr algn="ctr"/>
                      <a:r>
                        <a:rPr sz="1500" b="0">
                          <a:solidFill>
                            <a:srgbClr val="142B33"/>
                          </a:solidFill>
                          <a:latin typeface="Calibri"/>
                        </a:rPr>
                        <a:t>Alias de triples</a:t>
                      </a:r>
                    </a:p>
                  </a:txBody>
                  <a:tcPr marL="73152" marR="73152" marT="27432" marB="27432" anchor="ctr">
                    <a:solidFill>
                      <a:srgbClr val="F4F8F9"/>
                    </a:solidFill>
                  </a:tcPr>
                </a:tc>
                <a:tc>
                  <a:txBody>
                    <a:bodyPr/>
                    <a:lstStyle/>
                    <a:p>
                      <a:pPr algn="ctr"/>
                      <a:r>
                        <a:rPr sz="1500" b="0">
                          <a:solidFill>
                            <a:srgbClr val="142B33"/>
                          </a:solidFill>
                          <a:latin typeface="Calibri"/>
                        </a:rPr>
                        <a:t>Alias de triples o limpios</a:t>
                      </a:r>
                    </a:p>
                  </a:txBody>
                  <a:tcPr marL="73152" marR="73152" marT="27432" marB="27432" anchor="ctr">
                    <a:solidFill>
                      <a:srgbClr val="F4F8F9"/>
                    </a:solidFill>
                  </a:tcPr>
                </a:tc>
              </a:tr>
              <a:tr h="583692">
                <a:tc>
                  <a:txBody>
                    <a:bodyPr/>
                    <a:lstStyle/>
                    <a:p>
                      <a:pPr algn="l"/>
                      <a:r>
                        <a:rPr sz="1500" b="0">
                          <a:solidFill>
                            <a:srgbClr val="142B33"/>
                          </a:solidFill>
                          <a:latin typeface="Calibri"/>
                        </a:rPr>
                        <a:t>Interacciones dobles</a:t>
                      </a:r>
                    </a:p>
                  </a:txBody>
                  <a:tcPr marL="73152" marR="73152" marT="27432" marB="27432" anchor="ctr">
                    <a:solidFill>
                      <a:srgbClr val="FFFFFF"/>
                    </a:solidFill>
                  </a:tcPr>
                </a:tc>
                <a:tc>
                  <a:txBody>
                    <a:bodyPr/>
                    <a:lstStyle/>
                    <a:p>
                      <a:pPr algn="ctr"/>
                      <a:r>
                        <a:rPr sz="1500" b="0">
                          <a:solidFill>
                            <a:srgbClr val="142B33"/>
                          </a:solidFill>
                          <a:latin typeface="Calibri"/>
                        </a:rPr>
                        <a:t>En grupos de tres</a:t>
                      </a:r>
                    </a:p>
                  </a:txBody>
                  <a:tcPr marL="73152" marR="73152" marT="27432" marB="27432" anchor="ctr">
                    <a:solidFill>
                      <a:srgbClr val="FFFFFF"/>
                    </a:solidFill>
                  </a:tcPr>
                </a:tc>
                <a:tc>
                  <a:txBody>
                    <a:bodyPr/>
                    <a:lstStyle/>
                    <a:p>
                      <a:pPr algn="ctr"/>
                      <a:r>
                        <a:rPr sz="1500" b="0">
                          <a:solidFill>
                            <a:srgbClr val="142B33"/>
                          </a:solidFill>
                          <a:latin typeface="Calibri"/>
                        </a:rPr>
                        <a:t>15 de 21 limpias</a:t>
                      </a:r>
                    </a:p>
                  </a:txBody>
                  <a:tcPr marL="73152" marR="73152" marT="27432" marB="27432" anchor="ctr">
                    <a:solidFill>
                      <a:srgbClr val="FFFFFF"/>
                    </a:solidFill>
                  </a:tcPr>
                </a:tc>
              </a:tr>
              <a:tr h="583692">
                <a:tc>
                  <a:txBody>
                    <a:bodyPr/>
                    <a:lstStyle/>
                    <a:p>
                      <a:pPr algn="l"/>
                      <a:r>
                        <a:rPr sz="1500" b="0">
                          <a:solidFill>
                            <a:srgbClr val="142B33"/>
                          </a:solidFill>
                          <a:latin typeface="Calibri"/>
                        </a:rPr>
                        <a:t>¿Cumple el objetivo?</a:t>
                      </a:r>
                    </a:p>
                  </a:txBody>
                  <a:tcPr marL="73152" marR="73152" marT="27432" marB="27432" anchor="ctr">
                    <a:solidFill>
                      <a:srgbClr val="F4F8F9"/>
                    </a:solidFill>
                  </a:tcPr>
                </a:tc>
                <a:tc>
                  <a:txBody>
                    <a:bodyPr/>
                    <a:lstStyle/>
                    <a:p>
                      <a:pPr algn="ctr"/>
                      <a:r>
                        <a:rPr sz="1500" b="0">
                          <a:solidFill>
                            <a:srgbClr val="142B33"/>
                          </a:solidFill>
                          <a:latin typeface="Calibri"/>
                        </a:rPr>
                        <a:t>Sí</a:t>
                      </a:r>
                    </a:p>
                  </a:txBody>
                  <a:tcPr marL="73152" marR="73152" marT="27432" marB="27432" anchor="ctr">
                    <a:solidFill>
                      <a:srgbClr val="F4F8F9"/>
                    </a:solidFill>
                  </a:tcPr>
                </a:tc>
                <a:tc>
                  <a:txBody>
                    <a:bodyPr/>
                    <a:lstStyle/>
                    <a:p>
                      <a:pPr algn="ctr"/>
                      <a:r>
                        <a:rPr sz="1500" b="0">
                          <a:solidFill>
                            <a:srgbClr val="142B33"/>
                          </a:solidFill>
                          <a:latin typeface="Calibri"/>
                        </a:rPr>
                        <a:t>Sí, con información de sobra</a:t>
                      </a:r>
                    </a:p>
                  </a:txBody>
                  <a:tcPr marL="73152" marR="73152" marT="27432" marB="27432" anchor="ctr">
                    <a:solidFill>
                      <a:srgbClr val="F4F8F9"/>
                    </a:solidFill>
                  </a:tcPr>
                </a:tc>
              </a:tr>
            </a:tbl>
          </a:graphicData>
        </a:graphic>
      </p:graphicFrame>
      <p:sp>
        <p:nvSpPr>
          <p:cNvPr id="4" name="Rounded Rectangle 3"/>
          <p:cNvSpPr/>
          <p:nvPr/>
        </p:nvSpPr>
        <p:spPr>
          <a:xfrm>
            <a:off x="6301587" y="1417320"/>
            <a:ext cx="5341467" cy="60403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900" b="0">
                <a:solidFill>
                  <a:srgbClr val="0F4C5C"/>
                </a:solidFill>
                <a:latin typeface="Cambria Math"/>
              </a:rPr>
              <a:t>E = ABC,  F = BCD,  G = ACD</a:t>
            </a:r>
          </a:p>
        </p:txBody>
      </p:sp>
      <p:sp>
        <p:nvSpPr>
          <p:cNvPr id="5" name="Rounded Rectangle 4"/>
          <p:cNvSpPr/>
          <p:nvPr/>
        </p:nvSpPr>
        <p:spPr>
          <a:xfrm>
            <a:off x="6301587" y="2222520"/>
            <a:ext cx="5341467"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I = ABCE = BCDF = ADEF = ACDG</a:t>
            </a:r>
          </a:p>
          <a:p>
            <a:pPr algn="ctr"/>
            <a:r>
              <a:rPr sz="1700" b="0">
                <a:solidFill>
                  <a:srgbClr val="0F4C5C"/>
                </a:solidFill>
                <a:latin typeface="Cambria Math"/>
              </a:rPr>
              <a:t>= BDEG = CEFG = ABFG</a:t>
            </a:r>
          </a:p>
        </p:txBody>
      </p:sp>
      <p:sp>
        <p:nvSpPr>
          <p:cNvPr id="6" name="Rounded Rectangle 5"/>
          <p:cNvSpPr/>
          <p:nvPr/>
        </p:nvSpPr>
        <p:spPr>
          <a:xfrm>
            <a:off x="6301587" y="3288019"/>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Se elige el diseño </a:t>
            </a:r>
            <a:r>
              <a:rPr sz="1500" b="1">
                <a:solidFill>
                  <a:srgbClr val="142B33"/>
                </a:solidFill>
                <a:latin typeface="Calibri"/>
              </a:rPr>
              <a:t>más pequeño</a:t>
            </a:r>
            <a:r>
              <a:rPr sz="1500" b="0">
                <a:solidFill>
                  <a:srgbClr val="142B33"/>
                </a:solidFill>
                <a:latin typeface="Calibri"/>
              </a:rPr>
              <a:t> que cumple el objetivo: el 2</a:t>
            </a:r>
            <a:r>
              <a:rPr sz="1500" b="0" baseline="30000">
                <a:solidFill>
                  <a:srgbClr val="142B33"/>
                </a:solidFill>
                <a:latin typeface="Calibri"/>
              </a:rPr>
              <a:t>7−3</a:t>
            </a:r>
            <a:r>
              <a:rPr sz="1500" b="0">
                <a:solidFill>
                  <a:srgbClr val="142B33"/>
                </a:solidFill>
                <a:latin typeface="Calibri"/>
              </a:rPr>
              <a:t> de 16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59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recolectar los datos?</a:t>
            </a:r>
          </a:p>
        </p:txBody>
      </p:sp>
      <p:sp>
        <p:nvSpPr>
          <p:cNvPr id="3" name="TextBox 2"/>
          <p:cNvSpPr txBox="1"/>
          <p:nvPr/>
        </p:nvSpPr>
        <p:spPr>
          <a:xfrm>
            <a:off x="548640" y="1417320"/>
            <a:ext cx="11094415" cy="3137408"/>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Definir la </a:t>
            </a:r>
            <a:r>
              <a:rPr sz="2000" b="1">
                <a:solidFill>
                  <a:srgbClr val="142B33"/>
                </a:solidFill>
                <a:latin typeface="Calibri"/>
              </a:rPr>
              <a:t>respuesta</a:t>
            </a:r>
            <a:r>
              <a:rPr sz="2000" b="0">
                <a:solidFill>
                  <a:srgbClr val="142B33"/>
                </a:solidFill>
                <a:latin typeface="Calibri"/>
              </a:rPr>
              <a:t>, los </a:t>
            </a:r>
            <a:r>
              <a:rPr sz="2000" b="1">
                <a:solidFill>
                  <a:srgbClr val="142B33"/>
                </a:solidFill>
                <a:latin typeface="Calibri"/>
              </a:rPr>
              <a:t>factores</a:t>
            </a:r>
            <a:r>
              <a:rPr sz="2000" b="0">
                <a:solidFill>
                  <a:srgbClr val="142B33"/>
                </a:solidFill>
                <a:latin typeface="Calibri"/>
              </a:rPr>
              <a:t> y sus dos </a:t>
            </a:r>
            <a:r>
              <a:rPr sz="2000" b="1">
                <a:solidFill>
                  <a:srgbClr val="142B33"/>
                </a:solidFill>
                <a:latin typeface="Calibri"/>
              </a:rPr>
              <a:t>niveles</a:t>
            </a:r>
          </a:p>
          <a:p>
            <a:pPr marL="320040" indent="-320040">
              <a:spcAft>
                <a:spcPts val="600"/>
              </a:spcAft>
              <a:buClr>
                <a:srgbClr val="E36414"/>
              </a:buClr>
              <a:buFont typeface="+mj-lt"/>
              <a:buAutoNum type="arabicPeriod"/>
            </a:pPr>
            <a:r>
              <a:rPr sz="2000" b="0">
                <a:solidFill>
                  <a:srgbClr val="142B33"/>
                </a:solidFill>
                <a:latin typeface="Calibri"/>
              </a:rPr>
              <a:t>Decidir qué interacciones se pueden despreciar  →  </a:t>
            </a:r>
            <a:r>
              <a:rPr sz="2000" b="1">
                <a:solidFill>
                  <a:srgbClr val="142B33"/>
                </a:solidFill>
                <a:latin typeface="Calibri"/>
              </a:rPr>
              <a:t>resolución</a:t>
            </a:r>
            <a:r>
              <a:rPr sz="2000" b="0">
                <a:solidFill>
                  <a:srgbClr val="142B33"/>
                </a:solidFill>
                <a:latin typeface="Calibri"/>
              </a:rPr>
              <a:t> requerida</a:t>
            </a:r>
          </a:p>
          <a:p>
            <a:pPr marL="320040" indent="-320040">
              <a:spcAft>
                <a:spcPts val="600"/>
              </a:spcAft>
              <a:buClr>
                <a:srgbClr val="E36414"/>
              </a:buClr>
              <a:buFont typeface="+mj-lt"/>
              <a:buAutoNum type="arabicPeriod"/>
            </a:pPr>
            <a:r>
              <a:rPr sz="2000" b="0">
                <a:solidFill>
                  <a:srgbClr val="142B33"/>
                </a:solidFill>
                <a:latin typeface="Calibri"/>
              </a:rPr>
              <a:t>Elegir el diseño 2</a:t>
            </a:r>
            <a:r>
              <a:rPr sz="2000" b="0" baseline="30000">
                <a:solidFill>
                  <a:srgbClr val="142B33"/>
                </a:solidFill>
                <a:latin typeface="Calibri"/>
              </a:rPr>
              <a:t>k−p</a:t>
            </a:r>
            <a:r>
              <a:rPr sz="2000" b="0">
                <a:solidFill>
                  <a:srgbClr val="142B33"/>
                </a:solidFill>
                <a:latin typeface="Calibri"/>
              </a:rPr>
              <a:t> y </a:t>
            </a:r>
            <a:r>
              <a:rPr sz="2000" b="1">
                <a:solidFill>
                  <a:srgbClr val="142B33"/>
                </a:solidFill>
                <a:latin typeface="Calibri"/>
              </a:rPr>
              <a:t>revisar sus alias</a:t>
            </a:r>
            <a:r>
              <a:rPr sz="2000" b="0">
                <a:solidFill>
                  <a:srgbClr val="142B33"/>
                </a:solidFill>
                <a:latin typeface="Calibri"/>
              </a:rPr>
              <a:t> antes de correr</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Asignar</a:t>
            </a:r>
            <a:r>
              <a:rPr sz="2000" b="0">
                <a:solidFill>
                  <a:srgbClr val="142B33"/>
                </a:solidFill>
                <a:latin typeface="Calibri"/>
              </a:rPr>
              <a:t> los factores reales a las letras (los importantes, sin aliarse entre sí)</a:t>
            </a:r>
          </a:p>
          <a:p>
            <a:pPr marL="320040" indent="-320040">
              <a:spcAft>
                <a:spcPts val="600"/>
              </a:spcAft>
              <a:buClr>
                <a:srgbClr val="E36414"/>
              </a:buClr>
              <a:buFont typeface="+mj-lt"/>
              <a:buAutoNum type="arabicPeriod"/>
            </a:pPr>
            <a:r>
              <a:rPr sz="2000" b="0">
                <a:solidFill>
                  <a:srgbClr val="142B33"/>
                </a:solidFill>
                <a:latin typeface="Calibri"/>
              </a:rPr>
              <a:t>Construir la </a:t>
            </a:r>
            <a:r>
              <a:rPr sz="2000" b="1">
                <a:solidFill>
                  <a:srgbClr val="142B33"/>
                </a:solidFill>
                <a:latin typeface="Calibri"/>
              </a:rPr>
              <a:t>matriz de diseño</a:t>
            </a:r>
            <a:r>
              <a:rPr sz="2000" b="0">
                <a:solidFill>
                  <a:srgbClr val="142B33"/>
                </a:solidFill>
                <a:latin typeface="Calibri"/>
              </a:rPr>
              <a:t>: diseño básico + columnas generadas</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Aleatorizar</a:t>
            </a:r>
            <a:r>
              <a:rPr sz="2000" b="0">
                <a:solidFill>
                  <a:srgbClr val="142B33"/>
                </a:solidFill>
                <a:latin typeface="Calibri"/>
              </a:rPr>
              <a:t> el orden de las corridas (dentro de bloques, si los hay)</a:t>
            </a:r>
          </a:p>
          <a:p>
            <a:pPr marL="320040" indent="-320040">
              <a:spcAft>
                <a:spcPts val="600"/>
              </a:spcAft>
              <a:buClr>
                <a:srgbClr val="E36414"/>
              </a:buClr>
              <a:buFont typeface="+mj-lt"/>
              <a:buAutoNum type="arabicPeriod"/>
            </a:pPr>
            <a:r>
              <a:rPr sz="2000" b="0">
                <a:solidFill>
                  <a:srgbClr val="142B33"/>
                </a:solidFill>
                <a:latin typeface="Calibri"/>
              </a:rPr>
              <a:t>Ejecutar y </a:t>
            </a:r>
            <a:r>
              <a:rPr sz="2000" b="1">
                <a:solidFill>
                  <a:srgbClr val="142B33"/>
                </a:solidFill>
                <a:latin typeface="Calibri"/>
              </a:rPr>
              <a:t>registrar el orden real</a:t>
            </a:r>
            <a:r>
              <a:rPr sz="2000" b="0">
                <a:solidFill>
                  <a:srgbClr val="142B33"/>
                </a:solidFill>
                <a:latin typeface="Calibri"/>
              </a:rPr>
              <a:t> de corrida</a:t>
            </a:r>
          </a:p>
          <a:p>
            <a:pPr marL="320040" indent="-320040">
              <a:spcAft>
                <a:spcPts val="600"/>
              </a:spcAft>
              <a:buClr>
                <a:srgbClr val="E36414"/>
              </a:buClr>
              <a:buFont typeface="+mj-lt"/>
              <a:buAutoNum type="arabicPeriod"/>
            </a:pPr>
            <a:r>
              <a:rPr sz="2000" b="0">
                <a:solidFill>
                  <a:srgbClr val="142B33"/>
                </a:solidFill>
                <a:latin typeface="Calibri"/>
              </a:rPr>
              <a:t>Planear la </a:t>
            </a:r>
            <a:r>
              <a:rPr sz="2000" b="1">
                <a:solidFill>
                  <a:srgbClr val="142B33"/>
                </a:solidFill>
                <a:latin typeface="Calibri"/>
              </a:rPr>
              <a:t>confirmación</a:t>
            </a:r>
            <a:r>
              <a:rPr sz="2000" b="0">
                <a:solidFill>
                  <a:srgbClr val="142B33"/>
                </a:solidFill>
                <a:latin typeface="Calibri"/>
              </a:rPr>
              <a:t>: corrida de verificación o segunda fracción</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60</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aleatorizar el diseño?</a:t>
            </a:r>
          </a:p>
        </p:txBody>
      </p:sp>
      <p:sp>
        <p:nvSpPr>
          <p:cNvPr id="3" name="TextBox 2"/>
          <p:cNvSpPr txBox="1"/>
          <p:nvPr/>
        </p:nvSpPr>
        <p:spPr>
          <a:xfrm>
            <a:off x="548640" y="1417320"/>
            <a:ext cx="4807320" cy="256032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El orden de ejecución se </a:t>
            </a:r>
            <a:r>
              <a:rPr sz="1800" b="1">
                <a:solidFill>
                  <a:srgbClr val="142B33"/>
                </a:solidFill>
                <a:latin typeface="Calibri"/>
              </a:rPr>
              <a:t>sortea</a:t>
            </a:r>
            <a:r>
              <a:rPr sz="1800" b="0">
                <a:solidFill>
                  <a:srgbClr val="142B33"/>
                </a:solidFill>
                <a:latin typeface="Calibri"/>
              </a:rPr>
              <a:t>; no se corre en orden estándar</a:t>
            </a:r>
          </a:p>
          <a:p>
            <a:pPr marL="320040" indent="-320040">
              <a:spcAft>
                <a:spcPts val="600"/>
              </a:spcAft>
              <a:buClr>
                <a:srgbClr val="E36414"/>
              </a:buClr>
              <a:buFont typeface="Arial"/>
              <a:buChar char="•"/>
            </a:pPr>
            <a:r>
              <a:rPr sz="1800" b="0">
                <a:solidFill>
                  <a:srgbClr val="142B33"/>
                </a:solidFill>
                <a:latin typeface="Calibri"/>
              </a:rPr>
              <a:t>En cada corrida se </a:t>
            </a:r>
            <a:r>
              <a:rPr sz="1800" b="1">
                <a:solidFill>
                  <a:srgbClr val="142B33"/>
                </a:solidFill>
                <a:latin typeface="Calibri"/>
              </a:rPr>
              <a:t>reajustan</a:t>
            </a:r>
            <a:r>
              <a:rPr sz="1800" b="0">
                <a:solidFill>
                  <a:srgbClr val="142B33"/>
                </a:solidFill>
                <a:latin typeface="Calibri"/>
              </a:rPr>
              <a:t> todos los niveles</a:t>
            </a:r>
          </a:p>
          <a:p>
            <a:pPr marL="320040" indent="-320040">
              <a:spcAft>
                <a:spcPts val="600"/>
              </a:spcAft>
              <a:buClr>
                <a:srgbClr val="E36414"/>
              </a:buClr>
              <a:buFont typeface="Arial"/>
              <a:buChar char="•"/>
            </a:pPr>
            <a:r>
              <a:rPr sz="1800" b="0">
                <a:solidFill>
                  <a:srgbClr val="142B33"/>
                </a:solidFill>
                <a:latin typeface="Calibri"/>
              </a:rPr>
              <a:t>Se guarda el </a:t>
            </a:r>
            <a:r>
              <a:rPr sz="1800" b="1">
                <a:solidFill>
                  <a:srgbClr val="142B33"/>
                </a:solidFill>
                <a:latin typeface="Calibri"/>
              </a:rPr>
              <a:t>orden de corrida</a:t>
            </a:r>
            <a:r>
              <a:rPr sz="1800" b="0">
                <a:solidFill>
                  <a:srgbClr val="142B33"/>
                </a:solidFill>
                <a:latin typeface="Calibri"/>
              </a:rPr>
              <a:t>: se usa para verificar independencia</a:t>
            </a:r>
          </a:p>
          <a:p>
            <a:pPr marL="320040" indent="-320040">
              <a:spcAft>
                <a:spcPts val="600"/>
              </a:spcAft>
              <a:buClr>
                <a:srgbClr val="E36414"/>
              </a:buClr>
              <a:buFont typeface="Arial"/>
              <a:buChar char="•"/>
            </a:pPr>
            <a:r>
              <a:rPr sz="1800" b="0">
                <a:solidFill>
                  <a:srgbClr val="142B33"/>
                </a:solidFill>
                <a:latin typeface="Calibri"/>
              </a:rPr>
              <a:t>Sin condiciones homogéneas: </a:t>
            </a:r>
            <a:r>
              <a:rPr sz="1800" b="1">
                <a:solidFill>
                  <a:srgbClr val="142B33"/>
                </a:solidFill>
                <a:latin typeface="Calibri"/>
              </a:rPr>
              <a:t>bloques</a:t>
            </a:r>
            <a:r>
              <a:rPr sz="1800" b="0">
                <a:solidFill>
                  <a:srgbClr val="142B33"/>
                </a:solidFill>
                <a:latin typeface="Calibri"/>
              </a:rPr>
              <a:t>, confundiendo una cadena de orden alto</a:t>
            </a:r>
          </a:p>
        </p:txBody>
      </p:sp>
      <p:sp>
        <p:nvSpPr>
          <p:cNvPr id="4" name="Rounded Rectangle 3"/>
          <p:cNvSpPr/>
          <p:nvPr/>
        </p:nvSpPr>
        <p:spPr>
          <a:xfrm>
            <a:off x="548640" y="4178808"/>
            <a:ext cx="480732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«Forme bloques con lo que pueda y aleatorice lo que no pueda» (Box, Hunter y Hunter)</a:t>
            </a:r>
          </a:p>
        </p:txBody>
      </p:sp>
      <p:graphicFrame>
        <p:nvGraphicFramePr>
          <p:cNvPr id="5" name="Table 4"/>
          <p:cNvGraphicFramePr>
            <a:graphicFrameLocks noGrp="1"/>
          </p:cNvGraphicFramePr>
          <p:nvPr/>
        </p:nvGraphicFramePr>
        <p:xfrm>
          <a:off x="5767440" y="1417320"/>
          <a:ext cx="5875613" cy="3161538"/>
        </p:xfrm>
        <a:graphic>
          <a:graphicData uri="http://schemas.openxmlformats.org/drawingml/2006/table">
            <a:tbl>
              <a:tblPr firstRow="0" bandRow="0">
                <a:tableStyleId>{5C22544A-7EE6-4342-B048-85BDC9FD1C3A}</a:tableStyleId>
              </a:tblPr>
              <a:tblGrid>
                <a:gridCol w="1865147"/>
                <a:gridCol w="1657019"/>
                <a:gridCol w="304187"/>
                <a:gridCol w="304187"/>
                <a:gridCol w="304187"/>
                <a:gridCol w="304187"/>
                <a:gridCol w="1136699"/>
              </a:tblGrid>
              <a:tr h="351282">
                <a:tc>
                  <a:txBody>
                    <a:bodyPr/>
                    <a:lstStyle/>
                    <a:p>
                      <a:pPr algn="ctr"/>
                      <a:r>
                        <a:rPr sz="1500" b="1">
                          <a:solidFill>
                            <a:srgbClr val="FFFFFF"/>
                          </a:solidFill>
                          <a:latin typeface="Calibri"/>
                        </a:rPr>
                        <a:t>Orden de corrida</a:t>
                      </a:r>
                    </a:p>
                  </a:txBody>
                  <a:tcPr marL="73152" marR="73152" marT="27432" marB="27432" anchor="ctr">
                    <a:solidFill>
                      <a:srgbClr val="0F4C5C"/>
                    </a:solidFill>
                  </a:tcPr>
                </a:tc>
                <a:tc>
                  <a:txBody>
                    <a:bodyPr/>
                    <a:lstStyle/>
                    <a:p>
                      <a:pPr algn="ctr"/>
                      <a:r>
                        <a:rPr sz="1500" b="1">
                          <a:solidFill>
                            <a:srgbClr val="FFFFFF"/>
                          </a:solidFill>
                          <a:latin typeface="Calibri"/>
                        </a:rPr>
                        <a:t>Orden estándar</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c>
                  <a:txBody>
                    <a:bodyPr/>
                    <a:lstStyle/>
                    <a:p>
                      <a:pPr algn="ctr"/>
                      <a:r>
                        <a:rPr sz="1500" b="1">
                          <a:solidFill>
                            <a:srgbClr val="FFFFFF"/>
                          </a:solidFill>
                          <a:latin typeface="Calibri"/>
                        </a:rPr>
                        <a:t>D</a:t>
                      </a:r>
                    </a:p>
                  </a:txBody>
                  <a:tcPr marL="73152" marR="73152" marT="27432" marB="27432" anchor="ctr">
                    <a:solidFill>
                      <a:srgbClr val="0F4C5C"/>
                    </a:solidFill>
                  </a:tcPr>
                </a:tc>
                <a:tc>
                  <a:txBody>
                    <a:bodyPr/>
                    <a:lstStyle/>
                    <a:p>
                      <a:pPr algn="ctr"/>
                      <a:r>
                        <a:rPr sz="1500" b="1">
                          <a:solidFill>
                            <a:srgbClr val="FFFFFF"/>
                          </a:solidFill>
                          <a:latin typeface="Calibri"/>
                        </a:rPr>
                        <a:t>Respuesta</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6</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4</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5</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6</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ctr"/>
                      <a:r>
                        <a:rPr sz="1500" b="0">
                          <a:solidFill>
                            <a:srgbClr val="142B33"/>
                          </a:solidFill>
                          <a:latin typeface="Calibri"/>
                        </a:rPr>
                        <a:t>7</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ctr"/>
                      <a:r>
                        <a:rPr sz="1500" b="0">
                          <a:solidFill>
                            <a:srgbClr val="142B33"/>
                          </a:solidFill>
                          <a:latin typeface="Calibri"/>
                        </a:rPr>
                        <a:t>8</a:t>
                      </a:r>
                    </a:p>
                  </a:txBody>
                  <a:tcPr marL="73152" marR="73152" marT="27432" marB="27432" anchor="ctr">
                    <a:solidFill>
                      <a:srgbClr val="F4F8F9"/>
                    </a:solidFill>
                  </a:tcPr>
                </a:tc>
                <a:tc>
                  <a:txBody>
                    <a:bodyPr/>
                    <a:lstStyle/>
                    <a:p>
                      <a:pPr algn="ctr"/>
                      <a:r>
                        <a:rPr sz="1500" b="0">
                          <a:solidFill>
                            <a:srgbClr val="142B33"/>
                          </a:solidFill>
                          <a:latin typeface="Calibri"/>
                        </a:rPr>
                        <a:t>2</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bl>
          </a:graphicData>
        </a:graphic>
      </p:graphicFrame>
      <p:sp>
        <p:nvSpPr>
          <p:cNvPr id="6" name="TextBox 5"/>
          <p:cNvSpPr txBox="1"/>
          <p:nvPr/>
        </p:nvSpPr>
        <p:spPr>
          <a:xfrm>
            <a:off x="5767440" y="4780026"/>
            <a:ext cx="5875614" cy="237998"/>
          </a:xfrm>
          <a:prstGeom prst="rect">
            <a:avLst/>
          </a:prstGeom>
          <a:noFill/>
        </p:spPr>
        <p:txBody>
          <a:bodyPr wrap="square" anchor="t" lIns="0" rIns="0" tIns="0" bIns="0">
            <a:spAutoFit/>
          </a:bodyPr>
          <a:lstStyle/>
          <a:p>
            <a:r>
              <a:rPr sz="1300" b="0">
                <a:solidFill>
                  <a:srgbClr val="5B6B73"/>
                </a:solidFill>
                <a:latin typeface="Calibri"/>
              </a:rPr>
              <a:t>Ejemplo de orden aleatorio para un 2</a:t>
            </a:r>
            <a:r>
              <a:rPr sz="1300" b="0" baseline="30000">
                <a:solidFill>
                  <a:srgbClr val="5B6B73"/>
                </a:solidFill>
                <a:latin typeface="Calibri"/>
              </a:rPr>
              <a:t>4−1</a:t>
            </a:r>
            <a:r>
              <a:rPr sz="1300" b="0">
                <a:solidFill>
                  <a:srgbClr val="5B6B73"/>
                </a:solidFill>
                <a:latin typeface="Calibri"/>
              </a:rPr>
              <a:t> (D = ABC)</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61</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el modelo matemático del diseño?</a:t>
            </a:r>
          </a:p>
        </p:txBody>
      </p:sp>
      <p:sp>
        <p:nvSpPr>
          <p:cNvPr id="3" name="Rounded Rectangle 2"/>
          <p:cNvSpPr/>
          <p:nvPr/>
        </p:nvSpPr>
        <p:spPr>
          <a:xfrm>
            <a:off x="548640" y="1417320"/>
            <a:ext cx="110944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Y = β</a:t>
            </a:r>
            <a:r>
              <a:rPr sz="2400" b="0" baseline="-25000">
                <a:solidFill>
                  <a:srgbClr val="0F4C5C"/>
                </a:solidFill>
                <a:latin typeface="Cambria Math"/>
              </a:rPr>
              <a:t>0</a:t>
            </a:r>
            <a:r>
              <a:rPr sz="2400" b="0">
                <a:solidFill>
                  <a:srgbClr val="0F4C5C"/>
                </a:solidFill>
                <a:latin typeface="Cambria Math"/>
              </a:rPr>
              <a:t> + Σ β</a:t>
            </a:r>
            <a:r>
              <a:rPr sz="2400" b="0" baseline="-25000">
                <a:solidFill>
                  <a:srgbClr val="0F4C5C"/>
                </a:solidFill>
                <a:latin typeface="Cambria Math"/>
              </a:rPr>
              <a:t>j</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ΣΣ β</a:t>
            </a:r>
            <a:r>
              <a:rPr sz="2400" b="0" baseline="-25000">
                <a:solidFill>
                  <a:srgbClr val="0F4C5C"/>
                </a:solidFill>
                <a:latin typeface="Cambria Math"/>
              </a:rPr>
              <a:t>ij</a:t>
            </a:r>
            <a:r>
              <a:rPr sz="2400" b="0">
                <a:solidFill>
                  <a:srgbClr val="0F4C5C"/>
                </a:solidFill>
                <a:latin typeface="Cambria Math"/>
              </a:rPr>
              <a:t> x</a:t>
            </a:r>
            <a:r>
              <a:rPr sz="2400" b="0" baseline="-25000">
                <a:solidFill>
                  <a:srgbClr val="0F4C5C"/>
                </a:solidFill>
                <a:latin typeface="Cambria Math"/>
              </a:rPr>
              <a:t>i</a:t>
            </a:r>
            <a:r>
              <a:rPr sz="2400" b="0">
                <a:solidFill>
                  <a:srgbClr val="0F4C5C"/>
                </a:solidFill>
                <a:latin typeface="Cambria Math"/>
              </a:rPr>
              <a:t> x</a:t>
            </a:r>
            <a:r>
              <a:rPr sz="2400" b="0" baseline="-25000">
                <a:solidFill>
                  <a:srgbClr val="0F4C5C"/>
                </a:solidFill>
                <a:latin typeface="Cambria Math"/>
              </a:rPr>
              <a:t>j</a:t>
            </a:r>
            <a:r>
              <a:rPr sz="2400" b="0">
                <a:solidFill>
                  <a:srgbClr val="0F4C5C"/>
                </a:solidFill>
                <a:latin typeface="Cambria Math"/>
              </a:rPr>
              <a:t> + ε</a:t>
            </a:r>
          </a:p>
          <a:p>
            <a:pPr algn="ctr"/>
            <a:r>
              <a:rPr sz="2400" b="0">
                <a:solidFill>
                  <a:srgbClr val="0F4C5C"/>
                </a:solidFill>
                <a:latin typeface="Cambria Math"/>
              </a:rPr>
              <a:t>ε ~ NID(0, σ</a:t>
            </a:r>
            <a:r>
              <a:rPr sz="2400" b="0" baseline="30000">
                <a:solidFill>
                  <a:srgbClr val="0F4C5C"/>
                </a:solidFill>
                <a:latin typeface="Cambria Math"/>
              </a:rPr>
              <a:t>2</a:t>
            </a:r>
            <a:r>
              <a:rPr sz="2400" b="0">
                <a:solidFill>
                  <a:srgbClr val="0F4C5C"/>
                </a:solidFill>
                <a:latin typeface="Cambria Math"/>
              </a:rPr>
              <a:t>)</a:t>
            </a:r>
          </a:p>
        </p:txBody>
      </p:sp>
      <p:sp>
        <p:nvSpPr>
          <p:cNvPr id="4" name="TextBox 3"/>
          <p:cNvSpPr txBox="1"/>
          <p:nvPr/>
        </p:nvSpPr>
        <p:spPr>
          <a:xfrm>
            <a:off x="548640" y="2725765"/>
            <a:ext cx="11094415" cy="144475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x</a:t>
            </a:r>
            <a:r>
              <a:rPr sz="1800" b="1" baseline="-25000">
                <a:solidFill>
                  <a:srgbClr val="142B33"/>
                </a:solidFill>
                <a:latin typeface="Calibri"/>
              </a:rPr>
              <a:t>j</a:t>
            </a:r>
            <a:r>
              <a:rPr sz="1800" b="0">
                <a:solidFill>
                  <a:srgbClr val="142B33"/>
                </a:solidFill>
                <a:latin typeface="Calibri"/>
              </a:rPr>
              <a:t> = −1 (nivel bajo) o +1 (nivel alto) del factor j</a:t>
            </a:r>
          </a:p>
          <a:p>
            <a:pPr marL="320040" indent="-320040">
              <a:spcAft>
                <a:spcPts val="600"/>
              </a:spcAft>
              <a:buClr>
                <a:srgbClr val="E36414"/>
              </a:buClr>
              <a:buFont typeface="Arial"/>
              <a:buChar char="•"/>
            </a:pPr>
            <a:r>
              <a:rPr sz="1800" b="0">
                <a:solidFill>
                  <a:srgbClr val="142B33"/>
                </a:solidFill>
                <a:latin typeface="Calibri"/>
              </a:rPr>
              <a:t>Se estiman así:  </a:t>
            </a:r>
            <a:r>
              <a:rPr sz="1800" b="1">
                <a:solidFill>
                  <a:srgbClr val="142B33"/>
                </a:solidFill>
                <a:latin typeface="Calibri"/>
              </a:rPr>
              <a:t>β</a:t>
            </a:r>
            <a:r>
              <a:rPr sz="1800" b="1" baseline="-25000">
                <a:solidFill>
                  <a:srgbClr val="142B33"/>
                </a:solidFill>
                <a:latin typeface="Calibri"/>
              </a:rPr>
              <a:t>0</a:t>
            </a:r>
            <a:r>
              <a:rPr sz="1800" b="0">
                <a:solidFill>
                  <a:srgbClr val="142B33"/>
                </a:solidFill>
                <a:latin typeface="Calibri"/>
              </a:rPr>
              <a:t> con el promedio general;  </a:t>
            </a:r>
            <a:r>
              <a:rPr sz="1800" b="1">
                <a:solidFill>
                  <a:srgbClr val="142B33"/>
                </a:solidFill>
                <a:latin typeface="Calibri"/>
              </a:rPr>
              <a:t>β</a:t>
            </a:r>
            <a:r>
              <a:rPr sz="1800" b="1" baseline="-25000">
                <a:solidFill>
                  <a:srgbClr val="142B33"/>
                </a:solidFill>
                <a:latin typeface="Calibri"/>
              </a:rPr>
              <a:t>j</a:t>
            </a:r>
            <a:r>
              <a:rPr sz="1800" b="0">
                <a:solidFill>
                  <a:srgbClr val="142B33"/>
                </a:solidFill>
                <a:latin typeface="Calibri"/>
              </a:rPr>
              <a:t> con efecto / 2;  </a:t>
            </a:r>
            <a:r>
              <a:rPr sz="1800" b="1">
                <a:solidFill>
                  <a:srgbClr val="142B33"/>
                </a:solidFill>
                <a:latin typeface="Calibri"/>
              </a:rPr>
              <a:t>β</a:t>
            </a:r>
            <a:r>
              <a:rPr sz="1800" b="1" baseline="-25000">
                <a:solidFill>
                  <a:srgbClr val="142B33"/>
                </a:solidFill>
                <a:latin typeface="Calibri"/>
              </a:rPr>
              <a:t>ij</a:t>
            </a:r>
            <a:r>
              <a:rPr sz="1800" b="0">
                <a:solidFill>
                  <a:srgbClr val="142B33"/>
                </a:solidFill>
                <a:latin typeface="Calibri"/>
              </a:rPr>
              <a:t> con efecto de interacción / 2</a:t>
            </a:r>
          </a:p>
          <a:p>
            <a:pPr marL="320040" indent="-320040">
              <a:spcAft>
                <a:spcPts val="600"/>
              </a:spcAft>
              <a:buClr>
                <a:srgbClr val="E36414"/>
              </a:buClr>
              <a:buFont typeface="Arial"/>
              <a:buChar char="•"/>
            </a:pPr>
            <a:r>
              <a:rPr sz="1800" b="0">
                <a:solidFill>
                  <a:srgbClr val="142B33"/>
                </a:solidFill>
                <a:latin typeface="Calibri"/>
              </a:rPr>
              <a:t>En la fracción cada columna estima una </a:t>
            </a:r>
            <a:r>
              <a:rPr sz="1800" b="1">
                <a:solidFill>
                  <a:srgbClr val="142B33"/>
                </a:solidFill>
                <a:latin typeface="Calibri"/>
              </a:rPr>
              <a:t>cadena de alias</a:t>
            </a:r>
            <a:r>
              <a:rPr sz="1800" b="0">
                <a:solidFill>
                  <a:srgbClr val="142B33"/>
                </a:solidFill>
                <a:latin typeface="Calibri"/>
              </a:rPr>
              <a:t>:  ℓ</a:t>
            </a:r>
            <a:r>
              <a:rPr sz="1800" b="0" baseline="-25000">
                <a:solidFill>
                  <a:srgbClr val="142B33"/>
                </a:solidFill>
                <a:latin typeface="Calibri"/>
              </a:rPr>
              <a:t>A</a:t>
            </a:r>
            <a:r>
              <a:rPr sz="1800" b="0">
                <a:solidFill>
                  <a:srgbClr val="142B33"/>
                </a:solidFill>
                <a:latin typeface="Calibri"/>
              </a:rPr>
              <a:t> → A + BCD</a:t>
            </a:r>
          </a:p>
          <a:p>
            <a:pPr marL="320040" indent="-320040">
              <a:spcAft>
                <a:spcPts val="600"/>
              </a:spcAft>
              <a:buClr>
                <a:srgbClr val="E36414"/>
              </a:buClr>
              <a:buFont typeface="Arial"/>
              <a:buChar char="•"/>
            </a:pPr>
            <a:r>
              <a:rPr sz="1800" b="0">
                <a:solidFill>
                  <a:srgbClr val="142B33"/>
                </a:solidFill>
                <a:latin typeface="Calibri"/>
              </a:rPr>
              <a:t>El modelo final lleva </a:t>
            </a:r>
            <a:r>
              <a:rPr sz="1800" b="1">
                <a:solidFill>
                  <a:srgbClr val="142B33"/>
                </a:solidFill>
                <a:latin typeface="Calibri"/>
              </a:rPr>
              <a:t>un término por cada cadena activa</a:t>
            </a:r>
            <a:r>
              <a:rPr sz="1800" b="0">
                <a:solidFill>
                  <a:srgbClr val="142B33"/>
                </a:solidFill>
                <a:latin typeface="Calibri"/>
              </a:rPr>
              <a:t>: el más razonable</a:t>
            </a:r>
          </a:p>
        </p:txBody>
      </p:sp>
      <p:sp>
        <p:nvSpPr>
          <p:cNvPr id="5" name="Rounded Rectangle 4"/>
          <p:cNvSpPr/>
          <p:nvPr/>
        </p:nvSpPr>
        <p:spPr>
          <a:xfrm>
            <a:off x="548640" y="4371685"/>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Se supone que las interacciones de orden alto de cada cadena son despreciables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62</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hipótesis del diseño?</a:t>
            </a:r>
          </a:p>
        </p:txBody>
      </p:sp>
      <p:sp>
        <p:nvSpPr>
          <p:cNvPr id="3" name="Rounded Rectangle 2"/>
          <p:cNvSpPr/>
          <p:nvPr/>
        </p:nvSpPr>
        <p:spPr>
          <a:xfrm>
            <a:off x="548640" y="1417320"/>
            <a:ext cx="5341467"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H</a:t>
            </a:r>
            <a:r>
              <a:rPr sz="2400" b="0" baseline="-25000">
                <a:solidFill>
                  <a:srgbClr val="0F4C5C"/>
                </a:solidFill>
                <a:latin typeface="Cambria Math"/>
              </a:rPr>
              <a:t>0</a:t>
            </a:r>
            <a:r>
              <a:rPr sz="2400" b="0">
                <a:solidFill>
                  <a:srgbClr val="0F4C5C"/>
                </a:solidFill>
                <a:latin typeface="Cambria Math"/>
              </a:rPr>
              <a:t>: efecto de la cadena = 0</a:t>
            </a:r>
          </a:p>
          <a:p>
            <a:pPr algn="ctr"/>
            <a:r>
              <a:rPr sz="2400" b="0">
                <a:solidFill>
                  <a:srgbClr val="0F4C5C"/>
                </a:solidFill>
                <a:latin typeface="Cambria Math"/>
              </a:rPr>
              <a:t>H</a:t>
            </a:r>
            <a:r>
              <a:rPr sz="2400" b="0" baseline="-25000">
                <a:solidFill>
                  <a:srgbClr val="0F4C5C"/>
                </a:solidFill>
                <a:latin typeface="Cambria Math"/>
              </a:rPr>
              <a:t>A</a:t>
            </a:r>
            <a:r>
              <a:rPr sz="2400" b="0">
                <a:solidFill>
                  <a:srgbClr val="0F4C5C"/>
                </a:solidFill>
                <a:latin typeface="Cambria Math"/>
              </a:rPr>
              <a:t>: efecto de la cadena ≠ 0</a:t>
            </a:r>
          </a:p>
        </p:txBody>
      </p:sp>
      <p:sp>
        <p:nvSpPr>
          <p:cNvPr id="4" name="TextBox 3"/>
          <p:cNvSpPr txBox="1"/>
          <p:nvPr/>
        </p:nvSpPr>
        <p:spPr>
          <a:xfrm>
            <a:off x="548640" y="2725765"/>
            <a:ext cx="5341467" cy="284479"/>
          </a:xfrm>
          <a:prstGeom prst="rect">
            <a:avLst/>
          </a:prstGeom>
          <a:noFill/>
        </p:spPr>
        <p:txBody>
          <a:bodyPr wrap="square" anchor="t" lIns="0" rIns="0" tIns="0" bIns="0">
            <a:spAutoFit/>
          </a:bodyPr>
          <a:lstStyle/>
          <a:p>
            <a:r>
              <a:rPr sz="1600" b="0">
                <a:solidFill>
                  <a:srgbClr val="142B33"/>
                </a:solidFill>
                <a:latin typeface="Calibri"/>
              </a:rPr>
              <a:t>Ejemplo, columna A del 2</a:t>
            </a:r>
            <a:r>
              <a:rPr sz="1600" b="0" baseline="30000">
                <a:solidFill>
                  <a:srgbClr val="142B33"/>
                </a:solidFill>
                <a:latin typeface="Calibri"/>
              </a:rPr>
              <a:t>4−1</a:t>
            </a:r>
            <a:r>
              <a:rPr sz="1600" b="0">
                <a:solidFill>
                  <a:srgbClr val="142B33"/>
                </a:solidFill>
                <a:latin typeface="Calibri"/>
              </a:rPr>
              <a:t>:   H</a:t>
            </a:r>
            <a:r>
              <a:rPr sz="1600" b="0" baseline="-25000">
                <a:solidFill>
                  <a:srgbClr val="142B33"/>
                </a:solidFill>
                <a:latin typeface="Calibri"/>
              </a:rPr>
              <a:t>0</a:t>
            </a:r>
            <a:r>
              <a:rPr sz="1600" b="0">
                <a:solidFill>
                  <a:srgbClr val="142B33"/>
                </a:solidFill>
                <a:latin typeface="Calibri"/>
              </a:rPr>
              <a:t>: β</a:t>
            </a:r>
            <a:r>
              <a:rPr sz="1600" b="0" baseline="-25000">
                <a:solidFill>
                  <a:srgbClr val="142B33"/>
                </a:solidFill>
                <a:latin typeface="Calibri"/>
              </a:rPr>
              <a:t>A</a:t>
            </a:r>
            <a:r>
              <a:rPr sz="1600" b="0">
                <a:solidFill>
                  <a:srgbClr val="142B33"/>
                </a:solidFill>
                <a:latin typeface="Calibri"/>
              </a:rPr>
              <a:t> + β</a:t>
            </a:r>
            <a:r>
              <a:rPr sz="1600" b="0" baseline="-25000">
                <a:solidFill>
                  <a:srgbClr val="142B33"/>
                </a:solidFill>
                <a:latin typeface="Calibri"/>
              </a:rPr>
              <a:t>BCD</a:t>
            </a:r>
            <a:r>
              <a:rPr sz="1600" b="0">
                <a:solidFill>
                  <a:srgbClr val="142B33"/>
                </a:solidFill>
                <a:latin typeface="Calibri"/>
              </a:rPr>
              <a:t> = 0</a:t>
            </a:r>
          </a:p>
        </p:txBody>
      </p:sp>
      <p:sp>
        <p:nvSpPr>
          <p:cNvPr id="5" name="Rounded Rectangle 4"/>
          <p:cNvSpPr/>
          <p:nvPr/>
        </p:nvSpPr>
        <p:spPr>
          <a:xfrm>
            <a:off x="548640" y="3211413"/>
            <a:ext cx="5341467" cy="96845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Se rechaza H</a:t>
            </a:r>
            <a:r>
              <a:rPr sz="2000" b="0" baseline="-25000">
                <a:solidFill>
                  <a:srgbClr val="0F4C5C"/>
                </a:solidFill>
                <a:latin typeface="Cambria Math"/>
              </a:rPr>
              <a:t>0</a:t>
            </a:r>
            <a:r>
              <a:rPr sz="2000" b="0">
                <a:solidFill>
                  <a:srgbClr val="0F4C5C"/>
                </a:solidFill>
                <a:latin typeface="Cambria Math"/>
              </a:rPr>
              <a:t> si  F</a:t>
            </a:r>
            <a:r>
              <a:rPr sz="2000" b="0" baseline="-25000">
                <a:solidFill>
                  <a:srgbClr val="0F4C5C"/>
                </a:solidFill>
                <a:latin typeface="Cambria Math"/>
              </a:rPr>
              <a:t>0</a:t>
            </a:r>
            <a:r>
              <a:rPr sz="2000" b="0">
                <a:solidFill>
                  <a:srgbClr val="0F4C5C"/>
                </a:solidFill>
                <a:latin typeface="Cambria Math"/>
              </a:rPr>
              <a:t> &gt; F</a:t>
            </a:r>
            <a:r>
              <a:rPr sz="2000" b="0" baseline="-25000">
                <a:solidFill>
                  <a:srgbClr val="0F4C5C"/>
                </a:solidFill>
                <a:latin typeface="Cambria Math"/>
              </a:rPr>
              <a:t>α, 1, gl del error</a:t>
            </a:r>
          </a:p>
          <a:p>
            <a:pPr algn="ctr"/>
            <a:r>
              <a:rPr sz="2000" b="0">
                <a:solidFill>
                  <a:srgbClr val="0F4C5C"/>
                </a:solidFill>
                <a:latin typeface="Cambria Math"/>
              </a:rPr>
              <a:t>o si  valor p &lt; α</a:t>
            </a:r>
          </a:p>
        </p:txBody>
      </p:sp>
      <p:sp>
        <p:nvSpPr>
          <p:cNvPr id="6" name="TextBox 5"/>
          <p:cNvSpPr txBox="1"/>
          <p:nvPr/>
        </p:nvSpPr>
        <p:spPr>
          <a:xfrm>
            <a:off x="6301587" y="1417320"/>
            <a:ext cx="5341467" cy="2002536"/>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Una hipótesis por cada </a:t>
            </a:r>
            <a:r>
              <a:rPr sz="1800" b="1">
                <a:solidFill>
                  <a:srgbClr val="142B33"/>
                </a:solidFill>
                <a:latin typeface="Calibri"/>
              </a:rPr>
              <a:t>cadena de alias</a:t>
            </a:r>
            <a:r>
              <a:rPr sz="1800" b="0">
                <a:solidFill>
                  <a:srgbClr val="142B33"/>
                </a:solidFill>
                <a:latin typeface="Calibri"/>
              </a:rPr>
              <a:t> que entra al modelo</a:t>
            </a:r>
          </a:p>
          <a:p>
            <a:pPr marL="320040" indent="-320040">
              <a:spcAft>
                <a:spcPts val="600"/>
              </a:spcAft>
              <a:buClr>
                <a:srgbClr val="E36414"/>
              </a:buClr>
              <a:buFont typeface="Arial"/>
              <a:buChar char="•"/>
            </a:pPr>
            <a:r>
              <a:rPr sz="1800" b="0">
                <a:solidFill>
                  <a:srgbClr val="142B33"/>
                </a:solidFill>
                <a:latin typeface="Calibri"/>
              </a:rPr>
              <a:t>Se prueba la </a:t>
            </a:r>
            <a:r>
              <a:rPr sz="1800" b="1">
                <a:solidFill>
                  <a:srgbClr val="142B33"/>
                </a:solidFill>
                <a:latin typeface="Calibri"/>
              </a:rPr>
              <a:t>cadena completa</a:t>
            </a:r>
            <a:r>
              <a:rPr sz="1800" b="0">
                <a:solidFill>
                  <a:srgbClr val="142B33"/>
                </a:solidFill>
                <a:latin typeface="Calibri"/>
              </a:rPr>
              <a:t>: A + BCD, no A sola</a:t>
            </a:r>
          </a:p>
          <a:p>
            <a:pPr marL="320040" indent="-320040">
              <a:spcAft>
                <a:spcPts val="600"/>
              </a:spcAft>
              <a:buClr>
                <a:srgbClr val="E36414"/>
              </a:buClr>
              <a:buFont typeface="Arial"/>
              <a:buChar char="•"/>
            </a:pPr>
            <a:r>
              <a:rPr sz="1800" b="0">
                <a:solidFill>
                  <a:srgbClr val="142B33"/>
                </a:solidFill>
                <a:latin typeface="Calibri"/>
              </a:rPr>
              <a:t>Si BCD es </a:t>
            </a:r>
            <a:r>
              <a:rPr sz="1800" b="1">
                <a:solidFill>
                  <a:srgbClr val="142B33"/>
                </a:solidFill>
                <a:latin typeface="Calibri"/>
              </a:rPr>
              <a:t>despreciable</a:t>
            </a:r>
            <a:r>
              <a:rPr sz="1800" b="0">
                <a:solidFill>
                  <a:srgbClr val="142B33"/>
                </a:solidFill>
                <a:latin typeface="Calibri"/>
              </a:rPr>
              <a:t>, equivale a  H</a:t>
            </a:r>
            <a:r>
              <a:rPr sz="1800" b="0" baseline="-25000">
                <a:solidFill>
                  <a:srgbClr val="142B33"/>
                </a:solidFill>
                <a:latin typeface="Calibri"/>
              </a:rPr>
              <a:t>0</a:t>
            </a:r>
            <a:r>
              <a:rPr sz="1800" b="0">
                <a:solidFill>
                  <a:srgbClr val="142B33"/>
                </a:solidFill>
                <a:latin typeface="Calibri"/>
              </a:rPr>
              <a:t>: β</a:t>
            </a:r>
            <a:r>
              <a:rPr sz="1800" b="0" baseline="-25000">
                <a:solidFill>
                  <a:srgbClr val="142B33"/>
                </a:solidFill>
                <a:latin typeface="Calibri"/>
              </a:rPr>
              <a:t>A</a:t>
            </a:r>
            <a:r>
              <a:rPr sz="1800" b="0">
                <a:solidFill>
                  <a:srgbClr val="142B33"/>
                </a:solidFill>
                <a:latin typeface="Calibri"/>
              </a:rPr>
              <a:t> = 0</a:t>
            </a:r>
          </a:p>
          <a:p>
            <a:pPr marL="320040" indent="-320040">
              <a:spcAft>
                <a:spcPts val="600"/>
              </a:spcAft>
              <a:buClr>
                <a:srgbClr val="E36414"/>
              </a:buClr>
              <a:buFont typeface="Arial"/>
              <a:buChar char="•"/>
            </a:pPr>
            <a:r>
              <a:rPr sz="1800" b="0">
                <a:solidFill>
                  <a:srgbClr val="142B33"/>
                </a:solidFill>
                <a:latin typeface="Calibri"/>
              </a:rPr>
              <a:t>Nivel de significancia habitual: </a:t>
            </a:r>
            <a:r>
              <a:rPr sz="1800" b="1">
                <a:solidFill>
                  <a:srgbClr val="142B33"/>
                </a:solidFill>
                <a:latin typeface="Calibri"/>
              </a:rPr>
              <a:t>α = 0.05</a:t>
            </a:r>
          </a:p>
        </p:txBody>
      </p:sp>
      <p:sp>
        <p:nvSpPr>
          <p:cNvPr id="7" name="Rounded Rectangle 6"/>
          <p:cNvSpPr/>
          <p:nvPr/>
        </p:nvSpPr>
        <p:spPr>
          <a:xfrm>
            <a:off x="6301587" y="3621024"/>
            <a:ext cx="5341467"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H</a:t>
            </a:r>
            <a:r>
              <a:rPr sz="1600" b="0" baseline="-25000">
                <a:solidFill>
                  <a:srgbClr val="142B33"/>
                </a:solidFill>
                <a:latin typeface="Calibri"/>
              </a:rPr>
              <a:t>0</a:t>
            </a:r>
            <a:r>
              <a:rPr sz="1600" b="0">
                <a:solidFill>
                  <a:srgbClr val="142B33"/>
                </a:solidFill>
                <a:latin typeface="Calibri"/>
              </a:rPr>
              <a:t>: el factor no afecta la respuesta.  H</a:t>
            </a:r>
            <a:r>
              <a:rPr sz="1600" b="0" baseline="-25000">
                <a:solidFill>
                  <a:srgbClr val="142B33"/>
                </a:solidFill>
                <a:latin typeface="Calibri"/>
              </a:rPr>
              <a:t>A</a:t>
            </a:r>
            <a:r>
              <a:rPr sz="1600" b="0">
                <a:solidFill>
                  <a:srgbClr val="142B33"/>
                </a:solidFill>
                <a:latin typeface="Calibri"/>
              </a:rPr>
              <a:t>: el factor sí la afecta.</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63</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debo analizar los datos recolectados?</a:t>
            </a:r>
          </a:p>
        </p:txBody>
      </p:sp>
      <p:sp>
        <p:nvSpPr>
          <p:cNvPr id="3" name="TextBox 2"/>
          <p:cNvSpPr txBox="1"/>
          <p:nvPr/>
        </p:nvSpPr>
        <p:spPr>
          <a:xfrm>
            <a:off x="548640" y="1417320"/>
            <a:ext cx="11094415" cy="2745232"/>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2000" b="0">
                <a:solidFill>
                  <a:srgbClr val="142B33"/>
                </a:solidFill>
                <a:latin typeface="Calibri"/>
              </a:rPr>
              <a:t>Calcular </a:t>
            </a:r>
            <a:r>
              <a:rPr sz="2000" b="1">
                <a:solidFill>
                  <a:srgbClr val="142B33"/>
                </a:solidFill>
                <a:latin typeface="Calibri"/>
              </a:rPr>
              <a:t>contrastes y efectos</a:t>
            </a:r>
            <a:r>
              <a:rPr sz="2000" b="0">
                <a:solidFill>
                  <a:srgbClr val="142B33"/>
                </a:solidFill>
                <a:latin typeface="Calibri"/>
              </a:rPr>
              <a:t> de todas las cadenas de alias</a:t>
            </a:r>
          </a:p>
          <a:p>
            <a:pPr marL="320040" indent="-320040">
              <a:spcAft>
                <a:spcPts val="600"/>
              </a:spcAft>
              <a:buClr>
                <a:srgbClr val="E36414"/>
              </a:buClr>
              <a:buFont typeface="+mj-lt"/>
              <a:buAutoNum type="arabicPeriod"/>
            </a:pPr>
            <a:r>
              <a:rPr sz="2000" b="0">
                <a:solidFill>
                  <a:srgbClr val="142B33"/>
                </a:solidFill>
                <a:latin typeface="Calibri"/>
              </a:rPr>
              <a:t>Identificar los </a:t>
            </a:r>
            <a:r>
              <a:rPr sz="2000" b="1">
                <a:solidFill>
                  <a:srgbClr val="142B33"/>
                </a:solidFill>
                <a:latin typeface="Calibri"/>
              </a:rPr>
              <a:t>efectos activos</a:t>
            </a:r>
            <a:r>
              <a:rPr sz="2000" b="0">
                <a:solidFill>
                  <a:srgbClr val="142B33"/>
                </a:solidFill>
                <a:latin typeface="Calibri"/>
              </a:rPr>
              <a:t>: gráfica normal o seminormal y Pareto</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Interpretar las cadenas</a:t>
            </a:r>
            <a:r>
              <a:rPr sz="2000" b="0">
                <a:solidFill>
                  <a:srgbClr val="142B33"/>
                </a:solidFill>
                <a:latin typeface="Calibri"/>
              </a:rPr>
              <a:t> activas: ¿a qué efecto se atribuye cada una?</a:t>
            </a:r>
          </a:p>
          <a:p>
            <a:pPr marL="320040" indent="-320040">
              <a:spcAft>
                <a:spcPts val="600"/>
              </a:spcAft>
              <a:buClr>
                <a:srgbClr val="E36414"/>
              </a:buClr>
              <a:buFont typeface="+mj-lt"/>
              <a:buAutoNum type="arabicPeriod"/>
            </a:pPr>
            <a:r>
              <a:rPr sz="2000" b="0">
                <a:solidFill>
                  <a:srgbClr val="142B33"/>
                </a:solidFill>
                <a:latin typeface="Calibri"/>
              </a:rPr>
              <a:t>Ajustar el </a:t>
            </a:r>
            <a:r>
              <a:rPr sz="2000" b="1">
                <a:solidFill>
                  <a:srgbClr val="142B33"/>
                </a:solidFill>
                <a:latin typeface="Calibri"/>
              </a:rPr>
              <a:t>modelo reducido</a:t>
            </a:r>
            <a:r>
              <a:rPr sz="2000" b="0">
                <a:solidFill>
                  <a:srgbClr val="142B33"/>
                </a:solidFill>
                <a:latin typeface="Calibri"/>
              </a:rPr>
              <a:t> y construir la </a:t>
            </a:r>
            <a:r>
              <a:rPr sz="2000" b="1">
                <a:solidFill>
                  <a:srgbClr val="142B33"/>
                </a:solidFill>
                <a:latin typeface="Calibri"/>
              </a:rPr>
              <a:t>tabla ANOVA</a:t>
            </a:r>
          </a:p>
          <a:p>
            <a:pPr marL="320040" indent="-320040">
              <a:spcAft>
                <a:spcPts val="600"/>
              </a:spcAft>
              <a:buClr>
                <a:srgbClr val="E36414"/>
              </a:buClr>
              <a:buFont typeface="+mj-lt"/>
              <a:buAutoNum type="arabicPeriod"/>
            </a:pPr>
            <a:r>
              <a:rPr sz="2000" b="0">
                <a:solidFill>
                  <a:srgbClr val="142B33"/>
                </a:solidFill>
                <a:latin typeface="Calibri"/>
              </a:rPr>
              <a:t>​</a:t>
            </a:r>
            <a:r>
              <a:rPr sz="2000" b="1">
                <a:solidFill>
                  <a:srgbClr val="142B33"/>
                </a:solidFill>
                <a:latin typeface="Calibri"/>
              </a:rPr>
              <a:t>Verificar los supuestos</a:t>
            </a:r>
            <a:r>
              <a:rPr sz="2000" b="0">
                <a:solidFill>
                  <a:srgbClr val="142B33"/>
                </a:solidFill>
                <a:latin typeface="Calibri"/>
              </a:rPr>
              <a:t> con los residuos</a:t>
            </a:r>
          </a:p>
          <a:p>
            <a:pPr marL="320040" indent="-320040">
              <a:spcAft>
                <a:spcPts val="600"/>
              </a:spcAft>
              <a:buClr>
                <a:srgbClr val="E36414"/>
              </a:buClr>
              <a:buFont typeface="+mj-lt"/>
              <a:buAutoNum type="arabicPeriod"/>
            </a:pPr>
            <a:r>
              <a:rPr sz="2000" b="0">
                <a:solidFill>
                  <a:srgbClr val="142B33"/>
                </a:solidFill>
                <a:latin typeface="Calibri"/>
              </a:rPr>
              <a:t>Interpretar con gráficas de efectos principales, interacción y cubo</a:t>
            </a:r>
          </a:p>
          <a:p>
            <a:pPr marL="320040" indent="-320040">
              <a:spcAft>
                <a:spcPts val="600"/>
              </a:spcAft>
              <a:buClr>
                <a:srgbClr val="E36414"/>
              </a:buClr>
              <a:buFont typeface="+mj-lt"/>
              <a:buAutoNum type="arabicPeriod"/>
            </a:pPr>
            <a:r>
              <a:rPr sz="2000" b="0">
                <a:solidFill>
                  <a:srgbClr val="142B33"/>
                </a:solidFill>
                <a:latin typeface="Calibri"/>
              </a:rPr>
              <a:t>Concluir </a:t>
            </a:r>
            <a:r>
              <a:rPr sz="2000" b="1">
                <a:solidFill>
                  <a:srgbClr val="142B33"/>
                </a:solidFill>
                <a:latin typeface="Calibri"/>
              </a:rPr>
              <a:t>en términos del problema</a:t>
            </a:r>
            <a:r>
              <a:rPr sz="2000" b="0">
                <a:solidFill>
                  <a:srgbClr val="142B33"/>
                </a:solidFill>
                <a:latin typeface="Calibri"/>
              </a:rPr>
              <a:t> y confirmar con nuevas corridas</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64</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estadísticos debo calcular?</a:t>
            </a:r>
          </a:p>
        </p:txBody>
      </p:sp>
      <p:graphicFrame>
        <p:nvGraphicFramePr>
          <p:cNvPr id="3" name="Table 2"/>
          <p:cNvGraphicFramePr>
            <a:graphicFrameLocks noGrp="1"/>
          </p:cNvGraphicFramePr>
          <p:nvPr/>
        </p:nvGraphicFramePr>
        <p:xfrm>
          <a:off x="548640" y="1417320"/>
          <a:ext cx="11094413" cy="2825496"/>
        </p:xfrm>
        <a:graphic>
          <a:graphicData uri="http://schemas.openxmlformats.org/drawingml/2006/table">
            <a:tbl>
              <a:tblPr firstRow="0" bandRow="0">
                <a:tableStyleId>{5C22544A-7EE6-4342-B048-85BDC9FD1C3A}</a:tableStyleId>
              </a:tblPr>
              <a:tblGrid>
                <a:gridCol w="1775106"/>
                <a:gridCol w="2884547"/>
                <a:gridCol w="2995492"/>
                <a:gridCol w="3439268"/>
              </a:tblGrid>
              <a:tr h="366776">
                <a:tc>
                  <a:txBody>
                    <a:bodyPr/>
                    <a:lstStyle/>
                    <a:p>
                      <a:pPr algn="l"/>
                      <a:r>
                        <a:rPr sz="1600" b="1">
                          <a:solidFill>
                            <a:srgbClr val="FFFFFF"/>
                          </a:solidFill>
                          <a:latin typeface="Calibri"/>
                        </a:rPr>
                        <a:t>Estadístico</a:t>
                      </a:r>
                    </a:p>
                  </a:txBody>
                  <a:tcPr marL="73152" marR="73152" marT="27432" marB="27432" anchor="ctr">
                    <a:solidFill>
                      <a:srgbClr val="0F4C5C"/>
                    </a:solidFill>
                  </a:tcPr>
                </a:tc>
                <a:tc>
                  <a:txBody>
                    <a:bodyPr/>
                    <a:lstStyle/>
                    <a:p>
                      <a:pPr algn="ctr"/>
                      <a:r>
                        <a:rPr sz="1600" b="1">
                          <a:solidFill>
                            <a:srgbClr val="FFFFFF"/>
                          </a:solidFill>
                          <a:latin typeface="Calibri"/>
                        </a:rPr>
                        <a:t>Fórmula</a:t>
                      </a:r>
                    </a:p>
                  </a:txBody>
                  <a:tcPr marL="73152" marR="73152" marT="27432" marB="27432" anchor="ctr">
                    <a:solidFill>
                      <a:srgbClr val="0F4C5C"/>
                    </a:solidFill>
                  </a:tcPr>
                </a:tc>
                <a:tc>
                  <a:txBody>
                    <a:bodyPr/>
                    <a:lstStyle/>
                    <a:p>
                      <a:pPr algn="l"/>
                      <a:r>
                        <a:rPr sz="1600" b="1">
                          <a:solidFill>
                            <a:srgbClr val="FFFFFF"/>
                          </a:solidFill>
                          <a:latin typeface="Calibri"/>
                        </a:rPr>
                        <a:t>Qué mide</a:t>
                      </a:r>
                    </a:p>
                  </a:txBody>
                  <a:tcPr marL="73152" marR="73152" marT="27432" marB="27432" anchor="ctr">
                    <a:solidFill>
                      <a:srgbClr val="0F4C5C"/>
                    </a:solidFill>
                  </a:tcPr>
                </a:tc>
                <a:tc>
                  <a:txBody>
                    <a:bodyPr/>
                    <a:lstStyle/>
                    <a:p>
                      <a:pPr algn="l"/>
                      <a:r>
                        <a:rPr sz="1600" b="1">
                          <a:solidFill>
                            <a:srgbClr val="FFFFFF"/>
                          </a:solidFill>
                          <a:latin typeface="Calibri"/>
                        </a:rPr>
                        <a:t>Ejemplo 1, factor A (N = 8)</a:t>
                      </a:r>
                    </a:p>
                  </a:txBody>
                  <a:tcPr marL="73152" marR="73152" marT="27432" marB="27432" anchor="ctr">
                    <a:solidFill>
                      <a:srgbClr val="0F4C5C"/>
                    </a:solidFill>
                  </a:tcPr>
                </a:tc>
              </a:tr>
              <a:tr h="614680">
                <a:tc>
                  <a:txBody>
                    <a:bodyPr/>
                    <a:lstStyle/>
                    <a:p>
                      <a:pPr algn="l"/>
                      <a:r>
                        <a:rPr sz="1600" b="0">
                          <a:solidFill>
                            <a:srgbClr val="142B33"/>
                          </a:solidFill>
                          <a:latin typeface="Calibri"/>
                        </a:rPr>
                        <a:t>Contraste</a:t>
                      </a:r>
                    </a:p>
                  </a:txBody>
                  <a:tcPr marL="73152" marR="73152" marT="27432" marB="27432" anchor="ctr">
                    <a:solidFill>
                      <a:srgbClr val="FFFFFF"/>
                    </a:solidFill>
                  </a:tcPr>
                </a:tc>
                <a:tc>
                  <a:txBody>
                    <a:bodyPr/>
                    <a:lstStyle/>
                    <a:p>
                      <a:pPr algn="ctr"/>
                      <a:r>
                        <a:rPr sz="1600" b="0">
                          <a:solidFill>
                            <a:srgbClr val="142B33"/>
                          </a:solidFill>
                          <a:latin typeface="Calibri"/>
                        </a:rPr>
                        <a:t>Contraste</a:t>
                      </a:r>
                      <a:r>
                        <a:rPr sz="1600" b="0" baseline="-25000">
                          <a:solidFill>
                            <a:srgbClr val="142B33"/>
                          </a:solidFill>
                          <a:latin typeface="Calibri"/>
                        </a:rPr>
                        <a:t>i</a:t>
                      </a:r>
                      <a:r>
                        <a:rPr sz="1600" b="0">
                          <a:solidFill>
                            <a:srgbClr val="142B33"/>
                          </a:solidFill>
                          <a:latin typeface="Calibri"/>
                        </a:rPr>
                        <a:t> = Σ (signo</a:t>
                      </a:r>
                      <a:r>
                        <a:rPr sz="1600" b="0" baseline="-25000">
                          <a:solidFill>
                            <a:srgbClr val="142B33"/>
                          </a:solidFill>
                          <a:latin typeface="Calibri"/>
                        </a:rPr>
                        <a:t>i</a:t>
                      </a:r>
                      <a:r>
                        <a:rPr sz="1600" b="0">
                          <a:solidFill>
                            <a:srgbClr val="142B33"/>
                          </a:solidFill>
                          <a:latin typeface="Calibri"/>
                        </a:rPr>
                        <a:t>) · y</a:t>
                      </a:r>
                    </a:p>
                  </a:txBody>
                  <a:tcPr marL="73152" marR="73152" marT="27432" marB="27432" anchor="ctr">
                    <a:solidFill>
                      <a:srgbClr val="FFFFFF"/>
                    </a:solidFill>
                  </a:tcPr>
                </a:tc>
                <a:tc>
                  <a:txBody>
                    <a:bodyPr/>
                    <a:lstStyle/>
                    <a:p>
                      <a:pPr algn="l"/>
                      <a:r>
                        <a:rPr sz="1600" b="0">
                          <a:solidFill>
                            <a:srgbClr val="142B33"/>
                          </a:solidFill>
                          <a:latin typeface="Calibri"/>
                        </a:rPr>
                        <a:t>Suma con signos de la columna i</a:t>
                      </a:r>
                    </a:p>
                  </a:txBody>
                  <a:tcPr marL="73152" marR="73152" marT="27432" marB="27432" anchor="ctr">
                    <a:solidFill>
                      <a:srgbClr val="FFFFFF"/>
                    </a:solidFill>
                  </a:tcPr>
                </a:tc>
                <a:tc>
                  <a:txBody>
                    <a:bodyPr/>
                    <a:lstStyle/>
                    <a:p>
                      <a:pPr algn="l"/>
                      <a:r>
                        <a:rPr sz="1600" b="0">
                          <a:solidFill>
                            <a:srgbClr val="142B33"/>
                          </a:solidFill>
                          <a:latin typeface="Calibri"/>
                        </a:rPr>
                        <a:t>−45 + 100 − 45 + 65 − 75 + 60 − 80 + 96 = 76</a:t>
                      </a:r>
                    </a:p>
                  </a:txBody>
                  <a:tcPr marL="73152" marR="73152" marT="27432" marB="27432" anchor="ctr">
                    <a:solidFill>
                      <a:srgbClr val="FFFFFF"/>
                    </a:solidFill>
                  </a:tcPr>
                </a:tc>
              </a:tr>
              <a:tr h="614680">
                <a:tc>
                  <a:txBody>
                    <a:bodyPr/>
                    <a:lstStyle/>
                    <a:p>
                      <a:pPr algn="l"/>
                      <a:r>
                        <a:rPr sz="1600" b="0">
                          <a:solidFill>
                            <a:srgbClr val="142B33"/>
                          </a:solidFill>
                          <a:latin typeface="Calibri"/>
                        </a:rPr>
                        <a:t>Efecto</a:t>
                      </a:r>
                    </a:p>
                  </a:txBody>
                  <a:tcPr marL="73152" marR="73152" marT="27432" marB="27432" anchor="ctr">
                    <a:solidFill>
                      <a:srgbClr val="F4F8F9"/>
                    </a:solidFill>
                  </a:tcPr>
                </a:tc>
                <a:tc>
                  <a:txBody>
                    <a:bodyPr/>
                    <a:lstStyle/>
                    <a:p>
                      <a:pPr algn="ctr"/>
                      <a:r>
                        <a:rPr sz="1600" b="0">
                          <a:solidFill>
                            <a:srgbClr val="142B33"/>
                          </a:solidFill>
                          <a:latin typeface="Calibri"/>
                        </a:rPr>
                        <a:t>ℓ</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 / (N/2)</a:t>
                      </a:r>
                    </a:p>
                  </a:txBody>
                  <a:tcPr marL="73152" marR="73152" marT="27432" marB="27432" anchor="ctr">
                    <a:solidFill>
                      <a:srgbClr val="F4F8F9"/>
                    </a:solidFill>
                  </a:tcPr>
                </a:tc>
                <a:tc>
                  <a:txBody>
                    <a:bodyPr/>
                    <a:lstStyle/>
                    <a:p>
                      <a:pPr algn="l"/>
                      <a:r>
                        <a:rPr sz="1600" b="0">
                          <a:solidFill>
                            <a:srgbClr val="142B33"/>
                          </a:solidFill>
                          <a:latin typeface="Calibri"/>
                        </a:rPr>
                        <a:t>Promedio en (+) menos promedio en (−)</a:t>
                      </a:r>
                    </a:p>
                  </a:txBody>
                  <a:tcPr marL="73152" marR="73152" marT="27432" marB="27432" anchor="ctr">
                    <a:solidFill>
                      <a:srgbClr val="F4F8F9"/>
                    </a:solidFill>
                  </a:tcPr>
                </a:tc>
                <a:tc>
                  <a:txBody>
                    <a:bodyPr/>
                    <a:lstStyle/>
                    <a:p>
                      <a:pPr algn="l"/>
                      <a:r>
                        <a:rPr sz="1600" b="0">
                          <a:solidFill>
                            <a:srgbClr val="142B33"/>
                          </a:solidFill>
                          <a:latin typeface="Calibri"/>
                        </a:rPr>
                        <a:t>76 / 4 = 19.00</a:t>
                      </a:r>
                    </a:p>
                  </a:txBody>
                  <a:tcPr marL="73152" marR="73152" marT="27432" marB="27432" anchor="ctr">
                    <a:solidFill>
                      <a:srgbClr val="F4F8F9"/>
                    </a:solidFill>
                  </a:tcPr>
                </a:tc>
              </a:tr>
              <a:tr h="614680">
                <a:tc>
                  <a:txBody>
                    <a:bodyPr/>
                    <a:lstStyle/>
                    <a:p>
                      <a:pPr algn="l"/>
                      <a:r>
                        <a:rPr sz="1600" b="0">
                          <a:solidFill>
                            <a:srgbClr val="142B33"/>
                          </a:solidFill>
                          <a:latin typeface="Calibri"/>
                        </a:rPr>
                        <a:t>Coeficiente</a:t>
                      </a:r>
                    </a:p>
                  </a:txBody>
                  <a:tcPr marL="73152" marR="73152" marT="27432" marB="27432" anchor="ctr">
                    <a:solidFill>
                      <a:srgbClr val="FFFFFF"/>
                    </a:solidFill>
                  </a:tcPr>
                </a:tc>
                <a:tc>
                  <a:txBody>
                    <a:bodyPr/>
                    <a:lstStyle/>
                    <a:p>
                      <a:pPr algn="ctr"/>
                      <a:r>
                        <a:rPr sz="1600" b="0">
                          <a:solidFill>
                            <a:srgbClr val="142B33"/>
                          </a:solidFill>
                          <a:latin typeface="Calibri"/>
                        </a:rPr>
                        <a:t>β</a:t>
                      </a:r>
                      <a:r>
                        <a:rPr sz="1600" b="0" baseline="-25000">
                          <a:solidFill>
                            <a:srgbClr val="142B33"/>
                          </a:solidFill>
                          <a:latin typeface="Calibri"/>
                        </a:rPr>
                        <a:t>i</a:t>
                      </a:r>
                      <a:r>
                        <a:rPr sz="1600" b="0">
                          <a:solidFill>
                            <a:srgbClr val="142B33"/>
                          </a:solidFill>
                          <a:latin typeface="Calibri"/>
                        </a:rPr>
                        <a:t> estimado = ℓ</a:t>
                      </a:r>
                      <a:r>
                        <a:rPr sz="1600" b="0" baseline="-25000">
                          <a:solidFill>
                            <a:srgbClr val="142B33"/>
                          </a:solidFill>
                          <a:latin typeface="Calibri"/>
                        </a:rPr>
                        <a:t>i</a:t>
                      </a:r>
                      <a:r>
                        <a:rPr sz="1600" b="0">
                          <a:solidFill>
                            <a:srgbClr val="142B33"/>
                          </a:solidFill>
                          <a:latin typeface="Calibri"/>
                        </a:rPr>
                        <a:t> / 2</a:t>
                      </a:r>
                    </a:p>
                  </a:txBody>
                  <a:tcPr marL="73152" marR="73152" marT="27432" marB="27432" anchor="ctr">
                    <a:solidFill>
                      <a:srgbClr val="FFFFFF"/>
                    </a:solidFill>
                  </a:tcPr>
                </a:tc>
                <a:tc>
                  <a:txBody>
                    <a:bodyPr/>
                    <a:lstStyle/>
                    <a:p>
                      <a:pPr algn="l"/>
                      <a:r>
                        <a:rPr sz="1600" b="0">
                          <a:solidFill>
                            <a:srgbClr val="142B33"/>
                          </a:solidFill>
                          <a:latin typeface="Calibri"/>
                        </a:rPr>
                        <a:t>Cambio en Y por unidad codificada</a:t>
                      </a:r>
                    </a:p>
                  </a:txBody>
                  <a:tcPr marL="73152" marR="73152" marT="27432" marB="27432" anchor="ctr">
                    <a:solidFill>
                      <a:srgbClr val="FFFFFF"/>
                    </a:solidFill>
                  </a:tcPr>
                </a:tc>
                <a:tc>
                  <a:txBody>
                    <a:bodyPr/>
                    <a:lstStyle/>
                    <a:p>
                      <a:pPr algn="l"/>
                      <a:r>
                        <a:rPr sz="1600" b="0">
                          <a:solidFill>
                            <a:srgbClr val="142B33"/>
                          </a:solidFill>
                          <a:latin typeface="Calibri"/>
                        </a:rPr>
                        <a:t>19.00 / 2 = 9.50</a:t>
                      </a:r>
                    </a:p>
                  </a:txBody>
                  <a:tcPr marL="73152" marR="73152" marT="27432" marB="27432" anchor="ctr">
                    <a:solidFill>
                      <a:srgbClr val="FFFFFF"/>
                    </a:solidFill>
                  </a:tcPr>
                </a:tc>
              </a:tr>
              <a:tr h="614680">
                <a:tc>
                  <a:txBody>
                    <a:bodyPr/>
                    <a:lstStyle/>
                    <a:p>
                      <a:pPr algn="l"/>
                      <a:r>
                        <a:rPr sz="1600" b="0">
                          <a:solidFill>
                            <a:srgbClr val="142B33"/>
                          </a:solidFill>
                          <a:latin typeface="Calibri"/>
                        </a:rPr>
                        <a:t>Suma de cuadrados</a:t>
                      </a:r>
                    </a:p>
                  </a:txBody>
                  <a:tcPr marL="73152" marR="73152" marT="27432" marB="27432" anchor="ctr">
                    <a:solidFill>
                      <a:srgbClr val="F4F8F9"/>
                    </a:solidFill>
                  </a:tcPr>
                </a:tc>
                <a:tc>
                  <a:txBody>
                    <a:bodyPr/>
                    <a:lstStyle/>
                    <a:p>
                      <a:pPr algn="ctr"/>
                      <a:r>
                        <a:rPr sz="1600" b="0">
                          <a:solidFill>
                            <a:srgbClr val="142B33"/>
                          </a:solidFill>
                          <a:latin typeface="Calibri"/>
                        </a:rPr>
                        <a:t>SS</a:t>
                      </a:r>
                      <a:r>
                        <a:rPr sz="1600" b="0" baseline="-25000">
                          <a:solidFill>
                            <a:srgbClr val="142B33"/>
                          </a:solidFill>
                          <a:latin typeface="Calibri"/>
                        </a:rPr>
                        <a:t>i</a:t>
                      </a:r>
                      <a:r>
                        <a:rPr sz="1600" b="0">
                          <a:solidFill>
                            <a:srgbClr val="142B33"/>
                          </a:solidFill>
                          <a:latin typeface="Calibri"/>
                        </a:rPr>
                        <a:t> = (Contraste</a:t>
                      </a:r>
                      <a:r>
                        <a:rPr sz="1600" b="0" baseline="-25000">
                          <a:solidFill>
                            <a:srgbClr val="142B33"/>
                          </a:solidFill>
                          <a:latin typeface="Calibri"/>
                        </a:rPr>
                        <a:t>i</a:t>
                      </a:r>
                      <a:r>
                        <a:rPr sz="1600" b="0">
                          <a:solidFill>
                            <a:srgbClr val="142B33"/>
                          </a:solidFill>
                          <a:latin typeface="Calibri"/>
                        </a:rPr>
                        <a:t>)</a:t>
                      </a:r>
                      <a:r>
                        <a:rPr sz="1600" b="0" baseline="30000">
                          <a:solidFill>
                            <a:srgbClr val="142B33"/>
                          </a:solidFill>
                          <a:latin typeface="Calibri"/>
                        </a:rPr>
                        <a:t>2</a:t>
                      </a:r>
                      <a:r>
                        <a:rPr sz="1600" b="0">
                          <a:solidFill>
                            <a:srgbClr val="142B33"/>
                          </a:solidFill>
                          <a:latin typeface="Calibri"/>
                        </a:rPr>
                        <a:t> / N</a:t>
                      </a:r>
                    </a:p>
                  </a:txBody>
                  <a:tcPr marL="73152" marR="73152" marT="27432" marB="27432" anchor="ctr">
                    <a:solidFill>
                      <a:srgbClr val="F4F8F9"/>
                    </a:solidFill>
                  </a:tcPr>
                </a:tc>
                <a:tc>
                  <a:txBody>
                    <a:bodyPr/>
                    <a:lstStyle/>
                    <a:p>
                      <a:pPr algn="l"/>
                      <a:r>
                        <a:rPr sz="1600" b="0">
                          <a:solidFill>
                            <a:srgbClr val="142B33"/>
                          </a:solidFill>
                          <a:latin typeface="Calibri"/>
                        </a:rPr>
                        <a:t>Variabilidad explicada (1 g.l.)</a:t>
                      </a:r>
                    </a:p>
                  </a:txBody>
                  <a:tcPr marL="73152" marR="73152" marT="27432" marB="27432" anchor="ctr">
                    <a:solidFill>
                      <a:srgbClr val="F4F8F9"/>
                    </a:solidFill>
                  </a:tcPr>
                </a:tc>
                <a:tc>
                  <a:txBody>
                    <a:bodyPr/>
                    <a:lstStyle/>
                    <a:p>
                      <a:pPr algn="l"/>
                      <a:r>
                        <a:rPr sz="1600" b="0">
                          <a:solidFill>
                            <a:srgbClr val="142B33"/>
                          </a:solidFill>
                          <a:latin typeface="Calibri"/>
                        </a:rPr>
                        <a:t>76</a:t>
                      </a:r>
                      <a:r>
                        <a:rPr sz="1600" b="0" baseline="30000">
                          <a:solidFill>
                            <a:srgbClr val="142B33"/>
                          </a:solidFill>
                          <a:latin typeface="Calibri"/>
                        </a:rPr>
                        <a:t>2</a:t>
                      </a:r>
                      <a:r>
                        <a:rPr sz="1600" b="0">
                          <a:solidFill>
                            <a:srgbClr val="142B33"/>
                          </a:solidFill>
                          <a:latin typeface="Calibri"/>
                        </a:rPr>
                        <a:t> / 8 = 722.0</a:t>
                      </a:r>
                    </a:p>
                  </a:txBody>
                  <a:tcPr marL="73152" marR="73152" marT="27432" marB="27432" anchor="ctr">
                    <a:solidFill>
                      <a:srgbClr val="F4F8F9"/>
                    </a:solidFill>
                  </a:tcPr>
                </a:tc>
              </a:tr>
            </a:tbl>
          </a:graphicData>
        </a:graphic>
      </p:graphicFrame>
      <p:sp>
        <p:nvSpPr>
          <p:cNvPr id="4" name="Rounded Rectangle 3"/>
          <p:cNvSpPr/>
          <p:nvPr/>
        </p:nvSpPr>
        <p:spPr>
          <a:xfrm>
            <a:off x="548640" y="4443984"/>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una sola réplica, N = 2</a:t>
            </a:r>
            <a:r>
              <a:rPr sz="1600" b="0" baseline="30000">
                <a:solidFill>
                  <a:srgbClr val="142B33"/>
                </a:solidFill>
                <a:latin typeface="Calibri"/>
              </a:rPr>
              <a:t>k−p</a:t>
            </a:r>
            <a:r>
              <a:rPr sz="1600" b="0">
                <a:solidFill>
                  <a:srgbClr val="142B33"/>
                </a:solidFill>
                <a:latin typeface="Calibri"/>
              </a:rPr>
              <a:t>. El intercepto es el promedio general:  β</a:t>
            </a:r>
            <a:r>
              <a:rPr sz="1600" b="0" baseline="-25000">
                <a:solidFill>
                  <a:srgbClr val="142B33"/>
                </a:solidFill>
                <a:latin typeface="Calibri"/>
              </a:rPr>
              <a:t>0</a:t>
            </a:r>
            <a:r>
              <a:rPr sz="1600" b="0">
                <a:solidFill>
                  <a:srgbClr val="142B33"/>
                </a:solidFill>
                <a:latin typeface="Calibri"/>
              </a:rPr>
              <a:t> = ȳ</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65</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Tabla ANOVA del factorial fraccionado</a:t>
            </a:r>
          </a:p>
        </p:txBody>
      </p:sp>
      <p:graphicFrame>
        <p:nvGraphicFramePr>
          <p:cNvPr id="3" name="Table 2"/>
          <p:cNvGraphicFramePr>
            <a:graphicFrameLocks noGrp="1"/>
          </p:cNvGraphicFramePr>
          <p:nvPr/>
        </p:nvGraphicFramePr>
        <p:xfrm>
          <a:off x="548640" y="1417320"/>
          <a:ext cx="11094412" cy="2055872"/>
        </p:xfrm>
        <a:graphic>
          <a:graphicData uri="http://schemas.openxmlformats.org/drawingml/2006/table">
            <a:tbl>
              <a:tblPr firstRow="0" bandRow="0">
                <a:tableStyleId>{5C22544A-7EE6-4342-B048-85BDC9FD1C3A}</a:tableStyleId>
              </a:tblPr>
              <a:tblGrid>
                <a:gridCol w="2773603"/>
                <a:gridCol w="3661157"/>
                <a:gridCol w="1442273"/>
                <a:gridCol w="1886050"/>
                <a:gridCol w="1331329"/>
              </a:tblGrid>
              <a:tr h="382269">
                <a:tc>
                  <a:txBody>
                    <a:bodyPr/>
                    <a:lstStyle/>
                    <a:p>
                      <a:pPr algn="l"/>
                      <a:r>
                        <a:rPr sz="1700" b="1">
                          <a:solidFill>
                            <a:srgbClr val="FFFFFF"/>
                          </a:solidFill>
                          <a:latin typeface="Calibri"/>
                        </a:rPr>
                        <a:t>SV</a:t>
                      </a:r>
                    </a:p>
                  </a:txBody>
                  <a:tcPr marL="73152" marR="73152" marT="27432" marB="27432" anchor="ctr">
                    <a:solidFill>
                      <a:srgbClr val="0F4C5C"/>
                    </a:solidFill>
                  </a:tcPr>
                </a:tc>
                <a:tc>
                  <a:txBody>
                    <a:bodyPr/>
                    <a:lstStyle/>
                    <a:p>
                      <a:pPr algn="l"/>
                      <a:r>
                        <a:rPr sz="1700" b="1">
                          <a:solidFill>
                            <a:srgbClr val="FFFFFF"/>
                          </a:solidFill>
                          <a:latin typeface="Calibri"/>
                        </a:rPr>
                        <a:t>SS</a:t>
                      </a:r>
                    </a:p>
                  </a:txBody>
                  <a:tcPr marL="73152" marR="73152" marT="27432" marB="27432" anchor="ctr">
                    <a:solidFill>
                      <a:srgbClr val="0F4C5C"/>
                    </a:solidFill>
                  </a:tcPr>
                </a:tc>
                <a:tc>
                  <a:txBody>
                    <a:bodyPr/>
                    <a:lstStyle/>
                    <a:p>
                      <a:pPr algn="ctr"/>
                      <a:r>
                        <a:rPr sz="1700" b="1">
                          <a:solidFill>
                            <a:srgbClr val="FFFFFF"/>
                          </a:solidFill>
                          <a:latin typeface="Calibri"/>
                        </a:rPr>
                        <a:t>DF</a:t>
                      </a:r>
                    </a:p>
                  </a:txBody>
                  <a:tcPr marL="73152" marR="73152" marT="27432" marB="27432" anchor="ctr">
                    <a:solidFill>
                      <a:srgbClr val="0F4C5C"/>
                    </a:solidFill>
                  </a:tcPr>
                </a:tc>
                <a:tc>
                  <a:txBody>
                    <a:bodyPr/>
                    <a:lstStyle/>
                    <a:p>
                      <a:pPr algn="ctr"/>
                      <a:r>
                        <a:rPr sz="1700" b="1">
                          <a:solidFill>
                            <a:srgbClr val="FFFFFF"/>
                          </a:solidFill>
                          <a:latin typeface="Calibri"/>
                        </a:rPr>
                        <a:t>MS</a:t>
                      </a:r>
                    </a:p>
                  </a:txBody>
                  <a:tcPr marL="73152" marR="73152" marT="27432" marB="27432" anchor="ctr">
                    <a:solidFill>
                      <a:srgbClr val="0F4C5C"/>
                    </a:solidFill>
                  </a:tcPr>
                </a:tc>
                <a:tc>
                  <a:txBody>
                    <a:bodyPr/>
                    <a:lstStyle/>
                    <a:p>
                      <a:pPr algn="ctr"/>
                      <a:r>
                        <a:rPr sz="1700" b="1">
                          <a:solidFill>
                            <a:srgbClr val="FFFFFF"/>
                          </a:solidFill>
                          <a:latin typeface="Calibri"/>
                        </a:rPr>
                        <a:t>F</a:t>
                      </a:r>
                      <a:r>
                        <a:rPr sz="1700" b="1" baseline="-25000">
                          <a:solidFill>
                            <a:srgbClr val="FFFFFF"/>
                          </a:solidFill>
                          <a:latin typeface="Calibri"/>
                        </a:rPr>
                        <a:t>0</a:t>
                      </a:r>
                    </a:p>
                  </a:txBody>
                  <a:tcPr marL="73152" marR="73152" marT="27432" marB="27432" anchor="ctr">
                    <a:solidFill>
                      <a:srgbClr val="0F4C5C"/>
                    </a:solidFill>
                  </a:tcPr>
                </a:tc>
              </a:tr>
              <a:tr h="645667">
                <a:tc>
                  <a:txBody>
                    <a:bodyPr/>
                    <a:lstStyle/>
                    <a:p>
                      <a:pPr algn="l"/>
                      <a:r>
                        <a:rPr sz="1700" b="0">
                          <a:solidFill>
                            <a:srgbClr val="142B33"/>
                          </a:solidFill>
                          <a:latin typeface="Calibri"/>
                        </a:rPr>
                        <a:t>Efecto i (cadena de alias)</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i</a:t>
                      </a:r>
                      <a:r>
                        <a:rPr sz="1700" b="0">
                          <a:solidFill>
                            <a:srgbClr val="142B33"/>
                          </a:solidFill>
                          <a:latin typeface="Calibri"/>
                        </a:rPr>
                        <a:t> = (Contraste</a:t>
                      </a:r>
                      <a:r>
                        <a:rPr sz="1700" b="0" baseline="-25000">
                          <a:solidFill>
                            <a:srgbClr val="142B33"/>
                          </a:solidFill>
                          <a:latin typeface="Calibri"/>
                        </a:rPr>
                        <a:t>i</a:t>
                      </a:r>
                      <a:r>
                        <a:rPr sz="1700" b="0">
                          <a:solidFill>
                            <a:srgbClr val="142B33"/>
                          </a:solidFill>
                          <a:latin typeface="Calibri"/>
                        </a:rPr>
                        <a:t>)</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1</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SS</a:t>
                      </a:r>
                      <a:r>
                        <a:rPr sz="1700" b="0" baseline="-25000">
                          <a:solidFill>
                            <a:srgbClr val="142B33"/>
                          </a:solidFill>
                          <a:latin typeface="Calibri"/>
                        </a:rPr>
                        <a:t>i</a:t>
                      </a:r>
                    </a:p>
                  </a:txBody>
                  <a:tcPr marL="73152" marR="73152" marT="27432" marB="27432" anchor="ctr">
                    <a:solidFill>
                      <a:srgbClr val="FFFFFF"/>
                    </a:solidFill>
                  </a:tcPr>
                </a:tc>
                <a:tc>
                  <a:txBody>
                    <a:bodyPr/>
                    <a:lstStyle/>
                    <a:p>
                      <a:pPr algn="ctr"/>
                      <a:r>
                        <a:rPr sz="1700" b="0">
                          <a:solidFill>
                            <a:srgbClr val="142B33"/>
                          </a:solidFill>
                          <a:latin typeface="Calibri"/>
                        </a:rPr>
                        <a:t>MS</a:t>
                      </a:r>
                      <a:r>
                        <a:rPr sz="1700" b="0" baseline="-25000">
                          <a:solidFill>
                            <a:srgbClr val="142B33"/>
                          </a:solidFill>
                          <a:latin typeface="Calibri"/>
                        </a:rPr>
                        <a:t>i</a:t>
                      </a:r>
                      <a:r>
                        <a:rPr sz="1700" b="0">
                          <a:solidFill>
                            <a:srgbClr val="142B33"/>
                          </a:solidFill>
                          <a:latin typeface="Calibri"/>
                        </a:rPr>
                        <a:t> / MS</a:t>
                      </a:r>
                      <a:r>
                        <a:rPr sz="1700" b="0" baseline="-25000">
                          <a:solidFill>
                            <a:srgbClr val="142B33"/>
                          </a:solidFill>
                          <a:latin typeface="Calibri"/>
                        </a:rPr>
                        <a:t>E</a:t>
                      </a:r>
                    </a:p>
                  </a:txBody>
                  <a:tcPr marL="73152" marR="73152" marT="27432" marB="27432" anchor="ctr">
                    <a:solidFill>
                      <a:srgbClr val="FFFFFF"/>
                    </a:solidFill>
                  </a:tcPr>
                </a:tc>
              </a:tr>
              <a:tr h="645667">
                <a:tc>
                  <a:txBody>
                    <a:bodyPr/>
                    <a:lstStyle/>
                    <a:p>
                      <a:pPr algn="l"/>
                      <a:r>
                        <a:rPr sz="1700" b="0">
                          <a:solidFill>
                            <a:srgbClr val="142B33"/>
                          </a:solidFill>
                          <a:latin typeface="Calibri"/>
                        </a:rPr>
                        <a:t>Error</a:t>
                      </a:r>
                    </a:p>
                  </a:txBody>
                  <a:tcPr marL="73152" marR="73152" marT="27432" marB="27432" anchor="ctr">
                    <a:solidFill>
                      <a:srgbClr val="F4F8F9"/>
                    </a:solidFill>
                  </a:tcPr>
                </a:tc>
                <a:tc>
                  <a:txBody>
                    <a:bodyPr/>
                    <a:lstStyle/>
                    <a:p>
                      <a:pPr algn="l"/>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SS</a:t>
                      </a:r>
                      <a:r>
                        <a:rPr sz="1700" b="0" baseline="-25000">
                          <a:solidFill>
                            <a:srgbClr val="142B33"/>
                          </a:solidFill>
                          <a:latin typeface="Calibri"/>
                        </a:rPr>
                        <a:t>T</a:t>
                      </a:r>
                      <a:r>
                        <a:rPr sz="1700" b="0">
                          <a:solidFill>
                            <a:srgbClr val="142B33"/>
                          </a:solidFill>
                          <a:latin typeface="Calibri"/>
                        </a:rPr>
                        <a:t> − Σ SS</a:t>
                      </a:r>
                      <a:r>
                        <a:rPr sz="1700" b="0" baseline="-25000">
                          <a:solidFill>
                            <a:srgbClr val="142B33"/>
                          </a:solidFill>
                          <a:latin typeface="Calibri"/>
                        </a:rPr>
                        <a:t>i</a:t>
                      </a:r>
                      <a:r>
                        <a:rPr sz="1700" b="0">
                          <a:solidFill>
                            <a:srgbClr val="142B33"/>
                          </a:solidFill>
                          <a:latin typeface="Calibri"/>
                        </a:rPr>
                        <a:t>  (por sustracción)</a:t>
                      </a:r>
                    </a:p>
                  </a:txBody>
                  <a:tcPr marL="73152" marR="73152" marT="27432" marB="27432" anchor="ctr">
                    <a:solidFill>
                      <a:srgbClr val="F4F8F9"/>
                    </a:solidFill>
                  </a:tcPr>
                </a:tc>
                <a:tc>
                  <a:txBody>
                    <a:bodyPr/>
                    <a:lstStyle/>
                    <a:p>
                      <a:pPr algn="ctr"/>
                      <a:r>
                        <a:rPr sz="1700" b="0">
                          <a:solidFill>
                            <a:srgbClr val="142B33"/>
                          </a:solidFill>
                          <a:latin typeface="Calibri"/>
                        </a:rPr>
                        <a:t>N − 1 − m</a:t>
                      </a:r>
                    </a:p>
                  </a:txBody>
                  <a:tcPr marL="73152" marR="73152" marT="27432" marB="27432" anchor="ctr">
                    <a:solidFill>
                      <a:srgbClr val="F4F8F9"/>
                    </a:solidFill>
                  </a:tcPr>
                </a:tc>
                <a:tc>
                  <a:txBody>
                    <a:bodyPr/>
                    <a:lstStyle/>
                    <a:p>
                      <a:pPr algn="ctr"/>
                      <a:r>
                        <a:rPr sz="1700" b="0">
                          <a:solidFill>
                            <a:srgbClr val="142B33"/>
                          </a:solidFill>
                          <a:latin typeface="Calibri"/>
                        </a:rPr>
                        <a:t>SS</a:t>
                      </a:r>
                      <a:r>
                        <a:rPr sz="1700" b="0" baseline="-25000">
                          <a:solidFill>
                            <a:srgbClr val="142B33"/>
                          </a:solidFill>
                          <a:latin typeface="Calibri"/>
                        </a:rPr>
                        <a:t>E</a:t>
                      </a:r>
                      <a:r>
                        <a:rPr sz="1700" b="0">
                          <a:solidFill>
                            <a:srgbClr val="142B33"/>
                          </a:solidFill>
                          <a:latin typeface="Calibri"/>
                        </a:rPr>
                        <a:t> / (N − 1 − m)</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82269">
                <a:tc>
                  <a:txBody>
                    <a:bodyPr/>
                    <a:lstStyle/>
                    <a:p>
                      <a:pPr algn="l"/>
                      <a:r>
                        <a:rPr sz="1700" b="0">
                          <a:solidFill>
                            <a:srgbClr val="142B33"/>
                          </a:solidFill>
                          <a:latin typeface="Calibri"/>
                        </a:rPr>
                        <a:t>Total</a:t>
                      </a:r>
                    </a:p>
                  </a:txBody>
                  <a:tcPr marL="73152" marR="73152" marT="27432" marB="27432" anchor="ctr">
                    <a:solidFill>
                      <a:srgbClr val="FFFFFF"/>
                    </a:solidFill>
                  </a:tcPr>
                </a:tc>
                <a:tc>
                  <a:txBody>
                    <a:bodyPr/>
                    <a:lstStyle/>
                    <a:p>
                      <a:pPr algn="l"/>
                      <a:r>
                        <a:rPr sz="1700" b="0">
                          <a:solidFill>
                            <a:srgbClr val="142B33"/>
                          </a:solidFill>
                          <a:latin typeface="Calibri"/>
                        </a:rPr>
                        <a:t>SS</a:t>
                      </a:r>
                      <a:r>
                        <a:rPr sz="1700" b="0" baseline="-25000">
                          <a:solidFill>
                            <a:srgbClr val="142B33"/>
                          </a:solidFill>
                          <a:latin typeface="Calibri"/>
                        </a:rPr>
                        <a:t>T</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(Σ y)</a:t>
                      </a:r>
                      <a:r>
                        <a:rPr sz="1700" b="0" baseline="30000">
                          <a:solidFill>
                            <a:srgbClr val="142B33"/>
                          </a:solidFill>
                          <a:latin typeface="Calibri"/>
                        </a:rPr>
                        <a:t>2</a:t>
                      </a:r>
                      <a:r>
                        <a:rPr sz="1700" b="0">
                          <a:solidFill>
                            <a:srgbClr val="142B33"/>
                          </a:solidFill>
                          <a:latin typeface="Calibri"/>
                        </a:rPr>
                        <a:t> / N</a:t>
                      </a:r>
                    </a:p>
                  </a:txBody>
                  <a:tcPr marL="73152" marR="73152" marT="27432" marB="27432" anchor="ctr">
                    <a:solidFill>
                      <a:srgbClr val="FFFFFF"/>
                    </a:solidFill>
                  </a:tcPr>
                </a:tc>
                <a:tc>
                  <a:txBody>
                    <a:bodyPr/>
                    <a:lstStyle/>
                    <a:p>
                      <a:pPr algn="ctr"/>
                      <a:r>
                        <a:rPr sz="1700" b="0">
                          <a:solidFill>
                            <a:srgbClr val="142B33"/>
                          </a:solidFill>
                          <a:latin typeface="Calibri"/>
                        </a:rPr>
                        <a:t>N − 1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548640" y="3674364"/>
            <a:ext cx="11094415" cy="103708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m</a:t>
            </a:r>
            <a:r>
              <a:rPr sz="1700" b="0">
                <a:solidFill>
                  <a:srgbClr val="142B33"/>
                </a:solidFill>
                <a:latin typeface="Calibri"/>
              </a:rPr>
              <a:t>: número de efectos incluidos en el modelo; </a:t>
            </a:r>
            <a:r>
              <a:rPr sz="1700" b="1">
                <a:solidFill>
                  <a:srgbClr val="142B33"/>
                </a:solidFill>
                <a:latin typeface="Calibri"/>
              </a:rPr>
              <a:t>N</a:t>
            </a:r>
            <a:r>
              <a:rPr sz="1700" b="0">
                <a:solidFill>
                  <a:srgbClr val="142B33"/>
                </a:solidFill>
                <a:latin typeface="Calibri"/>
              </a:rPr>
              <a:t>: total de corridas</a:t>
            </a:r>
          </a:p>
          <a:p>
            <a:pPr marL="320040" indent="-320040">
              <a:spcAft>
                <a:spcPts val="600"/>
              </a:spcAft>
              <a:buClr>
                <a:srgbClr val="E36414"/>
              </a:buClr>
              <a:buFont typeface="Arial"/>
              <a:buChar char="•"/>
            </a:pPr>
            <a:r>
              <a:rPr sz="1700" b="0">
                <a:solidFill>
                  <a:srgbClr val="142B33"/>
                </a:solidFill>
                <a:latin typeface="Calibri"/>
              </a:rPr>
              <a:t>Se rechaza H</a:t>
            </a:r>
            <a:r>
              <a:rPr sz="1700" b="0" baseline="-25000">
                <a:solidFill>
                  <a:srgbClr val="142B33"/>
                </a:solidFill>
                <a:latin typeface="Calibri"/>
              </a:rPr>
              <a:t>0</a:t>
            </a:r>
            <a:r>
              <a:rPr sz="1700" b="0">
                <a:solidFill>
                  <a:srgbClr val="142B33"/>
                </a:solidFill>
                <a:latin typeface="Calibri"/>
              </a:rPr>
              <a:t> si  </a:t>
            </a:r>
            <a:r>
              <a:rPr sz="1700" b="1">
                <a:solidFill>
                  <a:srgbClr val="142B33"/>
                </a:solidFill>
                <a:latin typeface="Calibri"/>
              </a:rPr>
              <a:t>F</a:t>
            </a:r>
            <a:r>
              <a:rPr sz="1700" b="1" baseline="-25000">
                <a:solidFill>
                  <a:srgbClr val="142B33"/>
                </a:solidFill>
                <a:latin typeface="Calibri"/>
              </a:rPr>
              <a:t>0</a:t>
            </a:r>
            <a:r>
              <a:rPr sz="1700" b="1">
                <a:solidFill>
                  <a:srgbClr val="142B33"/>
                </a:solidFill>
                <a:latin typeface="Calibri"/>
              </a:rPr>
              <a:t> &gt; F</a:t>
            </a:r>
            <a:r>
              <a:rPr sz="1700" b="1" baseline="-25000">
                <a:solidFill>
                  <a:srgbClr val="142B33"/>
                </a:solidFill>
                <a:latin typeface="Calibri"/>
              </a:rPr>
              <a:t>α, 1, N−1−m</a:t>
            </a:r>
            <a:r>
              <a:rPr sz="1700" b="0">
                <a:solidFill>
                  <a:srgbClr val="142B33"/>
                </a:solidFill>
                <a:latin typeface="Calibri"/>
              </a:rPr>
              <a:t>  o si el valor p &lt; α</a:t>
            </a:r>
          </a:p>
          <a:p>
            <a:pPr marL="320040" indent="-320040">
              <a:spcAft>
                <a:spcPts val="600"/>
              </a:spcAft>
              <a:buClr>
                <a:srgbClr val="E36414"/>
              </a:buClr>
              <a:buFont typeface="Arial"/>
              <a:buChar char="•"/>
            </a:pPr>
            <a:r>
              <a:rPr sz="1700" b="0">
                <a:solidFill>
                  <a:srgbClr val="142B33"/>
                </a:solidFill>
                <a:latin typeface="Calibri"/>
              </a:rPr>
              <a:t>Con </a:t>
            </a:r>
            <a:r>
              <a:rPr sz="1700" b="1">
                <a:solidFill>
                  <a:srgbClr val="142B33"/>
                </a:solidFill>
                <a:latin typeface="Calibri"/>
              </a:rPr>
              <a:t>n réplicas</a:t>
            </a:r>
            <a:r>
              <a:rPr sz="1700" b="0">
                <a:solidFill>
                  <a:srgbClr val="142B33"/>
                </a:solidFill>
                <a:latin typeface="Calibri"/>
              </a:rPr>
              <a:t>:  N = n · 2</a:t>
            </a:r>
            <a:r>
              <a:rPr sz="1700" b="0" baseline="30000">
                <a:solidFill>
                  <a:srgbClr val="142B33"/>
                </a:solidFill>
                <a:latin typeface="Calibri"/>
              </a:rPr>
              <a:t>k−p</a:t>
            </a:r>
            <a:r>
              <a:rPr sz="1700" b="0">
                <a:solidFill>
                  <a:srgbClr val="142B33"/>
                </a:solidFill>
                <a:latin typeface="Calibri"/>
              </a:rPr>
              <a:t>  y hay error puro con 2</a:t>
            </a:r>
            <a:r>
              <a:rPr sz="1700" b="0" baseline="30000">
                <a:solidFill>
                  <a:srgbClr val="142B33"/>
                </a:solidFill>
                <a:latin typeface="Calibri"/>
              </a:rPr>
              <a:t>k−p</a:t>
            </a:r>
            <a:r>
              <a:rPr sz="1700" b="0">
                <a:solidFill>
                  <a:srgbClr val="142B33"/>
                </a:solidFill>
                <a:latin typeface="Calibri"/>
              </a:rPr>
              <a:t>(n − 1) g.l.</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66</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Sin réplicas no hay error: ¿cómo decido?</a:t>
            </a:r>
          </a:p>
        </p:txBody>
      </p:sp>
      <p:sp>
        <p:nvSpPr>
          <p:cNvPr id="3" name="TextBox 2"/>
          <p:cNvSpPr txBox="1"/>
          <p:nvPr/>
        </p:nvSpPr>
        <p:spPr>
          <a:xfrm>
            <a:off x="548640" y="1417320"/>
            <a:ext cx="5768785"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1">
                <a:solidFill>
                  <a:srgbClr val="142B33"/>
                </a:solidFill>
                <a:latin typeface="Calibri"/>
              </a:rPr>
              <a:t>Gráfica normal o seminormal de efectos</a:t>
            </a:r>
            <a:r>
              <a:rPr sz="1800" b="0">
                <a:solidFill>
                  <a:srgbClr val="142B33"/>
                </a:solidFill>
                <a:latin typeface="Calibri"/>
              </a:rPr>
              <a:t>: los inactivos caen sobre una recta</a:t>
            </a:r>
          </a:p>
          <a:p>
            <a:pPr marL="320040" indent="-320040">
              <a:spcAft>
                <a:spcPts val="600"/>
              </a:spcAft>
              <a:buClr>
                <a:srgbClr val="E36414"/>
              </a:buClr>
              <a:buFont typeface="Arial"/>
              <a:buChar char="•"/>
            </a:pPr>
            <a:r>
              <a:rPr sz="1800" b="1">
                <a:solidFill>
                  <a:srgbClr val="142B33"/>
                </a:solidFill>
                <a:latin typeface="Calibri"/>
              </a:rPr>
              <a:t>Pareto con método de Lenth</a:t>
            </a:r>
            <a:r>
              <a:rPr sz="1800" b="0">
                <a:solidFill>
                  <a:srgbClr val="142B33"/>
                </a:solidFill>
                <a:latin typeface="Calibri"/>
              </a:rPr>
              <a:t>: activo si |efecto| &gt; margen de error; complementa la gráfica normal, no la sustituye</a:t>
            </a:r>
          </a:p>
          <a:p>
            <a:pPr marL="320040" indent="-320040">
              <a:spcAft>
                <a:spcPts val="600"/>
              </a:spcAft>
              <a:buClr>
                <a:srgbClr val="E36414"/>
              </a:buClr>
              <a:buFont typeface="Arial"/>
              <a:buChar char="•"/>
            </a:pPr>
            <a:r>
              <a:rPr sz="1800" b="0">
                <a:solidFill>
                  <a:srgbClr val="142B33"/>
                </a:solidFill>
                <a:latin typeface="Calibri"/>
              </a:rPr>
              <a:t>Los efectos descartados pasan a formar el </a:t>
            </a:r>
            <a:r>
              <a:rPr sz="1800" b="1">
                <a:solidFill>
                  <a:srgbClr val="142B33"/>
                </a:solidFill>
                <a:latin typeface="Calibri"/>
              </a:rPr>
              <a:t>error</a:t>
            </a:r>
            <a:r>
              <a:rPr sz="1800" b="0">
                <a:solidFill>
                  <a:srgbClr val="142B33"/>
                </a:solidFill>
                <a:latin typeface="Calibri"/>
              </a:rPr>
              <a:t> del ANOVA</a:t>
            </a:r>
          </a:p>
        </p:txBody>
      </p:sp>
      <p:sp>
        <p:nvSpPr>
          <p:cNvPr id="4" name="Rounded Rectangle 3"/>
          <p:cNvSpPr/>
          <p:nvPr/>
        </p:nvSpPr>
        <p:spPr>
          <a:xfrm>
            <a:off x="548640" y="3817620"/>
            <a:ext cx="5768785" cy="115933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s</a:t>
            </a:r>
            <a:r>
              <a:rPr sz="1700" b="0" baseline="-25000">
                <a:solidFill>
                  <a:srgbClr val="0F4C5C"/>
                </a:solidFill>
                <a:latin typeface="Cambria Math"/>
              </a:rPr>
              <a:t>0</a:t>
            </a:r>
            <a:r>
              <a:rPr sz="1700" b="0">
                <a:solidFill>
                  <a:srgbClr val="0F4C5C"/>
                </a:solidFill>
                <a:latin typeface="Cambria Math"/>
              </a:rPr>
              <a:t> = 1.5 · mediana |ℓ</a:t>
            </a:r>
            <a:r>
              <a:rPr sz="1700" b="0" baseline="-25000">
                <a:solidFill>
                  <a:srgbClr val="0F4C5C"/>
                </a:solidFill>
                <a:latin typeface="Cambria Math"/>
              </a:rPr>
              <a:t>i</a:t>
            </a:r>
            <a:r>
              <a:rPr sz="1700" b="0">
                <a:solidFill>
                  <a:srgbClr val="0F4C5C"/>
                </a:solidFill>
                <a:latin typeface="Cambria Math"/>
              </a:rPr>
              <a:t>|</a:t>
            </a:r>
          </a:p>
          <a:p>
            <a:pPr algn="ctr"/>
            <a:r>
              <a:rPr sz="1700" b="0">
                <a:solidFill>
                  <a:srgbClr val="0F4C5C"/>
                </a:solidFill>
                <a:latin typeface="Cambria Math"/>
              </a:rPr>
              <a:t>PSE = 1.5 · mediana { |ℓ</a:t>
            </a:r>
            <a:r>
              <a:rPr sz="1700" b="0" baseline="-25000">
                <a:solidFill>
                  <a:srgbClr val="0F4C5C"/>
                </a:solidFill>
                <a:latin typeface="Cambria Math"/>
              </a:rPr>
              <a:t>i</a:t>
            </a:r>
            <a:r>
              <a:rPr sz="1700" b="0">
                <a:solidFill>
                  <a:srgbClr val="0F4C5C"/>
                </a:solidFill>
                <a:latin typeface="Cambria Math"/>
              </a:rPr>
              <a:t>| : |ℓ</a:t>
            </a:r>
            <a:r>
              <a:rPr sz="1700" b="0" baseline="-25000">
                <a:solidFill>
                  <a:srgbClr val="0F4C5C"/>
                </a:solidFill>
                <a:latin typeface="Cambria Math"/>
              </a:rPr>
              <a:t>i</a:t>
            </a:r>
            <a:r>
              <a:rPr sz="1700" b="0">
                <a:solidFill>
                  <a:srgbClr val="0F4C5C"/>
                </a:solidFill>
                <a:latin typeface="Cambria Math"/>
              </a:rPr>
              <a:t>| &lt; 2.5 s</a:t>
            </a:r>
            <a:r>
              <a:rPr sz="1700" b="0" baseline="-25000">
                <a:solidFill>
                  <a:srgbClr val="0F4C5C"/>
                </a:solidFill>
                <a:latin typeface="Cambria Math"/>
              </a:rPr>
              <a:t>0</a:t>
            </a:r>
            <a:r>
              <a:rPr sz="1700" b="0">
                <a:solidFill>
                  <a:srgbClr val="0F4C5C"/>
                </a:solidFill>
                <a:latin typeface="Cambria Math"/>
              </a:rPr>
              <a:t> }</a:t>
            </a:r>
          </a:p>
          <a:p>
            <a:pPr algn="ctr"/>
            <a:r>
              <a:rPr sz="1700" b="0">
                <a:solidFill>
                  <a:srgbClr val="0F4C5C"/>
                </a:solidFill>
                <a:latin typeface="Cambria Math"/>
              </a:rPr>
              <a:t>ME = t</a:t>
            </a:r>
            <a:r>
              <a:rPr sz="1700" b="0" baseline="-25000">
                <a:solidFill>
                  <a:srgbClr val="0F4C5C"/>
                </a:solidFill>
                <a:latin typeface="Cambria Math"/>
              </a:rPr>
              <a:t>0.025, m/3</a:t>
            </a:r>
            <a:r>
              <a:rPr sz="1700" b="0">
                <a:solidFill>
                  <a:srgbClr val="0F4C5C"/>
                </a:solidFill>
                <a:latin typeface="Cambria Math"/>
              </a:rPr>
              <a:t> · PSE</a:t>
            </a:r>
          </a:p>
        </p:txBody>
      </p:sp>
      <p:sp>
        <p:nvSpPr>
          <p:cNvPr id="5" name="TextBox 4"/>
          <p:cNvSpPr txBox="1"/>
          <p:nvPr/>
        </p:nvSpPr>
        <p:spPr>
          <a:xfrm>
            <a:off x="6728905" y="1417320"/>
            <a:ext cx="4914150" cy="315468"/>
          </a:xfrm>
          <a:prstGeom prst="rect">
            <a:avLst/>
          </a:prstGeom>
          <a:noFill/>
        </p:spPr>
        <p:txBody>
          <a:bodyPr wrap="square" anchor="t" lIns="0" rIns="0" tIns="0" bIns="0">
            <a:spAutoFit/>
          </a:bodyPr>
          <a:lstStyle/>
          <a:p>
            <a:r>
              <a:rPr sz="1800" b="1">
                <a:solidFill>
                  <a:srgbClr val="142B33"/>
                </a:solidFill>
                <a:latin typeface="Calibri"/>
              </a:rPr>
              <a:t>Para interpretar una cadena de alias</a:t>
            </a:r>
          </a:p>
        </p:txBody>
      </p:sp>
      <p:sp>
        <p:nvSpPr>
          <p:cNvPr id="6" name="Rounded Rectangle 5"/>
          <p:cNvSpPr/>
          <p:nvPr/>
        </p:nvSpPr>
        <p:spPr>
          <a:xfrm>
            <a:off x="6728905" y="1933956"/>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Escasez</a:t>
            </a:r>
          </a:p>
          <a:p>
            <a:pPr algn="l"/>
            <a:r>
              <a:rPr sz="1500" b="0">
                <a:solidFill>
                  <a:srgbClr val="142B33"/>
                </a:solidFill>
                <a:latin typeface="Calibri"/>
              </a:rPr>
              <a:t>Pocos efectos son realmente activos</a:t>
            </a:r>
          </a:p>
        </p:txBody>
      </p:sp>
      <p:sp>
        <p:nvSpPr>
          <p:cNvPr id="7" name="Rounded Rectangle 6"/>
          <p:cNvSpPr/>
          <p:nvPr/>
        </p:nvSpPr>
        <p:spPr>
          <a:xfrm>
            <a:off x="6728905" y="3411982"/>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Jerarquía</a:t>
            </a:r>
          </a:p>
          <a:p>
            <a:pPr algn="l"/>
            <a:r>
              <a:rPr sz="1500" b="0">
                <a:solidFill>
                  <a:srgbClr val="142B33"/>
                </a:solidFill>
                <a:latin typeface="Calibri"/>
              </a:rPr>
              <a:t>Los efectos de orden bajo son más probables que los de orden alto</a:t>
            </a:r>
          </a:p>
        </p:txBody>
      </p:sp>
      <p:sp>
        <p:nvSpPr>
          <p:cNvPr id="8" name="Rounded Rectangle 7"/>
          <p:cNvSpPr/>
          <p:nvPr/>
        </p:nvSpPr>
        <p:spPr>
          <a:xfrm>
            <a:off x="6728905" y="4890008"/>
            <a:ext cx="491415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Herencia</a:t>
            </a:r>
          </a:p>
          <a:p>
            <a:pPr algn="l"/>
            <a:r>
              <a:rPr sz="1500" b="0">
                <a:solidFill>
                  <a:srgbClr val="142B33"/>
                </a:solidFill>
                <a:latin typeface="Calibri"/>
              </a:rPr>
              <a:t>Una interacción es más creíble si sus factores tienen efecto principal</a:t>
            </a:r>
          </a:p>
        </p:txBody>
      </p:sp>
      <p:sp>
        <p:nvSpPr>
          <p:cNvPr id="9" name="TextBox 8"/>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0" name="TextBox 9"/>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67</a:t>
            </a:r>
          </a:p>
        </p:txBody>
      </p:sp>
      <p:sp>
        <p:nvSpPr>
          <p:cNvPr id="11" name="Rounded Rectangle 10"/>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debemos verificar sobre el modelo?</a:t>
            </a:r>
          </a:p>
        </p:txBody>
      </p:sp>
      <p:sp>
        <p:nvSpPr>
          <p:cNvPr id="3" name="Rounded Rectangle 2"/>
          <p:cNvSpPr/>
          <p:nvPr/>
        </p:nvSpPr>
        <p:spPr>
          <a:xfrm>
            <a:off x="548640" y="1417320"/>
            <a:ext cx="3845856" cy="72550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600" b="0">
                <a:solidFill>
                  <a:srgbClr val="0F4C5C"/>
                </a:solidFill>
                <a:latin typeface="Cambria Math"/>
              </a:rPr>
              <a:t>e = y − ŷ</a:t>
            </a:r>
          </a:p>
        </p:txBody>
      </p:sp>
      <p:sp>
        <p:nvSpPr>
          <p:cNvPr id="4" name="TextBox 3"/>
          <p:cNvSpPr txBox="1"/>
          <p:nvPr/>
        </p:nvSpPr>
        <p:spPr>
          <a:xfrm>
            <a:off x="548640" y="2343993"/>
            <a:ext cx="3845856" cy="532384"/>
          </a:xfrm>
          <a:prstGeom prst="rect">
            <a:avLst/>
          </a:prstGeom>
          <a:noFill/>
        </p:spPr>
        <p:txBody>
          <a:bodyPr wrap="square" anchor="t" lIns="0" rIns="0" tIns="0" bIns="0">
            <a:spAutoFit/>
          </a:bodyPr>
          <a:lstStyle/>
          <a:p>
            <a:r>
              <a:rPr sz="1600" b="0">
                <a:solidFill>
                  <a:srgbClr val="142B33"/>
                </a:solidFill>
                <a:latin typeface="Calibri"/>
              </a:rPr>
              <a:t>Residuo: respuesta observada menos valor ajustado por el modelo</a:t>
            </a:r>
          </a:p>
        </p:txBody>
      </p:sp>
      <p:sp>
        <p:nvSpPr>
          <p:cNvPr id="5" name="Rounded Rectangle 4"/>
          <p:cNvSpPr/>
          <p:nvPr/>
        </p:nvSpPr>
        <p:spPr>
          <a:xfrm>
            <a:off x="548640" y="3077545"/>
            <a:ext cx="3845856"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Con pocos g.l. en el error, la verificación tiene </a:t>
            </a:r>
            <a:r>
              <a:rPr sz="1600" b="1">
                <a:solidFill>
                  <a:srgbClr val="142B33"/>
                </a:solidFill>
                <a:latin typeface="Calibri"/>
              </a:rPr>
              <a:t>poca potencia</a:t>
            </a:r>
          </a:p>
        </p:txBody>
      </p:sp>
      <p:graphicFrame>
        <p:nvGraphicFramePr>
          <p:cNvPr id="6" name="Table 5"/>
          <p:cNvGraphicFramePr>
            <a:graphicFrameLocks noGrp="1"/>
          </p:cNvGraphicFramePr>
          <p:nvPr/>
        </p:nvGraphicFramePr>
        <p:xfrm>
          <a:off x="4805976" y="1417320"/>
          <a:ext cx="6837077" cy="2210816"/>
        </p:xfrm>
        <a:graphic>
          <a:graphicData uri="http://schemas.openxmlformats.org/drawingml/2006/table">
            <a:tbl>
              <a:tblPr firstRow="0" bandRow="0">
                <a:tableStyleId>{5C22544A-7EE6-4342-B048-85BDC9FD1C3A}</a:tableStyleId>
              </a:tblPr>
              <a:tblGrid>
                <a:gridCol w="1777640"/>
                <a:gridCol w="2734831"/>
                <a:gridCol w="2324606"/>
              </a:tblGrid>
              <a:tr h="366776">
                <a:tc>
                  <a:txBody>
                    <a:bodyPr/>
                    <a:lstStyle/>
                    <a:p>
                      <a:pPr algn="l"/>
                      <a:r>
                        <a:rPr sz="1600" b="1">
                          <a:solidFill>
                            <a:srgbClr val="FFFFFF"/>
                          </a:solidFill>
                          <a:latin typeface="Calibri"/>
                        </a:rPr>
                        <a:t>Supuesto</a:t>
                      </a:r>
                    </a:p>
                  </a:txBody>
                  <a:tcPr marL="73152" marR="73152" marT="27432" marB="27432" anchor="ctr">
                    <a:solidFill>
                      <a:srgbClr val="0F4C5C"/>
                    </a:solidFill>
                  </a:tcPr>
                </a:tc>
                <a:tc>
                  <a:txBody>
                    <a:bodyPr/>
                    <a:lstStyle/>
                    <a:p>
                      <a:pPr algn="l"/>
                      <a:r>
                        <a:rPr sz="1600" b="1">
                          <a:solidFill>
                            <a:srgbClr val="FFFFFF"/>
                          </a:solidFill>
                          <a:latin typeface="Calibri"/>
                        </a:rPr>
                        <a:t>Prueba gráfica</a:t>
                      </a:r>
                    </a:p>
                  </a:txBody>
                  <a:tcPr marL="73152" marR="73152" marT="27432" marB="27432" anchor="ctr">
                    <a:solidFill>
                      <a:srgbClr val="0F4C5C"/>
                    </a:solidFill>
                  </a:tcPr>
                </a:tc>
                <a:tc>
                  <a:txBody>
                    <a:bodyPr/>
                    <a:lstStyle/>
                    <a:p>
                      <a:pPr algn="ctr"/>
                      <a:r>
                        <a:rPr sz="1600" b="1">
                          <a:solidFill>
                            <a:srgbClr val="FFFFFF"/>
                          </a:solidFill>
                          <a:latin typeface="Calibri"/>
                        </a:rPr>
                        <a:t>Prueba analítica</a:t>
                      </a:r>
                    </a:p>
                  </a:txBody>
                  <a:tcPr marL="73152" marR="73152" marT="27432" marB="27432" anchor="ctr">
                    <a:solidFill>
                      <a:srgbClr val="0F4C5C"/>
                    </a:solidFill>
                  </a:tcPr>
                </a:tc>
              </a:tr>
              <a:tr h="614680">
                <a:tc>
                  <a:txBody>
                    <a:bodyPr/>
                    <a:lstStyle/>
                    <a:p>
                      <a:pPr algn="l"/>
                      <a:r>
                        <a:rPr sz="1600" b="0">
                          <a:solidFill>
                            <a:srgbClr val="142B33"/>
                          </a:solidFill>
                          <a:latin typeface="Calibri"/>
                        </a:rPr>
                        <a:t>Normalidad</a:t>
                      </a:r>
                    </a:p>
                  </a:txBody>
                  <a:tcPr marL="73152" marR="73152" marT="27432" marB="27432" anchor="ctr">
                    <a:solidFill>
                      <a:srgbClr val="FFFFFF"/>
                    </a:solidFill>
                  </a:tcPr>
                </a:tc>
                <a:tc>
                  <a:txBody>
                    <a:bodyPr/>
                    <a:lstStyle/>
                    <a:p>
                      <a:pPr algn="l"/>
                      <a:r>
                        <a:rPr sz="1600" b="0">
                          <a:solidFill>
                            <a:srgbClr val="142B33"/>
                          </a:solidFill>
                          <a:latin typeface="Calibri"/>
                        </a:rPr>
                        <a:t>Probabilidad normal de residuos</a:t>
                      </a:r>
                    </a:p>
                  </a:txBody>
                  <a:tcPr marL="73152" marR="73152" marT="27432" marB="27432" anchor="ctr">
                    <a:solidFill>
                      <a:srgbClr val="FFFFFF"/>
                    </a:solidFill>
                  </a:tcPr>
                </a:tc>
                <a:tc>
                  <a:txBody>
                    <a:bodyPr/>
                    <a:lstStyle/>
                    <a:p>
                      <a:pPr algn="ctr"/>
                      <a:r>
                        <a:rPr sz="1600" b="0">
                          <a:solidFill>
                            <a:srgbClr val="142B33"/>
                          </a:solidFill>
                          <a:latin typeface="Calibri"/>
                        </a:rPr>
                        <a:t>Anderson-Darling, Shapiro-Wilk</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constante</a:t>
                      </a:r>
                    </a:p>
                  </a:txBody>
                  <a:tcPr marL="73152" marR="73152" marT="27432" marB="27432" anchor="ctr">
                    <a:solidFill>
                      <a:srgbClr val="F4F8F9"/>
                    </a:solidFill>
                  </a:tcPr>
                </a:tc>
                <a:tc>
                  <a:txBody>
                    <a:bodyPr/>
                    <a:lstStyle/>
                    <a:p>
                      <a:pPr algn="l"/>
                      <a:r>
                        <a:rPr sz="1600" b="0">
                          <a:solidFill>
                            <a:srgbClr val="142B33"/>
                          </a:solidFill>
                          <a:latin typeface="Calibri"/>
                        </a:rPr>
                        <a:t>Residuos contra ajustados y contra cada factor</a:t>
                      </a:r>
                    </a:p>
                  </a:txBody>
                  <a:tcPr marL="73152" marR="73152" marT="27432" marB="27432" anchor="ctr">
                    <a:solidFill>
                      <a:srgbClr val="F4F8F9"/>
                    </a:solidFill>
                  </a:tcPr>
                </a:tc>
                <a:tc>
                  <a:txBody>
                    <a:bodyPr/>
                    <a:lstStyle/>
                    <a:p>
                      <a:pPr algn="ctr"/>
                      <a:r>
                        <a:rPr sz="1600" b="0">
                          <a:solidFill>
                            <a:srgbClr val="142B33"/>
                          </a:solidFill>
                          <a:latin typeface="Calibri"/>
                        </a:rPr>
                        <a:t>Bartlett, Levene modificada</a:t>
                      </a:r>
                    </a:p>
                  </a:txBody>
                  <a:tcPr marL="73152" marR="73152" marT="27432" marB="27432" anchor="ctr">
                    <a:solidFill>
                      <a:srgbClr val="F4F8F9"/>
                    </a:solidFill>
                  </a:tcPr>
                </a:tc>
              </a:tr>
              <a:tr h="614680">
                <a:tc>
                  <a:txBody>
                    <a:bodyPr/>
                    <a:lstStyle/>
                    <a:p>
                      <a:pPr algn="l"/>
                      <a:r>
                        <a:rPr sz="1600" b="0">
                          <a:solidFill>
                            <a:srgbClr val="142B33"/>
                          </a:solidFill>
                          <a:latin typeface="Calibri"/>
                        </a:rPr>
                        <a:t>Independencia</a:t>
                      </a:r>
                    </a:p>
                  </a:txBody>
                  <a:tcPr marL="73152" marR="73152" marT="27432" marB="27432" anchor="ctr">
                    <a:solidFill>
                      <a:srgbClr val="FFFFFF"/>
                    </a:solidFill>
                  </a:tcPr>
                </a:tc>
                <a:tc>
                  <a:txBody>
                    <a:bodyPr/>
                    <a:lstStyle/>
                    <a:p>
                      <a:pPr algn="l"/>
                      <a:r>
                        <a:rPr sz="1600" b="0">
                          <a:solidFill>
                            <a:srgbClr val="142B33"/>
                          </a:solidFill>
                          <a:latin typeface="Calibri"/>
                        </a:rPr>
                        <a:t>Residuos contra orden de corrida</a:t>
                      </a:r>
                    </a:p>
                  </a:txBody>
                  <a:tcPr marL="73152" marR="73152" marT="27432" marB="27432" anchor="ctr">
                    <a:solidFill>
                      <a:srgbClr val="FFFFFF"/>
                    </a:solidFill>
                  </a:tcPr>
                </a:tc>
                <a:tc>
                  <a:txBody>
                    <a:bodyPr/>
                    <a:lstStyle/>
                    <a:p>
                      <a:pPr algn="ctr"/>
                      <a:r>
                        <a:rPr sz="1600" b="0">
                          <a:solidFill>
                            <a:srgbClr val="142B33"/>
                          </a:solidFill>
                          <a:latin typeface="Calibri"/>
                        </a:rPr>
                        <a:t>Durbin-Watson</a:t>
                      </a:r>
                    </a:p>
                  </a:txBody>
                  <a:tcPr marL="73152" marR="73152" marT="27432" marB="27432" anchor="ctr">
                    <a:solidFill>
                      <a:srgbClr val="FFFFFF"/>
                    </a:solidFill>
                  </a:tcPr>
                </a:tc>
              </a:tr>
            </a:tbl>
          </a:graphicData>
        </a:graphic>
      </p:graphicFrame>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68</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Normalidad de los residuos</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Rounded Rectangle 3"/>
          <p:cNvSpPr/>
          <p:nvPr/>
        </p:nvSpPr>
        <p:spPr>
          <a:xfrm>
            <a:off x="6728905" y="1417320"/>
            <a:ext cx="4914150"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H</a:t>
            </a:r>
            <a:r>
              <a:rPr sz="1800" b="0" baseline="-25000">
                <a:solidFill>
                  <a:srgbClr val="0F4C5C"/>
                </a:solidFill>
                <a:latin typeface="Cambria Math"/>
              </a:rPr>
              <a:t>0</a:t>
            </a:r>
            <a:r>
              <a:rPr sz="1800" b="0">
                <a:solidFill>
                  <a:srgbClr val="0F4C5C"/>
                </a:solidFill>
                <a:latin typeface="Cambria Math"/>
              </a:rPr>
              <a:t>: los residuos son normales</a:t>
            </a:r>
          </a:p>
          <a:p>
            <a:pPr algn="ctr"/>
            <a:r>
              <a:rPr sz="1800" b="0">
                <a:solidFill>
                  <a:srgbClr val="0F4C5C"/>
                </a:solidFill>
                <a:latin typeface="Cambria Math"/>
              </a:rPr>
              <a:t>H</a:t>
            </a:r>
            <a:r>
              <a:rPr sz="1800" b="0" baseline="-25000">
                <a:solidFill>
                  <a:srgbClr val="0F4C5C"/>
                </a:solidFill>
                <a:latin typeface="Cambria Math"/>
              </a:rPr>
              <a:t>A</a:t>
            </a:r>
            <a:r>
              <a:rPr sz="1800" b="0">
                <a:solidFill>
                  <a:srgbClr val="0F4C5C"/>
                </a:solidFill>
                <a:latin typeface="Cambria Math"/>
              </a:rPr>
              <a:t>: los residuos no son normales</a:t>
            </a:r>
          </a:p>
        </p:txBody>
      </p:sp>
      <p:graphicFrame>
        <p:nvGraphicFramePr>
          <p:cNvPr id="5" name="Table 4"/>
          <p:cNvGraphicFramePr>
            <a:graphicFrameLocks noGrp="1"/>
          </p:cNvGraphicFramePr>
          <p:nvPr/>
        </p:nvGraphicFramePr>
        <p:xfrm>
          <a:off x="6728905" y="2517526"/>
          <a:ext cx="4914149" cy="1146807"/>
        </p:xfrm>
        <a:graphic>
          <a:graphicData uri="http://schemas.openxmlformats.org/drawingml/2006/table">
            <a:tbl>
              <a:tblPr firstRow="0" bandRow="0">
                <a:tableStyleId>{5C22544A-7EE6-4342-B048-85BDC9FD1C3A}</a:tableStyleId>
              </a:tblPr>
              <a:tblGrid>
                <a:gridCol w="3544882"/>
                <a:gridCol w="1369267"/>
              </a:tblGrid>
              <a:tr h="382269">
                <a:tc>
                  <a:txBody>
                    <a:bodyPr/>
                    <a:lstStyle/>
                    <a:p>
                      <a:pPr algn="l"/>
                      <a:r>
                        <a:rPr sz="1700" b="1">
                          <a:solidFill>
                            <a:srgbClr val="FFFFFF"/>
                          </a:solidFill>
                          <a:latin typeface="Calibri"/>
                        </a:rPr>
                        <a:t>Anderson-Darling</a:t>
                      </a:r>
                    </a:p>
                  </a:txBody>
                  <a:tcPr marL="73152" marR="73152" marT="27432" marB="27432" anchor="ctr">
                    <a:solidFill>
                      <a:srgbClr val="0F4C5C"/>
                    </a:solidFill>
                  </a:tcPr>
                </a:tc>
                <a:tc>
                  <a:txBody>
                    <a:bodyPr/>
                    <a:lstStyle/>
                    <a:p>
                      <a:pPr algn="ctr"/>
                      <a:r>
                        <a:rPr sz="1700" b="1">
                          <a:solidFill>
                            <a:srgbClr val="FFFFFF"/>
                          </a:solidFill>
                          <a:latin typeface="Calibri"/>
                        </a:rPr>
                        <a:t>Valor</a:t>
                      </a:r>
                    </a:p>
                  </a:txBody>
                  <a:tcPr marL="73152" marR="73152" marT="27432" marB="27432" anchor="ctr">
                    <a:solidFill>
                      <a:srgbClr val="0F4C5C"/>
                    </a:solidFill>
                  </a:tcPr>
                </a:tc>
              </a:tr>
              <a:tr h="382269">
                <a:tc>
                  <a:txBody>
                    <a:bodyPr/>
                    <a:lstStyle/>
                    <a:p>
                      <a:pPr algn="l"/>
                      <a:r>
                        <a:rPr sz="1700" b="0">
                          <a:solidFill>
                            <a:srgbClr val="142B33"/>
                          </a:solidFill>
                          <a:latin typeface="Calibri"/>
                        </a:rPr>
                        <a:t>A</a:t>
                      </a:r>
                      <a:r>
                        <a:rPr sz="1700" b="0" baseline="30000">
                          <a:solidFill>
                            <a:srgbClr val="142B33"/>
                          </a:solidFill>
                          <a:latin typeface="Calibri"/>
                        </a:rPr>
                        <a:t>2</a:t>
                      </a:r>
                    </a:p>
                  </a:txBody>
                  <a:tcPr marL="73152" marR="73152" marT="27432" marB="27432" anchor="ctr">
                    <a:solidFill>
                      <a:srgbClr val="FFFFFF"/>
                    </a:solidFill>
                  </a:tcPr>
                </a:tc>
                <a:tc>
                  <a:txBody>
                    <a:bodyPr/>
                    <a:lstStyle/>
                    <a:p>
                      <a:pPr algn="ctr"/>
                      <a:r>
                        <a:rPr sz="1700" b="0">
                          <a:solidFill>
                            <a:srgbClr val="142B33"/>
                          </a:solidFill>
                          <a:latin typeface="Calibri"/>
                        </a:rPr>
                        <a:t>0.314</a:t>
                      </a:r>
                    </a:p>
                  </a:txBody>
                  <a:tcPr marL="73152" marR="73152" marT="27432" marB="27432" anchor="ctr">
                    <a:solidFill>
                      <a:srgbClr val="FFFFFF"/>
                    </a:solidFill>
                  </a:tcPr>
                </a:tc>
              </a:tr>
              <a:tr h="382269">
                <a:tc>
                  <a:txBody>
                    <a:bodyPr/>
                    <a:lstStyle/>
                    <a:p>
                      <a:pPr algn="l"/>
                      <a:r>
                        <a:rPr sz="1700" b="0">
                          <a:solidFill>
                            <a:srgbClr val="142B33"/>
                          </a:solidFill>
                          <a:latin typeface="Calibri"/>
                        </a:rPr>
                        <a:t>Valor p</a:t>
                      </a:r>
                    </a:p>
                  </a:txBody>
                  <a:tcPr marL="73152" marR="73152" marT="27432" marB="27432" anchor="ctr">
                    <a:solidFill>
                      <a:srgbClr val="F4F8F9"/>
                    </a:solidFill>
                  </a:tcPr>
                </a:tc>
                <a:tc>
                  <a:txBody>
                    <a:bodyPr/>
                    <a:lstStyle/>
                    <a:p>
                      <a:pPr algn="ctr"/>
                      <a:r>
                        <a:rPr sz="1700" b="0">
                          <a:solidFill>
                            <a:srgbClr val="142B33"/>
                          </a:solidFill>
                          <a:latin typeface="Calibri"/>
                        </a:rPr>
                        <a:t>0.513</a:t>
                      </a:r>
                    </a:p>
                  </a:txBody>
                  <a:tcPr marL="73152" marR="73152" marT="27432" marB="27432" anchor="ctr">
                    <a:solidFill>
                      <a:srgbClr val="F4F8F9"/>
                    </a:solidFill>
                  </a:tcPr>
                </a:tc>
              </a:tr>
            </a:tbl>
          </a:graphicData>
        </a:graphic>
      </p:graphicFrame>
      <p:sp>
        <p:nvSpPr>
          <p:cNvPr id="6" name="Rounded Rectangle 5"/>
          <p:cNvSpPr/>
          <p:nvPr/>
        </p:nvSpPr>
        <p:spPr>
          <a:xfrm>
            <a:off x="6728905" y="3865504"/>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Valor p &gt; 0.05: </a:t>
            </a:r>
            <a:r>
              <a:rPr sz="1600" b="1">
                <a:solidFill>
                  <a:srgbClr val="142B33"/>
                </a:solidFill>
                <a:latin typeface="Calibri"/>
              </a:rPr>
              <a:t>no se rechaza H</a:t>
            </a:r>
            <a:r>
              <a:rPr sz="1600" b="1" baseline="-25000">
                <a:solidFill>
                  <a:srgbClr val="142B33"/>
                </a:solidFill>
                <a:latin typeface="Calibri"/>
              </a:rPr>
              <a:t>0</a:t>
            </a:r>
            <a:r>
              <a:rPr sz="1600" b="0">
                <a:solidFill>
                  <a:srgbClr val="142B33"/>
                </a:solidFill>
                <a:latin typeface="Calibri"/>
              </a:rPr>
              <a:t>, los residuos son normales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69</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2 · Varianza constante e independencia</a:t>
            </a:r>
          </a:p>
        </p:txBody>
      </p:sp>
      <p:graphicFrame>
        <p:nvGraphicFramePr>
          <p:cNvPr id="3" name="Chart 2"/>
          <p:cNvGraphicFramePr>
            <a:graphicFrameLocks noGrp="1"/>
          </p:cNvGraphicFramePr>
          <p:nvPr/>
        </p:nvGraphicFramePr>
        <p:xfrm>
          <a:off x="548640" y="1417320"/>
          <a:ext cx="5768785" cy="4206240"/>
        </p:xfrm>
        <a:graphic>
          <a:graphicData uri="http://schemas.openxmlformats.org/drawingml/2006/chart">
            <c:chart xmlns:c="http://schemas.openxmlformats.org/drawingml/2006/chart" r:id="rId2"/>
          </a:graphicData>
        </a:graphic>
      </p:graphicFrame>
      <p:sp>
        <p:nvSpPr>
          <p:cNvPr id="4" name="TextBox 3"/>
          <p:cNvSpPr txBox="1"/>
          <p:nvPr/>
        </p:nvSpPr>
        <p:spPr>
          <a:xfrm>
            <a:off x="6728905" y="1417320"/>
            <a:ext cx="4914150"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1">
                <a:solidFill>
                  <a:srgbClr val="142B33"/>
                </a:solidFill>
                <a:latin typeface="Calibri"/>
              </a:rPr>
              <a:t>Varianza constante:</a:t>
            </a:r>
            <a:r>
              <a:rPr sz="1700" b="0">
                <a:solidFill>
                  <a:srgbClr val="142B33"/>
                </a:solidFill>
                <a:latin typeface="Calibri"/>
              </a:rPr>
              <a:t> banda horizontal, sin forma de embudo  →  se cumple</a:t>
            </a:r>
          </a:p>
          <a:p>
            <a:pPr marL="320040" indent="-320040">
              <a:spcAft>
                <a:spcPts val="600"/>
              </a:spcAft>
              <a:buClr>
                <a:srgbClr val="E36414"/>
              </a:buClr>
              <a:buFont typeface="Arial"/>
              <a:buChar char="•"/>
            </a:pPr>
            <a:r>
              <a:rPr sz="1700" b="1">
                <a:solidFill>
                  <a:srgbClr val="142B33"/>
                </a:solidFill>
                <a:latin typeface="Calibri"/>
              </a:rPr>
              <a:t>Independencia:</a:t>
            </a:r>
            <a:r>
              <a:rPr sz="1700" b="0">
                <a:solidFill>
                  <a:srgbClr val="142B33"/>
                </a:solidFill>
                <a:latin typeface="Calibri"/>
              </a:rPr>
              <a:t> residuos contra </a:t>
            </a:r>
            <a:r>
              <a:rPr sz="1700" b="1">
                <a:solidFill>
                  <a:srgbClr val="142B33"/>
                </a:solidFill>
                <a:latin typeface="Calibri"/>
              </a:rPr>
              <a:t>orden de corrida</a:t>
            </a:r>
            <a:r>
              <a:rPr sz="1700" b="0">
                <a:solidFill>
                  <a:srgbClr val="142B33"/>
                </a:solidFill>
                <a:latin typeface="Calibri"/>
              </a:rPr>
              <a:t>; sin tendencias ni rachas</a:t>
            </a:r>
          </a:p>
          <a:p>
            <a:pPr marL="320040" indent="-320040">
              <a:spcAft>
                <a:spcPts val="600"/>
              </a:spcAft>
              <a:buClr>
                <a:srgbClr val="E36414"/>
              </a:buClr>
              <a:buFont typeface="Arial"/>
              <a:buChar char="•"/>
            </a:pPr>
            <a:r>
              <a:rPr sz="1700" b="0">
                <a:solidFill>
                  <a:srgbClr val="142B33"/>
                </a:solidFill>
                <a:latin typeface="Calibri"/>
              </a:rPr>
              <a:t>Prueba analítica: </a:t>
            </a:r>
            <a:r>
              <a:rPr sz="1700" b="1">
                <a:solidFill>
                  <a:srgbClr val="142B33"/>
                </a:solidFill>
                <a:latin typeface="Calibri"/>
              </a:rPr>
              <a:t>Durbin-Watson</a:t>
            </a:r>
          </a:p>
        </p:txBody>
      </p:sp>
      <p:sp>
        <p:nvSpPr>
          <p:cNvPr id="5" name="Rounded Rectangle 4"/>
          <p:cNvSpPr/>
          <p:nvPr/>
        </p:nvSpPr>
        <p:spPr>
          <a:xfrm>
            <a:off x="6728905" y="3182365"/>
            <a:ext cx="4914150"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d = Σ (e</a:t>
            </a:r>
            <a:r>
              <a:rPr sz="1800" b="0" baseline="-25000">
                <a:solidFill>
                  <a:srgbClr val="0F4C5C"/>
                </a:solidFill>
                <a:latin typeface="Cambria Math"/>
              </a:rPr>
              <a:t>t</a:t>
            </a:r>
            <a:r>
              <a:rPr sz="1800" b="0">
                <a:solidFill>
                  <a:srgbClr val="0F4C5C"/>
                </a:solidFill>
                <a:latin typeface="Cambria Math"/>
              </a:rPr>
              <a:t> − e</a:t>
            </a:r>
            <a:r>
              <a:rPr sz="1800" b="0" baseline="-25000">
                <a:solidFill>
                  <a:srgbClr val="0F4C5C"/>
                </a:solidFill>
                <a:latin typeface="Cambria Math"/>
              </a:rPr>
              <a:t>t−1</a:t>
            </a:r>
            <a:r>
              <a:rPr sz="1800" b="0">
                <a:solidFill>
                  <a:srgbClr val="0F4C5C"/>
                </a:solidFill>
                <a:latin typeface="Cambria Math"/>
              </a:rPr>
              <a:t>)</a:t>
            </a:r>
            <a:r>
              <a:rPr sz="1800" b="0" baseline="30000">
                <a:solidFill>
                  <a:srgbClr val="0F4C5C"/>
                </a:solidFill>
                <a:latin typeface="Cambria Math"/>
              </a:rPr>
              <a:t>2</a:t>
            </a:r>
            <a:r>
              <a:rPr sz="1800" b="0">
                <a:solidFill>
                  <a:srgbClr val="0F4C5C"/>
                </a:solidFill>
                <a:latin typeface="Cambria Math"/>
              </a:rPr>
              <a:t> / Σ e</a:t>
            </a:r>
            <a:r>
              <a:rPr sz="1800" b="0" baseline="-25000">
                <a:solidFill>
                  <a:srgbClr val="0F4C5C"/>
                </a:solidFill>
                <a:latin typeface="Cambria Math"/>
              </a:rPr>
              <a:t>t</a:t>
            </a:r>
            <a:r>
              <a:rPr sz="1800" b="0" baseline="30000">
                <a:solidFill>
                  <a:srgbClr val="0F4C5C"/>
                </a:solidFill>
                <a:latin typeface="Cambria Math"/>
              </a:rPr>
              <a:t>2</a:t>
            </a:r>
          </a:p>
        </p:txBody>
      </p:sp>
      <p:sp>
        <p:nvSpPr>
          <p:cNvPr id="6" name="Rounded Rectangle 5"/>
          <p:cNvSpPr/>
          <p:nvPr/>
        </p:nvSpPr>
        <p:spPr>
          <a:xfrm>
            <a:off x="6728905" y="3970213"/>
            <a:ext cx="4914150"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Sin el orden de corrida registrado, la independencia </a:t>
            </a:r>
            <a:r>
              <a:rPr sz="1500" b="1">
                <a:solidFill>
                  <a:srgbClr val="142B33"/>
                </a:solidFill>
                <a:latin typeface="Calibri"/>
              </a:rPr>
              <a:t>no se puede verificar</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70</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hago si se viola un supuesto?</a:t>
            </a:r>
          </a:p>
        </p:txBody>
      </p:sp>
      <p:graphicFrame>
        <p:nvGraphicFramePr>
          <p:cNvPr id="3" name="Table 2"/>
          <p:cNvGraphicFramePr>
            <a:graphicFrameLocks noGrp="1"/>
          </p:cNvGraphicFramePr>
          <p:nvPr/>
        </p:nvGraphicFramePr>
        <p:xfrm>
          <a:off x="548640" y="1417320"/>
          <a:ext cx="11094414" cy="2825496"/>
        </p:xfrm>
        <a:graphic>
          <a:graphicData uri="http://schemas.openxmlformats.org/drawingml/2006/table">
            <a:tbl>
              <a:tblPr firstRow="0" bandRow="0">
                <a:tableStyleId>{5C22544A-7EE6-4342-B048-85BDC9FD1C3A}</a:tableStyleId>
              </a:tblPr>
              <a:tblGrid>
                <a:gridCol w="2218883"/>
                <a:gridCol w="3993989"/>
                <a:gridCol w="4881542"/>
              </a:tblGrid>
              <a:tr h="366776">
                <a:tc>
                  <a:txBody>
                    <a:bodyPr/>
                    <a:lstStyle/>
                    <a:p>
                      <a:pPr algn="l"/>
                      <a:r>
                        <a:rPr sz="1600" b="1">
                          <a:solidFill>
                            <a:srgbClr val="FFFFFF"/>
                          </a:solidFill>
                          <a:latin typeface="Calibri"/>
                        </a:rPr>
                        <a:t>Problema</a:t>
                      </a:r>
                    </a:p>
                  </a:txBody>
                  <a:tcPr marL="73152" marR="73152" marT="27432" marB="27432" anchor="ctr">
                    <a:solidFill>
                      <a:srgbClr val="0F4C5C"/>
                    </a:solidFill>
                  </a:tcPr>
                </a:tc>
                <a:tc>
                  <a:txBody>
                    <a:bodyPr/>
                    <a:lstStyle/>
                    <a:p>
                      <a:pPr algn="l"/>
                      <a:r>
                        <a:rPr sz="1600" b="1">
                          <a:solidFill>
                            <a:srgbClr val="FFFFFF"/>
                          </a:solidFill>
                          <a:latin typeface="Calibri"/>
                        </a:rPr>
                        <a:t>Síntoma</a:t>
                      </a:r>
                    </a:p>
                  </a:txBody>
                  <a:tcPr marL="73152" marR="73152" marT="27432" marB="27432" anchor="ctr">
                    <a:solidFill>
                      <a:srgbClr val="0F4C5C"/>
                    </a:solidFill>
                  </a:tcPr>
                </a:tc>
                <a:tc>
                  <a:txBody>
                    <a:bodyPr/>
                    <a:lstStyle/>
                    <a:p>
                      <a:pPr algn="l"/>
                      <a:r>
                        <a:rPr sz="1600" b="1">
                          <a:solidFill>
                            <a:srgbClr val="FFFFFF"/>
                          </a:solidFill>
                          <a:latin typeface="Calibri"/>
                        </a:rPr>
                        <a:t>Qué hacer</a:t>
                      </a:r>
                    </a:p>
                  </a:txBody>
                  <a:tcPr marL="73152" marR="73152" marT="27432" marB="27432" anchor="ctr">
                    <a:solidFill>
                      <a:srgbClr val="0F4C5C"/>
                    </a:solidFill>
                  </a:tcPr>
                </a:tc>
              </a:tr>
              <a:tr h="614680">
                <a:tc>
                  <a:txBody>
                    <a:bodyPr/>
                    <a:lstStyle/>
                    <a:p>
                      <a:pPr algn="l"/>
                      <a:r>
                        <a:rPr sz="1600" b="0">
                          <a:solidFill>
                            <a:srgbClr val="142B33"/>
                          </a:solidFill>
                          <a:latin typeface="Calibri"/>
                        </a:rPr>
                        <a:t>No normalidad</a:t>
                      </a:r>
                    </a:p>
                  </a:txBody>
                  <a:tcPr marL="73152" marR="73152" marT="27432" marB="27432" anchor="ctr">
                    <a:solidFill>
                      <a:srgbClr val="FFFFFF"/>
                    </a:solidFill>
                  </a:tcPr>
                </a:tc>
                <a:tc>
                  <a:txBody>
                    <a:bodyPr/>
                    <a:lstStyle/>
                    <a:p>
                      <a:pPr algn="l"/>
                      <a:r>
                        <a:rPr sz="1600" b="0">
                          <a:solidFill>
                            <a:srgbClr val="142B33"/>
                          </a:solidFill>
                          <a:latin typeface="Calibri"/>
                        </a:rPr>
                        <a:t>Curvatura o puntos alejados en la gráfica normal</a:t>
                      </a:r>
                    </a:p>
                  </a:txBody>
                  <a:tcPr marL="73152" marR="73152" marT="27432" marB="27432" anchor="ctr">
                    <a:solidFill>
                      <a:srgbClr val="FFFFFF"/>
                    </a:solidFill>
                  </a:tcPr>
                </a:tc>
                <a:tc>
                  <a:txBody>
                    <a:bodyPr/>
                    <a:lstStyle/>
                    <a:p>
                      <a:pPr algn="l"/>
                      <a:r>
                        <a:rPr sz="1600" b="0">
                          <a:solidFill>
                            <a:srgbClr val="142B33"/>
                          </a:solidFill>
                          <a:latin typeface="Calibri"/>
                        </a:rPr>
                        <a:t>Revisar atípicos; transformar la respuesta</a:t>
                      </a:r>
                    </a:p>
                  </a:txBody>
                  <a:tcPr marL="73152" marR="73152" marT="27432" marB="27432" anchor="ctr">
                    <a:solidFill>
                      <a:srgbClr val="FFFFFF"/>
                    </a:solidFill>
                  </a:tcPr>
                </a:tc>
              </a:tr>
              <a:tr h="614680">
                <a:tc>
                  <a:txBody>
                    <a:bodyPr/>
                    <a:lstStyle/>
                    <a:p>
                      <a:pPr algn="l"/>
                      <a:r>
                        <a:rPr sz="1600" b="0">
                          <a:solidFill>
                            <a:srgbClr val="142B33"/>
                          </a:solidFill>
                          <a:latin typeface="Calibri"/>
                        </a:rPr>
                        <a:t>Varianza no constante</a:t>
                      </a:r>
                    </a:p>
                  </a:txBody>
                  <a:tcPr marL="73152" marR="73152" marT="27432" marB="27432" anchor="ctr">
                    <a:solidFill>
                      <a:srgbClr val="F4F8F9"/>
                    </a:solidFill>
                  </a:tcPr>
                </a:tc>
                <a:tc>
                  <a:txBody>
                    <a:bodyPr/>
                    <a:lstStyle/>
                    <a:p>
                      <a:pPr algn="l"/>
                      <a:r>
                        <a:rPr sz="1600" b="0">
                          <a:solidFill>
                            <a:srgbClr val="142B33"/>
                          </a:solidFill>
                          <a:latin typeface="Calibri"/>
                        </a:rPr>
                        <a:t>Embudo en residuos contra ajustados</a:t>
                      </a:r>
                    </a:p>
                  </a:txBody>
                  <a:tcPr marL="73152" marR="73152" marT="27432" marB="27432" anchor="ctr">
                    <a:solidFill>
                      <a:srgbClr val="F4F8F9"/>
                    </a:solidFill>
                  </a:tcPr>
                </a:tc>
                <a:tc>
                  <a:txBody>
                    <a:bodyPr/>
                    <a:lstStyle/>
                    <a:p>
                      <a:pPr algn="l"/>
                      <a:r>
                        <a:rPr sz="1600" b="0">
                          <a:solidFill>
                            <a:srgbClr val="142B33"/>
                          </a:solidFill>
                          <a:latin typeface="Calibri"/>
                        </a:rPr>
                        <a:t>Transformar la respuesta (logaritmo, raíz, Box-Cox)</a:t>
                      </a:r>
                    </a:p>
                  </a:txBody>
                  <a:tcPr marL="73152" marR="73152" marT="27432" marB="27432" anchor="ctr">
                    <a:solidFill>
                      <a:srgbClr val="F4F8F9"/>
                    </a:solidFill>
                  </a:tcPr>
                </a:tc>
              </a:tr>
              <a:tr h="614680">
                <a:tc>
                  <a:txBody>
                    <a:bodyPr/>
                    <a:lstStyle/>
                    <a:p>
                      <a:pPr algn="l"/>
                      <a:r>
                        <a:rPr sz="1600" b="0">
                          <a:solidFill>
                            <a:srgbClr val="142B33"/>
                          </a:solidFill>
                          <a:latin typeface="Calibri"/>
                        </a:rPr>
                        <a:t>Dependencia</a:t>
                      </a:r>
                    </a:p>
                  </a:txBody>
                  <a:tcPr marL="73152" marR="73152" marT="27432" marB="27432" anchor="ctr">
                    <a:solidFill>
                      <a:srgbClr val="FFFFFF"/>
                    </a:solidFill>
                  </a:tcPr>
                </a:tc>
                <a:tc>
                  <a:txBody>
                    <a:bodyPr/>
                    <a:lstStyle/>
                    <a:p>
                      <a:pPr algn="l"/>
                      <a:r>
                        <a:rPr sz="1600" b="0">
                          <a:solidFill>
                            <a:srgbClr val="142B33"/>
                          </a:solidFill>
                          <a:latin typeface="Calibri"/>
                        </a:rPr>
                        <a:t>Tendencia o rachas contra el orden de corrida</a:t>
                      </a:r>
                    </a:p>
                  </a:txBody>
                  <a:tcPr marL="73152" marR="73152" marT="27432" marB="27432" anchor="ctr">
                    <a:solidFill>
                      <a:srgbClr val="FFFFFF"/>
                    </a:solidFill>
                  </a:tcPr>
                </a:tc>
                <a:tc>
                  <a:txBody>
                    <a:bodyPr/>
                    <a:lstStyle/>
                    <a:p>
                      <a:pPr algn="l"/>
                      <a:r>
                        <a:rPr sz="1600" b="0">
                          <a:solidFill>
                            <a:srgbClr val="142B33"/>
                          </a:solidFill>
                          <a:latin typeface="Calibri"/>
                        </a:rPr>
                        <a:t>Difícil de corregir: prevenir aleatorizando; incluir la fuente como bloque o covariable</a:t>
                      </a:r>
                    </a:p>
                  </a:txBody>
                  <a:tcPr marL="73152" marR="73152" marT="27432" marB="27432" anchor="ctr">
                    <a:solidFill>
                      <a:srgbClr val="FFFFFF"/>
                    </a:solidFill>
                  </a:tcPr>
                </a:tc>
              </a:tr>
              <a:tr h="614680">
                <a:tc>
                  <a:txBody>
                    <a:bodyPr/>
                    <a:lstStyle/>
                    <a:p>
                      <a:pPr algn="l"/>
                      <a:r>
                        <a:rPr sz="1600" b="0">
                          <a:solidFill>
                            <a:srgbClr val="142B33"/>
                          </a:solidFill>
                          <a:latin typeface="Calibri"/>
                        </a:rPr>
                        <a:t>Modelo incompleto</a:t>
                      </a:r>
                    </a:p>
                  </a:txBody>
                  <a:tcPr marL="73152" marR="73152" marT="27432" marB="27432" anchor="ctr">
                    <a:solidFill>
                      <a:srgbClr val="F4F8F9"/>
                    </a:solidFill>
                  </a:tcPr>
                </a:tc>
                <a:tc>
                  <a:txBody>
                    <a:bodyPr/>
                    <a:lstStyle/>
                    <a:p>
                      <a:pPr algn="l"/>
                      <a:r>
                        <a:rPr sz="1600" b="0">
                          <a:solidFill>
                            <a:srgbClr val="142B33"/>
                          </a:solidFill>
                          <a:latin typeface="Calibri"/>
                        </a:rPr>
                        <a:t>Patrón en los residuos</a:t>
                      </a:r>
                    </a:p>
                  </a:txBody>
                  <a:tcPr marL="73152" marR="73152" marT="27432" marB="27432" anchor="ctr">
                    <a:solidFill>
                      <a:srgbClr val="F4F8F9"/>
                    </a:solidFill>
                  </a:tcPr>
                </a:tc>
                <a:tc>
                  <a:txBody>
                    <a:bodyPr/>
                    <a:lstStyle/>
                    <a:p>
                      <a:pPr algn="l"/>
                      <a:r>
                        <a:rPr sz="1600" b="0">
                          <a:solidFill>
                            <a:srgbClr val="142B33"/>
                          </a:solidFill>
                          <a:latin typeface="Calibri"/>
                        </a:rPr>
                        <a:t>Revisar cadenas de alias; agregar términos o corridas</a:t>
                      </a:r>
                    </a:p>
                  </a:txBody>
                  <a:tcPr marL="73152" marR="73152" marT="27432" marB="27432" anchor="ctr">
                    <a:solidFill>
                      <a:srgbClr val="F4F8F9"/>
                    </a:solidFill>
                  </a:tcPr>
                </a:tc>
              </a:tr>
            </a:tbl>
          </a:graphicData>
        </a:graphic>
      </p:graphicFrame>
      <p:sp>
        <p:nvSpPr>
          <p:cNvPr id="4" name="TextBox 3"/>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5" name="TextBox 4"/>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71</a:t>
            </a:r>
          </a:p>
        </p:txBody>
      </p:sp>
      <p:sp>
        <p:nvSpPr>
          <p:cNvPr id="6" name="Rounded Rectangle 5"/>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la proyección en el caso general?</a:t>
            </a:r>
          </a:p>
        </p:txBody>
      </p:sp>
      <p:sp>
        <p:nvSpPr>
          <p:cNvPr id="3" name="TextBox 2"/>
          <p:cNvSpPr txBox="1"/>
          <p:nvPr/>
        </p:nvSpPr>
        <p:spPr>
          <a:xfrm>
            <a:off x="548640" y="1417320"/>
            <a:ext cx="4914150" cy="2199132"/>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a:t>
            </a:r>
            <a:r>
              <a:rPr sz="1800" b="1">
                <a:solidFill>
                  <a:srgbClr val="142B33"/>
                </a:solidFill>
                <a:latin typeface="Calibri"/>
              </a:rPr>
              <a:t>R</a:t>
            </a:r>
            <a:r>
              <a:rPr sz="1800" b="0">
                <a:solidFill>
                  <a:srgbClr val="142B33"/>
                </a:solidFill>
                <a:latin typeface="Calibri"/>
              </a:rPr>
              <a:t> ⇒ factorial completo en cualquier subconjunto de </a:t>
            </a:r>
            <a:r>
              <a:rPr sz="1800" b="1">
                <a:solidFill>
                  <a:srgbClr val="142B33"/>
                </a:solidFill>
                <a:latin typeface="Calibri"/>
              </a:rPr>
              <a:t>R − 1</a:t>
            </a:r>
            <a:r>
              <a:rPr sz="1800" b="0">
                <a:solidFill>
                  <a:srgbClr val="142B33"/>
                </a:solidFill>
                <a:latin typeface="Calibri"/>
              </a:rPr>
              <a:t> factores</a:t>
            </a:r>
          </a:p>
          <a:p>
            <a:pPr marL="320040" indent="-320040">
              <a:spcAft>
                <a:spcPts val="600"/>
              </a:spcAft>
              <a:buClr>
                <a:srgbClr val="E36414"/>
              </a:buClr>
              <a:buFont typeface="Arial"/>
              <a:buChar char="•"/>
            </a:pPr>
            <a:r>
              <a:rPr sz="1800" b="0">
                <a:solidFill>
                  <a:srgbClr val="142B33"/>
                </a:solidFill>
                <a:latin typeface="Calibri"/>
              </a:rPr>
              <a:t>Al descartar factores inactivos se ganan </a:t>
            </a:r>
            <a:r>
              <a:rPr sz="1800" b="1">
                <a:solidFill>
                  <a:srgbClr val="142B33"/>
                </a:solidFill>
                <a:latin typeface="Calibri"/>
              </a:rPr>
              <a:t>réplicas</a:t>
            </a:r>
            <a:r>
              <a:rPr sz="1800" b="0">
                <a:solidFill>
                  <a:srgbClr val="142B33"/>
                </a:solidFill>
                <a:latin typeface="Calibri"/>
              </a:rPr>
              <a:t> sin correr nada más</a:t>
            </a:r>
          </a:p>
          <a:p>
            <a:pPr marL="320040" indent="-320040">
              <a:spcAft>
                <a:spcPts val="600"/>
              </a:spcAft>
              <a:buClr>
                <a:srgbClr val="E36414"/>
              </a:buClr>
              <a:buFont typeface="Arial"/>
              <a:buChar char="•"/>
            </a:pPr>
            <a:r>
              <a:rPr sz="1800" b="0">
                <a:solidFill>
                  <a:srgbClr val="142B33"/>
                </a:solidFill>
                <a:latin typeface="Calibri"/>
              </a:rPr>
              <a:t>Si los factores activos contienen una </a:t>
            </a:r>
            <a:r>
              <a:rPr sz="1800" b="1">
                <a:solidFill>
                  <a:srgbClr val="142B33"/>
                </a:solidFill>
                <a:latin typeface="Calibri"/>
              </a:rPr>
              <a:t>palabra</a:t>
            </a:r>
            <a:r>
              <a:rPr sz="1800" b="0">
                <a:solidFill>
                  <a:srgbClr val="142B33"/>
                </a:solidFill>
                <a:latin typeface="Calibri"/>
              </a:rPr>
              <a:t>, queda un fraccionado con réplicas, no un completo</a:t>
            </a:r>
          </a:p>
        </p:txBody>
      </p:sp>
      <p:sp>
        <p:nvSpPr>
          <p:cNvPr id="4" name="Rounded Rectangle 3"/>
          <p:cNvSpPr/>
          <p:nvPr/>
        </p:nvSpPr>
        <p:spPr>
          <a:xfrm>
            <a:off x="548640" y="3817620"/>
            <a:ext cx="4914150"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Asigne los factores que cree importantes de modo que </a:t>
            </a:r>
            <a:r>
              <a:rPr sz="1600" b="1">
                <a:solidFill>
                  <a:srgbClr val="142B33"/>
                </a:solidFill>
                <a:latin typeface="Calibri"/>
              </a:rPr>
              <a:t>no formen una palabra</a:t>
            </a:r>
          </a:p>
        </p:txBody>
      </p:sp>
      <p:graphicFrame>
        <p:nvGraphicFramePr>
          <p:cNvPr id="5" name="Table 4"/>
          <p:cNvGraphicFramePr>
            <a:graphicFrameLocks noGrp="1"/>
          </p:cNvGraphicFramePr>
          <p:nvPr/>
        </p:nvGraphicFramePr>
        <p:xfrm>
          <a:off x="5874270" y="1417320"/>
          <a:ext cx="5768784" cy="2804922"/>
        </p:xfrm>
        <a:graphic>
          <a:graphicData uri="http://schemas.openxmlformats.org/drawingml/2006/table">
            <a:tbl>
              <a:tblPr firstRow="0" bandRow="0">
                <a:tableStyleId>{5C22544A-7EE6-4342-B048-85BDC9FD1C3A}</a:tableStyleId>
              </a:tblPr>
              <a:tblGrid>
                <a:gridCol w="1557571"/>
                <a:gridCol w="4211213"/>
              </a:tblGrid>
              <a:tr h="351282">
                <a:tc>
                  <a:txBody>
                    <a:bodyPr/>
                    <a:lstStyle/>
                    <a:p>
                      <a:pPr algn="l"/>
                      <a:r>
                        <a:rPr sz="1500" b="1">
                          <a:solidFill>
                            <a:srgbClr val="FFFFFF"/>
                          </a:solidFill>
                          <a:latin typeface="Calibri"/>
                        </a:rPr>
                        <a:t>Diseño</a:t>
                      </a:r>
                    </a:p>
                  </a:txBody>
                  <a:tcPr marL="73152" marR="73152" marT="27432" marB="27432" anchor="ctr">
                    <a:solidFill>
                      <a:srgbClr val="0F4C5C"/>
                    </a:solidFill>
                  </a:tcPr>
                </a:tc>
                <a:tc>
                  <a:txBody>
                    <a:bodyPr/>
                    <a:lstStyle/>
                    <a:p>
                      <a:pPr algn="l"/>
                      <a:r>
                        <a:rPr sz="1500" b="1">
                          <a:solidFill>
                            <a:srgbClr val="FFFFFF"/>
                          </a:solidFill>
                          <a:latin typeface="Calibri"/>
                        </a:rPr>
                        <a:t>Se proyecta en…</a:t>
                      </a:r>
                    </a:p>
                  </a:txBody>
                  <a:tcPr marL="73152" marR="73152" marT="27432" marB="27432" anchor="ctr">
                    <a:solidFill>
                      <a:srgbClr val="0F4C5C"/>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2</a:t>
                      </a:r>
                      <a:r>
                        <a:rPr sz="1500" b="0">
                          <a:solidFill>
                            <a:srgbClr val="142B33"/>
                          </a:solidFill>
                          <a:latin typeface="Calibri"/>
                        </a:rPr>
                        <a:t> completo en cualquier par de factores</a:t>
                      </a:r>
                    </a:p>
                  </a:txBody>
                  <a:tcPr marL="73152" marR="73152" marT="27432" marB="27432" anchor="ctr">
                    <a:solidFill>
                      <a:srgbClr val="FFFFFF"/>
                    </a:solidFill>
                  </a:tcPr>
                </a:tc>
              </a:tr>
              <a:tr h="351282">
                <a:tc>
                  <a:txBody>
                    <a:bodyPr/>
                    <a:lstStyle/>
                    <a:p>
                      <a:pPr algn="l"/>
                      <a:r>
                        <a:rPr sz="1500" b="0">
                          <a:solidFill>
                            <a:srgbClr val="142B33"/>
                          </a:solidFill>
                          <a:latin typeface="Calibri"/>
                        </a:rPr>
                        <a:t>2</a:t>
                      </a:r>
                      <a:r>
                        <a:rPr sz="1500" b="0" baseline="30000">
                          <a:solidFill>
                            <a:srgbClr val="142B33"/>
                          </a:solidFill>
                          <a:latin typeface="Calibri"/>
                        </a:rPr>
                        <a:t>4−1</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2</a:t>
                      </a:r>
                      <a:r>
                        <a:rPr sz="1500" b="0" baseline="30000">
                          <a:solidFill>
                            <a:srgbClr val="142B33"/>
                          </a:solidFill>
                          <a:latin typeface="Calibri"/>
                        </a:rPr>
                        <a:t>3</a:t>
                      </a:r>
                      <a:r>
                        <a:rPr sz="1500" b="0">
                          <a:solidFill>
                            <a:srgbClr val="142B33"/>
                          </a:solidFill>
                          <a:latin typeface="Calibri"/>
                        </a:rPr>
                        <a:t> completo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5−1</a:t>
                      </a:r>
                      <a:r>
                        <a:rPr sz="1500" b="0" baseline="-25000">
                          <a:solidFill>
                            <a:srgbClr val="142B33"/>
                          </a:solidFill>
                          <a:latin typeface="Calibri"/>
                        </a:rPr>
                        <a:t>V</a:t>
                      </a:r>
                    </a:p>
                  </a:txBody>
                  <a:tcPr marL="73152" marR="73152" marT="27432" marB="27432" anchor="ctr">
                    <a:solidFill>
                      <a:srgbClr val="FFFFFF"/>
                    </a:solidFill>
                  </a:tcPr>
                </a:tc>
                <a:tc>
                  <a:txBody>
                    <a:bodyPr/>
                    <a:lstStyle/>
                    <a:p>
                      <a:pPr algn="l"/>
                      <a:r>
                        <a:rPr sz="1500" b="0">
                          <a:solidFill>
                            <a:srgbClr val="142B33"/>
                          </a:solidFill>
                          <a:latin typeface="Calibri"/>
                        </a:rPr>
                        <a:t>2</a:t>
                      </a:r>
                      <a:r>
                        <a:rPr sz="1500" b="0" baseline="30000">
                          <a:solidFill>
                            <a:srgbClr val="142B33"/>
                          </a:solidFill>
                          <a:latin typeface="Calibri"/>
                        </a:rPr>
                        <a:t>4</a:t>
                      </a:r>
                      <a:r>
                        <a:rPr sz="1500" b="0">
                          <a:solidFill>
                            <a:srgbClr val="142B33"/>
                          </a:solidFill>
                          <a:latin typeface="Calibri"/>
                        </a:rPr>
                        <a:t> completo en cuatro factores; dos réplicas de un 2</a:t>
                      </a:r>
                      <a:r>
                        <a:rPr sz="1500" b="0" baseline="30000">
                          <a:solidFill>
                            <a:srgbClr val="142B33"/>
                          </a:solidFill>
                          <a:latin typeface="Calibri"/>
                        </a:rPr>
                        <a:t>3</a:t>
                      </a:r>
                      <a:r>
                        <a:rPr sz="1500" b="0">
                          <a:solidFill>
                            <a:srgbClr val="142B33"/>
                          </a:solidFill>
                          <a:latin typeface="Calibri"/>
                        </a:rPr>
                        <a:t> en tres</a:t>
                      </a:r>
                    </a:p>
                  </a:txBody>
                  <a:tcPr marL="73152" marR="73152" marT="27432" marB="27432" anchor="ctr">
                    <a:solidFill>
                      <a:srgbClr val="FFFFFF"/>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6−2</a:t>
                      </a:r>
                      <a:r>
                        <a:rPr sz="1500" b="0" baseline="-25000">
                          <a:solidFill>
                            <a:srgbClr val="142B33"/>
                          </a:solidFill>
                          <a:latin typeface="Calibri"/>
                        </a:rPr>
                        <a:t>IV</a:t>
                      </a:r>
                    </a:p>
                  </a:txBody>
                  <a:tcPr marL="73152" marR="73152" marT="27432" marB="27432" anchor="ctr">
                    <a:solidFill>
                      <a:srgbClr val="F4F8F9"/>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3</a:t>
                      </a:r>
                      <a:r>
                        <a:rPr sz="1500" b="0">
                          <a:solidFill>
                            <a:srgbClr val="142B33"/>
                          </a:solidFill>
                          <a:latin typeface="Calibri"/>
                        </a:rPr>
                        <a:t> en cualesquiera tres factores</a:t>
                      </a:r>
                    </a:p>
                  </a:txBody>
                  <a:tcPr marL="73152" marR="73152" marT="27432" marB="27432" anchor="ctr">
                    <a:solidFill>
                      <a:srgbClr val="F4F8F9"/>
                    </a:solidFill>
                  </a:tcPr>
                </a:tc>
              </a:tr>
              <a:tr h="583692">
                <a:tc>
                  <a:txBody>
                    <a:bodyPr/>
                    <a:lstStyle/>
                    <a:p>
                      <a:pPr algn="l"/>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FFFFF"/>
                    </a:solidFill>
                  </a:tcPr>
                </a:tc>
                <a:tc>
                  <a:txBody>
                    <a:bodyPr/>
                    <a:lstStyle/>
                    <a:p>
                      <a:pPr algn="l"/>
                      <a:r>
                        <a:rPr sz="1500" b="0">
                          <a:solidFill>
                            <a:srgbClr val="142B33"/>
                          </a:solidFill>
                          <a:latin typeface="Calibri"/>
                        </a:rPr>
                        <a:t>Dos réplicas de un 2</a:t>
                      </a:r>
                      <a:r>
                        <a:rPr sz="1500" b="0" baseline="30000">
                          <a:solidFill>
                            <a:srgbClr val="142B33"/>
                          </a:solidFill>
                          <a:latin typeface="Calibri"/>
                        </a:rPr>
                        <a:t>2</a:t>
                      </a:r>
                      <a:r>
                        <a:rPr sz="1500" b="0">
                          <a:solidFill>
                            <a:srgbClr val="142B33"/>
                          </a:solidFill>
                          <a:latin typeface="Calibri"/>
                        </a:rPr>
                        <a:t> en cualquier par de factores</a:t>
                      </a:r>
                    </a:p>
                  </a:txBody>
                  <a:tcPr marL="73152" marR="73152" marT="27432" marB="27432" anchor="ctr">
                    <a:solidFill>
                      <a:srgbClr val="FFFFFF"/>
                    </a:solidFill>
                  </a:tcPr>
                </a:tc>
              </a:tr>
            </a:tbl>
          </a:graphicData>
        </a:graphic>
      </p:graphicFrame>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72</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asigno los factores a las columnas?</a:t>
            </a:r>
          </a:p>
        </p:txBody>
      </p:sp>
      <p:graphicFrame>
        <p:nvGraphicFramePr>
          <p:cNvPr id="3" name="Table 2"/>
          <p:cNvGraphicFramePr>
            <a:graphicFrameLocks noGrp="1"/>
          </p:cNvGraphicFramePr>
          <p:nvPr/>
        </p:nvGraphicFramePr>
        <p:xfrm>
          <a:off x="548640" y="1417320"/>
          <a:ext cx="5127808" cy="2810256"/>
        </p:xfrm>
        <a:graphic>
          <a:graphicData uri="http://schemas.openxmlformats.org/drawingml/2006/table">
            <a:tbl>
              <a:tblPr firstRow="0" bandRow="0">
                <a:tableStyleId>{5C22544A-7EE6-4342-B048-85BDC9FD1C3A}</a:tableStyleId>
              </a:tblPr>
              <a:tblGrid>
                <a:gridCol w="1538342"/>
                <a:gridCol w="3589466"/>
              </a:tblGrid>
              <a:tr h="351282">
                <a:tc>
                  <a:txBody>
                    <a:bodyPr/>
                    <a:lstStyle/>
                    <a:p>
                      <a:pPr algn="l"/>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Factor del molino de bolas</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Velocidad del motor</a:t>
                      </a:r>
                    </a:p>
                  </a:txBody>
                  <a:tcPr marL="73152" marR="73152" marT="27432" marB="27432" anchor="ctr">
                    <a:solidFill>
                      <a:srgbClr val="FDE8D7"/>
                    </a:solidFill>
                  </a:tcPr>
                </a:tc>
              </a:tr>
              <a:tr h="351282">
                <a:tc>
                  <a:txBody>
                    <a:bodyPr/>
                    <a:lstStyle/>
                    <a:p>
                      <a:pPr algn="l"/>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Modo de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C</a:t>
                      </a:r>
                    </a:p>
                  </a:txBody>
                  <a:tcPr marL="73152" marR="73152" marT="27432" marB="27432" anchor="ctr">
                    <a:solidFill>
                      <a:srgbClr val="FDE8D7"/>
                    </a:solidFill>
                  </a:tcPr>
                </a:tc>
                <a:tc>
                  <a:txBody>
                    <a:bodyPr/>
                    <a:lstStyle/>
                    <a:p>
                      <a:pPr algn="ctr"/>
                      <a:r>
                        <a:rPr sz="1500" b="0">
                          <a:solidFill>
                            <a:srgbClr val="142B33"/>
                          </a:solidFill>
                          <a:latin typeface="Calibri"/>
                        </a:rPr>
                        <a:t>Tamaño de la alimentación</a:t>
                      </a:r>
                    </a:p>
                  </a:txBody>
                  <a:tcPr marL="73152" marR="73152" marT="27432" marB="27432" anchor="ctr">
                    <a:solidFill>
                      <a:srgbClr val="FDE8D7"/>
                    </a:solidFill>
                  </a:tcPr>
                </a:tc>
              </a:tr>
              <a:tr h="351282">
                <a:tc>
                  <a:txBody>
                    <a:bodyPr/>
                    <a:lstStyle/>
                    <a:p>
                      <a:pPr algn="l"/>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Tipo de material</a:t>
                      </a:r>
                    </a:p>
                  </a:txBody>
                  <a:tcPr marL="73152" marR="73152" marT="27432" marB="27432" anchor="ctr">
                    <a:solidFill>
                      <a:srgbClr val="FDE8D7"/>
                    </a:solidFill>
                  </a:tcPr>
                </a:tc>
              </a:tr>
              <a:tr h="351282">
                <a:tc>
                  <a:txBody>
                    <a:bodyPr/>
                    <a:lstStyle/>
                    <a:p>
                      <a:pPr algn="l"/>
                      <a:r>
                        <a:rPr sz="1500" b="0">
                          <a:solidFill>
                            <a:srgbClr val="142B33"/>
                          </a:solidFill>
                          <a:latin typeface="Calibri"/>
                        </a:rPr>
                        <a:t>E = ABC</a:t>
                      </a:r>
                    </a:p>
                  </a:txBody>
                  <a:tcPr marL="73152" marR="73152" marT="27432" marB="27432" anchor="ctr">
                    <a:solidFill>
                      <a:srgbClr val="FFFFFF"/>
                    </a:solidFill>
                  </a:tcPr>
                </a:tc>
                <a:tc>
                  <a:txBody>
                    <a:bodyPr/>
                    <a:lstStyle/>
                    <a:p>
                      <a:pPr algn="ctr"/>
                      <a:r>
                        <a:rPr sz="1500" b="0">
                          <a:solidFill>
                            <a:srgbClr val="142B33"/>
                          </a:solidFill>
                          <a:latin typeface="Calibri"/>
                        </a:rPr>
                        <a:t>Muesca</a:t>
                      </a:r>
                    </a:p>
                  </a:txBody>
                  <a:tcPr marL="73152" marR="73152" marT="27432" marB="27432" anchor="ctr">
                    <a:solidFill>
                      <a:srgbClr val="FFFFFF"/>
                    </a:solidFill>
                  </a:tcPr>
                </a:tc>
              </a:tr>
              <a:tr h="351282">
                <a:tc>
                  <a:txBody>
                    <a:bodyPr/>
                    <a:lstStyle/>
                    <a:p>
                      <a:pPr algn="l"/>
                      <a:r>
                        <a:rPr sz="1500" b="0">
                          <a:solidFill>
                            <a:srgbClr val="142B33"/>
                          </a:solidFill>
                          <a:latin typeface="Calibri"/>
                        </a:rPr>
                        <a:t>F = BCD</a:t>
                      </a:r>
                    </a:p>
                  </a:txBody>
                  <a:tcPr marL="73152" marR="73152" marT="27432" marB="27432" anchor="ctr">
                    <a:solidFill>
                      <a:srgbClr val="F4F8F9"/>
                    </a:solidFill>
                  </a:tcPr>
                </a:tc>
                <a:tc>
                  <a:txBody>
                    <a:bodyPr/>
                    <a:lstStyle/>
                    <a:p>
                      <a:pPr algn="ctr"/>
                      <a:r>
                        <a:rPr sz="1500" b="0">
                          <a:solidFill>
                            <a:srgbClr val="142B33"/>
                          </a:solidFill>
                          <a:latin typeface="Calibri"/>
                        </a:rPr>
                        <a:t>Ángulo de la criba</a:t>
                      </a:r>
                    </a:p>
                  </a:txBody>
                  <a:tcPr marL="73152" marR="73152" marT="27432" marB="27432" anchor="ctr">
                    <a:solidFill>
                      <a:srgbClr val="F4F8F9"/>
                    </a:solidFill>
                  </a:tcPr>
                </a:tc>
              </a:tr>
              <a:tr h="351282">
                <a:tc>
                  <a:txBody>
                    <a:bodyPr/>
                    <a:lstStyle/>
                    <a:p>
                      <a:pPr algn="l"/>
                      <a:r>
                        <a:rPr sz="1500" b="0">
                          <a:solidFill>
                            <a:srgbClr val="142B33"/>
                          </a:solidFill>
                          <a:latin typeface="Calibri"/>
                        </a:rPr>
                        <a:t>G = ACD</a:t>
                      </a:r>
                    </a:p>
                  </a:txBody>
                  <a:tcPr marL="73152" marR="73152" marT="27432" marB="27432" anchor="ctr">
                    <a:solidFill>
                      <a:srgbClr val="FFFFFF"/>
                    </a:solidFill>
                  </a:tcPr>
                </a:tc>
                <a:tc>
                  <a:txBody>
                    <a:bodyPr/>
                    <a:lstStyle/>
                    <a:p>
                      <a:pPr algn="ctr"/>
                      <a:r>
                        <a:rPr sz="1500" b="0">
                          <a:solidFill>
                            <a:srgbClr val="142B33"/>
                          </a:solidFill>
                          <a:latin typeface="Calibri"/>
                        </a:rPr>
                        <a:t>Nivel de vibración de la criba</a:t>
                      </a:r>
                    </a:p>
                  </a:txBody>
                  <a:tcPr marL="73152" marR="73152" marT="27432" marB="27432" anchor="ctr">
                    <a:solidFill>
                      <a:srgbClr val="FFFFFF"/>
                    </a:solidFill>
                  </a:tcPr>
                </a:tc>
              </a:tr>
            </a:tbl>
          </a:graphicData>
        </a:graphic>
      </p:graphicFrame>
      <p:sp>
        <p:nvSpPr>
          <p:cNvPr id="4" name="TextBox 3"/>
          <p:cNvSpPr txBox="1"/>
          <p:nvPr/>
        </p:nvSpPr>
        <p:spPr>
          <a:xfrm>
            <a:off x="6087928" y="1417320"/>
            <a:ext cx="5555126" cy="2064511"/>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importantes</a:t>
            </a:r>
            <a:r>
              <a:rPr sz="1600" b="0">
                <a:solidFill>
                  <a:srgbClr val="142B33"/>
                </a:solidFill>
                <a:latin typeface="Calibri"/>
              </a:rPr>
              <a:t> y que pueden interactuar: columnas del </a:t>
            </a:r>
            <a:r>
              <a:rPr sz="1600" b="1">
                <a:solidFill>
                  <a:srgbClr val="142B33"/>
                </a:solidFill>
                <a:latin typeface="Calibri"/>
              </a:rPr>
              <a:t>diseño básico</a:t>
            </a:r>
          </a:p>
          <a:p>
            <a:pPr marL="320040" indent="-320040">
              <a:spcAft>
                <a:spcPts val="600"/>
              </a:spcAft>
              <a:buClr>
                <a:srgbClr val="E36414"/>
              </a:buClr>
              <a:buFont typeface="Arial"/>
              <a:buChar char="•"/>
            </a:pPr>
            <a:r>
              <a:rPr sz="1600" b="0">
                <a:solidFill>
                  <a:srgbClr val="142B33"/>
                </a:solidFill>
                <a:latin typeface="Calibri"/>
              </a:rPr>
              <a:t>Factores </a:t>
            </a:r>
            <a:r>
              <a:rPr sz="1600" b="1">
                <a:solidFill>
                  <a:srgbClr val="142B33"/>
                </a:solidFill>
                <a:latin typeface="Calibri"/>
              </a:rPr>
              <a:t>menores</a:t>
            </a:r>
            <a:r>
              <a:rPr sz="1600" b="0">
                <a:solidFill>
                  <a:srgbClr val="142B33"/>
                </a:solidFill>
                <a:latin typeface="Calibri"/>
              </a:rPr>
              <a:t>: columnas generadas</a:t>
            </a:r>
          </a:p>
          <a:p>
            <a:pPr marL="320040" indent="-320040">
              <a:spcAft>
                <a:spcPts val="600"/>
              </a:spcAft>
              <a:buClr>
                <a:srgbClr val="E36414"/>
              </a:buClr>
              <a:buFont typeface="Arial"/>
              <a:buChar char="•"/>
            </a:pPr>
            <a:r>
              <a:rPr sz="1600" b="0">
                <a:solidFill>
                  <a:srgbClr val="142B33"/>
                </a:solidFill>
                <a:latin typeface="Calibri"/>
              </a:rPr>
              <a:t>Si los menores no influyen, queda un </a:t>
            </a:r>
            <a:r>
              <a:rPr sz="1600" b="1">
                <a:solidFill>
                  <a:srgbClr val="142B33"/>
                </a:solidFill>
                <a:latin typeface="Calibri"/>
              </a:rPr>
              <a:t>2</a:t>
            </a:r>
            <a:r>
              <a:rPr sz="1600" b="1" baseline="30000">
                <a:solidFill>
                  <a:srgbClr val="142B33"/>
                </a:solidFill>
                <a:latin typeface="Calibri"/>
              </a:rPr>
              <a:t>4</a:t>
            </a:r>
            <a:r>
              <a:rPr sz="1600" b="1">
                <a:solidFill>
                  <a:srgbClr val="142B33"/>
                </a:solidFill>
                <a:latin typeface="Calibri"/>
              </a:rPr>
              <a:t> completo</a:t>
            </a:r>
            <a:r>
              <a:rPr sz="1600" b="0">
                <a:solidFill>
                  <a:srgbClr val="142B33"/>
                </a:solidFill>
                <a:latin typeface="Calibri"/>
              </a:rPr>
              <a:t> en los importantes</a:t>
            </a:r>
          </a:p>
          <a:p>
            <a:pPr marL="320040" indent="-320040">
              <a:spcAft>
                <a:spcPts val="600"/>
              </a:spcAft>
              <a:buClr>
                <a:srgbClr val="E36414"/>
              </a:buClr>
              <a:buFont typeface="Arial"/>
              <a:buChar char="•"/>
            </a:pPr>
            <a:r>
              <a:rPr sz="1600" b="0">
                <a:solidFill>
                  <a:srgbClr val="142B33"/>
                </a:solidFill>
                <a:latin typeface="Calibri"/>
              </a:rPr>
              <a:t>De 35 subconjuntos de 4 factores, </a:t>
            </a:r>
            <a:r>
              <a:rPr sz="1600" b="1">
                <a:solidFill>
                  <a:srgbClr val="142B33"/>
                </a:solidFill>
                <a:latin typeface="Calibri"/>
              </a:rPr>
              <a:t>28</a:t>
            </a:r>
            <a:r>
              <a:rPr sz="1600" b="0">
                <a:solidFill>
                  <a:srgbClr val="142B33"/>
                </a:solidFill>
                <a:latin typeface="Calibri"/>
              </a:rPr>
              <a:t> dan un 2</a:t>
            </a:r>
            <a:r>
              <a:rPr sz="1600" b="0" baseline="30000">
                <a:solidFill>
                  <a:srgbClr val="142B33"/>
                </a:solidFill>
                <a:latin typeface="Calibri"/>
              </a:rPr>
              <a:t>4</a:t>
            </a:r>
            <a:r>
              <a:rPr sz="1600" b="0">
                <a:solidFill>
                  <a:srgbClr val="142B33"/>
                </a:solidFill>
                <a:latin typeface="Calibri"/>
              </a:rPr>
              <a:t> completo</a:t>
            </a:r>
          </a:p>
        </p:txBody>
      </p:sp>
      <p:sp>
        <p:nvSpPr>
          <p:cNvPr id="5" name="Rounded Rectangle 4"/>
          <p:cNvSpPr/>
          <p:nvPr/>
        </p:nvSpPr>
        <p:spPr>
          <a:xfrm>
            <a:off x="6087928" y="3683000"/>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conclusiones son </a:t>
            </a:r>
            <a:r>
              <a:rPr sz="1500" b="1">
                <a:solidFill>
                  <a:srgbClr val="142B33"/>
                </a:solidFill>
                <a:latin typeface="Calibri"/>
              </a:rPr>
              <a:t>tentativas</a:t>
            </a:r>
            <a:r>
              <a:rPr sz="1500" b="0">
                <a:solidFill>
                  <a:srgbClr val="142B33"/>
                </a:solidFill>
                <a:latin typeface="Calibri"/>
              </a:rPr>
              <a:t>: puede haber explicaciones con interacciones de orden alto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73</a:t>
            </a:r>
          </a:p>
        </p:txBody>
      </p:sp>
      <p:sp>
        <p:nvSpPr>
          <p:cNvPr id="8" name="Rounded Rectangle 7"/>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separa un fraccionado en bloques?</a:t>
            </a:r>
          </a:p>
        </p:txBody>
      </p:sp>
      <p:graphicFrame>
        <p:nvGraphicFramePr>
          <p:cNvPr id="3" name="Table 2"/>
          <p:cNvGraphicFramePr>
            <a:graphicFrameLocks noGrp="1"/>
          </p:cNvGraphicFramePr>
          <p:nvPr/>
        </p:nvGraphicFramePr>
        <p:xfrm>
          <a:off x="548640" y="1417320"/>
          <a:ext cx="4273173" cy="3161538"/>
        </p:xfrm>
        <a:graphic>
          <a:graphicData uri="http://schemas.openxmlformats.org/drawingml/2006/table">
            <a:tbl>
              <a:tblPr firstRow="0" bandRow="0">
                <a:tableStyleId>{5C22544A-7EE6-4342-B048-85BDC9FD1C3A}</a:tableStyleId>
              </a:tblPr>
              <a:tblGrid>
                <a:gridCol w="2941677"/>
                <a:gridCol w="1331496"/>
              </a:tblGrid>
              <a:tr h="351282">
                <a:tc>
                  <a:txBody>
                    <a:bodyPr/>
                    <a:lstStyle/>
                    <a:p>
                      <a:pPr algn="ctr"/>
                      <a:r>
                        <a:rPr sz="1500" b="1">
                          <a:solidFill>
                            <a:srgbClr val="FFFFFF"/>
                          </a:solidFill>
                          <a:latin typeface="Calibri"/>
                        </a:rPr>
                        <a:t>Bloque 1 (principal)</a:t>
                      </a:r>
                    </a:p>
                  </a:txBody>
                  <a:tcPr marL="73152" marR="73152" marT="27432" marB="27432" anchor="ctr">
                    <a:solidFill>
                      <a:srgbClr val="0F4C5C"/>
                    </a:solidFill>
                  </a:tcPr>
                </a:tc>
                <a:tc>
                  <a:txBody>
                    <a:bodyPr/>
                    <a:lstStyle/>
                    <a:p>
                      <a:pPr algn="ctr"/>
                      <a:r>
                        <a:rPr sz="1500" b="1">
                          <a:solidFill>
                            <a:srgbClr val="FFFFFF"/>
                          </a:solidFill>
                          <a:latin typeface="Calibri"/>
                        </a:rPr>
                        <a:t>Bloque 2</a:t>
                      </a:r>
                    </a:p>
                  </a:txBody>
                  <a:tcPr marL="73152" marR="73152" marT="27432" marB="27432" anchor="ctr">
                    <a:solidFill>
                      <a:srgbClr val="0F4C5C"/>
                    </a:solidFill>
                  </a:tcPr>
                </a:tc>
              </a:tr>
              <a:tr h="351282">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ae</a:t>
                      </a:r>
                    </a:p>
                  </a:txBody>
                  <a:tcPr marL="73152" marR="73152" marT="27432" marB="27432" anchor="ctr">
                    <a:solidFill>
                      <a:srgbClr val="FFFFFF"/>
                    </a:solidFill>
                  </a:tcPr>
                </a:tc>
              </a:tr>
              <a:tr h="351282">
                <a:tc>
                  <a:txBody>
                    <a:bodyPr/>
                    <a:lstStyle/>
                    <a:p>
                      <a:pPr algn="ctr"/>
                      <a:r>
                        <a:rPr sz="1500" b="0">
                          <a:solidFill>
                            <a:srgbClr val="142B33"/>
                          </a:solidFill>
                          <a:latin typeface="Calibri"/>
                        </a:rPr>
                        <a:t>abf</a:t>
                      </a:r>
                    </a:p>
                  </a:txBody>
                  <a:tcPr marL="73152" marR="73152" marT="27432" marB="27432" anchor="ctr">
                    <a:solidFill>
                      <a:srgbClr val="F4F8F9"/>
                    </a:solidFill>
                  </a:tcPr>
                </a:tc>
                <a:tc>
                  <a:txBody>
                    <a:bodyPr/>
                    <a:lstStyle/>
                    <a:p>
                      <a:pPr algn="ctr"/>
                      <a:r>
                        <a:rPr sz="1500" b="0">
                          <a:solidFill>
                            <a:srgbClr val="142B33"/>
                          </a:solidFill>
                          <a:latin typeface="Calibri"/>
                        </a:rPr>
                        <a:t>acf</a:t>
                      </a:r>
                    </a:p>
                  </a:txBody>
                  <a:tcPr marL="73152" marR="73152" marT="27432" marB="27432" anchor="ctr">
                    <a:solidFill>
                      <a:srgbClr val="F4F8F9"/>
                    </a:solidFill>
                  </a:tcPr>
                </a:tc>
              </a:tr>
              <a:tr h="351282">
                <a:tc>
                  <a:txBody>
                    <a:bodyPr/>
                    <a:lstStyle/>
                    <a:p>
                      <a:pPr algn="ctr"/>
                      <a:r>
                        <a:rPr sz="1500" b="0">
                          <a:solidFill>
                            <a:srgbClr val="142B33"/>
                          </a:solidFill>
                          <a:latin typeface="Calibri"/>
                        </a:rPr>
                        <a:t>cef</a:t>
                      </a:r>
                    </a:p>
                  </a:txBody>
                  <a:tcPr marL="73152" marR="73152" marT="27432" marB="27432" anchor="ctr">
                    <a:solidFill>
                      <a:srgbClr val="FFFFFF"/>
                    </a:solidFill>
                  </a:tcPr>
                </a:tc>
                <a:tc>
                  <a:txBody>
                    <a:bodyPr/>
                    <a:lstStyle/>
                    <a:p>
                      <a:pPr algn="ctr"/>
                      <a:r>
                        <a:rPr sz="1500" b="0">
                          <a:solidFill>
                            <a:srgbClr val="142B33"/>
                          </a:solidFill>
                          <a:latin typeface="Calibri"/>
                        </a:rPr>
                        <a:t>bef</a:t>
                      </a:r>
                    </a:p>
                  </a:txBody>
                  <a:tcPr marL="73152" marR="73152" marT="27432" marB="27432" anchor="ctr">
                    <a:solidFill>
                      <a:srgbClr val="FFFFFF"/>
                    </a:solidFill>
                  </a:tcPr>
                </a:tc>
              </a:tr>
              <a:tr h="351282">
                <a:tc>
                  <a:txBody>
                    <a:bodyPr/>
                    <a:lstStyle/>
                    <a:p>
                      <a:pPr algn="ctr"/>
                      <a:r>
                        <a:rPr sz="1500" b="0">
                          <a:solidFill>
                            <a:srgbClr val="142B33"/>
                          </a:solidFill>
                          <a:latin typeface="Calibri"/>
                        </a:rPr>
                        <a:t>abce</a:t>
                      </a:r>
                    </a:p>
                  </a:txBody>
                  <a:tcPr marL="73152" marR="73152" marT="27432" marB="27432" anchor="ctr">
                    <a:solidFill>
                      <a:srgbClr val="F4F8F9"/>
                    </a:solidFill>
                  </a:tcPr>
                </a:tc>
                <a:tc>
                  <a:txBody>
                    <a:bodyPr/>
                    <a:lstStyle/>
                    <a:p>
                      <a:pPr algn="ctr"/>
                      <a:r>
                        <a:rPr sz="1500" b="0">
                          <a:solidFill>
                            <a:srgbClr val="142B33"/>
                          </a:solidFill>
                          <a:latin typeface="Calibri"/>
                        </a:rPr>
                        <a:t>bc</a:t>
                      </a:r>
                    </a:p>
                  </a:txBody>
                  <a:tcPr marL="73152" marR="73152" marT="27432" marB="27432" anchor="ctr">
                    <a:solidFill>
                      <a:srgbClr val="F4F8F9"/>
                    </a:solidFill>
                  </a:tcPr>
                </a:tc>
              </a:tr>
              <a:tr h="351282">
                <a:tc>
                  <a:txBody>
                    <a:bodyPr/>
                    <a:lstStyle/>
                    <a:p>
                      <a:pPr algn="ctr"/>
                      <a:r>
                        <a:rPr sz="1500" b="0">
                          <a:solidFill>
                            <a:srgbClr val="142B33"/>
                          </a:solidFill>
                          <a:latin typeface="Calibri"/>
                        </a:rPr>
                        <a:t>adef</a:t>
                      </a:r>
                    </a:p>
                  </a:txBody>
                  <a:tcPr marL="73152" marR="73152" marT="27432" marB="27432" anchor="ctr">
                    <a:solidFill>
                      <a:srgbClr val="FFFFFF"/>
                    </a:solidFill>
                  </a:tcPr>
                </a:tc>
                <a:tc>
                  <a:txBody>
                    <a:bodyPr/>
                    <a:lstStyle/>
                    <a:p>
                      <a:pPr algn="ctr"/>
                      <a:r>
                        <a:rPr sz="1500" b="0">
                          <a:solidFill>
                            <a:srgbClr val="142B33"/>
                          </a:solidFill>
                          <a:latin typeface="Calibri"/>
                        </a:rPr>
                        <a:t>df</a:t>
                      </a:r>
                    </a:p>
                  </a:txBody>
                  <a:tcPr marL="73152" marR="73152" marT="27432" marB="27432" anchor="ctr">
                    <a:solidFill>
                      <a:srgbClr val="FFFFFF"/>
                    </a:solidFill>
                  </a:tcPr>
                </a:tc>
              </a:tr>
              <a:tr h="351282">
                <a:tc>
                  <a:txBody>
                    <a:bodyPr/>
                    <a:lstStyle/>
                    <a:p>
                      <a:pPr algn="ctr"/>
                      <a:r>
                        <a:rPr sz="1500" b="0">
                          <a:solidFill>
                            <a:srgbClr val="142B33"/>
                          </a:solidFill>
                          <a:latin typeface="Calibri"/>
                        </a:rPr>
                        <a:t>bde</a:t>
                      </a:r>
                    </a:p>
                  </a:txBody>
                  <a:tcPr marL="73152" marR="73152" marT="27432" marB="27432" anchor="ctr">
                    <a:solidFill>
                      <a:srgbClr val="F4F8F9"/>
                    </a:solidFill>
                  </a:tcPr>
                </a:tc>
                <a:tc>
                  <a:txBody>
                    <a:bodyPr/>
                    <a:lstStyle/>
                    <a:p>
                      <a:pPr algn="ctr"/>
                      <a:r>
                        <a:rPr sz="1500" b="0">
                          <a:solidFill>
                            <a:srgbClr val="142B33"/>
                          </a:solidFill>
                          <a:latin typeface="Calibri"/>
                        </a:rPr>
                        <a:t>abd</a:t>
                      </a:r>
                    </a:p>
                  </a:txBody>
                  <a:tcPr marL="73152" marR="73152" marT="27432" marB="27432" anchor="ctr">
                    <a:solidFill>
                      <a:srgbClr val="F4F8F9"/>
                    </a:solidFill>
                  </a:tcPr>
                </a:tc>
              </a:tr>
              <a:tr h="351282">
                <a:tc>
                  <a:txBody>
                    <a:bodyPr/>
                    <a:lstStyle/>
                    <a:p>
                      <a:pPr algn="ctr"/>
                      <a:r>
                        <a:rPr sz="1500" b="0">
                          <a:solidFill>
                            <a:srgbClr val="142B33"/>
                          </a:solidFill>
                          <a:latin typeface="Calibri"/>
                        </a:rPr>
                        <a:t>acd</a:t>
                      </a:r>
                    </a:p>
                  </a:txBody>
                  <a:tcPr marL="73152" marR="73152" marT="27432" marB="27432" anchor="ctr">
                    <a:solidFill>
                      <a:srgbClr val="FFFFFF"/>
                    </a:solidFill>
                  </a:tcPr>
                </a:tc>
                <a:tc>
                  <a:txBody>
                    <a:bodyPr/>
                    <a:lstStyle/>
                    <a:p>
                      <a:pPr algn="ctr"/>
                      <a:r>
                        <a:rPr sz="1500" b="0">
                          <a:solidFill>
                            <a:srgbClr val="142B33"/>
                          </a:solidFill>
                          <a:latin typeface="Calibri"/>
                        </a:rPr>
                        <a:t>cde</a:t>
                      </a:r>
                    </a:p>
                  </a:txBody>
                  <a:tcPr marL="73152" marR="73152" marT="27432" marB="27432" anchor="ctr">
                    <a:solidFill>
                      <a:srgbClr val="FFFFFF"/>
                    </a:solidFill>
                  </a:tcPr>
                </a:tc>
              </a:tr>
              <a:tr h="351282">
                <a:tc>
                  <a:txBody>
                    <a:bodyPr/>
                    <a:lstStyle/>
                    <a:p>
                      <a:pPr algn="ctr"/>
                      <a:r>
                        <a:rPr sz="1500" b="0">
                          <a:solidFill>
                            <a:srgbClr val="142B33"/>
                          </a:solidFill>
                          <a:latin typeface="Calibri"/>
                        </a:rPr>
                        <a:t>bcdf</a:t>
                      </a:r>
                    </a:p>
                  </a:txBody>
                  <a:tcPr marL="73152" marR="73152" marT="27432" marB="27432" anchor="ctr">
                    <a:solidFill>
                      <a:srgbClr val="F4F8F9"/>
                    </a:solidFill>
                  </a:tcPr>
                </a:tc>
                <a:tc>
                  <a:txBody>
                    <a:bodyPr/>
                    <a:lstStyle/>
                    <a:p>
                      <a:pPr algn="ctr"/>
                      <a:r>
                        <a:rPr sz="1500" b="0">
                          <a:solidFill>
                            <a:srgbClr val="142B33"/>
                          </a:solidFill>
                          <a:latin typeface="Calibri"/>
                        </a:rPr>
                        <a:t>abcdef</a:t>
                      </a:r>
                    </a:p>
                  </a:txBody>
                  <a:tcPr marL="73152" marR="73152" marT="27432" marB="27432" anchor="ctr">
                    <a:solidFill>
                      <a:srgbClr val="F4F8F9"/>
                    </a:solidFill>
                  </a:tcPr>
                </a:tc>
              </a:tr>
            </a:tbl>
          </a:graphicData>
        </a:graphic>
      </p:graphicFrame>
      <p:sp>
        <p:nvSpPr>
          <p:cNvPr id="4" name="TextBox 3"/>
          <p:cNvSpPr txBox="1"/>
          <p:nvPr/>
        </p:nvSpPr>
        <p:spPr>
          <a:xfrm>
            <a:off x="548640" y="4780026"/>
            <a:ext cx="4273174" cy="408432"/>
          </a:xfrm>
          <a:prstGeom prst="rect">
            <a:avLst/>
          </a:prstGeom>
          <a:noFill/>
        </p:spPr>
        <p:txBody>
          <a:bodyPr wrap="square" anchor="t" lIns="0" rIns="0" tIns="0" bIns="0">
            <a:spAutoFit/>
          </a:bodyPr>
          <a:lstStyle/>
          <a:p>
            <a:r>
              <a:rPr sz="1200" b="0">
                <a:solidFill>
                  <a:srgbClr val="5B6B73"/>
                </a:solidFill>
                <a:latin typeface="Calibri"/>
              </a:rPr>
              <a:t>Montgomery, fig. 8-18. La figura imprime «abef» en el bloque 1; para pertenecer a la fracción debe ser adef</a:t>
            </a:r>
          </a:p>
        </p:txBody>
      </p:sp>
      <p:sp>
        <p:nvSpPr>
          <p:cNvPr id="5" name="TextBox 4"/>
          <p:cNvSpPr txBox="1"/>
          <p:nvPr/>
        </p:nvSpPr>
        <p:spPr>
          <a:xfrm>
            <a:off x="5233294" y="1417320"/>
            <a:ext cx="6409761" cy="99059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Elegir una cadena de alias con </a:t>
            </a:r>
            <a:r>
              <a:rPr sz="1600" b="1">
                <a:solidFill>
                  <a:srgbClr val="142B33"/>
                </a:solidFill>
                <a:latin typeface="Calibri"/>
              </a:rPr>
              <a:t>solo interacciones de orden alto</a:t>
            </a:r>
          </a:p>
          <a:p>
            <a:pPr marL="320040" indent="-320040">
              <a:spcAft>
                <a:spcPts val="600"/>
              </a:spcAft>
              <a:buClr>
                <a:srgbClr val="E36414"/>
              </a:buClr>
              <a:buFont typeface="+mj-lt"/>
              <a:buAutoNum type="arabicPeriod"/>
            </a:pPr>
            <a:r>
              <a:rPr sz="1600" b="0">
                <a:solidFill>
                  <a:srgbClr val="142B33"/>
                </a:solidFill>
                <a:latin typeface="Calibri"/>
              </a:rPr>
              <a:t>Confundirla con los bloques: aquí </a:t>
            </a:r>
            <a:r>
              <a:rPr sz="1600" b="1">
                <a:solidFill>
                  <a:srgbClr val="142B33"/>
                </a:solidFill>
                <a:latin typeface="Calibri"/>
              </a:rPr>
              <a:t>ABD = CDE = ACF = BEF</a:t>
            </a:r>
          </a:p>
          <a:p>
            <a:pPr marL="320040" indent="-320040">
              <a:spcAft>
                <a:spcPts val="600"/>
              </a:spcAft>
              <a:buClr>
                <a:srgbClr val="E36414"/>
              </a:buClr>
              <a:buFont typeface="+mj-lt"/>
              <a:buAutoNum type="arabicPeriod"/>
            </a:pPr>
            <a:r>
              <a:rPr sz="1600" b="0">
                <a:solidFill>
                  <a:srgbClr val="142B33"/>
                </a:solidFill>
                <a:latin typeface="Calibri"/>
              </a:rPr>
              <a:t>Repartir las corridas según el signo de ABD</a:t>
            </a:r>
          </a:p>
        </p:txBody>
      </p:sp>
      <p:sp>
        <p:nvSpPr>
          <p:cNvPr id="6" name="Rounded Rectangle 5"/>
          <p:cNvSpPr/>
          <p:nvPr/>
        </p:nvSpPr>
        <p:spPr>
          <a:xfrm>
            <a:off x="5233294" y="2609087"/>
            <a:ext cx="6409761"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Bloque principal:  L = x</a:t>
            </a:r>
            <a:r>
              <a:rPr sz="1700" b="0" baseline="-25000">
                <a:solidFill>
                  <a:srgbClr val="0F4C5C"/>
                </a:solidFill>
                <a:latin typeface="Cambria Math"/>
              </a:rPr>
              <a:t>1</a:t>
            </a:r>
            <a:r>
              <a:rPr sz="1700" b="0">
                <a:solidFill>
                  <a:srgbClr val="0F4C5C"/>
                </a:solidFill>
                <a:latin typeface="Cambria Math"/>
              </a:rPr>
              <a:t> + x</a:t>
            </a:r>
            <a:r>
              <a:rPr sz="1700" b="0" baseline="-25000">
                <a:solidFill>
                  <a:srgbClr val="0F4C5C"/>
                </a:solidFill>
                <a:latin typeface="Cambria Math"/>
              </a:rPr>
              <a:t>2</a:t>
            </a:r>
            <a:r>
              <a:rPr sz="1700" b="0">
                <a:solidFill>
                  <a:srgbClr val="0F4C5C"/>
                </a:solidFill>
                <a:latin typeface="Cambria Math"/>
              </a:rPr>
              <a:t> + x</a:t>
            </a:r>
            <a:r>
              <a:rPr sz="1700" b="0" baseline="-25000">
                <a:solidFill>
                  <a:srgbClr val="0F4C5C"/>
                </a:solidFill>
                <a:latin typeface="Cambria Math"/>
              </a:rPr>
              <a:t>4</a:t>
            </a:r>
            <a:r>
              <a:rPr sz="1700" b="0">
                <a:solidFill>
                  <a:srgbClr val="0F4C5C"/>
                </a:solidFill>
                <a:latin typeface="Cambria Math"/>
              </a:rPr>
              <a:t> = 0  (mod 2)</a:t>
            </a:r>
          </a:p>
        </p:txBody>
      </p:sp>
      <p:sp>
        <p:nvSpPr>
          <p:cNvPr id="7" name="Rounded Rectangle 6"/>
          <p:cNvSpPr/>
          <p:nvPr/>
        </p:nvSpPr>
        <p:spPr>
          <a:xfrm>
            <a:off x="5233294" y="3379581"/>
            <a:ext cx="6409761"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Bloque principal: número </a:t>
            </a:r>
            <a:r>
              <a:rPr sz="1500" b="1">
                <a:solidFill>
                  <a:srgbClr val="142B33"/>
                </a:solidFill>
                <a:latin typeface="Calibri"/>
              </a:rPr>
              <a:t>par</a:t>
            </a:r>
            <a:r>
              <a:rPr sz="1500" b="0">
                <a:solidFill>
                  <a:srgbClr val="142B33"/>
                </a:solidFill>
                <a:latin typeface="Calibri"/>
              </a:rPr>
              <a:t> de letras en común con ABD</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74</a:t>
            </a:r>
          </a:p>
        </p:txBody>
      </p:sp>
      <p:sp>
        <p:nvSpPr>
          <p:cNvPr id="10" name="Rounded Rectangle 9"/>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Enunciado: máquina CNC</a:t>
            </a:r>
          </a:p>
        </p:txBody>
      </p:sp>
      <p:sp>
        <p:nvSpPr>
          <p:cNvPr id="3" name="TextBox 2"/>
          <p:cNvSpPr txBox="1"/>
          <p:nvPr/>
        </p:nvSpPr>
        <p:spPr>
          <a:xfrm>
            <a:off x="548640" y="1417320"/>
            <a:ext cx="6196102" cy="1276096"/>
          </a:xfrm>
          <a:prstGeom prst="rect">
            <a:avLst/>
          </a:prstGeom>
          <a:noFill/>
        </p:spPr>
        <p:txBody>
          <a:bodyPr wrap="square" anchor="t" lIns="0" rIns="0" tIns="0" bIns="0">
            <a:spAutoFit/>
          </a:bodyPr>
          <a:lstStyle/>
          <a:p>
            <a:r>
              <a:rPr sz="1600" b="0">
                <a:solidFill>
                  <a:srgbClr val="142B33"/>
                </a:solidFill>
                <a:latin typeface="Calibri"/>
              </a:rPr>
              <a:t>Una máquina CNC de cinco ejes produce el impulsor de un motor de turbina. Una característica de calidad clave es el </a:t>
            </a:r>
            <a:r>
              <a:rPr sz="1600" b="1">
                <a:solidFill>
                  <a:srgbClr val="142B33"/>
                </a:solidFill>
                <a:latin typeface="Calibri"/>
              </a:rPr>
              <a:t>perfil de los álabes</a:t>
            </a:r>
            <a:r>
              <a:rPr sz="1600" b="0">
                <a:solidFill>
                  <a:srgbClr val="142B33"/>
                </a:solidFill>
                <a:latin typeface="Calibri"/>
              </a:rPr>
              <a:t>: interesa su desviación respecto al perfil especificado en el plano, medida como la desviación estándar de la diferencia entre ambos.</a:t>
            </a:r>
          </a:p>
        </p:txBody>
      </p:sp>
      <p:sp>
        <p:nvSpPr>
          <p:cNvPr id="4" name="TextBox 3"/>
          <p:cNvSpPr txBox="1"/>
          <p:nvPr/>
        </p:nvSpPr>
        <p:spPr>
          <a:xfrm>
            <a:off x="548640" y="2894584"/>
            <a:ext cx="6196102" cy="1276096"/>
          </a:xfrm>
          <a:prstGeom prst="rect">
            <a:avLst/>
          </a:prstGeom>
          <a:noFill/>
        </p:spPr>
        <p:txBody>
          <a:bodyPr wrap="square" anchor="t" lIns="0" rIns="0" tIns="0" bIns="0">
            <a:spAutoFit/>
          </a:bodyPr>
          <a:lstStyle/>
          <a:p>
            <a:r>
              <a:rPr sz="1600" b="0">
                <a:solidFill>
                  <a:srgbClr val="142B33"/>
                </a:solidFill>
                <a:latin typeface="Calibri"/>
              </a:rPr>
              <a:t>Se quiere saber </a:t>
            </a:r>
            <a:r>
              <a:rPr sz="1600" b="1">
                <a:solidFill>
                  <a:srgbClr val="142B33"/>
                </a:solidFill>
                <a:latin typeface="Calibri"/>
              </a:rPr>
              <a:t>qué parámetros de la máquina</a:t>
            </a:r>
            <a:r>
              <a:rPr sz="1600" b="0">
                <a:solidFill>
                  <a:srgbClr val="142B33"/>
                </a:solidFill>
                <a:latin typeface="Calibri"/>
              </a:rPr>
              <a:t> afectan esa desviación. Se eligen ocho factores a dos niveles: desviaciones de los ejes x, y, z y a, fabricante de la herramienta, velocidad del husillo, altura de la plantilla sujetadora y velocidad de alimentación.</a:t>
            </a:r>
          </a:p>
        </p:txBody>
      </p:sp>
      <p:sp>
        <p:nvSpPr>
          <p:cNvPr id="5" name="TextBox 4"/>
          <p:cNvSpPr txBox="1"/>
          <p:nvPr/>
        </p:nvSpPr>
        <p:spPr>
          <a:xfrm>
            <a:off x="548640" y="4371848"/>
            <a:ext cx="6196102" cy="1276096"/>
          </a:xfrm>
          <a:prstGeom prst="rect">
            <a:avLst/>
          </a:prstGeom>
          <a:noFill/>
        </p:spPr>
        <p:txBody>
          <a:bodyPr wrap="square" anchor="t" lIns="0" rIns="0" tIns="0" bIns="0">
            <a:spAutoFit/>
          </a:bodyPr>
          <a:lstStyle/>
          <a:p>
            <a:r>
              <a:rPr sz="1600" b="0">
                <a:solidFill>
                  <a:srgbClr val="142B33"/>
                </a:solidFill>
                <a:latin typeface="Calibri"/>
              </a:rPr>
              <a:t>La máquina tiene </a:t>
            </a:r>
            <a:r>
              <a:rPr sz="1600" b="1">
                <a:solidFill>
                  <a:srgbClr val="142B33"/>
                </a:solidFill>
                <a:latin typeface="Calibri"/>
              </a:rPr>
              <a:t>cuatro husillos</a:t>
            </a:r>
            <a:r>
              <a:rPr sz="1600" b="0">
                <a:solidFill>
                  <a:srgbClr val="142B33"/>
                </a:solidFill>
                <a:latin typeface="Calibri"/>
              </a:rPr>
              <a:t> (la traducción del libro los llama areómetros) que pueden diferir entre sí; deben tratarse como </a:t>
            </a:r>
            <a:r>
              <a:rPr sz="1600" b="1">
                <a:solidFill>
                  <a:srgbClr val="142B33"/>
                </a:solidFill>
                <a:latin typeface="Calibri"/>
              </a:rPr>
              <a:t>bloques</a:t>
            </a:r>
            <a:r>
              <a:rPr sz="1600" b="0">
                <a:solidFill>
                  <a:srgbClr val="142B33"/>
                </a:solidFill>
                <a:latin typeface="Calibri"/>
              </a:rPr>
              <a:t>. Los ingenieros creen que las interacciones de tres o más factores son despreciables, pero no quieren ignorar las de dos.</a:t>
            </a:r>
          </a:p>
        </p:txBody>
      </p:sp>
      <p:sp>
        <p:nvSpPr>
          <p:cNvPr id="6" name="TextBox 5"/>
          <p:cNvSpPr txBox="1"/>
          <p:nvPr/>
        </p:nvSpPr>
        <p:spPr>
          <a:xfrm>
            <a:off x="548640" y="5849112"/>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8-6</a:t>
            </a:r>
          </a:p>
        </p:txBody>
      </p:sp>
      <p:sp>
        <p:nvSpPr>
          <p:cNvPr id="7" name="Rounded Rectangle 6"/>
          <p:cNvSpPr/>
          <p:nvPr/>
        </p:nvSpPr>
        <p:spPr>
          <a:xfrm>
            <a:off x="7156222" y="1417320"/>
            <a:ext cx="4486832"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Identificar los parámetros de la máquina que </a:t>
            </a:r>
            <a:r>
              <a:rPr sz="1500" b="1">
                <a:solidFill>
                  <a:srgbClr val="142B33"/>
                </a:solidFill>
                <a:latin typeface="Calibri"/>
              </a:rPr>
              <a:t>más afectan la desviación del perfil</a:t>
            </a:r>
            <a:r>
              <a:rPr sz="1500" b="0">
                <a:solidFill>
                  <a:srgbClr val="142B33"/>
                </a:solidFill>
                <a:latin typeface="Calibri"/>
              </a:rPr>
              <a:t>, controlando la diferencia entre husillos</a:t>
            </a:r>
          </a:p>
        </p:txBody>
      </p:sp>
      <p:sp>
        <p:nvSpPr>
          <p:cNvPr id="8" name="TextBox 7"/>
          <p:cNvSpPr txBox="1"/>
          <p:nvPr/>
        </p:nvSpPr>
        <p:spPr>
          <a:xfrm>
            <a:off x="7156222" y="310032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601465"/>
            <a:ext cx="4486832" cy="149123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Elegir entre 16 y 32 corridas y justificarlo</a:t>
            </a:r>
          </a:p>
          <a:p>
            <a:pPr marL="320040" indent="-320040">
              <a:spcAft>
                <a:spcPts val="600"/>
              </a:spcAft>
              <a:buClr>
                <a:srgbClr val="E36414"/>
              </a:buClr>
              <a:buFont typeface="+mj-lt"/>
              <a:buAutoNum type="arabicPeriod"/>
            </a:pPr>
            <a:r>
              <a:rPr sz="1500" b="0">
                <a:solidFill>
                  <a:srgbClr val="142B33"/>
                </a:solidFill>
                <a:latin typeface="Calibri"/>
              </a:rPr>
              <a:t>Repartir el diseño en cuatro bloques y ver qué se confunde</a:t>
            </a:r>
          </a:p>
          <a:p>
            <a:pPr marL="320040" indent="-320040">
              <a:spcAft>
                <a:spcPts val="600"/>
              </a:spcAft>
              <a:buClr>
                <a:srgbClr val="E36414"/>
              </a:buClr>
              <a:buFont typeface="+mj-lt"/>
              <a:buAutoNum type="arabicPeriod"/>
            </a:pPr>
            <a:r>
              <a:rPr sz="1500" b="0">
                <a:solidFill>
                  <a:srgbClr val="142B33"/>
                </a:solidFill>
                <a:latin typeface="Calibri"/>
              </a:rPr>
              <a:t>Estimar los efectos y ajustar el modelo</a:t>
            </a:r>
          </a:p>
          <a:p>
            <a:pPr marL="320040" indent="-320040">
              <a:spcAft>
                <a:spcPts val="600"/>
              </a:spcAft>
              <a:buClr>
                <a:srgbClr val="E36414"/>
              </a:buClr>
              <a:buFont typeface="+mj-lt"/>
              <a:buAutoNum type="arabicPeriod"/>
            </a:pPr>
            <a:r>
              <a:rPr sz="1500" b="0">
                <a:solidFill>
                  <a:srgbClr val="142B33"/>
                </a:solidFill>
                <a:latin typeface="Calibri"/>
              </a:rPr>
              <a:t>Interpretar los alias que queden ambiguos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75</a:t>
            </a:r>
          </a:p>
        </p:txBody>
      </p:sp>
      <p:sp>
        <p:nvSpPr>
          <p:cNvPr id="12" name="Rounded Rectangle 11"/>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Máquina CNC: 2</a:t>
            </a:r>
            <a:r>
              <a:rPr sz="3000" b="1" baseline="30000">
                <a:solidFill>
                  <a:srgbClr val="0F4C5C"/>
                </a:solidFill>
                <a:latin typeface="Cambria"/>
              </a:rPr>
              <a:t>8−3</a:t>
            </a:r>
            <a:r>
              <a:rPr sz="3000" b="1" baseline="-25000">
                <a:solidFill>
                  <a:srgbClr val="0F4C5C"/>
                </a:solidFill>
                <a:latin typeface="Cambria"/>
              </a:rPr>
              <a:t>IV</a:t>
            </a:r>
            <a:r>
              <a:rPr sz="3000" b="1">
                <a:solidFill>
                  <a:srgbClr val="0F4C5C"/>
                </a:solidFill>
                <a:latin typeface="Cambria"/>
              </a:rPr>
              <a:t> en cuatro bloques</a:t>
            </a:r>
          </a:p>
        </p:txBody>
      </p:sp>
      <p:graphicFrame>
        <p:nvGraphicFramePr>
          <p:cNvPr id="3" name="Table 2"/>
          <p:cNvGraphicFramePr>
            <a:graphicFrameLocks noGrp="1"/>
          </p:cNvGraphicFramePr>
          <p:nvPr/>
        </p:nvGraphicFramePr>
        <p:xfrm>
          <a:off x="548640" y="1417320"/>
          <a:ext cx="5875612" cy="2882646"/>
        </p:xfrm>
        <a:graphic>
          <a:graphicData uri="http://schemas.openxmlformats.org/drawingml/2006/table">
            <a:tbl>
              <a:tblPr firstRow="0" bandRow="0">
                <a:tableStyleId>{5C22544A-7EE6-4342-B048-85BDC9FD1C3A}</a:tableStyleId>
              </a:tblPr>
              <a:tblGrid>
                <a:gridCol w="3525368"/>
                <a:gridCol w="1175122"/>
                <a:gridCol w="1175122"/>
              </a:tblGrid>
              <a:tr h="320294">
                <a:tc>
                  <a:txBody>
                    <a:bodyPr/>
                    <a:lstStyle/>
                    <a:p>
                      <a:pPr algn="l"/>
                      <a:r>
                        <a:rPr sz="1300" b="1">
                          <a:solidFill>
                            <a:srgbClr val="FFFFFF"/>
                          </a:solidFill>
                          <a:latin typeface="Calibri"/>
                        </a:rPr>
                        <a:t>Factor</a:t>
                      </a:r>
                    </a:p>
                  </a:txBody>
                  <a:tcPr marL="73152" marR="73152" marT="27432" marB="27432" anchor="ctr">
                    <a:solidFill>
                      <a:srgbClr val="0F4C5C"/>
                    </a:solidFill>
                  </a:tcPr>
                </a:tc>
                <a:tc>
                  <a:txBody>
                    <a:bodyPr/>
                    <a:lstStyle/>
                    <a:p>
                      <a:pPr algn="ctr"/>
                      <a:r>
                        <a:rPr sz="1300" b="1">
                          <a:solidFill>
                            <a:srgbClr val="FFFFFF"/>
                          </a:solidFill>
                          <a:latin typeface="Calibri"/>
                        </a:rPr>
                        <a:t>Bajo (−)</a:t>
                      </a:r>
                    </a:p>
                  </a:txBody>
                  <a:tcPr marL="73152" marR="73152" marT="27432" marB="27432" anchor="ctr">
                    <a:solidFill>
                      <a:srgbClr val="0F4C5C"/>
                    </a:solidFill>
                  </a:tcPr>
                </a:tc>
                <a:tc>
                  <a:txBody>
                    <a:bodyPr/>
                    <a:lstStyle/>
                    <a:p>
                      <a:pPr algn="ctr"/>
                      <a:r>
                        <a:rPr sz="1300" b="1">
                          <a:solidFill>
                            <a:srgbClr val="FFFFFF"/>
                          </a:solidFill>
                          <a:latin typeface="Calibri"/>
                        </a:rPr>
                        <a:t>Alto (+)</a:t>
                      </a:r>
                    </a:p>
                  </a:txBody>
                  <a:tcPr marL="73152" marR="73152" marT="27432" marB="27432" anchor="ctr">
                    <a:solidFill>
                      <a:srgbClr val="0F4C5C"/>
                    </a:solidFill>
                  </a:tcPr>
                </a:tc>
              </a:tr>
              <a:tr h="320294">
                <a:tc>
                  <a:txBody>
                    <a:bodyPr/>
                    <a:lstStyle/>
                    <a:p>
                      <a:pPr algn="l"/>
                      <a:r>
                        <a:rPr sz="1300" b="0">
                          <a:solidFill>
                            <a:srgbClr val="142B33"/>
                          </a:solidFill>
                          <a:latin typeface="Calibri"/>
                        </a:rPr>
                        <a:t>A  Desviación eje x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B  Desviación eje y (0.001 pulg)</a:t>
                      </a:r>
                    </a:p>
                  </a:txBody>
                  <a:tcPr marL="73152" marR="73152" marT="27432" marB="27432" anchor="ctr">
                    <a:solidFill>
                      <a:srgbClr val="F4F8F9"/>
                    </a:solidFill>
                  </a:tcPr>
                </a:tc>
                <a:tc>
                  <a:txBody>
                    <a:bodyPr/>
                    <a:lstStyle/>
                    <a:p>
                      <a:pPr algn="ctr"/>
                      <a:r>
                        <a:rPr sz="1300" b="0">
                          <a:solidFill>
                            <a:srgbClr val="142B33"/>
                          </a:solidFill>
                          <a:latin typeface="Calibri"/>
                        </a:rPr>
                        <a:t>0</a:t>
                      </a:r>
                    </a:p>
                  </a:txBody>
                  <a:tcPr marL="73152" marR="73152" marT="27432" marB="27432" anchor="ctr">
                    <a:solidFill>
                      <a:srgbClr val="F4F8F9"/>
                    </a:solidFill>
                  </a:tcPr>
                </a:tc>
                <a:tc>
                  <a:txBody>
                    <a:bodyPr/>
                    <a:lstStyle/>
                    <a:p>
                      <a:pPr algn="ctr"/>
                      <a:r>
                        <a:rPr sz="1300" b="0">
                          <a:solidFill>
                            <a:srgbClr val="142B33"/>
                          </a:solidFill>
                          <a:latin typeface="Calibri"/>
                        </a:rPr>
                        <a:t>15</a:t>
                      </a:r>
                    </a:p>
                  </a:txBody>
                  <a:tcPr marL="73152" marR="73152" marT="27432" marB="27432" anchor="ctr">
                    <a:solidFill>
                      <a:srgbClr val="F4F8F9"/>
                    </a:solidFill>
                  </a:tcPr>
                </a:tc>
              </a:tr>
              <a:tr h="320294">
                <a:tc>
                  <a:txBody>
                    <a:bodyPr/>
                    <a:lstStyle/>
                    <a:p>
                      <a:pPr algn="l"/>
                      <a:r>
                        <a:rPr sz="1300" b="0">
                          <a:solidFill>
                            <a:srgbClr val="142B33"/>
                          </a:solidFill>
                          <a:latin typeface="Calibri"/>
                        </a:rPr>
                        <a:t>C  Desviación eje z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D  Fabricante de la herramienta</a:t>
                      </a:r>
                    </a:p>
                  </a:txBody>
                  <a:tcPr marL="73152" marR="73152" marT="27432" marB="27432" anchor="ctr">
                    <a:solidFill>
                      <a:srgbClr val="F4F8F9"/>
                    </a:solidFill>
                  </a:tcPr>
                </a:tc>
                <a:tc>
                  <a:txBody>
                    <a:bodyPr/>
                    <a:lstStyle/>
                    <a:p>
                      <a:pPr algn="ctr"/>
                      <a:r>
                        <a:rPr sz="1300" b="0">
                          <a:solidFill>
                            <a:srgbClr val="142B33"/>
                          </a:solidFill>
                          <a:latin typeface="Calibri"/>
                        </a:rPr>
                        <a:t>1</a:t>
                      </a:r>
                    </a:p>
                  </a:txBody>
                  <a:tcPr marL="73152" marR="73152" marT="27432" marB="27432" anchor="ctr">
                    <a:solidFill>
                      <a:srgbClr val="F4F8F9"/>
                    </a:solidFill>
                  </a:tcPr>
                </a:tc>
                <a:tc>
                  <a:txBody>
                    <a:bodyPr/>
                    <a:lstStyle/>
                    <a:p>
                      <a:pPr algn="ctr"/>
                      <a:r>
                        <a:rPr sz="1300" b="0">
                          <a:solidFill>
                            <a:srgbClr val="142B33"/>
                          </a:solidFill>
                          <a:latin typeface="Calibri"/>
                        </a:rPr>
                        <a:t>2</a:t>
                      </a:r>
                    </a:p>
                  </a:txBody>
                  <a:tcPr marL="73152" marR="73152" marT="27432" marB="27432" anchor="ctr">
                    <a:solidFill>
                      <a:srgbClr val="F4F8F9"/>
                    </a:solidFill>
                  </a:tcPr>
                </a:tc>
              </a:tr>
              <a:tr h="320294">
                <a:tc>
                  <a:txBody>
                    <a:bodyPr/>
                    <a:lstStyle/>
                    <a:p>
                      <a:pPr algn="l"/>
                      <a:r>
                        <a:rPr sz="1300" b="0">
                          <a:solidFill>
                            <a:srgbClr val="142B33"/>
                          </a:solidFill>
                          <a:latin typeface="Calibri"/>
                        </a:rPr>
                        <a:t>E  Desviación eje a (0.001 grados)</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30</a:t>
                      </a:r>
                    </a:p>
                  </a:txBody>
                  <a:tcPr marL="73152" marR="73152" marT="27432" marB="27432" anchor="ctr">
                    <a:solidFill>
                      <a:srgbClr val="FFFFFF"/>
                    </a:solidFill>
                  </a:tcPr>
                </a:tc>
              </a:tr>
              <a:tr h="320294">
                <a:tc>
                  <a:txBody>
                    <a:bodyPr/>
                    <a:lstStyle/>
                    <a:p>
                      <a:pPr algn="l"/>
                      <a:r>
                        <a:rPr sz="1300" b="0">
                          <a:solidFill>
                            <a:srgbClr val="142B33"/>
                          </a:solidFill>
                          <a:latin typeface="Calibri"/>
                        </a:rPr>
                        <a:t>F  Velocidad del areómetro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r h="320294">
                <a:tc>
                  <a:txBody>
                    <a:bodyPr/>
                    <a:lstStyle/>
                    <a:p>
                      <a:pPr algn="l"/>
                      <a:r>
                        <a:rPr sz="1300" b="0">
                          <a:solidFill>
                            <a:srgbClr val="142B33"/>
                          </a:solidFill>
                          <a:latin typeface="Calibri"/>
                        </a:rPr>
                        <a:t>G  Altura de la plantilla (0.001 pulg)</a:t>
                      </a:r>
                    </a:p>
                  </a:txBody>
                  <a:tcPr marL="73152" marR="73152" marT="27432" marB="27432" anchor="ctr">
                    <a:solidFill>
                      <a:srgbClr val="FFFFFF"/>
                    </a:solidFill>
                  </a:tcPr>
                </a:tc>
                <a:tc>
                  <a:txBody>
                    <a:bodyPr/>
                    <a:lstStyle/>
                    <a:p>
                      <a:pPr algn="ctr"/>
                      <a:r>
                        <a:rPr sz="1300" b="0">
                          <a:solidFill>
                            <a:srgbClr val="142B33"/>
                          </a:solidFill>
                          <a:latin typeface="Calibri"/>
                        </a:rPr>
                        <a:t>0</a:t>
                      </a:r>
                    </a:p>
                  </a:txBody>
                  <a:tcPr marL="73152" marR="73152" marT="27432" marB="27432" anchor="ctr">
                    <a:solidFill>
                      <a:srgbClr val="FFFFFF"/>
                    </a:solidFill>
                  </a:tcPr>
                </a:tc>
                <a:tc>
                  <a:txBody>
                    <a:bodyPr/>
                    <a:lstStyle/>
                    <a:p>
                      <a:pPr algn="ctr"/>
                      <a:r>
                        <a:rPr sz="1300" b="0">
                          <a:solidFill>
                            <a:srgbClr val="142B33"/>
                          </a:solidFill>
                          <a:latin typeface="Calibri"/>
                        </a:rPr>
                        <a:t>15</a:t>
                      </a:r>
                    </a:p>
                  </a:txBody>
                  <a:tcPr marL="73152" marR="73152" marT="27432" marB="27432" anchor="ctr">
                    <a:solidFill>
                      <a:srgbClr val="FFFFFF"/>
                    </a:solidFill>
                  </a:tcPr>
                </a:tc>
              </a:tr>
              <a:tr h="320294">
                <a:tc>
                  <a:txBody>
                    <a:bodyPr/>
                    <a:lstStyle/>
                    <a:p>
                      <a:pPr algn="l"/>
                      <a:r>
                        <a:rPr sz="1300" b="0">
                          <a:solidFill>
                            <a:srgbClr val="142B33"/>
                          </a:solidFill>
                          <a:latin typeface="Calibri"/>
                        </a:rPr>
                        <a:t>H  Velocidad de alimentación (%)</a:t>
                      </a:r>
                    </a:p>
                  </a:txBody>
                  <a:tcPr marL="73152" marR="73152" marT="27432" marB="27432" anchor="ctr">
                    <a:solidFill>
                      <a:srgbClr val="F4F8F9"/>
                    </a:solidFill>
                  </a:tcPr>
                </a:tc>
                <a:tc>
                  <a:txBody>
                    <a:bodyPr/>
                    <a:lstStyle/>
                    <a:p>
                      <a:pPr algn="ctr"/>
                      <a:r>
                        <a:rPr sz="1300" b="0">
                          <a:solidFill>
                            <a:srgbClr val="142B33"/>
                          </a:solidFill>
                          <a:latin typeface="Calibri"/>
                        </a:rPr>
                        <a:t>90</a:t>
                      </a:r>
                    </a:p>
                  </a:txBody>
                  <a:tcPr marL="73152" marR="73152" marT="27432" marB="27432" anchor="ctr">
                    <a:solidFill>
                      <a:srgbClr val="F4F8F9"/>
                    </a:solidFill>
                  </a:tcPr>
                </a:tc>
                <a:tc>
                  <a:txBody>
                    <a:bodyPr/>
                    <a:lstStyle/>
                    <a:p>
                      <a:pPr algn="ctr"/>
                      <a:r>
                        <a:rPr sz="1300" b="0">
                          <a:solidFill>
                            <a:srgbClr val="142B33"/>
                          </a:solidFill>
                          <a:latin typeface="Calibri"/>
                        </a:rPr>
                        <a:t>110</a:t>
                      </a:r>
                    </a:p>
                  </a:txBody>
                  <a:tcPr marL="73152" marR="73152" marT="27432" marB="27432" anchor="ctr">
                    <a:solidFill>
                      <a:srgbClr val="F4F8F9"/>
                    </a:solidFill>
                  </a:tcPr>
                </a:tc>
              </a:tr>
            </a:tbl>
          </a:graphicData>
        </a:graphic>
      </p:graphicFrame>
      <p:sp>
        <p:nvSpPr>
          <p:cNvPr id="4" name="TextBox 3"/>
          <p:cNvSpPr txBox="1"/>
          <p:nvPr/>
        </p:nvSpPr>
        <p:spPr>
          <a:xfrm>
            <a:off x="6835734" y="1417320"/>
            <a:ext cx="4807320" cy="99059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Respuesta: </a:t>
            </a:r>
            <a:r>
              <a:rPr sz="1600" b="1">
                <a:solidFill>
                  <a:srgbClr val="142B33"/>
                </a:solidFill>
                <a:latin typeface="Calibri"/>
              </a:rPr>
              <a:t>ln(desviación estándar × 10</a:t>
            </a:r>
            <a:r>
              <a:rPr sz="1600" b="1" baseline="30000">
                <a:solidFill>
                  <a:srgbClr val="142B33"/>
                </a:solidFill>
                <a:latin typeface="Calibri"/>
              </a:rPr>
              <a:t>3</a:t>
            </a:r>
            <a:r>
              <a:rPr sz="1600" b="1">
                <a:solidFill>
                  <a:srgbClr val="142B33"/>
                </a:solidFill>
                <a:latin typeface="Calibri"/>
              </a:rPr>
              <a:t>)</a:t>
            </a:r>
          </a:p>
          <a:p>
            <a:pPr marL="320040" indent="-320040">
              <a:spcAft>
                <a:spcPts val="600"/>
              </a:spcAft>
              <a:buClr>
                <a:srgbClr val="E36414"/>
              </a:buClr>
              <a:buFont typeface="Arial"/>
              <a:buChar char="•"/>
            </a:pPr>
            <a:r>
              <a:rPr sz="1600" b="0">
                <a:solidFill>
                  <a:srgbClr val="142B33"/>
                </a:solidFill>
                <a:latin typeface="Calibri"/>
              </a:rPr>
              <a:t>Cuatro </a:t>
            </a:r>
            <a:r>
              <a:rPr sz="1600" b="1">
                <a:solidFill>
                  <a:srgbClr val="142B33"/>
                </a:solidFill>
                <a:latin typeface="Calibri"/>
              </a:rPr>
              <a:t>areómetros</a:t>
            </a:r>
            <a:r>
              <a:rPr sz="1600" b="0">
                <a:solidFill>
                  <a:srgbClr val="142B33"/>
                </a:solidFill>
                <a:latin typeface="Calibri"/>
              </a:rPr>
              <a:t> como bloques</a:t>
            </a:r>
          </a:p>
          <a:p>
            <a:pPr marL="320040" indent="-320040">
              <a:spcAft>
                <a:spcPts val="600"/>
              </a:spcAft>
              <a:buClr>
                <a:srgbClr val="E36414"/>
              </a:buClr>
              <a:buFont typeface="Arial"/>
              <a:buChar char="•"/>
            </a:pPr>
            <a:r>
              <a:rPr sz="1600" b="1">
                <a:solidFill>
                  <a:srgbClr val="142B33"/>
                </a:solidFill>
                <a:latin typeface="Calibri"/>
              </a:rPr>
              <a:t>2</a:t>
            </a:r>
            <a:r>
              <a:rPr sz="1600" b="1" baseline="30000">
                <a:solidFill>
                  <a:srgbClr val="142B33"/>
                </a:solidFill>
                <a:latin typeface="Calibri"/>
              </a:rPr>
              <a:t>8−3</a:t>
            </a:r>
            <a:r>
              <a:rPr sz="1600" b="1" baseline="-25000">
                <a:solidFill>
                  <a:srgbClr val="142B33"/>
                </a:solidFill>
                <a:latin typeface="Calibri"/>
              </a:rPr>
              <a:t>IV</a:t>
            </a:r>
            <a:r>
              <a:rPr sz="1600" b="0">
                <a:solidFill>
                  <a:srgbClr val="142B33"/>
                </a:solidFill>
                <a:latin typeface="Calibri"/>
              </a:rPr>
              <a:t> en 4 bloques: 32 corridas</a:t>
            </a:r>
          </a:p>
        </p:txBody>
      </p:sp>
      <p:sp>
        <p:nvSpPr>
          <p:cNvPr id="5" name="Rounded Rectangle 4"/>
          <p:cNvSpPr/>
          <p:nvPr/>
        </p:nvSpPr>
        <p:spPr>
          <a:xfrm>
            <a:off x="6835734" y="2609087"/>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F = ABC,  G = ABD,  H = BCDE</a:t>
            </a:r>
          </a:p>
        </p:txBody>
      </p:sp>
      <p:sp>
        <p:nvSpPr>
          <p:cNvPr id="6" name="Rounded Rectangle 5"/>
          <p:cNvSpPr/>
          <p:nvPr/>
        </p:nvSpPr>
        <p:spPr>
          <a:xfrm>
            <a:off x="6835734" y="3379581"/>
            <a:ext cx="4807320" cy="70815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400" b="0">
                <a:solidFill>
                  <a:srgbClr val="142B33"/>
                </a:solidFill>
                <a:latin typeface="Calibri"/>
              </a:rPr>
              <a:t>Con bloques se confunden una cadena triple y </a:t>
            </a:r>
            <a:r>
              <a:rPr sz="1400" b="1">
                <a:solidFill>
                  <a:srgbClr val="142B33"/>
                </a:solidFill>
                <a:latin typeface="Calibri"/>
              </a:rPr>
              <a:t>EH</a:t>
            </a:r>
            <a:r>
              <a:rPr sz="1400" b="0">
                <a:solidFill>
                  <a:srgbClr val="142B33"/>
                </a:solidFill>
                <a:latin typeface="Calibri"/>
              </a:rPr>
              <a:t>, que se considera muy improbable</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76</a:t>
            </a:r>
          </a:p>
        </p:txBody>
      </p:sp>
      <p:sp>
        <p:nvSpPr>
          <p:cNvPr id="9" name="Rounded Rectangle 8"/>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4 · Efectos, ANOVA y conclusión</a:t>
            </a:r>
          </a:p>
        </p:txBody>
      </p:sp>
      <p:graphicFrame>
        <p:nvGraphicFramePr>
          <p:cNvPr id="3" name="Table 2"/>
          <p:cNvGraphicFramePr>
            <a:graphicFrameLocks noGrp="1"/>
          </p:cNvGraphicFramePr>
          <p:nvPr/>
        </p:nvGraphicFramePr>
        <p:xfrm>
          <a:off x="548640" y="1417320"/>
          <a:ext cx="5341464" cy="2810256"/>
        </p:xfrm>
        <a:graphic>
          <a:graphicData uri="http://schemas.openxmlformats.org/drawingml/2006/table">
            <a:tbl>
              <a:tblPr firstRow="0" bandRow="0">
                <a:tableStyleId>{5C22544A-7EE6-4342-B048-85BDC9FD1C3A}</a:tableStyleId>
              </a:tblPr>
              <a:tblGrid>
                <a:gridCol w="1000866"/>
                <a:gridCol w="895512"/>
                <a:gridCol w="537307"/>
                <a:gridCol w="895512"/>
                <a:gridCol w="790157"/>
                <a:gridCol w="1222110"/>
              </a:tblGrid>
              <a:tr h="351282">
                <a:tc>
                  <a:txBody>
                    <a:bodyPr/>
                    <a:lstStyle/>
                    <a:p>
                      <a:pPr algn="l"/>
                      <a:r>
                        <a:rPr sz="1500" b="1">
                          <a:solidFill>
                            <a:srgbClr val="FFFFFF"/>
                          </a:solidFill>
                          <a:latin typeface="Calibri"/>
                        </a:rPr>
                        <a:t>SV</a:t>
                      </a:r>
                    </a:p>
                  </a:txBody>
                  <a:tcPr marL="73152" marR="73152" marT="27432" marB="27432" anchor="ctr">
                    <a:solidFill>
                      <a:srgbClr val="0F4C5C"/>
                    </a:solidFill>
                  </a:tcPr>
                </a:tc>
                <a:tc>
                  <a:txBody>
                    <a:bodyPr/>
                    <a:lstStyle/>
                    <a:p>
                      <a:pPr algn="ctr"/>
                      <a:r>
                        <a:rPr sz="1500" b="1">
                          <a:solidFill>
                            <a:srgbClr val="FFFFFF"/>
                          </a:solidFill>
                          <a:latin typeface="Calibri"/>
                        </a:rPr>
                        <a:t>SS</a:t>
                      </a:r>
                    </a:p>
                  </a:txBody>
                  <a:tcPr marL="73152" marR="73152" marT="27432" marB="27432" anchor="ctr">
                    <a:solidFill>
                      <a:srgbClr val="0F4C5C"/>
                    </a:solidFill>
                  </a:tcPr>
                </a:tc>
                <a:tc>
                  <a:txBody>
                    <a:bodyPr/>
                    <a:lstStyle/>
                    <a:p>
                      <a:pPr algn="ctr"/>
                      <a:r>
                        <a:rPr sz="1500" b="1">
                          <a:solidFill>
                            <a:srgbClr val="FFFFFF"/>
                          </a:solidFill>
                          <a:latin typeface="Calibri"/>
                        </a:rPr>
                        <a:t>DF</a:t>
                      </a:r>
                    </a:p>
                  </a:txBody>
                  <a:tcPr marL="73152" marR="73152" marT="27432" marB="27432" anchor="ctr">
                    <a:solidFill>
                      <a:srgbClr val="0F4C5C"/>
                    </a:solidFill>
                  </a:tcPr>
                </a:tc>
                <a:tc>
                  <a:txBody>
                    <a:bodyPr/>
                    <a:lstStyle/>
                    <a:p>
                      <a:pPr algn="ctr"/>
                      <a:r>
                        <a:rPr sz="1500" b="1">
                          <a:solidFill>
                            <a:srgbClr val="FFFFFF"/>
                          </a:solidFill>
                          <a:latin typeface="Calibri"/>
                        </a:rPr>
                        <a:t>MS</a:t>
                      </a:r>
                    </a:p>
                  </a:txBody>
                  <a:tcPr marL="73152" marR="73152" marT="27432" marB="27432" anchor="ctr">
                    <a:solidFill>
                      <a:srgbClr val="0F4C5C"/>
                    </a:solidFill>
                  </a:tcPr>
                </a:tc>
                <a:tc>
                  <a:txBody>
                    <a:bodyPr/>
                    <a:lstStyle/>
                    <a:p>
                      <a:pPr algn="ctr"/>
                      <a:r>
                        <a:rPr sz="1500" b="1">
                          <a:solidFill>
                            <a:srgbClr val="FFFFFF"/>
                          </a:solidFill>
                          <a:latin typeface="Calibri"/>
                        </a:rPr>
                        <a:t>F</a:t>
                      </a:r>
                      <a:r>
                        <a:rPr sz="1500" b="1" baseline="-25000">
                          <a:solidFill>
                            <a:srgbClr val="FFFFFF"/>
                          </a:solidFill>
                          <a:latin typeface="Calibri"/>
                        </a:rPr>
                        <a:t>0</a:t>
                      </a:r>
                    </a:p>
                  </a:txBody>
                  <a:tcPr marL="73152" marR="73152" marT="27432" marB="27432" anchor="ctr">
                    <a:solidFill>
                      <a:srgbClr val="0F4C5C"/>
                    </a:solidFill>
                  </a:tcPr>
                </a:tc>
                <a:tc>
                  <a:txBody>
                    <a:bodyPr/>
                    <a:lstStyle/>
                    <a:p>
                      <a:pPr algn="ctr"/>
                      <a:r>
                        <a:rPr sz="1500" b="1">
                          <a:solidFill>
                            <a:srgbClr val="FFFFFF"/>
                          </a:solidFill>
                          <a:latin typeface="Calibri"/>
                        </a:rPr>
                        <a:t>P-Value</a:t>
                      </a:r>
                    </a:p>
                  </a:txBody>
                  <a:tcPr marL="73152" marR="73152" marT="27432" marB="27432" anchor="ctr">
                    <a:solidFill>
                      <a:srgbClr val="0F4C5C"/>
                    </a:solidFill>
                  </a:tcPr>
                </a:tc>
              </a:tr>
              <a:tr h="351282">
                <a:tc>
                  <a:txBody>
                    <a:bodyPr/>
                    <a:lstStyle/>
                    <a:p>
                      <a:pPr algn="l"/>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0.6740</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0.6740</a:t>
                      </a:r>
                    </a:p>
                  </a:txBody>
                  <a:tcPr marL="73152" marR="73152" marT="27432" marB="27432" anchor="ctr">
                    <a:solidFill>
                      <a:srgbClr val="FFFFFF"/>
                    </a:solidFill>
                  </a:tcPr>
                </a:tc>
                <a:tc>
                  <a:txBody>
                    <a:bodyPr/>
                    <a:lstStyle/>
                    <a:p>
                      <a:pPr algn="ctr"/>
                      <a:r>
                        <a:rPr sz="1500" b="0">
                          <a:solidFill>
                            <a:srgbClr val="142B33"/>
                          </a:solidFill>
                          <a:latin typeface="Calibri"/>
                        </a:rPr>
                        <a:t>39.42</a:t>
                      </a:r>
                    </a:p>
                  </a:txBody>
                  <a:tcPr marL="73152" marR="73152" marT="27432" marB="27432" anchor="ctr">
                    <a:solidFill>
                      <a:srgbClr val="FFFFFF"/>
                    </a:solidFill>
                  </a:tcPr>
                </a:tc>
                <a:tc>
                  <a:txBody>
                    <a:bodyPr/>
                    <a:lstStyle/>
                    <a:p>
                      <a:pPr algn="ctr"/>
                      <a:r>
                        <a:rPr sz="1500" b="0">
                          <a:solidFill>
                            <a:srgbClr val="142B33"/>
                          </a:solidFill>
                          <a:latin typeface="Calibri"/>
                        </a:rPr>
                        <a:t>&lt;0.0001</a:t>
                      </a:r>
                    </a:p>
                  </a:txBody>
                  <a:tcPr marL="73152" marR="73152" marT="27432" marB="27432" anchor="ctr">
                    <a:solidFill>
                      <a:srgbClr val="FFFFFF"/>
                    </a:solidFill>
                  </a:tcPr>
                </a:tc>
              </a:tr>
              <a:tr h="351282">
                <a:tc>
                  <a:txBody>
                    <a:bodyPr/>
                    <a:lstStyle/>
                    <a:p>
                      <a:pPr algn="l"/>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0.3217</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0.3217</a:t>
                      </a:r>
                    </a:p>
                  </a:txBody>
                  <a:tcPr marL="73152" marR="73152" marT="27432" marB="27432" anchor="ctr">
                    <a:solidFill>
                      <a:srgbClr val="F4F8F9"/>
                    </a:solidFill>
                  </a:tcPr>
                </a:tc>
                <a:tc>
                  <a:txBody>
                    <a:bodyPr/>
                    <a:lstStyle/>
                    <a:p>
                      <a:pPr algn="ctr"/>
                      <a:r>
                        <a:rPr sz="1500" b="0">
                          <a:solidFill>
                            <a:srgbClr val="142B33"/>
                          </a:solidFill>
                          <a:latin typeface="Calibri"/>
                        </a:rPr>
                        <a:t>18.81</a:t>
                      </a:r>
                    </a:p>
                  </a:txBody>
                  <a:tcPr marL="73152" marR="73152" marT="27432" marB="27432" anchor="ctr">
                    <a:solidFill>
                      <a:srgbClr val="F4F8F9"/>
                    </a:solidFill>
                  </a:tcPr>
                </a:tc>
                <a:tc>
                  <a:txBody>
                    <a:bodyPr/>
                    <a:lstStyle/>
                    <a:p>
                      <a:pPr algn="ctr"/>
                      <a:r>
                        <a:rPr sz="1500" b="0">
                          <a:solidFill>
                            <a:srgbClr val="142B33"/>
                          </a:solidFill>
                          <a:latin typeface="Calibri"/>
                        </a:rPr>
                        <a:t>0.0002</a:t>
                      </a:r>
                    </a:p>
                  </a:txBody>
                  <a:tcPr marL="73152" marR="73152" marT="27432" marB="27432" anchor="ctr">
                    <a:solidFill>
                      <a:srgbClr val="F4F8F9"/>
                    </a:solidFill>
                  </a:tcPr>
                </a:tc>
              </a:tr>
              <a:tr h="351282">
                <a:tc>
                  <a:txBody>
                    <a:bodyPr/>
                    <a:lstStyle/>
                    <a:p>
                      <a:pPr algn="l"/>
                      <a:r>
                        <a:rPr sz="1500" b="0">
                          <a:solidFill>
                            <a:srgbClr val="142B33"/>
                          </a:solidFill>
                          <a:latin typeface="Calibri"/>
                        </a:rPr>
                        <a:t>D</a:t>
                      </a:r>
                    </a:p>
                  </a:txBody>
                  <a:tcPr marL="73152" marR="73152" marT="27432" marB="27432" anchor="ctr">
                    <a:solidFill>
                      <a:srgbClr val="FFFFFF"/>
                    </a:solidFill>
                  </a:tcPr>
                </a:tc>
                <a:tc>
                  <a:txBody>
                    <a:bodyPr/>
                    <a:lstStyle/>
                    <a:p>
                      <a:pPr algn="ctr"/>
                      <a:r>
                        <a:rPr sz="1500" b="0">
                          <a:solidFill>
                            <a:srgbClr val="142B33"/>
                          </a:solidFill>
                          <a:latin typeface="Calibri"/>
                        </a:rPr>
                        <a:t>0.0935</a:t>
                      </a:r>
                    </a:p>
                  </a:txBody>
                  <a:tcPr marL="73152" marR="73152" marT="27432" marB="27432" anchor="ctr">
                    <a:solidFill>
                      <a:srgbClr val="FFFFFF"/>
                    </a:solidFill>
                  </a:tcPr>
                </a:tc>
                <a:tc>
                  <a:txBody>
                    <a:bodyPr/>
                    <a:lstStyle/>
                    <a:p>
                      <a:pPr algn="ctr"/>
                      <a:r>
                        <a:rPr sz="1500" b="0">
                          <a:solidFill>
                            <a:srgbClr val="142B33"/>
                          </a:solidFill>
                          <a:latin typeface="Calibri"/>
                        </a:rPr>
                        <a:t>1</a:t>
                      </a:r>
                    </a:p>
                  </a:txBody>
                  <a:tcPr marL="73152" marR="73152" marT="27432" marB="27432" anchor="ctr">
                    <a:solidFill>
                      <a:srgbClr val="FFFFFF"/>
                    </a:solidFill>
                  </a:tcPr>
                </a:tc>
                <a:tc>
                  <a:txBody>
                    <a:bodyPr/>
                    <a:lstStyle/>
                    <a:p>
                      <a:pPr algn="ctr"/>
                      <a:r>
                        <a:rPr sz="1500" b="0">
                          <a:solidFill>
                            <a:srgbClr val="142B33"/>
                          </a:solidFill>
                          <a:latin typeface="Calibri"/>
                        </a:rPr>
                        <a:t>0.0935</a:t>
                      </a:r>
                    </a:p>
                  </a:txBody>
                  <a:tcPr marL="73152" marR="73152" marT="27432" marB="27432" anchor="ctr">
                    <a:solidFill>
                      <a:srgbClr val="FFFFFF"/>
                    </a:solidFill>
                  </a:tcPr>
                </a:tc>
                <a:tc>
                  <a:txBody>
                    <a:bodyPr/>
                    <a:lstStyle/>
                    <a:p>
                      <a:pPr algn="ctr"/>
                      <a:r>
                        <a:rPr sz="1500" b="0">
                          <a:solidFill>
                            <a:srgbClr val="142B33"/>
                          </a:solidFill>
                          <a:latin typeface="Calibri"/>
                        </a:rPr>
                        <a:t>5.47</a:t>
                      </a:r>
                    </a:p>
                  </a:txBody>
                  <a:tcPr marL="73152" marR="73152" marT="27432" marB="27432" anchor="ctr">
                    <a:solidFill>
                      <a:srgbClr val="FFFFFF"/>
                    </a:solidFill>
                  </a:tcPr>
                </a:tc>
                <a:tc>
                  <a:txBody>
                    <a:bodyPr/>
                    <a:lstStyle/>
                    <a:p>
                      <a:pPr algn="ctr"/>
                      <a:r>
                        <a:rPr sz="1500" b="0">
                          <a:solidFill>
                            <a:srgbClr val="142B33"/>
                          </a:solidFill>
                          <a:latin typeface="Calibri"/>
                        </a:rPr>
                        <a:t>0.0280</a:t>
                      </a:r>
                    </a:p>
                  </a:txBody>
                  <a:tcPr marL="73152" marR="73152" marT="27432" marB="27432" anchor="ctr">
                    <a:solidFill>
                      <a:srgbClr val="FFFFFF"/>
                    </a:solidFill>
                  </a:tcPr>
                </a:tc>
              </a:tr>
              <a:tr h="351282">
                <a:tc>
                  <a:txBody>
                    <a:bodyPr/>
                    <a:lstStyle/>
                    <a:p>
                      <a:pPr algn="l"/>
                      <a:r>
                        <a:rPr sz="1500" b="0">
                          <a:solidFill>
                            <a:srgbClr val="142B33"/>
                          </a:solidFill>
                          <a:latin typeface="Calibri"/>
                        </a:rPr>
                        <a:t>AD</a:t>
                      </a:r>
                    </a:p>
                  </a:txBody>
                  <a:tcPr marL="73152" marR="73152" marT="27432" marB="27432" anchor="ctr">
                    <a:solidFill>
                      <a:srgbClr val="F4F8F9"/>
                    </a:solidFill>
                  </a:tcPr>
                </a:tc>
                <a:tc>
                  <a:txBody>
                    <a:bodyPr/>
                    <a:lstStyle/>
                    <a:p>
                      <a:pPr algn="ctr"/>
                      <a:r>
                        <a:rPr sz="1500" b="0">
                          <a:solidFill>
                            <a:srgbClr val="142B33"/>
                          </a:solidFill>
                          <a:latin typeface="Calibri"/>
                        </a:rPr>
                        <a:t>1.1197</a:t>
                      </a:r>
                    </a:p>
                  </a:txBody>
                  <a:tcPr marL="73152" marR="73152" marT="27432" marB="27432" anchor="ctr">
                    <a:solidFill>
                      <a:srgbClr val="F4F8F9"/>
                    </a:solidFill>
                  </a:tcPr>
                </a:tc>
                <a:tc>
                  <a:txBody>
                    <a:bodyPr/>
                    <a:lstStyle/>
                    <a:p>
                      <a:pPr algn="ctr"/>
                      <a:r>
                        <a:rPr sz="1500" b="0">
                          <a:solidFill>
                            <a:srgbClr val="142B33"/>
                          </a:solidFill>
                          <a:latin typeface="Calibri"/>
                        </a:rPr>
                        <a:t>1</a:t>
                      </a:r>
                    </a:p>
                  </a:txBody>
                  <a:tcPr marL="73152" marR="73152" marT="27432" marB="27432" anchor="ctr">
                    <a:solidFill>
                      <a:srgbClr val="F4F8F9"/>
                    </a:solidFill>
                  </a:tcPr>
                </a:tc>
                <a:tc>
                  <a:txBody>
                    <a:bodyPr/>
                    <a:lstStyle/>
                    <a:p>
                      <a:pPr algn="ctr"/>
                      <a:r>
                        <a:rPr sz="1500" b="0">
                          <a:solidFill>
                            <a:srgbClr val="142B33"/>
                          </a:solidFill>
                          <a:latin typeface="Calibri"/>
                        </a:rPr>
                        <a:t>1.1197</a:t>
                      </a:r>
                    </a:p>
                  </a:txBody>
                  <a:tcPr marL="73152" marR="73152" marT="27432" marB="27432" anchor="ctr">
                    <a:solidFill>
                      <a:srgbClr val="F4F8F9"/>
                    </a:solidFill>
                  </a:tcPr>
                </a:tc>
                <a:tc>
                  <a:txBody>
                    <a:bodyPr/>
                    <a:lstStyle/>
                    <a:p>
                      <a:pPr algn="ctr"/>
                      <a:r>
                        <a:rPr sz="1500" b="0">
                          <a:solidFill>
                            <a:srgbClr val="142B33"/>
                          </a:solidFill>
                          <a:latin typeface="Calibri"/>
                        </a:rPr>
                        <a:t>65.48</a:t>
                      </a:r>
                    </a:p>
                  </a:txBody>
                  <a:tcPr marL="73152" marR="73152" marT="27432" marB="27432" anchor="ctr">
                    <a:solidFill>
                      <a:srgbClr val="F4F8F9"/>
                    </a:solidFill>
                  </a:tcPr>
                </a:tc>
                <a:tc>
                  <a:txBody>
                    <a:bodyPr/>
                    <a:lstStyle/>
                    <a:p>
                      <a:pPr algn="ctr"/>
                      <a:r>
                        <a:rPr sz="1500" b="0">
                          <a:solidFill>
                            <a:srgbClr val="142B33"/>
                          </a:solidFill>
                          <a:latin typeface="Calibri"/>
                        </a:rPr>
                        <a:t>&lt;0.0001</a:t>
                      </a:r>
                    </a:p>
                  </a:txBody>
                  <a:tcPr marL="73152" marR="73152" marT="27432" marB="27432" anchor="ctr">
                    <a:solidFill>
                      <a:srgbClr val="F4F8F9"/>
                    </a:solidFill>
                  </a:tcPr>
                </a:tc>
              </a:tr>
              <a:tr h="351282">
                <a:tc>
                  <a:txBody>
                    <a:bodyPr/>
                    <a:lstStyle/>
                    <a:p>
                      <a:pPr algn="l"/>
                      <a:r>
                        <a:rPr sz="1500" b="0">
                          <a:solidFill>
                            <a:srgbClr val="142B33"/>
                          </a:solidFill>
                          <a:latin typeface="Calibri"/>
                        </a:rPr>
                        <a:t>Bloques</a:t>
                      </a:r>
                    </a:p>
                  </a:txBody>
                  <a:tcPr marL="73152" marR="73152" marT="27432" marB="27432" anchor="ctr">
                    <a:solidFill>
                      <a:srgbClr val="FFFFFF"/>
                    </a:solidFill>
                  </a:tcPr>
                </a:tc>
                <a:tc>
                  <a:txBody>
                    <a:bodyPr/>
                    <a:lstStyle/>
                    <a:p>
                      <a:pPr algn="ctr"/>
                      <a:r>
                        <a:rPr sz="1500" b="0">
                          <a:solidFill>
                            <a:srgbClr val="142B33"/>
                          </a:solidFill>
                          <a:latin typeface="Calibri"/>
                        </a:rPr>
                        <a:t>0.0201</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0.0067</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r h="351282">
                <a:tc>
                  <a:txBody>
                    <a:bodyPr/>
                    <a:lstStyle/>
                    <a:p>
                      <a:pPr algn="l"/>
                      <a:r>
                        <a:rPr sz="1500" b="0">
                          <a:solidFill>
                            <a:srgbClr val="142B33"/>
                          </a:solidFill>
                          <a:latin typeface="Calibri"/>
                        </a:rPr>
                        <a:t>Error</a:t>
                      </a:r>
                    </a:p>
                  </a:txBody>
                  <a:tcPr marL="73152" marR="73152" marT="27432" marB="27432" anchor="ctr">
                    <a:solidFill>
                      <a:srgbClr val="F4F8F9"/>
                    </a:solidFill>
                  </a:tcPr>
                </a:tc>
                <a:tc>
                  <a:txBody>
                    <a:bodyPr/>
                    <a:lstStyle/>
                    <a:p>
                      <a:pPr algn="ctr"/>
                      <a:r>
                        <a:rPr sz="1500" b="0">
                          <a:solidFill>
                            <a:srgbClr val="142B33"/>
                          </a:solidFill>
                          <a:latin typeface="Calibri"/>
                        </a:rPr>
                        <a:t>0.4099</a:t>
                      </a:r>
                    </a:p>
                  </a:txBody>
                  <a:tcPr marL="73152" marR="73152" marT="27432" marB="27432" anchor="ctr">
                    <a:solidFill>
                      <a:srgbClr val="F4F8F9"/>
                    </a:solidFill>
                  </a:tcPr>
                </a:tc>
                <a:tc>
                  <a:txBody>
                    <a:bodyPr/>
                    <a:lstStyle/>
                    <a:p>
                      <a:pPr algn="ctr"/>
                      <a:r>
                        <a:rPr sz="1500" b="0">
                          <a:solidFill>
                            <a:srgbClr val="142B33"/>
                          </a:solidFill>
                          <a:latin typeface="Calibri"/>
                        </a:rPr>
                        <a:t>24</a:t>
                      </a:r>
                    </a:p>
                  </a:txBody>
                  <a:tcPr marL="73152" marR="73152" marT="27432" marB="27432" anchor="ctr">
                    <a:solidFill>
                      <a:srgbClr val="F4F8F9"/>
                    </a:solidFill>
                  </a:tcPr>
                </a:tc>
                <a:tc>
                  <a:txBody>
                    <a:bodyPr/>
                    <a:lstStyle/>
                    <a:p>
                      <a:pPr algn="ctr"/>
                      <a:r>
                        <a:rPr sz="1500" b="0">
                          <a:solidFill>
                            <a:srgbClr val="142B33"/>
                          </a:solidFill>
                          <a:latin typeface="Calibri"/>
                        </a:rPr>
                        <a:t>0.0171</a:t>
                      </a: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c>
                  <a:txBody>
                    <a:bodyPr/>
                    <a:lstStyle/>
                    <a:p>
                      <a:pPr algn="ctr"/>
                    </a:p>
                  </a:txBody>
                  <a:tcPr marL="73152" marR="73152" marT="27432" marB="27432" anchor="ctr">
                    <a:solidFill>
                      <a:srgbClr val="F4F8F9"/>
                    </a:solidFill>
                  </a:tcPr>
                </a:tc>
              </a:tr>
              <a:tr h="351282">
                <a:tc>
                  <a:txBody>
                    <a:bodyPr/>
                    <a:lstStyle/>
                    <a:p>
                      <a:pPr algn="l"/>
                      <a:r>
                        <a:rPr sz="1500" b="0">
                          <a:solidFill>
                            <a:srgbClr val="142B33"/>
                          </a:solidFill>
                          <a:latin typeface="Calibri"/>
                        </a:rPr>
                        <a:t>Total</a:t>
                      </a:r>
                    </a:p>
                  </a:txBody>
                  <a:tcPr marL="73152" marR="73152" marT="27432" marB="27432" anchor="ctr">
                    <a:solidFill>
                      <a:srgbClr val="FFFFFF"/>
                    </a:solidFill>
                  </a:tcPr>
                </a:tc>
                <a:tc>
                  <a:txBody>
                    <a:bodyPr/>
                    <a:lstStyle/>
                    <a:p>
                      <a:pPr algn="ctr"/>
                      <a:r>
                        <a:rPr sz="1500" b="0">
                          <a:solidFill>
                            <a:srgbClr val="142B33"/>
                          </a:solidFill>
                          <a:latin typeface="Calibri"/>
                        </a:rPr>
                        <a:t>2.6389</a:t>
                      </a:r>
                    </a:p>
                  </a:txBody>
                  <a:tcPr marL="73152" marR="73152" marT="27432" marB="27432" anchor="ctr">
                    <a:solidFill>
                      <a:srgbClr val="FFFFFF"/>
                    </a:solidFill>
                  </a:tcPr>
                </a:tc>
                <a:tc>
                  <a:txBody>
                    <a:bodyPr/>
                    <a:lstStyle/>
                    <a:p>
                      <a:pPr algn="ctr"/>
                      <a:r>
                        <a:rPr sz="1500" b="0">
                          <a:solidFill>
                            <a:srgbClr val="142B33"/>
                          </a:solidFill>
                          <a:latin typeface="Calibri"/>
                        </a:rPr>
                        <a:t>31</a:t>
                      </a: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c>
                  <a:txBody>
                    <a:bodyPr/>
                    <a:lstStyle/>
                    <a:p>
                      <a:pPr algn="ctr"/>
                    </a:p>
                  </a:txBody>
                  <a:tcPr marL="73152" marR="73152" marT="27432" marB="27432" anchor="ctr">
                    <a:solidFill>
                      <a:srgbClr val="FFFFFF"/>
                    </a:solidFill>
                  </a:tcPr>
                </a:tc>
              </a:tr>
            </a:tbl>
          </a:graphicData>
        </a:graphic>
      </p:graphicFrame>
      <p:sp>
        <p:nvSpPr>
          <p:cNvPr id="4" name="TextBox 3"/>
          <p:cNvSpPr txBox="1"/>
          <p:nvPr/>
        </p:nvSpPr>
        <p:spPr>
          <a:xfrm>
            <a:off x="6301587" y="1417320"/>
            <a:ext cx="5341467" cy="180593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500" b="0">
                <a:solidFill>
                  <a:srgbClr val="142B33"/>
                </a:solidFill>
                <a:latin typeface="Calibri"/>
              </a:rPr>
              <a:t>Activos: </a:t>
            </a:r>
            <a:r>
              <a:rPr sz="1500" b="1">
                <a:solidFill>
                  <a:srgbClr val="142B33"/>
                </a:solidFill>
                <a:latin typeface="Calibri"/>
              </a:rPr>
              <a:t>A</a:t>
            </a:r>
            <a:r>
              <a:rPr sz="1500" b="0">
                <a:solidFill>
                  <a:srgbClr val="142B33"/>
                </a:solidFill>
                <a:latin typeface="Calibri"/>
              </a:rPr>
              <a:t>, </a:t>
            </a:r>
            <a:r>
              <a:rPr sz="1500" b="1">
                <a:solidFill>
                  <a:srgbClr val="142B33"/>
                </a:solidFill>
                <a:latin typeface="Calibri"/>
              </a:rPr>
              <a:t>B</a:t>
            </a:r>
            <a:r>
              <a:rPr sz="1500" b="0">
                <a:solidFill>
                  <a:srgbClr val="142B33"/>
                </a:solidFill>
                <a:latin typeface="Calibri"/>
              </a:rPr>
              <a:t> y la cadena </a:t>
            </a:r>
            <a:r>
              <a:rPr sz="1500" b="1">
                <a:solidFill>
                  <a:srgbClr val="142B33"/>
                </a:solidFill>
                <a:latin typeface="Calibri"/>
              </a:rPr>
              <a:t>AD + BG</a:t>
            </a:r>
          </a:p>
          <a:p>
            <a:pPr marL="320040" indent="-320040">
              <a:spcAft>
                <a:spcPts val="600"/>
              </a:spcAft>
              <a:buClr>
                <a:srgbClr val="E36414"/>
              </a:buClr>
              <a:buFont typeface="Arial"/>
              <a:buChar char="•"/>
            </a:pPr>
            <a:r>
              <a:rPr sz="1500" b="0">
                <a:solidFill>
                  <a:srgbClr val="142B33"/>
                </a:solidFill>
                <a:latin typeface="Calibri"/>
              </a:rPr>
              <a:t>Las dos interacciones tienen un efecto principal grande: se requiere </a:t>
            </a:r>
            <a:r>
              <a:rPr sz="1500" b="1">
                <a:solidFill>
                  <a:srgbClr val="142B33"/>
                </a:solidFill>
                <a:latin typeface="Calibri"/>
              </a:rPr>
              <a:t>conocimiento del proceso</a:t>
            </a:r>
          </a:p>
          <a:p>
            <a:pPr marL="320040" indent="-320040">
              <a:spcAft>
                <a:spcPts val="600"/>
              </a:spcAft>
              <a:buClr>
                <a:srgbClr val="E36414"/>
              </a:buClr>
              <a:buFont typeface="Arial"/>
              <a:buChar char="•"/>
            </a:pPr>
            <a:r>
              <a:rPr sz="1500" b="0">
                <a:solidFill>
                  <a:srgbClr val="142B33"/>
                </a:solidFill>
                <a:latin typeface="Calibri"/>
              </a:rPr>
              <a:t>D entra por </a:t>
            </a:r>
            <a:r>
              <a:rPr sz="1500" b="1">
                <a:solidFill>
                  <a:srgbClr val="142B33"/>
                </a:solidFill>
                <a:latin typeface="Calibri"/>
              </a:rPr>
              <a:t>jerarquía</a:t>
            </a:r>
            <a:r>
              <a:rPr sz="1500" b="0">
                <a:solidFill>
                  <a:srgbClr val="142B33"/>
                </a:solidFill>
                <a:latin typeface="Calibri"/>
              </a:rPr>
              <a:t> (acompaña a AD)</a:t>
            </a:r>
          </a:p>
          <a:p>
            <a:pPr marL="320040" indent="-320040">
              <a:spcAft>
                <a:spcPts val="600"/>
              </a:spcAft>
              <a:buClr>
                <a:srgbClr val="E36414"/>
              </a:buClr>
              <a:buFont typeface="Arial"/>
              <a:buChar char="•"/>
            </a:pPr>
            <a:r>
              <a:rPr sz="1500" b="0">
                <a:solidFill>
                  <a:srgbClr val="142B33"/>
                </a:solidFill>
                <a:latin typeface="Calibri"/>
              </a:rPr>
              <a:t>Bloques pequeños: los areómetros </a:t>
            </a:r>
            <a:r>
              <a:rPr sz="1500" b="1">
                <a:solidFill>
                  <a:srgbClr val="142B33"/>
                </a:solidFill>
                <a:latin typeface="Calibri"/>
              </a:rPr>
              <a:t>no difieren</a:t>
            </a:r>
            <a:r>
              <a:rPr sz="1500" b="0">
                <a:solidFill>
                  <a:srgbClr val="142B33"/>
                </a:solidFill>
                <a:latin typeface="Calibri"/>
              </a:rPr>
              <a:t> mucho</a:t>
            </a:r>
          </a:p>
          <a:p>
            <a:pPr marL="320040" indent="-320040">
              <a:spcAft>
                <a:spcPts val="600"/>
              </a:spcAft>
              <a:buClr>
                <a:srgbClr val="E36414"/>
              </a:buClr>
              <a:buFont typeface="Arial"/>
              <a:buChar char="•"/>
            </a:pPr>
            <a:r>
              <a:rPr sz="1500" b="0">
                <a:solidFill>
                  <a:srgbClr val="142B33"/>
                </a:solidFill>
                <a:latin typeface="Calibri"/>
              </a:rPr>
              <a:t>Mejor condición: </a:t>
            </a:r>
            <a:r>
              <a:rPr sz="1500" b="1">
                <a:solidFill>
                  <a:srgbClr val="142B33"/>
                </a:solidFill>
                <a:latin typeface="Calibri"/>
              </a:rPr>
              <a:t>A bajo, B alto, fabricante 1</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El diseño 2</a:t>
            </a:r>
            <a:r>
              <a:rPr sz="1000" b="0" baseline="30000">
                <a:solidFill>
                  <a:srgbClr val="5B6B73"/>
                </a:solidFill>
                <a:latin typeface="Calibri"/>
              </a:rPr>
              <a:t>k−p</a:t>
            </a:r>
            <a:r>
              <a:rPr sz="1000" b="0">
                <a:solidFill>
                  <a:srgbClr val="5B6B73"/>
                </a:solidFill>
                <a:latin typeface="Calibri"/>
              </a:rPr>
              <a:t> general</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77</a:t>
            </a:r>
          </a:p>
        </p:txBody>
      </p:sp>
      <p:sp>
        <p:nvSpPr>
          <p:cNvPr id="7" name="Rounded Rectangle 6"/>
          <p:cNvSpPr/>
          <p:nvPr/>
        </p:nvSpPr>
        <p:spPr>
          <a:xfrm>
            <a:off x="548640" y="91440"/>
            <a:ext cx="2820924"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6 · El diseño 2</a:t>
            </a:r>
            <a:r>
              <a:rPr sz="1100" b="1" baseline="30000">
                <a:solidFill>
                  <a:srgbClr val="FFFFFF"/>
                </a:solidFill>
                <a:latin typeface="Calibri"/>
              </a:rPr>
              <a:t>k−p</a:t>
            </a:r>
            <a:r>
              <a:rPr sz="1100" b="1">
                <a:solidFill>
                  <a:srgbClr val="FFFFFF"/>
                </a:solidFill>
                <a:latin typeface="Calibri"/>
              </a:rPr>
              <a:t> general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III</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7</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Saturados, doblez y diseños de Plackett-Burman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saturado? El 2</a:t>
            </a:r>
            <a:r>
              <a:rPr sz="3000" b="1" baseline="30000">
                <a:solidFill>
                  <a:srgbClr val="0F4C5C"/>
                </a:solidFill>
                <a:latin typeface="Cambria"/>
              </a:rPr>
              <a:t>7−4</a:t>
            </a:r>
            <a:r>
              <a:rPr sz="3000" b="1" baseline="-25000">
                <a:solidFill>
                  <a:srgbClr val="0F4C5C"/>
                </a:solidFill>
                <a:latin typeface="Cambria"/>
              </a:rPr>
              <a:t>III</a:t>
            </a:r>
          </a:p>
        </p:txBody>
      </p:sp>
      <p:graphicFrame>
        <p:nvGraphicFramePr>
          <p:cNvPr id="3" name="Table 2"/>
          <p:cNvGraphicFramePr>
            <a:graphicFrameLocks noGrp="1"/>
          </p:cNvGraphicFramePr>
          <p:nvPr/>
        </p:nvGraphicFramePr>
        <p:xfrm>
          <a:off x="548640" y="1417320"/>
          <a:ext cx="5982441" cy="3022092"/>
        </p:xfrm>
        <a:graphic>
          <a:graphicData uri="http://schemas.openxmlformats.org/drawingml/2006/table">
            <a:tbl>
              <a:tblPr firstRow="0" bandRow="0">
                <a:tableStyleId>{5C22544A-7EE6-4342-B048-85BDC9FD1C3A}</a:tableStyleId>
              </a:tblPr>
              <a:tblGrid>
                <a:gridCol w="1059486"/>
                <a:gridCol w="347073"/>
                <a:gridCol w="347073"/>
                <a:gridCol w="347073"/>
                <a:gridCol w="940750"/>
                <a:gridCol w="940750"/>
                <a:gridCol w="940750"/>
                <a:gridCol w="1059486"/>
              </a:tblGrid>
              <a:tr h="335788">
                <a:tc>
                  <a:txBody>
                    <a:bodyPr/>
                    <a:lstStyle/>
                    <a:p>
                      <a:pPr algn="ctr"/>
                      <a:r>
                        <a:rPr sz="1400" b="1">
                          <a:solidFill>
                            <a:srgbClr val="FFFFFF"/>
                          </a:solidFill>
                          <a:latin typeface="Calibri"/>
                        </a:rPr>
                        <a:t>Corrida</a:t>
                      </a:r>
                    </a:p>
                  </a:txBody>
                  <a:tcPr marL="73152" marR="73152" marT="27432" marB="27432" anchor="ctr">
                    <a:solidFill>
                      <a:srgbClr val="0F4C5C"/>
                    </a:solidFill>
                  </a:tcPr>
                </a:tc>
                <a:tc>
                  <a:txBody>
                    <a:bodyPr/>
                    <a:lstStyle/>
                    <a:p>
                      <a:pPr algn="ctr"/>
                      <a:r>
                        <a:rPr sz="1400" b="1">
                          <a:solidFill>
                            <a:srgbClr val="FFFFFF"/>
                          </a:solidFill>
                          <a:latin typeface="Calibri"/>
                        </a:rPr>
                        <a:t>A</a:t>
                      </a:r>
                    </a:p>
                  </a:txBody>
                  <a:tcPr marL="73152" marR="73152" marT="27432" marB="27432" anchor="ctr">
                    <a:solidFill>
                      <a:srgbClr val="0F4C5C"/>
                    </a:solidFill>
                  </a:tcPr>
                </a:tc>
                <a:tc>
                  <a:txBody>
                    <a:bodyPr/>
                    <a:lstStyle/>
                    <a:p>
                      <a:pPr algn="ctr"/>
                      <a:r>
                        <a:rPr sz="1400" b="1">
                          <a:solidFill>
                            <a:srgbClr val="FFFFFF"/>
                          </a:solidFill>
                          <a:latin typeface="Calibri"/>
                        </a:rPr>
                        <a:t>B</a:t>
                      </a:r>
                    </a:p>
                  </a:txBody>
                  <a:tcPr marL="73152" marR="73152" marT="27432" marB="27432" anchor="ctr">
                    <a:solidFill>
                      <a:srgbClr val="0F4C5C"/>
                    </a:solidFill>
                  </a:tcPr>
                </a:tc>
                <a:tc>
                  <a:txBody>
                    <a:bodyPr/>
                    <a:lstStyle/>
                    <a:p>
                      <a:pPr algn="ctr"/>
                      <a:r>
                        <a:rPr sz="1400" b="1">
                          <a:solidFill>
                            <a:srgbClr val="FFFFFF"/>
                          </a:solidFill>
                          <a:latin typeface="Calibri"/>
                        </a:rPr>
                        <a:t>C</a:t>
                      </a:r>
                    </a:p>
                  </a:txBody>
                  <a:tcPr marL="73152" marR="73152" marT="27432" marB="27432" anchor="ctr">
                    <a:solidFill>
                      <a:srgbClr val="0F4C5C"/>
                    </a:solidFill>
                  </a:tcPr>
                </a:tc>
                <a:tc>
                  <a:txBody>
                    <a:bodyPr/>
                    <a:lstStyle/>
                    <a:p>
                      <a:pPr algn="ctr"/>
                      <a:r>
                        <a:rPr sz="1400" b="1">
                          <a:solidFill>
                            <a:srgbClr val="FFFFFF"/>
                          </a:solidFill>
                          <a:latin typeface="Calibri"/>
                        </a:rPr>
                        <a:t>D = AB</a:t>
                      </a:r>
                    </a:p>
                  </a:txBody>
                  <a:tcPr marL="73152" marR="73152" marT="27432" marB="27432" anchor="ctr">
                    <a:solidFill>
                      <a:srgbClr val="0F4C5C"/>
                    </a:solidFill>
                  </a:tcPr>
                </a:tc>
                <a:tc>
                  <a:txBody>
                    <a:bodyPr/>
                    <a:lstStyle/>
                    <a:p>
                      <a:pPr algn="ctr"/>
                      <a:r>
                        <a:rPr sz="1400" b="1">
                          <a:solidFill>
                            <a:srgbClr val="FFFFFF"/>
                          </a:solidFill>
                          <a:latin typeface="Calibri"/>
                        </a:rPr>
                        <a:t>E = AC</a:t>
                      </a:r>
                    </a:p>
                  </a:txBody>
                  <a:tcPr marL="73152" marR="73152" marT="27432" marB="27432" anchor="ctr">
                    <a:solidFill>
                      <a:srgbClr val="0F4C5C"/>
                    </a:solidFill>
                  </a:tcPr>
                </a:tc>
                <a:tc>
                  <a:txBody>
                    <a:bodyPr/>
                    <a:lstStyle/>
                    <a:p>
                      <a:pPr algn="ctr"/>
                      <a:r>
                        <a:rPr sz="1400" b="1">
                          <a:solidFill>
                            <a:srgbClr val="FFFFFF"/>
                          </a:solidFill>
                          <a:latin typeface="Calibri"/>
                        </a:rPr>
                        <a:t>F = BC</a:t>
                      </a:r>
                    </a:p>
                  </a:txBody>
                  <a:tcPr marL="73152" marR="73152" marT="27432" marB="27432" anchor="ctr">
                    <a:solidFill>
                      <a:srgbClr val="0F4C5C"/>
                    </a:solidFill>
                  </a:tcPr>
                </a:tc>
                <a:tc>
                  <a:txBody>
                    <a:bodyPr/>
                    <a:lstStyle/>
                    <a:p>
                      <a:pPr algn="ctr"/>
                      <a:r>
                        <a:rPr sz="1400" b="1">
                          <a:solidFill>
                            <a:srgbClr val="FFFFFF"/>
                          </a:solidFill>
                          <a:latin typeface="Calibri"/>
                        </a:rPr>
                        <a:t>G = ABC</a:t>
                      </a:r>
                    </a:p>
                  </a:txBody>
                  <a:tcPr marL="73152" marR="73152" marT="27432" marB="27432" anchor="ctr">
                    <a:solidFill>
                      <a:srgbClr val="0F4C5C"/>
                    </a:solidFill>
                  </a:tcPr>
                </a:tc>
              </a:tr>
              <a:tr h="335788">
                <a:tc>
                  <a:txBody>
                    <a:bodyPr/>
                    <a:lstStyle/>
                    <a:p>
                      <a:pPr algn="ctr"/>
                      <a:r>
                        <a:rPr sz="1400" b="0">
                          <a:solidFill>
                            <a:srgbClr val="142B33"/>
                          </a:solidFill>
                          <a:latin typeface="Calibri"/>
                        </a:rPr>
                        <a:t>1</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2</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3</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4</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5</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6</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c>
                  <a:txBody>
                    <a:bodyPr/>
                    <a:lstStyle/>
                    <a:p>
                      <a:pPr algn="ctr"/>
                      <a:r>
                        <a:rPr sz="1500" b="1">
                          <a:solidFill>
                            <a:srgbClr val="E36414"/>
                          </a:solidFill>
                          <a:latin typeface="Calibri"/>
                        </a:rPr>
                        <a:t>−</a:t>
                      </a:r>
                    </a:p>
                  </a:txBody>
                  <a:tcPr marL="73152" marR="73152" marT="27432" marB="27432" anchor="ctr">
                    <a:solidFill>
                      <a:srgbClr val="F4F8F9"/>
                    </a:solidFill>
                  </a:tcPr>
                </a:tc>
              </a:tr>
              <a:tr h="335788">
                <a:tc>
                  <a:txBody>
                    <a:bodyPr/>
                    <a:lstStyle/>
                    <a:p>
                      <a:pPr algn="ctr"/>
                      <a:r>
                        <a:rPr sz="1400" b="0">
                          <a:solidFill>
                            <a:srgbClr val="142B33"/>
                          </a:solidFill>
                          <a:latin typeface="Calibri"/>
                        </a:rPr>
                        <a:t>7</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c>
                  <a:txBody>
                    <a:bodyPr/>
                    <a:lstStyle/>
                    <a:p>
                      <a:pPr algn="ctr"/>
                      <a:r>
                        <a:rPr sz="1500" b="1">
                          <a:solidFill>
                            <a:srgbClr val="0F4C5C"/>
                          </a:solidFill>
                          <a:latin typeface="Calibri"/>
                        </a:rPr>
                        <a:t>+</a:t>
                      </a:r>
                    </a:p>
                  </a:txBody>
                  <a:tcPr marL="73152" marR="73152" marT="27432" marB="27432" anchor="ctr">
                    <a:solidFill>
                      <a:srgbClr val="FFFFFF"/>
                    </a:solidFill>
                  </a:tcPr>
                </a:tc>
                <a:tc>
                  <a:txBody>
                    <a:bodyPr/>
                    <a:lstStyle/>
                    <a:p>
                      <a:pPr algn="ctr"/>
                      <a:r>
                        <a:rPr sz="1500" b="1">
                          <a:solidFill>
                            <a:srgbClr val="E36414"/>
                          </a:solidFill>
                          <a:latin typeface="Calibri"/>
                        </a:rPr>
                        <a:t>−</a:t>
                      </a:r>
                    </a:p>
                  </a:txBody>
                  <a:tcPr marL="73152" marR="73152" marT="27432" marB="27432" anchor="ctr">
                    <a:solidFill>
                      <a:srgbClr val="FFFFFF"/>
                    </a:solidFill>
                  </a:tcPr>
                </a:tc>
              </a:tr>
              <a:tr h="335788">
                <a:tc>
                  <a:txBody>
                    <a:bodyPr/>
                    <a:lstStyle/>
                    <a:p>
                      <a:pPr algn="ctr"/>
                      <a:r>
                        <a:rPr sz="1400" b="0">
                          <a:solidFill>
                            <a:srgbClr val="142B33"/>
                          </a:solidFill>
                          <a:latin typeface="Calibri"/>
                        </a:rPr>
                        <a:t>8</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c>
                  <a:txBody>
                    <a:bodyPr/>
                    <a:lstStyle/>
                    <a:p>
                      <a:pPr algn="ctr"/>
                      <a:r>
                        <a:rPr sz="1500" b="1">
                          <a:solidFill>
                            <a:srgbClr val="0F4C5C"/>
                          </a:solidFill>
                          <a:latin typeface="Calibri"/>
                        </a:rPr>
                        <a:t>+</a:t>
                      </a:r>
                    </a:p>
                  </a:txBody>
                  <a:tcPr marL="73152" marR="73152" marT="27432" marB="27432" anchor="ctr">
                    <a:solidFill>
                      <a:srgbClr val="F4F8F9"/>
                    </a:solidFill>
                  </a:tcPr>
                </a:tc>
              </a:tr>
            </a:tbl>
          </a:graphicData>
        </a:graphic>
      </p:graphicFrame>
      <p:sp>
        <p:nvSpPr>
          <p:cNvPr id="4" name="Rounded Rectangle 3"/>
          <p:cNvSpPr/>
          <p:nvPr/>
        </p:nvSpPr>
        <p:spPr>
          <a:xfrm>
            <a:off x="548640" y="4640580"/>
            <a:ext cx="5982443"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Saturado</a:t>
            </a:r>
            <a:r>
              <a:rPr sz="1500" b="0">
                <a:solidFill>
                  <a:srgbClr val="142B33"/>
                </a:solidFill>
                <a:latin typeface="Calibri"/>
              </a:rPr>
              <a:t>: 7 factores en 8 corridas (k = N − 1)</a:t>
            </a:r>
          </a:p>
        </p:txBody>
      </p:sp>
      <p:graphicFrame>
        <p:nvGraphicFramePr>
          <p:cNvPr id="5" name="Table 4"/>
          <p:cNvGraphicFramePr>
            <a:graphicFrameLocks noGrp="1"/>
          </p:cNvGraphicFramePr>
          <p:nvPr/>
        </p:nvGraphicFramePr>
        <p:xfrm>
          <a:off x="6942563" y="1417320"/>
          <a:ext cx="4700491" cy="2810256"/>
        </p:xfrm>
        <a:graphic>
          <a:graphicData uri="http://schemas.openxmlformats.org/drawingml/2006/table">
            <a:tbl>
              <a:tblPr firstRow="0" bandRow="0">
                <a:tableStyleId>{5C22544A-7EE6-4342-B048-85BDC9FD1C3A}</a:tableStyleId>
              </a:tblPr>
              <a:tblGrid>
                <a:gridCol w="1811485"/>
                <a:gridCol w="2889006"/>
              </a:tblGrid>
              <a:tr h="35128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Estima</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FFFFF"/>
                    </a:solidFill>
                  </a:tcPr>
                </a:tc>
                <a:tc>
                  <a:txBody>
                    <a:bodyPr/>
                    <a:lstStyle/>
                    <a:p>
                      <a:pPr algn="ctr"/>
                      <a:r>
                        <a:rPr sz="1500" b="0">
                          <a:solidFill>
                            <a:srgbClr val="142B33"/>
                          </a:solidFill>
                          <a:latin typeface="Calibri"/>
                        </a:rPr>
                        <a:t>A + BD + CE + FG</a:t>
                      </a:r>
                    </a:p>
                  </a:txBody>
                  <a:tcPr marL="73152" marR="73152" marT="27432" marB="27432" anchor="ctr">
                    <a:solidFill>
                      <a:srgbClr val="FFFFFF"/>
                    </a:solidFill>
                  </a:tcPr>
                </a:tc>
              </a:tr>
              <a:tr h="351282">
                <a:tc>
                  <a:txBody>
                    <a:bodyPr/>
                    <a:lstStyle/>
                    <a:p>
                      <a:pPr algn="ctr"/>
                      <a:r>
                        <a:rPr sz="1500" b="0">
                          <a:solidFill>
                            <a:srgbClr val="142B33"/>
                          </a:solidFill>
                          <a:latin typeface="Calibri"/>
                        </a:rPr>
                        <a:t>B</a:t>
                      </a:r>
                    </a:p>
                  </a:txBody>
                  <a:tcPr marL="73152" marR="73152" marT="27432" marB="27432" anchor="ctr">
                    <a:solidFill>
                      <a:srgbClr val="F4F8F9"/>
                    </a:solidFill>
                  </a:tcPr>
                </a:tc>
                <a:tc>
                  <a:txBody>
                    <a:bodyPr/>
                    <a:lstStyle/>
                    <a:p>
                      <a:pPr algn="ctr"/>
                      <a:r>
                        <a:rPr sz="1500" b="0">
                          <a:solidFill>
                            <a:srgbClr val="142B33"/>
                          </a:solidFill>
                          <a:latin typeface="Calibri"/>
                        </a:rPr>
                        <a:t>B + AD + CF + EG</a:t>
                      </a:r>
                    </a:p>
                  </a:txBody>
                  <a:tcPr marL="73152" marR="73152" marT="27432" marB="27432" anchor="ctr">
                    <a:solidFill>
                      <a:srgbClr val="F4F8F9"/>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C + AE + BF + DG</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4F8F9"/>
                    </a:solidFill>
                  </a:tcPr>
                </a:tc>
                <a:tc>
                  <a:txBody>
                    <a:bodyPr/>
                    <a:lstStyle/>
                    <a:p>
                      <a:pPr algn="ctr"/>
                      <a:r>
                        <a:rPr sz="1500" b="0">
                          <a:solidFill>
                            <a:srgbClr val="142B33"/>
                          </a:solidFill>
                          <a:latin typeface="Calibri"/>
                        </a:rPr>
                        <a:t>D + AB + CG + EF</a:t>
                      </a:r>
                    </a:p>
                  </a:txBody>
                  <a:tcPr marL="73152" marR="73152" marT="27432" marB="27432" anchor="ctr">
                    <a:solidFill>
                      <a:srgbClr val="F4F8F9"/>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E + AC + BG + DF</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F + BC + AG + DE</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G + CD + BE + AF</a:t>
                      </a:r>
                    </a:p>
                  </a:txBody>
                  <a:tcPr marL="73152" marR="73152" marT="27432" marB="27432" anchor="ctr">
                    <a:solidFill>
                      <a:srgbClr val="FFFFFF"/>
                    </a:solidFill>
                  </a:tcPr>
                </a:tc>
              </a:tr>
            </a:tbl>
          </a:graphicData>
        </a:graphic>
      </p:graphicFrame>
      <p:sp>
        <p:nvSpPr>
          <p:cNvPr id="6" name="TextBox 5"/>
          <p:cNvSpPr txBox="1"/>
          <p:nvPr/>
        </p:nvSpPr>
        <p:spPr>
          <a:xfrm>
            <a:off x="6942563" y="4428744"/>
            <a:ext cx="4700491" cy="237998"/>
          </a:xfrm>
          <a:prstGeom prst="rect">
            <a:avLst/>
          </a:prstGeom>
          <a:noFill/>
        </p:spPr>
        <p:txBody>
          <a:bodyPr wrap="square" anchor="t" lIns="0" rIns="0" tIns="0" bIns="0">
            <a:spAutoFit/>
          </a:bodyPr>
          <a:lstStyle/>
          <a:p>
            <a:r>
              <a:rPr sz="1300" b="0">
                <a:solidFill>
                  <a:srgbClr val="5B6B73"/>
                </a:solidFill>
                <a:latin typeface="Calibri"/>
              </a:rPr>
              <a:t>Alias despreciando interacciones de tres o más factores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79</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2</a:t>
            </a:r>
            <a:r>
              <a:rPr sz="3000" b="1" baseline="30000">
                <a:solidFill>
                  <a:srgbClr val="0F4C5C"/>
                </a:solidFill>
                <a:latin typeface="Cambria"/>
              </a:rPr>
              <a:t>7−4</a:t>
            </a:r>
            <a:r>
              <a:rPr sz="3000" b="1">
                <a:solidFill>
                  <a:srgbClr val="0F4C5C"/>
                </a:solidFill>
                <a:latin typeface="Cambria"/>
              </a:rPr>
              <a:t>?</a:t>
            </a:r>
          </a:p>
        </p:txBody>
      </p:sp>
      <p:sp>
        <p:nvSpPr>
          <p:cNvPr id="3" name="Rounded Rectangle 2"/>
          <p:cNvSpPr/>
          <p:nvPr/>
        </p:nvSpPr>
        <p:spPr>
          <a:xfrm>
            <a:off x="548640" y="1417320"/>
            <a:ext cx="11094415" cy="864331"/>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I = ABD = ACE = BCF = ABCG = BCDE = ACDF = CDG</a:t>
            </a:r>
          </a:p>
          <a:p>
            <a:pPr algn="ctr"/>
            <a:r>
              <a:rPr sz="1700" b="0">
                <a:solidFill>
                  <a:srgbClr val="0F4C5C"/>
                </a:solidFill>
                <a:latin typeface="Cambria Math"/>
              </a:rPr>
              <a:t>= ABEF = BEG = AFG = DEF = ADEG = CEFG = BDFG = ABCDEFG</a:t>
            </a:r>
          </a:p>
        </p:txBody>
      </p:sp>
      <p:sp>
        <p:nvSpPr>
          <p:cNvPr id="4" name="Rounded Rectangle 3"/>
          <p:cNvSpPr/>
          <p:nvPr/>
        </p:nvSpPr>
        <p:spPr>
          <a:xfrm>
            <a:off x="548640" y="2482819"/>
            <a:ext cx="11094415" cy="51726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400" b="0">
                <a:solidFill>
                  <a:srgbClr val="0F4C5C"/>
                </a:solidFill>
                <a:latin typeface="Cambria Math"/>
              </a:rPr>
              <a:t>B = AD = CF = EG = ACG = CDE = AEF = DFG = ABCE = ABFG = BCDG = BDEF = ABCDF = ABDEG = BCEFG = ACDEFG</a:t>
            </a:r>
          </a:p>
        </p:txBody>
      </p:sp>
      <p:sp>
        <p:nvSpPr>
          <p:cNvPr id="5" name="Rounded Rectangle 4"/>
          <p:cNvSpPr/>
          <p:nvPr/>
        </p:nvSpPr>
        <p:spPr>
          <a:xfrm>
            <a:off x="548640" y="3201253"/>
            <a:ext cx="3545738" cy="16372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15 palabras</a:t>
            </a:r>
          </a:p>
          <a:p>
            <a:pPr algn="l"/>
            <a:r>
              <a:rPr sz="1500" b="0">
                <a:solidFill>
                  <a:srgbClr val="142B33"/>
                </a:solidFill>
                <a:latin typeface="Calibri"/>
              </a:rPr>
              <a:t>Generadores y todos sus productos; la más corta tiene </a:t>
            </a:r>
            <a:r>
              <a:rPr sz="1500" b="1">
                <a:solidFill>
                  <a:srgbClr val="142B33"/>
                </a:solidFill>
                <a:latin typeface="Calibri"/>
              </a:rPr>
              <a:t>3 letras</a:t>
            </a:r>
            <a:r>
              <a:rPr sz="1500" b="0">
                <a:solidFill>
                  <a:srgbClr val="142B33"/>
                </a:solidFill>
                <a:latin typeface="Calibri"/>
              </a:rPr>
              <a:t>: resolución III</a:t>
            </a:r>
          </a:p>
        </p:txBody>
      </p:sp>
      <p:sp>
        <p:nvSpPr>
          <p:cNvPr id="6" name="Rounded Rectangle 5"/>
          <p:cNvSpPr/>
          <p:nvPr/>
        </p:nvSpPr>
        <p:spPr>
          <a:xfrm>
            <a:off x="4322978" y="3201253"/>
            <a:ext cx="3545738" cy="16372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15 alias por efecto</a:t>
            </a:r>
          </a:p>
          <a:p>
            <a:pPr algn="l"/>
            <a:r>
              <a:rPr sz="1500" b="0">
                <a:solidFill>
                  <a:srgbClr val="142B33"/>
                </a:solidFill>
                <a:latin typeface="Calibri"/>
              </a:rPr>
              <a:t>Despreciando triples: principal + </a:t>
            </a:r>
            <a:r>
              <a:rPr sz="1500" b="1">
                <a:solidFill>
                  <a:srgbClr val="142B33"/>
                </a:solidFill>
                <a:latin typeface="Calibri"/>
              </a:rPr>
              <a:t>tres interacciones dobles</a:t>
            </a:r>
          </a:p>
        </p:txBody>
      </p:sp>
      <p:sp>
        <p:nvSpPr>
          <p:cNvPr id="7" name="Rounded Rectangle 6"/>
          <p:cNvSpPr/>
          <p:nvPr/>
        </p:nvSpPr>
        <p:spPr>
          <a:xfrm>
            <a:off x="8097316" y="3201253"/>
            <a:ext cx="3545738" cy="1637284"/>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16 fracciones</a:t>
            </a:r>
          </a:p>
          <a:p>
            <a:pPr algn="l"/>
            <a:r>
              <a:rPr sz="1500" b="0">
                <a:solidFill>
                  <a:srgbClr val="142B33"/>
                </a:solidFill>
                <a:latin typeface="Calibri"/>
              </a:rPr>
              <a:t>Una por cada combinación de signos de los </a:t>
            </a:r>
            <a:r>
              <a:rPr sz="1500" b="1">
                <a:solidFill>
                  <a:srgbClr val="142B33"/>
                </a:solidFill>
                <a:latin typeface="Calibri"/>
              </a:rPr>
              <a:t>cuatro generadores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80</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obtengo diseños para menos factores?</a:t>
            </a:r>
          </a:p>
        </p:txBody>
      </p:sp>
      <p:sp>
        <p:nvSpPr>
          <p:cNvPr id="3" name="Rounded Rectangle 2"/>
          <p:cNvSpPr/>
          <p:nvPr/>
        </p:nvSpPr>
        <p:spPr>
          <a:xfrm>
            <a:off x="548640" y="1417320"/>
            <a:ext cx="6196102"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Nueva relación = palabras que </a:t>
            </a:r>
            <a:r>
              <a:rPr sz="1700" b="1">
                <a:solidFill>
                  <a:srgbClr val="0F4C5C"/>
                </a:solidFill>
                <a:latin typeface="Cambria Math"/>
              </a:rPr>
              <a:t>no contienen</a:t>
            </a:r>
            <a:r>
              <a:rPr sz="1700" b="0">
                <a:solidFill>
                  <a:srgbClr val="0F4C5C"/>
                </a:solidFill>
                <a:latin typeface="Cambria Math"/>
              </a:rPr>
              <a:t> las letras eliminadas</a:t>
            </a:r>
          </a:p>
        </p:txBody>
      </p:sp>
      <p:graphicFrame>
        <p:nvGraphicFramePr>
          <p:cNvPr id="4" name="Table 3"/>
          <p:cNvGraphicFramePr>
            <a:graphicFrameLocks noGrp="1"/>
          </p:cNvGraphicFramePr>
          <p:nvPr/>
        </p:nvGraphicFramePr>
        <p:xfrm>
          <a:off x="548640" y="2187813"/>
          <a:ext cx="6196101" cy="1224279"/>
        </p:xfrm>
        <a:graphic>
          <a:graphicData uri="http://schemas.openxmlformats.org/drawingml/2006/table">
            <a:tbl>
              <a:tblPr firstRow="0" bandRow="0">
                <a:tableStyleId>{5C22544A-7EE6-4342-B048-85BDC9FD1C3A}</a:tableStyleId>
              </a:tblPr>
              <a:tblGrid>
                <a:gridCol w="1239220"/>
                <a:gridCol w="1239220"/>
                <a:gridCol w="3717661"/>
              </a:tblGrid>
              <a:tr h="335788">
                <a:tc>
                  <a:txBody>
                    <a:bodyPr/>
                    <a:lstStyle/>
                    <a:p>
                      <a:pPr algn="ctr"/>
                      <a:r>
                        <a:rPr sz="1400" b="1">
                          <a:solidFill>
                            <a:srgbClr val="FFFFFF"/>
                          </a:solidFill>
                          <a:latin typeface="Calibri"/>
                        </a:rPr>
                        <a:t>Se elimina</a:t>
                      </a:r>
                    </a:p>
                  </a:txBody>
                  <a:tcPr marL="73152" marR="73152" marT="27432" marB="27432" anchor="ctr">
                    <a:solidFill>
                      <a:srgbClr val="0F4C5C"/>
                    </a:solidFill>
                  </a:tcPr>
                </a:tc>
                <a:tc>
                  <a:txBody>
                    <a:bodyPr/>
                    <a:lstStyle/>
                    <a:p>
                      <a:pPr algn="ctr"/>
                      <a:r>
                        <a:rPr sz="1400" b="1">
                          <a:solidFill>
                            <a:srgbClr val="FFFFFF"/>
                          </a:solidFill>
                          <a:latin typeface="Calibri"/>
                        </a:rPr>
                        <a:t>Queda</a:t>
                      </a:r>
                    </a:p>
                  </a:txBody>
                  <a:tcPr marL="73152" marR="73152" marT="27432" marB="27432" anchor="ctr">
                    <a:solidFill>
                      <a:srgbClr val="0F4C5C"/>
                    </a:solidFill>
                  </a:tcPr>
                </a:tc>
                <a:tc>
                  <a:txBody>
                    <a:bodyPr/>
                    <a:lstStyle/>
                    <a:p>
                      <a:pPr algn="ctr"/>
                      <a:r>
                        <a:rPr sz="1400" b="1">
                          <a:solidFill>
                            <a:srgbClr val="FFFFFF"/>
                          </a:solidFill>
                          <a:latin typeface="Calibri"/>
                        </a:rPr>
                        <a:t>Relación de definición</a:t>
                      </a:r>
                    </a:p>
                  </a:txBody>
                  <a:tcPr marL="73152" marR="73152" marT="27432" marB="27432" anchor="ctr">
                    <a:solidFill>
                      <a:srgbClr val="0F4C5C"/>
                    </a:solidFill>
                  </a:tcPr>
                </a:tc>
              </a:tr>
              <a:tr h="552703">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2</a:t>
                      </a:r>
                      <a:r>
                        <a:rPr sz="1400" b="0" baseline="30000">
                          <a:solidFill>
                            <a:srgbClr val="142B33"/>
                          </a:solidFill>
                          <a:latin typeface="Calibri"/>
                        </a:rPr>
                        <a:t>6−3</a:t>
                      </a:r>
                      <a:r>
                        <a:rPr sz="1400" b="0" baseline="-25000">
                          <a:solidFill>
                            <a:srgbClr val="142B33"/>
                          </a:solidFill>
                          <a:latin typeface="Calibri"/>
                        </a:rPr>
                        <a:t>III</a:t>
                      </a:r>
                    </a:p>
                  </a:txBody>
                  <a:tcPr marL="73152" marR="73152" marT="27432" marB="27432" anchor="ctr">
                    <a:solidFill>
                      <a:srgbClr val="FFFFFF"/>
                    </a:solidFill>
                  </a:tcPr>
                </a:tc>
                <a:tc>
                  <a:txBody>
                    <a:bodyPr/>
                    <a:lstStyle/>
                    <a:p>
                      <a:pPr algn="ctr"/>
                      <a:r>
                        <a:rPr sz="1400" b="0">
                          <a:solidFill>
                            <a:srgbClr val="142B33"/>
                          </a:solidFill>
                          <a:latin typeface="Calibri"/>
                        </a:rPr>
                        <a:t>I = ABD = ACE = BCF = BCDE = ACDF = ABEF = DEF</a:t>
                      </a:r>
                    </a:p>
                  </a:txBody>
                  <a:tcPr marL="73152" marR="73152" marT="27432" marB="27432" anchor="ctr">
                    <a:solidFill>
                      <a:srgbClr val="FFFFFF"/>
                    </a:solidFill>
                  </a:tcPr>
                </a:tc>
              </a:tr>
              <a:tr h="335788">
                <a:tc>
                  <a:txBody>
                    <a:bodyPr/>
                    <a:lstStyle/>
                    <a:p>
                      <a:pPr algn="ctr"/>
                      <a:r>
                        <a:rPr sz="1400" b="0">
                          <a:solidFill>
                            <a:srgbClr val="142B33"/>
                          </a:solidFill>
                          <a:latin typeface="Calibri"/>
                        </a:rPr>
                        <a:t>B, D, F, G</a:t>
                      </a:r>
                    </a:p>
                  </a:txBody>
                  <a:tcPr marL="73152" marR="73152" marT="27432" marB="27432" anchor="ctr">
                    <a:solidFill>
                      <a:srgbClr val="F4F8F9"/>
                    </a:solidFill>
                  </a:tcPr>
                </a:tc>
                <a:tc>
                  <a:txBody>
                    <a:bodyPr/>
                    <a:lstStyle/>
                    <a:p>
                      <a:pPr algn="ctr"/>
                      <a:r>
                        <a:rPr sz="1400" b="0">
                          <a:solidFill>
                            <a:srgbClr val="142B33"/>
                          </a:solidFill>
                          <a:latin typeface="Calibri"/>
                        </a:rPr>
                        <a:t>3 factores</a:t>
                      </a:r>
                    </a:p>
                  </a:txBody>
                  <a:tcPr marL="73152" marR="73152" marT="27432" marB="27432" anchor="ctr">
                    <a:solidFill>
                      <a:srgbClr val="F4F8F9"/>
                    </a:solidFill>
                  </a:tcPr>
                </a:tc>
                <a:tc>
                  <a:txBody>
                    <a:bodyPr/>
                    <a:lstStyle/>
                    <a:p>
                      <a:pPr algn="ctr"/>
                      <a:r>
                        <a:rPr sz="1400" b="0">
                          <a:solidFill>
                            <a:srgbClr val="142B33"/>
                          </a:solidFill>
                          <a:latin typeface="Calibri"/>
                        </a:rPr>
                        <a:t>Dos réplicas de un 2</a:t>
                      </a:r>
                      <a:r>
                        <a:rPr sz="1400" b="0" baseline="30000">
                          <a:solidFill>
                            <a:srgbClr val="142B33"/>
                          </a:solidFill>
                          <a:latin typeface="Calibri"/>
                        </a:rPr>
                        <a:t>3−1</a:t>
                      </a:r>
                      <a:r>
                        <a:rPr sz="1400" b="0">
                          <a:solidFill>
                            <a:srgbClr val="142B33"/>
                          </a:solidFill>
                          <a:latin typeface="Calibri"/>
                        </a:rPr>
                        <a:t> (mala elección)</a:t>
                      </a:r>
                    </a:p>
                  </a:txBody>
                  <a:tcPr marL="73152" marR="73152" marT="27432" marB="27432" anchor="ctr">
                    <a:solidFill>
                      <a:srgbClr val="F4F8F9"/>
                    </a:solidFill>
                  </a:tcPr>
                </a:tc>
              </a:tr>
            </a:tbl>
          </a:graphicData>
        </a:graphic>
      </p:graphicFrame>
      <p:graphicFrame>
        <p:nvGraphicFramePr>
          <p:cNvPr id="5" name="Table 4"/>
          <p:cNvGraphicFramePr>
            <a:graphicFrameLocks noGrp="1"/>
          </p:cNvGraphicFramePr>
          <p:nvPr/>
        </p:nvGraphicFramePr>
        <p:xfrm>
          <a:off x="7156222" y="1417320"/>
          <a:ext cx="4486831" cy="1756410"/>
        </p:xfrm>
        <a:graphic>
          <a:graphicData uri="http://schemas.openxmlformats.org/drawingml/2006/table">
            <a:tbl>
              <a:tblPr firstRow="0" bandRow="0">
                <a:tableStyleId>{5C22544A-7EE6-4342-B048-85BDC9FD1C3A}</a:tableStyleId>
              </a:tblPr>
              <a:tblGrid>
                <a:gridCol w="2065069"/>
                <a:gridCol w="1210881"/>
                <a:gridCol w="1210881"/>
              </a:tblGrid>
              <a:tr h="351282">
                <a:tc>
                  <a:txBody>
                    <a:bodyPr/>
                    <a:lstStyle/>
                    <a:p>
                      <a:pPr algn="ctr"/>
                      <a:r>
                        <a:rPr sz="1500" b="1">
                          <a:solidFill>
                            <a:srgbClr val="FFFFFF"/>
                          </a:solidFill>
                          <a:latin typeface="Calibri"/>
                        </a:rPr>
                        <a:t>Diseño saturado</a:t>
                      </a:r>
                    </a:p>
                  </a:txBody>
                  <a:tcPr marL="73152" marR="73152" marT="27432" marB="27432" anchor="ctr">
                    <a:solidFill>
                      <a:srgbClr val="0F4C5C"/>
                    </a:solidFill>
                  </a:tcPr>
                </a:tc>
                <a:tc>
                  <a:txBody>
                    <a:bodyPr/>
                    <a:lstStyle/>
                    <a:p>
                      <a:pPr algn="ctr"/>
                      <a:r>
                        <a:rPr sz="1500" b="1">
                          <a:solidFill>
                            <a:srgbClr val="FFFFFF"/>
                          </a:solidFill>
                          <a:latin typeface="Calibri"/>
                        </a:rPr>
                        <a:t>Factores</a:t>
                      </a:r>
                    </a:p>
                  </a:txBody>
                  <a:tcPr marL="73152" marR="73152" marT="27432" marB="27432" anchor="ctr">
                    <a:solidFill>
                      <a:srgbClr val="0F4C5C"/>
                    </a:solidFill>
                  </a:tcPr>
                </a:tc>
                <a:tc>
                  <a:txBody>
                    <a:bodyPr/>
                    <a:lstStyle/>
                    <a:p>
                      <a:pPr algn="ctr"/>
                      <a:r>
                        <a:rPr sz="1500" b="1">
                          <a:solidFill>
                            <a:srgbClr val="FFFFFF"/>
                          </a:solidFill>
                          <a:latin typeface="Calibri"/>
                        </a:rPr>
                        <a:t>Corridas</a:t>
                      </a:r>
                    </a:p>
                  </a:txBody>
                  <a:tcPr marL="73152" marR="73152" marT="27432" marB="27432" anchor="ctr">
                    <a:solidFill>
                      <a:srgbClr val="0F4C5C"/>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3</a:t>
                      </a:r>
                    </a:p>
                  </a:txBody>
                  <a:tcPr marL="73152" marR="73152" marT="27432" marB="27432" anchor="ctr">
                    <a:solidFill>
                      <a:srgbClr val="FFFFFF"/>
                    </a:solidFill>
                  </a:tcPr>
                </a:tc>
                <a:tc>
                  <a:txBody>
                    <a:bodyPr/>
                    <a:lstStyle/>
                    <a:p>
                      <a:pPr algn="ctr"/>
                      <a:r>
                        <a:rPr sz="1500" b="0">
                          <a:solidFill>
                            <a:srgbClr val="142B33"/>
                          </a:solidFill>
                          <a:latin typeface="Calibri"/>
                        </a:rPr>
                        <a:t>4</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7−4</a:t>
                      </a:r>
                      <a:r>
                        <a:rPr sz="1500" b="0" baseline="-25000">
                          <a:solidFill>
                            <a:srgbClr val="142B33"/>
                          </a:solidFill>
                          <a:latin typeface="Calibri"/>
                        </a:rPr>
                        <a:t>III</a:t>
                      </a:r>
                    </a:p>
                  </a:txBody>
                  <a:tcPr marL="73152" marR="73152" marT="27432" marB="27432" anchor="ctr">
                    <a:solidFill>
                      <a:srgbClr val="F4F8F9"/>
                    </a:solidFill>
                  </a:tcPr>
                </a:tc>
                <a:tc>
                  <a:txBody>
                    <a:bodyPr/>
                    <a:lstStyle/>
                    <a:p>
                      <a:pPr algn="ctr"/>
                      <a:r>
                        <a:rPr sz="1500" b="0">
                          <a:solidFill>
                            <a:srgbClr val="142B33"/>
                          </a:solidFill>
                          <a:latin typeface="Calibri"/>
                        </a:rPr>
                        <a:t>7</a:t>
                      </a:r>
                    </a:p>
                  </a:txBody>
                  <a:tcPr marL="73152" marR="73152" marT="27432" marB="27432" anchor="ctr">
                    <a:solidFill>
                      <a:srgbClr val="F4F8F9"/>
                    </a:solidFill>
                  </a:tcPr>
                </a:tc>
                <a:tc>
                  <a:txBody>
                    <a:bodyPr/>
                    <a:lstStyle/>
                    <a:p>
                      <a:pPr algn="ctr"/>
                      <a:r>
                        <a:rPr sz="1500" b="0">
                          <a:solidFill>
                            <a:srgbClr val="142B33"/>
                          </a:solidFill>
                          <a:latin typeface="Calibri"/>
                        </a:rPr>
                        <a:t>8</a:t>
                      </a:r>
                    </a:p>
                  </a:txBody>
                  <a:tcPr marL="73152" marR="73152" marT="27432" marB="27432" anchor="ctr">
                    <a:solidFill>
                      <a:srgbClr val="F4F8F9"/>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15−11</a:t>
                      </a:r>
                      <a:r>
                        <a:rPr sz="1500" b="0" baseline="-25000">
                          <a:solidFill>
                            <a:srgbClr val="142B33"/>
                          </a:solidFill>
                          <a:latin typeface="Calibri"/>
                        </a:rPr>
                        <a:t>III</a:t>
                      </a:r>
                    </a:p>
                  </a:txBody>
                  <a:tcPr marL="73152" marR="73152" marT="27432" marB="27432" anchor="ctr">
                    <a:solidFill>
                      <a:srgbClr val="FFFFFF"/>
                    </a:solidFill>
                  </a:tcPr>
                </a:tc>
                <a:tc>
                  <a:txBody>
                    <a:bodyPr/>
                    <a:lstStyle/>
                    <a:p>
                      <a:pPr algn="ctr"/>
                      <a:r>
                        <a:rPr sz="1500" b="0">
                          <a:solidFill>
                            <a:srgbClr val="142B33"/>
                          </a:solidFill>
                          <a:latin typeface="Calibri"/>
                        </a:rPr>
                        <a:t>15</a:t>
                      </a:r>
                    </a:p>
                  </a:txBody>
                  <a:tcPr marL="73152" marR="73152" marT="27432" marB="27432" anchor="ctr">
                    <a:solidFill>
                      <a:srgbClr val="FFFFFF"/>
                    </a:solidFill>
                  </a:tcPr>
                </a:tc>
                <a:tc>
                  <a:txBody>
                    <a:bodyPr/>
                    <a:lstStyle/>
                    <a:p>
                      <a:pPr algn="ctr"/>
                      <a:r>
                        <a:rPr sz="1500" b="0">
                          <a:solidFill>
                            <a:srgbClr val="142B33"/>
                          </a:solidFill>
                          <a:latin typeface="Calibri"/>
                        </a:rPr>
                        <a:t>16</a:t>
                      </a:r>
                    </a:p>
                  </a:txBody>
                  <a:tcPr marL="73152" marR="73152" marT="27432" marB="27432" anchor="ctr">
                    <a:solidFill>
                      <a:srgbClr val="FFFFFF"/>
                    </a:solidFill>
                  </a:tcPr>
                </a:tc>
              </a:tr>
              <a:tr h="351282">
                <a:tc>
                  <a:txBody>
                    <a:bodyPr/>
                    <a:lstStyle/>
                    <a:p>
                      <a:pPr algn="ctr"/>
                      <a:r>
                        <a:rPr sz="1500" b="0">
                          <a:solidFill>
                            <a:srgbClr val="142B33"/>
                          </a:solidFill>
                          <a:latin typeface="Calibri"/>
                        </a:rPr>
                        <a:t>2</a:t>
                      </a:r>
                      <a:r>
                        <a:rPr sz="1500" b="0" baseline="30000">
                          <a:solidFill>
                            <a:srgbClr val="142B33"/>
                          </a:solidFill>
                          <a:latin typeface="Calibri"/>
                        </a:rPr>
                        <a:t>31−26</a:t>
                      </a:r>
                      <a:r>
                        <a:rPr sz="1500" b="0" baseline="-25000">
                          <a:solidFill>
                            <a:srgbClr val="142B33"/>
                          </a:solidFill>
                          <a:latin typeface="Calibri"/>
                        </a:rPr>
                        <a:t>III</a:t>
                      </a:r>
                    </a:p>
                  </a:txBody>
                  <a:tcPr marL="73152" marR="73152" marT="27432" marB="27432" anchor="ctr">
                    <a:solidFill>
                      <a:srgbClr val="F4F8F9"/>
                    </a:solidFill>
                  </a:tcPr>
                </a:tc>
                <a:tc>
                  <a:txBody>
                    <a:bodyPr/>
                    <a:lstStyle/>
                    <a:p>
                      <a:pPr algn="ctr"/>
                      <a:r>
                        <a:rPr sz="1500" b="0">
                          <a:solidFill>
                            <a:srgbClr val="142B33"/>
                          </a:solidFill>
                          <a:latin typeface="Calibri"/>
                        </a:rPr>
                        <a:t>31</a:t>
                      </a:r>
                    </a:p>
                  </a:txBody>
                  <a:tcPr marL="73152" marR="73152" marT="27432" marB="27432" anchor="ctr">
                    <a:solidFill>
                      <a:srgbClr val="F4F8F9"/>
                    </a:solidFill>
                  </a:tcPr>
                </a:tc>
                <a:tc>
                  <a:txBody>
                    <a:bodyPr/>
                    <a:lstStyle/>
                    <a:p>
                      <a:pPr algn="ctr"/>
                      <a:r>
                        <a:rPr sz="1500" b="0">
                          <a:solidFill>
                            <a:srgbClr val="142B33"/>
                          </a:solidFill>
                          <a:latin typeface="Calibri"/>
                        </a:rPr>
                        <a:t>32</a:t>
                      </a:r>
                    </a:p>
                  </a:txBody>
                  <a:tcPr marL="73152" marR="73152" marT="27432" marB="27432" anchor="ctr">
                    <a:solidFill>
                      <a:srgbClr val="F4F8F9"/>
                    </a:solidFill>
                  </a:tcPr>
                </a:tc>
              </a:tr>
            </a:tbl>
          </a:graphicData>
        </a:graphic>
      </p:graphicFrame>
      <p:sp>
        <p:nvSpPr>
          <p:cNvPr id="6" name="Rounded Rectangle 5"/>
          <p:cNvSpPr/>
          <p:nvPr/>
        </p:nvSpPr>
        <p:spPr>
          <a:xfrm>
            <a:off x="7156222" y="3374898"/>
            <a:ext cx="4486832"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Para 3 factores en 8 corridas es mejor un </a:t>
            </a:r>
            <a:r>
              <a:rPr sz="1500" b="1">
                <a:solidFill>
                  <a:srgbClr val="142B33"/>
                </a:solidFill>
                <a:latin typeface="Calibri"/>
              </a:rPr>
              <a:t>2</a:t>
            </a:r>
            <a:r>
              <a:rPr sz="1500" b="1" baseline="30000">
                <a:solidFill>
                  <a:srgbClr val="142B33"/>
                </a:solidFill>
                <a:latin typeface="Calibri"/>
              </a:rPr>
              <a:t>3</a:t>
            </a:r>
            <a:r>
              <a:rPr sz="1500" b="1">
                <a:solidFill>
                  <a:srgbClr val="142B33"/>
                </a:solidFill>
                <a:latin typeface="Calibri"/>
              </a:rPr>
              <a:t> completo</a:t>
            </a:r>
            <a:r>
              <a:rPr sz="1500" b="0">
                <a:solidFill>
                  <a:srgbClr val="142B33"/>
                </a:solidFill>
                <a:latin typeface="Calibri"/>
              </a:rPr>
              <a:t> en A, C y E</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el doblez?</a:t>
            </a:r>
          </a:p>
        </p:txBody>
      </p:sp>
      <p:sp>
        <p:nvSpPr>
          <p:cNvPr id="3" name="TextBox 2"/>
          <p:cNvSpPr txBox="1"/>
          <p:nvPr/>
        </p:nvSpPr>
        <p:spPr>
          <a:xfrm>
            <a:off x="548640" y="1417320"/>
            <a:ext cx="5875614" cy="156387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Correr una </a:t>
            </a:r>
            <a:r>
              <a:rPr sz="1700" b="1">
                <a:solidFill>
                  <a:srgbClr val="142B33"/>
                </a:solidFill>
                <a:latin typeface="Calibri"/>
              </a:rPr>
              <a:t>segunda fracción</a:t>
            </a:r>
            <a:r>
              <a:rPr sz="1700" b="0">
                <a:solidFill>
                  <a:srgbClr val="142B33"/>
                </a:solidFill>
                <a:latin typeface="Calibri"/>
              </a:rPr>
              <a:t> con signos invertidos y combinarla con la primera</a:t>
            </a:r>
          </a:p>
          <a:p>
            <a:pPr marL="320040" indent="-320040">
              <a:spcAft>
                <a:spcPts val="600"/>
              </a:spcAft>
              <a:buClr>
                <a:srgbClr val="E36414"/>
              </a:buClr>
              <a:buFont typeface="Arial"/>
              <a:buChar char="•"/>
            </a:pPr>
            <a:r>
              <a:rPr sz="1700" b="0">
                <a:solidFill>
                  <a:srgbClr val="142B33"/>
                </a:solidFill>
                <a:latin typeface="Calibri"/>
              </a:rPr>
              <a:t>Alias de la segunda fracción: </a:t>
            </a:r>
            <a:r>
              <a:rPr sz="1700" b="1">
                <a:solidFill>
                  <a:srgbClr val="142B33"/>
                </a:solidFill>
                <a:latin typeface="Calibri"/>
              </a:rPr>
              <a:t>cambiar el signo</a:t>
            </a:r>
            <a:r>
              <a:rPr sz="1700" b="0">
                <a:solidFill>
                  <a:srgbClr val="142B33"/>
                </a:solidFill>
                <a:latin typeface="Calibri"/>
              </a:rPr>
              <a:t> de los factores invertidos</a:t>
            </a:r>
          </a:p>
          <a:p>
            <a:pPr marL="320040" indent="-320040">
              <a:spcAft>
                <a:spcPts val="600"/>
              </a:spcAft>
              <a:buClr>
                <a:srgbClr val="E36414"/>
              </a:buClr>
              <a:buFont typeface="Arial"/>
              <a:buChar char="•"/>
            </a:pPr>
            <a:r>
              <a:rPr sz="1700" b="0">
                <a:solidFill>
                  <a:srgbClr val="142B33"/>
                </a:solidFill>
                <a:latin typeface="Calibri"/>
              </a:rPr>
              <a:t>Separar con </a:t>
            </a:r>
            <a:r>
              <a:rPr sz="1700" b="1">
                <a:solidFill>
                  <a:srgbClr val="142B33"/>
                </a:solidFill>
                <a:latin typeface="Calibri"/>
              </a:rPr>
              <a:t>½ (ℓ + ℓ′)</a:t>
            </a:r>
            <a:r>
              <a:rPr sz="1700" b="0">
                <a:solidFill>
                  <a:srgbClr val="142B33"/>
                </a:solidFill>
                <a:latin typeface="Calibri"/>
              </a:rPr>
              <a:t> y </a:t>
            </a:r>
            <a:r>
              <a:rPr sz="1700" b="1">
                <a:solidFill>
                  <a:srgbClr val="142B33"/>
                </a:solidFill>
                <a:latin typeface="Calibri"/>
              </a:rPr>
              <a:t>½ (ℓ − ℓ′)</a:t>
            </a:r>
          </a:p>
        </p:txBody>
      </p:sp>
      <p:sp>
        <p:nvSpPr>
          <p:cNvPr id="4" name="Rounded Rectangle 3"/>
          <p:cNvSpPr/>
          <p:nvPr/>
        </p:nvSpPr>
        <p:spPr>
          <a:xfrm>
            <a:off x="6835734" y="1417320"/>
            <a:ext cx="4807320" cy="134239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Doblez de un solo factor</a:t>
            </a:r>
          </a:p>
          <a:p>
            <a:pPr algn="l"/>
            <a:r>
              <a:rPr sz="1700" b="0">
                <a:solidFill>
                  <a:srgbClr val="142B33"/>
                </a:solidFill>
                <a:latin typeface="Calibri"/>
              </a:rPr>
              <a:t>Se invierten los signos de </a:t>
            </a:r>
            <a:r>
              <a:rPr sz="1700" b="1">
                <a:solidFill>
                  <a:srgbClr val="142B33"/>
                </a:solidFill>
                <a:latin typeface="Calibri"/>
              </a:rPr>
              <a:t>un</a:t>
            </a:r>
            <a:r>
              <a:rPr sz="1700" b="0">
                <a:solidFill>
                  <a:srgbClr val="142B33"/>
                </a:solidFill>
                <a:latin typeface="Calibri"/>
              </a:rPr>
              <a:t> factor</a:t>
            </a:r>
          </a:p>
        </p:txBody>
      </p:sp>
      <p:sp>
        <p:nvSpPr>
          <p:cNvPr id="5" name="Rounded Rectangle 4"/>
          <p:cNvSpPr/>
          <p:nvPr/>
        </p:nvSpPr>
        <p:spPr>
          <a:xfrm>
            <a:off x="6835734" y="2988310"/>
            <a:ext cx="4807320" cy="134239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Doblez completo (reflexión)</a:t>
            </a:r>
          </a:p>
          <a:p>
            <a:pPr algn="l"/>
            <a:r>
              <a:rPr sz="1700" b="0">
                <a:solidFill>
                  <a:srgbClr val="142B33"/>
                </a:solidFill>
                <a:latin typeface="Calibri"/>
              </a:rPr>
              <a:t>Se invierten los signos de </a:t>
            </a:r>
            <a:r>
              <a:rPr sz="1700" b="1">
                <a:solidFill>
                  <a:srgbClr val="142B33"/>
                </a:solidFill>
                <a:latin typeface="Calibri"/>
              </a:rPr>
              <a:t>todos</a:t>
            </a:r>
            <a:r>
              <a:rPr sz="1700" b="0">
                <a:solidFill>
                  <a:srgbClr val="142B33"/>
                </a:solidFill>
                <a:latin typeface="Calibri"/>
              </a:rPr>
              <a:t> los factores</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82</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de un solo factor</a:t>
            </a:r>
          </a:p>
        </p:txBody>
      </p:sp>
      <p:graphicFrame>
        <p:nvGraphicFramePr>
          <p:cNvPr id="3" name="Table 2"/>
          <p:cNvGraphicFramePr>
            <a:graphicFrameLocks noGrp="1"/>
          </p:cNvGraphicFramePr>
          <p:nvPr/>
        </p:nvGraphicFramePr>
        <p:xfrm>
          <a:off x="548640" y="1417320"/>
          <a:ext cx="11094412" cy="2686304"/>
        </p:xfrm>
        <a:graphic>
          <a:graphicData uri="http://schemas.openxmlformats.org/drawingml/2006/table">
            <a:tbl>
              <a:tblPr firstRow="0" bandRow="0">
                <a:tableStyleId>{5C22544A-7EE6-4342-B048-85BDC9FD1C3A}</a:tableStyleId>
              </a:tblPr>
              <a:tblGrid>
                <a:gridCol w="665664"/>
                <a:gridCol w="2662659"/>
                <a:gridCol w="2662659"/>
                <a:gridCol w="2440771"/>
                <a:gridCol w="2662659"/>
              </a:tblGrid>
              <a:tr h="335788">
                <a:tc>
                  <a:txBody>
                    <a:bodyPr/>
                    <a:lstStyle/>
                    <a:p>
                      <a:pPr algn="ctr"/>
                      <a:r>
                        <a:rPr sz="1400" b="1">
                          <a:solidFill>
                            <a:srgbClr val="FFFFFF"/>
                          </a:solidFill>
                          <a:latin typeface="Calibri"/>
                        </a:rPr>
                        <a:t>i</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(1.ª fracción)</a:t>
                      </a:r>
                    </a:p>
                  </a:txBody>
                  <a:tcPr marL="73152" marR="73152" marT="27432" marB="27432" anchor="ctr">
                    <a:solidFill>
                      <a:srgbClr val="0F4C5C"/>
                    </a:solidFill>
                  </a:tcPr>
                </a:tc>
                <a:tc>
                  <a:txBody>
                    <a:bodyPr/>
                    <a:lstStyle/>
                    <a:p>
                      <a:pPr algn="ctr"/>
                      <a:r>
                        <a:rPr sz="1400" b="1">
                          <a:solidFill>
                            <a:srgbClr val="FFFFFF"/>
                          </a:solidFill>
                          <a:latin typeface="Calibri"/>
                        </a:rPr>
                        <a:t>ℓ′</a:t>
                      </a:r>
                      <a:r>
                        <a:rPr sz="1400" b="1" baseline="-25000">
                          <a:solidFill>
                            <a:srgbClr val="FFFFFF"/>
                          </a:solidFill>
                          <a:latin typeface="Calibri"/>
                        </a:rPr>
                        <a:t>i</a:t>
                      </a:r>
                      <a:r>
                        <a:rPr sz="1400" b="1">
                          <a:solidFill>
                            <a:srgbClr val="FFFFFF"/>
                          </a:solidFill>
                          <a:latin typeface="Calibri"/>
                        </a:rPr>
                        <a:t>  (D invertido)</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c>
                  <a:txBody>
                    <a:bodyPr/>
                    <a:lstStyle/>
                    <a:p>
                      <a:pPr algn="ctr"/>
                      <a:r>
                        <a:rPr sz="1400" b="1">
                          <a:solidFill>
                            <a:srgbClr val="FFFFFF"/>
                          </a:solidFill>
                          <a:latin typeface="Calibri"/>
                        </a:rPr>
                        <a:t>½ (ℓ</a:t>
                      </a:r>
                      <a:r>
                        <a:rPr sz="1400" b="1" baseline="-25000">
                          <a:solidFill>
                            <a:srgbClr val="FFFFFF"/>
                          </a:solidFill>
                          <a:latin typeface="Calibri"/>
                        </a:rPr>
                        <a:t>i</a:t>
                      </a:r>
                      <a:r>
                        <a:rPr sz="1400" b="1">
                          <a:solidFill>
                            <a:srgbClr val="FFFFFF"/>
                          </a:solidFill>
                          <a:latin typeface="Calibri"/>
                        </a:rPr>
                        <a:t> − ℓ′</a:t>
                      </a:r>
                      <a:r>
                        <a:rPr sz="1400" b="1" baseline="-25000">
                          <a:solidFill>
                            <a:srgbClr val="FFFFFF"/>
                          </a:solidFill>
                          <a:latin typeface="Calibri"/>
                        </a:rPr>
                        <a:t>i</a:t>
                      </a:r>
                      <a:r>
                        <a:rPr sz="1400" b="1">
                          <a:solidFill>
                            <a:srgbClr val="FFFFFF"/>
                          </a:solidFill>
                          <a:latin typeface="Calibri"/>
                        </a:rPr>
                        <a:t>)</a:t>
                      </a:r>
                    </a:p>
                  </a:txBody>
                  <a:tcPr marL="73152" marR="73152" marT="27432" marB="27432" anchor="ctr">
                    <a:solidFill>
                      <a:srgbClr val="0F4C5C"/>
                    </a:solidFill>
                  </a:tcPr>
                </a:tc>
              </a:tr>
              <a:tr h="335788">
                <a:tc>
                  <a:txBody>
                    <a:bodyPr/>
                    <a:lstStyle/>
                    <a:p>
                      <a:pPr algn="ctr"/>
                      <a:r>
                        <a:rPr sz="1400" b="0">
                          <a:solidFill>
                            <a:srgbClr val="142B33"/>
                          </a:solidFill>
                          <a:latin typeface="Calibri"/>
                        </a:rPr>
                        <a:t>A</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BD + CE + FG</a:t>
                      </a:r>
                    </a:p>
                  </a:txBody>
                  <a:tcPr marL="73152" marR="73152" marT="27432" marB="27432" anchor="ctr">
                    <a:solidFill>
                      <a:srgbClr val="FFFFFF"/>
                    </a:solidFill>
                  </a:tcPr>
                </a:tc>
                <a:tc>
                  <a:txBody>
                    <a:bodyPr/>
                    <a:lstStyle/>
                    <a:p>
                      <a:pPr algn="ctr"/>
                      <a:r>
                        <a:rPr sz="1400" b="0">
                          <a:solidFill>
                            <a:srgbClr val="142B33"/>
                          </a:solidFill>
                          <a:latin typeface="Calibri"/>
                        </a:rPr>
                        <a:t>A + CE + FG</a:t>
                      </a:r>
                    </a:p>
                  </a:txBody>
                  <a:tcPr marL="73152" marR="73152" marT="27432" marB="27432" anchor="ctr">
                    <a:solidFill>
                      <a:srgbClr val="FFFFFF"/>
                    </a:solidFill>
                  </a:tcPr>
                </a:tc>
                <a:tc>
                  <a:txBody>
                    <a:bodyPr/>
                    <a:lstStyle/>
                    <a:p>
                      <a:pPr algn="ctr"/>
                      <a:r>
                        <a:rPr sz="1400" b="0">
                          <a:solidFill>
                            <a:srgbClr val="142B33"/>
                          </a:solidFill>
                          <a:latin typeface="Calibri"/>
                        </a:rPr>
                        <a:t>BD</a:t>
                      </a:r>
                    </a:p>
                  </a:txBody>
                  <a:tcPr marL="73152" marR="73152" marT="27432" marB="27432" anchor="ctr">
                    <a:solidFill>
                      <a:srgbClr val="FFFFFF"/>
                    </a:solidFill>
                  </a:tcPr>
                </a:tc>
              </a:tr>
              <a:tr h="335788">
                <a:tc>
                  <a:txBody>
                    <a:bodyPr/>
                    <a:lstStyle/>
                    <a:p>
                      <a:pPr algn="ctr"/>
                      <a:r>
                        <a:rPr sz="1400" b="0">
                          <a:solidFill>
                            <a:srgbClr val="142B33"/>
                          </a:solidFill>
                          <a:latin typeface="Calibri"/>
                        </a:rPr>
                        <a:t>B</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AD + CF + EG</a:t>
                      </a:r>
                    </a:p>
                  </a:txBody>
                  <a:tcPr marL="73152" marR="73152" marT="27432" marB="27432" anchor="ctr">
                    <a:solidFill>
                      <a:srgbClr val="F4F8F9"/>
                    </a:solidFill>
                  </a:tcPr>
                </a:tc>
                <a:tc>
                  <a:txBody>
                    <a:bodyPr/>
                    <a:lstStyle/>
                    <a:p>
                      <a:pPr algn="ctr"/>
                      <a:r>
                        <a:rPr sz="1400" b="0">
                          <a:solidFill>
                            <a:srgbClr val="142B33"/>
                          </a:solidFill>
                          <a:latin typeface="Calibri"/>
                        </a:rPr>
                        <a:t>B + CF + EG</a:t>
                      </a:r>
                    </a:p>
                  </a:txBody>
                  <a:tcPr marL="73152" marR="73152" marT="27432" marB="27432" anchor="ctr">
                    <a:solidFill>
                      <a:srgbClr val="F4F8F9"/>
                    </a:solidFill>
                  </a:tcPr>
                </a:tc>
                <a:tc>
                  <a:txBody>
                    <a:bodyPr/>
                    <a:lstStyle/>
                    <a:p>
                      <a:pPr algn="ctr"/>
                      <a:r>
                        <a:rPr sz="1400" b="0">
                          <a:solidFill>
                            <a:srgbClr val="142B33"/>
                          </a:solidFill>
                          <a:latin typeface="Calibri"/>
                        </a:rPr>
                        <a:t>AD</a:t>
                      </a:r>
                    </a:p>
                  </a:txBody>
                  <a:tcPr marL="73152" marR="73152" marT="27432" marB="27432" anchor="ctr">
                    <a:solidFill>
                      <a:srgbClr val="F4F8F9"/>
                    </a:solidFill>
                  </a:tcPr>
                </a:tc>
              </a:tr>
              <a:tr h="335788">
                <a:tc>
                  <a:txBody>
                    <a:bodyPr/>
                    <a:lstStyle/>
                    <a:p>
                      <a:pPr algn="ctr"/>
                      <a:r>
                        <a:rPr sz="1400" b="0">
                          <a:solidFill>
                            <a:srgbClr val="142B33"/>
                          </a:solidFill>
                          <a:latin typeface="Calibri"/>
                        </a:rPr>
                        <a:t>C</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 − DG</a:t>
                      </a:r>
                    </a:p>
                  </a:txBody>
                  <a:tcPr marL="73152" marR="73152" marT="27432" marB="27432" anchor="ctr">
                    <a:solidFill>
                      <a:srgbClr val="FFFFFF"/>
                    </a:solidFill>
                  </a:tcPr>
                </a:tc>
                <a:tc>
                  <a:txBody>
                    <a:bodyPr/>
                    <a:lstStyle/>
                    <a:p>
                      <a:pPr algn="ctr"/>
                      <a:r>
                        <a:rPr sz="1400" b="0">
                          <a:solidFill>
                            <a:srgbClr val="142B33"/>
                          </a:solidFill>
                          <a:latin typeface="Calibri"/>
                        </a:rPr>
                        <a:t>C + AE + BF</a:t>
                      </a:r>
                    </a:p>
                  </a:txBody>
                  <a:tcPr marL="73152" marR="73152" marT="27432" marB="27432" anchor="ctr">
                    <a:solidFill>
                      <a:srgbClr val="FFFFFF"/>
                    </a:solidFill>
                  </a:tcPr>
                </a:tc>
                <a:tc>
                  <a:txBody>
                    <a:bodyPr/>
                    <a:lstStyle/>
                    <a:p>
                      <a:pPr algn="ctr"/>
                      <a:r>
                        <a:rPr sz="1400" b="0">
                          <a:solidFill>
                            <a:srgbClr val="142B33"/>
                          </a:solidFill>
                          <a:latin typeface="Calibri"/>
                        </a:rPr>
                        <a:t>DG</a:t>
                      </a:r>
                    </a:p>
                  </a:txBody>
                  <a:tcPr marL="73152" marR="73152" marT="27432" marB="27432" anchor="ctr">
                    <a:solidFill>
                      <a:srgbClr val="FFFFFF"/>
                    </a:solidFill>
                  </a:tcPr>
                </a:tc>
              </a:tr>
              <a:tr h="335788">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 − AB − CG − EF</a:t>
                      </a:r>
                    </a:p>
                  </a:txBody>
                  <a:tcPr marL="73152" marR="73152" marT="27432" marB="27432" anchor="ctr">
                    <a:solidFill>
                      <a:srgbClr val="FDE8D7"/>
                    </a:solidFill>
                  </a:tcPr>
                </a:tc>
                <a:tc>
                  <a:txBody>
                    <a:bodyPr/>
                    <a:lstStyle/>
                    <a:p>
                      <a:pPr algn="ctr"/>
                      <a:r>
                        <a:rPr sz="1400" b="0">
                          <a:solidFill>
                            <a:srgbClr val="142B33"/>
                          </a:solidFill>
                          <a:latin typeface="Calibri"/>
                        </a:rPr>
                        <a:t>D</a:t>
                      </a:r>
                    </a:p>
                  </a:txBody>
                  <a:tcPr marL="73152" marR="73152" marT="27432" marB="27432" anchor="ctr">
                    <a:solidFill>
                      <a:srgbClr val="FDE8D7"/>
                    </a:solidFill>
                  </a:tcPr>
                </a:tc>
                <a:tc>
                  <a:txBody>
                    <a:bodyPr/>
                    <a:lstStyle/>
                    <a:p>
                      <a:pPr algn="ctr"/>
                      <a:r>
                        <a:rPr sz="1400" b="0">
                          <a:solidFill>
                            <a:srgbClr val="142B33"/>
                          </a:solidFill>
                          <a:latin typeface="Calibri"/>
                        </a:rPr>
                        <a:t>AB + CG + EF</a:t>
                      </a:r>
                    </a:p>
                  </a:txBody>
                  <a:tcPr marL="73152" marR="73152" marT="27432" marB="27432" anchor="ctr">
                    <a:solidFill>
                      <a:srgbClr val="FDE8D7"/>
                    </a:solidFill>
                  </a:tcPr>
                </a:tc>
              </a:tr>
              <a:tr h="335788">
                <a:tc>
                  <a:txBody>
                    <a:bodyPr/>
                    <a:lstStyle/>
                    <a:p>
                      <a:pPr algn="ctr"/>
                      <a:r>
                        <a:rPr sz="1400" b="0">
                          <a:solidFill>
                            <a:srgbClr val="142B33"/>
                          </a:solidFill>
                          <a:latin typeface="Calibri"/>
                        </a:rPr>
                        <a:t>E</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 − DF</a:t>
                      </a:r>
                    </a:p>
                  </a:txBody>
                  <a:tcPr marL="73152" marR="73152" marT="27432" marB="27432" anchor="ctr">
                    <a:solidFill>
                      <a:srgbClr val="FFFFFF"/>
                    </a:solidFill>
                  </a:tcPr>
                </a:tc>
                <a:tc>
                  <a:txBody>
                    <a:bodyPr/>
                    <a:lstStyle/>
                    <a:p>
                      <a:pPr algn="ctr"/>
                      <a:r>
                        <a:rPr sz="1400" b="0">
                          <a:solidFill>
                            <a:srgbClr val="142B33"/>
                          </a:solidFill>
                          <a:latin typeface="Calibri"/>
                        </a:rPr>
                        <a:t>E + AC + BG</a:t>
                      </a:r>
                    </a:p>
                  </a:txBody>
                  <a:tcPr marL="73152" marR="73152" marT="27432" marB="27432" anchor="ctr">
                    <a:solidFill>
                      <a:srgbClr val="FFFFFF"/>
                    </a:solidFill>
                  </a:tcPr>
                </a:tc>
                <a:tc>
                  <a:txBody>
                    <a:bodyPr/>
                    <a:lstStyle/>
                    <a:p>
                      <a:pPr algn="ctr"/>
                      <a:r>
                        <a:rPr sz="1400" b="0">
                          <a:solidFill>
                            <a:srgbClr val="142B33"/>
                          </a:solidFill>
                          <a:latin typeface="Calibri"/>
                        </a:rPr>
                        <a:t>DF</a:t>
                      </a:r>
                    </a:p>
                  </a:txBody>
                  <a:tcPr marL="73152" marR="73152" marT="27432" marB="27432" anchor="ctr">
                    <a:solidFill>
                      <a:srgbClr val="FFFFFF"/>
                    </a:solidFill>
                  </a:tcPr>
                </a:tc>
              </a:tr>
              <a:tr h="335788">
                <a:tc>
                  <a:txBody>
                    <a:bodyPr/>
                    <a:lstStyle/>
                    <a:p>
                      <a:pPr algn="ctr"/>
                      <a:r>
                        <a:rPr sz="1400" b="0">
                          <a:solidFill>
                            <a:srgbClr val="142B33"/>
                          </a:solidFill>
                          <a:latin typeface="Calibri"/>
                        </a:rPr>
                        <a:t>F</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 − DE</a:t>
                      </a:r>
                    </a:p>
                  </a:txBody>
                  <a:tcPr marL="73152" marR="73152" marT="27432" marB="27432" anchor="ctr">
                    <a:solidFill>
                      <a:srgbClr val="F4F8F9"/>
                    </a:solidFill>
                  </a:tcPr>
                </a:tc>
                <a:tc>
                  <a:txBody>
                    <a:bodyPr/>
                    <a:lstStyle/>
                    <a:p>
                      <a:pPr algn="ctr"/>
                      <a:r>
                        <a:rPr sz="1400" b="0">
                          <a:solidFill>
                            <a:srgbClr val="142B33"/>
                          </a:solidFill>
                          <a:latin typeface="Calibri"/>
                        </a:rPr>
                        <a:t>F + BC + AG</a:t>
                      </a:r>
                    </a:p>
                  </a:txBody>
                  <a:tcPr marL="73152" marR="73152" marT="27432" marB="27432" anchor="ctr">
                    <a:solidFill>
                      <a:srgbClr val="F4F8F9"/>
                    </a:solidFill>
                  </a:tcPr>
                </a:tc>
                <a:tc>
                  <a:txBody>
                    <a:bodyPr/>
                    <a:lstStyle/>
                    <a:p>
                      <a:pPr algn="ctr"/>
                      <a:r>
                        <a:rPr sz="1400" b="0">
                          <a:solidFill>
                            <a:srgbClr val="142B33"/>
                          </a:solidFill>
                          <a:latin typeface="Calibri"/>
                        </a:rPr>
                        <a:t>DE</a:t>
                      </a:r>
                    </a:p>
                  </a:txBody>
                  <a:tcPr marL="73152" marR="73152" marT="27432" marB="27432" anchor="ctr">
                    <a:solidFill>
                      <a:srgbClr val="F4F8F9"/>
                    </a:solidFill>
                  </a:tcPr>
                </a:tc>
              </a:tr>
              <a:tr h="335788">
                <a:tc>
                  <a:txBody>
                    <a:bodyPr/>
                    <a:lstStyle/>
                    <a:p>
                      <a:pPr algn="ctr"/>
                      <a:r>
                        <a:rPr sz="1400" b="0">
                          <a:solidFill>
                            <a:srgbClr val="142B33"/>
                          </a:solidFill>
                          <a:latin typeface="Calibri"/>
                        </a:rPr>
                        <a:t>G</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CD + BE + AF</a:t>
                      </a:r>
                    </a:p>
                  </a:txBody>
                  <a:tcPr marL="73152" marR="73152" marT="27432" marB="27432" anchor="ctr">
                    <a:solidFill>
                      <a:srgbClr val="FFFFFF"/>
                    </a:solidFill>
                  </a:tcPr>
                </a:tc>
                <a:tc>
                  <a:txBody>
                    <a:bodyPr/>
                    <a:lstStyle/>
                    <a:p>
                      <a:pPr algn="ctr"/>
                      <a:r>
                        <a:rPr sz="1400" b="0">
                          <a:solidFill>
                            <a:srgbClr val="142B33"/>
                          </a:solidFill>
                          <a:latin typeface="Calibri"/>
                        </a:rPr>
                        <a:t>G + BE + AF</a:t>
                      </a:r>
                    </a:p>
                  </a:txBody>
                  <a:tcPr marL="73152" marR="73152" marT="27432" marB="27432" anchor="ctr">
                    <a:solidFill>
                      <a:srgbClr val="FFFFFF"/>
                    </a:solidFill>
                  </a:tcPr>
                </a:tc>
                <a:tc>
                  <a:txBody>
                    <a:bodyPr/>
                    <a:lstStyle/>
                    <a:p>
                      <a:pPr algn="ctr"/>
                      <a:r>
                        <a:rPr sz="1400" b="0">
                          <a:solidFill>
                            <a:srgbClr val="142B33"/>
                          </a:solidFill>
                          <a:latin typeface="Calibri"/>
                        </a:rPr>
                        <a:t>CD</a:t>
                      </a:r>
                    </a:p>
                  </a:txBody>
                  <a:tcPr marL="73152" marR="73152" marT="27432" marB="27432" anchor="ctr">
                    <a:solidFill>
                      <a:srgbClr val="FFFFFF"/>
                    </a:solidFill>
                  </a:tcPr>
                </a:tc>
              </a:tr>
            </a:tbl>
          </a:graphicData>
        </a:graphic>
      </p:graphicFrame>
      <p:sp>
        <p:nvSpPr>
          <p:cNvPr id="4" name="Rounded Rectangle 3"/>
          <p:cNvSpPr/>
          <p:nvPr/>
        </p:nvSpPr>
        <p:spPr>
          <a:xfrm>
            <a:off x="548640" y="4304792"/>
            <a:ext cx="11094415"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Regla: invertir </a:t>
            </a:r>
            <a:r>
              <a:rPr sz="1600" b="1">
                <a:solidFill>
                  <a:srgbClr val="142B33"/>
                </a:solidFill>
                <a:latin typeface="Calibri"/>
              </a:rPr>
              <a:t>un</a:t>
            </a:r>
            <a:r>
              <a:rPr sz="1600" b="0">
                <a:solidFill>
                  <a:srgbClr val="142B33"/>
                </a:solidFill>
                <a:latin typeface="Calibri"/>
              </a:rPr>
              <a:t> factor deja limpios ese factor y </a:t>
            </a:r>
            <a:r>
              <a:rPr sz="1600" b="1">
                <a:solidFill>
                  <a:srgbClr val="142B33"/>
                </a:solidFill>
                <a:latin typeface="Calibri"/>
              </a:rPr>
              <a:t>todas sus interacciones dobles</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83</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Doblez completo</a:t>
            </a:r>
          </a:p>
        </p:txBody>
      </p:sp>
      <p:sp>
        <p:nvSpPr>
          <p:cNvPr id="3" name="Rounded Rectangle 2"/>
          <p:cNvSpPr/>
          <p:nvPr/>
        </p:nvSpPr>
        <p:spPr>
          <a:xfrm>
            <a:off x="548640" y="1417320"/>
            <a:ext cx="5341467" cy="829624"/>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Columna de A: se invierte  ·  Columna de BD: (−)(−) = +, no se invierte</a:t>
            </a:r>
          </a:p>
          <a:p>
            <a:pPr algn="ctr"/>
            <a:r>
              <a:rPr sz="1600" b="0">
                <a:solidFill>
                  <a:srgbClr val="0F4C5C"/>
                </a:solidFill>
                <a:latin typeface="Cambria Math"/>
              </a:rPr>
              <a:t>⇒  ℓ′</a:t>
            </a:r>
            <a:r>
              <a:rPr sz="1600" b="0" baseline="-25000">
                <a:solidFill>
                  <a:srgbClr val="0F4C5C"/>
                </a:solidFill>
                <a:latin typeface="Cambria Math"/>
              </a:rPr>
              <a:t>A</a:t>
            </a:r>
            <a:r>
              <a:rPr sz="1600" b="0">
                <a:solidFill>
                  <a:srgbClr val="0F4C5C"/>
                </a:solidFill>
                <a:latin typeface="Cambria Math"/>
              </a:rPr>
              <a:t> → A − BD − CE − FG</a:t>
            </a:r>
          </a:p>
        </p:txBody>
      </p:sp>
      <p:sp>
        <p:nvSpPr>
          <p:cNvPr id="4" name="Rounded Rectangle 3"/>
          <p:cNvSpPr/>
          <p:nvPr/>
        </p:nvSpPr>
        <p:spPr>
          <a:xfrm>
            <a:off x="548640" y="2448112"/>
            <a:ext cx="5341467"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efecto principal</a:t>
            </a:r>
          </a:p>
          <a:p>
            <a:pPr algn="ctr"/>
            <a:r>
              <a:rPr sz="1800" b="0">
                <a:solidFill>
                  <a:srgbClr val="0F4C5C"/>
                </a:solidFill>
                <a:latin typeface="Cambria Math"/>
              </a:rPr>
              <a:t>½ (ℓ</a:t>
            </a:r>
            <a:r>
              <a:rPr sz="1800" b="0" baseline="-25000">
                <a:solidFill>
                  <a:srgbClr val="0F4C5C"/>
                </a:solidFill>
                <a:latin typeface="Cambria Math"/>
              </a:rPr>
              <a:t>i</a:t>
            </a:r>
            <a:r>
              <a:rPr sz="1800" b="0">
                <a:solidFill>
                  <a:srgbClr val="0F4C5C"/>
                </a:solidFill>
                <a:latin typeface="Cambria Math"/>
              </a:rPr>
              <a:t> − ℓ′</a:t>
            </a:r>
            <a:r>
              <a:rPr sz="1800" b="0" baseline="-25000">
                <a:solidFill>
                  <a:srgbClr val="0F4C5C"/>
                </a:solidFill>
                <a:latin typeface="Cambria Math"/>
              </a:rPr>
              <a:t>i</a:t>
            </a:r>
            <a:r>
              <a:rPr sz="1800" b="0">
                <a:solidFill>
                  <a:srgbClr val="0F4C5C"/>
                </a:solidFill>
                <a:latin typeface="Cambria Math"/>
              </a:rPr>
              <a:t>) → cadena de interacciones dobles</a:t>
            </a:r>
          </a:p>
        </p:txBody>
      </p:sp>
      <p:sp>
        <p:nvSpPr>
          <p:cNvPr id="5" name="TextBox 4"/>
          <p:cNvSpPr txBox="1"/>
          <p:nvPr/>
        </p:nvSpPr>
        <p:spPr>
          <a:xfrm>
            <a:off x="6301587" y="1417320"/>
            <a:ext cx="5341467" cy="1816607"/>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Se invierten los signos de </a:t>
            </a:r>
            <a:r>
              <a:rPr sz="1600" b="1">
                <a:solidFill>
                  <a:srgbClr val="142B33"/>
                </a:solidFill>
                <a:latin typeface="Calibri"/>
              </a:rPr>
              <a:t>todos</a:t>
            </a:r>
            <a:r>
              <a:rPr sz="1600" b="0">
                <a:solidFill>
                  <a:srgbClr val="142B33"/>
                </a:solidFill>
                <a:latin typeface="Calibri"/>
              </a:rPr>
              <a:t> los factores</a:t>
            </a:r>
          </a:p>
          <a:p>
            <a:pPr marL="320040" indent="-320040">
              <a:spcAft>
                <a:spcPts val="600"/>
              </a:spcAft>
              <a:buClr>
                <a:srgbClr val="E36414"/>
              </a:buClr>
              <a:buFont typeface="Arial"/>
              <a:buChar char="•"/>
            </a:pPr>
            <a:r>
              <a:rPr sz="1600" b="0">
                <a:solidFill>
                  <a:srgbClr val="142B33"/>
                </a:solidFill>
                <a:latin typeface="Calibri"/>
              </a:rPr>
              <a:t>Rompe los alias entre </a:t>
            </a:r>
            <a:r>
              <a:rPr sz="1600" b="1">
                <a:solidFill>
                  <a:srgbClr val="142B33"/>
                </a:solidFill>
                <a:latin typeface="Calibri"/>
              </a:rPr>
              <a:t>principales</a:t>
            </a:r>
            <a:r>
              <a:rPr sz="1600" b="0">
                <a:solidFill>
                  <a:srgbClr val="142B33"/>
                </a:solidFill>
                <a:latin typeface="Calibri"/>
              </a:rPr>
              <a:t> e </a:t>
            </a:r>
            <a:r>
              <a:rPr sz="1600" b="1">
                <a:solidFill>
                  <a:srgbClr val="142B33"/>
                </a:solidFill>
                <a:latin typeface="Calibri"/>
              </a:rPr>
              <a:t>interacciones dobles</a:t>
            </a:r>
          </a:p>
          <a:p>
            <a:pPr marL="320040" indent="-320040">
              <a:spcAft>
                <a:spcPts val="600"/>
              </a:spcAft>
              <a:buClr>
                <a:srgbClr val="E36414"/>
              </a:buClr>
              <a:buFont typeface="Arial"/>
              <a:buChar char="•"/>
            </a:pPr>
            <a:r>
              <a:rPr sz="1600" b="0">
                <a:solidFill>
                  <a:srgbClr val="142B33"/>
                </a:solidFill>
                <a:latin typeface="Calibri"/>
              </a:rPr>
              <a:t>Equivale a cambiar el signo de los generadores con </a:t>
            </a:r>
            <a:r>
              <a:rPr sz="1600" b="1">
                <a:solidFill>
                  <a:srgbClr val="142B33"/>
                </a:solidFill>
                <a:latin typeface="Calibri"/>
              </a:rPr>
              <a:t>número impar</a:t>
            </a:r>
            <a:r>
              <a:rPr sz="1600" b="0">
                <a:solidFill>
                  <a:srgbClr val="142B33"/>
                </a:solidFill>
                <a:latin typeface="Calibri"/>
              </a:rPr>
              <a:t> de letras</a:t>
            </a:r>
          </a:p>
          <a:p>
            <a:pPr marL="320040" indent="-320040">
              <a:spcAft>
                <a:spcPts val="600"/>
              </a:spcAft>
              <a:buClr>
                <a:srgbClr val="E36414"/>
              </a:buClr>
              <a:buFont typeface="Arial"/>
              <a:buChar char="•"/>
            </a:pPr>
            <a:r>
              <a:rPr sz="1600" b="0">
                <a:solidFill>
                  <a:srgbClr val="142B33"/>
                </a:solidFill>
                <a:latin typeface="Calibri"/>
              </a:rPr>
              <a:t>En el 2</a:t>
            </a:r>
            <a:r>
              <a:rPr sz="1600" b="0" baseline="30000">
                <a:solidFill>
                  <a:srgbClr val="142B33"/>
                </a:solidFill>
                <a:latin typeface="Calibri"/>
              </a:rPr>
              <a:t>7−4</a:t>
            </a:r>
            <a:r>
              <a:rPr sz="1600" b="0">
                <a:solidFill>
                  <a:srgbClr val="142B33"/>
                </a:solidFill>
                <a:latin typeface="Calibri"/>
              </a:rPr>
              <a:t>: ABD, ACE y BCF cambian; </a:t>
            </a:r>
            <a:r>
              <a:rPr sz="1600" b="1">
                <a:solidFill>
                  <a:srgbClr val="142B33"/>
                </a:solidFill>
                <a:latin typeface="Calibri"/>
              </a:rPr>
              <a:t>ABCG</a:t>
            </a:r>
            <a:r>
              <a:rPr sz="1600" b="0">
                <a:solidFill>
                  <a:srgbClr val="142B33"/>
                </a:solidFill>
                <a:latin typeface="Calibri"/>
              </a:rPr>
              <a:t> no</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84</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Enunciado: tiempo de enfoque del ojo</a:t>
            </a:r>
          </a:p>
        </p:txBody>
      </p:sp>
      <p:sp>
        <p:nvSpPr>
          <p:cNvPr id="3" name="TextBox 2"/>
          <p:cNvSpPr txBox="1"/>
          <p:nvPr/>
        </p:nvSpPr>
        <p:spPr>
          <a:xfrm>
            <a:off x="548640" y="1417320"/>
            <a:ext cx="6196102" cy="1523999"/>
          </a:xfrm>
          <a:prstGeom prst="rect">
            <a:avLst/>
          </a:prstGeom>
          <a:noFill/>
        </p:spPr>
        <p:txBody>
          <a:bodyPr wrap="square" anchor="t" lIns="0" rIns="0" tIns="0" bIns="0">
            <a:spAutoFit/>
          </a:bodyPr>
          <a:lstStyle/>
          <a:p>
            <a:r>
              <a:rPr sz="1600" b="0">
                <a:solidFill>
                  <a:srgbClr val="142B33"/>
                </a:solidFill>
                <a:latin typeface="Calibri"/>
              </a:rPr>
              <a:t>Un experimentador estudia el </a:t>
            </a:r>
            <a:r>
              <a:rPr sz="1600" b="1">
                <a:solidFill>
                  <a:srgbClr val="142B33"/>
                </a:solidFill>
                <a:latin typeface="Calibri"/>
              </a:rPr>
              <a:t>tiempo de enfoque del ojo</a:t>
            </a:r>
            <a:r>
              <a:rPr sz="1600" b="0">
                <a:solidFill>
                  <a:srgbClr val="142B33"/>
                </a:solidFill>
                <a:latin typeface="Calibri"/>
              </a:rPr>
              <a:t> (ms) y construyó un aparato en el que puede controlar varios factores durante la prueba. Considera importantes siete, cada uno a dos niveles: A agudeza visual, B distancia del objetivo al ojo, C forma del objetivo, D nivel de iluminación, E tamaño del objetivo, F densidad del objetivo y G sujeto.</a:t>
            </a:r>
          </a:p>
        </p:txBody>
      </p:sp>
      <p:sp>
        <p:nvSpPr>
          <p:cNvPr id="4" name="TextBox 3"/>
          <p:cNvSpPr txBox="1"/>
          <p:nvPr/>
        </p:nvSpPr>
        <p:spPr>
          <a:xfrm>
            <a:off x="548640" y="3142488"/>
            <a:ext cx="6196102" cy="780288"/>
          </a:xfrm>
          <a:prstGeom prst="rect">
            <a:avLst/>
          </a:prstGeom>
          <a:noFill/>
        </p:spPr>
        <p:txBody>
          <a:bodyPr wrap="square" anchor="t" lIns="0" rIns="0" tIns="0" bIns="0">
            <a:spAutoFit/>
          </a:bodyPr>
          <a:lstStyle/>
          <a:p>
            <a:r>
              <a:rPr sz="1600" b="0">
                <a:solidFill>
                  <a:srgbClr val="142B33"/>
                </a:solidFill>
                <a:latin typeface="Calibri"/>
              </a:rPr>
              <a:t>Sospecha que </a:t>
            </a:r>
            <a:r>
              <a:rPr sz="1600" b="1">
                <a:solidFill>
                  <a:srgbClr val="142B33"/>
                </a:solidFill>
                <a:latin typeface="Calibri"/>
              </a:rPr>
              <a:t>solo unos pocos</a:t>
            </a:r>
            <a:r>
              <a:rPr sz="1600" b="0">
                <a:solidFill>
                  <a:srgbClr val="142B33"/>
                </a:solidFill>
                <a:latin typeface="Calibri"/>
              </a:rPr>
              <a:t> de los siete factores son importantes y que las interacciones de orden alto se pueden despreciar.</a:t>
            </a:r>
          </a:p>
        </p:txBody>
      </p:sp>
      <p:sp>
        <p:nvSpPr>
          <p:cNvPr id="5" name="TextBox 4"/>
          <p:cNvSpPr txBox="1"/>
          <p:nvPr/>
        </p:nvSpPr>
        <p:spPr>
          <a:xfrm>
            <a:off x="548640" y="4123944"/>
            <a:ext cx="6196102" cy="1028191"/>
          </a:xfrm>
          <a:prstGeom prst="rect">
            <a:avLst/>
          </a:prstGeom>
          <a:noFill/>
        </p:spPr>
        <p:txBody>
          <a:bodyPr wrap="square" anchor="t" lIns="0" rIns="0" tIns="0" bIns="0">
            <a:spAutoFit/>
          </a:bodyPr>
          <a:lstStyle/>
          <a:p>
            <a:r>
              <a:rPr sz="1600" b="0">
                <a:solidFill>
                  <a:srgbClr val="142B33"/>
                </a:solidFill>
                <a:latin typeface="Calibri"/>
              </a:rPr>
              <a:t>Decide hacer primero un </a:t>
            </a:r>
            <a:r>
              <a:rPr sz="1600" b="1">
                <a:solidFill>
                  <a:srgbClr val="142B33"/>
                </a:solidFill>
                <a:latin typeface="Calibri"/>
              </a:rPr>
              <a:t>experimento de tamizado</a:t>
            </a:r>
            <a:r>
              <a:rPr sz="1600" b="0">
                <a:solidFill>
                  <a:srgbClr val="142B33"/>
                </a:solidFill>
                <a:latin typeface="Calibri"/>
              </a:rPr>
              <a:t> con un 2</a:t>
            </a:r>
            <a:r>
              <a:rPr sz="1600" b="0" baseline="30000">
                <a:solidFill>
                  <a:srgbClr val="142B33"/>
                </a:solidFill>
                <a:latin typeface="Calibri"/>
              </a:rPr>
              <a:t>7−4</a:t>
            </a:r>
            <a:r>
              <a:rPr sz="1600" b="0" baseline="-25000">
                <a:solidFill>
                  <a:srgbClr val="142B33"/>
                </a:solidFill>
                <a:latin typeface="Calibri"/>
              </a:rPr>
              <a:t>III</a:t>
            </a:r>
            <a:r>
              <a:rPr sz="1600" b="0">
                <a:solidFill>
                  <a:srgbClr val="142B33"/>
                </a:solidFill>
                <a:latin typeface="Calibri"/>
              </a:rPr>
              <a:t> de 8 corridas, en orden aleatorio, para identificar los factores importantes y concentrar en ellos el estudio posterior.</a:t>
            </a:r>
          </a:p>
        </p:txBody>
      </p:sp>
      <p:sp>
        <p:nvSpPr>
          <p:cNvPr id="6" name="TextBox 5"/>
          <p:cNvSpPr txBox="1"/>
          <p:nvPr/>
        </p:nvSpPr>
        <p:spPr>
          <a:xfrm>
            <a:off x="548640" y="5353303"/>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8-7</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1">
                <a:solidFill>
                  <a:srgbClr val="142B33"/>
                </a:solidFill>
                <a:latin typeface="Calibri"/>
              </a:rPr>
              <a:t>Tamizar</a:t>
            </a:r>
            <a:r>
              <a:rPr sz="1500" b="0">
                <a:solidFill>
                  <a:srgbClr val="142B33"/>
                </a:solidFill>
                <a:latin typeface="Calibri"/>
              </a:rPr>
              <a:t>: encontrar los pocos factores que de verdad afectan el tiempo de enfoque</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efectos de la primera fracción</a:t>
            </a:r>
          </a:p>
          <a:p>
            <a:pPr marL="320040" indent="-320040">
              <a:spcAft>
                <a:spcPts val="600"/>
              </a:spcAft>
              <a:buClr>
                <a:srgbClr val="E36414"/>
              </a:buClr>
              <a:buFont typeface="+mj-lt"/>
              <a:buAutoNum type="arabicPeriod"/>
            </a:pPr>
            <a:r>
              <a:rPr sz="1500" b="0">
                <a:solidFill>
                  <a:srgbClr val="142B33"/>
                </a:solidFill>
                <a:latin typeface="Calibri"/>
              </a:rPr>
              <a:t>Listar las explicaciones compatibles con los alias</a:t>
            </a:r>
          </a:p>
          <a:p>
            <a:pPr marL="320040" indent="-320040">
              <a:spcAft>
                <a:spcPts val="600"/>
              </a:spcAft>
              <a:buClr>
                <a:srgbClr val="E36414"/>
              </a:buClr>
              <a:buFont typeface="+mj-lt"/>
              <a:buAutoNum type="arabicPeriod"/>
            </a:pPr>
            <a:r>
              <a:rPr sz="1500" b="0">
                <a:solidFill>
                  <a:srgbClr val="142B33"/>
                </a:solidFill>
                <a:latin typeface="Calibri"/>
              </a:rPr>
              <a:t>Elegir y correr una segunda fracción que las separe</a:t>
            </a:r>
          </a:p>
          <a:p>
            <a:pPr marL="320040" indent="-320040">
              <a:spcAft>
                <a:spcPts val="600"/>
              </a:spcAft>
              <a:buClr>
                <a:srgbClr val="E36414"/>
              </a:buClr>
              <a:buFont typeface="+mj-lt"/>
              <a:buAutoNum type="arabicPeriod"/>
            </a:pPr>
            <a:r>
              <a:rPr sz="1500" b="0">
                <a:solidFill>
                  <a:srgbClr val="142B33"/>
                </a:solidFill>
                <a:latin typeface="Calibri"/>
              </a:rPr>
              <a:t>Decidir qué efectos son los reales</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85</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Una primera fracción ambigua</a:t>
            </a:r>
          </a:p>
        </p:txBody>
      </p:sp>
      <p:graphicFrame>
        <p:nvGraphicFramePr>
          <p:cNvPr id="3" name="Chart 2"/>
          <p:cNvGraphicFramePr>
            <a:graphicFrameLocks noGrp="1"/>
          </p:cNvGraphicFramePr>
          <p:nvPr/>
        </p:nvGraphicFramePr>
        <p:xfrm>
          <a:off x="548640" y="1417320"/>
          <a:ext cx="5341467" cy="3566160"/>
        </p:xfrm>
        <a:graphic>
          <a:graphicData uri="http://schemas.openxmlformats.org/drawingml/2006/chart">
            <c:chart xmlns:c="http://schemas.openxmlformats.org/drawingml/2006/chart" r:id="rId2"/>
          </a:graphicData>
        </a:graphic>
      </p:graphicFrame>
      <p:sp>
        <p:nvSpPr>
          <p:cNvPr id="4" name="Rounded Rectangle 3"/>
          <p:cNvSpPr/>
          <p:nvPr/>
        </p:nvSpPr>
        <p:spPr>
          <a:xfrm>
            <a:off x="548640" y="5184648"/>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Grandes: ℓ</a:t>
            </a:r>
            <a:r>
              <a:rPr sz="1500" b="0" baseline="-25000">
                <a:solidFill>
                  <a:srgbClr val="142B33"/>
                </a:solidFill>
                <a:latin typeface="Calibri"/>
              </a:rPr>
              <a:t>B</a:t>
            </a:r>
            <a:r>
              <a:rPr sz="1500" b="0">
                <a:solidFill>
                  <a:srgbClr val="142B33"/>
                </a:solidFill>
                <a:latin typeface="Calibri"/>
              </a:rPr>
              <a:t> = 38.38,  ℓ</a:t>
            </a:r>
            <a:r>
              <a:rPr sz="1500" b="0" baseline="-25000">
                <a:solidFill>
                  <a:srgbClr val="142B33"/>
                </a:solidFill>
                <a:latin typeface="Calibri"/>
              </a:rPr>
              <a:t>D</a:t>
            </a:r>
            <a:r>
              <a:rPr sz="1500" b="0">
                <a:solidFill>
                  <a:srgbClr val="142B33"/>
                </a:solidFill>
                <a:latin typeface="Calibri"/>
              </a:rPr>
              <a:t> = 28.88,  ℓ</a:t>
            </a:r>
            <a:r>
              <a:rPr sz="1500" b="0" baseline="-25000">
                <a:solidFill>
                  <a:srgbClr val="142B33"/>
                </a:solidFill>
                <a:latin typeface="Calibri"/>
              </a:rPr>
              <a:t>A</a:t>
            </a:r>
            <a:r>
              <a:rPr sz="1500" b="0">
                <a:solidFill>
                  <a:srgbClr val="142B33"/>
                </a:solidFill>
                <a:latin typeface="Calibri"/>
              </a:rPr>
              <a:t> = 20.63</a:t>
            </a:r>
          </a:p>
        </p:txBody>
      </p:sp>
      <p:sp>
        <p:nvSpPr>
          <p:cNvPr id="5" name="TextBox 4"/>
          <p:cNvSpPr txBox="1"/>
          <p:nvPr/>
        </p:nvSpPr>
        <p:spPr>
          <a:xfrm>
            <a:off x="6301587" y="1417320"/>
            <a:ext cx="5341467" cy="315468"/>
          </a:xfrm>
          <a:prstGeom prst="rect">
            <a:avLst/>
          </a:prstGeom>
          <a:noFill/>
        </p:spPr>
        <p:txBody>
          <a:bodyPr wrap="square" anchor="t" lIns="0" rIns="0" tIns="0" bIns="0">
            <a:spAutoFit/>
          </a:bodyPr>
          <a:lstStyle/>
          <a:p>
            <a:r>
              <a:rPr sz="1800" b="1">
                <a:solidFill>
                  <a:srgbClr val="142B33"/>
                </a:solidFill>
                <a:latin typeface="Calibri"/>
              </a:rPr>
              <a:t>Cuatro explicaciones posibles</a:t>
            </a:r>
          </a:p>
        </p:txBody>
      </p:sp>
      <p:graphicFrame>
        <p:nvGraphicFramePr>
          <p:cNvPr id="6" name="Table 5"/>
          <p:cNvGraphicFramePr>
            <a:graphicFrameLocks noGrp="1"/>
          </p:cNvGraphicFramePr>
          <p:nvPr/>
        </p:nvGraphicFramePr>
        <p:xfrm>
          <a:off x="6301587" y="1933956"/>
          <a:ext cx="5341467" cy="1833880"/>
        </p:xfrm>
        <a:graphic>
          <a:graphicData uri="http://schemas.openxmlformats.org/drawingml/2006/table">
            <a:tbl>
              <a:tblPr firstRow="0" bandRow="0">
                <a:tableStyleId>{5C22544A-7EE6-4342-B048-85BDC9FD1C3A}</a:tableStyleId>
              </a:tblPr>
              <a:tblGrid>
                <a:gridCol w="2072440"/>
                <a:gridCol w="3269027"/>
              </a:tblGrid>
              <a:tr h="366776">
                <a:tc>
                  <a:txBody>
                    <a:bodyPr/>
                    <a:lstStyle/>
                    <a:p>
                      <a:pPr algn="ctr"/>
                      <a:r>
                        <a:rPr sz="1600" b="1">
                          <a:solidFill>
                            <a:srgbClr val="FFFFFF"/>
                          </a:solidFill>
                          <a:latin typeface="Calibri"/>
                        </a:rPr>
                        <a:t>Explicación</a:t>
                      </a:r>
                    </a:p>
                  </a:txBody>
                  <a:tcPr marL="73152" marR="73152" marT="27432" marB="27432" anchor="ctr">
                    <a:solidFill>
                      <a:srgbClr val="0F4C5C"/>
                    </a:solidFill>
                  </a:tcPr>
                </a:tc>
                <a:tc>
                  <a:txBody>
                    <a:bodyPr/>
                    <a:lstStyle/>
                    <a:p>
                      <a:pPr algn="ctr"/>
                      <a:r>
                        <a:rPr sz="1600" b="1">
                          <a:solidFill>
                            <a:srgbClr val="FFFFFF"/>
                          </a:solidFill>
                          <a:latin typeface="Calibri"/>
                        </a:rPr>
                        <a:t>Efectos activos</a:t>
                      </a:r>
                    </a:p>
                  </a:txBody>
                  <a:tcPr marL="73152" marR="73152" marT="27432" marB="27432" anchor="ctr">
                    <a:solidFill>
                      <a:srgbClr val="0F4C5C"/>
                    </a:solidFill>
                  </a:tcPr>
                </a:tc>
              </a:tr>
              <a:tr h="366776">
                <a:tc>
                  <a:txBody>
                    <a:bodyPr/>
                    <a:lstStyle/>
                    <a:p>
                      <a:pPr algn="ctr"/>
                      <a:r>
                        <a:rPr sz="1600" b="0">
                          <a:solidFill>
                            <a:srgbClr val="142B33"/>
                          </a:solidFill>
                          <a:latin typeface="Calibri"/>
                        </a:rPr>
                        <a:t>1</a:t>
                      </a:r>
                    </a:p>
                  </a:txBody>
                  <a:tcPr marL="73152" marR="73152" marT="27432" marB="27432" anchor="ctr">
                    <a:solidFill>
                      <a:srgbClr val="FFFFFF"/>
                    </a:solidFill>
                  </a:tcPr>
                </a:tc>
                <a:tc>
                  <a:txBody>
                    <a:bodyPr/>
                    <a:lstStyle/>
                    <a:p>
                      <a:pPr algn="ctr"/>
                      <a:r>
                        <a:rPr sz="1600" b="0">
                          <a:solidFill>
                            <a:srgbClr val="142B33"/>
                          </a:solidFill>
                          <a:latin typeface="Calibri"/>
                        </a:rPr>
                        <a:t>A, B y D</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p>
                  </a:txBody>
                  <a:tcPr marL="73152" marR="73152" marT="27432" marB="27432" anchor="ctr">
                    <a:solidFill>
                      <a:srgbClr val="F4F8F9"/>
                    </a:solidFill>
                  </a:tcPr>
                </a:tc>
                <a:tc>
                  <a:txBody>
                    <a:bodyPr/>
                    <a:lstStyle/>
                    <a:p>
                      <a:pPr algn="ctr"/>
                      <a:r>
                        <a:rPr sz="1600" b="0">
                          <a:solidFill>
                            <a:srgbClr val="142B33"/>
                          </a:solidFill>
                          <a:latin typeface="Calibri"/>
                        </a:rPr>
                        <a:t>A, B y la interacción AB</a:t>
                      </a:r>
                    </a:p>
                  </a:txBody>
                  <a:tcPr marL="73152" marR="73152" marT="27432" marB="27432" anchor="ctr">
                    <a:solidFill>
                      <a:srgbClr val="F4F8F9"/>
                    </a:solidFill>
                  </a:tcPr>
                </a:tc>
              </a:tr>
              <a:tr h="366776">
                <a:tc>
                  <a:txBody>
                    <a:bodyPr/>
                    <a:lstStyle/>
                    <a:p>
                      <a:pPr algn="ctr"/>
                      <a:r>
                        <a:rPr sz="1600" b="0">
                          <a:solidFill>
                            <a:srgbClr val="142B33"/>
                          </a:solidFill>
                          <a:latin typeface="Calibri"/>
                        </a:rPr>
                        <a:t>3</a:t>
                      </a:r>
                    </a:p>
                  </a:txBody>
                  <a:tcPr marL="73152" marR="73152" marT="27432" marB="27432" anchor="ctr">
                    <a:solidFill>
                      <a:srgbClr val="FFFFFF"/>
                    </a:solidFill>
                  </a:tcPr>
                </a:tc>
                <a:tc>
                  <a:txBody>
                    <a:bodyPr/>
                    <a:lstStyle/>
                    <a:p>
                      <a:pPr algn="ctr"/>
                      <a:r>
                        <a:rPr sz="1600" b="0">
                          <a:solidFill>
                            <a:srgbClr val="142B33"/>
                          </a:solidFill>
                          <a:latin typeface="Calibri"/>
                        </a:rPr>
                        <a:t>A, D y la interacción AD</a:t>
                      </a:r>
                    </a:p>
                  </a:txBody>
                  <a:tcPr marL="73152" marR="73152" marT="27432" marB="27432" anchor="ctr">
                    <a:solidFill>
                      <a:srgbClr val="FFFFFF"/>
                    </a:solidFill>
                  </a:tcPr>
                </a:tc>
              </a:tr>
              <a:tr h="366776">
                <a:tc>
                  <a:txBody>
                    <a:bodyPr/>
                    <a:lstStyle/>
                    <a:p>
                      <a:pPr algn="ctr"/>
                      <a:r>
                        <a:rPr sz="1600" b="0">
                          <a:solidFill>
                            <a:srgbClr val="142B33"/>
                          </a:solidFill>
                          <a:latin typeface="Calibri"/>
                        </a:rPr>
                        <a:t>4</a:t>
                      </a:r>
                    </a:p>
                  </a:txBody>
                  <a:tcPr marL="73152" marR="73152" marT="27432" marB="27432" anchor="ctr">
                    <a:solidFill>
                      <a:srgbClr val="F4F8F9"/>
                    </a:solidFill>
                  </a:tcPr>
                </a:tc>
                <a:tc>
                  <a:txBody>
                    <a:bodyPr/>
                    <a:lstStyle/>
                    <a:p>
                      <a:pPr algn="ctr"/>
                      <a:r>
                        <a:rPr sz="1600" b="0">
                          <a:solidFill>
                            <a:srgbClr val="142B33"/>
                          </a:solidFill>
                          <a:latin typeface="Calibri"/>
                        </a:rPr>
                        <a:t>B, D y la interacción BD</a:t>
                      </a:r>
                    </a:p>
                  </a:txBody>
                  <a:tcPr marL="73152" marR="73152" marT="27432" marB="27432" anchor="ctr">
                    <a:solidFill>
                      <a:srgbClr val="F4F8F9"/>
                    </a:solidFill>
                  </a:tcPr>
                </a:tc>
              </a:tr>
            </a:tbl>
          </a:graphicData>
        </a:graphic>
      </p:graphicFrame>
      <p:sp>
        <p:nvSpPr>
          <p:cNvPr id="7" name="Rounded Rectangle 6"/>
          <p:cNvSpPr/>
          <p:nvPr/>
        </p:nvSpPr>
        <p:spPr>
          <a:xfrm>
            <a:off x="6301587" y="3969004"/>
            <a:ext cx="5341467"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Como </a:t>
            </a:r>
            <a:r>
              <a:rPr sz="1500" b="1">
                <a:solidFill>
                  <a:srgbClr val="142B33"/>
                </a:solidFill>
                <a:latin typeface="Calibri"/>
              </a:rPr>
              <a:t>D = AB</a:t>
            </a:r>
            <a:r>
              <a:rPr sz="1500" b="0">
                <a:solidFill>
                  <a:srgbClr val="142B33"/>
                </a:solidFill>
                <a:latin typeface="Calibri"/>
              </a:rPr>
              <a:t>, la fracción no distingue entre ellas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86</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5 · Qué aclara el doblez completo</a:t>
            </a:r>
          </a:p>
        </p:txBody>
      </p:sp>
      <p:graphicFrame>
        <p:nvGraphicFramePr>
          <p:cNvPr id="3" name="Table 2"/>
          <p:cNvGraphicFramePr>
            <a:graphicFrameLocks noGrp="1"/>
          </p:cNvGraphicFramePr>
          <p:nvPr/>
        </p:nvGraphicFramePr>
        <p:xfrm>
          <a:off x="548640" y="1417320"/>
          <a:ext cx="11094413" cy="3042666"/>
        </p:xfrm>
        <a:graphic>
          <a:graphicData uri="http://schemas.openxmlformats.org/drawingml/2006/table">
            <a:tbl>
              <a:tblPr firstRow="0" bandRow="0">
                <a:tableStyleId>{5C22544A-7EE6-4342-B048-85BDC9FD1C3A}</a:tableStyleId>
              </a:tblPr>
              <a:tblGrid>
                <a:gridCol w="1331329"/>
                <a:gridCol w="1886050"/>
                <a:gridCol w="1886050"/>
                <a:gridCol w="2218883"/>
                <a:gridCol w="3772101"/>
              </a:tblGrid>
              <a:tr h="583692">
                <a:tc>
                  <a:txBody>
                    <a:bodyPr/>
                    <a:lstStyle/>
                    <a:p>
                      <a:pPr algn="ctr"/>
                      <a:r>
                        <a:rPr sz="1500" b="1">
                          <a:solidFill>
                            <a:srgbClr val="FFFFFF"/>
                          </a:solidFill>
                          <a:latin typeface="Calibri"/>
                        </a:rPr>
                        <a:t>Columna</a:t>
                      </a:r>
                    </a:p>
                  </a:txBody>
                  <a:tcPr marL="73152" marR="73152" marT="27432" marB="27432" anchor="ctr">
                    <a:solidFill>
                      <a:srgbClr val="0F4C5C"/>
                    </a:solidFill>
                  </a:tcPr>
                </a:tc>
                <a:tc>
                  <a:txBody>
                    <a:bodyPr/>
                    <a:lstStyle/>
                    <a:p>
                      <a:pPr algn="ctr"/>
                      <a:r>
                        <a:rPr sz="1500" b="1">
                          <a:solidFill>
                            <a:srgbClr val="FFFFFF"/>
                          </a:solidFill>
                          <a:latin typeface="Calibri"/>
                        </a:rPr>
                        <a:t>ℓ  (1.ª fracción)</a:t>
                      </a:r>
                    </a:p>
                  </a:txBody>
                  <a:tcPr marL="73152" marR="73152" marT="27432" marB="27432" anchor="ctr">
                    <a:solidFill>
                      <a:srgbClr val="0F4C5C"/>
                    </a:solidFill>
                  </a:tcPr>
                </a:tc>
                <a:tc>
                  <a:txBody>
                    <a:bodyPr/>
                    <a:lstStyle/>
                    <a:p>
                      <a:pPr algn="ctr"/>
                      <a:r>
                        <a:rPr sz="1500" b="1">
                          <a:solidFill>
                            <a:srgbClr val="FFFFFF"/>
                          </a:solidFill>
                          <a:latin typeface="Calibri"/>
                        </a:rPr>
                        <a:t>ℓ′  (doblez)</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c>
                  <a:txBody>
                    <a:bodyPr/>
                    <a:lstStyle/>
                    <a:p>
                      <a:pPr algn="ctr"/>
                      <a:r>
                        <a:rPr sz="1500" b="1">
                          <a:solidFill>
                            <a:srgbClr val="FFFFFF"/>
                          </a:solidFill>
                          <a:latin typeface="Calibri"/>
                        </a:rPr>
                        <a:t>½ (ℓ − ℓ′)</a:t>
                      </a:r>
                    </a:p>
                  </a:txBody>
                  <a:tcPr marL="73152" marR="73152" marT="27432" marB="27432" anchor="ctr">
                    <a:solidFill>
                      <a:srgbClr val="0F4C5C"/>
                    </a:solidFill>
                  </a:tcPr>
                </a:tc>
              </a:tr>
              <a:tr h="351282">
                <a:tc>
                  <a:txBody>
                    <a:bodyPr/>
                    <a:lstStyle/>
                    <a:p>
                      <a:pPr algn="ctr"/>
                      <a:r>
                        <a:rPr sz="1500" b="0">
                          <a:solidFill>
                            <a:srgbClr val="142B33"/>
                          </a:solidFill>
                          <a:latin typeface="Calibri"/>
                        </a:rPr>
                        <a:t>A</a:t>
                      </a:r>
                    </a:p>
                  </a:txBody>
                  <a:tcPr marL="73152" marR="73152" marT="27432" marB="27432" anchor="ctr">
                    <a:solidFill>
                      <a:srgbClr val="FDE8D7"/>
                    </a:solidFill>
                  </a:tcPr>
                </a:tc>
                <a:tc>
                  <a:txBody>
                    <a:bodyPr/>
                    <a:lstStyle/>
                    <a:p>
                      <a:pPr algn="ctr"/>
                      <a:r>
                        <a:rPr sz="1500" b="0">
                          <a:solidFill>
                            <a:srgbClr val="142B33"/>
                          </a:solidFill>
                          <a:latin typeface="Calibri"/>
                        </a:rPr>
                        <a:t>20.63</a:t>
                      </a:r>
                    </a:p>
                  </a:txBody>
                  <a:tcPr marL="73152" marR="73152" marT="27432" marB="27432" anchor="ctr">
                    <a:solidFill>
                      <a:srgbClr val="FDE8D7"/>
                    </a:solidFill>
                  </a:tcPr>
                </a:tc>
                <a:tc>
                  <a:txBody>
                    <a:bodyPr/>
                    <a:lstStyle/>
                    <a:p>
                      <a:pPr algn="ctr"/>
                      <a:r>
                        <a:rPr sz="1500" b="0">
                          <a:solidFill>
                            <a:srgbClr val="142B33"/>
                          </a:solidFill>
                          <a:latin typeface="Calibri"/>
                        </a:rPr>
                        <a:t>−17.68</a:t>
                      </a:r>
                    </a:p>
                  </a:txBody>
                  <a:tcPr marL="73152" marR="73152" marT="27432" marB="27432" anchor="ctr">
                    <a:solidFill>
                      <a:srgbClr val="FDE8D7"/>
                    </a:solidFill>
                  </a:tcPr>
                </a:tc>
                <a:tc>
                  <a:txBody>
                    <a:bodyPr/>
                    <a:lstStyle/>
                    <a:p>
                      <a:pPr algn="ctr"/>
                      <a:r>
                        <a:rPr sz="1500" b="0">
                          <a:solidFill>
                            <a:srgbClr val="142B33"/>
                          </a:solidFill>
                          <a:latin typeface="Calibri"/>
                        </a:rPr>
                        <a:t>A = 1.48</a:t>
                      </a:r>
                    </a:p>
                  </a:txBody>
                  <a:tcPr marL="73152" marR="73152" marT="27432" marB="27432" anchor="ctr">
                    <a:solidFill>
                      <a:srgbClr val="FDE8D7"/>
                    </a:solidFill>
                  </a:tcPr>
                </a:tc>
                <a:tc>
                  <a:txBody>
                    <a:bodyPr/>
                    <a:lstStyle/>
                    <a:p>
                      <a:pPr algn="ctr"/>
                      <a:r>
                        <a:rPr sz="1500" b="0">
                          <a:solidFill>
                            <a:srgbClr val="142B33"/>
                          </a:solidFill>
                          <a:latin typeface="Calibri"/>
                        </a:rPr>
                        <a:t>BD + CE + FG = 19.15</a:t>
                      </a:r>
                    </a:p>
                  </a:txBody>
                  <a:tcPr marL="73152" marR="73152" marT="27432" marB="27432" anchor="ctr">
                    <a:solidFill>
                      <a:srgbClr val="FDE8D7"/>
                    </a:solidFill>
                  </a:tcPr>
                </a:tc>
              </a:tr>
              <a:tr h="351282">
                <a:tc>
                  <a:txBody>
                    <a:bodyPr/>
                    <a:lstStyle/>
                    <a:p>
                      <a:pPr algn="ctr"/>
                      <a:r>
                        <a:rPr sz="1500" b="0">
                          <a:solidFill>
                            <a:srgbClr val="142B33"/>
                          </a:solidFill>
                          <a:latin typeface="Calibri"/>
                        </a:rPr>
                        <a:t>B</a:t>
                      </a:r>
                    </a:p>
                  </a:txBody>
                  <a:tcPr marL="73152" marR="73152" marT="27432" marB="27432" anchor="ctr">
                    <a:solidFill>
                      <a:srgbClr val="FDE8D7"/>
                    </a:solidFill>
                  </a:tcPr>
                </a:tc>
                <a:tc>
                  <a:txBody>
                    <a:bodyPr/>
                    <a:lstStyle/>
                    <a:p>
                      <a:pPr algn="ctr"/>
                      <a:r>
                        <a:rPr sz="1500" b="0">
                          <a:solidFill>
                            <a:srgbClr val="142B33"/>
                          </a:solidFill>
                          <a:latin typeface="Calibri"/>
                        </a:rPr>
                        <a:t>38.38</a:t>
                      </a:r>
                    </a:p>
                  </a:txBody>
                  <a:tcPr marL="73152" marR="73152" marT="27432" marB="27432" anchor="ctr">
                    <a:solidFill>
                      <a:srgbClr val="FDE8D7"/>
                    </a:solidFill>
                  </a:tcPr>
                </a:tc>
                <a:tc>
                  <a:txBody>
                    <a:bodyPr/>
                    <a:lstStyle/>
                    <a:p>
                      <a:pPr algn="ctr"/>
                      <a:r>
                        <a:rPr sz="1500" b="0">
                          <a:solidFill>
                            <a:srgbClr val="142B33"/>
                          </a:solidFill>
                          <a:latin typeface="Calibri"/>
                        </a:rPr>
                        <a:t>37.73</a:t>
                      </a:r>
                    </a:p>
                  </a:txBody>
                  <a:tcPr marL="73152" marR="73152" marT="27432" marB="27432" anchor="ctr">
                    <a:solidFill>
                      <a:srgbClr val="FDE8D7"/>
                    </a:solidFill>
                  </a:tcPr>
                </a:tc>
                <a:tc>
                  <a:txBody>
                    <a:bodyPr/>
                    <a:lstStyle/>
                    <a:p>
                      <a:pPr algn="ctr"/>
                      <a:r>
                        <a:rPr sz="1500" b="0">
                          <a:solidFill>
                            <a:srgbClr val="142B33"/>
                          </a:solidFill>
                          <a:latin typeface="Calibri"/>
                        </a:rPr>
                        <a:t>B = 38.05</a:t>
                      </a:r>
                    </a:p>
                  </a:txBody>
                  <a:tcPr marL="73152" marR="73152" marT="27432" marB="27432" anchor="ctr">
                    <a:solidFill>
                      <a:srgbClr val="FDE8D7"/>
                    </a:solidFill>
                  </a:tcPr>
                </a:tc>
                <a:tc>
                  <a:txBody>
                    <a:bodyPr/>
                    <a:lstStyle/>
                    <a:p>
                      <a:pPr algn="ctr"/>
                      <a:r>
                        <a:rPr sz="1500" b="0">
                          <a:solidFill>
                            <a:srgbClr val="142B33"/>
                          </a:solidFill>
                          <a:latin typeface="Calibri"/>
                        </a:rPr>
                        <a:t>AD + CF + EG = 0.33</a:t>
                      </a:r>
                    </a:p>
                  </a:txBody>
                  <a:tcPr marL="73152" marR="73152" marT="27432" marB="27432" anchor="ctr">
                    <a:solidFill>
                      <a:srgbClr val="FDE8D7"/>
                    </a:solidFill>
                  </a:tcPr>
                </a:tc>
              </a:tr>
              <a:tr h="351282">
                <a:tc>
                  <a:txBody>
                    <a:bodyPr/>
                    <a:lstStyle/>
                    <a:p>
                      <a:pPr algn="ctr"/>
                      <a:r>
                        <a:rPr sz="1500" b="0">
                          <a:solidFill>
                            <a:srgbClr val="142B33"/>
                          </a:solidFill>
                          <a:latin typeface="Calibri"/>
                        </a:rPr>
                        <a:t>C</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−3.33</a:t>
                      </a:r>
                    </a:p>
                  </a:txBody>
                  <a:tcPr marL="73152" marR="73152" marT="27432" marB="27432" anchor="ctr">
                    <a:solidFill>
                      <a:srgbClr val="FFFFFF"/>
                    </a:solidFill>
                  </a:tcPr>
                </a:tc>
                <a:tc>
                  <a:txBody>
                    <a:bodyPr/>
                    <a:lstStyle/>
                    <a:p>
                      <a:pPr algn="ctr"/>
                      <a:r>
                        <a:rPr sz="1500" b="0">
                          <a:solidFill>
                            <a:srgbClr val="142B33"/>
                          </a:solidFill>
                          <a:latin typeface="Calibri"/>
                        </a:rPr>
                        <a:t>C = −1.80</a:t>
                      </a:r>
                    </a:p>
                  </a:txBody>
                  <a:tcPr marL="73152" marR="73152" marT="27432" marB="27432" anchor="ctr">
                    <a:solidFill>
                      <a:srgbClr val="FFFFFF"/>
                    </a:solidFill>
                  </a:tcPr>
                </a:tc>
                <a:tc>
                  <a:txBody>
                    <a:bodyPr/>
                    <a:lstStyle/>
                    <a:p>
                      <a:pPr algn="ctr"/>
                      <a:r>
                        <a:rPr sz="1500" b="0">
                          <a:solidFill>
                            <a:srgbClr val="142B33"/>
                          </a:solidFill>
                          <a:latin typeface="Calibri"/>
                        </a:rPr>
                        <a:t>AE + BF + DG = 1.53</a:t>
                      </a:r>
                    </a:p>
                  </a:txBody>
                  <a:tcPr marL="73152" marR="73152" marT="27432" marB="27432" anchor="ctr">
                    <a:solidFill>
                      <a:srgbClr val="FFFFFF"/>
                    </a:solidFill>
                  </a:tcPr>
                </a:tc>
              </a:tr>
              <a:tr h="351282">
                <a:tc>
                  <a:txBody>
                    <a:bodyPr/>
                    <a:lstStyle/>
                    <a:p>
                      <a:pPr algn="ctr"/>
                      <a:r>
                        <a:rPr sz="1500" b="0">
                          <a:solidFill>
                            <a:srgbClr val="142B33"/>
                          </a:solidFill>
                          <a:latin typeface="Calibri"/>
                        </a:rPr>
                        <a:t>D</a:t>
                      </a:r>
                    </a:p>
                  </a:txBody>
                  <a:tcPr marL="73152" marR="73152" marT="27432" marB="27432" anchor="ctr">
                    <a:solidFill>
                      <a:srgbClr val="FDE8D7"/>
                    </a:solidFill>
                  </a:tcPr>
                </a:tc>
                <a:tc>
                  <a:txBody>
                    <a:bodyPr/>
                    <a:lstStyle/>
                    <a:p>
                      <a:pPr algn="ctr"/>
                      <a:r>
                        <a:rPr sz="1500" b="0">
                          <a:solidFill>
                            <a:srgbClr val="142B33"/>
                          </a:solidFill>
                          <a:latin typeface="Calibri"/>
                        </a:rPr>
                        <a:t>28.88</a:t>
                      </a:r>
                    </a:p>
                  </a:txBody>
                  <a:tcPr marL="73152" marR="73152" marT="27432" marB="27432" anchor="ctr">
                    <a:solidFill>
                      <a:srgbClr val="FDE8D7"/>
                    </a:solidFill>
                  </a:tcPr>
                </a:tc>
                <a:tc>
                  <a:txBody>
                    <a:bodyPr/>
                    <a:lstStyle/>
                    <a:p>
                      <a:pPr algn="ctr"/>
                      <a:r>
                        <a:rPr sz="1500" b="0">
                          <a:solidFill>
                            <a:srgbClr val="142B33"/>
                          </a:solidFill>
                          <a:latin typeface="Calibri"/>
                        </a:rPr>
                        <a:t>29.88</a:t>
                      </a:r>
                    </a:p>
                  </a:txBody>
                  <a:tcPr marL="73152" marR="73152" marT="27432" marB="27432" anchor="ctr">
                    <a:solidFill>
                      <a:srgbClr val="FDE8D7"/>
                    </a:solidFill>
                  </a:tcPr>
                </a:tc>
                <a:tc>
                  <a:txBody>
                    <a:bodyPr/>
                    <a:lstStyle/>
                    <a:p>
                      <a:pPr algn="ctr"/>
                      <a:r>
                        <a:rPr sz="1500" b="0">
                          <a:solidFill>
                            <a:srgbClr val="142B33"/>
                          </a:solidFill>
                          <a:latin typeface="Calibri"/>
                        </a:rPr>
                        <a:t>D = 29.38</a:t>
                      </a:r>
                    </a:p>
                  </a:txBody>
                  <a:tcPr marL="73152" marR="73152" marT="27432" marB="27432" anchor="ctr">
                    <a:solidFill>
                      <a:srgbClr val="FDE8D7"/>
                    </a:solidFill>
                  </a:tcPr>
                </a:tc>
                <a:tc>
                  <a:txBody>
                    <a:bodyPr/>
                    <a:lstStyle/>
                    <a:p>
                      <a:pPr algn="ctr"/>
                      <a:r>
                        <a:rPr sz="1500" b="0">
                          <a:solidFill>
                            <a:srgbClr val="142B33"/>
                          </a:solidFill>
                          <a:latin typeface="Calibri"/>
                        </a:rPr>
                        <a:t>AB + CG + EF = −0.50</a:t>
                      </a:r>
                    </a:p>
                  </a:txBody>
                  <a:tcPr marL="73152" marR="73152" marT="27432" marB="27432" anchor="ctr">
                    <a:solidFill>
                      <a:srgbClr val="FDE8D7"/>
                    </a:solidFill>
                  </a:tcPr>
                </a:tc>
              </a:tr>
              <a:tr h="351282">
                <a:tc>
                  <a:txBody>
                    <a:bodyPr/>
                    <a:lstStyle/>
                    <a:p>
                      <a:pPr algn="ctr"/>
                      <a:r>
                        <a:rPr sz="1500" b="0">
                          <a:solidFill>
                            <a:srgbClr val="142B33"/>
                          </a:solidFill>
                          <a:latin typeface="Calibri"/>
                        </a:rPr>
                        <a:t>E</a:t>
                      </a:r>
                    </a:p>
                  </a:txBody>
                  <a:tcPr marL="73152" marR="73152" marT="27432" marB="27432" anchor="ctr">
                    <a:solidFill>
                      <a:srgbClr val="FFFFFF"/>
                    </a:solidFill>
                  </a:tcPr>
                </a:tc>
                <a:tc>
                  <a:txBody>
                    <a:bodyPr/>
                    <a:lstStyle/>
                    <a:p>
                      <a:pPr algn="ctr"/>
                      <a:r>
                        <a:rPr sz="1500" b="0">
                          <a:solidFill>
                            <a:srgbClr val="142B33"/>
                          </a:solidFill>
                          <a:latin typeface="Calibri"/>
                        </a:rPr>
                        <a:t>−0.28</a:t>
                      </a:r>
                    </a:p>
                  </a:txBody>
                  <a:tcPr marL="73152" marR="73152" marT="27432" marB="27432" anchor="ctr">
                    <a:solidFill>
                      <a:srgbClr val="FFFFFF"/>
                    </a:solidFill>
                  </a:tcPr>
                </a:tc>
                <a:tc>
                  <a:txBody>
                    <a:bodyPr/>
                    <a:lstStyle/>
                    <a:p>
                      <a:pPr algn="ctr"/>
                      <a:r>
                        <a:rPr sz="1500" b="0">
                          <a:solidFill>
                            <a:srgbClr val="142B33"/>
                          </a:solidFill>
                          <a:latin typeface="Calibri"/>
                        </a:rPr>
                        <a:t>0.53</a:t>
                      </a:r>
                    </a:p>
                  </a:txBody>
                  <a:tcPr marL="73152" marR="73152" marT="27432" marB="27432" anchor="ctr">
                    <a:solidFill>
                      <a:srgbClr val="FFFFFF"/>
                    </a:solidFill>
                  </a:tcPr>
                </a:tc>
                <a:tc>
                  <a:txBody>
                    <a:bodyPr/>
                    <a:lstStyle/>
                    <a:p>
                      <a:pPr algn="ctr"/>
                      <a:r>
                        <a:rPr sz="1500" b="0">
                          <a:solidFill>
                            <a:srgbClr val="142B33"/>
                          </a:solidFill>
                          <a:latin typeface="Calibri"/>
                        </a:rPr>
                        <a:t>E = 0.13</a:t>
                      </a:r>
                    </a:p>
                  </a:txBody>
                  <a:tcPr marL="73152" marR="73152" marT="27432" marB="27432" anchor="ctr">
                    <a:solidFill>
                      <a:srgbClr val="FFFFFF"/>
                    </a:solidFill>
                  </a:tcPr>
                </a:tc>
                <a:tc>
                  <a:txBody>
                    <a:bodyPr/>
                    <a:lstStyle/>
                    <a:p>
                      <a:pPr algn="ctr"/>
                      <a:r>
                        <a:rPr sz="1500" b="0">
                          <a:solidFill>
                            <a:srgbClr val="142B33"/>
                          </a:solidFill>
                          <a:latin typeface="Calibri"/>
                        </a:rPr>
                        <a:t>AC + BG + DF = −0.40</a:t>
                      </a:r>
                    </a:p>
                  </a:txBody>
                  <a:tcPr marL="73152" marR="73152" marT="27432" marB="27432" anchor="ctr">
                    <a:solidFill>
                      <a:srgbClr val="FFFFFF"/>
                    </a:solidFill>
                  </a:tcPr>
                </a:tc>
              </a:tr>
              <a:tr h="351282">
                <a:tc>
                  <a:txBody>
                    <a:bodyPr/>
                    <a:lstStyle/>
                    <a:p>
                      <a:pPr algn="ctr"/>
                      <a:r>
                        <a:rPr sz="1500" b="0">
                          <a:solidFill>
                            <a:srgbClr val="142B33"/>
                          </a:solidFill>
                          <a:latin typeface="Calibri"/>
                        </a:rPr>
                        <a:t>F</a:t>
                      </a:r>
                    </a:p>
                  </a:txBody>
                  <a:tcPr marL="73152" marR="73152" marT="27432" marB="27432" anchor="ctr">
                    <a:solidFill>
                      <a:srgbClr val="F4F8F9"/>
                    </a:solidFill>
                  </a:tcPr>
                </a:tc>
                <a:tc>
                  <a:txBody>
                    <a:bodyPr/>
                    <a:lstStyle/>
                    <a:p>
                      <a:pPr algn="ctr"/>
                      <a:r>
                        <a:rPr sz="1500" b="0">
                          <a:solidFill>
                            <a:srgbClr val="142B33"/>
                          </a:solidFill>
                          <a:latin typeface="Calibri"/>
                        </a:rPr>
                        <a:t>−0.63</a:t>
                      </a:r>
                    </a:p>
                  </a:txBody>
                  <a:tcPr marL="73152" marR="73152" marT="27432" marB="27432" anchor="ctr">
                    <a:solidFill>
                      <a:srgbClr val="F4F8F9"/>
                    </a:solidFill>
                  </a:tcPr>
                </a:tc>
                <a:tc>
                  <a:txBody>
                    <a:bodyPr/>
                    <a:lstStyle/>
                    <a:p>
                      <a:pPr algn="ctr"/>
                      <a:r>
                        <a:rPr sz="1500" b="0">
                          <a:solidFill>
                            <a:srgbClr val="142B33"/>
                          </a:solidFill>
                          <a:latin typeface="Calibri"/>
                        </a:rPr>
                        <a:t>1.63</a:t>
                      </a:r>
                    </a:p>
                  </a:txBody>
                  <a:tcPr marL="73152" marR="73152" marT="27432" marB="27432" anchor="ctr">
                    <a:solidFill>
                      <a:srgbClr val="F4F8F9"/>
                    </a:solidFill>
                  </a:tcPr>
                </a:tc>
                <a:tc>
                  <a:txBody>
                    <a:bodyPr/>
                    <a:lstStyle/>
                    <a:p>
                      <a:pPr algn="ctr"/>
                      <a:r>
                        <a:rPr sz="1500" b="0">
                          <a:solidFill>
                            <a:srgbClr val="142B33"/>
                          </a:solidFill>
                          <a:latin typeface="Calibri"/>
                        </a:rPr>
                        <a:t>F = 0.50</a:t>
                      </a:r>
                    </a:p>
                  </a:txBody>
                  <a:tcPr marL="73152" marR="73152" marT="27432" marB="27432" anchor="ctr">
                    <a:solidFill>
                      <a:srgbClr val="F4F8F9"/>
                    </a:solidFill>
                  </a:tcPr>
                </a:tc>
                <a:tc>
                  <a:txBody>
                    <a:bodyPr/>
                    <a:lstStyle/>
                    <a:p>
                      <a:pPr algn="ctr"/>
                      <a:r>
                        <a:rPr sz="1500" b="0">
                          <a:solidFill>
                            <a:srgbClr val="142B33"/>
                          </a:solidFill>
                          <a:latin typeface="Calibri"/>
                        </a:rPr>
                        <a:t>BC + AG + DE = −1.13</a:t>
                      </a:r>
                    </a:p>
                  </a:txBody>
                  <a:tcPr marL="73152" marR="73152" marT="27432" marB="27432" anchor="ctr">
                    <a:solidFill>
                      <a:srgbClr val="F4F8F9"/>
                    </a:solidFill>
                  </a:tcPr>
                </a:tc>
              </a:tr>
              <a:tr h="351282">
                <a:tc>
                  <a:txBody>
                    <a:bodyPr/>
                    <a:lstStyle/>
                    <a:p>
                      <a:pPr algn="ctr"/>
                      <a:r>
                        <a:rPr sz="1500" b="0">
                          <a:solidFill>
                            <a:srgbClr val="142B33"/>
                          </a:solidFill>
                          <a:latin typeface="Calibri"/>
                        </a:rPr>
                        <a:t>G</a:t>
                      </a:r>
                    </a:p>
                  </a:txBody>
                  <a:tcPr marL="73152" marR="73152" marT="27432" marB="27432" anchor="ctr">
                    <a:solidFill>
                      <a:srgbClr val="FFFFFF"/>
                    </a:solidFill>
                  </a:tcPr>
                </a:tc>
                <a:tc>
                  <a:txBody>
                    <a:bodyPr/>
                    <a:lstStyle/>
                    <a:p>
                      <a:pPr algn="ctr"/>
                      <a:r>
                        <a:rPr sz="1500" b="0">
                          <a:solidFill>
                            <a:srgbClr val="142B33"/>
                          </a:solidFill>
                          <a:latin typeface="Calibri"/>
                        </a:rPr>
                        <a:t>−2.43</a:t>
                      </a:r>
                    </a:p>
                  </a:txBody>
                  <a:tcPr marL="73152" marR="73152" marT="27432" marB="27432" anchor="ctr">
                    <a:solidFill>
                      <a:srgbClr val="FFFFFF"/>
                    </a:solidFill>
                  </a:tcPr>
                </a:tc>
                <a:tc>
                  <a:txBody>
                    <a:bodyPr/>
                    <a:lstStyle/>
                    <a:p>
                      <a:pPr algn="ctr"/>
                      <a:r>
                        <a:rPr sz="1500" b="0">
                          <a:solidFill>
                            <a:srgbClr val="142B33"/>
                          </a:solidFill>
                          <a:latin typeface="Calibri"/>
                        </a:rPr>
                        <a:t>2.68</a:t>
                      </a:r>
                    </a:p>
                  </a:txBody>
                  <a:tcPr marL="73152" marR="73152" marT="27432" marB="27432" anchor="ctr">
                    <a:solidFill>
                      <a:srgbClr val="FFFFFF"/>
                    </a:solidFill>
                  </a:tcPr>
                </a:tc>
                <a:tc>
                  <a:txBody>
                    <a:bodyPr/>
                    <a:lstStyle/>
                    <a:p>
                      <a:pPr algn="ctr"/>
                      <a:r>
                        <a:rPr sz="1500" b="0">
                          <a:solidFill>
                            <a:srgbClr val="142B33"/>
                          </a:solidFill>
                          <a:latin typeface="Calibri"/>
                        </a:rPr>
                        <a:t>G = 0.13</a:t>
                      </a:r>
                    </a:p>
                  </a:txBody>
                  <a:tcPr marL="73152" marR="73152" marT="27432" marB="27432" anchor="ctr">
                    <a:solidFill>
                      <a:srgbClr val="FFFFFF"/>
                    </a:solidFill>
                  </a:tcPr>
                </a:tc>
                <a:tc>
                  <a:txBody>
                    <a:bodyPr/>
                    <a:lstStyle/>
                    <a:p>
                      <a:pPr algn="ctr"/>
                      <a:r>
                        <a:rPr sz="1500" b="0">
                          <a:solidFill>
                            <a:srgbClr val="142B33"/>
                          </a:solidFill>
                          <a:latin typeface="Calibri"/>
                        </a:rPr>
                        <a:t>CD + BE + AF = −2.55</a:t>
                      </a:r>
                    </a:p>
                  </a:txBody>
                  <a:tcPr marL="73152" marR="73152" marT="27432" marB="27432" anchor="ctr">
                    <a:solidFill>
                      <a:srgbClr val="FFFFFF"/>
                    </a:solidFill>
                  </a:tcPr>
                </a:tc>
              </a:tr>
            </a:tbl>
          </a:graphicData>
        </a:graphic>
      </p:graphicFrame>
      <p:sp>
        <p:nvSpPr>
          <p:cNvPr id="4" name="Rounded Rectangle 3"/>
          <p:cNvSpPr/>
          <p:nvPr/>
        </p:nvSpPr>
        <p:spPr>
          <a:xfrm>
            <a:off x="548640" y="4661154"/>
            <a:ext cx="110944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Activos: </a:t>
            </a:r>
            <a:r>
              <a:rPr sz="1600" b="1">
                <a:solidFill>
                  <a:srgbClr val="142B33"/>
                </a:solidFill>
                <a:latin typeface="Calibri"/>
              </a:rPr>
              <a:t>B</a:t>
            </a:r>
            <a:r>
              <a:rPr sz="1600" b="0">
                <a:solidFill>
                  <a:srgbClr val="142B33"/>
                </a:solidFill>
                <a:latin typeface="Calibri"/>
              </a:rPr>
              <a:t>, </a:t>
            </a:r>
            <a:r>
              <a:rPr sz="1600" b="1">
                <a:solidFill>
                  <a:srgbClr val="142B33"/>
                </a:solidFill>
                <a:latin typeface="Calibri"/>
              </a:rPr>
              <a:t>D</a:t>
            </a:r>
            <a:r>
              <a:rPr sz="1600" b="0">
                <a:solidFill>
                  <a:srgbClr val="142B33"/>
                </a:solidFill>
                <a:latin typeface="Calibri"/>
              </a:rPr>
              <a:t> y la cadena </a:t>
            </a:r>
            <a:r>
              <a:rPr sz="1600" b="1">
                <a:solidFill>
                  <a:srgbClr val="142B33"/>
                </a:solidFill>
                <a:latin typeface="Calibri"/>
              </a:rPr>
              <a:t>BD + CE + FG</a:t>
            </a:r>
            <a:r>
              <a:rPr sz="1600" b="0">
                <a:solidFill>
                  <a:srgbClr val="142B33"/>
                </a:solidFill>
                <a:latin typeface="Calibri"/>
              </a:rPr>
              <a:t>, que es razonable atribuir a BD. Diseño combinado: 2</a:t>
            </a:r>
            <a:r>
              <a:rPr sz="1600" b="0" baseline="30000">
                <a:solidFill>
                  <a:srgbClr val="142B33"/>
                </a:solidFill>
                <a:latin typeface="Calibri"/>
              </a:rPr>
              <a:t>7−3</a:t>
            </a:r>
            <a:r>
              <a:rPr sz="1600" b="0">
                <a:solidFill>
                  <a:srgbClr val="142B33"/>
                </a:solidFill>
                <a:latin typeface="Calibri"/>
              </a:rPr>
              <a:t> de resolución </a:t>
            </a:r>
            <a:r>
              <a:rPr sz="1600" b="1">
                <a:solidFill>
                  <a:srgbClr val="142B33"/>
                </a:solidFill>
                <a:latin typeface="Calibri"/>
              </a:rPr>
              <a:t>IV</a:t>
            </a:r>
          </a:p>
        </p:txBody>
      </p:sp>
      <p:sp>
        <p:nvSpPr>
          <p:cNvPr id="5" name="TextBox 4"/>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6" name="TextBox 5"/>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87</a:t>
            </a:r>
          </a:p>
        </p:txBody>
      </p:sp>
      <p:sp>
        <p:nvSpPr>
          <p:cNvPr id="7" name="Rounded Rectangle 6"/>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¿Cuál es la relación de definición del diseño combinado?</a:t>
            </a:r>
          </a:p>
        </p:txBody>
      </p:sp>
      <p:graphicFrame>
        <p:nvGraphicFramePr>
          <p:cNvPr id="3" name="Table 2"/>
          <p:cNvGraphicFramePr>
            <a:graphicFrameLocks noGrp="1"/>
          </p:cNvGraphicFramePr>
          <p:nvPr/>
        </p:nvGraphicFramePr>
        <p:xfrm>
          <a:off x="548640" y="1417320"/>
          <a:ext cx="4807319" cy="1756410"/>
        </p:xfrm>
        <a:graphic>
          <a:graphicData uri="http://schemas.openxmlformats.org/drawingml/2006/table">
            <a:tbl>
              <a:tblPr firstRow="0" bandRow="0">
                <a:tableStyleId>{5C22544A-7EE6-4342-B048-85BDC9FD1C3A}</a:tableStyleId>
              </a:tblPr>
              <a:tblGrid>
                <a:gridCol w="688272"/>
                <a:gridCol w="1916575"/>
                <a:gridCol w="1090647"/>
                <a:gridCol w="1111825"/>
              </a:tblGrid>
              <a:tr h="351282">
                <a:tc>
                  <a:txBody>
                    <a:bodyPr/>
                    <a:lstStyle/>
                    <a:p>
                      <a:pPr algn="ctr"/>
                    </a:p>
                  </a:txBody>
                  <a:tcPr marL="73152" marR="73152" marT="27432" marB="27432" anchor="ctr">
                    <a:solidFill>
                      <a:srgbClr val="0F4C5C"/>
                    </a:solidFill>
                  </a:tcPr>
                </a:tc>
                <a:tc>
                  <a:txBody>
                    <a:bodyPr/>
                    <a:lstStyle/>
                    <a:p>
                      <a:pPr algn="ctr"/>
                      <a:r>
                        <a:rPr sz="1500" b="1">
                          <a:solidFill>
                            <a:srgbClr val="FFFFFF"/>
                          </a:solidFill>
                          <a:latin typeface="Calibri"/>
                        </a:rPr>
                        <a:t>1.ª fracción</a:t>
                      </a:r>
                    </a:p>
                  </a:txBody>
                  <a:tcPr marL="73152" marR="73152" marT="27432" marB="27432" anchor="ctr">
                    <a:solidFill>
                      <a:srgbClr val="0F4C5C"/>
                    </a:solidFill>
                  </a:tcPr>
                </a:tc>
                <a:tc>
                  <a:txBody>
                    <a:bodyPr/>
                    <a:lstStyle/>
                    <a:p>
                      <a:pPr algn="ctr"/>
                      <a:r>
                        <a:rPr sz="1500" b="1">
                          <a:solidFill>
                            <a:srgbClr val="FFFFFF"/>
                          </a:solidFill>
                          <a:latin typeface="Calibri"/>
                        </a:rPr>
                        <a:t>Doblez</a:t>
                      </a:r>
                    </a:p>
                  </a:txBody>
                  <a:tcPr marL="73152" marR="73152" marT="27432" marB="27432" anchor="ctr">
                    <a:solidFill>
                      <a:srgbClr val="0F4C5C"/>
                    </a:solidFill>
                  </a:tcPr>
                </a:tc>
                <a:tc>
                  <a:txBody>
                    <a:bodyPr/>
                    <a:lstStyle/>
                    <a:p>
                      <a:pPr algn="ctr"/>
                      <a:r>
                        <a:rPr sz="1500" b="1">
                          <a:solidFill>
                            <a:srgbClr val="FFFFFF"/>
                          </a:solidFill>
                          <a:latin typeface="Calibri"/>
                        </a:rPr>
                        <a:t>Signo</a:t>
                      </a:r>
                    </a:p>
                  </a:txBody>
                  <a:tcPr marL="73152" marR="73152" marT="27432" marB="27432" anchor="ctr">
                    <a:solidFill>
                      <a:srgbClr val="0F4C5C"/>
                    </a:solidFill>
                  </a:tcPr>
                </a:tc>
              </a:tr>
              <a:tr h="351282">
                <a:tc>
                  <a:txBody>
                    <a:bodyPr/>
                    <a:lstStyle/>
                    <a:p>
                      <a:pPr algn="ctr"/>
                      <a:r>
                        <a:rPr sz="1500" b="0">
                          <a:solidFill>
                            <a:srgbClr val="142B33"/>
                          </a:solidFill>
                          <a:latin typeface="Calibri"/>
                        </a:rPr>
                        <a:t>ABD</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ACE</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distinto</a:t>
                      </a:r>
                    </a:p>
                  </a:txBody>
                  <a:tcPr marL="73152" marR="73152" marT="27432" marB="27432" anchor="ctr">
                    <a:solidFill>
                      <a:srgbClr val="F4F8F9"/>
                    </a:solidFill>
                  </a:tcPr>
                </a:tc>
              </a:tr>
              <a:tr h="351282">
                <a:tc>
                  <a:txBody>
                    <a:bodyPr/>
                    <a:lstStyle/>
                    <a:p>
                      <a:pPr algn="ctr"/>
                      <a:r>
                        <a:rPr sz="1500" b="0">
                          <a:solidFill>
                            <a:srgbClr val="142B33"/>
                          </a:solidFill>
                          <a:latin typeface="Calibri"/>
                        </a:rPr>
                        <a:t>BCF</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500" b="0">
                          <a:solidFill>
                            <a:srgbClr val="142B33"/>
                          </a:solidFill>
                          <a:latin typeface="Calibri"/>
                        </a:rPr>
                        <a:t>distinto</a:t>
                      </a:r>
                    </a:p>
                  </a:txBody>
                  <a:tcPr marL="73152" marR="73152" marT="27432" marB="27432" anchor="ctr">
                    <a:solidFill>
                      <a:srgbClr val="FFFFFF"/>
                    </a:solidFill>
                  </a:tcPr>
                </a:tc>
              </a:tr>
              <a:tr h="351282">
                <a:tc>
                  <a:txBody>
                    <a:bodyPr/>
                    <a:lstStyle/>
                    <a:p>
                      <a:pPr algn="ctr"/>
                      <a:r>
                        <a:rPr sz="1500" b="0">
                          <a:solidFill>
                            <a:srgbClr val="142B33"/>
                          </a:solidFill>
                          <a:latin typeface="Calibri"/>
                        </a:rPr>
                        <a:t>ABCG</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500" b="0">
                          <a:solidFill>
                            <a:srgbClr val="142B33"/>
                          </a:solidFill>
                          <a:latin typeface="Calibri"/>
                        </a:rPr>
                        <a:t>igual</a:t>
                      </a:r>
                    </a:p>
                  </a:txBody>
                  <a:tcPr marL="73152" marR="73152" marT="27432" marB="27432" anchor="ctr">
                    <a:solidFill>
                      <a:srgbClr val="F4F8F9"/>
                    </a:solidFill>
                  </a:tcPr>
                </a:tc>
              </a:tr>
            </a:tbl>
          </a:graphicData>
        </a:graphic>
      </p:graphicFrame>
      <p:sp>
        <p:nvSpPr>
          <p:cNvPr id="4" name="Rounded Rectangle 3"/>
          <p:cNvSpPr/>
          <p:nvPr/>
        </p:nvSpPr>
        <p:spPr>
          <a:xfrm>
            <a:off x="548640" y="3374898"/>
            <a:ext cx="4807320" cy="56932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700" b="0">
                <a:solidFill>
                  <a:srgbClr val="0F4C5C"/>
                </a:solidFill>
                <a:latin typeface="Cambria Math"/>
              </a:rPr>
              <a:t>L = 1,  U = 3  ⇒  L + U − 1 = 3 generadores</a:t>
            </a:r>
          </a:p>
        </p:txBody>
      </p:sp>
      <p:sp>
        <p:nvSpPr>
          <p:cNvPr id="5" name="Rounded Rectangle 4"/>
          <p:cNvSpPr/>
          <p:nvPr/>
        </p:nvSpPr>
        <p:spPr>
          <a:xfrm>
            <a:off x="57674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ABCG,   (ABD)(ACE) = BCDE,   (ABD)(BCF) = ACDF</a:t>
            </a:r>
          </a:p>
        </p:txBody>
      </p:sp>
      <p:sp>
        <p:nvSpPr>
          <p:cNvPr id="6" name="Rounded Rectangle 5"/>
          <p:cNvSpPr/>
          <p:nvPr/>
        </p:nvSpPr>
        <p:spPr>
          <a:xfrm>
            <a:off x="5767440" y="2170460"/>
            <a:ext cx="5875614" cy="899038"/>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I = ABCG = BCDE = ACDF = ADEG</a:t>
            </a:r>
          </a:p>
          <a:p>
            <a:pPr algn="ctr"/>
            <a:r>
              <a:rPr sz="1800" b="0">
                <a:solidFill>
                  <a:srgbClr val="0F4C5C"/>
                </a:solidFill>
                <a:latin typeface="Cambria Math"/>
              </a:rPr>
              <a:t>= BDFG = ABEF = CEFG</a:t>
            </a:r>
          </a:p>
        </p:txBody>
      </p:sp>
      <p:sp>
        <p:nvSpPr>
          <p:cNvPr id="7" name="Rounded Rectangle 6"/>
          <p:cNvSpPr/>
          <p:nvPr/>
        </p:nvSpPr>
        <p:spPr>
          <a:xfrm>
            <a:off x="5767440" y="3270666"/>
            <a:ext cx="5875614" cy="522224"/>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Siete palabras de 4 letras: </a:t>
            </a:r>
            <a:r>
              <a:rPr sz="1600" b="1">
                <a:solidFill>
                  <a:srgbClr val="142B33"/>
                </a:solidFill>
                <a:latin typeface="Calibri"/>
              </a:rPr>
              <a:t>2</a:t>
            </a:r>
            <a:r>
              <a:rPr sz="1600" b="1" baseline="30000">
                <a:solidFill>
                  <a:srgbClr val="142B33"/>
                </a:solidFill>
                <a:latin typeface="Calibri"/>
              </a:rPr>
              <a:t>7−3</a:t>
            </a:r>
            <a:r>
              <a:rPr sz="1600" b="1" baseline="-25000">
                <a:solidFill>
                  <a:srgbClr val="142B33"/>
                </a:solidFill>
                <a:latin typeface="Calibri"/>
              </a:rPr>
              <a:t>IV</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88</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son los diseños de Plackett-Burman?</a:t>
            </a:r>
          </a:p>
        </p:txBody>
      </p:sp>
      <p:sp>
        <p:nvSpPr>
          <p:cNvPr id="3" name="TextBox 2"/>
          <p:cNvSpPr txBox="1"/>
          <p:nvPr/>
        </p:nvSpPr>
        <p:spPr>
          <a:xfrm>
            <a:off x="548640" y="1417320"/>
            <a:ext cx="5555126" cy="1920240"/>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800" b="0">
                <a:solidFill>
                  <a:srgbClr val="142B33"/>
                </a:solidFill>
                <a:latin typeface="Calibri"/>
              </a:rPr>
              <a:t>Resolución III para </a:t>
            </a:r>
            <a:r>
              <a:rPr sz="1800" b="1">
                <a:solidFill>
                  <a:srgbClr val="142B33"/>
                </a:solidFill>
                <a:latin typeface="Calibri"/>
              </a:rPr>
              <a:t>k = N − 1</a:t>
            </a:r>
            <a:r>
              <a:rPr sz="1800" b="0">
                <a:solidFill>
                  <a:srgbClr val="142B33"/>
                </a:solidFill>
                <a:latin typeface="Calibri"/>
              </a:rPr>
              <a:t> factores en N corridas</a:t>
            </a:r>
          </a:p>
          <a:p>
            <a:pPr marL="320040" indent="-320040">
              <a:spcAft>
                <a:spcPts val="600"/>
              </a:spcAft>
              <a:buClr>
                <a:srgbClr val="E36414"/>
              </a:buClr>
              <a:buFont typeface="Arial"/>
              <a:buChar char="•"/>
            </a:pPr>
            <a:r>
              <a:rPr sz="1800" b="0">
                <a:solidFill>
                  <a:srgbClr val="142B33"/>
                </a:solidFill>
                <a:latin typeface="Calibri"/>
              </a:rPr>
              <a:t>N </a:t>
            </a:r>
            <a:r>
              <a:rPr sz="1800" b="1">
                <a:solidFill>
                  <a:srgbClr val="142B33"/>
                </a:solidFill>
                <a:latin typeface="Calibri"/>
              </a:rPr>
              <a:t>múltiplo de 4</a:t>
            </a:r>
            <a:r>
              <a:rPr sz="1800" b="0">
                <a:solidFill>
                  <a:srgbClr val="142B33"/>
                </a:solidFill>
                <a:latin typeface="Calibri"/>
              </a:rPr>
              <a:t>: 12, 20, 24, 28, 36</a:t>
            </a:r>
          </a:p>
          <a:p>
            <a:pPr marL="320040" indent="-320040">
              <a:spcAft>
                <a:spcPts val="600"/>
              </a:spcAft>
              <a:buClr>
                <a:srgbClr val="E36414"/>
              </a:buClr>
              <a:buFont typeface="Arial"/>
              <a:buChar char="•"/>
            </a:pPr>
            <a:r>
              <a:rPr sz="1800" b="0">
                <a:solidFill>
                  <a:srgbClr val="142B33"/>
                </a:solidFill>
                <a:latin typeface="Calibri"/>
              </a:rPr>
              <a:t>Para N = 12, 20, 24 y 36 se construye </a:t>
            </a:r>
            <a:r>
              <a:rPr sz="1800" b="1">
                <a:solidFill>
                  <a:srgbClr val="142B33"/>
                </a:solidFill>
                <a:latin typeface="Calibri"/>
              </a:rPr>
              <a:t>desplazando cíclicamente</a:t>
            </a:r>
            <a:r>
              <a:rPr sz="1800" b="0">
                <a:solidFill>
                  <a:srgbClr val="142B33"/>
                </a:solidFill>
                <a:latin typeface="Calibri"/>
              </a:rPr>
              <a:t> un renglón generador y agregando un renglón de signos −</a:t>
            </a:r>
          </a:p>
        </p:txBody>
      </p:sp>
      <p:graphicFrame>
        <p:nvGraphicFramePr>
          <p:cNvPr id="4" name="Table 3"/>
          <p:cNvGraphicFramePr>
            <a:graphicFrameLocks noGrp="1"/>
          </p:cNvGraphicFramePr>
          <p:nvPr/>
        </p:nvGraphicFramePr>
        <p:xfrm>
          <a:off x="548640" y="3538728"/>
          <a:ext cx="5555125" cy="1343152"/>
        </p:xfrm>
        <a:graphic>
          <a:graphicData uri="http://schemas.openxmlformats.org/drawingml/2006/table">
            <a:tbl>
              <a:tblPr firstRow="0" bandRow="0">
                <a:tableStyleId>{5C22544A-7EE6-4342-B048-85BDC9FD1C3A}</a:tableStyleId>
              </a:tblPr>
              <a:tblGrid>
                <a:gridCol w="555512"/>
                <a:gridCol w="4999613"/>
              </a:tblGrid>
              <a:tr h="335788">
                <a:tc>
                  <a:txBody>
                    <a:bodyPr/>
                    <a:lstStyle/>
                    <a:p>
                      <a:pPr algn="ctr"/>
                      <a:r>
                        <a:rPr sz="1400" b="1">
                          <a:solidFill>
                            <a:srgbClr val="FFFFFF"/>
                          </a:solidFill>
                          <a:latin typeface="Calibri"/>
                        </a:rPr>
                        <a:t>N</a:t>
                      </a:r>
                    </a:p>
                  </a:txBody>
                  <a:tcPr marL="73152" marR="73152" marT="27432" marB="27432" anchor="ctr">
                    <a:solidFill>
                      <a:srgbClr val="0F4C5C"/>
                    </a:solidFill>
                  </a:tcPr>
                </a:tc>
                <a:tc>
                  <a:txBody>
                    <a:bodyPr/>
                    <a:lstStyle/>
                    <a:p>
                      <a:pPr algn="ctr"/>
                      <a:r>
                        <a:rPr sz="1400" b="1">
                          <a:solidFill>
                            <a:srgbClr val="FFFFFF"/>
                          </a:solidFill>
                          <a:latin typeface="Calibri"/>
                        </a:rPr>
                        <a:t>Renglón generador</a:t>
                      </a:r>
                    </a:p>
                  </a:txBody>
                  <a:tcPr marL="73152" marR="73152" marT="27432" marB="27432" anchor="ctr">
                    <a:solidFill>
                      <a:srgbClr val="0F4C5C"/>
                    </a:solidFill>
                  </a:tcPr>
                </a:tc>
              </a:tr>
              <a:tr h="335788">
                <a:tc>
                  <a:txBody>
                    <a:bodyPr/>
                    <a:lstStyle/>
                    <a:p>
                      <a:pPr algn="ctr"/>
                      <a:r>
                        <a:rPr sz="1400" b="0">
                          <a:solidFill>
                            <a:srgbClr val="142B33"/>
                          </a:solidFill>
                          <a:latin typeface="Calibri"/>
                        </a:rPr>
                        <a:t>12</a:t>
                      </a:r>
                    </a:p>
                  </a:txBody>
                  <a:tcPr marL="73152" marR="73152" marT="27432" marB="27432" anchor="ctr">
                    <a:solidFill>
                      <a:srgbClr val="FFFFFF"/>
                    </a:solidFill>
                  </a:tcPr>
                </a:tc>
                <a:tc>
                  <a:txBody>
                    <a:bodyPr/>
                    <a:lstStyle/>
                    <a:p>
                      <a:pPr algn="ctr"/>
                      <a:r>
                        <a:rPr sz="1400" b="0">
                          <a:solidFill>
                            <a:srgbClr val="142B33"/>
                          </a:solidFill>
                          <a:latin typeface="Calibri"/>
                        </a:rPr>
                        <a:t>+ + − + + + − − − + −</a:t>
                      </a:r>
                    </a:p>
                  </a:txBody>
                  <a:tcPr marL="73152" marR="73152" marT="27432" marB="27432" anchor="ctr">
                    <a:solidFill>
                      <a:srgbClr val="FFFFFF"/>
                    </a:solidFill>
                  </a:tcPr>
                </a:tc>
              </a:tr>
              <a:tr h="335788">
                <a:tc>
                  <a:txBody>
                    <a:bodyPr/>
                    <a:lstStyle/>
                    <a:p>
                      <a:pPr algn="ctr"/>
                      <a:r>
                        <a:rPr sz="1400" b="0">
                          <a:solidFill>
                            <a:srgbClr val="142B33"/>
                          </a:solidFill>
                          <a:latin typeface="Calibri"/>
                        </a:rPr>
                        <a:t>20</a:t>
                      </a:r>
                    </a:p>
                  </a:txBody>
                  <a:tcPr marL="73152" marR="73152" marT="27432" marB="27432" anchor="ctr">
                    <a:solidFill>
                      <a:srgbClr val="F4F8F9"/>
                    </a:solidFill>
                  </a:tcPr>
                </a:tc>
                <a:tc>
                  <a:txBody>
                    <a:bodyPr/>
                    <a:lstStyle/>
                    <a:p>
                      <a:pPr algn="ctr"/>
                      <a:r>
                        <a:rPr sz="1400" b="0">
                          <a:solidFill>
                            <a:srgbClr val="142B33"/>
                          </a:solidFill>
                          <a:latin typeface="Calibri"/>
                        </a:rPr>
                        <a:t>+ + − − + + + + − + − + − − − − + + −</a:t>
                      </a:r>
                    </a:p>
                  </a:txBody>
                  <a:tcPr marL="73152" marR="73152" marT="27432" marB="27432" anchor="ctr">
                    <a:solidFill>
                      <a:srgbClr val="F4F8F9"/>
                    </a:solidFill>
                  </a:tcPr>
                </a:tc>
              </a:tr>
              <a:tr h="335788">
                <a:tc>
                  <a:txBody>
                    <a:bodyPr/>
                    <a:lstStyle/>
                    <a:p>
                      <a:pPr algn="ctr"/>
                      <a:r>
                        <a:rPr sz="1400" b="0">
                          <a:solidFill>
                            <a:srgbClr val="142B33"/>
                          </a:solidFill>
                          <a:latin typeface="Calibri"/>
                        </a:rPr>
                        <a:t>24</a:t>
                      </a:r>
                    </a:p>
                  </a:txBody>
                  <a:tcPr marL="73152" marR="73152" marT="27432" marB="27432" anchor="ctr">
                    <a:solidFill>
                      <a:srgbClr val="FFFFFF"/>
                    </a:solidFill>
                  </a:tcPr>
                </a:tc>
                <a:tc>
                  <a:txBody>
                    <a:bodyPr/>
                    <a:lstStyle/>
                    <a:p>
                      <a:pPr algn="ctr"/>
                      <a:r>
                        <a:rPr sz="1400" b="0">
                          <a:solidFill>
                            <a:srgbClr val="142B33"/>
                          </a:solidFill>
                          <a:latin typeface="Calibri"/>
                        </a:rPr>
                        <a:t>+ + + + + − + − + + − − + + − − + − + − − − −</a:t>
                      </a:r>
                    </a:p>
                  </a:txBody>
                  <a:tcPr marL="73152" marR="73152" marT="27432" marB="27432" anchor="ctr">
                    <a:solidFill>
                      <a:srgbClr val="FFFFFF"/>
                    </a:solidFill>
                  </a:tcPr>
                </a:tc>
              </a:tr>
            </a:tbl>
          </a:graphicData>
        </a:graphic>
      </p:graphicFrame>
      <p:sp>
        <p:nvSpPr>
          <p:cNvPr id="5" name="Rounded Rectangle 4"/>
          <p:cNvSpPr/>
          <p:nvPr/>
        </p:nvSpPr>
        <p:spPr>
          <a:xfrm>
            <a:off x="6515246" y="1417320"/>
            <a:ext cx="5127808" cy="1327911"/>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700" b="1">
                <a:solidFill>
                  <a:srgbClr val="142B33"/>
                </a:solidFill>
                <a:latin typeface="Calibri"/>
              </a:rPr>
              <a:t>Cuidado:</a:t>
            </a:r>
            <a:r>
              <a:rPr sz="1700" b="0">
                <a:solidFill>
                  <a:srgbClr val="142B33"/>
                </a:solidFill>
                <a:latin typeface="Calibri"/>
              </a:rPr>
              <a:t> cada efecto principal es </a:t>
            </a:r>
            <a:r>
              <a:rPr sz="1700" b="1">
                <a:solidFill>
                  <a:srgbClr val="142B33"/>
                </a:solidFill>
                <a:latin typeface="Calibri"/>
              </a:rPr>
              <a:t>alias parcial</a:t>
            </a:r>
            <a:r>
              <a:rPr sz="1700" b="0">
                <a:solidFill>
                  <a:srgbClr val="142B33"/>
                </a:solidFill>
                <a:latin typeface="Calibri"/>
              </a:rPr>
              <a:t> de muchas interacciones dobles. Una interacción real puede aparecer como varios falsos efectos principales.</a:t>
            </a:r>
          </a:p>
        </p:txBody>
      </p:sp>
      <p:sp>
        <p:nvSpPr>
          <p:cNvPr id="6" name="TextBox 5"/>
          <p:cNvSpPr txBox="1"/>
          <p:nvPr/>
        </p:nvSpPr>
        <p:spPr>
          <a:xfrm>
            <a:off x="6515246" y="2946400"/>
            <a:ext cx="5127808" cy="121818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Úselos </a:t>
            </a:r>
            <a:r>
              <a:rPr sz="1700" b="1">
                <a:solidFill>
                  <a:srgbClr val="142B33"/>
                </a:solidFill>
                <a:latin typeface="Calibri"/>
              </a:rPr>
              <a:t>con mucho cuidado</a:t>
            </a:r>
            <a:r>
              <a:rPr sz="1700" b="0">
                <a:solidFill>
                  <a:srgbClr val="142B33"/>
                </a:solidFill>
                <a:latin typeface="Calibri"/>
              </a:rPr>
              <a:t>, para tamizado, cuando no se esperan interacciones importantes</a:t>
            </a:r>
          </a:p>
          <a:p>
            <a:pPr marL="320040" indent="-320040">
              <a:spcAft>
                <a:spcPts val="600"/>
              </a:spcAft>
              <a:buClr>
                <a:srgbClr val="E36414"/>
              </a:buClr>
              <a:buFont typeface="Arial"/>
              <a:buChar char="•"/>
            </a:pPr>
            <a:r>
              <a:rPr sz="1700" b="0">
                <a:solidFill>
                  <a:srgbClr val="142B33"/>
                </a:solidFill>
                <a:latin typeface="Calibri"/>
              </a:rPr>
              <a:t>Un </a:t>
            </a:r>
            <a:r>
              <a:rPr sz="1700" b="1">
                <a:solidFill>
                  <a:srgbClr val="142B33"/>
                </a:solidFill>
                <a:latin typeface="Calibri"/>
              </a:rPr>
              <a:t>2</a:t>
            </a:r>
            <a:r>
              <a:rPr sz="1700" b="1" baseline="30000">
                <a:solidFill>
                  <a:srgbClr val="142B33"/>
                </a:solidFill>
                <a:latin typeface="Calibri"/>
              </a:rPr>
              <a:t>k−p</a:t>
            </a:r>
            <a:r>
              <a:rPr sz="1700" b="0">
                <a:solidFill>
                  <a:srgbClr val="142B33"/>
                </a:solidFill>
                <a:latin typeface="Calibri"/>
              </a:rPr>
              <a:t> de tamaño parecido puede ser mejor elección</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89</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construye un Plackett-Burman de 12 corridas?</a:t>
            </a:r>
          </a:p>
        </p:txBody>
      </p:sp>
      <p:graphicFrame>
        <p:nvGraphicFramePr>
          <p:cNvPr id="3" name="Table 2"/>
          <p:cNvGraphicFramePr>
            <a:graphicFrameLocks noGrp="1"/>
          </p:cNvGraphicFramePr>
          <p:nvPr/>
        </p:nvGraphicFramePr>
        <p:xfrm>
          <a:off x="548640" y="1417320"/>
          <a:ext cx="7050727" cy="3130283"/>
        </p:xfrm>
        <a:graphic>
          <a:graphicData uri="http://schemas.openxmlformats.org/drawingml/2006/table">
            <a:tbl>
              <a:tblPr firstRow="0" bandRow="0">
                <a:tableStyleId>{5C22544A-7EE6-4342-B048-85BDC9FD1C3A}</a:tableStyleId>
              </a:tblPr>
              <a:tblGrid>
                <a:gridCol w="1531620"/>
                <a:gridCol w="501737"/>
                <a:gridCol w="501737"/>
                <a:gridCol w="501737"/>
                <a:gridCol w="501737"/>
                <a:gridCol w="501737"/>
                <a:gridCol w="501737"/>
                <a:gridCol w="501737"/>
                <a:gridCol w="501737"/>
                <a:gridCol w="501737"/>
                <a:gridCol w="501737"/>
                <a:gridCol w="501737"/>
              </a:tblGrid>
              <a:tr h="240791">
                <a:tc>
                  <a:txBody>
                    <a:bodyPr/>
                    <a:lstStyle/>
                    <a:p>
                      <a:pPr algn="ctr"/>
                      <a:r>
                        <a:rPr sz="1200" b="1">
                          <a:solidFill>
                            <a:srgbClr val="FFFFFF"/>
                          </a:solidFill>
                          <a:latin typeface="Calibri"/>
                        </a:rPr>
                        <a:t>Corrida</a:t>
                      </a:r>
                    </a:p>
                  </a:txBody>
                  <a:tcPr marL="73152" marR="73152" marT="27432" marB="27432" anchor="ctr">
                    <a:solidFill>
                      <a:srgbClr val="0F4C5C"/>
                    </a:solidFill>
                  </a:tcPr>
                </a:tc>
                <a:tc>
                  <a:txBody>
                    <a:bodyPr/>
                    <a:lstStyle/>
                    <a:p>
                      <a:pPr algn="ctr"/>
                      <a:r>
                        <a:rPr sz="1200" b="1">
                          <a:solidFill>
                            <a:srgbClr val="FFFFFF"/>
                          </a:solidFill>
                          <a:latin typeface="Calibri"/>
                        </a:rPr>
                        <a:t>A</a:t>
                      </a:r>
                    </a:p>
                  </a:txBody>
                  <a:tcPr marL="73152" marR="73152" marT="27432" marB="27432" anchor="ctr">
                    <a:solidFill>
                      <a:srgbClr val="0F4C5C"/>
                    </a:solidFill>
                  </a:tcPr>
                </a:tc>
                <a:tc>
                  <a:txBody>
                    <a:bodyPr/>
                    <a:lstStyle/>
                    <a:p>
                      <a:pPr algn="ctr"/>
                      <a:r>
                        <a:rPr sz="1200" b="1">
                          <a:solidFill>
                            <a:srgbClr val="FFFFFF"/>
                          </a:solidFill>
                          <a:latin typeface="Calibri"/>
                        </a:rPr>
                        <a:t>B</a:t>
                      </a:r>
                    </a:p>
                  </a:txBody>
                  <a:tcPr marL="73152" marR="73152" marT="27432" marB="27432" anchor="ctr">
                    <a:solidFill>
                      <a:srgbClr val="0F4C5C"/>
                    </a:solidFill>
                  </a:tcPr>
                </a:tc>
                <a:tc>
                  <a:txBody>
                    <a:bodyPr/>
                    <a:lstStyle/>
                    <a:p>
                      <a:pPr algn="ctr"/>
                      <a:r>
                        <a:rPr sz="1200" b="1">
                          <a:solidFill>
                            <a:srgbClr val="FFFFFF"/>
                          </a:solidFill>
                          <a:latin typeface="Calibri"/>
                        </a:rPr>
                        <a:t>C</a:t>
                      </a:r>
                    </a:p>
                  </a:txBody>
                  <a:tcPr marL="73152" marR="73152" marT="27432" marB="27432" anchor="ctr">
                    <a:solidFill>
                      <a:srgbClr val="0F4C5C"/>
                    </a:solidFill>
                  </a:tcPr>
                </a:tc>
                <a:tc>
                  <a:txBody>
                    <a:bodyPr/>
                    <a:lstStyle/>
                    <a:p>
                      <a:pPr algn="ctr"/>
                      <a:r>
                        <a:rPr sz="1200" b="1">
                          <a:solidFill>
                            <a:srgbClr val="FFFFFF"/>
                          </a:solidFill>
                          <a:latin typeface="Calibri"/>
                        </a:rPr>
                        <a:t>D</a:t>
                      </a:r>
                    </a:p>
                  </a:txBody>
                  <a:tcPr marL="73152" marR="73152" marT="27432" marB="27432" anchor="ctr">
                    <a:solidFill>
                      <a:srgbClr val="0F4C5C"/>
                    </a:solidFill>
                  </a:tcPr>
                </a:tc>
                <a:tc>
                  <a:txBody>
                    <a:bodyPr/>
                    <a:lstStyle/>
                    <a:p>
                      <a:pPr algn="ctr"/>
                      <a:r>
                        <a:rPr sz="1200" b="1">
                          <a:solidFill>
                            <a:srgbClr val="FFFFFF"/>
                          </a:solidFill>
                          <a:latin typeface="Calibri"/>
                        </a:rPr>
                        <a:t>E</a:t>
                      </a:r>
                    </a:p>
                  </a:txBody>
                  <a:tcPr marL="73152" marR="73152" marT="27432" marB="27432" anchor="ctr">
                    <a:solidFill>
                      <a:srgbClr val="0F4C5C"/>
                    </a:solidFill>
                  </a:tcPr>
                </a:tc>
                <a:tc>
                  <a:txBody>
                    <a:bodyPr/>
                    <a:lstStyle/>
                    <a:p>
                      <a:pPr algn="ctr"/>
                      <a:r>
                        <a:rPr sz="1200" b="1">
                          <a:solidFill>
                            <a:srgbClr val="FFFFFF"/>
                          </a:solidFill>
                          <a:latin typeface="Calibri"/>
                        </a:rPr>
                        <a:t>F</a:t>
                      </a:r>
                    </a:p>
                  </a:txBody>
                  <a:tcPr marL="73152" marR="73152" marT="27432" marB="27432" anchor="ctr">
                    <a:solidFill>
                      <a:srgbClr val="0F4C5C"/>
                    </a:solidFill>
                  </a:tcPr>
                </a:tc>
                <a:tc>
                  <a:txBody>
                    <a:bodyPr/>
                    <a:lstStyle/>
                    <a:p>
                      <a:pPr algn="ctr"/>
                      <a:r>
                        <a:rPr sz="1200" b="1">
                          <a:solidFill>
                            <a:srgbClr val="FFFFFF"/>
                          </a:solidFill>
                          <a:latin typeface="Calibri"/>
                        </a:rPr>
                        <a:t>G</a:t>
                      </a:r>
                    </a:p>
                  </a:txBody>
                  <a:tcPr marL="73152" marR="73152" marT="27432" marB="27432" anchor="ctr">
                    <a:solidFill>
                      <a:srgbClr val="0F4C5C"/>
                    </a:solidFill>
                  </a:tcPr>
                </a:tc>
                <a:tc>
                  <a:txBody>
                    <a:bodyPr/>
                    <a:lstStyle/>
                    <a:p>
                      <a:pPr algn="ctr"/>
                      <a:r>
                        <a:rPr sz="1200" b="1">
                          <a:solidFill>
                            <a:srgbClr val="FFFFFF"/>
                          </a:solidFill>
                          <a:latin typeface="Calibri"/>
                        </a:rPr>
                        <a:t>H</a:t>
                      </a:r>
                    </a:p>
                  </a:txBody>
                  <a:tcPr marL="73152" marR="73152" marT="27432" marB="27432" anchor="ctr">
                    <a:solidFill>
                      <a:srgbClr val="0F4C5C"/>
                    </a:solidFill>
                  </a:tcPr>
                </a:tc>
                <a:tc>
                  <a:txBody>
                    <a:bodyPr/>
                    <a:lstStyle/>
                    <a:p>
                      <a:pPr algn="ctr"/>
                      <a:r>
                        <a:rPr sz="1200" b="1">
                          <a:solidFill>
                            <a:srgbClr val="FFFFFF"/>
                          </a:solidFill>
                          <a:latin typeface="Calibri"/>
                        </a:rPr>
                        <a:t>J</a:t>
                      </a:r>
                    </a:p>
                  </a:txBody>
                  <a:tcPr marL="73152" marR="73152" marT="27432" marB="27432" anchor="ctr">
                    <a:solidFill>
                      <a:srgbClr val="0F4C5C"/>
                    </a:solidFill>
                  </a:tcPr>
                </a:tc>
                <a:tc>
                  <a:txBody>
                    <a:bodyPr/>
                    <a:lstStyle/>
                    <a:p>
                      <a:pPr algn="ctr"/>
                      <a:r>
                        <a:rPr sz="1200" b="1">
                          <a:solidFill>
                            <a:srgbClr val="FFFFFF"/>
                          </a:solidFill>
                          <a:latin typeface="Calibri"/>
                        </a:rPr>
                        <a:t>K</a:t>
                      </a:r>
                    </a:p>
                  </a:txBody>
                  <a:tcPr marL="73152" marR="73152" marT="27432" marB="27432" anchor="ctr">
                    <a:solidFill>
                      <a:srgbClr val="0F4C5C"/>
                    </a:solidFill>
                  </a:tcPr>
                </a:tc>
                <a:tc>
                  <a:txBody>
                    <a:bodyPr/>
                    <a:lstStyle/>
                    <a:p>
                      <a:pPr algn="ctr"/>
                      <a:r>
                        <a:rPr sz="1200" b="1">
                          <a:solidFill>
                            <a:srgbClr val="FFFFFF"/>
                          </a:solidFill>
                          <a:latin typeface="Calibri"/>
                        </a:rPr>
                        <a:t>L</a:t>
                      </a:r>
                    </a:p>
                  </a:txBody>
                  <a:tcPr marL="73152" marR="73152" marT="27432" marB="27432" anchor="ctr">
                    <a:solidFill>
                      <a:srgbClr val="0F4C5C"/>
                    </a:solidFill>
                  </a:tcPr>
                </a:tc>
              </a:tr>
              <a:tr h="240791">
                <a:tc>
                  <a:txBody>
                    <a:bodyPr/>
                    <a:lstStyle/>
                    <a:p>
                      <a:pPr algn="ctr"/>
                      <a:r>
                        <a:rPr sz="1200" b="0">
                          <a:solidFill>
                            <a:srgbClr val="142B33"/>
                          </a:solidFill>
                          <a:latin typeface="Calibri"/>
                        </a:rPr>
                        <a:t>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3</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4</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5</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6</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7</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8</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9</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10</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c>
                  <a:txBody>
                    <a:bodyPr/>
                    <a:lstStyle/>
                    <a:p>
                      <a:pPr algn="ctr"/>
                      <a:r>
                        <a:rPr sz="1300" b="1">
                          <a:solidFill>
                            <a:srgbClr val="0F4C5C"/>
                          </a:solidFill>
                          <a:latin typeface="Calibri"/>
                        </a:rPr>
                        <a:t>+</a:t>
                      </a:r>
                    </a:p>
                  </a:txBody>
                  <a:tcPr marL="73152" marR="73152" marT="27432" marB="27432" anchor="ctr">
                    <a:solidFill>
                      <a:srgbClr val="F4F8F9"/>
                    </a:solidFill>
                  </a:tcPr>
                </a:tc>
              </a:tr>
              <a:tr h="240791">
                <a:tc>
                  <a:txBody>
                    <a:bodyPr/>
                    <a:lstStyle/>
                    <a:p>
                      <a:pPr algn="ctr"/>
                      <a:r>
                        <a:rPr sz="1200" b="0">
                          <a:solidFill>
                            <a:srgbClr val="142B33"/>
                          </a:solidFill>
                          <a:latin typeface="Calibri"/>
                        </a:rPr>
                        <a:t>11</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c>
                  <a:txBody>
                    <a:bodyPr/>
                    <a:lstStyle/>
                    <a:p>
                      <a:pPr algn="ctr"/>
                      <a:r>
                        <a:rPr sz="1300" b="1">
                          <a:solidFill>
                            <a:srgbClr val="E36414"/>
                          </a:solidFill>
                          <a:latin typeface="Calibri"/>
                        </a:rPr>
                        <a:t>−</a:t>
                      </a:r>
                    </a:p>
                  </a:txBody>
                  <a:tcPr marL="73152" marR="73152" marT="27432" marB="27432" anchor="ctr">
                    <a:solidFill>
                      <a:srgbClr val="FFFFFF"/>
                    </a:solidFill>
                  </a:tcPr>
                </a:tc>
                <a:tc>
                  <a:txBody>
                    <a:bodyPr/>
                    <a:lstStyle/>
                    <a:p>
                      <a:pPr algn="ctr"/>
                      <a:r>
                        <a:rPr sz="1300" b="1">
                          <a:solidFill>
                            <a:srgbClr val="0F4C5C"/>
                          </a:solidFill>
                          <a:latin typeface="Calibri"/>
                        </a:rPr>
                        <a:t>+</a:t>
                      </a:r>
                    </a:p>
                  </a:txBody>
                  <a:tcPr marL="73152" marR="73152" marT="27432" marB="27432" anchor="ctr">
                    <a:solidFill>
                      <a:srgbClr val="FFFFFF"/>
                    </a:solidFill>
                  </a:tcPr>
                </a:tc>
              </a:tr>
              <a:tr h="240791">
                <a:tc>
                  <a:txBody>
                    <a:bodyPr/>
                    <a:lstStyle/>
                    <a:p>
                      <a:pPr algn="ctr"/>
                      <a:r>
                        <a:rPr sz="1200" b="0">
                          <a:solidFill>
                            <a:srgbClr val="142B33"/>
                          </a:solidFill>
                          <a:latin typeface="Calibri"/>
                        </a:rPr>
                        <a:t>12</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c>
                  <a:txBody>
                    <a:bodyPr/>
                    <a:lstStyle/>
                    <a:p>
                      <a:pPr algn="ctr"/>
                      <a:r>
                        <a:rPr sz="13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8010857" y="1417320"/>
            <a:ext cx="3632197" cy="172364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Escribir el </a:t>
            </a:r>
            <a:r>
              <a:rPr sz="1500" b="1">
                <a:solidFill>
                  <a:srgbClr val="142B33"/>
                </a:solidFill>
                <a:latin typeface="Calibri"/>
              </a:rPr>
              <a:t>renglón generador</a:t>
            </a:r>
            <a:r>
              <a:rPr sz="1500" b="0">
                <a:solidFill>
                  <a:srgbClr val="142B33"/>
                </a:solidFill>
                <a:latin typeface="Calibri"/>
              </a:rPr>
              <a:t> como fila 1</a:t>
            </a:r>
          </a:p>
          <a:p>
            <a:pPr marL="320040" indent="-320040">
              <a:spcAft>
                <a:spcPts val="600"/>
              </a:spcAft>
              <a:buClr>
                <a:srgbClr val="E36414"/>
              </a:buClr>
              <a:buFont typeface="+mj-lt"/>
              <a:buAutoNum type="arabicPeriod"/>
            </a:pPr>
            <a:r>
              <a:rPr sz="1500" b="0">
                <a:solidFill>
                  <a:srgbClr val="142B33"/>
                </a:solidFill>
                <a:latin typeface="Calibri"/>
              </a:rPr>
              <a:t>Desplazar </a:t>
            </a:r>
            <a:r>
              <a:rPr sz="1500" b="1">
                <a:solidFill>
                  <a:srgbClr val="142B33"/>
                </a:solidFill>
                <a:latin typeface="Calibri"/>
              </a:rPr>
              <a:t>una posición</a:t>
            </a:r>
            <a:r>
              <a:rPr sz="1500" b="0">
                <a:solidFill>
                  <a:srgbClr val="142B33"/>
                </a:solidFill>
                <a:latin typeface="Calibri"/>
              </a:rPr>
              <a:t> a la derecha para cada fila nueva</a:t>
            </a:r>
          </a:p>
          <a:p>
            <a:pPr marL="320040" indent="-320040">
              <a:spcAft>
                <a:spcPts val="600"/>
              </a:spcAft>
              <a:buClr>
                <a:srgbClr val="E36414"/>
              </a:buClr>
              <a:buFont typeface="+mj-lt"/>
              <a:buAutoNum type="arabicPeriod"/>
            </a:pPr>
            <a:r>
              <a:rPr sz="1500" b="0">
                <a:solidFill>
                  <a:srgbClr val="142B33"/>
                </a:solidFill>
                <a:latin typeface="Calibri"/>
              </a:rPr>
              <a:t>Repetir hasta </a:t>
            </a:r>
            <a:r>
              <a:rPr sz="1500" b="1">
                <a:solidFill>
                  <a:srgbClr val="142B33"/>
                </a:solidFill>
                <a:latin typeface="Calibri"/>
              </a:rPr>
              <a:t>N − 1</a:t>
            </a:r>
            <a:r>
              <a:rPr sz="1500" b="0">
                <a:solidFill>
                  <a:srgbClr val="142B33"/>
                </a:solidFill>
                <a:latin typeface="Calibri"/>
              </a:rPr>
              <a:t> filas</a:t>
            </a:r>
          </a:p>
          <a:p>
            <a:pPr marL="320040" indent="-320040">
              <a:spcAft>
                <a:spcPts val="600"/>
              </a:spcAft>
              <a:buClr>
                <a:srgbClr val="E36414"/>
              </a:buClr>
              <a:buFont typeface="+mj-lt"/>
              <a:buAutoNum type="arabicPeriod"/>
            </a:pPr>
            <a:r>
              <a:rPr sz="1500" b="0">
                <a:solidFill>
                  <a:srgbClr val="142B33"/>
                </a:solidFill>
                <a:latin typeface="Calibri"/>
              </a:rPr>
              <a:t>Agregar una fila de </a:t>
            </a:r>
            <a:r>
              <a:rPr sz="1500" b="1">
                <a:solidFill>
                  <a:srgbClr val="142B33"/>
                </a:solidFill>
                <a:latin typeface="Calibri"/>
              </a:rPr>
              <a:t>signos −</a:t>
            </a:r>
          </a:p>
        </p:txBody>
      </p:sp>
      <p:sp>
        <p:nvSpPr>
          <p:cNvPr id="5" name="Rounded Rectangle 4"/>
          <p:cNvSpPr/>
          <p:nvPr/>
        </p:nvSpPr>
        <p:spPr>
          <a:xfrm>
            <a:off x="8010857" y="3342132"/>
            <a:ext cx="3632197" cy="53461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500" b="0">
                <a:solidFill>
                  <a:srgbClr val="0F4C5C"/>
                </a:solidFill>
                <a:latin typeface="Cambria Math"/>
              </a:rPr>
              <a:t>N = 12:  + + − + + + − − − + −</a:t>
            </a:r>
          </a:p>
        </p:txBody>
      </p:sp>
      <p:sp>
        <p:nvSpPr>
          <p:cNvPr id="6" name="TextBox 5"/>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7" name="TextBox 6"/>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90</a:t>
            </a:r>
          </a:p>
        </p:txBody>
      </p:sp>
      <p:sp>
        <p:nvSpPr>
          <p:cNvPr id="8" name="Rounded Rectangle 7"/>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Alias parciales y proyectividad</a:t>
            </a:r>
          </a:p>
        </p:txBody>
      </p:sp>
      <p:sp>
        <p:nvSpPr>
          <p:cNvPr id="3" name="Rounded Rectangle 2"/>
          <p:cNvSpPr/>
          <p:nvPr/>
        </p:nvSpPr>
        <p:spPr>
          <a:xfrm>
            <a:off x="548640" y="1417320"/>
            <a:ext cx="5341467"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Alias parciales</a:t>
            </a:r>
          </a:p>
          <a:p>
            <a:pPr algn="l"/>
            <a:r>
              <a:rPr sz="1500" b="0">
                <a:solidFill>
                  <a:srgbClr val="142B33"/>
                </a:solidFill>
                <a:latin typeface="Calibri"/>
              </a:rPr>
              <a:t>Cada principal es alias </a:t>
            </a:r>
            <a:r>
              <a:rPr sz="1500" b="1">
                <a:solidFill>
                  <a:srgbClr val="142B33"/>
                </a:solidFill>
                <a:latin typeface="Calibri"/>
              </a:rPr>
              <a:t>parcial</a:t>
            </a:r>
            <a:r>
              <a:rPr sz="1500" b="0">
                <a:solidFill>
                  <a:srgbClr val="142B33"/>
                </a:solidFill>
                <a:latin typeface="Calibri"/>
              </a:rPr>
              <a:t> de 45 interacciones dobles; AB se reparte entre los 9 principales C, …, K</a:t>
            </a:r>
          </a:p>
        </p:txBody>
      </p:sp>
      <p:sp>
        <p:nvSpPr>
          <p:cNvPr id="4" name="Rounded Rectangle 3"/>
          <p:cNvSpPr/>
          <p:nvPr/>
        </p:nvSpPr>
        <p:spPr>
          <a:xfrm>
            <a:off x="548640" y="3127756"/>
            <a:ext cx="5341467" cy="148183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Consecuencia</a:t>
            </a:r>
          </a:p>
          <a:p>
            <a:pPr algn="l"/>
            <a:r>
              <a:rPr sz="1500" b="0">
                <a:solidFill>
                  <a:srgbClr val="142B33"/>
                </a:solidFill>
                <a:latin typeface="Calibri"/>
              </a:rPr>
              <a:t>Una interacción real puede aparecer como </a:t>
            </a:r>
            <a:r>
              <a:rPr sz="1500" b="1">
                <a:solidFill>
                  <a:srgbClr val="142B33"/>
                </a:solidFill>
                <a:latin typeface="Calibri"/>
              </a:rPr>
              <a:t>varios</a:t>
            </a:r>
            <a:r>
              <a:rPr sz="1500" b="0">
                <a:solidFill>
                  <a:srgbClr val="142B33"/>
                </a:solidFill>
                <a:latin typeface="Calibri"/>
              </a:rPr>
              <a:t> falsos efectos principales</a:t>
            </a:r>
          </a:p>
        </p:txBody>
      </p:sp>
      <p:graphicFrame>
        <p:nvGraphicFramePr>
          <p:cNvPr id="5" name="Table 4"/>
          <p:cNvGraphicFramePr>
            <a:graphicFrameLocks noGrp="1"/>
          </p:cNvGraphicFramePr>
          <p:nvPr/>
        </p:nvGraphicFramePr>
        <p:xfrm>
          <a:off x="6301587" y="1417320"/>
          <a:ext cx="5341466" cy="1637538"/>
        </p:xfrm>
        <a:graphic>
          <a:graphicData uri="http://schemas.openxmlformats.org/drawingml/2006/table">
            <a:tbl>
              <a:tblPr firstRow="0" bandRow="0">
                <a:tableStyleId>{5C22544A-7EE6-4342-B048-85BDC9FD1C3A}</a:tableStyleId>
              </a:tblPr>
              <a:tblGrid>
                <a:gridCol w="2670733"/>
                <a:gridCol w="2670733"/>
              </a:tblGrid>
              <a:tr h="583692">
                <a:tc>
                  <a:txBody>
                    <a:bodyPr/>
                    <a:lstStyle/>
                    <a:p>
                      <a:pPr algn="l"/>
                      <a:r>
                        <a:rPr sz="1500" b="1">
                          <a:solidFill>
                            <a:srgbClr val="FFFFFF"/>
                          </a:solidFill>
                          <a:latin typeface="Calibri"/>
                        </a:rPr>
                        <a:t>Proyección del PB de 12 corridas</a:t>
                      </a:r>
                    </a:p>
                  </a:txBody>
                  <a:tcPr marL="73152" marR="73152" marT="27432" marB="27432" anchor="ctr">
                    <a:solidFill>
                      <a:srgbClr val="0F4C5C"/>
                    </a:solidFill>
                  </a:tcPr>
                </a:tc>
                <a:tc>
                  <a:txBody>
                    <a:bodyPr/>
                    <a:lstStyle/>
                    <a:p>
                      <a:pPr algn="ctr"/>
                      <a:r>
                        <a:rPr sz="1500" b="1">
                          <a:solidFill>
                            <a:srgbClr val="FFFFFF"/>
                          </a:solidFill>
                          <a:latin typeface="Calibri"/>
                        </a:rPr>
                        <a:t>Resultado</a:t>
                      </a:r>
                    </a:p>
                  </a:txBody>
                  <a:tcPr marL="73152" marR="73152" marT="27432" marB="27432" anchor="ctr">
                    <a:solidFill>
                      <a:srgbClr val="0F4C5C"/>
                    </a:solidFill>
                  </a:tcPr>
                </a:tc>
              </a:tr>
              <a:tr h="351282">
                <a:tc>
                  <a:txBody>
                    <a:bodyPr/>
                    <a:lstStyle/>
                    <a:p>
                      <a:pPr algn="l"/>
                      <a:r>
                        <a:rPr sz="1500" b="0">
                          <a:solidFill>
                            <a:srgbClr val="142B33"/>
                          </a:solidFill>
                          <a:latin typeface="Calibri"/>
                        </a:rPr>
                        <a:t>En 2 factores</a:t>
                      </a:r>
                    </a:p>
                  </a:txBody>
                  <a:tcPr marL="73152" marR="73152" marT="27432" marB="27432" anchor="ctr">
                    <a:solidFill>
                      <a:srgbClr val="FFFFFF"/>
                    </a:solidFill>
                  </a:tcPr>
                </a:tc>
                <a:tc>
                  <a:txBody>
                    <a:bodyPr/>
                    <a:lstStyle/>
                    <a:p>
                      <a:pPr algn="ctr"/>
                      <a:r>
                        <a:rPr sz="1500" b="0">
                          <a:solidFill>
                            <a:srgbClr val="142B33"/>
                          </a:solidFill>
                          <a:latin typeface="Calibri"/>
                        </a:rPr>
                        <a:t>Tres réplicas de un 2</a:t>
                      </a:r>
                      <a:r>
                        <a:rPr sz="1500" b="0" baseline="30000">
                          <a:solidFill>
                            <a:srgbClr val="142B33"/>
                          </a:solidFill>
                          <a:latin typeface="Calibri"/>
                        </a:rPr>
                        <a:t>2</a:t>
                      </a:r>
                    </a:p>
                  </a:txBody>
                  <a:tcPr marL="73152" marR="73152" marT="27432" marB="27432" anchor="ctr">
                    <a:solidFill>
                      <a:srgbClr val="FFFFFF"/>
                    </a:solidFill>
                  </a:tcPr>
                </a:tc>
              </a:tr>
              <a:tr h="351282">
                <a:tc>
                  <a:txBody>
                    <a:bodyPr/>
                    <a:lstStyle/>
                    <a:p>
                      <a:pPr algn="l"/>
                      <a:r>
                        <a:rPr sz="1500" b="0">
                          <a:solidFill>
                            <a:srgbClr val="142B33"/>
                          </a:solidFill>
                          <a:latin typeface="Calibri"/>
                        </a:rPr>
                        <a:t>En 3 factores</a:t>
                      </a:r>
                    </a:p>
                  </a:txBody>
                  <a:tcPr marL="73152" marR="73152" marT="27432" marB="27432" anchor="ctr">
                    <a:solidFill>
                      <a:srgbClr val="F4F8F9"/>
                    </a:solidFill>
                  </a:tcPr>
                </a:tc>
                <a:tc>
                  <a:txBody>
                    <a:bodyPr/>
                    <a:lstStyle/>
                    <a:p>
                      <a:pPr algn="ctr"/>
                      <a:r>
                        <a:rPr sz="1500" b="0">
                          <a:solidFill>
                            <a:srgbClr val="142B33"/>
                          </a:solidFill>
                          <a:latin typeface="Calibri"/>
                        </a:rPr>
                        <a:t>Un 2</a:t>
                      </a:r>
                      <a:r>
                        <a:rPr sz="1500" b="0" baseline="30000">
                          <a:solidFill>
                            <a:srgbClr val="142B33"/>
                          </a:solidFill>
                          <a:latin typeface="Calibri"/>
                        </a:rPr>
                        <a:t>3</a:t>
                      </a:r>
                      <a:r>
                        <a:rPr sz="1500" b="0">
                          <a:solidFill>
                            <a:srgbClr val="142B33"/>
                          </a:solidFill>
                          <a:latin typeface="Calibri"/>
                        </a:rPr>
                        <a:t> completo + un 2</a:t>
                      </a:r>
                      <a:r>
                        <a:rPr sz="1500" b="0" baseline="30000">
                          <a:solidFill>
                            <a:srgbClr val="142B33"/>
                          </a:solidFill>
                          <a:latin typeface="Calibri"/>
                        </a:rPr>
                        <a:t>3−1</a:t>
                      </a:r>
                    </a:p>
                  </a:txBody>
                  <a:tcPr marL="73152" marR="73152" marT="27432" marB="27432" anchor="ctr">
                    <a:solidFill>
                      <a:srgbClr val="F4F8F9"/>
                    </a:solidFill>
                  </a:tcPr>
                </a:tc>
              </a:tr>
              <a:tr h="351282">
                <a:tc>
                  <a:txBody>
                    <a:bodyPr/>
                    <a:lstStyle/>
                    <a:p>
                      <a:pPr algn="l"/>
                      <a:r>
                        <a:rPr sz="1500" b="0">
                          <a:solidFill>
                            <a:srgbClr val="142B33"/>
                          </a:solidFill>
                          <a:latin typeface="Calibri"/>
                        </a:rPr>
                        <a:t>Proyectividad</a:t>
                      </a:r>
                    </a:p>
                  </a:txBody>
                  <a:tcPr marL="73152" marR="73152" marT="27432" marB="27432" anchor="ctr">
                    <a:solidFill>
                      <a:srgbClr val="FFFFFF"/>
                    </a:solidFill>
                  </a:tcPr>
                </a:tc>
                <a:tc>
                  <a:txBody>
                    <a:bodyPr/>
                    <a:lstStyle/>
                    <a:p>
                      <a:pPr algn="ctr"/>
                      <a:r>
                        <a:rPr sz="1500" b="1">
                          <a:solidFill>
                            <a:srgbClr val="142B33"/>
                          </a:solidFill>
                          <a:latin typeface="Calibri"/>
                        </a:rPr>
                        <a:t>3</a:t>
                      </a:r>
                      <a:r>
                        <a:rPr sz="1500" b="0">
                          <a:solidFill>
                            <a:srgbClr val="142B33"/>
                          </a:solidFill>
                          <a:latin typeface="Calibri"/>
                        </a:rPr>
                        <a:t> (un 2</a:t>
                      </a:r>
                      <a:r>
                        <a:rPr sz="1500" b="0" baseline="30000">
                          <a:solidFill>
                            <a:srgbClr val="142B33"/>
                          </a:solidFill>
                          <a:latin typeface="Calibri"/>
                        </a:rPr>
                        <a:t>k−p</a:t>
                      </a:r>
                      <a:r>
                        <a:rPr sz="1500" b="0" baseline="-25000">
                          <a:solidFill>
                            <a:srgbClr val="142B33"/>
                          </a:solidFill>
                          <a:latin typeface="Calibri"/>
                        </a:rPr>
                        <a:t>III</a:t>
                      </a:r>
                      <a:r>
                        <a:rPr sz="1500" b="0">
                          <a:solidFill>
                            <a:srgbClr val="142B33"/>
                          </a:solidFill>
                          <a:latin typeface="Calibri"/>
                        </a:rPr>
                        <a:t> tiene 2)</a:t>
                      </a:r>
                    </a:p>
                  </a:txBody>
                  <a:tcPr marL="73152" marR="73152" marT="27432" marB="27432" anchor="ctr">
                    <a:solidFill>
                      <a:srgbClr val="FFFFFF"/>
                    </a:solidFill>
                  </a:tcPr>
                </a:tc>
              </a:tr>
            </a:tbl>
          </a:graphicData>
        </a:graphic>
      </p:graphicFrame>
      <p:sp>
        <p:nvSpPr>
          <p:cNvPr id="6" name="Rounded Rectangle 5"/>
          <p:cNvSpPr/>
          <p:nvPr/>
        </p:nvSpPr>
        <p:spPr>
          <a:xfrm>
            <a:off x="6301587" y="3256025"/>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Las proyecciones en 3 y 4 factores </a:t>
            </a:r>
            <a:r>
              <a:rPr sz="1500" b="1">
                <a:solidFill>
                  <a:srgbClr val="142B33"/>
                </a:solidFill>
                <a:latin typeface="Calibri"/>
              </a:rPr>
              <a:t>no son balanceadas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91</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Enunciado: Plackett-Burman con datos simulados</a:t>
            </a:r>
          </a:p>
        </p:txBody>
      </p:sp>
      <p:sp>
        <p:nvSpPr>
          <p:cNvPr id="3" name="TextBox 2"/>
          <p:cNvSpPr txBox="1"/>
          <p:nvPr/>
        </p:nvSpPr>
        <p:spPr>
          <a:xfrm>
            <a:off x="548640" y="1417320"/>
            <a:ext cx="6196102" cy="1028191"/>
          </a:xfrm>
          <a:prstGeom prst="rect">
            <a:avLst/>
          </a:prstGeom>
          <a:noFill/>
        </p:spPr>
        <p:txBody>
          <a:bodyPr wrap="square" anchor="t" lIns="0" rIns="0" tIns="0" bIns="0">
            <a:spAutoFit/>
          </a:bodyPr>
          <a:lstStyle/>
          <a:p>
            <a:r>
              <a:rPr sz="1600" b="0">
                <a:solidFill>
                  <a:srgbClr val="142B33"/>
                </a:solidFill>
                <a:latin typeface="Calibri"/>
              </a:rPr>
              <a:t>Se quiere tamizar </a:t>
            </a:r>
            <a:r>
              <a:rPr sz="1600" b="1">
                <a:solidFill>
                  <a:srgbClr val="142B33"/>
                </a:solidFill>
                <a:latin typeface="Calibri"/>
              </a:rPr>
              <a:t>11 factores</a:t>
            </a:r>
            <a:r>
              <a:rPr sz="1600" b="0">
                <a:solidFill>
                  <a:srgbClr val="142B33"/>
                </a:solidFill>
                <a:latin typeface="Calibri"/>
              </a:rPr>
              <a:t> (A a L, sin I) con el mínimo de corridas. Un Plackett-Burman de </a:t>
            </a:r>
            <a:r>
              <a:rPr sz="1600" b="1">
                <a:solidFill>
                  <a:srgbClr val="142B33"/>
                </a:solidFill>
                <a:latin typeface="Calibri"/>
              </a:rPr>
              <a:t>12 corridas</a:t>
            </a:r>
            <a:r>
              <a:rPr sz="1600" b="0">
                <a:solidFill>
                  <a:srgbClr val="142B33"/>
                </a:solidFill>
                <a:latin typeface="Calibri"/>
              </a:rPr>
              <a:t> lo permite: es de resolución III y cada interacción doble queda repartida parcialmente sobre varios efectos principales.</a:t>
            </a:r>
          </a:p>
        </p:txBody>
      </p:sp>
      <p:sp>
        <p:nvSpPr>
          <p:cNvPr id="4" name="TextBox 3"/>
          <p:cNvSpPr txBox="1"/>
          <p:nvPr/>
        </p:nvSpPr>
        <p:spPr>
          <a:xfrm>
            <a:off x="548640" y="2646680"/>
            <a:ext cx="6196102" cy="1276096"/>
          </a:xfrm>
          <a:prstGeom prst="rect">
            <a:avLst/>
          </a:prstGeom>
          <a:noFill/>
        </p:spPr>
        <p:txBody>
          <a:bodyPr wrap="square" anchor="t" lIns="0" rIns="0" tIns="0" bIns="0">
            <a:spAutoFit/>
          </a:bodyPr>
          <a:lstStyle/>
          <a:p>
            <a:r>
              <a:rPr sz="1600" b="0">
                <a:solidFill>
                  <a:srgbClr val="142B33"/>
                </a:solidFill>
                <a:latin typeface="Calibri"/>
              </a:rPr>
              <a:t>Para ver qué pasa cuando hay interacciones, Montgomery </a:t>
            </a:r>
            <a:r>
              <a:rPr sz="1600" b="1">
                <a:solidFill>
                  <a:srgbClr val="142B33"/>
                </a:solidFill>
                <a:latin typeface="Calibri"/>
              </a:rPr>
              <a:t>simula</a:t>
            </a:r>
            <a:r>
              <a:rPr sz="1600" b="0">
                <a:solidFill>
                  <a:srgbClr val="142B33"/>
                </a:solidFill>
                <a:latin typeface="Calibri"/>
              </a:rPr>
              <a:t> los datos con un modelo conocido: tres efectos principales activos (A, B y D), dos interacciones (AB y AD) y un error normal de varianza 9. Los demás factores no tienen ningún efecto.</a:t>
            </a:r>
          </a:p>
        </p:txBody>
      </p:sp>
      <p:sp>
        <p:nvSpPr>
          <p:cNvPr id="5" name="TextBox 4"/>
          <p:cNvSpPr txBox="1"/>
          <p:nvPr/>
        </p:nvSpPr>
        <p:spPr>
          <a:xfrm>
            <a:off x="548640" y="4123944"/>
            <a:ext cx="6196102" cy="532384"/>
          </a:xfrm>
          <a:prstGeom prst="rect">
            <a:avLst/>
          </a:prstGeom>
          <a:noFill/>
        </p:spPr>
        <p:txBody>
          <a:bodyPr wrap="square" anchor="t" lIns="0" rIns="0" tIns="0" bIns="0">
            <a:spAutoFit/>
          </a:bodyPr>
          <a:lstStyle/>
          <a:p>
            <a:r>
              <a:rPr sz="1600" b="0">
                <a:solidFill>
                  <a:srgbClr val="142B33"/>
                </a:solidFill>
                <a:latin typeface="Calibri"/>
              </a:rPr>
              <a:t>El analista no conoce ese modelo: solo ve las 12 respuestas y analiza el diseño como se haría en la práctica.</a:t>
            </a:r>
          </a:p>
        </p:txBody>
      </p:sp>
      <p:sp>
        <p:nvSpPr>
          <p:cNvPr id="6" name="TextBox 5"/>
          <p:cNvSpPr txBox="1"/>
          <p:nvPr/>
        </p:nvSpPr>
        <p:spPr>
          <a:xfrm>
            <a:off x="548640" y="4857496"/>
            <a:ext cx="6196102" cy="222504"/>
          </a:xfrm>
          <a:prstGeom prst="rect">
            <a:avLst/>
          </a:prstGeom>
          <a:noFill/>
        </p:spPr>
        <p:txBody>
          <a:bodyPr wrap="square" anchor="t" lIns="0" rIns="0" tIns="0" bIns="0">
            <a:spAutoFit/>
          </a:bodyPr>
          <a:lstStyle/>
          <a:p>
            <a:r>
              <a:rPr sz="1200" b="0">
                <a:solidFill>
                  <a:srgbClr val="5B6B73"/>
                </a:solidFill>
                <a:latin typeface="Calibri"/>
              </a:rPr>
              <a:t>Fuente: Montgomery, ejemplo 8-8</a:t>
            </a:r>
          </a:p>
        </p:txBody>
      </p:sp>
      <p:sp>
        <p:nvSpPr>
          <p:cNvPr id="7" name="Rounded Rectangle 6"/>
          <p:cNvSpPr/>
          <p:nvPr/>
        </p:nvSpPr>
        <p:spPr>
          <a:xfrm>
            <a:off x="7156222" y="1417320"/>
            <a:ext cx="4486832"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Objetivo</a:t>
            </a:r>
          </a:p>
          <a:p>
            <a:pPr algn="l"/>
            <a:r>
              <a:rPr sz="1500" b="0">
                <a:solidFill>
                  <a:srgbClr val="142B33"/>
                </a:solidFill>
                <a:latin typeface="Calibri"/>
              </a:rPr>
              <a:t>Comprobar si el análisis del Plackett-Burman </a:t>
            </a:r>
            <a:r>
              <a:rPr sz="1500" b="1">
                <a:solidFill>
                  <a:srgbClr val="142B33"/>
                </a:solidFill>
                <a:latin typeface="Calibri"/>
              </a:rPr>
              <a:t>recupera el modelo verdadero</a:t>
            </a:r>
          </a:p>
        </p:txBody>
      </p:sp>
      <p:sp>
        <p:nvSpPr>
          <p:cNvPr id="8" name="TextBox 7"/>
          <p:cNvSpPr txBox="1"/>
          <p:nvPr/>
        </p:nvSpPr>
        <p:spPr>
          <a:xfrm>
            <a:off x="7156222" y="2867914"/>
            <a:ext cx="4486832" cy="299973"/>
          </a:xfrm>
          <a:prstGeom prst="rect">
            <a:avLst/>
          </a:prstGeom>
          <a:noFill/>
        </p:spPr>
        <p:txBody>
          <a:bodyPr wrap="square" anchor="t" lIns="0" rIns="0" tIns="0" bIns="0">
            <a:spAutoFit/>
          </a:bodyPr>
          <a:lstStyle/>
          <a:p>
            <a:r>
              <a:rPr sz="1700" b="1">
                <a:solidFill>
                  <a:srgbClr val="142B33"/>
                </a:solidFill>
                <a:latin typeface="Calibri"/>
              </a:rPr>
              <a:t>Se pide</a:t>
            </a:r>
          </a:p>
        </p:txBody>
      </p:sp>
      <p:sp>
        <p:nvSpPr>
          <p:cNvPr id="9" name="TextBox 8"/>
          <p:cNvSpPr txBox="1"/>
          <p:nvPr/>
        </p:nvSpPr>
        <p:spPr>
          <a:xfrm>
            <a:off x="7156222" y="3369056"/>
            <a:ext cx="4486832" cy="1258823"/>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500" b="0">
                <a:solidFill>
                  <a:srgbClr val="142B33"/>
                </a:solidFill>
                <a:latin typeface="Calibri"/>
              </a:rPr>
              <a:t>Estimar los 11 efectos principales</a:t>
            </a:r>
          </a:p>
          <a:p>
            <a:pPr marL="320040" indent="-320040">
              <a:spcAft>
                <a:spcPts val="600"/>
              </a:spcAft>
              <a:buClr>
                <a:srgbClr val="E36414"/>
              </a:buClr>
              <a:buFont typeface="+mj-lt"/>
              <a:buAutoNum type="arabicPeriod"/>
            </a:pPr>
            <a:r>
              <a:rPr sz="1500" b="0">
                <a:solidFill>
                  <a:srgbClr val="142B33"/>
                </a:solidFill>
                <a:latin typeface="Calibri"/>
              </a:rPr>
              <a:t>Compararlos con el modelo que generó los datos</a:t>
            </a:r>
          </a:p>
          <a:p>
            <a:pPr marL="320040" indent="-320040">
              <a:spcAft>
                <a:spcPts val="600"/>
              </a:spcAft>
              <a:buClr>
                <a:srgbClr val="E36414"/>
              </a:buClr>
              <a:buFont typeface="+mj-lt"/>
              <a:buAutoNum type="arabicPeriod"/>
            </a:pPr>
            <a:r>
              <a:rPr sz="1500" b="0">
                <a:solidFill>
                  <a:srgbClr val="142B33"/>
                </a:solidFill>
                <a:latin typeface="Calibri"/>
              </a:rPr>
              <a:t>Explicar de dónde salen los efectos falsos</a:t>
            </a:r>
          </a:p>
          <a:p>
            <a:pPr marL="320040" indent="-320040">
              <a:spcAft>
                <a:spcPts val="600"/>
              </a:spcAft>
              <a:buClr>
                <a:srgbClr val="E36414"/>
              </a:buClr>
              <a:buFont typeface="+mj-lt"/>
              <a:buAutoNum type="arabicPeriod"/>
            </a:pPr>
            <a:r>
              <a:rPr sz="1500" b="0">
                <a:solidFill>
                  <a:srgbClr val="142B33"/>
                </a:solidFill>
                <a:latin typeface="Calibri"/>
              </a:rPr>
              <a:t>Decidir qué diseño habría sido mejor</a:t>
            </a:r>
          </a:p>
        </p:txBody>
      </p:sp>
      <p:sp>
        <p:nvSpPr>
          <p:cNvPr id="10" name="TextBox 9"/>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11" name="TextBox 10"/>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92</a:t>
            </a:r>
          </a:p>
        </p:txBody>
      </p:sp>
      <p:sp>
        <p:nvSpPr>
          <p:cNvPr id="12" name="Rounded Rectangle 11"/>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Ejemplo 6 · Plackett-Burman con datos simulados</a:t>
            </a:r>
          </a:p>
        </p:txBody>
      </p:sp>
      <p:sp>
        <p:nvSpPr>
          <p:cNvPr id="3" name="Rounded Rectangle 2"/>
          <p:cNvSpPr/>
          <p:nvPr/>
        </p:nvSpPr>
        <p:spPr>
          <a:xfrm>
            <a:off x="548640" y="1417320"/>
            <a:ext cx="5875614" cy="551972"/>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600" b="0">
                <a:solidFill>
                  <a:srgbClr val="0F4C5C"/>
                </a:solidFill>
                <a:latin typeface="Cambria Math"/>
              </a:rPr>
              <a:t>y = 200 + 8x</a:t>
            </a:r>
            <a:r>
              <a:rPr sz="1600" b="0" baseline="-25000">
                <a:solidFill>
                  <a:srgbClr val="0F4C5C"/>
                </a:solidFill>
                <a:latin typeface="Cambria Math"/>
              </a:rPr>
              <a:t>1</a:t>
            </a:r>
            <a:r>
              <a:rPr sz="1600" b="0">
                <a:solidFill>
                  <a:srgbClr val="0F4C5C"/>
                </a:solidFill>
                <a:latin typeface="Cambria Math"/>
              </a:rPr>
              <a:t> + 10x</a:t>
            </a:r>
            <a:r>
              <a:rPr sz="1600" b="0" baseline="-25000">
                <a:solidFill>
                  <a:srgbClr val="0F4C5C"/>
                </a:solidFill>
                <a:latin typeface="Cambria Math"/>
              </a:rPr>
              <a:t>2</a:t>
            </a:r>
            <a:r>
              <a:rPr sz="1600" b="0">
                <a:solidFill>
                  <a:srgbClr val="0F4C5C"/>
                </a:solidFill>
                <a:latin typeface="Cambria Math"/>
              </a:rPr>
              <a:t> + 12x</a:t>
            </a:r>
            <a:r>
              <a:rPr sz="1600" b="0" baseline="-25000">
                <a:solidFill>
                  <a:srgbClr val="0F4C5C"/>
                </a:solidFill>
                <a:latin typeface="Cambria Math"/>
              </a:rPr>
              <a:t>4</a:t>
            </a:r>
            <a:r>
              <a:rPr sz="1600" b="0">
                <a:solidFill>
                  <a:srgbClr val="0F4C5C"/>
                </a:solidFill>
                <a:latin typeface="Cambria Math"/>
              </a:rPr>
              <a:t> − 12x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2</a:t>
            </a:r>
            <a:r>
              <a:rPr sz="1600" b="0">
                <a:solidFill>
                  <a:srgbClr val="0F4C5C"/>
                </a:solidFill>
                <a:latin typeface="Cambria Math"/>
              </a:rPr>
              <a:t> + 9x</a:t>
            </a:r>
            <a:r>
              <a:rPr sz="1600" b="0" baseline="-25000">
                <a:solidFill>
                  <a:srgbClr val="0F4C5C"/>
                </a:solidFill>
                <a:latin typeface="Cambria Math"/>
              </a:rPr>
              <a:t>1</a:t>
            </a:r>
            <a:r>
              <a:rPr sz="1600" b="0">
                <a:solidFill>
                  <a:srgbClr val="0F4C5C"/>
                </a:solidFill>
                <a:latin typeface="Cambria Math"/>
              </a:rPr>
              <a:t>x</a:t>
            </a:r>
            <a:r>
              <a:rPr sz="1600" b="0" baseline="-25000">
                <a:solidFill>
                  <a:srgbClr val="0F4C5C"/>
                </a:solidFill>
                <a:latin typeface="Cambria Math"/>
              </a:rPr>
              <a:t>4</a:t>
            </a:r>
            <a:r>
              <a:rPr sz="1600" b="0">
                <a:solidFill>
                  <a:srgbClr val="0F4C5C"/>
                </a:solidFill>
                <a:latin typeface="Cambria Math"/>
              </a:rPr>
              <a:t> + ε</a:t>
            </a:r>
          </a:p>
        </p:txBody>
      </p:sp>
      <p:graphicFrame>
        <p:nvGraphicFramePr>
          <p:cNvPr id="4" name="Chart 3"/>
          <p:cNvGraphicFramePr>
            <a:graphicFrameLocks noGrp="1"/>
          </p:cNvGraphicFramePr>
          <p:nvPr/>
        </p:nvGraphicFramePr>
        <p:xfrm>
          <a:off x="548640" y="2170460"/>
          <a:ext cx="5875614" cy="3200400"/>
        </p:xfrm>
        <a:graphic>
          <a:graphicData uri="http://schemas.openxmlformats.org/drawingml/2006/chart">
            <c:chart xmlns:c="http://schemas.openxmlformats.org/drawingml/2006/chart" r:id="rId2"/>
          </a:graphicData>
        </a:graphic>
      </p:graphicFrame>
      <p:sp>
        <p:nvSpPr>
          <p:cNvPr id="5" name="Rounded Rectangle 4"/>
          <p:cNvSpPr/>
          <p:nvPr/>
        </p:nvSpPr>
        <p:spPr>
          <a:xfrm>
            <a:off x="6835734" y="1417320"/>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es real</a:t>
            </a:r>
          </a:p>
          <a:p>
            <a:pPr algn="l"/>
            <a:r>
              <a:rPr sz="1500" b="1">
                <a:solidFill>
                  <a:srgbClr val="142B33"/>
                </a:solidFill>
                <a:latin typeface="Calibri"/>
              </a:rPr>
              <a:t>A, B, D</a:t>
            </a:r>
            <a:r>
              <a:rPr sz="1500" b="0">
                <a:solidFill>
                  <a:srgbClr val="142B33"/>
                </a:solidFill>
                <a:latin typeface="Calibri"/>
              </a:rPr>
              <a:t>, AB y AD</a:t>
            </a:r>
          </a:p>
        </p:txBody>
      </p:sp>
      <p:sp>
        <p:nvSpPr>
          <p:cNvPr id="6" name="Rounded Rectangle 5"/>
          <p:cNvSpPr/>
          <p:nvPr/>
        </p:nvSpPr>
        <p:spPr>
          <a:xfrm>
            <a:off x="6835734" y="2895346"/>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Lo que aparece</a:t>
            </a:r>
          </a:p>
          <a:p>
            <a:pPr algn="l"/>
            <a:r>
              <a:rPr sz="1500" b="1">
                <a:solidFill>
                  <a:srgbClr val="142B33"/>
                </a:solidFill>
                <a:latin typeface="Calibri"/>
              </a:rPr>
              <a:t>Siete</a:t>
            </a:r>
            <a:r>
              <a:rPr sz="1500" b="0">
                <a:solidFill>
                  <a:srgbClr val="142B33"/>
                </a:solidFill>
                <a:latin typeface="Calibri"/>
              </a:rPr>
              <a:t> efectos grandes: A, B, C, D, E, J y K</a:t>
            </a:r>
          </a:p>
        </p:txBody>
      </p:sp>
      <p:sp>
        <p:nvSpPr>
          <p:cNvPr id="7" name="Rounded Rectangle 6"/>
          <p:cNvSpPr/>
          <p:nvPr/>
        </p:nvSpPr>
        <p:spPr>
          <a:xfrm>
            <a:off x="6835734" y="4373372"/>
            <a:ext cx="4807320" cy="1249426"/>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700" b="1">
                <a:solidFill>
                  <a:srgbClr val="0F4C5C"/>
                </a:solidFill>
                <a:latin typeface="Cambria"/>
              </a:rPr>
              <a:t>Recomendación</a:t>
            </a:r>
          </a:p>
          <a:p>
            <a:pPr algn="l"/>
            <a:r>
              <a:rPr sz="1500" b="0">
                <a:solidFill>
                  <a:srgbClr val="142B33"/>
                </a:solidFill>
                <a:latin typeface="Calibri"/>
              </a:rPr>
              <a:t>Preferir un </a:t>
            </a:r>
            <a:r>
              <a:rPr sz="1500" b="1">
                <a:solidFill>
                  <a:srgbClr val="142B33"/>
                </a:solidFill>
                <a:latin typeface="Calibri"/>
              </a:rPr>
              <a:t>2</a:t>
            </a:r>
            <a:r>
              <a:rPr sz="1500" b="1" baseline="30000">
                <a:solidFill>
                  <a:srgbClr val="142B33"/>
                </a:solidFill>
                <a:latin typeface="Calibri"/>
              </a:rPr>
              <a:t>11−7</a:t>
            </a:r>
            <a:r>
              <a:rPr sz="1500" b="1" baseline="-25000">
                <a:solidFill>
                  <a:srgbClr val="142B33"/>
                </a:solidFill>
                <a:latin typeface="Calibri"/>
              </a:rPr>
              <a:t>III</a:t>
            </a:r>
            <a:r>
              <a:rPr sz="1500" b="0">
                <a:solidFill>
                  <a:srgbClr val="142B33"/>
                </a:solidFill>
                <a:latin typeface="Calibri"/>
              </a:rPr>
              <a:t> de 16 corridas a un PB de 12 que haya que 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93</a:t>
            </a:r>
          </a:p>
        </p:txBody>
      </p:sp>
      <p:sp>
        <p:nvSpPr>
          <p:cNvPr id="10" name="Rounded Rectangle 9"/>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resuelven las dudas que dejan los alias?</a:t>
            </a:r>
          </a:p>
        </p:txBody>
      </p:sp>
      <p:graphicFrame>
        <p:nvGraphicFramePr>
          <p:cNvPr id="3" name="Table 2"/>
          <p:cNvGraphicFramePr>
            <a:graphicFrameLocks noGrp="1"/>
          </p:cNvGraphicFramePr>
          <p:nvPr/>
        </p:nvGraphicFramePr>
        <p:xfrm>
          <a:off x="548640" y="1417320"/>
          <a:ext cx="6623418" cy="2686050"/>
        </p:xfrm>
        <a:graphic>
          <a:graphicData uri="http://schemas.openxmlformats.org/drawingml/2006/table">
            <a:tbl>
              <a:tblPr firstRow="0" bandRow="0">
                <a:tableStyleId>{5C22544A-7EE6-4342-B048-85BDC9FD1C3A}</a:tableStyleId>
              </a:tblPr>
              <a:tblGrid>
                <a:gridCol w="1589620"/>
                <a:gridCol w="2251962"/>
                <a:gridCol w="2781836"/>
              </a:tblGrid>
              <a:tr h="351282">
                <a:tc>
                  <a:txBody>
                    <a:bodyPr/>
                    <a:lstStyle/>
                    <a:p>
                      <a:pPr algn="l"/>
                      <a:r>
                        <a:rPr sz="1500" b="1">
                          <a:solidFill>
                            <a:srgbClr val="FFFFFF"/>
                          </a:solidFill>
                          <a:latin typeface="Calibri"/>
                        </a:rPr>
                        <a:t>Estrategia</a:t>
                      </a:r>
                    </a:p>
                  </a:txBody>
                  <a:tcPr marL="73152" marR="73152" marT="27432" marB="27432" anchor="ctr">
                    <a:solidFill>
                      <a:srgbClr val="0F4C5C"/>
                    </a:solidFill>
                  </a:tcPr>
                </a:tc>
                <a:tc>
                  <a:txBody>
                    <a:bodyPr/>
                    <a:lstStyle/>
                    <a:p>
                      <a:pPr algn="ctr"/>
                      <a:r>
                        <a:rPr sz="1500" b="1">
                          <a:solidFill>
                            <a:srgbClr val="FFFFFF"/>
                          </a:solidFill>
                          <a:latin typeface="Calibri"/>
                        </a:rPr>
                        <a:t>Qué se corre</a:t>
                      </a:r>
                    </a:p>
                  </a:txBody>
                  <a:tcPr marL="73152" marR="73152" marT="27432" marB="27432" anchor="ctr">
                    <a:solidFill>
                      <a:srgbClr val="0F4C5C"/>
                    </a:solidFill>
                  </a:tcPr>
                </a:tc>
                <a:tc>
                  <a:txBody>
                    <a:bodyPr/>
                    <a:lstStyle/>
                    <a:p>
                      <a:pPr algn="l"/>
                      <a:r>
                        <a:rPr sz="1500" b="1">
                          <a:solidFill>
                            <a:srgbClr val="FFFFFF"/>
                          </a:solidFill>
                          <a:latin typeface="Calibri"/>
                        </a:rPr>
                        <a:t>Qué se gana</a:t>
                      </a:r>
                    </a:p>
                  </a:txBody>
                  <a:tcPr marL="73152" marR="73152" marT="27432" marB="27432" anchor="ctr">
                    <a:solidFill>
                      <a:srgbClr val="0F4C5C"/>
                    </a:solidFill>
                  </a:tcPr>
                </a:tc>
              </a:tr>
              <a:tr h="583692">
                <a:tc>
                  <a:txBody>
                    <a:bodyPr/>
                    <a:lstStyle/>
                    <a:p>
                      <a:pPr algn="l"/>
                      <a:r>
                        <a:rPr sz="1500" b="0">
                          <a:solidFill>
                            <a:srgbClr val="142B33"/>
                          </a:solidFill>
                          <a:latin typeface="Calibri"/>
                        </a:rPr>
                        <a:t>Confirmación</a:t>
                      </a:r>
                    </a:p>
                  </a:txBody>
                  <a:tcPr marL="73152" marR="73152" marT="27432" marB="27432" anchor="ctr">
                    <a:solidFill>
                      <a:srgbClr val="FFFFFF"/>
                    </a:solidFill>
                  </a:tcPr>
                </a:tc>
                <a:tc>
                  <a:txBody>
                    <a:bodyPr/>
                    <a:lstStyle/>
                    <a:p>
                      <a:pPr algn="ctr"/>
                      <a:r>
                        <a:rPr sz="1500" b="0">
                          <a:solidFill>
                            <a:srgbClr val="142B33"/>
                          </a:solidFill>
                          <a:latin typeface="Calibri"/>
                        </a:rPr>
                        <a:t>Una o pocas corridas nuevas</a:t>
                      </a:r>
                    </a:p>
                  </a:txBody>
                  <a:tcPr marL="73152" marR="73152" marT="27432" marB="27432" anchor="ctr">
                    <a:solidFill>
                      <a:srgbClr val="FFFFFF"/>
                    </a:solidFill>
                  </a:tcPr>
                </a:tc>
                <a:tc>
                  <a:txBody>
                    <a:bodyPr/>
                    <a:lstStyle/>
                    <a:p>
                      <a:pPr algn="l"/>
                      <a:r>
                        <a:rPr sz="1500" b="0">
                          <a:solidFill>
                            <a:srgbClr val="142B33"/>
                          </a:solidFill>
                          <a:latin typeface="Calibri"/>
                        </a:rPr>
                        <a:t>Verifica la predicción del modelo</a:t>
                      </a:r>
                    </a:p>
                  </a:txBody>
                  <a:tcPr marL="73152" marR="73152" marT="27432" marB="27432" anchor="ctr">
                    <a:solidFill>
                      <a:srgbClr val="FFFFFF"/>
                    </a:solidFill>
                  </a:tcPr>
                </a:tc>
              </a:tr>
              <a:tr h="583692">
                <a:tc>
                  <a:txBody>
                    <a:bodyPr/>
                    <a:lstStyle/>
                    <a:p>
                      <a:pPr algn="l"/>
                      <a:r>
                        <a:rPr sz="1500" b="0">
                          <a:solidFill>
                            <a:srgbClr val="142B33"/>
                          </a:solidFill>
                          <a:latin typeface="Calibri"/>
                        </a:rPr>
                        <a:t>Fracción alterna</a:t>
                      </a:r>
                    </a:p>
                  </a:txBody>
                  <a:tcPr marL="73152" marR="73152" marT="27432" marB="27432" anchor="ctr">
                    <a:solidFill>
                      <a:srgbClr val="F4F8F9"/>
                    </a:solidFill>
                  </a:tcPr>
                </a:tc>
                <a:tc>
                  <a:txBody>
                    <a:bodyPr/>
                    <a:lstStyle/>
                    <a:p>
                      <a:pPr algn="ctr"/>
                      <a:r>
                        <a:rPr sz="1500" b="0">
                          <a:solidFill>
                            <a:srgbClr val="142B33"/>
                          </a:solidFill>
                          <a:latin typeface="Calibri"/>
                        </a:rPr>
                        <a:t>La otra mitad del 2</a:t>
                      </a:r>
                      <a:r>
                        <a:rPr sz="1500" b="0" baseline="30000">
                          <a:solidFill>
                            <a:srgbClr val="142B33"/>
                          </a:solidFill>
                          <a:latin typeface="Calibri"/>
                        </a:rPr>
                        <a:t>k−1</a:t>
                      </a:r>
                    </a:p>
                  </a:txBody>
                  <a:tcPr marL="73152" marR="73152" marT="27432" marB="27432" anchor="ctr">
                    <a:solidFill>
                      <a:srgbClr val="F4F8F9"/>
                    </a:solidFill>
                  </a:tcPr>
                </a:tc>
                <a:tc>
                  <a:txBody>
                    <a:bodyPr/>
                    <a:lstStyle/>
                    <a:p>
                      <a:pPr algn="l"/>
                      <a:r>
                        <a:rPr sz="1500" b="0">
                          <a:solidFill>
                            <a:srgbClr val="142B33"/>
                          </a:solidFill>
                          <a:latin typeface="Calibri"/>
                        </a:rPr>
                        <a:t>Completa el factorial</a:t>
                      </a:r>
                    </a:p>
                  </a:txBody>
                  <a:tcPr marL="73152" marR="73152" marT="27432" marB="27432" anchor="ctr">
                    <a:solidFill>
                      <a:srgbClr val="F4F8F9"/>
                    </a:solidFill>
                  </a:tcPr>
                </a:tc>
              </a:tr>
              <a:tr h="583692">
                <a:tc>
                  <a:txBody>
                    <a:bodyPr/>
                    <a:lstStyle/>
                    <a:p>
                      <a:pPr algn="l"/>
                      <a:r>
                        <a:rPr sz="1500" b="0">
                          <a:solidFill>
                            <a:srgbClr val="142B33"/>
                          </a:solidFill>
                          <a:latin typeface="Calibri"/>
                        </a:rPr>
                        <a:t>Doblez completo</a:t>
                      </a:r>
                    </a:p>
                  </a:txBody>
                  <a:tcPr marL="73152" marR="73152" marT="27432" marB="27432" anchor="ctr">
                    <a:solidFill>
                      <a:srgbClr val="FFFFFF"/>
                    </a:solidFill>
                  </a:tcPr>
                </a:tc>
                <a:tc>
                  <a:txBody>
                    <a:bodyPr/>
                    <a:lstStyle/>
                    <a:p>
                      <a:pPr algn="ctr"/>
                      <a:r>
                        <a:rPr sz="1500" b="0">
                          <a:solidFill>
                            <a:srgbClr val="142B33"/>
                          </a:solidFill>
                          <a:latin typeface="Calibri"/>
                        </a:rPr>
                        <a:t>Todos los signos invertidos</a:t>
                      </a:r>
                    </a:p>
                  </a:txBody>
                  <a:tcPr marL="73152" marR="73152" marT="27432" marB="27432" anchor="ctr">
                    <a:solidFill>
                      <a:srgbClr val="FFFFFF"/>
                    </a:solidFill>
                  </a:tcPr>
                </a:tc>
                <a:tc>
                  <a:txBody>
                    <a:bodyPr/>
                    <a:lstStyle/>
                    <a:p>
                      <a:pPr algn="l"/>
                      <a:r>
                        <a:rPr sz="1500" b="0">
                          <a:solidFill>
                            <a:srgbClr val="142B33"/>
                          </a:solidFill>
                          <a:latin typeface="Calibri"/>
                        </a:rPr>
                        <a:t>Principales libres de interacciones dobles (III → IV)</a:t>
                      </a:r>
                    </a:p>
                  </a:txBody>
                  <a:tcPr marL="73152" marR="73152" marT="27432" marB="27432" anchor="ctr">
                    <a:solidFill>
                      <a:srgbClr val="FFFFFF"/>
                    </a:solidFill>
                  </a:tcPr>
                </a:tc>
              </a:tr>
              <a:tr h="583692">
                <a:tc>
                  <a:txBody>
                    <a:bodyPr/>
                    <a:lstStyle/>
                    <a:p>
                      <a:pPr algn="l"/>
                      <a:r>
                        <a:rPr sz="1500" b="0">
                          <a:solidFill>
                            <a:srgbClr val="142B33"/>
                          </a:solidFill>
                          <a:latin typeface="Calibri"/>
                        </a:rPr>
                        <a:t>Doblez de un factor</a:t>
                      </a:r>
                    </a:p>
                  </a:txBody>
                  <a:tcPr marL="73152" marR="73152" marT="27432" marB="27432" anchor="ctr">
                    <a:solidFill>
                      <a:srgbClr val="F4F8F9"/>
                    </a:solidFill>
                  </a:tcPr>
                </a:tc>
                <a:tc>
                  <a:txBody>
                    <a:bodyPr/>
                    <a:lstStyle/>
                    <a:p>
                      <a:pPr algn="ctr"/>
                      <a:r>
                        <a:rPr sz="1500" b="0">
                          <a:solidFill>
                            <a:srgbClr val="142B33"/>
                          </a:solidFill>
                          <a:latin typeface="Calibri"/>
                        </a:rPr>
                        <a:t>Signos de un factor invertidos</a:t>
                      </a:r>
                    </a:p>
                  </a:txBody>
                  <a:tcPr marL="73152" marR="73152" marT="27432" marB="27432" anchor="ctr">
                    <a:solidFill>
                      <a:srgbClr val="F4F8F9"/>
                    </a:solidFill>
                  </a:tcPr>
                </a:tc>
                <a:tc>
                  <a:txBody>
                    <a:bodyPr/>
                    <a:lstStyle/>
                    <a:p>
                      <a:pPr algn="l"/>
                      <a:r>
                        <a:rPr sz="1500" b="0">
                          <a:solidFill>
                            <a:srgbClr val="142B33"/>
                          </a:solidFill>
                          <a:latin typeface="Calibri"/>
                        </a:rPr>
                        <a:t>Ese factor y sus interacciones dobles, limpios</a:t>
                      </a:r>
                    </a:p>
                  </a:txBody>
                  <a:tcPr marL="73152" marR="73152" marT="27432" marB="27432" anchor="ctr">
                    <a:solidFill>
                      <a:srgbClr val="F4F8F9"/>
                    </a:solidFill>
                  </a:tcPr>
                </a:tc>
              </a:tr>
            </a:tbl>
          </a:graphicData>
        </a:graphic>
      </p:graphicFrame>
      <p:sp>
        <p:nvSpPr>
          <p:cNvPr id="4" name="Rounded Rectangle 3"/>
          <p:cNvSpPr/>
          <p:nvPr/>
        </p:nvSpPr>
        <p:spPr>
          <a:xfrm>
            <a:off x="7583539" y="1417320"/>
            <a:ext cx="4059515" cy="1107277"/>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a:p>
            <a:pPr algn="ctr"/>
            <a:r>
              <a:rPr sz="2400" b="0">
                <a:solidFill>
                  <a:srgbClr val="0F4C5C"/>
                </a:solidFill>
                <a:latin typeface="Cambria Math"/>
              </a:rPr>
              <a:t>½ (ℓ</a:t>
            </a:r>
            <a:r>
              <a:rPr sz="2400" b="0" baseline="-25000">
                <a:solidFill>
                  <a:srgbClr val="0F4C5C"/>
                </a:solidFill>
                <a:latin typeface="Cambria Math"/>
              </a:rPr>
              <a:t>i</a:t>
            </a:r>
            <a:r>
              <a:rPr sz="2400" b="0">
                <a:solidFill>
                  <a:srgbClr val="0F4C5C"/>
                </a:solidFill>
                <a:latin typeface="Cambria Math"/>
              </a:rPr>
              <a:t> − ℓ′</a:t>
            </a:r>
            <a:r>
              <a:rPr sz="2400" b="0" baseline="-25000">
                <a:solidFill>
                  <a:srgbClr val="0F4C5C"/>
                </a:solidFill>
                <a:latin typeface="Cambria Math"/>
              </a:rPr>
              <a:t>i</a:t>
            </a:r>
            <a:r>
              <a:rPr sz="2400" b="0">
                <a:solidFill>
                  <a:srgbClr val="0F4C5C"/>
                </a:solidFill>
                <a:latin typeface="Cambria Math"/>
              </a:rPr>
              <a:t>)</a:t>
            </a:r>
          </a:p>
        </p:txBody>
      </p:sp>
      <p:sp>
        <p:nvSpPr>
          <p:cNvPr id="5" name="TextBox 4"/>
          <p:cNvSpPr txBox="1"/>
          <p:nvPr/>
        </p:nvSpPr>
        <p:spPr>
          <a:xfrm>
            <a:off x="7583539" y="2725765"/>
            <a:ext cx="4059515" cy="780288"/>
          </a:xfrm>
          <a:prstGeom prst="rect">
            <a:avLst/>
          </a:prstGeom>
          <a:noFill/>
        </p:spPr>
        <p:txBody>
          <a:bodyPr wrap="square" anchor="t" lIns="0" rIns="0" tIns="0" bIns="0">
            <a:spAutoFit/>
          </a:bodyPr>
          <a:lstStyle/>
          <a:p>
            <a:r>
              <a:rPr sz="1600" b="0">
                <a:solidFill>
                  <a:srgbClr val="142B33"/>
                </a:solidFill>
                <a:latin typeface="Calibri"/>
              </a:rPr>
              <a:t>Semisuma y semidiferencia de las estimaciones de las dos fracciones: cada una aísla una parte de la cadena</a:t>
            </a:r>
          </a:p>
        </p:txBody>
      </p:sp>
      <p:sp>
        <p:nvSpPr>
          <p:cNvPr id="6" name="Rounded Rectangle 5"/>
          <p:cNvSpPr/>
          <p:nvPr/>
        </p:nvSpPr>
        <p:spPr>
          <a:xfrm>
            <a:off x="7583539" y="3707221"/>
            <a:ext cx="4059515" cy="770128"/>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600" b="0">
                <a:solidFill>
                  <a:srgbClr val="142B33"/>
                </a:solidFill>
                <a:latin typeface="Calibri"/>
              </a:rPr>
              <a:t>Las dos fracciones funcionan como </a:t>
            </a:r>
            <a:r>
              <a:rPr sz="1600" b="1">
                <a:solidFill>
                  <a:srgbClr val="142B33"/>
                </a:solidFill>
                <a:latin typeface="Calibri"/>
              </a:rPr>
              <a:t>bloques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III</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94</a:t>
            </a:r>
          </a:p>
        </p:txBody>
      </p:sp>
      <p:sp>
        <p:nvSpPr>
          <p:cNvPr id="9" name="Rounded Rectangle 8"/>
          <p:cNvSpPr/>
          <p:nvPr/>
        </p:nvSpPr>
        <p:spPr>
          <a:xfrm>
            <a:off x="548640" y="91440"/>
            <a:ext cx="3054096"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7 · Diseños de resolución III</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Diseños de resolución IV y V</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8</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Diseños mínimos, doblez y fracciones irregulares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IV?</a:t>
            </a:r>
          </a:p>
        </p:txBody>
      </p:sp>
      <p:sp>
        <p:nvSpPr>
          <p:cNvPr id="3" name="TextBox 2"/>
          <p:cNvSpPr txBox="1"/>
          <p:nvPr/>
        </p:nvSpPr>
        <p:spPr>
          <a:xfrm>
            <a:off x="548640" y="1417320"/>
            <a:ext cx="5555126" cy="13004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Principales </a:t>
            </a:r>
            <a:r>
              <a:rPr sz="1700" b="1">
                <a:solidFill>
                  <a:srgbClr val="142B33"/>
                </a:solidFill>
                <a:latin typeface="Calibri"/>
              </a:rPr>
              <a:t>separados</a:t>
            </a:r>
            <a:r>
              <a:rPr sz="1700" b="0">
                <a:solidFill>
                  <a:srgbClr val="142B33"/>
                </a:solidFill>
                <a:latin typeface="Calibri"/>
              </a:rPr>
              <a:t> de las interacciones dobles</a:t>
            </a:r>
          </a:p>
          <a:p>
            <a:pPr marL="320040" indent="-320040">
              <a:spcAft>
                <a:spcPts val="600"/>
              </a:spcAft>
              <a:buClr>
                <a:srgbClr val="E36414"/>
              </a:buClr>
              <a:buFont typeface="Arial"/>
              <a:buChar char="•"/>
            </a:pPr>
            <a:r>
              <a:rPr sz="1700" b="0">
                <a:solidFill>
                  <a:srgbClr val="142B33"/>
                </a:solidFill>
                <a:latin typeface="Calibri"/>
              </a:rPr>
              <a:t>Algunas interacciones dobles son </a:t>
            </a:r>
            <a:r>
              <a:rPr sz="1700" b="1">
                <a:solidFill>
                  <a:srgbClr val="142B33"/>
                </a:solidFill>
                <a:latin typeface="Calibri"/>
              </a:rPr>
              <a:t>alias entre sí</a:t>
            </a:r>
          </a:p>
          <a:p>
            <a:pPr marL="320040" indent="-320040">
              <a:spcAft>
                <a:spcPts val="600"/>
              </a:spcAft>
              <a:buClr>
                <a:srgbClr val="E36414"/>
              </a:buClr>
              <a:buFont typeface="Arial"/>
              <a:buChar char="•"/>
            </a:pPr>
            <a:r>
              <a:rPr sz="1700" b="0">
                <a:solidFill>
                  <a:srgbClr val="142B33"/>
                </a:solidFill>
                <a:latin typeface="Calibri"/>
              </a:rPr>
              <a:t>Suprimiendo triples, los principales se estiman </a:t>
            </a:r>
            <a:r>
              <a:rPr sz="1700" b="1">
                <a:solidFill>
                  <a:srgbClr val="142B33"/>
                </a:solidFill>
                <a:latin typeface="Calibri"/>
              </a:rPr>
              <a:t>directamente</a:t>
            </a:r>
          </a:p>
        </p:txBody>
      </p:sp>
      <p:sp>
        <p:nvSpPr>
          <p:cNvPr id="4" name="Rounded Rectangle 3"/>
          <p:cNvSpPr/>
          <p:nvPr/>
        </p:nvSpPr>
        <p:spPr>
          <a:xfrm>
            <a:off x="548640" y="2918968"/>
            <a:ext cx="5555126" cy="621385"/>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2000" b="0">
                <a:solidFill>
                  <a:srgbClr val="0F4C5C"/>
                </a:solidFill>
                <a:latin typeface="Cambria Math"/>
              </a:rPr>
              <a:t>Resolución IV ⇒ N ≥ 2k corridas</a:t>
            </a:r>
          </a:p>
        </p:txBody>
      </p:sp>
      <p:graphicFrame>
        <p:nvGraphicFramePr>
          <p:cNvPr id="5" name="Table 4"/>
          <p:cNvGraphicFramePr>
            <a:graphicFrameLocks noGrp="1"/>
          </p:cNvGraphicFramePr>
          <p:nvPr/>
        </p:nvGraphicFramePr>
        <p:xfrm>
          <a:off x="6515246" y="1417320"/>
          <a:ext cx="5127808" cy="1467104"/>
        </p:xfrm>
        <a:graphic>
          <a:graphicData uri="http://schemas.openxmlformats.org/drawingml/2006/table">
            <a:tbl>
              <a:tblPr firstRow="0" bandRow="0">
                <a:tableStyleId>{5C22544A-7EE6-4342-B048-85BDC9FD1C3A}</a:tableStyleId>
              </a:tblPr>
              <a:tblGrid>
                <a:gridCol w="1924168"/>
                <a:gridCol w="1279472"/>
                <a:gridCol w="1924168"/>
              </a:tblGrid>
              <a:tr h="366776">
                <a:tc>
                  <a:txBody>
                    <a:bodyPr/>
                    <a:lstStyle/>
                    <a:p>
                      <a:pPr algn="ctr"/>
                      <a:r>
                        <a:rPr sz="1600" b="1">
                          <a:solidFill>
                            <a:srgbClr val="FFFFFF"/>
                          </a:solidFill>
                          <a:latin typeface="Calibri"/>
                        </a:rPr>
                        <a:t>Diseño mínimo</a:t>
                      </a:r>
                    </a:p>
                  </a:txBody>
                  <a:tcPr marL="73152" marR="73152" marT="27432" marB="27432" anchor="ctr">
                    <a:solidFill>
                      <a:srgbClr val="0F4C5C"/>
                    </a:solidFill>
                  </a:tcPr>
                </a:tc>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Corridas = 2k</a:t>
                      </a:r>
                    </a:p>
                  </a:txBody>
                  <a:tcPr marL="73152" marR="73152" marT="27432" marB="27432" anchor="ctr">
                    <a:solidFill>
                      <a:srgbClr val="0F4C5C"/>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4−1</a:t>
                      </a:r>
                      <a:r>
                        <a:rPr sz="1600" b="0" baseline="-25000">
                          <a:solidFill>
                            <a:srgbClr val="142B33"/>
                          </a:solidFill>
                          <a:latin typeface="Calibri"/>
                        </a:rPr>
                        <a:t>IV</a:t>
                      </a:r>
                    </a:p>
                  </a:txBody>
                  <a:tcPr marL="73152" marR="73152" marT="27432" marB="27432" anchor="ctr">
                    <a:solidFill>
                      <a:srgbClr val="FFFFFF"/>
                    </a:solidFill>
                  </a:tcPr>
                </a:tc>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8</a:t>
                      </a:r>
                    </a:p>
                  </a:txBody>
                  <a:tcPr marL="73152" marR="73152" marT="27432" marB="27432" anchor="ctr">
                    <a:solidFill>
                      <a:srgbClr val="FFFFFF"/>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8−4</a:t>
                      </a:r>
                      <a:r>
                        <a:rPr sz="1600" b="0" baseline="-25000">
                          <a:solidFill>
                            <a:srgbClr val="142B33"/>
                          </a:solidFill>
                          <a:latin typeface="Calibri"/>
                        </a:rPr>
                        <a:t>IV</a:t>
                      </a:r>
                    </a:p>
                  </a:txBody>
                  <a:tcPr marL="73152" marR="73152" marT="27432" marB="27432" anchor="ctr">
                    <a:solidFill>
                      <a:srgbClr val="F4F8F9"/>
                    </a:solidFill>
                  </a:tcPr>
                </a:tc>
                <a:tc>
                  <a:txBody>
                    <a:bodyPr/>
                    <a:lstStyle/>
                    <a:p>
                      <a:pPr algn="ctr"/>
                      <a:r>
                        <a:rPr sz="1600" b="0">
                          <a:solidFill>
                            <a:srgbClr val="142B33"/>
                          </a:solidFill>
                          <a:latin typeface="Calibri"/>
                        </a:rPr>
                        <a:t>8</a:t>
                      </a:r>
                    </a:p>
                  </a:txBody>
                  <a:tcPr marL="73152" marR="73152" marT="27432" marB="27432" anchor="ctr">
                    <a:solidFill>
                      <a:srgbClr val="F4F8F9"/>
                    </a:solidFill>
                  </a:tcPr>
                </a:tc>
                <a:tc>
                  <a:txBody>
                    <a:bodyPr/>
                    <a:lstStyle/>
                    <a:p>
                      <a:pPr algn="ctr"/>
                      <a:r>
                        <a:rPr sz="1600" b="0">
                          <a:solidFill>
                            <a:srgbClr val="142B33"/>
                          </a:solidFill>
                          <a:latin typeface="Calibri"/>
                        </a:rPr>
                        <a:t>16</a:t>
                      </a:r>
                    </a:p>
                  </a:txBody>
                  <a:tcPr marL="73152" marR="73152" marT="27432" marB="27432" anchor="ctr">
                    <a:solidFill>
                      <a:srgbClr val="F4F8F9"/>
                    </a:solidFill>
                  </a:tcPr>
                </a:tc>
              </a:tr>
              <a:tr h="366776">
                <a:tc>
                  <a:txBody>
                    <a:bodyPr/>
                    <a:lstStyle/>
                    <a:p>
                      <a:pPr algn="ctr"/>
                      <a:r>
                        <a:rPr sz="1600" b="0">
                          <a:solidFill>
                            <a:srgbClr val="142B33"/>
                          </a:solidFill>
                          <a:latin typeface="Calibri"/>
                        </a:rPr>
                        <a:t>2</a:t>
                      </a:r>
                      <a:r>
                        <a:rPr sz="1600" b="0" baseline="30000">
                          <a:solidFill>
                            <a:srgbClr val="142B33"/>
                          </a:solidFill>
                          <a:latin typeface="Calibri"/>
                        </a:rPr>
                        <a:t>16−11</a:t>
                      </a:r>
                      <a:r>
                        <a:rPr sz="1600" b="0" baseline="-25000">
                          <a:solidFill>
                            <a:srgbClr val="142B33"/>
                          </a:solidFill>
                          <a:latin typeface="Calibri"/>
                        </a:rPr>
                        <a:t>IV</a:t>
                      </a:r>
                    </a:p>
                  </a:txBody>
                  <a:tcPr marL="73152" marR="73152" marT="27432" marB="27432" anchor="ctr">
                    <a:solidFill>
                      <a:srgbClr val="FFFFFF"/>
                    </a:solidFill>
                  </a:tcPr>
                </a:tc>
                <a:tc>
                  <a:txBody>
                    <a:bodyPr/>
                    <a:lstStyle/>
                    <a:p>
                      <a:pPr algn="ctr"/>
                      <a:r>
                        <a:rPr sz="1600" b="0">
                          <a:solidFill>
                            <a:srgbClr val="142B33"/>
                          </a:solidFill>
                          <a:latin typeface="Calibri"/>
                        </a:rPr>
                        <a:t>16</a:t>
                      </a:r>
                    </a:p>
                  </a:txBody>
                  <a:tcPr marL="73152" marR="73152" marT="27432" marB="27432" anchor="ctr">
                    <a:solidFill>
                      <a:srgbClr val="FFFFFF"/>
                    </a:solidFill>
                  </a:tcPr>
                </a:tc>
                <a:tc>
                  <a:txBody>
                    <a:bodyPr/>
                    <a:lstStyle/>
                    <a:p>
                      <a:pPr algn="ctr"/>
                      <a:r>
                        <a:rPr sz="1600" b="0">
                          <a:solidFill>
                            <a:srgbClr val="142B33"/>
                          </a:solidFill>
                          <a:latin typeface="Calibri"/>
                        </a:rPr>
                        <a:t>32</a:t>
                      </a:r>
                    </a:p>
                  </a:txBody>
                  <a:tcPr marL="73152" marR="73152" marT="27432" marB="27432" anchor="ctr">
                    <a:solidFill>
                      <a:srgbClr val="FFFFFF"/>
                    </a:solidFill>
                  </a:tcPr>
                </a:tc>
              </a:tr>
            </a:tbl>
          </a:graphicData>
        </a:graphic>
      </p:graphicFrame>
      <p:sp>
        <p:nvSpPr>
          <p:cNvPr id="6" name="Rounded Rectangle 5"/>
          <p:cNvSpPr/>
          <p:nvPr/>
        </p:nvSpPr>
        <p:spPr>
          <a:xfrm>
            <a:off x="6515246" y="3085592"/>
            <a:ext cx="5127808"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Diseño </a:t>
            </a:r>
            <a:r>
              <a:rPr sz="1500" b="1">
                <a:solidFill>
                  <a:srgbClr val="142B33"/>
                </a:solidFill>
                <a:latin typeface="Calibri"/>
              </a:rPr>
              <a:t>mínimo</a:t>
            </a:r>
            <a:r>
              <a:rPr sz="1500" b="0">
                <a:solidFill>
                  <a:srgbClr val="142B33"/>
                </a:solidFill>
                <a:latin typeface="Calibri"/>
              </a:rPr>
              <a:t>: resolución IV con exactamente </a:t>
            </a:r>
            <a:r>
              <a:rPr sz="1500" b="1">
                <a:solidFill>
                  <a:srgbClr val="142B33"/>
                </a:solidFill>
                <a:latin typeface="Calibri"/>
              </a:rPr>
              <a:t>2k</a:t>
            </a:r>
            <a:r>
              <a:rPr sz="15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96</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obtiene un resolución IV a partir de un resolución III?</a:t>
            </a:r>
          </a:p>
        </p:txBody>
      </p:sp>
      <p:graphicFrame>
        <p:nvGraphicFramePr>
          <p:cNvPr id="3" name="Table 2"/>
          <p:cNvGraphicFramePr>
            <a:graphicFrameLocks noGrp="1"/>
          </p:cNvGraphicFramePr>
          <p:nvPr/>
        </p:nvGraphicFramePr>
        <p:xfrm>
          <a:off x="548640" y="1417320"/>
          <a:ext cx="4486831" cy="3161538"/>
        </p:xfrm>
        <a:graphic>
          <a:graphicData uri="http://schemas.openxmlformats.org/drawingml/2006/table">
            <a:tbl>
              <a:tblPr firstRow="0" bandRow="0">
                <a:tableStyleId>{5C22544A-7EE6-4342-B048-85BDC9FD1C3A}</a:tableStyleId>
              </a:tblPr>
              <a:tblGrid>
                <a:gridCol w="2826121"/>
                <a:gridCol w="553570"/>
                <a:gridCol w="553570"/>
                <a:gridCol w="553570"/>
              </a:tblGrid>
              <a:tr h="351282">
                <a:tc>
                  <a:txBody>
                    <a:bodyPr/>
                    <a:lstStyle/>
                    <a:p>
                      <a:pPr algn="ctr"/>
                      <a:r>
                        <a:rPr sz="1500" b="1">
                          <a:solidFill>
                            <a:srgbClr val="FFFFFF"/>
                          </a:solidFill>
                          <a:latin typeface="Calibri"/>
                        </a:rPr>
                        <a:t>D (columna I)</a:t>
                      </a:r>
                    </a:p>
                  </a:txBody>
                  <a:tcPr marL="73152" marR="73152" marT="27432" marB="27432" anchor="ctr">
                    <a:solidFill>
                      <a:srgbClr val="0F4C5C"/>
                    </a:solidFill>
                  </a:tcPr>
                </a:tc>
                <a:tc>
                  <a:txBody>
                    <a:bodyPr/>
                    <a:lstStyle/>
                    <a:p>
                      <a:pPr algn="ctr"/>
                      <a:r>
                        <a:rPr sz="1500" b="1">
                          <a:solidFill>
                            <a:srgbClr val="FFFFFF"/>
                          </a:solidFill>
                          <a:latin typeface="Calibri"/>
                        </a:rPr>
                        <a:t>A</a:t>
                      </a:r>
                    </a:p>
                  </a:txBody>
                  <a:tcPr marL="73152" marR="73152" marT="27432" marB="27432" anchor="ctr">
                    <a:solidFill>
                      <a:srgbClr val="0F4C5C"/>
                    </a:solidFill>
                  </a:tcPr>
                </a:tc>
                <a:tc>
                  <a:txBody>
                    <a:bodyPr/>
                    <a:lstStyle/>
                    <a:p>
                      <a:pPr algn="ctr"/>
                      <a:r>
                        <a:rPr sz="1500" b="1">
                          <a:solidFill>
                            <a:srgbClr val="FFFFFF"/>
                          </a:solidFill>
                          <a:latin typeface="Calibri"/>
                        </a:rPr>
                        <a:t>B</a:t>
                      </a:r>
                    </a:p>
                  </a:txBody>
                  <a:tcPr marL="73152" marR="73152" marT="27432" marB="27432" anchor="ctr">
                    <a:solidFill>
                      <a:srgbClr val="0F4C5C"/>
                    </a:solidFill>
                  </a:tcPr>
                </a:tc>
                <a:tc>
                  <a:txBody>
                    <a:bodyPr/>
                    <a:lstStyle/>
                    <a:p>
                      <a:pPr algn="ctr"/>
                      <a:r>
                        <a:rPr sz="1500" b="1">
                          <a:solidFill>
                            <a:srgbClr val="FFFFFF"/>
                          </a:solidFill>
                          <a:latin typeface="Calibri"/>
                        </a:rPr>
                        <a:t>C</a:t>
                      </a:r>
                    </a:p>
                  </a:txBody>
                  <a:tcPr marL="73152" marR="73152" marT="27432" marB="27432" anchor="ctr">
                    <a:solidFill>
                      <a:srgbClr val="0F4C5C"/>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E36414"/>
                          </a:solidFill>
                          <a:latin typeface="Calibri"/>
                        </a:rPr>
                        <a:t>−</a:t>
                      </a:r>
                    </a:p>
                  </a:txBody>
                  <a:tcPr marL="73152" marR="73152" marT="27432" marB="27432" anchor="ctr">
                    <a:solidFill>
                      <a:srgbClr val="FDE8D7"/>
                    </a:solidFill>
                  </a:tcPr>
                </a:tc>
              </a:tr>
              <a:tr h="351282">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c>
                  <a:txBody>
                    <a:bodyPr/>
                    <a:lstStyle/>
                    <a:p>
                      <a:pPr algn="ctr"/>
                      <a:r>
                        <a:rPr sz="1600" b="1">
                          <a:solidFill>
                            <a:srgbClr val="0F4C5C"/>
                          </a:solidFill>
                          <a:latin typeface="Calibri"/>
                        </a:rPr>
                        <a:t>+</a:t>
                      </a:r>
                    </a:p>
                  </a:txBody>
                  <a:tcPr marL="73152" marR="73152" marT="27432" marB="27432" anchor="ctr">
                    <a:solidFill>
                      <a:srgbClr val="FDE8D7"/>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r>
              <a:tr h="351282">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c>
                  <a:txBody>
                    <a:bodyPr/>
                    <a:lstStyle/>
                    <a:p>
                      <a:pPr algn="ctr"/>
                      <a:r>
                        <a:rPr sz="1600" b="1">
                          <a:solidFill>
                            <a:srgbClr val="0F4C5C"/>
                          </a:solidFill>
                          <a:latin typeface="Calibri"/>
                        </a:rPr>
                        <a:t>+</a:t>
                      </a:r>
                    </a:p>
                  </a:txBody>
                  <a:tcPr marL="73152" marR="73152" marT="27432" marB="27432" anchor="ctr">
                    <a:solidFill>
                      <a:srgbClr val="F4F8F9"/>
                    </a:solidFill>
                  </a:tcPr>
                </a:tc>
              </a:tr>
              <a:tr h="351282">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c>
                  <a:txBody>
                    <a:bodyPr/>
                    <a:lstStyle/>
                    <a:p>
                      <a:pPr algn="ctr"/>
                      <a:r>
                        <a:rPr sz="1600" b="1">
                          <a:solidFill>
                            <a:srgbClr val="E36414"/>
                          </a:solidFill>
                          <a:latin typeface="Calibri"/>
                        </a:rPr>
                        <a:t>−</a:t>
                      </a:r>
                    </a:p>
                  </a:txBody>
                  <a:tcPr marL="73152" marR="73152" marT="27432" marB="27432" anchor="ctr">
                    <a:solidFill>
                      <a:srgbClr val="FFFFFF"/>
                    </a:solidFill>
                  </a:tcPr>
                </a:tc>
                <a:tc>
                  <a:txBody>
                    <a:bodyPr/>
                    <a:lstStyle/>
                    <a:p>
                      <a:pPr algn="ctr"/>
                      <a:r>
                        <a:rPr sz="1600" b="1">
                          <a:solidFill>
                            <a:srgbClr val="0F4C5C"/>
                          </a:solidFill>
                          <a:latin typeface="Calibri"/>
                        </a:rPr>
                        <a:t>+</a:t>
                      </a:r>
                    </a:p>
                  </a:txBody>
                  <a:tcPr marL="73152" marR="73152" marT="27432" marB="27432" anchor="ctr">
                    <a:solidFill>
                      <a:srgbClr val="FFFFFF"/>
                    </a:solidFill>
                  </a:tcPr>
                </a:tc>
              </a:tr>
              <a:tr h="351282">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c>
                  <a:txBody>
                    <a:bodyPr/>
                    <a:lstStyle/>
                    <a:p>
                      <a:pPr algn="ctr"/>
                      <a:r>
                        <a:rPr sz="1600" b="1">
                          <a:solidFill>
                            <a:srgbClr val="E36414"/>
                          </a:solidFill>
                          <a:latin typeface="Calibri"/>
                        </a:rPr>
                        <a:t>−</a:t>
                      </a:r>
                    </a:p>
                  </a:txBody>
                  <a:tcPr marL="73152" marR="73152" marT="27432" marB="27432" anchor="ctr">
                    <a:solidFill>
                      <a:srgbClr val="F4F8F9"/>
                    </a:solidFill>
                  </a:tcPr>
                </a:tc>
              </a:tr>
            </a:tbl>
          </a:graphicData>
        </a:graphic>
      </p:graphicFrame>
      <p:sp>
        <p:nvSpPr>
          <p:cNvPr id="4" name="TextBox 3"/>
          <p:cNvSpPr txBox="1"/>
          <p:nvPr/>
        </p:nvSpPr>
        <p:spPr>
          <a:xfrm>
            <a:off x="548640" y="4780026"/>
            <a:ext cx="4486832" cy="439419"/>
          </a:xfrm>
          <a:prstGeom prst="rect">
            <a:avLst/>
          </a:prstGeom>
          <a:noFill/>
        </p:spPr>
        <p:txBody>
          <a:bodyPr wrap="square" anchor="t" lIns="0" rIns="0" tIns="0" bIns="0">
            <a:spAutoFit/>
          </a:bodyPr>
          <a:lstStyle/>
          <a:p>
            <a:r>
              <a:rPr sz="1300" b="0">
                <a:solidFill>
                  <a:srgbClr val="5B6B73"/>
                </a:solidFill>
                <a:latin typeface="Calibri"/>
              </a:rPr>
              <a:t>Arriba: 2</a:t>
            </a:r>
            <a:r>
              <a:rPr sz="1300" b="0" baseline="30000">
                <a:solidFill>
                  <a:srgbClr val="5B6B73"/>
                </a:solidFill>
                <a:latin typeface="Calibri"/>
              </a:rPr>
              <a:t>3−1</a:t>
            </a:r>
            <a:r>
              <a:rPr sz="1300" b="0" baseline="-25000">
                <a:solidFill>
                  <a:srgbClr val="5B6B73"/>
                </a:solidFill>
                <a:latin typeface="Calibri"/>
              </a:rPr>
              <a:t>III</a:t>
            </a:r>
            <a:r>
              <a:rPr sz="1300" b="0">
                <a:solidFill>
                  <a:srgbClr val="5B6B73"/>
                </a:solidFill>
                <a:latin typeface="Calibri"/>
              </a:rPr>
              <a:t> original (I = ABC). Abajo: segunda fracción con los signos invertidos</a:t>
            </a:r>
          </a:p>
        </p:txBody>
      </p:sp>
      <p:sp>
        <p:nvSpPr>
          <p:cNvPr id="5" name="TextBox 4"/>
          <p:cNvSpPr txBox="1"/>
          <p:nvPr/>
        </p:nvSpPr>
        <p:spPr>
          <a:xfrm>
            <a:off x="5446952" y="1417320"/>
            <a:ext cx="6196102" cy="990599"/>
          </a:xfrm>
          <a:prstGeom prst="rect">
            <a:avLst/>
          </a:prstGeom>
          <a:noFill/>
        </p:spPr>
        <p:txBody>
          <a:bodyPr wrap="square" anchor="t" lIns="0" rIns="0" tIns="0" bIns="0">
            <a:spAutoFit/>
          </a:bodyPr>
          <a:lstStyle/>
          <a:p>
            <a:pPr marL="320040" indent="-320040">
              <a:spcAft>
                <a:spcPts val="600"/>
              </a:spcAft>
              <a:buClr>
                <a:srgbClr val="E36414"/>
              </a:buClr>
              <a:buFont typeface="+mj-lt"/>
              <a:buAutoNum type="arabicPeriod"/>
            </a:pPr>
            <a:r>
              <a:rPr sz="1600" b="0">
                <a:solidFill>
                  <a:srgbClr val="142B33"/>
                </a:solidFill>
                <a:latin typeface="Calibri"/>
              </a:rPr>
              <a:t>Tomar el </a:t>
            </a:r>
            <a:r>
              <a:rPr sz="1600" b="1">
                <a:solidFill>
                  <a:srgbClr val="142B33"/>
                </a:solidFill>
                <a:latin typeface="Calibri"/>
              </a:rPr>
              <a:t>2</a:t>
            </a:r>
            <a:r>
              <a:rPr sz="1600" b="1" baseline="30000">
                <a:solidFill>
                  <a:srgbClr val="142B33"/>
                </a:solidFill>
                <a:latin typeface="Calibri"/>
              </a:rPr>
              <a:t>k−p</a:t>
            </a:r>
            <a:r>
              <a:rPr sz="1600" b="1" baseline="-25000">
                <a:solidFill>
                  <a:srgbClr val="142B33"/>
                </a:solidFill>
                <a:latin typeface="Calibri"/>
              </a:rPr>
              <a:t>III</a:t>
            </a:r>
          </a:p>
          <a:p>
            <a:pPr marL="320040" indent="-320040">
              <a:spcAft>
                <a:spcPts val="600"/>
              </a:spcAft>
              <a:buClr>
                <a:srgbClr val="E36414"/>
              </a:buClr>
              <a:buFont typeface="+mj-lt"/>
              <a:buAutoNum type="arabicPeriod"/>
            </a:pPr>
            <a:r>
              <a:rPr sz="1600" b="0">
                <a:solidFill>
                  <a:srgbClr val="142B33"/>
                </a:solidFill>
                <a:latin typeface="Calibri"/>
              </a:rPr>
              <a:t>Agregar la fracción con </a:t>
            </a:r>
            <a:r>
              <a:rPr sz="1600" b="1">
                <a:solidFill>
                  <a:srgbClr val="142B33"/>
                </a:solidFill>
                <a:latin typeface="Calibri"/>
              </a:rPr>
              <a:t>todos los signos invertidos</a:t>
            </a:r>
          </a:p>
          <a:p>
            <a:pPr marL="320040" indent="-320040">
              <a:spcAft>
                <a:spcPts val="600"/>
              </a:spcAft>
              <a:buClr>
                <a:srgbClr val="E36414"/>
              </a:buClr>
              <a:buFont typeface="+mj-lt"/>
              <a:buAutoNum type="arabicPeriod"/>
            </a:pPr>
            <a:r>
              <a:rPr sz="1600" b="0">
                <a:solidFill>
                  <a:srgbClr val="142B33"/>
                </a:solidFill>
                <a:latin typeface="Calibri"/>
              </a:rPr>
              <a:t>La columna </a:t>
            </a:r>
            <a:r>
              <a:rPr sz="1600" b="1">
                <a:solidFill>
                  <a:srgbClr val="142B33"/>
                </a:solidFill>
                <a:latin typeface="Calibri"/>
              </a:rPr>
              <a:t>I</a:t>
            </a:r>
            <a:r>
              <a:rPr sz="1600" b="0">
                <a:solidFill>
                  <a:srgbClr val="142B33"/>
                </a:solidFill>
                <a:latin typeface="Calibri"/>
              </a:rPr>
              <a:t> pasa de + a −: se asigna al factor </a:t>
            </a:r>
            <a:r>
              <a:rPr sz="1600" b="1">
                <a:solidFill>
                  <a:srgbClr val="142B33"/>
                </a:solidFill>
                <a:latin typeface="Calibri"/>
              </a:rPr>
              <a:t>k + 1</a:t>
            </a:r>
          </a:p>
        </p:txBody>
      </p:sp>
      <p:sp>
        <p:nvSpPr>
          <p:cNvPr id="6" name="Rounded Rectangle 5"/>
          <p:cNvSpPr/>
          <p:nvPr/>
        </p:nvSpPr>
        <p:spPr>
          <a:xfrm>
            <a:off x="5446952" y="2609087"/>
            <a:ext cx="6196102" cy="586679"/>
          </a:xfrm>
          <a:prstGeom prst="roundRect">
            <a:avLst>
              <a:gd name="adj" fmla="val 10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r>
              <a:rPr sz="1800" b="0">
                <a:solidFill>
                  <a:srgbClr val="0F4C5C"/>
                </a:solidFill>
                <a:latin typeface="Cambria Math"/>
              </a:rPr>
              <a:t>2</a:t>
            </a:r>
            <a:r>
              <a:rPr sz="1800" b="0" baseline="30000">
                <a:solidFill>
                  <a:srgbClr val="0F4C5C"/>
                </a:solidFill>
                <a:latin typeface="Cambria Math"/>
              </a:rPr>
              <a:t>3−1</a:t>
            </a:r>
            <a:r>
              <a:rPr sz="1800" b="0" baseline="-25000">
                <a:solidFill>
                  <a:srgbClr val="0F4C5C"/>
                </a:solidFill>
                <a:latin typeface="Cambria Math"/>
              </a:rPr>
              <a:t>III</a:t>
            </a:r>
            <a:r>
              <a:rPr sz="1800" b="0">
                <a:solidFill>
                  <a:srgbClr val="0F4C5C"/>
                </a:solidFill>
                <a:latin typeface="Cambria Math"/>
              </a:rPr>
              <a:t>  →  2</a:t>
            </a:r>
            <a:r>
              <a:rPr sz="1800" b="0" baseline="30000">
                <a:solidFill>
                  <a:srgbClr val="0F4C5C"/>
                </a:solidFill>
                <a:latin typeface="Cambria Math"/>
              </a:rPr>
              <a:t>4−1</a:t>
            </a:r>
            <a:r>
              <a:rPr sz="1800" b="0" baseline="-25000">
                <a:solidFill>
                  <a:srgbClr val="0F4C5C"/>
                </a:solidFill>
                <a:latin typeface="Cambria Math"/>
              </a:rPr>
              <a:t>IV</a:t>
            </a:r>
            <a:r>
              <a:rPr sz="1800" b="0">
                <a:solidFill>
                  <a:srgbClr val="0F4C5C"/>
                </a:solidFill>
                <a:latin typeface="Cambria Math"/>
              </a:rPr>
              <a:t>,   I = ABCD</a:t>
            </a:r>
          </a:p>
        </p:txBody>
      </p:sp>
      <p:sp>
        <p:nvSpPr>
          <p:cNvPr id="7" name="Rounded Rectangle 6"/>
          <p:cNvSpPr/>
          <p:nvPr/>
        </p:nvSpPr>
        <p:spPr>
          <a:xfrm>
            <a:off x="5446952" y="3396935"/>
            <a:ext cx="6196102" cy="50673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Un factor más y resolución IV con solo </a:t>
            </a:r>
            <a:r>
              <a:rPr sz="1500" b="1">
                <a:solidFill>
                  <a:srgbClr val="142B33"/>
                </a:solidFill>
                <a:latin typeface="Calibri"/>
              </a:rPr>
              <a:t>doblar</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97</a:t>
            </a:r>
          </a:p>
        </p:txBody>
      </p:sp>
      <p:sp>
        <p:nvSpPr>
          <p:cNvPr id="10" name="Rounded Rectangle 9"/>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¿Cómo se dobla un diseño de resolución IV?</a:t>
            </a:r>
          </a:p>
        </p:txBody>
      </p:sp>
      <p:graphicFrame>
        <p:nvGraphicFramePr>
          <p:cNvPr id="3" name="Table 2"/>
          <p:cNvGraphicFramePr>
            <a:graphicFrameLocks noGrp="1"/>
          </p:cNvGraphicFramePr>
          <p:nvPr/>
        </p:nvGraphicFramePr>
        <p:xfrm>
          <a:off x="548640" y="1417320"/>
          <a:ext cx="11094413" cy="1224279"/>
        </p:xfrm>
        <a:graphic>
          <a:graphicData uri="http://schemas.openxmlformats.org/drawingml/2006/table">
            <a:tbl>
              <a:tblPr firstRow="0" bandRow="0">
                <a:tableStyleId>{5C22544A-7EE6-4342-B048-85BDC9FD1C3A}</a:tableStyleId>
              </a:tblPr>
              <a:tblGrid>
                <a:gridCol w="2995492"/>
                <a:gridCol w="2662659"/>
                <a:gridCol w="2551715"/>
                <a:gridCol w="2884547"/>
              </a:tblGrid>
              <a:tr h="552703">
                <a:tc>
                  <a:txBody>
                    <a:bodyPr/>
                    <a:lstStyle/>
                    <a:p>
                      <a:pPr algn="l"/>
                      <a:r>
                        <a:rPr sz="1400" b="1">
                          <a:solidFill>
                            <a:srgbClr val="FFFFFF"/>
                          </a:solidFill>
                          <a:latin typeface="Calibri"/>
                        </a:rPr>
                        <a:t>Diseño original</a:t>
                      </a:r>
                    </a:p>
                  </a:txBody>
                  <a:tcPr marL="73152" marR="73152" marT="27432" marB="27432" anchor="ctr">
                    <a:solidFill>
                      <a:srgbClr val="0F4C5C"/>
                    </a:solidFill>
                  </a:tcPr>
                </a:tc>
                <a:tc>
                  <a:txBody>
                    <a:bodyPr/>
                    <a:lstStyle/>
                    <a:p>
                      <a:pPr algn="ctr"/>
                      <a:r>
                        <a:rPr sz="1400" b="1">
                          <a:solidFill>
                            <a:srgbClr val="FFFFFF"/>
                          </a:solidFill>
                          <a:latin typeface="Calibri"/>
                        </a:rPr>
                        <a:t>Segunda fracción</a:t>
                      </a:r>
                    </a:p>
                  </a:txBody>
                  <a:tcPr marL="73152" marR="73152" marT="27432" marB="27432" anchor="ctr">
                    <a:solidFill>
                      <a:srgbClr val="0F4C5C"/>
                    </a:solidFill>
                  </a:tcPr>
                </a:tc>
                <a:tc>
                  <a:txBody>
                    <a:bodyPr/>
                    <a:lstStyle/>
                    <a:p>
                      <a:pPr algn="ctr"/>
                      <a:r>
                        <a:rPr sz="1400" b="1">
                          <a:solidFill>
                            <a:srgbClr val="FFFFFF"/>
                          </a:solidFill>
                          <a:latin typeface="Calibri"/>
                        </a:rPr>
                        <a:t>Diseño combinado</a:t>
                      </a:r>
                    </a:p>
                  </a:txBody>
                  <a:tcPr marL="73152" marR="73152" marT="27432" marB="27432" anchor="ctr">
                    <a:solidFill>
                      <a:srgbClr val="0F4C5C"/>
                    </a:solidFill>
                  </a:tcPr>
                </a:tc>
                <a:tc>
                  <a:txBody>
                    <a:bodyPr/>
                    <a:lstStyle/>
                    <a:p>
                      <a:pPr algn="ctr"/>
                      <a:r>
                        <a:rPr sz="1400" b="1">
                          <a:solidFill>
                            <a:srgbClr val="FFFFFF"/>
                          </a:solidFill>
                          <a:latin typeface="Calibri"/>
                        </a:rPr>
                        <a:t>Interacciones dobles que siguen aliadas</a:t>
                      </a:r>
                    </a:p>
                  </a:txBody>
                  <a:tcPr marL="73152" marR="73152" marT="27432" marB="27432" anchor="ctr">
                    <a:solidFill>
                      <a:srgbClr val="0F4C5C"/>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6−2</a:t>
                      </a:r>
                      <a:r>
                        <a:rPr sz="1400" b="0" baseline="-25000">
                          <a:solidFill>
                            <a:srgbClr val="142B33"/>
                          </a:solidFill>
                          <a:latin typeface="Calibri"/>
                        </a:rPr>
                        <a:t>IV</a:t>
                      </a:r>
                      <a:r>
                        <a:rPr sz="1400" b="0">
                          <a:solidFill>
                            <a:srgbClr val="142B33"/>
                          </a:solidFill>
                          <a:latin typeface="Calibri"/>
                        </a:rPr>
                        <a:t>:  I = ABCE,  I = BCDF</a:t>
                      </a:r>
                    </a:p>
                  </a:txBody>
                  <a:tcPr marL="73152" marR="73152" marT="27432" marB="27432" anchor="ctr">
                    <a:solidFill>
                      <a:srgbClr val="FFFFFF"/>
                    </a:solidFill>
                  </a:tcPr>
                </a:tc>
                <a:tc>
                  <a:txBody>
                    <a:bodyPr/>
                    <a:lstStyle/>
                    <a:p>
                      <a:pPr algn="ctr"/>
                      <a:r>
                        <a:rPr sz="1400" b="0">
                          <a:solidFill>
                            <a:srgbClr val="142B33"/>
                          </a:solidFill>
                          <a:latin typeface="Calibri"/>
                        </a:rPr>
                        <a:t>I = −ABCE,  I = −BCDF</a:t>
                      </a:r>
                    </a:p>
                  </a:txBody>
                  <a:tcPr marL="73152" marR="73152" marT="27432" marB="27432" anchor="ctr">
                    <a:solidFill>
                      <a:srgbClr val="FFFFFF"/>
                    </a:solidFill>
                  </a:tcPr>
                </a:tc>
                <a:tc>
                  <a:txBody>
                    <a:bodyPr/>
                    <a:lstStyle/>
                    <a:p>
                      <a:pPr algn="ctr"/>
                      <a:r>
                        <a:rPr sz="1400" b="0">
                          <a:solidFill>
                            <a:srgbClr val="142B33"/>
                          </a:solidFill>
                          <a:latin typeface="Calibri"/>
                        </a:rPr>
                        <a:t>I = ADEF</a:t>
                      </a:r>
                    </a:p>
                  </a:txBody>
                  <a:tcPr marL="73152" marR="73152" marT="27432" marB="27432" anchor="ctr">
                    <a:solidFill>
                      <a:srgbClr val="FFFFFF"/>
                    </a:solidFill>
                  </a:tcPr>
                </a:tc>
                <a:tc>
                  <a:txBody>
                    <a:bodyPr/>
                    <a:lstStyle/>
                    <a:p>
                      <a:pPr algn="ctr"/>
                      <a:r>
                        <a:rPr sz="1400" b="0">
                          <a:solidFill>
                            <a:srgbClr val="142B33"/>
                          </a:solidFill>
                          <a:latin typeface="Calibri"/>
                        </a:rPr>
                        <a:t>AD = EF,  AE = DF,  AF = DE</a:t>
                      </a:r>
                    </a:p>
                  </a:txBody>
                  <a:tcPr marL="73152" marR="73152" marT="27432" marB="27432" anchor="ctr">
                    <a:solidFill>
                      <a:srgbClr val="FFFFFF"/>
                    </a:solidFill>
                  </a:tcPr>
                </a:tc>
              </a:tr>
              <a:tr h="335788">
                <a:tc>
                  <a:txBody>
                    <a:bodyPr/>
                    <a:lstStyle/>
                    <a:p>
                      <a:pPr algn="l"/>
                      <a:r>
                        <a:rPr sz="1400" b="0">
                          <a:solidFill>
                            <a:srgbClr val="142B33"/>
                          </a:solidFill>
                          <a:latin typeface="Calibri"/>
                        </a:rPr>
                        <a:t>2</a:t>
                      </a:r>
                      <a:r>
                        <a:rPr sz="1400" b="0" baseline="30000">
                          <a:solidFill>
                            <a:srgbClr val="142B33"/>
                          </a:solidFill>
                          <a:latin typeface="Calibri"/>
                        </a:rPr>
                        <a:t>8−3</a:t>
                      </a:r>
                      <a:r>
                        <a:rPr sz="1400" b="0" baseline="-25000">
                          <a:solidFill>
                            <a:srgbClr val="142B33"/>
                          </a:solidFill>
                          <a:latin typeface="Calibri"/>
                        </a:rPr>
                        <a:t>IV</a:t>
                      </a:r>
                      <a:r>
                        <a:rPr sz="1400" b="0">
                          <a:solidFill>
                            <a:srgbClr val="142B33"/>
                          </a:solidFill>
                          <a:latin typeface="Calibri"/>
                        </a:rPr>
                        <a:t>:  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−ABCF, −ABDG, BCDEH</a:t>
                      </a:r>
                    </a:p>
                  </a:txBody>
                  <a:tcPr marL="73152" marR="73152" marT="27432" marB="27432" anchor="ctr">
                    <a:solidFill>
                      <a:srgbClr val="F4F8F9"/>
                    </a:solidFill>
                  </a:tcPr>
                </a:tc>
                <a:tc>
                  <a:txBody>
                    <a:bodyPr/>
                    <a:lstStyle/>
                    <a:p>
                      <a:pPr algn="ctr"/>
                      <a:r>
                        <a:rPr sz="1400" b="0">
                          <a:solidFill>
                            <a:srgbClr val="142B33"/>
                          </a:solidFill>
                          <a:latin typeface="Calibri"/>
                        </a:rPr>
                        <a:t>I = CDFG = BCDEH = BEFGH</a:t>
                      </a:r>
                    </a:p>
                  </a:txBody>
                  <a:tcPr marL="73152" marR="73152" marT="27432" marB="27432" anchor="ctr">
                    <a:solidFill>
                      <a:srgbClr val="F4F8F9"/>
                    </a:solidFill>
                  </a:tcPr>
                </a:tc>
                <a:tc>
                  <a:txBody>
                    <a:bodyPr/>
                    <a:lstStyle/>
                    <a:p>
                      <a:pPr algn="ctr"/>
                      <a:r>
                        <a:rPr sz="1400" b="0">
                          <a:solidFill>
                            <a:srgbClr val="142B33"/>
                          </a:solidFill>
                          <a:latin typeface="Calibri"/>
                        </a:rPr>
                        <a:t>CD = FG,  CF = DG,  CG = DF</a:t>
                      </a:r>
                    </a:p>
                  </a:txBody>
                  <a:tcPr marL="73152" marR="73152" marT="27432" marB="27432" anchor="ctr">
                    <a:solidFill>
                      <a:srgbClr val="F4F8F9"/>
                    </a:solidFill>
                  </a:tcPr>
                </a:tc>
              </a:tr>
            </a:tbl>
          </a:graphicData>
        </a:graphic>
      </p:graphicFrame>
      <p:sp>
        <p:nvSpPr>
          <p:cNvPr id="4" name="Rounded Rectangle 3"/>
          <p:cNvSpPr/>
          <p:nvPr/>
        </p:nvSpPr>
        <p:spPr>
          <a:xfrm>
            <a:off x="548640"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Objetivos</a:t>
            </a:r>
          </a:p>
          <a:p>
            <a:pPr algn="l"/>
            <a:r>
              <a:rPr sz="1400" b="0">
                <a:solidFill>
                  <a:srgbClr val="142B33"/>
                </a:solidFill>
                <a:latin typeface="Calibri"/>
              </a:rPr>
              <a:t>Romper muchas cadenas, una cadena específica, o las de un factor específico</a:t>
            </a:r>
          </a:p>
        </p:txBody>
      </p:sp>
      <p:sp>
        <p:nvSpPr>
          <p:cNvPr id="5" name="Rounded Rectangle 4"/>
          <p:cNvSpPr/>
          <p:nvPr/>
        </p:nvSpPr>
        <p:spPr>
          <a:xfrm>
            <a:off x="4322978"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Procedimiento</a:t>
            </a:r>
          </a:p>
          <a:p>
            <a:pPr algn="l"/>
            <a:r>
              <a:rPr sz="1400" b="0">
                <a:solidFill>
                  <a:srgbClr val="142B33"/>
                </a:solidFill>
                <a:latin typeface="Calibri"/>
              </a:rPr>
              <a:t>Invertir los generadores con </a:t>
            </a:r>
            <a:r>
              <a:rPr sz="1400" b="1">
                <a:solidFill>
                  <a:srgbClr val="142B33"/>
                </a:solidFill>
                <a:latin typeface="Calibri"/>
              </a:rPr>
              <a:t>número impar</a:t>
            </a:r>
            <a:r>
              <a:rPr sz="1400" b="0">
                <a:solidFill>
                  <a:srgbClr val="142B33"/>
                </a:solidFill>
                <a:latin typeface="Calibri"/>
              </a:rPr>
              <a:t> de letras</a:t>
            </a:r>
          </a:p>
        </p:txBody>
      </p:sp>
      <p:sp>
        <p:nvSpPr>
          <p:cNvPr id="6" name="Rounded Rectangle 5"/>
          <p:cNvSpPr/>
          <p:nvPr/>
        </p:nvSpPr>
        <p:spPr>
          <a:xfrm>
            <a:off x="8097316" y="2842768"/>
            <a:ext cx="3545738" cy="1575307"/>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600" b="1">
                <a:solidFill>
                  <a:srgbClr val="0F4C5C"/>
                </a:solidFill>
                <a:latin typeface="Cambria"/>
              </a:rPr>
              <a:t>Advertencia</a:t>
            </a:r>
          </a:p>
          <a:p>
            <a:pPr algn="l"/>
            <a:r>
              <a:rPr sz="1400" b="0">
                <a:solidFill>
                  <a:srgbClr val="142B33"/>
                </a:solidFill>
                <a:latin typeface="Calibri"/>
              </a:rPr>
              <a:t>Con cadenas de </a:t>
            </a:r>
            <a:r>
              <a:rPr sz="1400" b="1">
                <a:solidFill>
                  <a:srgbClr val="142B33"/>
                </a:solidFill>
                <a:latin typeface="Calibri"/>
              </a:rPr>
              <a:t>más de dos</a:t>
            </a:r>
            <a:r>
              <a:rPr sz="1400" b="0">
                <a:solidFill>
                  <a:srgbClr val="142B33"/>
                </a:solidFill>
                <a:latin typeface="Calibri"/>
              </a:rPr>
              <a:t> interacciones dobles, no se separan todas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98</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¿Qué es un diseño de resolución V?</a:t>
            </a:r>
          </a:p>
        </p:txBody>
      </p:sp>
      <p:sp>
        <p:nvSpPr>
          <p:cNvPr id="3" name="TextBox 2"/>
          <p:cNvSpPr txBox="1"/>
          <p:nvPr/>
        </p:nvSpPr>
        <p:spPr>
          <a:xfrm>
            <a:off x="548640" y="1417320"/>
            <a:ext cx="5555126" cy="99059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600" b="0">
                <a:solidFill>
                  <a:srgbClr val="142B33"/>
                </a:solidFill>
                <a:latin typeface="Calibri"/>
              </a:rPr>
              <a:t>Principales e interacciones dobles </a:t>
            </a:r>
            <a:r>
              <a:rPr sz="1600" b="1">
                <a:solidFill>
                  <a:srgbClr val="142B33"/>
                </a:solidFill>
                <a:latin typeface="Calibri"/>
              </a:rPr>
              <a:t>sin alias entre sí</a:t>
            </a:r>
          </a:p>
          <a:p>
            <a:pPr marL="320040" indent="-320040">
              <a:spcAft>
                <a:spcPts val="600"/>
              </a:spcAft>
              <a:buClr>
                <a:srgbClr val="E36414"/>
              </a:buClr>
              <a:buFont typeface="Arial"/>
              <a:buChar char="•"/>
            </a:pPr>
            <a:r>
              <a:rPr sz="1600" b="0">
                <a:solidFill>
                  <a:srgbClr val="142B33"/>
                </a:solidFill>
                <a:latin typeface="Calibri"/>
              </a:rPr>
              <a:t>Palabra más corta de </a:t>
            </a:r>
            <a:r>
              <a:rPr sz="1600" b="1">
                <a:solidFill>
                  <a:srgbClr val="142B33"/>
                </a:solidFill>
                <a:latin typeface="Calibri"/>
              </a:rPr>
              <a:t>5 letras</a:t>
            </a:r>
          </a:p>
          <a:p>
            <a:pPr marL="320040" indent="-320040">
              <a:spcAft>
                <a:spcPts val="600"/>
              </a:spcAft>
              <a:buClr>
                <a:srgbClr val="E36414"/>
              </a:buClr>
              <a:buFont typeface="Arial"/>
              <a:buChar char="•"/>
            </a:pPr>
            <a:r>
              <a:rPr sz="1600" b="0">
                <a:solidFill>
                  <a:srgbClr val="142B33"/>
                </a:solidFill>
                <a:latin typeface="Calibri"/>
              </a:rPr>
              <a:t>Ejemplos: </a:t>
            </a:r>
            <a:r>
              <a:rPr sz="1600" b="1">
                <a:solidFill>
                  <a:srgbClr val="142B33"/>
                </a:solidFill>
                <a:latin typeface="Calibri"/>
              </a:rPr>
              <a:t>2</a:t>
            </a:r>
            <a:r>
              <a:rPr sz="1600" b="1" baseline="30000">
                <a:solidFill>
                  <a:srgbClr val="142B33"/>
                </a:solidFill>
                <a:latin typeface="Calibri"/>
              </a:rPr>
              <a:t>5−1</a:t>
            </a:r>
            <a:r>
              <a:rPr sz="1600" b="0">
                <a:solidFill>
                  <a:srgbClr val="142B33"/>
                </a:solidFill>
                <a:latin typeface="Calibri"/>
              </a:rPr>
              <a:t>, I = ABCDE;  </a:t>
            </a:r>
            <a:r>
              <a:rPr sz="1600" b="1">
                <a:solidFill>
                  <a:srgbClr val="142B33"/>
                </a:solidFill>
                <a:latin typeface="Calibri"/>
              </a:rPr>
              <a:t>2</a:t>
            </a:r>
            <a:r>
              <a:rPr sz="1600" b="1" baseline="30000">
                <a:solidFill>
                  <a:srgbClr val="142B33"/>
                </a:solidFill>
                <a:latin typeface="Calibri"/>
              </a:rPr>
              <a:t>8−2</a:t>
            </a:r>
            <a:r>
              <a:rPr sz="1600" b="0">
                <a:solidFill>
                  <a:srgbClr val="142B33"/>
                </a:solidFill>
                <a:latin typeface="Calibri"/>
              </a:rPr>
              <a:t>, I = ABCDG = ABEFH</a:t>
            </a:r>
          </a:p>
        </p:txBody>
      </p:sp>
      <p:sp>
        <p:nvSpPr>
          <p:cNvPr id="4" name="Rounded Rectangle 3"/>
          <p:cNvSpPr/>
          <p:nvPr/>
        </p:nvSpPr>
        <p:spPr>
          <a:xfrm>
            <a:off x="548640" y="2609087"/>
            <a:ext cx="5555126"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1">
                <a:solidFill>
                  <a:srgbClr val="142B33"/>
                </a:solidFill>
                <a:latin typeface="Calibri"/>
              </a:rPr>
              <a:t>Doblez parcial</a:t>
            </a:r>
            <a:r>
              <a:rPr sz="1500" b="0">
                <a:solidFill>
                  <a:srgbClr val="142B33"/>
                </a:solidFill>
                <a:latin typeface="Calibri"/>
              </a:rPr>
              <a:t>: separar una o dos interacciones agregando </a:t>
            </a:r>
            <a:r>
              <a:rPr sz="1500" b="1">
                <a:solidFill>
                  <a:srgbClr val="142B33"/>
                </a:solidFill>
                <a:latin typeface="Calibri"/>
              </a:rPr>
              <a:t>pocas corridas</a:t>
            </a:r>
          </a:p>
        </p:txBody>
      </p:sp>
      <p:graphicFrame>
        <p:nvGraphicFramePr>
          <p:cNvPr id="5" name="Table 4"/>
          <p:cNvGraphicFramePr>
            <a:graphicFrameLocks noGrp="1"/>
          </p:cNvGraphicFramePr>
          <p:nvPr/>
        </p:nvGraphicFramePr>
        <p:xfrm>
          <a:off x="6515246" y="1417320"/>
          <a:ext cx="5127808" cy="2081784"/>
        </p:xfrm>
        <a:graphic>
          <a:graphicData uri="http://schemas.openxmlformats.org/drawingml/2006/table">
            <a:tbl>
              <a:tblPr firstRow="0" bandRow="0">
                <a:tableStyleId>{5C22544A-7EE6-4342-B048-85BDC9FD1C3A}</a:tableStyleId>
              </a:tblPr>
              <a:tblGrid>
                <a:gridCol w="1538342"/>
                <a:gridCol w="3589466"/>
              </a:tblGrid>
              <a:tr h="614680">
                <a:tc>
                  <a:txBody>
                    <a:bodyPr/>
                    <a:lstStyle/>
                    <a:p>
                      <a:pPr algn="ctr"/>
                      <a:r>
                        <a:rPr sz="1600" b="1">
                          <a:solidFill>
                            <a:srgbClr val="FFFFFF"/>
                          </a:solidFill>
                          <a:latin typeface="Calibri"/>
                        </a:rPr>
                        <a:t>Factores</a:t>
                      </a:r>
                    </a:p>
                  </a:txBody>
                  <a:tcPr marL="73152" marR="73152" marT="27432" marB="27432" anchor="ctr">
                    <a:solidFill>
                      <a:srgbClr val="0F4C5C"/>
                    </a:solidFill>
                  </a:tcPr>
                </a:tc>
                <a:tc>
                  <a:txBody>
                    <a:bodyPr/>
                    <a:lstStyle/>
                    <a:p>
                      <a:pPr algn="ctr"/>
                      <a:r>
                        <a:rPr sz="1600" b="1">
                          <a:solidFill>
                            <a:srgbClr val="FFFFFF"/>
                          </a:solidFill>
                          <a:latin typeface="Calibri"/>
                        </a:rPr>
                        <a:t>Fracción irregular de resolución V</a:t>
                      </a:r>
                    </a:p>
                  </a:txBody>
                  <a:tcPr marL="73152" marR="73152" marT="27432" marB="27432" anchor="ctr">
                    <a:solidFill>
                      <a:srgbClr val="0F4C5C"/>
                    </a:solidFill>
                  </a:tcPr>
                </a:tc>
              </a:tr>
              <a:tr h="366776">
                <a:tc>
                  <a:txBody>
                    <a:bodyPr/>
                    <a:lstStyle/>
                    <a:p>
                      <a:pPr algn="ctr"/>
                      <a:r>
                        <a:rPr sz="1600" b="0">
                          <a:solidFill>
                            <a:srgbClr val="142B33"/>
                          </a:solidFill>
                          <a:latin typeface="Calibri"/>
                        </a:rPr>
                        <a:t>4</a:t>
                      </a:r>
                    </a:p>
                  </a:txBody>
                  <a:tcPr marL="73152" marR="73152" marT="27432" marB="27432" anchor="ctr">
                    <a:solidFill>
                      <a:srgbClr val="FFFFFF"/>
                    </a:solidFill>
                  </a:tcPr>
                </a:tc>
                <a:tc>
                  <a:txBody>
                    <a:bodyPr/>
                    <a:lstStyle/>
                    <a:p>
                      <a:pPr algn="ctr"/>
                      <a:r>
                        <a:rPr sz="1600" b="0">
                          <a:solidFill>
                            <a:srgbClr val="142B33"/>
                          </a:solidFill>
                          <a:latin typeface="Calibri"/>
                        </a:rPr>
                        <a:t>12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5</a:t>
                      </a:r>
                    </a:p>
                  </a:txBody>
                  <a:tcPr marL="73152" marR="73152" marT="27432" marB="27432" anchor="ctr">
                    <a:solidFill>
                      <a:srgbClr val="F4F8F9"/>
                    </a:solidFill>
                  </a:tcPr>
                </a:tc>
                <a:tc>
                  <a:txBody>
                    <a:bodyPr/>
                    <a:lstStyle/>
                    <a:p>
                      <a:pPr algn="ctr"/>
                      <a:r>
                        <a:rPr sz="1600" b="0">
                          <a:solidFill>
                            <a:srgbClr val="142B33"/>
                          </a:solidFill>
                          <a:latin typeface="Calibri"/>
                        </a:rPr>
                        <a:t>24 corridas (3/4 del 2</a:t>
                      </a:r>
                      <a:r>
                        <a:rPr sz="1600" b="0" baseline="30000">
                          <a:solidFill>
                            <a:srgbClr val="142B33"/>
                          </a:solidFill>
                          <a:latin typeface="Calibri"/>
                        </a:rPr>
                        <a:t>5</a:t>
                      </a:r>
                      <a:r>
                        <a:rPr sz="1600" b="0">
                          <a:solidFill>
                            <a:srgbClr val="142B33"/>
                          </a:solidFill>
                          <a:latin typeface="Calibri"/>
                        </a:rPr>
                        <a:t>)</a:t>
                      </a:r>
                    </a:p>
                  </a:txBody>
                  <a:tcPr marL="73152" marR="73152" marT="27432" marB="27432" anchor="ctr">
                    <a:solidFill>
                      <a:srgbClr val="F4F8F9"/>
                    </a:solidFill>
                  </a:tcPr>
                </a:tc>
              </a:tr>
              <a:tr h="366776">
                <a:tc>
                  <a:txBody>
                    <a:bodyPr/>
                    <a:lstStyle/>
                    <a:p>
                      <a:pPr algn="ctr"/>
                      <a:r>
                        <a:rPr sz="1600" b="0">
                          <a:solidFill>
                            <a:srgbClr val="142B33"/>
                          </a:solidFill>
                          <a:latin typeface="Calibri"/>
                        </a:rPr>
                        <a:t>6, 7 u 8</a:t>
                      </a:r>
                    </a:p>
                  </a:txBody>
                  <a:tcPr marL="73152" marR="73152" marT="27432" marB="27432" anchor="ctr">
                    <a:solidFill>
                      <a:srgbClr val="FFFFFF"/>
                    </a:solidFill>
                  </a:tcPr>
                </a:tc>
                <a:tc>
                  <a:txBody>
                    <a:bodyPr/>
                    <a:lstStyle/>
                    <a:p>
                      <a:pPr algn="ctr"/>
                      <a:r>
                        <a:rPr sz="1600" b="0">
                          <a:solidFill>
                            <a:srgbClr val="142B33"/>
                          </a:solidFill>
                          <a:latin typeface="Calibri"/>
                        </a:rPr>
                        <a:t>48 corridas</a:t>
                      </a:r>
                    </a:p>
                  </a:txBody>
                  <a:tcPr marL="73152" marR="73152" marT="27432" marB="27432" anchor="ctr">
                    <a:solidFill>
                      <a:srgbClr val="FFFFFF"/>
                    </a:solidFill>
                  </a:tcPr>
                </a:tc>
              </a:tr>
              <a:tr h="366776">
                <a:tc>
                  <a:txBody>
                    <a:bodyPr/>
                    <a:lstStyle/>
                    <a:p>
                      <a:pPr algn="ctr"/>
                      <a:r>
                        <a:rPr sz="1600" b="0">
                          <a:solidFill>
                            <a:srgbClr val="142B33"/>
                          </a:solidFill>
                          <a:latin typeface="Calibri"/>
                        </a:rPr>
                        <a:t>9</a:t>
                      </a:r>
                    </a:p>
                  </a:txBody>
                  <a:tcPr marL="73152" marR="73152" marT="27432" marB="27432" anchor="ctr">
                    <a:solidFill>
                      <a:srgbClr val="F4F8F9"/>
                    </a:solidFill>
                  </a:tcPr>
                </a:tc>
                <a:tc>
                  <a:txBody>
                    <a:bodyPr/>
                    <a:lstStyle/>
                    <a:p>
                      <a:pPr algn="ctr"/>
                      <a:r>
                        <a:rPr sz="1600" b="0">
                          <a:solidFill>
                            <a:srgbClr val="142B33"/>
                          </a:solidFill>
                          <a:latin typeface="Calibri"/>
                        </a:rPr>
                        <a:t>96 corridas</a:t>
                      </a:r>
                    </a:p>
                  </a:txBody>
                  <a:tcPr marL="73152" marR="73152" marT="27432" marB="27432" anchor="ctr">
                    <a:solidFill>
                      <a:srgbClr val="F4F8F9"/>
                    </a:solidFill>
                  </a:tcPr>
                </a:tc>
              </a:tr>
            </a:tbl>
          </a:graphicData>
        </a:graphic>
      </p:graphicFrame>
      <p:sp>
        <p:nvSpPr>
          <p:cNvPr id="6" name="TextBox 5"/>
          <p:cNvSpPr txBox="1"/>
          <p:nvPr/>
        </p:nvSpPr>
        <p:spPr>
          <a:xfrm>
            <a:off x="6515246" y="3700272"/>
            <a:ext cx="5127808" cy="237998"/>
          </a:xfrm>
          <a:prstGeom prst="rect">
            <a:avLst/>
          </a:prstGeom>
          <a:noFill/>
        </p:spPr>
        <p:txBody>
          <a:bodyPr wrap="square" anchor="t" lIns="0" rIns="0" tIns="0" bIns="0">
            <a:spAutoFit/>
          </a:bodyPr>
          <a:lstStyle/>
          <a:p>
            <a:r>
              <a:rPr sz="1300" b="0">
                <a:solidFill>
                  <a:srgbClr val="5B6B73"/>
                </a:solidFill>
                <a:latin typeface="Calibri"/>
              </a:rPr>
              <a:t>Fuente: Montgomery, sec. 8-6 y tabla 8-28</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99</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Resumen · ¿Cuántos factores caben en N corridas?</a:t>
            </a:r>
          </a:p>
        </p:txBody>
      </p:sp>
      <p:graphicFrame>
        <p:nvGraphicFramePr>
          <p:cNvPr id="3" name="Table 2"/>
          <p:cNvGraphicFramePr>
            <a:graphicFrameLocks noGrp="1"/>
          </p:cNvGraphicFramePr>
          <p:nvPr/>
        </p:nvGraphicFramePr>
        <p:xfrm>
          <a:off x="548640" y="1417320"/>
          <a:ext cx="11094413" cy="1988820"/>
        </p:xfrm>
        <a:graphic>
          <a:graphicData uri="http://schemas.openxmlformats.org/drawingml/2006/table">
            <a:tbl>
              <a:tblPr firstRow="0" bandRow="0">
                <a:tableStyleId>{5C22544A-7EE6-4342-B048-85BDC9FD1C3A}</a:tableStyleId>
              </a:tblPr>
              <a:tblGrid>
                <a:gridCol w="3993989"/>
                <a:gridCol w="1775106"/>
                <a:gridCol w="1775106"/>
                <a:gridCol w="1775106"/>
                <a:gridCol w="1775106"/>
              </a:tblGrid>
              <a:tr h="397764">
                <a:tc>
                  <a:txBody>
                    <a:bodyPr/>
                    <a:lstStyle/>
                    <a:p>
                      <a:pPr algn="l"/>
                      <a:r>
                        <a:rPr sz="1800" b="1">
                          <a:solidFill>
                            <a:srgbClr val="FFFFFF"/>
                          </a:solidFill>
                          <a:latin typeface="Calibri"/>
                        </a:rPr>
                        <a:t>Tipo de diseño</a:t>
                      </a:r>
                    </a:p>
                  </a:txBody>
                  <a:tcPr marL="73152" marR="73152" marT="27432" marB="27432" anchor="ctr">
                    <a:solidFill>
                      <a:srgbClr val="0F4C5C"/>
                    </a:solidFill>
                  </a:tcPr>
                </a:tc>
                <a:tc>
                  <a:txBody>
                    <a:bodyPr/>
                    <a:lstStyle/>
                    <a:p>
                      <a:pPr algn="ctr"/>
                      <a:r>
                        <a:rPr sz="1800" b="1">
                          <a:solidFill>
                            <a:srgbClr val="FFFFFF"/>
                          </a:solidFill>
                          <a:latin typeface="Calibri"/>
                        </a:rPr>
                        <a:t>4 corridas</a:t>
                      </a:r>
                    </a:p>
                  </a:txBody>
                  <a:tcPr marL="73152" marR="73152" marT="27432" marB="27432" anchor="ctr">
                    <a:solidFill>
                      <a:srgbClr val="0F4C5C"/>
                    </a:solidFill>
                  </a:tcPr>
                </a:tc>
                <a:tc>
                  <a:txBody>
                    <a:bodyPr/>
                    <a:lstStyle/>
                    <a:p>
                      <a:pPr algn="ctr"/>
                      <a:r>
                        <a:rPr sz="1800" b="1">
                          <a:solidFill>
                            <a:srgbClr val="FFFFFF"/>
                          </a:solidFill>
                          <a:latin typeface="Calibri"/>
                        </a:rPr>
                        <a:t>8 corridas</a:t>
                      </a:r>
                    </a:p>
                  </a:txBody>
                  <a:tcPr marL="73152" marR="73152" marT="27432" marB="27432" anchor="ctr">
                    <a:solidFill>
                      <a:srgbClr val="0F4C5C"/>
                    </a:solidFill>
                  </a:tcPr>
                </a:tc>
                <a:tc>
                  <a:txBody>
                    <a:bodyPr/>
                    <a:lstStyle/>
                    <a:p>
                      <a:pPr algn="ctr"/>
                      <a:r>
                        <a:rPr sz="1800" b="1">
                          <a:solidFill>
                            <a:srgbClr val="FFFFFF"/>
                          </a:solidFill>
                          <a:latin typeface="Calibri"/>
                        </a:rPr>
                        <a:t>16 corridas</a:t>
                      </a:r>
                    </a:p>
                  </a:txBody>
                  <a:tcPr marL="73152" marR="73152" marT="27432" marB="27432" anchor="ctr">
                    <a:solidFill>
                      <a:srgbClr val="0F4C5C"/>
                    </a:solidFill>
                  </a:tcPr>
                </a:tc>
                <a:tc>
                  <a:txBody>
                    <a:bodyPr/>
                    <a:lstStyle/>
                    <a:p>
                      <a:pPr algn="ctr"/>
                      <a:r>
                        <a:rPr sz="1800" b="1">
                          <a:solidFill>
                            <a:srgbClr val="FFFFFF"/>
                          </a:solidFill>
                          <a:latin typeface="Calibri"/>
                        </a:rPr>
                        <a:t>32 corridas</a:t>
                      </a:r>
                    </a:p>
                  </a:txBody>
                  <a:tcPr marL="73152" marR="73152" marT="27432" marB="27432" anchor="ctr">
                    <a:solidFill>
                      <a:srgbClr val="0F4C5C"/>
                    </a:solidFill>
                  </a:tcPr>
                </a:tc>
              </a:tr>
              <a:tr h="397764">
                <a:tc>
                  <a:txBody>
                    <a:bodyPr/>
                    <a:lstStyle/>
                    <a:p>
                      <a:pPr algn="l"/>
                      <a:r>
                        <a:rPr sz="1800" b="0">
                          <a:solidFill>
                            <a:srgbClr val="142B33"/>
                          </a:solidFill>
                          <a:latin typeface="Calibri"/>
                        </a:rPr>
                        <a:t>Factorial completo</a:t>
                      </a:r>
                    </a:p>
                  </a:txBody>
                  <a:tcPr marL="73152" marR="73152" marT="27432" marB="27432" anchor="ctr">
                    <a:solidFill>
                      <a:srgbClr val="FFFFFF"/>
                    </a:solidFill>
                  </a:tcPr>
                </a:tc>
                <a:tc>
                  <a:txBody>
                    <a:bodyPr/>
                    <a:lstStyle/>
                    <a:p>
                      <a:pPr algn="ctr"/>
                      <a:r>
                        <a:rPr sz="1800" b="0">
                          <a:solidFill>
                            <a:srgbClr val="142B33"/>
                          </a:solidFill>
                          <a:latin typeface="Calibri"/>
                        </a:rPr>
                        <a:t>2</a:t>
                      </a:r>
                    </a:p>
                  </a:txBody>
                  <a:tcPr marL="73152" marR="73152" marT="27432" marB="27432" anchor="ctr">
                    <a:solidFill>
                      <a:srgbClr val="FFFFFF"/>
                    </a:solidFill>
                  </a:tcPr>
                </a:tc>
                <a:tc>
                  <a:txBody>
                    <a:bodyPr/>
                    <a:lstStyle/>
                    <a:p>
                      <a:pPr algn="ctr"/>
                      <a:r>
                        <a:rPr sz="1800" b="0">
                          <a:solidFill>
                            <a:srgbClr val="142B33"/>
                          </a:solidFill>
                          <a:latin typeface="Calibri"/>
                        </a:rPr>
                        <a:t>3</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5</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un medio</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4</a:t>
                      </a:r>
                    </a:p>
                  </a:txBody>
                  <a:tcPr marL="73152" marR="73152" marT="27432" marB="27432" anchor="ctr">
                    <a:solidFill>
                      <a:srgbClr val="F4F8F9"/>
                    </a:solidFill>
                  </a:tcPr>
                </a:tc>
                <a:tc>
                  <a:txBody>
                    <a:bodyPr/>
                    <a:lstStyle/>
                    <a:p>
                      <a:pPr algn="ctr"/>
                      <a:r>
                        <a:rPr sz="1800" b="0">
                          <a:solidFill>
                            <a:srgbClr val="142B33"/>
                          </a:solidFill>
                          <a:latin typeface="Calibri"/>
                        </a:rPr>
                        <a:t>5</a:t>
                      </a:r>
                    </a:p>
                  </a:txBody>
                  <a:tcPr marL="73152" marR="73152" marT="27432" marB="27432" anchor="ctr">
                    <a:solidFill>
                      <a:srgbClr val="F4F8F9"/>
                    </a:solidFill>
                  </a:tcPr>
                </a:tc>
                <a:tc>
                  <a:txBody>
                    <a:bodyPr/>
                    <a:lstStyle/>
                    <a:p>
                      <a:pPr algn="ctr"/>
                      <a:r>
                        <a:rPr sz="1800" b="0">
                          <a:solidFill>
                            <a:srgbClr val="142B33"/>
                          </a:solidFill>
                          <a:latin typeface="Calibri"/>
                        </a:rPr>
                        <a:t>6</a:t>
                      </a:r>
                    </a:p>
                  </a:txBody>
                  <a:tcPr marL="73152" marR="73152" marT="27432" marB="27432" anchor="ctr">
                    <a:solidFill>
                      <a:srgbClr val="F4F8F9"/>
                    </a:solidFill>
                  </a:tcPr>
                </a:tc>
              </a:tr>
              <a:tr h="397764">
                <a:tc>
                  <a:txBody>
                    <a:bodyPr/>
                    <a:lstStyle/>
                    <a:p>
                      <a:pPr algn="l"/>
                      <a:r>
                        <a:rPr sz="1800" b="0">
                          <a:solidFill>
                            <a:srgbClr val="142B33"/>
                          </a:solidFill>
                          <a:latin typeface="Calibri"/>
                        </a:rPr>
                        <a:t>Fracción de resolución IV</a:t>
                      </a:r>
                    </a:p>
                  </a:txBody>
                  <a:tcPr marL="73152" marR="73152" marT="27432" marB="27432" anchor="ctr">
                    <a:solidFill>
                      <a:srgbClr val="FFFFFF"/>
                    </a:solidFill>
                  </a:tcPr>
                </a:tc>
                <a:tc>
                  <a:txBody>
                    <a:bodyPr/>
                    <a:lstStyle/>
                    <a:p>
                      <a:pPr algn="ctr"/>
                      <a:r>
                        <a:rPr sz="1800" b="0">
                          <a:solidFill>
                            <a:srgbClr val="142B33"/>
                          </a:solidFill>
                          <a:latin typeface="Calibri"/>
                        </a:rPr>
                        <a:t>—</a:t>
                      </a:r>
                    </a:p>
                  </a:txBody>
                  <a:tcPr marL="73152" marR="73152" marT="27432" marB="27432" anchor="ctr">
                    <a:solidFill>
                      <a:srgbClr val="FFFFFF"/>
                    </a:solidFill>
                  </a:tcPr>
                </a:tc>
                <a:tc>
                  <a:txBody>
                    <a:bodyPr/>
                    <a:lstStyle/>
                    <a:p>
                      <a:pPr algn="ctr"/>
                      <a:r>
                        <a:rPr sz="1800" b="0">
                          <a:solidFill>
                            <a:srgbClr val="142B33"/>
                          </a:solidFill>
                          <a:latin typeface="Calibri"/>
                        </a:rPr>
                        <a:t>4</a:t>
                      </a:r>
                    </a:p>
                  </a:txBody>
                  <a:tcPr marL="73152" marR="73152" marT="27432" marB="27432" anchor="ctr">
                    <a:solidFill>
                      <a:srgbClr val="FFFFFF"/>
                    </a:solidFill>
                  </a:tcPr>
                </a:tc>
                <a:tc>
                  <a:txBody>
                    <a:bodyPr/>
                    <a:lstStyle/>
                    <a:p>
                      <a:pPr algn="ctr"/>
                      <a:r>
                        <a:rPr sz="1800" b="0">
                          <a:solidFill>
                            <a:srgbClr val="142B33"/>
                          </a:solidFill>
                          <a:latin typeface="Calibri"/>
                        </a:rPr>
                        <a:t>6 a 8</a:t>
                      </a:r>
                    </a:p>
                  </a:txBody>
                  <a:tcPr marL="73152" marR="73152" marT="27432" marB="27432" anchor="ctr">
                    <a:solidFill>
                      <a:srgbClr val="FFFFFF"/>
                    </a:solidFill>
                  </a:tcPr>
                </a:tc>
                <a:tc>
                  <a:txBody>
                    <a:bodyPr/>
                    <a:lstStyle/>
                    <a:p>
                      <a:pPr algn="ctr"/>
                      <a:r>
                        <a:rPr sz="1800" b="0">
                          <a:solidFill>
                            <a:srgbClr val="142B33"/>
                          </a:solidFill>
                          <a:latin typeface="Calibri"/>
                        </a:rPr>
                        <a:t>7 a 16</a:t>
                      </a:r>
                    </a:p>
                  </a:txBody>
                  <a:tcPr marL="73152" marR="73152" marT="27432" marB="27432" anchor="ctr">
                    <a:solidFill>
                      <a:srgbClr val="FFFFFF"/>
                    </a:solidFill>
                  </a:tcPr>
                </a:tc>
              </a:tr>
              <a:tr h="397764">
                <a:tc>
                  <a:txBody>
                    <a:bodyPr/>
                    <a:lstStyle/>
                    <a:p>
                      <a:pPr algn="l"/>
                      <a:r>
                        <a:rPr sz="1800" b="0">
                          <a:solidFill>
                            <a:srgbClr val="142B33"/>
                          </a:solidFill>
                          <a:latin typeface="Calibri"/>
                        </a:rPr>
                        <a:t>Fracción de resolución III</a:t>
                      </a:r>
                    </a:p>
                  </a:txBody>
                  <a:tcPr marL="73152" marR="73152" marT="27432" marB="27432" anchor="ctr">
                    <a:solidFill>
                      <a:srgbClr val="F4F8F9"/>
                    </a:solidFill>
                  </a:tcPr>
                </a:tc>
                <a:tc>
                  <a:txBody>
                    <a:bodyPr/>
                    <a:lstStyle/>
                    <a:p>
                      <a:pPr algn="ctr"/>
                      <a:r>
                        <a:rPr sz="1800" b="0">
                          <a:solidFill>
                            <a:srgbClr val="142B33"/>
                          </a:solidFill>
                          <a:latin typeface="Calibri"/>
                        </a:rPr>
                        <a:t>3</a:t>
                      </a:r>
                    </a:p>
                  </a:txBody>
                  <a:tcPr marL="73152" marR="73152" marT="27432" marB="27432" anchor="ctr">
                    <a:solidFill>
                      <a:srgbClr val="F4F8F9"/>
                    </a:solidFill>
                  </a:tcPr>
                </a:tc>
                <a:tc>
                  <a:txBody>
                    <a:bodyPr/>
                    <a:lstStyle/>
                    <a:p>
                      <a:pPr algn="ctr"/>
                      <a:r>
                        <a:rPr sz="1800" b="0">
                          <a:solidFill>
                            <a:srgbClr val="142B33"/>
                          </a:solidFill>
                          <a:latin typeface="Calibri"/>
                        </a:rPr>
                        <a:t>5 a 7</a:t>
                      </a:r>
                    </a:p>
                  </a:txBody>
                  <a:tcPr marL="73152" marR="73152" marT="27432" marB="27432" anchor="ctr">
                    <a:solidFill>
                      <a:srgbClr val="F4F8F9"/>
                    </a:solidFill>
                  </a:tcPr>
                </a:tc>
                <a:tc>
                  <a:txBody>
                    <a:bodyPr/>
                    <a:lstStyle/>
                    <a:p>
                      <a:pPr algn="ctr"/>
                      <a:r>
                        <a:rPr sz="1800" b="0">
                          <a:solidFill>
                            <a:srgbClr val="142B33"/>
                          </a:solidFill>
                          <a:latin typeface="Calibri"/>
                        </a:rPr>
                        <a:t>9 a 15</a:t>
                      </a:r>
                    </a:p>
                  </a:txBody>
                  <a:tcPr marL="73152" marR="73152" marT="27432" marB="27432" anchor="ctr">
                    <a:solidFill>
                      <a:srgbClr val="F4F8F9"/>
                    </a:solidFill>
                  </a:tcPr>
                </a:tc>
                <a:tc>
                  <a:txBody>
                    <a:bodyPr/>
                    <a:lstStyle/>
                    <a:p>
                      <a:pPr algn="ctr"/>
                      <a:r>
                        <a:rPr sz="1800" b="0">
                          <a:solidFill>
                            <a:srgbClr val="142B33"/>
                          </a:solidFill>
                          <a:latin typeface="Calibri"/>
                        </a:rPr>
                        <a:t>17 a 31</a:t>
                      </a:r>
                    </a:p>
                  </a:txBody>
                  <a:tcPr marL="73152" marR="73152" marT="27432" marB="27432" anchor="ctr">
                    <a:solidFill>
                      <a:srgbClr val="F4F8F9"/>
                    </a:solidFill>
                  </a:tcPr>
                </a:tc>
              </a:tr>
            </a:tbl>
          </a:graphicData>
        </a:graphic>
      </p:graphicFrame>
      <p:sp>
        <p:nvSpPr>
          <p:cNvPr id="4" name="TextBox 3"/>
          <p:cNvSpPr txBox="1"/>
          <p:nvPr/>
        </p:nvSpPr>
        <p:spPr>
          <a:xfrm>
            <a:off x="548640" y="3607308"/>
            <a:ext cx="11094415" cy="268985"/>
          </a:xfrm>
          <a:prstGeom prst="rect">
            <a:avLst/>
          </a:prstGeom>
          <a:noFill/>
        </p:spPr>
        <p:txBody>
          <a:bodyPr wrap="square" anchor="t" lIns="0" rIns="0" tIns="0" bIns="0">
            <a:spAutoFit/>
          </a:bodyPr>
          <a:lstStyle/>
          <a:p>
            <a:r>
              <a:rPr sz="1500" b="0">
                <a:solidFill>
                  <a:srgbClr val="142B33"/>
                </a:solidFill>
                <a:latin typeface="Calibri"/>
              </a:rPr>
              <a:t>Las celdas indican el </a:t>
            </a:r>
            <a:r>
              <a:rPr sz="1500" b="1">
                <a:solidFill>
                  <a:srgbClr val="142B33"/>
                </a:solidFill>
                <a:latin typeface="Calibri"/>
              </a:rPr>
              <a:t>número de factores</a:t>
            </a:r>
            <a:r>
              <a:rPr sz="1500" b="0">
                <a:solidFill>
                  <a:srgbClr val="142B33"/>
                </a:solidFill>
                <a:latin typeface="Calibri"/>
              </a:rPr>
              <a:t> que se pueden estudiar</a:t>
            </a:r>
          </a:p>
        </p:txBody>
      </p:sp>
      <p:sp>
        <p:nvSpPr>
          <p:cNvPr id="5" name="Rounded Rectangle 4"/>
          <p:cNvSpPr/>
          <p:nvPr/>
        </p:nvSpPr>
        <p:spPr>
          <a:xfrm>
            <a:off x="548640"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III</a:t>
            </a:r>
          </a:p>
          <a:p>
            <a:pPr algn="l"/>
            <a:r>
              <a:rPr sz="1700" b="0">
                <a:solidFill>
                  <a:srgbClr val="142B33"/>
                </a:solidFill>
                <a:latin typeface="Calibri"/>
              </a:rPr>
              <a:t>Máximo </a:t>
            </a:r>
            <a:r>
              <a:rPr sz="1700" b="1">
                <a:solidFill>
                  <a:srgbClr val="142B33"/>
                </a:solidFill>
                <a:latin typeface="Calibri"/>
              </a:rPr>
              <a:t>k = N − 1</a:t>
            </a:r>
            <a:r>
              <a:rPr sz="1700" b="0">
                <a:solidFill>
                  <a:srgbClr val="142B33"/>
                </a:solidFill>
                <a:latin typeface="Calibri"/>
              </a:rPr>
              <a:t> factores (diseño saturado)</a:t>
            </a:r>
          </a:p>
        </p:txBody>
      </p:sp>
      <p:sp>
        <p:nvSpPr>
          <p:cNvPr id="6" name="Rounded Rectangle 5"/>
          <p:cNvSpPr/>
          <p:nvPr/>
        </p:nvSpPr>
        <p:spPr>
          <a:xfrm>
            <a:off x="6210147" y="4077462"/>
            <a:ext cx="5432907" cy="1234440"/>
          </a:xfrm>
          <a:prstGeom prst="roundRect">
            <a:avLst>
              <a:gd name="adj" fmla="val 8000"/>
            </a:avLst>
          </a:prstGeom>
          <a:solidFill>
            <a:srgbClr val="E8F1F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600"/>
              </a:spcAft>
            </a:pPr>
            <a:r>
              <a:rPr sz="1900" b="1">
                <a:solidFill>
                  <a:srgbClr val="0F4C5C"/>
                </a:solidFill>
                <a:latin typeface="Cambria"/>
              </a:rPr>
              <a:t>Resolución IV</a:t>
            </a:r>
          </a:p>
          <a:p>
            <a:pPr algn="l"/>
            <a:r>
              <a:rPr sz="1700" b="0">
                <a:solidFill>
                  <a:srgbClr val="142B33"/>
                </a:solidFill>
                <a:latin typeface="Calibri"/>
              </a:rPr>
              <a:t>Mínimo </a:t>
            </a:r>
            <a:r>
              <a:rPr sz="1700" b="1">
                <a:solidFill>
                  <a:srgbClr val="142B33"/>
                </a:solidFill>
                <a:latin typeface="Calibri"/>
              </a:rPr>
              <a:t>N = 2k</a:t>
            </a:r>
            <a:r>
              <a:rPr sz="1700" b="0">
                <a:solidFill>
                  <a:srgbClr val="142B33"/>
                </a:solidFill>
                <a:latin typeface="Calibri"/>
              </a:rPr>
              <a:t> corridas</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Diseños de resolución IV y V</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100</a:t>
            </a:r>
          </a:p>
        </p:txBody>
      </p:sp>
      <p:sp>
        <p:nvSpPr>
          <p:cNvPr id="9" name="Rounded Rectangle 8"/>
          <p:cNvSpPr/>
          <p:nvPr/>
        </p:nvSpPr>
        <p:spPr>
          <a:xfrm>
            <a:off x="548640" y="91440"/>
            <a:ext cx="3287268"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8 · Diseños de resolución IV y V</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3383280"/>
            <a:ext cx="11094415" cy="914400"/>
          </a:xfrm>
        </p:spPr>
        <p:txBody>
          <a:bodyPr wrap="square" anchor="t" lIns="0" rIns="0" tIns="0" bIns="0"/>
          <a:lstStyle/>
          <a:p>
            <a:pPr algn="l"/>
            <a:r>
              <a:rPr sz="4400" b="1">
                <a:solidFill>
                  <a:srgbClr val="FFFFFF"/>
                </a:solidFill>
                <a:latin typeface="Cambria"/>
              </a:rPr>
              <a:t>Cierre</a:t>
            </a:r>
          </a:p>
        </p:txBody>
      </p:sp>
      <p:sp>
        <p:nvSpPr>
          <p:cNvPr id="3" name="Oval 2"/>
          <p:cNvSpPr/>
          <p:nvPr/>
        </p:nvSpPr>
        <p:spPr>
          <a:xfrm>
            <a:off x="548640" y="2011680"/>
            <a:ext cx="1188720" cy="118872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4000" b="1">
                <a:solidFill>
                  <a:srgbClr val="FFFFFF"/>
                </a:solidFill>
                <a:latin typeface="Cambria"/>
              </a:rPr>
              <a:t>9</a:t>
            </a:r>
          </a:p>
        </p:txBody>
      </p:sp>
      <p:sp>
        <p:nvSpPr>
          <p:cNvPr id="4" name="TextBox 3"/>
          <p:cNvSpPr txBox="1"/>
          <p:nvPr/>
        </p:nvSpPr>
        <p:spPr>
          <a:xfrm>
            <a:off x="548640" y="4343400"/>
            <a:ext cx="11094415" cy="548640"/>
          </a:xfrm>
          <a:prstGeom prst="rect">
            <a:avLst/>
          </a:prstGeom>
          <a:noFill/>
        </p:spPr>
        <p:txBody>
          <a:bodyPr wrap="square" anchor="t" lIns="0" rIns="0" tIns="0" bIns="0">
            <a:spAutoFit/>
          </a:bodyPr>
          <a:lstStyle/>
          <a:p>
            <a:r>
              <a:rPr sz="2000" b="0">
                <a:solidFill>
                  <a:srgbClr val="CFE3E8"/>
                </a:solidFill>
                <a:latin typeface="Calibri"/>
              </a:rPr>
              <a:t>Lo que hay que recordar</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Lo que hay que recordar</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Ideas clave</a:t>
            </a:r>
          </a:p>
        </p:txBody>
      </p:sp>
      <p:sp>
        <p:nvSpPr>
          <p:cNvPr id="4" name="TextBox 3"/>
          <p:cNvSpPr txBox="1"/>
          <p:nvPr/>
        </p:nvSpPr>
        <p:spPr>
          <a:xfrm>
            <a:off x="548640" y="1964944"/>
            <a:ext cx="5341467" cy="2518663"/>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Muchos factores en pocas corridas, </a:t>
            </a:r>
            <a:r>
              <a:rPr sz="1700" b="1">
                <a:solidFill>
                  <a:srgbClr val="142B33"/>
                </a:solidFill>
                <a:latin typeface="Calibri"/>
              </a:rPr>
              <a:t>a cambio de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relación de definición</a:t>
            </a:r>
            <a:r>
              <a:rPr sz="1700" b="0">
                <a:solidFill>
                  <a:srgbClr val="142B33"/>
                </a:solidFill>
                <a:latin typeface="Calibri"/>
              </a:rPr>
              <a:t> determina los alias</a:t>
            </a:r>
          </a:p>
          <a:p>
            <a:pPr marL="320040" indent="-320040">
              <a:spcAft>
                <a:spcPts val="600"/>
              </a:spcAft>
              <a:buClr>
                <a:srgbClr val="E36414"/>
              </a:buClr>
              <a:buFont typeface="Arial"/>
              <a:buChar char="•"/>
            </a:pPr>
            <a:r>
              <a:rPr sz="1700" b="0">
                <a:solidFill>
                  <a:srgbClr val="142B33"/>
                </a:solidFill>
                <a:latin typeface="Calibri"/>
              </a:rPr>
              <a:t>La </a:t>
            </a:r>
            <a:r>
              <a:rPr sz="1700" b="1">
                <a:solidFill>
                  <a:srgbClr val="142B33"/>
                </a:solidFill>
                <a:latin typeface="Calibri"/>
              </a:rPr>
              <a:t>resolución</a:t>
            </a:r>
            <a:r>
              <a:rPr sz="1700" b="0">
                <a:solidFill>
                  <a:srgbClr val="142B33"/>
                </a:solidFill>
                <a:latin typeface="Calibri"/>
              </a:rPr>
              <a:t> dice qué tan grave es la mezcla</a:t>
            </a:r>
          </a:p>
          <a:p>
            <a:pPr marL="320040" indent="-320040">
              <a:spcAft>
                <a:spcPts val="600"/>
              </a:spcAft>
              <a:buClr>
                <a:srgbClr val="E36414"/>
              </a:buClr>
              <a:buFont typeface="Arial"/>
              <a:buChar char="•"/>
            </a:pPr>
            <a:r>
              <a:rPr sz="1700" b="0">
                <a:solidFill>
                  <a:srgbClr val="142B33"/>
                </a:solidFill>
                <a:latin typeface="Calibri"/>
              </a:rPr>
              <a:t>Análisis: efectos → gráfica normal → ANOVA reducido → residuos</a:t>
            </a:r>
          </a:p>
          <a:p>
            <a:pPr marL="320040" indent="-320040">
              <a:spcAft>
                <a:spcPts val="600"/>
              </a:spcAft>
              <a:buClr>
                <a:srgbClr val="E36414"/>
              </a:buClr>
              <a:buFont typeface="Arial"/>
              <a:buChar char="•"/>
            </a:pPr>
            <a:r>
              <a:rPr sz="1700" b="0">
                <a:solidFill>
                  <a:srgbClr val="142B33"/>
                </a:solidFill>
                <a:latin typeface="Calibri"/>
              </a:rPr>
              <a:t>Las conclusiones son </a:t>
            </a:r>
            <a:r>
              <a:rPr sz="1700" b="1">
                <a:solidFill>
                  <a:srgbClr val="142B33"/>
                </a:solidFill>
                <a:latin typeface="Calibri"/>
              </a:rPr>
              <a:t>tentativas</a:t>
            </a:r>
            <a:r>
              <a:rPr sz="1700" b="0">
                <a:solidFill>
                  <a:srgbClr val="142B33"/>
                </a:solidFill>
                <a:latin typeface="Calibri"/>
              </a:rPr>
              <a:t>: hay que confirmar</a:t>
            </a:r>
          </a:p>
        </p:txBody>
      </p:sp>
      <p:sp>
        <p:nvSpPr>
          <p:cNvPr id="5" name="TextBox 4"/>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Errores frecuentes</a:t>
            </a:r>
          </a:p>
        </p:txBody>
      </p:sp>
      <p:sp>
        <p:nvSpPr>
          <p:cNvPr id="6" name="TextBox 5"/>
          <p:cNvSpPr txBox="1"/>
          <p:nvPr/>
        </p:nvSpPr>
        <p:spPr>
          <a:xfrm>
            <a:off x="6301587" y="1964944"/>
            <a:ext cx="5341467" cy="2255265"/>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Interpretar un efecto </a:t>
            </a:r>
            <a:r>
              <a:rPr sz="1700" b="1">
                <a:solidFill>
                  <a:srgbClr val="142B33"/>
                </a:solidFill>
                <a:latin typeface="Calibri"/>
              </a:rPr>
              <a:t>sin revisar sus alias</a:t>
            </a:r>
          </a:p>
          <a:p>
            <a:pPr marL="320040" indent="-320040">
              <a:spcAft>
                <a:spcPts val="600"/>
              </a:spcAft>
              <a:buClr>
                <a:srgbClr val="E36414"/>
              </a:buClr>
              <a:buFont typeface="Arial"/>
              <a:buChar char="•"/>
            </a:pPr>
            <a:r>
              <a:rPr sz="1700" b="0">
                <a:solidFill>
                  <a:srgbClr val="142B33"/>
                </a:solidFill>
                <a:latin typeface="Calibri"/>
              </a:rPr>
              <a:t>Usar resolución III </a:t>
            </a:r>
            <a:r>
              <a:rPr sz="1700" b="1">
                <a:solidFill>
                  <a:srgbClr val="142B33"/>
                </a:solidFill>
                <a:latin typeface="Calibri"/>
              </a:rPr>
              <a:t>sin prever un doblez</a:t>
            </a:r>
            <a:r>
              <a:rPr sz="1700" b="0">
                <a:solidFill>
                  <a:srgbClr val="142B33"/>
                </a:solidFill>
                <a:latin typeface="Calibri"/>
              </a:rPr>
              <a:t> cuando puede haber interacciones</a:t>
            </a:r>
          </a:p>
          <a:p>
            <a:pPr marL="320040" indent="-320040">
              <a:spcAft>
                <a:spcPts val="600"/>
              </a:spcAft>
              <a:buClr>
                <a:srgbClr val="E36414"/>
              </a:buClr>
              <a:buFont typeface="Arial"/>
              <a:buChar char="•"/>
            </a:pPr>
            <a:r>
              <a:rPr sz="1700" b="0">
                <a:solidFill>
                  <a:srgbClr val="142B33"/>
                </a:solidFill>
                <a:latin typeface="Calibri"/>
              </a:rPr>
              <a:t>No aleatorizar o no guardar el </a:t>
            </a:r>
            <a:r>
              <a:rPr sz="1700" b="1">
                <a:solidFill>
                  <a:srgbClr val="142B33"/>
                </a:solidFill>
                <a:latin typeface="Calibri"/>
              </a:rPr>
              <a:t>orden de corrida</a:t>
            </a:r>
          </a:p>
          <a:p>
            <a:pPr marL="320040" indent="-320040">
              <a:spcAft>
                <a:spcPts val="600"/>
              </a:spcAft>
              <a:buClr>
                <a:srgbClr val="E36414"/>
              </a:buClr>
              <a:buFont typeface="Arial"/>
              <a:buChar char="•"/>
            </a:pPr>
            <a:r>
              <a:rPr sz="1700" b="0">
                <a:solidFill>
                  <a:srgbClr val="142B33"/>
                </a:solidFill>
                <a:latin typeface="Calibri"/>
              </a:rPr>
              <a:t>No cuidar la </a:t>
            </a:r>
            <a:r>
              <a:rPr sz="1700" b="1">
                <a:solidFill>
                  <a:srgbClr val="142B33"/>
                </a:solidFill>
                <a:latin typeface="Calibri"/>
              </a:rPr>
              <a:t>asignación</a:t>
            </a:r>
            <a:r>
              <a:rPr sz="1700" b="0">
                <a:solidFill>
                  <a:srgbClr val="142B33"/>
                </a:solidFill>
                <a:latin typeface="Calibri"/>
              </a:rPr>
              <a:t> de factores a columnas (alias y proyección)</a:t>
            </a:r>
          </a:p>
          <a:p>
            <a:pPr marL="320040" indent="-320040">
              <a:spcAft>
                <a:spcPts val="600"/>
              </a:spcAft>
              <a:buClr>
                <a:srgbClr val="E36414"/>
              </a:buClr>
              <a:buFont typeface="Arial"/>
              <a:buChar char="•"/>
            </a:pPr>
            <a:r>
              <a:rPr sz="1700" b="0">
                <a:solidFill>
                  <a:srgbClr val="142B33"/>
                </a:solidFill>
                <a:latin typeface="Calibri"/>
              </a:rPr>
              <a:t>Dar por definitivo lo que no se ha confirmado</a:t>
            </a:r>
          </a:p>
        </p:txBody>
      </p:sp>
      <p:sp>
        <p:nvSpPr>
          <p:cNvPr id="7" name="TextBox 6"/>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8" name="TextBox 7"/>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102</a:t>
            </a:r>
          </a:p>
        </p:txBody>
      </p:sp>
      <p:sp>
        <p:nvSpPr>
          <p:cNvPr id="9" name="Rounded Rectangle 8"/>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548640" y="384048"/>
            <a:ext cx="11094415" cy="914400"/>
          </a:xfrm>
        </p:spPr>
        <p:txBody>
          <a:bodyPr wrap="square" anchor="ctr" lIns="0" rIns="0" tIns="0" bIns="0"/>
          <a:lstStyle/>
          <a:p>
            <a:pPr algn="l"/>
            <a:r>
              <a:rPr sz="3000" b="1">
                <a:solidFill>
                  <a:srgbClr val="0F4C5C"/>
                </a:solidFill>
                <a:latin typeface="Cambria"/>
              </a:rPr>
              <a:t>Referencias</a:t>
            </a:r>
          </a:p>
        </p:txBody>
      </p:sp>
      <p:sp>
        <p:nvSpPr>
          <p:cNvPr id="3" name="TextBox 2"/>
          <p:cNvSpPr txBox="1"/>
          <p:nvPr/>
        </p:nvSpPr>
        <p:spPr>
          <a:xfrm>
            <a:off x="548640" y="1417320"/>
            <a:ext cx="5341467" cy="346455"/>
          </a:xfrm>
          <a:prstGeom prst="rect">
            <a:avLst/>
          </a:prstGeom>
          <a:noFill/>
        </p:spPr>
        <p:txBody>
          <a:bodyPr wrap="square" anchor="t" lIns="0" rIns="0" tIns="0" bIns="0">
            <a:spAutoFit/>
          </a:bodyPr>
          <a:lstStyle/>
          <a:p>
            <a:r>
              <a:rPr sz="2000" b="1">
                <a:solidFill>
                  <a:srgbClr val="142B33"/>
                </a:solidFill>
                <a:latin typeface="Calibri"/>
              </a:rPr>
              <a:t>Fuente de la teoría y de los ejemplos</a:t>
            </a:r>
          </a:p>
        </p:txBody>
      </p:sp>
      <p:sp>
        <p:nvSpPr>
          <p:cNvPr id="4" name="TextBox 3"/>
          <p:cNvSpPr txBox="1"/>
          <p:nvPr/>
        </p:nvSpPr>
        <p:spPr>
          <a:xfrm>
            <a:off x="548640" y="1964944"/>
            <a:ext cx="5341467" cy="87248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Montgomery, D. C. (2004). Diseño y análisis de experimentos, 2.ª ed. Limusa-Wiley. Capítulos 6, 7 y 8 (ejemplos 8-1 a 8-8)</a:t>
            </a:r>
          </a:p>
        </p:txBody>
      </p:sp>
      <p:sp>
        <p:nvSpPr>
          <p:cNvPr id="5" name="Rounded Rectangle 4"/>
          <p:cNvSpPr/>
          <p:nvPr/>
        </p:nvSpPr>
        <p:spPr>
          <a:xfrm>
            <a:off x="548640" y="3038602"/>
            <a:ext cx="5341467" cy="739140"/>
          </a:xfrm>
          <a:prstGeom prst="roundRect">
            <a:avLst>
              <a:gd name="adj" fmla="val 12000"/>
            </a:avLst>
          </a:prstGeom>
          <a:solidFill>
            <a:srgbClr val="FDE8D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73152" bIns="73152"/>
          <a:lstStyle/>
          <a:p>
            <a:pPr algn="l"/>
            <a:r>
              <a:rPr sz="1500" b="0">
                <a:solidFill>
                  <a:srgbClr val="142B33"/>
                </a:solidFill>
                <a:latin typeface="Calibri"/>
              </a:rPr>
              <a:t>Todos los cálculos se rehicieron a partir de los datos</a:t>
            </a:r>
          </a:p>
        </p:txBody>
      </p:sp>
      <p:sp>
        <p:nvSpPr>
          <p:cNvPr id="6" name="TextBox 5"/>
          <p:cNvSpPr txBox="1"/>
          <p:nvPr/>
        </p:nvSpPr>
        <p:spPr>
          <a:xfrm>
            <a:off x="6301587" y="1417320"/>
            <a:ext cx="5341467" cy="346455"/>
          </a:xfrm>
          <a:prstGeom prst="rect">
            <a:avLst/>
          </a:prstGeom>
          <a:noFill/>
        </p:spPr>
        <p:txBody>
          <a:bodyPr wrap="square" anchor="t" lIns="0" rIns="0" tIns="0" bIns="0">
            <a:spAutoFit/>
          </a:bodyPr>
          <a:lstStyle/>
          <a:p>
            <a:r>
              <a:rPr sz="2000" b="1">
                <a:solidFill>
                  <a:srgbClr val="142B33"/>
                </a:solidFill>
                <a:latin typeface="Calibri"/>
              </a:rPr>
              <a:t>Bibliografía del curso para profundizar</a:t>
            </a:r>
          </a:p>
        </p:txBody>
      </p:sp>
      <p:sp>
        <p:nvSpPr>
          <p:cNvPr id="7" name="TextBox 6"/>
          <p:cNvSpPr txBox="1"/>
          <p:nvPr/>
        </p:nvSpPr>
        <p:spPr>
          <a:xfrm>
            <a:off x="6301587" y="1964944"/>
            <a:ext cx="5341467" cy="1744979"/>
          </a:xfrm>
          <a:prstGeom prst="rect">
            <a:avLst/>
          </a:prstGeom>
          <a:noFill/>
        </p:spPr>
        <p:txBody>
          <a:bodyPr wrap="square" anchor="t" lIns="0" rIns="0" tIns="0" bIns="0">
            <a:spAutoFit/>
          </a:bodyPr>
          <a:lstStyle/>
          <a:p>
            <a:pPr marL="320040" indent="-320040">
              <a:spcAft>
                <a:spcPts val="600"/>
              </a:spcAft>
              <a:buClr>
                <a:srgbClr val="E36414"/>
              </a:buClr>
              <a:buFont typeface="Arial"/>
              <a:buChar char="•"/>
            </a:pPr>
            <a:r>
              <a:rPr sz="1700" b="0">
                <a:solidFill>
                  <a:srgbClr val="142B33"/>
                </a:solidFill>
                <a:latin typeface="Calibri"/>
              </a:rPr>
              <a:t>Gutiérrez Pulido, H. y De la Vara Salazar, R. (2008). Análisis y diseño de experimentos. McGraw-Hill</a:t>
            </a:r>
          </a:p>
          <a:p>
            <a:pPr marL="320040" indent="-320040">
              <a:spcAft>
                <a:spcPts val="600"/>
              </a:spcAft>
              <a:buClr>
                <a:srgbClr val="E36414"/>
              </a:buClr>
              <a:buFont typeface="Arial"/>
              <a:buChar char="•"/>
            </a:pPr>
            <a:r>
              <a:rPr sz="1700" b="0">
                <a:solidFill>
                  <a:srgbClr val="142B33"/>
                </a:solidFill>
                <a:latin typeface="Calibri"/>
              </a:rPr>
              <a:t>Box, G. E. P., Hunter, J. S. y Hunter, W. G. (2005). Statistics for Experimenters. John Wiley &amp; Sons</a:t>
            </a:r>
          </a:p>
        </p:txBody>
      </p:sp>
      <p:sp>
        <p:nvSpPr>
          <p:cNvPr id="8" name="TextBox 7"/>
          <p:cNvSpPr txBox="1"/>
          <p:nvPr/>
        </p:nvSpPr>
        <p:spPr>
          <a:xfrm>
            <a:off x="548640" y="6446520"/>
            <a:ext cx="7315200" cy="274320"/>
          </a:xfrm>
          <a:prstGeom prst="rect">
            <a:avLst/>
          </a:prstGeom>
          <a:noFill/>
        </p:spPr>
        <p:txBody>
          <a:bodyPr wrap="square" anchor="t" lIns="0" rIns="0" tIns="0" bIns="0">
            <a:spAutoFit/>
          </a:bodyPr>
          <a:lstStyle/>
          <a:p>
            <a:r>
              <a:rPr sz="1000" b="0">
                <a:solidFill>
                  <a:srgbClr val="5B6B73"/>
                </a:solidFill>
                <a:latin typeface="Calibri"/>
              </a:rPr>
              <a:t>Diseños factoriales fraccionados · Cierre</a:t>
            </a:r>
          </a:p>
        </p:txBody>
      </p:sp>
      <p:sp>
        <p:nvSpPr>
          <p:cNvPr id="9" name="TextBox 8"/>
          <p:cNvSpPr txBox="1"/>
          <p:nvPr/>
        </p:nvSpPr>
        <p:spPr>
          <a:xfrm>
            <a:off x="10728655" y="6446520"/>
            <a:ext cx="914400" cy="274320"/>
          </a:xfrm>
          <a:prstGeom prst="rect">
            <a:avLst/>
          </a:prstGeom>
          <a:noFill/>
        </p:spPr>
        <p:txBody>
          <a:bodyPr wrap="square" anchor="t" lIns="0" rIns="0" tIns="0" bIns="0">
            <a:spAutoFit/>
          </a:bodyPr>
          <a:lstStyle/>
          <a:p>
            <a:pPr algn="r"/>
            <a:r>
              <a:rPr sz="1000" b="0">
                <a:solidFill>
                  <a:srgbClr val="5B6B73"/>
                </a:solidFill>
                <a:latin typeface="Calibri"/>
              </a:rPr>
              <a:t>103</a:t>
            </a:r>
          </a:p>
        </p:txBody>
      </p:sp>
      <p:sp>
        <p:nvSpPr>
          <p:cNvPr id="10" name="Rounded Rectangle 9"/>
          <p:cNvSpPr/>
          <p:nvPr/>
        </p:nvSpPr>
        <p:spPr>
          <a:xfrm>
            <a:off x="548640" y="91440"/>
            <a:ext cx="1577340" cy="274320"/>
          </a:xfrm>
          <a:prstGeom prst="roundRect">
            <a:avLst>
              <a:gd name="adj" fmla="val 50000"/>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100" b="1">
                <a:solidFill>
                  <a:srgbClr val="FFFFFF"/>
                </a:solidFill>
                <a:latin typeface="Calibri"/>
              </a:rPr>
              <a:t>Tema 9 · Cierre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F4C5C"/>
        </a:solidFill>
        <a:effectLst/>
      </p:bgPr>
    </p:bg>
    <p:spTree>
      <p:nvGrpSpPr>
        <p:cNvPr id="1" name=""/>
        <p:cNvGrpSpPr/>
        <p:nvPr/>
      </p:nvGrpSpPr>
      <p:grpSpPr/>
      <p:sp>
        <p:nvSpPr>
          <p:cNvPr id="2" name="Title 1"/>
          <p:cNvSpPr>
            <a:spLocks noGrp="1"/>
          </p:cNvSpPr>
          <p:nvPr>
            <p:ph type="title"/>
          </p:nvPr>
        </p:nvSpPr>
        <p:spPr>
          <a:xfrm>
            <a:off x="548640" y="2103120"/>
            <a:ext cx="11094415" cy="1371600"/>
          </a:xfrm>
        </p:spPr>
        <p:txBody>
          <a:bodyPr wrap="square" anchor="b" lIns="0" rIns="0" tIns="0" bIns="0"/>
          <a:lstStyle/>
          <a:p>
            <a:pPr algn="l"/>
            <a:r>
              <a:rPr sz="4600" b="1">
                <a:solidFill>
                  <a:srgbClr val="FFFFFF"/>
                </a:solidFill>
                <a:latin typeface="Cambria"/>
              </a:rPr>
              <a:t>¿Preguntas?</a:t>
            </a:r>
          </a:p>
        </p:txBody>
      </p:sp>
      <p:sp>
        <p:nvSpPr>
          <p:cNvPr id="3" name="TextBox 2"/>
          <p:cNvSpPr txBox="1"/>
          <p:nvPr/>
        </p:nvSpPr>
        <p:spPr>
          <a:xfrm>
            <a:off x="548640" y="3657600"/>
            <a:ext cx="11094415" cy="548640"/>
          </a:xfrm>
          <a:prstGeom prst="rect">
            <a:avLst/>
          </a:prstGeom>
          <a:noFill/>
        </p:spPr>
        <p:txBody>
          <a:bodyPr wrap="square" anchor="t" lIns="0" rIns="0" tIns="0" bIns="0">
            <a:spAutoFit/>
          </a:bodyPr>
          <a:lstStyle/>
          <a:p>
            <a:r>
              <a:rPr sz="2200" b="0">
                <a:solidFill>
                  <a:srgbClr val="CFE3E8"/>
                </a:solidFill>
                <a:latin typeface="Calibri"/>
              </a:rPr>
              <a:t>Diseños factoriales fraccionados 2</a:t>
            </a:r>
            <a:r>
              <a:rPr sz="2200" b="0" baseline="30000">
                <a:solidFill>
                  <a:srgbClr val="CFE3E8"/>
                </a:solidFill>
                <a:latin typeface="Calibri"/>
              </a:rPr>
              <a:t>k−p</a:t>
            </a:r>
          </a:p>
        </p:txBody>
      </p:sp>
      <p:sp>
        <p:nvSpPr>
          <p:cNvPr id="4" name="Oval 3"/>
          <p:cNvSpPr/>
          <p:nvPr/>
        </p:nvSpPr>
        <p:spPr>
          <a:xfrm>
            <a:off x="8899855" y="50292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
        <p:nvSpPr>
          <p:cNvPr id="5" name="Oval 4"/>
          <p:cNvSpPr/>
          <p:nvPr/>
        </p:nvSpPr>
        <p:spPr>
          <a:xfrm>
            <a:off x="10088575" y="50292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6" name="Oval 5"/>
          <p:cNvSpPr/>
          <p:nvPr/>
        </p:nvSpPr>
        <p:spPr>
          <a:xfrm>
            <a:off x="8899855" y="16002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0F4C5C"/>
                </a:solidFill>
                <a:latin typeface="Calibri"/>
              </a:rPr>
              <a:t>+</a:t>
            </a:r>
          </a:p>
        </p:txBody>
      </p:sp>
      <p:sp>
        <p:nvSpPr>
          <p:cNvPr id="7" name="Oval 6"/>
          <p:cNvSpPr/>
          <p:nvPr/>
        </p:nvSpPr>
        <p:spPr>
          <a:xfrm>
            <a:off x="10088575" y="1600200"/>
            <a:ext cx="914400" cy="914400"/>
          </a:xfrm>
          <a:prstGeom prst="ellipse">
            <a:avLst/>
          </a:prstGeom>
          <a:solidFill>
            <a:srgbClr val="E36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3600" b="1">
                <a:solidFill>
                  <a:srgbClr val="FFFFFF"/>
                </a:solidFill>
                <a:latin typeface="Calibri"/>
              </a:rPr>
              <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