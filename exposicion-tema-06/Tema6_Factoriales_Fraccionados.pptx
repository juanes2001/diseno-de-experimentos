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el factor C</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numCache>
            </c:numRef>
          </c:xVal>
          <c:yVal>
            <c:numRef>
              <c:f>Sheet1!$B$2:$B$17</c:f>
              <c:numCache>
                <c:formatCode>General</c:formatCode>
                <c:ptCount val="16"/>
                <c:pt idx="0">
                  <c:v>-2.5</c:v>
                </c:pt>
                <c:pt idx="1">
                  <c:v>-0.5</c:v>
                </c:pt>
                <c:pt idx="2">
                  <c:v>-0.25</c:v>
                </c:pt>
                <c:pt idx="3">
                  <c:v>2.0</c:v>
                </c:pt>
                <c:pt idx="4">
                  <c:v>-4.5</c:v>
                </c:pt>
                <c:pt idx="5">
                  <c:v>4.5</c:v>
                </c:pt>
                <c:pt idx="6">
                  <c:v>-6.25</c:v>
                </c:pt>
                <c:pt idx="7">
                  <c:v>2.0</c:v>
                </c:pt>
                <c:pt idx="8">
                  <c:v>-0.5</c:v>
                </c:pt>
                <c:pt idx="9">
                  <c:v>1.5</c:v>
                </c:pt>
                <c:pt idx="10">
                  <c:v>1.75</c:v>
                </c:pt>
                <c:pt idx="11">
                  <c:v>2.0</c:v>
                </c:pt>
                <c:pt idx="12">
                  <c:v>7.5</c:v>
                </c:pt>
                <c:pt idx="13">
                  <c:v>-5.5</c:v>
                </c:pt>
                <c:pt idx="14">
                  <c:v>4.75</c:v>
                </c:pt>
                <c:pt idx="15">
                  <c:v>-6.0</c:v>
                </c:pt>
              </c:numCache>
            </c:numRef>
          </c:yVal>
          <c:smooth val="0"/>
        </c:ser>
        <c:axId val="-2128940872"/>
        <c:axId val="-2129643912"/>
      </c:scatterChart>
      <c:valAx>
        <c:axId val="-2128940872"/>
        <c:scaling>
          <c:orientation val="minMax"/>
          <c:max val="2.0"/>
          <c:min val="-2.0"/>
        </c:scaling>
        <c:delete val="0"/>
        <c:axPos val="b"/>
        <c:title>
          <c:tx>
            <c:rich>
              <a:bodyPr/>
              <a:lstStyle/>
              <a:p>
                <a:r>
                  <a:rPr sz="1200" b="0">
                    <a:solidFill>
                      <a:srgbClr val="5B6B73"/>
                    </a:solidFill>
                    <a:latin typeface="Calibri"/>
                  </a:rPr>
                  <a:t>Nivel de C (tiempo de retención)</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majorUnit val="1.0"/>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mismo orden que usamos en los temas anteriores: primero para qué sirve el diseño y en qué casos conviene, luego su vocabulario, después cómo se construye y cómo se corre, el modelo y las hipótesis, el análisis estadístico, los ejemplos, la verificación de supuestos, el manejo en Minitab y un cierre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casi nunca son importantes.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(en la práctica cinco o más),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con la que se define un factor adicional (por ejemplo D = ABC). Escrito como I = ABCD se llama palabra.</a:t>
            </a:r>
          </a:p>
          <a:p/>
          <a:p>
            <a:r>
              <a:t>Relación de definición: el conjunto de todas las palabras iguales a la identidad I; incluye los generadores y todos sus productos.</a:t>
            </a:r>
          </a:p>
          <a:p/>
          <a:p>
            <a:r>
              <a:t>Alias: efectos que se estiman con la misma columna de signos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mide qué tan grave es la mezcla de efectos. Se escribe con número romano como subíndice y es igual al número de letras de la palabra más corta de la relación de definición.</a:t>
            </a:r>
          </a:p>
          <a:p/>
          <a:p>
            <a:r>
              <a:t>Resolución III: los efectos principales no se confunden entre sí, pero sí con interacciones de dos factores. Resolución IV: los efectos principales quedan libres de interacciones dobles, pero las interacciones dobles se confunden entre sí. Resolución V: efectos principales e interacciones dobles quedan libres unos de otros; solo se confunden con interacciones de tres o más factores.</a:t>
            </a:r>
          </a:p>
          <a:p/>
          <a:p>
            <a:r>
              <a:t>Regla práctica: usar la resolución más alta que permita el presupuesto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triples y las interacciones dobles son alias entre sí.</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 Minitab ya entregan el diseño de máxima resolución y aberración mínima.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 Son los mismos generadores que Minitab usa por defecto.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factores que no forme una palabra de la relación de definición.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cada βj es la mitad del efecto principal del factor j y cada βij es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cadena, el que se juzga más razonable.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es cero y la alterna que es distinto de cero; se puede escribir en términos del coeficiente o del efecto, que son equivalentes.</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usa Minitab para trazar la línea de referencia del diagrama de Pareto: estima un pseudo error estándar (PSE) a partir de la mediana de los efectos y declara activo todo efecto cuyo valor absoluto supere el margen de error.</a:t>
            </a:r>
          </a:p>
          <a:p/>
          <a:p>
            <a:r>
              <a:t>Y los principios de interpretación de cadenas: escasez de efectos, jerarquía (los efectos de orden bajo son más probables) y herencia (una interacción es más creíble si sus factores tienen efecto principal).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los dos efectos pequeños quedan cerca del origen y los otros cinco se separan con claridad.</a:t>
            </a:r>
          </a:p>
          <a:p/>
          <a:p>
            <a:r>
              <a:t>Interpretación de las cadenas: como B no tiene efecto, es más razonable atribuir AC + BD a AC y AD + BC a AD (principio de herencia).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con solo 2 grados de libertad en el error la prueba es poco potente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Once efectos caen sobre una recta alrededor de cero; cuatro se separan claramente: B (33.88), A (11.13), C (10.88) y AB (6.88).</a:t>
            </a:r>
          </a:p>
          <a:p/>
          <a:p>
            <a:r>
              <a:t>El método de Lenth coincide: el pseudo error estándar es PSE = 0.9375 y el margen de error es ME = 2.41; solo esos cuatro efectos lo superan.</a:t>
            </a:r>
          </a:p>
          <a:p/>
          <a:p>
            <a:r>
              <a:t>Como el diseño es de resolución V, AB es alias de CDE, una interacción triple, y se atribuye sin ambigüedad a 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proceso de moldeo por inyección las piezas se contraen demasiado. Se estudian seis factores: A temperatura del molde, B velocidad del tornillo, C tiempo de retención, D duración del ciclo, E tamaño del vaciadero y F presión de retención. Se corre un 26−2 de resolución IV con E = ABC y F = BCD: 16 corridas en lugar de 64.</a:t>
            </a:r>
          </a:p>
          <a:p/>
          <a:p>
            <a:r>
              <a:t>La tabla muestra los ocho efectos de mayor magnitud. Sobresalen B (35.63), A (13.88) y la cadena AB + CE (11.88). Como A y B son activos y C y E no, la cadena se atribuye a AB.</a:t>
            </a:r>
          </a:p>
          <a:p/>
          <a:p>
            <a:r>
              <a:t>El ANOVA del modelo A, B, AB confirma que los tres términos son significativos (F0.05, 1, 12 = 4.75), con R² = 96.26 %.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Gráfica de interacción: con la velocidad del tornillo baja (B −), la contracción es pequeña y casi no depende de la temperatura; con B alta, la contracción es grande y muy sensible a la temperatura. La recomendación para reducir la contracción media es trabajar con B en nivel bajo.</a:t>
            </a:r>
          </a:p>
          <a:p/>
          <a:p>
            <a:r>
              <a:t>Los residuos contra el tiempo de retención (C) muestran algo más: con C bajo los residuos están muy concentrados y con C alto están mucho más dispersos. C no afecta la media de la contracción, pero sí su variabilidad: es un efecto de dispersión. Conclusión: B bajo para reducir la contracción media y C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 de menor a mayor costo.</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deja limpio ese factor y todas sus interacciones dobles.</a:t>
            </a:r>
          </a:p>
          <a:p/>
          <a:p>
            <a:r>
              <a:t>En todos los casos las dos fracciones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se atribuye a BD porque B y D son activos. La explicación correcta era la cuarta.</a:t>
            </a:r>
          </a:p>
          <a:p/>
          <a:p>
            <a:r>
              <a:t>Las 16 corridas forman un 27−3 de resolución IV: el doblez completo de un diseño de resolución III siempre produce uno de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Cubren los huecos entre 8, 16 y 32 corridas.</a:t>
            </a:r>
          </a:p>
          <a:p/>
          <a:p>
            <a:r>
              <a:t>Se construyen a partir de un renglón generador que se desplaza cíclicamente una posición cada vez; al final se agrega un renglón con todos los signos negativos.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Úselos solo para tamizado cuando sea razonable suponer que no hay interacciones, y con mucho cuidado.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Cada supuesto tiene una prueba gráfica y una analítica. Normalidad: gráfica de probabilidad normal de los residuos y prueba de Anderson-Darling (la que Minitab usa por defecto) o Shapiro-Wilk. Varianza constante: gráfica de residuos contra valores ajustados y contra cada factor, y prueba de Bartlett o de Levene.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3 la gráfica de residuos contra el factor C mostró más dispersión con C alto. La prueba de Bartlett lo confirma. Hipótesis: H0: las varianzas de los residuos son iguales en los dos niveles de C; HA: son distintas.</a:t>
            </a:r>
          </a:p>
          <a:p/>
          <a:p>
            <a:r>
              <a:t>La desviación estándar de los residuos es 5.70 con C alto y 1.63 con C bajo. El estadístico de Bartlett es 8.32 con 1 grado de libertad y valor p = 0.0039: se rechaza H0.</a:t>
            </a:r>
          </a:p>
          <a:p/>
          <a:p>
            <a:r>
              <a:t>Aquí la violación del supuesto es en sí misma un hallazgo: el tiempo de retención no cambia la contracción media, pero sí su variabilidad. Para detectar este tipo de efecto en todas las columnas se usa el estadístico F* = ln[S²(+)/S²(−)]; los valores que se alejan de cero señalan efectos de dispersión.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o Box-Cox para elegir la transformación) o, si la varianza depende de un factor, tratarlo como efecto de dispersión y aprovecharlo.</a:t>
            </a:r>
          </a:p>
          <a:p/>
          <a:p>
            <a:r>
              <a:t>Si falla la independencia: es el problema más grave y no se corrige con el análisis. Suele deberse a no haber aleatorizado. Si existe una fuente identificable (tiempo, lote), puede incorporarse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en Minitab sigue cinco pasos. Crear el diseño: Minitab genera la matriz y el orden aleatorio. Ingresar la respuesta en la hoja de trabajo. Analizar el diseño: efectos, alias, ANOVA y gráficas de efectos. Verificar supuestos con las gráficas de residuos y las pruebas analíticas. Interpretar con gráficas factoriales y, si hace falta, agregar un doblez.</a:t>
            </a:r>
          </a:p>
          <a:p/>
          <a:p>
            <a:r>
              <a:t>Los nombres de los menús corresponden a Minitab en español; pueden variar ligeramente entre versiones.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Crear diseño factorial. En tipo de diseño se deja «Factorial de 2 niveles (generadores predeterminados)» y se indica el número de factores.</a:t>
            </a:r>
          </a:p>
          <a:p/>
          <a:p>
            <a:r>
              <a:t>En «Diseños» se elige la fracción: Minitab lista las opciones con sus corridas y su resolución; ahí mismo se definen réplicas, puntos centrales y bloques. En «Factores» se escribe el nombre real de cada factor y sus niveles bajo y alto. En «Opciones» se deja marcada la casilla de aleatorizar corridas y se elige la fracción (principal u otra) o el doblez. En «Resultados» se pide la estructura de alias.</a:t>
            </a:r>
          </a:p>
          <a:p/>
          <a:p>
            <a:r>
              <a:t>Si se necesitan generadores propios, se usa el tipo «Factorial de 2 niveles (especificar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botón «Mostrar diseños disponibles» abre una tabla que cruza el número de corridas con el número de factores e indica la resolución de cada combinación. Es la misma información de la tabla de diseños recomendados.</a:t>
            </a:r>
          </a:p>
          <a:p/>
          <a:p>
            <a:r>
              <a:t>Se lee así: con 5 factores y 16 corridas el diseño es de resolución V; con 7 factores y 8 corridas es de resolución III. Minitab colorea las celdas: rojo para resolución III, amarillo para IV y verde para V o superior.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aceptar, Minitab escribe el diseño en la hoja de trabajo. Las cuatro primeras columnas son de control: OrdenEst (orden estándar), OrdenCorrida (el orden aleatorio en que se debe ejecutar), PtCentral y Bloques. Luego viene una columna por factor.</a:t>
            </a:r>
          </a:p>
          <a:p/>
          <a:p>
            <a:r>
              <a:t>La respuesta se digita en la primera columna libre, con un nombre descriptivo, en la fila de la corrida correspondiente. No se deben borrar ni reordenar a mano las columnas de control.</a:t>
            </a:r>
          </a:p>
          <a:p/>
          <a:p>
            <a:r>
              <a:t>Si los datos ya existen en una hoja (por ejemplo, de un experimento corrido antes), no hace falta crear el diseño: se usa Estadísticas &gt; DOE &gt; Factorial &gt; Definir diseño factorial personalizado, indicando qué columnas son los factores.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Analizar diseño factorial. En «Respuestas» se selecciona la columna de la respuesta.</a:t>
            </a:r>
          </a:p>
          <a:p/>
          <a:p>
            <a:r>
              <a:t>En «Términos» se decide qué entra al modelo. En el primer análisis se incluyen todos los términos disponibles para ver todos los efectos; después se regresa y se dejan solo los activos, con lo cual los descartados pasan al error.</a:t>
            </a:r>
          </a:p>
          <a:p/>
          <a:p>
            <a:r>
              <a:t>En «Gráficas» se marcan las gráficas de efectos (Pareto, normal y seminormal) y las gráficas de residuos «Cuatro en uno». En «Almacenamiento» se piden los ajustes y los residuos para las pruebas analíticas.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salida tiene tres partes que hay que leer en orden. Primero la estructura de alias: confirma qué efectos están mezclados; hay que revisarla antes de interpretar cualquier efecto. Segundo, el análisis de varianza: cada término con sus grados de libertad, suma de cuadrados, F y valor p; se rechaza H0 para los términos con valor p menor que 0.05. Tercero, el resumen del modelo: S es la raíz del cuadrado medio del error y R-cuad el porcentaje de variabilidad explicada.</a:t>
            </a:r>
          </a:p>
          <a:p/>
          <a:p>
            <a:r>
              <a:t>La salida mostrada es la que corresponde al modelo reducido del ejemplo 1; los valores se calcularon a partir de los datos y deben coincidir con los que entregue Minitab.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interpretar: las gráficas factoriales muestran los efectos principales y las interacciones; la gráfica de cubos muestra la respuesta media en cada vértice de los factores activos.</a:t>
            </a:r>
          </a:p>
          <a:p/>
          <a:p>
            <a:r>
              <a:t>Para los supuestos: las gráficas de residuos «Cuatro en uno» se piden dentro del análisis; la prueba de normalidad se aplica a la columna de residuos almacenada, y la prueba de igualdad de varianzas compara la dispersión de los residuos entre niveles de un factor.</a:t>
            </a:r>
          </a:p>
          <a:p/>
          <a:p>
            <a:r>
              <a:t>Para ampliar el experimento: Modificar diseño permite doblar el diseño (en todos los factores o en uno solo); Minitab agrega las corridas nuevas a la hoja. Los diseños de Plackett-Burman se crean desde el mismo cuadro de Crear diseño factorial, eligiendo ese tipo de diseño.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elegir una resolución III cuando se esperan interacciones; no aleatorizar o no guardar el orden de corrida; asignar los factores importantes a letras que forman una palabra;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¿Para qué sirven?</a:t>
            </a:r>
          </a:p>
          <a:p>
            <a:pPr algn="l"/>
            <a:r>
              <a:rPr sz="1500" b="0">
                <a:solidFill>
                  <a:srgbClr val="142B33"/>
                </a:solidFill>
                <a:latin typeface="Calibri"/>
              </a:rPr>
              <a:t>El problema de las corridas y los casos de uso</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Nomenclatura</a:t>
            </a:r>
          </a:p>
          <a:p>
            <a:pPr algn="l"/>
            <a:r>
              <a:rPr sz="1500" b="0">
                <a:solidFill>
                  <a:srgbClr val="142B33"/>
                </a:solidFill>
                <a:latin typeface="Calibri"/>
              </a:rPr>
              <a:t>2</a:t>
            </a:r>
            <a:r>
              <a:rPr sz="1500" b="0" baseline="30000">
                <a:solidFill>
                  <a:srgbClr val="142B33"/>
                </a:solidFill>
                <a:latin typeface="Calibri"/>
              </a:rPr>
              <a:t>k−p</a:t>
            </a:r>
            <a:r>
              <a:rPr sz="1500" b="0">
                <a:solidFill>
                  <a:srgbClr val="142B33"/>
                </a:solidFill>
                <a:latin typeface="Calibri"/>
              </a:rPr>
              <a:t>, generador, alias, resolución</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Construcción y protocolo</a:t>
            </a:r>
          </a:p>
          <a:p>
            <a:pPr algn="l"/>
            <a:r>
              <a:rPr sz="1500" b="0">
                <a:solidFill>
                  <a:srgbClr val="142B33"/>
                </a:solidFill>
                <a:latin typeface="Calibri"/>
              </a:rPr>
              <a:t>Fracciones un medio, un cuarto y general</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Modelo e hipótesis</a:t>
            </a:r>
          </a:p>
          <a:p>
            <a:pPr algn="l"/>
            <a:r>
              <a:rPr sz="1500" b="0">
                <a:solidFill>
                  <a:srgbClr val="142B33"/>
                </a:solidFill>
                <a:latin typeface="Calibri"/>
              </a:rPr>
              <a:t>Qué se estima y qué se prueba</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Análisis estadístico</a:t>
            </a:r>
          </a:p>
          <a:p>
            <a:pPr algn="l"/>
            <a:r>
              <a:rPr sz="1500" b="0">
                <a:solidFill>
                  <a:srgbClr val="142B33"/>
                </a:solidFill>
                <a:latin typeface="Calibri"/>
              </a:rPr>
              <a:t>Contrastes, efectos, ANOVA, efectos activos</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Ejemplos</a:t>
            </a:r>
          </a:p>
          <a:p>
            <a:pPr algn="l"/>
            <a:r>
              <a:rPr sz="1500" b="0">
                <a:solidFill>
                  <a:srgbClr val="142B33"/>
                </a:solidFill>
                <a:latin typeface="Calibri"/>
              </a:rPr>
              <a:t>Resolución IV, V y un cuarto de fracción</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Resolver ambigüedades</a:t>
            </a:r>
          </a:p>
          <a:p>
            <a:pPr algn="l"/>
            <a:r>
              <a:rPr sz="1500" b="0">
                <a:solidFill>
                  <a:srgbClr val="142B33"/>
                </a:solidFill>
                <a:latin typeface="Calibri"/>
              </a:rPr>
              <a:t>Fracción alterna, doblez,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Supuestos</a:t>
            </a:r>
          </a:p>
          <a:p>
            <a:pPr algn="l"/>
            <a:r>
              <a:rPr sz="1500" b="0">
                <a:solidFill>
                  <a:srgbClr val="142B33"/>
                </a:solidFill>
                <a:latin typeface="Calibri"/>
              </a:rPr>
              <a:t>Residuos, pruebas gráficas y analíticas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Minitab</a:t>
            </a:r>
          </a:p>
          <a:p>
            <a:pPr algn="l"/>
            <a:r>
              <a:rPr sz="1500" b="0">
                <a:solidFill>
                  <a:srgbClr val="142B33"/>
                </a:solidFill>
                <a:latin typeface="Calibri"/>
              </a:rPr>
              <a:t>Crear el diseño, ingresar datos y analizar</a:t>
            </a:r>
          </a:p>
        </p:txBody>
      </p:sp>
      <p:sp>
        <p:nvSpPr>
          <p:cNvPr id="12" name="Rounded Rectangle 11"/>
          <p:cNvSpPr/>
          <p:nvPr/>
        </p:nvSpPr>
        <p:spPr>
          <a:xfrm>
            <a:off x="9607052"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10 · Cierre</a:t>
            </a:r>
          </a:p>
          <a:p>
            <a:pPr algn="l"/>
            <a:r>
              <a:rPr sz="1500" b="0">
                <a:solidFill>
                  <a:srgbClr val="142B33"/>
                </a:solidFill>
                <a:latin typeface="Calibri"/>
              </a:rPr>
              <a:t>Ideas clave y errores frecuentes</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4" name="TextBox 13"/>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¿Para qué sirven?</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problema que resuelven y cuándo conviene usarlos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que rara vez importan.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convierte en un factorial completo en los factores que quedan.</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2814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 (k ≥ 5 en la práctica)</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Nomenclatura</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vocabulario propio del diseño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con la que se define un factor adicional: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El generador escrito contra la identidad: I = ABCD</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Todas las palabras iguales a I (generadores y sus productos)</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la misma columna de signos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graphicFrame>
        <p:nvGraphicFramePr>
          <p:cNvPr id="3" name="Table 2"/>
          <p:cNvGraphicFramePr>
            <a:graphicFrameLocks noGrp="1"/>
          </p:cNvGraphicFramePr>
          <p:nvPr/>
        </p:nvGraphicFramePr>
        <p:xfrm>
          <a:off x="548640" y="1417320"/>
          <a:ext cx="11094412" cy="2210816"/>
        </p:xfrm>
        <a:graphic>
          <a:graphicData uri="http://schemas.openxmlformats.org/drawingml/2006/table">
            <a:tbl>
              <a:tblPr firstRow="0" bandRow="0">
                <a:tableStyleId>{5C22544A-7EE6-4342-B048-85BDC9FD1C3A}</a:tableStyleId>
              </a:tblPr>
              <a:tblGrid>
                <a:gridCol w="1442273"/>
                <a:gridCol w="3328324"/>
                <a:gridCol w="3550212"/>
                <a:gridCol w="2773603"/>
              </a:tblGrid>
              <a:tr h="366776">
                <a:tc>
                  <a:txBody>
                    <a:bodyPr/>
                    <a:lstStyle/>
                    <a:p>
                      <a:pPr algn="l"/>
                      <a:r>
                        <a:rPr sz="1600" b="1">
                          <a:solidFill>
                            <a:srgbClr val="FFFFFF"/>
                          </a:solidFill>
                          <a:latin typeface="Calibri"/>
                        </a:rPr>
                        <a:t>Resolución</a:t>
                      </a:r>
                    </a:p>
                  </a:txBody>
                  <a:tcPr marL="73152" marR="73152" marT="27432" marB="27432" anchor="ctr">
                    <a:solidFill>
                      <a:srgbClr val="0F4C5C"/>
                    </a:solidFill>
                  </a:tcPr>
                </a:tc>
                <a:tc>
                  <a:txBody>
                    <a:bodyPr/>
                    <a:lstStyle/>
                    <a:p>
                      <a:pPr algn="l"/>
                      <a:r>
                        <a:rPr sz="1600" b="1">
                          <a:solidFill>
                            <a:srgbClr val="FFFFFF"/>
                          </a:solidFill>
                          <a:latin typeface="Calibri"/>
                        </a:rPr>
                        <a:t>Efectos principales</a:t>
                      </a:r>
                    </a:p>
                  </a:txBody>
                  <a:tcPr marL="73152" marR="73152" marT="27432" marB="27432" anchor="ctr">
                    <a:solidFill>
                      <a:srgbClr val="0F4C5C"/>
                    </a:solidFill>
                  </a:tcPr>
                </a:tc>
                <a:tc>
                  <a:txBody>
                    <a:bodyPr/>
                    <a:lstStyle/>
                    <a:p>
                      <a:pPr algn="l"/>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Ejemplo</a:t>
                      </a:r>
                    </a:p>
                  </a:txBody>
                  <a:tcPr marL="73152" marR="73152" marT="27432" marB="27432" anchor="ctr">
                    <a:solidFill>
                      <a:srgbClr val="0F4C5C"/>
                    </a:solidFill>
                  </a:tcPr>
                </a:tc>
              </a:tr>
              <a:tr h="614680">
                <a:tc>
                  <a:txBody>
                    <a:bodyPr/>
                    <a:lstStyle/>
                    <a:p>
                      <a:pPr algn="l"/>
                      <a:r>
                        <a:rPr sz="1600" b="0">
                          <a:solidFill>
                            <a:srgbClr val="142B33"/>
                          </a:solidFill>
                          <a:latin typeface="Calibri"/>
                        </a:rPr>
                        <a:t>III</a:t>
                      </a:r>
                    </a:p>
                  </a:txBody>
                  <a:tcPr marL="73152" marR="73152" marT="27432" marB="27432" anchor="ctr">
                    <a:solidFill>
                      <a:srgbClr val="FFFFFF"/>
                    </a:solidFill>
                  </a:tcPr>
                </a:tc>
                <a:tc>
                  <a:txBody>
                    <a:bodyPr/>
                    <a:lstStyle/>
                    <a:p>
                      <a:pPr algn="l"/>
                      <a:r>
                        <a:rPr sz="1600" b="0">
                          <a:solidFill>
                            <a:srgbClr val="142B33"/>
                          </a:solidFill>
                          <a:latin typeface="Calibri"/>
                        </a:rPr>
                        <a:t>Alias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Algunas son alias entre sí</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3−1</a:t>
                      </a:r>
                      <a:r>
                        <a:rPr sz="1600" b="0" baseline="-25000">
                          <a:solidFill>
                            <a:srgbClr val="142B33"/>
                          </a:solidFill>
                          <a:latin typeface="Calibri"/>
                        </a:rPr>
                        <a:t>III</a:t>
                      </a:r>
                      <a:r>
                        <a:rPr sz="1600" b="0">
                          <a:solidFill>
                            <a:srgbClr val="142B33"/>
                          </a:solidFill>
                          <a:latin typeface="Calibri"/>
                        </a:rPr>
                        <a:t>,  I = ABC</a:t>
                      </a:r>
                    </a:p>
                  </a:txBody>
                  <a:tcPr marL="73152" marR="73152" marT="27432" marB="27432" anchor="ctr">
                    <a:solidFill>
                      <a:srgbClr val="FFFFFF"/>
                    </a:solidFill>
                  </a:tcPr>
                </a:tc>
              </a:tr>
              <a:tr h="614680">
                <a:tc>
                  <a:txBody>
                    <a:bodyPr/>
                    <a:lstStyle/>
                    <a:p>
                      <a:pPr algn="l"/>
                      <a:r>
                        <a:rPr sz="1600" b="0">
                          <a:solidFill>
                            <a:srgbClr val="142B33"/>
                          </a:solidFill>
                          <a:latin typeface="Calibri"/>
                        </a:rPr>
                        <a:t>IV</a:t>
                      </a:r>
                    </a:p>
                  </a:txBody>
                  <a:tcPr marL="73152" marR="73152" marT="27432" marB="27432" anchor="ctr">
                    <a:solidFill>
                      <a:srgbClr val="F4F8F9"/>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4F8F9"/>
                    </a:solidFill>
                  </a:tcPr>
                </a:tc>
                <a:tc>
                  <a:txBody>
                    <a:bodyPr/>
                    <a:lstStyle/>
                    <a:p>
                      <a:pPr algn="l"/>
                      <a:r>
                        <a:rPr sz="1600" b="0">
                          <a:solidFill>
                            <a:srgbClr val="142B33"/>
                          </a:solidFill>
                          <a:latin typeface="Calibri"/>
                        </a:rPr>
                        <a:t>Alias entre sí</a:t>
                      </a:r>
                    </a:p>
                  </a:txBody>
                  <a:tcPr marL="73152" marR="73152" marT="27432" marB="27432" anchor="ctr">
                    <a:solidFill>
                      <a:srgbClr val="F4F8F9"/>
                    </a:solidFill>
                  </a:tcPr>
                </a:tc>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r>
                        <a:rPr sz="1600" b="0">
                          <a:solidFill>
                            <a:srgbClr val="142B33"/>
                          </a:solidFill>
                          <a:latin typeface="Calibri"/>
                        </a:rPr>
                        <a:t>,  I = ABCD</a:t>
                      </a:r>
                    </a:p>
                  </a:txBody>
                  <a:tcPr marL="73152" marR="73152" marT="27432" marB="27432" anchor="ctr">
                    <a:solidFill>
                      <a:srgbClr val="F4F8F9"/>
                    </a:solidFill>
                  </a:tcPr>
                </a:tc>
              </a:tr>
              <a:tr h="614680">
                <a:tc>
                  <a:txBody>
                    <a:bodyPr/>
                    <a:lstStyle/>
                    <a:p>
                      <a:pPr algn="l"/>
                      <a:r>
                        <a:rPr sz="1600" b="0">
                          <a:solidFill>
                            <a:srgbClr val="142B33"/>
                          </a:solidFill>
                          <a:latin typeface="Calibri"/>
                        </a:rPr>
                        <a:t>V</a:t>
                      </a:r>
                    </a:p>
                  </a:txBody>
                  <a:tcPr marL="73152" marR="73152" marT="27432" marB="27432" anchor="ctr">
                    <a:solidFill>
                      <a:srgbClr val="FFFFFF"/>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Libres entre sí; alias de las de 3 factores</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5−1</a:t>
                      </a:r>
                      <a:r>
                        <a:rPr sz="1600" b="0" baseline="-25000">
                          <a:solidFill>
                            <a:srgbClr val="142B33"/>
                          </a:solidFill>
                          <a:latin typeface="Calibri"/>
                        </a:rPr>
                        <a:t>V</a:t>
                      </a:r>
                      <a:r>
                        <a:rPr sz="1600" b="0">
                          <a:solidFill>
                            <a:srgbClr val="142B33"/>
                          </a:solidFill>
                          <a:latin typeface="Calibri"/>
                        </a:rPr>
                        <a:t>,  I = ABCDE</a:t>
                      </a:r>
                    </a:p>
                  </a:txBody>
                  <a:tcPr marL="73152" marR="73152" marT="27432" marB="27432" anchor="ctr">
                    <a:solidFill>
                      <a:srgbClr val="FFFFFF"/>
                    </a:solidFill>
                  </a:tcPr>
                </a:tc>
              </a:tr>
            </a:tbl>
          </a:graphicData>
        </a:graphic>
      </p:graphicFrame>
      <p:sp>
        <p:nvSpPr>
          <p:cNvPr id="4" name="Rounded Rectangle 3"/>
          <p:cNvSpPr/>
          <p:nvPr/>
        </p:nvSpPr>
        <p:spPr>
          <a:xfrm>
            <a:off x="548640" y="3829304"/>
            <a:ext cx="11094415"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 número de letras de la palabra más corta de la relación de definición</a:t>
            </a:r>
          </a:p>
        </p:txBody>
      </p:sp>
      <p:sp>
        <p:nvSpPr>
          <p:cNvPr id="5" name="Rounded Rectangle 4"/>
          <p:cNvSpPr/>
          <p:nvPr/>
        </p:nvSpPr>
        <p:spPr>
          <a:xfrm>
            <a:off x="548640" y="4617151"/>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 mayor resolución, menos supuestos hay que hacer sobre qué interacciones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Construcción y protocolo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se arma la fracción y cómo se corre el experimento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cuarto: dos generadores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237998"/>
          </a:xfrm>
          <a:prstGeom prst="rect">
            <a:avLst/>
          </a:prstGeom>
          <a:noFill/>
        </p:spPr>
        <p:txBody>
          <a:bodyPr wrap="square" anchor="t" lIns="0" rIns="0" tIns="0" bIns="0">
            <a:spAutoFit/>
          </a:bodyPr>
          <a:lstStyle/>
          <a:p>
            <a:r>
              <a:rPr sz="1300" b="0">
                <a:solidFill>
                  <a:srgbClr val="5B6B73"/>
                </a:solidFill>
                <a:latin typeface="Calibri"/>
              </a:rPr>
              <a:t>Alias hasta interacciones de tres factores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generadores elijo?</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69138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Máxima resolución</a:t>
            </a:r>
            <a:r>
              <a:rPr sz="1700" b="0">
                <a:solidFill>
                  <a:srgbClr val="142B33"/>
                </a:solidFill>
                <a:latin typeface="Calibri"/>
              </a:rPr>
              <a:t>: la palabra más corta, lo más larga posible</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Aberración mínima</a:t>
            </a:r>
            <a:r>
              <a:rPr sz="1700" b="0">
                <a:solidFill>
                  <a:srgbClr val="142B33"/>
                </a:solidFill>
                <a:latin typeface="Calibri"/>
              </a:rPr>
              <a:t>: el menor número de palabras de longitud mínima</a:t>
            </a:r>
          </a:p>
        </p:txBody>
      </p:sp>
      <p:sp>
        <p:nvSpPr>
          <p:cNvPr id="5" name="Rounded Rectangle 4"/>
          <p:cNvSpPr/>
          <p:nvPr/>
        </p:nvSpPr>
        <p:spPr>
          <a:xfrm>
            <a:off x="548640" y="459282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diseño C tiene una sola palabra de 4 letras: es el de </a:t>
            </a:r>
            <a:r>
              <a:rPr sz="16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propiedad de proyección</a:t>
            </a:r>
          </a:p>
        </p:txBody>
      </p:sp>
      <p:sp>
        <p:nvSpPr>
          <p:cNvPr id="3" name="TextBox 2"/>
          <p:cNvSpPr txBox="1"/>
          <p:nvPr/>
        </p:nvSpPr>
        <p:spPr>
          <a:xfrm>
            <a:off x="548640" y="1417320"/>
            <a:ext cx="4914150"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Falla solo si los factores activos forman una </a:t>
            </a:r>
            <a:r>
              <a:rPr sz="1800" b="1">
                <a:solidFill>
                  <a:srgbClr val="142B33"/>
                </a:solidFill>
                <a:latin typeface="Calibri"/>
              </a:rPr>
              <a:t>palabra</a:t>
            </a:r>
            <a:r>
              <a:rPr sz="1800" b="0">
                <a:solidFill>
                  <a:srgbClr val="142B33"/>
                </a:solidFill>
                <a:latin typeface="Calibri"/>
              </a:rPr>
              <a:t> de la relación de definición</a:t>
            </a:r>
          </a:p>
        </p:txBody>
      </p:sp>
      <p:sp>
        <p:nvSpPr>
          <p:cNvPr id="4" name="Rounded Rectangle 3"/>
          <p:cNvSpPr/>
          <p:nvPr/>
        </p:nvSpPr>
        <p:spPr>
          <a:xfrm>
            <a:off x="548640" y="3538728"/>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Modelo e hipótesis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se estima y qué se prueba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media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cadena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76690"/>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H</a:t>
            </a:r>
            <a:r>
              <a:rPr sz="2600" b="0" baseline="-25000">
                <a:solidFill>
                  <a:srgbClr val="0F4C5C"/>
                </a:solidFill>
                <a:latin typeface="Cambria Math"/>
              </a:rPr>
              <a:t>0</a:t>
            </a:r>
            <a:r>
              <a:rPr sz="2600" b="0">
                <a:solidFill>
                  <a:srgbClr val="0F4C5C"/>
                </a:solidFill>
                <a:latin typeface="Cambria Math"/>
              </a:rPr>
              <a:t>: β</a:t>
            </a:r>
            <a:r>
              <a:rPr sz="2600" b="0" baseline="-25000">
                <a:solidFill>
                  <a:srgbClr val="0F4C5C"/>
                </a:solidFill>
                <a:latin typeface="Cambria Math"/>
              </a:rPr>
              <a:t>j</a:t>
            </a:r>
            <a:r>
              <a:rPr sz="2600" b="0">
                <a:solidFill>
                  <a:srgbClr val="0F4C5C"/>
                </a:solidFill>
                <a:latin typeface="Cambria Math"/>
              </a:rPr>
              <a:t> = 0</a:t>
            </a:r>
          </a:p>
          <a:p>
            <a:pPr algn="ctr"/>
            <a:r>
              <a:rPr sz="2600" b="0">
                <a:solidFill>
                  <a:srgbClr val="0F4C5C"/>
                </a:solidFill>
                <a:latin typeface="Cambria Math"/>
              </a:rPr>
              <a:t>H</a:t>
            </a:r>
            <a:r>
              <a:rPr sz="2600" b="0" baseline="-25000">
                <a:solidFill>
                  <a:srgbClr val="0F4C5C"/>
                </a:solidFill>
                <a:latin typeface="Cambria Math"/>
              </a:rPr>
              <a:t>A</a:t>
            </a:r>
            <a:r>
              <a:rPr sz="2600" b="0">
                <a:solidFill>
                  <a:srgbClr val="0F4C5C"/>
                </a:solidFill>
                <a:latin typeface="Cambria Math"/>
              </a:rPr>
              <a:t>: β</a:t>
            </a:r>
            <a:r>
              <a:rPr sz="2600" b="0" baseline="-25000">
                <a:solidFill>
                  <a:srgbClr val="0F4C5C"/>
                </a:solidFill>
                <a:latin typeface="Cambria Math"/>
              </a:rPr>
              <a:t>j</a:t>
            </a:r>
            <a:r>
              <a:rPr sz="2600" b="0">
                <a:solidFill>
                  <a:srgbClr val="0F4C5C"/>
                </a:solidFill>
                <a:latin typeface="Cambria Math"/>
              </a:rPr>
              <a:t> ≠ 0</a:t>
            </a:r>
          </a:p>
        </p:txBody>
      </p:sp>
      <p:sp>
        <p:nvSpPr>
          <p:cNvPr id="4" name="TextBox 3"/>
          <p:cNvSpPr txBox="1"/>
          <p:nvPr/>
        </p:nvSpPr>
        <p:spPr>
          <a:xfrm>
            <a:off x="548640" y="2795178"/>
            <a:ext cx="5341467" cy="532384"/>
          </a:xfrm>
          <a:prstGeom prst="rect">
            <a:avLst/>
          </a:prstGeom>
          <a:noFill/>
        </p:spPr>
        <p:txBody>
          <a:bodyPr wrap="square" anchor="t" lIns="0" rIns="0" tIns="0" bIns="0">
            <a:spAutoFit/>
          </a:bodyPr>
          <a:lstStyle/>
          <a:p>
            <a:r>
              <a:rPr sz="1600" b="0">
                <a:solidFill>
                  <a:srgbClr val="142B33"/>
                </a:solidFill>
                <a:latin typeface="Calibri"/>
              </a:rPr>
              <a:t>Una hipótesis por cada cadena de alias que entra al modelo</a:t>
            </a:r>
          </a:p>
        </p:txBody>
      </p:sp>
      <p:sp>
        <p:nvSpPr>
          <p:cNvPr id="5" name="Rounded Rectangle 4"/>
          <p:cNvSpPr/>
          <p:nvPr/>
        </p:nvSpPr>
        <p:spPr>
          <a:xfrm>
            <a:off x="548640" y="3528730"/>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Equivale a probar que el </a:t>
            </a:r>
            <a:r>
              <a:rPr sz="1800" b="1">
                <a:solidFill>
                  <a:srgbClr val="142B33"/>
                </a:solidFill>
                <a:latin typeface="Calibri"/>
              </a:rPr>
              <a:t>efecto</a:t>
            </a:r>
            <a:r>
              <a:rPr sz="1800" b="0">
                <a:solidFill>
                  <a:srgbClr val="142B33"/>
                </a:solidFill>
                <a:latin typeface="Calibri"/>
              </a:rPr>
              <a:t> es cero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a:t>
            </a:r>
          </a:p>
          <a:p>
            <a:pPr marL="320040" indent="-320040">
              <a:spcAft>
                <a:spcPts val="600"/>
              </a:spcAft>
              <a:buClr>
                <a:srgbClr val="E36414"/>
              </a:buClr>
              <a:buFont typeface="Arial"/>
              <a:buChar char="•"/>
            </a:pPr>
            <a:r>
              <a:rPr sz="1800" b="0">
                <a:solidFill>
                  <a:srgbClr val="142B33"/>
                </a:solidFill>
                <a:latin typeface="Calibri"/>
              </a:rPr>
              <a:t>Asignarlo a A exige suponer que BCD es </a:t>
            </a:r>
            <a:r>
              <a:rPr sz="1800" b="1">
                <a:solidFill>
                  <a:srgbClr val="142B33"/>
                </a:solidFill>
                <a:latin typeface="Calibri"/>
              </a:rPr>
              <a:t>despreciable</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Análisis estadístico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De los datos a los efectos activos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538728"/>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Ejemplos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Media fracción de resolución IV y V, y un cuarto de fracción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411480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Solo 2 g.l. en el error: conclusión </a:t>
            </a:r>
            <a:r>
              <a:rPr sz="1500" b="1">
                <a:solidFill>
                  <a:srgbClr val="142B33"/>
                </a:solidFill>
                <a:latin typeface="Calibri"/>
              </a:rPr>
              <a:t>tentativa</a:t>
            </a:r>
            <a:r>
              <a:rPr sz="1500" b="0">
                <a:solidFill>
                  <a:srgbClr val="142B33"/>
                </a:solidFill>
                <a:latin typeface="Calibri"/>
              </a:rPr>
              <a:t>, hay que confirmar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420624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5" name="Rounded Rectangle 4"/>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Contracción en moldeo por inyección</a:t>
            </a:r>
          </a:p>
        </p:txBody>
      </p:sp>
      <p:sp>
        <p:nvSpPr>
          <p:cNvPr id="3" name="TextBox 2"/>
          <p:cNvSpPr txBox="1"/>
          <p:nvPr/>
        </p:nvSpPr>
        <p:spPr>
          <a:xfrm>
            <a:off x="548640"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Respuesta: </a:t>
            </a:r>
            <a:r>
              <a:rPr sz="1700" b="1">
                <a:solidFill>
                  <a:srgbClr val="142B33"/>
                </a:solidFill>
                <a:latin typeface="Calibri"/>
              </a:rPr>
              <a:t>contracción</a:t>
            </a:r>
            <a:r>
              <a:rPr sz="1700" b="0">
                <a:solidFill>
                  <a:srgbClr val="142B33"/>
                </a:solidFill>
                <a:latin typeface="Calibri"/>
              </a:rPr>
              <a:t> de la pieza (se quiere reducir)</a:t>
            </a:r>
          </a:p>
          <a:p>
            <a:pPr marL="320040" indent="-320040">
              <a:spcAft>
                <a:spcPts val="600"/>
              </a:spcAft>
              <a:buClr>
                <a:srgbClr val="E36414"/>
              </a:buClr>
              <a:buFont typeface="Arial"/>
              <a:buChar char="•"/>
            </a:pPr>
            <a:r>
              <a:rPr sz="1700" b="0">
                <a:solidFill>
                  <a:srgbClr val="142B33"/>
                </a:solidFill>
                <a:latin typeface="Calibri"/>
              </a:rPr>
              <a:t>Seis factores en 16 corridas: </a:t>
            </a:r>
            <a:r>
              <a:rPr sz="1700" b="1">
                <a:solidFill>
                  <a:srgbClr val="142B33"/>
                </a:solidFill>
                <a:latin typeface="Calibri"/>
              </a:rPr>
              <a:t>E = ABC, F = BCD</a:t>
            </a:r>
          </a:p>
          <a:p>
            <a:pPr marL="320040" indent="-320040">
              <a:spcAft>
                <a:spcPts val="600"/>
              </a:spcAft>
              <a:buClr>
                <a:srgbClr val="E36414"/>
              </a:buClr>
              <a:buFont typeface="Arial"/>
              <a:buChar char="•"/>
            </a:pPr>
            <a:r>
              <a:rPr sz="1700" b="0">
                <a:solidFill>
                  <a:srgbClr val="142B33"/>
                </a:solidFill>
                <a:latin typeface="Calibri"/>
              </a:rPr>
              <a:t>Resolución IV: I = ABCE = BCDF = ADEF</a:t>
            </a:r>
          </a:p>
        </p:txBody>
      </p:sp>
      <p:graphicFrame>
        <p:nvGraphicFramePr>
          <p:cNvPr id="4" name="Table 3"/>
          <p:cNvGraphicFramePr>
            <a:graphicFrameLocks noGrp="1"/>
          </p:cNvGraphicFramePr>
          <p:nvPr/>
        </p:nvGraphicFramePr>
        <p:xfrm>
          <a:off x="548640" y="3182365"/>
          <a:ext cx="4914149" cy="3022092"/>
        </p:xfrm>
        <a:graphic>
          <a:graphicData uri="http://schemas.openxmlformats.org/drawingml/2006/table">
            <a:tbl>
              <a:tblPr firstRow="0" bandRow="0">
                <a:tableStyleId>{5C22544A-7EE6-4342-B048-85BDC9FD1C3A}</a:tableStyleId>
              </a:tblPr>
              <a:tblGrid>
                <a:gridCol w="2157771"/>
                <a:gridCol w="1433873"/>
                <a:gridCol w="1322505"/>
              </a:tblGrid>
              <a:tr h="335788">
                <a:tc>
                  <a:txBody>
                    <a:bodyPr/>
                    <a:lstStyle/>
                    <a:p>
                      <a:pPr algn="ctr"/>
                      <a:r>
                        <a:rPr sz="1400" b="1">
                          <a:solidFill>
                            <a:srgbClr val="FFFFFF"/>
                          </a:solidFill>
                          <a:latin typeface="Calibri"/>
                        </a:rPr>
                        <a:t>Cadena</a:t>
                      </a:r>
                    </a:p>
                  </a:txBody>
                  <a:tcPr marL="73152" marR="73152" marT="27432" marB="27432" anchor="ctr">
                    <a:solidFill>
                      <a:srgbClr val="0F4C5C"/>
                    </a:solidFill>
                  </a:tcPr>
                </a:tc>
                <a:tc>
                  <a:txBody>
                    <a:bodyPr/>
                    <a:lstStyle/>
                    <a:p>
                      <a:pPr algn="ctr"/>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r>
              <a:tr h="335788">
                <a:tc>
                  <a:txBody>
                    <a:bodyPr/>
                    <a:lstStyle/>
                    <a:p>
                      <a:pPr algn="ctr"/>
                      <a:r>
                        <a:rPr sz="1400" b="0">
                          <a:solidFill>
                            <a:srgbClr val="142B33"/>
                          </a:solidFill>
                          <a:latin typeface="Calibri"/>
                        </a:rPr>
                        <a:t>B</a:t>
                      </a:r>
                    </a:p>
                  </a:txBody>
                  <a:tcPr marL="73152" marR="73152" marT="27432" marB="27432" anchor="ctr">
                    <a:solidFill>
                      <a:srgbClr val="FDE8D7"/>
                    </a:solidFill>
                  </a:tcPr>
                </a:tc>
                <a:tc>
                  <a:txBody>
                    <a:bodyPr/>
                    <a:lstStyle/>
                    <a:p>
                      <a:pPr algn="ctr"/>
                      <a:r>
                        <a:rPr sz="1400" b="0">
                          <a:solidFill>
                            <a:srgbClr val="142B33"/>
                          </a:solidFill>
                          <a:latin typeface="Calibri"/>
                        </a:rPr>
                        <a:t>35.625</a:t>
                      </a:r>
                    </a:p>
                  </a:txBody>
                  <a:tcPr marL="73152" marR="73152" marT="27432" marB="27432" anchor="ctr">
                    <a:solidFill>
                      <a:srgbClr val="FDE8D7"/>
                    </a:solidFill>
                  </a:tcPr>
                </a:tc>
                <a:tc>
                  <a:txBody>
                    <a:bodyPr/>
                    <a:lstStyle/>
                    <a:p>
                      <a:pPr algn="ctr"/>
                      <a:r>
                        <a:rPr sz="1400" b="0">
                          <a:solidFill>
                            <a:srgbClr val="142B33"/>
                          </a:solidFill>
                          <a:latin typeface="Calibri"/>
                        </a:rPr>
                        <a:t>5076.56</a:t>
                      </a:r>
                    </a:p>
                  </a:txBody>
                  <a:tcPr marL="73152" marR="73152" marT="27432" marB="27432" anchor="ctr">
                    <a:solidFill>
                      <a:srgbClr val="FDE8D7"/>
                    </a:solidFill>
                  </a:tcPr>
                </a:tc>
              </a:tr>
              <a:tr h="335788">
                <a:tc>
                  <a:txBody>
                    <a:bodyPr/>
                    <a:lstStyle/>
                    <a:p>
                      <a:pPr algn="ctr"/>
                      <a:r>
                        <a:rPr sz="1400" b="0">
                          <a:solidFill>
                            <a:srgbClr val="142B33"/>
                          </a:solidFill>
                          <a:latin typeface="Calibri"/>
                        </a:rPr>
                        <a:t>A</a:t>
                      </a:r>
                    </a:p>
                  </a:txBody>
                  <a:tcPr marL="73152" marR="73152" marT="27432" marB="27432" anchor="ctr">
                    <a:solidFill>
                      <a:srgbClr val="FDE8D7"/>
                    </a:solidFill>
                  </a:tcPr>
                </a:tc>
                <a:tc>
                  <a:txBody>
                    <a:bodyPr/>
                    <a:lstStyle/>
                    <a:p>
                      <a:pPr algn="ctr"/>
                      <a:r>
                        <a:rPr sz="1400" b="0">
                          <a:solidFill>
                            <a:srgbClr val="142B33"/>
                          </a:solidFill>
                          <a:latin typeface="Calibri"/>
                        </a:rPr>
                        <a:t>13.875</a:t>
                      </a:r>
                    </a:p>
                  </a:txBody>
                  <a:tcPr marL="73152" marR="73152" marT="27432" marB="27432" anchor="ctr">
                    <a:solidFill>
                      <a:srgbClr val="FDE8D7"/>
                    </a:solidFill>
                  </a:tcPr>
                </a:tc>
                <a:tc>
                  <a:txBody>
                    <a:bodyPr/>
                    <a:lstStyle/>
                    <a:p>
                      <a:pPr algn="ctr"/>
                      <a:r>
                        <a:rPr sz="1400" b="0">
                          <a:solidFill>
                            <a:srgbClr val="142B33"/>
                          </a:solidFill>
                          <a:latin typeface="Calibri"/>
                        </a:rPr>
                        <a:t>770.06</a:t>
                      </a:r>
                    </a:p>
                  </a:txBody>
                  <a:tcPr marL="73152" marR="73152" marT="27432" marB="27432" anchor="ctr">
                    <a:solidFill>
                      <a:srgbClr val="FDE8D7"/>
                    </a:solidFill>
                  </a:tcPr>
                </a:tc>
              </a:tr>
              <a:tr h="335788">
                <a:tc>
                  <a:txBody>
                    <a:bodyPr/>
                    <a:lstStyle/>
                    <a:p>
                      <a:pPr algn="ctr"/>
                      <a:r>
                        <a:rPr sz="1400" b="0">
                          <a:solidFill>
                            <a:srgbClr val="142B33"/>
                          </a:solidFill>
                          <a:latin typeface="Calibri"/>
                        </a:rPr>
                        <a:t>AB + CE</a:t>
                      </a:r>
                    </a:p>
                  </a:txBody>
                  <a:tcPr marL="73152" marR="73152" marT="27432" marB="27432" anchor="ctr">
                    <a:solidFill>
                      <a:srgbClr val="FDE8D7"/>
                    </a:solidFill>
                  </a:tcPr>
                </a:tc>
                <a:tc>
                  <a:txBody>
                    <a:bodyPr/>
                    <a:lstStyle/>
                    <a:p>
                      <a:pPr algn="ctr"/>
                      <a:r>
                        <a:rPr sz="1400" b="0">
                          <a:solidFill>
                            <a:srgbClr val="142B33"/>
                          </a:solidFill>
                          <a:latin typeface="Calibri"/>
                        </a:rPr>
                        <a:t>11.875</a:t>
                      </a:r>
                    </a:p>
                  </a:txBody>
                  <a:tcPr marL="73152" marR="73152" marT="27432" marB="27432" anchor="ctr">
                    <a:solidFill>
                      <a:srgbClr val="FDE8D7"/>
                    </a:solidFill>
                  </a:tcPr>
                </a:tc>
                <a:tc>
                  <a:txBody>
                    <a:bodyPr/>
                    <a:lstStyle/>
                    <a:p>
                      <a:pPr algn="ctr"/>
                      <a:r>
                        <a:rPr sz="1400" b="0">
                          <a:solidFill>
                            <a:srgbClr val="142B33"/>
                          </a:solidFill>
                          <a:latin typeface="Calibri"/>
                        </a:rPr>
                        <a:t>564.06</a:t>
                      </a:r>
                    </a:p>
                  </a:txBody>
                  <a:tcPr marL="73152" marR="73152" marT="27432" marB="27432" anchor="ctr">
                    <a:solidFill>
                      <a:srgbClr val="FDE8D7"/>
                    </a:solidFill>
                  </a:tcPr>
                </a:tc>
              </a:tr>
              <a:tr h="335788">
                <a:tc>
                  <a:txBody>
                    <a:bodyPr/>
                    <a:lstStyle/>
                    <a:p>
                      <a:pPr algn="ctr"/>
                      <a:r>
                        <a:rPr sz="1400" b="0">
                          <a:solidFill>
                            <a:srgbClr val="142B33"/>
                          </a:solidFill>
                          <a:latin typeface="Calibri"/>
                        </a:rPr>
                        <a:t>AD + EF</a:t>
                      </a:r>
                    </a:p>
                  </a:txBody>
                  <a:tcPr marL="73152" marR="73152" marT="27432" marB="27432" anchor="ctr">
                    <a:solidFill>
                      <a:srgbClr val="F4F8F9"/>
                    </a:solidFill>
                  </a:tcPr>
                </a:tc>
                <a:tc>
                  <a:txBody>
                    <a:bodyPr/>
                    <a:lstStyle/>
                    <a:p>
                      <a:pPr algn="ctr"/>
                      <a:r>
                        <a:rPr sz="1400" b="0">
                          <a:solidFill>
                            <a:srgbClr val="142B33"/>
                          </a:solidFill>
                          <a:latin typeface="Calibri"/>
                        </a:rPr>
                        <a:t>−5.375</a:t>
                      </a:r>
                    </a:p>
                  </a:txBody>
                  <a:tcPr marL="73152" marR="73152" marT="27432" marB="27432" anchor="ctr">
                    <a:solidFill>
                      <a:srgbClr val="F4F8F9"/>
                    </a:solidFill>
                  </a:tcPr>
                </a:tc>
                <a:tc>
                  <a:txBody>
                    <a:bodyPr/>
                    <a:lstStyle/>
                    <a:p>
                      <a:pPr algn="ctr"/>
                      <a:r>
                        <a:rPr sz="1400" b="0">
                          <a:solidFill>
                            <a:srgbClr val="142B33"/>
                          </a:solidFill>
                          <a:latin typeface="Calibri"/>
                        </a:rPr>
                        <a:t>115.56</a:t>
                      </a:r>
                    </a:p>
                  </a:txBody>
                  <a:tcPr marL="73152" marR="73152" marT="27432" marB="27432" anchor="ctr">
                    <a:solidFill>
                      <a:srgbClr val="F4F8F9"/>
                    </a:solidFill>
                  </a:tcPr>
                </a:tc>
              </a:tr>
              <a:tr h="335788">
                <a:tc>
                  <a:txBody>
                    <a:bodyPr/>
                    <a:lstStyle/>
                    <a:p>
                      <a:pPr algn="ctr"/>
                      <a:r>
                        <a:rPr sz="1400" b="0">
                          <a:solidFill>
                            <a:srgbClr val="142B33"/>
                          </a:solidFill>
                          <a:latin typeface="Calibri"/>
                        </a:rPr>
                        <a:t>ABF (+ alias)</a:t>
                      </a:r>
                    </a:p>
                  </a:txBody>
                  <a:tcPr marL="73152" marR="73152" marT="27432" marB="27432" anchor="ctr">
                    <a:solidFill>
                      <a:srgbClr val="FFFFFF"/>
                    </a:solidFill>
                  </a:tcPr>
                </a:tc>
                <a:tc>
                  <a:txBody>
                    <a:bodyPr/>
                    <a:lstStyle/>
                    <a:p>
                      <a:pPr algn="ctr"/>
                      <a:r>
                        <a:rPr sz="1400" b="0">
                          <a:solidFill>
                            <a:srgbClr val="142B33"/>
                          </a:solidFill>
                          <a:latin typeface="Calibri"/>
                        </a:rPr>
                        <a:t>−4.875</a:t>
                      </a:r>
                    </a:p>
                  </a:txBody>
                  <a:tcPr marL="73152" marR="73152" marT="27432" marB="27432" anchor="ctr">
                    <a:solidFill>
                      <a:srgbClr val="FFFFFF"/>
                    </a:solidFill>
                  </a:tcPr>
                </a:tc>
                <a:tc>
                  <a:txBody>
                    <a:bodyPr/>
                    <a:lstStyle/>
                    <a:p>
                      <a:pPr algn="ctr"/>
                      <a:r>
                        <a:rPr sz="1400" b="0">
                          <a:solidFill>
                            <a:srgbClr val="142B33"/>
                          </a:solidFill>
                          <a:latin typeface="Calibri"/>
                        </a:rPr>
                        <a:t>95.06</a:t>
                      </a:r>
                    </a:p>
                  </a:txBody>
                  <a:tcPr marL="73152" marR="73152" marT="27432" marB="27432" anchor="ctr">
                    <a:solidFill>
                      <a:srgbClr val="FFFFFF"/>
                    </a:solidFill>
                  </a:tcPr>
                </a:tc>
              </a:tr>
              <a:tr h="335788">
                <a:tc>
                  <a:txBody>
                    <a:bodyPr/>
                    <a:lstStyle/>
                    <a:p>
                      <a:pPr algn="ctr"/>
                      <a:r>
                        <a:rPr sz="1400" b="0">
                          <a:solidFill>
                            <a:srgbClr val="142B33"/>
                          </a:solidFill>
                          <a:latin typeface="Calibri"/>
                        </a:rPr>
                        <a:t>AE + BC + DF</a:t>
                      </a:r>
                    </a:p>
                  </a:txBody>
                  <a:tcPr marL="73152" marR="73152" marT="27432" marB="27432" anchor="ctr">
                    <a:solidFill>
                      <a:srgbClr val="F4F8F9"/>
                    </a:solidFill>
                  </a:tcPr>
                </a:tc>
                <a:tc>
                  <a:txBody>
                    <a:bodyPr/>
                    <a:lstStyle/>
                    <a:p>
                      <a:pPr algn="ctr"/>
                      <a:r>
                        <a:rPr sz="1400" b="0">
                          <a:solidFill>
                            <a:srgbClr val="142B33"/>
                          </a:solidFill>
                          <a:latin typeface="Calibri"/>
                        </a:rPr>
                        <a:t>−1.875</a:t>
                      </a:r>
                    </a:p>
                  </a:txBody>
                  <a:tcPr marL="73152" marR="73152" marT="27432" marB="27432" anchor="ctr">
                    <a:solidFill>
                      <a:srgbClr val="F4F8F9"/>
                    </a:solidFill>
                  </a:tcPr>
                </a:tc>
                <a:tc>
                  <a:txBody>
                    <a:bodyPr/>
                    <a:lstStyle/>
                    <a:p>
                      <a:pPr algn="ctr"/>
                      <a:r>
                        <a:rPr sz="1400" b="0">
                          <a:solidFill>
                            <a:srgbClr val="142B33"/>
                          </a:solidFill>
                          <a:latin typeface="Calibri"/>
                        </a:rPr>
                        <a:t>14.06</a:t>
                      </a:r>
                    </a:p>
                  </a:txBody>
                  <a:tcPr marL="73152" marR="73152" marT="27432" marB="27432" anchor="ctr">
                    <a:solidFill>
                      <a:srgbClr val="F4F8F9"/>
                    </a:solidFill>
                  </a:tcPr>
                </a:tc>
              </a:tr>
              <a:tr h="335788">
                <a:tc>
                  <a:txBody>
                    <a:bodyPr/>
                    <a:lstStyle/>
                    <a:p>
                      <a:pPr algn="ctr"/>
                      <a:r>
                        <a:rPr sz="1400" b="0">
                          <a:solidFill>
                            <a:srgbClr val="142B33"/>
                          </a:solidFill>
                          <a:latin typeface="Calibri"/>
                        </a:rPr>
                        <a:t>AC + BE</a:t>
                      </a:r>
                    </a:p>
                  </a:txBody>
                  <a:tcPr marL="73152" marR="73152" marT="27432" marB="27432" anchor="ctr">
                    <a:solidFill>
                      <a:srgbClr val="FFFFFF"/>
                    </a:solidFill>
                  </a:tcPr>
                </a:tc>
                <a:tc>
                  <a:txBody>
                    <a:bodyPr/>
                    <a:lstStyle/>
                    <a:p>
                      <a:pPr algn="ctr"/>
                      <a:r>
                        <a:rPr sz="1400" b="0">
                          <a:solidFill>
                            <a:srgbClr val="142B33"/>
                          </a:solidFill>
                          <a:latin typeface="Calibri"/>
                        </a:rPr>
                        <a:t>−1.625</a:t>
                      </a:r>
                    </a:p>
                  </a:txBody>
                  <a:tcPr marL="73152" marR="73152" marT="27432" marB="27432" anchor="ctr">
                    <a:solidFill>
                      <a:srgbClr val="FFFFFF"/>
                    </a:solidFill>
                  </a:tcPr>
                </a:tc>
                <a:tc>
                  <a:txBody>
                    <a:bodyPr/>
                    <a:lstStyle/>
                    <a:p>
                      <a:pPr algn="ctr"/>
                      <a:r>
                        <a:rPr sz="1400" b="0">
                          <a:solidFill>
                            <a:srgbClr val="142B33"/>
                          </a:solidFill>
                          <a:latin typeface="Calibri"/>
                        </a:rPr>
                        <a:t>10.56</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4F8F9"/>
                    </a:solidFill>
                  </a:tcPr>
                </a:tc>
                <a:tc>
                  <a:txBody>
                    <a:bodyPr/>
                    <a:lstStyle/>
                    <a:p>
                      <a:pPr algn="ctr"/>
                      <a:r>
                        <a:rPr sz="1400" b="0">
                          <a:solidFill>
                            <a:srgbClr val="142B33"/>
                          </a:solidFill>
                          <a:latin typeface="Calibri"/>
                        </a:rPr>
                        <a:t>1.375</a:t>
                      </a:r>
                    </a:p>
                  </a:txBody>
                  <a:tcPr marL="73152" marR="73152" marT="27432" marB="27432" anchor="ctr">
                    <a:solidFill>
                      <a:srgbClr val="F4F8F9"/>
                    </a:solidFill>
                  </a:tcPr>
                </a:tc>
                <a:tc>
                  <a:txBody>
                    <a:bodyPr/>
                    <a:lstStyle/>
                    <a:p>
                      <a:pPr algn="ctr"/>
                      <a:r>
                        <a:rPr sz="1400" b="0">
                          <a:solidFill>
                            <a:srgbClr val="142B33"/>
                          </a:solidFill>
                          <a:latin typeface="Calibri"/>
                        </a:rPr>
                        <a:t>7.56</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874270" y="1417320"/>
          <a:ext cx="5768783" cy="2107692"/>
        </p:xfrm>
        <a:graphic>
          <a:graphicData uri="http://schemas.openxmlformats.org/drawingml/2006/table">
            <a:tbl>
              <a:tblPr firstRow="0" bandRow="0">
                <a:tableStyleId>{5C22544A-7EE6-4342-B048-85BDC9FD1C3A}</a:tableStyleId>
              </a:tblPr>
              <a:tblGrid>
                <a:gridCol w="836864"/>
                <a:gridCol w="1060028"/>
                <a:gridCol w="569067"/>
                <a:gridCol w="1060028"/>
                <a:gridCol w="948446"/>
                <a:gridCol w="1294350"/>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874270" y="3726180"/>
            <a:ext cx="5768785"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Rounded Rectangle 6"/>
          <p:cNvSpPr/>
          <p:nvPr/>
        </p:nvSpPr>
        <p:spPr>
          <a:xfrm>
            <a:off x="5874270" y="4479320"/>
            <a:ext cx="576878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AB + CE se atribuye a </a:t>
            </a:r>
            <a:r>
              <a:rPr sz="1500" b="1">
                <a:solidFill>
                  <a:srgbClr val="142B33"/>
                </a:solidFill>
                <a:latin typeface="Calibri"/>
              </a:rPr>
              <a:t>AB</a:t>
            </a:r>
            <a:r>
              <a:rPr sz="1500" b="0">
                <a:solidFill>
                  <a:srgbClr val="142B33"/>
                </a:solidFill>
                <a:latin typeface="Calibri"/>
              </a:rPr>
              <a:t>: A y B son activos, C y E no</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Interacción AB y dispersión</a:t>
            </a:r>
          </a:p>
        </p:txBody>
      </p:sp>
      <p:graphicFrame>
        <p:nvGraphicFramePr>
          <p:cNvPr id="3" name="Chart 2"/>
          <p:cNvGraphicFramePr>
            <a:graphicFrameLocks noGrp="1"/>
          </p:cNvGraphicFramePr>
          <p:nvPr/>
        </p:nvGraphicFramePr>
        <p:xfrm>
          <a:off x="548640" y="1417320"/>
          <a:ext cx="5341467" cy="393192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a:t>
            </a:r>
          </a:p>
        </p:txBody>
      </p:sp>
      <p:graphicFrame>
        <p:nvGraphicFramePr>
          <p:cNvPr id="5" name="Chart 4"/>
          <p:cNvGraphicFramePr>
            <a:graphicFrameLocks noGrp="1"/>
          </p:cNvGraphicFramePr>
          <p:nvPr/>
        </p:nvGraphicFramePr>
        <p:xfrm>
          <a:off x="6301587" y="1417320"/>
          <a:ext cx="5341467" cy="393192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5550407"/>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C alto</a:t>
            </a:r>
            <a:r>
              <a:rPr sz="1500" b="0">
                <a:solidFill>
                  <a:srgbClr val="142B33"/>
                </a:solidFill>
                <a:latin typeface="Calibri"/>
              </a:rPr>
              <a:t> los residuos se dispersan mucho más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Resolver ambigüedades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Fracción alterna, doblez y diseños de Plackett-Burman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los alias me dejan dudas?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Agregar la fracción alterna</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Resolución III saturada: el 2</a:t>
            </a:r>
            <a:r>
              <a:rPr sz="3000" b="1" baseline="30000">
                <a:solidFill>
                  <a:srgbClr val="0F4C5C"/>
                </a:solidFill>
                <a:latin typeface="Cambria"/>
              </a:rPr>
              <a:t>7−4</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Saturado</a:t>
            </a:r>
            <a:r>
              <a:rPr sz="1500" b="0">
                <a:solidFill>
                  <a:srgbClr val="142B33"/>
                </a:solidFill>
                <a:latin typeface="Calibri"/>
              </a:rPr>
              <a:t>: 7 factores en 8 corridas (k = N − 1)</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El doblez completo resuelve la duda</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interacción </a:t>
            </a:r>
            <a:r>
              <a:rPr sz="1600" b="1">
                <a:solidFill>
                  <a:srgbClr val="142B33"/>
                </a:solidFill>
                <a:latin typeface="Calibri"/>
              </a:rPr>
              <a:t>BD</a:t>
            </a:r>
            <a:r>
              <a:rPr sz="1600" b="0">
                <a:solidFill>
                  <a:srgbClr val="142B33"/>
                </a:solidFill>
                <a:latin typeface="Calibri"/>
              </a:rPr>
              <a:t>. El aparente efecto de A era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de Plackett-Burman</a:t>
            </a:r>
          </a:p>
        </p:txBody>
      </p:sp>
      <p:sp>
        <p:nvSpPr>
          <p:cNvPr id="3" name="TextBox 2"/>
          <p:cNvSpPr txBox="1"/>
          <p:nvPr/>
        </p:nvSpPr>
        <p:spPr>
          <a:xfrm>
            <a:off x="548640" y="1417320"/>
            <a:ext cx="5555126"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259836"/>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solo para </a:t>
            </a:r>
            <a:r>
              <a:rPr sz="1700" b="1">
                <a:solidFill>
                  <a:srgbClr val="142B33"/>
                </a:solidFill>
                <a:latin typeface="Calibri"/>
              </a:rPr>
              <a:t>tamizado</a:t>
            </a:r>
            <a:r>
              <a:rPr sz="1700" b="0">
                <a:solidFill>
                  <a:srgbClr val="142B33"/>
                </a:solidFill>
                <a:latin typeface="Calibri"/>
              </a:rPr>
              <a:t>, suponiendo que no hay interacciones</a:t>
            </a:r>
          </a:p>
          <a:p>
            <a:pPr marL="320040" indent="-320040">
              <a:spcAft>
                <a:spcPts val="600"/>
              </a:spcAft>
              <a:buClr>
                <a:srgbClr val="E36414"/>
              </a:buClr>
              <a:buFont typeface="Arial"/>
              <a:buChar char="•"/>
            </a:pPr>
            <a:r>
              <a:rPr sz="1700" b="0">
                <a:solidFill>
                  <a:srgbClr val="142B33"/>
                </a:solidFill>
                <a:latin typeface="Calibri"/>
              </a:rPr>
              <a:t>Si la diferencia de corridas es pequeña, prefiera un </a:t>
            </a:r>
            <a:r>
              <a:rPr sz="1700" b="1">
                <a:solidFill>
                  <a:srgbClr val="142B33"/>
                </a:solidFill>
                <a:latin typeface="Calibri"/>
              </a:rPr>
              <a:t>2</a:t>
            </a:r>
            <a:r>
              <a:rPr sz="1700" b="1" baseline="30000">
                <a:solidFill>
                  <a:srgbClr val="142B33"/>
                </a:solidFill>
                <a:latin typeface="Calibri"/>
              </a:rPr>
              <a:t>k−p</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Supuestos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debemos verificar sobre el modelo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Cuando la varianza no es constante</a:t>
            </a:r>
          </a:p>
        </p:txBody>
      </p:sp>
      <p:sp>
        <p:nvSpPr>
          <p:cNvPr id="3" name="Rounded Rectangle 2"/>
          <p:cNvSpPr/>
          <p:nvPr/>
        </p:nvSpPr>
        <p:spPr>
          <a:xfrm>
            <a:off x="548640" y="1417320"/>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H</a:t>
            </a:r>
            <a:r>
              <a:rPr sz="2000" b="0" baseline="-25000">
                <a:solidFill>
                  <a:srgbClr val="0F4C5C"/>
                </a:solidFill>
                <a:latin typeface="Cambria Math"/>
              </a:rPr>
              <a:t>0</a:t>
            </a:r>
            <a:r>
              <a:rPr sz="2000" b="0">
                <a:solidFill>
                  <a:srgbClr val="0F4C5C"/>
                </a:solidFill>
                <a:latin typeface="Cambria Math"/>
              </a:rPr>
              <a:t>: σ</a:t>
            </a:r>
            <a:r>
              <a:rPr sz="2000" b="0" baseline="30000">
                <a:solidFill>
                  <a:srgbClr val="0F4C5C"/>
                </a:solidFill>
                <a:latin typeface="Cambria Math"/>
              </a:rPr>
              <a:t>2</a:t>
            </a:r>
            <a:r>
              <a:rPr sz="2000" b="0">
                <a:solidFill>
                  <a:srgbClr val="0F4C5C"/>
                </a:solidFill>
                <a:latin typeface="Cambria Math"/>
              </a:rPr>
              <a:t>(C+) = σ</a:t>
            </a:r>
            <a:r>
              <a:rPr sz="2000" b="0" baseline="30000">
                <a:solidFill>
                  <a:srgbClr val="0F4C5C"/>
                </a:solidFill>
                <a:latin typeface="Cambria Math"/>
              </a:rPr>
              <a:t>2</a:t>
            </a:r>
            <a:r>
              <a:rPr sz="2000" b="0">
                <a:solidFill>
                  <a:srgbClr val="0F4C5C"/>
                </a:solidFill>
                <a:latin typeface="Cambria Math"/>
              </a:rPr>
              <a:t>(C−)</a:t>
            </a:r>
          </a:p>
          <a:p>
            <a:pPr algn="ctr"/>
            <a:r>
              <a:rPr sz="2000" b="0">
                <a:solidFill>
                  <a:srgbClr val="0F4C5C"/>
                </a:solidFill>
                <a:latin typeface="Cambria Math"/>
              </a:rPr>
              <a:t>H</a:t>
            </a:r>
            <a:r>
              <a:rPr sz="2000" b="0" baseline="-25000">
                <a:solidFill>
                  <a:srgbClr val="0F4C5C"/>
                </a:solidFill>
                <a:latin typeface="Cambria Math"/>
              </a:rPr>
              <a:t>A</a:t>
            </a:r>
            <a:r>
              <a:rPr sz="2000" b="0">
                <a:solidFill>
                  <a:srgbClr val="0F4C5C"/>
                </a:solidFill>
                <a:latin typeface="Cambria Math"/>
              </a:rPr>
              <a:t>: σ</a:t>
            </a:r>
            <a:r>
              <a:rPr sz="2000" b="0" baseline="30000">
                <a:solidFill>
                  <a:srgbClr val="0F4C5C"/>
                </a:solidFill>
                <a:latin typeface="Cambria Math"/>
              </a:rPr>
              <a:t>2</a:t>
            </a:r>
            <a:r>
              <a:rPr sz="2000" b="0">
                <a:solidFill>
                  <a:srgbClr val="0F4C5C"/>
                </a:solidFill>
                <a:latin typeface="Cambria Math"/>
              </a:rPr>
              <a:t>(C+) ≠ σ</a:t>
            </a:r>
            <a:r>
              <a:rPr sz="2000" b="0" baseline="30000">
                <a:solidFill>
                  <a:srgbClr val="0F4C5C"/>
                </a:solidFill>
                <a:latin typeface="Cambria Math"/>
              </a:rPr>
              <a:t>2</a:t>
            </a:r>
            <a:r>
              <a:rPr sz="2000" b="0">
                <a:solidFill>
                  <a:srgbClr val="0F4C5C"/>
                </a:solidFill>
                <a:latin typeface="Cambria Math"/>
              </a:rPr>
              <a:t>(C−)</a:t>
            </a:r>
          </a:p>
        </p:txBody>
      </p:sp>
      <p:graphicFrame>
        <p:nvGraphicFramePr>
          <p:cNvPr id="4" name="Table 3"/>
          <p:cNvGraphicFramePr>
            <a:graphicFrameLocks noGrp="1"/>
          </p:cNvGraphicFramePr>
          <p:nvPr/>
        </p:nvGraphicFramePr>
        <p:xfrm>
          <a:off x="548640" y="2586939"/>
          <a:ext cx="5341467" cy="1100328"/>
        </p:xfrm>
        <a:graphic>
          <a:graphicData uri="http://schemas.openxmlformats.org/drawingml/2006/table">
            <a:tbl>
              <a:tblPr firstRow="0" bandRow="0">
                <a:tableStyleId>{5C22544A-7EE6-4342-B048-85BDC9FD1C3A}</a:tableStyleId>
              </a:tblPr>
              <a:tblGrid>
                <a:gridCol w="1489078"/>
                <a:gridCol w="3487325"/>
                <a:gridCol w="365064"/>
              </a:tblGrid>
              <a:tr h="366776">
                <a:tc>
                  <a:txBody>
                    <a:bodyPr/>
                    <a:lstStyle/>
                    <a:p>
                      <a:pPr algn="l"/>
                      <a:r>
                        <a:rPr sz="1600" b="1">
                          <a:solidFill>
                            <a:srgbClr val="FFFFFF"/>
                          </a:solidFill>
                          <a:latin typeface="Calibri"/>
                        </a:rPr>
                        <a:t>Nivel de C</a:t>
                      </a:r>
                    </a:p>
                  </a:txBody>
                  <a:tcPr marL="73152" marR="73152" marT="27432" marB="27432" anchor="ctr">
                    <a:solidFill>
                      <a:srgbClr val="0F4C5C"/>
                    </a:solidFill>
                  </a:tcPr>
                </a:tc>
                <a:tc>
                  <a:txBody>
                    <a:bodyPr/>
                    <a:lstStyle/>
                    <a:p>
                      <a:pPr algn="ctr"/>
                      <a:r>
                        <a:rPr sz="1600" b="1">
                          <a:solidFill>
                            <a:srgbClr val="FFFFFF"/>
                          </a:solidFill>
                          <a:latin typeface="Calibri"/>
                        </a:rPr>
                        <a:t>Desv. estándar de residuos</a:t>
                      </a:r>
                    </a:p>
                  </a:txBody>
                  <a:tcPr marL="73152" marR="73152" marT="27432" marB="27432" anchor="ctr">
                    <a:solidFill>
                      <a:srgbClr val="0F4C5C"/>
                    </a:solidFill>
                  </a:tcPr>
                </a:tc>
                <a:tc>
                  <a:txBody>
                    <a:bodyPr/>
                    <a:lstStyle/>
                    <a:p>
                      <a:pPr algn="ctr"/>
                      <a:r>
                        <a:rPr sz="1600" b="1">
                          <a:solidFill>
                            <a:srgbClr val="FFFFFF"/>
                          </a:solidFill>
                          <a:latin typeface="Calibri"/>
                        </a:rPr>
                        <a:t>n</a:t>
                      </a:r>
                    </a:p>
                  </a:txBody>
                  <a:tcPr marL="73152" marR="73152" marT="27432" marB="27432" anchor="ctr">
                    <a:solidFill>
                      <a:srgbClr val="0F4C5C"/>
                    </a:solidFill>
                  </a:tcPr>
                </a:tc>
              </a:tr>
              <a:tr h="366776">
                <a:tc>
                  <a:txBody>
                    <a:bodyPr/>
                    <a:lstStyle/>
                    <a:p>
                      <a:pPr algn="l"/>
                      <a:r>
                        <a:rPr sz="1600" b="0">
                          <a:solidFill>
                            <a:srgbClr val="142B33"/>
                          </a:solidFill>
                          <a:latin typeface="Calibri"/>
                        </a:rPr>
                        <a:t>C alto (+)</a:t>
                      </a:r>
                    </a:p>
                  </a:txBody>
                  <a:tcPr marL="73152" marR="73152" marT="27432" marB="27432" anchor="ctr">
                    <a:solidFill>
                      <a:srgbClr val="FFFFFF"/>
                    </a:solidFill>
                  </a:tcPr>
                </a:tc>
                <a:tc>
                  <a:txBody>
                    <a:bodyPr/>
                    <a:lstStyle/>
                    <a:p>
                      <a:pPr algn="ctr"/>
                      <a:r>
                        <a:rPr sz="1600" b="0">
                          <a:solidFill>
                            <a:srgbClr val="142B33"/>
                          </a:solidFill>
                          <a:latin typeface="Calibri"/>
                        </a:rPr>
                        <a:t>5.70</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l"/>
                      <a:r>
                        <a:rPr sz="1600" b="0">
                          <a:solidFill>
                            <a:srgbClr val="142B33"/>
                          </a:solidFill>
                          <a:latin typeface="Calibri"/>
                        </a:rPr>
                        <a:t>C bajo (−)</a:t>
                      </a:r>
                    </a:p>
                  </a:txBody>
                  <a:tcPr marL="73152" marR="73152" marT="27432" marB="27432" anchor="ctr">
                    <a:solidFill>
                      <a:srgbClr val="F4F8F9"/>
                    </a:solidFill>
                  </a:tcPr>
                </a:tc>
                <a:tc>
                  <a:txBody>
                    <a:bodyPr/>
                    <a:lstStyle/>
                    <a:p>
                      <a:pPr algn="ctr"/>
                      <a:r>
                        <a:rPr sz="1600" b="0">
                          <a:solidFill>
                            <a:srgbClr val="142B33"/>
                          </a:solidFill>
                          <a:latin typeface="Calibri"/>
                        </a:rPr>
                        <a:t>1.63</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3888435"/>
          <a:ext cx="5341466" cy="1467104"/>
        </p:xfrm>
        <a:graphic>
          <a:graphicData uri="http://schemas.openxmlformats.org/drawingml/2006/table">
            <a:tbl>
              <a:tblPr firstRow="0" bandRow="0">
                <a:tableStyleId>{5C22544A-7EE6-4342-B048-85BDC9FD1C3A}</a:tableStyleId>
              </a:tblPr>
              <a:tblGrid>
                <a:gridCol w="3456243"/>
                <a:gridCol w="1885223"/>
              </a:tblGrid>
              <a:tr h="366776">
                <a:tc>
                  <a:txBody>
                    <a:bodyPr/>
                    <a:lstStyle/>
                    <a:p>
                      <a:pPr algn="l"/>
                      <a:r>
                        <a:rPr sz="1600" b="1">
                          <a:solidFill>
                            <a:srgbClr val="FFFFFF"/>
                          </a:solidFill>
                          <a:latin typeface="Calibri"/>
                        </a:rPr>
                        <a:t>Bartlett</a:t>
                      </a:r>
                    </a:p>
                  </a:txBody>
                  <a:tcPr marL="73152" marR="73152" marT="27432" marB="27432" anchor="ctr">
                    <a:solidFill>
                      <a:srgbClr val="0F4C5C"/>
                    </a:solidFill>
                  </a:tcPr>
                </a:tc>
                <a:tc>
                  <a:txBody>
                    <a:bodyPr/>
                    <a:lstStyle/>
                    <a:p>
                      <a:pPr algn="ctr"/>
                      <a:r>
                        <a:rPr sz="1600" b="1">
                          <a:solidFill>
                            <a:srgbClr val="FFFFFF"/>
                          </a:solidFill>
                          <a:latin typeface="Calibri"/>
                        </a:rPr>
                        <a:t>Valor</a:t>
                      </a:r>
                    </a:p>
                  </a:txBody>
                  <a:tcPr marL="73152" marR="73152" marT="27432" marB="27432" anchor="ctr">
                    <a:solidFill>
                      <a:srgbClr val="0F4C5C"/>
                    </a:solidFill>
                  </a:tcPr>
                </a:tc>
              </a:tr>
              <a:tr h="366776">
                <a:tc>
                  <a:txBody>
                    <a:bodyPr/>
                    <a:lstStyle/>
                    <a:p>
                      <a:pPr algn="l"/>
                      <a:r>
                        <a:rPr sz="1600" b="0">
                          <a:solidFill>
                            <a:srgbClr val="142B33"/>
                          </a:solidFill>
                          <a:latin typeface="Calibri"/>
                        </a:rPr>
                        <a:t>Estadístico χ</a:t>
                      </a:r>
                      <a:r>
                        <a:rPr sz="1600" b="0" baseline="30000">
                          <a:solidFill>
                            <a:srgbClr val="142B33"/>
                          </a:solidFill>
                          <a:latin typeface="Calibri"/>
                        </a:rPr>
                        <a:t>2</a:t>
                      </a:r>
                    </a:p>
                  </a:txBody>
                  <a:tcPr marL="73152" marR="73152" marT="27432" marB="27432" anchor="ctr">
                    <a:solidFill>
                      <a:srgbClr val="FFFFFF"/>
                    </a:solidFill>
                  </a:tcPr>
                </a:tc>
                <a:tc>
                  <a:txBody>
                    <a:bodyPr/>
                    <a:lstStyle/>
                    <a:p>
                      <a:pPr algn="ctr"/>
                      <a:r>
                        <a:rPr sz="1600" b="0">
                          <a:solidFill>
                            <a:srgbClr val="142B33"/>
                          </a:solidFill>
                          <a:latin typeface="Calibri"/>
                        </a:rPr>
                        <a:t>8.32</a:t>
                      </a:r>
                    </a:p>
                  </a:txBody>
                  <a:tcPr marL="73152" marR="73152" marT="27432" marB="27432" anchor="ctr">
                    <a:solidFill>
                      <a:srgbClr val="FFFFFF"/>
                    </a:solidFill>
                  </a:tcPr>
                </a:tc>
              </a:tr>
              <a:tr h="366776">
                <a:tc>
                  <a:txBody>
                    <a:bodyPr/>
                    <a:lstStyle/>
                    <a:p>
                      <a:pPr algn="l"/>
                      <a:r>
                        <a:rPr sz="1600" b="0">
                          <a:solidFill>
                            <a:srgbClr val="142B33"/>
                          </a:solidFill>
                          <a:latin typeface="Calibri"/>
                        </a:rPr>
                        <a:t>g.l.</a:t>
                      </a:r>
                    </a:p>
                  </a:txBody>
                  <a:tcPr marL="73152" marR="73152" marT="27432" marB="27432" anchor="ctr">
                    <a:solidFill>
                      <a:srgbClr val="F4F8F9"/>
                    </a:solidFill>
                  </a:tcPr>
                </a:tc>
                <a:tc>
                  <a:txBody>
                    <a:bodyPr/>
                    <a:lstStyle/>
                    <a:p>
                      <a:pPr algn="ctr"/>
                      <a:r>
                        <a:rPr sz="1600" b="0">
                          <a:solidFill>
                            <a:srgbClr val="142B33"/>
                          </a:solidFill>
                          <a:latin typeface="Calibri"/>
                        </a:rPr>
                        <a:t>1</a:t>
                      </a:r>
                    </a:p>
                  </a:txBody>
                  <a:tcPr marL="73152" marR="73152" marT="27432" marB="27432" anchor="ctr">
                    <a:solidFill>
                      <a:srgbClr val="F4F8F9"/>
                    </a:solidFill>
                  </a:tcPr>
                </a:tc>
              </a:tr>
              <a:tr h="366776">
                <a:tc>
                  <a:txBody>
                    <a:bodyPr/>
                    <a:lstStyle/>
                    <a:p>
                      <a:pPr algn="l"/>
                      <a:r>
                        <a:rPr sz="1600" b="0">
                          <a:solidFill>
                            <a:srgbClr val="142B33"/>
                          </a:solidFill>
                          <a:latin typeface="Calibri"/>
                        </a:rPr>
                        <a:t>Valor p</a:t>
                      </a:r>
                    </a:p>
                  </a:txBody>
                  <a:tcPr marL="73152" marR="73152" marT="27432" marB="27432" anchor="ctr">
                    <a:solidFill>
                      <a:srgbClr val="FFFFFF"/>
                    </a:solidFill>
                  </a:tcPr>
                </a:tc>
                <a:tc>
                  <a:txBody>
                    <a:bodyPr/>
                    <a:lstStyle/>
                    <a:p>
                      <a:pPr algn="ctr"/>
                      <a:r>
                        <a:rPr sz="1600" b="0">
                          <a:solidFill>
                            <a:srgbClr val="142B33"/>
                          </a:solidFill>
                          <a:latin typeface="Calibri"/>
                        </a:rPr>
                        <a:t>0.0039</a:t>
                      </a:r>
                    </a:p>
                  </a:txBody>
                  <a:tcPr marL="73152" marR="73152" marT="27432" marB="27432" anchor="ctr">
                    <a:solidFill>
                      <a:srgbClr val="FFFFFF"/>
                    </a:solidFill>
                  </a:tcPr>
                </a:tc>
              </a:tr>
            </a:tbl>
          </a:graphicData>
        </a:graphic>
      </p:graphicFrame>
      <p:sp>
        <p:nvSpPr>
          <p:cNvPr id="6" name="Rounded Rectangle 5"/>
          <p:cNvSpPr/>
          <p:nvPr/>
        </p:nvSpPr>
        <p:spPr>
          <a:xfrm>
            <a:off x="6301587" y="1417320"/>
            <a:ext cx="5341467" cy="801116"/>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0">
                <a:solidFill>
                  <a:srgbClr val="142B33"/>
                </a:solidFill>
                <a:latin typeface="Calibri"/>
              </a:rPr>
              <a:t>Valor p &lt; 0.05: </a:t>
            </a:r>
            <a:r>
              <a:rPr sz="1700" b="1">
                <a:solidFill>
                  <a:srgbClr val="142B33"/>
                </a:solidFill>
                <a:latin typeface="Calibri"/>
              </a:rPr>
              <a:t>se rechaza H</a:t>
            </a:r>
            <a:r>
              <a:rPr sz="1700" b="1" baseline="-25000">
                <a:solidFill>
                  <a:srgbClr val="142B33"/>
                </a:solidFill>
                <a:latin typeface="Calibri"/>
              </a:rPr>
              <a:t>0</a:t>
            </a:r>
            <a:r>
              <a:rPr sz="1700" b="0">
                <a:solidFill>
                  <a:srgbClr val="142B33"/>
                </a:solidFill>
                <a:latin typeface="Calibri"/>
              </a:rPr>
              <a:t>. La varianza depende de C</a:t>
            </a:r>
          </a:p>
        </p:txBody>
      </p:sp>
      <p:sp>
        <p:nvSpPr>
          <p:cNvPr id="7" name="TextBox 6"/>
          <p:cNvSpPr txBox="1"/>
          <p:nvPr/>
        </p:nvSpPr>
        <p:spPr>
          <a:xfrm>
            <a:off x="6301587" y="2419604"/>
            <a:ext cx="5341467"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 no cambia la media, pero sí la </a:t>
            </a:r>
            <a:r>
              <a:rPr sz="1700" b="1">
                <a:solidFill>
                  <a:srgbClr val="142B33"/>
                </a:solidFill>
                <a:latin typeface="Calibri"/>
              </a:rPr>
              <a:t>variabilidad</a:t>
            </a:r>
            <a:r>
              <a:rPr sz="1700" b="0">
                <a:solidFill>
                  <a:srgbClr val="142B33"/>
                </a:solidFill>
                <a:latin typeface="Calibri"/>
              </a:rPr>
              <a:t>: efecto de dispersión</a:t>
            </a:r>
          </a:p>
          <a:p>
            <a:pPr marL="320040" indent="-320040">
              <a:spcAft>
                <a:spcPts val="600"/>
              </a:spcAft>
              <a:buClr>
                <a:srgbClr val="E36414"/>
              </a:buClr>
              <a:buFont typeface="Arial"/>
              <a:buChar char="•"/>
            </a:pPr>
            <a:r>
              <a:rPr sz="1700" b="0">
                <a:solidFill>
                  <a:srgbClr val="142B33"/>
                </a:solidFill>
                <a:latin typeface="Calibri"/>
              </a:rPr>
              <a:t>Decisión: </a:t>
            </a:r>
            <a:r>
              <a:rPr sz="1700" b="1">
                <a:solidFill>
                  <a:srgbClr val="142B33"/>
                </a:solidFill>
                <a:latin typeface="Calibri"/>
              </a:rPr>
              <a:t>C bajo</a:t>
            </a:r>
            <a:r>
              <a:rPr sz="1700" b="0">
                <a:solidFill>
                  <a:srgbClr val="142B33"/>
                </a:solidFill>
                <a:latin typeface="Calibri"/>
              </a:rPr>
              <a:t> reduce la variabilidad entre piezas</a:t>
            </a:r>
          </a:p>
        </p:txBody>
      </p:sp>
      <p:sp>
        <p:nvSpPr>
          <p:cNvPr id="8" name="Rounded Rectangle 7"/>
          <p:cNvSpPr/>
          <p:nvPr/>
        </p:nvSpPr>
        <p:spPr>
          <a:xfrm>
            <a:off x="6301587" y="3838955"/>
            <a:ext cx="5341467"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F*</a:t>
            </a:r>
            <a:r>
              <a:rPr sz="1900" b="0" baseline="-25000">
                <a:solidFill>
                  <a:srgbClr val="0F4C5C"/>
                </a:solidFill>
                <a:latin typeface="Cambria Math"/>
              </a:rPr>
              <a:t>i</a:t>
            </a:r>
            <a:r>
              <a:rPr sz="1900" b="0">
                <a:solidFill>
                  <a:srgbClr val="0F4C5C"/>
                </a:solidFill>
                <a:latin typeface="Cambria Math"/>
              </a:rPr>
              <a:t> = ln [ S</a:t>
            </a:r>
            <a:r>
              <a:rPr sz="1900" b="0" baseline="30000">
                <a:solidFill>
                  <a:srgbClr val="0F4C5C"/>
                </a:solidFill>
                <a:latin typeface="Cambria Math"/>
              </a:rPr>
              <a:t>2</a:t>
            </a:r>
            <a:r>
              <a:rPr sz="1900" b="0">
                <a:solidFill>
                  <a:srgbClr val="0F4C5C"/>
                </a:solidFill>
                <a:latin typeface="Cambria Math"/>
              </a:rPr>
              <a:t>(i+) / S</a:t>
            </a:r>
            <a:r>
              <a:rPr sz="1900" b="0" baseline="30000">
                <a:solidFill>
                  <a:srgbClr val="0F4C5C"/>
                </a:solidFill>
                <a:latin typeface="Cambria Math"/>
              </a:rPr>
              <a:t>2</a:t>
            </a:r>
            <a:r>
              <a:rPr sz="1900" b="0">
                <a:solidFill>
                  <a:srgbClr val="0F4C5C"/>
                </a:solidFill>
                <a:latin typeface="Cambria Math"/>
              </a:rPr>
              <a:t>(i−) ]</a:t>
            </a:r>
          </a:p>
        </p:txBody>
      </p:sp>
      <p:sp>
        <p:nvSpPr>
          <p:cNvPr id="9" name="TextBox 8"/>
          <p:cNvSpPr txBox="1"/>
          <p:nvPr/>
        </p:nvSpPr>
        <p:spPr>
          <a:xfrm>
            <a:off x="6301587" y="4644156"/>
            <a:ext cx="5341467" cy="501396"/>
          </a:xfrm>
          <a:prstGeom prst="rect">
            <a:avLst/>
          </a:prstGeom>
          <a:noFill/>
        </p:spPr>
        <p:txBody>
          <a:bodyPr wrap="square" anchor="t" lIns="0" rIns="0" tIns="0" bIns="0">
            <a:spAutoFit/>
          </a:bodyPr>
          <a:lstStyle/>
          <a:p>
            <a:r>
              <a:rPr sz="1500" b="0">
                <a:solidFill>
                  <a:srgbClr val="142B33"/>
                </a:solidFill>
                <a:latin typeface="Calibri"/>
              </a:rPr>
              <a:t>Se calcula para cada columna; los valores lejos de cero señalan efectos de dispersión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(logaritmo, raíz, Box-Cox) o tratar como efecto de dispersión</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No se corrige en el análisis: aleatorizar; agregar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Minitab</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crear el diseño, ingresar los datos y analizarlos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Minitab en cinco pasos</a:t>
            </a:r>
          </a:p>
        </p:txBody>
      </p:sp>
      <p:sp>
        <p:nvSpPr>
          <p:cNvPr id="3" name="Rounded Rectangle 2"/>
          <p:cNvSpPr/>
          <p:nvPr/>
        </p:nvSpPr>
        <p:spPr>
          <a:xfrm>
            <a:off x="548640"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1 · Crear el diseño</a:t>
            </a:r>
          </a:p>
          <a:p>
            <a:pPr algn="l"/>
            <a:r>
              <a:rPr sz="1800" b="0">
                <a:solidFill>
                  <a:srgbClr val="142B33"/>
                </a:solidFill>
                <a:latin typeface="Calibri"/>
              </a:rPr>
              <a:t>Estadísticas &gt; DOE &gt; Factorial &gt; Crear diseño factorial</a:t>
            </a:r>
          </a:p>
        </p:txBody>
      </p:sp>
      <p:sp>
        <p:nvSpPr>
          <p:cNvPr id="4" name="Rounded Rectangle 3"/>
          <p:cNvSpPr/>
          <p:nvPr/>
        </p:nvSpPr>
        <p:spPr>
          <a:xfrm>
            <a:off x="4322978"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2 · Ingresar la respuesta</a:t>
            </a:r>
          </a:p>
          <a:p>
            <a:pPr algn="l"/>
            <a:r>
              <a:rPr sz="1800" b="0">
                <a:solidFill>
                  <a:srgbClr val="142B33"/>
                </a:solidFill>
                <a:latin typeface="Calibri"/>
              </a:rPr>
              <a:t>Una columna nueva en la hoja de trabajo</a:t>
            </a:r>
          </a:p>
        </p:txBody>
      </p:sp>
      <p:sp>
        <p:nvSpPr>
          <p:cNvPr id="5" name="Rounded Rectangle 4"/>
          <p:cNvSpPr/>
          <p:nvPr/>
        </p:nvSpPr>
        <p:spPr>
          <a:xfrm>
            <a:off x="8097316"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3 · Analizar</a:t>
            </a:r>
          </a:p>
          <a:p>
            <a:pPr algn="l"/>
            <a:r>
              <a:rPr sz="1800" b="0">
                <a:solidFill>
                  <a:srgbClr val="142B33"/>
                </a:solidFill>
                <a:latin typeface="Calibri"/>
              </a:rPr>
              <a:t>Estadísticas &gt; DOE &gt; Factorial &gt; Analizar diseño factorial</a:t>
            </a:r>
          </a:p>
        </p:txBody>
      </p:sp>
      <p:sp>
        <p:nvSpPr>
          <p:cNvPr id="6" name="Rounded Rectangle 5"/>
          <p:cNvSpPr/>
          <p:nvPr/>
        </p:nvSpPr>
        <p:spPr>
          <a:xfrm>
            <a:off x="548640"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4 · Verificar supuestos</a:t>
            </a:r>
          </a:p>
          <a:p>
            <a:pPr algn="l"/>
            <a:r>
              <a:rPr sz="1800" b="0">
                <a:solidFill>
                  <a:srgbClr val="142B33"/>
                </a:solidFill>
                <a:latin typeface="Calibri"/>
              </a:rPr>
              <a:t>Gráficas de residuos y prueba de normalidad</a:t>
            </a:r>
          </a:p>
        </p:txBody>
      </p:sp>
      <p:sp>
        <p:nvSpPr>
          <p:cNvPr id="7" name="Rounded Rectangle 6"/>
          <p:cNvSpPr/>
          <p:nvPr/>
        </p:nvSpPr>
        <p:spPr>
          <a:xfrm>
            <a:off x="4322978"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5 · Interpretar y ampliar</a:t>
            </a:r>
          </a:p>
          <a:p>
            <a:pPr algn="l"/>
            <a:r>
              <a:rPr sz="1800" b="0">
                <a:solidFill>
                  <a:srgbClr val="142B33"/>
                </a:solidFill>
                <a:latin typeface="Calibri"/>
              </a:rPr>
              <a:t>Gráficas factoriales; Modificar diseño &gt; Doblar</a:t>
            </a:r>
          </a:p>
        </p:txBody>
      </p:sp>
      <p:sp>
        <p:nvSpPr>
          <p:cNvPr id="8" name="TextBox 7"/>
          <p:cNvSpPr txBox="1"/>
          <p:nvPr/>
        </p:nvSpPr>
        <p:spPr>
          <a:xfrm>
            <a:off x="548640" y="5555487"/>
            <a:ext cx="11094415" cy="237998"/>
          </a:xfrm>
          <a:prstGeom prst="rect">
            <a:avLst/>
          </a:prstGeom>
          <a:noFill/>
        </p:spPr>
        <p:txBody>
          <a:bodyPr wrap="square" anchor="t" lIns="0" rIns="0" tIns="0" bIns="0">
            <a:spAutoFit/>
          </a:bodyPr>
          <a:lstStyle/>
          <a:p>
            <a:r>
              <a:rPr sz="1300" b="0">
                <a:solidFill>
                  <a:srgbClr val="5B6B73"/>
                </a:solidFill>
                <a:latin typeface="Calibri"/>
              </a:rPr>
              <a:t>Los nombres de menú corresponden a Minitab en español y pueden variar entre versiones</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Crear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0403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Crear diseño factorial…</a:t>
            </a:r>
          </a:p>
        </p:txBody>
      </p:sp>
      <p:graphicFrame>
        <p:nvGraphicFramePr>
          <p:cNvPr id="10" name="Table 9"/>
          <p:cNvGraphicFramePr>
            <a:graphicFrameLocks noGrp="1"/>
          </p:cNvGraphicFramePr>
          <p:nvPr/>
        </p:nvGraphicFramePr>
        <p:xfrm>
          <a:off x="548640" y="2121408"/>
          <a:ext cx="11094415" cy="2815336"/>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Tipo de diseño</a:t>
                      </a:r>
                    </a:p>
                  </a:txBody>
                  <a:tcPr marL="73152" marR="73152" marT="27432" marB="27432" anchor="ctr">
                    <a:solidFill>
                      <a:srgbClr val="FFFFFF"/>
                    </a:solidFill>
                  </a:tcPr>
                </a:tc>
                <a:tc>
                  <a:txBody>
                    <a:bodyPr/>
                    <a:lstStyle/>
                    <a:p>
                      <a:pPr algn="l"/>
                      <a:r>
                        <a:rPr sz="1600" b="0">
                          <a:solidFill>
                            <a:srgbClr val="142B33"/>
                          </a:solidFill>
                          <a:latin typeface="Calibri"/>
                        </a:rPr>
                        <a:t>Factorial de 2 niveles (generadores predeterminados)</a:t>
                      </a:r>
                    </a:p>
                  </a:txBody>
                  <a:tcPr marL="73152" marR="73152" marT="27432" marB="27432" anchor="ctr">
                    <a:solidFill>
                      <a:srgbClr val="FFFFFF"/>
                    </a:solidFill>
                  </a:tcPr>
                </a:tc>
              </a:tr>
              <a:tr h="366776">
                <a:tc>
                  <a:txBody>
                    <a:bodyPr/>
                    <a:lstStyle/>
                    <a:p>
                      <a:pPr algn="l"/>
                      <a:r>
                        <a:rPr sz="1600" b="0">
                          <a:solidFill>
                            <a:srgbClr val="142B33"/>
                          </a:solidFill>
                          <a:latin typeface="Calibri"/>
                        </a:rPr>
                        <a:t>Número de factores</a:t>
                      </a:r>
                    </a:p>
                  </a:txBody>
                  <a:tcPr marL="73152" marR="73152" marT="27432" marB="27432" anchor="ctr">
                    <a:solidFill>
                      <a:srgbClr val="F4F8F9"/>
                    </a:solidFill>
                  </a:tcPr>
                </a:tc>
                <a:tc>
                  <a:txBody>
                    <a:bodyPr/>
                    <a:lstStyle/>
                    <a:p>
                      <a:pPr algn="l"/>
                      <a:r>
                        <a:rPr sz="1600" b="0">
                          <a:solidFill>
                            <a:srgbClr val="142B33"/>
                          </a:solidFill>
                          <a:latin typeface="Calibri"/>
                        </a:rPr>
                        <a:t>El número k de factores del experimento</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Diseños…</a:t>
                      </a:r>
                    </a:p>
                  </a:txBody>
                  <a:tcPr marL="73152" marR="73152" marT="27432" marB="27432" anchor="ctr">
                    <a:solidFill>
                      <a:srgbClr val="FFFFFF"/>
                    </a:solidFill>
                  </a:tcPr>
                </a:tc>
                <a:tc>
                  <a:txBody>
                    <a:bodyPr/>
                    <a:lstStyle/>
                    <a:p>
                      <a:pPr algn="l"/>
                      <a:r>
                        <a:rPr sz="1600" b="0">
                          <a:solidFill>
                            <a:srgbClr val="142B33"/>
                          </a:solidFill>
                          <a:latin typeface="Calibri"/>
                        </a:rPr>
                        <a:t>La fracción (1/2, 1/4…): muestra corridas y resolución. Réplicas, puntos centrales, bloques</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Factores…</a:t>
                      </a:r>
                    </a:p>
                  </a:txBody>
                  <a:tcPr marL="73152" marR="73152" marT="27432" marB="27432" anchor="ctr">
                    <a:solidFill>
                      <a:srgbClr val="F4F8F9"/>
                    </a:solidFill>
                  </a:tcPr>
                </a:tc>
                <a:tc>
                  <a:txBody>
                    <a:bodyPr/>
                    <a:lstStyle/>
                    <a:p>
                      <a:pPr algn="l"/>
                      <a:r>
                        <a:rPr sz="1600" b="0">
                          <a:solidFill>
                            <a:srgbClr val="142B33"/>
                          </a:solidFill>
                          <a:latin typeface="Calibri"/>
                        </a:rPr>
                        <a:t>Nombre, tipo y niveles bajo y alto de cada factor</a:t>
                      </a:r>
                    </a:p>
                  </a:txBody>
                  <a:tcPr marL="73152" marR="73152" marT="27432" marB="27432" anchor="ctr">
                    <a:solidFill>
                      <a:srgbClr val="F4F8F9"/>
                    </a:solidFill>
                  </a:tcPr>
                </a:tc>
              </a:tr>
              <a:tr h="366776">
                <a:tc>
                  <a:txBody>
                    <a:bodyPr/>
                    <a:lstStyle/>
                    <a:p>
                      <a:pPr algn="l"/>
                      <a:r>
                        <a:rPr sz="1600" b="0">
                          <a:solidFill>
                            <a:srgbClr val="142B33"/>
                          </a:solidFill>
                          <a:latin typeface="Calibri"/>
                        </a:rPr>
                        <a:t>Botón Opciones…</a:t>
                      </a:r>
                    </a:p>
                  </a:txBody>
                  <a:tcPr marL="73152" marR="73152" marT="27432" marB="27432" anchor="ctr">
                    <a:solidFill>
                      <a:srgbClr val="FFFFFF"/>
                    </a:solidFill>
                  </a:tcPr>
                </a:tc>
                <a:tc>
                  <a:txBody>
                    <a:bodyPr/>
                    <a:lstStyle/>
                    <a:p>
                      <a:pPr algn="l"/>
                      <a:r>
                        <a:rPr sz="1600" b="0">
                          <a:solidFill>
                            <a:srgbClr val="142B33"/>
                          </a:solidFill>
                          <a:latin typeface="Calibri"/>
                        </a:rPr>
                        <a:t>Aleatorizar corridas; fracción principal u otra; doblar diseño</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Resultados…</a:t>
                      </a:r>
                    </a:p>
                  </a:txBody>
                  <a:tcPr marL="73152" marR="73152" marT="27432" marB="27432" anchor="ctr">
                    <a:solidFill>
                      <a:srgbClr val="F4F8F9"/>
                    </a:solidFill>
                  </a:tcPr>
                </a:tc>
                <a:tc>
                  <a:txBody>
                    <a:bodyPr/>
                    <a:lstStyle/>
                    <a:p>
                      <a:pPr algn="l"/>
                      <a:r>
                        <a:rPr sz="1600" b="0">
                          <a:solidFill>
                            <a:srgbClr val="142B33"/>
                          </a:solidFill>
                          <a:latin typeface="Calibri"/>
                        </a:rPr>
                        <a:t>Tabla de resumen y estructura de alias</a:t>
                      </a:r>
                    </a:p>
                  </a:txBody>
                  <a:tcPr marL="73152" marR="73152" marT="27432" marB="27432" anchor="ctr">
                    <a:solidFill>
                      <a:srgbClr val="F4F8F9"/>
                    </a:solidFill>
                  </a:tcPr>
                </a:tc>
              </a:tr>
            </a:tbl>
          </a:graphicData>
        </a:graphic>
      </p:graphicFrame>
      <p:sp>
        <p:nvSpPr>
          <p:cNvPr id="11" name="TextBox 10"/>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2" name="TextBox 11"/>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¿Qué fracciones ofrece Minitab?</a:t>
            </a:r>
          </a:p>
        </p:txBody>
      </p:sp>
      <p:graphicFrame>
        <p:nvGraphicFramePr>
          <p:cNvPr id="3" name="Table 2"/>
          <p:cNvGraphicFramePr>
            <a:graphicFrameLocks noGrp="1"/>
          </p:cNvGraphicFramePr>
          <p:nvPr/>
        </p:nvGraphicFramePr>
        <p:xfrm>
          <a:off x="548640" y="1417320"/>
          <a:ext cx="11094412" cy="1988820"/>
        </p:xfrm>
        <a:graphic>
          <a:graphicData uri="http://schemas.openxmlformats.org/drawingml/2006/table">
            <a:tbl>
              <a:tblPr firstRow="0" bandRow="0">
                <a:tableStyleId>{5C22544A-7EE6-4342-B048-85BDC9FD1C3A}</a:tableStyleId>
              </a:tblPr>
              <a:tblGrid>
                <a:gridCol w="1351444"/>
                <a:gridCol w="1623828"/>
                <a:gridCol w="1623828"/>
                <a:gridCol w="1623828"/>
                <a:gridCol w="1623828"/>
                <a:gridCol w="1623828"/>
                <a:gridCol w="1623828"/>
              </a:tblGrid>
              <a:tr h="397764">
                <a:tc>
                  <a:txBody>
                    <a:bodyPr/>
                    <a:lstStyle/>
                    <a:p>
                      <a:pPr algn="ctr"/>
                      <a:r>
                        <a:rPr sz="1800" b="1">
                          <a:solidFill>
                            <a:srgbClr val="FFFFFF"/>
                          </a:solidFill>
                          <a:latin typeface="Calibri"/>
                        </a:rPr>
                        <a:t>Corridas</a:t>
                      </a:r>
                    </a:p>
                  </a:txBody>
                  <a:tcPr marL="73152" marR="73152" marT="27432" marB="27432" anchor="ctr">
                    <a:solidFill>
                      <a:srgbClr val="0F4C5C"/>
                    </a:solidFill>
                  </a:tcPr>
                </a:tc>
                <a:tc>
                  <a:txBody>
                    <a:bodyPr/>
                    <a:lstStyle/>
                    <a:p>
                      <a:pPr algn="ctr"/>
                      <a:r>
                        <a:rPr sz="1800" b="1">
                          <a:solidFill>
                            <a:srgbClr val="FFFFFF"/>
                          </a:solidFill>
                          <a:latin typeface="Calibri"/>
                        </a:rPr>
                        <a:t>3 factores</a:t>
                      </a:r>
                    </a:p>
                  </a:txBody>
                  <a:tcPr marL="73152" marR="73152" marT="27432" marB="27432" anchor="ctr">
                    <a:solidFill>
                      <a:srgbClr val="0F4C5C"/>
                    </a:solidFill>
                  </a:tcPr>
                </a:tc>
                <a:tc>
                  <a:txBody>
                    <a:bodyPr/>
                    <a:lstStyle/>
                    <a:p>
                      <a:pPr algn="ctr"/>
                      <a:r>
                        <a:rPr sz="1800" b="1">
                          <a:solidFill>
                            <a:srgbClr val="FFFFFF"/>
                          </a:solidFill>
                          <a:latin typeface="Calibri"/>
                        </a:rPr>
                        <a:t>4 factores</a:t>
                      </a:r>
                    </a:p>
                  </a:txBody>
                  <a:tcPr marL="73152" marR="73152" marT="27432" marB="27432" anchor="ctr">
                    <a:solidFill>
                      <a:srgbClr val="0F4C5C"/>
                    </a:solidFill>
                  </a:tcPr>
                </a:tc>
                <a:tc>
                  <a:txBody>
                    <a:bodyPr/>
                    <a:lstStyle/>
                    <a:p>
                      <a:pPr algn="ctr"/>
                      <a:r>
                        <a:rPr sz="1800" b="1">
                          <a:solidFill>
                            <a:srgbClr val="FFFFFF"/>
                          </a:solidFill>
                          <a:latin typeface="Calibri"/>
                        </a:rPr>
                        <a:t>5 factores</a:t>
                      </a:r>
                    </a:p>
                  </a:txBody>
                  <a:tcPr marL="73152" marR="73152" marT="27432" marB="27432" anchor="ctr">
                    <a:solidFill>
                      <a:srgbClr val="0F4C5C"/>
                    </a:solidFill>
                  </a:tcPr>
                </a:tc>
                <a:tc>
                  <a:txBody>
                    <a:bodyPr/>
                    <a:lstStyle/>
                    <a:p>
                      <a:pPr algn="ctr"/>
                      <a:r>
                        <a:rPr sz="1800" b="1">
                          <a:solidFill>
                            <a:srgbClr val="FFFFFF"/>
                          </a:solidFill>
                          <a:latin typeface="Calibri"/>
                        </a:rPr>
                        <a:t>6 factores</a:t>
                      </a:r>
                    </a:p>
                  </a:txBody>
                  <a:tcPr marL="73152" marR="73152" marT="27432" marB="27432" anchor="ctr">
                    <a:solidFill>
                      <a:srgbClr val="0F4C5C"/>
                    </a:solidFill>
                  </a:tcPr>
                </a:tc>
                <a:tc>
                  <a:txBody>
                    <a:bodyPr/>
                    <a:lstStyle/>
                    <a:p>
                      <a:pPr algn="ctr"/>
                      <a:r>
                        <a:rPr sz="1800" b="1">
                          <a:solidFill>
                            <a:srgbClr val="FFFFFF"/>
                          </a:solidFill>
                          <a:latin typeface="Calibri"/>
                        </a:rPr>
                        <a:t>7 factores</a:t>
                      </a:r>
                    </a:p>
                  </a:txBody>
                  <a:tcPr marL="73152" marR="73152" marT="27432" marB="27432" anchor="ctr">
                    <a:solidFill>
                      <a:srgbClr val="0F4C5C"/>
                    </a:solidFill>
                  </a:tcPr>
                </a:tc>
                <a:tc>
                  <a:txBody>
                    <a:bodyPr/>
                    <a:lstStyle/>
                    <a:p>
                      <a:pPr algn="ctr"/>
                      <a:r>
                        <a:rPr sz="1800" b="1">
                          <a:solidFill>
                            <a:srgbClr val="FFFFFF"/>
                          </a:solidFill>
                          <a:latin typeface="Calibri"/>
                        </a:rPr>
                        <a:t>8 factores</a:t>
                      </a:r>
                    </a:p>
                  </a:txBody>
                  <a:tcPr marL="73152" marR="73152" marT="27432" marB="27432" anchor="ctr">
                    <a:solidFill>
                      <a:srgbClr val="0F4C5C"/>
                    </a:solidFill>
                  </a:tcPr>
                </a:tc>
              </a:tr>
              <a:tr h="397764">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III</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97764">
                <a:tc>
                  <a:txBody>
                    <a:bodyPr/>
                    <a:lstStyle/>
                    <a:p>
                      <a:pPr algn="ctr"/>
                      <a:r>
                        <a:rPr sz="1800" b="0">
                          <a:solidFill>
                            <a:srgbClr val="142B33"/>
                          </a:solidFill>
                          <a:latin typeface="Calibri"/>
                        </a:rPr>
                        <a:t>8</a:t>
                      </a: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97764">
                <a:tc>
                  <a:txBody>
                    <a:bodyPr/>
                    <a:lstStyle/>
                    <a:p>
                      <a:pPr algn="ctr"/>
                      <a:r>
                        <a:rPr sz="1800" b="0">
                          <a:solidFill>
                            <a:srgbClr val="142B33"/>
                          </a:solidFill>
                          <a:latin typeface="Calibri"/>
                        </a:rPr>
                        <a:t>16</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r>
                        <a:rPr sz="1800" b="0">
                          <a:solidFill>
                            <a:srgbClr val="142B33"/>
                          </a:solidFill>
                          <a:latin typeface="Calibri"/>
                        </a:rPr>
                        <a:t>Completo</a:t>
                      </a:r>
                    </a:p>
                  </a:txBody>
                  <a:tcPr marL="73152" marR="73152" marT="27432" marB="27432" anchor="ctr">
                    <a:solidFill>
                      <a:srgbClr val="FFFFFF"/>
                    </a:solidFill>
                  </a:tcPr>
                </a:tc>
                <a:tc>
                  <a:txBody>
                    <a:bodyPr/>
                    <a:lstStyle/>
                    <a:p>
                      <a:pPr algn="ctr"/>
                      <a:r>
                        <a:rPr sz="1800" b="0">
                          <a:solidFill>
                            <a:srgbClr val="142B33"/>
                          </a:solidFill>
                          <a:latin typeface="Calibri"/>
                        </a:rPr>
                        <a:t>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r>
              <a:tr h="397764">
                <a:tc>
                  <a:txBody>
                    <a:bodyPr/>
                    <a:lstStyle/>
                    <a:p>
                      <a:pPr algn="ctr"/>
                      <a:r>
                        <a:rPr sz="1800" b="0">
                          <a:solidFill>
                            <a:srgbClr val="142B33"/>
                          </a:solidFill>
                          <a:latin typeface="Calibri"/>
                        </a:rPr>
                        <a:t>32</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VI</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Botón </a:t>
            </a:r>
            <a:r>
              <a:rPr sz="1600" b="1">
                <a:solidFill>
                  <a:srgbClr val="142B33"/>
                </a:solidFill>
                <a:latin typeface="Calibri"/>
              </a:rPr>
              <a:t>Mostrar diseños disponibles…</a:t>
            </a:r>
            <a:r>
              <a:rPr sz="1600" b="0">
                <a:solidFill>
                  <a:srgbClr val="142B33"/>
                </a:solidFill>
                <a:latin typeface="Calibri"/>
              </a:rPr>
              <a:t>: resolución de cada combinación de factores y corridas. Minitab colorea: rojo = III, amarillo = IV, verde = V o más</a:t>
            </a:r>
          </a:p>
        </p:txBody>
      </p:sp>
      <p:sp>
        <p:nvSpPr>
          <p:cNvPr id="5" name="TextBox 4"/>
          <p:cNvSpPr txBox="1"/>
          <p:nvPr/>
        </p:nvSpPr>
        <p:spPr>
          <a:xfrm>
            <a:off x="548640" y="4578604"/>
            <a:ext cx="11094415" cy="34569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Elija la celda con la </a:t>
            </a:r>
            <a:r>
              <a:rPr sz="1700" b="1">
                <a:solidFill>
                  <a:srgbClr val="142B33"/>
                </a:solidFill>
                <a:latin typeface="Calibri"/>
              </a:rPr>
              <a:t>mayor resolución</a:t>
            </a:r>
            <a:r>
              <a:rPr sz="1700" b="0">
                <a:solidFill>
                  <a:srgbClr val="142B33"/>
                </a:solidFill>
                <a:latin typeface="Calibri"/>
              </a:rPr>
              <a:t> que permita su presupuesto de corridas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2 · Hoja de trabajo e ingreso de datos</a:t>
            </a:r>
          </a:p>
        </p:txBody>
      </p:sp>
      <p:graphicFrame>
        <p:nvGraphicFramePr>
          <p:cNvPr id="3" name="Table 2"/>
          <p:cNvGraphicFramePr>
            <a:graphicFrameLocks noGrp="1"/>
          </p:cNvGraphicFramePr>
          <p:nvPr/>
        </p:nvGraphicFramePr>
        <p:xfrm>
          <a:off x="548640" y="1417320"/>
          <a:ext cx="7157559" cy="3239007"/>
        </p:xfrm>
        <a:graphic>
          <a:graphicData uri="http://schemas.openxmlformats.org/drawingml/2006/table">
            <a:tbl>
              <a:tblPr firstRow="0" bandRow="0">
                <a:tableStyleId>{5C22544A-7EE6-4342-B048-85BDC9FD1C3A}</a:tableStyleId>
              </a:tblPr>
              <a:tblGrid>
                <a:gridCol w="930483"/>
                <a:gridCol w="1288361"/>
                <a:gridCol w="1002059"/>
                <a:gridCol w="858907"/>
                <a:gridCol w="429453"/>
                <a:gridCol w="429453"/>
                <a:gridCol w="429453"/>
                <a:gridCol w="429453"/>
                <a:gridCol w="1359937"/>
              </a:tblGrid>
              <a:tr h="552703">
                <a:tc>
                  <a:txBody>
                    <a:bodyPr/>
                    <a:lstStyle/>
                    <a:p>
                      <a:pPr algn="ctr"/>
                      <a:r>
                        <a:rPr sz="1400" b="1">
                          <a:solidFill>
                            <a:srgbClr val="FFFFFF"/>
                          </a:solidFill>
                          <a:latin typeface="Calibri"/>
                        </a:rPr>
                        <a:t>OrdenEst</a:t>
                      </a:r>
                    </a:p>
                  </a:txBody>
                  <a:tcPr marL="73152" marR="73152" marT="27432" marB="27432" anchor="ctr">
                    <a:solidFill>
                      <a:srgbClr val="0F4C5C"/>
                    </a:solidFill>
                  </a:tcPr>
                </a:tc>
                <a:tc>
                  <a:txBody>
                    <a:bodyPr/>
                    <a:lstStyle/>
                    <a:p>
                      <a:pPr algn="ctr"/>
                      <a:r>
                        <a:rPr sz="1400" b="1">
                          <a:solidFill>
                            <a:srgbClr val="FFFFFF"/>
                          </a:solidFill>
                          <a:latin typeface="Calibri"/>
                        </a:rPr>
                        <a:t>OrdenCorrida</a:t>
                      </a:r>
                    </a:p>
                  </a:txBody>
                  <a:tcPr marL="73152" marR="73152" marT="27432" marB="27432" anchor="ctr">
                    <a:solidFill>
                      <a:srgbClr val="0F4C5C"/>
                    </a:solidFill>
                  </a:tcPr>
                </a:tc>
                <a:tc>
                  <a:txBody>
                    <a:bodyPr/>
                    <a:lstStyle/>
                    <a:p>
                      <a:pPr algn="ctr"/>
                      <a:r>
                        <a:rPr sz="1400" b="1">
                          <a:solidFill>
                            <a:srgbClr val="FFFFFF"/>
                          </a:solidFill>
                          <a:latin typeface="Calibri"/>
                        </a:rPr>
                        <a:t>PtCentral</a:t>
                      </a:r>
                    </a:p>
                  </a:txBody>
                  <a:tcPr marL="73152" marR="73152" marT="27432" marB="27432" anchor="ctr">
                    <a:solidFill>
                      <a:srgbClr val="0F4C5C"/>
                    </a:solidFill>
                  </a:tcPr>
                </a:tc>
                <a:tc>
                  <a:txBody>
                    <a:bodyPr/>
                    <a:lstStyle/>
                    <a:p>
                      <a:pPr algn="ctr"/>
                      <a:r>
                        <a:rPr sz="1400" b="1">
                          <a:solidFill>
                            <a:srgbClr val="FFFFFF"/>
                          </a:solidFill>
                          <a:latin typeface="Calibri"/>
                        </a:rPr>
                        <a:t>Bloques</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a:t>
                      </a:r>
                    </a:p>
                  </a:txBody>
                  <a:tcPr marL="73152" marR="73152" marT="27432" marB="27432" anchor="ctr">
                    <a:solidFill>
                      <a:srgbClr val="0F4C5C"/>
                    </a:solidFill>
                  </a:tcPr>
                </a:tc>
                <a:tc>
                  <a:txBody>
                    <a:bodyPr/>
                    <a:lstStyle/>
                    <a:p>
                      <a:pPr algn="ctr"/>
                      <a:r>
                        <a:rPr sz="1400" b="1">
                          <a:solidFill>
                            <a:srgbClr val="FFFFFF"/>
                          </a:solidFill>
                          <a:latin typeface="Calibri"/>
                        </a:rPr>
                        <a:t>Filtración</a:t>
                      </a:r>
                    </a:p>
                  </a:txBody>
                  <a:tcPr marL="73152" marR="73152" marT="27432" marB="27432" anchor="ctr">
                    <a:solidFill>
                      <a:srgbClr val="0F4C5C"/>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60</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80</a:t>
                      </a:r>
                    </a:p>
                  </a:txBody>
                  <a:tcPr marL="73152" marR="73152" marT="27432" marB="27432" anchor="ctr">
                    <a:solidFill>
                      <a:srgbClr val="F4F8F9"/>
                    </a:solidFill>
                  </a:tcPr>
                </a:tc>
              </a:tr>
              <a:tr h="335788">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65</a:t>
                      </a:r>
                    </a:p>
                  </a:txBody>
                  <a:tcPr marL="73152" marR="73152" marT="27432" marB="27432" anchor="ctr">
                    <a:solidFill>
                      <a:srgbClr val="FFFFFF"/>
                    </a:solidFill>
                  </a:tcPr>
                </a:tc>
              </a:tr>
              <a:tr h="335788">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45</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tr>
            </a:tbl>
          </a:graphicData>
        </a:graphic>
      </p:graphicFrame>
      <p:sp>
        <p:nvSpPr>
          <p:cNvPr id="4" name="TextBox 3"/>
          <p:cNvSpPr txBox="1"/>
          <p:nvPr/>
        </p:nvSpPr>
        <p:spPr>
          <a:xfrm>
            <a:off x="548640" y="4857496"/>
            <a:ext cx="7157566" cy="237998"/>
          </a:xfrm>
          <a:prstGeom prst="rect">
            <a:avLst/>
          </a:prstGeom>
          <a:noFill/>
        </p:spPr>
        <p:txBody>
          <a:bodyPr wrap="square" anchor="t" lIns="0" rIns="0" tIns="0" bIns="0">
            <a:spAutoFit/>
          </a:bodyPr>
          <a:lstStyle/>
          <a:p>
            <a:r>
              <a:rPr sz="1300" b="0">
                <a:solidFill>
                  <a:srgbClr val="5B6B73"/>
                </a:solidFill>
                <a:latin typeface="Calibri"/>
              </a:rPr>
              <a:t>Ejemplo 1 en la hoja de trabajo, ordenado por OrdenCorrida</a:t>
            </a:r>
          </a:p>
        </p:txBody>
      </p:sp>
      <p:sp>
        <p:nvSpPr>
          <p:cNvPr id="5" name="TextBox 4"/>
          <p:cNvSpPr txBox="1"/>
          <p:nvPr/>
        </p:nvSpPr>
        <p:spPr>
          <a:xfrm>
            <a:off x="8117686" y="1417320"/>
            <a:ext cx="3525368"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Columnas de control: </a:t>
            </a:r>
            <a:r>
              <a:rPr sz="1600" b="1">
                <a:solidFill>
                  <a:srgbClr val="142B33"/>
                </a:solidFill>
                <a:latin typeface="Calibri"/>
              </a:rPr>
              <a:t>OrdenEst, OrdenCorrida, PtCentral, Bloques</a:t>
            </a:r>
          </a:p>
          <a:p>
            <a:pPr marL="320040" indent="-320040">
              <a:spcAft>
                <a:spcPts val="600"/>
              </a:spcAft>
              <a:buClr>
                <a:srgbClr val="E36414"/>
              </a:buClr>
              <a:buFont typeface="Arial"/>
              <a:buChar char="•"/>
            </a:pPr>
            <a:r>
              <a:rPr sz="1600" b="0">
                <a:solidFill>
                  <a:srgbClr val="142B33"/>
                </a:solidFill>
                <a:latin typeface="Calibri"/>
              </a:rPr>
              <a:t>Una columna por </a:t>
            </a:r>
            <a:r>
              <a:rPr sz="1600" b="1">
                <a:solidFill>
                  <a:srgbClr val="142B33"/>
                </a:solidFill>
                <a:latin typeface="Calibri"/>
              </a:rPr>
              <a:t>factor</a:t>
            </a:r>
          </a:p>
          <a:p>
            <a:pPr marL="320040" indent="-320040">
              <a:spcAft>
                <a:spcPts val="600"/>
              </a:spcAft>
              <a:buClr>
                <a:srgbClr val="E36414"/>
              </a:buClr>
              <a:buFont typeface="Arial"/>
              <a:buChar char="•"/>
            </a:pPr>
            <a:r>
              <a:rPr sz="1600" b="0">
                <a:solidFill>
                  <a:srgbClr val="142B33"/>
                </a:solidFill>
                <a:latin typeface="Calibri"/>
              </a:rPr>
              <a:t>La </a:t>
            </a:r>
            <a:r>
              <a:rPr sz="1600" b="1">
                <a:solidFill>
                  <a:srgbClr val="142B33"/>
                </a:solidFill>
                <a:latin typeface="Calibri"/>
              </a:rPr>
              <a:t>respuesta</a:t>
            </a:r>
            <a:r>
              <a:rPr sz="1600" b="0">
                <a:solidFill>
                  <a:srgbClr val="142B33"/>
                </a:solidFill>
                <a:latin typeface="Calibri"/>
              </a:rPr>
              <a:t> se digita en la primera columna libre</a:t>
            </a:r>
          </a:p>
          <a:p>
            <a:pPr marL="320040" indent="-320040">
              <a:spcAft>
                <a:spcPts val="600"/>
              </a:spcAft>
              <a:buClr>
                <a:srgbClr val="E36414"/>
              </a:buClr>
              <a:buFont typeface="Arial"/>
              <a:buChar char="•"/>
            </a:pPr>
            <a:r>
              <a:rPr sz="1600" b="0">
                <a:solidFill>
                  <a:srgbClr val="142B33"/>
                </a:solidFill>
                <a:latin typeface="Calibri"/>
              </a:rPr>
              <a:t>No reordenar ni borrar las columnas de control</a:t>
            </a:r>
          </a:p>
        </p:txBody>
      </p:sp>
      <p:sp>
        <p:nvSpPr>
          <p:cNvPr id="6" name="Rounded Rectangle 5"/>
          <p:cNvSpPr/>
          <p:nvPr/>
        </p:nvSpPr>
        <p:spPr>
          <a:xfrm>
            <a:off x="8117686" y="3683000"/>
            <a:ext cx="352536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Datos ya existentes: </a:t>
            </a:r>
            <a:r>
              <a:rPr sz="1500" b="1">
                <a:solidFill>
                  <a:srgbClr val="142B33"/>
                </a:solidFill>
                <a:latin typeface="Calibri"/>
              </a:rPr>
              <a:t>Definir diseño factorial personalizado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3 · Analizar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3832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Analizar diseño factorial…</a:t>
            </a:r>
          </a:p>
        </p:txBody>
      </p:sp>
      <p:graphicFrame>
        <p:nvGraphicFramePr>
          <p:cNvPr id="10" name="Table 9"/>
          <p:cNvGraphicFramePr>
            <a:graphicFrameLocks noGrp="1"/>
          </p:cNvGraphicFramePr>
          <p:nvPr/>
        </p:nvGraphicFramePr>
        <p:xfrm>
          <a:off x="548640" y="2121408"/>
          <a:ext cx="11094415" cy="1833880"/>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Respuestas</a:t>
                      </a:r>
                    </a:p>
                  </a:txBody>
                  <a:tcPr marL="73152" marR="73152" marT="27432" marB="27432" anchor="ctr">
                    <a:solidFill>
                      <a:srgbClr val="FFFFFF"/>
                    </a:solidFill>
                  </a:tcPr>
                </a:tc>
                <a:tc>
                  <a:txBody>
                    <a:bodyPr/>
                    <a:lstStyle/>
                    <a:p>
                      <a:pPr algn="l"/>
                      <a:r>
                        <a:rPr sz="1600" b="0">
                          <a:solidFill>
                            <a:srgbClr val="142B33"/>
                          </a:solidFill>
                          <a:latin typeface="Calibri"/>
                        </a:rPr>
                        <a:t>La columna con la respuesta</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Términos…</a:t>
                      </a:r>
                    </a:p>
                  </a:txBody>
                  <a:tcPr marL="73152" marR="73152" marT="27432" marB="27432" anchor="ctr">
                    <a:solidFill>
                      <a:srgbClr val="F4F8F9"/>
                    </a:solidFill>
                  </a:tcPr>
                </a:tc>
                <a:tc>
                  <a:txBody>
                    <a:bodyPr/>
                    <a:lstStyle/>
                    <a:p>
                      <a:pPr algn="l"/>
                      <a:r>
                        <a:rPr sz="1600" b="0">
                          <a:solidFill>
                            <a:srgbClr val="142B33"/>
                          </a:solidFill>
                          <a:latin typeface="Calibri"/>
                        </a:rPr>
                        <a:t>1.ª pasada: todos los términos.  2.ª pasada: solo los efectos activos</a:t>
                      </a:r>
                    </a:p>
                  </a:txBody>
                  <a:tcPr marL="73152" marR="73152" marT="27432" marB="27432" anchor="ctr">
                    <a:solidFill>
                      <a:srgbClr val="F4F8F9"/>
                    </a:solidFill>
                  </a:tcPr>
                </a:tc>
              </a:tr>
              <a:tr h="366776">
                <a:tc>
                  <a:txBody>
                    <a:bodyPr/>
                    <a:lstStyle/>
                    <a:p>
                      <a:pPr algn="l"/>
                      <a:r>
                        <a:rPr sz="1600" b="0">
                          <a:solidFill>
                            <a:srgbClr val="142B33"/>
                          </a:solidFill>
                          <a:latin typeface="Calibri"/>
                        </a:rPr>
                        <a:t>Botón Gráficas…</a:t>
                      </a:r>
                    </a:p>
                  </a:txBody>
                  <a:tcPr marL="73152" marR="73152" marT="27432" marB="27432" anchor="ctr">
                    <a:solidFill>
                      <a:srgbClr val="FFFFFF"/>
                    </a:solidFill>
                  </a:tcPr>
                </a:tc>
                <a:tc>
                  <a:txBody>
                    <a:bodyPr/>
                    <a:lstStyle/>
                    <a:p>
                      <a:pPr algn="l"/>
                      <a:r>
                        <a:rPr sz="1600" b="0">
                          <a:solidFill>
                            <a:srgbClr val="142B33"/>
                          </a:solidFill>
                          <a:latin typeface="Calibri"/>
                        </a:rPr>
                        <a:t>Gráficas de efectos: Pareto, Normal, Seminormal.  Residuos: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Almacenamiento…</a:t>
                      </a:r>
                    </a:p>
                  </a:txBody>
                  <a:tcPr marL="73152" marR="73152" marT="27432" marB="27432" anchor="ctr">
                    <a:solidFill>
                      <a:srgbClr val="F4F8F9"/>
                    </a:solidFill>
                  </a:tcPr>
                </a:tc>
                <a:tc>
                  <a:txBody>
                    <a:bodyPr/>
                    <a:lstStyle/>
                    <a:p>
                      <a:pPr algn="l"/>
                      <a:r>
                        <a:rPr sz="1600" b="0">
                          <a:solidFill>
                            <a:srgbClr val="142B33"/>
                          </a:solidFill>
                          <a:latin typeface="Calibri"/>
                        </a:rPr>
                        <a:t>Ajustes y Residuos (para las pruebas de supuestos)</a:t>
                      </a:r>
                    </a:p>
                  </a:txBody>
                  <a:tcPr marL="73152" marR="73152" marT="27432" marB="27432" anchor="ctr">
                    <a:solidFill>
                      <a:srgbClr val="F4F8F9"/>
                    </a:solidFill>
                  </a:tcPr>
                </a:tc>
              </a:tr>
            </a:tbl>
          </a:graphicData>
        </a:graphic>
      </p:graphicFrame>
      <p:sp>
        <p:nvSpPr>
          <p:cNvPr id="11" name="Rounded Rectangle 10"/>
          <p:cNvSpPr/>
          <p:nvPr/>
        </p:nvSpPr>
        <p:spPr>
          <a:xfrm>
            <a:off x="548640" y="415645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Sin réplicas, la primera pasada no da valores p: se decide con la gráfica normal y el Pareto</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4 · Leer la salida</a:t>
            </a:r>
          </a:p>
        </p:txBody>
      </p:sp>
      <p:sp>
        <p:nvSpPr>
          <p:cNvPr id="3" name="Rectangle 2"/>
          <p:cNvSpPr/>
          <p:nvPr/>
        </p:nvSpPr>
        <p:spPr>
          <a:xfrm>
            <a:off x="548640" y="1417320"/>
            <a:ext cx="6837078" cy="4410456"/>
          </a:xfrm>
          <a:prstGeom prst="rect">
            <a:avLst/>
          </a:prstGeom>
          <a:solidFill>
            <a:srgbClr val="F4F8F9"/>
          </a:solidFill>
          <a:ln w="952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a:lstStyle/>
          <a:p>
            <a:pPr algn="l"/>
            <a:r>
              <a:rPr sz="1200" b="1">
                <a:solidFill>
                  <a:srgbClr val="0F4C5C"/>
                </a:solidFill>
                <a:latin typeface="Courier New"/>
              </a:rPr>
              <a:t>Estructura de alias</a:t>
            </a:r>
          </a:p>
          <a:p>
            <a:pPr algn="l"/>
            <a:r>
              <a:rPr sz="1200" b="0">
                <a:solidFill>
                  <a:srgbClr val="142B33"/>
                </a:solidFill>
                <a:latin typeface="Courier New"/>
              </a:rPr>
              <a:t>I + ABCD</a:t>
            </a:r>
          </a:p>
          <a:p>
            <a:pPr algn="l"/>
            <a:r>
              <a:rPr sz="1200" b="0">
                <a:solidFill>
                  <a:srgbClr val="142B33"/>
                </a:solidFill>
                <a:latin typeface="Courier New"/>
              </a:rPr>
              <a:t>A + BCD        AB + CD</a:t>
            </a:r>
          </a:p>
          <a:p>
            <a:pPr algn="l"/>
            <a:r>
              <a:rPr sz="1200" b="0">
                <a:solidFill>
                  <a:srgbClr val="142B33"/>
                </a:solidFill>
                <a:latin typeface="Courier New"/>
              </a:rPr>
              <a:t>B + ACD        AC + BD</a:t>
            </a:r>
          </a:p>
          <a:p>
            <a:pPr algn="l"/>
            <a:r>
              <a:rPr sz="1200" b="0">
                <a:solidFill>
                  <a:srgbClr val="142B33"/>
                </a:solidFill>
                <a:latin typeface="Courier New"/>
              </a:rPr>
              <a:t>C + ABD        AD + BC</a:t>
            </a:r>
          </a:p>
          <a:p>
            <a:pPr algn="l"/>
            <a:r>
              <a:rPr sz="1200" b="0">
                <a:solidFill>
                  <a:srgbClr val="142B33"/>
                </a:solidFill>
                <a:latin typeface="Courier New"/>
              </a:rPr>
              <a:t>D + ABC</a:t>
            </a:r>
          </a:p>
          <a:p>
            <a:pPr algn="l"/>
            <a:r>
              <a:rPr sz="1200" b="0">
                <a:solidFill>
                  <a:srgbClr val="142B33"/>
                </a:solidFill>
                <a:latin typeface="Courier New"/>
              </a:rPr>
              <a:t> </a:t>
            </a:r>
          </a:p>
          <a:p>
            <a:pPr algn="l"/>
            <a:r>
              <a:rPr sz="1200" b="1">
                <a:solidFill>
                  <a:srgbClr val="0F4C5C"/>
                </a:solidFill>
                <a:latin typeface="Courier New"/>
              </a:rPr>
              <a:t>Análisis de Varianza</a:t>
            </a:r>
          </a:p>
          <a:p>
            <a:pPr algn="l"/>
            <a:r>
              <a:rPr sz="1200" b="0">
                <a:solidFill>
                  <a:srgbClr val="142B33"/>
                </a:solidFill>
                <a:latin typeface="Courier New"/>
              </a:rPr>
              <a:t>Fuente                    GL   SC Ajust.  MC Ajust.  Valor F  Valor p</a:t>
            </a:r>
          </a:p>
          <a:p>
            <a:pPr algn="l"/>
            <a:r>
              <a:rPr sz="1200" b="0">
                <a:solidFill>
                  <a:srgbClr val="142B33"/>
                </a:solidFill>
                <a:latin typeface="Courier New"/>
              </a:rPr>
              <a:t>Modelo                     5     3065.00     613.00   188.62    0.005</a:t>
            </a:r>
          </a:p>
          <a:p>
            <a:pPr algn="l"/>
            <a:r>
              <a:rPr sz="1200" b="0">
                <a:solidFill>
                  <a:srgbClr val="142B33"/>
                </a:solidFill>
                <a:latin typeface="Courier New"/>
              </a:rPr>
              <a:t>  Lineal                   3     1658.50     552.83   170.10    0.006</a:t>
            </a:r>
          </a:p>
          <a:p>
            <a:pPr algn="l"/>
            <a:r>
              <a:rPr sz="1200" b="0">
                <a:solidFill>
                  <a:srgbClr val="142B33"/>
                </a:solidFill>
                <a:latin typeface="Courier New"/>
              </a:rPr>
              <a:t>    A                      1      722.00     722.00   222.15    0.004</a:t>
            </a:r>
          </a:p>
          <a:p>
            <a:pPr algn="l"/>
            <a:r>
              <a:rPr sz="1200" b="0">
                <a:solidFill>
                  <a:srgbClr val="142B33"/>
                </a:solidFill>
                <a:latin typeface="Courier New"/>
              </a:rPr>
              <a:t>    C                      1      392.00     392.00   120.62    0.008</a:t>
            </a:r>
          </a:p>
          <a:p>
            <a:pPr algn="l"/>
            <a:r>
              <a:rPr sz="1200" b="0">
                <a:solidFill>
                  <a:srgbClr val="142B33"/>
                </a:solidFill>
                <a:latin typeface="Courier New"/>
              </a:rPr>
              <a:t>    D                      1      544.50     544.50   167.54    0.006</a:t>
            </a:r>
          </a:p>
          <a:p>
            <a:pPr algn="l"/>
            <a:r>
              <a:rPr sz="1200" b="0">
                <a:solidFill>
                  <a:srgbClr val="142B33"/>
                </a:solidFill>
                <a:latin typeface="Courier New"/>
              </a:rPr>
              <a:t>  Interacciones de 2 t.    2     1406.50     703.25   216.38    0.005</a:t>
            </a:r>
          </a:p>
          <a:p>
            <a:pPr algn="l"/>
            <a:r>
              <a:rPr sz="1200" b="0">
                <a:solidFill>
                  <a:srgbClr val="142B33"/>
                </a:solidFill>
                <a:latin typeface="Courier New"/>
              </a:rPr>
              <a:t>    A*C                    1      684.50     684.50   210.62    0.005</a:t>
            </a:r>
          </a:p>
          <a:p>
            <a:pPr algn="l"/>
            <a:r>
              <a:rPr sz="1200" b="0">
                <a:solidFill>
                  <a:srgbClr val="142B33"/>
                </a:solidFill>
                <a:latin typeface="Courier New"/>
              </a:rPr>
              <a:t>    A*D                    1      722.00     722.00   222.15    0.004</a:t>
            </a:r>
          </a:p>
          <a:p>
            <a:pPr algn="l"/>
            <a:r>
              <a:rPr sz="1200" b="0">
                <a:solidFill>
                  <a:srgbClr val="142B33"/>
                </a:solidFill>
                <a:latin typeface="Courier New"/>
              </a:rPr>
              <a:t>Error                      2        6.50       3.25</a:t>
            </a:r>
          </a:p>
          <a:p>
            <a:pPr algn="l"/>
            <a:r>
              <a:rPr sz="1200" b="0">
                <a:solidFill>
                  <a:srgbClr val="142B33"/>
                </a:solidFill>
                <a:latin typeface="Courier New"/>
              </a:rPr>
              <a:t>Total                      7     3071.50</a:t>
            </a:r>
          </a:p>
          <a:p>
            <a:pPr algn="l"/>
            <a:r>
              <a:rPr sz="1200" b="0">
                <a:solidFill>
                  <a:srgbClr val="142B33"/>
                </a:solidFill>
                <a:latin typeface="Courier New"/>
              </a:rPr>
              <a:t> </a:t>
            </a:r>
          </a:p>
          <a:p>
            <a:pPr algn="l"/>
            <a:r>
              <a:rPr sz="1200" b="1">
                <a:solidFill>
                  <a:srgbClr val="0F4C5C"/>
                </a:solidFill>
                <a:latin typeface="Courier New"/>
              </a:rPr>
              <a:t>Resumen del modelo</a:t>
            </a:r>
          </a:p>
          <a:p>
            <a:pPr algn="l"/>
            <a:r>
              <a:rPr sz="1200" b="0">
                <a:solidFill>
                  <a:srgbClr val="142B33"/>
                </a:solidFill>
                <a:latin typeface="Courier New"/>
              </a:rPr>
              <a:t>      S   R-cuad.   R-cuad.(ajustado)   R-cuad.(pred)</a:t>
            </a:r>
          </a:p>
          <a:p>
            <a:pPr algn="l"/>
            <a:r>
              <a:rPr sz="1200" b="0">
                <a:solidFill>
                  <a:srgbClr val="142B33"/>
                </a:solidFill>
                <a:latin typeface="Courier New"/>
              </a:rPr>
              <a:t>1.80278    99.79%              99.26%          96.61%</a:t>
            </a:r>
          </a:p>
        </p:txBody>
      </p:sp>
      <p:sp>
        <p:nvSpPr>
          <p:cNvPr id="4" name="TextBox 3"/>
          <p:cNvSpPr txBox="1"/>
          <p:nvPr/>
        </p:nvSpPr>
        <p:spPr>
          <a:xfrm>
            <a:off x="7797198" y="1417320"/>
            <a:ext cx="3845856" cy="173431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Estructura de alias</a:t>
            </a:r>
            <a:r>
              <a:rPr sz="1600" b="0">
                <a:solidFill>
                  <a:srgbClr val="142B33"/>
                </a:solidFill>
                <a:latin typeface="Calibri"/>
              </a:rPr>
              <a:t>: qué está mezclado con qué</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Análisis de varianza</a:t>
            </a:r>
            <a:r>
              <a:rPr sz="1600" b="0">
                <a:solidFill>
                  <a:srgbClr val="142B33"/>
                </a:solidFill>
                <a:latin typeface="Calibri"/>
              </a:rPr>
              <a:t>: valor p &lt; 0.05  →  término significativo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Resumen del modelo</a:t>
            </a:r>
            <a:r>
              <a:rPr sz="1600" b="0">
                <a:solidFill>
                  <a:srgbClr val="142B33"/>
                </a:solidFill>
                <a:latin typeface="Calibri"/>
              </a:rPr>
              <a:t>: S = raíz de MS</a:t>
            </a:r>
            <a:r>
              <a:rPr sz="1600" b="0" baseline="-25000">
                <a:solidFill>
                  <a:srgbClr val="142B33"/>
                </a:solidFill>
                <a:latin typeface="Calibri"/>
              </a:rPr>
              <a:t>E</a:t>
            </a:r>
            <a:r>
              <a:rPr sz="1600" b="0">
                <a:solidFill>
                  <a:srgbClr val="142B33"/>
                </a:solidFill>
                <a:latin typeface="Calibri"/>
              </a:rPr>
              <a:t>;  R-cuad = % explicado</a:t>
            </a:r>
          </a:p>
        </p:txBody>
      </p:sp>
      <p:sp>
        <p:nvSpPr>
          <p:cNvPr id="5" name="Rounded Rectangle 4"/>
          <p:cNvSpPr/>
          <p:nvPr/>
        </p:nvSpPr>
        <p:spPr>
          <a:xfrm>
            <a:off x="7797198" y="3352800"/>
            <a:ext cx="384585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Valores calculados a partir de los datos del ejemplo 1; verifíquelos en Minitab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5 · Gráficas, supuestos y doblez</a:t>
            </a:r>
          </a:p>
        </p:txBody>
      </p:sp>
      <p:graphicFrame>
        <p:nvGraphicFramePr>
          <p:cNvPr id="3" name="Table 2"/>
          <p:cNvGraphicFramePr>
            <a:graphicFrameLocks noGrp="1"/>
          </p:cNvGraphicFramePr>
          <p:nvPr/>
        </p:nvGraphicFramePr>
        <p:xfrm>
          <a:off x="548640" y="1417320"/>
          <a:ext cx="11094414" cy="2934208"/>
        </p:xfrm>
        <a:graphic>
          <a:graphicData uri="http://schemas.openxmlformats.org/drawingml/2006/table">
            <a:tbl>
              <a:tblPr firstRow="0" bandRow="0">
                <a:tableStyleId>{5C22544A-7EE6-4342-B048-85BDC9FD1C3A}</a:tableStyleId>
              </a:tblPr>
              <a:tblGrid>
                <a:gridCol w="3993989"/>
                <a:gridCol w="7100425"/>
              </a:tblGrid>
              <a:tr h="366776">
                <a:tc>
                  <a:txBody>
                    <a:bodyPr/>
                    <a:lstStyle/>
                    <a:p>
                      <a:pPr algn="l"/>
                      <a:r>
                        <a:rPr sz="1600" b="1">
                          <a:solidFill>
                            <a:srgbClr val="FFFFFF"/>
                          </a:solidFill>
                          <a:latin typeface="Calibri"/>
                        </a:rPr>
                        <a:t>Para…</a:t>
                      </a:r>
                    </a:p>
                  </a:txBody>
                  <a:tcPr marL="73152" marR="73152" marT="27432" marB="27432" anchor="ctr">
                    <a:solidFill>
                      <a:srgbClr val="0F4C5C"/>
                    </a:solidFill>
                  </a:tcPr>
                </a:tc>
                <a:tc>
                  <a:txBody>
                    <a:bodyPr/>
                    <a:lstStyle/>
                    <a:p>
                      <a:pPr algn="l"/>
                      <a:r>
                        <a:rPr sz="1600" b="1">
                          <a:solidFill>
                            <a:srgbClr val="FFFFFF"/>
                          </a:solidFill>
                          <a:latin typeface="Calibri"/>
                        </a:rPr>
                        <a:t>Ruta en Minitab</a:t>
                      </a:r>
                    </a:p>
                  </a:txBody>
                  <a:tcPr marL="73152" marR="73152" marT="27432" marB="27432" anchor="ctr">
                    <a:solidFill>
                      <a:srgbClr val="0F4C5C"/>
                    </a:solidFill>
                  </a:tcPr>
                </a:tc>
              </a:tr>
              <a:tr h="366776">
                <a:tc>
                  <a:txBody>
                    <a:bodyPr/>
                    <a:lstStyle/>
                    <a:p>
                      <a:pPr algn="l"/>
                      <a:r>
                        <a:rPr sz="1600" b="0">
                          <a:solidFill>
                            <a:srgbClr val="142B33"/>
                          </a:solidFill>
                          <a:latin typeface="Calibri"/>
                        </a:rPr>
                        <a:t>Efectos principales e interacciones</a:t>
                      </a:r>
                    </a:p>
                  </a:txBody>
                  <a:tcPr marL="73152" marR="73152" marT="27432" marB="27432" anchor="ctr">
                    <a:solidFill>
                      <a:srgbClr val="FFFFFF"/>
                    </a:solidFill>
                  </a:tcPr>
                </a:tc>
                <a:tc>
                  <a:txBody>
                    <a:bodyPr/>
                    <a:lstStyle/>
                    <a:p>
                      <a:pPr algn="l"/>
                      <a:r>
                        <a:rPr sz="1600" b="0">
                          <a:solidFill>
                            <a:srgbClr val="142B33"/>
                          </a:solidFill>
                          <a:latin typeface="Calibri"/>
                        </a:rPr>
                        <a:t>Estadísticas &gt; DOE &gt; Factorial &gt; Gráficas factoriales…</a:t>
                      </a:r>
                    </a:p>
                  </a:txBody>
                  <a:tcPr marL="73152" marR="73152" marT="27432" marB="27432" anchor="ctr">
                    <a:solidFill>
                      <a:srgbClr val="FFFFFF"/>
                    </a:solidFill>
                  </a:tcPr>
                </a:tc>
              </a:tr>
              <a:tr h="366776">
                <a:tc>
                  <a:txBody>
                    <a:bodyPr/>
                    <a:lstStyle/>
                    <a:p>
                      <a:pPr algn="l"/>
                      <a:r>
                        <a:rPr sz="1600" b="0">
                          <a:solidFill>
                            <a:srgbClr val="142B33"/>
                          </a:solidFill>
                          <a:latin typeface="Calibri"/>
                        </a:rPr>
                        <a:t>Respuesta en cada vértice</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Factorial &gt; Gráfica de cubos…</a:t>
                      </a:r>
                    </a:p>
                  </a:txBody>
                  <a:tcPr marL="73152" marR="73152" marT="27432" marB="27432" anchor="ctr">
                    <a:solidFill>
                      <a:srgbClr val="F4F8F9"/>
                    </a:solidFill>
                  </a:tcPr>
                </a:tc>
              </a:tr>
              <a:tr h="366776">
                <a:tc>
                  <a:txBody>
                    <a:bodyPr/>
                    <a:lstStyle/>
                    <a:p>
                      <a:pPr algn="l"/>
                      <a:r>
                        <a:rPr sz="1600" b="0">
                          <a:solidFill>
                            <a:srgbClr val="142B33"/>
                          </a:solidFill>
                          <a:latin typeface="Calibri"/>
                        </a:rPr>
                        <a:t>Residuos (normalidad, ajustes, orden)</a:t>
                      </a:r>
                    </a:p>
                  </a:txBody>
                  <a:tcPr marL="73152" marR="73152" marT="27432" marB="27432" anchor="ctr">
                    <a:solidFill>
                      <a:srgbClr val="FFFFFF"/>
                    </a:solidFill>
                  </a:tcPr>
                </a:tc>
                <a:tc>
                  <a:txBody>
                    <a:bodyPr/>
                    <a:lstStyle/>
                    <a:p>
                      <a:pPr algn="l"/>
                      <a:r>
                        <a:rPr sz="1600" b="0">
                          <a:solidFill>
                            <a:srgbClr val="142B33"/>
                          </a:solidFill>
                          <a:latin typeface="Calibri"/>
                        </a:rPr>
                        <a:t>Analizar diseño factorial &gt; Gráficas… &gt;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Prueba de normalidad</a:t>
                      </a:r>
                    </a:p>
                  </a:txBody>
                  <a:tcPr marL="73152" marR="73152" marT="27432" marB="27432" anchor="ctr">
                    <a:solidFill>
                      <a:srgbClr val="F4F8F9"/>
                    </a:solidFill>
                  </a:tcPr>
                </a:tc>
                <a:tc>
                  <a:txBody>
                    <a:bodyPr/>
                    <a:lstStyle/>
                    <a:p>
                      <a:pPr algn="l"/>
                      <a:r>
                        <a:rPr sz="1600" b="0">
                          <a:solidFill>
                            <a:srgbClr val="142B33"/>
                          </a:solidFill>
                          <a:latin typeface="Calibri"/>
                        </a:rPr>
                        <a:t>Estadísticas &gt; Estadísticas básicas &gt; Prueba de normalidad…</a:t>
                      </a:r>
                    </a:p>
                  </a:txBody>
                  <a:tcPr marL="73152" marR="73152" marT="27432" marB="27432" anchor="ctr">
                    <a:solidFill>
                      <a:srgbClr val="F4F8F9"/>
                    </a:solidFill>
                  </a:tcPr>
                </a:tc>
              </a:tr>
              <a:tr h="366776">
                <a:tc>
                  <a:txBody>
                    <a:bodyPr/>
                    <a:lstStyle/>
                    <a:p>
                      <a:pPr algn="l"/>
                      <a:r>
                        <a:rPr sz="1600" b="0">
                          <a:solidFill>
                            <a:srgbClr val="142B33"/>
                          </a:solidFill>
                          <a:latin typeface="Calibri"/>
                        </a:rPr>
                        <a:t>Igualdad de varianzas</a:t>
                      </a:r>
                    </a:p>
                  </a:txBody>
                  <a:tcPr marL="73152" marR="73152" marT="27432" marB="27432" anchor="ctr">
                    <a:solidFill>
                      <a:srgbClr val="FFFFFF"/>
                    </a:solidFill>
                  </a:tcPr>
                </a:tc>
                <a:tc>
                  <a:txBody>
                    <a:bodyPr/>
                    <a:lstStyle/>
                    <a:p>
                      <a:pPr algn="l"/>
                      <a:r>
                        <a:rPr sz="1600" b="0">
                          <a:solidFill>
                            <a:srgbClr val="142B33"/>
                          </a:solidFill>
                          <a:latin typeface="Calibri"/>
                        </a:rPr>
                        <a:t>Estadísticas &gt; ANOVA &gt; Prueba de igualdad de varianzas…</a:t>
                      </a:r>
                    </a:p>
                  </a:txBody>
                  <a:tcPr marL="73152" marR="73152" marT="27432" marB="27432" anchor="ctr">
                    <a:solidFill>
                      <a:srgbClr val="FFFFFF"/>
                    </a:solidFill>
                  </a:tcPr>
                </a:tc>
              </a:tr>
              <a:tr h="366776">
                <a:tc>
                  <a:txBody>
                    <a:bodyPr/>
                    <a:lstStyle/>
                    <a:p>
                      <a:pPr algn="l"/>
                      <a:r>
                        <a:rPr sz="1600" b="0">
                          <a:solidFill>
                            <a:srgbClr val="142B33"/>
                          </a:solidFill>
                          <a:latin typeface="Calibri"/>
                        </a:rPr>
                        <a:t>Doblez completo o de un factor</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Modificar diseño… &gt; Doblar diseño</a:t>
                      </a:r>
                    </a:p>
                  </a:txBody>
                  <a:tcPr marL="73152" marR="73152" marT="27432" marB="27432" anchor="ctr">
                    <a:solidFill>
                      <a:srgbClr val="F4F8F9"/>
                    </a:solidFill>
                  </a:tcPr>
                </a:tc>
              </a:tr>
              <a:tr h="366776">
                <a:tc>
                  <a:txBody>
                    <a:bodyPr/>
                    <a:lstStyle/>
                    <a:p>
                      <a:pPr algn="l"/>
                      <a:r>
                        <a:rPr sz="1600" b="0">
                          <a:solidFill>
                            <a:srgbClr val="142B33"/>
                          </a:solidFill>
                          <a:latin typeface="Calibri"/>
                        </a:rPr>
                        <a:t>Plackett-Burman</a:t>
                      </a:r>
                    </a:p>
                  </a:txBody>
                  <a:tcPr marL="73152" marR="73152" marT="27432" marB="27432" anchor="ctr">
                    <a:solidFill>
                      <a:srgbClr val="FFFFFF"/>
                    </a:solidFill>
                  </a:tcPr>
                </a:tc>
                <a:tc>
                  <a:txBody>
                    <a:bodyPr/>
                    <a:lstStyle/>
                    <a:p>
                      <a:pPr algn="l"/>
                      <a:r>
                        <a:rPr sz="1600" b="0">
                          <a:solidFill>
                            <a:srgbClr val="142B33"/>
                          </a:solidFill>
                          <a:latin typeface="Calibri"/>
                        </a:rPr>
                        <a:t>Crear diseño factorial… &gt; Diseño de Plackett-Burman</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10</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cuando se esperan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Asignar los factores importantes a letras que forman una </a:t>
            </a:r>
            <a:r>
              <a:rPr sz="1700" b="1">
                <a:solidFill>
                  <a:srgbClr val="142B33"/>
                </a:solidFill>
                <a:latin typeface="Calibri"/>
              </a:rPr>
              <a:t>palabra</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8-2, 8-3, 8-4 y 8-7)</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23540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a:p>
            <a:pPr marL="320040" indent="-320040">
              <a:spcAft>
                <a:spcPts val="600"/>
              </a:spcAft>
              <a:buClr>
                <a:srgbClr val="E36414"/>
              </a:buClr>
              <a:buFont typeface="Arial"/>
              <a:buChar char="•"/>
            </a:pPr>
            <a:r>
              <a:rPr sz="1700" b="0">
                <a:solidFill>
                  <a:srgbClr val="142B33"/>
                </a:solidFill>
                <a:latin typeface="Calibri"/>
              </a:rPr>
              <a:t>Grima, P., Marco, L. y Tort-Martorell, X. (2004). Estadística práctica con Minitab. Pearson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