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Valor</c:v>
                </c:pt>
              </c:strCache>
            </c:strRef>
          </c:tx>
          <c:spPr>
            <a:solidFill>
              <a:srgbClr val="0F4C5C"/>
            </a:solidFill>
          </c:spPr>
          <c:invertIfNegative val="0"/>
          <c:cat>
            <c:strRef>
              <c:f>Sheet1!$A$2:$A$9</c:f>
              <c:strCache>
                <c:ptCount val="8"/>
                <c:pt idx="0">
                  <c:v>k = 3</c:v>
                </c:pt>
                <c:pt idx="1">
                  <c:v>k = 4</c:v>
                </c:pt>
                <c:pt idx="2">
                  <c:v>k = 5</c:v>
                </c:pt>
                <c:pt idx="3">
                  <c:v>k = 6</c:v>
                </c:pt>
                <c:pt idx="4">
                  <c:v>k = 7</c:v>
                </c:pt>
                <c:pt idx="5">
                  <c:v>k = 8</c:v>
                </c:pt>
                <c:pt idx="6">
                  <c:v>k = 9</c:v>
                </c:pt>
                <c:pt idx="7">
                  <c:v>k = 10</c:v>
                </c:pt>
              </c:strCache>
            </c:strRef>
          </c:cat>
          <c:val>
            <c:numRef>
              <c:f>Sheet1!$B$2:$B$9</c:f>
              <c:numCache>
                <c:formatCode>General</c:formatCode>
                <c:ptCount val="8"/>
                <c:pt idx="0">
                  <c:v>8</c:v>
                </c:pt>
                <c:pt idx="1">
                  <c:v>16</c:v>
                </c:pt>
                <c:pt idx="2">
                  <c:v>32</c:v>
                </c:pt>
                <c:pt idx="3">
                  <c:v>64</c:v>
                </c:pt>
                <c:pt idx="4">
                  <c:v>128</c:v>
                </c:pt>
                <c:pt idx="5">
                  <c:v>256</c:v>
                </c:pt>
                <c:pt idx="6">
                  <c:v>512</c:v>
                </c:pt>
                <c:pt idx="7">
                  <c:v>1024</c:v>
                </c:pt>
              </c:numCache>
            </c:numRef>
          </c:val>
        </c:ser>
        <c:dLbls>
          <c:numFmt formatCode="0" sourceLinked="0"/>
          <c:txPr>
            <a:bodyPr/>
            <a:lstStyle/>
            <a:p>
              <a:pPr>
                <a:defRPr sz="1200">
                  <a:solidFill>
                    <a:srgbClr val="142B33"/>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b"/>
        <c:majorTickMark val="out"/>
        <c:minorTickMark val="none"/>
        <c:tickLblPos val="low"/>
        <c:spPr>
          <a:ln>
            <a:solidFill>
              <a:srgbClr val="9AA8AE"/>
            </a:solidFill>
          </a:ln>
        </c:spPr>
        <c:crossAx val="-2113994440"/>
        <c:crosses val="autoZero"/>
        <c:auto val="1"/>
        <c:lblAlgn val="ctr"/>
        <c:lblOffset val="100"/>
        <c:tickLblSkip val="1"/>
        <c:noMultiLvlLbl val="0"/>
      </c:catAx>
      <c:valAx>
        <c:axId val="-2113994440"/>
        <c:scaling/>
        <c:delete val="0"/>
        <c:axPos val="l"/>
        <c:majorGridlines>
          <c:spPr>
            <a:ln w="6350">
              <a:solidFill>
                <a:srgbClr val="DDE5E8"/>
              </a:solidFill>
            </a:ln>
          </c:spPr>
        </c:majorGridlines>
        <c:title>
          <c:tx>
            <c:rich>
              <a:bodyPr/>
              <a:lstStyle/>
              <a:p>
                <a:r>
                  <a:rPr sz="1200" b="0">
                    <a:solidFill>
                      <a:srgbClr val="5B6B73"/>
                    </a:solidFill>
                    <a:latin typeface="Calibri"/>
                  </a:rPr>
                  <a:t>Corridas del factorial completo</a:t>
                </a:r>
              </a:p>
            </c:rich>
          </c:tx>
          <c:layout/>
          <c:overlay val="0"/>
        </c:title>
        <c:numFmt formatCode="0" sourceLinked="0"/>
        <c:majorTickMark val="out"/>
        <c:minorTickMark val="none"/>
        <c:tickLblPos val="nextTo"/>
        <c:spPr>
          <a:ln>
            <a:solidFill>
              <a:srgbClr val="9AA8AE"/>
            </a:solidFill>
          </a:ln>
        </c:spPr>
        <c:crossAx val="-2068027336"/>
        <c:crosses val="autoZero"/>
      </c:valAx>
    </c:plotArea>
    <c:dispBlanksAs val="gap"/>
  </c:chart>
  <c:txPr>
    <a:bodyPr/>
    <a:lstStyle/>
    <a:p>
      <a:pPr>
        <a:defRPr sz="1200">
          <a:solidFill>
            <a:srgbClr val="142B33"/>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r>
              <a:rPr sz="1400" b="1">
                <a:solidFill>
                  <a:srgbClr val="0F4C5C"/>
                </a:solidFill>
              </a:rPr>
              <a:t>Gráfica seminormal con recta de Daniel</a:t>
            </a:r>
          </a:p>
        </c:rich>
      </c:tx>
      <c:layout/>
      <c:overlay val="0"/>
    </c:title>
    <c:plotArea>
      <c:scatterChart>
        <c:scatterStyle val="lineMarker"/>
        <c:varyColors val="0"/>
        <c:ser>
          <c:idx val="0"/>
          <c:order val="0"/>
          <c:tx>
            <c:strRef>
              <c:f>Sheet1!$B$1</c:f>
              <c:strCache>
                <c:ptCount val="1"/>
                <c:pt idx="0">
                  <c:v>Datos</c:v>
                </c:pt>
              </c:strCache>
            </c:strRef>
          </c:tx>
          <c:spPr>
            <a:ln w="47625">
              <a:noFill/>
            </a:ln>
          </c:spPr>
          <c:marker>
            <c:symbol val="circle"/>
            <c:size val="9"/>
            <c:spPr>
              <a:solidFill>
                <a:srgbClr val="0F4C5C"/>
              </a:solidFill>
              <a:ln>
                <a:solidFill>
                  <a:srgbClr val="FFFFFF"/>
                </a:solidFill>
              </a:ln>
            </c:spPr>
          </c:marker>
          <c:dPt>
            <c:idx val="2"/>
            <c:marker>
              <c:symbol val="circle"/>
              <c:size val="10"/>
              <c:spPr>
                <a:solidFill>
                  <a:srgbClr val="E36414"/>
                </a:solidFill>
                <a:ln>
                  <a:solidFill>
                    <a:srgbClr val="FFFFFF"/>
                  </a:solidFill>
                </a:ln>
              </c:spPr>
            </c:marker>
          </c:dPt>
          <c:dPt>
            <c:idx val="3"/>
            <c:marker>
              <c:symbol val="circle"/>
              <c:size val="10"/>
              <c:spPr>
                <a:solidFill>
                  <a:srgbClr val="E36414"/>
                </a:solidFill>
                <a:ln>
                  <a:solidFill>
                    <a:srgbClr val="FFFFFF"/>
                  </a:solidFill>
                </a:ln>
              </c:spPr>
            </c:marker>
          </c:dPt>
          <c:dPt>
            <c:idx val="4"/>
            <c:marker>
              <c:symbol val="circle"/>
              <c:size val="10"/>
              <c:spPr>
                <a:solidFill>
                  <a:srgbClr val="E36414"/>
                </a:solidFill>
                <a:ln>
                  <a:solidFill>
                    <a:srgbClr val="FFFFFF"/>
                  </a:solidFill>
                </a:ln>
              </c:spPr>
            </c:marker>
          </c:dPt>
          <c:dPt>
            <c:idx val="5"/>
            <c:marker>
              <c:symbol val="circle"/>
              <c:size val="10"/>
              <c:spPr>
                <a:solidFill>
                  <a:srgbClr val="E36414"/>
                </a:solidFill>
                <a:ln>
                  <a:solidFill>
                    <a:srgbClr val="FFFFFF"/>
                  </a:solidFill>
                </a:ln>
              </c:spPr>
            </c:marker>
          </c:dPt>
          <c:dPt>
            <c:idx val="6"/>
            <c:marker>
              <c:symbol val="circle"/>
              <c:size val="10"/>
              <c:spPr>
                <a:solidFill>
                  <a:srgbClr val="E36414"/>
                </a:solidFill>
                <a:ln>
                  <a:solidFill>
                    <a:srgbClr val="FFFFFF"/>
                  </a:solidFill>
                </a:ln>
              </c:spPr>
            </c:marker>
          </c:dPt>
          <c:dLbls>
            <c:dLbl>
              <c:idx val="0"/>
              <c:tx>
                <c:rich>
                  <a:bodyPr/>
                  <a:lstStyle/>
                  <a:p>
                    <a:r>
                      <a:rPr sz="1300" b="1">
                        <a:solidFill>
                          <a:srgbClr val="E36414"/>
                        </a:solidFill>
                      </a:rPr>
                      <a:t>AB</a:t>
                    </a:r>
                  </a:p>
                </c:rich>
              </c:tx>
              <c:dLblPos val="r"/>
              <c:showLegendKey val="0"/>
              <c:showVal val="1"/>
              <c:showCatName val="0"/>
              <c:showSerName val="0"/>
              <c:showPercent val="0"/>
              <c:showBubbleSize val="0"/>
            </c:dLbl>
            <c:dLbl>
              <c:idx val="1"/>
              <c:tx>
                <c:rich>
                  <a:bodyPr/>
                  <a:lstStyle/>
                  <a:p>
                    <a:r>
                      <a:rPr sz="1300" b="1">
                        <a:solidFill>
                          <a:srgbClr val="E36414"/>
                        </a:solidFill>
                      </a:rPr>
                      <a:t>B</a:t>
                    </a:r>
                  </a:p>
                </c:rich>
              </c:tx>
              <c:dLblPos val="r"/>
              <c:showLegendKey val="0"/>
              <c:showVal val="1"/>
              <c:showCatName val="0"/>
              <c:showSerName val="0"/>
              <c:showPercent val="0"/>
              <c:showBubbleSize val="0"/>
            </c:dLbl>
            <c:dLbl>
              <c:idx val="2"/>
              <c:tx>
                <c:rich>
                  <a:bodyPr/>
                  <a:lstStyle/>
                  <a:p>
                    <a:r>
                      <a:rPr sz="1300" b="1">
                        <a:solidFill>
                          <a:srgbClr val="E36414"/>
                        </a:solidFill>
                      </a:rPr>
                      <a:t>C</a:t>
                    </a:r>
                  </a:p>
                </c:rich>
              </c:tx>
              <c:dLblPos val="r"/>
              <c:showLegendKey val="0"/>
              <c:showVal val="1"/>
              <c:showCatName val="0"/>
              <c:showSerName val="0"/>
              <c:showPercent val="0"/>
              <c:showBubbleSize val="0"/>
            </c:dLbl>
            <c:dLbl>
              <c:idx val="3"/>
              <c:tx>
                <c:rich>
                  <a:bodyPr/>
                  <a:lstStyle/>
                  <a:p>
                    <a:r>
                      <a:rPr sz="1300" b="1">
                        <a:solidFill>
                          <a:srgbClr val="E36414"/>
                        </a:solidFill>
                      </a:rPr>
                      <a:t>D</a:t>
                    </a:r>
                  </a:p>
                </c:rich>
              </c:tx>
              <c:dLblPos val="r"/>
              <c:showLegendKey val="0"/>
              <c:showVal val="1"/>
              <c:showCatName val="0"/>
              <c:showSerName val="0"/>
              <c:showPercent val="0"/>
              <c:showBubbleSize val="0"/>
            </c:dLbl>
            <c:dLbl>
              <c:idx val="4"/>
              <c:tx>
                <c:rich>
                  <a:bodyPr/>
                  <a:lstStyle/>
                  <a:p>
                    <a:r>
                      <a:rPr sz="1300" b="1">
                        <a:solidFill>
                          <a:srgbClr val="E36414"/>
                        </a:solidFill>
                      </a:rPr>
                      <a:t>AC</a:t>
                    </a:r>
                  </a:p>
                </c:rich>
              </c:tx>
              <c:dLblPos val="r"/>
              <c:showLegendKey val="0"/>
              <c:showVal val="1"/>
              <c:showCatName val="0"/>
              <c:showSerName val="0"/>
              <c:showPercent val="0"/>
              <c:showBubbleSize val="0"/>
            </c:dLbl>
            <c:dLbl>
              <c:idx val="5"/>
              <c:tx>
                <c:rich>
                  <a:bodyPr/>
                  <a:lstStyle/>
                  <a:p>
                    <a:r>
                      <a:rPr sz="1300" b="1">
                        <a:solidFill>
                          <a:srgbClr val="E36414"/>
                        </a:solidFill>
                      </a:rPr>
                      <a:t>A</a:t>
                    </a:r>
                  </a:p>
                </c:rich>
              </c:tx>
              <c:dLblPos val="r"/>
              <c:showLegendKey val="0"/>
              <c:showVal val="1"/>
              <c:showCatName val="0"/>
              <c:showSerName val="0"/>
              <c:showPercent val="0"/>
              <c:showBubbleSize val="0"/>
            </c:dLbl>
            <c:dLbl>
              <c:idx val="6"/>
              <c:tx>
                <c:rich>
                  <a:bodyPr/>
                  <a:lstStyle/>
                  <a:p>
                    <a:r>
                      <a:rPr sz="1300" b="1">
                        <a:solidFill>
                          <a:srgbClr val="E36414"/>
                        </a:solidFill>
                      </a:rPr>
                      <a:t>AD</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Sheet1!$A$2:$A$8</c:f>
              <c:numCache>
                <c:formatCode>General</c:formatCode>
                <c:ptCount val="7"/>
                <c:pt idx="0">
                  <c:v>1.0</c:v>
                </c:pt>
                <c:pt idx="1">
                  <c:v>1.5</c:v>
                </c:pt>
                <c:pt idx="2">
                  <c:v>14.0</c:v>
                </c:pt>
                <c:pt idx="3">
                  <c:v>16.5</c:v>
                </c:pt>
                <c:pt idx="4">
                  <c:v>18.5</c:v>
                </c:pt>
                <c:pt idx="5">
                  <c:v>19.0</c:v>
                </c:pt>
                <c:pt idx="6">
                  <c:v>19.0</c:v>
                </c:pt>
              </c:numCache>
            </c:numRef>
          </c:xVal>
          <c:yVal>
            <c:numRef>
              <c:f>Sheet1!$B$2:$B$8</c:f>
              <c:numCache>
                <c:formatCode>General</c:formatCode>
                <c:ptCount val="7"/>
                <c:pt idx="0">
                  <c:v>0.08964235107576252</c:v>
                </c:pt>
                <c:pt idx="1">
                  <c:v>0.2718800053992607</c:v>
                </c:pt>
                <c:pt idx="2">
                  <c:v>0.46370775145717896</c:v>
                </c:pt>
                <c:pt idx="3">
                  <c:v>0.6744897501960817</c:v>
                </c:pt>
                <c:pt idx="4">
                  <c:v>0.9208229763683786</c:v>
                </c:pt>
                <c:pt idx="5">
                  <c:v>1.2418667918433202</c:v>
                </c:pt>
                <c:pt idx="6">
                  <c:v>1.8027430907391906</c:v>
                </c:pt>
              </c:numCache>
            </c:numRef>
          </c:yVal>
          <c:smooth val="0"/>
        </c:ser>
        <c:ser>
          <c:idx val="1"/>
          <c:order val="1"/>
          <c:tx>
            <c:strRef>
              <c:f>Sheet1!$B$10</c:f>
              <c:strCache>
                <c:ptCount val="1"/>
                <c:pt idx="0">
                  <c:v>Recta</c:v>
                </c:pt>
              </c:strCache>
            </c:strRef>
          </c:tx>
          <c:spPr>
            <a:ln w="19050">
              <a:solidFill>
                <a:srgbClr val="E36414"/>
              </a:solidFill>
            </a:ln>
          </c:spPr>
          <c:marker>
            <c:symbol val="none"/>
          </c:marker>
          <c:xVal>
            <c:numRef>
              <c:f>Sheet1!$A$11:$A$12</c:f>
              <c:numCache>
                <c:formatCode>General</c:formatCode>
                <c:ptCount val="2"/>
                <c:pt idx="0">
                  <c:v>0.0</c:v>
                </c:pt>
                <c:pt idx="1">
                  <c:v>10.942620080368114</c:v>
                </c:pt>
              </c:numCache>
            </c:numRef>
          </c:xVal>
          <c:yVal>
            <c:numRef>
              <c:f>Sheet1!$B$11:$B$12</c:f>
              <c:numCache>
                <c:formatCode>General</c:formatCode>
                <c:ptCount val="2"/>
                <c:pt idx="0">
                  <c:v>0.0</c:v>
                </c:pt>
                <c:pt idx="1">
                  <c:v>1.8027430907391906</c:v>
                </c:pt>
              </c:numCache>
            </c:numRef>
          </c:yVal>
          <c:smooth val="0"/>
        </c:ser>
        <c:axId val="-2128940872"/>
        <c:axId val="-2129643912"/>
      </c:scatterChart>
      <c:valAx>
        <c:axId val="-2128940872"/>
        <c:scaling>
          <c:orientation val="minMax"/>
        </c:scaling>
        <c:delete val="0"/>
        <c:axPos val="b"/>
        <c:title>
          <c:tx>
            <c:rich>
              <a:bodyPr/>
              <a:lstStyle/>
              <a:p>
                <a:r>
                  <a:rPr sz="1200" b="0">
                    <a:solidFill>
                      <a:srgbClr val="5B6B73"/>
                    </a:solidFill>
                    <a:latin typeface="Calibri"/>
                  </a:rPr>
                  <a:t>|Efecto|</a:t>
                </a:r>
              </a:p>
            </c:rich>
          </c:tx>
          <c:layout/>
          <c:overlay val="0"/>
        </c:title>
        <c:numFmt formatCode="General" sourceLinked="1"/>
        <c:majorTickMark val="out"/>
        <c:minorTickMark val="none"/>
        <c:tickLblPos val="low"/>
        <c:spPr>
          <a:ln>
            <a:solidFill>
              <a:srgbClr val="9AA8AE"/>
            </a:solidFill>
          </a:ln>
        </c:spPr>
        <c:crossAx val="-2129643912"/>
        <c:crosses val="autoZero"/>
        <c:crossBetween val="midCat"/>
      </c:valAx>
      <c:valAx>
        <c:axId val="-2129643912"/>
        <c:scaling>
          <c:orientation val="minMax"/>
        </c:scaling>
        <c:delete val="0"/>
        <c:axPos val="l"/>
        <c:majorGridlines>
          <c:spPr>
            <a:ln w="6350">
              <a:solidFill>
                <a:srgbClr val="DDE5E8"/>
              </a:solidFill>
            </a:ln>
          </c:spPr>
        </c:majorGridlines>
        <c:title>
          <c:tx>
            <c:rich>
              <a:bodyPr/>
              <a:lstStyle/>
              <a:p>
                <a:r>
                  <a:rPr sz="1200" b="0">
                    <a:solidFill>
                      <a:srgbClr val="5B6B73"/>
                    </a:solidFill>
                    <a:latin typeface="Calibri"/>
                  </a:rPr>
                  <a:t>Puntuación seminormal</a:t>
                </a:r>
              </a:p>
            </c:rich>
          </c:tx>
          <c:layout/>
          <c:overlay val="0"/>
        </c:title>
        <c:numFmt formatCode="0.0" sourceLinked="0"/>
        <c:majorTickMark val="out"/>
        <c:minorTickMark val="none"/>
        <c:tickLblPos val="low"/>
        <c:spPr>
          <a:ln>
            <a:solidFill>
              <a:srgbClr val="9AA8AE"/>
            </a:solidFill>
          </a:ln>
        </c:spPr>
        <c:crossAx val="-2128940872"/>
        <c:crosses val="autoZero"/>
        <c:crossBetween val="midCat"/>
      </c:valAx>
    </c:plotArea>
    <c:plotVisOnly val="1"/>
    <c:dispBlanksAs val="gap"/>
    <c:showDLblsOverMax val="0"/>
  </c:chart>
  <c:txPr>
    <a:bodyPr/>
    <a:lstStyle/>
    <a:p>
      <a:pPr>
        <a:defRPr sz="1200">
          <a:solidFill>
            <a:srgbClr val="142B33"/>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chart>
    <c:title>
      <c:tx>
        <c:rich>
          <a:bodyPr/>
          <a:lstStyle/>
          <a:p>
            <a:r>
              <a:rPr sz="1400" b="1">
                <a:solidFill>
                  <a:srgbClr val="0F4C5C"/>
                </a:solidFill>
              </a:rPr>
              <a:t>Gráfica normal con recta de Daniel</a:t>
            </a:r>
          </a:p>
        </c:rich>
      </c:tx>
      <c:layout/>
      <c:overlay val="0"/>
    </c:title>
    <c:plotArea>
      <c:scatterChart>
        <c:scatterStyle val="lineMarker"/>
        <c:varyColors val="0"/>
        <c:ser>
          <c:idx val="0"/>
          <c:order val="0"/>
          <c:tx>
            <c:strRef>
              <c:f>Sheet1!$B$1</c:f>
              <c:strCache>
                <c:ptCount val="1"/>
                <c:pt idx="0">
                  <c:v>Datos</c:v>
                </c:pt>
              </c:strCache>
            </c:strRef>
          </c:tx>
          <c:spPr>
            <a:ln w="47625">
              <a:noFill/>
            </a:ln>
          </c:spPr>
          <c:marker>
            <c:symbol val="circle"/>
            <c:size val="9"/>
            <c:spPr>
              <a:solidFill>
                <a:srgbClr val="0F4C5C"/>
              </a:solidFill>
              <a:ln>
                <a:solidFill>
                  <a:srgbClr val="FFFFFF"/>
                </a:solidFill>
              </a:ln>
            </c:spPr>
          </c:marker>
          <c:dPt>
            <c:idx val="11"/>
            <c:marker>
              <c:symbol val="circle"/>
              <c:size val="10"/>
              <c:spPr>
                <a:solidFill>
                  <a:srgbClr val="E36414"/>
                </a:solidFill>
                <a:ln>
                  <a:solidFill>
                    <a:srgbClr val="FFFFFF"/>
                  </a:solidFill>
                </a:ln>
              </c:spPr>
            </c:marker>
          </c:dPt>
          <c:dPt>
            <c:idx val="12"/>
            <c:marker>
              <c:symbol val="circle"/>
              <c:size val="10"/>
              <c:spPr>
                <a:solidFill>
                  <a:srgbClr val="E36414"/>
                </a:solidFill>
                <a:ln>
                  <a:solidFill>
                    <a:srgbClr val="FFFFFF"/>
                  </a:solidFill>
                </a:ln>
              </c:spPr>
            </c:marker>
          </c:dPt>
          <c:dPt>
            <c:idx val="13"/>
            <c:marker>
              <c:symbol val="circle"/>
              <c:size val="10"/>
              <c:spPr>
                <a:solidFill>
                  <a:srgbClr val="E36414"/>
                </a:solidFill>
                <a:ln>
                  <a:solidFill>
                    <a:srgbClr val="FFFFFF"/>
                  </a:solidFill>
                </a:ln>
              </c:spPr>
            </c:marker>
          </c:dPt>
          <c:dPt>
            <c:idx val="14"/>
            <c:marker>
              <c:symbol val="circle"/>
              <c:size val="10"/>
              <c:spPr>
                <a:solidFill>
                  <a:srgbClr val="E36414"/>
                </a:solidFill>
                <a:ln>
                  <a:solidFill>
                    <a:srgbClr val="FFFFFF"/>
                  </a:solidFill>
                </a:ln>
              </c:spPr>
            </c:marker>
          </c:dPt>
          <c:dLbls>
            <c:dLbl>
              <c:idx val="11"/>
              <c:tx>
                <c:rich>
                  <a:bodyPr/>
                  <a:lstStyle/>
                  <a:p>
                    <a:r>
                      <a:rPr sz="1300" b="1">
                        <a:solidFill>
                          <a:srgbClr val="E36414"/>
                        </a:solidFill>
                      </a:rPr>
                      <a:t>AB</a:t>
                    </a:r>
                  </a:p>
                </c:rich>
              </c:tx>
              <c:dLblPos val="r"/>
              <c:showLegendKey val="0"/>
              <c:showVal val="1"/>
              <c:showCatName val="0"/>
              <c:showSerName val="0"/>
              <c:showPercent val="0"/>
              <c:showBubbleSize val="0"/>
            </c:dLbl>
            <c:dLbl>
              <c:idx val="12"/>
              <c:tx>
                <c:rich>
                  <a:bodyPr/>
                  <a:lstStyle/>
                  <a:p>
                    <a:r>
                      <a:rPr sz="1300" b="1">
                        <a:solidFill>
                          <a:srgbClr val="E36414"/>
                        </a:solidFill>
                      </a:rPr>
                      <a:t>C</a:t>
                    </a:r>
                  </a:p>
                </c:rich>
              </c:tx>
              <c:dLblPos val="r"/>
              <c:showLegendKey val="0"/>
              <c:showVal val="1"/>
              <c:showCatName val="0"/>
              <c:showSerName val="0"/>
              <c:showPercent val="0"/>
              <c:showBubbleSize val="0"/>
            </c:dLbl>
            <c:dLbl>
              <c:idx val="13"/>
              <c:tx>
                <c:rich>
                  <a:bodyPr/>
                  <a:lstStyle/>
                  <a:p>
                    <a:r>
                      <a:rPr sz="1300" b="1">
                        <a:solidFill>
                          <a:srgbClr val="E36414"/>
                        </a:solidFill>
                      </a:rPr>
                      <a:t>A</a:t>
                    </a:r>
                  </a:p>
                </c:rich>
              </c:tx>
              <c:dLblPos val="r"/>
              <c:showLegendKey val="0"/>
              <c:showVal val="1"/>
              <c:showCatName val="0"/>
              <c:showSerName val="0"/>
              <c:showPercent val="0"/>
              <c:showBubbleSize val="0"/>
            </c:dLbl>
            <c:dLbl>
              <c:idx val="14"/>
              <c:tx>
                <c:rich>
                  <a:bodyPr/>
                  <a:lstStyle/>
                  <a:p>
                    <a:r>
                      <a:rPr sz="1300" b="1">
                        <a:solidFill>
                          <a:srgbClr val="E36414"/>
                        </a:solidFill>
                      </a:rPr>
                      <a:t>B</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Sheet1!$A$2:$A$16</c:f>
              <c:numCache>
                <c:formatCode>General</c:formatCode>
                <c:ptCount val="15"/>
                <c:pt idx="0">
                  <c:v>-1.375</c:v>
                </c:pt>
                <c:pt idx="1">
                  <c:v>-0.875</c:v>
                </c:pt>
                <c:pt idx="2">
                  <c:v>-0.125</c:v>
                </c:pt>
                <c:pt idx="3">
                  <c:v>-0.125</c:v>
                </c:pt>
                <c:pt idx="4">
                  <c:v>0.375</c:v>
                </c:pt>
                <c:pt idx="5">
                  <c:v>0.375</c:v>
                </c:pt>
                <c:pt idx="6">
                  <c:v>0.625</c:v>
                </c:pt>
                <c:pt idx="7">
                  <c:v>0.625</c:v>
                </c:pt>
                <c:pt idx="8">
                  <c:v>0.875</c:v>
                </c:pt>
                <c:pt idx="9">
                  <c:v>1.125</c:v>
                </c:pt>
                <c:pt idx="10">
                  <c:v>1.125</c:v>
                </c:pt>
                <c:pt idx="11">
                  <c:v>6.875</c:v>
                </c:pt>
                <c:pt idx="12">
                  <c:v>10.875</c:v>
                </c:pt>
                <c:pt idx="13">
                  <c:v>11.125</c:v>
                </c:pt>
                <c:pt idx="14">
                  <c:v>33.875</c:v>
                </c:pt>
              </c:numCache>
            </c:numRef>
          </c:xVal>
          <c:yVal>
            <c:numRef>
              <c:f>Sheet1!$B$2:$B$16</c:f>
              <c:numCache>
                <c:formatCode>General</c:formatCode>
                <c:ptCount val="15"/>
                <c:pt idx="0">
                  <c:v>-1.8339146358159142</c:v>
                </c:pt>
                <c:pt idx="1">
                  <c:v>-1.2815515655446008</c:v>
                </c:pt>
                <c:pt idx="2">
                  <c:v>-0.9674215661017014</c:v>
                </c:pt>
                <c:pt idx="3">
                  <c:v>-0.727913290881644</c:v>
                </c:pt>
                <c:pt idx="4">
                  <c:v>-0.5244005127080407</c:v>
                </c:pt>
                <c:pt idx="5">
                  <c:v>-0.34069482708779547</c:v>
                </c:pt>
                <c:pt idx="6">
                  <c:v>-0.1678940047881054</c:v>
                </c:pt>
                <c:pt idx="7">
                  <c:v>0.0</c:v>
                </c:pt>
                <c:pt idx="8">
                  <c:v>0.1678940047881054</c:v>
                </c:pt>
                <c:pt idx="9">
                  <c:v>0.34069482708779536</c:v>
                </c:pt>
                <c:pt idx="10">
                  <c:v>0.5244005127080407</c:v>
                </c:pt>
                <c:pt idx="11">
                  <c:v>0.7279132908816445</c:v>
                </c:pt>
                <c:pt idx="12">
                  <c:v>0.9674215661017014</c:v>
                </c:pt>
                <c:pt idx="13">
                  <c:v>1.2815515655446008</c:v>
                </c:pt>
                <c:pt idx="14">
                  <c:v>1.8339146358159142</c:v>
                </c:pt>
              </c:numCache>
            </c:numRef>
          </c:yVal>
          <c:smooth val="0"/>
        </c:ser>
        <c:ser>
          <c:idx val="1"/>
          <c:order val="1"/>
          <c:tx>
            <c:strRef>
              <c:f>Sheet1!$B$18</c:f>
              <c:strCache>
                <c:ptCount val="1"/>
                <c:pt idx="0">
                  <c:v>Recta</c:v>
                </c:pt>
              </c:strCache>
            </c:strRef>
          </c:tx>
          <c:spPr>
            <a:ln w="19050">
              <a:solidFill>
                <a:srgbClr val="E36414"/>
              </a:solidFill>
            </a:ln>
          </c:spPr>
          <c:marker>
            <c:symbol val="none"/>
          </c:marker>
          <c:xVal>
            <c:numRef>
              <c:f>Sheet1!$A$19:$A$20</c:f>
              <c:numCache>
                <c:formatCode>General</c:formatCode>
                <c:ptCount val="2"/>
                <c:pt idx="0">
                  <c:v>-1.2887989237118709</c:v>
                </c:pt>
                <c:pt idx="1">
                  <c:v>2.72272611819398</c:v>
                </c:pt>
              </c:numCache>
            </c:numRef>
          </c:xVal>
          <c:yVal>
            <c:numRef>
              <c:f>Sheet1!$B$19:$B$20</c:f>
              <c:numCache>
                <c:formatCode>General</c:formatCode>
                <c:ptCount val="2"/>
                <c:pt idx="0">
                  <c:v>-1.8339146358159142</c:v>
                </c:pt>
                <c:pt idx="1">
                  <c:v>1.8339146358159142</c:v>
                </c:pt>
              </c:numCache>
            </c:numRef>
          </c:yVal>
          <c:smooth val="0"/>
        </c:ser>
        <c:axId val="-2128940872"/>
        <c:axId val="-2129643912"/>
      </c:scatterChart>
      <c:valAx>
        <c:axId val="-2128940872"/>
        <c:scaling>
          <c:orientation val="minMax"/>
        </c:scaling>
        <c:delete val="0"/>
        <c:axPos val="b"/>
        <c:title>
          <c:tx>
            <c:rich>
              <a:bodyPr/>
              <a:lstStyle/>
              <a:p>
                <a:r>
                  <a:rPr sz="1200" b="0">
                    <a:solidFill>
                      <a:srgbClr val="5B6B73"/>
                    </a:solidFill>
                    <a:latin typeface="Calibri"/>
                  </a:rPr>
                  <a:t>Efecto</a:t>
                </a:r>
              </a:p>
            </c:rich>
          </c:tx>
          <c:layout/>
          <c:overlay val="0"/>
        </c:title>
        <c:numFmt formatCode="General" sourceLinked="1"/>
        <c:majorTickMark val="out"/>
        <c:minorTickMark val="none"/>
        <c:tickLblPos val="low"/>
        <c:spPr>
          <a:ln>
            <a:solidFill>
              <a:srgbClr val="9AA8AE"/>
            </a:solidFill>
          </a:ln>
        </c:spPr>
        <c:crossAx val="-2129643912"/>
        <c:crosses val="autoZero"/>
        <c:crossBetween val="midCat"/>
      </c:valAx>
      <c:valAx>
        <c:axId val="-2129643912"/>
        <c:scaling>
          <c:orientation val="minMax"/>
        </c:scaling>
        <c:delete val="0"/>
        <c:axPos val="l"/>
        <c:majorGridlines>
          <c:spPr>
            <a:ln w="6350">
              <a:solidFill>
                <a:srgbClr val="DDE5E8"/>
              </a:solidFill>
            </a:ln>
          </c:spPr>
        </c:majorGridlines>
        <c:title>
          <c:tx>
            <c:rich>
              <a:bodyPr/>
              <a:lstStyle/>
              <a:p>
                <a:r>
                  <a:rPr sz="1200" b="0">
                    <a:solidFill>
                      <a:srgbClr val="5B6B73"/>
                    </a:solidFill>
                    <a:latin typeface="Calibri"/>
                  </a:rPr>
                  <a:t>Puntuación normal</a:t>
                </a:r>
              </a:p>
            </c:rich>
          </c:tx>
          <c:layout/>
          <c:overlay val="0"/>
        </c:title>
        <c:numFmt formatCode="0.0" sourceLinked="0"/>
        <c:majorTickMark val="out"/>
        <c:minorTickMark val="none"/>
        <c:tickLblPos val="low"/>
        <c:spPr>
          <a:ln>
            <a:solidFill>
              <a:srgbClr val="9AA8AE"/>
            </a:solidFill>
          </a:ln>
        </c:spPr>
        <c:crossAx val="-2128940872"/>
        <c:crosses val="autoZero"/>
        <c:crossBetween val="midCat"/>
      </c:valAx>
    </c:plotArea>
    <c:plotVisOnly val="1"/>
    <c:dispBlanksAs val="gap"/>
    <c:showDLblsOverMax val="0"/>
  </c:chart>
  <c:txPr>
    <a:bodyPr/>
    <a:lstStyle/>
    <a:p>
      <a:pPr>
        <a:defRPr sz="1200">
          <a:solidFill>
            <a:srgbClr val="142B33"/>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0F4C5C"/>
                </a:solidFill>
              </a:rPr>
              <a:t>Pareto de efectos (los 8 mayores)</a:t>
            </a:r>
          </a:p>
        </c:rich>
      </c:tx>
      <c:layout/>
      <c:overlay val="0"/>
    </c:title>
    <c:autoTitleDeleted val="0"/>
    <c:plotArea>
      <c:barChart>
        <c:barDir val="bar"/>
        <c:grouping val="clustered"/>
        <c:ser>
          <c:idx val="0"/>
          <c:order val="0"/>
          <c:tx>
            <c:strRef>
              <c:f>Sheet1!$B$1</c:f>
              <c:strCache>
                <c:ptCount val="1"/>
                <c:pt idx="0">
                  <c:v>Valor</c:v>
                </c:pt>
              </c:strCache>
            </c:strRef>
          </c:tx>
          <c:spPr>
            <a:solidFill>
              <a:srgbClr val="0F4C5C"/>
            </a:solidFill>
          </c:spPr>
          <c:invertIfNegative val="0"/>
          <c:cat>
            <c:strRef>
              <c:f>Sheet1!$A$2:$A$9</c:f>
              <c:strCache>
                <c:ptCount val="8"/>
                <c:pt idx="0">
                  <c:v>D</c:v>
                </c:pt>
                <c:pt idx="1">
                  <c:v>AE</c:v>
                </c:pt>
                <c:pt idx="2">
                  <c:v>AD</c:v>
                </c:pt>
                <c:pt idx="3">
                  <c:v>DE</c:v>
                </c:pt>
                <c:pt idx="4">
                  <c:v>AB</c:v>
                </c:pt>
                <c:pt idx="5">
                  <c:v>C</c:v>
                </c:pt>
                <c:pt idx="6">
                  <c:v>A</c:v>
                </c:pt>
                <c:pt idx="7">
                  <c:v>B</c:v>
                </c:pt>
              </c:strCache>
            </c:strRef>
          </c:cat>
          <c:val>
            <c:numRef>
              <c:f>Sheet1!$B$2:$B$9</c:f>
              <c:numCache>
                <c:formatCode>General</c:formatCode>
                <c:ptCount val="8"/>
                <c:pt idx="0">
                  <c:v>0.875</c:v>
                </c:pt>
                <c:pt idx="1">
                  <c:v>1.125</c:v>
                </c:pt>
                <c:pt idx="2">
                  <c:v>1.125</c:v>
                </c:pt>
                <c:pt idx="3">
                  <c:v>1.375</c:v>
                </c:pt>
                <c:pt idx="4">
                  <c:v>6.875</c:v>
                </c:pt>
                <c:pt idx="5">
                  <c:v>10.875</c:v>
                </c:pt>
                <c:pt idx="6">
                  <c:v>11.125</c:v>
                </c:pt>
                <c:pt idx="7">
                  <c:v>33.875</c:v>
                </c:pt>
              </c:numCache>
            </c:numRef>
          </c:val>
        </c:ser>
        <c:dLbls>
          <c:numFmt formatCode="0.00" sourceLinked="0"/>
          <c:txPr>
            <a:bodyPr/>
            <a:lstStyle/>
            <a:p>
              <a:pPr>
                <a:defRPr sz="1200">
                  <a:solidFill>
                    <a:srgbClr val="142B33"/>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low"/>
        <c:spPr>
          <a:ln>
            <a:solidFill>
              <a:srgbClr val="9AA8AE"/>
            </a:solidFill>
          </a:ln>
        </c:spPr>
        <c:crossAx val="-2113994440"/>
        <c:crosses val="autoZero"/>
        <c:auto val="1"/>
        <c:lblAlgn val="ctr"/>
        <c:lblOffset val="100"/>
        <c:tickLblSkip val="1"/>
        <c:noMultiLvlLbl val="0"/>
      </c:catAx>
      <c:valAx>
        <c:axId val="-2113994440"/>
        <c:scaling/>
        <c:delete val="0"/>
        <c:axPos val="b"/>
        <c:majorGridlines>
          <c:spPr>
            <a:ln w="6350">
              <a:solidFill>
                <a:srgbClr val="DDE5E8"/>
              </a:solidFill>
            </a:ln>
          </c:spPr>
        </c:majorGridlines>
        <c:title>
          <c:tx>
            <c:rich>
              <a:bodyPr/>
              <a:lstStyle/>
              <a:p>
                <a:r>
                  <a:rPr sz="1200" b="0">
                    <a:solidFill>
                      <a:srgbClr val="5B6B73"/>
                    </a:solidFill>
                    <a:latin typeface="Calibri"/>
                  </a:rPr>
                  <a:t>|Efecto|</a:t>
                </a:r>
              </a:p>
            </c:rich>
          </c:tx>
          <c:layout/>
          <c:overlay val="0"/>
        </c:title>
        <c:numFmt formatCode="0" sourceLinked="0"/>
        <c:majorTickMark val="out"/>
        <c:minorTickMark val="none"/>
        <c:tickLblPos val="nextTo"/>
        <c:spPr>
          <a:ln>
            <a:solidFill>
              <a:srgbClr val="9AA8AE"/>
            </a:solidFill>
          </a:ln>
        </c:spPr>
        <c:crossAx val="-2068027336"/>
        <c:crosses val="autoZero"/>
      </c:valAx>
    </c:plotArea>
    <c:dispBlanksAs val="gap"/>
  </c:chart>
  <c:txPr>
    <a:bodyPr/>
    <a:lstStyle/>
    <a:p>
      <a:pPr>
        <a:defRPr sz="1200">
          <a:solidFill>
            <a:srgbClr val="142B33"/>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0F4C5C"/>
                </a:solidFill>
              </a:rPr>
              <a:t>Pareto de la mitad complementaria (8 mayores)</a:t>
            </a:r>
          </a:p>
        </c:rich>
      </c:tx>
      <c:layout/>
      <c:overlay val="0"/>
    </c:title>
    <c:autoTitleDeleted val="0"/>
    <c:plotArea>
      <c:barChart>
        <c:barDir val="bar"/>
        <c:grouping val="clustered"/>
        <c:ser>
          <c:idx val="0"/>
          <c:order val="0"/>
          <c:tx>
            <c:strRef>
              <c:f>Sheet1!$B$1</c:f>
              <c:strCache>
                <c:ptCount val="1"/>
                <c:pt idx="0">
                  <c:v>Valor</c:v>
                </c:pt>
              </c:strCache>
            </c:strRef>
          </c:tx>
          <c:spPr>
            <a:solidFill>
              <a:srgbClr val="0F4C5C"/>
            </a:solidFill>
          </c:spPr>
          <c:invertIfNegative val="0"/>
          <c:cat>
            <c:strRef>
              <c:f>Sheet1!$A$2:$A$9</c:f>
              <c:strCache>
                <c:ptCount val="8"/>
                <c:pt idx="0">
                  <c:v>BE</c:v>
                </c:pt>
                <c:pt idx="1">
                  <c:v>BD</c:v>
                </c:pt>
                <c:pt idx="2">
                  <c:v>AD</c:v>
                </c:pt>
                <c:pt idx="3">
                  <c:v>D</c:v>
                </c:pt>
                <c:pt idx="4">
                  <c:v>AB</c:v>
                </c:pt>
                <c:pt idx="5">
                  <c:v>C</c:v>
                </c:pt>
                <c:pt idx="6">
                  <c:v>A</c:v>
                </c:pt>
                <c:pt idx="7">
                  <c:v>B</c:v>
                </c:pt>
              </c:strCache>
            </c:strRef>
          </c:cat>
          <c:val>
            <c:numRef>
              <c:f>Sheet1!$B$2:$B$9</c:f>
              <c:numCache>
                <c:formatCode>General</c:formatCode>
                <c:ptCount val="8"/>
                <c:pt idx="0">
                  <c:v>1.0</c:v>
                </c:pt>
                <c:pt idx="1">
                  <c:v>1.0</c:v>
                </c:pt>
                <c:pt idx="2">
                  <c:v>1.0</c:v>
                </c:pt>
                <c:pt idx="3">
                  <c:v>1.0</c:v>
                </c:pt>
                <c:pt idx="4">
                  <c:v>8.75</c:v>
                </c:pt>
                <c:pt idx="5">
                  <c:v>8.75</c:v>
                </c:pt>
                <c:pt idx="6">
                  <c:v>12.75</c:v>
                </c:pt>
                <c:pt idx="7">
                  <c:v>34.25</c:v>
                </c:pt>
              </c:numCache>
            </c:numRef>
          </c:val>
        </c:ser>
        <c:dLbls>
          <c:numFmt formatCode="0.00" sourceLinked="0"/>
          <c:txPr>
            <a:bodyPr/>
            <a:lstStyle/>
            <a:p>
              <a:pPr>
                <a:defRPr sz="1200">
                  <a:solidFill>
                    <a:srgbClr val="142B33"/>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low"/>
        <c:spPr>
          <a:ln>
            <a:solidFill>
              <a:srgbClr val="9AA8AE"/>
            </a:solidFill>
          </a:ln>
        </c:spPr>
        <c:crossAx val="-2113994440"/>
        <c:crosses val="autoZero"/>
        <c:auto val="1"/>
        <c:lblAlgn val="ctr"/>
        <c:lblOffset val="100"/>
        <c:tickLblSkip val="1"/>
        <c:noMultiLvlLbl val="0"/>
      </c:catAx>
      <c:valAx>
        <c:axId val="-2113994440"/>
        <c:scaling/>
        <c:delete val="0"/>
        <c:axPos val="b"/>
        <c:majorGridlines>
          <c:spPr>
            <a:ln w="6350">
              <a:solidFill>
                <a:srgbClr val="DDE5E8"/>
              </a:solidFill>
            </a:ln>
          </c:spPr>
        </c:majorGridlines>
        <c:title>
          <c:tx>
            <c:rich>
              <a:bodyPr/>
              <a:lstStyle/>
              <a:p>
                <a:r>
                  <a:rPr sz="1200" b="0">
                    <a:solidFill>
                      <a:srgbClr val="5B6B73"/>
                    </a:solidFill>
                    <a:latin typeface="Calibri"/>
                  </a:rPr>
                  <a:t>|Efecto|</a:t>
                </a:r>
              </a:p>
            </c:rich>
          </c:tx>
          <c:layout/>
          <c:overlay val="0"/>
        </c:title>
        <c:numFmt formatCode="0" sourceLinked="0"/>
        <c:majorTickMark val="out"/>
        <c:minorTickMark val="none"/>
        <c:tickLblPos val="nextTo"/>
        <c:spPr>
          <a:ln>
            <a:solidFill>
              <a:srgbClr val="9AA8AE"/>
            </a:solidFill>
          </a:ln>
        </c:spPr>
        <c:crossAx val="-2068027336"/>
        <c:crosses val="autoZero"/>
      </c:valAx>
    </c:plotArea>
    <c:dispBlanksAs val="gap"/>
  </c:chart>
  <c:txPr>
    <a:bodyPr/>
    <a:lstStyle/>
    <a:p>
      <a:pPr>
        <a:defRPr sz="1200">
          <a:solidFill>
            <a:srgbClr val="142B33"/>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chart>
    <c:title>
      <c:tx>
        <c:rich>
          <a:bodyPr/>
          <a:lstStyle/>
          <a:p>
            <a:r>
              <a:rPr sz="1400" b="1">
                <a:solidFill>
                  <a:srgbClr val="0F4C5C"/>
                </a:solidFill>
              </a:rPr>
              <a:t>Gráfica normal con recta de Daniel (fig. 8-12)</a:t>
            </a:r>
          </a:p>
        </c:rich>
      </c:tx>
      <c:layout/>
      <c:overlay val="0"/>
    </c:title>
    <c:plotArea>
      <c:scatterChart>
        <c:scatterStyle val="lineMarker"/>
        <c:varyColors val="0"/>
        <c:ser>
          <c:idx val="0"/>
          <c:order val="0"/>
          <c:tx>
            <c:strRef>
              <c:f>Sheet1!$B$1</c:f>
              <c:strCache>
                <c:ptCount val="1"/>
                <c:pt idx="0">
                  <c:v>Datos</c:v>
                </c:pt>
              </c:strCache>
            </c:strRef>
          </c:tx>
          <c:spPr>
            <a:ln w="47625">
              <a:noFill/>
            </a:ln>
          </c:spPr>
          <c:marker>
            <c:symbol val="circle"/>
            <c:size val="9"/>
            <c:spPr>
              <a:solidFill>
                <a:srgbClr val="0F4C5C"/>
              </a:solidFill>
              <a:ln>
                <a:solidFill>
                  <a:srgbClr val="FFFFFF"/>
                </a:solidFill>
              </a:ln>
            </c:spPr>
          </c:marker>
          <c:dPt>
            <c:idx val="12"/>
            <c:marker>
              <c:symbol val="circle"/>
              <c:size val="10"/>
              <c:spPr>
                <a:solidFill>
                  <a:srgbClr val="E36414"/>
                </a:solidFill>
                <a:ln>
                  <a:solidFill>
                    <a:srgbClr val="FFFFFF"/>
                  </a:solidFill>
                </a:ln>
              </c:spPr>
            </c:marker>
          </c:dPt>
          <c:dPt>
            <c:idx val="13"/>
            <c:marker>
              <c:symbol val="circle"/>
              <c:size val="10"/>
              <c:spPr>
                <a:solidFill>
                  <a:srgbClr val="E36414"/>
                </a:solidFill>
                <a:ln>
                  <a:solidFill>
                    <a:srgbClr val="FFFFFF"/>
                  </a:solidFill>
                </a:ln>
              </c:spPr>
            </c:marker>
          </c:dPt>
          <c:dPt>
            <c:idx val="14"/>
            <c:marker>
              <c:symbol val="circle"/>
              <c:size val="10"/>
              <c:spPr>
                <a:solidFill>
                  <a:srgbClr val="E36414"/>
                </a:solidFill>
                <a:ln>
                  <a:solidFill>
                    <a:srgbClr val="FFFFFF"/>
                  </a:solidFill>
                </a:ln>
              </c:spPr>
            </c:marker>
          </c:dPt>
          <c:dLbls>
            <c:dLbl>
              <c:idx val="0"/>
              <c:tx>
                <c:rich>
                  <a:bodyPr/>
                  <a:lstStyle/>
                  <a:p>
                    <a:r>
                      <a:rPr sz="1300" b="1">
                        <a:solidFill>
                          <a:srgbClr val="E36414"/>
                        </a:solidFill>
                      </a:rPr>
                      <a:t>AD + EF</a:t>
                    </a:r>
                  </a:p>
                </c:rich>
              </c:tx>
              <c:dLblPos val="r"/>
              <c:showLegendKey val="0"/>
              <c:showVal val="1"/>
              <c:showCatName val="0"/>
              <c:showSerName val="0"/>
              <c:showPercent val="0"/>
              <c:showBubbleSize val="0"/>
            </c:dLbl>
            <c:dLbl>
              <c:idx val="1"/>
              <c:tx>
                <c:rich>
                  <a:bodyPr/>
                  <a:lstStyle/>
                  <a:p>
                    <a:r>
                      <a:rPr sz="1300" b="1">
                        <a:solidFill>
                          <a:srgbClr val="E36414"/>
                        </a:solidFill>
                      </a:rPr>
                      <a:t>ABF</a:t>
                    </a:r>
                  </a:p>
                </c:rich>
              </c:tx>
              <c:dLblPos val="r"/>
              <c:showLegendKey val="0"/>
              <c:showVal val="1"/>
              <c:showCatName val="0"/>
              <c:showSerName val="0"/>
              <c:showPercent val="0"/>
              <c:showBubbleSize val="0"/>
            </c:dLbl>
            <c:dLbl>
              <c:idx val="12"/>
              <c:tx>
                <c:rich>
                  <a:bodyPr/>
                  <a:lstStyle/>
                  <a:p>
                    <a:r>
                      <a:rPr sz="1300" b="1">
                        <a:solidFill>
                          <a:srgbClr val="E36414"/>
                        </a:solidFill>
                      </a:rPr>
                      <a:t>AB + CE</a:t>
                    </a:r>
                  </a:p>
                </c:rich>
              </c:tx>
              <c:dLblPos val="r"/>
              <c:showLegendKey val="0"/>
              <c:showVal val="1"/>
              <c:showCatName val="0"/>
              <c:showSerName val="0"/>
              <c:showPercent val="0"/>
              <c:showBubbleSize val="0"/>
            </c:dLbl>
            <c:dLbl>
              <c:idx val="13"/>
              <c:tx>
                <c:rich>
                  <a:bodyPr/>
                  <a:lstStyle/>
                  <a:p>
                    <a:r>
                      <a:rPr sz="1300" b="1">
                        <a:solidFill>
                          <a:srgbClr val="E36414"/>
                        </a:solidFill>
                      </a:rPr>
                      <a:t>A</a:t>
                    </a:r>
                  </a:p>
                </c:rich>
              </c:tx>
              <c:dLblPos val="r"/>
              <c:showLegendKey val="0"/>
              <c:showVal val="1"/>
              <c:showCatName val="0"/>
              <c:showSerName val="0"/>
              <c:showPercent val="0"/>
              <c:showBubbleSize val="0"/>
            </c:dLbl>
            <c:dLbl>
              <c:idx val="14"/>
              <c:tx>
                <c:rich>
                  <a:bodyPr/>
                  <a:lstStyle/>
                  <a:p>
                    <a:r>
                      <a:rPr sz="1300" b="1">
                        <a:solidFill>
                          <a:srgbClr val="E36414"/>
                        </a:solidFill>
                      </a:rPr>
                      <a:t>B</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Sheet1!$A$2:$A$16</c:f>
              <c:numCache>
                <c:formatCode>General</c:formatCode>
                <c:ptCount val="15"/>
                <c:pt idx="0">
                  <c:v>-5.375</c:v>
                </c:pt>
                <c:pt idx="1">
                  <c:v>-4.875</c:v>
                </c:pt>
                <c:pt idx="2">
                  <c:v>-1.875</c:v>
                </c:pt>
                <c:pt idx="3">
                  <c:v>-1.625</c:v>
                </c:pt>
                <c:pt idx="4">
                  <c:v>-0.875</c:v>
                </c:pt>
                <c:pt idx="5">
                  <c:v>-0.125</c:v>
                </c:pt>
                <c:pt idx="6">
                  <c:v>-0.125</c:v>
                </c:pt>
                <c:pt idx="7">
                  <c:v>0.125</c:v>
                </c:pt>
                <c:pt idx="8">
                  <c:v>0.375</c:v>
                </c:pt>
                <c:pt idx="9">
                  <c:v>0.375</c:v>
                </c:pt>
                <c:pt idx="10">
                  <c:v>0.625</c:v>
                </c:pt>
                <c:pt idx="11">
                  <c:v>1.375</c:v>
                </c:pt>
                <c:pt idx="12">
                  <c:v>11.875</c:v>
                </c:pt>
                <c:pt idx="13">
                  <c:v>13.875</c:v>
                </c:pt>
                <c:pt idx="14">
                  <c:v>35.625</c:v>
                </c:pt>
              </c:numCache>
            </c:numRef>
          </c:xVal>
          <c:yVal>
            <c:numRef>
              <c:f>Sheet1!$B$2:$B$16</c:f>
              <c:numCache>
                <c:formatCode>General</c:formatCode>
                <c:ptCount val="15"/>
                <c:pt idx="0">
                  <c:v>-1.8339146358159142</c:v>
                </c:pt>
                <c:pt idx="1">
                  <c:v>-1.2815515655446008</c:v>
                </c:pt>
                <c:pt idx="2">
                  <c:v>-0.9674215661017014</c:v>
                </c:pt>
                <c:pt idx="3">
                  <c:v>-0.727913290881644</c:v>
                </c:pt>
                <c:pt idx="4">
                  <c:v>-0.5244005127080407</c:v>
                </c:pt>
                <c:pt idx="5">
                  <c:v>-0.34069482708779547</c:v>
                </c:pt>
                <c:pt idx="6">
                  <c:v>-0.1678940047881054</c:v>
                </c:pt>
                <c:pt idx="7">
                  <c:v>0.0</c:v>
                </c:pt>
                <c:pt idx="8">
                  <c:v>0.1678940047881054</c:v>
                </c:pt>
                <c:pt idx="9">
                  <c:v>0.34069482708779536</c:v>
                </c:pt>
                <c:pt idx="10">
                  <c:v>0.5244005127080407</c:v>
                </c:pt>
                <c:pt idx="11">
                  <c:v>0.7279132908816445</c:v>
                </c:pt>
                <c:pt idx="12">
                  <c:v>0.9674215661017014</c:v>
                </c:pt>
                <c:pt idx="13">
                  <c:v>1.2815515655446008</c:v>
                </c:pt>
                <c:pt idx="14">
                  <c:v>1.8339146358159142</c:v>
                </c:pt>
              </c:numCache>
            </c:numRef>
          </c:yVal>
          <c:smooth val="0"/>
        </c:ser>
        <c:ser>
          <c:idx val="1"/>
          <c:order val="1"/>
          <c:tx>
            <c:strRef>
              <c:f>Sheet1!$B$18</c:f>
              <c:strCache>
                <c:ptCount val="1"/>
                <c:pt idx="0">
                  <c:v>Recta</c:v>
                </c:pt>
              </c:strCache>
            </c:strRef>
          </c:tx>
          <c:spPr>
            <a:ln w="19050">
              <a:solidFill>
                <a:srgbClr val="E36414"/>
              </a:solidFill>
            </a:ln>
          </c:spPr>
          <c:marker>
            <c:symbol val="none"/>
          </c:marker>
          <c:xVal>
            <c:numRef>
              <c:f>Sheet1!$A$19:$A$20</c:f>
              <c:numCache>
                <c:formatCode>General</c:formatCode>
                <c:ptCount val="2"/>
                <c:pt idx="0">
                  <c:v>-4.950469909104288</c:v>
                </c:pt>
                <c:pt idx="1">
                  <c:v>4.750207267177459</c:v>
                </c:pt>
              </c:numCache>
            </c:numRef>
          </c:xVal>
          <c:yVal>
            <c:numRef>
              <c:f>Sheet1!$B$19:$B$20</c:f>
              <c:numCache>
                <c:formatCode>General</c:formatCode>
                <c:ptCount val="2"/>
                <c:pt idx="0">
                  <c:v>-1.8339146358159142</c:v>
                </c:pt>
                <c:pt idx="1">
                  <c:v>1.8339146358159142</c:v>
                </c:pt>
              </c:numCache>
            </c:numRef>
          </c:yVal>
          <c:smooth val="0"/>
        </c:ser>
        <c:axId val="-2128940872"/>
        <c:axId val="-2129643912"/>
      </c:scatterChart>
      <c:valAx>
        <c:axId val="-2128940872"/>
        <c:scaling>
          <c:orientation val="minMax"/>
        </c:scaling>
        <c:delete val="0"/>
        <c:axPos val="b"/>
        <c:title>
          <c:tx>
            <c:rich>
              <a:bodyPr/>
              <a:lstStyle/>
              <a:p>
                <a:r>
                  <a:rPr sz="1200" b="0">
                    <a:solidFill>
                      <a:srgbClr val="5B6B73"/>
                    </a:solidFill>
                    <a:latin typeface="Calibri"/>
                  </a:rPr>
                  <a:t>Efecto</a:t>
                </a:r>
              </a:p>
            </c:rich>
          </c:tx>
          <c:layout/>
          <c:overlay val="0"/>
        </c:title>
        <c:numFmt formatCode="General" sourceLinked="1"/>
        <c:majorTickMark val="out"/>
        <c:minorTickMark val="none"/>
        <c:tickLblPos val="low"/>
        <c:spPr>
          <a:ln>
            <a:solidFill>
              <a:srgbClr val="9AA8AE"/>
            </a:solidFill>
          </a:ln>
        </c:spPr>
        <c:crossAx val="-2129643912"/>
        <c:crosses val="autoZero"/>
        <c:crossBetween val="midCat"/>
      </c:valAx>
      <c:valAx>
        <c:axId val="-2129643912"/>
        <c:scaling>
          <c:orientation val="minMax"/>
        </c:scaling>
        <c:delete val="0"/>
        <c:axPos val="l"/>
        <c:majorGridlines>
          <c:spPr>
            <a:ln w="6350">
              <a:solidFill>
                <a:srgbClr val="DDE5E8"/>
              </a:solidFill>
            </a:ln>
          </c:spPr>
        </c:majorGridlines>
        <c:title>
          <c:tx>
            <c:rich>
              <a:bodyPr/>
              <a:lstStyle/>
              <a:p>
                <a:r>
                  <a:rPr sz="1200" b="0">
                    <a:solidFill>
                      <a:srgbClr val="5B6B73"/>
                    </a:solidFill>
                    <a:latin typeface="Calibri"/>
                  </a:rPr>
                  <a:t>Puntuación normal</a:t>
                </a:r>
              </a:p>
            </c:rich>
          </c:tx>
          <c:layout/>
          <c:overlay val="0"/>
        </c:title>
        <c:numFmt formatCode="0.0" sourceLinked="0"/>
        <c:majorTickMark val="out"/>
        <c:minorTickMark val="none"/>
        <c:tickLblPos val="low"/>
        <c:spPr>
          <a:ln>
            <a:solidFill>
              <a:srgbClr val="9AA8AE"/>
            </a:solidFill>
          </a:ln>
        </c:spPr>
        <c:crossAx val="-2128940872"/>
        <c:crosses val="autoZero"/>
        <c:crossBetween val="midCat"/>
      </c:valAx>
    </c:plotArea>
    <c:plotVisOnly val="1"/>
    <c:dispBlanksAs val="gap"/>
    <c:showDLblsOverMax val="0"/>
  </c:chart>
  <c:txPr>
    <a:bodyPr/>
    <a:lstStyle/>
    <a:p>
      <a:pPr>
        <a:defRPr sz="1200">
          <a:solidFill>
            <a:srgbClr val="142B33"/>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0F4C5C"/>
                </a:solidFill>
              </a:rPr>
              <a:t>Pareto (los 8 mayores)</a:t>
            </a:r>
          </a:p>
        </c:rich>
      </c:tx>
      <c:layout/>
      <c:overlay val="0"/>
    </c:title>
    <c:autoTitleDeleted val="0"/>
    <c:plotArea>
      <c:barChart>
        <c:barDir val="bar"/>
        <c:grouping val="clustered"/>
        <c:ser>
          <c:idx val="0"/>
          <c:order val="0"/>
          <c:tx>
            <c:strRef>
              <c:f>Sheet1!$B$1</c:f>
              <c:strCache>
                <c:ptCount val="1"/>
                <c:pt idx="0">
                  <c:v>Valor</c:v>
                </c:pt>
              </c:strCache>
            </c:strRef>
          </c:tx>
          <c:spPr>
            <a:solidFill>
              <a:srgbClr val="0F4C5C"/>
            </a:solidFill>
          </c:spPr>
          <c:invertIfNegative val="0"/>
          <c:cat>
            <c:strRef>
              <c:f>Sheet1!$A$2:$A$9</c:f>
              <c:strCache>
                <c:ptCount val="8"/>
                <c:pt idx="0">
                  <c:v>D</c:v>
                </c:pt>
                <c:pt idx="1">
                  <c:v>AC + BE</c:v>
                </c:pt>
                <c:pt idx="2">
                  <c:v>AE + BC + DF</c:v>
                </c:pt>
                <c:pt idx="3">
                  <c:v>ABF</c:v>
                </c:pt>
                <c:pt idx="4">
                  <c:v>AD + EF</c:v>
                </c:pt>
                <c:pt idx="5">
                  <c:v>AB + CE</c:v>
                </c:pt>
                <c:pt idx="6">
                  <c:v>A</c:v>
                </c:pt>
                <c:pt idx="7">
                  <c:v>B</c:v>
                </c:pt>
              </c:strCache>
            </c:strRef>
          </c:cat>
          <c:val>
            <c:numRef>
              <c:f>Sheet1!$B$2:$B$9</c:f>
              <c:numCache>
                <c:formatCode>General</c:formatCode>
                <c:ptCount val="8"/>
                <c:pt idx="0">
                  <c:v>1.375</c:v>
                </c:pt>
                <c:pt idx="1">
                  <c:v>1.625</c:v>
                </c:pt>
                <c:pt idx="2">
                  <c:v>1.875</c:v>
                </c:pt>
                <c:pt idx="3">
                  <c:v>4.875</c:v>
                </c:pt>
                <c:pt idx="4">
                  <c:v>5.375</c:v>
                </c:pt>
                <c:pt idx="5">
                  <c:v>11.875</c:v>
                </c:pt>
                <c:pt idx="6">
                  <c:v>13.875</c:v>
                </c:pt>
                <c:pt idx="7">
                  <c:v>35.625</c:v>
                </c:pt>
              </c:numCache>
            </c:numRef>
          </c:val>
        </c:ser>
        <c:dLbls>
          <c:numFmt formatCode="0.00" sourceLinked="0"/>
          <c:txPr>
            <a:bodyPr/>
            <a:lstStyle/>
            <a:p>
              <a:pPr>
                <a:defRPr sz="1200">
                  <a:solidFill>
                    <a:srgbClr val="142B33"/>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low"/>
        <c:spPr>
          <a:ln>
            <a:solidFill>
              <a:srgbClr val="9AA8AE"/>
            </a:solidFill>
          </a:ln>
        </c:spPr>
        <c:crossAx val="-2113994440"/>
        <c:crosses val="autoZero"/>
        <c:auto val="1"/>
        <c:lblAlgn val="ctr"/>
        <c:lblOffset val="100"/>
        <c:tickLblSkip val="1"/>
        <c:noMultiLvlLbl val="0"/>
      </c:catAx>
      <c:valAx>
        <c:axId val="-2113994440"/>
        <c:scaling/>
        <c:delete val="0"/>
        <c:axPos val="b"/>
        <c:majorGridlines>
          <c:spPr>
            <a:ln w="6350">
              <a:solidFill>
                <a:srgbClr val="DDE5E8"/>
              </a:solidFill>
            </a:ln>
          </c:spPr>
        </c:majorGridlines>
        <c:title>
          <c:tx>
            <c:rich>
              <a:bodyPr/>
              <a:lstStyle/>
              <a:p>
                <a:r>
                  <a:rPr sz="1200" b="0">
                    <a:solidFill>
                      <a:srgbClr val="5B6B73"/>
                    </a:solidFill>
                    <a:latin typeface="Calibri"/>
                  </a:rPr>
                  <a:t>|Efecto|</a:t>
                </a:r>
              </a:p>
            </c:rich>
          </c:tx>
          <c:layout/>
          <c:overlay val="0"/>
        </c:title>
        <c:numFmt formatCode="0" sourceLinked="0"/>
        <c:majorTickMark val="out"/>
        <c:minorTickMark val="none"/>
        <c:tickLblPos val="nextTo"/>
        <c:spPr>
          <a:ln>
            <a:solidFill>
              <a:srgbClr val="9AA8AE"/>
            </a:solidFill>
          </a:ln>
        </c:spPr>
        <c:crossAx val="-2068027336"/>
        <c:crosses val="autoZero"/>
      </c:valAx>
    </c:plotArea>
    <c:dispBlanksAs val="gap"/>
  </c:chart>
  <c:txPr>
    <a:bodyPr/>
    <a:lstStyle/>
    <a:p>
      <a:pPr>
        <a:defRPr sz="1200">
          <a:solidFill>
            <a:srgbClr val="142B33"/>
          </a:solidFill>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0F4C5C"/>
                </a:solidFill>
              </a:rPr>
              <a:t>Interacción AB (fig. 8-13)</a:t>
            </a:r>
          </a:p>
        </c:rich>
      </c:tx>
      <c:layout/>
      <c:overlay val="0"/>
    </c:title>
    <c:autoTitleDeleted val="0"/>
    <c:plotArea>
      <c:lineChart>
        <c:grouping val="standard"/>
        <c:varyColors val="0"/>
        <c:ser>
          <c:idx val="0"/>
          <c:order val="0"/>
          <c:tx>
            <c:strRef>
              <c:f>Sheet1!$B$1</c:f>
              <c:strCache>
                <c:ptCount val="1"/>
                <c:pt idx="0">
                  <c:v>B bajo (−)</c:v>
                </c:pt>
              </c:strCache>
            </c:strRef>
          </c:tx>
          <c:spPr>
            <a:ln w="31750">
              <a:solidFill>
                <a:srgbClr val="0F4C5C"/>
              </a:solidFill>
            </a:ln>
          </c:spPr>
          <c:marker>
            <c:symbol val="circle"/>
            <c:size val="9"/>
            <c:spPr>
              <a:solidFill>
                <a:srgbClr val="0F4C5C"/>
              </a:solidFill>
              <a:ln>
                <a:solidFill>
                  <a:srgbClr val="FFFFFF"/>
                </a:solidFill>
              </a:ln>
            </c:spPr>
          </c:marker>
          <c:cat>
            <c:strRef>
              <c:f>Sheet1!$A$2:$A$3</c:f>
              <c:strCache>
                <c:ptCount val="2"/>
                <c:pt idx="0">
                  <c:v>A bajo (−)</c:v>
                </c:pt>
                <c:pt idx="1">
                  <c:v>A alto (+)</c:v>
                </c:pt>
              </c:strCache>
            </c:strRef>
          </c:cat>
          <c:val>
            <c:numRef>
              <c:f>Sheet1!$B$2:$B$3</c:f>
              <c:numCache>
                <c:formatCode>General</c:formatCode>
                <c:ptCount val="2"/>
                <c:pt idx="0">
                  <c:v>8.5</c:v>
                </c:pt>
                <c:pt idx="1">
                  <c:v>10.5</c:v>
                </c:pt>
              </c:numCache>
            </c:numRef>
          </c:val>
          <c:smooth val="0"/>
        </c:ser>
        <c:ser>
          <c:idx val="1"/>
          <c:order val="1"/>
          <c:tx>
            <c:strRef>
              <c:f>Sheet1!$C$1</c:f>
              <c:strCache>
                <c:ptCount val="1"/>
                <c:pt idx="0">
                  <c:v>B alto (+)</c:v>
                </c:pt>
              </c:strCache>
            </c:strRef>
          </c:tx>
          <c:spPr>
            <a:ln w="31750">
              <a:solidFill>
                <a:srgbClr val="E36414"/>
              </a:solidFill>
            </a:ln>
          </c:spPr>
          <c:marker>
            <c:symbol val="circle"/>
            <c:size val="9"/>
            <c:spPr>
              <a:solidFill>
                <a:srgbClr val="E36414"/>
              </a:solidFill>
              <a:ln>
                <a:solidFill>
                  <a:srgbClr val="FFFFFF"/>
                </a:solidFill>
              </a:ln>
            </c:spPr>
          </c:marker>
          <c:cat>
            <c:strRef>
              <c:f>Sheet1!$A$2:$A$3</c:f>
              <c:strCache>
                <c:ptCount val="2"/>
                <c:pt idx="0">
                  <c:v>A bajo (−)</c:v>
                </c:pt>
                <c:pt idx="1">
                  <c:v>A alto (+)</c:v>
                </c:pt>
              </c:strCache>
            </c:strRef>
          </c:cat>
          <c:val>
            <c:numRef>
              <c:f>Sheet1!$C$2:$C$3</c:f>
              <c:numCache>
                <c:formatCode>General</c:formatCode>
                <c:ptCount val="2"/>
                <c:pt idx="0">
                  <c:v>32.25</c:v>
                </c:pt>
                <c:pt idx="1">
                  <c:v>58.0</c:v>
                </c:pt>
              </c:numCache>
            </c:numRef>
          </c:val>
          <c:smooth val="0"/>
        </c:ser>
        <c:marker val="1"/>
        <c:smooth val="0"/>
        <c:axId val="2118791784"/>
        <c:axId val="2140495176"/>
      </c:lineChart>
      <c:catAx>
        <c:axId val="2118791784"/>
        <c:scaling>
          <c:orientation val="minMax"/>
        </c:scaling>
        <c:delete val="0"/>
        <c:axPos val="b"/>
        <c:majorTickMark val="out"/>
        <c:minorTickMark val="none"/>
        <c:tickLblPos val="low"/>
        <c:spPr>
          <a:ln>
            <a:solidFill>
              <a:srgbClr val="9AA8AE"/>
            </a:solidFill>
          </a:ln>
        </c:spPr>
        <c:crossAx val="2140495176"/>
        <c:crosses val="autoZero"/>
        <c:auto val="1"/>
        <c:lblAlgn val="ctr"/>
        <c:lblOffset val="100"/>
        <c:noMultiLvlLbl val="0"/>
      </c:catAx>
      <c:valAx>
        <c:axId val="2140495176"/>
        <c:scaling/>
        <c:delete val="0"/>
        <c:axPos val="l"/>
        <c:majorGridlines>
          <c:spPr>
            <a:ln w="6350">
              <a:solidFill>
                <a:srgbClr val="DDE5E8"/>
              </a:solidFill>
            </a:ln>
          </c:spPr>
        </c:majorGridlines>
        <c:title>
          <c:tx>
            <c:rich>
              <a:bodyPr/>
              <a:lstStyle/>
              <a:p>
                <a:r>
                  <a:rPr sz="1200" b="0">
                    <a:solidFill>
                      <a:srgbClr val="5B6B73"/>
                    </a:solidFill>
                    <a:latin typeface="Calibri"/>
                  </a:rPr>
                  <a:t>Contracción promedio</a:t>
                </a:r>
              </a:p>
            </c:rich>
          </c:tx>
          <c:layout/>
          <c:overlay val="0"/>
        </c:title>
        <c:majorTickMark val="out"/>
        <c:minorTickMark val="none"/>
        <c:tickLblPos val="nextTo"/>
        <c:spPr>
          <a:ln>
            <a:solidFill>
              <a:srgbClr val="9AA8AE"/>
            </a:solidFill>
          </a:ln>
        </c:spPr>
        <c:crossAx val="2118791784"/>
        <c:crosses val="autoZero"/>
      </c:valAx>
    </c:plotArea>
    <c:legend>
      <c:legendPos val="b"/>
      <c:layout/>
      <c:overlay val="0"/>
      <c:txPr>
        <a:bodyPr/>
        <a:lstStyle/>
        <a:p>
          <a:pPr>
            <a:defRPr sz="1200"/>
          </a:pPr>
        </a:p>
      </c:txPr>
    </c:legend>
    <c:plotVisOnly val="1"/>
    <c:dispBlanksAs val="gap"/>
    <c:showDLblsOverMax val="0"/>
  </c:chart>
  <c:txPr>
    <a:bodyPr/>
    <a:lstStyle/>
    <a:p>
      <a:pPr>
        <a:defRPr sz="1200">
          <a:solidFill>
            <a:srgbClr val="142B33"/>
          </a:solidFill>
          <a:latin typeface="Calibr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chart>
    <c:title>
      <c:tx>
        <c:rich>
          <a:bodyPr/>
          <a:lstStyle/>
          <a:p>
            <a:r>
              <a:rPr sz="1400" b="1">
                <a:solidFill>
                  <a:srgbClr val="0F4C5C"/>
                </a:solidFill>
              </a:rPr>
              <a:t>Probabilidad normal de los residuos</a:t>
            </a:r>
          </a:p>
        </c:rich>
      </c:tx>
      <c:layout/>
      <c:overlay val="0"/>
    </c:title>
    <c:plotArea>
      <c:scatterChart>
        <c:scatterStyle val="lineMarker"/>
        <c:varyColors val="0"/>
        <c:ser>
          <c:idx val="0"/>
          <c:order val="0"/>
          <c:tx>
            <c:strRef>
              <c:f>Sheet1!$B$1</c:f>
              <c:strCache>
                <c:ptCount val="1"/>
                <c:pt idx="0">
                  <c:v>Datos</c:v>
                </c:pt>
              </c:strCache>
            </c:strRef>
          </c:tx>
          <c:spPr>
            <a:ln w="47625">
              <a:noFill/>
            </a:ln>
          </c:spPr>
          <c:marker>
            <c:symbol val="circle"/>
            <c:size val="9"/>
            <c:spPr>
              <a:solidFill>
                <a:srgbClr val="0F4C5C"/>
              </a:solidFill>
              <a:ln>
                <a:solidFill>
                  <a:srgbClr val="FFFFFF"/>
                </a:solidFill>
              </a:ln>
            </c:spPr>
          </c:marker>
          <c:xVal>
            <c:numRef>
              <c:f>Sheet1!$A$2:$A$17</c:f>
              <c:numCache>
                <c:formatCode>General</c:formatCode>
                <c:ptCount val="16"/>
                <c:pt idx="0">
                  <c:v>-2.8125</c:v>
                </c:pt>
                <c:pt idx="1">
                  <c:v>-1.6875</c:v>
                </c:pt>
                <c:pt idx="2">
                  <c:v>-1.6875</c:v>
                </c:pt>
                <c:pt idx="3">
                  <c:v>-1.0625</c:v>
                </c:pt>
                <c:pt idx="4">
                  <c:v>-0.8125</c:v>
                </c:pt>
                <c:pt idx="5">
                  <c:v>-0.6875</c:v>
                </c:pt>
                <c:pt idx="6">
                  <c:v>-0.0625</c:v>
                </c:pt>
                <c:pt idx="7">
                  <c:v>0.0625</c:v>
                </c:pt>
                <c:pt idx="8">
                  <c:v>0.1875</c:v>
                </c:pt>
                <c:pt idx="9">
                  <c:v>0.3125</c:v>
                </c:pt>
                <c:pt idx="10">
                  <c:v>1.0625</c:v>
                </c:pt>
                <c:pt idx="11">
                  <c:v>1.1875</c:v>
                </c:pt>
                <c:pt idx="12">
                  <c:v>1.1875</c:v>
                </c:pt>
                <c:pt idx="13">
                  <c:v>1.3125</c:v>
                </c:pt>
                <c:pt idx="14">
                  <c:v>1.3125</c:v>
                </c:pt>
                <c:pt idx="15">
                  <c:v>2.1875</c:v>
                </c:pt>
              </c:numCache>
            </c:numRef>
          </c:xVal>
          <c:yVal>
            <c:numRef>
              <c:f>Sheet1!$B$2:$B$17</c:f>
              <c:numCache>
                <c:formatCode>General</c:formatCode>
                <c:ptCount val="16"/>
                <c:pt idx="0">
                  <c:v>-1.862731867421651</c:v>
                </c:pt>
                <c:pt idx="1">
                  <c:v>-1.3180108973035367</c:v>
                </c:pt>
                <c:pt idx="2">
                  <c:v>-1.009990169249582</c:v>
                </c:pt>
                <c:pt idx="3">
                  <c:v>-0.7764217611479276</c:v>
                </c:pt>
                <c:pt idx="4">
                  <c:v>-0.579132162255556</c:v>
                </c:pt>
                <c:pt idx="5">
                  <c:v>-0.40225006532172525</c:v>
                </c:pt>
                <c:pt idx="6">
                  <c:v>-0.2372021093287877</c:v>
                </c:pt>
                <c:pt idx="7">
                  <c:v>-0.0784124127331122</c:v>
                </c:pt>
                <c:pt idx="8">
                  <c:v>0.0784124127331122</c:v>
                </c:pt>
                <c:pt idx="9">
                  <c:v>0.2372021093287877</c:v>
                </c:pt>
                <c:pt idx="10">
                  <c:v>0.40225006532172525</c:v>
                </c:pt>
                <c:pt idx="11">
                  <c:v>0.579132162255556</c:v>
                </c:pt>
                <c:pt idx="12">
                  <c:v>0.7764217611479276</c:v>
                </c:pt>
                <c:pt idx="13">
                  <c:v>1.009990169249582</c:v>
                </c:pt>
                <c:pt idx="14">
                  <c:v>1.3180108973035367</c:v>
                </c:pt>
                <c:pt idx="15">
                  <c:v>1.862731867421651</c:v>
                </c:pt>
              </c:numCache>
            </c:numRef>
          </c:yVal>
          <c:smooth val="0"/>
        </c:ser>
        <c:ser>
          <c:idx val="1"/>
          <c:order val="1"/>
          <c:tx>
            <c:strRef>
              <c:f>Sheet1!$B$19</c:f>
              <c:strCache>
                <c:ptCount val="1"/>
                <c:pt idx="0">
                  <c:v>Recta</c:v>
                </c:pt>
              </c:strCache>
            </c:strRef>
          </c:tx>
          <c:spPr>
            <a:ln w="19050">
              <a:solidFill>
                <a:srgbClr val="E36414"/>
              </a:solidFill>
            </a:ln>
          </c:spPr>
          <c:marker>
            <c:symbol val="none"/>
          </c:marker>
          <c:xVal>
            <c:numRef>
              <c:f>Sheet1!$A$20:$A$21</c:f>
              <c:numCache>
                <c:formatCode>General</c:formatCode>
                <c:ptCount val="2"/>
                <c:pt idx="0">
                  <c:v>-2.8125</c:v>
                </c:pt>
                <c:pt idx="1">
                  <c:v>2.1875</c:v>
                </c:pt>
              </c:numCache>
            </c:numRef>
          </c:xVal>
          <c:yVal>
            <c:numRef>
              <c:f>Sheet1!$B$20:$B$21</c:f>
              <c:numCache>
                <c:formatCode>General</c:formatCode>
                <c:ptCount val="2"/>
                <c:pt idx="0">
                  <c:v>-1.9961207541782773</c:v>
                </c:pt>
                <c:pt idx="1">
                  <c:v>1.5525383643608823</c:v>
                </c:pt>
              </c:numCache>
            </c:numRef>
          </c:yVal>
          <c:smooth val="0"/>
        </c:ser>
        <c:axId val="-2128940872"/>
        <c:axId val="-2129643912"/>
      </c:scatterChart>
      <c:valAx>
        <c:axId val="-2128940872"/>
        <c:scaling>
          <c:orientation val="minMax"/>
        </c:scaling>
        <c:delete val="0"/>
        <c:axPos val="b"/>
        <c:title>
          <c:tx>
            <c:rich>
              <a:bodyPr/>
              <a:lstStyle/>
              <a:p>
                <a:r>
                  <a:rPr sz="1200" b="0">
                    <a:solidFill>
                      <a:srgbClr val="5B6B73"/>
                    </a:solidFill>
                    <a:latin typeface="Calibri"/>
                  </a:rPr>
                  <a:t>Residuo</a:t>
                </a:r>
              </a:p>
            </c:rich>
          </c:tx>
          <c:layout/>
          <c:overlay val="0"/>
        </c:title>
        <c:numFmt formatCode="General" sourceLinked="1"/>
        <c:majorTickMark val="out"/>
        <c:minorTickMark val="none"/>
        <c:tickLblPos val="low"/>
        <c:spPr>
          <a:ln>
            <a:solidFill>
              <a:srgbClr val="9AA8AE"/>
            </a:solidFill>
          </a:ln>
        </c:spPr>
        <c:crossAx val="-2129643912"/>
        <c:crosses val="autoZero"/>
        <c:crossBetween val="midCat"/>
      </c:valAx>
      <c:valAx>
        <c:axId val="-2129643912"/>
        <c:scaling>
          <c:orientation val="minMax"/>
        </c:scaling>
        <c:delete val="0"/>
        <c:axPos val="l"/>
        <c:majorGridlines>
          <c:spPr>
            <a:ln w="6350">
              <a:solidFill>
                <a:srgbClr val="DDE5E8"/>
              </a:solidFill>
            </a:ln>
          </c:spPr>
        </c:majorGridlines>
        <c:title>
          <c:tx>
            <c:rich>
              <a:bodyPr/>
              <a:lstStyle/>
              <a:p>
                <a:r>
                  <a:rPr sz="1200" b="0">
                    <a:solidFill>
                      <a:srgbClr val="5B6B73"/>
                    </a:solidFill>
                    <a:latin typeface="Calibri"/>
                  </a:rPr>
                  <a:t>Puntuación normal</a:t>
                </a:r>
              </a:p>
            </c:rich>
          </c:tx>
          <c:layout/>
          <c:overlay val="0"/>
        </c:title>
        <c:numFmt formatCode="0.0" sourceLinked="0"/>
        <c:majorTickMark val="out"/>
        <c:minorTickMark val="none"/>
        <c:tickLblPos val="low"/>
        <c:spPr>
          <a:ln>
            <a:solidFill>
              <a:srgbClr val="9AA8AE"/>
            </a:solidFill>
          </a:ln>
        </c:spPr>
        <c:crossAx val="-2128940872"/>
        <c:crosses val="autoZero"/>
        <c:crossBetween val="midCat"/>
      </c:valAx>
    </c:plotArea>
    <c:plotVisOnly val="1"/>
    <c:dispBlanksAs val="gap"/>
    <c:showDLblsOverMax val="0"/>
  </c:chart>
  <c:txPr>
    <a:bodyPr/>
    <a:lstStyle/>
    <a:p>
      <a:pPr>
        <a:defRPr sz="1200">
          <a:solidFill>
            <a:srgbClr val="142B33"/>
          </a:solidFill>
          <a:latin typeface="Calibri"/>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chart>
    <c:title>
      <c:tx>
        <c:rich>
          <a:bodyPr/>
          <a:lstStyle/>
          <a:p>
            <a:r>
              <a:rPr sz="1400" b="1">
                <a:solidFill>
                  <a:srgbClr val="0F4C5C"/>
                </a:solidFill>
              </a:rPr>
              <a:t>Residuos contra valores ajustados</a:t>
            </a:r>
          </a:p>
        </c:rich>
      </c:tx>
      <c:layout/>
      <c:overlay val="0"/>
    </c:title>
    <c:plotArea>
      <c:scatterChart>
        <c:scatterStyle val="lineMarker"/>
        <c:varyColors val="0"/>
        <c:ser>
          <c:idx val="0"/>
          <c:order val="0"/>
          <c:tx>
            <c:strRef>
              <c:f>Sheet1!$B$1</c:f>
              <c:strCache>
                <c:ptCount val="1"/>
                <c:pt idx="0">
                  <c:v>Datos</c:v>
                </c:pt>
              </c:strCache>
            </c:strRef>
          </c:tx>
          <c:spPr>
            <a:ln w="47625">
              <a:noFill/>
            </a:ln>
          </c:spPr>
          <c:marker>
            <c:symbol val="circle"/>
            <c:size val="9"/>
            <c:spPr>
              <a:solidFill>
                <a:srgbClr val="0F4C5C"/>
              </a:solidFill>
              <a:ln>
                <a:solidFill>
                  <a:srgbClr val="FFFFFF"/>
                </a:solidFill>
              </a:ln>
            </c:spPr>
          </c:marker>
          <c:xVal>
            <c:numRef>
              <c:f>Sheet1!$A$2:$A$17</c:f>
              <c:numCache>
                <c:formatCode>General</c:formatCode>
                <c:ptCount val="16"/>
                <c:pt idx="0">
                  <c:v>5.8125</c:v>
                </c:pt>
                <c:pt idx="1">
                  <c:v>10.0625</c:v>
                </c:pt>
                <c:pt idx="2">
                  <c:v>32.8125</c:v>
                </c:pt>
                <c:pt idx="3">
                  <c:v>50.8125</c:v>
                </c:pt>
                <c:pt idx="4">
                  <c:v>16.6875</c:v>
                </c:pt>
                <c:pt idx="5">
                  <c:v>20.9375</c:v>
                </c:pt>
                <c:pt idx="6">
                  <c:v>43.6875</c:v>
                </c:pt>
                <c:pt idx="7">
                  <c:v>61.6875</c:v>
                </c:pt>
                <c:pt idx="8">
                  <c:v>5.8125</c:v>
                </c:pt>
                <c:pt idx="9">
                  <c:v>10.0625</c:v>
                </c:pt>
                <c:pt idx="10">
                  <c:v>32.8125</c:v>
                </c:pt>
                <c:pt idx="11">
                  <c:v>50.8125</c:v>
                </c:pt>
                <c:pt idx="12">
                  <c:v>16.6875</c:v>
                </c:pt>
                <c:pt idx="13">
                  <c:v>20.9375</c:v>
                </c:pt>
                <c:pt idx="14">
                  <c:v>43.6875</c:v>
                </c:pt>
                <c:pt idx="15">
                  <c:v>61.6875</c:v>
                </c:pt>
              </c:numCache>
            </c:numRef>
          </c:xVal>
          <c:yVal>
            <c:numRef>
              <c:f>Sheet1!$B$2:$B$17</c:f>
              <c:numCache>
                <c:formatCode>General</c:formatCode>
                <c:ptCount val="16"/>
                <c:pt idx="0">
                  <c:v>2.1875</c:v>
                </c:pt>
                <c:pt idx="1">
                  <c:v>-1.0625</c:v>
                </c:pt>
                <c:pt idx="2">
                  <c:v>1.1875</c:v>
                </c:pt>
                <c:pt idx="3">
                  <c:v>1.1875</c:v>
                </c:pt>
                <c:pt idx="4">
                  <c:v>-0.6875</c:v>
                </c:pt>
                <c:pt idx="5">
                  <c:v>1.0625</c:v>
                </c:pt>
                <c:pt idx="6">
                  <c:v>1.3125</c:v>
                </c:pt>
                <c:pt idx="7">
                  <c:v>-1.6875</c:v>
                </c:pt>
                <c:pt idx="8">
                  <c:v>0.1875</c:v>
                </c:pt>
                <c:pt idx="9">
                  <c:v>-0.0625</c:v>
                </c:pt>
                <c:pt idx="10">
                  <c:v>-2.8125</c:v>
                </c:pt>
                <c:pt idx="11">
                  <c:v>-0.8125</c:v>
                </c:pt>
                <c:pt idx="12">
                  <c:v>-1.6875</c:v>
                </c:pt>
                <c:pt idx="13">
                  <c:v>0.0625</c:v>
                </c:pt>
                <c:pt idx="14">
                  <c:v>0.3125</c:v>
                </c:pt>
                <c:pt idx="15">
                  <c:v>1.3125</c:v>
                </c:pt>
              </c:numCache>
            </c:numRef>
          </c:yVal>
          <c:smooth val="0"/>
        </c:ser>
        <c:axId val="-2128940872"/>
        <c:axId val="-2129643912"/>
      </c:scatterChart>
      <c:valAx>
        <c:axId val="-2128940872"/>
        <c:scaling>
          <c:orientation val="minMax"/>
        </c:scaling>
        <c:delete val="0"/>
        <c:axPos val="b"/>
        <c:title>
          <c:tx>
            <c:rich>
              <a:bodyPr/>
              <a:lstStyle/>
              <a:p>
                <a:r>
                  <a:rPr sz="1200" b="0">
                    <a:solidFill>
                      <a:srgbClr val="5B6B73"/>
                    </a:solidFill>
                    <a:latin typeface="Calibri"/>
                  </a:rPr>
                  <a:t>Valor ajustado</a:t>
                </a:r>
              </a:p>
            </c:rich>
          </c:tx>
          <c:layout/>
          <c:overlay val="0"/>
        </c:title>
        <c:numFmt formatCode="General" sourceLinked="1"/>
        <c:majorTickMark val="out"/>
        <c:minorTickMark val="none"/>
        <c:tickLblPos val="low"/>
        <c:spPr>
          <a:ln>
            <a:solidFill>
              <a:srgbClr val="9AA8AE"/>
            </a:solidFill>
          </a:ln>
        </c:spPr>
        <c:crossAx val="-2129643912"/>
        <c:crosses val="autoZero"/>
        <c:crossBetween val="midCat"/>
      </c:valAx>
      <c:valAx>
        <c:axId val="-2129643912"/>
        <c:scaling>
          <c:orientation val="minMax"/>
        </c:scaling>
        <c:delete val="0"/>
        <c:axPos val="l"/>
        <c:majorGridlines>
          <c:spPr>
            <a:ln w="6350">
              <a:solidFill>
                <a:srgbClr val="DDE5E8"/>
              </a:solidFill>
            </a:ln>
          </c:spPr>
        </c:majorGridlines>
        <c:title>
          <c:tx>
            <c:rich>
              <a:bodyPr/>
              <a:lstStyle/>
              <a:p>
                <a:r>
                  <a:rPr sz="1200" b="0">
                    <a:solidFill>
                      <a:srgbClr val="5B6B73"/>
                    </a:solidFill>
                    <a:latin typeface="Calibri"/>
                  </a:rPr>
                  <a:t>Residuo</a:t>
                </a:r>
              </a:p>
            </c:rich>
          </c:tx>
          <c:layout/>
          <c:overlay val="0"/>
        </c:title>
        <c:numFmt formatCode="0.0" sourceLinked="0"/>
        <c:majorTickMark val="out"/>
        <c:minorTickMark val="none"/>
        <c:tickLblPos val="low"/>
        <c:spPr>
          <a:ln>
            <a:solidFill>
              <a:srgbClr val="9AA8AE"/>
            </a:solidFill>
          </a:ln>
        </c:spPr>
        <c:crossAx val="-2128940872"/>
        <c:crosses val="autoZero"/>
        <c:crossBetween val="midCat"/>
      </c:valAx>
    </c:plotArea>
    <c:plotVisOnly val="1"/>
    <c:dispBlanksAs val="gap"/>
    <c:showDLblsOverMax val="0"/>
  </c:chart>
  <c:txPr>
    <a:bodyPr/>
    <a:lstStyle/>
    <a:p>
      <a:pPr>
        <a:defRPr sz="1200">
          <a:solidFill>
            <a:srgbClr val="142B33"/>
          </a:solidFill>
          <a:latin typeface="Calibri"/>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chart>
    <c:title>
      <c:tx>
        <c:rich>
          <a:bodyPr/>
          <a:lstStyle/>
          <a:p>
            <a:r>
              <a:rPr sz="1400" b="1">
                <a:solidFill>
                  <a:srgbClr val="0F4C5C"/>
                </a:solidFill>
              </a:rPr>
              <a:t>Gráfica normal de los 28 efectos (fig. 8-19)</a:t>
            </a:r>
          </a:p>
        </c:rich>
      </c:tx>
      <c:layout/>
      <c:overlay val="0"/>
    </c:title>
    <c:plotArea>
      <c:scatterChart>
        <c:scatterStyle val="lineMarker"/>
        <c:varyColors val="0"/>
        <c:ser>
          <c:idx val="0"/>
          <c:order val="0"/>
          <c:tx>
            <c:strRef>
              <c:f>Sheet1!$B$1</c:f>
              <c:strCache>
                <c:ptCount val="1"/>
                <c:pt idx="0">
                  <c:v>Datos</c:v>
                </c:pt>
              </c:strCache>
            </c:strRef>
          </c:tx>
          <c:spPr>
            <a:ln w="47625">
              <a:noFill/>
            </a:ln>
          </c:spPr>
          <c:marker>
            <c:symbol val="circle"/>
            <c:size val="9"/>
            <c:spPr>
              <a:solidFill>
                <a:srgbClr val="0F4C5C"/>
              </a:solidFill>
              <a:ln>
                <a:solidFill>
                  <a:srgbClr val="FFFFFF"/>
                </a:solidFill>
              </a:ln>
            </c:spPr>
          </c:marker>
          <c:dPt>
            <c:idx val="0"/>
            <c:marker>
              <c:symbol val="circle"/>
              <c:size val="10"/>
              <c:spPr>
                <a:solidFill>
                  <a:srgbClr val="E36414"/>
                </a:solidFill>
                <a:ln>
                  <a:solidFill>
                    <a:srgbClr val="FFFFFF"/>
                  </a:solidFill>
                </a:ln>
              </c:spPr>
            </c:marker>
          </c:dPt>
          <c:dPt>
            <c:idx val="1"/>
            <c:marker>
              <c:symbol val="circle"/>
              <c:size val="10"/>
              <c:spPr>
                <a:solidFill>
                  <a:srgbClr val="E36414"/>
                </a:solidFill>
                <a:ln>
                  <a:solidFill>
                    <a:srgbClr val="FFFFFF"/>
                  </a:solidFill>
                </a:ln>
              </c:spPr>
            </c:marker>
          </c:dPt>
          <c:dPt>
            <c:idx val="27"/>
            <c:marker>
              <c:symbol val="circle"/>
              <c:size val="10"/>
              <c:spPr>
                <a:solidFill>
                  <a:srgbClr val="E36414"/>
                </a:solidFill>
                <a:ln>
                  <a:solidFill>
                    <a:srgbClr val="FFFFFF"/>
                  </a:solidFill>
                </a:ln>
              </c:spPr>
            </c:marker>
          </c:dPt>
          <c:dLbls>
            <c:dLbl>
              <c:idx val="0"/>
              <c:tx>
                <c:rich>
                  <a:bodyPr/>
                  <a:lstStyle/>
                  <a:p>
                    <a:r>
                      <a:rPr sz="1300" b="1">
                        <a:solidFill>
                          <a:srgbClr val="E36414"/>
                        </a:solidFill>
                      </a:rPr>
                      <a:t>AD + BG</a:t>
                    </a:r>
                  </a:p>
                </c:rich>
              </c:tx>
              <c:dLblPos val="r"/>
              <c:showLegendKey val="0"/>
              <c:showVal val="1"/>
              <c:showCatName val="0"/>
              <c:showSerName val="0"/>
              <c:showPercent val="0"/>
              <c:showBubbleSize val="0"/>
            </c:dLbl>
            <c:dLbl>
              <c:idx val="1"/>
              <c:tx>
                <c:rich>
                  <a:bodyPr/>
                  <a:lstStyle/>
                  <a:p>
                    <a:r>
                      <a:rPr sz="1300" b="1">
                        <a:solidFill>
                          <a:srgbClr val="E36414"/>
                        </a:solidFill>
                      </a:rPr>
                      <a:t>B</a:t>
                    </a:r>
                  </a:p>
                </c:rich>
              </c:tx>
              <c:dLblPos val="r"/>
              <c:showLegendKey val="0"/>
              <c:showVal val="1"/>
              <c:showCatName val="0"/>
              <c:showSerName val="0"/>
              <c:showPercent val="0"/>
              <c:showBubbleSize val="0"/>
            </c:dLbl>
            <c:dLbl>
              <c:idx val="26"/>
              <c:tx>
                <c:rich>
                  <a:bodyPr/>
                  <a:lstStyle/>
                  <a:p>
                    <a:r>
                      <a:rPr sz="1300" b="1">
                        <a:solidFill>
                          <a:srgbClr val="E36414"/>
                        </a:solidFill>
                      </a:rPr>
                      <a:t>G</a:t>
                    </a:r>
                  </a:p>
                </c:rich>
              </c:tx>
              <c:dLblPos val="r"/>
              <c:showLegendKey val="0"/>
              <c:showVal val="1"/>
              <c:showCatName val="0"/>
              <c:showSerName val="0"/>
              <c:showPercent val="0"/>
              <c:showBubbleSize val="0"/>
            </c:dLbl>
            <c:dLbl>
              <c:idx val="27"/>
              <c:tx>
                <c:rich>
                  <a:bodyPr/>
                  <a:lstStyle/>
                  <a:p>
                    <a:r>
                      <a:rPr sz="1300" b="1">
                        <a:solidFill>
                          <a:srgbClr val="E36414"/>
                        </a:solidFill>
                      </a:rPr>
                      <a:t>A</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Sheet1!$A$2:$A$29</c:f>
              <c:numCache>
                <c:formatCode>General</c:formatCode>
                <c:ptCount val="28"/>
                <c:pt idx="0">
                  <c:v>-0.37412</c:v>
                </c:pt>
                <c:pt idx="1">
                  <c:v>-0.20054</c:v>
                </c:pt>
                <c:pt idx="2">
                  <c:v>-0.06206</c:v>
                </c:pt>
                <c:pt idx="3">
                  <c:v>-0.05433</c:v>
                </c:pt>
                <c:pt idx="4">
                  <c:v>-0.05371</c:v>
                </c:pt>
                <c:pt idx="5">
                  <c:v>-0.05042</c:v>
                </c:pt>
                <c:pt idx="6">
                  <c:v>-0.04502</c:v>
                </c:pt>
                <c:pt idx="7">
                  <c:v>-0.03871</c:v>
                </c:pt>
                <c:pt idx="8">
                  <c:v>-0.02808</c:v>
                </c:pt>
                <c:pt idx="9">
                  <c:v>-0.02576</c:v>
                </c:pt>
                <c:pt idx="10">
                  <c:v>-0.01808</c:v>
                </c:pt>
                <c:pt idx="11">
                  <c:v>-0.01467</c:v>
                </c:pt>
                <c:pt idx="12">
                  <c:v>-0.00588</c:v>
                </c:pt>
                <c:pt idx="13">
                  <c:v>-0.0005063</c:v>
                </c:pt>
                <c:pt idx="14">
                  <c:v>0.00489</c:v>
                </c:pt>
                <c:pt idx="15">
                  <c:v>0.00804</c:v>
                </c:pt>
                <c:pt idx="16">
                  <c:v>0.01309</c:v>
                </c:pt>
                <c:pt idx="17">
                  <c:v>0.01417</c:v>
                </c:pt>
                <c:pt idx="18">
                  <c:v>0.01569</c:v>
                </c:pt>
                <c:pt idx="19">
                  <c:v>0.01708</c:v>
                </c:pt>
                <c:pt idx="20">
                  <c:v>0.03452</c:v>
                </c:pt>
                <c:pt idx="21">
                  <c:v>0.03982</c:v>
                </c:pt>
                <c:pt idx="22">
                  <c:v>0.05288</c:v>
                </c:pt>
                <c:pt idx="23">
                  <c:v>0.0608</c:v>
                </c:pt>
                <c:pt idx="24">
                  <c:v>0.09851</c:v>
                </c:pt>
                <c:pt idx="25">
                  <c:v>0.10813</c:v>
                </c:pt>
                <c:pt idx="26">
                  <c:v>0.11608</c:v>
                </c:pt>
                <c:pt idx="27">
                  <c:v>0.29026</c:v>
                </c:pt>
              </c:numCache>
            </c:numRef>
          </c:xVal>
          <c:yVal>
            <c:numRef>
              <c:f>Sheet1!$B$2:$B$29</c:f>
              <c:numCache>
                <c:formatCode>General</c:formatCode>
                <c:ptCount val="28"/>
                <c:pt idx="0">
                  <c:v>-2.1001654928444697</c:v>
                </c:pt>
                <c:pt idx="1">
                  <c:v>-1.6111691623526765</c:v>
                </c:pt>
                <c:pt idx="2">
                  <c:v>-1.3451666341766386</c:v>
                </c:pt>
                <c:pt idx="3">
                  <c:v>-1.1503493803760079</c:v>
                </c:pt>
                <c:pt idx="4">
                  <c:v>-0.9915264746773303</c:v>
                </c:pt>
                <c:pt idx="5">
                  <c:v>-0.8544473986959894</c:v>
                </c:pt>
                <c:pt idx="6">
                  <c:v>-0.7318080838596176</c:v>
                </c:pt>
                <c:pt idx="7">
                  <c:v>-0.619306769508776</c:v>
                </c:pt>
                <c:pt idx="8">
                  <c:v>-0.5141561007445341</c:v>
                </c:pt>
                <c:pt idx="9">
                  <c:v>-0.41441332960007643</c:v>
                </c:pt>
                <c:pt idx="10">
                  <c:v>-0.31863936396437514</c:v>
                </c:pt>
                <c:pt idx="11">
                  <c:v>-0.22570795386015938</c:v>
                </c:pt>
                <c:pt idx="12">
                  <c:v>-0.13468979400891953</c:v>
                </c:pt>
                <c:pt idx="13">
                  <c:v>-0.04477617669551624</c:v>
                </c:pt>
                <c:pt idx="14">
                  <c:v>0.04477617669551639</c:v>
                </c:pt>
                <c:pt idx="15">
                  <c:v>0.1346897940089197</c:v>
                </c:pt>
                <c:pt idx="16">
                  <c:v>0.22570795386015938</c:v>
                </c:pt>
                <c:pt idx="17">
                  <c:v>0.31863936396437514</c:v>
                </c:pt>
                <c:pt idx="18">
                  <c:v>0.41441332960007643</c:v>
                </c:pt>
                <c:pt idx="19">
                  <c:v>0.5141561007445339</c:v>
                </c:pt>
                <c:pt idx="20">
                  <c:v>0.6193067695087758</c:v>
                </c:pt>
                <c:pt idx="21">
                  <c:v>0.7318080838596177</c:v>
                </c:pt>
                <c:pt idx="22">
                  <c:v>0.8544473986959894</c:v>
                </c:pt>
                <c:pt idx="23">
                  <c:v>0.9915264746773303</c:v>
                </c:pt>
                <c:pt idx="24">
                  <c:v>1.1503493803760079</c:v>
                </c:pt>
                <c:pt idx="25">
                  <c:v>1.3451666341766386</c:v>
                </c:pt>
                <c:pt idx="26">
                  <c:v>1.6111691623526765</c:v>
                </c:pt>
                <c:pt idx="27">
                  <c:v>2.100165492844468</c:v>
                </c:pt>
              </c:numCache>
            </c:numRef>
          </c:yVal>
          <c:smooth val="0"/>
        </c:ser>
        <c:ser>
          <c:idx val="1"/>
          <c:order val="1"/>
          <c:tx>
            <c:strRef>
              <c:f>Sheet1!$B$31</c:f>
              <c:strCache>
                <c:ptCount val="1"/>
                <c:pt idx="0">
                  <c:v>Recta</c:v>
                </c:pt>
              </c:strCache>
            </c:strRef>
          </c:tx>
          <c:spPr>
            <a:ln w="19050">
              <a:solidFill>
                <a:srgbClr val="E36414"/>
              </a:solidFill>
            </a:ln>
          </c:spPr>
          <c:marker>
            <c:symbol val="none"/>
          </c:marker>
          <c:xVal>
            <c:numRef>
              <c:f>Sheet1!$A$32:$A$33</c:f>
              <c:numCache>
                <c:formatCode>General</c:formatCode>
                <c:ptCount val="2"/>
                <c:pt idx="0">
                  <c:v>-0.12720193245439723</c:v>
                </c:pt>
                <c:pt idx="1">
                  <c:v>0.13410134081893746</c:v>
                </c:pt>
              </c:numCache>
            </c:numRef>
          </c:xVal>
          <c:yVal>
            <c:numRef>
              <c:f>Sheet1!$B$32:$B$33</c:f>
              <c:numCache>
                <c:formatCode>General</c:formatCode>
                <c:ptCount val="2"/>
                <c:pt idx="0">
                  <c:v>-2.1001654928444697</c:v>
                </c:pt>
                <c:pt idx="1">
                  <c:v>2.100165492844468</c:v>
                </c:pt>
              </c:numCache>
            </c:numRef>
          </c:yVal>
          <c:smooth val="0"/>
        </c:ser>
        <c:axId val="-2128940872"/>
        <c:axId val="-2129643912"/>
      </c:scatterChart>
      <c:valAx>
        <c:axId val="-2128940872"/>
        <c:scaling>
          <c:orientation val="minMax"/>
        </c:scaling>
        <c:delete val="0"/>
        <c:axPos val="b"/>
        <c:title>
          <c:tx>
            <c:rich>
              <a:bodyPr/>
              <a:lstStyle/>
              <a:p>
                <a:r>
                  <a:rPr sz="1200" b="0">
                    <a:solidFill>
                      <a:srgbClr val="5B6B73"/>
                    </a:solidFill>
                    <a:latin typeface="Calibri"/>
                  </a:rPr>
                  <a:t>Efecto</a:t>
                </a:r>
              </a:p>
            </c:rich>
          </c:tx>
          <c:layout/>
          <c:overlay val="0"/>
        </c:title>
        <c:numFmt formatCode="General" sourceLinked="1"/>
        <c:majorTickMark val="out"/>
        <c:minorTickMark val="none"/>
        <c:tickLblPos val="low"/>
        <c:spPr>
          <a:ln>
            <a:solidFill>
              <a:srgbClr val="9AA8AE"/>
            </a:solidFill>
          </a:ln>
        </c:spPr>
        <c:crossAx val="-2129643912"/>
        <c:crosses val="autoZero"/>
        <c:crossBetween val="midCat"/>
      </c:valAx>
      <c:valAx>
        <c:axId val="-2129643912"/>
        <c:scaling>
          <c:orientation val="minMax"/>
        </c:scaling>
        <c:delete val="0"/>
        <c:axPos val="l"/>
        <c:majorGridlines>
          <c:spPr>
            <a:ln w="6350">
              <a:solidFill>
                <a:srgbClr val="DDE5E8"/>
              </a:solidFill>
            </a:ln>
          </c:spPr>
        </c:majorGridlines>
        <c:title>
          <c:tx>
            <c:rich>
              <a:bodyPr/>
              <a:lstStyle/>
              <a:p>
                <a:r>
                  <a:rPr sz="1200" b="0">
                    <a:solidFill>
                      <a:srgbClr val="5B6B73"/>
                    </a:solidFill>
                    <a:latin typeface="Calibri"/>
                  </a:rPr>
                  <a:t>Puntuación normal</a:t>
                </a:r>
              </a:p>
            </c:rich>
          </c:tx>
          <c:layout/>
          <c:overlay val="0"/>
        </c:title>
        <c:numFmt formatCode="0.0" sourceLinked="0"/>
        <c:majorTickMark val="out"/>
        <c:minorTickMark val="none"/>
        <c:tickLblPos val="low"/>
        <c:spPr>
          <a:ln>
            <a:solidFill>
              <a:srgbClr val="9AA8AE"/>
            </a:solidFill>
          </a:ln>
        </c:spPr>
        <c:crossAx val="-2128940872"/>
        <c:crosses val="autoZero"/>
        <c:crossBetween val="midCat"/>
      </c:valAx>
    </c:plotArea>
    <c:plotVisOnly val="1"/>
    <c:dispBlanksAs val="gap"/>
    <c:showDLblsOverMax val="0"/>
  </c:chart>
  <c:txPr>
    <a:bodyPr/>
    <a:lstStyle/>
    <a:p>
      <a:pPr>
        <a:defRPr sz="1200">
          <a:solidFill>
            <a:srgbClr val="142B33"/>
          </a:solidFill>
          <a:latin typeface="Calibri"/>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0F4C5C"/>
                </a:solidFill>
              </a:rPr>
              <a:t>Interacción AD (promedio sobre B)</a:t>
            </a:r>
          </a:p>
        </c:rich>
      </c:tx>
      <c:layout/>
      <c:overlay val="0"/>
    </c:title>
    <c:autoTitleDeleted val="0"/>
    <c:plotArea>
      <c:lineChart>
        <c:grouping val="standard"/>
        <c:varyColors val="0"/>
        <c:ser>
          <c:idx val="0"/>
          <c:order val="0"/>
          <c:tx>
            <c:strRef>
              <c:f>Sheet1!$B$1</c:f>
              <c:strCache>
                <c:ptCount val="1"/>
                <c:pt idx="0">
                  <c:v>Fabricante 1 (D −)</c:v>
                </c:pt>
              </c:strCache>
            </c:strRef>
          </c:tx>
          <c:spPr>
            <a:ln w="31750">
              <a:solidFill>
                <a:srgbClr val="0F4C5C"/>
              </a:solidFill>
            </a:ln>
          </c:spPr>
          <c:marker>
            <c:symbol val="circle"/>
            <c:size val="9"/>
            <c:spPr>
              <a:solidFill>
                <a:srgbClr val="0F4C5C"/>
              </a:solidFill>
              <a:ln>
                <a:solidFill>
                  <a:srgbClr val="FFFFFF"/>
                </a:solidFill>
              </a:ln>
            </c:spPr>
          </c:marker>
          <c:cat>
            <c:strRef>
              <c:f>Sheet1!$A$2:$A$3</c:f>
              <c:strCache>
                <c:ptCount val="2"/>
                <c:pt idx="0">
                  <c:v>A bajo (0)</c:v>
                </c:pt>
                <c:pt idx="1">
                  <c:v>A alto (15)</c:v>
                </c:pt>
              </c:strCache>
            </c:strRef>
          </c:cat>
          <c:val>
            <c:numRef>
              <c:f>Sheet1!$B$2:$B$3</c:f>
              <c:numCache>
                <c:formatCode>General</c:formatCode>
                <c:ptCount val="2"/>
                <c:pt idx="0">
                  <c:v>0.89375</c:v>
                </c:pt>
                <c:pt idx="1">
                  <c:v>1.5575</c:v>
                </c:pt>
              </c:numCache>
            </c:numRef>
          </c:val>
          <c:smooth val="0"/>
        </c:ser>
        <c:ser>
          <c:idx val="1"/>
          <c:order val="1"/>
          <c:tx>
            <c:strRef>
              <c:f>Sheet1!$C$1</c:f>
              <c:strCache>
                <c:ptCount val="1"/>
                <c:pt idx="0">
                  <c:v>Fabricante 2 (D +)</c:v>
                </c:pt>
              </c:strCache>
            </c:strRef>
          </c:tx>
          <c:spPr>
            <a:ln w="31750">
              <a:solidFill>
                <a:srgbClr val="E36414"/>
              </a:solidFill>
            </a:ln>
          </c:spPr>
          <c:marker>
            <c:symbol val="circle"/>
            <c:size val="9"/>
            <c:spPr>
              <a:solidFill>
                <a:srgbClr val="E36414"/>
              </a:solidFill>
              <a:ln>
                <a:solidFill>
                  <a:srgbClr val="FFFFFF"/>
                </a:solidFill>
              </a:ln>
            </c:spPr>
          </c:marker>
          <c:cat>
            <c:strRef>
              <c:f>Sheet1!$A$2:$A$3</c:f>
              <c:strCache>
                <c:ptCount val="2"/>
                <c:pt idx="0">
                  <c:v>A bajo (0)</c:v>
                </c:pt>
                <c:pt idx="1">
                  <c:v>A alto (15)</c:v>
                </c:pt>
              </c:strCache>
            </c:strRef>
          </c:cat>
          <c:val>
            <c:numRef>
              <c:f>Sheet1!$C$2:$C$3</c:f>
              <c:numCache>
                <c:formatCode>General</c:formatCode>
                <c:ptCount val="2"/>
                <c:pt idx="0">
                  <c:v>1.3755000000000002</c:v>
                </c:pt>
                <c:pt idx="1">
                  <c:v>1.2915</c:v>
                </c:pt>
              </c:numCache>
            </c:numRef>
          </c:val>
          <c:smooth val="0"/>
        </c:ser>
        <c:marker val="1"/>
        <c:smooth val="0"/>
        <c:axId val="2118791784"/>
        <c:axId val="2140495176"/>
      </c:lineChart>
      <c:catAx>
        <c:axId val="2118791784"/>
        <c:scaling>
          <c:orientation val="minMax"/>
        </c:scaling>
        <c:delete val="0"/>
        <c:axPos val="b"/>
        <c:majorTickMark val="out"/>
        <c:minorTickMark val="none"/>
        <c:tickLblPos val="low"/>
        <c:spPr>
          <a:ln>
            <a:solidFill>
              <a:srgbClr val="9AA8AE"/>
            </a:solidFill>
          </a:ln>
        </c:spPr>
        <c:crossAx val="2140495176"/>
        <c:crosses val="autoZero"/>
        <c:auto val="1"/>
        <c:lblAlgn val="ctr"/>
        <c:lblOffset val="100"/>
        <c:noMultiLvlLbl val="0"/>
      </c:catAx>
      <c:valAx>
        <c:axId val="2140495176"/>
        <c:scaling/>
        <c:delete val="0"/>
        <c:axPos val="l"/>
        <c:majorGridlines>
          <c:spPr>
            <a:ln w="6350">
              <a:solidFill>
                <a:srgbClr val="DDE5E8"/>
              </a:solidFill>
            </a:ln>
          </c:spPr>
        </c:majorGridlines>
        <c:title>
          <c:tx>
            <c:rich>
              <a:bodyPr/>
              <a:lstStyle/>
              <a:p>
                <a:r>
                  <a:rPr sz="1200" b="0">
                    <a:solidFill>
                      <a:srgbClr val="5B6B73"/>
                    </a:solidFill>
                    <a:latin typeface="Calibri"/>
                  </a:rPr>
                  <a:t>ln(desviación) promedio</a:t>
                </a:r>
              </a:p>
            </c:rich>
          </c:tx>
          <c:layout/>
          <c:overlay val="0"/>
        </c:title>
        <c:majorTickMark val="out"/>
        <c:minorTickMark val="none"/>
        <c:tickLblPos val="nextTo"/>
        <c:spPr>
          <a:ln>
            <a:solidFill>
              <a:srgbClr val="9AA8AE"/>
            </a:solidFill>
          </a:ln>
        </c:spPr>
        <c:crossAx val="2118791784"/>
        <c:crosses val="autoZero"/>
      </c:valAx>
    </c:plotArea>
    <c:legend>
      <c:legendPos val="b"/>
      <c:layout/>
      <c:overlay val="0"/>
      <c:txPr>
        <a:bodyPr/>
        <a:lstStyle/>
        <a:p>
          <a:pPr>
            <a:defRPr sz="1200"/>
          </a:pPr>
        </a:p>
      </c:txPr>
    </c:legend>
    <c:plotVisOnly val="1"/>
    <c:dispBlanksAs val="gap"/>
    <c:showDLblsOverMax val="0"/>
  </c:chart>
  <c:txPr>
    <a:bodyPr/>
    <a:lstStyle/>
    <a:p>
      <a:pPr>
        <a:defRPr sz="1200">
          <a:solidFill>
            <a:srgbClr val="142B33"/>
          </a:solidFill>
          <a:latin typeface="Calibri"/>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0F4C5C"/>
                </a:solidFill>
              </a:rPr>
              <a:t>Pareto de efectos (fig. 8.6)</a:t>
            </a:r>
          </a:p>
        </c:rich>
      </c:tx>
      <c:layout/>
      <c:overlay val="0"/>
    </c:title>
    <c:autoTitleDeleted val="0"/>
    <c:plotArea>
      <c:barChart>
        <c:barDir val="bar"/>
        <c:grouping val="clustered"/>
        <c:ser>
          <c:idx val="0"/>
          <c:order val="0"/>
          <c:tx>
            <c:strRef>
              <c:f>Sheet1!$B$1</c:f>
              <c:strCache>
                <c:ptCount val="1"/>
                <c:pt idx="0">
                  <c:v>Valor</c:v>
                </c:pt>
              </c:strCache>
            </c:strRef>
          </c:tx>
          <c:spPr>
            <a:solidFill>
              <a:srgbClr val="0F4C5C"/>
            </a:solidFill>
          </c:spPr>
          <c:invertIfNegative val="0"/>
          <c:cat>
            <c:strRef>
              <c:f>Sheet1!$A$2:$A$8</c:f>
              <c:strCache>
                <c:ptCount val="7"/>
                <c:pt idx="0">
                  <c:v>G</c:v>
                </c:pt>
                <c:pt idx="1">
                  <c:v>B</c:v>
                </c:pt>
                <c:pt idx="2">
                  <c:v>D</c:v>
                </c:pt>
                <c:pt idx="3">
                  <c:v>F</c:v>
                </c:pt>
                <c:pt idx="4">
                  <c:v>A</c:v>
                </c:pt>
                <c:pt idx="5">
                  <c:v>C</c:v>
                </c:pt>
                <c:pt idx="6">
                  <c:v>E</c:v>
                </c:pt>
              </c:strCache>
            </c:strRef>
          </c:cat>
          <c:val>
            <c:numRef>
              <c:f>Sheet1!$B$2:$B$8</c:f>
              <c:numCache>
                <c:formatCode>General</c:formatCode>
                <c:ptCount val="7"/>
                <c:pt idx="0">
                  <c:v>0.049999999999998934</c:v>
                </c:pt>
                <c:pt idx="1">
                  <c:v>2.649999999999997</c:v>
                </c:pt>
                <c:pt idx="2">
                  <c:v>3.349999999999996</c:v>
                </c:pt>
                <c:pt idx="3">
                  <c:v>3.8499999999999996</c:v>
                </c:pt>
                <c:pt idx="4">
                  <c:v>10.199999999999998</c:v>
                </c:pt>
                <c:pt idx="5">
                  <c:v>16.5</c:v>
                </c:pt>
                <c:pt idx="6">
                  <c:v>22.6</c:v>
                </c:pt>
              </c:numCache>
            </c:numRef>
          </c:val>
        </c:ser>
        <c:dLbls>
          <c:numFmt formatCode="0.00" sourceLinked="0"/>
          <c:txPr>
            <a:bodyPr/>
            <a:lstStyle/>
            <a:p>
              <a:pPr>
                <a:defRPr sz="1200">
                  <a:solidFill>
                    <a:srgbClr val="142B33"/>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low"/>
        <c:spPr>
          <a:ln>
            <a:solidFill>
              <a:srgbClr val="9AA8AE"/>
            </a:solidFill>
          </a:ln>
        </c:spPr>
        <c:crossAx val="-2113994440"/>
        <c:crosses val="autoZero"/>
        <c:auto val="1"/>
        <c:lblAlgn val="ctr"/>
        <c:lblOffset val="100"/>
        <c:tickLblSkip val="1"/>
        <c:noMultiLvlLbl val="0"/>
      </c:catAx>
      <c:valAx>
        <c:axId val="-2113994440"/>
        <c:scaling/>
        <c:delete val="0"/>
        <c:axPos val="b"/>
        <c:majorGridlines>
          <c:spPr>
            <a:ln w="6350">
              <a:solidFill>
                <a:srgbClr val="DDE5E8"/>
              </a:solidFill>
            </a:ln>
          </c:spPr>
        </c:majorGridlines>
        <c:title>
          <c:tx>
            <c:rich>
              <a:bodyPr/>
              <a:lstStyle/>
              <a:p>
                <a:r>
                  <a:rPr sz="1200" b="0">
                    <a:solidFill>
                      <a:srgbClr val="5B6B73"/>
                    </a:solidFill>
                    <a:latin typeface="Calibri"/>
                  </a:rPr>
                  <a:t>|Efecto|</a:t>
                </a:r>
              </a:p>
            </c:rich>
          </c:tx>
          <c:layout/>
          <c:overlay val="0"/>
        </c:title>
        <c:numFmt formatCode="0" sourceLinked="0"/>
        <c:majorTickMark val="out"/>
        <c:minorTickMark val="none"/>
        <c:tickLblPos val="nextTo"/>
        <c:spPr>
          <a:ln>
            <a:solidFill>
              <a:srgbClr val="9AA8AE"/>
            </a:solidFill>
          </a:ln>
        </c:spPr>
        <c:crossAx val="-2068027336"/>
        <c:crosses val="autoZero"/>
      </c:valAx>
    </c:plotArea>
    <c:dispBlanksAs val="gap"/>
  </c:chart>
  <c:txPr>
    <a:bodyPr/>
    <a:lstStyle/>
    <a:p>
      <a:pPr>
        <a:defRPr sz="1200">
          <a:solidFill>
            <a:srgbClr val="142B33"/>
          </a:solidFill>
          <a:latin typeface="Calibri"/>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chart>
    <c:title>
      <c:tx>
        <c:rich>
          <a:bodyPr/>
          <a:lstStyle/>
          <a:p>
            <a:r>
              <a:rPr sz="1400" b="1">
                <a:solidFill>
                  <a:srgbClr val="0F4C5C"/>
                </a:solidFill>
              </a:rPr>
              <a:t>Gráfico de Daniel (fig. 8.7)</a:t>
            </a:r>
          </a:p>
        </c:rich>
      </c:tx>
      <c:layout/>
      <c:overlay val="0"/>
    </c:title>
    <c:plotArea>
      <c:scatterChart>
        <c:scatterStyle val="lineMarker"/>
        <c:varyColors val="0"/>
        <c:ser>
          <c:idx val="0"/>
          <c:order val="0"/>
          <c:tx>
            <c:strRef>
              <c:f>Sheet1!$B$1</c:f>
              <c:strCache>
                <c:ptCount val="1"/>
                <c:pt idx="0">
                  <c:v>Datos</c:v>
                </c:pt>
              </c:strCache>
            </c:strRef>
          </c:tx>
          <c:spPr>
            <a:ln w="47625">
              <a:noFill/>
            </a:ln>
          </c:spPr>
          <c:marker>
            <c:symbol val="circle"/>
            <c:size val="9"/>
            <c:spPr>
              <a:solidFill>
                <a:srgbClr val="0F4C5C"/>
              </a:solidFill>
              <a:ln>
                <a:solidFill>
                  <a:srgbClr val="FFFFFF"/>
                </a:solidFill>
              </a:ln>
            </c:spPr>
          </c:marker>
          <c:dPt>
            <c:idx val="0"/>
            <c:marker>
              <c:symbol val="circle"/>
              <c:size val="10"/>
              <c:spPr>
                <a:solidFill>
                  <a:srgbClr val="E36414"/>
                </a:solidFill>
                <a:ln>
                  <a:solidFill>
                    <a:srgbClr val="FFFFFF"/>
                  </a:solidFill>
                </a:ln>
              </c:spPr>
            </c:marker>
          </c:dPt>
          <c:dPt>
            <c:idx val="5"/>
            <c:marker>
              <c:symbol val="circle"/>
              <c:size val="10"/>
              <c:spPr>
                <a:solidFill>
                  <a:srgbClr val="E36414"/>
                </a:solidFill>
                <a:ln>
                  <a:solidFill>
                    <a:srgbClr val="FFFFFF"/>
                  </a:solidFill>
                </a:ln>
              </c:spPr>
            </c:marker>
          </c:dPt>
          <c:dPt>
            <c:idx val="6"/>
            <c:marker>
              <c:symbol val="circle"/>
              <c:size val="10"/>
              <c:spPr>
                <a:solidFill>
                  <a:srgbClr val="E36414"/>
                </a:solidFill>
                <a:ln>
                  <a:solidFill>
                    <a:srgbClr val="FFFFFF"/>
                  </a:solidFill>
                </a:ln>
              </c:spPr>
            </c:marker>
          </c:dPt>
          <c:dLbls>
            <c:dLbl>
              <c:idx val="0"/>
              <c:tx>
                <c:rich>
                  <a:bodyPr/>
                  <a:lstStyle/>
                  <a:p>
                    <a:r>
                      <a:rPr sz="1300" b="1">
                        <a:solidFill>
                          <a:srgbClr val="E36414"/>
                        </a:solidFill>
                      </a:rPr>
                      <a:t>C</a:t>
                    </a:r>
                  </a:p>
                </c:rich>
              </c:tx>
              <c:dLblPos val="r"/>
              <c:showLegendKey val="0"/>
              <c:showVal val="1"/>
              <c:showCatName val="0"/>
              <c:showSerName val="0"/>
              <c:showPercent val="0"/>
              <c:showBubbleSize val="0"/>
            </c:dLbl>
            <c:dLbl>
              <c:idx val="5"/>
              <c:tx>
                <c:rich>
                  <a:bodyPr/>
                  <a:lstStyle/>
                  <a:p>
                    <a:r>
                      <a:rPr sz="1300" b="1">
                        <a:solidFill>
                          <a:srgbClr val="E36414"/>
                        </a:solidFill>
                      </a:rPr>
                      <a:t>A</a:t>
                    </a:r>
                  </a:p>
                </c:rich>
              </c:tx>
              <c:dLblPos val="r"/>
              <c:showLegendKey val="0"/>
              <c:showVal val="1"/>
              <c:showCatName val="0"/>
              <c:showSerName val="0"/>
              <c:showPercent val="0"/>
              <c:showBubbleSize val="0"/>
            </c:dLbl>
            <c:dLbl>
              <c:idx val="6"/>
              <c:tx>
                <c:rich>
                  <a:bodyPr/>
                  <a:lstStyle/>
                  <a:p>
                    <a:r>
                      <a:rPr sz="1300" b="1">
                        <a:solidFill>
                          <a:srgbClr val="E36414"/>
                        </a:solidFill>
                      </a:rPr>
                      <a:t>E</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Sheet1!$A$2:$A$8</c:f>
              <c:numCache>
                <c:formatCode>General</c:formatCode>
                <c:ptCount val="7"/>
                <c:pt idx="0">
                  <c:v>-16.5</c:v>
                </c:pt>
                <c:pt idx="1">
                  <c:v>-3.8499999999999996</c:v>
                </c:pt>
                <c:pt idx="2">
                  <c:v>-3.349999999999996</c:v>
                </c:pt>
                <c:pt idx="3">
                  <c:v>-2.649999999999997</c:v>
                </c:pt>
                <c:pt idx="4">
                  <c:v>-0.049999999999998934</c:v>
                </c:pt>
                <c:pt idx="5">
                  <c:v>10.199999999999998</c:v>
                </c:pt>
                <c:pt idx="6">
                  <c:v>22.6</c:v>
                </c:pt>
              </c:numCache>
            </c:numRef>
          </c:xVal>
          <c:yVal>
            <c:numRef>
              <c:f>Sheet1!$B$2:$B$8</c:f>
              <c:numCache>
                <c:formatCode>General</c:formatCode>
                <c:ptCount val="7"/>
                <c:pt idx="0">
                  <c:v>-1.4652337926855223</c:v>
                </c:pt>
                <c:pt idx="1">
                  <c:v>-0.7916386077433746</c:v>
                </c:pt>
                <c:pt idx="2">
                  <c:v>-0.3661063568005697</c:v>
                </c:pt>
                <c:pt idx="3">
                  <c:v>0.0</c:v>
                </c:pt>
                <c:pt idx="4">
                  <c:v>0.3661063568005697</c:v>
                </c:pt>
                <c:pt idx="5">
                  <c:v>0.7916386077433746</c:v>
                </c:pt>
                <c:pt idx="6">
                  <c:v>1.4652337926855223</c:v>
                </c:pt>
              </c:numCache>
            </c:numRef>
          </c:yVal>
          <c:smooth val="0"/>
        </c:ser>
        <c:ser>
          <c:idx val="1"/>
          <c:order val="1"/>
          <c:tx>
            <c:strRef>
              <c:f>Sheet1!$B$10</c:f>
              <c:strCache>
                <c:ptCount val="1"/>
                <c:pt idx="0">
                  <c:v>Recta</c:v>
                </c:pt>
              </c:strCache>
            </c:strRef>
          </c:tx>
          <c:spPr>
            <a:ln w="19050">
              <a:solidFill>
                <a:srgbClr val="E36414"/>
              </a:solidFill>
            </a:ln>
          </c:spPr>
          <c:marker>
            <c:symbol val="none"/>
          </c:marker>
          <c:xVal>
            <c:numRef>
              <c:f>Sheet1!$A$11:$A$12</c:f>
              <c:numCache>
                <c:formatCode>General</c:formatCode>
                <c:ptCount val="2"/>
                <c:pt idx="0">
                  <c:v>-6.418447231423335</c:v>
                </c:pt>
                <c:pt idx="1">
                  <c:v>2.7000915186325924</c:v>
                </c:pt>
              </c:numCache>
            </c:numRef>
          </c:xVal>
          <c:yVal>
            <c:numRef>
              <c:f>Sheet1!$B$11:$B$12</c:f>
              <c:numCache>
                <c:formatCode>General</c:formatCode>
                <c:ptCount val="2"/>
                <c:pt idx="0">
                  <c:v>-1.4652337926855223</c:v>
                </c:pt>
                <c:pt idx="1">
                  <c:v>1.4652337926855223</c:v>
                </c:pt>
              </c:numCache>
            </c:numRef>
          </c:yVal>
          <c:smooth val="0"/>
        </c:ser>
        <c:axId val="-2128940872"/>
        <c:axId val="-2129643912"/>
      </c:scatterChart>
      <c:valAx>
        <c:axId val="-2128940872"/>
        <c:scaling>
          <c:orientation val="minMax"/>
        </c:scaling>
        <c:delete val="0"/>
        <c:axPos val="b"/>
        <c:title>
          <c:tx>
            <c:rich>
              <a:bodyPr/>
              <a:lstStyle/>
              <a:p>
                <a:r>
                  <a:rPr sz="1200" b="0">
                    <a:solidFill>
                      <a:srgbClr val="5B6B73"/>
                    </a:solidFill>
                    <a:latin typeface="Calibri"/>
                  </a:rPr>
                  <a:t>Efecto</a:t>
                </a:r>
              </a:p>
            </c:rich>
          </c:tx>
          <c:layout/>
          <c:overlay val="0"/>
        </c:title>
        <c:numFmt formatCode="General" sourceLinked="1"/>
        <c:majorTickMark val="out"/>
        <c:minorTickMark val="none"/>
        <c:tickLblPos val="low"/>
        <c:spPr>
          <a:ln>
            <a:solidFill>
              <a:srgbClr val="9AA8AE"/>
            </a:solidFill>
          </a:ln>
        </c:spPr>
        <c:crossAx val="-2129643912"/>
        <c:crosses val="autoZero"/>
        <c:crossBetween val="midCat"/>
      </c:valAx>
      <c:valAx>
        <c:axId val="-2129643912"/>
        <c:scaling>
          <c:orientation val="minMax"/>
        </c:scaling>
        <c:delete val="0"/>
        <c:axPos val="l"/>
        <c:majorGridlines>
          <c:spPr>
            <a:ln w="6350">
              <a:solidFill>
                <a:srgbClr val="DDE5E8"/>
              </a:solidFill>
            </a:ln>
          </c:spPr>
        </c:majorGridlines>
        <c:title>
          <c:tx>
            <c:rich>
              <a:bodyPr/>
              <a:lstStyle/>
              <a:p>
                <a:r>
                  <a:rPr sz="1200" b="0">
                    <a:solidFill>
                      <a:srgbClr val="5B6B73"/>
                    </a:solidFill>
                    <a:latin typeface="Calibri"/>
                  </a:rPr>
                  <a:t>Puntuación normal</a:t>
                </a:r>
              </a:p>
            </c:rich>
          </c:tx>
          <c:layout/>
          <c:overlay val="0"/>
        </c:title>
        <c:numFmt formatCode="0.0" sourceLinked="0"/>
        <c:majorTickMark val="out"/>
        <c:minorTickMark val="none"/>
        <c:tickLblPos val="low"/>
        <c:spPr>
          <a:ln>
            <a:solidFill>
              <a:srgbClr val="9AA8AE"/>
            </a:solidFill>
          </a:ln>
        </c:spPr>
        <c:crossAx val="-2128940872"/>
        <c:crosses val="autoZero"/>
        <c:crossBetween val="midCat"/>
      </c:valAx>
    </c:plotArea>
    <c:plotVisOnly val="1"/>
    <c:dispBlanksAs val="gap"/>
    <c:showDLblsOverMax val="0"/>
  </c:chart>
  <c:txPr>
    <a:bodyPr/>
    <a:lstStyle/>
    <a:p>
      <a:pPr>
        <a:defRPr sz="1200">
          <a:solidFill>
            <a:srgbClr val="142B33"/>
          </a:solidFill>
          <a:latin typeface="Calibri"/>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0F4C5C"/>
                </a:solidFill>
              </a:rPr>
              <a:t>Primera fracción: efectos estimados</a:t>
            </a:r>
          </a:p>
        </c:rich>
      </c:tx>
      <c:layout/>
      <c:overlay val="0"/>
    </c:title>
    <c:autoTitleDeleted val="0"/>
    <c:plotArea>
      <c:barChart>
        <c:barDir val="bar"/>
        <c:grouping val="clustered"/>
        <c:ser>
          <c:idx val="0"/>
          <c:order val="0"/>
          <c:tx>
            <c:strRef>
              <c:f>Sheet1!$B$1</c:f>
              <c:strCache>
                <c:ptCount val="1"/>
                <c:pt idx="0">
                  <c:v>Valor</c:v>
                </c:pt>
              </c:strCache>
            </c:strRef>
          </c:tx>
          <c:spPr>
            <a:solidFill>
              <a:srgbClr val="0F4C5C"/>
            </a:solidFill>
          </c:spPr>
          <c:invertIfNegative val="0"/>
          <c:cat>
            <c:strRef>
              <c:f>Sheet1!$A$2:$A$8</c:f>
              <c:strCache>
                <c:ptCount val="7"/>
                <c:pt idx="0">
                  <c:v>B</c:v>
                </c:pt>
                <c:pt idx="1">
                  <c:v>D</c:v>
                </c:pt>
                <c:pt idx="2">
                  <c:v>A</c:v>
                </c:pt>
                <c:pt idx="3">
                  <c:v>G</c:v>
                </c:pt>
                <c:pt idx="4">
                  <c:v>F</c:v>
                </c:pt>
                <c:pt idx="5">
                  <c:v>E</c:v>
                </c:pt>
                <c:pt idx="6">
                  <c:v>C</c:v>
                </c:pt>
              </c:strCache>
            </c:strRef>
          </c:cat>
          <c:val>
            <c:numRef>
              <c:f>Sheet1!$B$2:$B$8</c:f>
              <c:numCache>
                <c:formatCode>General</c:formatCode>
                <c:ptCount val="7"/>
                <c:pt idx="0">
                  <c:v>38.37500000000001</c:v>
                </c:pt>
                <c:pt idx="1">
                  <c:v>28.875000000000007</c:v>
                </c:pt>
                <c:pt idx="2">
                  <c:v>20.625</c:v>
                </c:pt>
                <c:pt idx="3">
                  <c:v>-2.424999999999997</c:v>
                </c:pt>
                <c:pt idx="4">
                  <c:v>-0.625</c:v>
                </c:pt>
                <c:pt idx="5">
                  <c:v>-0.2749999999999986</c:v>
                </c:pt>
                <c:pt idx="6">
                  <c:v>-0.2749999999999986</c:v>
                </c:pt>
              </c:numCache>
            </c:numRef>
          </c:val>
        </c:ser>
        <c:dLbls>
          <c:numFmt formatCode="0.00" sourceLinked="0"/>
          <c:txPr>
            <a:bodyPr/>
            <a:lstStyle/>
            <a:p>
              <a:pPr>
                <a:defRPr sz="1200">
                  <a:solidFill>
                    <a:srgbClr val="142B33"/>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low"/>
        <c:spPr>
          <a:ln>
            <a:solidFill>
              <a:srgbClr val="9AA8AE"/>
            </a:solidFill>
          </a:ln>
        </c:spPr>
        <c:crossAx val="-2113994440"/>
        <c:crosses val="autoZero"/>
        <c:auto val="1"/>
        <c:lblAlgn val="ctr"/>
        <c:lblOffset val="100"/>
        <c:tickLblSkip val="1"/>
        <c:noMultiLvlLbl val="0"/>
      </c:catAx>
      <c:valAx>
        <c:axId val="-2113994440"/>
        <c:scaling/>
        <c:delete val="0"/>
        <c:axPos val="b"/>
        <c:majorGridlines>
          <c:spPr>
            <a:ln w="6350">
              <a:solidFill>
                <a:srgbClr val="DDE5E8"/>
              </a:solidFill>
            </a:ln>
          </c:spPr>
        </c:majorGridlines>
        <c:title>
          <c:tx>
            <c:rich>
              <a:bodyPr/>
              <a:lstStyle/>
              <a:p>
                <a:r>
                  <a:rPr sz="1200" b="0">
                    <a:solidFill>
                      <a:srgbClr val="5B6B73"/>
                    </a:solidFill>
                    <a:latin typeface="Calibri"/>
                  </a:rPr>
                  <a:t>Efecto estimado (ms)</a:t>
                </a:r>
              </a:p>
            </c:rich>
          </c:tx>
          <c:layout/>
          <c:overlay val="0"/>
        </c:title>
        <c:numFmt formatCode="0" sourceLinked="0"/>
        <c:majorTickMark val="out"/>
        <c:minorTickMark val="none"/>
        <c:tickLblPos val="nextTo"/>
        <c:spPr>
          <a:ln>
            <a:solidFill>
              <a:srgbClr val="9AA8AE"/>
            </a:solidFill>
          </a:ln>
        </c:spPr>
        <c:crossAx val="-2068027336"/>
        <c:crosses val="autoZero"/>
      </c:valAx>
    </c:plotArea>
    <c:dispBlanksAs val="gap"/>
  </c:chart>
  <c:txPr>
    <a:bodyPr/>
    <a:lstStyle/>
    <a:p>
      <a:pPr>
        <a:defRPr sz="1200">
          <a:solidFill>
            <a:srgbClr val="142B33"/>
          </a:solidFill>
          <a:latin typeface="Calibri"/>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0F4C5C"/>
                </a:solidFill>
              </a:rPr>
              <a:t>Efectos estimados (valor absoluto)</a:t>
            </a:r>
          </a:p>
        </c:rich>
      </c:tx>
      <c:layout/>
      <c:overlay val="0"/>
    </c:title>
    <c:autoTitleDeleted val="0"/>
    <c:plotArea>
      <c:barChart>
        <c:barDir val="bar"/>
        <c:grouping val="clustered"/>
        <c:ser>
          <c:idx val="0"/>
          <c:order val="0"/>
          <c:tx>
            <c:strRef>
              <c:f>Sheet1!$B$1</c:f>
              <c:strCache>
                <c:ptCount val="1"/>
                <c:pt idx="0">
                  <c:v>Valor</c:v>
                </c:pt>
              </c:strCache>
            </c:strRef>
          </c:tx>
          <c:spPr>
            <a:solidFill>
              <a:srgbClr val="0F4C5C"/>
            </a:solidFill>
          </c:spPr>
          <c:invertIfNegative val="0"/>
          <c:cat>
            <c:strRef>
              <c:f>Sheet1!$A$2:$A$12</c:f>
              <c:strCache>
                <c:ptCount val="11"/>
                <c:pt idx="0">
                  <c:v>L</c:v>
                </c:pt>
                <c:pt idx="1">
                  <c:v>F</c:v>
                </c:pt>
                <c:pt idx="2">
                  <c:v>G</c:v>
                </c:pt>
                <c:pt idx="3">
                  <c:v>H</c:v>
                </c:pt>
                <c:pt idx="4">
                  <c:v>K</c:v>
                </c:pt>
                <c:pt idx="5">
                  <c:v>J</c:v>
                </c:pt>
                <c:pt idx="6">
                  <c:v>A</c:v>
                </c:pt>
                <c:pt idx="7">
                  <c:v>B</c:v>
                </c:pt>
                <c:pt idx="8">
                  <c:v>E</c:v>
                </c:pt>
                <c:pt idx="9">
                  <c:v>C</c:v>
                </c:pt>
                <c:pt idx="10">
                  <c:v>D</c:v>
                </c:pt>
              </c:strCache>
            </c:strRef>
          </c:cat>
          <c:val>
            <c:numRef>
              <c:f>Sheet1!$B$2:$B$12</c:f>
              <c:numCache>
                <c:formatCode>General</c:formatCode>
                <c:ptCount val="11"/>
                <c:pt idx="0">
                  <c:v>0.3333333333333333</c:v>
                </c:pt>
                <c:pt idx="1">
                  <c:v>1.0</c:v>
                </c:pt>
                <c:pt idx="2">
                  <c:v>2.3333333333333335</c:v>
                </c:pt>
                <c:pt idx="3">
                  <c:v>3.0</c:v>
                </c:pt>
                <c:pt idx="4">
                  <c:v>11.666666666666666</c:v>
                </c:pt>
                <c:pt idx="5">
                  <c:v>12.666666666666666</c:v>
                </c:pt>
                <c:pt idx="6">
                  <c:v>12.666666666666666</c:v>
                </c:pt>
                <c:pt idx="7">
                  <c:v>13.333333333333334</c:v>
                </c:pt>
                <c:pt idx="8">
                  <c:v>13.666666666666666</c:v>
                </c:pt>
                <c:pt idx="9">
                  <c:v>13.666666666666666</c:v>
                </c:pt>
                <c:pt idx="10">
                  <c:v>34.0</c:v>
                </c:pt>
              </c:numCache>
            </c:numRef>
          </c:val>
        </c:ser>
        <c:dLbls>
          <c:numFmt formatCode="0.00" sourceLinked="0"/>
          <c:txPr>
            <a:bodyPr/>
            <a:lstStyle/>
            <a:p>
              <a:pPr>
                <a:defRPr sz="1200">
                  <a:solidFill>
                    <a:srgbClr val="142B33"/>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low"/>
        <c:spPr>
          <a:ln>
            <a:solidFill>
              <a:srgbClr val="9AA8AE"/>
            </a:solidFill>
          </a:ln>
        </c:spPr>
        <c:crossAx val="-2113994440"/>
        <c:crosses val="autoZero"/>
        <c:auto val="1"/>
        <c:lblAlgn val="ctr"/>
        <c:lblOffset val="100"/>
        <c:tickLblSkip val="1"/>
        <c:noMultiLvlLbl val="0"/>
      </c:catAx>
      <c:valAx>
        <c:axId val="-2113994440"/>
        <c:scaling/>
        <c:delete val="0"/>
        <c:axPos val="b"/>
        <c:majorGridlines>
          <c:spPr>
            <a:ln w="6350">
              <a:solidFill>
                <a:srgbClr val="DDE5E8"/>
              </a:solidFill>
            </a:ln>
          </c:spPr>
        </c:majorGridlines>
        <c:title>
          <c:tx>
            <c:rich>
              <a:bodyPr/>
              <a:lstStyle/>
              <a:p>
                <a:r>
                  <a:rPr sz="1200" b="0">
                    <a:solidFill>
                      <a:srgbClr val="5B6B73"/>
                    </a:solidFill>
                    <a:latin typeface="Calibri"/>
                  </a:rPr>
                  <a:t>|Efecto|</a:t>
                </a:r>
              </a:p>
            </c:rich>
          </c:tx>
          <c:layout/>
          <c:overlay val="0"/>
        </c:title>
        <c:numFmt formatCode="0" sourceLinked="0"/>
        <c:majorTickMark val="out"/>
        <c:minorTickMark val="none"/>
        <c:tickLblPos val="nextTo"/>
        <c:spPr>
          <a:ln>
            <a:solidFill>
              <a:srgbClr val="9AA8AE"/>
            </a:solidFill>
          </a:ln>
        </c:spPr>
        <c:crossAx val="-2068027336"/>
        <c:crosses val="autoZero"/>
      </c:valAx>
    </c:plotArea>
    <c:dispBlanksAs val="gap"/>
  </c:chart>
  <c:txPr>
    <a:bodyPr/>
    <a:lstStyle/>
    <a:p>
      <a:pPr>
        <a:defRPr sz="1200">
          <a:solidFill>
            <a:srgbClr val="142B33"/>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clase combina los dos libros del curso. Del capítulo 8 de Gutiérrez Pulido y De la Vara se toma el orden y la forma de explicar: primero por qué conviene fraccionar, con una tabla que cuenta los efectos que importan; después el caso más pequeño, el 23−1, con los contrastes a la vista; una sola receta de construcción en dos pasos; y un análisis que va del gráfico (Pareto y Daniel) al mejor ANOVA y al mejor tratamiento. Del capítulo 8 de Montgomery se toman los términos y los temas que Gutiérrez no trata o solo menciona: proyección, cadenas de alias, interacción generalizada, aberración mínima, método de Lenth, bloques, doblez, Plackett-Burman y diseños mínimos.</a:t>
            </a:r>
          </a:p>
          <a:p/>
          <a:p>
            <a:r>
              <a:t>Los ejemplos de ambos libros se usan como demostraciones: cada uno muestra una idea concreta (que la fracción basta, que los alias se pueden separar, que los bloques no estropean los efectos, que una fracción de 8 corridas puede encontrar los tres factores que importan entre siete).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factorial 2k completo el número de corridas se duplica con cada factor que se agrega: con 6 factores son 64 corridas, con 7 ya son 128 y con 10 son 1024. En las primeras etapas de una investigación suele haber muchos factores candidatos y pocos recursos, de modo que el factorial completo deja de ser viable.</a:t>
            </a:r>
          </a:p>
          <a:p/>
          <a:p>
            <a:r>
              <a:t>Gutiérrez lo plantea como una necesidad de economía: hace falta una estrategia que reduzca de manera importante el número de corridas pero que al mismo tiempo pierda el mínimo de información valiosa. Esa estrategia son los factoriales fraccionados: se corre solo una parte (una fracción) de los tratamientos del factorial completo, elegida de forma que todavía se puedan estimar los efectos principales y las interacciones de orden bajo.</a:t>
            </a:r>
          </a:p>
          <a:p/>
          <a:p>
            <a:r>
              <a:t>El precio que se paga es que algunos efectos quedan mezclados entre sí; a esos efectos mezclados se les llama alias. Por eso su uso típico es el tamizado (cribado o screening, en el término de Montgomery): identificar, entre muchos factores, los pocos que realmente afectan la respuesta.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teoría de los fraccionados se apoya en una jerarquía de los efectos: los más importantes son los efectos principales, después las interacciones dobles, luego las triples, las cuádruples, etcétera. Con esa jerarquía, Gutiérrez separa los efectos de cada 2k en dos grupos (su tabla 8.1). Los no ignorables, o potencialmente importantes, son los efectos principales y las interacciones dobles. Los ignorables son las interacciones de tres o más factores, que en la práctica casi nunca son importantes.</a:t>
            </a:r>
          </a:p>
          <a:p/>
          <a:p>
            <a:r>
              <a:t>La tabla muestra el punto de quiebre. Con k &lt; 5 hay más efectos importantes que ignorables: fraccionar cuesta información valiosa. A partir de k = 5 se invierte: el 25 estima 31 efectos, de los cuales solo 15 son potencialmente importantes (5 principales y 10 dobles), y los 16 restantes se pueden ignorar a priori. Se dice que el factorial completo acumula un exceso de información.</a:t>
            </a:r>
          </a:p>
          <a:p/>
          <a:p>
            <a:r>
              <a:t>Más adelante se verá que con la mitad del 25, un 25−1 de 16 corridas, se estiman limpios los 15 efectos importantes. Se obtiene esencialmente la misma información que con el factorial completo, a la mitad del costo experimental. Montgomery llama a esta misma idea principio de escasez de efectos (o esparcimiento): un sistema suele estar dominado por unos pocos efectos principales e interacciones de orden bajo.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 que se gana es economía: menos corridas, menos material, menos tiempo de máquina, con la misma información sobre los efectos que importan.</a:t>
            </a:r>
          </a:p>
          <a:p/>
          <a:p>
            <a:r>
              <a:t>Lo que se pierde lo resume Gutiérrez en dos hechos insoslayables que ocurren siempre que se corre una fracción y que conviene tener presentes en todo el tema.</a:t>
            </a:r>
          </a:p>
          <a:p/>
          <a:p>
            <a:r>
              <a:t>Primer hecho: se pierde información. Hay efectos que no se pueden estimar (por ejemplo, la interacción que se usó para generar la fracción) y quedan menos grados de libertad para estimar el error.</a:t>
            </a:r>
          </a:p>
          <a:p/>
          <a:p>
            <a:r>
              <a:t>Segundo hecho: todo efecto que sí se puede estimar tiene al menos un alias, es decir, otro efecto con el que comparte la misma columna de signos. Al estimar uno se estima en realidad la suma de los dos, y eso a veces entorpece la interpretación.</a:t>
            </a:r>
          </a:p>
          <a:p/>
          <a:p>
            <a:r>
              <a:t>Todo el tema consiste en elegir la fracción de modo que lo que se pierde (interacciones de orden alto) sea justamente lo que menos importa, y en saber qué hacer cuando un alias deja una duda. Los efectos que al final no resulten importantes se fijan donde sea más barato: Gutiérrez lo llama elegir sus niveles por criterio económico.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Montgomery resume la justificación en tres ideas, que complementan la tabla anterior.</a:t>
            </a:r>
          </a:p>
          <a:p/>
          <a:p>
            <a:r>
              <a:t>Escasez de efectos (y jerarquía): cuando hay muchas variables, el sistema suele estar dominado por unos pocos efectos principales e interacciones de orden bajo. Es la misma idea de la tabla de efectos ignorables.</a:t>
            </a:r>
          </a:p>
          <a:p/>
          <a:p>
            <a:r>
              <a:t>Proyección: si algunos factores resultan inactivos, el fraccionado se convierte en un diseño más fuerte (incluso un factorial completo, a veces con réplicas) en los factores que sí importan. Gutiérrez lo llama colapsar el diseño.</a:t>
            </a:r>
          </a:p>
          <a:p/>
          <a:p>
            <a:r>
              <a:t>Experimentación secuencial: no hay que correr todo de una vez. Se corre una fracción, se analiza y, si quedan dudas, se agrega otra fracción; juntas forman un diseño mayor que resuelve las ambigüedades. Gutiérrez lo llama aclarar las ambigüedades con otra fracción.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Conviene cuando hay muchos factores (Montgomery señala que incluso con cuatro suele preferirse empezar con la fracción 24−1), cuando cada corrida es costosa o lenta, cuando se está en una etapa exploratoria y cuando es razonable suponer que las interacciones de tres o más factores son despreciables.</a:t>
            </a:r>
          </a:p>
          <a:p/>
          <a:p>
            <a:r>
              <a:t>No conviene cuando hay pocos factores y el factorial completo es barato, cuando se sabe que hay interacciones importantes entre muchos factores, o cuando se necesita un modelo detallado para optimizar: para eso están los factoriales completos y las superficies de respuesta, normalmente en una etapa posterior. Las conclusiones de un fraccionado son tentativas y deben confirmarse.</a:t>
            </a:r>
          </a:p>
          <a:p/>
          <a:p>
            <a:r>
              <a:t>Gutiérrez agrega una recomendación práctica: aunque los diseños muy fraccionados tienen limitaciones, es más recomendable experimentar aunque sea con un diseño de resolución baja que no hacerlo.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notación resume el diseño completo. La base 2 indica que cada factor tiene dos niveles (bajo y alto, codificados −1 y +1). k es el número de factores que se estudian. p es el número de generadores, es decir, cuántas veces se parte el factorial por la mitad. El diseño tiene N = 2k−p corridas y es una fracción 1/2p del factorial completo.</a:t>
            </a:r>
          </a:p>
          <a:p/>
          <a:p>
            <a:r>
              <a:t>Ejemplo: un 26−2 estudia 6 factores en 16 corridas, que es la cuarta parte de las 64 del factorial completo.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Antes de fraccionar hay que saber leer la tabla del factorial completo, porque la fracción se recorta de ella. La tabla usa dos alfabetos. Las letras mayúsculas A, B, C encabezan las columnas y nombran los factores (y también sus efectos). Las letras minúsculas identifican las filas, es decir, las combinaciones de tratamientos: una letra presente indica que ese factor está en su nivel alto (+1) y una letra ausente indica que está en su nivel bajo (−1). Así, ac es la corrida con A y C altos y B bajo, y (1) es la corrida con todos los factores en nivel bajo.</a:t>
            </a:r>
          </a:p>
          <a:p/>
          <a:p>
            <a:r>
              <a:t>Las filas se escriben en el orden estándar o de Yates: se introduce un factor a la vez y se combina con todos los anteriores. Para tres factores: (1), a, b, ab, c, ac, bc, abc. En ese orden la columna A alterna −, +; la de B va de dos en dos y la de C de cuatro en cuatro. Montgomery usa la misma minúscula para nombrar la corrida y para denotar la respuesta (o el total de respuestas) observada en ella; por eso más adelante se escriben contrastes como a − b − c + abc. La letra I se reserva para la columna identidad, de modo que el noveno factor se llama J.</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columnas de los factores no bastan: hace falta una columna por cada efecto que el diseño puede estimar, y un 2k estima 2k − 1 efectos. Las columnas de las interacciones se obtienen multiplicando, fila por fila, los signos de los factores que las componen: en la corrida a, A es + y B es −, de modo que AB es −; en la corrida ab, ambos son + y AB es +. La columna ABC es el producto de las tres. Se agrega además la columna I, toda positiva, que corresponde al promedio general.</a:t>
            </a:r>
          </a:p>
          <a:p/>
          <a:p>
            <a:r>
              <a:t>La tabla completa tiene tres propiedades que se usan en todo el tema. Cada columna de efecto tiene la mitad de signos positivos y la mitad negativos (está balanceada). El producto de dos columnas cualesquiera es otra columna de la tabla, y una letra multiplicada por sí misma da I porque (±1)² = 1: A·AB = A²B = B. Las columnas son ortogonales entre sí, por lo que cada efecto se estima de forma independiente con su propio contraste: la suma de las respuestas multiplicadas por los signos de la columna, dividida entre N/2.</a:t>
            </a:r>
          </a:p>
          <a:p/>
          <a:p>
            <a:r>
              <a:t>De esta tabla sale la fracción: elegir media fracción es quedarse con las filas en que una columna de interacción tiene el mismo signo.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22 no tiene sentido fraccionarlo: con dos corridas no se estiman ni los dos efectos principales. El primer diseño que se puede partir a la mitad es el 23, aunque se verá que solo se recomienda cuando el costo obliga.</a:t>
            </a:r>
          </a:p>
          <a:p/>
          <a:p>
            <a:r>
              <a:t>Partirlo a la mitad es escoger 4 de los 8 tratamientos, y hay C(8, 4) = 70 maneras de hacerlo. ¿Cuál conviene? La que permita estimar los efectos de mayor interés. El 23 estima siete efectos: A, B, C, AB, AC, BC y ABC. Por jerarquía, el menos importante es la interacción triple ABC, así que es el efecto que se sacrifica.</a:t>
            </a:r>
          </a:p>
          <a:p/>
          <a:p>
            <a:r>
              <a:t>La fracción se genera con los signos de la columna ABC. Las corridas con + en ABC (a, b, c y abc) forman la fracción principal, I = +ABC. Las corridas con − ((1), ab, ac y bc) forman la fracción complementaria, I = −ABC; Montgomery la llama fracción alterna. Las dos dan la misma calidad de información, y cualquier otra elección de cuatro corridas sería peor.</a:t>
            </a:r>
          </a:p>
          <a:p/>
          <a:p>
            <a:r>
              <a:t>ABC se llama generador de la fracción: es el efecto cuyo contraste se usa para construirla, y por eso ya no se puede estimar. Dentro de la fracción principal la columna ABC es toda +: no tiene contraste, se confunde con la media global. Por eso se escribe I = ABC: la columna ABC hace las veces de la identidad I. En el cubo, cada mitad ocupa cuatro vértices no adyacentes y cubre toda la región experimental.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Gutiérrez explica los alias sin fórmulas nuevas, solo con la tabla de signos de la fracción principal. El contraste de A se lee en su columna: + en a y abc, − en b y c, así que Contraste A = a + abc − b − c. Ahora se multiplica, fila por fila, la columna B por la columna C para obtener la columna BC: da exactamente los mismos signos. Entonces Contraste BC = a + abc − b − c.</a:t>
            </a:r>
          </a:p>
          <a:p/>
          <a:p>
            <a:r>
              <a:t>Los dos contrastes son iguales. Eso significa que A y BC son alias: son el mismo efecto con dos nombres distintos. Al estimar A también se estima BC; en realidad se estima la suma A + BC, y con estas cuatro corridas no se sabe cuál de los dos predomina o si ambos afectan. Lo mismo pasa con B y AC, y con C y AB.</a:t>
            </a:r>
          </a:p>
          <a:p/>
          <a:p>
            <a:r>
              <a:t>El resultado se escribe como la estructura de alias del diseño: A + BC, B + AC, C + AB. En la fracción complementaria las columnas de las interacciones dobles salen con el signo contrario al de los efectos principales, y se estima A − BC, B − AC y C − AB.</a:t>
            </a:r>
          </a:p>
          <a:p/>
          <a:p>
            <a:r>
              <a:t>Aquí ya ocurrieron los dos hechos de la introducción: se perdió la información de ABC y cada efecto estimable tiene un alias.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Comparar columnas funciona con tres factores, pero con siete se vuelve impráctico. El atajo es algebraico y sale de dos propiedades de la tabla de signos, que Gutiérrez llama multiplicación módulo 2: multiplicar cualquier efecto por la identidad lo deja igual (A × I = A) y multiplicar un efecto por sí mismo da la identidad (A × A = A² = I), porque (±1)² = 1.</a:t>
            </a:r>
          </a:p>
          <a:p/>
          <a:p>
            <a:r>
              <a:t>La igualdad I = ABC se llama relación definidora (Montgomery: relación de definición), porque define toda la estructura de alias. Para obtener el alias de un efecto se multiplican por él los dos lados de la relación: A × I = A × ABC = A²BC = BC. Del mismo modo B × ABC = AC y C × ABC = AB: la misma estructura que se obtuvo comparando contrastes.</a:t>
            </a:r>
          </a:p>
          <a:p/>
          <a:p>
            <a:r>
              <a:t>Montgomery agrega dos términos. Cada interacción que aparece en la relación definidora es una palabra (ABC es una palabra de tres letras). Y el grupo completo de efectos que comparten columna es una cadena de alias: en el 23−1 hay tres cadenas, A = BC, B = AC y C = AB.</a:t>
            </a:r>
          </a:p>
          <a:p/>
          <a:p>
            <a:r>
              <a:t>Si se corren las dos fracciones, cada efecto se puede separar de su alias: la semisuma de las dos estimaciones da el efecto principal, ½(ℓA + ℓ′A) = ½[(A + BC) + (A − BC)] = A, y la semidiferencia da la interacción, ½(ℓA − ℓ′A) = BC. Las ocho corridas juntas son el 23 completo, corrido en dos bloques de cuatro con ABC confundida con los bloques.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los datos solo ven la suma A + BC, ¿a quién se le atribuye un efecto grande? Gutiérrez da la regla sin rodeos: para interpretar efectos alias es necesario suponer que solo uno de ellos es responsable del efecto observado y que los demás son nulos.</a:t>
            </a:r>
          </a:p>
          <a:p/>
          <a:p>
            <a:r>
              <a:t>¿Cuál? El de menor orden, por jerarquía. En el 23−1 el efecto observado se atribuye al efecto principal de cada cadena y se suponen nulas las interacciones dobles. Cuando los alias tienen la misma jerarquía (por ejemplo, dos interacciones dobles como AC + BD), se decide con conocimiento del proceso o mirando qué efectos principales resultaron activos: una interacción es más creíble si sus factores también son activos. Montgomery y otros textos llaman herencia a este segundo criterio.</a:t>
            </a:r>
          </a:p>
          <a:p/>
          <a:p>
            <a:r>
              <a:t>El riesgo está en el supuesto. Suponer de antemano que las interacciones dobles no afectan suele ser arriesgado; por eso Gutiérrez no recomienda el 23−1 salvo que el costo no permita correr el factorial completo. En general no es buena estrategia aliar dos efectos potencialmente importantes, como un efecto principal y una interacción doble, aunque a veces no queda otra alternativa. La siguiente sección (resolución) da la forma de medir ese riesgo antes de correr.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dos libros usan casi los mismos términos, pero no siempre con el mismo nombre. Esta tabla sirve para leer cualquiera de los dos.</a:t>
            </a:r>
          </a:p>
          <a:p/>
          <a:p>
            <a:r>
              <a:t>Generador: el efecto (la interacción) cuyos signos definen la fracción; ABC en I = ABC, que equivale a decir C = AB. Palabra: cada interacción que aparece en la relación definidora. Relación definidora o de definición: los generadores y todos sus productos, iguales a la identidad I. Alias: efectos que comparten columna de signos y no se pueden distinguir; cadena de alias, el grupo completo. Estructura de alias: la lista explícita de los alias de cada efecto; Gutiérrez llama estructura de alias reducida a la que solo escribe hasta las interacciones dobles. Fracción principal: la que usa todos los generadores con signo +; las demás son complementarias (Gutiérrez) o alternas (Montgomery), y todas juntas forman la familia. Diseño básico: el factorial completo en k − p factores sobre el que se construye la fracción. Proyectar (Montgomery) o colapsar (Gutiérrez): quitar del diseño los factores inactivos y ver qué diseño queda en los demás.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Gutiérrez la presenta como una medida de qué tan bien permite un diseño fraccionado estudiar los efectos potencialmente importantes. Se escribe con número romano como subíndice: 23−1III se lee «dos a la tres menos uno, resolución tres». Bastan tres definiciones cortas, cada una con su ejemplo.</a:t>
            </a:r>
          </a:p>
          <a:p/>
          <a:p>
            <a:r>
              <a:t>Resolución III: los efectos principales no son alias entre ellos, pero sí son alias de interacciones dobles. Ejemplo: el 23−1 con I = ABC, donde A + BC.</a:t>
            </a:r>
          </a:p>
          <a:p/>
          <a:p>
            <a:r>
              <a:t>Resolución IV: los efectos principales no son alias entre ellos ni de las interacciones dobles, pero algunas interacciones dobles son alias entre sí. Ejemplo: el 24−1 con I = ABCD, donde A + BCD y AB + CD.</a:t>
            </a:r>
          </a:p>
          <a:p/>
          <a:p>
            <a:r>
              <a:t>Resolución V: los efectos principales y las interacciones dobles solo son alias de interacciones triples o de mayor orden. Ejemplo: el 25−1 con I = ABCDE, donde A + BCDE y AB + CDE.</a:t>
            </a:r>
          </a:p>
          <a:p/>
          <a:p>
            <a:r>
              <a:t>La definición formal, que es la de Montgomery, dice lo mismo en general: un diseño es de resolución R cuando ningún efecto de p factores es alias de otro que tenga menos de R − p factores. Leída de forma sencilla: si dos efectos son alias, entre los dos suman al menos R letras. Por eso, cuanto mayor la resolución, menos se mezclan los efectos de orden bajo y menos supuestos hacen falta para interpretar los resultados. Montgomery recomienda la resolución más alta que permita el número de corridas.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regla práctica es directa: la resolución es igual al número de letras de la palabra más corta de la relación definidora. En una fracción un medio hay una sola palabra, así que la resolución es el número de letras del generador (Gutiérrez). Montgomery llama a los diseños de resolución III, IV y V diseños «de tres, cuatro y cinco letras».</a:t>
            </a:r>
          </a:p>
          <a:p/>
          <a:p>
            <a:r>
              <a:t>La razón es la regla de los alias. Si la palabra más corta tiene L letras, al multiplicarla por un efecto principal se obtiene un alias de L − 1 letras, y la suma de los dos es justamente L.</a:t>
            </a:r>
          </a:p>
          <a:p/>
          <a:p>
            <a:r>
              <a:t>La resolución la decide quien elige los generadores. En una fracción un medio, usar como generador la interacción de mayor orden da la resolución más alta posible, que es R = k. En una fracción un cuarto importa también la interacción generalizada: con E = ABC y F = BCD las tres palabras tienen cuatro letras (resolución IV); con E = ABC y F = ABCD aparece la palabra DEF, de tres letras, y el diseño baja a resolución III con el mismo número de corridas.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Gutiérrez da una receta de dos pasos que sirve para cualquier fracción, y que es la misma idea que Montgomery llama método del diseño básico.</a:t>
            </a:r>
          </a:p>
          <a:p/>
          <a:p>
            <a:r>
              <a:t>Paso 1: escribir el factorial completo en los primeros k − 1 factores, como si fuera un 2k−1. Tiene ya el número correcto de corridas, pero le falta la columna del último factor.</a:t>
            </a:r>
          </a:p>
          <a:p/>
          <a:p>
            <a:r>
              <a:t>Paso 2: la columna que falta se obtiene multiplicando entre sí todas las columnas anteriores (la interacción de mayor orden). Si se quiere la fracción complementaria se cambian los signos de esa columna. El diseño resultante tiene la resolución más alta posible para una fracción un medio, R = k.</a:t>
            </a:r>
          </a:p>
          <a:p/>
          <a:p>
            <a:r>
              <a:t>Ejemplo 8.1 de Gutiérrez, un 24−1 con I = −ABCD: se escribe el 23 en A, B y C, y la columna de D se obtiene con el producto −ABC. La tabla muestra el resultado. Gutiérrez señala una ventaja de esta fracción complementaria frente a la principal: no contiene las combinaciones más extremas, (−, −, −, −) y (+, +, +, +), que a veces son las más difíciles o riesgosas de correr. La fracción principal (D = +ABC) es la que se usa en el ejemplo 1.</a:t>
            </a:r>
          </a:p>
          <a:p/>
          <a:p>
            <a:r>
              <a:t>Montgomery da otra forma de verlo: se divide el 2k en dos bloques confundiendo la interacción de mayor orden; cada bloque es una fracción 2k−1 de máxima resolución.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Proyectar es mirar el diseño solo en algunos de sus factores, como si los demás no existieran; Gutiérrez lo llama colapsar el diseño. Montgomery enuncia la regla general: un fraccionado de resolución R contiene un factorial completo, posiblemente con réplicas, en cualquier subconjunto de R − 1 factores.</a:t>
            </a:r>
          </a:p>
          <a:p/>
          <a:p>
            <a:r>
              <a:t>La consecuencia práctica es útil: si se cree que a lo sumo R − 1 factores son importantes, un diseño de resolución R es la elección adecuada, porque si la sospecha es correcta el diseño se convierte en un factorial completo en los factores activos.</a:t>
            </a:r>
          </a:p>
          <a:p/>
          <a:p>
            <a:r>
              <a:t>Como la fracción un medio de máxima resolución tiene R = k, todo 2k−1 se proyecta en un factorial completo en cualesquiera k − 1 de sus factores, en dos réplicas de un completo en cualesquiera k − 2, en cuatro réplicas en cualesquiera k − 3, y así sucesivamente. El 23−1III se proyecta en un 22 completo en cualquier par de factores: es la figura 8-2 del libro, donde el cubo deja un cuadrado completo en cada una de sus tres caras.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producto químico se fabrica en un recipiente a presión. En la planta piloto se quiere estudiar los factores que se cree influyen en el índice de filtración del producto (gal/h): A temperatura, B presión, C concentración de formaldehído y D velocidad de agitación, cada uno a dos niveles.</a:t>
            </a:r>
          </a:p>
          <a:p/>
          <a:p>
            <a:r>
              <a:t>Con las condiciones actuales la filtración ronda los 75 gal/h y el proceso trabaja con la concentración de formaldehído en el nivel alto. El ingeniero quiere reducir el formaldehído tanto como sea posible, pero hasta ahora cada intento ha bajado la filtración.</a:t>
            </a:r>
          </a:p>
          <a:p/>
          <a:p>
            <a:r>
              <a:t>El factorial completo 24 exige 16 corridas. Para ahorrar, se corre solo la mitad: 8 corridas, elegidas con D = ABC (I = ABCD). Cada combinación se corre una vez, en orden aleatorio.</a:t>
            </a:r>
          </a:p>
          <a:p/>
          <a:p>
            <a:r>
              <a:t>Objetivo: Encontrar las condiciones que maximizan la filtración y ver si se puede trabajar con menos formaldehído sin perderla</a:t>
            </a:r>
          </a:p>
          <a:p/>
          <a:p>
            <a:r>
              <a:t>Se pide: construir la fracción y escribir sus alias; estimar los efectos e identificar los activos; interpretar las cadenas de alias grandes; proponer el modelo y la mejor condición. Fuente: Montgomery, ejemplos 6-2 y 8-1.</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el enunciado de la diapositiva anterior: el factorial completo exigiría 16 corridas y se corre la fracción un medio con D = ABC, es decir I = ABCD, en 8 corridas.</a:t>
            </a:r>
          </a:p>
          <a:p/>
          <a:p>
            <a:r>
              <a:t>Es un diseño de resolución IV: cada efecto principal es alias de una interacción triple, y las interacciones dobles son alias por pares (AB = CD, AC = BD, AD = BC). Fuente de los datos: Montgomery, ejemplo 8-1.</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tabla muestra el efecto estimado con cada columna y la cadena de alias que realmente estima. Tres efectos principales son grandes: A (19.0), C (14.0) y D (16.5). También son grandes las cadenas AC + BD (−18.5) y AD + BC (19.0). B y AB + CD son pequeños.</a:t>
            </a:r>
          </a:p>
          <a:p/>
          <a:p>
            <a:r>
              <a:t>En la gráfica seminormal la recta de Daniel se traza solo con los efectos pequeños (B y AB + CD) y pasa por el origen: es lo que se esperaría si todos los efectos fueran ruido. Los otros cinco se apartan mucho de ella. Esa es la primera clasificación para el ANOVA: lo que se aleja de la recta entra al modelo (A, C, D, AC + BD y AD + BC) y lo que queda sobre ella (B y AB + CD) pasa al error. Esta gráfica es un cálculo propio: el libro solo presenta la tabla de efectos.</a:t>
            </a:r>
          </a:p>
          <a:p/>
          <a:p>
            <a:r>
              <a:t>Interpretación de las cadenas: como B no tiene efecto, es más razonable atribuir AC + BD a AC y AD + BC a AD. Montgomery lo justifica con la navaja de Ockham: la explicación más simple suele ser la correcta. El modelo tentativo es A, C, D, AC y AD.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 ajusta el modelo con A, C, D, AC y AD. Los dos efectos descartados (B y AB) forman el error, con 2 grados de libertad. Los cinco términos son significativos al 5 %: todos tienen F0 mayor que F0.05, 1, 2 = 18.51 y valores p menores que 0.01. El modelo explica el 99.79 % de la variabilidad.</a:t>
            </a:r>
          </a:p>
          <a:p/>
          <a:p>
            <a:r>
              <a:t>Advertencia: esta tabla ANOVA no aparece en el libro, que en este ejemplo solo estima los efectos y da el modelo; se calculó aquí a partir de los datos. El error tiene solo 2 grados de libertad y se formó con los dos efectos más pequeños, elegidos después de ver los datos, de modo que los valores F y p son optimistas y los supuestos apenas se pueden verificar. La conclusión es tentativa.</a:t>
            </a:r>
          </a:p>
          <a:p/>
          <a:p>
            <a:r>
              <a:t>Interpretación: la temperatura (A) aumenta la filtración; el efecto de la concentración (C) depende de la temperatura (interacción AC negativa) y el de la agitación (D) también (interacción AD positiva). La presión (B) no influye, de modo que el diseño se proyecta en un 23 completo en A, C y D. La mejor condición es A alto, C bajo y D alto. El factorial completo original llegó a las mismas conclusiones con el doble de corridas.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la manufactura de un circuito integrado se quiere mejorar el rendimiento del proceso. Se investigan cinco factores a dos niveles: A ajuste de apertura (pequeña, grande), B tiempo de exposición (20 % por debajo y por encima del nominal), C tiempo de desarrollo (30 y 45 s), D tamaño de la máscara (pequeña, grande) y E tiempo de grabado (14.5 y 15.5 min).</a:t>
            </a:r>
          </a:p>
          <a:p/>
          <a:p>
            <a:r>
              <a:t>El factorial completo 25 exige 32 corridas. Se decide correr la mitad, 16 corridas, con E = ABCD (I = ABCDE), una sola réplica de cada combinación y en orden aleatorio.</a:t>
            </a:r>
          </a:p>
          <a:p/>
          <a:p>
            <a:r>
              <a:t>Sin réplicas no hay una estimación directa del error: la significancia de los efectos se tiene que juzgar con los propios efectos. Gutiérrez usa el mismo experimento (lo llama de semiconductores) para demostrar que bastaba con la mitad.</a:t>
            </a:r>
          </a:p>
          <a:p/>
          <a:p>
            <a:r>
              <a:t>Objetivo: Saber qué factores e interacciones afectan el rendimiento y en qué niveles conviene operar</a:t>
            </a:r>
          </a:p>
          <a:p/>
          <a:p>
            <a:r>
              <a:t>Se pide: identificar la resolución y los alias; estimar los 15 efectos y decidir cuáles son activos; ajustar el modelo reducido y validar los supuestos; recomendar las condiciones de operación. Fuente: Montgomery, ejemplo 8-2; Gutiérrez, «Experimento 25−1: ejemplo integrador».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el enunciado de la diapositiva anterior: el factorial completo tendría 32 corridas y se corre la fracción un medio con E = ABCD (I = ABCDE) en 16 corridas. La tabla de la izquierda da los niveles de cada factor.</a:t>
            </a:r>
          </a:p>
          <a:p/>
          <a:p>
            <a:r>
              <a:t>Es de resolución V: los efectos principales son alias de interacciones de cuatro factores y las interacciones dobles de interacciones triples. Si las interacciones de tres o más factores son despreciables, todos los efectos principales y todas las interacciones dobles se estiman limpios. Fuente: Montgomery, ejemplo 8-2.</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una sola réplica y 15 efectos estimados no hay grados de libertad para el error, así que, como recomienda Gutiérrez, primero se mira el diagrama de Pareto de los efectos y el gráfico de Daniel (gráfica de probabilidad normal de los efectos), y solo después se arma el ANOVA. En el Pareto cuatro barras sobresalen. En el gráfico de Daniel, la recta de Daniel se ajusta con los efectos pequeños, que se comportan como ruido normal de media cero. Once efectos caen sobre ella alrededor de cero; cuatro se separan claramente: B (33.88), A (11.13), C (10.88) y AB (6.88).</a:t>
            </a:r>
          </a:p>
          <a:p/>
          <a:p>
            <a:r>
              <a:t>Esa es la primera clasificación para el ANOVA: los cuatro que se apartan forman el modelo reducido y los once que quedan sobre la recta se combinan como error, con 11 grados de libertad.</a:t>
            </a:r>
          </a:p>
          <a:p/>
          <a:p>
            <a:r>
              <a:t>El método de Lenth coincide: el pseudo error estándar es PSE = 0.9375 y el margen de error es ME = 2.41; solo esos cuatro efectos lo superan.</a:t>
            </a:r>
          </a:p>
          <a:p/>
          <a:p>
            <a:r>
              <a:t>Como el diseño es de resolución V, AB es alias de CDE, una interacción triple, y se atribuye a AB suponiendo que las interacciones triples son despreciables.</a:t>
            </a:r>
          </a:p>
          <a:p/>
          <a:p>
            <a:r>
              <a:t>Montgomery usa solo la gráfica normal en este ejemplo; Gutiérrez usa Pareto y Daniel; el cálculo de Lenth es de Montgomery y se hizo aquí.</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modelo reducido incluye A, B, C y AB; los once efectos descartados forman el error con 11 grados de libertad. Los cuatro términos son altamente significativos (F0.05, 1, 11 = 4.84) y el modelo explica el 99.51 % de la variabilidad.</a:t>
            </a:r>
          </a:p>
          <a:p/>
          <a:p>
            <a:r>
              <a:t>Los tres efectos principales son positivos: el rendimiento aumenta con apertura grande, mayor tiempo de exposición y mayor tiempo de desarrollo. La interacción AB es positiva: el efecto de la apertura es mayor cuando el tiempo de exposición es alto.</a:t>
            </a:r>
          </a:p>
          <a:p/>
          <a:p>
            <a:r>
              <a:t>Como D y E no influyen, el diseño se proyecta en dos réplicas de un 23 en A, B y C. La mejor condición es A, B y C en nivel alto, con rendimiento promedio de 61.5. D y E se pueden fijar donde resulte más económico.</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Gutiérrez usa este mismo experimento como ejemplo integrador, con un propósito distinto: demostrar que no hacía falta el factorial completo. El 25 completo (32 corridas, capítulo 6 de ambos libros) se puede partir en sus dos mitades: la fracción principal, I = ABCDE, que es la que se analizó, y la fracción complementaria, I = −ABCDE, con las otras 16 corridas. Ambas se construyen en dos pasos: el 24 en A, B, C y D, y la columna E como el producto ABCD (o −ABCD).</a:t>
            </a:r>
          </a:p>
          <a:p/>
          <a:p>
            <a:r>
              <a:t>La tabla compara los efectos estimados con cada mitad. Las dos detectan los mismos cuatro efectos activos, B, A, C y AB, con magnitudes parecidas, y en ambas D y E son despreciables. Los Pareto son prácticamente los mismos, también los gráficos de Daniel y el mejor tratamiento: A, B y C en nivel alto, con D y E fijados por criterio económico. El modelo con A, B, C y AB explica el 99.55 % de la variabilidad en la complementaria, frente al 99.51 % en la principal.</a:t>
            </a:r>
          </a:p>
          <a:p/>
          <a:p>
            <a:r>
              <a:t>El mensaje de Gutiérrez: bastaba con una fracción a la mitad, y por lo tanto con la mitad de los recursos, para obtener las mismas conclusiones que con el factorial completo. Agrega que incluso con un cuarto del diseño (un 25−2) se llega a lo mismo en este caso.</a:t>
            </a:r>
          </a:p>
          <a:p/>
          <a:p>
            <a:r>
              <a:t>Nota para quien coteje: Gutiérrez imprime d = 8 en la fracción principal; Montgomery, 6. Aquí se usa el dato de Montgomery.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uso de fraccionados lleva con frecuencia a una gran economía, sobre todo si las corridas se pueden hacer en etapas. Montgomery lo llama experimentación secuencial; Gutiérrez, aclarar las ambigüedades con otra fracción. Con cuatro factores, en lugar de correr las 16 corridas del 24, Montgomery recomienda casi siempre correr primero la fracción 24−1IV de 8 corridas, analizarla y después decidir. Si quedan ambigüedades, se corre la fracción alterna y se completa el 24: las dos mitades funcionan como bloques del diseño completo, con la interacción de mayor orden (ABCD) confundida con los bloques, y eso es lo único que se pierde por haber experimentado en dos etapas. Muchas veces la primera fracción basta para pasar a la etapa siguiente sin correr la segunda.</a:t>
            </a:r>
          </a:p>
          <a:p/>
          <a:p>
            <a:r>
              <a:t>La figura 8-11 del libro, adaptada de Box (Sequential Experimentation and Sequential Assembly of Designs), resume las posibilidades de seguimiento después de un fraccionado inicial. Moverse a una nueva región para explorar una tendencia aparente de la respuesta. Agregar otra fracción para resolver las ambigüedades de la primera. Reescalar algunos factores, porque pudieron haberse variado en rangos inapropiados. Eliminar factores que resultaron insignificantes y agregar otros nuevos. Hacer réplicas para mejorar la precisión de las estimaciones o porque algunas corridas se hicieron mal. Y aumentar el diseño, por ejemplo con puntos centrales y axiales, para modelar una curvatura aparente.</a:t>
            </a:r>
          </a:p>
          <a:p/>
          <a:p>
            <a:r>
              <a:t>La idea de fondo es que el primer experimento casi nunca es el último: sirve para aprender y orientar el siguiente.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la primera fracción del índice de filtración quedaron dos cadenas grandes: AC + BD = −18.5 y AD + BC = 19.0. Se atribuyeron a AC y AD porque B no parecía influir, pero esa decisión se apoyó en el juicio del analista.</a:t>
            </a:r>
          </a:p>
          <a:p/>
          <a:p>
            <a:r>
              <a:t>El ingeniero no quiere depender de ese juicio antes de cambiar el proceso. Tiene la posibilidad de volver a la planta piloto y hacer 8 corridas más.</a:t>
            </a:r>
          </a:p>
          <a:p/>
          <a:p>
            <a:r>
              <a:t>Decide correr la fracción alterna, I = −ABCD (D = −ABC): las ocho combinaciones del 24 que no se corrieron la primera vez.</a:t>
            </a:r>
          </a:p>
          <a:p/>
          <a:p>
            <a:r>
              <a:t>Objetivo: Separar AC de BD y AD de BC con datos, sin depender del juicio</a:t>
            </a:r>
          </a:p>
          <a:p/>
          <a:p>
            <a:r>
              <a:t>Se pide: construir la fracción alterna y escribir sus alias; estimar sus efectos; combinar las dos fracciones y aislar cada efecto; decidir qué interacciones son las reales. Fuente: Montgomery, ejemplo 8-3.</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el ejemplo 1 quedaron dos cadenas grandes, AC + BD y AD + BC. Atribuirlas a AC y AD fue una decisión razonable, pero se apoyó en el juicio del analista. Para no depender de él se corre la fracción alterna, I = −ABCD, que se construye con el mismo diseño básico pero con D = −ABC.</a:t>
            </a:r>
          </a:p>
          <a:p/>
          <a:p>
            <a:r>
              <a:t>Sus ocho corridas son las que faltaban del 24. En esta fracción todas las cadenas de alias cambian de signo: ℓ′A estima A − BCD y ℓ′AC estima AC − BD. Las estimaciones obtenidas son ℓ′A = 24.25, ℓ′B = 4.75, ℓ′C = 5.75, ℓ′D = 12.75, ℓ′AB = 1.25, ℓ′AC = −17.75 y ℓ′AD = 14.25. Fuente: Montgomery, ejemplo 8-3.</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no depender del juicio del analista se corre la fracción alterna, con D = −ABC. Sus estimaciones ℓ′ tienen los alias con signo contrario: ℓ′A estima A − BCD.</a:t>
            </a:r>
          </a:p>
          <a:p/>
          <a:p>
            <a:r>
              <a:t>La semisuma de las dos estimaciones aísla el primer efecto de cada cadena y la semidiferencia el segundo. El resultado confirma la interpretación inicial: AC = −18.13 mientras BD = −0.38, y AD = 16.63 mientras BC = 2.38. Las interacciones reales eran AC y AD.</a:t>
            </a:r>
          </a:p>
          <a:p/>
          <a:p>
            <a:r>
              <a:t>Las 16 corridas forman el factorial 24 completo, corrido en dos bloques con ABCD confundida con bloques.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Agregar la fracción alterna es en sí un experimento de confirmación: aporta información que fortalece, o corrige, las conclusiones de la primera fracción.</a:t>
            </a:r>
          </a:p>
          <a:p/>
          <a:p>
            <a:r>
              <a:t>Montgomery menciona una forma más barata. Se usa el modelo ajustado para predecir la respuesta en un punto de interés dentro de la región explorada, que no sea uno de los puntos ya corridos. Después se corre ese ensayo, de preferencia varias veces, y se compara lo observado con lo predicho. Si coinciden dentro del error, el modelo queda respaldado; si no, falta algo en él.</a:t>
            </a:r>
          </a:p>
          <a:p/>
          <a:p>
            <a:r>
              <a:t>En el ejemplo 1, el modelo con A, C, D, AC y AD predice 70.75 en el centro de la región, donde todos los factores codificados valen cero. Correr unas cuantas veces en el centro y obtener valores cercanos a 70.75 confirmaría el modelo. Si el promedio en el centro se alejara mucho, indicaría además una curvatura que el diseño de dos niveles no puede ver.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Una tienda de café quiere mejorar el puntaje de sabor de su bebida (0 a 100, promedio de un panel de catadores). Se sospecha de tres factores, cada uno a dos niveles: A temperatura del agua (88 o 96 °C), B molienda (gruesa o fina) y C tiempo de infusión (3 o 4 min).</a:t>
            </a:r>
          </a:p>
          <a:p/>
          <a:p>
            <a:r>
              <a:t>Cada preparación consume un lote de café y una sesión del panel, así que solo hay presupuesto para 4 corridas, la mitad de las 8 del factorial 23. Se corre la fracción un medio con C = AB (I = ABC): las preparaciones a, b, c y abc. Si hace falta, más adelante se pueden pagar 4 corridas más.</a:t>
            </a:r>
          </a:p>
          <a:p/>
          <a:p>
            <a:r>
              <a:t>Se analizan dos situaciones posibles. Caso 1: el tiempo de infusión no influye en el sabor. Caso 2: el tiempo de infusión tampoco influye, pero la temperatura y la molienda interactúan. El experimentador no sabe cuál de las dos es la real; solo ve los cuatro puntajes.</a:t>
            </a:r>
          </a:p>
          <a:p/>
          <a:p>
            <a:r>
              <a:t>Objetivo: Ver, con cuentas a mano, qué se puede concluir con 4 corridas, cuándo la proyección basta y cuándo hace falta un doblez</a:t>
            </a:r>
          </a:p>
          <a:p/>
          <a:p>
            <a:r>
              <a:t>Se pide: escribir la fracción, la palabra y los alias; caso 1: calcular los contrastes y proyectar en A y B; caso 2: identificar la ambigüedad entre C y AB; caso 2: correr la fracción alterna y separar C de AB. Fuente: ejemplo construido para la clase, con datos inventados.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Suponga que el sabor responde así (el experimentador no lo sabe): y = 70 + 5xA + 3xB. Es decir, A sube el puntaje en 10 puntos al pasar de bajo a alto, B lo sube en 6, y C no hace nada. Las cuatro corridas dan a = 72, b = 68, c = 62 y abc = 78.</a:t>
            </a:r>
          </a:p>
          <a:p/>
          <a:p>
            <a:r>
              <a:t>Los contrastes: ℓA = (a + abc − b − c)/2 = (72 + 78 − 68 − 62)/2 = 10, que estima A + BC. ℓB = (b + abc − a − c)/2 = 6, que estima B + AC. ℓC = (c + abc − a − b)/2 = 0, que estima C + AB.</a:t>
            </a:r>
          </a:p>
          <a:p/>
          <a:p>
            <a:r>
              <a:t>Lectura: ℓC = 0, así que C no influye (y AB tampoco, o tendrían que cancelarse exactamente, lo que es muy improbable). Se borra la columna C. En las columnas A y B quedan las cuatro combinaciones (+, −), (−, +), (−, −) y (+, +), cada una una vez: la fracción se proyectó en un 22 completo en A y B. Como A y B no forman una palabra (la única palabra es ABC), el resultado es un factorial completo, y ℓA = 10 y ℓB = 6 se atribuyen a A y B.</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Ahora suponga que la verdad oculta es y = 70 + 5xA + 3xB + 4xAxB: C sigue sin hacer nada, pero A y B interactúan (la molienda fina rinde más cuando el agua está caliente). Las mismas cuatro corridas dan a = 68, b = 64, c = 66 y abc = 82.</a:t>
            </a:r>
          </a:p>
          <a:p/>
          <a:p>
            <a:r>
              <a:t>Los contrastes son ℓA = 10, ℓB = 6 y ℓC = 8. Los tres son grandes, y aquí aparece el problema: ℓC = 8 estima C + AB. Hay dos explicaciones igual de lógicas: o el tiempo de infusión C sube el sabor en 8 puntos, o C no hace nada y lo que se ve es la interacción AB. Con estas cuatro corridas no hay forma de distinguirlas.</a:t>
            </a:r>
          </a:p>
          <a:p/>
          <a:p>
            <a:r>
              <a:t>La razón es que los tres factores aparentemente activos, A, B y C, forman la palabra ABC. Si se intenta proyectar en A, B y C, solo están 4 de las 8 combinaciones del 23: las que cumplen xAxBxC = +1. No hay proyección en un factorial completo, y la duda solo se resuelve corriendo las combinaciones que faltan.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 corren las cuatro combinaciones que faltaban: (1), ab, ac y bc. Es la fracción alterna, I = −ABC (C = −AB). En una fracción 23−1 coincide con el doblez completo: se obtiene invirtiendo todos los signos de la primera (a = (+, −, −) pasa a ser (−, +, +) = bc). Los resultados son (1) = 66, ab = 82, ac = 68 y bc = 64.</a:t>
            </a:r>
          </a:p>
          <a:p/>
          <a:p>
            <a:r>
              <a:t>En la segunda fracción los alias cambian de signo, porque ahora xAxBxC = −1: ℓ′C estima C − AB, ℓ′A estima A − BC y ℓ′B estima B − AC. Se obtiene ℓ′C = −8.</a:t>
            </a:r>
          </a:p>
          <a:p/>
          <a:p>
            <a:r>
              <a:t>Combinando: ½(ℓC + ℓ′C) = ½(8 − 8) = 0 es el efecto de C, y ½(ℓC − ℓ′C) = ½(8 + 8) = 8 es la interacción AB. La duda queda resuelta: C no influye y lo que se veía era la interacción entre temperatura y molienda. De paso, A = 10 y B = 6, con BC = AC = 0.</a:t>
            </a:r>
          </a:p>
          <a:p/>
          <a:p>
            <a:r>
              <a:t>Las 8 corridas juntas forman el 23 completo. Las primeras cuatro no se desperdiciaron: se usaron en la combinación. Así funciona la experimentación secuencial.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un número moderadamente grande de factores suelen convenir fracciones más pequeñas. Una fracción un cuarto del 2k tiene 2k−2 corridas y necesita dos generadores, P y Q; las igualdades I = P e I = Q se llaman relaciones generadoras. Su producto PQ, la interacción generalizada, también pertenece a la relación de definición: I = P = Q = PQ, y cada efecto tiene tres alias, que se obtienen multiplicándolo por cada una de las tres palabras. Los signos de P y Q determinan cuál de las cuatro fracciones de la familia se obtiene; la que tiene P y Q positivos es la principal. Hay que elegir los generadores de modo que los efectos que pueden ser importantes no queden aliados entre sí.</a:t>
            </a:r>
          </a:p>
          <a:p/>
          <a:p>
            <a:r>
              <a:t>Ejemplo: 26−2 con E = ABC y F = BCD. Las palabras son ABCE, BCDF y su producto ADEF. La palabra más corta tiene cuatro letras, así que es resolución IV: los efectos principales son alias de interacciones de tres y cinco factores, y las interacciones dobles son alias entre sí y de interacciones de orden superior. Las 15 cadenas son seis de efectos principales, siete de interacciones dobles y dos formadas solo por interacciones triples.</a:t>
            </a:r>
          </a:p>
          <a:p/>
          <a:p>
            <a:r>
              <a:t>Construcción, con los mismos dos pasos de la fracción un medio: se escribe el 24 completo en A, B, C y D (16 corridas) y se agregan las columnas E = ABC y F = BCD.</a:t>
            </a:r>
          </a:p>
          <a:p/>
          <a:p>
            <a:r>
              <a:t>Gutiérrez lo dice con palabras más sencillas: se eligen dos generadores de orden alto cuyo producto también sea de orden alto; las tres palabras de la relación definidora son los tres efectos que no se pueden estimar, y el número de palabras es el número de alias de cada efecto. La tabla de la derecha es la estructura de alias reducida: solo se escriben los alias hasta las interacciones dobles, porque las de tres o más se suponen nulas.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 usa el método del diseño básico. Primero se escribe el factorial completo en k − 2 = 4 factores, A, B, C y D: tiene las 16 corridas necesarias pero solo cuatro columnas. Después se agregan los dos factores restantes asociando sus signos a dos interacciones elegidas de los primeros cuatro: E = ABC y F = BCD. Esto equivale a las relaciones generadoras I = ABCE e I = BCDF.</a:t>
            </a:r>
          </a:p>
          <a:p/>
          <a:p>
            <a:r>
              <a:t>Montgomery da otra forma de verlo: se divide el 26 en cuatro bloques confundiendo ABCE y BCDF, y se elige el bloque en que las dos son positivas. Ese bloque es la fracción principal.</a:t>
            </a:r>
          </a:p>
          <a:p/>
          <a:p>
            <a:r>
              <a:t>La tabla es la del libro (tabla 8-9) y es el diseño que se usa en el ejemplo 3.</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Además de la principal hay tres fracciones alternas, una por cada combinación de signos negativos en los generadores. Se construyen con el mismo diseño básico, cambiando el signo de la columna correspondiente. Por ejemplo, para la fracción con I = ABCE e I = −BCDF se usa F = −BCD, y la columna de F queda + + − − − − + + − − + + + + − −.</a:t>
            </a:r>
          </a:p>
          <a:p/>
          <a:p>
            <a:r>
              <a:t>Al cambiar el signo de un generador cambia también el de la interacción generalizada: la relación de definición de esa fracción es I = ABCE = −BCDF = −ADEF. Los alias se obtienen igual, arrastrando los signos: A = BCE = −DEF = −ABCDF, de modo que ℓA estima en realidad A + BCE − DEF − ABCDF.</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Proyectar es lo que pasa con el diseño cuando, después del análisis, algunos factores resultan inactivos. Si un factor no influye en la respuesta, su columna ya no sirve para explicar nada y se puede borrar. Lo que queda son las columnas de los factores activos, y la pregunta es qué diseño forman esas columnas por sí solas.</a:t>
            </a:r>
          </a:p>
          <a:p/>
          <a:p>
            <a:r>
              <a:t>Para saberlo basta contar: se miran las 16 corridas solo en las columnas que quedan y se anota cuántas veces aparece cada combinación de signos.</a:t>
            </a:r>
          </a:p>
          <a:p/>
          <a:p>
            <a:r>
              <a:t>Ejemplo con el 26−2 (E = ABC, F = BCD). Suponga que solo A, B y C importan. Se borran D, E y F. En las columnas A, B y C aparecen las ocho combinaciones del 23, y cada una exactamente dos veces: la corrida 1 y la 9 son (−, −, −), la 2 y la 10 son (+, −, −), y así sucesivamente. Las 16 corridas son entonces dos réplicas completas de un 23.</a:t>
            </a:r>
          </a:p>
          <a:p/>
          <a:p>
            <a:r>
              <a:t>Eso tiene una consecuencia práctica: las dos corridas de cada par se hicieron en las mismas condiciones de A, B y C, así que su diferencia es error puro. El fraccionado no replicado se convierte en un factorial replicado con 16 − 8 = 8 grados de libertad para el error, y el ANOVA ya no depende de descartar efectos.</a:t>
            </a:r>
          </a:p>
          <a:p/>
          <a:p>
            <a:r>
              <a:t>Una pregunta frecuente: ¿cómo se sabe qué factores importan antes de correr? No hace falta saberlo. Antes de correr se aceptan dos principios generales, escasez de efectos (pocos factores importan) y jerarquía (las interacciones de tres o más factores casi siempre son despreciables), y con ellos se elige la resolución; si se sospecha que algunos factores importan más, se asignan a columnas que no formen una palabra. Se corre una sola vez la fracción y la gráfica de Daniel dice qué factores son activos. Recién entonces se pregunta qué diseño forman las corridas ya hechas en esos factores: eso es la proyección. Si los activos forman una palabra queda una ambigüedad entre alias, y se resuelve agregando corridas (fracción alterna o doblez) que se suman a las ya hechas; nunca se empieza de cero.</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cuatro factores activos el resultado depende de cuáles sean. Hay 24 = 16 combinaciones posibles y 16 corridas, así que solo hay dos posibilidades: o aparecen todas una vez (factorial completo) o aparece la mitad dos veces (fracción replicada).</a:t>
            </a:r>
          </a:p>
          <a:p/>
          <a:p>
            <a:r>
              <a:t>Si los cuatro factores son A, B, C y D, se obtienen las 16 combinaciones, una vez cada una: es el diseño básico. Lo mismo pasa con un subconjunto menos obvio, como A, B, E y F: también aparecen las 16 combinaciones.</a:t>
            </a:r>
          </a:p>
          <a:p/>
          <a:p>
            <a:r>
              <a:t>Pero si los cuatro factores son A, B, C y E, solo aparecen 8 combinaciones, dos veces cada una. La razón es que ABCE es una palabra de la relación de definición: en todas las corridas el producto de los signos de A, B, C y E vale +1, porque E se construyó como ABC. Conocidos A, B y C, el signo de E queda fijado, y las combinaciones con E distinto de ABC nunca se corren. El resultado son dos réplicas de un 24−1 con I = ABCE, y en él E sigue confundido con ABC.</a:t>
            </a:r>
          </a:p>
          <a:p/>
          <a:p>
            <a:r>
              <a:t>Regla: un subconjunto de factores se proyecta en un factorial completo si no contiene ninguna palabra de la relación de definición. Por eso, al asignar factores a columnas, conviene que los que se creen más importantes no formen una palabra.</a:t>
            </a:r>
          </a:p>
          <a:p/>
          <a:p>
            <a:r>
              <a:t>Resumen para el 26−2 con I = ABCE = BCDF = ADEF: hay 15 subconjuntos de cuatro factores; tres son palabras (ABCE, BCDF y ADEF) y en ellos el diseño se pliega en dos réplicas de un 24−1; en los otros doce, como ABCD o ABCF, se proyecta en una réplica de un 24 completo. En cualquier subconjunto de tres factores se proyecta en dos réplicas de un 23, porque al ser de resolución IV ninguna palabra tiene tres letras y ningún trío queda amarrado; en cualquier par, en cuatro réplicas de un 22, que es lo que pasa en el ejemplo 3 con A y B. En general, un 2k−2 se pliega en un factorial completo o en un fraccionado en cualquier subconjunto de r ≤ k − 2 factores.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piezas fabricadas en un proceso de moldeo por inyección presentan una contracción excesiva, y eso causa problemas en las operaciones de ensamble posteriores.</a:t>
            </a:r>
          </a:p>
          <a:p/>
          <a:p>
            <a:r>
              <a:t>Un equipo de mejora de la calidad decide estudiar el proceso con un experimento diseñado. Investiga seis factores a dos niveles: A temperatura del molde, B velocidad del tornillo, C tiempo de retención, D duración del ciclo, E tamaño de la compuerta (vaciadero) y F presión de retención. La respuesta es la contracción (× 10).</a:t>
            </a:r>
          </a:p>
          <a:p/>
          <a:p>
            <a:r>
              <a:t>El factorial completo serían 64 corridas. El equipo usa un 26−2 de 16 corridas, con E = ABC y F = BCD, corridas en orden aleatorio.</a:t>
            </a:r>
          </a:p>
          <a:p/>
          <a:p>
            <a:r>
              <a:t>Objetivo: Aprender cómo afecta cada factor la contracción, algo de cómo interactúan y cómo reducirla</a:t>
            </a:r>
          </a:p>
          <a:p/>
          <a:p>
            <a:r>
              <a:t>Se pide: escribir la relación de definición y la resolución; identificar los efectos activos y sus alias; ajustar el modelo y hacer el ANOVA; proyectar en los factores activos e interpretar la interacción. Fuente: Montgomery, ejemplo 8-4.</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diseño tiene 16 corridas y una sola réplica, así que no hay error puro: los 15 grados de libertad se gastan en 15 contrastes, uno por cadena de alias. Para decidir cuáles son reales, Montgomery usa la gráfica de probabilidad normal de los efectos (fig. 8-12). Aquí se le agrega la recta de Daniel, ajustada con los efectos pequeños, y el diagrama de Pareto.</a:t>
            </a:r>
          </a:p>
          <a:p/>
          <a:p>
            <a:r>
              <a:t>Cómo se lee. Los efectos nulos son solo ruido y caen sobre la recta, alrededor de cero; un efecto real se aparta de ella. Tres se apartan con claridad: B, velocidad del tornillo (35.63); A, temperatura del molde (13.88); y la cadena AB + CE (11.88). Todos son positivos: suben la contracción.</a:t>
            </a:r>
          </a:p>
          <a:p/>
          <a:p>
            <a:r>
              <a:t>¿Por qué AB y no CE? C y E no tienen efecto principal (−0.88 y 0.38). Por el principio de herencia, una interacción suele ser activa solo si alguno de sus factores lo es; A y B lo son, C y E no. Se atribuye la cadena a AB.</a:t>
            </a:r>
          </a:p>
          <a:p/>
          <a:p>
            <a:r>
              <a:t>Dos efectos quedan en una zona gris: AD + EF (−5.38) y ABF (−4.88). Son mucho menores que los tres anteriores. El método de Lenth da PSE = 0.9375, ME = 2.41 y SME = 4.89: los dos superan el ME, y AD + EF apenas supera el SME. Montgomery los deja fuera del modelo. En AD + EF, de los cuatro factores solo A es activo; D, E y F no tienen efecto principal (1.38, 0.38 y 0.38). ABF es una cadena de interacciones triples, que por jerarquía se suponen despreciables. Además, su tamaño no cambia las conclusiones. Quedan en el error.</a:t>
            </a:r>
          </a:p>
          <a:p/>
          <a:p>
            <a:r>
              <a:t>Primera clasificación para el ANOVA: al modelo A, B y AB; al error, los otros doce.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la clasificación anterior se ajusta el modelo con A, B y AB. La tabla de la izquierda muestra las 15 cadenas, como la tabla 8-11 del libro, con su efecto y su suma de cuadrados; las tres que entran al modelo están resaltadas. Los doce efectos descartados forman el error, con 12 grados de libertad: su SS suma 248.75.</a:t>
            </a:r>
          </a:p>
          <a:p/>
          <a:p>
            <a:r>
              <a:t>El factor C también está en la tabla: su efecto es −0.875 y su SS 3.06, de modo que no cambia la contracción promedio y va al error.</a:t>
            </a:r>
          </a:p>
          <a:p/>
          <a:p>
            <a:r>
              <a:t>Hipótesis para cada término: H0: el efecto es cero; HA: no lo es. Los tres términos tienen F0 muy por encima de F0.05, 1, 12 = 4.75 y valores p menores que 0.001: se rechaza H0 en los tres. El modelo explica el 96.26 % de la variabilidad de la contracción.</a:t>
            </a:r>
          </a:p>
          <a:p/>
          <a:p>
            <a:r>
              <a:t>Lectura de los coeficientes: cada coeficiente es la mitad del efecto. La contracción promedio es 27.31; subir la velocidad del tornillo (B) la aumenta 17.81 por encima del promedio, subir la temperatura (A) la aumenta 6.94, y cuando las dos están altas se suma otro 5.94. Para reducir la contracción conviene A y B en nivel bajo.</a:t>
            </a:r>
          </a:p>
          <a:p/>
          <a:p>
            <a:r>
              <a:t>El libro no presenta esta tabla ANOVA; se calculó aquí a partir de los datos de la tabla 8-10. Fuente: Montgomery, ejemplo 8-4.</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Solo A y B resultaron activos, así que C, D, E y F se pueden borrar del diseño. Al contar combinaciones en las columnas de A y B, cada una de las cuatro aparece cuatro veces: el 26−2 se proyecta en cuatro réplicas de un 22, como dice la regla para cualquier par de factores de un diseño de resolución IV. La tabla muestra las cuatro contracciones de cada combinación y su promedio.</a:t>
            </a:r>
          </a:p>
          <a:p/>
          <a:p>
            <a:r>
              <a:t>Esa proyección explica el ANOVA anterior: con cuatro réplicas por combinación hay 4 × 3 = 12 grados de libertad de error puro, los mismos 12 del ANOVA del modelo A, B y AB.</a:t>
            </a:r>
          </a:p>
          <a:p/>
          <a:p>
            <a:r>
              <a:t>La gráfica de interacción se construye con los cuatro promedios. Con la velocidad del tornillo baja (B −) la contracción es pequeña y casi no depende de la temperatura: 8.50 y 10.50. Con B alta es grande y muy sensible a la temperatura: 32.25 y 58.00. Las rectas no son paralelas: eso es la interacción AB. La recomendación para reducir la contracción es trabajar con A y B en nivel bajo. Fuente: Montgomery, ejemplo 8-4 (fig. 8-13).</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reglas se generalizan. Con p generadores independientes, la relación de definición completa tiene 2p − 1 palabras: los p generadores más todos sus productos. Cada efecto tiene 2p − 1 alias. El diseño solo permite estimar 2k−p − 1 cadenas de alias, una por cada grado de libertad.</a:t>
            </a:r>
          </a:p>
          <a:p/>
          <a:p>
            <a:r>
              <a:t>La resolución es la longitud de la palabra más corta. Para construirlo se usan los mismos dos pasos de siempre: se escribe el factorial completo en k − p factores y se agregan p columnas definidas por los generadores.</a:t>
            </a:r>
          </a:p>
          <a:p/>
          <a:p>
            <a:r>
              <a:t>Los cálculos de Gutiérrez para cualquier fracción con una réplica: el efecto de una columna es su contraste dividido entre 2k−p−1, y su suma de cuadrados es el contraste al cuadrado dividido entre 2k−p, con un grado de libertad. Una regla que conviene no olvidar: al excluir un efecto del análisis (mandarlo al error) se excluyen también todos sus alias, porque son la misma columna.</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procedimiento concreto tiene ocho pasos.</a:t>
            </a:r>
          </a:p>
          <a:p/>
          <a:p>
            <a:r>
              <a:t>1. Fijar cuántos factores hay (k) y cuántas corridas se pueden pagar (N). Como N = 2k−p, el número de generadores es p = k − log₂N. Con 6 factores y 16 corridas, p = 6 − 4 = 2.</a:t>
            </a:r>
          </a:p>
          <a:p>
            <a:r>
              <a:t>2. Decidir la resolución mínima que se necesita, según las interacciones que se está dispuesto a despreciar: III si solo interesan los efectos principales (tamizado), IV si los principales deben quedar libres de interacciones dobles, V si también las interacciones dobles deben quedar libres entre sí.</a:t>
            </a:r>
          </a:p>
          <a:p>
            <a:r>
              <a:t>3. Escribir el diseño básico: el factorial completo en los primeros k − p factores. En el ejemplo, el 24 en A, B, C y D, con sus 16 corridas.</a:t>
            </a:r>
          </a:p>
          <a:p>
            <a:r>
              <a:t>4. A cada factor que sobra se le asigna una columna de interacción del diseño básico: sus signos serán los de esa interacción. Si E = ABC, la columna de E es el producto de las columnas A, B y C, y el generador es I = ABCE (se multiplica E = ABC por E y E² = I). Cada factor nuevo debe usar una columna distinta.</a:t>
            </a:r>
          </a:p>
          <a:p>
            <a:r>
              <a:t>5. Multiplicar los generadores entre sí, de dos en dos, de tres en tres, etc., cancelando las letras repetidas (A² = I). Así se obtiene la relación de definición completa, con 2p − 1 palabras.</a:t>
            </a:r>
          </a:p>
          <a:p>
            <a:r>
              <a:t>6. La resolución es la longitud de la palabra más corta. Si es menor que la requerida en el paso 2, se vuelve al paso 4 con otras columnas.</a:t>
            </a:r>
          </a:p>
          <a:p>
            <a:r>
              <a:t>7. Si hay varios candidatos con la misma resolución, se escoge el de aberración mínima: el que tiene menos palabras de esa longitud mínima (siguiente diapositiva).</a:t>
            </a:r>
          </a:p>
          <a:p>
            <a:r>
              <a:t>8. Con el diseño elegido se escriben los alias de las interacciones que interesan y se asignan los factores reales a las letras, de modo que los que pueden interactuar no queden en la misma cadena.</a:t>
            </a:r>
          </a:p>
          <a:p/>
          <a:p>
            <a:r>
              <a:t>En el 26−2 de la tabla, el primer candidato (E = ABC, F = BCD) da tres palabras de cuatro letras: resolución IV. El segundo usa F = ABCD; como ABCE y ABCDF comparten las letras A, B y C, su producto es DEF, de solo tres letras, y la resolución baja a III. El tercero repite la columna ABCD para E y para F: el producto es EF y los dos factores quedan aliados entre sí (resolución II), por eso cada factor nuevo debe usar una columna distinta. La regla práctica es elegir generadores largos que compartan pocas letras. Con 16 corridas no existe un 26−2 de resolución V: haría falta asignar a E y a F columnas de cuatro letras distintas, y en el 24 la única es ABCD. Fuente: Montgomery, sección 8-4.</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Primer criterio: máxima resolución. Segundo criterio, para desempatar entre diseños de igual resolución: aberración mínima, es decir, el menor número de palabras de longitud mínima.</a:t>
            </a:r>
          </a:p>
          <a:p/>
          <a:p>
            <a:r>
              <a:t>Los pasos para comparar candidatos son: (1) escribir la relación de definición completa de cada uno; (2) anotar la longitud de cada palabra; (3) descartar los de menor resolución; (4) entre los que quedan, contar cuántas palabras tienen la longitud mínima y quedarse con el que tiene menos; (5) comprobarlo contando las cadenas de interacciones dobles aliadas entre sí, que es lo que realmente se pierde.</a:t>
            </a:r>
          </a:p>
          <a:p/>
          <a:p>
            <a:r>
              <a:t>La tabla compara tres diseños 27−2 de resolución IV. El diseño C tiene una sola palabra de cuatro letras, frente a tres y dos de los diseños A y B; por eso deja menos interacciones dobles confundidas entre sí y es el preferido. En la práctica no hay que buscar los generadores: las tablas de diseños recomendados ya entregan el diseño de máxima resolución y aberración mínima, y el software estadístico trae generadores predeterminados. Gutiérrez lo resume así: quizá lo más difícil es encontrar los mejores generadores, y para eso están las tablas (su tabla 8.8) y el software.</a:t>
            </a:r>
          </a:p>
          <a:p/>
          <a:p>
            <a:r>
              <a:t>Gutiérrez escribe la comparación con el patrón de longitudes de palabra, W = (A1, A2, …), donde Ai es el número de palabras de i letras. Gana el diseño que tiene menos palabras cortas: el diseño C de la tabla tiene W = (0, 0, 0, 1, 2, 0, 0) y el A, W = (0, 0, 0, 3, 0, 0, 0).</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Una panadería quiere aumentar el volumen de su pan (mL). Se estudian cinco factores a dos niveles: A levadura (1 o 2 %), B temperatura del horno (180 o 200 °C), C tiempo de horneado (25 o 30 min), D azúcar (3 o 6 %) y E humedad de la masa (60 o 65 %).</a:t>
            </a:r>
          </a:p>
          <a:p/>
          <a:p>
            <a:r>
              <a:t>Cada corrida ocupa el horno una tarde. El presupuesto es de 8 corridas; con esfuerzo se podrían pagar 16. El panadero está seguro de que hay una interacción temperatura × tiempo y quiere que ningún efecto principal quede mezclado con ella; las interacciones de tres o más factores se consideran despreciables.</a:t>
            </a:r>
          </a:p>
          <a:p/>
          <a:p>
            <a:r>
              <a:t>Objetivo: Escoger los generadores con el procedimiento de ocho pasos.</a:t>
            </a:r>
          </a:p>
          <a:p/>
          <a:p>
            <a:r>
              <a:t>Se pide: calcular p con 8 corridas y la resolución que hace falta; probar generadores y decir si alguno alcanza esa resolución; decidir qué hacer si no alcanza: pagar más corridas o asignar bien los factores; escribir los alias del diseño elegido. Fuente: ejemplo construido para la clase.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Paso 1: k = 5 factores y N = 8 corridas, así que p = 5 − log₂8 = 5 − 3 = 2 generadores: es un 25−2, fracción un cuarto.</a:t>
            </a:r>
          </a:p>
          <a:p/>
          <a:p>
            <a:r>
              <a:t>Paso 2: el panadero quiere los efectos principales libres de la interacción temperatura × tiempo. Si no se sabe de antemano qué letras tocarán a esos dos factores, la forma segura es pedir resolución IV, en la que ningún efecto principal se mezcla con ninguna interacción doble.</a:t>
            </a:r>
          </a:p>
          <a:p/>
          <a:p>
            <a:r>
              <a:t>Paso 3: el diseño básico es el 23 completo en A, B y C, con 8 corridas. Sus columnas de interacción disponibles son cuatro: AB, AC, BC y ABC.</a:t>
            </a:r>
          </a:p>
          <a:p/>
          <a:p>
            <a:r>
              <a:t>Pasos 4 y 5: a D y a E se les asignan dos de esas columnas, distintas, y se multiplican los generadores. Con D = AB y E = AC los generadores son I = ABD e I = ACE, y su producto es BCDE. Con D = ABC y E = AB salen ABCD, ABE y CDE. Con D = ABC y E = BC salen ABCD, BCE y ADE.</a:t>
            </a:r>
          </a:p>
          <a:p/>
          <a:p>
            <a:r>
              <a:t>Paso 6: la palabra más corta tiene tres letras en los tres candidatos: resolución III. No es mala suerte: hay 12 maneras de asignar dos columnas a D y E y todas dan resolución III con dos palabras de tres letras. La razón es que solo hay una columna de tres letras (ABC); el otro factor recibe una columna de dos letras y su generador tiene tres. Conclusión: con 8 corridas la resolución IV es imposible para cinco factores.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Como la resolución IV no se alcanza con 8 corridas, hay dos caminos.</a:t>
            </a:r>
          </a:p>
          <a:p/>
          <a:p>
            <a:r>
              <a:t>Opción 1, pagar 16 corridas. Ahora p = 5 − 4 = 1. El diseño básico es el 24 en A, B, C y D, y E se asigna a la columna más larga, E = ABCD, con generador I = ABCDE. La única palabra tiene cinco letras: resolución V, más de lo pedido. Cada efecto principal queda aliado con una interacción de cuatro factores y cada interacción doble con una de tres, así que la interacción temperatura × tiempo se estima limpia. El paso 7 no hace falta porque hay un solo candidato de resolución V.</a:t>
            </a:r>
          </a:p>
          <a:p/>
          <a:p>
            <a:r>
              <a:t>Opción 2, quedarse en 8 corridas y aprovechar el paso 8. Con D = AB y E = AC (I = ABD = ACE = BCDE), las cadenas de alias, despreciando las interacciones de tres o más factores, son: A = BD = CE, B = AD, C = AE, D = AB, E = AC, BC = DE y BE = CD. Las interacciones BC, DE, BE y CD son las únicas que no están aliadas con ningún efecto principal. Por eso conviene dar a la temperatura y al tiempo las letras B y C: su interacción BC queda en la cadena BC = DE, junto a otra interacción doble pero lejos de los efectos principales. La asignación queda A levadura, B temperatura, C tiempo, D azúcar y E humedad, que es la del enunciado.</a:t>
            </a:r>
          </a:p>
          <a:p/>
          <a:p>
            <a:r>
              <a:t>El costo de la opción 2: la levadura (A) queda aliada con las interacciones temperatura × azúcar (BD) y tiempo × humedad (CE), y cada uno de los otros efectos principales queda aliado con una interacción doble. Si el panadero cree que esas interacciones no existen, las 8 corridas bastan; si duda, la opción 1 es la segura. Es exactamente la lógica del procedimiento: el paso 6 dice que el diseño pequeño no da la resolución pedida y el paso 8 permite proteger la única interacción que se teme.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tabla reúne los diseños de máxima resolución y aberración mínima para 3 a 8 factores con un máximo de 32 corridas. Se lee por filas: número de factores, diseño con su resolución, corridas y generadores. Todos los generadores admiten signo positivo o negativo; con todos positivos se obtiene la fracción principal.</a:t>
            </a:r>
          </a:p>
          <a:p/>
          <a:p>
            <a:r>
              <a:t>Nota para quien coteje con el libro: la tabla 8-14 de Montgomery imprime el 27−3 con resolución III. Es una errata: todas las palabras de su relación de definición tienen cuatro letras y el propio texto lo trata como resolución IV.</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Ejemplo 8-5 de Montgomery, resuelto con el procedimiento de ocho pasos. Se tienen siete factores, interesa estimar los siete efectos principales y tener una idea de las interacciones dobles, y se está dispuesto a suponer despreciables las interacciones de tres o más factores.</a:t>
            </a:r>
          </a:p>
          <a:p/>
          <a:p>
            <a:r>
              <a:t>Paso 2 primero, porque es el que fija la exigencia: los efectos principales no deben mezclarse con interacciones dobles, así que se pide resolución IV. No se pide V porque basta con una idea de las interacciones dobles; no hace falta estimarlas por separado.</a:t>
            </a:r>
          </a:p>
          <a:p/>
          <a:p>
            <a:r>
              <a:t>Paso 1: se recorren los tamaños posibles, de menor a mayor, y se busca el más pequeño que alcance la resolución IV. Con N = 8 corridas, p = 7 − 3 = 4: el diseño básico es el 23 en A, B y C, que solo tiene cuatro columnas de interacción (AB, AC, BC y ABC). Los cuatro factores nuevos las ocupan todas, tres de ellos reciben columnas de dos letras y sus generadores tienen tres letras: el diseño es forzosamente de resolución III (es el 27−4III). Con N = 16, p = 3: existe el 27−3IV. Con N = 32, p = 2: el 27−2IV. Con N = 64, p = 1: el 27−1VII, con I = ABCDEFG.</a:t>
            </a:r>
          </a:p>
          <a:p/>
          <a:p>
            <a:r>
              <a:t>Entre los que cumplen se elige el más pequeño. El de 16 corridas deja los siete efectos principales aliados solo con interacciones triples y las interacciones dobles en grupos de tres: cumple el objetivo. El de 32 corridas estimaría además de forma única 15 de las 21 interacciones dobles, más información de la que se pidió, al doble de costo. Se elige el 27−3IV de 16 corridas.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Paso 3: el diseño básico es el 24 completo en A, B, C y D, con 16 corridas.</a:t>
            </a:r>
          </a:p>
          <a:p/>
          <a:p>
            <a:r>
              <a:t>Paso 4: hay que darle a E, F y G tres columnas de interacción distintas. El 24 tiene once: seis de dos letras (AB, AC, AD, BC, BD, CD), cuatro de tres letras (ABC, ABD, ACD, BCD) y una de cuatro (ABCD). Hay 165 maneras de escoger tres; solo 4 dan resolución IV, y son las que usan tres de las cuatro columnas de tres letras. Una columna de dos letras da un generador de tres letras (resolución III). Usar ABCD también falla: con E = ABC y G = ABCD los generadores ABCE y ABCDG comparten A, B y C, y su producto es DEG, de tres letras. Se toma E = ABC, F = BCD y G = ACD, como en la tabla 8-15.</a:t>
            </a:r>
          </a:p>
          <a:p/>
          <a:p>
            <a:r>
              <a:t>Paso 5: con tres generadores la relación de definición completa tiene 23 − 1 = 7 palabras: los tres generadores, los tres productos de dos en dos (ABCE·BCDF = ADEF, ABCE·ACDG = BDEG, BCDF·ACDG = ABFG) y el producto de los tres (CEFG).</a:t>
            </a:r>
          </a:p>
          <a:p/>
          <a:p>
            <a:r>
              <a:t>Paso 6: las siete palabras tienen cuatro letras: resolución IV, la pedida.</a:t>
            </a:r>
          </a:p>
          <a:p/>
          <a:p>
            <a:r>
              <a:t>Paso 7: las cuatro asignaciones que dan resolución IV tienen el mismo patrón, siete palabras de cuatro letras, así que no hay nada que desempatar.</a:t>
            </a:r>
          </a:p>
          <a:p/>
          <a:p>
            <a:r>
              <a:t>Paso 8: cada efecto principal queda aliado con cuatro interacciones triples (por ejemplo A = BCE = BFG = CDG = DEF) y las 21 interacciones dobles forman 7 cadenas de tres: AB = CE = FG, AC = BE = DG, AD = CG = EF, AE = BC = DF, AF = BG = DE, AG = BF = CD y BD = CF = EG. Para asignar los factores reales, Montgomery aconseja (molino de bolas) poner en A, B, C y D los factores que se creen importantes y que pueden interactuar, y en E, F y G las variables menores. Si las menores resultan inactivas, el diseño se proyecta en un 24 completo en los factores clave. Fuente: Montgomery, ejemplo 8-5, tabla 8-15 y sección de proyección.</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protocolo experimental tiene ocho pasos. Se define la respuesta y los factores con sus dos niveles. Se decide qué interacciones se está dispuesto a despreciar, y de ahí sale la resolución necesaria. Se elige el diseño de la tabla y se revisa su estructura de alias antes de correr. Se asignan los factores reales a las letras cuidando que los más importantes no queden aliados entre sí. Se construye la matriz de diseño. Se aleatoriza el orden de las corridas. Se ejecuta registrando el orden real, y se planea desde el principio una corrida de confirmación o una segunda fracción.</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 sortea el orden en que se ejecutan las corridas, de modo que los efectos de variables no controladas (tiempo, desgaste, lote, operario) se repartan al azar y no se confundan con los factores. La tabla muestra un 24−1 ya aleatorizado: la primera corrida que se ejecuta es la que el sorteo dejó en primer lugar, no la primera del orden estándar.</a:t>
            </a:r>
          </a:p>
          <a:p/>
          <a:p>
            <a:r>
              <a:t>En cada corrida se reajustan todos los niveles, aunque coincidan con los de la corrida anterior. Se conserva el orden de corrida porque se necesita para verificar el supuesto de independencia. Si no es posible hacer todas las corridas en condiciones homogéneas, se forman bloques confundiendo con ellos una cadena de alias de orden alto.</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modelo es el mismo del factorial 2k: un modelo de regresión en variables codificadas, donde cada x vale −1 o +1. β0 es la media general, y cada coeficiente se estima con la mitad del efecto correspondiente: βj con la mitad del efecto principal del factor j y βij con la mitad del efecto de la interacción. El error ε se supone normal, independiente, con media cero y varianza constante σ².</a:t>
            </a:r>
          </a:p>
          <a:p/>
          <a:p>
            <a:r>
              <a:t>La diferencia con el factorial completo es que no todos los términos se pueden estimar por separado. Cada columna del diseño estima una cadena de alias completa: el efecto que nos interesa más todos sus alias. El modelo final incluye un solo término por cada cadena que resulte activa, el que se juzga más razonable; las cadenas inactivas quedan fuera.</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 plantea una hipótesis por cada cadena de alias que se quiere probar. La hipótesis nula dice que el efecto de la cadena es cero y la alterna que es distinto de cero.</a:t>
            </a:r>
          </a:p>
          <a:p/>
          <a:p>
            <a:r>
              <a:t>Montgomery no plantea hipótesis en el capítulo de fraccionados; en el del 2k plantea la hipótesis global de que todos los coeficientes son cero y luego prueba cada efecto con F. La formulación por cadena es la adaptación de esa idea al fraccionado.</a:t>
            </a:r>
          </a:p>
          <a:p/>
          <a:p>
            <a:r>
              <a:t>Lo que realmente se prueba es la cadena completa: rechazar H0 para la columna de A significa que A + BCD es distinto de cero. Atribuirlo a A es una decisión del analista, apoyada en el supuesto de que BCD es despreciable.</a:t>
            </a:r>
          </a:p>
          <a:p/>
          <a:p>
            <a:r>
              <a:t>Regla de decisión: se rechaza H0 si F0 supera el valor crítico Fα, 1, gl del error, o de forma equivalente si el valor p es menor que α = 0.05.</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el ejemplo 1 (índice de filtración, 24−1 con I = ABCD). La relación de definición dice que A = BCD: en las ocho corridas de la fracción, la columna de signos de A y la columna de la interacción BCD (producto de las columnas B, C y D) son idénticas, como muestra la tabla. No es una aproximación: son la misma columna.</a:t>
            </a:r>
          </a:p>
          <a:p/>
          <a:p>
            <a:r>
              <a:t>El efecto se estima con el contraste de esa columna: ℓA = (suma de las respuestas con signo + menos suma de las respuestas con signo −) / 4 = (321 − 245) / 4 = 19.00. Como la columna es la misma, el número 19.00 es a la vez el contraste de A y el de BCD. Lo que mide es la suma de los dos efectos: ℓA estima A + BCD (en coeficientes, β̂A estima βA + βBCD).</a:t>
            </a:r>
          </a:p>
          <a:p/>
          <a:p>
            <a:r>
              <a:t>Por eso varios «mundos» distintos producen exactamente los mismos datos: que A valga 19.00 y BCD cero; que A sea cero y BCD valga 19.00; o que se repartan, por ejemplo 10 y 9. Los datos no pueden distinguirlos. Incluso puede pasar lo contrario: si A valiera 19 y BCD −19, la columna daría cero y A parecería inactivo aunque no lo es (cancelación; es rara, pero posible).</a:t>
            </a:r>
          </a:p>
          <a:p/>
          <a:p>
            <a:r>
              <a:t>Conclusión: la prueba F de la columna de A no puede referirse a A sola, porque los datos no contienen información sobre A sola. La única hipótesis que los datos pueden juzgar es la de la cadena: H0: βA + βBCD = 0 frente a HA: βA + βBCD ≠ 0.</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prueba se hace en dos momentos que conviene no mezclar.</a:t>
            </a:r>
          </a:p>
          <a:p/>
          <a:p>
            <a:r>
              <a:t>Primero la decisión estadística, que es sobre la cadena. Si F0 supera el valor crítico (o el valor p es menor que α), se rechaza H0 y se concluye que la cadena está activa: al menos uno de sus efectos es distinto de cero. Si no se rechaza, se concluye que la cadena no muestra efecto; lo usual es que todos sus términos sean nulos, aunque no se puede descartar una cancelación.</a:t>
            </a:r>
          </a:p>
          <a:p/>
          <a:p>
            <a:r>
              <a:t>Después viene la atribución, que no es estadística: decidir a qué término de la cadena se le adjudica el efecto. Se hace con supuestos y conocimiento del proceso, y hay que decirlo en el informe. Hay dos herramientas. La jerarquía (escasez de efectos): las interacciones de orden alto son raras, así que en A + BCD el efecto se atribuye a A. La herencia: una interacción suele ser importante cuando sus factores también lo son. En una cadena de dos interacciones dobles, como AC + BD, la jerarquía no decide (ambas son dobles); como A y C resultaron activos y B no, se atribuye a AC.</a:t>
            </a:r>
          </a:p>
          <a:p/>
          <a:p>
            <a:r>
              <a:t>En el ejemplo 1 el ANOVA del modelo reducido rechaza H0 en las cinco cadenas que entraron: A + BCD (F0 = 222.15, p = 0.0045), C + ABD (F0 = 120.62), D + ABC (F0 = 167.54), AC + BD (F0 = 210.62) y AD + BC (F0 = 222.15), con 1 y 2 grados de libertad. Las tres primeras se atribuyen a los efectos principales por jerarquía y las dos últimas a AC y AD por herencia.</a:t>
            </a:r>
          </a:p>
          <a:p/>
          <a:p>
            <a:r>
              <a:t>¿Cómo se sabe entonces qué término de la cadena produce el efecto? Ninguna herramienta estadística del fraccionado ve factores: la gráfica normal de Daniel, el diagrama de Pareto y el ANOVA usan el mismo contraste de cada columna, y en el 24−1 con I = ABCD la columna de A es la columna de BCD; el punto de la gráfica normal es el de «A + BCD», no el de A. La pregunta se resuelve en tres capas. Antes de correr, con la resolución: en resolución III un principal queda aliado con dobles y la duda es real; en IV solo con triples, de modo que atribuirle el efecto al principal es un riesgo pequeño y conocido, y las dobles quedan aliadas entre sí; en V los principales quedan con cuádruples y las dobles con triples. Después de correr, con la atribución razonada de arriba (jerarquía, herencia, conocimiento del proceso), que es razonamiento, no prueba, y se declara en el informe. Y para saberlo con datos, más corridas: la fracción alterna o el doblez cambian el signo de los alias, y al combinar las dos fracciones los términos se separan. En el ejemplo 1, con la fracción alterna del ejemplo 8-3: A = (19.00 + 24.25) / 2 = 21.63 y BCD = −2.63; AC = −18.13 y BD = −0.38; AD = 16.63 y BC = 2.38. La jerarquía y la herencia habían acertado. Otras salidas: el doblez de un solo factor separa ese factor y todas sus interacciones dobles, y una corrida de confirmación verifica que la respuesta predicha con el modelo atribuido coincide con la observada. En resumen: la prueba responde si la cadena pesa; qué término pesa lo acota la resolución, lo razonan la jerarquía y la herencia, y lo confirman las corridas adicionales. Por eso las conclusiones de un fraccionado son tentativas hasta confirmarlas.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ruta de análisis sigue el orden de los ejemplos integradores de Gutiérrez, con las herramientas de Montgomery. Se calculan los contrastes y los efectos de todas las cadenas de alias. Como en un fraccionado casi nunca hay grados de libertad para el error, primero se usa el análisis gráfico: el diagrama de Pareto de efectos y el gráfico de Daniel (gráfica de probabilidad normal o seminormal), complementados con el método de Lenth. Se interpreta cada cadena activa para decidir a qué efecto se atribuye. Después se construye el mejor ANOVA, como lo llama Gutiérrez: los efectos que quedaron alineados sobre la recta de Daniel se mandan al error, junto con todos sus alias. Se verifican los supuestos con los residuos. Se interpretan los efectos con gráficas de efectos principales, de interacción y de cubo, y se elige el mejor tratamiento; los factores que no resultaron activos se fijan por criterio económico. Por último se informa la conclusión en términos del problema y se confirma.</a:t>
            </a:r>
          </a:p>
          <a:p/>
          <a:p>
            <a:r>
              <a:t>Es también una adaptación del procedimiento de seis pasos que Montgomery da para el 2k: estimar efectos, formar el modelo inicial, hacer las pruebas, refinar el modelo, analizar residuales e interpretar.</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cada columna de signos se calculan cuatro cantidades. El contraste es la suma de las respuestas multiplicadas por los signos de la columna. El efecto es el contraste dividido entre N/2: la diferencia entre el promedio de la respuesta en el nivel alto y en el nivel bajo. El coeficiente de regresión es la mitad del efecto. La suma de cuadrados, con un grado de libertad, es el contraste al cuadrado dividido entre N.</a:t>
            </a:r>
          </a:p>
          <a:p/>
          <a:p>
            <a:r>
              <a:t>La última columna muestra el cálculo para el factor A del ejemplo 1 (N = 8): contraste 76, efecto 19.00, coeficiente 9.50 y suma de cuadrados 722.</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efecto que entra al modelo aporta una fila con un grado de libertad; su cuadrado medio es igual a su suma de cuadrados. El error se obtiene por sustracción: la suma de cuadrados total menos las de los m efectos del modelo, con N − 1 − m grados de libertad. Ese error está formado por los efectos que se juzgaron inactivos.</a:t>
            </a:r>
          </a:p>
          <a:p/>
          <a:p>
            <a:r>
              <a:t>El estadístico de prueba de cada efecto es F0 = MS del efecto / MS del error, que se compara con F de 1 y N − 1 − m grados de libertad.</a:t>
            </a:r>
          </a:p>
          <a:p/>
          <a:p>
            <a:r>
              <a:t>Si el diseño tiene n réplicas, N = n·2k−p y el error incluye además el error puro, con 2k−p(n − 1) grados de libertad.</a:t>
            </a:r>
          </a:p>
          <a:p/>
          <a:p>
            <a:r>
              <a:t>Montgomery presenta esta tabla para el 2k con réplicas; la versión para el fraccionado es la misma con N = 2k−p y coincide con las ANOVA de sus ejemplos.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una sola réplica, el modelo completo consume todos los grados de libertad y no queda error para hacer pruebas F. Hay tres herramientas.</a:t>
            </a:r>
          </a:p>
          <a:p/>
          <a:p>
            <a:r>
              <a:t>La gráfica de probabilidad normal (o seminormal) de los efectos: los efectos inactivos se comportan como ruido normal de media cero y caen sobre una recta; los activos se alejan de ella.</a:t>
            </a:r>
          </a:p>
          <a:p/>
          <a:p>
            <a:r>
              <a:t>El método de Lenth, que traza la línea de referencia del diagrama de Pareto: estima un pseudo error estándar (PSE) a partir de la mediana de los efectos y declara activo todo efecto cuyo valor absoluto supere el margen de error.</a:t>
            </a:r>
          </a:p>
          <a:p/>
          <a:p>
            <a:r>
              <a:t>Montgomery advierte que el método de Lenth solo es razonable cuando hay pocos efectos activos y recomienda usarlo como complemento de la gráfica normal. En el ejemplo 1, donde cinco de siete efectos son grandes, Lenth no detecta ninguno (PSE = 24.75).</a:t>
            </a:r>
          </a:p>
          <a:p/>
          <a:p>
            <a:r>
              <a:t>Y los principios de interpretación de cadenas: escasez de efectos (Montgomery lo nombra en la introducción del capítulo), jerarquía (los efectos de orden bajo son más probables; Montgomery lo invoca en el ejemplo 8-6, pág. 335, para conservar el factor D en el modelo junto con la interacción AD) y herencia (una interacción es más creíble si sus factores tienen efecto principal; este nombre es usual en otros textos, como Wu y Hamada).</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pruebas F del ANOVA son válidas si los errores son normales, tienen varianza constante y son independientes. Los errores no se observan, así que se trabaja con los residuos: la diferencia entre cada respuesta observada y el valor que predice el modelo ajustado.</a:t>
            </a:r>
          </a:p>
          <a:p/>
          <a:p>
            <a:r>
              <a:t>Montgomery verifica los supuestos con gráficas de residuales y solo da pruebas formales para la igualdad de varianzas (Bartlett y Levene modificada). Siguiendo la estructura de la clase, aquí se propone además una prueba analítica para cada supuesto; Anderson-Darling, Shapiro-Wilk y Durbin-Watson no provienen del libro. Normalidad: gráfica de probabilidad normal de los residuos y prueba de Anderson-Darling o Shapiro-Wilk. Varianza constante: gráfica de residuos contra valores ajustados y contra cada factor, y prueba de Bartlett o de Levene modificada; Bartlett es muy sensible a la falta de normalidad y no debe usarse si esta está en duda. Independencia: gráfica de residuos contra el orden de corrida y prueba de Durbin-Watson.</a:t>
            </a:r>
          </a:p>
          <a:p/>
          <a:p>
            <a:r>
              <a:t>En un fraccionado sin réplicas los residuos provienen de los efectos descartados; si el modelo deja pocos grados de libertad para el error, la verificación tiene poca potencia.</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Hipótesis: H0: los residuos siguen una distribución normal; HA: no la siguen.</a:t>
            </a:r>
          </a:p>
          <a:p/>
          <a:p>
            <a:r>
              <a:t>Prueba gráfica: en la gráfica de probabilidad normal los 16 residuos se alinean razonablemente sobre una recta, sin puntos alejados.</a:t>
            </a:r>
          </a:p>
          <a:p/>
          <a:p>
            <a:r>
              <a:t>Prueba analítica: el estadístico de Anderson-Darling es A² = 0.314, con valor p = 0.513. Como el valor p es mayor que 0.05, no se rechaza H0: los residuos son normales.</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Varianza constante: en la gráfica de residuos contra valores ajustados los puntos forman una banda horizontal, sin forma de embudo; la dispersión es similar para rendimientos bajos y altos. No hay evidencia contra el supuesto.</a:t>
            </a:r>
          </a:p>
          <a:p/>
          <a:p>
            <a:r>
              <a:t>Independencia: se verifica graficando los residuos contra el orden real de corrida y con la prueba de Durbin-Watson. Requiere haber registrado el orden de corrida durante el experimento; el ejemplo del libro no lo reporta, así que aquí no se puede calcular. Por eso el protocolo insiste en aleatorizar y guardar ese orden.</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falla la normalidad: revisar datos atípicos y errores de registro, y considerar una transformación de la respuesta; el ANOVA es robusto a desviaciones moderadas.</a:t>
            </a:r>
          </a:p>
          <a:p/>
          <a:p>
            <a:r>
              <a:t>Si la varianza no es constante: transformar la respuesta (logaritmo, raíz cuadrada, recíproco; la elección puede guiarse por la relación entre la desviación estándar y la media, o por el método de Box-Cox).</a:t>
            </a:r>
          </a:p>
          <a:p/>
          <a:p>
            <a:r>
              <a:t>Si falla la independencia: es un problema potencialmente serio y difícil de corregir; la aleatorización es la principal forma de prevenirlo. Si existe una fuente identificable (tiempo, lote), debe controlarse en experimentos futuros o incluirse en el análisis como bloque o covariable.</a:t>
            </a:r>
          </a:p>
          <a:p/>
          <a:p>
            <a:r>
              <a:t>Si el modelo deja residuos con patrón: probablemente falta un término; hay que revisar las cadenas de alias y, si es necesario, agregar corridas.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diseño de resolución R contiene un factorial completo en cualquier subconjunto de R − 1 factores, y en general un 2k−p se proyecta en un factorial completo en cualquier subconjunto de factores que no contenga una palabra de la relación de definición; si la contiene, queda un fraccionado con réplicas. Si al analizar solo unos pocos factores resultan activos, el diseño se convierte, sin correr nada más, en un factorial completo (posiblemente con réplicas) en ellos. La proyección permite entonces asignar los factores con estrategia. En el 27−3IV de 16 corridas hay 35 subconjuntos de cuatro factores; siete son palabras de la relación de definición y los otros 28 forman un 24 completo. Uno de ellos, el más obvio, es el de las columnas del diseño básico: A, B, C y D.</a:t>
            </a:r>
          </a:p>
          <a:p/>
          <a:p>
            <a:r>
              <a:t>Montgomery lo ilustra con un molino de bolas con siete factores. Se tiene bastante certeza de que la velocidad del motor, el modo de alimentación, el tamaño de la alimentación y el tipo de material afectan la eficiencia y pueden interactuar; se sabe menos de la muesca, el ángulo de la criba y el nivel de vibración, que probablemente son insignificantes. La estrategia es asignar los cuatro primeros a las columnas A, B, C y D y las «variables menores» a E, F y G. Si se está en lo correcto y estas resultan despreciables, queda un 24 completo en las variables clave.</a:t>
            </a:r>
          </a:p>
          <a:p/>
          <a:p>
            <a:r>
              <a:t>Gutiérrez muestra lo mismo con otro 27−3IV: si temperatura, humedad, velocidad y ángulo van en A, B, C y D, se estiman sus seis interacciones dobles; si el ángulo se pasa a E, aparecen cadenas como AB + CE y AC + BE. En sus palabras, un pequeño cambio en la asignación cambia radicalmente la estructura de alias.</a:t>
            </a:r>
          </a:p>
          <a:p/>
          <a:p>
            <a:r>
              <a:t>Las conclusiones obtenidas así deben considerarse tentativas: suele haber explicaciones alternativas basadas en interacciones de orden superior.</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parte es solo de Montgomery: Gutiérrez no trata los bloques en los diseños fraccionados. Se toma el ejemplo 3, el moldeo por inyección: un 26−2IV de 16 corridas con I = ABCE = BCDF = ADEF. Supóngase que la inyectora solo permite hacer 8 corridas por turno, así que el experimento se corre en dos partes: 8 corridas en la mañana y 8 en la tarde. Por la tarde la máquina está más caliente y las piezas se contraen un poco más, digamos 5 unidades más en todas las corridas de la tarde, sin importar los factores.</a:t>
            </a:r>
          </a:p>
          <a:p/>
          <a:p>
            <a:r>
              <a:t>Cada uno de esos grupos de corridas hechas en las mismas condiciones (el mismo turno) es un bloque. El turno no es un factor que interese estudiar: es una fuente de variación molesta que no se puede eliminar. Formar bloques significa decidir de antemano qué corridas van en cada parte, de modo que esa diferencia no estropee los efectos que sí interesan. Es exactamente lo que se pregunta: tomar una fracción, aquí un 26−2, y correrla por secciones.</a:t>
            </a:r>
          </a:p>
          <a:p/>
          <a:p>
            <a:r>
              <a:t>La pregunta concreta es qué 8 corridas se hacen en la mañana. La forma ingenua es hacer las 8 primeras del orden estándar en la mañana y las 8 últimas en la tarde. La tabla muestra el problema: en el orden estándar del diseño básico, D es la columna que cambia más despacio, así que las corridas 1 a 8 tienen todas D en nivel bajo y las corridas 9 a 16 tienen todas D en nivel alto. El turno y el factor D quedan perfectamente mezclados: cualquier diferencia entre mañana y tarde se va a leer como efecto de D.</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ver el daño se toman los datos reales del ejemplo 3 y se les suma 5 a las corridas de la tarde, como si el turno tuviera ese efecto. Después se recalculan los efectos con dos repartos distintos.</a:t>
            </a:r>
          </a:p>
          <a:p/>
          <a:p>
            <a:r>
              <a:t>Con el reparto ingenuo (las 8 primeras corridas en la mañana) la tarde coincide con D alto, y el efecto de D pasa de 1.38 a 6.38. D era inactivo y ahora parecería activo: se concluiría que D importa cuando lo que importa es el turno. Los demás efectos no cambian, porque sus columnas tienen cuatro signos + y cuatro − en cada turno.</a:t>
            </a:r>
          </a:p>
          <a:p/>
          <a:p>
            <a:r>
              <a:t>Con el reparto por el signo de ABD (las corridas con ABD negativo en la mañana y las de ABD positivo en la tarde) el único efecto que cambia es el de la cadena ABD = ACF = BEF = CDE, que pasa de 0.13 a 5.13. Todos los efectos principales y todas las interacciones dobles quedan exactamente igual que sin turnos.</a:t>
            </a:r>
          </a:p>
          <a:p/>
          <a:p>
            <a:r>
              <a:t>Esa es toda la idea de los bloques. La diferencia entre bloques siempre se va a pegar a alguna columna: a la columna con la que se hizo el reparto. Lo que se decide al formar bloques es cuál columna se sacrifica. Se elige una cadena formada solo por interacciones de orden alto, que de todos modos se suponían despreciables. La diapositiva siguiente da el procedimiento general.</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bloque es un grupo de corridas hechas en condiciones parecidas: el mismo día, el mismo lote de material, la misma máquina. Se forman bloques cuando no se pueden hacer todas las corridas en condiciones homogéneas, y se hace igual que en un 2k: se escoge una columna del diseño y se usa su signo para repartir las corridas. Todas las corridas con signo − van a un bloque y todas las de signo + al otro. Esa columna queda confundida con los bloques: su contraste mide a la vez su efecto y la diferencia entre bloques.</a:t>
            </a:r>
          </a:p>
          <a:p/>
          <a:p>
            <a:r>
              <a:t>El procedimiento tiene cinco pasos. (1) Decidir cuántos bloques hacen falta: dos bloques confunden una columna; cuatro bloques confunden dos columnas y su producto (tres en total). (2) Escribir las cadenas de alias del fraccionado. (3) Escoger para los bloques una cadena formada solo por interacciones de orden alto, porque se va a perder. Nunca una que contenga efectos principales o interacciones dobles de interés. En el 26−2 con I = ABCE = BCDF = ADEF hay quince cadenas; solo dos están formadas únicamente por interacciones triples: ABD = ACF = BEF = CDE y ABF = ACD = BDE = CEF. La tabla XII de Montgomery sugiere ABD. (4) Calcular el signo de ABD en cada corrida, que es el producto de los signos de A, B y D. (5) Repartir: las ocho corridas con ABD = − forman el bloque 1 y las ocho con ABD = + el bloque 2.</a:t>
            </a:r>
          </a:p>
          <a:p/>
          <a:p>
            <a:r>
              <a:t>Atajo para el paso 4 sin calcular signos: contar cuántas letras tiene en común cada combinación de tratamientos con ABD. Si el número es par (0 o 2), ABD vale − y la corrida va al bloque 1, que es el bloque principal porque contiene a (1). Si es impar (1 o 3), ABD vale + y va al bloque 2. Ejemplos: abf tiene en común a y b, dos letras, par: bloque 1 (A +, B +, D −, producto −). ae tiene en común solo a, una letra, impar: bloque 2 (A +, B −, D −, producto +). En la notación de Montgomery es la regla L = x1 + x2 + x4 = 0 (mod 2) para el bloque principal, donde x vale 1 si la letra está y 0 si no. Fuente: Montgomery, sección 8-4 y fig. 8-18; la figura imprime «abef» en el bloque 1 y debe ser adef, la que pertenece a la fracción.</a:t>
            </a:r>
          </a:p>
          <a:p/>
          <a:p>
            <a:r>
              <a:t>Qué se pierde y qué se conserva. Supóngase que la tarde da respuestas sistemáticamente más altas que la mañana. La columna de ABD vale − en toda la mañana y + en toda la tarde, así que su contraste es exactamente la diferencia entre turnos: el efecto estimado de la cadena ABD = ACF = BEF = CDE ya no se puede separar del efecto de los bloques. Por eso se escogió una cadena de triples: se pierde algo que de todos modos se suponía despreciable. En el ANOVA esa columna aparece como la fila de bloques, con 1 grado de libertad y la misma suma de cuadrados. Todas las demás columnas están balanceadas dentro de cada bloque, con cuatro signos + y cuatro signos − en cada turno: al calcular el contraste de A, el corrimiento de la tarde aparece cuatro veces sumando y cuatro veces restando, y se cancela. Lo mismo pasa con las otras trece cadenas, que incluyen todos los efectos principales y todas las interacciones dobles. Es la ortogonalidad de la tabla de signos: la columna de bloques (ABD) es ortogonal a todas las demás.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Una máquina CNC de cinco ejes produce el impulsor de un motor de turbina. Una característica de calidad clave es el perfil de los álabes: interesa su desviación respecto al perfil especificado en el plano, medida como la desviación estándar de la diferencia entre ambos.</a:t>
            </a:r>
          </a:p>
          <a:p/>
          <a:p>
            <a:r>
              <a:t>Se quiere saber qué parámetros de la máquina afectan esa desviación. Se eligen ocho factores a dos niveles: desviaciones de los ejes x, y, z y a, fabricante de la herramienta, velocidad del husillo, altura de la plantilla sujetadora y velocidad de alimentación.</a:t>
            </a:r>
          </a:p>
          <a:p/>
          <a:p>
            <a:r>
              <a:t>La máquina tiene cuatro husillos (la traducción del libro los llama areómetros) que pueden diferir entre sí; deben tratarse como bloques. Los ingenieros creen que las interacciones de tres o más factores son despreciables, pero no quieren ignorar las de dos.</a:t>
            </a:r>
          </a:p>
          <a:p/>
          <a:p>
            <a:r>
              <a:t>Objetivo: Identificar los parámetros de la máquina que más afectan la desviación del perfil, controlando la diferencia entre husillos</a:t>
            </a:r>
          </a:p>
          <a:p/>
          <a:p>
            <a:r>
              <a:t>Se pide: elegir entre 16 y 32 corridas y justificarlo; repartir el diseño en cuatro bloques y ver qué se confunde; estimar los efectos y ajustar el modelo; interpretar los alias que queden ambiguos. Fuente: Montgomery, ejemplo 8-6.</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Paso 1, planteamiento. La respuesta es la desviación del perfil de los álabes respecto al plano, medida como la desviación estándar de la diferencia entre el perfil real y el especificado (en milésimas de pulgada). Como es una desviación estándar, se analiza su logaritmo, ln(desviación estándar × 103): las desviaciones estándar suelen tener varianza que crece con su media, y el logaritmo la estabiliza. Hay ocho factores a dos niveles, los de la tabla.</a:t>
            </a:r>
          </a:p>
          <a:p/>
          <a:p>
            <a:r>
              <a:t>Paso 2, supuestos y resolución. Los ingenieros creen que las interacciones de tres o más factores son despreciables, pero no quieren ignorar las de dos. De ahí sale la resolución mínima. Resolución III no sirve: mezclaría efectos principales con interacciones dobles, que no se quieren ignorar. Resolución IV basta: los efectos principales quedan aliados solo con triples, que se suponen nulas, y las dobles quedan aliadas entre sí, lo que se acepta porque se pueden interpretar con conocimiento del proceso. Resolución V separaría también las dobles, pero para ocho factores exige 64 corridas (28−2V), demasiadas.</a:t>
            </a:r>
          </a:p>
          <a:p/>
          <a:p>
            <a:r>
              <a:t>Hay un requisito más, que pesa en el paso 3: la máquina tiene cuatro husillos (la traducción del libro los llama areómetros) que pueden diferir entre sí. Las corridas se van a repartir en los cuatro husillos, así que el diseño se corre en cuatro bloques.</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tabla de diseños recomendados ofrece dos diseños de resolución IV para ocho factores: el 28−4IV de 16 corridas y el 28−3IV de 32. Sin bloques, el de 16 bastaría. Los bloques cambian la decisión. Montgomery lo dice así: el de 16 «no puede correrse en cuatro bloques sin confundir cuatro interacciones de dos factores con los bloques». Para entender la frase hay que tener claro qué es confundir.</a:t>
            </a:r>
          </a:p>
          <a:p/>
          <a:p>
            <a:r>
              <a:t>Dos efectos están confundidos cuando los datos no permiten distinguirlos. Ocurre cuando la columna de signos con la que se estima uno es idéntica a la columna con la que se estima el otro: el contraste calcula entonces la suma de ambos y no hay manera de repartirla. Cuando los dos efectos son de factores, Montgomery lo llama alias; cuando uno de ellos es la diferencia entre bloques (husillos, turnos, días), lo llama confundido con bloques. Es el mismo fenómeno con dos nombres. Ya se vio con el moldeo en dos turnos: la columna ABD valía − en toda la mañana y + en toda la tarde, así que su contraste medía a la vez la interacción ABD y la diferencia entre turnos, y nunca se sabría cuál de las dos se está viendo. En cambio A seguía limpio, porque cada turno tenía cuatro corridas con A alto y cuatro con A bajo y la diferencia se cancelaba.</a:t>
            </a:r>
          </a:p>
          <a:p/>
          <a:p>
            <a:r>
              <a:t>Por eso cuatro bloques cuestan tres columnas. Para repartir las corridas en cuatro husillos se usan dos columnas P y Q: cada husillo recibe las corridas con una combinación de signos (−,−), (−,+), (+,−) o (+,+). Dentro de cada husillo P es constante, Q es constante y, por tanto, también su producto PQ. Las tres columnas valen lo mismo en todas las corridas de un husillo, así que las tres quedan confundidas con los husillos: son 3 grados de libertad perdidos. Y en un fraccionado cada columna no es un solo efecto sino una cadena de alias completa: lo que se pierde es la cadena entera.</a:t>
            </a:r>
          </a:p>
          <a:p/>
          <a:p>
            <a:r>
              <a:t>En el 28−4IV las 15 columnas son 8 efectos principales y 7 cadenas de cuatro interacciones dobles cada una (por ejemplo AB = CG = DH = EF). No hay ninguna columna formada solo por interacciones triples, es decir, ninguna columna «barata». Cualquier columna que se use para bloques cuesta cuatro interacciones dobles de un golpe, que es la frase del libro, y con cuatro bloques hacen falta tres columnas: se perderían 12 de las 28 interacciones dobles, justo lo que los ingenieros no quieren ignorar.</a:t>
            </a:r>
          </a:p>
          <a:p/>
          <a:p>
            <a:r>
              <a:t>En el 28−3IV hay 31 columnas. Varias cadenas están formadas solo por interacciones triples y pueden ir a los bloques sin costo; muchas interacciones dobles quedan solas en su cadena. Por eso se elige el 28−3IV en cuatro bloques de ocho corridas: los bloques obligan a duplicar el tamaño del experimento para no perder las interacciones dobles. Fuente: Montgomery, ejemplo 8-6.</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diseño básico es el 25 completo en A, B, C, D y E (32 corridas). Los tres factores restantes se generan con F = ABC, G = ABD y H = BCDE (tabla 8-14). Los generadores son I = ABCF, I = ABDG e I = BCDEH; sus productos completan la relación de definición, con 23 − 1 = 7 palabras: ABCF, ABDG, CDFG, BCDEH, ADEFH, ACEGH y BEFGH. La más corta tiene cuatro letras: resolución IV.</a:t>
            </a:r>
          </a:p>
          <a:p/>
          <a:p>
            <a:r>
              <a:t>Despreciando las interacciones de tres o más factores, los ocho efectos principales quedan limpios. Las interacciones dobles se reparten así: siete cadenas tienen más de una doble (las de la tabla) y las otras trece dobles quedan solas en su cadena: AE, AH, BE, BH, CE, CH, DE, DH, EF, EG, EH, FH y GH. La cadena que más va a importar es AD = BG: la interacción del eje x con el fabricante de la herramienta está aliada con la del eje y con la altura de la plantilla.</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paso de los bloques. Hay cuatro husillos y cada uno va a recibir 8 corridas. Si hubiera una diferencia entre husillos (uno corta un poco peor que otro), esa diferencia se suma a todas sus corridas; el reparto debe hacer que caiga en columnas que no importen.</a:t>
            </a:r>
          </a:p>
          <a:p/>
          <a:p>
            <a:r>
              <a:t>Se escogen dos columnas P y Q formadas solo por interacciones de orden alto: P = ABE (cadena ABE = CEF = DEG) y Q = ABH (cadena ABH = CFH = DGH). Las dos son cadenas de triples, que se suponen despreciables. Cada corrida tiene un signo de ABE y uno de ABH, y la combinación de los dos signos dice a qué husillo va: (−, −) al husillo 1, (−, +) al 2, (+, −) al 3 y (+, +) al 4. La tabla muestra las 8 corridas de cada husillo.</a:t>
            </a:r>
          </a:p>
          <a:p/>
          <a:p>
            <a:r>
              <a:t>El precio inevitable es el producto: PQ = ABE · ABH = EH (A y B se cancelan). La columna de EH vale + en los husillos 1 y 4 y − en los husillos 2 y 3, así que también queda confundida con los husillos. EH es la interacción entre la desviación del eje a y la velocidad de alimentación, que los ingenieros consideran muy improbable; por eso se acepta perderla. Su cadena completa es EH = ACG = ADF = BCD = BFG.</a:t>
            </a:r>
          </a:p>
          <a:p/>
          <a:p>
            <a:r>
              <a:t>Todas las demás columnas, los ocho efectos principales y las demás interacciones dobles, tienen cuatro signos + y cuatro − dentro de cada husillo: la diferencia entre husillos se cancela en sus contrastes. Dentro de cada husillo se sortea el orden de las 8 corridas; no se sortea entre husillos, porque el husillo de cada corrida ya está fijado por el diseño.</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una sola réplica no hay error puro, así que los efectos activos se identifican con la gráfica de probabilidad normal (fig. 8-19 del libro). De las 31 columnas se grafican 28: las tres confundidas con los husillos (ABE, ABH y EH) no son efectos de factores sino diferencias entre husillos, y se dejan fuera. Los valores son los efectos de la tabla 8-17 sobre ln(desviación estándar × 103).</a:t>
            </a:r>
          </a:p>
          <a:p/>
          <a:p>
            <a:r>
              <a:t>Tres puntos se apartan con claridad de la recta de Daniel: la cadena AD + BG (−0.374), A (0.290) y B (−0.201). Les siguen G (0.116), D (0.108) y BE (0.099), mucho menores. El método de Lenth con los 28 efectos da PSE = 0.0518, ME = 0.116 y SME = 0.223. AD + BG y A superan el SME. B supera el ME pero queda un poco por debajo del SME; se incluye porque se aparta con claridad de la recta y es el tercer efecto en tamaño, casi el doble del siguiente. G queda justo en el límite del ME (0.1161 frente a 0.1165), y D y BE por debajo: se dejan en el error, como hace Montgomery.</a:t>
            </a:r>
          </a:p>
          <a:p/>
          <a:p>
            <a:r>
              <a:t>Primera clasificación: al modelo, A, B y la cadena AD + BG; el resto, al error. Falta decidir a qué interacción se atribuye la cadena, que es el paso siguiente.</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cadena AD + BG es la más grande de todas (−0.374), pero los datos no pueden separar sus dos términos: AD es la interacción del eje x con el fabricante de la herramienta y BG la del eje y con la altura de la plantilla.</a:t>
            </a:r>
          </a:p>
          <a:p/>
          <a:p>
            <a:r>
              <a:t>Las herramientas de atribución no deciden aquí. La jerarquía no ayuda, porque las dos son interacciones dobles. La herencia tampoco: cada una contiene un efecto principal grande (A en AD, B en BG) y uno pequeño de tamaño parecido (D = 0.108 en AD, G = 0.116 en BG). Montgomery lo dice así: no hay una simplificación lógica obvia.</a:t>
            </a:r>
          </a:p>
          <a:p/>
          <a:p>
            <a:r>
              <a:t>Quedan dos salidas. La primera, conocimiento del proceso: los ingenieros consideran que la interacción real es AD, entre el eje x y el fabricante de la herramienta. La segunda, más corridas: un doblez del factor A o del factor D separaría la cadena. Montgomery sigue la primera y advierte que la conclusión es tentativa. Por jerarquía del modelo, al incluir AD también entra D, aunque su efecto sea pequeño.</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Hipótesis: una por cada cadena que entra al modelo. Para la cadena AD + BG, H0: βAD + βBG = 0 frente a HA: βAD + βBG ≠ 0; igual para A, B y D. Se rechaza H0 si F0 &gt; F0.05, 1, 24 = 4.26 o si el valor p es menor que 0.05.</a:t>
            </a:r>
          </a:p>
          <a:p/>
          <a:p>
            <a:r>
              <a:t>Modelo: ŷ = β0 + βA xA + βB xB + βD xD + βAD xA xD + (efecto del husillo) + ε. La tabla ANOVA es la del libro (tabla 8-18). Se rechaza H0 para A, B, D y AD.</a:t>
            </a:r>
          </a:p>
          <a:p/>
          <a:p>
            <a:r>
              <a:t>La fila de bloques merece atención. Su suma de cuadrados, 0.0201 con 3 grados de libertad, es exactamente la suma de las tres columnas confundidas con los husillos: SS(ABE) + SS(ABH) + SS(EH) = 0.008874 + 0.001273 + 0.009993 = 0.0201. Se separa del error para que la diferencia entre husillos no infle el error y no le reste potencia a las pruebas. No lleva F0: los husillos no se asignaron al azar a las corridas, así que la prueba de bloques no tiene la misma validez que las de los factores. Su cuadrado medio, 0.0067, es menor que el del error (0.0171): los husillos casi no difieren.</a:t>
            </a:r>
          </a:p>
          <a:p/>
          <a:p>
            <a:r>
              <a:t>El error, 0.4099 con 24 grados de libertad, reúne las 24 columnas que no entraron al modelo ni a los bloques: 31 − 4 − 3 = 24.</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Supuestos. Montgomery muestra la gráfica de probabilidad normal de los residuales (fig. 8-20): sugiere colas algo más gruesas que las de la normal, por lo que podría considerarse otra transformación además del logaritmo. Los datos crudos de la tabla 8-16 no se transcribieron aquí, así que esa verificación se cita del libro.</a:t>
            </a:r>
          </a:p>
          <a:p/>
          <a:p>
            <a:r>
              <a:t>Interpretación. Como el modelo solo tiene A, B y D, el diseño se proyecta en cuatro réplicas de un 23 en esos factores (fig. 8-22). Los promedios de ln(desviación) en los ocho vértices dan la interacción AD: con el fabricante 1, la desviación crece mucho al pasar el eje x de 0 a 15 (0.894 a 1.558, promediando sobre B); con el fabricante 2 casi no cambia (1.376 a 1.292). B tiene efecto negativo: la desviación baja cuando el eje y está en su nivel alto.</a:t>
            </a:r>
          </a:p>
          <a:p/>
          <a:p>
            <a:r>
              <a:t>Conclusión: la desviación del perfil es mínima con A en nivel bajo (eje x en 0), B en nivel alto (eje y en 15) y la herramienta del fabricante 1, vértice con promedio 0.828. Los husillos casi no difieren. La atribución de la cadena a AD es tentativa y conviene confirmarla con un doblez o una corrida de verificación.</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diseño de resolución III es un fraccionado cuya relación de definición tiene como palabra más corta una de tres letras. Ningún efecto principal está aliado con otro efecto principal, pero cada efecto principal sí está aliado con interacciones de dos factores. Se usa al comienzo de una investigación, cuando hay muchos factores candidatos y se espera que solo unos pocos importen.</a:t>
            </a:r>
          </a:p>
          <a:p/>
          <a:p>
            <a:r>
              <a:t>El ejemplo de referencia de esta sección es el 27−4III: siete factores en ocho corridas. Se escribe el 23 completo en A, B y C y se definen D = AB, E = AC, F = BC y G = ABC. Su relación de definición es I = ABD = ACE = BCF = ABCG y todos sus productos (15 palabras); la más corta tiene tres letras.</a:t>
            </a:r>
          </a:p>
          <a:p/>
          <a:p>
            <a:r>
              <a:t>El costo es alto: despreciando las interacciones de tres o más factores, cada efecto principal es alias de tres interacciones dobles (la tabla de la derecha). Solo sirve si esas interacciones son despreciables o si se planea separarlas después con un doblez, que es el tema de las diapositivas siguientes.</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Una compañía compró un equipo de afilado y a la semana notó que el exceso de vibración era un problema serio. Un equipo de mejora identifica siete factores de la herramienta que pueden influir: A tamaño de grano, B longitud, C diámetro, D revoluciones por minuto, E peso de la precarga, F estructura del material y G velocidad de alimentación, cada uno a dos niveles.</a:t>
            </a:r>
          </a:p>
          <a:p/>
          <a:p>
            <a:r>
              <a:t>La puesta en marcha y el tiempo de corrida tienen un alto costo, así que el equipo decide hacer solo 8 corridas: el 27−4III con D = AB, E = AC, F = BC y G = ABC, el mismo diseño de la diapositiva anterior.</a:t>
            </a:r>
          </a:p>
          <a:p/>
          <a:p>
            <a:r>
              <a:t>Se supone que las interacciones se pueden considerar despreciables, porque con resolución III cada efecto principal está aliado con tres interacciones dobles.</a:t>
            </a:r>
          </a:p>
          <a:p/>
          <a:p>
            <a:r>
              <a:t>Objetivo: Encontrar la combinación de niveles que minimiza la vibración</a:t>
            </a:r>
          </a:p>
          <a:p/>
          <a:p>
            <a:r>
              <a:t>Se pide: escribir la estructura de alias reducida; detectar los efectos activos sin grados de libertad para el error; construir el mejor ANOVA; elegir el mejor tratamiento. Fuente: Gutiérrez, «Experimento 27−4: ejemplo integrador», tablas 8.12 a 8.15.</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diseño se construye en los dos pasos de siempre: el 23 completo en grano (A), longitud (B) y diámetro (C), y las columnas de los otros cuatro factores como productos: RPM D = AB, precarga E = AC, estructura F = BC y alimentación G = ABC. La tabla muestra la matriz de diseño en orden estándar y la vibración observada en cada corrida.</a:t>
            </a:r>
          </a:p>
          <a:p/>
          <a:p>
            <a:r>
              <a:t>La estructura de alias reducida (tabla 8.13 de Gutiérrez) dice qué estima cada columna: el efecto principal más tres interacciones dobles. Por ejemplo, la columna de A estima A + BD + CE + FG.</a:t>
            </a:r>
          </a:p>
          <a:p/>
          <a:p>
            <a:r>
              <a:t>Las 8 corridas dan 7 grados de libertad, y los 7 se gastan en estimar los siete efectos principales: quedan cero grados de libertad para el error. No se puede hacer un ANOVA directamente; por eso el análisis empieza con gráficas. Ocurren otra vez los dos hechos: se perdió toda la información de las interacciones y cada efecto tiene tres alias.</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 error, Gutiérrez recurre primero al diagrama de Pareto de efectos y al gráfico de Daniel.</a:t>
            </a:r>
          </a:p>
          <a:p/>
          <a:p>
            <a:r>
              <a:t>El Pareto hace un trabajo excelente: detecta tres efectos importantes y cuatro despreciables. Los grandes son la precarga, E = 22.60, el diámetro, C = −16.50, y el grano, A = 10.20. Los otros cuatro (estructura F = −3.85, RPM D = −3.35, longitud B = −2.65 y alimentación G = −0.05) son mucho menores.</a:t>
            </a:r>
          </a:p>
          <a:p/>
          <a:p>
            <a:r>
              <a:t>El gráfico de Daniel lo confirma: cuatro efectos caen sobre la recta (no afectan) y tres se separan de ella, los mismos de las tres barras más altas del Pareto.</a:t>
            </a:r>
          </a:p>
          <a:p/>
          <a:p>
            <a:r>
              <a:t>Interpretación de los alias: por jerarquía, cada efecto grande se atribuye al efecto principal de su cadena. Es justamente el supuesto con el que se eligió un diseño de resolución III. Si hubiera duda (por ejemplo, si la columna de A fuera en realidad la interacción CE entre diámetro y precarga), se aclararía con otra fracción, como se ve en seguida.</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la clasificación gráfica se arma el mejor ANOVA: los cuatro efectos alineados en el gráfico de Daniel (B, D, F y G, cada uno con sus alias) se mandan al error, que queda con 4 grados de libertad. Hipótesis para cada efecto: H0: el efecto es cero; HA: no lo es. Los tres términos tienen valor p menor que 0.05 (F0.05, 1, 4 = 7.71): se rechaza H0 para el grano, el diámetro y la precarga. El R2 ajustado es 93.71 %. Gutiérrez advierte que el error tiene solo 4 grados de libertad, aunque en este caso el cuadrado medio del error parece estimado de manera razonable.</a:t>
            </a:r>
          </a:p>
          <a:p/>
          <a:p>
            <a:r>
              <a:t>Interpretación: a mayor precarga, mayor vibración; a mayor diámetro, menor vibración; a mayor tamaño de grano, mayor vibración. El mejor tratamiento es grano en nivel bajo, diámetro en nivel alto y precarga en nivel bajo. Como solo hay tres factores activos, el diseño se colapsa (proyecta) en un 23 completo en A, C y E, y tiene sentido la gráfica de cubo con la vibración predicha: la mínima, 40.55, está en (A −, C +, E −). Los otros cuatro factores se fijan por criterio económico o de productividad.</a:t>
            </a:r>
          </a:p>
          <a:p/>
          <a:p>
            <a:r>
              <a:t>Lo que demuestra el ejemplo: con 8 corridas en lugar de 128 se encontraron los tres factores que importan entre siete.</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diseño de resolución III cada efecto principal está mezclado con interacciones dobles. Para separarlos se corre una segunda fracción y se combina con la primera. Gutiérrez lo explica con la idea más simple: si la primera fracción estima A + BC, la segunda debe estimar A − BC; la semisuma da A y la semidiferencia da BC. Montgomery llama a la técnica doblez o plegado (fold over): la segunda fracción se obtiene invirtiendo los signos de algunos factores. Hay dos variantes: el doblez de un solo factor invierte los signos de un factor; el doblez completo, o reflexión, invierte los signos de todos.</a:t>
            </a:r>
          </a:p>
          <a:p/>
          <a:p>
            <a:r>
              <a:t>La estructura de alias de la segunda fracción no hay que calcularla de cero: se obtiene cambiando el signo de los factores invertidos en la estructura de alias de la fracción original. Después, como con la fracción alterna, la semisuma y la semidiferencia de las estimaciones de las dos fracciones separan los efectos; las dos fracciones funcionan como bloques.</a:t>
            </a:r>
          </a:p>
          <a:p/>
          <a:p>
            <a:r>
              <a:t>Las conclusiones de un fraccionado son tentativas porque siempre existe una explicación alternativa basada en los alias, y la tabla reúne las cuatro formas de resolver la duda. Corrida de confirmación: predecir con el modelo la respuesta en una condición nueva y comprobarla. Fracción alterna: en una fracción un medio, correr la otra mitad completa el factorial. Doblez completo: separa los efectos principales de las interacciones dobles y convierte un diseño de resolución III en uno de resolución IV. Doblez de un factor: en un diseño de resolución III o mayor, y despreciando interacciones de tres o más factores, deja limpio ese factor y todas sus interacciones dobles; cuesta las mismas corridas que el doblez completo.</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Gutiérrez lo plantea como su caso 1: hay un factor que se sospecha dominante y se quiere su efecto y todas sus interacciones dobles limpias. Para eso se cambia el signo de los generadores que contienen ese factor; con el factor A en el 27−4 serían I = −ABD = −ACE = +BCF = −ABCG. Montgomery hace lo mismo con el factor D, y su receta es equivalente: invertir la columna de ese factor.</a:t>
            </a:r>
          </a:p>
          <a:p/>
          <a:p>
            <a:r>
              <a:t>Junto a la fracción principal del 27−4 se corre una segunda fracción con los signos de solo la columna D invertidos. Los alias de la segunda fracción se obtienen reemplazando D por −D en la estructura original: ℓ′A estima A − BD + CE + FG, y como −D = AB + CG + EF, ℓ′D estima D − AB − CG − EF (ecuación 8-2).</a:t>
            </a:r>
          </a:p>
          <a:p/>
          <a:p>
            <a:r>
              <a:t>Al combinar las dos fracciones, D queda limpio y cada una de sus interacciones dobles, BD, AD, DG, DF, DE y CD, queda aislada en una semidiferencia.</a:t>
            </a:r>
          </a:p>
          <a:p/>
          <a:p>
            <a:r>
              <a:t>Regla general de Montgomery: si a un fraccionado de resolución III o mayor se le agrega una fracción con los signos de un solo factor invertidos, el diseño combinado estima ese efecto principal y todas sus interacciones dobles. Se supone que las interacciones de tres o más factores son despreciables.</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 el caso 2 de Gutiérrez: se quieren todos los efectos principales limpios. Él cambia el signo de los generadores de tres letras (I = −ABD = −ACE = −BCF = +ABCG); Montgomery lo llama doblez completo o reflexión, y se obtiene invirtiendo los signos de todos los factores. Es lo mismo.</a:t>
            </a:r>
          </a:p>
          <a:p/>
          <a:p>
            <a:r>
              <a:t>En el doblez completo, o reflexión, se agrega una segunda fracción con los signos de todos los factores invertidos. La columna de cada factor cambia de signo, pero la de cada interacción doble no, porque es producto de dos signos invertidos: (−)(−) = +. Por eso, en la segunda fracción cada efecto principal queda aliado con sus interacciones dobles con signo contrario: ℓ′A estima A − BD − CE − FG. La semisuma deja los efectos principales limpios y la semidiferencia deja las cadenas de interacciones dobles.</a:t>
            </a:r>
          </a:p>
          <a:p/>
          <a:p>
            <a:r>
              <a:t>Montgomery lo resume así: el doblez completo rompe los vínculos de alias entre los efectos principales y las interacciones dobles, y el diseño combinado estima todos los efectos principales libres de interacciones dobles.</a:t>
            </a:r>
          </a:p>
          <a:p/>
          <a:p>
            <a:r>
              <a:t>Un detalle útil para construirlo: invertir todos los signos equivale a cambiar el signo de los generadores con número impar de letras. En el 27−4, ABD, ACE y BCF cambian de signo y ABCG no.</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experimentador estudia el tiempo de enfoque del ojo (ms) y construyó un aparato en el que puede controlar varios factores durante la prueba. Considera importantes siete, cada uno a dos niveles: A agudeza visual, B distancia del objetivo al ojo, C forma del objetivo, D nivel de iluminación, E tamaño del objetivo, F densidad del objetivo y G sujeto.</a:t>
            </a:r>
          </a:p>
          <a:p/>
          <a:p>
            <a:r>
              <a:t>Sospecha que solo unos pocos de los siete factores son importantes y que las interacciones de orden alto se pueden despreciar.</a:t>
            </a:r>
          </a:p>
          <a:p/>
          <a:p>
            <a:r>
              <a:t>Decide hacer primero un experimento de tamizado con un 27−4III de 8 corridas, en orden aleatorio, para identificar los factores importantes y concentrar en ellos el estudio posterior.</a:t>
            </a:r>
          </a:p>
          <a:p/>
          <a:p>
            <a:r>
              <a:t>Objetivo: Tamizar: encontrar los pocos factores que de verdad afectan el tiempo de enfoque</a:t>
            </a:r>
          </a:p>
          <a:p/>
          <a:p>
            <a:r>
              <a:t>Se pide: estimar los efectos de la primera fracción; listar las explicaciones compatibles con los alias; elegir y correr una segunda fracción que las separe; decidir qué efectos son los reales. Fuente: Montgomery, ejemplo 8-7.</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 corre el 27−4III de ocho corridas del enunciado anterior (Montgomery, ejemplo 8-7).</a:t>
            </a:r>
          </a:p>
          <a:p/>
          <a:p>
            <a:r>
              <a:t>Tres estimaciones son grandes: ℓB = 38.38, ℓD = 28.88 y ℓA = 20.63. La lectura más simple es que A, B y D son activos. Pero como D = AB, hay otras tres explicaciones igual de lógicas: A, B y la interacción AB; A, D y la interacción AD; o B, D y la interacción BD. La fracción sola no permite distinguirlas.</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 corre una segunda fracción de ocho corridas con los signos de todos los factores invertidos. En ella cada efecto principal aparece con sus interacciones dobles con signo negativo, de modo que la semisuma aísla el efecto principal y la semidiferencia aísla el grupo de interacciones.</a:t>
            </a:r>
          </a:p>
          <a:p/>
          <a:p>
            <a:r>
              <a:t>Resultado: los efectos principales grandes son B = 38.05 y D = 29.38. El efecto de A es solo 1.48; lo que parecía el efecto de A era en realidad la cadena BD + CE + FG = 19.15, que es razonable atribuir a BD porque B y D son activos. BD sigue aliada con CE y FG; en el estudio se confirmó con experimentos posteriores. La explicación más plausible era la cuarta.</a:t>
            </a:r>
          </a:p>
          <a:p/>
          <a:p>
            <a:r>
              <a:t>Las 16 corridas forman un 27−3 de resolución IV: el doblez completo de un diseño de resolución III siempre produce uno de resolución IV.</a:t>
            </a:r>
          </a:p>
          <a:p/>
          <a:p>
            <a:r>
              <a:t>Nota para quien coteje con el libro: en la fila F, Montgomery imprime −1.53; con sus propios datos el valor es −1.13.</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Montgomery da una regla sencilla. Cada fracción por separado tiene L + U generadores: L palabras con el mismo signo en las dos fracciones y U palabras con signo distinto. El diseño combinado tiene L + U − 1 generadores: las L palabras de igual signo y U − 1 palabras formadas por productos pares independientes de las palabras de signo distinto. Productos pares son las palabras tomadas de dos en dos, de cuatro en cuatro, etc.</a:t>
            </a:r>
          </a:p>
          <a:p/>
          <a:p>
            <a:r>
              <a:t>En el ejemplo 5, la primera fracción tiene I = ABD, ACE, BCF y ABCG; el doblez tiene I = −ABD, −ACE, −BCF y ABCG. Así, L = 1 (ABCG) y U = 3. El combinado usa ABCG y dos productos pares, por ejemplo (ABD)(ACE) = BCDE y (ABD)(BCF) = ACDF.</a:t>
            </a:r>
          </a:p>
          <a:p/>
          <a:p>
            <a:r>
              <a:t>La relación completa del diseño combinado tiene siete palabras, todas de cuatro letras: es un 27−3IV. El doblez completo de un diseño de resolución III da un diseño de resolución IV.</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Son diseños de resolución III para estudiar k = N − 1 factores en N corridas, donde N es múltiplo de 4 y no solo potencia de 2: 12, 20, 24, 28, 36. Dan tamaños intermedios entre los de los diseños 2k−p (8, 16, 32 corridas).</a:t>
            </a:r>
          </a:p>
          <a:p/>
          <a:p>
            <a:r>
              <a:t>Se construyen a partir de un renglón generador que se desplaza cíclicamente una posición cada vez; al final se agrega un renglón con todos los signos negativos. Gutiérrez agrega una regla para verificarlo: el primer renglón tiene (k + 1)/2 signos + y (k − 1)/2 signos −, y si se tienen menos factores se usan solo las primeras columnas. Para N = 28 la construcción es distinta, con tres bloques de signos.</a:t>
            </a:r>
          </a:p>
          <a:p/>
          <a:p>
            <a:r>
              <a:t>Advertencia: su estructura de alias es muy compleja. En el diseño de 12 corridas cada efecto principal es alias parcial de todas las interacciones dobles en las que no interviene: por ejemplo, la interacción AB es alias parcial de los nueve efectos principales C, D, …, K, y cada efecto principal es alias parcial de 45 interacciones dobles. «Parcial» quiere decir que la interacción no se suma completa a la estimación, sino con un peso fraccionario. Si hay interacciones importantes, pueden aparecer como varios falsos efectos principales. En diseños mayores la situación es aún más compleja; Montgomery recomienda usarlos con mucho cuidado, y bajo ciertas condiciones sus alias se pueden desenredar con técnicas de regresión.</a:t>
            </a:r>
          </a:p>
          <a:p/>
          <a:p>
            <a:r>
              <a:t>Su ventaja está en la proyección. El de 12 corridas se proyecta en tres réplicas de un 22 completo en cualquier par de factores, y en cualquier trío de factores en un 23 completo más una fracción 23−1. Por eso se dice que tiene proyectividad 3, mientras que un 2k−pIII solo tiene proyectividad 2. Las proyecciones en tres y cuatro factores no son balanceadas.</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N = 12, 20, 24 y 36 el diseño se arma con el renglón de signos de la tabla 8-23 del libro. Se escribe ese renglón como primera fila (o primera columna). La segunda fila se obtiene desplazando la primera una posición hacia la derecha y pasando el último elemento al principio. Se repite el desplazamiento hasta tener k = N − 1 filas, y al final se agrega una fila con todos los signos negativos.</a:t>
            </a:r>
          </a:p>
          <a:p/>
          <a:p>
            <a:r>
              <a:t>La tabla es el diseño de 12 corridas para 11 factores construido de esa forma, el mismo del ejemplo 6. La letra I no se usa como factor porque está reservada para la identidad. Para N = 28 la construcción es distinta: tres bloques de signos X, Y y Z de 9 × 9 se disponen en forma cíclica y se agrega la fila de signos negativos.</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 quiere tamizar 11 factores (A a L, sin I) con el mínimo de corridas. Un Plackett-Burman de 12 corridas lo permite: es de resolución III y cada interacción doble queda repartida parcialmente sobre varios efectos principales.</a:t>
            </a:r>
          </a:p>
          <a:p/>
          <a:p>
            <a:r>
              <a:t>Para ver qué pasa cuando hay interacciones, Montgomery simula los datos con un modelo conocido: tres efectos principales activos (A, B y D), dos interacciones (AB y AD) y un error normal de varianza 9. Los demás factores no tienen ningún efecto.</a:t>
            </a:r>
          </a:p>
          <a:p/>
          <a:p>
            <a:r>
              <a:t>El analista no conoce ese modelo: solo ve las 12 respuestas y analiza el diseño como se haría en la práctica.</a:t>
            </a:r>
          </a:p>
          <a:p/>
          <a:p>
            <a:r>
              <a:t>Objetivo: Comprobar si el análisis del Plackett-Burman recupera el modelo verdadero</a:t>
            </a:r>
          </a:p>
          <a:p/>
          <a:p>
            <a:r>
              <a:t>Se pide: estimar los 11 efectos principales; compararlos con el modelo que generó los datos; explicar de dónde salen los efectos falsos; decidir qué diseño habría sido mejor. Fuente: Montgomery, ejemplo 8-8.</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Montgomery simula datos para mostrar la dificultad (ejemplo 8-8). El modelo verdadero tiene tres efectos principales, A, B y D, y dos interacciones, AB y AD, más un error normal con varianza 9. Se corre el Plackett-Burman de 12 corridas para 11 factores.</a:t>
            </a:r>
          </a:p>
          <a:p/>
          <a:p>
            <a:r>
              <a:t>Al estimar los efectos aparecen siete grandes: A, B, C, D, E, J y K. Solo tres son reales; los demás son interacciones que se repartieron como alias parciales sobre otros efectos principales. Con estos datos no es evidente cuáles de esos efectos son en realidad interacciones. Un doblez del diseño resolvería en general los efectos principales, pero suele dejar incertidumbre sobre las interacciones.</a:t>
            </a:r>
          </a:p>
          <a:p/>
          <a:p>
            <a:r>
              <a:t>Recomendación del libro: si la elección es entre un 211−7III geométrico de 16 corridas y un Plackett-Burman de 12 que quizá haya que doblar (24 corridas), el geométrico puede ser mejor elección. Nota para quien coteje: la tabla 8-26 imprime 12.667 para el efecto de C; con los datos es 13.667, que es lo que da su propio coeficiente.</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2k−p es de resolución IV si los efectos principales están separados de las interacciones dobles y algunas interacciones dobles son alias entre sí. Si se suprimen las interacciones de tres o más factores, los efectos principales se estiman directamente. Ya se vieron dos: el 26−2IV del ejemplo 3 y el 27−3IV que resultó de combinar las dos fracciones del ejemplo 5.</a:t>
            </a:r>
          </a:p>
          <a:p/>
          <a:p>
            <a:r>
              <a:t>Hay un límite inferior de tamaño: todo diseño 2k−pIV debe tener al menos 2k corridas. Los diseños de resolución IV con exactamente 2k corridas se llaman diseños mínimos. Por ejemplo, el 24−1IV tiene 8 = 2·4 corridas y el 28−4IV tiene 16 = 2·8.</a:t>
            </a:r>
          </a:p>
          <a:p/>
          <a:p>
            <a:r>
              <a:t>Los diseños de resolución IV se pueden obtener doblando un diseño de resolución III. Se toma el 2k−pIII, se le agrega la segunda fracción con todos los signos invertidos, y se aprovecha la columna identidad: en la primera fracción es toda +, y en la segunda se cambia a toda −. Esa columna se asigna al factor k + 1. El resultado es un 2k+1−pIV. La tabla es la del libro (tabla 8-27): del 23−1III con I = ABC se obtiene un 24−1IV, y es fácil verificar que su relación de definición es I = ABCD. Con cuatro corridas más se gana un factor y se sube de resolución III a IV.</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También se doblan diseños de resolución IV, para separar interacciones dobles que son alias entre sí. Montgomery y Runger señalan tres objetivos posibles: romper tantas cadenas de interacciones dobles como sea posible, romper las de una cadena específica, o romper las que incluyen un factor específico.</a:t>
            </a:r>
          </a:p>
          <a:p/>
          <a:p>
            <a:r>
              <a:t>Una forma de hacerlo es correr una segunda fracción en la que se invierte el signo de todos los generadores con número impar de letras. En el 26−2 del ejemplo 3, con I = ABCE e I = BCDF, la segunda fracción usa I = −ABCE e I = −BCDF, y el diseño combinado tiene un solo generador, I = ADEF. Sigue siendo de resolución IV, pero las únicas interacciones dobles que quedan con alias son AD = EF, AE = DF y AF = DE. En el 28−3IV, con I = ABCF, ABDG y BCDEH, el combinado queda con I = CDFG = BCDEH = BEFGH y solo CD = FG, CF = DG y CG = DF siguen aliadas.</a:t>
            </a:r>
          </a:p>
          <a:p/>
          <a:p>
            <a:r>
              <a:t>Advertencia: el doblez de un resolución III garantiza un combinado de resolución IV, pero el doblez de un resolución IV no necesariamente separa todas las interacciones dobles. Si la fracción original tiene una cadena con más de dos interacciones dobles, el doblez no las separa por completo.</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diseño de resolución V los efectos principales y las interacciones dobles no tienen como alias otros principales ni otras interacciones dobles. Son diseños muy poderosos: si las interacciones de tres o más factores son despreciables, estiman de forma única todos los efectos principales y todas las interacciones dobles. La palabra más corta de su relación de definición debe tener cinco letras. Ejemplos: el 25−1 con I = ABCDE y el 28−2 con I = ABCDG = ABEFH.</a:t>
            </a:r>
          </a:p>
          <a:p/>
          <a:p>
            <a:r>
              <a:t>Su problema es el tamaño: los diseños estándar de resolución V son grandes cuando el número de factores es moderado. Por eso interesan las fracciones irregulares de resolución V, disponibles para 4 a 9 factores: 12 corridas para 4 factores, 24 para 5 (tabla 8-28 del libro, tres cuartas partes del 25), 48 para 6, 7 u 8, y 96 para 9.</a:t>
            </a:r>
          </a:p>
          <a:p/>
          <a:p>
            <a:r>
              <a:t>Por último, Montgomery señala que el doblez completo de un diseño de resolución IV o V suele ser innecesario: en general solo hay una o dos interacciones aliadas de interés, y sus alias se pueden separar agregando unas pocas corridas a la fracción original. Esa técnica se llama doblez parcial (ver ejemplo 10-5 del libro).</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tabla se lee por columnas. Con 16 corridas se puede hacer un factorial completo de 4 factores, una fracción un medio de 5, una fracción de resolución IV para 6 a 8 factores, o una de resolución III para 9 a 15.</a:t>
            </a:r>
          </a:p>
          <a:p/>
          <a:p>
            <a:r>
              <a:t>Dos límites útiles: un diseño de resolución III admite como máximo k = N − 1 factores, y un diseño de resolución IV necesita al menos N = 2k corridas.</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factorial fraccionado estudia muchos factores en pocas corridas porque, desde cinco factores, el factorial completo acumula un exceso de información: la mayoría de sus efectos son interacciones de orden alto que se pueden ignorar. A cambio ocurren siempre los dos hechos: se pierde información y todo efecto estimable tiene alias. La notación 2k−p dice cuántos factores, cuántos generadores y cuántas corridas. Se construye en dos pasos. La relación definidora determina los alias y la resolución dice qué tan bien se estudian los efectos importantes. El análisis va de lo gráfico (Pareto, Daniel, Lenth) al mejor ANOVA, a los supuestos y al mejor tratamiento; los factores inactivos se fijan por criterio económico. Las conclusiones son tentativas y se confirman con otra fracción (complementaria o doblez) o una corrida de verificación.</a:t>
            </a:r>
          </a:p>
          <a:p/>
          <a:p>
            <a:r>
              <a:t>Errores frecuentes: interpretar un efecto sin mirar sus alias; usar una resolución III sin prever un doblez cuando puede haber interacciones; no aleatorizar o no guardar el orden de corrida; no cuidar la asignación de los factores a las columnas cuando se tiene idea de cuáles importan; y dar por definitivas las conclusiones sin confirmar.</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presentación combina dos fuentes. De Gutiérrez Pulido y De la Vara (capítulo 8) se tomaron el orden de la exposición, la forma de explicar (tabla de efectos ignorables, los dos hechos, alias con contrastes, construcción en dos pasos, mejor ANOVA y mejor tratamiento) y los ejemplos de semiconductores (las dos mitades del 25) y de la vibración de la afiladora (27−4). De Montgomery (capítulos 6, 7 y 8) se tomaron la terminología adicional, los temas que Gutiérrez no trata (bloques, Lenth, doblez de diseños de resolución IV, diseños mínimos, fracciones irregulares) y los ejemplos 8-1 a 8-8. Todos los cálculos (efectos, sumas de cuadrados, ANOVA, pruebas de supuestos) se rehicieron a partir de los datos.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 Id="rId3"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 Id="rId3"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3.xml"/><Relationship Id="rId3" Type="http://schemas.openxmlformats.org/officeDocument/2006/relationships/chart" Target="../charts/chart4.xml"/><Relationship Id="rId4"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5.xml"/><Relationship Id="rId3"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6.xml"/><Relationship Id="rId3" Type="http://schemas.openxmlformats.org/officeDocument/2006/relationships/chart" Target="../charts/chart7.xml"/><Relationship Id="rId4" Type="http://schemas.openxmlformats.org/officeDocument/2006/relationships/notesSlide" Target="../notesSlides/notesSlide4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8.xml"/><Relationship Id="rId3" Type="http://schemas.openxmlformats.org/officeDocument/2006/relationships/notesSlide" Target="../notesSlides/notesSlide4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0.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9.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0.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9.xml"/><Relationship Id="rId3" Type="http://schemas.openxmlformats.org/officeDocument/2006/relationships/notesSlide" Target="../notesSlides/notesSlide6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0.xml"/><Relationship Id="rId3" Type="http://schemas.openxmlformats.org/officeDocument/2006/relationships/notesSlide" Target="../notesSlides/notesSlide6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8.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9.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0.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1.xml"/><Relationship Id="rId3" Type="http://schemas.openxmlformats.org/officeDocument/2006/relationships/notesSlide" Target="../notesSlides/notesSlide78.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9.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0.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2.xml"/><Relationship Id="rId3" Type="http://schemas.openxmlformats.org/officeDocument/2006/relationships/notesSlide" Target="../notesSlides/notesSlide8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3.xml"/><Relationship Id="rId3" Type="http://schemas.openxmlformats.org/officeDocument/2006/relationships/chart" Target="../charts/chart14.xml"/><Relationship Id="rId4" Type="http://schemas.openxmlformats.org/officeDocument/2006/relationships/notesSlide" Target="../notesSlides/notesSlide8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6.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8.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9.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0.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5.xml"/><Relationship Id="rId3" Type="http://schemas.openxmlformats.org/officeDocument/2006/relationships/notesSlide" Target="../notesSlides/notesSlide9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4.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5.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6.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6.xml"/><Relationship Id="rId3" Type="http://schemas.openxmlformats.org/officeDocument/2006/relationships/notesSlide" Target="../notesSlides/notesSlide9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4C5C"/>
        </a:solidFill>
        <a:effectLst/>
      </p:bgPr>
    </p:bg>
    <p:spTree>
      <p:nvGrpSpPr>
        <p:cNvPr id="1" name=""/>
        <p:cNvGrpSpPr/>
        <p:nvPr/>
      </p:nvGrpSpPr>
      <p:grpSpPr/>
      <p:sp>
        <p:nvSpPr>
          <p:cNvPr id="2" name="Title 1"/>
          <p:cNvSpPr>
            <a:spLocks noGrp="1"/>
          </p:cNvSpPr>
          <p:nvPr>
            <p:ph type="title"/>
          </p:nvPr>
        </p:nvSpPr>
        <p:spPr>
          <a:xfrm>
            <a:off x="548640" y="2103120"/>
            <a:ext cx="11094415" cy="1371600"/>
          </a:xfrm>
        </p:spPr>
        <p:txBody>
          <a:bodyPr wrap="square" anchor="b" lIns="0" rIns="0" tIns="0" bIns="0"/>
          <a:lstStyle/>
          <a:p>
            <a:pPr algn="l"/>
            <a:r>
              <a:rPr sz="4600" b="1">
                <a:solidFill>
                  <a:srgbClr val="FFFFFF"/>
                </a:solidFill>
                <a:latin typeface="Cambria"/>
              </a:rPr>
              <a:t>Diseños factoriales fraccionados 2</a:t>
            </a:r>
            <a:r>
              <a:rPr sz="4600" b="1" baseline="30000">
                <a:solidFill>
                  <a:srgbClr val="FFFFFF"/>
                </a:solidFill>
                <a:latin typeface="Cambria"/>
              </a:rPr>
              <a:t>k−p</a:t>
            </a:r>
          </a:p>
        </p:txBody>
      </p:sp>
      <p:sp>
        <p:nvSpPr>
          <p:cNvPr id="3" name="TextBox 2"/>
          <p:cNvSpPr txBox="1"/>
          <p:nvPr/>
        </p:nvSpPr>
        <p:spPr>
          <a:xfrm>
            <a:off x="548640" y="3657600"/>
            <a:ext cx="11094415" cy="548640"/>
          </a:xfrm>
          <a:prstGeom prst="rect">
            <a:avLst/>
          </a:prstGeom>
          <a:noFill/>
        </p:spPr>
        <p:txBody>
          <a:bodyPr wrap="square" anchor="t" lIns="0" rIns="0" tIns="0" bIns="0">
            <a:spAutoFit/>
          </a:bodyPr>
          <a:lstStyle/>
          <a:p>
            <a:r>
              <a:rPr sz="2200" b="0">
                <a:solidFill>
                  <a:srgbClr val="CFE3E8"/>
                </a:solidFill>
                <a:latin typeface="Calibri"/>
              </a:rPr>
              <a:t>Tema 6 · Diseño de Experimentos Avanzados (3008475) · Montgomery y Gutiérrez–De la Vara</a:t>
            </a:r>
          </a:p>
        </p:txBody>
      </p:sp>
      <p:sp>
        <p:nvSpPr>
          <p:cNvPr id="4" name="TextBox 3"/>
          <p:cNvSpPr txBox="1"/>
          <p:nvPr/>
        </p:nvSpPr>
        <p:spPr>
          <a:xfrm>
            <a:off x="548640" y="4846320"/>
            <a:ext cx="11094415" cy="914400"/>
          </a:xfrm>
          <a:prstGeom prst="rect">
            <a:avLst/>
          </a:prstGeom>
          <a:noFill/>
        </p:spPr>
        <p:txBody>
          <a:bodyPr wrap="square" anchor="t" lIns="0" rIns="0" tIns="0" bIns="0">
            <a:spAutoFit/>
          </a:bodyPr>
          <a:lstStyle/>
          <a:p>
            <a:r>
              <a:rPr sz="1600" b="0">
                <a:solidFill>
                  <a:srgbClr val="FFFFFF"/>
                </a:solidFill>
                <a:latin typeface="Calibri"/>
              </a:rPr>
              <a:t>Juan Esteban Rodríguez Ochoa · Sebastián Zapata Henao</a:t>
            </a:r>
          </a:p>
          <a:p>
            <a:r>
              <a:rPr sz="1600" b="0">
                <a:solidFill>
                  <a:srgbClr val="FFFFFF"/>
                </a:solidFill>
                <a:latin typeface="Calibri"/>
              </a:rPr>
              <a:t>Universidad Nacional de Colombia · 31 de octubre de 2026</a:t>
            </a:r>
          </a:p>
        </p:txBody>
      </p:sp>
      <p:sp>
        <p:nvSpPr>
          <p:cNvPr id="5" name="Oval 4"/>
          <p:cNvSpPr/>
          <p:nvPr/>
        </p:nvSpPr>
        <p:spPr>
          <a:xfrm>
            <a:off x="8899855" y="502920"/>
            <a:ext cx="914400" cy="914400"/>
          </a:xfrm>
          <a:prstGeom prst="ellipse">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3600" b="1">
                <a:solidFill>
                  <a:srgbClr val="FFFFFF"/>
                </a:solidFill>
                <a:latin typeface="Calibri"/>
              </a:rPr>
              <a:t>+</a:t>
            </a:r>
          </a:p>
        </p:txBody>
      </p:sp>
      <p:sp>
        <p:nvSpPr>
          <p:cNvPr id="6" name="Oval 5"/>
          <p:cNvSpPr/>
          <p:nvPr/>
        </p:nvSpPr>
        <p:spPr>
          <a:xfrm>
            <a:off x="10088575" y="502920"/>
            <a:ext cx="914400" cy="9144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3600" b="1">
                <a:solidFill>
                  <a:srgbClr val="0F4C5C"/>
                </a:solidFill>
                <a:latin typeface="Calibri"/>
              </a:rPr>
              <a:t>−</a:t>
            </a:r>
          </a:p>
        </p:txBody>
      </p:sp>
      <p:sp>
        <p:nvSpPr>
          <p:cNvPr id="7" name="Oval 6"/>
          <p:cNvSpPr/>
          <p:nvPr/>
        </p:nvSpPr>
        <p:spPr>
          <a:xfrm>
            <a:off x="8899855" y="1600200"/>
            <a:ext cx="914400" cy="9144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3600" b="1">
                <a:solidFill>
                  <a:srgbClr val="0F4C5C"/>
                </a:solidFill>
                <a:latin typeface="Calibri"/>
              </a:rPr>
              <a:t>+</a:t>
            </a:r>
          </a:p>
        </p:txBody>
      </p:sp>
      <p:sp>
        <p:nvSpPr>
          <p:cNvPr id="8" name="Oval 7"/>
          <p:cNvSpPr/>
          <p:nvPr/>
        </p:nvSpPr>
        <p:spPr>
          <a:xfrm>
            <a:off x="10088575" y="1600200"/>
            <a:ext cx="914400" cy="914400"/>
          </a:xfrm>
          <a:prstGeom prst="ellipse">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3600" b="1">
                <a:solidFill>
                  <a:srgbClr val="FFFFFF"/>
                </a:solidFill>
                <a:latin typeface="Calibri"/>
              </a:rPr>
              <a: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Ruta de la clase</a:t>
            </a:r>
          </a:p>
        </p:txBody>
      </p:sp>
      <p:sp>
        <p:nvSpPr>
          <p:cNvPr id="3" name="Rounded Rectangle 2"/>
          <p:cNvSpPr/>
          <p:nvPr/>
        </p:nvSpPr>
        <p:spPr>
          <a:xfrm>
            <a:off x="548640" y="1417320"/>
            <a:ext cx="2036003" cy="1745742"/>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500" b="1">
                <a:solidFill>
                  <a:srgbClr val="0F4C5C"/>
                </a:solidFill>
                <a:latin typeface="Cambria"/>
              </a:rPr>
              <a:t>1 · ¿Por qué fraccionar?</a:t>
            </a:r>
          </a:p>
          <a:p>
            <a:pPr algn="l"/>
            <a:r>
              <a:rPr sz="1300" b="0">
                <a:solidFill>
                  <a:srgbClr val="142B33"/>
                </a:solidFill>
                <a:latin typeface="Calibri"/>
              </a:rPr>
              <a:t>Cuántos efectos importan, qué se gana y qué se pierde</a:t>
            </a:r>
          </a:p>
        </p:txBody>
      </p:sp>
      <p:sp>
        <p:nvSpPr>
          <p:cNvPr id="4" name="Rounded Rectangle 3"/>
          <p:cNvSpPr/>
          <p:nvPr/>
        </p:nvSpPr>
        <p:spPr>
          <a:xfrm>
            <a:off x="2813243" y="1417320"/>
            <a:ext cx="2036003" cy="1745742"/>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500" b="1">
                <a:solidFill>
                  <a:srgbClr val="0F4C5C"/>
                </a:solidFill>
                <a:latin typeface="Cambria"/>
              </a:rPr>
              <a:t>2 · El caso más pequeño</a:t>
            </a:r>
          </a:p>
          <a:p>
            <a:pPr algn="l"/>
            <a:r>
              <a:rPr sz="1300" b="0">
                <a:solidFill>
                  <a:srgbClr val="142B33"/>
                </a:solidFill>
                <a:latin typeface="Calibri"/>
              </a:rPr>
              <a:t>El 2</a:t>
            </a:r>
            <a:r>
              <a:rPr sz="1300" b="0" baseline="30000">
                <a:solidFill>
                  <a:srgbClr val="142B33"/>
                </a:solidFill>
                <a:latin typeface="Calibri"/>
              </a:rPr>
              <a:t>3−1</a:t>
            </a:r>
            <a:r>
              <a:rPr sz="1300" b="0">
                <a:solidFill>
                  <a:srgbClr val="142B33"/>
                </a:solidFill>
                <a:latin typeface="Calibri"/>
              </a:rPr>
              <a:t>: contrastes, alias e interpretación</a:t>
            </a:r>
          </a:p>
        </p:txBody>
      </p:sp>
      <p:sp>
        <p:nvSpPr>
          <p:cNvPr id="5" name="Rounded Rectangle 4"/>
          <p:cNvSpPr/>
          <p:nvPr/>
        </p:nvSpPr>
        <p:spPr>
          <a:xfrm>
            <a:off x="5077846" y="1417320"/>
            <a:ext cx="2036003" cy="1745742"/>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500" b="1">
                <a:solidFill>
                  <a:srgbClr val="0F4C5C"/>
                </a:solidFill>
                <a:latin typeface="Cambria"/>
              </a:rPr>
              <a:t>3 · Resolución</a:t>
            </a:r>
          </a:p>
          <a:p>
            <a:pPr algn="l"/>
            <a:r>
              <a:rPr sz="1300" b="0">
                <a:solidFill>
                  <a:srgbClr val="142B33"/>
                </a:solidFill>
                <a:latin typeface="Calibri"/>
              </a:rPr>
              <a:t>Qué tan bien se estudian los efectos importantes</a:t>
            </a:r>
          </a:p>
        </p:txBody>
      </p:sp>
      <p:sp>
        <p:nvSpPr>
          <p:cNvPr id="6" name="Rounded Rectangle 5"/>
          <p:cNvSpPr/>
          <p:nvPr/>
        </p:nvSpPr>
        <p:spPr>
          <a:xfrm>
            <a:off x="7342449" y="1417320"/>
            <a:ext cx="2036003" cy="1745742"/>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500" b="1">
                <a:solidFill>
                  <a:srgbClr val="0F4C5C"/>
                </a:solidFill>
                <a:latin typeface="Cambria"/>
              </a:rPr>
              <a:t>4 · Fracción un medio</a:t>
            </a:r>
          </a:p>
          <a:p>
            <a:pPr algn="l"/>
            <a:r>
              <a:rPr sz="1300" b="0">
                <a:solidFill>
                  <a:srgbClr val="142B33"/>
                </a:solidFill>
                <a:latin typeface="Calibri"/>
              </a:rPr>
              <a:t>Construcción en dos pasos, proyección y ejemplos</a:t>
            </a:r>
          </a:p>
        </p:txBody>
      </p:sp>
      <p:sp>
        <p:nvSpPr>
          <p:cNvPr id="7" name="Rounded Rectangle 6"/>
          <p:cNvSpPr/>
          <p:nvPr/>
        </p:nvSpPr>
        <p:spPr>
          <a:xfrm>
            <a:off x="9607052" y="1417320"/>
            <a:ext cx="2036003" cy="1745742"/>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500" b="1">
                <a:solidFill>
                  <a:srgbClr val="0F4C5C"/>
                </a:solidFill>
                <a:latin typeface="Cambria"/>
              </a:rPr>
              <a:t>5 · Otra fracción aclara</a:t>
            </a:r>
          </a:p>
          <a:p>
            <a:pPr algn="l"/>
            <a:r>
              <a:rPr sz="1300" b="0">
                <a:solidFill>
                  <a:srgbClr val="142B33"/>
                </a:solidFill>
                <a:latin typeface="Calibri"/>
              </a:rPr>
              <a:t>Secuencias, fracción complementaria y confirmación</a:t>
            </a:r>
          </a:p>
        </p:txBody>
      </p:sp>
      <p:sp>
        <p:nvSpPr>
          <p:cNvPr id="8" name="Rounded Rectangle 7"/>
          <p:cNvSpPr/>
          <p:nvPr/>
        </p:nvSpPr>
        <p:spPr>
          <a:xfrm>
            <a:off x="548640" y="3391662"/>
            <a:ext cx="2036003" cy="1745742"/>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500" b="1">
                <a:solidFill>
                  <a:srgbClr val="0F4C5C"/>
                </a:solidFill>
                <a:latin typeface="Cambria"/>
              </a:rPr>
              <a:t>6 · Fracción un cuarto</a:t>
            </a:r>
          </a:p>
          <a:p>
            <a:pPr algn="l"/>
            <a:r>
              <a:rPr sz="1300" b="0">
                <a:solidFill>
                  <a:srgbClr val="142B33"/>
                </a:solidFill>
                <a:latin typeface="Calibri"/>
              </a:rPr>
              <a:t>Dos generadores, estructura de alias reducida, ejemplo</a:t>
            </a:r>
          </a:p>
        </p:txBody>
      </p:sp>
      <p:sp>
        <p:nvSpPr>
          <p:cNvPr id="9" name="Rounded Rectangle 8"/>
          <p:cNvSpPr/>
          <p:nvPr/>
        </p:nvSpPr>
        <p:spPr>
          <a:xfrm>
            <a:off x="2813243" y="3391662"/>
            <a:ext cx="2036003" cy="1745742"/>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500" b="1">
                <a:solidFill>
                  <a:srgbClr val="0F4C5C"/>
                </a:solidFill>
                <a:latin typeface="Cambria"/>
              </a:rPr>
              <a:t>7 · Caso general 2</a:t>
            </a:r>
            <a:r>
              <a:rPr sz="1500" b="1" baseline="30000">
                <a:solidFill>
                  <a:srgbClr val="0F4C5C"/>
                </a:solidFill>
                <a:latin typeface="Cambria"/>
              </a:rPr>
              <a:t>k−p</a:t>
            </a:r>
          </a:p>
          <a:p>
            <a:pPr algn="l"/>
            <a:r>
              <a:rPr sz="1300" b="0">
                <a:solidFill>
                  <a:srgbClr val="142B33"/>
                </a:solidFill>
                <a:latin typeface="Calibri"/>
              </a:rPr>
              <a:t>Generadores, análisis, supuestos y bloques</a:t>
            </a:r>
          </a:p>
        </p:txBody>
      </p:sp>
      <p:sp>
        <p:nvSpPr>
          <p:cNvPr id="10" name="Rounded Rectangle 9"/>
          <p:cNvSpPr/>
          <p:nvPr/>
        </p:nvSpPr>
        <p:spPr>
          <a:xfrm>
            <a:off x="5077846" y="3391662"/>
            <a:ext cx="2036003" cy="1745742"/>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500" b="1">
                <a:solidFill>
                  <a:srgbClr val="0F4C5C"/>
                </a:solidFill>
                <a:latin typeface="Cambria"/>
              </a:rPr>
              <a:t>8 · Resolución III</a:t>
            </a:r>
          </a:p>
          <a:p>
            <a:pPr algn="l"/>
            <a:r>
              <a:rPr sz="1300" b="0">
                <a:solidFill>
                  <a:srgbClr val="142B33"/>
                </a:solidFill>
                <a:latin typeface="Calibri"/>
              </a:rPr>
              <a:t>Vibración 2</a:t>
            </a:r>
            <a:r>
              <a:rPr sz="1300" b="0" baseline="30000">
                <a:solidFill>
                  <a:srgbClr val="142B33"/>
                </a:solidFill>
                <a:latin typeface="Calibri"/>
              </a:rPr>
              <a:t>7−4</a:t>
            </a:r>
            <a:r>
              <a:rPr sz="1300" b="0">
                <a:solidFill>
                  <a:srgbClr val="142B33"/>
                </a:solidFill>
                <a:latin typeface="Calibri"/>
              </a:rPr>
              <a:t>, doblez y Plackett-Burman</a:t>
            </a:r>
          </a:p>
        </p:txBody>
      </p:sp>
      <p:sp>
        <p:nvSpPr>
          <p:cNvPr id="11" name="Rounded Rectangle 10"/>
          <p:cNvSpPr/>
          <p:nvPr/>
        </p:nvSpPr>
        <p:spPr>
          <a:xfrm>
            <a:off x="7342449" y="3391662"/>
            <a:ext cx="2036003" cy="1745742"/>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500" b="1">
                <a:solidFill>
                  <a:srgbClr val="0F4C5C"/>
                </a:solidFill>
                <a:latin typeface="Cambria"/>
              </a:rPr>
              <a:t>9 · Resolución IV y V</a:t>
            </a:r>
          </a:p>
          <a:p>
            <a:pPr algn="l"/>
            <a:r>
              <a:rPr sz="1300" b="0">
                <a:solidFill>
                  <a:srgbClr val="142B33"/>
                </a:solidFill>
                <a:latin typeface="Calibri"/>
              </a:rPr>
              <a:t>Diseños mínimos y fracciones irregulares</a:t>
            </a:r>
          </a:p>
        </p:txBody>
      </p:sp>
      <p:sp>
        <p:nvSpPr>
          <p:cNvPr id="12" name="Rounded Rectangle 11"/>
          <p:cNvSpPr/>
          <p:nvPr/>
        </p:nvSpPr>
        <p:spPr>
          <a:xfrm>
            <a:off x="9607052" y="3391662"/>
            <a:ext cx="2036003" cy="1745742"/>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500" b="1">
                <a:solidFill>
                  <a:srgbClr val="0F4C5C"/>
                </a:solidFill>
                <a:latin typeface="Cambria"/>
              </a:rPr>
              <a:t>10 · Cierre</a:t>
            </a:r>
          </a:p>
          <a:p>
            <a:pPr algn="l"/>
            <a:r>
              <a:rPr sz="1300" b="0">
                <a:solidFill>
                  <a:srgbClr val="142B33"/>
                </a:solidFill>
                <a:latin typeface="Calibri"/>
              </a:rPr>
              <a:t>Ideas clave y errores frecuentes</a:t>
            </a:r>
          </a:p>
        </p:txBody>
      </p:sp>
      <p:sp>
        <p:nvSpPr>
          <p:cNvPr id="13" name="TextBox 12"/>
          <p:cNvSpPr txBox="1"/>
          <p:nvPr/>
        </p:nvSpPr>
        <p:spPr>
          <a:xfrm>
            <a:off x="548640" y="5338572"/>
            <a:ext cx="11094415" cy="470407"/>
          </a:xfrm>
          <a:prstGeom prst="rect">
            <a:avLst/>
          </a:prstGeom>
          <a:noFill/>
        </p:spPr>
        <p:txBody>
          <a:bodyPr wrap="square" anchor="t" lIns="0" rIns="0" tIns="0" bIns="0">
            <a:spAutoFit/>
          </a:bodyPr>
          <a:lstStyle/>
          <a:p>
            <a:r>
              <a:rPr sz="1400" b="0">
                <a:solidFill>
                  <a:srgbClr val="5B6B73"/>
                </a:solidFill>
                <a:latin typeface="Calibri"/>
              </a:rPr>
              <a:t>Orden y explicaciones: </a:t>
            </a:r>
            <a:r>
              <a:rPr sz="1400" b="1">
                <a:solidFill>
                  <a:srgbClr val="5B6B73"/>
                </a:solidFill>
                <a:latin typeface="Calibri"/>
              </a:rPr>
              <a:t>Gutiérrez–De la Vara</a:t>
            </a:r>
            <a:r>
              <a:rPr sz="1400" b="0">
                <a:solidFill>
                  <a:srgbClr val="5B6B73"/>
                </a:solidFill>
                <a:latin typeface="Calibri"/>
              </a:rPr>
              <a:t>, cap. 8.  Terminología y temas adicionales: </a:t>
            </a:r>
            <a:r>
              <a:rPr sz="1400" b="1">
                <a:solidFill>
                  <a:srgbClr val="5B6B73"/>
                </a:solidFill>
                <a:latin typeface="Calibri"/>
              </a:rPr>
              <a:t>Montgomery</a:t>
            </a:r>
            <a:r>
              <a:rPr sz="1400" b="0">
                <a:solidFill>
                  <a:srgbClr val="5B6B73"/>
                </a:solidFill>
                <a:latin typeface="Calibri"/>
              </a:rPr>
              <a:t>, cap. 8.  Ejemplos: de ambos libros</a:t>
            </a:r>
          </a:p>
        </p:txBody>
      </p:sp>
      <p:sp>
        <p:nvSpPr>
          <p:cNvPr id="14" name="TextBox 13"/>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a:t>
            </a:r>
          </a:p>
        </p:txBody>
      </p:sp>
      <p:sp>
        <p:nvSpPr>
          <p:cNvPr id="15" name="TextBox 14"/>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2</a:t>
            </a:r>
          </a:p>
        </p:txBody>
      </p:sp>
      <p:sp>
        <p:nvSpPr>
          <p:cNvPr id="16" name="Rounded Rectangle 15"/>
          <p:cNvSpPr/>
          <p:nvPr/>
        </p:nvSpPr>
        <p:spPr>
          <a:xfrm>
            <a:off x="548640" y="91440"/>
            <a:ext cx="1344168"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Introducción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4C5C"/>
        </a:solidFill>
        <a:effectLst/>
      </p:bgPr>
    </p:bg>
    <p:spTree>
      <p:nvGrpSpPr>
        <p:cNvPr id="1" name=""/>
        <p:cNvGrpSpPr/>
        <p:nvPr/>
      </p:nvGrpSpPr>
      <p:grpSpPr/>
      <p:sp>
        <p:nvSpPr>
          <p:cNvPr id="2" name="Title 1"/>
          <p:cNvSpPr>
            <a:spLocks noGrp="1"/>
          </p:cNvSpPr>
          <p:nvPr>
            <p:ph type="title"/>
          </p:nvPr>
        </p:nvSpPr>
        <p:spPr>
          <a:xfrm>
            <a:off x="548640" y="3383280"/>
            <a:ext cx="11094415" cy="914400"/>
          </a:xfrm>
        </p:spPr>
        <p:txBody>
          <a:bodyPr wrap="square" anchor="t" lIns="0" rIns="0" tIns="0" bIns="0"/>
          <a:lstStyle/>
          <a:p>
            <a:pPr algn="l"/>
            <a:r>
              <a:rPr sz="4400" b="1">
                <a:solidFill>
                  <a:srgbClr val="FFFFFF"/>
                </a:solidFill>
                <a:latin typeface="Cambria"/>
              </a:rPr>
              <a:t>¿Por qué fraccionar?</a:t>
            </a:r>
          </a:p>
        </p:txBody>
      </p:sp>
      <p:sp>
        <p:nvSpPr>
          <p:cNvPr id="3" name="Oval 2"/>
          <p:cNvSpPr/>
          <p:nvPr/>
        </p:nvSpPr>
        <p:spPr>
          <a:xfrm>
            <a:off x="548640" y="2011680"/>
            <a:ext cx="1188720" cy="1188720"/>
          </a:xfrm>
          <a:prstGeom prst="ellipse">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FFFFFF"/>
                </a:solidFill>
                <a:latin typeface="Cambria"/>
              </a:rPr>
              <a:t>1</a:t>
            </a:r>
          </a:p>
        </p:txBody>
      </p:sp>
      <p:sp>
        <p:nvSpPr>
          <p:cNvPr id="4" name="TextBox 3"/>
          <p:cNvSpPr txBox="1"/>
          <p:nvPr/>
        </p:nvSpPr>
        <p:spPr>
          <a:xfrm>
            <a:off x="548640" y="4343400"/>
            <a:ext cx="11094415" cy="548640"/>
          </a:xfrm>
          <a:prstGeom prst="rect">
            <a:avLst/>
          </a:prstGeom>
          <a:noFill/>
        </p:spPr>
        <p:txBody>
          <a:bodyPr wrap="square" anchor="t" lIns="0" rIns="0" tIns="0" bIns="0">
            <a:spAutoFit/>
          </a:bodyPr>
          <a:lstStyle/>
          <a:p>
            <a:r>
              <a:rPr sz="2000" b="0">
                <a:solidFill>
                  <a:srgbClr val="CFE3E8"/>
                </a:solidFill>
                <a:latin typeface="Calibri"/>
              </a:rPr>
              <a:t>Cuántos efectos importan, qué se gana y qué se pierde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¿Qué problema resuelven los factoriales fraccionados?</a:t>
            </a:r>
          </a:p>
        </p:txBody>
      </p:sp>
      <p:sp>
        <p:nvSpPr>
          <p:cNvPr id="3" name="TextBox 2"/>
          <p:cNvSpPr txBox="1"/>
          <p:nvPr/>
        </p:nvSpPr>
        <p:spPr>
          <a:xfrm>
            <a:off x="548640" y="1417320"/>
            <a:ext cx="5341467" cy="2560320"/>
          </a:xfrm>
          <a:prstGeom prst="rect">
            <a:avLst/>
          </a:prstGeom>
          <a:noFill/>
        </p:spPr>
        <p:txBody>
          <a:bodyPr wrap="square" anchor="t" lIns="0" rIns="0" tIns="0" bIns="0">
            <a:spAutoFit/>
          </a:bodyPr>
          <a:lstStyle/>
          <a:p>
            <a:pPr marL="320040" indent="-320040">
              <a:spcAft>
                <a:spcPts val="600"/>
              </a:spcAft>
              <a:buClr>
                <a:srgbClr val="E36414"/>
              </a:buClr>
              <a:buFont typeface="Arial"/>
              <a:buChar char="•"/>
            </a:pPr>
            <a:r>
              <a:rPr sz="1800" b="0">
                <a:solidFill>
                  <a:srgbClr val="142B33"/>
                </a:solidFill>
                <a:latin typeface="Calibri"/>
              </a:rPr>
              <a:t>En un 2</a:t>
            </a:r>
            <a:r>
              <a:rPr sz="1800" b="0" baseline="30000">
                <a:solidFill>
                  <a:srgbClr val="142B33"/>
                </a:solidFill>
                <a:latin typeface="Calibri"/>
              </a:rPr>
              <a:t>k</a:t>
            </a:r>
            <a:r>
              <a:rPr sz="1800" b="0">
                <a:solidFill>
                  <a:srgbClr val="142B33"/>
                </a:solidFill>
                <a:latin typeface="Calibri"/>
              </a:rPr>
              <a:t> completo las corridas </a:t>
            </a:r>
            <a:r>
              <a:rPr sz="1800" b="1">
                <a:solidFill>
                  <a:srgbClr val="142B33"/>
                </a:solidFill>
                <a:latin typeface="Calibri"/>
              </a:rPr>
              <a:t>se duplican</a:t>
            </a:r>
            <a:r>
              <a:rPr sz="1800" b="0">
                <a:solidFill>
                  <a:srgbClr val="142B33"/>
                </a:solidFill>
                <a:latin typeface="Calibri"/>
              </a:rPr>
              <a:t> con cada factor nuevo</a:t>
            </a:r>
          </a:p>
          <a:p>
            <a:pPr marL="320040" indent="-320040">
              <a:spcAft>
                <a:spcPts val="600"/>
              </a:spcAft>
              <a:buClr>
                <a:srgbClr val="E36414"/>
              </a:buClr>
              <a:buFont typeface="Arial"/>
              <a:buChar char="•"/>
            </a:pPr>
            <a:r>
              <a:rPr sz="1800" b="0">
                <a:solidFill>
                  <a:srgbClr val="142B33"/>
                </a:solidFill>
                <a:latin typeface="Calibri"/>
              </a:rPr>
              <a:t>Con muchos factores el experimento completo es inviable en tiempo y costo</a:t>
            </a:r>
          </a:p>
          <a:p>
            <a:pPr marL="320040" indent="-320040">
              <a:spcAft>
                <a:spcPts val="600"/>
              </a:spcAft>
              <a:buClr>
                <a:srgbClr val="E36414"/>
              </a:buClr>
              <a:buFont typeface="Arial"/>
              <a:buChar char="•"/>
            </a:pPr>
            <a:r>
              <a:rPr sz="1800" b="0">
                <a:solidFill>
                  <a:srgbClr val="142B33"/>
                </a:solidFill>
                <a:latin typeface="Calibri"/>
              </a:rPr>
              <a:t>El fraccionado corre </a:t>
            </a:r>
            <a:r>
              <a:rPr sz="1800" b="1">
                <a:solidFill>
                  <a:srgbClr val="142B33"/>
                </a:solidFill>
                <a:latin typeface="Calibri"/>
              </a:rPr>
              <a:t>solo una fracción</a:t>
            </a:r>
            <a:r>
              <a:rPr sz="1800" b="0">
                <a:solidFill>
                  <a:srgbClr val="142B33"/>
                </a:solidFill>
                <a:latin typeface="Calibri"/>
              </a:rPr>
              <a:t> de los tratamientos, elegida con criterio</a:t>
            </a:r>
          </a:p>
          <a:p>
            <a:pPr marL="320040" indent="-320040">
              <a:spcAft>
                <a:spcPts val="600"/>
              </a:spcAft>
              <a:buClr>
                <a:srgbClr val="E36414"/>
              </a:buClr>
              <a:buFont typeface="Arial"/>
              <a:buChar char="•"/>
            </a:pPr>
            <a:r>
              <a:rPr sz="1800" b="0">
                <a:solidFill>
                  <a:srgbClr val="142B33"/>
                </a:solidFill>
                <a:latin typeface="Calibri"/>
              </a:rPr>
              <a:t>Uso principal: </a:t>
            </a:r>
            <a:r>
              <a:rPr sz="1800" b="1">
                <a:solidFill>
                  <a:srgbClr val="142B33"/>
                </a:solidFill>
                <a:latin typeface="Calibri"/>
              </a:rPr>
              <a:t>tamizado</a:t>
            </a:r>
            <a:r>
              <a:rPr sz="1800" b="0">
                <a:solidFill>
                  <a:srgbClr val="142B33"/>
                </a:solidFill>
                <a:latin typeface="Calibri"/>
              </a:rPr>
              <a:t> (screening) de factores en etapas tempranas</a:t>
            </a:r>
          </a:p>
        </p:txBody>
      </p:sp>
      <p:sp>
        <p:nvSpPr>
          <p:cNvPr id="4" name="Rounded Rectangle 3"/>
          <p:cNvSpPr/>
          <p:nvPr/>
        </p:nvSpPr>
        <p:spPr>
          <a:xfrm>
            <a:off x="548640" y="4178808"/>
            <a:ext cx="5341467" cy="770128"/>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600" b="0">
                <a:solidFill>
                  <a:srgbClr val="142B33"/>
                </a:solidFill>
                <a:latin typeface="Calibri"/>
              </a:rPr>
              <a:t>Objetivo: </a:t>
            </a:r>
            <a:r>
              <a:rPr sz="1600" b="1">
                <a:solidFill>
                  <a:srgbClr val="142B33"/>
                </a:solidFill>
                <a:latin typeface="Calibri"/>
              </a:rPr>
              <a:t>reducir mucho las corridas</a:t>
            </a:r>
            <a:r>
              <a:rPr sz="1600" b="0">
                <a:solidFill>
                  <a:srgbClr val="142B33"/>
                </a:solidFill>
                <a:latin typeface="Calibri"/>
              </a:rPr>
              <a:t> perdiendo </a:t>
            </a:r>
            <a:r>
              <a:rPr sz="1600" b="1">
                <a:solidFill>
                  <a:srgbClr val="142B33"/>
                </a:solidFill>
                <a:latin typeface="Calibri"/>
              </a:rPr>
              <a:t>el mínimo de información valiosa</a:t>
            </a:r>
          </a:p>
        </p:txBody>
      </p:sp>
      <p:graphicFrame>
        <p:nvGraphicFramePr>
          <p:cNvPr id="5" name="Chart 4"/>
          <p:cNvGraphicFramePr>
            <a:graphicFrameLocks noGrp="1"/>
          </p:cNvGraphicFramePr>
          <p:nvPr/>
        </p:nvGraphicFramePr>
        <p:xfrm>
          <a:off x="6301587" y="1417320"/>
          <a:ext cx="5341467" cy="4206240"/>
        </p:xfrm>
        <a:graphic>
          <a:graphicData uri="http://schemas.openxmlformats.org/drawingml/2006/chart">
            <c:chart xmlns:c="http://schemas.openxmlformats.org/drawingml/2006/chart" r:id="rId2"/>
          </a:graphicData>
        </a:graphic>
      </p:graphicFrame>
      <p:sp>
        <p:nvSpPr>
          <p:cNvPr id="6" name="TextBox 5"/>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¿Por qué fraccionar?</a:t>
            </a:r>
          </a:p>
        </p:txBody>
      </p:sp>
      <p:sp>
        <p:nvSpPr>
          <p:cNvPr id="7" name="TextBox 6"/>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4</a:t>
            </a:r>
          </a:p>
        </p:txBody>
      </p:sp>
      <p:sp>
        <p:nvSpPr>
          <p:cNvPr id="8" name="Rounded Rectangle 7"/>
          <p:cNvSpPr/>
          <p:nvPr/>
        </p:nvSpPr>
        <p:spPr>
          <a:xfrm>
            <a:off x="548640" y="91440"/>
            <a:ext cx="266547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1 · ¿Por qué fraccionar?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¿Cuántos efectos importan realmente?</a:t>
            </a:r>
          </a:p>
        </p:txBody>
      </p:sp>
      <p:graphicFrame>
        <p:nvGraphicFramePr>
          <p:cNvPr id="3" name="Table 2"/>
          <p:cNvGraphicFramePr>
            <a:graphicFrameLocks noGrp="1"/>
          </p:cNvGraphicFramePr>
          <p:nvPr/>
        </p:nvGraphicFramePr>
        <p:xfrm>
          <a:off x="548640" y="1417320"/>
          <a:ext cx="5875612" cy="3063239"/>
        </p:xfrm>
        <a:graphic>
          <a:graphicData uri="http://schemas.openxmlformats.org/drawingml/2006/table">
            <a:tbl>
              <a:tblPr firstRow="0" bandRow="0">
                <a:tableStyleId>{5C22544A-7EE6-4342-B048-85BDC9FD1C3A}</a:tableStyleId>
              </a:tblPr>
              <a:tblGrid>
                <a:gridCol w="940098"/>
                <a:gridCol w="1175122"/>
                <a:gridCol w="1997708"/>
                <a:gridCol w="1762684"/>
              </a:tblGrid>
              <a:tr h="862583">
                <a:tc>
                  <a:txBody>
                    <a:bodyPr/>
                    <a:lstStyle/>
                    <a:p>
                      <a:pPr algn="ctr"/>
                      <a:r>
                        <a:rPr sz="1600" b="1">
                          <a:solidFill>
                            <a:srgbClr val="FFFFFF"/>
                          </a:solidFill>
                          <a:latin typeface="Calibri"/>
                        </a:rPr>
                        <a:t>Diseño</a:t>
                      </a:r>
                    </a:p>
                  </a:txBody>
                  <a:tcPr marL="73152" marR="73152" marT="27432" marB="27432" anchor="ctr">
                    <a:solidFill>
                      <a:srgbClr val="0F4C5C"/>
                    </a:solidFill>
                  </a:tcPr>
                </a:tc>
                <a:tc>
                  <a:txBody>
                    <a:bodyPr/>
                    <a:lstStyle/>
                    <a:p>
                      <a:pPr algn="ctr"/>
                      <a:r>
                        <a:rPr sz="1600" b="1">
                          <a:solidFill>
                            <a:srgbClr val="FFFFFF"/>
                          </a:solidFill>
                          <a:latin typeface="Calibri"/>
                        </a:rPr>
                        <a:t>Efectos totales</a:t>
                      </a:r>
                    </a:p>
                  </a:txBody>
                  <a:tcPr marL="73152" marR="73152" marT="27432" marB="27432" anchor="ctr">
                    <a:solidFill>
                      <a:srgbClr val="0F4C5C"/>
                    </a:solidFill>
                  </a:tcPr>
                </a:tc>
                <a:tc>
                  <a:txBody>
                    <a:bodyPr/>
                    <a:lstStyle/>
                    <a:p>
                      <a:pPr algn="ctr"/>
                      <a:r>
                        <a:rPr sz="1600" b="1">
                          <a:solidFill>
                            <a:srgbClr val="FFFFFF"/>
                          </a:solidFill>
                          <a:latin typeface="Calibri"/>
                        </a:rPr>
                        <a:t>No ignorables (principales + dobles)</a:t>
                      </a:r>
                    </a:p>
                  </a:txBody>
                  <a:tcPr marL="73152" marR="73152" marT="27432" marB="27432" anchor="ctr">
                    <a:solidFill>
                      <a:srgbClr val="0F4C5C"/>
                    </a:solidFill>
                  </a:tcPr>
                </a:tc>
                <a:tc>
                  <a:txBody>
                    <a:bodyPr/>
                    <a:lstStyle/>
                    <a:p>
                      <a:pPr algn="ctr"/>
                      <a:r>
                        <a:rPr sz="1600" b="1">
                          <a:solidFill>
                            <a:srgbClr val="FFFFFF"/>
                          </a:solidFill>
                          <a:latin typeface="Calibri"/>
                        </a:rPr>
                        <a:t>Ignorables (triples o más)</a:t>
                      </a:r>
                    </a:p>
                  </a:txBody>
                  <a:tcPr marL="73152" marR="73152" marT="27432" marB="27432" anchor="ctr">
                    <a:solidFill>
                      <a:srgbClr val="0F4C5C"/>
                    </a:solidFill>
                  </a:tcPr>
                </a:tc>
              </a:tr>
              <a:tr h="366776">
                <a:tc>
                  <a:txBody>
                    <a:bodyPr/>
                    <a:lstStyle/>
                    <a:p>
                      <a:pPr algn="ctr"/>
                      <a:r>
                        <a:rPr sz="1600" b="0">
                          <a:solidFill>
                            <a:srgbClr val="142B33"/>
                          </a:solidFill>
                          <a:latin typeface="Calibri"/>
                        </a:rPr>
                        <a:t>2</a:t>
                      </a:r>
                      <a:r>
                        <a:rPr sz="1600" b="0" baseline="30000">
                          <a:solidFill>
                            <a:srgbClr val="142B33"/>
                          </a:solidFill>
                          <a:latin typeface="Calibri"/>
                        </a:rPr>
                        <a:t>2</a:t>
                      </a:r>
                    </a:p>
                  </a:txBody>
                  <a:tcPr marL="73152" marR="73152" marT="27432" marB="27432" anchor="ctr">
                    <a:solidFill>
                      <a:srgbClr val="FFFFFF"/>
                    </a:solidFill>
                  </a:tcPr>
                </a:tc>
                <a:tc>
                  <a:txBody>
                    <a:bodyPr/>
                    <a:lstStyle/>
                    <a:p>
                      <a:pPr algn="ctr"/>
                      <a:r>
                        <a:rPr sz="1600" b="0">
                          <a:solidFill>
                            <a:srgbClr val="142B33"/>
                          </a:solidFill>
                          <a:latin typeface="Calibri"/>
                        </a:rPr>
                        <a:t>3</a:t>
                      </a:r>
                    </a:p>
                  </a:txBody>
                  <a:tcPr marL="73152" marR="73152" marT="27432" marB="27432" anchor="ctr">
                    <a:solidFill>
                      <a:srgbClr val="FFFFFF"/>
                    </a:solidFill>
                  </a:tcPr>
                </a:tc>
                <a:tc>
                  <a:txBody>
                    <a:bodyPr/>
                    <a:lstStyle/>
                    <a:p>
                      <a:pPr algn="ctr"/>
                      <a:r>
                        <a:rPr sz="1600" b="0">
                          <a:solidFill>
                            <a:srgbClr val="142B33"/>
                          </a:solidFill>
                          <a:latin typeface="Calibri"/>
                        </a:rPr>
                        <a:t>3</a:t>
                      </a:r>
                    </a:p>
                  </a:txBody>
                  <a:tcPr marL="73152" marR="73152" marT="27432" marB="27432" anchor="ctr">
                    <a:solidFill>
                      <a:srgbClr val="FFFFFF"/>
                    </a:solidFill>
                  </a:tcPr>
                </a:tc>
                <a:tc>
                  <a:txBody>
                    <a:bodyPr/>
                    <a:lstStyle/>
                    <a:p>
                      <a:pPr algn="ctr"/>
                      <a:r>
                        <a:rPr sz="1600" b="0">
                          <a:solidFill>
                            <a:srgbClr val="142B33"/>
                          </a:solidFill>
                          <a:latin typeface="Calibri"/>
                        </a:rPr>
                        <a:t>0</a:t>
                      </a:r>
                    </a:p>
                  </a:txBody>
                  <a:tcPr marL="73152" marR="73152" marT="27432" marB="27432" anchor="ctr">
                    <a:solidFill>
                      <a:srgbClr val="FFFFFF"/>
                    </a:solidFill>
                  </a:tcPr>
                </a:tc>
              </a:tr>
              <a:tr h="366776">
                <a:tc>
                  <a:txBody>
                    <a:bodyPr/>
                    <a:lstStyle/>
                    <a:p>
                      <a:pPr algn="ctr"/>
                      <a:r>
                        <a:rPr sz="1600" b="0">
                          <a:solidFill>
                            <a:srgbClr val="142B33"/>
                          </a:solidFill>
                          <a:latin typeface="Calibri"/>
                        </a:rPr>
                        <a:t>2</a:t>
                      </a:r>
                      <a:r>
                        <a:rPr sz="1600" b="0" baseline="30000">
                          <a:solidFill>
                            <a:srgbClr val="142B33"/>
                          </a:solidFill>
                          <a:latin typeface="Calibri"/>
                        </a:rPr>
                        <a:t>3</a:t>
                      </a:r>
                    </a:p>
                  </a:txBody>
                  <a:tcPr marL="73152" marR="73152" marT="27432" marB="27432" anchor="ctr">
                    <a:solidFill>
                      <a:srgbClr val="F4F8F9"/>
                    </a:solidFill>
                  </a:tcPr>
                </a:tc>
                <a:tc>
                  <a:txBody>
                    <a:bodyPr/>
                    <a:lstStyle/>
                    <a:p>
                      <a:pPr algn="ctr"/>
                      <a:r>
                        <a:rPr sz="1600" b="0">
                          <a:solidFill>
                            <a:srgbClr val="142B33"/>
                          </a:solidFill>
                          <a:latin typeface="Calibri"/>
                        </a:rPr>
                        <a:t>7</a:t>
                      </a:r>
                    </a:p>
                  </a:txBody>
                  <a:tcPr marL="73152" marR="73152" marT="27432" marB="27432" anchor="ctr">
                    <a:solidFill>
                      <a:srgbClr val="F4F8F9"/>
                    </a:solidFill>
                  </a:tcPr>
                </a:tc>
                <a:tc>
                  <a:txBody>
                    <a:bodyPr/>
                    <a:lstStyle/>
                    <a:p>
                      <a:pPr algn="ctr"/>
                      <a:r>
                        <a:rPr sz="1600" b="0">
                          <a:solidFill>
                            <a:srgbClr val="142B33"/>
                          </a:solidFill>
                          <a:latin typeface="Calibri"/>
                        </a:rPr>
                        <a:t>6</a:t>
                      </a:r>
                    </a:p>
                  </a:txBody>
                  <a:tcPr marL="73152" marR="73152" marT="27432" marB="27432" anchor="ctr">
                    <a:solidFill>
                      <a:srgbClr val="F4F8F9"/>
                    </a:solidFill>
                  </a:tcPr>
                </a:tc>
                <a:tc>
                  <a:txBody>
                    <a:bodyPr/>
                    <a:lstStyle/>
                    <a:p>
                      <a:pPr algn="ctr"/>
                      <a:r>
                        <a:rPr sz="1600" b="0">
                          <a:solidFill>
                            <a:srgbClr val="142B33"/>
                          </a:solidFill>
                          <a:latin typeface="Calibri"/>
                        </a:rPr>
                        <a:t>1</a:t>
                      </a:r>
                    </a:p>
                  </a:txBody>
                  <a:tcPr marL="73152" marR="73152" marT="27432" marB="27432" anchor="ctr">
                    <a:solidFill>
                      <a:srgbClr val="F4F8F9"/>
                    </a:solidFill>
                  </a:tcPr>
                </a:tc>
              </a:tr>
              <a:tr h="366776">
                <a:tc>
                  <a:txBody>
                    <a:bodyPr/>
                    <a:lstStyle/>
                    <a:p>
                      <a:pPr algn="ctr"/>
                      <a:r>
                        <a:rPr sz="1600" b="0">
                          <a:solidFill>
                            <a:srgbClr val="142B33"/>
                          </a:solidFill>
                          <a:latin typeface="Calibri"/>
                        </a:rPr>
                        <a:t>2</a:t>
                      </a:r>
                      <a:r>
                        <a:rPr sz="1600" b="0" baseline="30000">
                          <a:solidFill>
                            <a:srgbClr val="142B33"/>
                          </a:solidFill>
                          <a:latin typeface="Calibri"/>
                        </a:rPr>
                        <a:t>4</a:t>
                      </a:r>
                    </a:p>
                  </a:txBody>
                  <a:tcPr marL="73152" marR="73152" marT="27432" marB="27432" anchor="ctr">
                    <a:solidFill>
                      <a:srgbClr val="FFFFFF"/>
                    </a:solidFill>
                  </a:tcPr>
                </a:tc>
                <a:tc>
                  <a:txBody>
                    <a:bodyPr/>
                    <a:lstStyle/>
                    <a:p>
                      <a:pPr algn="ctr"/>
                      <a:r>
                        <a:rPr sz="1600" b="0">
                          <a:solidFill>
                            <a:srgbClr val="142B33"/>
                          </a:solidFill>
                          <a:latin typeface="Calibri"/>
                        </a:rPr>
                        <a:t>15</a:t>
                      </a:r>
                    </a:p>
                  </a:txBody>
                  <a:tcPr marL="73152" marR="73152" marT="27432" marB="27432" anchor="ctr">
                    <a:solidFill>
                      <a:srgbClr val="FFFFFF"/>
                    </a:solidFill>
                  </a:tcPr>
                </a:tc>
                <a:tc>
                  <a:txBody>
                    <a:bodyPr/>
                    <a:lstStyle/>
                    <a:p>
                      <a:pPr algn="ctr"/>
                      <a:r>
                        <a:rPr sz="1600" b="0">
                          <a:solidFill>
                            <a:srgbClr val="142B33"/>
                          </a:solidFill>
                          <a:latin typeface="Calibri"/>
                        </a:rPr>
                        <a:t>10</a:t>
                      </a:r>
                    </a:p>
                  </a:txBody>
                  <a:tcPr marL="73152" marR="73152" marT="27432" marB="27432" anchor="ctr">
                    <a:solidFill>
                      <a:srgbClr val="FFFFFF"/>
                    </a:solidFill>
                  </a:tcPr>
                </a:tc>
                <a:tc>
                  <a:txBody>
                    <a:bodyPr/>
                    <a:lstStyle/>
                    <a:p>
                      <a:pPr algn="ctr"/>
                      <a:r>
                        <a:rPr sz="1600" b="0">
                          <a:solidFill>
                            <a:srgbClr val="142B33"/>
                          </a:solidFill>
                          <a:latin typeface="Calibri"/>
                        </a:rPr>
                        <a:t>5</a:t>
                      </a:r>
                    </a:p>
                  </a:txBody>
                  <a:tcPr marL="73152" marR="73152" marT="27432" marB="27432" anchor="ctr">
                    <a:solidFill>
                      <a:srgbClr val="FFFFFF"/>
                    </a:solidFill>
                  </a:tcPr>
                </a:tc>
              </a:tr>
              <a:tr h="366776">
                <a:tc>
                  <a:txBody>
                    <a:bodyPr/>
                    <a:lstStyle/>
                    <a:p>
                      <a:pPr algn="ctr"/>
                      <a:r>
                        <a:rPr sz="1600" b="0">
                          <a:solidFill>
                            <a:srgbClr val="142B33"/>
                          </a:solidFill>
                          <a:latin typeface="Calibri"/>
                        </a:rPr>
                        <a:t>2</a:t>
                      </a:r>
                      <a:r>
                        <a:rPr sz="1600" b="0" baseline="30000">
                          <a:solidFill>
                            <a:srgbClr val="142B33"/>
                          </a:solidFill>
                          <a:latin typeface="Calibri"/>
                        </a:rPr>
                        <a:t>5</a:t>
                      </a:r>
                    </a:p>
                  </a:txBody>
                  <a:tcPr marL="73152" marR="73152" marT="27432" marB="27432" anchor="ctr">
                    <a:solidFill>
                      <a:srgbClr val="FDE8D7"/>
                    </a:solidFill>
                  </a:tcPr>
                </a:tc>
                <a:tc>
                  <a:txBody>
                    <a:bodyPr/>
                    <a:lstStyle/>
                    <a:p>
                      <a:pPr algn="ctr"/>
                      <a:r>
                        <a:rPr sz="1600" b="0">
                          <a:solidFill>
                            <a:srgbClr val="142B33"/>
                          </a:solidFill>
                          <a:latin typeface="Calibri"/>
                        </a:rPr>
                        <a:t>31</a:t>
                      </a:r>
                    </a:p>
                  </a:txBody>
                  <a:tcPr marL="73152" marR="73152" marT="27432" marB="27432" anchor="ctr">
                    <a:solidFill>
                      <a:srgbClr val="FDE8D7"/>
                    </a:solidFill>
                  </a:tcPr>
                </a:tc>
                <a:tc>
                  <a:txBody>
                    <a:bodyPr/>
                    <a:lstStyle/>
                    <a:p>
                      <a:pPr algn="ctr"/>
                      <a:r>
                        <a:rPr sz="1600" b="0">
                          <a:solidFill>
                            <a:srgbClr val="142B33"/>
                          </a:solidFill>
                          <a:latin typeface="Calibri"/>
                        </a:rPr>
                        <a:t>15</a:t>
                      </a:r>
                    </a:p>
                  </a:txBody>
                  <a:tcPr marL="73152" marR="73152" marT="27432" marB="27432" anchor="ctr">
                    <a:solidFill>
                      <a:srgbClr val="FDE8D7"/>
                    </a:solidFill>
                  </a:tcPr>
                </a:tc>
                <a:tc>
                  <a:txBody>
                    <a:bodyPr/>
                    <a:lstStyle/>
                    <a:p>
                      <a:pPr algn="ctr"/>
                      <a:r>
                        <a:rPr sz="1600" b="0">
                          <a:solidFill>
                            <a:srgbClr val="142B33"/>
                          </a:solidFill>
                          <a:latin typeface="Calibri"/>
                        </a:rPr>
                        <a:t>16</a:t>
                      </a:r>
                    </a:p>
                  </a:txBody>
                  <a:tcPr marL="73152" marR="73152" marT="27432" marB="27432" anchor="ctr">
                    <a:solidFill>
                      <a:srgbClr val="FDE8D7"/>
                    </a:solidFill>
                  </a:tcPr>
                </a:tc>
              </a:tr>
              <a:tr h="366776">
                <a:tc>
                  <a:txBody>
                    <a:bodyPr/>
                    <a:lstStyle/>
                    <a:p>
                      <a:pPr algn="ctr"/>
                      <a:r>
                        <a:rPr sz="1600" b="0">
                          <a:solidFill>
                            <a:srgbClr val="142B33"/>
                          </a:solidFill>
                          <a:latin typeface="Calibri"/>
                        </a:rPr>
                        <a:t>2</a:t>
                      </a:r>
                      <a:r>
                        <a:rPr sz="1600" b="0" baseline="30000">
                          <a:solidFill>
                            <a:srgbClr val="142B33"/>
                          </a:solidFill>
                          <a:latin typeface="Calibri"/>
                        </a:rPr>
                        <a:t>6</a:t>
                      </a:r>
                    </a:p>
                  </a:txBody>
                  <a:tcPr marL="73152" marR="73152" marT="27432" marB="27432" anchor="ctr">
                    <a:solidFill>
                      <a:srgbClr val="FDE8D7"/>
                    </a:solidFill>
                  </a:tcPr>
                </a:tc>
                <a:tc>
                  <a:txBody>
                    <a:bodyPr/>
                    <a:lstStyle/>
                    <a:p>
                      <a:pPr algn="ctr"/>
                      <a:r>
                        <a:rPr sz="1600" b="0">
                          <a:solidFill>
                            <a:srgbClr val="142B33"/>
                          </a:solidFill>
                          <a:latin typeface="Calibri"/>
                        </a:rPr>
                        <a:t>63</a:t>
                      </a:r>
                    </a:p>
                  </a:txBody>
                  <a:tcPr marL="73152" marR="73152" marT="27432" marB="27432" anchor="ctr">
                    <a:solidFill>
                      <a:srgbClr val="FDE8D7"/>
                    </a:solidFill>
                  </a:tcPr>
                </a:tc>
                <a:tc>
                  <a:txBody>
                    <a:bodyPr/>
                    <a:lstStyle/>
                    <a:p>
                      <a:pPr algn="ctr"/>
                      <a:r>
                        <a:rPr sz="1600" b="0">
                          <a:solidFill>
                            <a:srgbClr val="142B33"/>
                          </a:solidFill>
                          <a:latin typeface="Calibri"/>
                        </a:rPr>
                        <a:t>21</a:t>
                      </a:r>
                    </a:p>
                  </a:txBody>
                  <a:tcPr marL="73152" marR="73152" marT="27432" marB="27432" anchor="ctr">
                    <a:solidFill>
                      <a:srgbClr val="FDE8D7"/>
                    </a:solidFill>
                  </a:tcPr>
                </a:tc>
                <a:tc>
                  <a:txBody>
                    <a:bodyPr/>
                    <a:lstStyle/>
                    <a:p>
                      <a:pPr algn="ctr"/>
                      <a:r>
                        <a:rPr sz="1600" b="0">
                          <a:solidFill>
                            <a:srgbClr val="142B33"/>
                          </a:solidFill>
                          <a:latin typeface="Calibri"/>
                        </a:rPr>
                        <a:t>42</a:t>
                      </a:r>
                    </a:p>
                  </a:txBody>
                  <a:tcPr marL="73152" marR="73152" marT="27432" marB="27432" anchor="ctr">
                    <a:solidFill>
                      <a:srgbClr val="FDE8D7"/>
                    </a:solidFill>
                  </a:tcPr>
                </a:tc>
              </a:tr>
              <a:tr h="366776">
                <a:tc>
                  <a:txBody>
                    <a:bodyPr/>
                    <a:lstStyle/>
                    <a:p>
                      <a:pPr algn="ctr"/>
                      <a:r>
                        <a:rPr sz="1600" b="0">
                          <a:solidFill>
                            <a:srgbClr val="142B33"/>
                          </a:solidFill>
                          <a:latin typeface="Calibri"/>
                        </a:rPr>
                        <a:t>2</a:t>
                      </a:r>
                      <a:r>
                        <a:rPr sz="1600" b="0" baseline="30000">
                          <a:solidFill>
                            <a:srgbClr val="142B33"/>
                          </a:solidFill>
                          <a:latin typeface="Calibri"/>
                        </a:rPr>
                        <a:t>7</a:t>
                      </a:r>
                    </a:p>
                  </a:txBody>
                  <a:tcPr marL="73152" marR="73152" marT="27432" marB="27432" anchor="ctr">
                    <a:solidFill>
                      <a:srgbClr val="FDE8D7"/>
                    </a:solidFill>
                  </a:tcPr>
                </a:tc>
                <a:tc>
                  <a:txBody>
                    <a:bodyPr/>
                    <a:lstStyle/>
                    <a:p>
                      <a:pPr algn="ctr"/>
                      <a:r>
                        <a:rPr sz="1600" b="0">
                          <a:solidFill>
                            <a:srgbClr val="142B33"/>
                          </a:solidFill>
                          <a:latin typeface="Calibri"/>
                        </a:rPr>
                        <a:t>127</a:t>
                      </a:r>
                    </a:p>
                  </a:txBody>
                  <a:tcPr marL="73152" marR="73152" marT="27432" marB="27432" anchor="ctr">
                    <a:solidFill>
                      <a:srgbClr val="FDE8D7"/>
                    </a:solidFill>
                  </a:tcPr>
                </a:tc>
                <a:tc>
                  <a:txBody>
                    <a:bodyPr/>
                    <a:lstStyle/>
                    <a:p>
                      <a:pPr algn="ctr"/>
                      <a:r>
                        <a:rPr sz="1600" b="0">
                          <a:solidFill>
                            <a:srgbClr val="142B33"/>
                          </a:solidFill>
                          <a:latin typeface="Calibri"/>
                        </a:rPr>
                        <a:t>28</a:t>
                      </a:r>
                    </a:p>
                  </a:txBody>
                  <a:tcPr marL="73152" marR="73152" marT="27432" marB="27432" anchor="ctr">
                    <a:solidFill>
                      <a:srgbClr val="FDE8D7"/>
                    </a:solidFill>
                  </a:tcPr>
                </a:tc>
                <a:tc>
                  <a:txBody>
                    <a:bodyPr/>
                    <a:lstStyle/>
                    <a:p>
                      <a:pPr algn="ctr"/>
                      <a:r>
                        <a:rPr sz="1600" b="0">
                          <a:solidFill>
                            <a:srgbClr val="142B33"/>
                          </a:solidFill>
                          <a:latin typeface="Calibri"/>
                        </a:rPr>
                        <a:t>99</a:t>
                      </a:r>
                    </a:p>
                  </a:txBody>
                  <a:tcPr marL="73152" marR="73152" marT="27432" marB="27432" anchor="ctr">
                    <a:solidFill>
                      <a:srgbClr val="FDE8D7"/>
                    </a:solidFill>
                  </a:tcPr>
                </a:tc>
              </a:tr>
            </a:tbl>
          </a:graphicData>
        </a:graphic>
      </p:graphicFrame>
      <p:sp>
        <p:nvSpPr>
          <p:cNvPr id="4" name="TextBox 3"/>
          <p:cNvSpPr txBox="1"/>
          <p:nvPr/>
        </p:nvSpPr>
        <p:spPr>
          <a:xfrm>
            <a:off x="548640" y="4681728"/>
            <a:ext cx="5875614" cy="222504"/>
          </a:xfrm>
          <a:prstGeom prst="rect">
            <a:avLst/>
          </a:prstGeom>
          <a:noFill/>
        </p:spPr>
        <p:txBody>
          <a:bodyPr wrap="square" anchor="t" lIns="0" rIns="0" tIns="0" bIns="0">
            <a:spAutoFit/>
          </a:bodyPr>
          <a:lstStyle/>
          <a:p>
            <a:r>
              <a:rPr sz="1200" b="0">
                <a:solidFill>
                  <a:srgbClr val="5B6B73"/>
                </a:solidFill>
                <a:latin typeface="Calibri"/>
              </a:rPr>
              <a:t>Gutiérrez, tabla 8.1</a:t>
            </a:r>
          </a:p>
        </p:txBody>
      </p:sp>
      <p:sp>
        <p:nvSpPr>
          <p:cNvPr id="5" name="TextBox 4"/>
          <p:cNvSpPr txBox="1"/>
          <p:nvPr/>
        </p:nvSpPr>
        <p:spPr>
          <a:xfrm>
            <a:off x="6835734" y="1417320"/>
            <a:ext cx="4807320" cy="2064511"/>
          </a:xfrm>
          <a:prstGeom prst="rect">
            <a:avLst/>
          </a:prstGeom>
          <a:noFill/>
        </p:spPr>
        <p:txBody>
          <a:bodyPr wrap="square" anchor="t" lIns="0" rIns="0" tIns="0" bIns="0">
            <a:spAutoFit/>
          </a:bodyPr>
          <a:lstStyle/>
          <a:p>
            <a:pPr marL="320040" indent="-320040">
              <a:spcAft>
                <a:spcPts val="600"/>
              </a:spcAft>
              <a:buClr>
                <a:srgbClr val="E36414"/>
              </a:buClr>
              <a:buFont typeface="Arial"/>
              <a:buChar char="•"/>
            </a:pPr>
            <a:r>
              <a:rPr sz="1600" b="1">
                <a:solidFill>
                  <a:srgbClr val="142B33"/>
                </a:solidFill>
                <a:latin typeface="Calibri"/>
              </a:rPr>
              <a:t>Jerarquía</a:t>
            </a:r>
            <a:r>
              <a:rPr sz="1600" b="0">
                <a:solidFill>
                  <a:srgbClr val="142B33"/>
                </a:solidFill>
                <a:latin typeface="Calibri"/>
              </a:rPr>
              <a:t>: principales &gt; dobles &gt; triples &gt; …</a:t>
            </a:r>
          </a:p>
          <a:p>
            <a:pPr marL="320040" indent="-320040">
              <a:spcAft>
                <a:spcPts val="600"/>
              </a:spcAft>
              <a:buClr>
                <a:srgbClr val="E36414"/>
              </a:buClr>
              <a:buFont typeface="Arial"/>
              <a:buChar char="•"/>
            </a:pPr>
            <a:r>
              <a:rPr sz="1600" b="0">
                <a:solidFill>
                  <a:srgbClr val="142B33"/>
                </a:solidFill>
                <a:latin typeface="Calibri"/>
              </a:rPr>
              <a:t>Con </a:t>
            </a:r>
            <a:r>
              <a:rPr sz="1600" b="1">
                <a:solidFill>
                  <a:srgbClr val="142B33"/>
                </a:solidFill>
                <a:latin typeface="Calibri"/>
              </a:rPr>
              <a:t>k &lt; 5</a:t>
            </a:r>
            <a:r>
              <a:rPr sz="1600" b="0">
                <a:solidFill>
                  <a:srgbClr val="142B33"/>
                </a:solidFill>
                <a:latin typeface="Calibri"/>
              </a:rPr>
              <a:t> fraccionar sacrifica efectos importantes</a:t>
            </a:r>
          </a:p>
          <a:p>
            <a:pPr marL="320040" indent="-320040">
              <a:spcAft>
                <a:spcPts val="600"/>
              </a:spcAft>
              <a:buClr>
                <a:srgbClr val="E36414"/>
              </a:buClr>
              <a:buFont typeface="Arial"/>
              <a:buChar char="•"/>
            </a:pPr>
            <a:r>
              <a:rPr sz="1600" b="0">
                <a:solidFill>
                  <a:srgbClr val="142B33"/>
                </a:solidFill>
                <a:latin typeface="Calibri"/>
              </a:rPr>
              <a:t>Desde </a:t>
            </a:r>
            <a:r>
              <a:rPr sz="1600" b="1">
                <a:solidFill>
                  <a:srgbClr val="142B33"/>
                </a:solidFill>
                <a:latin typeface="Calibri"/>
              </a:rPr>
              <a:t>k = 5</a:t>
            </a:r>
            <a:r>
              <a:rPr sz="1600" b="0">
                <a:solidFill>
                  <a:srgbClr val="142B33"/>
                </a:solidFill>
                <a:latin typeface="Calibri"/>
              </a:rPr>
              <a:t> hay más ignorables que importantes: </a:t>
            </a:r>
            <a:r>
              <a:rPr sz="1600" b="1">
                <a:solidFill>
                  <a:srgbClr val="142B33"/>
                </a:solidFill>
                <a:latin typeface="Calibri"/>
              </a:rPr>
              <a:t>exceso de información</a:t>
            </a:r>
          </a:p>
          <a:p>
            <a:pPr marL="320040" indent="-320040">
              <a:spcAft>
                <a:spcPts val="600"/>
              </a:spcAft>
              <a:buClr>
                <a:srgbClr val="E36414"/>
              </a:buClr>
              <a:buFont typeface="Arial"/>
              <a:buChar char="•"/>
            </a:pPr>
            <a:r>
              <a:rPr sz="1600" b="0">
                <a:solidFill>
                  <a:srgbClr val="142B33"/>
                </a:solidFill>
                <a:latin typeface="Calibri"/>
              </a:rPr>
              <a:t>2</a:t>
            </a:r>
            <a:r>
              <a:rPr sz="1600" b="0" baseline="30000">
                <a:solidFill>
                  <a:srgbClr val="142B33"/>
                </a:solidFill>
                <a:latin typeface="Calibri"/>
              </a:rPr>
              <a:t>5</a:t>
            </a:r>
            <a:r>
              <a:rPr sz="1600" b="0">
                <a:solidFill>
                  <a:srgbClr val="142B33"/>
                </a:solidFill>
                <a:latin typeface="Calibri"/>
              </a:rPr>
              <a:t>: </a:t>
            </a:r>
            <a:r>
              <a:rPr sz="1600" b="1">
                <a:solidFill>
                  <a:srgbClr val="142B33"/>
                </a:solidFill>
                <a:latin typeface="Calibri"/>
              </a:rPr>
              <a:t>15 importantes</a:t>
            </a:r>
            <a:r>
              <a:rPr sz="1600" b="0">
                <a:solidFill>
                  <a:srgbClr val="142B33"/>
                </a:solidFill>
                <a:latin typeface="Calibri"/>
              </a:rPr>
              <a:t> de 31; un 2</a:t>
            </a:r>
            <a:r>
              <a:rPr sz="1600" b="0" baseline="30000">
                <a:solidFill>
                  <a:srgbClr val="142B33"/>
                </a:solidFill>
                <a:latin typeface="Calibri"/>
              </a:rPr>
              <a:t>5−1</a:t>
            </a:r>
            <a:r>
              <a:rPr sz="1600" b="0">
                <a:solidFill>
                  <a:srgbClr val="142B33"/>
                </a:solidFill>
                <a:latin typeface="Calibri"/>
              </a:rPr>
              <a:t> los estima limpios a </a:t>
            </a:r>
            <a:r>
              <a:rPr sz="1600" b="1">
                <a:solidFill>
                  <a:srgbClr val="142B33"/>
                </a:solidFill>
                <a:latin typeface="Calibri"/>
              </a:rPr>
              <a:t>mitad de costo</a:t>
            </a:r>
          </a:p>
        </p:txBody>
      </p:sp>
      <p:sp>
        <p:nvSpPr>
          <p:cNvPr id="6" name="Rounded Rectangle 5"/>
          <p:cNvSpPr/>
          <p:nvPr/>
        </p:nvSpPr>
        <p:spPr>
          <a:xfrm>
            <a:off x="6835734" y="3683000"/>
            <a:ext cx="4807320" cy="50673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Montgomery: principio de </a:t>
            </a:r>
            <a:r>
              <a:rPr sz="1500" b="1">
                <a:solidFill>
                  <a:srgbClr val="142B33"/>
                </a:solidFill>
                <a:latin typeface="Calibri"/>
              </a:rPr>
              <a:t>escasez de efectos</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¿Por qué fraccionar?</a:t>
            </a:r>
          </a:p>
        </p:txBody>
      </p:sp>
      <p:sp>
        <p:nvSpPr>
          <p:cNvPr id="8" name="TextBox 7"/>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5</a:t>
            </a:r>
          </a:p>
        </p:txBody>
      </p:sp>
      <p:sp>
        <p:nvSpPr>
          <p:cNvPr id="9" name="Rounded Rectangle 8"/>
          <p:cNvSpPr/>
          <p:nvPr/>
        </p:nvSpPr>
        <p:spPr>
          <a:xfrm>
            <a:off x="548640" y="91440"/>
            <a:ext cx="266547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1 · ¿Por qué fraccionar?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¿Qué se gana y qué se pierde al fraccionar?</a:t>
            </a:r>
          </a:p>
        </p:txBody>
      </p:sp>
      <p:sp>
        <p:nvSpPr>
          <p:cNvPr id="3" name="Rounded Rectangle 2"/>
          <p:cNvSpPr/>
          <p:nvPr/>
        </p:nvSpPr>
        <p:spPr>
          <a:xfrm>
            <a:off x="548640" y="1417320"/>
            <a:ext cx="5875614" cy="1249426"/>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700" b="1">
                <a:solidFill>
                  <a:srgbClr val="0F4C5C"/>
                </a:solidFill>
                <a:latin typeface="Cambria"/>
              </a:rPr>
              <a:t>Se gana: economía</a:t>
            </a:r>
          </a:p>
          <a:p>
            <a:pPr algn="l"/>
            <a:r>
              <a:rPr sz="1500" b="0">
                <a:solidFill>
                  <a:srgbClr val="142B33"/>
                </a:solidFill>
                <a:latin typeface="Calibri"/>
              </a:rPr>
              <a:t>Menos corridas y menos recursos para obtener </a:t>
            </a:r>
            <a:r>
              <a:rPr sz="1500" b="1">
                <a:solidFill>
                  <a:srgbClr val="142B33"/>
                </a:solidFill>
                <a:latin typeface="Calibri"/>
              </a:rPr>
              <a:t>la misma información</a:t>
            </a:r>
            <a:r>
              <a:rPr sz="1500" b="0">
                <a:solidFill>
                  <a:srgbClr val="142B33"/>
                </a:solidFill>
                <a:latin typeface="Calibri"/>
              </a:rPr>
              <a:t> sobre los efectos importantes</a:t>
            </a:r>
          </a:p>
        </p:txBody>
      </p:sp>
      <p:sp>
        <p:nvSpPr>
          <p:cNvPr id="4" name="Rounded Rectangle 3"/>
          <p:cNvSpPr/>
          <p:nvPr/>
        </p:nvSpPr>
        <p:spPr>
          <a:xfrm>
            <a:off x="548640" y="2895346"/>
            <a:ext cx="5875614" cy="1249426"/>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700" b="1">
                <a:solidFill>
                  <a:srgbClr val="0F4C5C"/>
                </a:solidFill>
                <a:latin typeface="Cambria"/>
              </a:rPr>
              <a:t>Hecho 1 · se pierde información</a:t>
            </a:r>
          </a:p>
          <a:p>
            <a:pPr algn="l"/>
            <a:r>
              <a:rPr sz="1500" b="0">
                <a:solidFill>
                  <a:srgbClr val="142B33"/>
                </a:solidFill>
                <a:latin typeface="Calibri"/>
              </a:rPr>
              <a:t>Hay efectos que </a:t>
            </a:r>
            <a:r>
              <a:rPr sz="1500" b="1">
                <a:solidFill>
                  <a:srgbClr val="142B33"/>
                </a:solidFill>
                <a:latin typeface="Calibri"/>
              </a:rPr>
              <a:t>no se estiman</a:t>
            </a:r>
            <a:r>
              <a:rPr sz="1500" b="0">
                <a:solidFill>
                  <a:srgbClr val="142B33"/>
                </a:solidFill>
                <a:latin typeface="Calibri"/>
              </a:rPr>
              <a:t> y quedan </a:t>
            </a:r>
            <a:r>
              <a:rPr sz="1500" b="1">
                <a:solidFill>
                  <a:srgbClr val="142B33"/>
                </a:solidFill>
                <a:latin typeface="Calibri"/>
              </a:rPr>
              <a:t>menos grados de libertad</a:t>
            </a:r>
            <a:r>
              <a:rPr sz="1500" b="0">
                <a:solidFill>
                  <a:srgbClr val="142B33"/>
                </a:solidFill>
                <a:latin typeface="Calibri"/>
              </a:rPr>
              <a:t> para el error</a:t>
            </a:r>
          </a:p>
        </p:txBody>
      </p:sp>
      <p:sp>
        <p:nvSpPr>
          <p:cNvPr id="5" name="Rounded Rectangle 4"/>
          <p:cNvSpPr/>
          <p:nvPr/>
        </p:nvSpPr>
        <p:spPr>
          <a:xfrm>
            <a:off x="548640" y="4373372"/>
            <a:ext cx="5875614" cy="1249426"/>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700" b="1">
                <a:solidFill>
                  <a:srgbClr val="0F4C5C"/>
                </a:solidFill>
                <a:latin typeface="Cambria"/>
              </a:rPr>
              <a:t>Hecho 2 · todo efecto tiene alias</a:t>
            </a:r>
          </a:p>
          <a:p>
            <a:pPr algn="l"/>
            <a:r>
              <a:rPr sz="1500" b="0">
                <a:solidFill>
                  <a:srgbClr val="142B33"/>
                </a:solidFill>
                <a:latin typeface="Calibri"/>
              </a:rPr>
              <a:t>Cada efecto estimable comparte columna con </a:t>
            </a:r>
            <a:r>
              <a:rPr sz="1500" b="1">
                <a:solidFill>
                  <a:srgbClr val="142B33"/>
                </a:solidFill>
                <a:latin typeface="Calibri"/>
              </a:rPr>
              <a:t>al menos otro</a:t>
            </a:r>
            <a:r>
              <a:rPr sz="1500" b="0">
                <a:solidFill>
                  <a:srgbClr val="142B33"/>
                </a:solidFill>
                <a:latin typeface="Calibri"/>
              </a:rPr>
              <a:t>: se estima la </a:t>
            </a:r>
            <a:r>
              <a:rPr sz="1500" b="1">
                <a:solidFill>
                  <a:srgbClr val="142B33"/>
                </a:solidFill>
                <a:latin typeface="Calibri"/>
              </a:rPr>
              <a:t>suma</a:t>
            </a:r>
            <a:r>
              <a:rPr sz="1500" b="0">
                <a:solidFill>
                  <a:srgbClr val="142B33"/>
                </a:solidFill>
                <a:latin typeface="Calibri"/>
              </a:rPr>
              <a:t> de los dos</a:t>
            </a:r>
          </a:p>
        </p:txBody>
      </p:sp>
      <p:sp>
        <p:nvSpPr>
          <p:cNvPr id="6" name="Rounded Rectangle 5"/>
          <p:cNvSpPr/>
          <p:nvPr/>
        </p:nvSpPr>
        <p:spPr>
          <a:xfrm>
            <a:off x="6835734" y="1417320"/>
            <a:ext cx="4807320" cy="1018032"/>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600" b="0">
                <a:solidFill>
                  <a:srgbClr val="142B33"/>
                </a:solidFill>
                <a:latin typeface="Calibri"/>
              </a:rPr>
              <a:t>Elegir la fracción para que lo que se pierde sea </a:t>
            </a:r>
            <a:r>
              <a:rPr sz="1600" b="1">
                <a:solidFill>
                  <a:srgbClr val="142B33"/>
                </a:solidFill>
                <a:latin typeface="Calibri"/>
              </a:rPr>
              <a:t>lo que menos importa</a:t>
            </a:r>
            <a:r>
              <a:rPr sz="1600" b="0">
                <a:solidFill>
                  <a:srgbClr val="142B33"/>
                </a:solidFill>
                <a:latin typeface="Calibri"/>
              </a:rPr>
              <a:t>: las interacciones de orden alto</a:t>
            </a:r>
          </a:p>
        </p:txBody>
      </p:sp>
      <p:sp>
        <p:nvSpPr>
          <p:cNvPr id="7" name="Rounded Rectangle 6"/>
          <p:cNvSpPr/>
          <p:nvPr/>
        </p:nvSpPr>
        <p:spPr>
          <a:xfrm>
            <a:off x="6835734" y="2636520"/>
            <a:ext cx="4807320" cy="1018032"/>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600" b="0">
                <a:solidFill>
                  <a:srgbClr val="142B33"/>
                </a:solidFill>
                <a:latin typeface="Calibri"/>
              </a:rPr>
              <a:t>Los factores que no resulten importantes se fijan por </a:t>
            </a:r>
            <a:r>
              <a:rPr sz="1600" b="1">
                <a:solidFill>
                  <a:srgbClr val="142B33"/>
                </a:solidFill>
                <a:latin typeface="Calibri"/>
              </a:rPr>
              <a:t>criterio económico</a:t>
            </a:r>
            <a:r>
              <a:rPr sz="1600" b="0">
                <a:solidFill>
                  <a:srgbClr val="142B33"/>
                </a:solidFill>
                <a:latin typeface="Calibri"/>
              </a:rPr>
              <a:t>: en el nivel más barato o más productivo</a:t>
            </a:r>
          </a:p>
        </p:txBody>
      </p:sp>
      <p:sp>
        <p:nvSpPr>
          <p:cNvPr id="8" name="TextBox 7"/>
          <p:cNvSpPr txBox="1"/>
          <p:nvPr/>
        </p:nvSpPr>
        <p:spPr>
          <a:xfrm>
            <a:off x="6835734" y="3855720"/>
            <a:ext cx="4807320" cy="222504"/>
          </a:xfrm>
          <a:prstGeom prst="rect">
            <a:avLst/>
          </a:prstGeom>
          <a:noFill/>
        </p:spPr>
        <p:txBody>
          <a:bodyPr wrap="square" anchor="t" lIns="0" rIns="0" tIns="0" bIns="0">
            <a:spAutoFit/>
          </a:bodyPr>
          <a:lstStyle/>
          <a:p>
            <a:r>
              <a:rPr sz="1200" b="0">
                <a:solidFill>
                  <a:srgbClr val="5B6B73"/>
                </a:solidFill>
                <a:latin typeface="Calibri"/>
              </a:rPr>
              <a:t>Gutiérrez, introducción del cap. 8</a:t>
            </a:r>
          </a:p>
        </p:txBody>
      </p:sp>
      <p:sp>
        <p:nvSpPr>
          <p:cNvPr id="9" name="TextBox 8"/>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¿Por qué fraccionar?</a:t>
            </a:r>
          </a:p>
        </p:txBody>
      </p:sp>
      <p:sp>
        <p:nvSpPr>
          <p:cNvPr id="10" name="TextBox 9"/>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6</a:t>
            </a:r>
          </a:p>
        </p:txBody>
      </p:sp>
      <p:sp>
        <p:nvSpPr>
          <p:cNvPr id="11" name="Rounded Rectangle 10"/>
          <p:cNvSpPr/>
          <p:nvPr/>
        </p:nvSpPr>
        <p:spPr>
          <a:xfrm>
            <a:off x="548640" y="91440"/>
            <a:ext cx="266547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1 · ¿Por qué fraccionar?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Tres ideas que justifican correr solo una fracción</a:t>
            </a:r>
          </a:p>
        </p:txBody>
      </p:sp>
      <p:sp>
        <p:nvSpPr>
          <p:cNvPr id="3" name="Rounded Rectangle 2"/>
          <p:cNvSpPr/>
          <p:nvPr/>
        </p:nvSpPr>
        <p:spPr>
          <a:xfrm>
            <a:off x="548640" y="1417320"/>
            <a:ext cx="3545738" cy="3217672"/>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2200" b="1">
                <a:solidFill>
                  <a:srgbClr val="0F4C5C"/>
                </a:solidFill>
                <a:latin typeface="Cambria"/>
              </a:rPr>
              <a:t>Escasez de efectos</a:t>
            </a:r>
          </a:p>
          <a:p>
            <a:pPr algn="l"/>
            <a:r>
              <a:rPr sz="2000" b="0">
                <a:solidFill>
                  <a:srgbClr val="142B33"/>
                </a:solidFill>
                <a:latin typeface="Calibri"/>
              </a:rPr>
              <a:t>De muchos factores, pocos son activos. Dominan los efectos principales y las interacciones de orden bajo (la tabla de efectos ignorables).</a:t>
            </a:r>
          </a:p>
        </p:txBody>
      </p:sp>
      <p:sp>
        <p:nvSpPr>
          <p:cNvPr id="4" name="Rounded Rectangle 3"/>
          <p:cNvSpPr/>
          <p:nvPr/>
        </p:nvSpPr>
        <p:spPr>
          <a:xfrm>
            <a:off x="4322978" y="1417320"/>
            <a:ext cx="3545738" cy="3217672"/>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2200" b="1">
                <a:solidFill>
                  <a:srgbClr val="0F4C5C"/>
                </a:solidFill>
                <a:latin typeface="Cambria"/>
              </a:rPr>
              <a:t>Proyección (colapsar)</a:t>
            </a:r>
          </a:p>
          <a:p>
            <a:pPr algn="l"/>
            <a:r>
              <a:rPr sz="2000" b="0">
                <a:solidFill>
                  <a:srgbClr val="142B33"/>
                </a:solidFill>
                <a:latin typeface="Calibri"/>
              </a:rPr>
              <a:t>Al descartar factores inactivos, la fracción se convierte en un diseño más fuerte en los que quedan, a menudo un factorial completo.</a:t>
            </a:r>
          </a:p>
        </p:txBody>
      </p:sp>
      <p:sp>
        <p:nvSpPr>
          <p:cNvPr id="5" name="Rounded Rectangle 4"/>
          <p:cNvSpPr/>
          <p:nvPr/>
        </p:nvSpPr>
        <p:spPr>
          <a:xfrm>
            <a:off x="8097316" y="1417320"/>
            <a:ext cx="3545738" cy="3217672"/>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2200" b="1">
                <a:solidFill>
                  <a:srgbClr val="0F4C5C"/>
                </a:solidFill>
                <a:latin typeface="Cambria"/>
              </a:rPr>
              <a:t>Experimentación secuencial</a:t>
            </a:r>
          </a:p>
          <a:p>
            <a:pPr algn="l"/>
            <a:r>
              <a:rPr sz="2000" b="0">
                <a:solidFill>
                  <a:srgbClr val="142B33"/>
                </a:solidFill>
                <a:latin typeface="Calibri"/>
              </a:rPr>
              <a:t>Se corre una fracción, se analiza y se decide. Otra fracción aclara las ambigüedades que deje la primera.</a:t>
            </a:r>
          </a:p>
        </p:txBody>
      </p:sp>
      <p:sp>
        <p:nvSpPr>
          <p:cNvPr id="6" name="TextBox 5"/>
          <p:cNvSpPr txBox="1"/>
          <p:nvPr/>
        </p:nvSpPr>
        <p:spPr>
          <a:xfrm>
            <a:off x="548640" y="4836160"/>
            <a:ext cx="11094415" cy="237998"/>
          </a:xfrm>
          <a:prstGeom prst="rect">
            <a:avLst/>
          </a:prstGeom>
          <a:noFill/>
        </p:spPr>
        <p:txBody>
          <a:bodyPr wrap="square" anchor="t" lIns="0" rIns="0" tIns="0" bIns="0">
            <a:spAutoFit/>
          </a:bodyPr>
          <a:lstStyle/>
          <a:p>
            <a:r>
              <a:rPr sz="1300" b="0">
                <a:solidFill>
                  <a:srgbClr val="5B6B73"/>
                </a:solidFill>
                <a:latin typeface="Calibri"/>
              </a:rPr>
              <a:t>Entre paréntesis y en el texto: el nombre que usa Gutiérrez para la misma idea</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¿Por qué fraccionar?</a:t>
            </a:r>
          </a:p>
        </p:txBody>
      </p:sp>
      <p:sp>
        <p:nvSpPr>
          <p:cNvPr id="8" name="TextBox 7"/>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7</a:t>
            </a:r>
          </a:p>
        </p:txBody>
      </p:sp>
      <p:sp>
        <p:nvSpPr>
          <p:cNvPr id="9" name="Rounded Rectangle 8"/>
          <p:cNvSpPr/>
          <p:nvPr/>
        </p:nvSpPr>
        <p:spPr>
          <a:xfrm>
            <a:off x="548640" y="91440"/>
            <a:ext cx="266547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1 · ¿Por qué fraccionar?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¿Cuándo usar un factorial fraccionado?</a:t>
            </a:r>
          </a:p>
        </p:txBody>
      </p:sp>
      <p:sp>
        <p:nvSpPr>
          <p:cNvPr id="3" name="TextBox 2"/>
          <p:cNvSpPr txBox="1"/>
          <p:nvPr/>
        </p:nvSpPr>
        <p:spPr>
          <a:xfrm>
            <a:off x="548640" y="1417320"/>
            <a:ext cx="5341467" cy="346455"/>
          </a:xfrm>
          <a:prstGeom prst="rect">
            <a:avLst/>
          </a:prstGeom>
          <a:noFill/>
        </p:spPr>
        <p:txBody>
          <a:bodyPr wrap="square" anchor="t" lIns="0" rIns="0" tIns="0" bIns="0">
            <a:spAutoFit/>
          </a:bodyPr>
          <a:lstStyle/>
          <a:p>
            <a:r>
              <a:rPr sz="2000" b="1">
                <a:solidFill>
                  <a:srgbClr val="142B33"/>
                </a:solidFill>
                <a:latin typeface="Calibri"/>
              </a:rPr>
              <a:t>Úselo cuando…</a:t>
            </a:r>
          </a:p>
        </p:txBody>
      </p:sp>
      <p:sp>
        <p:nvSpPr>
          <p:cNvPr id="4" name="TextBox 3"/>
          <p:cNvSpPr txBox="1"/>
          <p:nvPr/>
        </p:nvSpPr>
        <p:spPr>
          <a:xfrm>
            <a:off x="548640" y="1964944"/>
            <a:ext cx="5341467" cy="2281428"/>
          </a:xfrm>
          <a:prstGeom prst="rect">
            <a:avLst/>
          </a:prstGeom>
          <a:noFill/>
        </p:spPr>
        <p:txBody>
          <a:bodyPr wrap="square" anchor="t" lIns="0" rIns="0" tIns="0" bIns="0">
            <a:spAutoFit/>
          </a:bodyPr>
          <a:lstStyle/>
          <a:p>
            <a:pPr marL="320040" indent="-320040">
              <a:spcAft>
                <a:spcPts val="600"/>
              </a:spcAft>
              <a:buClr>
                <a:srgbClr val="E36414"/>
              </a:buClr>
              <a:buFont typeface="Arial"/>
              <a:buChar char="•"/>
            </a:pPr>
            <a:r>
              <a:rPr sz="1800" b="0">
                <a:solidFill>
                  <a:srgbClr val="142B33"/>
                </a:solidFill>
                <a:latin typeface="Calibri"/>
              </a:rPr>
              <a:t>Hay </a:t>
            </a:r>
            <a:r>
              <a:rPr sz="1800" b="1">
                <a:solidFill>
                  <a:srgbClr val="142B33"/>
                </a:solidFill>
                <a:latin typeface="Calibri"/>
              </a:rPr>
              <a:t>muchos factores</a:t>
            </a:r>
            <a:r>
              <a:rPr sz="1800" b="0">
                <a:solidFill>
                  <a:srgbClr val="142B33"/>
                </a:solidFill>
                <a:latin typeface="Calibri"/>
              </a:rPr>
              <a:t> candidatos (5 o más, según la tabla de efectos ignorables)</a:t>
            </a:r>
          </a:p>
          <a:p>
            <a:pPr marL="320040" indent="-320040">
              <a:spcAft>
                <a:spcPts val="600"/>
              </a:spcAft>
              <a:buClr>
                <a:srgbClr val="E36414"/>
              </a:buClr>
              <a:buFont typeface="Arial"/>
              <a:buChar char="•"/>
            </a:pPr>
            <a:r>
              <a:rPr sz="1800" b="0">
                <a:solidFill>
                  <a:srgbClr val="142B33"/>
                </a:solidFill>
                <a:latin typeface="Calibri"/>
              </a:rPr>
              <a:t>Cada corrida es </a:t>
            </a:r>
            <a:r>
              <a:rPr sz="1800" b="1">
                <a:solidFill>
                  <a:srgbClr val="142B33"/>
                </a:solidFill>
                <a:latin typeface="Calibri"/>
              </a:rPr>
              <a:t>costosa o lenta</a:t>
            </a:r>
          </a:p>
          <a:p>
            <a:pPr marL="320040" indent="-320040">
              <a:spcAft>
                <a:spcPts val="600"/>
              </a:spcAft>
              <a:buClr>
                <a:srgbClr val="E36414"/>
              </a:buClr>
              <a:buFont typeface="Arial"/>
              <a:buChar char="•"/>
            </a:pPr>
            <a:r>
              <a:rPr sz="1800" b="0">
                <a:solidFill>
                  <a:srgbClr val="142B33"/>
                </a:solidFill>
                <a:latin typeface="Calibri"/>
              </a:rPr>
              <a:t>La etapa es </a:t>
            </a:r>
            <a:r>
              <a:rPr sz="1800" b="1">
                <a:solidFill>
                  <a:srgbClr val="142B33"/>
                </a:solidFill>
                <a:latin typeface="Calibri"/>
              </a:rPr>
              <a:t>exploratoria</a:t>
            </a:r>
            <a:r>
              <a:rPr sz="1800" b="0">
                <a:solidFill>
                  <a:srgbClr val="142B33"/>
                </a:solidFill>
                <a:latin typeface="Calibri"/>
              </a:rPr>
              <a:t>: interesa saber qué factores importan</a:t>
            </a:r>
          </a:p>
          <a:p>
            <a:pPr marL="320040" indent="-320040">
              <a:spcAft>
                <a:spcPts val="600"/>
              </a:spcAft>
              <a:buClr>
                <a:srgbClr val="E36414"/>
              </a:buClr>
              <a:buFont typeface="Arial"/>
              <a:buChar char="•"/>
            </a:pPr>
            <a:r>
              <a:rPr sz="1800" b="0">
                <a:solidFill>
                  <a:srgbClr val="142B33"/>
                </a:solidFill>
                <a:latin typeface="Calibri"/>
              </a:rPr>
              <a:t>Es razonable despreciar interacciones de </a:t>
            </a:r>
            <a:r>
              <a:rPr sz="1800" b="1">
                <a:solidFill>
                  <a:srgbClr val="142B33"/>
                </a:solidFill>
                <a:latin typeface="Calibri"/>
              </a:rPr>
              <a:t>tres o más</a:t>
            </a:r>
            <a:r>
              <a:rPr sz="1800" b="0">
                <a:solidFill>
                  <a:srgbClr val="142B33"/>
                </a:solidFill>
                <a:latin typeface="Calibri"/>
              </a:rPr>
              <a:t> factores</a:t>
            </a:r>
          </a:p>
        </p:txBody>
      </p:sp>
      <p:sp>
        <p:nvSpPr>
          <p:cNvPr id="5" name="TextBox 4"/>
          <p:cNvSpPr txBox="1"/>
          <p:nvPr/>
        </p:nvSpPr>
        <p:spPr>
          <a:xfrm>
            <a:off x="6301587" y="1417320"/>
            <a:ext cx="5341467" cy="346455"/>
          </a:xfrm>
          <a:prstGeom prst="rect">
            <a:avLst/>
          </a:prstGeom>
          <a:noFill/>
        </p:spPr>
        <p:txBody>
          <a:bodyPr wrap="square" anchor="t" lIns="0" rIns="0" tIns="0" bIns="0">
            <a:spAutoFit/>
          </a:bodyPr>
          <a:lstStyle/>
          <a:p>
            <a:r>
              <a:rPr sz="2000" b="1">
                <a:solidFill>
                  <a:srgbClr val="142B33"/>
                </a:solidFill>
                <a:latin typeface="Calibri"/>
              </a:rPr>
              <a:t>Tenga cuidado cuando…</a:t>
            </a:r>
          </a:p>
        </p:txBody>
      </p:sp>
      <p:sp>
        <p:nvSpPr>
          <p:cNvPr id="6" name="TextBox 5"/>
          <p:cNvSpPr txBox="1"/>
          <p:nvPr/>
        </p:nvSpPr>
        <p:spPr>
          <a:xfrm>
            <a:off x="6301587" y="1964944"/>
            <a:ext cx="5341467" cy="2002536"/>
          </a:xfrm>
          <a:prstGeom prst="rect">
            <a:avLst/>
          </a:prstGeom>
          <a:noFill/>
        </p:spPr>
        <p:txBody>
          <a:bodyPr wrap="square" anchor="t" lIns="0" rIns="0" tIns="0" bIns="0">
            <a:spAutoFit/>
          </a:bodyPr>
          <a:lstStyle/>
          <a:p>
            <a:pPr marL="320040" indent="-320040">
              <a:spcAft>
                <a:spcPts val="600"/>
              </a:spcAft>
              <a:buClr>
                <a:srgbClr val="E36414"/>
              </a:buClr>
              <a:buFont typeface="Arial"/>
              <a:buChar char="•"/>
            </a:pPr>
            <a:r>
              <a:rPr sz="1800" b="0">
                <a:solidFill>
                  <a:srgbClr val="142B33"/>
                </a:solidFill>
                <a:latin typeface="Calibri"/>
              </a:rPr>
              <a:t>Hay pocos factores y el factorial completo es barato</a:t>
            </a:r>
          </a:p>
          <a:p>
            <a:pPr marL="320040" indent="-320040">
              <a:spcAft>
                <a:spcPts val="600"/>
              </a:spcAft>
              <a:buClr>
                <a:srgbClr val="E36414"/>
              </a:buClr>
              <a:buFont typeface="Arial"/>
              <a:buChar char="•"/>
            </a:pPr>
            <a:r>
              <a:rPr sz="1800" b="0">
                <a:solidFill>
                  <a:srgbClr val="142B33"/>
                </a:solidFill>
                <a:latin typeface="Calibri"/>
              </a:rPr>
              <a:t>Se esperan interacciones entre muchos factores</a:t>
            </a:r>
          </a:p>
          <a:p>
            <a:pPr marL="320040" indent="-320040">
              <a:spcAft>
                <a:spcPts val="600"/>
              </a:spcAft>
              <a:buClr>
                <a:srgbClr val="E36414"/>
              </a:buClr>
              <a:buFont typeface="Arial"/>
              <a:buChar char="•"/>
            </a:pPr>
            <a:r>
              <a:rPr sz="1800" b="0">
                <a:solidFill>
                  <a:srgbClr val="142B33"/>
                </a:solidFill>
                <a:latin typeface="Calibri"/>
              </a:rPr>
              <a:t>El objetivo es </a:t>
            </a:r>
            <a:r>
              <a:rPr sz="1800" b="1">
                <a:solidFill>
                  <a:srgbClr val="142B33"/>
                </a:solidFill>
                <a:latin typeface="Calibri"/>
              </a:rPr>
              <a:t>optimizar</a:t>
            </a:r>
            <a:r>
              <a:rPr sz="1800" b="0">
                <a:solidFill>
                  <a:srgbClr val="142B33"/>
                </a:solidFill>
                <a:latin typeface="Calibri"/>
              </a:rPr>
              <a:t>, no tamizar</a:t>
            </a:r>
          </a:p>
          <a:p>
            <a:pPr marL="320040" indent="-320040">
              <a:spcAft>
                <a:spcPts val="600"/>
              </a:spcAft>
              <a:buClr>
                <a:srgbClr val="E36414"/>
              </a:buClr>
              <a:buFont typeface="Arial"/>
              <a:buChar char="•"/>
            </a:pPr>
            <a:r>
              <a:rPr sz="1800" b="0">
                <a:solidFill>
                  <a:srgbClr val="142B33"/>
                </a:solidFill>
                <a:latin typeface="Calibri"/>
              </a:rPr>
              <a:t>No habrá recursos para </a:t>
            </a:r>
            <a:r>
              <a:rPr sz="1800" b="1">
                <a:solidFill>
                  <a:srgbClr val="142B33"/>
                </a:solidFill>
                <a:latin typeface="Calibri"/>
              </a:rPr>
              <a:t>confirmar</a:t>
            </a:r>
            <a:r>
              <a:rPr sz="1800" b="0">
                <a:solidFill>
                  <a:srgbClr val="142B33"/>
                </a:solidFill>
                <a:latin typeface="Calibri"/>
              </a:rPr>
              <a:t> las conclusiones</a:t>
            </a:r>
          </a:p>
        </p:txBody>
      </p:sp>
      <p:sp>
        <p:nvSpPr>
          <p:cNvPr id="7" name="Rounded Rectangle 6"/>
          <p:cNvSpPr/>
          <p:nvPr/>
        </p:nvSpPr>
        <p:spPr>
          <a:xfrm>
            <a:off x="6301587" y="4168648"/>
            <a:ext cx="5341467" cy="708151"/>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400" b="0">
                <a:solidFill>
                  <a:srgbClr val="142B33"/>
                </a:solidFill>
                <a:latin typeface="Calibri"/>
              </a:rPr>
              <a:t>Gutiérrez: es mejor experimentar con un diseño fraccionado </a:t>
            </a:r>
            <a:r>
              <a:rPr sz="1400" b="1">
                <a:solidFill>
                  <a:srgbClr val="142B33"/>
                </a:solidFill>
                <a:latin typeface="Calibri"/>
              </a:rPr>
              <a:t>que no experimentar</a:t>
            </a:r>
          </a:p>
        </p:txBody>
      </p:sp>
      <p:sp>
        <p:nvSpPr>
          <p:cNvPr id="8" name="TextBox 7"/>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¿Por qué fraccionar?</a:t>
            </a:r>
          </a:p>
        </p:txBody>
      </p:sp>
      <p:sp>
        <p:nvSpPr>
          <p:cNvPr id="9" name="TextBox 8"/>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8</a:t>
            </a:r>
          </a:p>
        </p:txBody>
      </p:sp>
      <p:sp>
        <p:nvSpPr>
          <p:cNvPr id="10" name="Rounded Rectangle 9"/>
          <p:cNvSpPr/>
          <p:nvPr/>
        </p:nvSpPr>
        <p:spPr>
          <a:xfrm>
            <a:off x="548640" y="91440"/>
            <a:ext cx="266547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1 · ¿Por qué fraccionar?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¿Qué significa 2</a:t>
            </a:r>
            <a:r>
              <a:rPr sz="3000" b="1" baseline="30000">
                <a:solidFill>
                  <a:srgbClr val="0F4C5C"/>
                </a:solidFill>
                <a:latin typeface="Cambria"/>
              </a:rPr>
              <a:t>k−p</a:t>
            </a:r>
            <a:r>
              <a:rPr sz="3000" b="1">
                <a:solidFill>
                  <a:srgbClr val="0F4C5C"/>
                </a:solidFill>
                <a:latin typeface="Cambria"/>
              </a:rPr>
              <a:t>?</a:t>
            </a:r>
          </a:p>
        </p:txBody>
      </p:sp>
      <p:sp>
        <p:nvSpPr>
          <p:cNvPr id="3" name="Rounded Rectangle 2"/>
          <p:cNvSpPr/>
          <p:nvPr/>
        </p:nvSpPr>
        <p:spPr>
          <a:xfrm>
            <a:off x="548640" y="1417320"/>
            <a:ext cx="4914150" cy="1211397"/>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5400" b="0">
                <a:solidFill>
                  <a:srgbClr val="0F4C5C"/>
                </a:solidFill>
                <a:latin typeface="Cambria Math"/>
              </a:rPr>
              <a:t>2</a:t>
            </a:r>
            <a:r>
              <a:rPr sz="5400" b="0" baseline="30000">
                <a:solidFill>
                  <a:srgbClr val="0F4C5C"/>
                </a:solidFill>
                <a:latin typeface="Cambria Math"/>
              </a:rPr>
              <a:t>k−p</a:t>
            </a:r>
          </a:p>
        </p:txBody>
      </p:sp>
      <p:sp>
        <p:nvSpPr>
          <p:cNvPr id="4" name="TextBox 3"/>
          <p:cNvSpPr txBox="1"/>
          <p:nvPr/>
        </p:nvSpPr>
        <p:spPr>
          <a:xfrm>
            <a:off x="548640" y="2829885"/>
            <a:ext cx="4914150" cy="1805940"/>
          </a:xfrm>
          <a:prstGeom prst="rect">
            <a:avLst/>
          </a:prstGeom>
          <a:noFill/>
        </p:spPr>
        <p:txBody>
          <a:bodyPr wrap="square" anchor="t" lIns="0" rIns="0" tIns="0" bIns="0">
            <a:spAutoFit/>
          </a:bodyPr>
          <a:lstStyle/>
          <a:p>
            <a:pPr marL="320040" indent="-320040">
              <a:spcAft>
                <a:spcPts val="600"/>
              </a:spcAft>
              <a:buClr>
                <a:srgbClr val="E36414"/>
              </a:buClr>
              <a:buFont typeface="Arial"/>
              <a:buChar char="•"/>
            </a:pPr>
            <a:r>
              <a:rPr sz="1800" b="1">
                <a:solidFill>
                  <a:srgbClr val="142B33"/>
                </a:solidFill>
                <a:latin typeface="Calibri"/>
              </a:rPr>
              <a:t>2</a:t>
            </a:r>
            <a:r>
              <a:rPr sz="1800" b="0">
                <a:solidFill>
                  <a:srgbClr val="142B33"/>
                </a:solidFill>
                <a:latin typeface="Calibri"/>
              </a:rPr>
              <a:t>: niveles de cada factor (−1 y +1)</a:t>
            </a:r>
          </a:p>
          <a:p>
            <a:pPr marL="320040" indent="-320040">
              <a:spcAft>
                <a:spcPts val="600"/>
              </a:spcAft>
              <a:buClr>
                <a:srgbClr val="E36414"/>
              </a:buClr>
              <a:buFont typeface="Arial"/>
              <a:buChar char="•"/>
            </a:pPr>
            <a:r>
              <a:rPr sz="1800" b="1">
                <a:solidFill>
                  <a:srgbClr val="142B33"/>
                </a:solidFill>
                <a:latin typeface="Calibri"/>
              </a:rPr>
              <a:t>k</a:t>
            </a:r>
            <a:r>
              <a:rPr sz="1800" b="0">
                <a:solidFill>
                  <a:srgbClr val="142B33"/>
                </a:solidFill>
                <a:latin typeface="Calibri"/>
              </a:rPr>
              <a:t>: número de factores</a:t>
            </a:r>
          </a:p>
          <a:p>
            <a:pPr marL="320040" indent="-320040">
              <a:spcAft>
                <a:spcPts val="600"/>
              </a:spcAft>
              <a:buClr>
                <a:srgbClr val="E36414"/>
              </a:buClr>
              <a:buFont typeface="Arial"/>
              <a:buChar char="•"/>
            </a:pPr>
            <a:r>
              <a:rPr sz="1800" b="1">
                <a:solidFill>
                  <a:srgbClr val="142B33"/>
                </a:solidFill>
                <a:latin typeface="Calibri"/>
              </a:rPr>
              <a:t>p</a:t>
            </a:r>
            <a:r>
              <a:rPr sz="1800" b="0">
                <a:solidFill>
                  <a:srgbClr val="142B33"/>
                </a:solidFill>
                <a:latin typeface="Calibri"/>
              </a:rPr>
              <a:t>: número de generadores</a:t>
            </a:r>
          </a:p>
          <a:p>
            <a:pPr marL="320040" indent="-320040">
              <a:spcAft>
                <a:spcPts val="600"/>
              </a:spcAft>
              <a:buClr>
                <a:srgbClr val="E36414"/>
              </a:buClr>
              <a:buFont typeface="Arial"/>
              <a:buChar char="•"/>
            </a:pPr>
            <a:r>
              <a:rPr sz="1800" b="1">
                <a:solidFill>
                  <a:srgbClr val="142B33"/>
                </a:solidFill>
                <a:latin typeface="Calibri"/>
              </a:rPr>
              <a:t>N = 2</a:t>
            </a:r>
            <a:r>
              <a:rPr sz="1800" b="1" baseline="30000">
                <a:solidFill>
                  <a:srgbClr val="142B33"/>
                </a:solidFill>
                <a:latin typeface="Calibri"/>
              </a:rPr>
              <a:t>k−p</a:t>
            </a:r>
            <a:r>
              <a:rPr sz="1800" b="0">
                <a:solidFill>
                  <a:srgbClr val="142B33"/>
                </a:solidFill>
                <a:latin typeface="Calibri"/>
              </a:rPr>
              <a:t>: número de corridas</a:t>
            </a:r>
          </a:p>
          <a:p>
            <a:pPr marL="320040" indent="-320040">
              <a:spcAft>
                <a:spcPts val="600"/>
              </a:spcAft>
              <a:buClr>
                <a:srgbClr val="E36414"/>
              </a:buClr>
              <a:buFont typeface="Arial"/>
              <a:buChar char="•"/>
            </a:pPr>
            <a:r>
              <a:rPr sz="1800" b="0">
                <a:solidFill>
                  <a:srgbClr val="142B33"/>
                </a:solidFill>
                <a:latin typeface="Calibri"/>
              </a:rPr>
              <a:t>Fracción </a:t>
            </a:r>
            <a:r>
              <a:rPr sz="1800" b="1">
                <a:solidFill>
                  <a:srgbClr val="142B33"/>
                </a:solidFill>
                <a:latin typeface="Calibri"/>
              </a:rPr>
              <a:t>1/2</a:t>
            </a:r>
            <a:r>
              <a:rPr sz="1800" b="1" baseline="30000">
                <a:solidFill>
                  <a:srgbClr val="142B33"/>
                </a:solidFill>
                <a:latin typeface="Calibri"/>
              </a:rPr>
              <a:t>p</a:t>
            </a:r>
            <a:r>
              <a:rPr sz="1800" b="0">
                <a:solidFill>
                  <a:srgbClr val="142B33"/>
                </a:solidFill>
                <a:latin typeface="Calibri"/>
              </a:rPr>
              <a:t> del factorial completo</a:t>
            </a:r>
          </a:p>
        </p:txBody>
      </p:sp>
      <p:graphicFrame>
        <p:nvGraphicFramePr>
          <p:cNvPr id="5" name="Table 4"/>
          <p:cNvGraphicFramePr>
            <a:graphicFrameLocks noGrp="1"/>
          </p:cNvGraphicFramePr>
          <p:nvPr/>
        </p:nvGraphicFramePr>
        <p:xfrm>
          <a:off x="5874270" y="1417320"/>
          <a:ext cx="5768782" cy="2200656"/>
        </p:xfrm>
        <a:graphic>
          <a:graphicData uri="http://schemas.openxmlformats.org/drawingml/2006/table">
            <a:tbl>
              <a:tblPr firstRow="0" bandRow="0">
                <a:tableStyleId>{5C22544A-7EE6-4342-B048-85BDC9FD1C3A}</a:tableStyleId>
              </a:tblPr>
              <a:tblGrid>
                <a:gridCol w="959910"/>
                <a:gridCol w="1202218"/>
                <a:gridCol w="1202218"/>
                <a:gridCol w="1202218"/>
                <a:gridCol w="1202218"/>
              </a:tblGrid>
              <a:tr h="366776">
                <a:tc>
                  <a:txBody>
                    <a:bodyPr/>
                    <a:lstStyle/>
                    <a:p>
                      <a:pPr algn="ctr"/>
                      <a:r>
                        <a:rPr sz="1600" b="1">
                          <a:solidFill>
                            <a:srgbClr val="FFFFFF"/>
                          </a:solidFill>
                          <a:latin typeface="Calibri"/>
                        </a:rPr>
                        <a:t>Diseño</a:t>
                      </a:r>
                    </a:p>
                  </a:txBody>
                  <a:tcPr marL="73152" marR="73152" marT="27432" marB="27432" anchor="ctr">
                    <a:solidFill>
                      <a:srgbClr val="0F4C5C"/>
                    </a:solidFill>
                  </a:tcPr>
                </a:tc>
                <a:tc>
                  <a:txBody>
                    <a:bodyPr/>
                    <a:lstStyle/>
                    <a:p>
                      <a:pPr algn="ctr"/>
                      <a:r>
                        <a:rPr sz="1600" b="1">
                          <a:solidFill>
                            <a:srgbClr val="FFFFFF"/>
                          </a:solidFill>
                          <a:latin typeface="Calibri"/>
                        </a:rPr>
                        <a:t>Factores</a:t>
                      </a:r>
                    </a:p>
                  </a:txBody>
                  <a:tcPr marL="73152" marR="73152" marT="27432" marB="27432" anchor="ctr">
                    <a:solidFill>
                      <a:srgbClr val="0F4C5C"/>
                    </a:solidFill>
                  </a:tcPr>
                </a:tc>
                <a:tc>
                  <a:txBody>
                    <a:bodyPr/>
                    <a:lstStyle/>
                    <a:p>
                      <a:pPr algn="ctr"/>
                      <a:r>
                        <a:rPr sz="1600" b="1">
                          <a:solidFill>
                            <a:srgbClr val="FFFFFF"/>
                          </a:solidFill>
                          <a:latin typeface="Calibri"/>
                        </a:rPr>
                        <a:t>Corridas</a:t>
                      </a:r>
                    </a:p>
                  </a:txBody>
                  <a:tcPr marL="73152" marR="73152" marT="27432" marB="27432" anchor="ctr">
                    <a:solidFill>
                      <a:srgbClr val="0F4C5C"/>
                    </a:solidFill>
                  </a:tcPr>
                </a:tc>
                <a:tc>
                  <a:txBody>
                    <a:bodyPr/>
                    <a:lstStyle/>
                    <a:p>
                      <a:pPr algn="ctr"/>
                      <a:r>
                        <a:rPr sz="1600" b="1">
                          <a:solidFill>
                            <a:srgbClr val="FFFFFF"/>
                          </a:solidFill>
                          <a:latin typeface="Calibri"/>
                        </a:rPr>
                        <a:t>Fracción</a:t>
                      </a:r>
                    </a:p>
                  </a:txBody>
                  <a:tcPr marL="73152" marR="73152" marT="27432" marB="27432" anchor="ctr">
                    <a:solidFill>
                      <a:srgbClr val="0F4C5C"/>
                    </a:solidFill>
                  </a:tcPr>
                </a:tc>
                <a:tc>
                  <a:txBody>
                    <a:bodyPr/>
                    <a:lstStyle/>
                    <a:p>
                      <a:pPr algn="ctr"/>
                      <a:r>
                        <a:rPr sz="1600" b="1">
                          <a:solidFill>
                            <a:srgbClr val="FFFFFF"/>
                          </a:solidFill>
                          <a:latin typeface="Calibri"/>
                        </a:rPr>
                        <a:t>Completo</a:t>
                      </a:r>
                    </a:p>
                  </a:txBody>
                  <a:tcPr marL="73152" marR="73152" marT="27432" marB="27432" anchor="ctr">
                    <a:solidFill>
                      <a:srgbClr val="0F4C5C"/>
                    </a:solidFill>
                  </a:tcPr>
                </a:tc>
              </a:tr>
              <a:tr h="366776">
                <a:tc>
                  <a:txBody>
                    <a:bodyPr/>
                    <a:lstStyle/>
                    <a:p>
                      <a:pPr algn="ctr"/>
                      <a:r>
                        <a:rPr sz="1600" b="0">
                          <a:solidFill>
                            <a:srgbClr val="142B33"/>
                          </a:solidFill>
                          <a:latin typeface="Calibri"/>
                        </a:rPr>
                        <a:t>2</a:t>
                      </a:r>
                      <a:r>
                        <a:rPr sz="1600" b="0" baseline="30000">
                          <a:solidFill>
                            <a:srgbClr val="142B33"/>
                          </a:solidFill>
                          <a:latin typeface="Calibri"/>
                        </a:rPr>
                        <a:t>3−1</a:t>
                      </a:r>
                    </a:p>
                  </a:txBody>
                  <a:tcPr marL="73152" marR="73152" marT="27432" marB="27432" anchor="ctr">
                    <a:solidFill>
                      <a:srgbClr val="FFFFFF"/>
                    </a:solidFill>
                  </a:tcPr>
                </a:tc>
                <a:tc>
                  <a:txBody>
                    <a:bodyPr/>
                    <a:lstStyle/>
                    <a:p>
                      <a:pPr algn="ctr"/>
                      <a:r>
                        <a:rPr sz="1600" b="0">
                          <a:solidFill>
                            <a:srgbClr val="142B33"/>
                          </a:solidFill>
                          <a:latin typeface="Calibri"/>
                        </a:rPr>
                        <a:t>3</a:t>
                      </a:r>
                    </a:p>
                  </a:txBody>
                  <a:tcPr marL="73152" marR="73152" marT="27432" marB="27432" anchor="ctr">
                    <a:solidFill>
                      <a:srgbClr val="FFFFFF"/>
                    </a:solidFill>
                  </a:tcPr>
                </a:tc>
                <a:tc>
                  <a:txBody>
                    <a:bodyPr/>
                    <a:lstStyle/>
                    <a:p>
                      <a:pPr algn="ctr"/>
                      <a:r>
                        <a:rPr sz="1600" b="0">
                          <a:solidFill>
                            <a:srgbClr val="142B33"/>
                          </a:solidFill>
                          <a:latin typeface="Calibri"/>
                        </a:rPr>
                        <a:t>4</a:t>
                      </a:r>
                    </a:p>
                  </a:txBody>
                  <a:tcPr marL="73152" marR="73152" marT="27432" marB="27432" anchor="ctr">
                    <a:solidFill>
                      <a:srgbClr val="FFFFFF"/>
                    </a:solidFill>
                  </a:tcPr>
                </a:tc>
                <a:tc>
                  <a:txBody>
                    <a:bodyPr/>
                    <a:lstStyle/>
                    <a:p>
                      <a:pPr algn="ctr"/>
                      <a:r>
                        <a:rPr sz="1600" b="0">
                          <a:solidFill>
                            <a:srgbClr val="142B33"/>
                          </a:solidFill>
                          <a:latin typeface="Calibri"/>
                        </a:rPr>
                        <a:t>1/2</a:t>
                      </a:r>
                    </a:p>
                  </a:txBody>
                  <a:tcPr marL="73152" marR="73152" marT="27432" marB="27432" anchor="ctr">
                    <a:solidFill>
                      <a:srgbClr val="FFFFFF"/>
                    </a:solidFill>
                  </a:tcPr>
                </a:tc>
                <a:tc>
                  <a:txBody>
                    <a:bodyPr/>
                    <a:lstStyle/>
                    <a:p>
                      <a:pPr algn="ctr"/>
                      <a:r>
                        <a:rPr sz="1600" b="0">
                          <a:solidFill>
                            <a:srgbClr val="142B33"/>
                          </a:solidFill>
                          <a:latin typeface="Calibri"/>
                        </a:rPr>
                        <a:t>8</a:t>
                      </a:r>
                    </a:p>
                  </a:txBody>
                  <a:tcPr marL="73152" marR="73152" marT="27432" marB="27432" anchor="ctr">
                    <a:solidFill>
                      <a:srgbClr val="FFFFFF"/>
                    </a:solidFill>
                  </a:tcPr>
                </a:tc>
              </a:tr>
              <a:tr h="366776">
                <a:tc>
                  <a:txBody>
                    <a:bodyPr/>
                    <a:lstStyle/>
                    <a:p>
                      <a:pPr algn="ctr"/>
                      <a:r>
                        <a:rPr sz="1600" b="0">
                          <a:solidFill>
                            <a:srgbClr val="142B33"/>
                          </a:solidFill>
                          <a:latin typeface="Calibri"/>
                        </a:rPr>
                        <a:t>2</a:t>
                      </a:r>
                      <a:r>
                        <a:rPr sz="1600" b="0" baseline="30000">
                          <a:solidFill>
                            <a:srgbClr val="142B33"/>
                          </a:solidFill>
                          <a:latin typeface="Calibri"/>
                        </a:rPr>
                        <a:t>4−1</a:t>
                      </a:r>
                    </a:p>
                  </a:txBody>
                  <a:tcPr marL="73152" marR="73152" marT="27432" marB="27432" anchor="ctr">
                    <a:solidFill>
                      <a:srgbClr val="F4F8F9"/>
                    </a:solidFill>
                  </a:tcPr>
                </a:tc>
                <a:tc>
                  <a:txBody>
                    <a:bodyPr/>
                    <a:lstStyle/>
                    <a:p>
                      <a:pPr algn="ctr"/>
                      <a:r>
                        <a:rPr sz="1600" b="0">
                          <a:solidFill>
                            <a:srgbClr val="142B33"/>
                          </a:solidFill>
                          <a:latin typeface="Calibri"/>
                        </a:rPr>
                        <a:t>4</a:t>
                      </a:r>
                    </a:p>
                  </a:txBody>
                  <a:tcPr marL="73152" marR="73152" marT="27432" marB="27432" anchor="ctr">
                    <a:solidFill>
                      <a:srgbClr val="F4F8F9"/>
                    </a:solidFill>
                  </a:tcPr>
                </a:tc>
                <a:tc>
                  <a:txBody>
                    <a:bodyPr/>
                    <a:lstStyle/>
                    <a:p>
                      <a:pPr algn="ctr"/>
                      <a:r>
                        <a:rPr sz="1600" b="0">
                          <a:solidFill>
                            <a:srgbClr val="142B33"/>
                          </a:solidFill>
                          <a:latin typeface="Calibri"/>
                        </a:rPr>
                        <a:t>8</a:t>
                      </a:r>
                    </a:p>
                  </a:txBody>
                  <a:tcPr marL="73152" marR="73152" marT="27432" marB="27432" anchor="ctr">
                    <a:solidFill>
                      <a:srgbClr val="F4F8F9"/>
                    </a:solidFill>
                  </a:tcPr>
                </a:tc>
                <a:tc>
                  <a:txBody>
                    <a:bodyPr/>
                    <a:lstStyle/>
                    <a:p>
                      <a:pPr algn="ctr"/>
                      <a:r>
                        <a:rPr sz="1600" b="0">
                          <a:solidFill>
                            <a:srgbClr val="142B33"/>
                          </a:solidFill>
                          <a:latin typeface="Calibri"/>
                        </a:rPr>
                        <a:t>1/2</a:t>
                      </a:r>
                    </a:p>
                  </a:txBody>
                  <a:tcPr marL="73152" marR="73152" marT="27432" marB="27432" anchor="ctr">
                    <a:solidFill>
                      <a:srgbClr val="F4F8F9"/>
                    </a:solidFill>
                  </a:tcPr>
                </a:tc>
                <a:tc>
                  <a:txBody>
                    <a:bodyPr/>
                    <a:lstStyle/>
                    <a:p>
                      <a:pPr algn="ctr"/>
                      <a:r>
                        <a:rPr sz="1600" b="0">
                          <a:solidFill>
                            <a:srgbClr val="142B33"/>
                          </a:solidFill>
                          <a:latin typeface="Calibri"/>
                        </a:rPr>
                        <a:t>16</a:t>
                      </a:r>
                    </a:p>
                  </a:txBody>
                  <a:tcPr marL="73152" marR="73152" marT="27432" marB="27432" anchor="ctr">
                    <a:solidFill>
                      <a:srgbClr val="F4F8F9"/>
                    </a:solidFill>
                  </a:tcPr>
                </a:tc>
              </a:tr>
              <a:tr h="366776">
                <a:tc>
                  <a:txBody>
                    <a:bodyPr/>
                    <a:lstStyle/>
                    <a:p>
                      <a:pPr algn="ctr"/>
                      <a:r>
                        <a:rPr sz="1600" b="0">
                          <a:solidFill>
                            <a:srgbClr val="142B33"/>
                          </a:solidFill>
                          <a:latin typeface="Calibri"/>
                        </a:rPr>
                        <a:t>2</a:t>
                      </a:r>
                      <a:r>
                        <a:rPr sz="1600" b="0" baseline="30000">
                          <a:solidFill>
                            <a:srgbClr val="142B33"/>
                          </a:solidFill>
                          <a:latin typeface="Calibri"/>
                        </a:rPr>
                        <a:t>5−1</a:t>
                      </a:r>
                    </a:p>
                  </a:txBody>
                  <a:tcPr marL="73152" marR="73152" marT="27432" marB="27432" anchor="ctr">
                    <a:solidFill>
                      <a:srgbClr val="FFFFFF"/>
                    </a:solidFill>
                  </a:tcPr>
                </a:tc>
                <a:tc>
                  <a:txBody>
                    <a:bodyPr/>
                    <a:lstStyle/>
                    <a:p>
                      <a:pPr algn="ctr"/>
                      <a:r>
                        <a:rPr sz="1600" b="0">
                          <a:solidFill>
                            <a:srgbClr val="142B33"/>
                          </a:solidFill>
                          <a:latin typeface="Calibri"/>
                        </a:rPr>
                        <a:t>5</a:t>
                      </a:r>
                    </a:p>
                  </a:txBody>
                  <a:tcPr marL="73152" marR="73152" marT="27432" marB="27432" anchor="ctr">
                    <a:solidFill>
                      <a:srgbClr val="FFFFFF"/>
                    </a:solidFill>
                  </a:tcPr>
                </a:tc>
                <a:tc>
                  <a:txBody>
                    <a:bodyPr/>
                    <a:lstStyle/>
                    <a:p>
                      <a:pPr algn="ctr"/>
                      <a:r>
                        <a:rPr sz="1600" b="0">
                          <a:solidFill>
                            <a:srgbClr val="142B33"/>
                          </a:solidFill>
                          <a:latin typeface="Calibri"/>
                        </a:rPr>
                        <a:t>16</a:t>
                      </a:r>
                    </a:p>
                  </a:txBody>
                  <a:tcPr marL="73152" marR="73152" marT="27432" marB="27432" anchor="ctr">
                    <a:solidFill>
                      <a:srgbClr val="FFFFFF"/>
                    </a:solidFill>
                  </a:tcPr>
                </a:tc>
                <a:tc>
                  <a:txBody>
                    <a:bodyPr/>
                    <a:lstStyle/>
                    <a:p>
                      <a:pPr algn="ctr"/>
                      <a:r>
                        <a:rPr sz="1600" b="0">
                          <a:solidFill>
                            <a:srgbClr val="142B33"/>
                          </a:solidFill>
                          <a:latin typeface="Calibri"/>
                        </a:rPr>
                        <a:t>1/2</a:t>
                      </a:r>
                    </a:p>
                  </a:txBody>
                  <a:tcPr marL="73152" marR="73152" marT="27432" marB="27432" anchor="ctr">
                    <a:solidFill>
                      <a:srgbClr val="FFFFFF"/>
                    </a:solidFill>
                  </a:tcPr>
                </a:tc>
                <a:tc>
                  <a:txBody>
                    <a:bodyPr/>
                    <a:lstStyle/>
                    <a:p>
                      <a:pPr algn="ctr"/>
                      <a:r>
                        <a:rPr sz="1600" b="0">
                          <a:solidFill>
                            <a:srgbClr val="142B33"/>
                          </a:solidFill>
                          <a:latin typeface="Calibri"/>
                        </a:rPr>
                        <a:t>32</a:t>
                      </a:r>
                    </a:p>
                  </a:txBody>
                  <a:tcPr marL="73152" marR="73152" marT="27432" marB="27432" anchor="ctr">
                    <a:solidFill>
                      <a:srgbClr val="FFFFFF"/>
                    </a:solidFill>
                  </a:tcPr>
                </a:tc>
              </a:tr>
              <a:tr h="366776">
                <a:tc>
                  <a:txBody>
                    <a:bodyPr/>
                    <a:lstStyle/>
                    <a:p>
                      <a:pPr algn="ctr"/>
                      <a:r>
                        <a:rPr sz="1600" b="0">
                          <a:solidFill>
                            <a:srgbClr val="142B33"/>
                          </a:solidFill>
                          <a:latin typeface="Calibri"/>
                        </a:rPr>
                        <a:t>2</a:t>
                      </a:r>
                      <a:r>
                        <a:rPr sz="1600" b="0" baseline="30000">
                          <a:solidFill>
                            <a:srgbClr val="142B33"/>
                          </a:solidFill>
                          <a:latin typeface="Calibri"/>
                        </a:rPr>
                        <a:t>6−2</a:t>
                      </a:r>
                    </a:p>
                  </a:txBody>
                  <a:tcPr marL="73152" marR="73152" marT="27432" marB="27432" anchor="ctr">
                    <a:solidFill>
                      <a:srgbClr val="F4F8F9"/>
                    </a:solidFill>
                  </a:tcPr>
                </a:tc>
                <a:tc>
                  <a:txBody>
                    <a:bodyPr/>
                    <a:lstStyle/>
                    <a:p>
                      <a:pPr algn="ctr"/>
                      <a:r>
                        <a:rPr sz="1600" b="0">
                          <a:solidFill>
                            <a:srgbClr val="142B33"/>
                          </a:solidFill>
                          <a:latin typeface="Calibri"/>
                        </a:rPr>
                        <a:t>6</a:t>
                      </a:r>
                    </a:p>
                  </a:txBody>
                  <a:tcPr marL="73152" marR="73152" marT="27432" marB="27432" anchor="ctr">
                    <a:solidFill>
                      <a:srgbClr val="F4F8F9"/>
                    </a:solidFill>
                  </a:tcPr>
                </a:tc>
                <a:tc>
                  <a:txBody>
                    <a:bodyPr/>
                    <a:lstStyle/>
                    <a:p>
                      <a:pPr algn="ctr"/>
                      <a:r>
                        <a:rPr sz="1600" b="0">
                          <a:solidFill>
                            <a:srgbClr val="142B33"/>
                          </a:solidFill>
                          <a:latin typeface="Calibri"/>
                        </a:rPr>
                        <a:t>16</a:t>
                      </a:r>
                    </a:p>
                  </a:txBody>
                  <a:tcPr marL="73152" marR="73152" marT="27432" marB="27432" anchor="ctr">
                    <a:solidFill>
                      <a:srgbClr val="F4F8F9"/>
                    </a:solidFill>
                  </a:tcPr>
                </a:tc>
                <a:tc>
                  <a:txBody>
                    <a:bodyPr/>
                    <a:lstStyle/>
                    <a:p>
                      <a:pPr algn="ctr"/>
                      <a:r>
                        <a:rPr sz="1600" b="0">
                          <a:solidFill>
                            <a:srgbClr val="142B33"/>
                          </a:solidFill>
                          <a:latin typeface="Calibri"/>
                        </a:rPr>
                        <a:t>1/4</a:t>
                      </a:r>
                    </a:p>
                  </a:txBody>
                  <a:tcPr marL="73152" marR="73152" marT="27432" marB="27432" anchor="ctr">
                    <a:solidFill>
                      <a:srgbClr val="F4F8F9"/>
                    </a:solidFill>
                  </a:tcPr>
                </a:tc>
                <a:tc>
                  <a:txBody>
                    <a:bodyPr/>
                    <a:lstStyle/>
                    <a:p>
                      <a:pPr algn="ctr"/>
                      <a:r>
                        <a:rPr sz="1600" b="0">
                          <a:solidFill>
                            <a:srgbClr val="142B33"/>
                          </a:solidFill>
                          <a:latin typeface="Calibri"/>
                        </a:rPr>
                        <a:t>64</a:t>
                      </a:r>
                    </a:p>
                  </a:txBody>
                  <a:tcPr marL="73152" marR="73152" marT="27432" marB="27432" anchor="ctr">
                    <a:solidFill>
                      <a:srgbClr val="F4F8F9"/>
                    </a:solidFill>
                  </a:tcPr>
                </a:tc>
              </a:tr>
              <a:tr h="366776">
                <a:tc>
                  <a:txBody>
                    <a:bodyPr/>
                    <a:lstStyle/>
                    <a:p>
                      <a:pPr algn="ctr"/>
                      <a:r>
                        <a:rPr sz="1600" b="0">
                          <a:solidFill>
                            <a:srgbClr val="142B33"/>
                          </a:solidFill>
                          <a:latin typeface="Calibri"/>
                        </a:rPr>
                        <a:t>2</a:t>
                      </a:r>
                      <a:r>
                        <a:rPr sz="1600" b="0" baseline="30000">
                          <a:solidFill>
                            <a:srgbClr val="142B33"/>
                          </a:solidFill>
                          <a:latin typeface="Calibri"/>
                        </a:rPr>
                        <a:t>7−4</a:t>
                      </a:r>
                    </a:p>
                  </a:txBody>
                  <a:tcPr marL="73152" marR="73152" marT="27432" marB="27432" anchor="ctr">
                    <a:solidFill>
                      <a:srgbClr val="FFFFFF"/>
                    </a:solidFill>
                  </a:tcPr>
                </a:tc>
                <a:tc>
                  <a:txBody>
                    <a:bodyPr/>
                    <a:lstStyle/>
                    <a:p>
                      <a:pPr algn="ctr"/>
                      <a:r>
                        <a:rPr sz="1600" b="0">
                          <a:solidFill>
                            <a:srgbClr val="142B33"/>
                          </a:solidFill>
                          <a:latin typeface="Calibri"/>
                        </a:rPr>
                        <a:t>7</a:t>
                      </a:r>
                    </a:p>
                  </a:txBody>
                  <a:tcPr marL="73152" marR="73152" marT="27432" marB="27432" anchor="ctr">
                    <a:solidFill>
                      <a:srgbClr val="FFFFFF"/>
                    </a:solidFill>
                  </a:tcPr>
                </a:tc>
                <a:tc>
                  <a:txBody>
                    <a:bodyPr/>
                    <a:lstStyle/>
                    <a:p>
                      <a:pPr algn="ctr"/>
                      <a:r>
                        <a:rPr sz="1600" b="0">
                          <a:solidFill>
                            <a:srgbClr val="142B33"/>
                          </a:solidFill>
                          <a:latin typeface="Calibri"/>
                        </a:rPr>
                        <a:t>8</a:t>
                      </a:r>
                    </a:p>
                  </a:txBody>
                  <a:tcPr marL="73152" marR="73152" marT="27432" marB="27432" anchor="ctr">
                    <a:solidFill>
                      <a:srgbClr val="FFFFFF"/>
                    </a:solidFill>
                  </a:tcPr>
                </a:tc>
                <a:tc>
                  <a:txBody>
                    <a:bodyPr/>
                    <a:lstStyle/>
                    <a:p>
                      <a:pPr algn="ctr"/>
                      <a:r>
                        <a:rPr sz="1600" b="0">
                          <a:solidFill>
                            <a:srgbClr val="142B33"/>
                          </a:solidFill>
                          <a:latin typeface="Calibri"/>
                        </a:rPr>
                        <a:t>1/16</a:t>
                      </a:r>
                    </a:p>
                  </a:txBody>
                  <a:tcPr marL="73152" marR="73152" marT="27432" marB="27432" anchor="ctr">
                    <a:solidFill>
                      <a:srgbClr val="FFFFFF"/>
                    </a:solidFill>
                  </a:tcPr>
                </a:tc>
                <a:tc>
                  <a:txBody>
                    <a:bodyPr/>
                    <a:lstStyle/>
                    <a:p>
                      <a:pPr algn="ctr"/>
                      <a:r>
                        <a:rPr sz="1600" b="0">
                          <a:solidFill>
                            <a:srgbClr val="142B33"/>
                          </a:solidFill>
                          <a:latin typeface="Calibri"/>
                        </a:rPr>
                        <a:t>128</a:t>
                      </a:r>
                    </a:p>
                  </a:txBody>
                  <a:tcPr marL="73152" marR="73152" marT="27432" marB="27432" anchor="ctr">
                    <a:solidFill>
                      <a:srgbClr val="FFFFFF"/>
                    </a:solidFill>
                  </a:tcPr>
                </a:tc>
              </a:tr>
            </a:tbl>
          </a:graphicData>
        </a:graphic>
      </p:graphicFrame>
      <p:sp>
        <p:nvSpPr>
          <p:cNvPr id="6" name="TextBox 5"/>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¿Por qué fraccionar?</a:t>
            </a:r>
          </a:p>
        </p:txBody>
      </p:sp>
      <p:sp>
        <p:nvSpPr>
          <p:cNvPr id="7" name="TextBox 6"/>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9</a:t>
            </a:r>
          </a:p>
        </p:txBody>
      </p:sp>
      <p:sp>
        <p:nvSpPr>
          <p:cNvPr id="8" name="Rounded Rectangle 7"/>
          <p:cNvSpPr/>
          <p:nvPr/>
        </p:nvSpPr>
        <p:spPr>
          <a:xfrm>
            <a:off x="548640" y="91440"/>
            <a:ext cx="266547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1 · ¿Por qué fraccionar?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¿Cómo se lee la tabla de un factorial 2</a:t>
            </a:r>
            <a:r>
              <a:rPr sz="3000" b="1" baseline="30000">
                <a:solidFill>
                  <a:srgbClr val="0F4C5C"/>
                </a:solidFill>
                <a:latin typeface="Cambria"/>
              </a:rPr>
              <a:t>k</a:t>
            </a:r>
            <a:r>
              <a:rPr sz="3000" b="1">
                <a:solidFill>
                  <a:srgbClr val="0F4C5C"/>
                </a:solidFill>
                <a:latin typeface="Cambria"/>
              </a:rPr>
              <a:t>?</a:t>
            </a:r>
          </a:p>
        </p:txBody>
      </p:sp>
      <p:graphicFrame>
        <p:nvGraphicFramePr>
          <p:cNvPr id="3" name="Table 2"/>
          <p:cNvGraphicFramePr>
            <a:graphicFrameLocks noGrp="1"/>
          </p:cNvGraphicFramePr>
          <p:nvPr/>
        </p:nvGraphicFramePr>
        <p:xfrm>
          <a:off x="548640" y="1417320"/>
          <a:ext cx="5982439" cy="3626358"/>
        </p:xfrm>
        <a:graphic>
          <a:graphicData uri="http://schemas.openxmlformats.org/drawingml/2006/table">
            <a:tbl>
              <a:tblPr firstRow="0" bandRow="0">
                <a:tableStyleId>{5C22544A-7EE6-4342-B048-85BDC9FD1C3A}</a:tableStyleId>
              </a:tblPr>
              <a:tblGrid>
                <a:gridCol w="777717"/>
                <a:gridCol w="538419"/>
                <a:gridCol w="538419"/>
                <a:gridCol w="538419"/>
                <a:gridCol w="897366"/>
                <a:gridCol w="2692099"/>
              </a:tblGrid>
              <a:tr h="583692">
                <a:tc>
                  <a:txBody>
                    <a:bodyPr/>
                    <a:lstStyle/>
                    <a:p>
                      <a:pPr algn="ctr"/>
                      <a:r>
                        <a:rPr sz="1500" b="1">
                          <a:solidFill>
                            <a:srgbClr val="FFFFFF"/>
                          </a:solidFill>
                          <a:latin typeface="Calibri"/>
                        </a:rPr>
                        <a:t>Corrida</a:t>
                      </a:r>
                    </a:p>
                  </a:txBody>
                  <a:tcPr marL="73152" marR="73152" marT="27432" marB="27432" anchor="ctr">
                    <a:solidFill>
                      <a:srgbClr val="0F4C5C"/>
                    </a:solidFill>
                  </a:tcPr>
                </a:tc>
                <a:tc>
                  <a:txBody>
                    <a:bodyPr/>
                    <a:lstStyle/>
                    <a:p>
                      <a:pPr algn="ctr"/>
                      <a:r>
                        <a:rPr sz="1500" b="1">
                          <a:solidFill>
                            <a:srgbClr val="FFFFFF"/>
                          </a:solidFill>
                          <a:latin typeface="Calibri"/>
                        </a:rPr>
                        <a:t>A</a:t>
                      </a:r>
                    </a:p>
                  </a:txBody>
                  <a:tcPr marL="73152" marR="73152" marT="27432" marB="27432" anchor="ctr">
                    <a:solidFill>
                      <a:srgbClr val="0F4C5C"/>
                    </a:solidFill>
                  </a:tcPr>
                </a:tc>
                <a:tc>
                  <a:txBody>
                    <a:bodyPr/>
                    <a:lstStyle/>
                    <a:p>
                      <a:pPr algn="ctr"/>
                      <a:r>
                        <a:rPr sz="1500" b="1">
                          <a:solidFill>
                            <a:srgbClr val="FFFFFF"/>
                          </a:solidFill>
                          <a:latin typeface="Calibri"/>
                        </a:rPr>
                        <a:t>B</a:t>
                      </a:r>
                    </a:p>
                  </a:txBody>
                  <a:tcPr marL="73152" marR="73152" marT="27432" marB="27432" anchor="ctr">
                    <a:solidFill>
                      <a:srgbClr val="0F4C5C"/>
                    </a:solidFill>
                  </a:tcPr>
                </a:tc>
                <a:tc>
                  <a:txBody>
                    <a:bodyPr/>
                    <a:lstStyle/>
                    <a:p>
                      <a:pPr algn="ctr"/>
                      <a:r>
                        <a:rPr sz="1500" b="1">
                          <a:solidFill>
                            <a:srgbClr val="FFFFFF"/>
                          </a:solidFill>
                          <a:latin typeface="Calibri"/>
                        </a:rPr>
                        <a:t>C</a:t>
                      </a:r>
                    </a:p>
                  </a:txBody>
                  <a:tcPr marL="73152" marR="73152" marT="27432" marB="27432" anchor="ctr">
                    <a:solidFill>
                      <a:srgbClr val="0F4C5C"/>
                    </a:solidFill>
                  </a:tcPr>
                </a:tc>
                <a:tc>
                  <a:txBody>
                    <a:bodyPr/>
                    <a:lstStyle/>
                    <a:p>
                      <a:pPr algn="ctr"/>
                      <a:r>
                        <a:rPr sz="1500" b="1">
                          <a:solidFill>
                            <a:srgbClr val="FFFFFF"/>
                          </a:solidFill>
                          <a:latin typeface="Calibri"/>
                        </a:rPr>
                        <a:t>Etiqueta</a:t>
                      </a:r>
                    </a:p>
                  </a:txBody>
                  <a:tcPr marL="73152" marR="73152" marT="27432" marB="27432" anchor="ctr">
                    <a:solidFill>
                      <a:srgbClr val="0F4C5C"/>
                    </a:solidFill>
                  </a:tcPr>
                </a:tc>
                <a:tc>
                  <a:txBody>
                    <a:bodyPr/>
                    <a:lstStyle/>
                    <a:p>
                      <a:pPr algn="ctr"/>
                      <a:r>
                        <a:rPr sz="1500" b="1">
                          <a:solidFill>
                            <a:srgbClr val="FFFFFF"/>
                          </a:solidFill>
                          <a:latin typeface="Calibri"/>
                        </a:rPr>
                        <a:t>Factores en nivel alto</a:t>
                      </a:r>
                    </a:p>
                  </a:txBody>
                  <a:tcPr marL="73152" marR="73152" marT="27432" marB="27432" anchor="ctr">
                    <a:solidFill>
                      <a:srgbClr val="0F4C5C"/>
                    </a:solidFill>
                  </a:tcPr>
                </a:tc>
              </a:tr>
              <a:tr h="583692">
                <a:tc>
                  <a:txBody>
                    <a:bodyPr/>
                    <a:lstStyle/>
                    <a:p>
                      <a:pPr algn="ctr"/>
                      <a:r>
                        <a:rPr sz="1500" b="0">
                          <a:solidFill>
                            <a:srgbClr val="142B33"/>
                          </a:solidFill>
                          <a:latin typeface="Calibri"/>
                        </a:rPr>
                        <a:t>1</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(1)</a:t>
                      </a:r>
                    </a:p>
                  </a:txBody>
                  <a:tcPr marL="73152" marR="73152" marT="27432" marB="27432" anchor="ctr">
                    <a:solidFill>
                      <a:srgbClr val="FFFFFF"/>
                    </a:solidFill>
                  </a:tcPr>
                </a:tc>
                <a:tc>
                  <a:txBody>
                    <a:bodyPr/>
                    <a:lstStyle/>
                    <a:p>
                      <a:pPr algn="ctr"/>
                      <a:r>
                        <a:rPr sz="1500" b="0">
                          <a:solidFill>
                            <a:srgbClr val="142B33"/>
                          </a:solidFill>
                          <a:latin typeface="Calibri"/>
                        </a:rPr>
                        <a:t>ninguno (todos en nivel bajo)</a:t>
                      </a:r>
                    </a:p>
                  </a:txBody>
                  <a:tcPr marL="73152" marR="73152" marT="27432" marB="27432" anchor="ctr">
                    <a:solidFill>
                      <a:srgbClr val="FFFFFF"/>
                    </a:solidFill>
                  </a:tcPr>
                </a:tc>
              </a:tr>
              <a:tr h="351282">
                <a:tc>
                  <a:txBody>
                    <a:bodyPr/>
                    <a:lstStyle/>
                    <a:p>
                      <a:pPr algn="ctr"/>
                      <a:r>
                        <a:rPr sz="1500" b="0">
                          <a:solidFill>
                            <a:srgbClr val="142B33"/>
                          </a:solidFill>
                          <a:latin typeface="Calibri"/>
                        </a:rPr>
                        <a:t>2</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a</a:t>
                      </a:r>
                    </a:p>
                  </a:txBody>
                  <a:tcPr marL="73152" marR="73152" marT="27432" marB="27432" anchor="ctr">
                    <a:solidFill>
                      <a:srgbClr val="F4F8F9"/>
                    </a:solidFill>
                  </a:tcPr>
                </a:tc>
                <a:tc>
                  <a:txBody>
                    <a:bodyPr/>
                    <a:lstStyle/>
                    <a:p>
                      <a:pPr algn="ctr"/>
                      <a:r>
                        <a:rPr sz="1500" b="0">
                          <a:solidFill>
                            <a:srgbClr val="142B33"/>
                          </a:solidFill>
                          <a:latin typeface="Calibri"/>
                        </a:rPr>
                        <a:t>A</a:t>
                      </a:r>
                    </a:p>
                  </a:txBody>
                  <a:tcPr marL="73152" marR="73152" marT="27432" marB="27432" anchor="ctr">
                    <a:solidFill>
                      <a:srgbClr val="F4F8F9"/>
                    </a:solidFill>
                  </a:tcPr>
                </a:tc>
              </a:tr>
              <a:tr h="351282">
                <a:tc>
                  <a:txBody>
                    <a:bodyPr/>
                    <a:lstStyle/>
                    <a:p>
                      <a:pPr algn="ctr"/>
                      <a:r>
                        <a:rPr sz="1500" b="0">
                          <a:solidFill>
                            <a:srgbClr val="142B33"/>
                          </a:solidFill>
                          <a:latin typeface="Calibri"/>
                        </a:rPr>
                        <a:t>3</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b</a:t>
                      </a:r>
                    </a:p>
                  </a:txBody>
                  <a:tcPr marL="73152" marR="73152" marT="27432" marB="27432" anchor="ctr">
                    <a:solidFill>
                      <a:srgbClr val="FFFFFF"/>
                    </a:solidFill>
                  </a:tcPr>
                </a:tc>
                <a:tc>
                  <a:txBody>
                    <a:bodyPr/>
                    <a:lstStyle/>
                    <a:p>
                      <a:pPr algn="ctr"/>
                      <a:r>
                        <a:rPr sz="1500" b="0">
                          <a:solidFill>
                            <a:srgbClr val="142B33"/>
                          </a:solidFill>
                          <a:latin typeface="Calibri"/>
                        </a:rPr>
                        <a:t>B</a:t>
                      </a:r>
                    </a:p>
                  </a:txBody>
                  <a:tcPr marL="73152" marR="73152" marT="27432" marB="27432" anchor="ctr">
                    <a:solidFill>
                      <a:srgbClr val="FFFFFF"/>
                    </a:solidFill>
                  </a:tcPr>
                </a:tc>
              </a:tr>
              <a:tr h="351282">
                <a:tc>
                  <a:txBody>
                    <a:bodyPr/>
                    <a:lstStyle/>
                    <a:p>
                      <a:pPr algn="ctr"/>
                      <a:r>
                        <a:rPr sz="1500" b="0">
                          <a:solidFill>
                            <a:srgbClr val="142B33"/>
                          </a:solidFill>
                          <a:latin typeface="Calibri"/>
                        </a:rPr>
                        <a:t>4</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ab</a:t>
                      </a:r>
                    </a:p>
                  </a:txBody>
                  <a:tcPr marL="73152" marR="73152" marT="27432" marB="27432" anchor="ctr">
                    <a:solidFill>
                      <a:srgbClr val="F4F8F9"/>
                    </a:solidFill>
                  </a:tcPr>
                </a:tc>
                <a:tc>
                  <a:txBody>
                    <a:bodyPr/>
                    <a:lstStyle/>
                    <a:p>
                      <a:pPr algn="ctr"/>
                      <a:r>
                        <a:rPr sz="1500" b="0">
                          <a:solidFill>
                            <a:srgbClr val="142B33"/>
                          </a:solidFill>
                          <a:latin typeface="Calibri"/>
                        </a:rPr>
                        <a:t>A y B</a:t>
                      </a:r>
                    </a:p>
                  </a:txBody>
                  <a:tcPr marL="73152" marR="73152" marT="27432" marB="27432" anchor="ctr">
                    <a:solidFill>
                      <a:srgbClr val="F4F8F9"/>
                    </a:solidFill>
                  </a:tcPr>
                </a:tc>
              </a:tr>
              <a:tr h="351282">
                <a:tc>
                  <a:txBody>
                    <a:bodyPr/>
                    <a:lstStyle/>
                    <a:p>
                      <a:pPr algn="ctr"/>
                      <a:r>
                        <a:rPr sz="1500" b="0">
                          <a:solidFill>
                            <a:srgbClr val="142B33"/>
                          </a:solidFill>
                          <a:latin typeface="Calibri"/>
                        </a:rPr>
                        <a:t>5</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c</a:t>
                      </a:r>
                    </a:p>
                  </a:txBody>
                  <a:tcPr marL="73152" marR="73152" marT="27432" marB="27432" anchor="ctr">
                    <a:solidFill>
                      <a:srgbClr val="FFFFFF"/>
                    </a:solidFill>
                  </a:tcPr>
                </a:tc>
                <a:tc>
                  <a:txBody>
                    <a:bodyPr/>
                    <a:lstStyle/>
                    <a:p>
                      <a:pPr algn="ctr"/>
                      <a:r>
                        <a:rPr sz="1500" b="0">
                          <a:solidFill>
                            <a:srgbClr val="142B33"/>
                          </a:solidFill>
                          <a:latin typeface="Calibri"/>
                        </a:rPr>
                        <a:t>C</a:t>
                      </a:r>
                    </a:p>
                  </a:txBody>
                  <a:tcPr marL="73152" marR="73152" marT="27432" marB="27432" anchor="ctr">
                    <a:solidFill>
                      <a:srgbClr val="FFFFFF"/>
                    </a:solidFill>
                  </a:tcPr>
                </a:tc>
              </a:tr>
              <a:tr h="351282">
                <a:tc>
                  <a:txBody>
                    <a:bodyPr/>
                    <a:lstStyle/>
                    <a:p>
                      <a:pPr algn="ctr"/>
                      <a:r>
                        <a:rPr sz="1500" b="0">
                          <a:solidFill>
                            <a:srgbClr val="142B33"/>
                          </a:solidFill>
                          <a:latin typeface="Calibri"/>
                        </a:rPr>
                        <a:t>6</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ac</a:t>
                      </a:r>
                    </a:p>
                  </a:txBody>
                  <a:tcPr marL="73152" marR="73152" marT="27432" marB="27432" anchor="ctr">
                    <a:solidFill>
                      <a:srgbClr val="F4F8F9"/>
                    </a:solidFill>
                  </a:tcPr>
                </a:tc>
                <a:tc>
                  <a:txBody>
                    <a:bodyPr/>
                    <a:lstStyle/>
                    <a:p>
                      <a:pPr algn="ctr"/>
                      <a:r>
                        <a:rPr sz="1500" b="0">
                          <a:solidFill>
                            <a:srgbClr val="142B33"/>
                          </a:solidFill>
                          <a:latin typeface="Calibri"/>
                        </a:rPr>
                        <a:t>A y C</a:t>
                      </a:r>
                    </a:p>
                  </a:txBody>
                  <a:tcPr marL="73152" marR="73152" marT="27432" marB="27432" anchor="ctr">
                    <a:solidFill>
                      <a:srgbClr val="F4F8F9"/>
                    </a:solidFill>
                  </a:tcPr>
                </a:tc>
              </a:tr>
              <a:tr h="351282">
                <a:tc>
                  <a:txBody>
                    <a:bodyPr/>
                    <a:lstStyle/>
                    <a:p>
                      <a:pPr algn="ctr"/>
                      <a:r>
                        <a:rPr sz="1500" b="0">
                          <a:solidFill>
                            <a:srgbClr val="142B33"/>
                          </a:solidFill>
                          <a:latin typeface="Calibri"/>
                        </a:rPr>
                        <a:t>7</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bc</a:t>
                      </a:r>
                    </a:p>
                  </a:txBody>
                  <a:tcPr marL="73152" marR="73152" marT="27432" marB="27432" anchor="ctr">
                    <a:solidFill>
                      <a:srgbClr val="FFFFFF"/>
                    </a:solidFill>
                  </a:tcPr>
                </a:tc>
                <a:tc>
                  <a:txBody>
                    <a:bodyPr/>
                    <a:lstStyle/>
                    <a:p>
                      <a:pPr algn="ctr"/>
                      <a:r>
                        <a:rPr sz="1500" b="0">
                          <a:solidFill>
                            <a:srgbClr val="142B33"/>
                          </a:solidFill>
                          <a:latin typeface="Calibri"/>
                        </a:rPr>
                        <a:t>B y C</a:t>
                      </a:r>
                    </a:p>
                  </a:txBody>
                  <a:tcPr marL="73152" marR="73152" marT="27432" marB="27432" anchor="ctr">
                    <a:solidFill>
                      <a:srgbClr val="FFFFFF"/>
                    </a:solidFill>
                  </a:tcPr>
                </a:tc>
              </a:tr>
              <a:tr h="351282">
                <a:tc>
                  <a:txBody>
                    <a:bodyPr/>
                    <a:lstStyle/>
                    <a:p>
                      <a:pPr algn="ctr"/>
                      <a:r>
                        <a:rPr sz="1500" b="0">
                          <a:solidFill>
                            <a:srgbClr val="142B33"/>
                          </a:solidFill>
                          <a:latin typeface="Calibri"/>
                        </a:rPr>
                        <a:t>8</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abc</a:t>
                      </a:r>
                    </a:p>
                  </a:txBody>
                  <a:tcPr marL="73152" marR="73152" marT="27432" marB="27432" anchor="ctr">
                    <a:solidFill>
                      <a:srgbClr val="F4F8F9"/>
                    </a:solidFill>
                  </a:tcPr>
                </a:tc>
                <a:tc>
                  <a:txBody>
                    <a:bodyPr/>
                    <a:lstStyle/>
                    <a:p>
                      <a:pPr algn="ctr"/>
                      <a:r>
                        <a:rPr sz="1500" b="0">
                          <a:solidFill>
                            <a:srgbClr val="142B33"/>
                          </a:solidFill>
                          <a:latin typeface="Calibri"/>
                        </a:rPr>
                        <a:t>A, B y C</a:t>
                      </a:r>
                    </a:p>
                  </a:txBody>
                  <a:tcPr marL="73152" marR="73152" marT="27432" marB="27432" anchor="ctr">
                    <a:solidFill>
                      <a:srgbClr val="F4F8F9"/>
                    </a:solidFill>
                  </a:tcPr>
                </a:tc>
              </a:tr>
            </a:tbl>
          </a:graphicData>
        </a:graphic>
      </p:graphicFrame>
      <p:sp>
        <p:nvSpPr>
          <p:cNvPr id="4" name="TextBox 3"/>
          <p:cNvSpPr txBox="1"/>
          <p:nvPr/>
        </p:nvSpPr>
        <p:spPr>
          <a:xfrm>
            <a:off x="6942563" y="1417320"/>
            <a:ext cx="4700491" cy="3220719"/>
          </a:xfrm>
          <a:prstGeom prst="rect">
            <a:avLst/>
          </a:prstGeom>
          <a:noFill/>
        </p:spPr>
        <p:txBody>
          <a:bodyPr wrap="square" anchor="t" lIns="0" rIns="0" tIns="0" bIns="0">
            <a:spAutoFit/>
          </a:bodyPr>
          <a:lstStyle/>
          <a:p>
            <a:pPr marL="320040" indent="-320040">
              <a:spcAft>
                <a:spcPts val="600"/>
              </a:spcAft>
              <a:buClr>
                <a:srgbClr val="E36414"/>
              </a:buClr>
              <a:buFont typeface="Arial"/>
              <a:buChar char="•"/>
            </a:pPr>
            <a:r>
              <a:rPr sz="1600" b="1">
                <a:solidFill>
                  <a:srgbClr val="142B33"/>
                </a:solidFill>
                <a:latin typeface="Calibri"/>
              </a:rPr>
              <a:t>Columnas, mayúsculas</a:t>
            </a:r>
            <a:r>
              <a:rPr sz="1600" b="0">
                <a:solidFill>
                  <a:srgbClr val="142B33"/>
                </a:solidFill>
                <a:latin typeface="Calibri"/>
              </a:rPr>
              <a:t>: los factores A, B, C (y sus efectos)</a:t>
            </a:r>
          </a:p>
          <a:p>
            <a:pPr marL="320040" indent="-320040">
              <a:spcAft>
                <a:spcPts val="600"/>
              </a:spcAft>
              <a:buClr>
                <a:srgbClr val="E36414"/>
              </a:buClr>
              <a:buFont typeface="Arial"/>
              <a:buChar char="•"/>
            </a:pPr>
            <a:r>
              <a:rPr sz="1600" b="1">
                <a:solidFill>
                  <a:srgbClr val="142B33"/>
                </a:solidFill>
                <a:latin typeface="Calibri"/>
              </a:rPr>
              <a:t>Filas, minúsculas</a:t>
            </a:r>
            <a:r>
              <a:rPr sz="1600" b="0">
                <a:solidFill>
                  <a:srgbClr val="142B33"/>
                </a:solidFill>
                <a:latin typeface="Calibri"/>
              </a:rPr>
              <a:t>: las combinaciones de tratamientos</a:t>
            </a:r>
          </a:p>
          <a:p>
            <a:pPr marL="320040" indent="-320040">
              <a:spcAft>
                <a:spcPts val="600"/>
              </a:spcAft>
              <a:buClr>
                <a:srgbClr val="E36414"/>
              </a:buClr>
              <a:buFont typeface="Arial"/>
              <a:buChar char="•"/>
            </a:pPr>
            <a:r>
              <a:rPr sz="1600" b="0">
                <a:solidFill>
                  <a:srgbClr val="142B33"/>
                </a:solidFill>
                <a:latin typeface="Calibri"/>
              </a:rPr>
              <a:t>Letra </a:t>
            </a:r>
            <a:r>
              <a:rPr sz="1600" b="1">
                <a:solidFill>
                  <a:srgbClr val="142B33"/>
                </a:solidFill>
                <a:latin typeface="Calibri"/>
              </a:rPr>
              <a:t>presente</a:t>
            </a:r>
            <a:r>
              <a:rPr sz="1600" b="0">
                <a:solidFill>
                  <a:srgbClr val="142B33"/>
                </a:solidFill>
                <a:latin typeface="Calibri"/>
              </a:rPr>
              <a:t> = factor en nivel alto (+); </a:t>
            </a:r>
            <a:r>
              <a:rPr sz="1600" b="1">
                <a:solidFill>
                  <a:srgbClr val="142B33"/>
                </a:solidFill>
                <a:latin typeface="Calibri"/>
              </a:rPr>
              <a:t>ausente</a:t>
            </a:r>
            <a:r>
              <a:rPr sz="1600" b="0">
                <a:solidFill>
                  <a:srgbClr val="142B33"/>
                </a:solidFill>
                <a:latin typeface="Calibri"/>
              </a:rPr>
              <a:t> = nivel bajo (−)</a:t>
            </a:r>
          </a:p>
          <a:p>
            <a:pPr marL="320040" indent="-320040">
              <a:spcAft>
                <a:spcPts val="600"/>
              </a:spcAft>
              <a:buClr>
                <a:srgbClr val="E36414"/>
              </a:buClr>
              <a:buFont typeface="Arial"/>
              <a:buChar char="•"/>
            </a:pPr>
            <a:r>
              <a:rPr sz="1600" b="1">
                <a:solidFill>
                  <a:srgbClr val="142B33"/>
                </a:solidFill>
                <a:latin typeface="Calibri"/>
              </a:rPr>
              <a:t>(1)</a:t>
            </a:r>
            <a:r>
              <a:rPr sz="1600" b="0">
                <a:solidFill>
                  <a:srgbClr val="142B33"/>
                </a:solidFill>
                <a:latin typeface="Calibri"/>
              </a:rPr>
              <a:t> = todos los factores en nivel bajo</a:t>
            </a:r>
          </a:p>
          <a:p>
            <a:pPr marL="320040" indent="-320040">
              <a:spcAft>
                <a:spcPts val="600"/>
              </a:spcAft>
              <a:buClr>
                <a:srgbClr val="E36414"/>
              </a:buClr>
              <a:buFont typeface="Arial"/>
              <a:buChar char="•"/>
            </a:pPr>
            <a:r>
              <a:rPr sz="1600" b="1">
                <a:solidFill>
                  <a:srgbClr val="142B33"/>
                </a:solidFill>
                <a:latin typeface="Calibri"/>
              </a:rPr>
              <a:t>Orden estándar (Yates)</a:t>
            </a:r>
            <a:r>
              <a:rPr sz="1600" b="0">
                <a:solidFill>
                  <a:srgbClr val="142B33"/>
                </a:solidFill>
                <a:latin typeface="Calibri"/>
              </a:rPr>
              <a:t>: A alterna de uno en uno, B de dos en dos, C de cuatro en cuatro</a:t>
            </a:r>
          </a:p>
          <a:p>
            <a:pPr marL="320040" indent="-320040">
              <a:spcAft>
                <a:spcPts val="600"/>
              </a:spcAft>
              <a:buClr>
                <a:srgbClr val="E36414"/>
              </a:buClr>
              <a:buFont typeface="Arial"/>
              <a:buChar char="•"/>
            </a:pPr>
            <a:r>
              <a:rPr sz="1600" b="0">
                <a:solidFill>
                  <a:srgbClr val="142B33"/>
                </a:solidFill>
                <a:latin typeface="Calibri"/>
              </a:rPr>
              <a:t>La minúscula también denota la </a:t>
            </a:r>
            <a:r>
              <a:rPr sz="1600" b="1">
                <a:solidFill>
                  <a:srgbClr val="142B33"/>
                </a:solidFill>
                <a:latin typeface="Calibri"/>
              </a:rPr>
              <a:t>respuesta observada</a:t>
            </a:r>
            <a:r>
              <a:rPr sz="1600" b="0">
                <a:solidFill>
                  <a:srgbClr val="142B33"/>
                </a:solidFill>
                <a:latin typeface="Calibri"/>
              </a:rPr>
              <a:t> en esa corrida</a:t>
            </a:r>
          </a:p>
        </p:txBody>
      </p:sp>
      <p:sp>
        <p:nvSpPr>
          <p:cNvPr id="5" name="Rounded Rectangle 4"/>
          <p:cNvSpPr/>
          <p:nvPr/>
        </p:nvSpPr>
        <p:spPr>
          <a:xfrm>
            <a:off x="6942563" y="4839208"/>
            <a:ext cx="4700491" cy="708151"/>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400" b="0">
                <a:solidFill>
                  <a:srgbClr val="142B33"/>
                </a:solidFill>
                <a:latin typeface="Calibri"/>
              </a:rPr>
              <a:t>La letra I se reserva para la identidad; por eso tras H el siguiente factor es J</a:t>
            </a:r>
          </a:p>
        </p:txBody>
      </p:sp>
      <p:sp>
        <p:nvSpPr>
          <p:cNvPr id="6" name="TextBox 5"/>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¿Por qué fraccionar?</a:t>
            </a:r>
          </a:p>
        </p:txBody>
      </p:sp>
      <p:sp>
        <p:nvSpPr>
          <p:cNvPr id="7" name="TextBox 6"/>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10</a:t>
            </a:r>
          </a:p>
        </p:txBody>
      </p:sp>
      <p:sp>
        <p:nvSpPr>
          <p:cNvPr id="8" name="Rounded Rectangle 7"/>
          <p:cNvSpPr/>
          <p:nvPr/>
        </p:nvSpPr>
        <p:spPr>
          <a:xfrm>
            <a:off x="548640" y="91440"/>
            <a:ext cx="266547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1 · ¿Por qué fraccionar?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¿Cómo se completa la tabla de signos del 2</a:t>
            </a:r>
            <a:r>
              <a:rPr sz="3000" b="1" baseline="30000">
                <a:solidFill>
                  <a:srgbClr val="0F4C5C"/>
                </a:solidFill>
                <a:latin typeface="Cambria"/>
              </a:rPr>
              <a:t>k</a:t>
            </a:r>
            <a:r>
              <a:rPr sz="3000" b="1">
                <a:solidFill>
                  <a:srgbClr val="0F4C5C"/>
                </a:solidFill>
                <a:latin typeface="Cambria"/>
              </a:rPr>
              <a:t>?</a:t>
            </a:r>
          </a:p>
        </p:txBody>
      </p:sp>
      <p:graphicFrame>
        <p:nvGraphicFramePr>
          <p:cNvPr id="3" name="Table 2"/>
          <p:cNvGraphicFramePr>
            <a:graphicFrameLocks noGrp="1"/>
          </p:cNvGraphicFramePr>
          <p:nvPr/>
        </p:nvGraphicFramePr>
        <p:xfrm>
          <a:off x="548640" y="1417320"/>
          <a:ext cx="5982438" cy="3161538"/>
        </p:xfrm>
        <a:graphic>
          <a:graphicData uri="http://schemas.openxmlformats.org/drawingml/2006/table">
            <a:tbl>
              <a:tblPr firstRow="0" bandRow="0">
                <a:tableStyleId>{5C22544A-7EE6-4342-B048-85BDC9FD1C3A}</a:tableStyleId>
              </a:tblPr>
              <a:tblGrid>
                <a:gridCol w="1173028"/>
                <a:gridCol w="495278"/>
                <a:gridCol w="495278"/>
                <a:gridCol w="495278"/>
                <a:gridCol w="495278"/>
                <a:gridCol w="664715"/>
                <a:gridCol w="664715"/>
                <a:gridCol w="664715"/>
                <a:gridCol w="834153"/>
              </a:tblGrid>
              <a:tr h="351282">
                <a:tc>
                  <a:txBody>
                    <a:bodyPr/>
                    <a:lstStyle/>
                    <a:p>
                      <a:pPr algn="l"/>
                      <a:r>
                        <a:rPr sz="1500" b="1">
                          <a:solidFill>
                            <a:srgbClr val="FFFFFF"/>
                          </a:solidFill>
                          <a:latin typeface="Calibri"/>
                        </a:rPr>
                        <a:t>Trat.</a:t>
                      </a:r>
                    </a:p>
                  </a:txBody>
                  <a:tcPr marL="73152" marR="73152" marT="27432" marB="27432" anchor="ctr">
                    <a:solidFill>
                      <a:srgbClr val="0F4C5C"/>
                    </a:solidFill>
                  </a:tcPr>
                </a:tc>
                <a:tc>
                  <a:txBody>
                    <a:bodyPr/>
                    <a:lstStyle/>
                    <a:p>
                      <a:pPr algn="ctr"/>
                      <a:r>
                        <a:rPr sz="1500" b="1">
                          <a:solidFill>
                            <a:srgbClr val="FFFFFF"/>
                          </a:solidFill>
                          <a:latin typeface="Calibri"/>
                        </a:rPr>
                        <a:t>I</a:t>
                      </a:r>
                    </a:p>
                  </a:txBody>
                  <a:tcPr marL="73152" marR="73152" marT="27432" marB="27432" anchor="ctr">
                    <a:solidFill>
                      <a:srgbClr val="0F4C5C"/>
                    </a:solidFill>
                  </a:tcPr>
                </a:tc>
                <a:tc>
                  <a:txBody>
                    <a:bodyPr/>
                    <a:lstStyle/>
                    <a:p>
                      <a:pPr algn="ctr"/>
                      <a:r>
                        <a:rPr sz="1500" b="1">
                          <a:solidFill>
                            <a:srgbClr val="FFFFFF"/>
                          </a:solidFill>
                          <a:latin typeface="Calibri"/>
                        </a:rPr>
                        <a:t>A</a:t>
                      </a:r>
                    </a:p>
                  </a:txBody>
                  <a:tcPr marL="73152" marR="73152" marT="27432" marB="27432" anchor="ctr">
                    <a:solidFill>
                      <a:srgbClr val="0F4C5C"/>
                    </a:solidFill>
                  </a:tcPr>
                </a:tc>
                <a:tc>
                  <a:txBody>
                    <a:bodyPr/>
                    <a:lstStyle/>
                    <a:p>
                      <a:pPr algn="ctr"/>
                      <a:r>
                        <a:rPr sz="1500" b="1">
                          <a:solidFill>
                            <a:srgbClr val="FFFFFF"/>
                          </a:solidFill>
                          <a:latin typeface="Calibri"/>
                        </a:rPr>
                        <a:t>B</a:t>
                      </a:r>
                    </a:p>
                  </a:txBody>
                  <a:tcPr marL="73152" marR="73152" marT="27432" marB="27432" anchor="ctr">
                    <a:solidFill>
                      <a:srgbClr val="0F4C5C"/>
                    </a:solidFill>
                  </a:tcPr>
                </a:tc>
                <a:tc>
                  <a:txBody>
                    <a:bodyPr/>
                    <a:lstStyle/>
                    <a:p>
                      <a:pPr algn="ctr"/>
                      <a:r>
                        <a:rPr sz="1500" b="1">
                          <a:solidFill>
                            <a:srgbClr val="FFFFFF"/>
                          </a:solidFill>
                          <a:latin typeface="Calibri"/>
                        </a:rPr>
                        <a:t>C</a:t>
                      </a:r>
                    </a:p>
                  </a:txBody>
                  <a:tcPr marL="73152" marR="73152" marT="27432" marB="27432" anchor="ctr">
                    <a:solidFill>
                      <a:srgbClr val="0F4C5C"/>
                    </a:solidFill>
                  </a:tcPr>
                </a:tc>
                <a:tc>
                  <a:txBody>
                    <a:bodyPr/>
                    <a:lstStyle/>
                    <a:p>
                      <a:pPr algn="ctr"/>
                      <a:r>
                        <a:rPr sz="1500" b="1">
                          <a:solidFill>
                            <a:srgbClr val="FFFFFF"/>
                          </a:solidFill>
                          <a:latin typeface="Calibri"/>
                        </a:rPr>
                        <a:t>AB</a:t>
                      </a:r>
                    </a:p>
                  </a:txBody>
                  <a:tcPr marL="73152" marR="73152" marT="27432" marB="27432" anchor="ctr">
                    <a:solidFill>
                      <a:srgbClr val="0F4C5C"/>
                    </a:solidFill>
                  </a:tcPr>
                </a:tc>
                <a:tc>
                  <a:txBody>
                    <a:bodyPr/>
                    <a:lstStyle/>
                    <a:p>
                      <a:pPr algn="ctr"/>
                      <a:r>
                        <a:rPr sz="1500" b="1">
                          <a:solidFill>
                            <a:srgbClr val="FFFFFF"/>
                          </a:solidFill>
                          <a:latin typeface="Calibri"/>
                        </a:rPr>
                        <a:t>AC</a:t>
                      </a:r>
                    </a:p>
                  </a:txBody>
                  <a:tcPr marL="73152" marR="73152" marT="27432" marB="27432" anchor="ctr">
                    <a:solidFill>
                      <a:srgbClr val="0F4C5C"/>
                    </a:solidFill>
                  </a:tcPr>
                </a:tc>
                <a:tc>
                  <a:txBody>
                    <a:bodyPr/>
                    <a:lstStyle/>
                    <a:p>
                      <a:pPr algn="ctr"/>
                      <a:r>
                        <a:rPr sz="1500" b="1">
                          <a:solidFill>
                            <a:srgbClr val="FFFFFF"/>
                          </a:solidFill>
                          <a:latin typeface="Calibri"/>
                        </a:rPr>
                        <a:t>BC</a:t>
                      </a:r>
                    </a:p>
                  </a:txBody>
                  <a:tcPr marL="73152" marR="73152" marT="27432" marB="27432" anchor="ctr">
                    <a:solidFill>
                      <a:srgbClr val="0F4C5C"/>
                    </a:solidFill>
                  </a:tcPr>
                </a:tc>
                <a:tc>
                  <a:txBody>
                    <a:bodyPr/>
                    <a:lstStyle/>
                    <a:p>
                      <a:pPr algn="ctr"/>
                      <a:r>
                        <a:rPr sz="1500" b="1">
                          <a:solidFill>
                            <a:srgbClr val="FFFFFF"/>
                          </a:solidFill>
                          <a:latin typeface="Calibri"/>
                        </a:rPr>
                        <a:t>ABC</a:t>
                      </a:r>
                    </a:p>
                  </a:txBody>
                  <a:tcPr marL="73152" marR="73152" marT="27432" marB="27432" anchor="ctr">
                    <a:solidFill>
                      <a:srgbClr val="0F4C5C"/>
                    </a:solidFill>
                  </a:tcPr>
                </a:tc>
              </a:tr>
              <a:tr h="351282">
                <a:tc>
                  <a:txBody>
                    <a:bodyPr/>
                    <a:lstStyle/>
                    <a:p>
                      <a:pPr algn="l"/>
                      <a:r>
                        <a:rPr sz="1500" b="0">
                          <a:solidFill>
                            <a:srgbClr val="142B33"/>
                          </a:solidFill>
                          <a:latin typeface="Calibri"/>
                        </a:rPr>
                        <a:t>(1)</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r>
              <a:tr h="351282">
                <a:tc>
                  <a:txBody>
                    <a:bodyPr/>
                    <a:lstStyle/>
                    <a:p>
                      <a:pPr algn="l"/>
                      <a:r>
                        <a:rPr sz="1500" b="0">
                          <a:solidFill>
                            <a:srgbClr val="142B33"/>
                          </a:solidFill>
                          <a:latin typeface="Calibri"/>
                        </a:rPr>
                        <a:t>a</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r>
              <a:tr h="351282">
                <a:tc>
                  <a:txBody>
                    <a:bodyPr/>
                    <a:lstStyle/>
                    <a:p>
                      <a:pPr algn="l"/>
                      <a:r>
                        <a:rPr sz="1500" b="0">
                          <a:solidFill>
                            <a:srgbClr val="142B33"/>
                          </a:solidFill>
                          <a:latin typeface="Calibri"/>
                        </a:rPr>
                        <a:t>b</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r>
              <a:tr h="351282">
                <a:tc>
                  <a:txBody>
                    <a:bodyPr/>
                    <a:lstStyle/>
                    <a:p>
                      <a:pPr algn="l"/>
                      <a:r>
                        <a:rPr sz="1500" b="0">
                          <a:solidFill>
                            <a:srgbClr val="142B33"/>
                          </a:solidFill>
                          <a:latin typeface="Calibri"/>
                        </a:rPr>
                        <a:t>ab</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r>
              <a:tr h="351282">
                <a:tc>
                  <a:txBody>
                    <a:bodyPr/>
                    <a:lstStyle/>
                    <a:p>
                      <a:pPr algn="l"/>
                      <a:r>
                        <a:rPr sz="1500" b="0">
                          <a:solidFill>
                            <a:srgbClr val="142B33"/>
                          </a:solidFill>
                          <a:latin typeface="Calibri"/>
                        </a:rPr>
                        <a:t>c</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r>
              <a:tr h="351282">
                <a:tc>
                  <a:txBody>
                    <a:bodyPr/>
                    <a:lstStyle/>
                    <a:p>
                      <a:pPr algn="l"/>
                      <a:r>
                        <a:rPr sz="1500" b="0">
                          <a:solidFill>
                            <a:srgbClr val="142B33"/>
                          </a:solidFill>
                          <a:latin typeface="Calibri"/>
                        </a:rPr>
                        <a:t>ac</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r>
              <a:tr h="351282">
                <a:tc>
                  <a:txBody>
                    <a:bodyPr/>
                    <a:lstStyle/>
                    <a:p>
                      <a:pPr algn="l"/>
                      <a:r>
                        <a:rPr sz="1500" b="0">
                          <a:solidFill>
                            <a:srgbClr val="142B33"/>
                          </a:solidFill>
                          <a:latin typeface="Calibri"/>
                        </a:rPr>
                        <a:t>bc</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r>
              <a:tr h="351282">
                <a:tc>
                  <a:txBody>
                    <a:bodyPr/>
                    <a:lstStyle/>
                    <a:p>
                      <a:pPr algn="l"/>
                      <a:r>
                        <a:rPr sz="1500" b="0">
                          <a:solidFill>
                            <a:srgbClr val="142B33"/>
                          </a:solidFill>
                          <a:latin typeface="Calibri"/>
                        </a:rPr>
                        <a:t>abc</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r>
            </a:tbl>
          </a:graphicData>
        </a:graphic>
      </p:graphicFrame>
      <p:sp>
        <p:nvSpPr>
          <p:cNvPr id="4" name="Rounded Rectangle 3"/>
          <p:cNvSpPr/>
          <p:nvPr/>
        </p:nvSpPr>
        <p:spPr>
          <a:xfrm>
            <a:off x="548640" y="4780026"/>
            <a:ext cx="5982443" cy="708151"/>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400" b="0">
                <a:solidFill>
                  <a:srgbClr val="142B33"/>
                </a:solidFill>
                <a:latin typeface="Calibri"/>
              </a:rPr>
              <a:t>Las columnas de interacción son </a:t>
            </a:r>
            <a:r>
              <a:rPr sz="1400" b="1">
                <a:solidFill>
                  <a:srgbClr val="142B33"/>
                </a:solidFill>
                <a:latin typeface="Calibri"/>
              </a:rPr>
              <a:t>productos de signos</a:t>
            </a:r>
            <a:r>
              <a:rPr sz="1400" b="0">
                <a:solidFill>
                  <a:srgbClr val="142B33"/>
                </a:solidFill>
                <a:latin typeface="Calibri"/>
              </a:rPr>
              <a:t>: en la fila a, AB = (+)(−) = −</a:t>
            </a:r>
          </a:p>
        </p:txBody>
      </p:sp>
      <p:sp>
        <p:nvSpPr>
          <p:cNvPr id="5" name="TextBox 4"/>
          <p:cNvSpPr txBox="1"/>
          <p:nvPr/>
        </p:nvSpPr>
        <p:spPr>
          <a:xfrm>
            <a:off x="6942563" y="1417320"/>
            <a:ext cx="4700491" cy="2890519"/>
          </a:xfrm>
          <a:prstGeom prst="rect">
            <a:avLst/>
          </a:prstGeom>
          <a:noFill/>
        </p:spPr>
        <p:txBody>
          <a:bodyPr wrap="square" anchor="t" lIns="0" rIns="0" tIns="0" bIns="0">
            <a:spAutoFit/>
          </a:bodyPr>
          <a:lstStyle/>
          <a:p>
            <a:pPr marL="320040" indent="-320040">
              <a:spcAft>
                <a:spcPts val="600"/>
              </a:spcAft>
              <a:buClr>
                <a:srgbClr val="E36414"/>
              </a:buClr>
              <a:buFont typeface="Arial"/>
              <a:buChar char="•"/>
            </a:pPr>
            <a:r>
              <a:rPr sz="1600" b="1">
                <a:solidFill>
                  <a:srgbClr val="142B33"/>
                </a:solidFill>
                <a:latin typeface="Calibri"/>
              </a:rPr>
              <a:t>2</a:t>
            </a:r>
            <a:r>
              <a:rPr sz="1600" b="1" baseline="30000">
                <a:solidFill>
                  <a:srgbClr val="142B33"/>
                </a:solidFill>
                <a:latin typeface="Calibri"/>
              </a:rPr>
              <a:t>k</a:t>
            </a:r>
            <a:r>
              <a:rPr sz="1600" b="1">
                <a:solidFill>
                  <a:srgbClr val="142B33"/>
                </a:solidFill>
                <a:latin typeface="Calibri"/>
              </a:rPr>
              <a:t> − 1 columnas</a:t>
            </a:r>
            <a:r>
              <a:rPr sz="1600" b="0">
                <a:solidFill>
                  <a:srgbClr val="142B33"/>
                </a:solidFill>
                <a:latin typeface="Calibri"/>
              </a:rPr>
              <a:t> de efectos: 3 principales, 3 dobles y 1 triple en el 2</a:t>
            </a:r>
            <a:r>
              <a:rPr sz="1600" b="0" baseline="30000">
                <a:solidFill>
                  <a:srgbClr val="142B33"/>
                </a:solidFill>
                <a:latin typeface="Calibri"/>
              </a:rPr>
              <a:t>3</a:t>
            </a:r>
          </a:p>
          <a:p>
            <a:pPr marL="320040" indent="-320040">
              <a:spcAft>
                <a:spcPts val="600"/>
              </a:spcAft>
              <a:buClr>
                <a:srgbClr val="E36414"/>
              </a:buClr>
              <a:buFont typeface="Arial"/>
              <a:buChar char="•"/>
            </a:pPr>
            <a:r>
              <a:rPr sz="1600" b="0">
                <a:solidFill>
                  <a:srgbClr val="142B33"/>
                </a:solidFill>
                <a:latin typeface="Calibri"/>
              </a:rPr>
              <a:t>La columna </a:t>
            </a:r>
            <a:r>
              <a:rPr sz="1600" b="1">
                <a:solidFill>
                  <a:srgbClr val="142B33"/>
                </a:solidFill>
                <a:latin typeface="Calibri"/>
              </a:rPr>
              <a:t>I</a:t>
            </a:r>
            <a:r>
              <a:rPr sz="1600" b="0">
                <a:solidFill>
                  <a:srgbClr val="142B33"/>
                </a:solidFill>
                <a:latin typeface="Calibri"/>
              </a:rPr>
              <a:t> es toda positiva y corresponde al promedio general</a:t>
            </a:r>
          </a:p>
          <a:p>
            <a:pPr marL="320040" indent="-320040">
              <a:spcAft>
                <a:spcPts val="600"/>
              </a:spcAft>
              <a:buClr>
                <a:srgbClr val="E36414"/>
              </a:buClr>
              <a:buFont typeface="Arial"/>
              <a:buChar char="•"/>
            </a:pPr>
            <a:r>
              <a:rPr sz="1600" b="0">
                <a:solidFill>
                  <a:srgbClr val="142B33"/>
                </a:solidFill>
                <a:latin typeface="Calibri"/>
              </a:rPr>
              <a:t>Cada columna de efecto tiene </a:t>
            </a:r>
            <a:r>
              <a:rPr sz="1600" b="1">
                <a:solidFill>
                  <a:srgbClr val="142B33"/>
                </a:solidFill>
                <a:latin typeface="Calibri"/>
              </a:rPr>
              <a:t>N/2 signos +</a:t>
            </a:r>
            <a:r>
              <a:rPr sz="1600" b="0">
                <a:solidFill>
                  <a:srgbClr val="142B33"/>
                </a:solidFill>
                <a:latin typeface="Calibri"/>
              </a:rPr>
              <a:t> y </a:t>
            </a:r>
            <a:r>
              <a:rPr sz="1600" b="1">
                <a:solidFill>
                  <a:srgbClr val="142B33"/>
                </a:solidFill>
                <a:latin typeface="Calibri"/>
              </a:rPr>
              <a:t>N/2 signos −</a:t>
            </a:r>
          </a:p>
          <a:p>
            <a:pPr marL="320040" indent="-320040">
              <a:spcAft>
                <a:spcPts val="600"/>
              </a:spcAft>
              <a:buClr>
                <a:srgbClr val="E36414"/>
              </a:buClr>
              <a:buFont typeface="Arial"/>
              <a:buChar char="•"/>
            </a:pPr>
            <a:r>
              <a:rPr sz="1600" b="0">
                <a:solidFill>
                  <a:srgbClr val="142B33"/>
                </a:solidFill>
                <a:latin typeface="Calibri"/>
              </a:rPr>
              <a:t>El producto de dos columnas es otra columna; una letra al cuadrado es I</a:t>
            </a:r>
          </a:p>
          <a:p>
            <a:pPr marL="320040" indent="-320040">
              <a:spcAft>
                <a:spcPts val="600"/>
              </a:spcAft>
              <a:buClr>
                <a:srgbClr val="E36414"/>
              </a:buClr>
              <a:buFont typeface="Arial"/>
              <a:buChar char="•"/>
            </a:pPr>
            <a:r>
              <a:rPr sz="1600" b="0">
                <a:solidFill>
                  <a:srgbClr val="142B33"/>
                </a:solidFill>
                <a:latin typeface="Calibri"/>
              </a:rPr>
              <a:t>Columnas </a:t>
            </a:r>
            <a:r>
              <a:rPr sz="1600" b="1">
                <a:solidFill>
                  <a:srgbClr val="142B33"/>
                </a:solidFill>
                <a:latin typeface="Calibri"/>
              </a:rPr>
              <a:t>ortogonales</a:t>
            </a:r>
            <a:r>
              <a:rPr sz="1600" b="0">
                <a:solidFill>
                  <a:srgbClr val="142B33"/>
                </a:solidFill>
                <a:latin typeface="Calibri"/>
              </a:rPr>
              <a:t>: cada efecto se estima con su propio contraste</a:t>
            </a:r>
          </a:p>
        </p:txBody>
      </p:sp>
      <p:sp>
        <p:nvSpPr>
          <p:cNvPr id="6" name="Rounded Rectangle 5"/>
          <p:cNvSpPr/>
          <p:nvPr/>
        </p:nvSpPr>
        <p:spPr>
          <a:xfrm>
            <a:off x="6942563" y="4509008"/>
            <a:ext cx="4700491" cy="899038"/>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800" b="0">
                <a:solidFill>
                  <a:srgbClr val="0F4C5C"/>
                </a:solidFill>
                <a:latin typeface="Cambria Math"/>
              </a:rPr>
              <a:t>A · AB = A</a:t>
            </a:r>
            <a:r>
              <a:rPr sz="1800" b="0" baseline="30000">
                <a:solidFill>
                  <a:srgbClr val="0F4C5C"/>
                </a:solidFill>
                <a:latin typeface="Cambria Math"/>
              </a:rPr>
              <a:t>2</a:t>
            </a:r>
            <a:r>
              <a:rPr sz="1800" b="0">
                <a:solidFill>
                  <a:srgbClr val="0F4C5C"/>
                </a:solidFill>
                <a:latin typeface="Cambria Math"/>
              </a:rPr>
              <a:t>B = B</a:t>
            </a:r>
          </a:p>
          <a:p>
            <a:pPr algn="ctr"/>
            <a:r>
              <a:rPr sz="1800" b="0">
                <a:solidFill>
                  <a:srgbClr val="0F4C5C"/>
                </a:solidFill>
                <a:latin typeface="Cambria Math"/>
              </a:rPr>
              <a:t>ℓ</a:t>
            </a:r>
            <a:r>
              <a:rPr sz="1800" b="0" baseline="-25000">
                <a:solidFill>
                  <a:srgbClr val="0F4C5C"/>
                </a:solidFill>
                <a:latin typeface="Cambria Math"/>
              </a:rPr>
              <a:t>A</a:t>
            </a:r>
            <a:r>
              <a:rPr sz="1800" b="0">
                <a:solidFill>
                  <a:srgbClr val="0F4C5C"/>
                </a:solidFill>
                <a:latin typeface="Cambria Math"/>
              </a:rPr>
              <a:t> = Σ (signo</a:t>
            </a:r>
            <a:r>
              <a:rPr sz="1800" b="0" baseline="-25000">
                <a:solidFill>
                  <a:srgbClr val="0F4C5C"/>
                </a:solidFill>
                <a:latin typeface="Cambria Math"/>
              </a:rPr>
              <a:t>A</a:t>
            </a:r>
            <a:r>
              <a:rPr sz="1800" b="0">
                <a:solidFill>
                  <a:srgbClr val="0F4C5C"/>
                </a:solidFill>
                <a:latin typeface="Cambria Math"/>
              </a:rPr>
              <a:t>) · y / (N/2)</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¿Por qué fraccionar?</a:t>
            </a:r>
          </a:p>
        </p:txBody>
      </p:sp>
      <p:sp>
        <p:nvSpPr>
          <p:cNvPr id="8" name="TextBox 7"/>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11</a:t>
            </a:r>
          </a:p>
        </p:txBody>
      </p:sp>
      <p:sp>
        <p:nvSpPr>
          <p:cNvPr id="9" name="Rounded Rectangle 8"/>
          <p:cNvSpPr/>
          <p:nvPr/>
        </p:nvSpPr>
        <p:spPr>
          <a:xfrm>
            <a:off x="548640" y="91440"/>
            <a:ext cx="266547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1 · ¿Por qué fraccionar?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4C5C"/>
        </a:solidFill>
        <a:effectLst/>
      </p:bgPr>
    </p:bg>
    <p:spTree>
      <p:nvGrpSpPr>
        <p:cNvPr id="1" name=""/>
        <p:cNvGrpSpPr/>
        <p:nvPr/>
      </p:nvGrpSpPr>
      <p:grpSpPr/>
      <p:sp>
        <p:nvSpPr>
          <p:cNvPr id="2" name="Title 1"/>
          <p:cNvSpPr>
            <a:spLocks noGrp="1"/>
          </p:cNvSpPr>
          <p:nvPr>
            <p:ph type="title"/>
          </p:nvPr>
        </p:nvSpPr>
        <p:spPr>
          <a:xfrm>
            <a:off x="548640" y="3383280"/>
            <a:ext cx="11094415" cy="914400"/>
          </a:xfrm>
        </p:spPr>
        <p:txBody>
          <a:bodyPr wrap="square" anchor="t" lIns="0" rIns="0" tIns="0" bIns="0"/>
          <a:lstStyle/>
          <a:p>
            <a:pPr algn="l"/>
            <a:r>
              <a:rPr sz="4400" b="1">
                <a:solidFill>
                  <a:srgbClr val="FFFFFF"/>
                </a:solidFill>
                <a:latin typeface="Cambria"/>
              </a:rPr>
              <a:t>El caso más pequeño: el 2</a:t>
            </a:r>
            <a:r>
              <a:rPr sz="4400" b="1" baseline="30000">
                <a:solidFill>
                  <a:srgbClr val="FFFFFF"/>
                </a:solidFill>
                <a:latin typeface="Cambria"/>
              </a:rPr>
              <a:t>3−1</a:t>
            </a:r>
          </a:p>
        </p:txBody>
      </p:sp>
      <p:sp>
        <p:nvSpPr>
          <p:cNvPr id="3" name="Oval 2"/>
          <p:cNvSpPr/>
          <p:nvPr/>
        </p:nvSpPr>
        <p:spPr>
          <a:xfrm>
            <a:off x="548640" y="2011680"/>
            <a:ext cx="1188720" cy="1188720"/>
          </a:xfrm>
          <a:prstGeom prst="ellipse">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FFFFFF"/>
                </a:solidFill>
                <a:latin typeface="Cambria"/>
              </a:rPr>
              <a:t>2</a:t>
            </a:r>
          </a:p>
        </p:txBody>
      </p:sp>
      <p:sp>
        <p:nvSpPr>
          <p:cNvPr id="4" name="TextBox 3"/>
          <p:cNvSpPr txBox="1"/>
          <p:nvPr/>
        </p:nvSpPr>
        <p:spPr>
          <a:xfrm>
            <a:off x="548640" y="4343400"/>
            <a:ext cx="11094415" cy="548640"/>
          </a:xfrm>
          <a:prstGeom prst="rect">
            <a:avLst/>
          </a:prstGeom>
          <a:noFill/>
        </p:spPr>
        <p:txBody>
          <a:bodyPr wrap="square" anchor="t" lIns="0" rIns="0" tIns="0" bIns="0">
            <a:spAutoFit/>
          </a:bodyPr>
          <a:lstStyle/>
          <a:p>
            <a:r>
              <a:rPr sz="2000" b="0">
                <a:solidFill>
                  <a:srgbClr val="CFE3E8"/>
                </a:solidFill>
                <a:latin typeface="Calibri"/>
              </a:rPr>
              <a:t>Fracción principal, contrastes, alias e interpretación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¿Cómo se parte a la mitad un 2</a:t>
            </a:r>
            <a:r>
              <a:rPr sz="3000" b="1" baseline="30000">
                <a:solidFill>
                  <a:srgbClr val="0F4C5C"/>
                </a:solidFill>
                <a:latin typeface="Cambria"/>
              </a:rPr>
              <a:t>3</a:t>
            </a:r>
            <a:r>
              <a:rPr sz="3000" b="1">
                <a:solidFill>
                  <a:srgbClr val="0F4C5C"/>
                </a:solidFill>
                <a:latin typeface="Cambria"/>
              </a:rPr>
              <a:t>?</a:t>
            </a:r>
          </a:p>
        </p:txBody>
      </p:sp>
      <p:graphicFrame>
        <p:nvGraphicFramePr>
          <p:cNvPr id="3" name="Table 2"/>
          <p:cNvGraphicFramePr>
            <a:graphicFrameLocks noGrp="1"/>
          </p:cNvGraphicFramePr>
          <p:nvPr/>
        </p:nvGraphicFramePr>
        <p:xfrm>
          <a:off x="548640" y="1417320"/>
          <a:ext cx="5982443" cy="3161538"/>
        </p:xfrm>
        <a:graphic>
          <a:graphicData uri="http://schemas.openxmlformats.org/drawingml/2006/table">
            <a:tbl>
              <a:tblPr firstRow="0" bandRow="0">
                <a:tableStyleId>{5C22544A-7EE6-4342-B048-85BDC9FD1C3A}</a:tableStyleId>
              </a:tblPr>
              <a:tblGrid>
                <a:gridCol w="1278907"/>
                <a:gridCol w="539983"/>
                <a:gridCol w="539983"/>
                <a:gridCol w="539983"/>
                <a:gridCol w="724714"/>
                <a:gridCol w="724714"/>
                <a:gridCol w="724714"/>
                <a:gridCol w="909445"/>
              </a:tblGrid>
              <a:tr h="351282">
                <a:tc>
                  <a:txBody>
                    <a:bodyPr/>
                    <a:lstStyle/>
                    <a:p>
                      <a:pPr algn="l"/>
                      <a:r>
                        <a:rPr sz="1500" b="1">
                          <a:solidFill>
                            <a:srgbClr val="FFFFFF"/>
                          </a:solidFill>
                          <a:latin typeface="Calibri"/>
                        </a:rPr>
                        <a:t>Trat.</a:t>
                      </a:r>
                    </a:p>
                  </a:txBody>
                  <a:tcPr marL="73152" marR="73152" marT="27432" marB="27432" anchor="ctr">
                    <a:solidFill>
                      <a:srgbClr val="0F4C5C"/>
                    </a:solidFill>
                  </a:tcPr>
                </a:tc>
                <a:tc>
                  <a:txBody>
                    <a:bodyPr/>
                    <a:lstStyle/>
                    <a:p>
                      <a:pPr algn="ctr"/>
                      <a:r>
                        <a:rPr sz="1500" b="1">
                          <a:solidFill>
                            <a:srgbClr val="FFFFFF"/>
                          </a:solidFill>
                          <a:latin typeface="Calibri"/>
                        </a:rPr>
                        <a:t>A</a:t>
                      </a:r>
                    </a:p>
                  </a:txBody>
                  <a:tcPr marL="73152" marR="73152" marT="27432" marB="27432" anchor="ctr">
                    <a:solidFill>
                      <a:srgbClr val="0F4C5C"/>
                    </a:solidFill>
                  </a:tcPr>
                </a:tc>
                <a:tc>
                  <a:txBody>
                    <a:bodyPr/>
                    <a:lstStyle/>
                    <a:p>
                      <a:pPr algn="ctr"/>
                      <a:r>
                        <a:rPr sz="1500" b="1">
                          <a:solidFill>
                            <a:srgbClr val="FFFFFF"/>
                          </a:solidFill>
                          <a:latin typeface="Calibri"/>
                        </a:rPr>
                        <a:t>B</a:t>
                      </a:r>
                    </a:p>
                  </a:txBody>
                  <a:tcPr marL="73152" marR="73152" marT="27432" marB="27432" anchor="ctr">
                    <a:solidFill>
                      <a:srgbClr val="0F4C5C"/>
                    </a:solidFill>
                  </a:tcPr>
                </a:tc>
                <a:tc>
                  <a:txBody>
                    <a:bodyPr/>
                    <a:lstStyle/>
                    <a:p>
                      <a:pPr algn="ctr"/>
                      <a:r>
                        <a:rPr sz="1500" b="1">
                          <a:solidFill>
                            <a:srgbClr val="FFFFFF"/>
                          </a:solidFill>
                          <a:latin typeface="Calibri"/>
                        </a:rPr>
                        <a:t>C</a:t>
                      </a:r>
                    </a:p>
                  </a:txBody>
                  <a:tcPr marL="73152" marR="73152" marT="27432" marB="27432" anchor="ctr">
                    <a:solidFill>
                      <a:srgbClr val="0F4C5C"/>
                    </a:solidFill>
                  </a:tcPr>
                </a:tc>
                <a:tc>
                  <a:txBody>
                    <a:bodyPr/>
                    <a:lstStyle/>
                    <a:p>
                      <a:pPr algn="ctr"/>
                      <a:r>
                        <a:rPr sz="1500" b="1">
                          <a:solidFill>
                            <a:srgbClr val="FFFFFF"/>
                          </a:solidFill>
                          <a:latin typeface="Calibri"/>
                        </a:rPr>
                        <a:t>AB</a:t>
                      </a:r>
                    </a:p>
                  </a:txBody>
                  <a:tcPr marL="73152" marR="73152" marT="27432" marB="27432" anchor="ctr">
                    <a:solidFill>
                      <a:srgbClr val="0F4C5C"/>
                    </a:solidFill>
                  </a:tcPr>
                </a:tc>
                <a:tc>
                  <a:txBody>
                    <a:bodyPr/>
                    <a:lstStyle/>
                    <a:p>
                      <a:pPr algn="ctr"/>
                      <a:r>
                        <a:rPr sz="1500" b="1">
                          <a:solidFill>
                            <a:srgbClr val="FFFFFF"/>
                          </a:solidFill>
                          <a:latin typeface="Calibri"/>
                        </a:rPr>
                        <a:t>AC</a:t>
                      </a:r>
                    </a:p>
                  </a:txBody>
                  <a:tcPr marL="73152" marR="73152" marT="27432" marB="27432" anchor="ctr">
                    <a:solidFill>
                      <a:srgbClr val="0F4C5C"/>
                    </a:solidFill>
                  </a:tcPr>
                </a:tc>
                <a:tc>
                  <a:txBody>
                    <a:bodyPr/>
                    <a:lstStyle/>
                    <a:p>
                      <a:pPr algn="ctr"/>
                      <a:r>
                        <a:rPr sz="1500" b="1">
                          <a:solidFill>
                            <a:srgbClr val="FFFFFF"/>
                          </a:solidFill>
                          <a:latin typeface="Calibri"/>
                        </a:rPr>
                        <a:t>BC</a:t>
                      </a:r>
                    </a:p>
                  </a:txBody>
                  <a:tcPr marL="73152" marR="73152" marT="27432" marB="27432" anchor="ctr">
                    <a:solidFill>
                      <a:srgbClr val="0F4C5C"/>
                    </a:solidFill>
                  </a:tcPr>
                </a:tc>
                <a:tc>
                  <a:txBody>
                    <a:bodyPr/>
                    <a:lstStyle/>
                    <a:p>
                      <a:pPr algn="ctr"/>
                      <a:r>
                        <a:rPr sz="1500" b="1">
                          <a:solidFill>
                            <a:srgbClr val="FFFFFF"/>
                          </a:solidFill>
                          <a:latin typeface="Calibri"/>
                        </a:rPr>
                        <a:t>ABC</a:t>
                      </a:r>
                    </a:p>
                  </a:txBody>
                  <a:tcPr marL="73152" marR="73152" marT="27432" marB="27432" anchor="ctr">
                    <a:solidFill>
                      <a:srgbClr val="0F4C5C"/>
                    </a:solidFill>
                  </a:tcPr>
                </a:tc>
              </a:tr>
              <a:tr h="351282">
                <a:tc>
                  <a:txBody>
                    <a:bodyPr/>
                    <a:lstStyle/>
                    <a:p>
                      <a:pPr algn="l"/>
                      <a:r>
                        <a:rPr sz="1500" b="0">
                          <a:solidFill>
                            <a:srgbClr val="142B33"/>
                          </a:solidFill>
                          <a:latin typeface="Calibri"/>
                        </a:rPr>
                        <a:t>(1)</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r>
              <a:tr h="351282">
                <a:tc>
                  <a:txBody>
                    <a:bodyPr/>
                    <a:lstStyle/>
                    <a:p>
                      <a:pPr algn="l"/>
                      <a:r>
                        <a:rPr sz="1500" b="0">
                          <a:solidFill>
                            <a:srgbClr val="142B33"/>
                          </a:solidFill>
                          <a:latin typeface="Calibri"/>
                        </a:rPr>
                        <a:t>a</a:t>
                      </a:r>
                    </a:p>
                  </a:txBody>
                  <a:tcPr marL="73152" marR="73152" marT="27432" marB="27432" anchor="ctr">
                    <a:solidFill>
                      <a:srgbClr val="FDE8D7"/>
                    </a:solidFill>
                  </a:tcPr>
                </a:tc>
                <a:tc>
                  <a:txBody>
                    <a:bodyPr/>
                    <a:lstStyle/>
                    <a:p>
                      <a:pPr algn="ctr"/>
                      <a:r>
                        <a:rPr sz="1600" b="1">
                          <a:solidFill>
                            <a:srgbClr val="0F4C5C"/>
                          </a:solidFill>
                          <a:latin typeface="Calibri"/>
                        </a:rPr>
                        <a:t>+</a:t>
                      </a:r>
                    </a:p>
                  </a:txBody>
                  <a:tcPr marL="73152" marR="73152" marT="27432" marB="27432" anchor="ctr">
                    <a:solidFill>
                      <a:srgbClr val="FDE8D7"/>
                    </a:solidFill>
                  </a:tcPr>
                </a:tc>
                <a:tc>
                  <a:txBody>
                    <a:bodyPr/>
                    <a:lstStyle/>
                    <a:p>
                      <a:pPr algn="ctr"/>
                      <a:r>
                        <a:rPr sz="1600" b="1">
                          <a:solidFill>
                            <a:srgbClr val="E36414"/>
                          </a:solidFill>
                          <a:latin typeface="Calibri"/>
                        </a:rPr>
                        <a:t>−</a:t>
                      </a:r>
                    </a:p>
                  </a:txBody>
                  <a:tcPr marL="73152" marR="73152" marT="27432" marB="27432" anchor="ctr">
                    <a:solidFill>
                      <a:srgbClr val="FDE8D7"/>
                    </a:solidFill>
                  </a:tcPr>
                </a:tc>
                <a:tc>
                  <a:txBody>
                    <a:bodyPr/>
                    <a:lstStyle/>
                    <a:p>
                      <a:pPr algn="ctr"/>
                      <a:r>
                        <a:rPr sz="1600" b="1">
                          <a:solidFill>
                            <a:srgbClr val="E36414"/>
                          </a:solidFill>
                          <a:latin typeface="Calibri"/>
                        </a:rPr>
                        <a:t>−</a:t>
                      </a:r>
                    </a:p>
                  </a:txBody>
                  <a:tcPr marL="73152" marR="73152" marT="27432" marB="27432" anchor="ctr">
                    <a:solidFill>
                      <a:srgbClr val="FDE8D7"/>
                    </a:solidFill>
                  </a:tcPr>
                </a:tc>
                <a:tc>
                  <a:txBody>
                    <a:bodyPr/>
                    <a:lstStyle/>
                    <a:p>
                      <a:pPr algn="ctr"/>
                      <a:r>
                        <a:rPr sz="1600" b="1">
                          <a:solidFill>
                            <a:srgbClr val="E36414"/>
                          </a:solidFill>
                          <a:latin typeface="Calibri"/>
                        </a:rPr>
                        <a:t>−</a:t>
                      </a:r>
                    </a:p>
                  </a:txBody>
                  <a:tcPr marL="73152" marR="73152" marT="27432" marB="27432" anchor="ctr">
                    <a:solidFill>
                      <a:srgbClr val="FDE8D7"/>
                    </a:solidFill>
                  </a:tcPr>
                </a:tc>
                <a:tc>
                  <a:txBody>
                    <a:bodyPr/>
                    <a:lstStyle/>
                    <a:p>
                      <a:pPr algn="ctr"/>
                      <a:r>
                        <a:rPr sz="1600" b="1">
                          <a:solidFill>
                            <a:srgbClr val="E36414"/>
                          </a:solidFill>
                          <a:latin typeface="Calibri"/>
                        </a:rPr>
                        <a:t>−</a:t>
                      </a:r>
                    </a:p>
                  </a:txBody>
                  <a:tcPr marL="73152" marR="73152" marT="27432" marB="27432" anchor="ctr">
                    <a:solidFill>
                      <a:srgbClr val="FDE8D7"/>
                    </a:solidFill>
                  </a:tcPr>
                </a:tc>
                <a:tc>
                  <a:txBody>
                    <a:bodyPr/>
                    <a:lstStyle/>
                    <a:p>
                      <a:pPr algn="ctr"/>
                      <a:r>
                        <a:rPr sz="1600" b="1">
                          <a:solidFill>
                            <a:srgbClr val="0F4C5C"/>
                          </a:solidFill>
                          <a:latin typeface="Calibri"/>
                        </a:rPr>
                        <a:t>+</a:t>
                      </a:r>
                    </a:p>
                  </a:txBody>
                  <a:tcPr marL="73152" marR="73152" marT="27432" marB="27432" anchor="ctr">
                    <a:solidFill>
                      <a:srgbClr val="FDE8D7"/>
                    </a:solidFill>
                  </a:tcPr>
                </a:tc>
                <a:tc>
                  <a:txBody>
                    <a:bodyPr/>
                    <a:lstStyle/>
                    <a:p>
                      <a:pPr algn="ctr"/>
                      <a:r>
                        <a:rPr sz="1600" b="1">
                          <a:solidFill>
                            <a:srgbClr val="0F4C5C"/>
                          </a:solidFill>
                          <a:latin typeface="Calibri"/>
                        </a:rPr>
                        <a:t>+</a:t>
                      </a:r>
                    </a:p>
                  </a:txBody>
                  <a:tcPr marL="73152" marR="73152" marT="27432" marB="27432" anchor="ctr">
                    <a:solidFill>
                      <a:srgbClr val="FDE8D7"/>
                    </a:solidFill>
                  </a:tcPr>
                </a:tc>
              </a:tr>
              <a:tr h="351282">
                <a:tc>
                  <a:txBody>
                    <a:bodyPr/>
                    <a:lstStyle/>
                    <a:p>
                      <a:pPr algn="l"/>
                      <a:r>
                        <a:rPr sz="1500" b="0">
                          <a:solidFill>
                            <a:srgbClr val="142B33"/>
                          </a:solidFill>
                          <a:latin typeface="Calibri"/>
                        </a:rPr>
                        <a:t>b</a:t>
                      </a:r>
                    </a:p>
                  </a:txBody>
                  <a:tcPr marL="73152" marR="73152" marT="27432" marB="27432" anchor="ctr">
                    <a:solidFill>
                      <a:srgbClr val="FDE8D7"/>
                    </a:solidFill>
                  </a:tcPr>
                </a:tc>
                <a:tc>
                  <a:txBody>
                    <a:bodyPr/>
                    <a:lstStyle/>
                    <a:p>
                      <a:pPr algn="ctr"/>
                      <a:r>
                        <a:rPr sz="1600" b="1">
                          <a:solidFill>
                            <a:srgbClr val="E36414"/>
                          </a:solidFill>
                          <a:latin typeface="Calibri"/>
                        </a:rPr>
                        <a:t>−</a:t>
                      </a:r>
                    </a:p>
                  </a:txBody>
                  <a:tcPr marL="73152" marR="73152" marT="27432" marB="27432" anchor="ctr">
                    <a:solidFill>
                      <a:srgbClr val="FDE8D7"/>
                    </a:solidFill>
                  </a:tcPr>
                </a:tc>
                <a:tc>
                  <a:txBody>
                    <a:bodyPr/>
                    <a:lstStyle/>
                    <a:p>
                      <a:pPr algn="ctr"/>
                      <a:r>
                        <a:rPr sz="1600" b="1">
                          <a:solidFill>
                            <a:srgbClr val="0F4C5C"/>
                          </a:solidFill>
                          <a:latin typeface="Calibri"/>
                        </a:rPr>
                        <a:t>+</a:t>
                      </a:r>
                    </a:p>
                  </a:txBody>
                  <a:tcPr marL="73152" marR="73152" marT="27432" marB="27432" anchor="ctr">
                    <a:solidFill>
                      <a:srgbClr val="FDE8D7"/>
                    </a:solidFill>
                  </a:tcPr>
                </a:tc>
                <a:tc>
                  <a:txBody>
                    <a:bodyPr/>
                    <a:lstStyle/>
                    <a:p>
                      <a:pPr algn="ctr"/>
                      <a:r>
                        <a:rPr sz="1600" b="1">
                          <a:solidFill>
                            <a:srgbClr val="E36414"/>
                          </a:solidFill>
                          <a:latin typeface="Calibri"/>
                        </a:rPr>
                        <a:t>−</a:t>
                      </a:r>
                    </a:p>
                  </a:txBody>
                  <a:tcPr marL="73152" marR="73152" marT="27432" marB="27432" anchor="ctr">
                    <a:solidFill>
                      <a:srgbClr val="FDE8D7"/>
                    </a:solidFill>
                  </a:tcPr>
                </a:tc>
                <a:tc>
                  <a:txBody>
                    <a:bodyPr/>
                    <a:lstStyle/>
                    <a:p>
                      <a:pPr algn="ctr"/>
                      <a:r>
                        <a:rPr sz="1600" b="1">
                          <a:solidFill>
                            <a:srgbClr val="E36414"/>
                          </a:solidFill>
                          <a:latin typeface="Calibri"/>
                        </a:rPr>
                        <a:t>−</a:t>
                      </a:r>
                    </a:p>
                  </a:txBody>
                  <a:tcPr marL="73152" marR="73152" marT="27432" marB="27432" anchor="ctr">
                    <a:solidFill>
                      <a:srgbClr val="FDE8D7"/>
                    </a:solidFill>
                  </a:tcPr>
                </a:tc>
                <a:tc>
                  <a:txBody>
                    <a:bodyPr/>
                    <a:lstStyle/>
                    <a:p>
                      <a:pPr algn="ctr"/>
                      <a:r>
                        <a:rPr sz="1600" b="1">
                          <a:solidFill>
                            <a:srgbClr val="0F4C5C"/>
                          </a:solidFill>
                          <a:latin typeface="Calibri"/>
                        </a:rPr>
                        <a:t>+</a:t>
                      </a:r>
                    </a:p>
                  </a:txBody>
                  <a:tcPr marL="73152" marR="73152" marT="27432" marB="27432" anchor="ctr">
                    <a:solidFill>
                      <a:srgbClr val="FDE8D7"/>
                    </a:solidFill>
                  </a:tcPr>
                </a:tc>
                <a:tc>
                  <a:txBody>
                    <a:bodyPr/>
                    <a:lstStyle/>
                    <a:p>
                      <a:pPr algn="ctr"/>
                      <a:r>
                        <a:rPr sz="1600" b="1">
                          <a:solidFill>
                            <a:srgbClr val="E36414"/>
                          </a:solidFill>
                          <a:latin typeface="Calibri"/>
                        </a:rPr>
                        <a:t>−</a:t>
                      </a:r>
                    </a:p>
                  </a:txBody>
                  <a:tcPr marL="73152" marR="73152" marT="27432" marB="27432" anchor="ctr">
                    <a:solidFill>
                      <a:srgbClr val="FDE8D7"/>
                    </a:solidFill>
                  </a:tcPr>
                </a:tc>
                <a:tc>
                  <a:txBody>
                    <a:bodyPr/>
                    <a:lstStyle/>
                    <a:p>
                      <a:pPr algn="ctr"/>
                      <a:r>
                        <a:rPr sz="1600" b="1">
                          <a:solidFill>
                            <a:srgbClr val="0F4C5C"/>
                          </a:solidFill>
                          <a:latin typeface="Calibri"/>
                        </a:rPr>
                        <a:t>+</a:t>
                      </a:r>
                    </a:p>
                  </a:txBody>
                  <a:tcPr marL="73152" marR="73152" marT="27432" marB="27432" anchor="ctr">
                    <a:solidFill>
                      <a:srgbClr val="FDE8D7"/>
                    </a:solidFill>
                  </a:tcPr>
                </a:tc>
              </a:tr>
              <a:tr h="351282">
                <a:tc>
                  <a:txBody>
                    <a:bodyPr/>
                    <a:lstStyle/>
                    <a:p>
                      <a:pPr algn="l"/>
                      <a:r>
                        <a:rPr sz="1500" b="0">
                          <a:solidFill>
                            <a:srgbClr val="142B33"/>
                          </a:solidFill>
                          <a:latin typeface="Calibri"/>
                        </a:rPr>
                        <a:t>ab</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r>
              <a:tr h="351282">
                <a:tc>
                  <a:txBody>
                    <a:bodyPr/>
                    <a:lstStyle/>
                    <a:p>
                      <a:pPr algn="l"/>
                      <a:r>
                        <a:rPr sz="1500" b="0">
                          <a:solidFill>
                            <a:srgbClr val="142B33"/>
                          </a:solidFill>
                          <a:latin typeface="Calibri"/>
                        </a:rPr>
                        <a:t>c</a:t>
                      </a:r>
                    </a:p>
                  </a:txBody>
                  <a:tcPr marL="73152" marR="73152" marT="27432" marB="27432" anchor="ctr">
                    <a:solidFill>
                      <a:srgbClr val="FDE8D7"/>
                    </a:solidFill>
                  </a:tcPr>
                </a:tc>
                <a:tc>
                  <a:txBody>
                    <a:bodyPr/>
                    <a:lstStyle/>
                    <a:p>
                      <a:pPr algn="ctr"/>
                      <a:r>
                        <a:rPr sz="1600" b="1">
                          <a:solidFill>
                            <a:srgbClr val="E36414"/>
                          </a:solidFill>
                          <a:latin typeface="Calibri"/>
                        </a:rPr>
                        <a:t>−</a:t>
                      </a:r>
                    </a:p>
                  </a:txBody>
                  <a:tcPr marL="73152" marR="73152" marT="27432" marB="27432" anchor="ctr">
                    <a:solidFill>
                      <a:srgbClr val="FDE8D7"/>
                    </a:solidFill>
                  </a:tcPr>
                </a:tc>
                <a:tc>
                  <a:txBody>
                    <a:bodyPr/>
                    <a:lstStyle/>
                    <a:p>
                      <a:pPr algn="ctr"/>
                      <a:r>
                        <a:rPr sz="1600" b="1">
                          <a:solidFill>
                            <a:srgbClr val="E36414"/>
                          </a:solidFill>
                          <a:latin typeface="Calibri"/>
                        </a:rPr>
                        <a:t>−</a:t>
                      </a:r>
                    </a:p>
                  </a:txBody>
                  <a:tcPr marL="73152" marR="73152" marT="27432" marB="27432" anchor="ctr">
                    <a:solidFill>
                      <a:srgbClr val="FDE8D7"/>
                    </a:solidFill>
                  </a:tcPr>
                </a:tc>
                <a:tc>
                  <a:txBody>
                    <a:bodyPr/>
                    <a:lstStyle/>
                    <a:p>
                      <a:pPr algn="ctr"/>
                      <a:r>
                        <a:rPr sz="1600" b="1">
                          <a:solidFill>
                            <a:srgbClr val="0F4C5C"/>
                          </a:solidFill>
                          <a:latin typeface="Calibri"/>
                        </a:rPr>
                        <a:t>+</a:t>
                      </a:r>
                    </a:p>
                  </a:txBody>
                  <a:tcPr marL="73152" marR="73152" marT="27432" marB="27432" anchor="ctr">
                    <a:solidFill>
                      <a:srgbClr val="FDE8D7"/>
                    </a:solidFill>
                  </a:tcPr>
                </a:tc>
                <a:tc>
                  <a:txBody>
                    <a:bodyPr/>
                    <a:lstStyle/>
                    <a:p>
                      <a:pPr algn="ctr"/>
                      <a:r>
                        <a:rPr sz="1600" b="1">
                          <a:solidFill>
                            <a:srgbClr val="0F4C5C"/>
                          </a:solidFill>
                          <a:latin typeface="Calibri"/>
                        </a:rPr>
                        <a:t>+</a:t>
                      </a:r>
                    </a:p>
                  </a:txBody>
                  <a:tcPr marL="73152" marR="73152" marT="27432" marB="27432" anchor="ctr">
                    <a:solidFill>
                      <a:srgbClr val="FDE8D7"/>
                    </a:solidFill>
                  </a:tcPr>
                </a:tc>
                <a:tc>
                  <a:txBody>
                    <a:bodyPr/>
                    <a:lstStyle/>
                    <a:p>
                      <a:pPr algn="ctr"/>
                      <a:r>
                        <a:rPr sz="1600" b="1">
                          <a:solidFill>
                            <a:srgbClr val="E36414"/>
                          </a:solidFill>
                          <a:latin typeface="Calibri"/>
                        </a:rPr>
                        <a:t>−</a:t>
                      </a:r>
                    </a:p>
                  </a:txBody>
                  <a:tcPr marL="73152" marR="73152" marT="27432" marB="27432" anchor="ctr">
                    <a:solidFill>
                      <a:srgbClr val="FDE8D7"/>
                    </a:solidFill>
                  </a:tcPr>
                </a:tc>
                <a:tc>
                  <a:txBody>
                    <a:bodyPr/>
                    <a:lstStyle/>
                    <a:p>
                      <a:pPr algn="ctr"/>
                      <a:r>
                        <a:rPr sz="1600" b="1">
                          <a:solidFill>
                            <a:srgbClr val="E36414"/>
                          </a:solidFill>
                          <a:latin typeface="Calibri"/>
                        </a:rPr>
                        <a:t>−</a:t>
                      </a:r>
                    </a:p>
                  </a:txBody>
                  <a:tcPr marL="73152" marR="73152" marT="27432" marB="27432" anchor="ctr">
                    <a:solidFill>
                      <a:srgbClr val="FDE8D7"/>
                    </a:solidFill>
                  </a:tcPr>
                </a:tc>
                <a:tc>
                  <a:txBody>
                    <a:bodyPr/>
                    <a:lstStyle/>
                    <a:p>
                      <a:pPr algn="ctr"/>
                      <a:r>
                        <a:rPr sz="1600" b="1">
                          <a:solidFill>
                            <a:srgbClr val="0F4C5C"/>
                          </a:solidFill>
                          <a:latin typeface="Calibri"/>
                        </a:rPr>
                        <a:t>+</a:t>
                      </a:r>
                    </a:p>
                  </a:txBody>
                  <a:tcPr marL="73152" marR="73152" marT="27432" marB="27432" anchor="ctr">
                    <a:solidFill>
                      <a:srgbClr val="FDE8D7"/>
                    </a:solidFill>
                  </a:tcPr>
                </a:tc>
              </a:tr>
              <a:tr h="351282">
                <a:tc>
                  <a:txBody>
                    <a:bodyPr/>
                    <a:lstStyle/>
                    <a:p>
                      <a:pPr algn="l"/>
                      <a:r>
                        <a:rPr sz="1500" b="0">
                          <a:solidFill>
                            <a:srgbClr val="142B33"/>
                          </a:solidFill>
                          <a:latin typeface="Calibri"/>
                        </a:rPr>
                        <a:t>ac</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r>
              <a:tr h="351282">
                <a:tc>
                  <a:txBody>
                    <a:bodyPr/>
                    <a:lstStyle/>
                    <a:p>
                      <a:pPr algn="l"/>
                      <a:r>
                        <a:rPr sz="1500" b="0">
                          <a:solidFill>
                            <a:srgbClr val="142B33"/>
                          </a:solidFill>
                          <a:latin typeface="Calibri"/>
                        </a:rPr>
                        <a:t>bc</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r>
              <a:tr h="351282">
                <a:tc>
                  <a:txBody>
                    <a:bodyPr/>
                    <a:lstStyle/>
                    <a:p>
                      <a:pPr algn="l"/>
                      <a:r>
                        <a:rPr sz="1500" b="0">
                          <a:solidFill>
                            <a:srgbClr val="142B33"/>
                          </a:solidFill>
                          <a:latin typeface="Calibri"/>
                        </a:rPr>
                        <a:t>abc</a:t>
                      </a:r>
                    </a:p>
                  </a:txBody>
                  <a:tcPr marL="73152" marR="73152" marT="27432" marB="27432" anchor="ctr">
                    <a:solidFill>
                      <a:srgbClr val="FDE8D7"/>
                    </a:solidFill>
                  </a:tcPr>
                </a:tc>
                <a:tc>
                  <a:txBody>
                    <a:bodyPr/>
                    <a:lstStyle/>
                    <a:p>
                      <a:pPr algn="ctr"/>
                      <a:r>
                        <a:rPr sz="1600" b="1">
                          <a:solidFill>
                            <a:srgbClr val="0F4C5C"/>
                          </a:solidFill>
                          <a:latin typeface="Calibri"/>
                        </a:rPr>
                        <a:t>+</a:t>
                      </a:r>
                    </a:p>
                  </a:txBody>
                  <a:tcPr marL="73152" marR="73152" marT="27432" marB="27432" anchor="ctr">
                    <a:solidFill>
                      <a:srgbClr val="FDE8D7"/>
                    </a:solidFill>
                  </a:tcPr>
                </a:tc>
                <a:tc>
                  <a:txBody>
                    <a:bodyPr/>
                    <a:lstStyle/>
                    <a:p>
                      <a:pPr algn="ctr"/>
                      <a:r>
                        <a:rPr sz="1600" b="1">
                          <a:solidFill>
                            <a:srgbClr val="0F4C5C"/>
                          </a:solidFill>
                          <a:latin typeface="Calibri"/>
                        </a:rPr>
                        <a:t>+</a:t>
                      </a:r>
                    </a:p>
                  </a:txBody>
                  <a:tcPr marL="73152" marR="73152" marT="27432" marB="27432" anchor="ctr">
                    <a:solidFill>
                      <a:srgbClr val="FDE8D7"/>
                    </a:solidFill>
                  </a:tcPr>
                </a:tc>
                <a:tc>
                  <a:txBody>
                    <a:bodyPr/>
                    <a:lstStyle/>
                    <a:p>
                      <a:pPr algn="ctr"/>
                      <a:r>
                        <a:rPr sz="1600" b="1">
                          <a:solidFill>
                            <a:srgbClr val="0F4C5C"/>
                          </a:solidFill>
                          <a:latin typeface="Calibri"/>
                        </a:rPr>
                        <a:t>+</a:t>
                      </a:r>
                    </a:p>
                  </a:txBody>
                  <a:tcPr marL="73152" marR="73152" marT="27432" marB="27432" anchor="ctr">
                    <a:solidFill>
                      <a:srgbClr val="FDE8D7"/>
                    </a:solidFill>
                  </a:tcPr>
                </a:tc>
                <a:tc>
                  <a:txBody>
                    <a:bodyPr/>
                    <a:lstStyle/>
                    <a:p>
                      <a:pPr algn="ctr"/>
                      <a:r>
                        <a:rPr sz="1600" b="1">
                          <a:solidFill>
                            <a:srgbClr val="0F4C5C"/>
                          </a:solidFill>
                          <a:latin typeface="Calibri"/>
                        </a:rPr>
                        <a:t>+</a:t>
                      </a:r>
                    </a:p>
                  </a:txBody>
                  <a:tcPr marL="73152" marR="73152" marT="27432" marB="27432" anchor="ctr">
                    <a:solidFill>
                      <a:srgbClr val="FDE8D7"/>
                    </a:solidFill>
                  </a:tcPr>
                </a:tc>
                <a:tc>
                  <a:txBody>
                    <a:bodyPr/>
                    <a:lstStyle/>
                    <a:p>
                      <a:pPr algn="ctr"/>
                      <a:r>
                        <a:rPr sz="1600" b="1">
                          <a:solidFill>
                            <a:srgbClr val="0F4C5C"/>
                          </a:solidFill>
                          <a:latin typeface="Calibri"/>
                        </a:rPr>
                        <a:t>+</a:t>
                      </a:r>
                    </a:p>
                  </a:txBody>
                  <a:tcPr marL="73152" marR="73152" marT="27432" marB="27432" anchor="ctr">
                    <a:solidFill>
                      <a:srgbClr val="FDE8D7"/>
                    </a:solidFill>
                  </a:tcPr>
                </a:tc>
                <a:tc>
                  <a:txBody>
                    <a:bodyPr/>
                    <a:lstStyle/>
                    <a:p>
                      <a:pPr algn="ctr"/>
                      <a:r>
                        <a:rPr sz="1600" b="1">
                          <a:solidFill>
                            <a:srgbClr val="0F4C5C"/>
                          </a:solidFill>
                          <a:latin typeface="Calibri"/>
                        </a:rPr>
                        <a:t>+</a:t>
                      </a:r>
                    </a:p>
                  </a:txBody>
                  <a:tcPr marL="73152" marR="73152" marT="27432" marB="27432" anchor="ctr">
                    <a:solidFill>
                      <a:srgbClr val="FDE8D7"/>
                    </a:solidFill>
                  </a:tcPr>
                </a:tc>
                <a:tc>
                  <a:txBody>
                    <a:bodyPr/>
                    <a:lstStyle/>
                    <a:p>
                      <a:pPr algn="ctr"/>
                      <a:r>
                        <a:rPr sz="1600" b="1">
                          <a:solidFill>
                            <a:srgbClr val="0F4C5C"/>
                          </a:solidFill>
                          <a:latin typeface="Calibri"/>
                        </a:rPr>
                        <a:t>+</a:t>
                      </a:r>
                    </a:p>
                  </a:txBody>
                  <a:tcPr marL="73152" marR="73152" marT="27432" marB="27432" anchor="ctr">
                    <a:solidFill>
                      <a:srgbClr val="FDE8D7"/>
                    </a:solidFill>
                  </a:tcPr>
                </a:tc>
              </a:tr>
            </a:tbl>
          </a:graphicData>
        </a:graphic>
      </p:graphicFrame>
      <p:sp>
        <p:nvSpPr>
          <p:cNvPr id="4" name="Rounded Rectangle 3"/>
          <p:cNvSpPr/>
          <p:nvPr/>
        </p:nvSpPr>
        <p:spPr>
          <a:xfrm>
            <a:off x="548640" y="4780026"/>
            <a:ext cx="5982443" cy="925067"/>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400" b="0">
                <a:solidFill>
                  <a:srgbClr val="142B33"/>
                </a:solidFill>
                <a:latin typeface="Calibri"/>
              </a:rPr>
              <a:t>De </a:t>
            </a:r>
            <a:r>
              <a:rPr sz="1400" b="1">
                <a:solidFill>
                  <a:srgbClr val="142B33"/>
                </a:solidFill>
                <a:latin typeface="Calibri"/>
              </a:rPr>
              <a:t>70</a:t>
            </a:r>
            <a:r>
              <a:rPr sz="1400" b="0">
                <a:solidFill>
                  <a:srgbClr val="142B33"/>
                </a:solidFill>
                <a:latin typeface="Calibri"/>
              </a:rPr>
              <a:t> formas de escoger 4 corridas se sacrifica </a:t>
            </a:r>
            <a:r>
              <a:rPr sz="1400" b="1">
                <a:solidFill>
                  <a:srgbClr val="142B33"/>
                </a:solidFill>
                <a:latin typeface="Calibri"/>
              </a:rPr>
              <a:t>ABC</a:t>
            </a:r>
            <a:r>
              <a:rPr sz="1400" b="0">
                <a:solidFill>
                  <a:srgbClr val="142B33"/>
                </a:solidFill>
                <a:latin typeface="Calibri"/>
              </a:rPr>
              <a:t>. Principal: </a:t>
            </a:r>
            <a:r>
              <a:rPr sz="1400" b="1">
                <a:solidFill>
                  <a:srgbClr val="142B33"/>
                </a:solidFill>
                <a:latin typeface="Calibri"/>
              </a:rPr>
              <a:t>ABC = +</a:t>
            </a:r>
            <a:r>
              <a:rPr sz="1400" b="0">
                <a:solidFill>
                  <a:srgbClr val="142B33"/>
                </a:solidFill>
                <a:latin typeface="Calibri"/>
              </a:rPr>
              <a:t> → a, b, c, abc; complementaria (alterna): las otras cuatro</a:t>
            </a:r>
          </a:p>
        </p:txBody>
      </p:sp>
      <p:cxnSp>
        <p:nvCxnSpPr>
          <p:cNvPr id="5" name="Connector 4"/>
          <p:cNvCxnSpPr/>
          <p:nvPr/>
        </p:nvCxnSpPr>
        <p:spPr>
          <a:xfrm>
            <a:off x="8497793" y="3089501"/>
            <a:ext cx="1046074" cy="0"/>
          </a:xfrm>
          <a:prstGeom prst="line">
            <a:avLst/>
          </a:prstGeom>
          <a:ln w="15875">
            <a:solidFill>
              <a:srgbClr val="9AA8AE"/>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8497793" y="2691993"/>
            <a:ext cx="543958" cy="397508"/>
          </a:xfrm>
          <a:prstGeom prst="line">
            <a:avLst/>
          </a:prstGeom>
          <a:ln w="15875">
            <a:solidFill>
              <a:srgbClr val="9AA8A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8497793" y="2043427"/>
            <a:ext cx="0" cy="1046074"/>
          </a:xfrm>
          <a:prstGeom prst="line">
            <a:avLst/>
          </a:prstGeom>
          <a:ln w="15875">
            <a:solidFill>
              <a:srgbClr val="9AA8AE"/>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9543867" y="2691993"/>
            <a:ext cx="543958" cy="397508"/>
          </a:xfrm>
          <a:prstGeom prst="line">
            <a:avLst/>
          </a:prstGeom>
          <a:ln w="15875">
            <a:solidFill>
              <a:srgbClr val="9AA8AE"/>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9543867" y="2043427"/>
            <a:ext cx="0" cy="1046074"/>
          </a:xfrm>
          <a:prstGeom prst="line">
            <a:avLst/>
          </a:prstGeom>
          <a:ln w="15875">
            <a:solidFill>
              <a:srgbClr val="9AA8AE"/>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041751" y="2691993"/>
            <a:ext cx="1046074" cy="0"/>
          </a:xfrm>
          <a:prstGeom prst="line">
            <a:avLst/>
          </a:prstGeom>
          <a:ln w="15875">
            <a:solidFill>
              <a:srgbClr val="9AA8AE"/>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9041751" y="1645920"/>
            <a:ext cx="0" cy="1046073"/>
          </a:xfrm>
          <a:prstGeom prst="line">
            <a:avLst/>
          </a:prstGeom>
          <a:ln w="15875">
            <a:solidFill>
              <a:srgbClr val="9AA8AE"/>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0087825" y="1645920"/>
            <a:ext cx="0" cy="1046073"/>
          </a:xfrm>
          <a:prstGeom prst="line">
            <a:avLst/>
          </a:prstGeom>
          <a:ln w="15875">
            <a:solidFill>
              <a:srgbClr val="9AA8AE"/>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497793" y="2043427"/>
            <a:ext cx="1046074" cy="0"/>
          </a:xfrm>
          <a:prstGeom prst="line">
            <a:avLst/>
          </a:prstGeom>
          <a:ln w="15875">
            <a:solidFill>
              <a:srgbClr val="9AA8AE"/>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8497793" y="1645920"/>
            <a:ext cx="543958" cy="397507"/>
          </a:xfrm>
          <a:prstGeom prst="line">
            <a:avLst/>
          </a:prstGeom>
          <a:ln w="15875">
            <a:solidFill>
              <a:srgbClr val="9AA8AE"/>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9543867" y="1645920"/>
            <a:ext cx="543958" cy="397507"/>
          </a:xfrm>
          <a:prstGeom prst="line">
            <a:avLst/>
          </a:prstGeom>
          <a:ln w="15875">
            <a:solidFill>
              <a:srgbClr val="9AA8AE"/>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041751" y="1645920"/>
            <a:ext cx="1046074" cy="0"/>
          </a:xfrm>
          <a:prstGeom prst="line">
            <a:avLst/>
          </a:prstGeom>
          <a:ln w="15875">
            <a:solidFill>
              <a:srgbClr val="9AA8AE"/>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342345" y="2934053"/>
            <a:ext cx="310896" cy="310896"/>
          </a:xfrm>
          <a:prstGeom prst="ellipse">
            <a:avLst/>
          </a:prstGeom>
          <a:solidFill>
            <a:srgbClr val="FFFFFF"/>
          </a:solidFill>
          <a:ln w="19050">
            <a:solidFill>
              <a:srgbClr val="9AA8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56545" y="2760317"/>
            <a:ext cx="640080" cy="292608"/>
          </a:xfrm>
          <a:prstGeom prst="rect">
            <a:avLst/>
          </a:prstGeom>
          <a:noFill/>
        </p:spPr>
        <p:txBody>
          <a:bodyPr wrap="square" anchor="t" lIns="0" rIns="0" tIns="0" bIns="0">
            <a:spAutoFit/>
          </a:bodyPr>
          <a:lstStyle/>
          <a:p>
            <a:pPr algn="r"/>
            <a:r>
              <a:rPr sz="1500" b="0">
                <a:solidFill>
                  <a:srgbClr val="5B6B73"/>
                </a:solidFill>
                <a:latin typeface="Cambria Math"/>
              </a:rPr>
              <a:t>(1)</a:t>
            </a:r>
          </a:p>
        </p:txBody>
      </p:sp>
      <p:sp>
        <p:nvSpPr>
          <p:cNvPr id="19" name="Oval 18"/>
          <p:cNvSpPr/>
          <p:nvPr/>
        </p:nvSpPr>
        <p:spPr>
          <a:xfrm>
            <a:off x="9388419" y="2934053"/>
            <a:ext cx="310896" cy="310896"/>
          </a:xfrm>
          <a:prstGeom prst="ellipse">
            <a:avLst/>
          </a:prstGeom>
          <a:solidFill>
            <a:srgbClr val="E36414"/>
          </a:solidFill>
          <a:ln w="19050">
            <a:solidFill>
              <a:srgbClr val="E364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45035" y="2760317"/>
            <a:ext cx="640080" cy="292608"/>
          </a:xfrm>
          <a:prstGeom prst="rect">
            <a:avLst/>
          </a:prstGeom>
          <a:noFill/>
        </p:spPr>
        <p:txBody>
          <a:bodyPr wrap="square" anchor="t" lIns="0" rIns="0" tIns="0" bIns="0">
            <a:spAutoFit/>
          </a:bodyPr>
          <a:lstStyle/>
          <a:p>
            <a:pPr algn="l"/>
            <a:r>
              <a:rPr sz="1500" b="1">
                <a:solidFill>
                  <a:srgbClr val="E36414"/>
                </a:solidFill>
                <a:latin typeface="Cambria Math"/>
              </a:rPr>
              <a:t>a</a:t>
            </a:r>
          </a:p>
        </p:txBody>
      </p:sp>
      <p:sp>
        <p:nvSpPr>
          <p:cNvPr id="21" name="Oval 20"/>
          <p:cNvSpPr/>
          <p:nvPr/>
        </p:nvSpPr>
        <p:spPr>
          <a:xfrm>
            <a:off x="8886303" y="2536545"/>
            <a:ext cx="310896" cy="310896"/>
          </a:xfrm>
          <a:prstGeom prst="ellipse">
            <a:avLst/>
          </a:prstGeom>
          <a:solidFill>
            <a:srgbClr val="E36414"/>
          </a:solidFill>
          <a:ln w="19050">
            <a:solidFill>
              <a:srgbClr val="E364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00503" y="2362809"/>
            <a:ext cx="640080" cy="292608"/>
          </a:xfrm>
          <a:prstGeom prst="rect">
            <a:avLst/>
          </a:prstGeom>
          <a:noFill/>
        </p:spPr>
        <p:txBody>
          <a:bodyPr wrap="square" anchor="t" lIns="0" rIns="0" tIns="0" bIns="0">
            <a:spAutoFit/>
          </a:bodyPr>
          <a:lstStyle/>
          <a:p>
            <a:pPr algn="r"/>
            <a:r>
              <a:rPr sz="1500" b="1">
                <a:solidFill>
                  <a:srgbClr val="E36414"/>
                </a:solidFill>
                <a:latin typeface="Cambria Math"/>
              </a:rPr>
              <a:t>b</a:t>
            </a:r>
          </a:p>
        </p:txBody>
      </p:sp>
      <p:sp>
        <p:nvSpPr>
          <p:cNvPr id="23" name="Oval 22"/>
          <p:cNvSpPr/>
          <p:nvPr/>
        </p:nvSpPr>
        <p:spPr>
          <a:xfrm>
            <a:off x="9932377" y="2536545"/>
            <a:ext cx="310896" cy="310896"/>
          </a:xfrm>
          <a:prstGeom prst="ellipse">
            <a:avLst/>
          </a:prstGeom>
          <a:solidFill>
            <a:srgbClr val="FFFFFF"/>
          </a:solidFill>
          <a:ln w="19050">
            <a:solidFill>
              <a:srgbClr val="9AA8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288993" y="2362809"/>
            <a:ext cx="640080" cy="292608"/>
          </a:xfrm>
          <a:prstGeom prst="rect">
            <a:avLst/>
          </a:prstGeom>
          <a:noFill/>
        </p:spPr>
        <p:txBody>
          <a:bodyPr wrap="square" anchor="t" lIns="0" rIns="0" tIns="0" bIns="0">
            <a:spAutoFit/>
          </a:bodyPr>
          <a:lstStyle/>
          <a:p>
            <a:pPr algn="l"/>
            <a:r>
              <a:rPr sz="1500" b="0">
                <a:solidFill>
                  <a:srgbClr val="5B6B73"/>
                </a:solidFill>
                <a:latin typeface="Cambria Math"/>
              </a:rPr>
              <a:t>ab</a:t>
            </a:r>
          </a:p>
        </p:txBody>
      </p:sp>
      <p:sp>
        <p:nvSpPr>
          <p:cNvPr id="25" name="Oval 24"/>
          <p:cNvSpPr/>
          <p:nvPr/>
        </p:nvSpPr>
        <p:spPr>
          <a:xfrm>
            <a:off x="8342345" y="1887979"/>
            <a:ext cx="310896" cy="310896"/>
          </a:xfrm>
          <a:prstGeom prst="ellipse">
            <a:avLst/>
          </a:prstGeom>
          <a:solidFill>
            <a:srgbClr val="E36414"/>
          </a:solidFill>
          <a:ln w="19050">
            <a:solidFill>
              <a:srgbClr val="E364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56545" y="1714243"/>
            <a:ext cx="640080" cy="292608"/>
          </a:xfrm>
          <a:prstGeom prst="rect">
            <a:avLst/>
          </a:prstGeom>
          <a:noFill/>
        </p:spPr>
        <p:txBody>
          <a:bodyPr wrap="square" anchor="t" lIns="0" rIns="0" tIns="0" bIns="0">
            <a:spAutoFit/>
          </a:bodyPr>
          <a:lstStyle/>
          <a:p>
            <a:pPr algn="r"/>
            <a:r>
              <a:rPr sz="1500" b="1">
                <a:solidFill>
                  <a:srgbClr val="E36414"/>
                </a:solidFill>
                <a:latin typeface="Cambria Math"/>
              </a:rPr>
              <a:t>c</a:t>
            </a:r>
          </a:p>
        </p:txBody>
      </p:sp>
      <p:sp>
        <p:nvSpPr>
          <p:cNvPr id="27" name="Oval 26"/>
          <p:cNvSpPr/>
          <p:nvPr/>
        </p:nvSpPr>
        <p:spPr>
          <a:xfrm>
            <a:off x="9388419" y="1887979"/>
            <a:ext cx="310896" cy="310896"/>
          </a:xfrm>
          <a:prstGeom prst="ellipse">
            <a:avLst/>
          </a:prstGeom>
          <a:solidFill>
            <a:srgbClr val="FFFFFF"/>
          </a:solidFill>
          <a:ln w="19050">
            <a:solidFill>
              <a:srgbClr val="9AA8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745035" y="1714243"/>
            <a:ext cx="640080" cy="292608"/>
          </a:xfrm>
          <a:prstGeom prst="rect">
            <a:avLst/>
          </a:prstGeom>
          <a:noFill/>
        </p:spPr>
        <p:txBody>
          <a:bodyPr wrap="square" anchor="t" lIns="0" rIns="0" tIns="0" bIns="0">
            <a:spAutoFit/>
          </a:bodyPr>
          <a:lstStyle/>
          <a:p>
            <a:pPr algn="l"/>
            <a:r>
              <a:rPr sz="1500" b="0">
                <a:solidFill>
                  <a:srgbClr val="5B6B73"/>
                </a:solidFill>
                <a:latin typeface="Cambria Math"/>
              </a:rPr>
              <a:t>ac</a:t>
            </a:r>
          </a:p>
        </p:txBody>
      </p:sp>
      <p:sp>
        <p:nvSpPr>
          <p:cNvPr id="29" name="Oval 28"/>
          <p:cNvSpPr/>
          <p:nvPr/>
        </p:nvSpPr>
        <p:spPr>
          <a:xfrm>
            <a:off x="8886303" y="1490472"/>
            <a:ext cx="310896" cy="310896"/>
          </a:xfrm>
          <a:prstGeom prst="ellipse">
            <a:avLst/>
          </a:prstGeom>
          <a:solidFill>
            <a:srgbClr val="FFFFFF"/>
          </a:solidFill>
          <a:ln w="19050">
            <a:solidFill>
              <a:srgbClr val="9AA8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00503" y="1316736"/>
            <a:ext cx="640080" cy="292608"/>
          </a:xfrm>
          <a:prstGeom prst="rect">
            <a:avLst/>
          </a:prstGeom>
          <a:noFill/>
        </p:spPr>
        <p:txBody>
          <a:bodyPr wrap="square" anchor="t" lIns="0" rIns="0" tIns="0" bIns="0">
            <a:spAutoFit/>
          </a:bodyPr>
          <a:lstStyle/>
          <a:p>
            <a:pPr algn="r"/>
            <a:r>
              <a:rPr sz="1500" b="0">
                <a:solidFill>
                  <a:srgbClr val="5B6B73"/>
                </a:solidFill>
                <a:latin typeface="Cambria Math"/>
              </a:rPr>
              <a:t>bc</a:t>
            </a:r>
          </a:p>
        </p:txBody>
      </p:sp>
      <p:sp>
        <p:nvSpPr>
          <p:cNvPr id="31" name="Oval 30"/>
          <p:cNvSpPr/>
          <p:nvPr/>
        </p:nvSpPr>
        <p:spPr>
          <a:xfrm>
            <a:off x="9932377" y="1490472"/>
            <a:ext cx="310896" cy="310896"/>
          </a:xfrm>
          <a:prstGeom prst="ellipse">
            <a:avLst/>
          </a:prstGeom>
          <a:solidFill>
            <a:srgbClr val="E36414"/>
          </a:solidFill>
          <a:ln w="19050">
            <a:solidFill>
              <a:srgbClr val="E364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288993" y="1316736"/>
            <a:ext cx="640080" cy="292608"/>
          </a:xfrm>
          <a:prstGeom prst="rect">
            <a:avLst/>
          </a:prstGeom>
          <a:noFill/>
        </p:spPr>
        <p:txBody>
          <a:bodyPr wrap="square" anchor="t" lIns="0" rIns="0" tIns="0" bIns="0">
            <a:spAutoFit/>
          </a:bodyPr>
          <a:lstStyle/>
          <a:p>
            <a:pPr algn="l"/>
            <a:r>
              <a:rPr sz="1500" b="1">
                <a:solidFill>
                  <a:srgbClr val="E36414"/>
                </a:solidFill>
                <a:latin typeface="Cambria Math"/>
              </a:rPr>
              <a:t>abc</a:t>
            </a:r>
          </a:p>
        </p:txBody>
      </p:sp>
      <p:sp>
        <p:nvSpPr>
          <p:cNvPr id="33" name="TextBox 32"/>
          <p:cNvSpPr txBox="1"/>
          <p:nvPr/>
        </p:nvSpPr>
        <p:spPr>
          <a:xfrm>
            <a:off x="6942563" y="3886200"/>
            <a:ext cx="4700491" cy="365760"/>
          </a:xfrm>
          <a:prstGeom prst="rect">
            <a:avLst/>
          </a:prstGeom>
          <a:noFill/>
        </p:spPr>
        <p:txBody>
          <a:bodyPr wrap="square" anchor="t" lIns="0" rIns="0" tIns="0" bIns="0">
            <a:spAutoFit/>
          </a:bodyPr>
          <a:lstStyle/>
          <a:p>
            <a:pPr algn="ctr"/>
            <a:r>
              <a:rPr sz="1300" b="0">
                <a:solidFill>
                  <a:srgbClr val="5B6B73"/>
                </a:solidFill>
                <a:latin typeface="Calibri"/>
              </a:rPr>
              <a:t>Vértices rellenos: fracción principal (I = ABC)</a:t>
            </a:r>
          </a:p>
        </p:txBody>
      </p:sp>
      <p:sp>
        <p:nvSpPr>
          <p:cNvPr id="34" name="Rounded Rectangle 33"/>
          <p:cNvSpPr/>
          <p:nvPr/>
        </p:nvSpPr>
        <p:spPr>
          <a:xfrm>
            <a:off x="6942563" y="4453128"/>
            <a:ext cx="4700491" cy="1419859"/>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600" b="1">
                <a:solidFill>
                  <a:srgbClr val="0F4C5C"/>
                </a:solidFill>
                <a:latin typeface="Cambria"/>
              </a:rPr>
              <a:t>Generador</a:t>
            </a:r>
          </a:p>
          <a:p>
            <a:pPr algn="l"/>
            <a:r>
              <a:rPr sz="1400" b="0">
                <a:solidFill>
                  <a:srgbClr val="142B33"/>
                </a:solidFill>
                <a:latin typeface="Calibri"/>
              </a:rPr>
              <a:t>El efecto cuyo contraste genera la fracción (</a:t>
            </a:r>
            <a:r>
              <a:rPr sz="1400" b="1">
                <a:solidFill>
                  <a:srgbClr val="142B33"/>
                </a:solidFill>
                <a:latin typeface="Calibri"/>
              </a:rPr>
              <a:t>ABC</a:t>
            </a:r>
            <a:r>
              <a:rPr sz="1400" b="0">
                <a:solidFill>
                  <a:srgbClr val="142B33"/>
                </a:solidFill>
                <a:latin typeface="Calibri"/>
              </a:rPr>
              <a:t>). Ya no se puede estimar: se </a:t>
            </a:r>
            <a:r>
              <a:rPr sz="1400" b="1">
                <a:solidFill>
                  <a:srgbClr val="142B33"/>
                </a:solidFill>
                <a:latin typeface="Calibri"/>
              </a:rPr>
              <a:t>confunde con la media global</a:t>
            </a:r>
          </a:p>
        </p:txBody>
      </p:sp>
      <p:sp>
        <p:nvSpPr>
          <p:cNvPr id="35" name="TextBox 34"/>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El caso más pequeño: el 2</a:t>
            </a:r>
            <a:r>
              <a:rPr sz="1000" b="0" baseline="30000">
                <a:solidFill>
                  <a:srgbClr val="5B6B73"/>
                </a:solidFill>
                <a:latin typeface="Calibri"/>
              </a:rPr>
              <a:t>3−1</a:t>
            </a:r>
          </a:p>
        </p:txBody>
      </p:sp>
      <p:sp>
        <p:nvSpPr>
          <p:cNvPr id="36" name="TextBox 35"/>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13</a:t>
            </a:r>
          </a:p>
        </p:txBody>
      </p:sp>
      <p:sp>
        <p:nvSpPr>
          <p:cNvPr id="37" name="Rounded Rectangle 36"/>
          <p:cNvSpPr/>
          <p:nvPr/>
        </p:nvSpPr>
        <p:spPr>
          <a:xfrm>
            <a:off x="548640" y="91440"/>
            <a:ext cx="3287268"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2 · El caso más pequeño: el 2</a:t>
            </a:r>
            <a:r>
              <a:rPr sz="1100" b="1" baseline="30000">
                <a:solidFill>
                  <a:srgbClr val="FFFFFF"/>
                </a:solidFill>
                <a:latin typeface="Calibri"/>
              </a:rPr>
              <a:t>3−1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¿Qué son los alias? Comparando contrastes</a:t>
            </a:r>
          </a:p>
        </p:txBody>
      </p:sp>
      <p:graphicFrame>
        <p:nvGraphicFramePr>
          <p:cNvPr id="3" name="Table 2"/>
          <p:cNvGraphicFramePr>
            <a:graphicFrameLocks noGrp="1"/>
          </p:cNvGraphicFramePr>
          <p:nvPr/>
        </p:nvGraphicFramePr>
        <p:xfrm>
          <a:off x="548640" y="1417320"/>
          <a:ext cx="4807318" cy="1833880"/>
        </p:xfrm>
        <a:graphic>
          <a:graphicData uri="http://schemas.openxmlformats.org/drawingml/2006/table">
            <a:tbl>
              <a:tblPr firstRow="0" bandRow="0">
                <a:tableStyleId>{5C22544A-7EE6-4342-B048-85BDC9FD1C3A}</a:tableStyleId>
              </a:tblPr>
              <a:tblGrid>
                <a:gridCol w="1211929"/>
                <a:gridCol w="511703"/>
                <a:gridCol w="686760"/>
                <a:gridCol w="511703"/>
                <a:gridCol w="686760"/>
                <a:gridCol w="511703"/>
                <a:gridCol w="686760"/>
              </a:tblGrid>
              <a:tr h="366776">
                <a:tc>
                  <a:txBody>
                    <a:bodyPr/>
                    <a:lstStyle/>
                    <a:p>
                      <a:pPr algn="ctr"/>
                      <a:r>
                        <a:rPr sz="1600" b="1">
                          <a:solidFill>
                            <a:srgbClr val="FFFFFF"/>
                          </a:solidFill>
                          <a:latin typeface="Calibri"/>
                        </a:rPr>
                        <a:t>Trat.</a:t>
                      </a:r>
                    </a:p>
                  </a:txBody>
                  <a:tcPr marL="73152" marR="73152" marT="27432" marB="27432" anchor="ctr">
                    <a:solidFill>
                      <a:srgbClr val="0F4C5C"/>
                    </a:solidFill>
                  </a:tcPr>
                </a:tc>
                <a:tc>
                  <a:txBody>
                    <a:bodyPr/>
                    <a:lstStyle/>
                    <a:p>
                      <a:pPr algn="ctr"/>
                      <a:r>
                        <a:rPr sz="1600" b="1">
                          <a:solidFill>
                            <a:srgbClr val="FFFFFF"/>
                          </a:solidFill>
                          <a:latin typeface="Calibri"/>
                        </a:rPr>
                        <a:t>A</a:t>
                      </a:r>
                    </a:p>
                  </a:txBody>
                  <a:tcPr marL="73152" marR="73152" marT="27432" marB="27432" anchor="ctr">
                    <a:solidFill>
                      <a:srgbClr val="0F4C5C"/>
                    </a:solidFill>
                  </a:tcPr>
                </a:tc>
                <a:tc>
                  <a:txBody>
                    <a:bodyPr/>
                    <a:lstStyle/>
                    <a:p>
                      <a:pPr algn="ctr"/>
                      <a:r>
                        <a:rPr sz="1600" b="1">
                          <a:solidFill>
                            <a:srgbClr val="FFFFFF"/>
                          </a:solidFill>
                          <a:latin typeface="Calibri"/>
                        </a:rPr>
                        <a:t>BC</a:t>
                      </a:r>
                    </a:p>
                  </a:txBody>
                  <a:tcPr marL="73152" marR="73152" marT="27432" marB="27432" anchor="ctr">
                    <a:solidFill>
                      <a:srgbClr val="0F4C5C"/>
                    </a:solidFill>
                  </a:tcPr>
                </a:tc>
                <a:tc>
                  <a:txBody>
                    <a:bodyPr/>
                    <a:lstStyle/>
                    <a:p>
                      <a:pPr algn="ctr"/>
                      <a:r>
                        <a:rPr sz="1600" b="1">
                          <a:solidFill>
                            <a:srgbClr val="FFFFFF"/>
                          </a:solidFill>
                          <a:latin typeface="Calibri"/>
                        </a:rPr>
                        <a:t>B</a:t>
                      </a:r>
                    </a:p>
                  </a:txBody>
                  <a:tcPr marL="73152" marR="73152" marT="27432" marB="27432" anchor="ctr">
                    <a:solidFill>
                      <a:srgbClr val="0F4C5C"/>
                    </a:solidFill>
                  </a:tcPr>
                </a:tc>
                <a:tc>
                  <a:txBody>
                    <a:bodyPr/>
                    <a:lstStyle/>
                    <a:p>
                      <a:pPr algn="ctr"/>
                      <a:r>
                        <a:rPr sz="1600" b="1">
                          <a:solidFill>
                            <a:srgbClr val="FFFFFF"/>
                          </a:solidFill>
                          <a:latin typeface="Calibri"/>
                        </a:rPr>
                        <a:t>AC</a:t>
                      </a:r>
                    </a:p>
                  </a:txBody>
                  <a:tcPr marL="73152" marR="73152" marT="27432" marB="27432" anchor="ctr">
                    <a:solidFill>
                      <a:srgbClr val="0F4C5C"/>
                    </a:solidFill>
                  </a:tcPr>
                </a:tc>
                <a:tc>
                  <a:txBody>
                    <a:bodyPr/>
                    <a:lstStyle/>
                    <a:p>
                      <a:pPr algn="ctr"/>
                      <a:r>
                        <a:rPr sz="1600" b="1">
                          <a:solidFill>
                            <a:srgbClr val="FFFFFF"/>
                          </a:solidFill>
                          <a:latin typeface="Calibri"/>
                        </a:rPr>
                        <a:t>C</a:t>
                      </a:r>
                    </a:p>
                  </a:txBody>
                  <a:tcPr marL="73152" marR="73152" marT="27432" marB="27432" anchor="ctr">
                    <a:solidFill>
                      <a:srgbClr val="0F4C5C"/>
                    </a:solidFill>
                  </a:tcPr>
                </a:tc>
                <a:tc>
                  <a:txBody>
                    <a:bodyPr/>
                    <a:lstStyle/>
                    <a:p>
                      <a:pPr algn="ctr"/>
                      <a:r>
                        <a:rPr sz="1600" b="1">
                          <a:solidFill>
                            <a:srgbClr val="FFFFFF"/>
                          </a:solidFill>
                          <a:latin typeface="Calibri"/>
                        </a:rPr>
                        <a:t>AB</a:t>
                      </a:r>
                    </a:p>
                  </a:txBody>
                  <a:tcPr marL="73152" marR="73152" marT="27432" marB="27432" anchor="ctr">
                    <a:solidFill>
                      <a:srgbClr val="0F4C5C"/>
                    </a:solidFill>
                  </a:tcPr>
                </a:tc>
              </a:tr>
              <a:tr h="366776">
                <a:tc>
                  <a:txBody>
                    <a:bodyPr/>
                    <a:lstStyle/>
                    <a:p>
                      <a:pPr algn="ctr"/>
                      <a:r>
                        <a:rPr sz="1600" b="0">
                          <a:solidFill>
                            <a:srgbClr val="142B33"/>
                          </a:solidFill>
                          <a:latin typeface="Calibri"/>
                        </a:rPr>
                        <a:t>a</a:t>
                      </a:r>
                    </a:p>
                  </a:txBody>
                  <a:tcPr marL="73152" marR="73152" marT="27432" marB="27432" anchor="ctr">
                    <a:solidFill>
                      <a:srgbClr val="FFFFFF"/>
                    </a:solidFill>
                  </a:tcPr>
                </a:tc>
                <a:tc>
                  <a:txBody>
                    <a:bodyPr/>
                    <a:lstStyle/>
                    <a:p>
                      <a:pPr algn="ctr"/>
                      <a:r>
                        <a:rPr sz="1700" b="1">
                          <a:solidFill>
                            <a:srgbClr val="0F4C5C"/>
                          </a:solidFill>
                          <a:latin typeface="Calibri"/>
                        </a:rPr>
                        <a:t>+</a:t>
                      </a:r>
                    </a:p>
                  </a:txBody>
                  <a:tcPr marL="73152" marR="73152" marT="27432" marB="27432" anchor="ctr">
                    <a:solidFill>
                      <a:srgbClr val="FFFFFF"/>
                    </a:solidFill>
                  </a:tcPr>
                </a:tc>
                <a:tc>
                  <a:txBody>
                    <a:bodyPr/>
                    <a:lstStyle/>
                    <a:p>
                      <a:pPr algn="ctr"/>
                      <a:r>
                        <a:rPr sz="1700" b="1">
                          <a:solidFill>
                            <a:srgbClr val="0F4C5C"/>
                          </a:solidFill>
                          <a:latin typeface="Calibri"/>
                        </a:rPr>
                        <a:t>+</a:t>
                      </a:r>
                    </a:p>
                  </a:txBody>
                  <a:tcPr marL="73152" marR="73152" marT="27432" marB="27432" anchor="ctr">
                    <a:solidFill>
                      <a:srgbClr val="FFFFFF"/>
                    </a:solidFill>
                  </a:tcPr>
                </a:tc>
                <a:tc>
                  <a:txBody>
                    <a:bodyPr/>
                    <a:lstStyle/>
                    <a:p>
                      <a:pPr algn="ctr"/>
                      <a:r>
                        <a:rPr sz="1700" b="1">
                          <a:solidFill>
                            <a:srgbClr val="E36414"/>
                          </a:solidFill>
                          <a:latin typeface="Calibri"/>
                        </a:rPr>
                        <a:t>−</a:t>
                      </a:r>
                    </a:p>
                  </a:txBody>
                  <a:tcPr marL="73152" marR="73152" marT="27432" marB="27432" anchor="ctr">
                    <a:solidFill>
                      <a:srgbClr val="FFFFFF"/>
                    </a:solidFill>
                  </a:tcPr>
                </a:tc>
                <a:tc>
                  <a:txBody>
                    <a:bodyPr/>
                    <a:lstStyle/>
                    <a:p>
                      <a:pPr algn="ctr"/>
                      <a:r>
                        <a:rPr sz="1700" b="1">
                          <a:solidFill>
                            <a:srgbClr val="E36414"/>
                          </a:solidFill>
                          <a:latin typeface="Calibri"/>
                        </a:rPr>
                        <a:t>−</a:t>
                      </a:r>
                    </a:p>
                  </a:txBody>
                  <a:tcPr marL="73152" marR="73152" marT="27432" marB="27432" anchor="ctr">
                    <a:solidFill>
                      <a:srgbClr val="FFFFFF"/>
                    </a:solidFill>
                  </a:tcPr>
                </a:tc>
                <a:tc>
                  <a:txBody>
                    <a:bodyPr/>
                    <a:lstStyle/>
                    <a:p>
                      <a:pPr algn="ctr"/>
                      <a:r>
                        <a:rPr sz="1700" b="1">
                          <a:solidFill>
                            <a:srgbClr val="E36414"/>
                          </a:solidFill>
                          <a:latin typeface="Calibri"/>
                        </a:rPr>
                        <a:t>−</a:t>
                      </a:r>
                    </a:p>
                  </a:txBody>
                  <a:tcPr marL="73152" marR="73152" marT="27432" marB="27432" anchor="ctr">
                    <a:solidFill>
                      <a:srgbClr val="FFFFFF"/>
                    </a:solidFill>
                  </a:tcPr>
                </a:tc>
                <a:tc>
                  <a:txBody>
                    <a:bodyPr/>
                    <a:lstStyle/>
                    <a:p>
                      <a:pPr algn="ctr"/>
                      <a:r>
                        <a:rPr sz="1700" b="1">
                          <a:solidFill>
                            <a:srgbClr val="E36414"/>
                          </a:solidFill>
                          <a:latin typeface="Calibri"/>
                        </a:rPr>
                        <a:t>−</a:t>
                      </a:r>
                    </a:p>
                  </a:txBody>
                  <a:tcPr marL="73152" marR="73152" marT="27432" marB="27432" anchor="ctr">
                    <a:solidFill>
                      <a:srgbClr val="FFFFFF"/>
                    </a:solidFill>
                  </a:tcPr>
                </a:tc>
              </a:tr>
              <a:tr h="366776">
                <a:tc>
                  <a:txBody>
                    <a:bodyPr/>
                    <a:lstStyle/>
                    <a:p>
                      <a:pPr algn="ctr"/>
                      <a:r>
                        <a:rPr sz="1600" b="0">
                          <a:solidFill>
                            <a:srgbClr val="142B33"/>
                          </a:solidFill>
                          <a:latin typeface="Calibri"/>
                        </a:rPr>
                        <a:t>b</a:t>
                      </a:r>
                    </a:p>
                  </a:txBody>
                  <a:tcPr marL="73152" marR="73152" marT="27432" marB="27432" anchor="ctr">
                    <a:solidFill>
                      <a:srgbClr val="F4F8F9"/>
                    </a:solidFill>
                  </a:tcPr>
                </a:tc>
                <a:tc>
                  <a:txBody>
                    <a:bodyPr/>
                    <a:lstStyle/>
                    <a:p>
                      <a:pPr algn="ctr"/>
                      <a:r>
                        <a:rPr sz="1700" b="1">
                          <a:solidFill>
                            <a:srgbClr val="E36414"/>
                          </a:solidFill>
                          <a:latin typeface="Calibri"/>
                        </a:rPr>
                        <a:t>−</a:t>
                      </a:r>
                    </a:p>
                  </a:txBody>
                  <a:tcPr marL="73152" marR="73152" marT="27432" marB="27432" anchor="ctr">
                    <a:solidFill>
                      <a:srgbClr val="F4F8F9"/>
                    </a:solidFill>
                  </a:tcPr>
                </a:tc>
                <a:tc>
                  <a:txBody>
                    <a:bodyPr/>
                    <a:lstStyle/>
                    <a:p>
                      <a:pPr algn="ctr"/>
                      <a:r>
                        <a:rPr sz="1700" b="1">
                          <a:solidFill>
                            <a:srgbClr val="E36414"/>
                          </a:solidFill>
                          <a:latin typeface="Calibri"/>
                        </a:rPr>
                        <a:t>−</a:t>
                      </a:r>
                    </a:p>
                  </a:txBody>
                  <a:tcPr marL="73152" marR="73152" marT="27432" marB="27432" anchor="ctr">
                    <a:solidFill>
                      <a:srgbClr val="F4F8F9"/>
                    </a:solidFill>
                  </a:tcPr>
                </a:tc>
                <a:tc>
                  <a:txBody>
                    <a:bodyPr/>
                    <a:lstStyle/>
                    <a:p>
                      <a:pPr algn="ctr"/>
                      <a:r>
                        <a:rPr sz="1700" b="1">
                          <a:solidFill>
                            <a:srgbClr val="0F4C5C"/>
                          </a:solidFill>
                          <a:latin typeface="Calibri"/>
                        </a:rPr>
                        <a:t>+</a:t>
                      </a:r>
                    </a:p>
                  </a:txBody>
                  <a:tcPr marL="73152" marR="73152" marT="27432" marB="27432" anchor="ctr">
                    <a:solidFill>
                      <a:srgbClr val="F4F8F9"/>
                    </a:solidFill>
                  </a:tcPr>
                </a:tc>
                <a:tc>
                  <a:txBody>
                    <a:bodyPr/>
                    <a:lstStyle/>
                    <a:p>
                      <a:pPr algn="ctr"/>
                      <a:r>
                        <a:rPr sz="1700" b="1">
                          <a:solidFill>
                            <a:srgbClr val="0F4C5C"/>
                          </a:solidFill>
                          <a:latin typeface="Calibri"/>
                        </a:rPr>
                        <a:t>+</a:t>
                      </a:r>
                    </a:p>
                  </a:txBody>
                  <a:tcPr marL="73152" marR="73152" marT="27432" marB="27432" anchor="ctr">
                    <a:solidFill>
                      <a:srgbClr val="F4F8F9"/>
                    </a:solidFill>
                  </a:tcPr>
                </a:tc>
                <a:tc>
                  <a:txBody>
                    <a:bodyPr/>
                    <a:lstStyle/>
                    <a:p>
                      <a:pPr algn="ctr"/>
                      <a:r>
                        <a:rPr sz="1700" b="1">
                          <a:solidFill>
                            <a:srgbClr val="E36414"/>
                          </a:solidFill>
                          <a:latin typeface="Calibri"/>
                        </a:rPr>
                        <a:t>−</a:t>
                      </a:r>
                    </a:p>
                  </a:txBody>
                  <a:tcPr marL="73152" marR="73152" marT="27432" marB="27432" anchor="ctr">
                    <a:solidFill>
                      <a:srgbClr val="F4F8F9"/>
                    </a:solidFill>
                  </a:tcPr>
                </a:tc>
                <a:tc>
                  <a:txBody>
                    <a:bodyPr/>
                    <a:lstStyle/>
                    <a:p>
                      <a:pPr algn="ctr"/>
                      <a:r>
                        <a:rPr sz="1700" b="1">
                          <a:solidFill>
                            <a:srgbClr val="E36414"/>
                          </a:solidFill>
                          <a:latin typeface="Calibri"/>
                        </a:rPr>
                        <a:t>−</a:t>
                      </a:r>
                    </a:p>
                  </a:txBody>
                  <a:tcPr marL="73152" marR="73152" marT="27432" marB="27432" anchor="ctr">
                    <a:solidFill>
                      <a:srgbClr val="F4F8F9"/>
                    </a:solidFill>
                  </a:tcPr>
                </a:tc>
              </a:tr>
              <a:tr h="366776">
                <a:tc>
                  <a:txBody>
                    <a:bodyPr/>
                    <a:lstStyle/>
                    <a:p>
                      <a:pPr algn="ctr"/>
                      <a:r>
                        <a:rPr sz="1600" b="0">
                          <a:solidFill>
                            <a:srgbClr val="142B33"/>
                          </a:solidFill>
                          <a:latin typeface="Calibri"/>
                        </a:rPr>
                        <a:t>c</a:t>
                      </a:r>
                    </a:p>
                  </a:txBody>
                  <a:tcPr marL="73152" marR="73152" marT="27432" marB="27432" anchor="ctr">
                    <a:solidFill>
                      <a:srgbClr val="FFFFFF"/>
                    </a:solidFill>
                  </a:tcPr>
                </a:tc>
                <a:tc>
                  <a:txBody>
                    <a:bodyPr/>
                    <a:lstStyle/>
                    <a:p>
                      <a:pPr algn="ctr"/>
                      <a:r>
                        <a:rPr sz="1700" b="1">
                          <a:solidFill>
                            <a:srgbClr val="E36414"/>
                          </a:solidFill>
                          <a:latin typeface="Calibri"/>
                        </a:rPr>
                        <a:t>−</a:t>
                      </a:r>
                    </a:p>
                  </a:txBody>
                  <a:tcPr marL="73152" marR="73152" marT="27432" marB="27432" anchor="ctr">
                    <a:solidFill>
                      <a:srgbClr val="FFFFFF"/>
                    </a:solidFill>
                  </a:tcPr>
                </a:tc>
                <a:tc>
                  <a:txBody>
                    <a:bodyPr/>
                    <a:lstStyle/>
                    <a:p>
                      <a:pPr algn="ctr"/>
                      <a:r>
                        <a:rPr sz="1700" b="1">
                          <a:solidFill>
                            <a:srgbClr val="E36414"/>
                          </a:solidFill>
                          <a:latin typeface="Calibri"/>
                        </a:rPr>
                        <a:t>−</a:t>
                      </a:r>
                    </a:p>
                  </a:txBody>
                  <a:tcPr marL="73152" marR="73152" marT="27432" marB="27432" anchor="ctr">
                    <a:solidFill>
                      <a:srgbClr val="FFFFFF"/>
                    </a:solidFill>
                  </a:tcPr>
                </a:tc>
                <a:tc>
                  <a:txBody>
                    <a:bodyPr/>
                    <a:lstStyle/>
                    <a:p>
                      <a:pPr algn="ctr"/>
                      <a:r>
                        <a:rPr sz="1700" b="1">
                          <a:solidFill>
                            <a:srgbClr val="E36414"/>
                          </a:solidFill>
                          <a:latin typeface="Calibri"/>
                        </a:rPr>
                        <a:t>−</a:t>
                      </a:r>
                    </a:p>
                  </a:txBody>
                  <a:tcPr marL="73152" marR="73152" marT="27432" marB="27432" anchor="ctr">
                    <a:solidFill>
                      <a:srgbClr val="FFFFFF"/>
                    </a:solidFill>
                  </a:tcPr>
                </a:tc>
                <a:tc>
                  <a:txBody>
                    <a:bodyPr/>
                    <a:lstStyle/>
                    <a:p>
                      <a:pPr algn="ctr"/>
                      <a:r>
                        <a:rPr sz="1700" b="1">
                          <a:solidFill>
                            <a:srgbClr val="E36414"/>
                          </a:solidFill>
                          <a:latin typeface="Calibri"/>
                        </a:rPr>
                        <a:t>−</a:t>
                      </a:r>
                    </a:p>
                  </a:txBody>
                  <a:tcPr marL="73152" marR="73152" marT="27432" marB="27432" anchor="ctr">
                    <a:solidFill>
                      <a:srgbClr val="FFFFFF"/>
                    </a:solidFill>
                  </a:tcPr>
                </a:tc>
                <a:tc>
                  <a:txBody>
                    <a:bodyPr/>
                    <a:lstStyle/>
                    <a:p>
                      <a:pPr algn="ctr"/>
                      <a:r>
                        <a:rPr sz="1700" b="1">
                          <a:solidFill>
                            <a:srgbClr val="0F4C5C"/>
                          </a:solidFill>
                          <a:latin typeface="Calibri"/>
                        </a:rPr>
                        <a:t>+</a:t>
                      </a:r>
                    </a:p>
                  </a:txBody>
                  <a:tcPr marL="73152" marR="73152" marT="27432" marB="27432" anchor="ctr">
                    <a:solidFill>
                      <a:srgbClr val="FFFFFF"/>
                    </a:solidFill>
                  </a:tcPr>
                </a:tc>
                <a:tc>
                  <a:txBody>
                    <a:bodyPr/>
                    <a:lstStyle/>
                    <a:p>
                      <a:pPr algn="ctr"/>
                      <a:r>
                        <a:rPr sz="1700" b="1">
                          <a:solidFill>
                            <a:srgbClr val="0F4C5C"/>
                          </a:solidFill>
                          <a:latin typeface="Calibri"/>
                        </a:rPr>
                        <a:t>+</a:t>
                      </a:r>
                    </a:p>
                  </a:txBody>
                  <a:tcPr marL="73152" marR="73152" marT="27432" marB="27432" anchor="ctr">
                    <a:solidFill>
                      <a:srgbClr val="FFFFFF"/>
                    </a:solidFill>
                  </a:tcPr>
                </a:tc>
              </a:tr>
              <a:tr h="366776">
                <a:tc>
                  <a:txBody>
                    <a:bodyPr/>
                    <a:lstStyle/>
                    <a:p>
                      <a:pPr algn="ctr"/>
                      <a:r>
                        <a:rPr sz="1600" b="0">
                          <a:solidFill>
                            <a:srgbClr val="142B33"/>
                          </a:solidFill>
                          <a:latin typeface="Calibri"/>
                        </a:rPr>
                        <a:t>abc</a:t>
                      </a:r>
                    </a:p>
                  </a:txBody>
                  <a:tcPr marL="73152" marR="73152" marT="27432" marB="27432" anchor="ctr">
                    <a:solidFill>
                      <a:srgbClr val="F4F8F9"/>
                    </a:solidFill>
                  </a:tcPr>
                </a:tc>
                <a:tc>
                  <a:txBody>
                    <a:bodyPr/>
                    <a:lstStyle/>
                    <a:p>
                      <a:pPr algn="ctr"/>
                      <a:r>
                        <a:rPr sz="1700" b="1">
                          <a:solidFill>
                            <a:srgbClr val="0F4C5C"/>
                          </a:solidFill>
                          <a:latin typeface="Calibri"/>
                        </a:rPr>
                        <a:t>+</a:t>
                      </a:r>
                    </a:p>
                  </a:txBody>
                  <a:tcPr marL="73152" marR="73152" marT="27432" marB="27432" anchor="ctr">
                    <a:solidFill>
                      <a:srgbClr val="F4F8F9"/>
                    </a:solidFill>
                  </a:tcPr>
                </a:tc>
                <a:tc>
                  <a:txBody>
                    <a:bodyPr/>
                    <a:lstStyle/>
                    <a:p>
                      <a:pPr algn="ctr"/>
                      <a:r>
                        <a:rPr sz="1700" b="1">
                          <a:solidFill>
                            <a:srgbClr val="0F4C5C"/>
                          </a:solidFill>
                          <a:latin typeface="Calibri"/>
                        </a:rPr>
                        <a:t>+</a:t>
                      </a:r>
                    </a:p>
                  </a:txBody>
                  <a:tcPr marL="73152" marR="73152" marT="27432" marB="27432" anchor="ctr">
                    <a:solidFill>
                      <a:srgbClr val="F4F8F9"/>
                    </a:solidFill>
                  </a:tcPr>
                </a:tc>
                <a:tc>
                  <a:txBody>
                    <a:bodyPr/>
                    <a:lstStyle/>
                    <a:p>
                      <a:pPr algn="ctr"/>
                      <a:r>
                        <a:rPr sz="1700" b="1">
                          <a:solidFill>
                            <a:srgbClr val="0F4C5C"/>
                          </a:solidFill>
                          <a:latin typeface="Calibri"/>
                        </a:rPr>
                        <a:t>+</a:t>
                      </a:r>
                    </a:p>
                  </a:txBody>
                  <a:tcPr marL="73152" marR="73152" marT="27432" marB="27432" anchor="ctr">
                    <a:solidFill>
                      <a:srgbClr val="F4F8F9"/>
                    </a:solidFill>
                  </a:tcPr>
                </a:tc>
                <a:tc>
                  <a:txBody>
                    <a:bodyPr/>
                    <a:lstStyle/>
                    <a:p>
                      <a:pPr algn="ctr"/>
                      <a:r>
                        <a:rPr sz="1700" b="1">
                          <a:solidFill>
                            <a:srgbClr val="0F4C5C"/>
                          </a:solidFill>
                          <a:latin typeface="Calibri"/>
                        </a:rPr>
                        <a:t>+</a:t>
                      </a:r>
                    </a:p>
                  </a:txBody>
                  <a:tcPr marL="73152" marR="73152" marT="27432" marB="27432" anchor="ctr">
                    <a:solidFill>
                      <a:srgbClr val="F4F8F9"/>
                    </a:solidFill>
                  </a:tcPr>
                </a:tc>
                <a:tc>
                  <a:txBody>
                    <a:bodyPr/>
                    <a:lstStyle/>
                    <a:p>
                      <a:pPr algn="ctr"/>
                      <a:r>
                        <a:rPr sz="1700" b="1">
                          <a:solidFill>
                            <a:srgbClr val="0F4C5C"/>
                          </a:solidFill>
                          <a:latin typeface="Calibri"/>
                        </a:rPr>
                        <a:t>+</a:t>
                      </a:r>
                    </a:p>
                  </a:txBody>
                  <a:tcPr marL="73152" marR="73152" marT="27432" marB="27432" anchor="ctr">
                    <a:solidFill>
                      <a:srgbClr val="F4F8F9"/>
                    </a:solidFill>
                  </a:tcPr>
                </a:tc>
                <a:tc>
                  <a:txBody>
                    <a:bodyPr/>
                    <a:lstStyle/>
                    <a:p>
                      <a:pPr algn="ctr"/>
                      <a:r>
                        <a:rPr sz="1700" b="1">
                          <a:solidFill>
                            <a:srgbClr val="0F4C5C"/>
                          </a:solidFill>
                          <a:latin typeface="Calibri"/>
                        </a:rPr>
                        <a:t>+</a:t>
                      </a:r>
                    </a:p>
                  </a:txBody>
                  <a:tcPr marL="73152" marR="73152" marT="27432" marB="27432" anchor="ctr">
                    <a:solidFill>
                      <a:srgbClr val="F4F8F9"/>
                    </a:solidFill>
                  </a:tcPr>
                </a:tc>
              </a:tr>
            </a:tbl>
          </a:graphicData>
        </a:graphic>
      </p:graphicFrame>
      <p:sp>
        <p:nvSpPr>
          <p:cNvPr id="4" name="Rounded Rectangle 3"/>
          <p:cNvSpPr/>
          <p:nvPr/>
        </p:nvSpPr>
        <p:spPr>
          <a:xfrm>
            <a:off x="548640" y="3452368"/>
            <a:ext cx="4807320"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Columnas </a:t>
            </a:r>
            <a:r>
              <a:rPr sz="1500" b="1">
                <a:solidFill>
                  <a:srgbClr val="142B33"/>
                </a:solidFill>
                <a:latin typeface="Calibri"/>
              </a:rPr>
              <a:t>iguales</a:t>
            </a:r>
            <a:r>
              <a:rPr sz="1500" b="0">
                <a:solidFill>
                  <a:srgbClr val="142B33"/>
                </a:solidFill>
                <a:latin typeface="Calibri"/>
              </a:rPr>
              <a:t> de dos en dos: A = BC, B = AC, C = AB</a:t>
            </a:r>
          </a:p>
        </p:txBody>
      </p:sp>
      <p:sp>
        <p:nvSpPr>
          <p:cNvPr id="5" name="Rounded Rectangle 4"/>
          <p:cNvSpPr/>
          <p:nvPr/>
        </p:nvSpPr>
        <p:spPr>
          <a:xfrm>
            <a:off x="5767440" y="1417320"/>
            <a:ext cx="5875614" cy="899038"/>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800" b="0">
                <a:solidFill>
                  <a:srgbClr val="0F4C5C"/>
                </a:solidFill>
                <a:latin typeface="Cambria Math"/>
              </a:rPr>
              <a:t>Contraste A = a + abc − b − c</a:t>
            </a:r>
          </a:p>
          <a:p>
            <a:pPr algn="ctr"/>
            <a:r>
              <a:rPr sz="1800" b="0">
                <a:solidFill>
                  <a:srgbClr val="0F4C5C"/>
                </a:solidFill>
                <a:latin typeface="Cambria Math"/>
              </a:rPr>
              <a:t>Contraste BC = a + abc − b − c</a:t>
            </a:r>
          </a:p>
        </p:txBody>
      </p:sp>
      <p:sp>
        <p:nvSpPr>
          <p:cNvPr id="6" name="Rounded Rectangle 5"/>
          <p:cNvSpPr/>
          <p:nvPr/>
        </p:nvSpPr>
        <p:spPr>
          <a:xfrm>
            <a:off x="5767440" y="2517526"/>
            <a:ext cx="5875614" cy="1202943"/>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600" b="1">
                <a:solidFill>
                  <a:srgbClr val="0F4C5C"/>
                </a:solidFill>
                <a:latin typeface="Cambria"/>
              </a:rPr>
              <a:t>Alias</a:t>
            </a:r>
          </a:p>
          <a:p>
            <a:pPr algn="l"/>
            <a:r>
              <a:rPr sz="1400" b="0">
                <a:solidFill>
                  <a:srgbClr val="142B33"/>
                </a:solidFill>
                <a:latin typeface="Calibri"/>
              </a:rPr>
              <a:t>Dos o más efectos con nombres distintos que </a:t>
            </a:r>
            <a:r>
              <a:rPr sz="1400" b="1">
                <a:solidFill>
                  <a:srgbClr val="142B33"/>
                </a:solidFill>
                <a:latin typeface="Calibri"/>
              </a:rPr>
              <a:t>comparten el mismo contraste</a:t>
            </a:r>
            <a:r>
              <a:rPr sz="1400" b="0">
                <a:solidFill>
                  <a:srgbClr val="142B33"/>
                </a:solidFill>
                <a:latin typeface="Calibri"/>
              </a:rPr>
              <a:t>: al estimar uno se estima la </a:t>
            </a:r>
            <a:r>
              <a:rPr sz="1400" b="1">
                <a:solidFill>
                  <a:srgbClr val="142B33"/>
                </a:solidFill>
                <a:latin typeface="Calibri"/>
              </a:rPr>
              <a:t>suma</a:t>
            </a:r>
          </a:p>
        </p:txBody>
      </p:sp>
      <p:graphicFrame>
        <p:nvGraphicFramePr>
          <p:cNvPr id="7" name="Table 6"/>
          <p:cNvGraphicFramePr>
            <a:graphicFrameLocks noGrp="1"/>
          </p:cNvGraphicFramePr>
          <p:nvPr/>
        </p:nvGraphicFramePr>
        <p:xfrm>
          <a:off x="5767440" y="3921638"/>
          <a:ext cx="5875614" cy="1637538"/>
        </p:xfrm>
        <a:graphic>
          <a:graphicData uri="http://schemas.openxmlformats.org/drawingml/2006/table">
            <a:tbl>
              <a:tblPr firstRow="0" bandRow="0">
                <a:tableStyleId>{5C22544A-7EE6-4342-B048-85BDC9FD1C3A}</a:tableStyleId>
              </a:tblPr>
              <a:tblGrid>
                <a:gridCol w="940098"/>
                <a:gridCol w="2467758"/>
                <a:gridCol w="2467758"/>
              </a:tblGrid>
              <a:tr h="583692">
                <a:tc>
                  <a:txBody>
                    <a:bodyPr/>
                    <a:lstStyle/>
                    <a:p>
                      <a:pPr algn="ctr"/>
                    </a:p>
                  </a:txBody>
                  <a:tcPr marL="73152" marR="73152" marT="27432" marB="27432" anchor="ctr">
                    <a:solidFill>
                      <a:srgbClr val="0F4C5C"/>
                    </a:solidFill>
                  </a:tcPr>
                </a:tc>
                <a:tc>
                  <a:txBody>
                    <a:bodyPr/>
                    <a:lstStyle/>
                    <a:p>
                      <a:pPr algn="ctr"/>
                      <a:r>
                        <a:rPr sz="1500" b="1">
                          <a:solidFill>
                            <a:srgbClr val="FFFFFF"/>
                          </a:solidFill>
                          <a:latin typeface="Calibri"/>
                        </a:rPr>
                        <a:t>Principal (I = ABC)</a:t>
                      </a:r>
                    </a:p>
                  </a:txBody>
                  <a:tcPr marL="73152" marR="73152" marT="27432" marB="27432" anchor="ctr">
                    <a:solidFill>
                      <a:srgbClr val="0F4C5C"/>
                    </a:solidFill>
                  </a:tcPr>
                </a:tc>
                <a:tc>
                  <a:txBody>
                    <a:bodyPr/>
                    <a:lstStyle/>
                    <a:p>
                      <a:pPr algn="ctr"/>
                      <a:r>
                        <a:rPr sz="1500" b="1">
                          <a:solidFill>
                            <a:srgbClr val="FFFFFF"/>
                          </a:solidFill>
                          <a:latin typeface="Calibri"/>
                        </a:rPr>
                        <a:t>Complementaria (I = −ABC)</a:t>
                      </a:r>
                    </a:p>
                  </a:txBody>
                  <a:tcPr marL="73152" marR="73152" marT="27432" marB="27432" anchor="ctr">
                    <a:solidFill>
                      <a:srgbClr val="0F4C5C"/>
                    </a:solidFill>
                  </a:tcPr>
                </a:tc>
              </a:tr>
              <a:tr h="351282">
                <a:tc>
                  <a:txBody>
                    <a:bodyPr/>
                    <a:lstStyle/>
                    <a:p>
                      <a:pPr algn="ctr"/>
                      <a:r>
                        <a:rPr sz="1500" b="0">
                          <a:solidFill>
                            <a:srgbClr val="142B33"/>
                          </a:solidFill>
                          <a:latin typeface="Calibri"/>
                        </a:rPr>
                        <a:t>ℓ</a:t>
                      </a:r>
                      <a:r>
                        <a:rPr sz="1500" b="0" baseline="-25000">
                          <a:solidFill>
                            <a:srgbClr val="142B33"/>
                          </a:solidFill>
                          <a:latin typeface="Calibri"/>
                        </a:rPr>
                        <a:t>A</a:t>
                      </a:r>
                    </a:p>
                  </a:txBody>
                  <a:tcPr marL="73152" marR="73152" marT="27432" marB="27432" anchor="ctr">
                    <a:solidFill>
                      <a:srgbClr val="FFFFFF"/>
                    </a:solidFill>
                  </a:tcPr>
                </a:tc>
                <a:tc>
                  <a:txBody>
                    <a:bodyPr/>
                    <a:lstStyle/>
                    <a:p>
                      <a:pPr algn="ctr"/>
                      <a:r>
                        <a:rPr sz="1500" b="0">
                          <a:solidFill>
                            <a:srgbClr val="142B33"/>
                          </a:solidFill>
                          <a:latin typeface="Calibri"/>
                        </a:rPr>
                        <a:t>A + BC</a:t>
                      </a:r>
                    </a:p>
                  </a:txBody>
                  <a:tcPr marL="73152" marR="73152" marT="27432" marB="27432" anchor="ctr">
                    <a:solidFill>
                      <a:srgbClr val="FFFFFF"/>
                    </a:solidFill>
                  </a:tcPr>
                </a:tc>
                <a:tc>
                  <a:txBody>
                    <a:bodyPr/>
                    <a:lstStyle/>
                    <a:p>
                      <a:pPr algn="ctr"/>
                      <a:r>
                        <a:rPr sz="1500" b="0">
                          <a:solidFill>
                            <a:srgbClr val="142B33"/>
                          </a:solidFill>
                          <a:latin typeface="Calibri"/>
                        </a:rPr>
                        <a:t>A − BC</a:t>
                      </a:r>
                    </a:p>
                  </a:txBody>
                  <a:tcPr marL="73152" marR="73152" marT="27432" marB="27432" anchor="ctr">
                    <a:solidFill>
                      <a:srgbClr val="FFFFFF"/>
                    </a:solidFill>
                  </a:tcPr>
                </a:tc>
              </a:tr>
              <a:tr h="351282">
                <a:tc>
                  <a:txBody>
                    <a:bodyPr/>
                    <a:lstStyle/>
                    <a:p>
                      <a:pPr algn="ctr"/>
                      <a:r>
                        <a:rPr sz="1500" b="0">
                          <a:solidFill>
                            <a:srgbClr val="142B33"/>
                          </a:solidFill>
                          <a:latin typeface="Calibri"/>
                        </a:rPr>
                        <a:t>ℓ</a:t>
                      </a:r>
                      <a:r>
                        <a:rPr sz="1500" b="0" baseline="-25000">
                          <a:solidFill>
                            <a:srgbClr val="142B33"/>
                          </a:solidFill>
                          <a:latin typeface="Calibri"/>
                        </a:rPr>
                        <a:t>B</a:t>
                      </a:r>
                    </a:p>
                  </a:txBody>
                  <a:tcPr marL="73152" marR="73152" marT="27432" marB="27432" anchor="ctr">
                    <a:solidFill>
                      <a:srgbClr val="F4F8F9"/>
                    </a:solidFill>
                  </a:tcPr>
                </a:tc>
                <a:tc>
                  <a:txBody>
                    <a:bodyPr/>
                    <a:lstStyle/>
                    <a:p>
                      <a:pPr algn="ctr"/>
                      <a:r>
                        <a:rPr sz="1500" b="0">
                          <a:solidFill>
                            <a:srgbClr val="142B33"/>
                          </a:solidFill>
                          <a:latin typeface="Calibri"/>
                        </a:rPr>
                        <a:t>B + AC</a:t>
                      </a:r>
                    </a:p>
                  </a:txBody>
                  <a:tcPr marL="73152" marR="73152" marT="27432" marB="27432" anchor="ctr">
                    <a:solidFill>
                      <a:srgbClr val="F4F8F9"/>
                    </a:solidFill>
                  </a:tcPr>
                </a:tc>
                <a:tc>
                  <a:txBody>
                    <a:bodyPr/>
                    <a:lstStyle/>
                    <a:p>
                      <a:pPr algn="ctr"/>
                      <a:r>
                        <a:rPr sz="1500" b="0">
                          <a:solidFill>
                            <a:srgbClr val="142B33"/>
                          </a:solidFill>
                          <a:latin typeface="Calibri"/>
                        </a:rPr>
                        <a:t>B − AC</a:t>
                      </a:r>
                    </a:p>
                  </a:txBody>
                  <a:tcPr marL="73152" marR="73152" marT="27432" marB="27432" anchor="ctr">
                    <a:solidFill>
                      <a:srgbClr val="F4F8F9"/>
                    </a:solidFill>
                  </a:tcPr>
                </a:tc>
              </a:tr>
              <a:tr h="351282">
                <a:tc>
                  <a:txBody>
                    <a:bodyPr/>
                    <a:lstStyle/>
                    <a:p>
                      <a:pPr algn="ctr"/>
                      <a:r>
                        <a:rPr sz="1500" b="0">
                          <a:solidFill>
                            <a:srgbClr val="142B33"/>
                          </a:solidFill>
                          <a:latin typeface="Calibri"/>
                        </a:rPr>
                        <a:t>ℓ</a:t>
                      </a:r>
                      <a:r>
                        <a:rPr sz="1500" b="0" baseline="-25000">
                          <a:solidFill>
                            <a:srgbClr val="142B33"/>
                          </a:solidFill>
                          <a:latin typeface="Calibri"/>
                        </a:rPr>
                        <a:t>C</a:t>
                      </a:r>
                    </a:p>
                  </a:txBody>
                  <a:tcPr marL="73152" marR="73152" marT="27432" marB="27432" anchor="ctr">
                    <a:solidFill>
                      <a:srgbClr val="FFFFFF"/>
                    </a:solidFill>
                  </a:tcPr>
                </a:tc>
                <a:tc>
                  <a:txBody>
                    <a:bodyPr/>
                    <a:lstStyle/>
                    <a:p>
                      <a:pPr algn="ctr"/>
                      <a:r>
                        <a:rPr sz="1500" b="0">
                          <a:solidFill>
                            <a:srgbClr val="142B33"/>
                          </a:solidFill>
                          <a:latin typeface="Calibri"/>
                        </a:rPr>
                        <a:t>C + AB</a:t>
                      </a:r>
                    </a:p>
                  </a:txBody>
                  <a:tcPr marL="73152" marR="73152" marT="27432" marB="27432" anchor="ctr">
                    <a:solidFill>
                      <a:srgbClr val="FFFFFF"/>
                    </a:solidFill>
                  </a:tcPr>
                </a:tc>
                <a:tc>
                  <a:txBody>
                    <a:bodyPr/>
                    <a:lstStyle/>
                    <a:p>
                      <a:pPr algn="ctr"/>
                      <a:r>
                        <a:rPr sz="1500" b="0">
                          <a:solidFill>
                            <a:srgbClr val="142B33"/>
                          </a:solidFill>
                          <a:latin typeface="Calibri"/>
                        </a:rPr>
                        <a:t>C − AB</a:t>
                      </a:r>
                    </a:p>
                  </a:txBody>
                  <a:tcPr marL="73152" marR="73152" marT="27432" marB="27432" anchor="ctr">
                    <a:solidFill>
                      <a:srgbClr val="FFFFFF"/>
                    </a:solidFill>
                  </a:tcPr>
                </a:tc>
              </a:tr>
            </a:tbl>
          </a:graphicData>
        </a:graphic>
      </p:graphicFrame>
      <p:sp>
        <p:nvSpPr>
          <p:cNvPr id="8" name="TextBox 7"/>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El caso más pequeño: el 2</a:t>
            </a:r>
            <a:r>
              <a:rPr sz="1000" b="0" baseline="30000">
                <a:solidFill>
                  <a:srgbClr val="5B6B73"/>
                </a:solidFill>
                <a:latin typeface="Calibri"/>
              </a:rPr>
              <a:t>3−1</a:t>
            </a:r>
          </a:p>
        </p:txBody>
      </p:sp>
      <p:sp>
        <p:nvSpPr>
          <p:cNvPr id="9" name="TextBox 8"/>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14</a:t>
            </a:r>
          </a:p>
        </p:txBody>
      </p:sp>
      <p:sp>
        <p:nvSpPr>
          <p:cNvPr id="10" name="Rounded Rectangle 9"/>
          <p:cNvSpPr/>
          <p:nvPr/>
        </p:nvSpPr>
        <p:spPr>
          <a:xfrm>
            <a:off x="548640" y="91440"/>
            <a:ext cx="3287268"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2 · El caso más pequeño: el 2</a:t>
            </a:r>
            <a:r>
              <a:rPr sz="1100" b="1" baseline="30000">
                <a:solidFill>
                  <a:srgbClr val="FFFFFF"/>
                </a:solidFill>
                <a:latin typeface="Calibri"/>
              </a:rPr>
              <a:t>3−1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El atajo para diseños grandes: multiplicar por la relación definidora</a:t>
            </a:r>
          </a:p>
        </p:txBody>
      </p:sp>
      <p:sp>
        <p:nvSpPr>
          <p:cNvPr id="3" name="Rounded Rectangle 2"/>
          <p:cNvSpPr/>
          <p:nvPr/>
        </p:nvSpPr>
        <p:spPr>
          <a:xfrm>
            <a:off x="548640" y="1417320"/>
            <a:ext cx="4807320" cy="1419860"/>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600" b="1">
                <a:solidFill>
                  <a:srgbClr val="0F4C5C"/>
                </a:solidFill>
                <a:latin typeface="Cambria"/>
              </a:rPr>
              <a:t>Módulo 2</a:t>
            </a:r>
          </a:p>
          <a:p>
            <a:pPr algn="l"/>
            <a:r>
              <a:rPr sz="1400" b="0">
                <a:solidFill>
                  <a:srgbClr val="142B33"/>
                </a:solidFill>
                <a:latin typeface="Calibri"/>
              </a:rPr>
              <a:t>A × I = A   y   A × A = A</a:t>
            </a:r>
            <a:r>
              <a:rPr sz="1400" b="0" baseline="30000">
                <a:solidFill>
                  <a:srgbClr val="142B33"/>
                </a:solidFill>
                <a:latin typeface="Calibri"/>
              </a:rPr>
              <a:t>2</a:t>
            </a:r>
            <a:r>
              <a:rPr sz="1400" b="0">
                <a:solidFill>
                  <a:srgbClr val="142B33"/>
                </a:solidFill>
                <a:latin typeface="Calibri"/>
              </a:rPr>
              <a:t> = I</a:t>
            </a:r>
          </a:p>
        </p:txBody>
      </p:sp>
      <p:sp>
        <p:nvSpPr>
          <p:cNvPr id="4" name="Rounded Rectangle 3"/>
          <p:cNvSpPr/>
          <p:nvPr/>
        </p:nvSpPr>
        <p:spPr>
          <a:xfrm>
            <a:off x="548640" y="3065780"/>
            <a:ext cx="4807320" cy="1419860"/>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600" b="1">
                <a:solidFill>
                  <a:srgbClr val="0F4C5C"/>
                </a:solidFill>
                <a:latin typeface="Cambria"/>
              </a:rPr>
              <a:t>Relación definidora</a:t>
            </a:r>
          </a:p>
          <a:p>
            <a:pPr algn="l"/>
            <a:r>
              <a:rPr sz="1400" b="0">
                <a:solidFill>
                  <a:srgbClr val="142B33"/>
                </a:solidFill>
                <a:latin typeface="Calibri"/>
              </a:rPr>
              <a:t>I = ABC. Define la estructura de alias (Montgomery: </a:t>
            </a:r>
            <a:r>
              <a:rPr sz="1400" b="1">
                <a:solidFill>
                  <a:srgbClr val="142B33"/>
                </a:solidFill>
                <a:latin typeface="Calibri"/>
              </a:rPr>
              <a:t>relación de definición</a:t>
            </a:r>
            <a:r>
              <a:rPr sz="1400" b="0">
                <a:solidFill>
                  <a:srgbClr val="142B33"/>
                </a:solidFill>
                <a:latin typeface="Calibri"/>
              </a:rPr>
              <a:t>)</a:t>
            </a:r>
          </a:p>
        </p:txBody>
      </p:sp>
      <p:sp>
        <p:nvSpPr>
          <p:cNvPr id="5" name="Rounded Rectangle 4"/>
          <p:cNvSpPr/>
          <p:nvPr/>
        </p:nvSpPr>
        <p:spPr>
          <a:xfrm>
            <a:off x="548640" y="4714240"/>
            <a:ext cx="4807320" cy="1419860"/>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600" b="1">
                <a:solidFill>
                  <a:srgbClr val="0F4C5C"/>
                </a:solidFill>
                <a:latin typeface="Cambria"/>
              </a:rPr>
              <a:t>Palabra · cadena de alias</a:t>
            </a:r>
          </a:p>
          <a:p>
            <a:pPr algn="l"/>
            <a:r>
              <a:rPr sz="1400" b="0">
                <a:solidFill>
                  <a:srgbClr val="142B33"/>
                </a:solidFill>
                <a:latin typeface="Calibri"/>
              </a:rPr>
              <a:t>Cada interacción de la relación es una </a:t>
            </a:r>
            <a:r>
              <a:rPr sz="1400" b="1">
                <a:solidFill>
                  <a:srgbClr val="142B33"/>
                </a:solidFill>
                <a:latin typeface="Calibri"/>
              </a:rPr>
              <a:t>palabra</a:t>
            </a:r>
            <a:r>
              <a:rPr sz="1400" b="0">
                <a:solidFill>
                  <a:srgbClr val="142B33"/>
                </a:solidFill>
                <a:latin typeface="Calibri"/>
              </a:rPr>
              <a:t>; los efectos que comparten columna forman una </a:t>
            </a:r>
            <a:r>
              <a:rPr sz="1400" b="1">
                <a:solidFill>
                  <a:srgbClr val="142B33"/>
                </a:solidFill>
                <a:latin typeface="Calibri"/>
              </a:rPr>
              <a:t>cadena</a:t>
            </a:r>
          </a:p>
        </p:txBody>
      </p:sp>
      <p:sp>
        <p:nvSpPr>
          <p:cNvPr id="6" name="Rounded Rectangle 5"/>
          <p:cNvSpPr/>
          <p:nvPr/>
        </p:nvSpPr>
        <p:spPr>
          <a:xfrm>
            <a:off x="5767440" y="1417320"/>
            <a:ext cx="5875614" cy="1263456"/>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900" b="0">
                <a:solidFill>
                  <a:srgbClr val="0F4C5C"/>
                </a:solidFill>
                <a:latin typeface="Cambria Math"/>
              </a:rPr>
              <a:t>A × ABC = A</a:t>
            </a:r>
            <a:r>
              <a:rPr sz="1900" b="0" baseline="30000">
                <a:solidFill>
                  <a:srgbClr val="0F4C5C"/>
                </a:solidFill>
                <a:latin typeface="Cambria Math"/>
              </a:rPr>
              <a:t>2</a:t>
            </a:r>
            <a:r>
              <a:rPr sz="1900" b="0">
                <a:solidFill>
                  <a:srgbClr val="0F4C5C"/>
                </a:solidFill>
                <a:latin typeface="Cambria Math"/>
              </a:rPr>
              <a:t>BC = BC</a:t>
            </a:r>
          </a:p>
          <a:p>
            <a:pPr algn="ctr"/>
            <a:r>
              <a:rPr sz="1900" b="0">
                <a:solidFill>
                  <a:srgbClr val="0F4C5C"/>
                </a:solidFill>
                <a:latin typeface="Cambria Math"/>
              </a:rPr>
              <a:t>B × ABC = AB</a:t>
            </a:r>
            <a:r>
              <a:rPr sz="1900" b="0" baseline="30000">
                <a:solidFill>
                  <a:srgbClr val="0F4C5C"/>
                </a:solidFill>
                <a:latin typeface="Cambria Math"/>
              </a:rPr>
              <a:t>2</a:t>
            </a:r>
            <a:r>
              <a:rPr sz="1900" b="0">
                <a:solidFill>
                  <a:srgbClr val="0F4C5C"/>
                </a:solidFill>
                <a:latin typeface="Cambria Math"/>
              </a:rPr>
              <a:t>C = AC</a:t>
            </a:r>
          </a:p>
          <a:p>
            <a:pPr algn="ctr"/>
            <a:r>
              <a:rPr sz="1900" b="0">
                <a:solidFill>
                  <a:srgbClr val="0F4C5C"/>
                </a:solidFill>
                <a:latin typeface="Cambria Math"/>
              </a:rPr>
              <a:t>C × ABC = ABC</a:t>
            </a:r>
            <a:r>
              <a:rPr sz="1900" b="0" baseline="30000">
                <a:solidFill>
                  <a:srgbClr val="0F4C5C"/>
                </a:solidFill>
                <a:latin typeface="Cambria Math"/>
              </a:rPr>
              <a:t>2</a:t>
            </a:r>
            <a:r>
              <a:rPr sz="1900" b="0">
                <a:solidFill>
                  <a:srgbClr val="0F4C5C"/>
                </a:solidFill>
                <a:latin typeface="Cambria Math"/>
              </a:rPr>
              <a:t> = AB</a:t>
            </a:r>
          </a:p>
        </p:txBody>
      </p:sp>
      <p:sp>
        <p:nvSpPr>
          <p:cNvPr id="7" name="Rounded Rectangle 6"/>
          <p:cNvSpPr/>
          <p:nvPr/>
        </p:nvSpPr>
        <p:spPr>
          <a:xfrm>
            <a:off x="5767440" y="2881944"/>
            <a:ext cx="5875614"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Mismo resultado que comparando contrastes, sin escribir la tabla</a:t>
            </a:r>
          </a:p>
        </p:txBody>
      </p:sp>
      <p:sp>
        <p:nvSpPr>
          <p:cNvPr id="8" name="Rounded Rectangle 7"/>
          <p:cNvSpPr/>
          <p:nvPr/>
        </p:nvSpPr>
        <p:spPr>
          <a:xfrm>
            <a:off x="5767440" y="3822252"/>
            <a:ext cx="5875614" cy="551972"/>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0">
                <a:solidFill>
                  <a:srgbClr val="0F4C5C"/>
                </a:solidFill>
                <a:latin typeface="Cambria Math"/>
              </a:rPr>
              <a:t>½ (ℓ</a:t>
            </a:r>
            <a:r>
              <a:rPr sz="1600" b="0" baseline="-25000">
                <a:solidFill>
                  <a:srgbClr val="0F4C5C"/>
                </a:solidFill>
                <a:latin typeface="Cambria Math"/>
              </a:rPr>
              <a:t>A</a:t>
            </a:r>
            <a:r>
              <a:rPr sz="1600" b="0">
                <a:solidFill>
                  <a:srgbClr val="0F4C5C"/>
                </a:solidFill>
                <a:latin typeface="Cambria Math"/>
              </a:rPr>
              <a:t> + ℓ′</a:t>
            </a:r>
            <a:r>
              <a:rPr sz="1600" b="0" baseline="-25000">
                <a:solidFill>
                  <a:srgbClr val="0F4C5C"/>
                </a:solidFill>
                <a:latin typeface="Cambria Math"/>
              </a:rPr>
              <a:t>A</a:t>
            </a:r>
            <a:r>
              <a:rPr sz="1600" b="0">
                <a:solidFill>
                  <a:srgbClr val="0F4C5C"/>
                </a:solidFill>
                <a:latin typeface="Cambria Math"/>
              </a:rPr>
              <a:t>) → A,     ½ (ℓ</a:t>
            </a:r>
            <a:r>
              <a:rPr sz="1600" b="0" baseline="-25000">
                <a:solidFill>
                  <a:srgbClr val="0F4C5C"/>
                </a:solidFill>
                <a:latin typeface="Cambria Math"/>
              </a:rPr>
              <a:t>A</a:t>
            </a:r>
            <a:r>
              <a:rPr sz="1600" b="0">
                <a:solidFill>
                  <a:srgbClr val="0F4C5C"/>
                </a:solidFill>
                <a:latin typeface="Cambria Math"/>
              </a:rPr>
              <a:t> − ℓ′</a:t>
            </a:r>
            <a:r>
              <a:rPr sz="1600" b="0" baseline="-25000">
                <a:solidFill>
                  <a:srgbClr val="0F4C5C"/>
                </a:solidFill>
                <a:latin typeface="Cambria Math"/>
              </a:rPr>
              <a:t>A</a:t>
            </a:r>
            <a:r>
              <a:rPr sz="1600" b="0">
                <a:solidFill>
                  <a:srgbClr val="0F4C5C"/>
                </a:solidFill>
                <a:latin typeface="Cambria Math"/>
              </a:rPr>
              <a:t>) → BC</a:t>
            </a:r>
          </a:p>
        </p:txBody>
      </p:sp>
      <p:sp>
        <p:nvSpPr>
          <p:cNvPr id="9" name="Rounded Rectangle 8"/>
          <p:cNvSpPr/>
          <p:nvPr/>
        </p:nvSpPr>
        <p:spPr>
          <a:xfrm>
            <a:off x="5767440" y="4575393"/>
            <a:ext cx="5875614" cy="708151"/>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400" b="0">
                <a:solidFill>
                  <a:srgbClr val="142B33"/>
                </a:solidFill>
                <a:latin typeface="Calibri"/>
              </a:rPr>
              <a:t>Las dos fracciones juntas: el 2</a:t>
            </a:r>
            <a:r>
              <a:rPr sz="1400" b="0" baseline="30000">
                <a:solidFill>
                  <a:srgbClr val="142B33"/>
                </a:solidFill>
                <a:latin typeface="Calibri"/>
              </a:rPr>
              <a:t>3</a:t>
            </a:r>
            <a:r>
              <a:rPr sz="1400" b="0">
                <a:solidFill>
                  <a:srgbClr val="142B33"/>
                </a:solidFill>
                <a:latin typeface="Calibri"/>
              </a:rPr>
              <a:t> completo en </a:t>
            </a:r>
            <a:r>
              <a:rPr sz="1400" b="1">
                <a:solidFill>
                  <a:srgbClr val="142B33"/>
                </a:solidFill>
                <a:latin typeface="Calibri"/>
              </a:rPr>
              <a:t>dos bloques</a:t>
            </a:r>
            <a:r>
              <a:rPr sz="1400" b="0">
                <a:solidFill>
                  <a:srgbClr val="142B33"/>
                </a:solidFill>
                <a:latin typeface="Calibri"/>
              </a:rPr>
              <a:t>, con ABC confundida</a:t>
            </a:r>
          </a:p>
        </p:txBody>
      </p:sp>
      <p:sp>
        <p:nvSpPr>
          <p:cNvPr id="10" name="TextBox 9"/>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El caso más pequeño: el 2</a:t>
            </a:r>
            <a:r>
              <a:rPr sz="1000" b="0" baseline="30000">
                <a:solidFill>
                  <a:srgbClr val="5B6B73"/>
                </a:solidFill>
                <a:latin typeface="Calibri"/>
              </a:rPr>
              <a:t>3−1</a:t>
            </a:r>
          </a:p>
        </p:txBody>
      </p:sp>
      <p:sp>
        <p:nvSpPr>
          <p:cNvPr id="11" name="TextBox 10"/>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15</a:t>
            </a:r>
          </a:p>
        </p:txBody>
      </p:sp>
      <p:sp>
        <p:nvSpPr>
          <p:cNvPr id="12" name="Rounded Rectangle 11"/>
          <p:cNvSpPr/>
          <p:nvPr/>
        </p:nvSpPr>
        <p:spPr>
          <a:xfrm>
            <a:off x="548640" y="91440"/>
            <a:ext cx="3287268"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2 · El caso más pequeño: el 2</a:t>
            </a:r>
            <a:r>
              <a:rPr sz="1100" b="1" baseline="30000">
                <a:solidFill>
                  <a:srgbClr val="FFFFFF"/>
                </a:solidFill>
                <a:latin typeface="Calibri"/>
              </a:rPr>
              <a:t>3−1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¿Cómo se interpreta un efecto que tiene alias?</a:t>
            </a:r>
          </a:p>
        </p:txBody>
      </p:sp>
      <p:sp>
        <p:nvSpPr>
          <p:cNvPr id="3" name="Rounded Rectangle 2"/>
          <p:cNvSpPr/>
          <p:nvPr/>
        </p:nvSpPr>
        <p:spPr>
          <a:xfrm>
            <a:off x="548640" y="1417320"/>
            <a:ext cx="3545738" cy="2226056"/>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800" b="1">
                <a:solidFill>
                  <a:srgbClr val="0F4C5C"/>
                </a:solidFill>
                <a:latin typeface="Cambria"/>
              </a:rPr>
              <a:t>1 · Suponer un solo responsable</a:t>
            </a:r>
          </a:p>
          <a:p>
            <a:pPr algn="l"/>
            <a:r>
              <a:rPr sz="1600" b="0">
                <a:solidFill>
                  <a:srgbClr val="142B33"/>
                </a:solidFill>
                <a:latin typeface="Calibri"/>
              </a:rPr>
              <a:t>Se supone que </a:t>
            </a:r>
            <a:r>
              <a:rPr sz="1600" b="1">
                <a:solidFill>
                  <a:srgbClr val="142B33"/>
                </a:solidFill>
                <a:latin typeface="Calibri"/>
              </a:rPr>
              <a:t>uno</a:t>
            </a:r>
            <a:r>
              <a:rPr sz="1600" b="0">
                <a:solidFill>
                  <a:srgbClr val="142B33"/>
                </a:solidFill>
                <a:latin typeface="Calibri"/>
              </a:rPr>
              <a:t> de los alias produce el efecto y los demás son nulos</a:t>
            </a:r>
          </a:p>
        </p:txBody>
      </p:sp>
      <p:sp>
        <p:nvSpPr>
          <p:cNvPr id="4" name="Rounded Rectangle 3"/>
          <p:cNvSpPr/>
          <p:nvPr/>
        </p:nvSpPr>
        <p:spPr>
          <a:xfrm>
            <a:off x="4322978" y="1417320"/>
            <a:ext cx="3545738" cy="2226056"/>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800" b="1">
                <a:solidFill>
                  <a:srgbClr val="0F4C5C"/>
                </a:solidFill>
                <a:latin typeface="Cambria"/>
              </a:rPr>
              <a:t>2 · Jerarquía</a:t>
            </a:r>
          </a:p>
          <a:p>
            <a:pPr algn="l"/>
            <a:r>
              <a:rPr sz="1600" b="0">
                <a:solidFill>
                  <a:srgbClr val="142B33"/>
                </a:solidFill>
                <a:latin typeface="Calibri"/>
              </a:rPr>
              <a:t>Se elige el de </a:t>
            </a:r>
            <a:r>
              <a:rPr sz="1600" b="1">
                <a:solidFill>
                  <a:srgbClr val="142B33"/>
                </a:solidFill>
                <a:latin typeface="Calibri"/>
              </a:rPr>
              <a:t>menor orden</a:t>
            </a:r>
            <a:r>
              <a:rPr sz="1600" b="0">
                <a:solidFill>
                  <a:srgbClr val="142B33"/>
                </a:solidFill>
                <a:latin typeface="Calibri"/>
              </a:rPr>
              <a:t>: en A + BC, el efecto se atribuye a </a:t>
            </a:r>
            <a:r>
              <a:rPr sz="1600" b="1">
                <a:solidFill>
                  <a:srgbClr val="142B33"/>
                </a:solidFill>
                <a:latin typeface="Calibri"/>
              </a:rPr>
              <a:t>A</a:t>
            </a:r>
          </a:p>
        </p:txBody>
      </p:sp>
      <p:sp>
        <p:nvSpPr>
          <p:cNvPr id="5" name="Rounded Rectangle 4"/>
          <p:cNvSpPr/>
          <p:nvPr/>
        </p:nvSpPr>
        <p:spPr>
          <a:xfrm>
            <a:off x="8097316" y="1417320"/>
            <a:ext cx="3545738" cy="2226056"/>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800" b="1">
                <a:solidFill>
                  <a:srgbClr val="0F4C5C"/>
                </a:solidFill>
                <a:latin typeface="Cambria"/>
              </a:rPr>
              <a:t>3 · Herencia o conocimiento</a:t>
            </a:r>
          </a:p>
          <a:p>
            <a:pPr algn="l"/>
            <a:r>
              <a:rPr sz="1600" b="0">
                <a:solidFill>
                  <a:srgbClr val="142B33"/>
                </a:solidFill>
                <a:latin typeface="Calibri"/>
              </a:rPr>
              <a:t>Si empatan en orden (AC + BD), se elige la interacción cuyos factores son </a:t>
            </a:r>
            <a:r>
              <a:rPr sz="1600" b="1">
                <a:solidFill>
                  <a:srgbClr val="142B33"/>
                </a:solidFill>
                <a:latin typeface="Calibri"/>
              </a:rPr>
              <a:t>activos</a:t>
            </a:r>
            <a:r>
              <a:rPr sz="1600" b="0">
                <a:solidFill>
                  <a:srgbClr val="142B33"/>
                </a:solidFill>
                <a:latin typeface="Calibri"/>
              </a:rPr>
              <a:t>, o se usa el conocimiento del proceso</a:t>
            </a:r>
          </a:p>
        </p:txBody>
      </p:sp>
      <p:sp>
        <p:nvSpPr>
          <p:cNvPr id="6" name="Rounded Rectangle 5"/>
          <p:cNvSpPr/>
          <p:nvPr/>
        </p:nvSpPr>
        <p:spPr>
          <a:xfrm>
            <a:off x="548640" y="3844544"/>
            <a:ext cx="11094415" cy="522224"/>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600" b="0">
                <a:solidFill>
                  <a:srgbClr val="142B33"/>
                </a:solidFill>
                <a:latin typeface="Calibri"/>
              </a:rPr>
              <a:t>Gutiérrez: el 2</a:t>
            </a:r>
            <a:r>
              <a:rPr sz="1600" b="0" baseline="30000">
                <a:solidFill>
                  <a:srgbClr val="142B33"/>
                </a:solidFill>
                <a:latin typeface="Calibri"/>
              </a:rPr>
              <a:t>3−1</a:t>
            </a:r>
            <a:r>
              <a:rPr sz="1600" b="0">
                <a:solidFill>
                  <a:srgbClr val="142B33"/>
                </a:solidFill>
                <a:latin typeface="Calibri"/>
              </a:rPr>
              <a:t> </a:t>
            </a:r>
            <a:r>
              <a:rPr sz="1600" b="1">
                <a:solidFill>
                  <a:srgbClr val="142B33"/>
                </a:solidFill>
                <a:latin typeface="Calibri"/>
              </a:rPr>
              <a:t>no se recomienda</a:t>
            </a:r>
            <a:r>
              <a:rPr sz="1600" b="0">
                <a:solidFill>
                  <a:srgbClr val="142B33"/>
                </a:solidFill>
                <a:latin typeface="Calibri"/>
              </a:rPr>
              <a:t> salvo que el costo obligue, porque alía </a:t>
            </a:r>
            <a:r>
              <a:rPr sz="1600" b="1">
                <a:solidFill>
                  <a:srgbClr val="142B33"/>
                </a:solidFill>
                <a:latin typeface="Calibri"/>
              </a:rPr>
              <a:t>principales con dobles</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El caso más pequeño: el 2</a:t>
            </a:r>
            <a:r>
              <a:rPr sz="1000" b="0" baseline="30000">
                <a:solidFill>
                  <a:srgbClr val="5B6B73"/>
                </a:solidFill>
                <a:latin typeface="Calibri"/>
              </a:rPr>
              <a:t>3−1</a:t>
            </a:r>
          </a:p>
        </p:txBody>
      </p:sp>
      <p:sp>
        <p:nvSpPr>
          <p:cNvPr id="8" name="TextBox 7"/>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16</a:t>
            </a:r>
          </a:p>
        </p:txBody>
      </p:sp>
      <p:sp>
        <p:nvSpPr>
          <p:cNvPr id="9" name="Rounded Rectangle 8"/>
          <p:cNvSpPr/>
          <p:nvPr/>
        </p:nvSpPr>
        <p:spPr>
          <a:xfrm>
            <a:off x="548640" y="91440"/>
            <a:ext cx="3287268"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2 · El caso más pequeño: el 2</a:t>
            </a:r>
            <a:r>
              <a:rPr sz="1100" b="1" baseline="30000">
                <a:solidFill>
                  <a:srgbClr val="FFFFFF"/>
                </a:solidFill>
                <a:latin typeface="Calibri"/>
              </a:rPr>
              <a:t>3−1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Vocabulario: lo que dice cada libro</a:t>
            </a:r>
          </a:p>
        </p:txBody>
      </p:sp>
      <p:graphicFrame>
        <p:nvGraphicFramePr>
          <p:cNvPr id="3" name="Table 2"/>
          <p:cNvGraphicFramePr>
            <a:graphicFrameLocks noGrp="1"/>
          </p:cNvGraphicFramePr>
          <p:nvPr/>
        </p:nvGraphicFramePr>
        <p:xfrm>
          <a:off x="548640" y="1417320"/>
          <a:ext cx="11094414" cy="4225540"/>
        </p:xfrm>
        <a:graphic>
          <a:graphicData uri="http://schemas.openxmlformats.org/drawingml/2006/table">
            <a:tbl>
              <a:tblPr firstRow="0" bandRow="0">
                <a:tableStyleId>{5C22544A-7EE6-4342-B048-85BDC9FD1C3A}</a:tableStyleId>
              </a:tblPr>
              <a:tblGrid>
                <a:gridCol w="2107938"/>
                <a:gridCol w="4548710"/>
                <a:gridCol w="2218883"/>
                <a:gridCol w="2218883"/>
              </a:tblGrid>
              <a:tr h="335788">
                <a:tc>
                  <a:txBody>
                    <a:bodyPr/>
                    <a:lstStyle/>
                    <a:p>
                      <a:pPr algn="l"/>
                      <a:r>
                        <a:rPr sz="1400" b="1">
                          <a:solidFill>
                            <a:srgbClr val="FFFFFF"/>
                          </a:solidFill>
                          <a:latin typeface="Calibri"/>
                        </a:rPr>
                        <a:t>Término</a:t>
                      </a:r>
                    </a:p>
                  </a:txBody>
                  <a:tcPr marL="73152" marR="73152" marT="27432" marB="27432" anchor="ctr">
                    <a:solidFill>
                      <a:srgbClr val="0F4C5C"/>
                    </a:solidFill>
                  </a:tcPr>
                </a:tc>
                <a:tc>
                  <a:txBody>
                    <a:bodyPr/>
                    <a:lstStyle/>
                    <a:p>
                      <a:pPr algn="l"/>
                      <a:r>
                        <a:rPr sz="1400" b="1">
                          <a:solidFill>
                            <a:srgbClr val="FFFFFF"/>
                          </a:solidFill>
                          <a:latin typeface="Calibri"/>
                        </a:rPr>
                        <a:t>Significado</a:t>
                      </a:r>
                    </a:p>
                  </a:txBody>
                  <a:tcPr marL="73152" marR="73152" marT="27432" marB="27432" anchor="ctr">
                    <a:solidFill>
                      <a:srgbClr val="0F4C5C"/>
                    </a:solidFill>
                  </a:tcPr>
                </a:tc>
                <a:tc>
                  <a:txBody>
                    <a:bodyPr/>
                    <a:lstStyle/>
                    <a:p>
                      <a:pPr algn="ctr"/>
                      <a:r>
                        <a:rPr sz="1400" b="1">
                          <a:solidFill>
                            <a:srgbClr val="FFFFFF"/>
                          </a:solidFill>
                          <a:latin typeface="Calibri"/>
                        </a:rPr>
                        <a:t>Gutiérrez dice</a:t>
                      </a:r>
                    </a:p>
                  </a:txBody>
                  <a:tcPr marL="73152" marR="73152" marT="27432" marB="27432" anchor="ctr">
                    <a:solidFill>
                      <a:srgbClr val="0F4C5C"/>
                    </a:solidFill>
                  </a:tcPr>
                </a:tc>
                <a:tc>
                  <a:txBody>
                    <a:bodyPr/>
                    <a:lstStyle/>
                    <a:p>
                      <a:pPr algn="ctr"/>
                      <a:r>
                        <a:rPr sz="1400" b="1">
                          <a:solidFill>
                            <a:srgbClr val="FFFFFF"/>
                          </a:solidFill>
                          <a:latin typeface="Calibri"/>
                        </a:rPr>
                        <a:t>Montgomery dice</a:t>
                      </a:r>
                    </a:p>
                  </a:txBody>
                  <a:tcPr marL="73152" marR="73152" marT="27432" marB="27432" anchor="ctr">
                    <a:solidFill>
                      <a:srgbClr val="0F4C5C"/>
                    </a:solidFill>
                  </a:tcPr>
                </a:tc>
              </a:tr>
              <a:tr h="552703">
                <a:tc>
                  <a:txBody>
                    <a:bodyPr/>
                    <a:lstStyle/>
                    <a:p>
                      <a:pPr algn="l"/>
                      <a:r>
                        <a:rPr sz="1400" b="0">
                          <a:solidFill>
                            <a:srgbClr val="142B33"/>
                          </a:solidFill>
                          <a:latin typeface="Calibri"/>
                        </a:rPr>
                        <a:t>Generador</a:t>
                      </a:r>
                    </a:p>
                  </a:txBody>
                  <a:tcPr marL="73152" marR="73152" marT="27432" marB="27432" anchor="ctr">
                    <a:solidFill>
                      <a:srgbClr val="FFFFFF"/>
                    </a:solidFill>
                  </a:tcPr>
                </a:tc>
                <a:tc>
                  <a:txBody>
                    <a:bodyPr/>
                    <a:lstStyle/>
                    <a:p>
                      <a:pPr algn="l"/>
                      <a:r>
                        <a:rPr sz="1400" b="0">
                          <a:solidFill>
                            <a:srgbClr val="142B33"/>
                          </a:solidFill>
                          <a:latin typeface="Calibri"/>
                        </a:rPr>
                        <a:t>Interacción que define la fracción: ABC en I = ABC (C = AB)</a:t>
                      </a:r>
                    </a:p>
                  </a:txBody>
                  <a:tcPr marL="73152" marR="73152" marT="27432" marB="27432" anchor="ctr">
                    <a:solidFill>
                      <a:srgbClr val="FFFFFF"/>
                    </a:solidFill>
                  </a:tcPr>
                </a:tc>
                <a:tc>
                  <a:txBody>
                    <a:bodyPr/>
                    <a:lstStyle/>
                    <a:p>
                      <a:pPr algn="ctr"/>
                      <a:r>
                        <a:rPr sz="1400" b="0">
                          <a:solidFill>
                            <a:srgbClr val="142B33"/>
                          </a:solidFill>
                          <a:latin typeface="Calibri"/>
                        </a:rPr>
                        <a:t>generador</a:t>
                      </a:r>
                    </a:p>
                  </a:txBody>
                  <a:tcPr marL="73152" marR="73152" marT="27432" marB="27432" anchor="ctr">
                    <a:solidFill>
                      <a:srgbClr val="FFFFFF"/>
                    </a:solidFill>
                  </a:tcPr>
                </a:tc>
                <a:tc>
                  <a:txBody>
                    <a:bodyPr/>
                    <a:lstStyle/>
                    <a:p>
                      <a:pPr algn="ctr"/>
                      <a:r>
                        <a:rPr sz="1400" b="0">
                          <a:solidFill>
                            <a:srgbClr val="142B33"/>
                          </a:solidFill>
                          <a:latin typeface="Calibri"/>
                        </a:rPr>
                        <a:t>generador</a:t>
                      </a:r>
                    </a:p>
                  </a:txBody>
                  <a:tcPr marL="73152" marR="73152" marT="27432" marB="27432" anchor="ctr">
                    <a:solidFill>
                      <a:srgbClr val="FFFFFF"/>
                    </a:solidFill>
                  </a:tcPr>
                </a:tc>
              </a:tr>
              <a:tr h="335788">
                <a:tc>
                  <a:txBody>
                    <a:bodyPr/>
                    <a:lstStyle/>
                    <a:p>
                      <a:pPr algn="l"/>
                      <a:r>
                        <a:rPr sz="1400" b="0">
                          <a:solidFill>
                            <a:srgbClr val="142B33"/>
                          </a:solidFill>
                          <a:latin typeface="Calibri"/>
                        </a:rPr>
                        <a:t>Palabra</a:t>
                      </a:r>
                    </a:p>
                  </a:txBody>
                  <a:tcPr marL="73152" marR="73152" marT="27432" marB="27432" anchor="ctr">
                    <a:solidFill>
                      <a:srgbClr val="F4F8F9"/>
                    </a:solidFill>
                  </a:tcPr>
                </a:tc>
                <a:tc>
                  <a:txBody>
                    <a:bodyPr/>
                    <a:lstStyle/>
                    <a:p>
                      <a:pPr algn="l"/>
                      <a:r>
                        <a:rPr sz="1400" b="0">
                          <a:solidFill>
                            <a:srgbClr val="142B33"/>
                          </a:solidFill>
                          <a:latin typeface="Calibri"/>
                        </a:rPr>
                        <a:t>Cada interacción de la relación definidora</a:t>
                      </a:r>
                    </a:p>
                  </a:txBody>
                  <a:tcPr marL="73152" marR="73152" marT="27432" marB="27432" anchor="ctr">
                    <a:solidFill>
                      <a:srgbClr val="F4F8F9"/>
                    </a:solidFill>
                  </a:tcPr>
                </a:tc>
                <a:tc>
                  <a:txBody>
                    <a:bodyPr/>
                    <a:lstStyle/>
                    <a:p>
                      <a:pPr algn="ctr"/>
                      <a:r>
                        <a:rPr sz="1400" b="0">
                          <a:solidFill>
                            <a:srgbClr val="142B33"/>
                          </a:solidFill>
                          <a:latin typeface="Calibri"/>
                        </a:rPr>
                        <a:t>—</a:t>
                      </a:r>
                    </a:p>
                  </a:txBody>
                  <a:tcPr marL="73152" marR="73152" marT="27432" marB="27432" anchor="ctr">
                    <a:solidFill>
                      <a:srgbClr val="F4F8F9"/>
                    </a:solidFill>
                  </a:tcPr>
                </a:tc>
                <a:tc>
                  <a:txBody>
                    <a:bodyPr/>
                    <a:lstStyle/>
                    <a:p>
                      <a:pPr algn="ctr"/>
                      <a:r>
                        <a:rPr sz="1400" b="0">
                          <a:solidFill>
                            <a:srgbClr val="142B33"/>
                          </a:solidFill>
                          <a:latin typeface="Calibri"/>
                        </a:rPr>
                        <a:t>palabra</a:t>
                      </a:r>
                    </a:p>
                  </a:txBody>
                  <a:tcPr marL="73152" marR="73152" marT="27432" marB="27432" anchor="ctr">
                    <a:solidFill>
                      <a:srgbClr val="F4F8F9"/>
                    </a:solidFill>
                  </a:tcPr>
                </a:tc>
              </a:tr>
              <a:tr h="335788">
                <a:tc>
                  <a:txBody>
                    <a:bodyPr/>
                    <a:lstStyle/>
                    <a:p>
                      <a:pPr algn="l"/>
                      <a:r>
                        <a:rPr sz="1400" b="0">
                          <a:solidFill>
                            <a:srgbClr val="142B33"/>
                          </a:solidFill>
                          <a:latin typeface="Calibri"/>
                        </a:rPr>
                        <a:t>Relación definidora</a:t>
                      </a:r>
                    </a:p>
                  </a:txBody>
                  <a:tcPr marL="73152" marR="73152" marT="27432" marB="27432" anchor="ctr">
                    <a:solidFill>
                      <a:srgbClr val="FFFFFF"/>
                    </a:solidFill>
                  </a:tcPr>
                </a:tc>
                <a:tc>
                  <a:txBody>
                    <a:bodyPr/>
                    <a:lstStyle/>
                    <a:p>
                      <a:pPr algn="l"/>
                      <a:r>
                        <a:rPr sz="1400" b="0">
                          <a:solidFill>
                            <a:srgbClr val="142B33"/>
                          </a:solidFill>
                          <a:latin typeface="Calibri"/>
                        </a:rPr>
                        <a:t>Generadores y todos sus productos, iguales a I</a:t>
                      </a:r>
                    </a:p>
                  </a:txBody>
                  <a:tcPr marL="73152" marR="73152" marT="27432" marB="27432" anchor="ctr">
                    <a:solidFill>
                      <a:srgbClr val="FFFFFF"/>
                    </a:solidFill>
                  </a:tcPr>
                </a:tc>
                <a:tc>
                  <a:txBody>
                    <a:bodyPr/>
                    <a:lstStyle/>
                    <a:p>
                      <a:pPr algn="ctr"/>
                      <a:r>
                        <a:rPr sz="1400" b="0">
                          <a:solidFill>
                            <a:srgbClr val="142B33"/>
                          </a:solidFill>
                          <a:latin typeface="Calibri"/>
                        </a:rPr>
                        <a:t>relación definidora</a:t>
                      </a:r>
                    </a:p>
                  </a:txBody>
                  <a:tcPr marL="73152" marR="73152" marT="27432" marB="27432" anchor="ctr">
                    <a:solidFill>
                      <a:srgbClr val="FFFFFF"/>
                    </a:solidFill>
                  </a:tcPr>
                </a:tc>
                <a:tc>
                  <a:txBody>
                    <a:bodyPr/>
                    <a:lstStyle/>
                    <a:p>
                      <a:pPr algn="ctr"/>
                      <a:r>
                        <a:rPr sz="1400" b="0">
                          <a:solidFill>
                            <a:srgbClr val="142B33"/>
                          </a:solidFill>
                          <a:latin typeface="Calibri"/>
                        </a:rPr>
                        <a:t>relación de definición</a:t>
                      </a:r>
                    </a:p>
                  </a:txBody>
                  <a:tcPr marL="73152" marR="73152" marT="27432" marB="27432" anchor="ctr">
                    <a:solidFill>
                      <a:srgbClr val="FFFFFF"/>
                    </a:solidFill>
                  </a:tcPr>
                </a:tc>
              </a:tr>
              <a:tr h="335788">
                <a:tc>
                  <a:txBody>
                    <a:bodyPr/>
                    <a:lstStyle/>
                    <a:p>
                      <a:pPr algn="l"/>
                      <a:r>
                        <a:rPr sz="1400" b="0">
                          <a:solidFill>
                            <a:srgbClr val="142B33"/>
                          </a:solidFill>
                          <a:latin typeface="Calibri"/>
                        </a:rPr>
                        <a:t>Alias</a:t>
                      </a:r>
                    </a:p>
                  </a:txBody>
                  <a:tcPr marL="73152" marR="73152" marT="27432" marB="27432" anchor="ctr">
                    <a:solidFill>
                      <a:srgbClr val="F4F8F9"/>
                    </a:solidFill>
                  </a:tcPr>
                </a:tc>
                <a:tc>
                  <a:txBody>
                    <a:bodyPr/>
                    <a:lstStyle/>
                    <a:p>
                      <a:pPr algn="l"/>
                      <a:r>
                        <a:rPr sz="1400" b="0">
                          <a:solidFill>
                            <a:srgbClr val="142B33"/>
                          </a:solidFill>
                          <a:latin typeface="Calibri"/>
                        </a:rPr>
                        <a:t>Efectos que comparten columna de signos</a:t>
                      </a:r>
                    </a:p>
                  </a:txBody>
                  <a:tcPr marL="73152" marR="73152" marT="27432" marB="27432" anchor="ctr">
                    <a:solidFill>
                      <a:srgbClr val="F4F8F9"/>
                    </a:solidFill>
                  </a:tcPr>
                </a:tc>
                <a:tc>
                  <a:txBody>
                    <a:bodyPr/>
                    <a:lstStyle/>
                    <a:p>
                      <a:pPr algn="ctr"/>
                      <a:r>
                        <a:rPr sz="1400" b="0">
                          <a:solidFill>
                            <a:srgbClr val="142B33"/>
                          </a:solidFill>
                          <a:latin typeface="Calibri"/>
                        </a:rPr>
                        <a:t>efectos alias</a:t>
                      </a:r>
                    </a:p>
                  </a:txBody>
                  <a:tcPr marL="73152" marR="73152" marT="27432" marB="27432" anchor="ctr">
                    <a:solidFill>
                      <a:srgbClr val="F4F8F9"/>
                    </a:solidFill>
                  </a:tcPr>
                </a:tc>
                <a:tc>
                  <a:txBody>
                    <a:bodyPr/>
                    <a:lstStyle/>
                    <a:p>
                      <a:pPr algn="ctr"/>
                      <a:r>
                        <a:rPr sz="1400" b="0">
                          <a:solidFill>
                            <a:srgbClr val="142B33"/>
                          </a:solidFill>
                          <a:latin typeface="Calibri"/>
                        </a:rPr>
                        <a:t>alias, cadena de alias</a:t>
                      </a:r>
                    </a:p>
                  </a:txBody>
                  <a:tcPr marL="73152" marR="73152" marT="27432" marB="27432" anchor="ctr">
                    <a:solidFill>
                      <a:srgbClr val="F4F8F9"/>
                    </a:solidFill>
                  </a:tcPr>
                </a:tc>
              </a:tr>
              <a:tr h="552703">
                <a:tc>
                  <a:txBody>
                    <a:bodyPr/>
                    <a:lstStyle/>
                    <a:p>
                      <a:pPr algn="l"/>
                      <a:r>
                        <a:rPr sz="1400" b="0">
                          <a:solidFill>
                            <a:srgbClr val="142B33"/>
                          </a:solidFill>
                          <a:latin typeface="Calibri"/>
                        </a:rPr>
                        <a:t>Estructura de alias</a:t>
                      </a:r>
                    </a:p>
                  </a:txBody>
                  <a:tcPr marL="73152" marR="73152" marT="27432" marB="27432" anchor="ctr">
                    <a:solidFill>
                      <a:srgbClr val="FFFFFF"/>
                    </a:solidFill>
                  </a:tcPr>
                </a:tc>
                <a:tc>
                  <a:txBody>
                    <a:bodyPr/>
                    <a:lstStyle/>
                    <a:p>
                      <a:pPr algn="l"/>
                      <a:r>
                        <a:rPr sz="1400" b="0">
                          <a:solidFill>
                            <a:srgbClr val="142B33"/>
                          </a:solidFill>
                          <a:latin typeface="Calibri"/>
                        </a:rPr>
                        <a:t>Lista de los alias de cada efecto; </a:t>
                      </a:r>
                      <a:r>
                        <a:rPr sz="1400" b="1">
                          <a:solidFill>
                            <a:srgbClr val="142B33"/>
                          </a:solidFill>
                          <a:latin typeface="Calibri"/>
                        </a:rPr>
                        <a:t>reducida</a:t>
                      </a:r>
                      <a:r>
                        <a:rPr sz="1400" b="0">
                          <a:solidFill>
                            <a:srgbClr val="142B33"/>
                          </a:solidFill>
                          <a:latin typeface="Calibri"/>
                        </a:rPr>
                        <a:t>: solo hasta dobles</a:t>
                      </a:r>
                    </a:p>
                  </a:txBody>
                  <a:tcPr marL="73152" marR="73152" marT="27432" marB="27432" anchor="ctr">
                    <a:solidFill>
                      <a:srgbClr val="FFFFFF"/>
                    </a:solidFill>
                  </a:tcPr>
                </a:tc>
                <a:tc>
                  <a:txBody>
                    <a:bodyPr/>
                    <a:lstStyle/>
                    <a:p>
                      <a:pPr algn="ctr"/>
                      <a:r>
                        <a:rPr sz="1400" b="0">
                          <a:solidFill>
                            <a:srgbClr val="142B33"/>
                          </a:solidFill>
                          <a:latin typeface="Calibri"/>
                        </a:rPr>
                        <a:t>estructura de alias (reducida)</a:t>
                      </a:r>
                    </a:p>
                  </a:txBody>
                  <a:tcPr marL="73152" marR="73152" marT="27432" marB="27432" anchor="ctr">
                    <a:solidFill>
                      <a:srgbClr val="FFFFFF"/>
                    </a:solidFill>
                  </a:tcPr>
                </a:tc>
                <a:tc>
                  <a:txBody>
                    <a:bodyPr/>
                    <a:lstStyle/>
                    <a:p>
                      <a:pPr algn="ctr"/>
                      <a:r>
                        <a:rPr sz="1400" b="0">
                          <a:solidFill>
                            <a:srgbClr val="142B33"/>
                          </a:solidFill>
                          <a:latin typeface="Calibri"/>
                        </a:rPr>
                        <a:t>estructura de alias</a:t>
                      </a:r>
                    </a:p>
                  </a:txBody>
                  <a:tcPr marL="73152" marR="73152" marT="27432" marB="27432" anchor="ctr">
                    <a:solidFill>
                      <a:srgbClr val="FFFFFF"/>
                    </a:solidFill>
                  </a:tcPr>
                </a:tc>
              </a:tr>
              <a:tr h="335788">
                <a:tc>
                  <a:txBody>
                    <a:bodyPr/>
                    <a:lstStyle/>
                    <a:p>
                      <a:pPr algn="l"/>
                      <a:r>
                        <a:rPr sz="1400" b="0">
                          <a:solidFill>
                            <a:srgbClr val="142B33"/>
                          </a:solidFill>
                          <a:latin typeface="Calibri"/>
                        </a:rPr>
                        <a:t>Fracción principal</a:t>
                      </a:r>
                    </a:p>
                  </a:txBody>
                  <a:tcPr marL="73152" marR="73152" marT="27432" marB="27432" anchor="ctr">
                    <a:solidFill>
                      <a:srgbClr val="F4F8F9"/>
                    </a:solidFill>
                  </a:tcPr>
                </a:tc>
                <a:tc>
                  <a:txBody>
                    <a:bodyPr/>
                    <a:lstStyle/>
                    <a:p>
                      <a:pPr algn="l"/>
                      <a:r>
                        <a:rPr sz="1400" b="0">
                          <a:solidFill>
                            <a:srgbClr val="142B33"/>
                          </a:solidFill>
                          <a:latin typeface="Calibri"/>
                        </a:rPr>
                        <a:t>Todos los generadores con signo +</a:t>
                      </a:r>
                    </a:p>
                  </a:txBody>
                  <a:tcPr marL="73152" marR="73152" marT="27432" marB="27432" anchor="ctr">
                    <a:solidFill>
                      <a:srgbClr val="F4F8F9"/>
                    </a:solidFill>
                  </a:tcPr>
                </a:tc>
                <a:tc>
                  <a:txBody>
                    <a:bodyPr/>
                    <a:lstStyle/>
                    <a:p>
                      <a:pPr algn="ctr"/>
                      <a:r>
                        <a:rPr sz="1400" b="0">
                          <a:solidFill>
                            <a:srgbClr val="142B33"/>
                          </a:solidFill>
                          <a:latin typeface="Calibri"/>
                        </a:rPr>
                        <a:t>fracción principal</a:t>
                      </a:r>
                    </a:p>
                  </a:txBody>
                  <a:tcPr marL="73152" marR="73152" marT="27432" marB="27432" anchor="ctr">
                    <a:solidFill>
                      <a:srgbClr val="F4F8F9"/>
                    </a:solidFill>
                  </a:tcPr>
                </a:tc>
                <a:tc>
                  <a:txBody>
                    <a:bodyPr/>
                    <a:lstStyle/>
                    <a:p>
                      <a:pPr algn="ctr"/>
                      <a:r>
                        <a:rPr sz="1400" b="0">
                          <a:solidFill>
                            <a:srgbClr val="142B33"/>
                          </a:solidFill>
                          <a:latin typeface="Calibri"/>
                        </a:rPr>
                        <a:t>fracción principal</a:t>
                      </a:r>
                    </a:p>
                  </a:txBody>
                  <a:tcPr marL="73152" marR="73152" marT="27432" marB="27432" anchor="ctr">
                    <a:solidFill>
                      <a:srgbClr val="F4F8F9"/>
                    </a:solidFill>
                  </a:tcPr>
                </a:tc>
              </a:tr>
              <a:tr h="552703">
                <a:tc>
                  <a:txBody>
                    <a:bodyPr/>
                    <a:lstStyle/>
                    <a:p>
                      <a:pPr algn="l"/>
                      <a:r>
                        <a:rPr sz="1400" b="0">
                          <a:solidFill>
                            <a:srgbClr val="142B33"/>
                          </a:solidFill>
                          <a:latin typeface="Calibri"/>
                        </a:rPr>
                        <a:t>Otra fracción de la familia</a:t>
                      </a:r>
                    </a:p>
                  </a:txBody>
                  <a:tcPr marL="73152" marR="73152" marT="27432" marB="27432" anchor="ctr">
                    <a:solidFill>
                      <a:srgbClr val="FFFFFF"/>
                    </a:solidFill>
                  </a:tcPr>
                </a:tc>
                <a:tc>
                  <a:txBody>
                    <a:bodyPr/>
                    <a:lstStyle/>
                    <a:p>
                      <a:pPr algn="l"/>
                      <a:r>
                        <a:rPr sz="1400" b="0">
                          <a:solidFill>
                            <a:srgbClr val="142B33"/>
                          </a:solidFill>
                          <a:latin typeface="Calibri"/>
                        </a:rPr>
                        <a:t>Algún generador con signo −</a:t>
                      </a:r>
                    </a:p>
                  </a:txBody>
                  <a:tcPr marL="73152" marR="73152" marT="27432" marB="27432" anchor="ctr">
                    <a:solidFill>
                      <a:srgbClr val="FFFFFF"/>
                    </a:solidFill>
                  </a:tcPr>
                </a:tc>
                <a:tc>
                  <a:txBody>
                    <a:bodyPr/>
                    <a:lstStyle/>
                    <a:p>
                      <a:pPr algn="ctr"/>
                      <a:r>
                        <a:rPr sz="1400" b="0">
                          <a:solidFill>
                            <a:srgbClr val="142B33"/>
                          </a:solidFill>
                          <a:latin typeface="Calibri"/>
                        </a:rPr>
                        <a:t>fracción </a:t>
                      </a:r>
                      <a:r>
                        <a:rPr sz="1400" b="1">
                          <a:solidFill>
                            <a:srgbClr val="142B33"/>
                          </a:solidFill>
                          <a:latin typeface="Calibri"/>
                        </a:rPr>
                        <a:t>complementaria</a:t>
                      </a:r>
                    </a:p>
                  </a:txBody>
                  <a:tcPr marL="73152" marR="73152" marT="27432" marB="27432" anchor="ctr">
                    <a:solidFill>
                      <a:srgbClr val="FFFFFF"/>
                    </a:solidFill>
                  </a:tcPr>
                </a:tc>
                <a:tc>
                  <a:txBody>
                    <a:bodyPr/>
                    <a:lstStyle/>
                    <a:p>
                      <a:pPr algn="ctr"/>
                      <a:r>
                        <a:rPr sz="1400" b="0">
                          <a:solidFill>
                            <a:srgbClr val="142B33"/>
                          </a:solidFill>
                          <a:latin typeface="Calibri"/>
                        </a:rPr>
                        <a:t>fracción </a:t>
                      </a:r>
                      <a:r>
                        <a:rPr sz="1400" b="1">
                          <a:solidFill>
                            <a:srgbClr val="142B33"/>
                          </a:solidFill>
                          <a:latin typeface="Calibri"/>
                        </a:rPr>
                        <a:t>alterna</a:t>
                      </a:r>
                    </a:p>
                  </a:txBody>
                  <a:tcPr marL="73152" marR="73152" marT="27432" marB="27432" anchor="ctr">
                    <a:solidFill>
                      <a:srgbClr val="FFFFFF"/>
                    </a:solidFill>
                  </a:tcPr>
                </a:tc>
              </a:tr>
              <a:tr h="552703">
                <a:tc>
                  <a:txBody>
                    <a:bodyPr/>
                    <a:lstStyle/>
                    <a:p>
                      <a:pPr algn="l"/>
                      <a:r>
                        <a:rPr sz="1400" b="0">
                          <a:solidFill>
                            <a:srgbClr val="142B33"/>
                          </a:solidFill>
                          <a:latin typeface="Calibri"/>
                        </a:rPr>
                        <a:t>Diseño básico</a:t>
                      </a:r>
                    </a:p>
                  </a:txBody>
                  <a:tcPr marL="73152" marR="73152" marT="27432" marB="27432" anchor="ctr">
                    <a:solidFill>
                      <a:srgbClr val="F4F8F9"/>
                    </a:solidFill>
                  </a:tcPr>
                </a:tc>
                <a:tc>
                  <a:txBody>
                    <a:bodyPr/>
                    <a:lstStyle/>
                    <a:p>
                      <a:pPr algn="l"/>
                      <a:r>
                        <a:rPr sz="1400" b="0">
                          <a:solidFill>
                            <a:srgbClr val="142B33"/>
                          </a:solidFill>
                          <a:latin typeface="Calibri"/>
                        </a:rPr>
                        <a:t>Factorial completo en k − p factores</a:t>
                      </a:r>
                    </a:p>
                  </a:txBody>
                  <a:tcPr marL="73152" marR="73152" marT="27432" marB="27432" anchor="ctr">
                    <a:solidFill>
                      <a:srgbClr val="F4F8F9"/>
                    </a:solidFill>
                  </a:tcPr>
                </a:tc>
                <a:tc>
                  <a:txBody>
                    <a:bodyPr/>
                    <a:lstStyle/>
                    <a:p>
                      <a:pPr algn="ctr"/>
                      <a:r>
                        <a:rPr sz="1400" b="0">
                          <a:solidFill>
                            <a:srgbClr val="142B33"/>
                          </a:solidFill>
                          <a:latin typeface="Calibri"/>
                        </a:rPr>
                        <a:t>«paso 1» de la construcción</a:t>
                      </a:r>
                    </a:p>
                  </a:txBody>
                  <a:tcPr marL="73152" marR="73152" marT="27432" marB="27432" anchor="ctr">
                    <a:solidFill>
                      <a:srgbClr val="F4F8F9"/>
                    </a:solidFill>
                  </a:tcPr>
                </a:tc>
                <a:tc>
                  <a:txBody>
                    <a:bodyPr/>
                    <a:lstStyle/>
                    <a:p>
                      <a:pPr algn="ctr"/>
                      <a:r>
                        <a:rPr sz="1400" b="0">
                          <a:solidFill>
                            <a:srgbClr val="142B33"/>
                          </a:solidFill>
                          <a:latin typeface="Calibri"/>
                        </a:rPr>
                        <a:t>diseño básico</a:t>
                      </a:r>
                    </a:p>
                  </a:txBody>
                  <a:tcPr marL="73152" marR="73152" marT="27432" marB="27432" anchor="ctr">
                    <a:solidFill>
                      <a:srgbClr val="F4F8F9"/>
                    </a:solidFill>
                  </a:tcPr>
                </a:tc>
              </a:tr>
              <a:tr h="335788">
                <a:tc>
                  <a:txBody>
                    <a:bodyPr/>
                    <a:lstStyle/>
                    <a:p>
                      <a:pPr algn="l"/>
                      <a:r>
                        <a:rPr sz="1400" b="0">
                          <a:solidFill>
                            <a:srgbClr val="142B33"/>
                          </a:solidFill>
                          <a:latin typeface="Calibri"/>
                        </a:rPr>
                        <a:t>Proyectar</a:t>
                      </a:r>
                    </a:p>
                  </a:txBody>
                  <a:tcPr marL="73152" marR="73152" marT="27432" marB="27432" anchor="ctr">
                    <a:solidFill>
                      <a:srgbClr val="FFFFFF"/>
                    </a:solidFill>
                  </a:tcPr>
                </a:tc>
                <a:tc>
                  <a:txBody>
                    <a:bodyPr/>
                    <a:lstStyle/>
                    <a:p>
                      <a:pPr algn="l"/>
                      <a:r>
                        <a:rPr sz="1400" b="0">
                          <a:solidFill>
                            <a:srgbClr val="142B33"/>
                          </a:solidFill>
                          <a:latin typeface="Calibri"/>
                        </a:rPr>
                        <a:t>Quitar factores inactivos y ver qué diseño queda</a:t>
                      </a:r>
                    </a:p>
                  </a:txBody>
                  <a:tcPr marL="73152" marR="73152" marT="27432" marB="27432" anchor="ctr">
                    <a:solidFill>
                      <a:srgbClr val="FFFFFF"/>
                    </a:solidFill>
                  </a:tcPr>
                </a:tc>
                <a:tc>
                  <a:txBody>
                    <a:bodyPr/>
                    <a:lstStyle/>
                    <a:p>
                      <a:pPr algn="ctr"/>
                      <a:r>
                        <a:rPr sz="1400" b="1">
                          <a:solidFill>
                            <a:srgbClr val="142B33"/>
                          </a:solidFill>
                          <a:latin typeface="Calibri"/>
                        </a:rPr>
                        <a:t>colapsar</a:t>
                      </a:r>
                    </a:p>
                  </a:txBody>
                  <a:tcPr marL="73152" marR="73152" marT="27432" marB="27432" anchor="ctr">
                    <a:solidFill>
                      <a:srgbClr val="FFFFFF"/>
                    </a:solidFill>
                  </a:tcPr>
                </a:tc>
                <a:tc>
                  <a:txBody>
                    <a:bodyPr/>
                    <a:lstStyle/>
                    <a:p>
                      <a:pPr algn="ctr"/>
                      <a:r>
                        <a:rPr sz="1400" b="1">
                          <a:solidFill>
                            <a:srgbClr val="142B33"/>
                          </a:solidFill>
                          <a:latin typeface="Calibri"/>
                        </a:rPr>
                        <a:t>proyectar</a:t>
                      </a:r>
                    </a:p>
                  </a:txBody>
                  <a:tcPr marL="73152" marR="73152" marT="27432" marB="27432" anchor="ctr">
                    <a:solidFill>
                      <a:srgbClr val="FFFFFF"/>
                    </a:solidFill>
                  </a:tcPr>
                </a:tc>
              </a:tr>
            </a:tbl>
          </a:graphicData>
        </a:graphic>
      </p:graphicFrame>
      <p:sp>
        <p:nvSpPr>
          <p:cNvPr id="4" name="TextBox 3"/>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El caso más pequeño: el 2</a:t>
            </a:r>
            <a:r>
              <a:rPr sz="1000" b="0" baseline="30000">
                <a:solidFill>
                  <a:srgbClr val="5B6B73"/>
                </a:solidFill>
                <a:latin typeface="Calibri"/>
              </a:rPr>
              <a:t>3−1</a:t>
            </a:r>
          </a:p>
        </p:txBody>
      </p:sp>
      <p:sp>
        <p:nvSpPr>
          <p:cNvPr id="5" name="TextBox 4"/>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17</a:t>
            </a:r>
          </a:p>
        </p:txBody>
      </p:sp>
      <p:sp>
        <p:nvSpPr>
          <p:cNvPr id="6" name="Rounded Rectangle 5"/>
          <p:cNvSpPr/>
          <p:nvPr/>
        </p:nvSpPr>
        <p:spPr>
          <a:xfrm>
            <a:off x="548640" y="91440"/>
            <a:ext cx="3287268"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2 · El caso más pequeño: el 2</a:t>
            </a:r>
            <a:r>
              <a:rPr sz="1100" b="1" baseline="30000">
                <a:solidFill>
                  <a:srgbClr val="FFFFFF"/>
                </a:solidFill>
                <a:latin typeface="Calibri"/>
              </a:rPr>
              <a:t>3−1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F4C5C"/>
        </a:solidFill>
        <a:effectLst/>
      </p:bgPr>
    </p:bg>
    <p:spTree>
      <p:nvGrpSpPr>
        <p:cNvPr id="1" name=""/>
        <p:cNvGrpSpPr/>
        <p:nvPr/>
      </p:nvGrpSpPr>
      <p:grpSpPr/>
      <p:sp>
        <p:nvSpPr>
          <p:cNvPr id="2" name="Title 1"/>
          <p:cNvSpPr>
            <a:spLocks noGrp="1"/>
          </p:cNvSpPr>
          <p:nvPr>
            <p:ph type="title"/>
          </p:nvPr>
        </p:nvSpPr>
        <p:spPr>
          <a:xfrm>
            <a:off x="548640" y="3383280"/>
            <a:ext cx="11094415" cy="914400"/>
          </a:xfrm>
        </p:spPr>
        <p:txBody>
          <a:bodyPr wrap="square" anchor="t" lIns="0" rIns="0" tIns="0" bIns="0"/>
          <a:lstStyle/>
          <a:p>
            <a:pPr algn="l"/>
            <a:r>
              <a:rPr sz="4400" b="1">
                <a:solidFill>
                  <a:srgbClr val="FFFFFF"/>
                </a:solidFill>
                <a:latin typeface="Cambria"/>
              </a:rPr>
              <a:t>Resolución</a:t>
            </a:r>
          </a:p>
        </p:txBody>
      </p:sp>
      <p:sp>
        <p:nvSpPr>
          <p:cNvPr id="3" name="Oval 2"/>
          <p:cNvSpPr/>
          <p:nvPr/>
        </p:nvSpPr>
        <p:spPr>
          <a:xfrm>
            <a:off x="548640" y="2011680"/>
            <a:ext cx="1188720" cy="1188720"/>
          </a:xfrm>
          <a:prstGeom prst="ellipse">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FFFFFF"/>
                </a:solidFill>
                <a:latin typeface="Cambria"/>
              </a:rPr>
              <a:t>3</a:t>
            </a:r>
          </a:p>
        </p:txBody>
      </p:sp>
      <p:sp>
        <p:nvSpPr>
          <p:cNvPr id="4" name="TextBox 3"/>
          <p:cNvSpPr txBox="1"/>
          <p:nvPr/>
        </p:nvSpPr>
        <p:spPr>
          <a:xfrm>
            <a:off x="548640" y="4343400"/>
            <a:ext cx="11094415" cy="548640"/>
          </a:xfrm>
          <a:prstGeom prst="rect">
            <a:avLst/>
          </a:prstGeom>
          <a:noFill/>
        </p:spPr>
        <p:txBody>
          <a:bodyPr wrap="square" anchor="t" lIns="0" rIns="0" tIns="0" bIns="0">
            <a:spAutoFit/>
          </a:bodyPr>
          <a:lstStyle/>
          <a:p>
            <a:r>
              <a:rPr sz="2000" b="0">
                <a:solidFill>
                  <a:srgbClr val="CFE3E8"/>
                </a:solidFill>
                <a:latin typeface="Calibri"/>
              </a:rPr>
              <a:t>Qué tan bien se estudian los efectos importantes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¿Qué es la resolución de un diseño?</a:t>
            </a:r>
          </a:p>
        </p:txBody>
      </p:sp>
      <p:sp>
        <p:nvSpPr>
          <p:cNvPr id="3" name="Rounded Rectangle 2"/>
          <p:cNvSpPr/>
          <p:nvPr/>
        </p:nvSpPr>
        <p:spPr>
          <a:xfrm>
            <a:off x="548640" y="1417320"/>
            <a:ext cx="5341467" cy="1202943"/>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600" b="1">
                <a:solidFill>
                  <a:srgbClr val="0F4C5C"/>
                </a:solidFill>
                <a:latin typeface="Cambria"/>
              </a:rPr>
              <a:t>III · ejemplo 2</a:t>
            </a:r>
            <a:r>
              <a:rPr sz="1600" b="1" baseline="30000">
                <a:solidFill>
                  <a:srgbClr val="0F4C5C"/>
                </a:solidFill>
                <a:latin typeface="Cambria"/>
              </a:rPr>
              <a:t>3−1</a:t>
            </a:r>
            <a:r>
              <a:rPr sz="1600" b="1">
                <a:solidFill>
                  <a:srgbClr val="0F4C5C"/>
                </a:solidFill>
                <a:latin typeface="Cambria"/>
              </a:rPr>
              <a:t>, I = ABC</a:t>
            </a:r>
          </a:p>
          <a:p>
            <a:pPr algn="l"/>
            <a:r>
              <a:rPr sz="1400" b="0">
                <a:solidFill>
                  <a:srgbClr val="142B33"/>
                </a:solidFill>
                <a:latin typeface="Calibri"/>
              </a:rPr>
              <a:t>Principales </a:t>
            </a:r>
            <a:r>
              <a:rPr sz="1400" b="1">
                <a:solidFill>
                  <a:srgbClr val="142B33"/>
                </a:solidFill>
                <a:latin typeface="Calibri"/>
              </a:rPr>
              <a:t>no</a:t>
            </a:r>
            <a:r>
              <a:rPr sz="1400" b="0">
                <a:solidFill>
                  <a:srgbClr val="142B33"/>
                </a:solidFill>
                <a:latin typeface="Calibri"/>
              </a:rPr>
              <a:t> aliados entre sí, </a:t>
            </a:r>
            <a:r>
              <a:rPr sz="1400" b="1">
                <a:solidFill>
                  <a:srgbClr val="142B33"/>
                </a:solidFill>
                <a:latin typeface="Calibri"/>
              </a:rPr>
              <a:t>sí</a:t>
            </a:r>
            <a:r>
              <a:rPr sz="1400" b="0">
                <a:solidFill>
                  <a:srgbClr val="142B33"/>
                </a:solidFill>
                <a:latin typeface="Calibri"/>
              </a:rPr>
              <a:t> con dobles:  A + BC</a:t>
            </a:r>
          </a:p>
        </p:txBody>
      </p:sp>
      <p:sp>
        <p:nvSpPr>
          <p:cNvPr id="4" name="Rounded Rectangle 3"/>
          <p:cNvSpPr/>
          <p:nvPr/>
        </p:nvSpPr>
        <p:spPr>
          <a:xfrm>
            <a:off x="548640" y="2848864"/>
            <a:ext cx="5341467" cy="1202943"/>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600" b="1">
                <a:solidFill>
                  <a:srgbClr val="0F4C5C"/>
                </a:solidFill>
                <a:latin typeface="Cambria"/>
              </a:rPr>
              <a:t>IV · ejemplo 2</a:t>
            </a:r>
            <a:r>
              <a:rPr sz="1600" b="1" baseline="30000">
                <a:solidFill>
                  <a:srgbClr val="0F4C5C"/>
                </a:solidFill>
                <a:latin typeface="Cambria"/>
              </a:rPr>
              <a:t>4−1</a:t>
            </a:r>
            <a:r>
              <a:rPr sz="1600" b="1">
                <a:solidFill>
                  <a:srgbClr val="0F4C5C"/>
                </a:solidFill>
                <a:latin typeface="Cambria"/>
              </a:rPr>
              <a:t>, I = ABCD</a:t>
            </a:r>
          </a:p>
          <a:p>
            <a:pPr algn="l"/>
            <a:r>
              <a:rPr sz="1400" b="0">
                <a:solidFill>
                  <a:srgbClr val="142B33"/>
                </a:solidFill>
                <a:latin typeface="Calibri"/>
              </a:rPr>
              <a:t>Principales libres de principales y dobles; </a:t>
            </a:r>
            <a:r>
              <a:rPr sz="1400" b="1">
                <a:solidFill>
                  <a:srgbClr val="142B33"/>
                </a:solidFill>
                <a:latin typeface="Calibri"/>
              </a:rPr>
              <a:t>dobles aliadas entre sí</a:t>
            </a:r>
            <a:r>
              <a:rPr sz="1400" b="0">
                <a:solidFill>
                  <a:srgbClr val="142B33"/>
                </a:solidFill>
                <a:latin typeface="Calibri"/>
              </a:rPr>
              <a:t>:  A + BCD,  AB + CD</a:t>
            </a:r>
          </a:p>
        </p:txBody>
      </p:sp>
      <p:sp>
        <p:nvSpPr>
          <p:cNvPr id="5" name="Rounded Rectangle 4"/>
          <p:cNvSpPr/>
          <p:nvPr/>
        </p:nvSpPr>
        <p:spPr>
          <a:xfrm>
            <a:off x="548640" y="4280408"/>
            <a:ext cx="5341467" cy="1202943"/>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600" b="1">
                <a:solidFill>
                  <a:srgbClr val="0F4C5C"/>
                </a:solidFill>
                <a:latin typeface="Cambria"/>
              </a:rPr>
              <a:t>V · ejemplo 2</a:t>
            </a:r>
            <a:r>
              <a:rPr sz="1600" b="1" baseline="30000">
                <a:solidFill>
                  <a:srgbClr val="0F4C5C"/>
                </a:solidFill>
                <a:latin typeface="Cambria"/>
              </a:rPr>
              <a:t>5−1</a:t>
            </a:r>
            <a:r>
              <a:rPr sz="1600" b="1">
                <a:solidFill>
                  <a:srgbClr val="0F4C5C"/>
                </a:solidFill>
                <a:latin typeface="Cambria"/>
              </a:rPr>
              <a:t>, I = ABCDE</a:t>
            </a:r>
          </a:p>
          <a:p>
            <a:pPr algn="l"/>
            <a:r>
              <a:rPr sz="1400" b="0">
                <a:solidFill>
                  <a:srgbClr val="142B33"/>
                </a:solidFill>
                <a:latin typeface="Calibri"/>
              </a:rPr>
              <a:t>Principales y dobles aliados solo con </a:t>
            </a:r>
            <a:r>
              <a:rPr sz="1400" b="1">
                <a:solidFill>
                  <a:srgbClr val="142B33"/>
                </a:solidFill>
                <a:latin typeface="Calibri"/>
              </a:rPr>
              <a:t>triples o más</a:t>
            </a:r>
            <a:r>
              <a:rPr sz="1400" b="0">
                <a:solidFill>
                  <a:srgbClr val="142B33"/>
                </a:solidFill>
                <a:latin typeface="Calibri"/>
              </a:rPr>
              <a:t>:  A + BCDE,  AB + CDE</a:t>
            </a:r>
          </a:p>
        </p:txBody>
      </p:sp>
      <p:sp>
        <p:nvSpPr>
          <p:cNvPr id="6" name="Rounded Rectangle 5"/>
          <p:cNvSpPr/>
          <p:nvPr/>
        </p:nvSpPr>
        <p:spPr>
          <a:xfrm>
            <a:off x="6301587" y="1417320"/>
            <a:ext cx="5341467" cy="586679"/>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800" b="0">
                <a:solidFill>
                  <a:srgbClr val="0F4C5C"/>
                </a:solidFill>
                <a:latin typeface="Cambria Math"/>
              </a:rPr>
              <a:t>Si dos efectos son alias, entre los dos suman al menos </a:t>
            </a:r>
            <a:r>
              <a:rPr sz="1800" b="1">
                <a:solidFill>
                  <a:srgbClr val="0F4C5C"/>
                </a:solidFill>
                <a:latin typeface="Cambria Math"/>
              </a:rPr>
              <a:t>R</a:t>
            </a:r>
            <a:r>
              <a:rPr sz="1800" b="0">
                <a:solidFill>
                  <a:srgbClr val="0F4C5C"/>
                </a:solidFill>
                <a:latin typeface="Cambria Math"/>
              </a:rPr>
              <a:t> letras</a:t>
            </a:r>
          </a:p>
        </p:txBody>
      </p:sp>
      <p:graphicFrame>
        <p:nvGraphicFramePr>
          <p:cNvPr id="7" name="Table 6"/>
          <p:cNvGraphicFramePr>
            <a:graphicFrameLocks noGrp="1"/>
          </p:cNvGraphicFramePr>
          <p:nvPr/>
        </p:nvGraphicFramePr>
        <p:xfrm>
          <a:off x="6301587" y="2205167"/>
          <a:ext cx="5341467" cy="2427728"/>
        </p:xfrm>
        <a:graphic>
          <a:graphicData uri="http://schemas.openxmlformats.org/drawingml/2006/table">
            <a:tbl>
              <a:tblPr firstRow="0" bandRow="0">
                <a:tableStyleId>{5C22544A-7EE6-4342-B048-85BDC9FD1C3A}</a:tableStyleId>
              </a:tblPr>
              <a:tblGrid>
                <a:gridCol w="961464"/>
                <a:gridCol w="2243416"/>
                <a:gridCol w="2136587"/>
              </a:tblGrid>
              <a:tr h="769619">
                <a:tc>
                  <a:txBody>
                    <a:bodyPr/>
                    <a:lstStyle/>
                    <a:p>
                      <a:pPr algn="l"/>
                      <a:r>
                        <a:rPr sz="1400" b="1">
                          <a:solidFill>
                            <a:srgbClr val="FFFFFF"/>
                          </a:solidFill>
                          <a:latin typeface="Calibri"/>
                        </a:rPr>
                        <a:t>Resolución</a:t>
                      </a:r>
                    </a:p>
                  </a:txBody>
                  <a:tcPr marL="73152" marR="73152" marT="27432" marB="27432" anchor="ctr">
                    <a:solidFill>
                      <a:srgbClr val="0F4C5C"/>
                    </a:solidFill>
                  </a:tcPr>
                </a:tc>
                <a:tc>
                  <a:txBody>
                    <a:bodyPr/>
                    <a:lstStyle/>
                    <a:p>
                      <a:pPr algn="ctr"/>
                      <a:r>
                        <a:rPr sz="1400" b="1">
                          <a:solidFill>
                            <a:srgbClr val="FFFFFF"/>
                          </a:solidFill>
                          <a:latin typeface="Calibri"/>
                        </a:rPr>
                        <a:t>Para leer los principales hay que suponer nula…</a:t>
                      </a:r>
                    </a:p>
                  </a:txBody>
                  <a:tcPr marL="73152" marR="73152" marT="27432" marB="27432" anchor="ctr">
                    <a:solidFill>
                      <a:srgbClr val="0F4C5C"/>
                    </a:solidFill>
                  </a:tcPr>
                </a:tc>
                <a:tc>
                  <a:txBody>
                    <a:bodyPr/>
                    <a:lstStyle/>
                    <a:p>
                      <a:pPr algn="l"/>
                      <a:r>
                        <a:rPr sz="1400" b="1">
                          <a:solidFill>
                            <a:srgbClr val="FFFFFF"/>
                          </a:solidFill>
                          <a:latin typeface="Calibri"/>
                        </a:rPr>
                        <a:t>Sirve para…</a:t>
                      </a:r>
                    </a:p>
                  </a:txBody>
                  <a:tcPr marL="73152" marR="73152" marT="27432" marB="27432" anchor="ctr">
                    <a:solidFill>
                      <a:srgbClr val="0F4C5C"/>
                    </a:solidFill>
                  </a:tcPr>
                </a:tc>
              </a:tr>
              <a:tr h="552703">
                <a:tc>
                  <a:txBody>
                    <a:bodyPr/>
                    <a:lstStyle/>
                    <a:p>
                      <a:pPr algn="l"/>
                      <a:r>
                        <a:rPr sz="1400" b="0">
                          <a:solidFill>
                            <a:srgbClr val="142B33"/>
                          </a:solidFill>
                          <a:latin typeface="Calibri"/>
                        </a:rPr>
                        <a:t>III</a:t>
                      </a:r>
                    </a:p>
                  </a:txBody>
                  <a:tcPr marL="73152" marR="73152" marT="27432" marB="27432" anchor="ctr">
                    <a:solidFill>
                      <a:srgbClr val="FFFFFF"/>
                    </a:solidFill>
                  </a:tcPr>
                </a:tc>
                <a:tc>
                  <a:txBody>
                    <a:bodyPr/>
                    <a:lstStyle/>
                    <a:p>
                      <a:pPr algn="ctr"/>
                      <a:r>
                        <a:rPr sz="1400" b="0">
                          <a:solidFill>
                            <a:srgbClr val="142B33"/>
                          </a:solidFill>
                          <a:latin typeface="Calibri"/>
                        </a:rPr>
                        <a:t>la interacción </a:t>
                      </a:r>
                      <a:r>
                        <a:rPr sz="1400" b="1">
                          <a:solidFill>
                            <a:srgbClr val="142B33"/>
                          </a:solidFill>
                          <a:latin typeface="Calibri"/>
                        </a:rPr>
                        <a:t>doble</a:t>
                      </a:r>
                    </a:p>
                  </a:txBody>
                  <a:tcPr marL="73152" marR="73152" marT="27432" marB="27432" anchor="ctr">
                    <a:solidFill>
                      <a:srgbClr val="FFFFFF"/>
                    </a:solidFill>
                  </a:tcPr>
                </a:tc>
                <a:tc>
                  <a:txBody>
                    <a:bodyPr/>
                    <a:lstStyle/>
                    <a:p>
                      <a:pPr algn="l"/>
                      <a:r>
                        <a:rPr sz="1400" b="0">
                          <a:solidFill>
                            <a:srgbClr val="142B33"/>
                          </a:solidFill>
                          <a:latin typeface="Calibri"/>
                        </a:rPr>
                        <a:t>tamizar cuando no se esperan interacciones</a:t>
                      </a:r>
                    </a:p>
                  </a:txBody>
                  <a:tcPr marL="73152" marR="73152" marT="27432" marB="27432" anchor="ctr">
                    <a:solidFill>
                      <a:srgbClr val="FFFFFF"/>
                    </a:solidFill>
                  </a:tcPr>
                </a:tc>
              </a:tr>
              <a:tr h="552703">
                <a:tc>
                  <a:txBody>
                    <a:bodyPr/>
                    <a:lstStyle/>
                    <a:p>
                      <a:pPr algn="l"/>
                      <a:r>
                        <a:rPr sz="1400" b="0">
                          <a:solidFill>
                            <a:srgbClr val="142B33"/>
                          </a:solidFill>
                          <a:latin typeface="Calibri"/>
                        </a:rPr>
                        <a:t>IV</a:t>
                      </a:r>
                    </a:p>
                  </a:txBody>
                  <a:tcPr marL="73152" marR="73152" marT="27432" marB="27432" anchor="ctr">
                    <a:solidFill>
                      <a:srgbClr val="F4F8F9"/>
                    </a:solidFill>
                  </a:tcPr>
                </a:tc>
                <a:tc>
                  <a:txBody>
                    <a:bodyPr/>
                    <a:lstStyle/>
                    <a:p>
                      <a:pPr algn="ctr"/>
                      <a:r>
                        <a:rPr sz="1400" b="0">
                          <a:solidFill>
                            <a:srgbClr val="142B33"/>
                          </a:solidFill>
                          <a:latin typeface="Calibri"/>
                        </a:rPr>
                        <a:t>la interacción </a:t>
                      </a:r>
                      <a:r>
                        <a:rPr sz="1400" b="1">
                          <a:solidFill>
                            <a:srgbClr val="142B33"/>
                          </a:solidFill>
                          <a:latin typeface="Calibri"/>
                        </a:rPr>
                        <a:t>triple</a:t>
                      </a:r>
                    </a:p>
                  </a:txBody>
                  <a:tcPr marL="73152" marR="73152" marT="27432" marB="27432" anchor="ctr">
                    <a:solidFill>
                      <a:srgbClr val="F4F8F9"/>
                    </a:solidFill>
                  </a:tcPr>
                </a:tc>
                <a:tc>
                  <a:txBody>
                    <a:bodyPr/>
                    <a:lstStyle/>
                    <a:p>
                      <a:pPr algn="l"/>
                      <a:r>
                        <a:rPr sz="1400" b="0">
                          <a:solidFill>
                            <a:srgbClr val="142B33"/>
                          </a:solidFill>
                          <a:latin typeface="Calibri"/>
                        </a:rPr>
                        <a:t>tamizar cuando puede haber interacciones</a:t>
                      </a:r>
                    </a:p>
                  </a:txBody>
                  <a:tcPr marL="73152" marR="73152" marT="27432" marB="27432" anchor="ctr">
                    <a:solidFill>
                      <a:srgbClr val="F4F8F9"/>
                    </a:solidFill>
                  </a:tcPr>
                </a:tc>
              </a:tr>
              <a:tr h="552703">
                <a:tc>
                  <a:txBody>
                    <a:bodyPr/>
                    <a:lstStyle/>
                    <a:p>
                      <a:pPr algn="l"/>
                      <a:r>
                        <a:rPr sz="1400" b="0">
                          <a:solidFill>
                            <a:srgbClr val="142B33"/>
                          </a:solidFill>
                          <a:latin typeface="Calibri"/>
                        </a:rPr>
                        <a:t>V</a:t>
                      </a:r>
                    </a:p>
                  </a:txBody>
                  <a:tcPr marL="73152" marR="73152" marT="27432" marB="27432" anchor="ctr">
                    <a:solidFill>
                      <a:srgbClr val="FFFFFF"/>
                    </a:solidFill>
                  </a:tcPr>
                </a:tc>
                <a:tc>
                  <a:txBody>
                    <a:bodyPr/>
                    <a:lstStyle/>
                    <a:p>
                      <a:pPr algn="ctr"/>
                      <a:r>
                        <a:rPr sz="1400" b="0">
                          <a:solidFill>
                            <a:srgbClr val="142B33"/>
                          </a:solidFill>
                          <a:latin typeface="Calibri"/>
                        </a:rPr>
                        <a:t>la de </a:t>
                      </a:r>
                      <a:r>
                        <a:rPr sz="1400" b="1">
                          <a:solidFill>
                            <a:srgbClr val="142B33"/>
                          </a:solidFill>
                          <a:latin typeface="Calibri"/>
                        </a:rPr>
                        <a:t>cuatro</a:t>
                      </a:r>
                      <a:r>
                        <a:rPr sz="1400" b="0">
                          <a:solidFill>
                            <a:srgbClr val="142B33"/>
                          </a:solidFill>
                          <a:latin typeface="Calibri"/>
                        </a:rPr>
                        <a:t> factores</a:t>
                      </a:r>
                    </a:p>
                  </a:txBody>
                  <a:tcPr marL="73152" marR="73152" marT="27432" marB="27432" anchor="ctr">
                    <a:solidFill>
                      <a:srgbClr val="FFFFFF"/>
                    </a:solidFill>
                  </a:tcPr>
                </a:tc>
                <a:tc>
                  <a:txBody>
                    <a:bodyPr/>
                    <a:lstStyle/>
                    <a:p>
                      <a:pPr algn="l"/>
                      <a:r>
                        <a:rPr sz="1400" b="0">
                          <a:solidFill>
                            <a:srgbClr val="142B33"/>
                          </a:solidFill>
                          <a:latin typeface="Calibri"/>
                        </a:rPr>
                        <a:t>estimar principales </a:t>
                      </a:r>
                      <a:r>
                        <a:rPr sz="1400" b="1">
                          <a:solidFill>
                            <a:srgbClr val="142B33"/>
                          </a:solidFill>
                          <a:latin typeface="Calibri"/>
                        </a:rPr>
                        <a:t>y</a:t>
                      </a:r>
                      <a:r>
                        <a:rPr sz="1400" b="0">
                          <a:solidFill>
                            <a:srgbClr val="142B33"/>
                          </a:solidFill>
                          <a:latin typeface="Calibri"/>
                        </a:rPr>
                        <a:t> dobles</a:t>
                      </a:r>
                    </a:p>
                  </a:txBody>
                  <a:tcPr marL="73152" marR="73152" marT="27432" marB="27432" anchor="ctr">
                    <a:solidFill>
                      <a:srgbClr val="FFFFFF"/>
                    </a:solidFill>
                  </a:tcPr>
                </a:tc>
              </a:tr>
            </a:tbl>
          </a:graphicData>
        </a:graphic>
      </p:graphicFrame>
      <p:sp>
        <p:nvSpPr>
          <p:cNvPr id="8" name="TextBox 7"/>
          <p:cNvSpPr txBox="1"/>
          <p:nvPr/>
        </p:nvSpPr>
        <p:spPr>
          <a:xfrm>
            <a:off x="6301587" y="4834067"/>
            <a:ext cx="5341467" cy="439419"/>
          </a:xfrm>
          <a:prstGeom prst="rect">
            <a:avLst/>
          </a:prstGeom>
          <a:noFill/>
        </p:spPr>
        <p:txBody>
          <a:bodyPr wrap="square" anchor="t" lIns="0" rIns="0" tIns="0" bIns="0">
            <a:spAutoFit/>
          </a:bodyPr>
          <a:lstStyle/>
          <a:p>
            <a:r>
              <a:rPr sz="1300" b="0">
                <a:solidFill>
                  <a:srgbClr val="5B6B73"/>
                </a:solidFill>
                <a:latin typeface="Calibri"/>
              </a:rPr>
              <a:t>Definición formal (Montgomery): ningún efecto de </a:t>
            </a:r>
            <a:r>
              <a:rPr sz="1300" b="1">
                <a:solidFill>
                  <a:srgbClr val="5B6B73"/>
                </a:solidFill>
                <a:latin typeface="Calibri"/>
              </a:rPr>
              <a:t>p</a:t>
            </a:r>
            <a:r>
              <a:rPr sz="1300" b="0">
                <a:solidFill>
                  <a:srgbClr val="5B6B73"/>
                </a:solidFill>
                <a:latin typeface="Calibri"/>
              </a:rPr>
              <a:t> factores es alias de otro con menos de </a:t>
            </a:r>
            <a:r>
              <a:rPr sz="1300" b="1">
                <a:solidFill>
                  <a:srgbClr val="5B6B73"/>
                </a:solidFill>
                <a:latin typeface="Calibri"/>
              </a:rPr>
              <a:t>R − p</a:t>
            </a:r>
            <a:r>
              <a:rPr sz="1300" b="0">
                <a:solidFill>
                  <a:srgbClr val="5B6B73"/>
                </a:solidFill>
                <a:latin typeface="Calibri"/>
              </a:rPr>
              <a:t> factores</a:t>
            </a:r>
          </a:p>
        </p:txBody>
      </p:sp>
      <p:sp>
        <p:nvSpPr>
          <p:cNvPr id="9" name="TextBox 8"/>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Resolución</a:t>
            </a:r>
          </a:p>
        </p:txBody>
      </p:sp>
      <p:sp>
        <p:nvSpPr>
          <p:cNvPr id="10" name="TextBox 9"/>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19</a:t>
            </a:r>
          </a:p>
        </p:txBody>
      </p:sp>
      <p:sp>
        <p:nvSpPr>
          <p:cNvPr id="11" name="Rounded Rectangle 10"/>
          <p:cNvSpPr/>
          <p:nvPr/>
        </p:nvSpPr>
        <p:spPr>
          <a:xfrm>
            <a:off x="548640" y="91440"/>
            <a:ext cx="188823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3 · Resolución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¿Cómo se calcula la resolución?</a:t>
            </a:r>
          </a:p>
        </p:txBody>
      </p:sp>
      <p:sp>
        <p:nvSpPr>
          <p:cNvPr id="3" name="Rounded Rectangle 2"/>
          <p:cNvSpPr/>
          <p:nvPr/>
        </p:nvSpPr>
        <p:spPr>
          <a:xfrm>
            <a:off x="548640" y="1417320"/>
            <a:ext cx="11094415" cy="604032"/>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900" b="0">
                <a:solidFill>
                  <a:srgbClr val="0F4C5C"/>
                </a:solidFill>
                <a:latin typeface="Cambria Math"/>
              </a:rPr>
              <a:t>Resolución = número de letras de la </a:t>
            </a:r>
            <a:r>
              <a:rPr sz="1900" b="1">
                <a:solidFill>
                  <a:srgbClr val="0F4C5C"/>
                </a:solidFill>
                <a:latin typeface="Cambria Math"/>
              </a:rPr>
              <a:t>palabra más corta</a:t>
            </a:r>
            <a:r>
              <a:rPr sz="1900" b="0">
                <a:solidFill>
                  <a:srgbClr val="0F4C5C"/>
                </a:solidFill>
                <a:latin typeface="Cambria Math"/>
              </a:rPr>
              <a:t> de la relación definidora</a:t>
            </a:r>
          </a:p>
        </p:txBody>
      </p:sp>
      <p:graphicFrame>
        <p:nvGraphicFramePr>
          <p:cNvPr id="4" name="Table 3"/>
          <p:cNvGraphicFramePr>
            <a:graphicFrameLocks noGrp="1"/>
          </p:cNvGraphicFramePr>
          <p:nvPr/>
        </p:nvGraphicFramePr>
        <p:xfrm>
          <a:off x="548640" y="2222520"/>
          <a:ext cx="11094412" cy="2107692"/>
        </p:xfrm>
        <a:graphic>
          <a:graphicData uri="http://schemas.openxmlformats.org/drawingml/2006/table">
            <a:tbl>
              <a:tblPr firstRow="0" bandRow="0">
                <a:tableStyleId>{5C22544A-7EE6-4342-B048-85BDC9FD1C3A}</a:tableStyleId>
              </a:tblPr>
              <a:tblGrid>
                <a:gridCol w="1331329"/>
                <a:gridCol w="2440771"/>
                <a:gridCol w="3550212"/>
                <a:gridCol w="1996994"/>
                <a:gridCol w="1775106"/>
              </a:tblGrid>
              <a:tr h="351282">
                <a:tc>
                  <a:txBody>
                    <a:bodyPr/>
                    <a:lstStyle/>
                    <a:p>
                      <a:pPr algn="ctr"/>
                      <a:r>
                        <a:rPr sz="1500" b="1">
                          <a:solidFill>
                            <a:srgbClr val="FFFFFF"/>
                          </a:solidFill>
                          <a:latin typeface="Calibri"/>
                        </a:rPr>
                        <a:t>Diseño</a:t>
                      </a:r>
                    </a:p>
                  </a:txBody>
                  <a:tcPr marL="73152" marR="73152" marT="27432" marB="27432" anchor="ctr">
                    <a:solidFill>
                      <a:srgbClr val="0F4C5C"/>
                    </a:solidFill>
                  </a:tcPr>
                </a:tc>
                <a:tc>
                  <a:txBody>
                    <a:bodyPr/>
                    <a:lstStyle/>
                    <a:p>
                      <a:pPr algn="ctr"/>
                      <a:r>
                        <a:rPr sz="1500" b="1">
                          <a:solidFill>
                            <a:srgbClr val="FFFFFF"/>
                          </a:solidFill>
                          <a:latin typeface="Calibri"/>
                        </a:rPr>
                        <a:t>Generadores</a:t>
                      </a:r>
                    </a:p>
                  </a:txBody>
                  <a:tcPr marL="73152" marR="73152" marT="27432" marB="27432" anchor="ctr">
                    <a:solidFill>
                      <a:srgbClr val="0F4C5C"/>
                    </a:solidFill>
                  </a:tcPr>
                </a:tc>
                <a:tc>
                  <a:txBody>
                    <a:bodyPr/>
                    <a:lstStyle/>
                    <a:p>
                      <a:pPr algn="ctr"/>
                      <a:r>
                        <a:rPr sz="1500" b="1">
                          <a:solidFill>
                            <a:srgbClr val="FFFFFF"/>
                          </a:solidFill>
                          <a:latin typeface="Calibri"/>
                        </a:rPr>
                        <a:t>Relación de definición</a:t>
                      </a:r>
                    </a:p>
                  </a:txBody>
                  <a:tcPr marL="73152" marR="73152" marT="27432" marB="27432" anchor="ctr">
                    <a:solidFill>
                      <a:srgbClr val="0F4C5C"/>
                    </a:solidFill>
                  </a:tcPr>
                </a:tc>
                <a:tc>
                  <a:txBody>
                    <a:bodyPr/>
                    <a:lstStyle/>
                    <a:p>
                      <a:pPr algn="ctr"/>
                      <a:r>
                        <a:rPr sz="1500" b="1">
                          <a:solidFill>
                            <a:srgbClr val="FFFFFF"/>
                          </a:solidFill>
                          <a:latin typeface="Calibri"/>
                        </a:rPr>
                        <a:t>Palabra más corta</a:t>
                      </a:r>
                    </a:p>
                  </a:txBody>
                  <a:tcPr marL="73152" marR="73152" marT="27432" marB="27432" anchor="ctr">
                    <a:solidFill>
                      <a:srgbClr val="0F4C5C"/>
                    </a:solidFill>
                  </a:tcPr>
                </a:tc>
                <a:tc>
                  <a:txBody>
                    <a:bodyPr/>
                    <a:lstStyle/>
                    <a:p>
                      <a:pPr algn="ctr"/>
                      <a:r>
                        <a:rPr sz="1500" b="1">
                          <a:solidFill>
                            <a:srgbClr val="FFFFFF"/>
                          </a:solidFill>
                          <a:latin typeface="Calibri"/>
                        </a:rPr>
                        <a:t>Resolución</a:t>
                      </a:r>
                    </a:p>
                  </a:txBody>
                  <a:tcPr marL="73152" marR="73152" marT="27432" marB="27432" anchor="ctr">
                    <a:solidFill>
                      <a:srgbClr val="0F4C5C"/>
                    </a:solidFill>
                  </a:tcPr>
                </a:tc>
              </a:tr>
              <a:tr h="351282">
                <a:tc>
                  <a:txBody>
                    <a:bodyPr/>
                    <a:lstStyle/>
                    <a:p>
                      <a:pPr algn="ctr"/>
                      <a:r>
                        <a:rPr sz="1500" b="0">
                          <a:solidFill>
                            <a:srgbClr val="142B33"/>
                          </a:solidFill>
                          <a:latin typeface="Calibri"/>
                        </a:rPr>
                        <a:t>2</a:t>
                      </a:r>
                      <a:r>
                        <a:rPr sz="1500" b="0" baseline="30000">
                          <a:solidFill>
                            <a:srgbClr val="142B33"/>
                          </a:solidFill>
                          <a:latin typeface="Calibri"/>
                        </a:rPr>
                        <a:t>3−1</a:t>
                      </a:r>
                    </a:p>
                  </a:txBody>
                  <a:tcPr marL="73152" marR="73152" marT="27432" marB="27432" anchor="ctr">
                    <a:solidFill>
                      <a:srgbClr val="FFFFFF"/>
                    </a:solidFill>
                  </a:tcPr>
                </a:tc>
                <a:tc>
                  <a:txBody>
                    <a:bodyPr/>
                    <a:lstStyle/>
                    <a:p>
                      <a:pPr algn="ctr"/>
                      <a:r>
                        <a:rPr sz="1500" b="0">
                          <a:solidFill>
                            <a:srgbClr val="142B33"/>
                          </a:solidFill>
                          <a:latin typeface="Calibri"/>
                        </a:rPr>
                        <a:t>C = AB</a:t>
                      </a:r>
                    </a:p>
                  </a:txBody>
                  <a:tcPr marL="73152" marR="73152" marT="27432" marB="27432" anchor="ctr">
                    <a:solidFill>
                      <a:srgbClr val="FFFFFF"/>
                    </a:solidFill>
                  </a:tcPr>
                </a:tc>
                <a:tc>
                  <a:txBody>
                    <a:bodyPr/>
                    <a:lstStyle/>
                    <a:p>
                      <a:pPr algn="ctr"/>
                      <a:r>
                        <a:rPr sz="1500" b="0">
                          <a:solidFill>
                            <a:srgbClr val="142B33"/>
                          </a:solidFill>
                          <a:latin typeface="Calibri"/>
                        </a:rPr>
                        <a:t>I = ABC</a:t>
                      </a:r>
                    </a:p>
                  </a:txBody>
                  <a:tcPr marL="73152" marR="73152" marT="27432" marB="27432" anchor="ctr">
                    <a:solidFill>
                      <a:srgbClr val="FFFFFF"/>
                    </a:solidFill>
                  </a:tcPr>
                </a:tc>
                <a:tc>
                  <a:txBody>
                    <a:bodyPr/>
                    <a:lstStyle/>
                    <a:p>
                      <a:pPr algn="ctr"/>
                      <a:r>
                        <a:rPr sz="1500" b="0">
                          <a:solidFill>
                            <a:srgbClr val="142B33"/>
                          </a:solidFill>
                          <a:latin typeface="Calibri"/>
                        </a:rPr>
                        <a:t>3 letras</a:t>
                      </a:r>
                    </a:p>
                  </a:txBody>
                  <a:tcPr marL="73152" marR="73152" marT="27432" marB="27432" anchor="ctr">
                    <a:solidFill>
                      <a:srgbClr val="FFFFFF"/>
                    </a:solidFill>
                  </a:tcPr>
                </a:tc>
                <a:tc>
                  <a:txBody>
                    <a:bodyPr/>
                    <a:lstStyle/>
                    <a:p>
                      <a:pPr algn="ctr"/>
                      <a:r>
                        <a:rPr sz="1500" b="0">
                          <a:solidFill>
                            <a:srgbClr val="142B33"/>
                          </a:solidFill>
                          <a:latin typeface="Calibri"/>
                        </a:rPr>
                        <a:t>III</a:t>
                      </a:r>
                    </a:p>
                  </a:txBody>
                  <a:tcPr marL="73152" marR="73152" marT="27432" marB="27432" anchor="ctr">
                    <a:solidFill>
                      <a:srgbClr val="FFFFFF"/>
                    </a:solidFill>
                  </a:tcPr>
                </a:tc>
              </a:tr>
              <a:tr h="351282">
                <a:tc>
                  <a:txBody>
                    <a:bodyPr/>
                    <a:lstStyle/>
                    <a:p>
                      <a:pPr algn="ctr"/>
                      <a:r>
                        <a:rPr sz="1500" b="0">
                          <a:solidFill>
                            <a:srgbClr val="142B33"/>
                          </a:solidFill>
                          <a:latin typeface="Calibri"/>
                        </a:rPr>
                        <a:t>2</a:t>
                      </a:r>
                      <a:r>
                        <a:rPr sz="1500" b="0" baseline="30000">
                          <a:solidFill>
                            <a:srgbClr val="142B33"/>
                          </a:solidFill>
                          <a:latin typeface="Calibri"/>
                        </a:rPr>
                        <a:t>4−1</a:t>
                      </a:r>
                    </a:p>
                  </a:txBody>
                  <a:tcPr marL="73152" marR="73152" marT="27432" marB="27432" anchor="ctr">
                    <a:solidFill>
                      <a:srgbClr val="F4F8F9"/>
                    </a:solidFill>
                  </a:tcPr>
                </a:tc>
                <a:tc>
                  <a:txBody>
                    <a:bodyPr/>
                    <a:lstStyle/>
                    <a:p>
                      <a:pPr algn="ctr"/>
                      <a:r>
                        <a:rPr sz="1500" b="0">
                          <a:solidFill>
                            <a:srgbClr val="142B33"/>
                          </a:solidFill>
                          <a:latin typeface="Calibri"/>
                        </a:rPr>
                        <a:t>D = ABC</a:t>
                      </a:r>
                    </a:p>
                  </a:txBody>
                  <a:tcPr marL="73152" marR="73152" marT="27432" marB="27432" anchor="ctr">
                    <a:solidFill>
                      <a:srgbClr val="F4F8F9"/>
                    </a:solidFill>
                  </a:tcPr>
                </a:tc>
                <a:tc>
                  <a:txBody>
                    <a:bodyPr/>
                    <a:lstStyle/>
                    <a:p>
                      <a:pPr algn="ctr"/>
                      <a:r>
                        <a:rPr sz="1500" b="0">
                          <a:solidFill>
                            <a:srgbClr val="142B33"/>
                          </a:solidFill>
                          <a:latin typeface="Calibri"/>
                        </a:rPr>
                        <a:t>I = ABCD</a:t>
                      </a:r>
                    </a:p>
                  </a:txBody>
                  <a:tcPr marL="73152" marR="73152" marT="27432" marB="27432" anchor="ctr">
                    <a:solidFill>
                      <a:srgbClr val="F4F8F9"/>
                    </a:solidFill>
                  </a:tcPr>
                </a:tc>
                <a:tc>
                  <a:txBody>
                    <a:bodyPr/>
                    <a:lstStyle/>
                    <a:p>
                      <a:pPr algn="ctr"/>
                      <a:r>
                        <a:rPr sz="1500" b="0">
                          <a:solidFill>
                            <a:srgbClr val="142B33"/>
                          </a:solidFill>
                          <a:latin typeface="Calibri"/>
                        </a:rPr>
                        <a:t>4 letras</a:t>
                      </a:r>
                    </a:p>
                  </a:txBody>
                  <a:tcPr marL="73152" marR="73152" marT="27432" marB="27432" anchor="ctr">
                    <a:solidFill>
                      <a:srgbClr val="F4F8F9"/>
                    </a:solidFill>
                  </a:tcPr>
                </a:tc>
                <a:tc>
                  <a:txBody>
                    <a:bodyPr/>
                    <a:lstStyle/>
                    <a:p>
                      <a:pPr algn="ctr"/>
                      <a:r>
                        <a:rPr sz="1500" b="0">
                          <a:solidFill>
                            <a:srgbClr val="142B33"/>
                          </a:solidFill>
                          <a:latin typeface="Calibri"/>
                        </a:rPr>
                        <a:t>IV</a:t>
                      </a:r>
                    </a:p>
                  </a:txBody>
                  <a:tcPr marL="73152" marR="73152" marT="27432" marB="27432" anchor="ctr">
                    <a:solidFill>
                      <a:srgbClr val="F4F8F9"/>
                    </a:solidFill>
                  </a:tcPr>
                </a:tc>
              </a:tr>
              <a:tr h="351282">
                <a:tc>
                  <a:txBody>
                    <a:bodyPr/>
                    <a:lstStyle/>
                    <a:p>
                      <a:pPr algn="ctr"/>
                      <a:r>
                        <a:rPr sz="1500" b="0">
                          <a:solidFill>
                            <a:srgbClr val="142B33"/>
                          </a:solidFill>
                          <a:latin typeface="Calibri"/>
                        </a:rPr>
                        <a:t>2</a:t>
                      </a:r>
                      <a:r>
                        <a:rPr sz="1500" b="0" baseline="30000">
                          <a:solidFill>
                            <a:srgbClr val="142B33"/>
                          </a:solidFill>
                          <a:latin typeface="Calibri"/>
                        </a:rPr>
                        <a:t>5−1</a:t>
                      </a:r>
                    </a:p>
                  </a:txBody>
                  <a:tcPr marL="73152" marR="73152" marT="27432" marB="27432" anchor="ctr">
                    <a:solidFill>
                      <a:srgbClr val="FFFFFF"/>
                    </a:solidFill>
                  </a:tcPr>
                </a:tc>
                <a:tc>
                  <a:txBody>
                    <a:bodyPr/>
                    <a:lstStyle/>
                    <a:p>
                      <a:pPr algn="ctr"/>
                      <a:r>
                        <a:rPr sz="1500" b="0">
                          <a:solidFill>
                            <a:srgbClr val="142B33"/>
                          </a:solidFill>
                          <a:latin typeface="Calibri"/>
                        </a:rPr>
                        <a:t>E = ABCD</a:t>
                      </a:r>
                    </a:p>
                  </a:txBody>
                  <a:tcPr marL="73152" marR="73152" marT="27432" marB="27432" anchor="ctr">
                    <a:solidFill>
                      <a:srgbClr val="FFFFFF"/>
                    </a:solidFill>
                  </a:tcPr>
                </a:tc>
                <a:tc>
                  <a:txBody>
                    <a:bodyPr/>
                    <a:lstStyle/>
                    <a:p>
                      <a:pPr algn="ctr"/>
                      <a:r>
                        <a:rPr sz="1500" b="0">
                          <a:solidFill>
                            <a:srgbClr val="142B33"/>
                          </a:solidFill>
                          <a:latin typeface="Calibri"/>
                        </a:rPr>
                        <a:t>I = ABCDE</a:t>
                      </a:r>
                    </a:p>
                  </a:txBody>
                  <a:tcPr marL="73152" marR="73152" marT="27432" marB="27432" anchor="ctr">
                    <a:solidFill>
                      <a:srgbClr val="FFFFFF"/>
                    </a:solidFill>
                  </a:tcPr>
                </a:tc>
                <a:tc>
                  <a:txBody>
                    <a:bodyPr/>
                    <a:lstStyle/>
                    <a:p>
                      <a:pPr algn="ctr"/>
                      <a:r>
                        <a:rPr sz="1500" b="0">
                          <a:solidFill>
                            <a:srgbClr val="142B33"/>
                          </a:solidFill>
                          <a:latin typeface="Calibri"/>
                        </a:rPr>
                        <a:t>5 letras</a:t>
                      </a:r>
                    </a:p>
                  </a:txBody>
                  <a:tcPr marL="73152" marR="73152" marT="27432" marB="27432" anchor="ctr">
                    <a:solidFill>
                      <a:srgbClr val="FFFFFF"/>
                    </a:solidFill>
                  </a:tcPr>
                </a:tc>
                <a:tc>
                  <a:txBody>
                    <a:bodyPr/>
                    <a:lstStyle/>
                    <a:p>
                      <a:pPr algn="ctr"/>
                      <a:r>
                        <a:rPr sz="1500" b="0">
                          <a:solidFill>
                            <a:srgbClr val="142B33"/>
                          </a:solidFill>
                          <a:latin typeface="Calibri"/>
                        </a:rPr>
                        <a:t>V</a:t>
                      </a:r>
                    </a:p>
                  </a:txBody>
                  <a:tcPr marL="73152" marR="73152" marT="27432" marB="27432" anchor="ctr">
                    <a:solidFill>
                      <a:srgbClr val="FFFFFF"/>
                    </a:solidFill>
                  </a:tcPr>
                </a:tc>
              </a:tr>
              <a:tr h="351282">
                <a:tc>
                  <a:txBody>
                    <a:bodyPr/>
                    <a:lstStyle/>
                    <a:p>
                      <a:pPr algn="ctr"/>
                      <a:r>
                        <a:rPr sz="1500" b="0">
                          <a:solidFill>
                            <a:srgbClr val="142B33"/>
                          </a:solidFill>
                          <a:latin typeface="Calibri"/>
                        </a:rPr>
                        <a:t>2</a:t>
                      </a:r>
                      <a:r>
                        <a:rPr sz="1500" b="0" baseline="30000">
                          <a:solidFill>
                            <a:srgbClr val="142B33"/>
                          </a:solidFill>
                          <a:latin typeface="Calibri"/>
                        </a:rPr>
                        <a:t>6−2</a:t>
                      </a:r>
                    </a:p>
                  </a:txBody>
                  <a:tcPr marL="73152" marR="73152" marT="27432" marB="27432" anchor="ctr">
                    <a:solidFill>
                      <a:srgbClr val="F4F8F9"/>
                    </a:solidFill>
                  </a:tcPr>
                </a:tc>
                <a:tc>
                  <a:txBody>
                    <a:bodyPr/>
                    <a:lstStyle/>
                    <a:p>
                      <a:pPr algn="ctr"/>
                      <a:r>
                        <a:rPr sz="1500" b="0">
                          <a:solidFill>
                            <a:srgbClr val="142B33"/>
                          </a:solidFill>
                          <a:latin typeface="Calibri"/>
                        </a:rPr>
                        <a:t>E = ABC,  F = BCD</a:t>
                      </a:r>
                    </a:p>
                  </a:txBody>
                  <a:tcPr marL="73152" marR="73152" marT="27432" marB="27432" anchor="ctr">
                    <a:solidFill>
                      <a:srgbClr val="F4F8F9"/>
                    </a:solidFill>
                  </a:tcPr>
                </a:tc>
                <a:tc>
                  <a:txBody>
                    <a:bodyPr/>
                    <a:lstStyle/>
                    <a:p>
                      <a:pPr algn="ctr"/>
                      <a:r>
                        <a:rPr sz="1500" b="0">
                          <a:solidFill>
                            <a:srgbClr val="142B33"/>
                          </a:solidFill>
                          <a:latin typeface="Calibri"/>
                        </a:rPr>
                        <a:t>I = ABCE = BCDF = ADEF</a:t>
                      </a:r>
                    </a:p>
                  </a:txBody>
                  <a:tcPr marL="73152" marR="73152" marT="27432" marB="27432" anchor="ctr">
                    <a:solidFill>
                      <a:srgbClr val="F4F8F9"/>
                    </a:solidFill>
                  </a:tcPr>
                </a:tc>
                <a:tc>
                  <a:txBody>
                    <a:bodyPr/>
                    <a:lstStyle/>
                    <a:p>
                      <a:pPr algn="ctr"/>
                      <a:r>
                        <a:rPr sz="1500" b="0">
                          <a:solidFill>
                            <a:srgbClr val="142B33"/>
                          </a:solidFill>
                          <a:latin typeface="Calibri"/>
                        </a:rPr>
                        <a:t>4 letras</a:t>
                      </a:r>
                    </a:p>
                  </a:txBody>
                  <a:tcPr marL="73152" marR="73152" marT="27432" marB="27432" anchor="ctr">
                    <a:solidFill>
                      <a:srgbClr val="F4F8F9"/>
                    </a:solidFill>
                  </a:tcPr>
                </a:tc>
                <a:tc>
                  <a:txBody>
                    <a:bodyPr/>
                    <a:lstStyle/>
                    <a:p>
                      <a:pPr algn="ctr"/>
                      <a:r>
                        <a:rPr sz="1500" b="0">
                          <a:solidFill>
                            <a:srgbClr val="142B33"/>
                          </a:solidFill>
                          <a:latin typeface="Calibri"/>
                        </a:rPr>
                        <a:t>IV</a:t>
                      </a:r>
                    </a:p>
                  </a:txBody>
                  <a:tcPr marL="73152" marR="73152" marT="27432" marB="27432" anchor="ctr">
                    <a:solidFill>
                      <a:srgbClr val="F4F8F9"/>
                    </a:solidFill>
                  </a:tcPr>
                </a:tc>
              </a:tr>
              <a:tr h="351282">
                <a:tc>
                  <a:txBody>
                    <a:bodyPr/>
                    <a:lstStyle/>
                    <a:p>
                      <a:pPr algn="ctr"/>
                      <a:r>
                        <a:rPr sz="1500" b="0">
                          <a:solidFill>
                            <a:srgbClr val="142B33"/>
                          </a:solidFill>
                          <a:latin typeface="Calibri"/>
                        </a:rPr>
                        <a:t>2</a:t>
                      </a:r>
                      <a:r>
                        <a:rPr sz="1500" b="0" baseline="30000">
                          <a:solidFill>
                            <a:srgbClr val="142B33"/>
                          </a:solidFill>
                          <a:latin typeface="Calibri"/>
                        </a:rPr>
                        <a:t>6−2</a:t>
                      </a:r>
                    </a:p>
                  </a:txBody>
                  <a:tcPr marL="73152" marR="73152" marT="27432" marB="27432" anchor="ctr">
                    <a:solidFill>
                      <a:srgbClr val="FDE8D7"/>
                    </a:solidFill>
                  </a:tcPr>
                </a:tc>
                <a:tc>
                  <a:txBody>
                    <a:bodyPr/>
                    <a:lstStyle/>
                    <a:p>
                      <a:pPr algn="ctr"/>
                      <a:r>
                        <a:rPr sz="1500" b="0">
                          <a:solidFill>
                            <a:srgbClr val="142B33"/>
                          </a:solidFill>
                          <a:latin typeface="Calibri"/>
                        </a:rPr>
                        <a:t>E = ABC,  F = ABCD</a:t>
                      </a:r>
                    </a:p>
                  </a:txBody>
                  <a:tcPr marL="73152" marR="73152" marT="27432" marB="27432" anchor="ctr">
                    <a:solidFill>
                      <a:srgbClr val="FDE8D7"/>
                    </a:solidFill>
                  </a:tcPr>
                </a:tc>
                <a:tc>
                  <a:txBody>
                    <a:bodyPr/>
                    <a:lstStyle/>
                    <a:p>
                      <a:pPr algn="ctr"/>
                      <a:r>
                        <a:rPr sz="1500" b="0">
                          <a:solidFill>
                            <a:srgbClr val="142B33"/>
                          </a:solidFill>
                          <a:latin typeface="Calibri"/>
                        </a:rPr>
                        <a:t>I = ABCE = ABCDF = DEF</a:t>
                      </a:r>
                    </a:p>
                  </a:txBody>
                  <a:tcPr marL="73152" marR="73152" marT="27432" marB="27432" anchor="ctr">
                    <a:solidFill>
                      <a:srgbClr val="FDE8D7"/>
                    </a:solidFill>
                  </a:tcPr>
                </a:tc>
                <a:tc>
                  <a:txBody>
                    <a:bodyPr/>
                    <a:lstStyle/>
                    <a:p>
                      <a:pPr algn="ctr"/>
                      <a:r>
                        <a:rPr sz="1500" b="0">
                          <a:solidFill>
                            <a:srgbClr val="142B33"/>
                          </a:solidFill>
                          <a:latin typeface="Calibri"/>
                        </a:rPr>
                        <a:t>3 letras</a:t>
                      </a:r>
                    </a:p>
                  </a:txBody>
                  <a:tcPr marL="73152" marR="73152" marT="27432" marB="27432" anchor="ctr">
                    <a:solidFill>
                      <a:srgbClr val="FDE8D7"/>
                    </a:solidFill>
                  </a:tcPr>
                </a:tc>
                <a:tc>
                  <a:txBody>
                    <a:bodyPr/>
                    <a:lstStyle/>
                    <a:p>
                      <a:pPr algn="ctr"/>
                      <a:r>
                        <a:rPr sz="1500" b="0">
                          <a:solidFill>
                            <a:srgbClr val="142B33"/>
                          </a:solidFill>
                          <a:latin typeface="Calibri"/>
                        </a:rPr>
                        <a:t>III</a:t>
                      </a:r>
                    </a:p>
                  </a:txBody>
                  <a:tcPr marL="73152" marR="73152" marT="27432" marB="27432" anchor="ctr">
                    <a:solidFill>
                      <a:srgbClr val="FDE8D7"/>
                    </a:solidFill>
                  </a:tcPr>
                </a:tc>
              </a:tr>
            </a:tbl>
          </a:graphicData>
        </a:graphic>
      </p:graphicFrame>
      <p:sp>
        <p:nvSpPr>
          <p:cNvPr id="5" name="Rounded Rectangle 4"/>
          <p:cNvSpPr/>
          <p:nvPr/>
        </p:nvSpPr>
        <p:spPr>
          <a:xfrm>
            <a:off x="548640" y="4531380"/>
            <a:ext cx="11094415" cy="50673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Mismo número de corridas, distinta resolución: la elección de los generadores </a:t>
            </a:r>
            <a:r>
              <a:rPr sz="1500" b="1">
                <a:solidFill>
                  <a:srgbClr val="142B33"/>
                </a:solidFill>
                <a:latin typeface="Calibri"/>
              </a:rPr>
              <a:t>importa</a:t>
            </a:r>
          </a:p>
        </p:txBody>
      </p:sp>
      <p:sp>
        <p:nvSpPr>
          <p:cNvPr id="6" name="TextBox 5"/>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Resolución</a:t>
            </a:r>
          </a:p>
        </p:txBody>
      </p:sp>
      <p:sp>
        <p:nvSpPr>
          <p:cNvPr id="7" name="TextBox 6"/>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20</a:t>
            </a:r>
          </a:p>
        </p:txBody>
      </p:sp>
      <p:sp>
        <p:nvSpPr>
          <p:cNvPr id="8" name="Rounded Rectangle 7"/>
          <p:cNvSpPr/>
          <p:nvPr/>
        </p:nvSpPr>
        <p:spPr>
          <a:xfrm>
            <a:off x="548640" y="91440"/>
            <a:ext cx="188823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3 · Resolución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F4C5C"/>
        </a:solidFill>
        <a:effectLst/>
      </p:bgPr>
    </p:bg>
    <p:spTree>
      <p:nvGrpSpPr>
        <p:cNvPr id="1" name=""/>
        <p:cNvGrpSpPr/>
        <p:nvPr/>
      </p:nvGrpSpPr>
      <p:grpSpPr/>
      <p:sp>
        <p:nvSpPr>
          <p:cNvPr id="2" name="Title 1"/>
          <p:cNvSpPr>
            <a:spLocks noGrp="1"/>
          </p:cNvSpPr>
          <p:nvPr>
            <p:ph type="title"/>
          </p:nvPr>
        </p:nvSpPr>
        <p:spPr>
          <a:xfrm>
            <a:off x="548640" y="3383280"/>
            <a:ext cx="11094415" cy="914400"/>
          </a:xfrm>
        </p:spPr>
        <p:txBody>
          <a:bodyPr wrap="square" anchor="t" lIns="0" rIns="0" tIns="0" bIns="0"/>
          <a:lstStyle/>
          <a:p>
            <a:pPr algn="l"/>
            <a:r>
              <a:rPr sz="4400" b="1">
                <a:solidFill>
                  <a:srgbClr val="FFFFFF"/>
                </a:solidFill>
                <a:latin typeface="Cambria"/>
              </a:rPr>
              <a:t>La fracción un medio 2</a:t>
            </a:r>
            <a:r>
              <a:rPr sz="4400" b="1" baseline="30000">
                <a:solidFill>
                  <a:srgbClr val="FFFFFF"/>
                </a:solidFill>
                <a:latin typeface="Cambria"/>
              </a:rPr>
              <a:t>k−1</a:t>
            </a:r>
          </a:p>
        </p:txBody>
      </p:sp>
      <p:sp>
        <p:nvSpPr>
          <p:cNvPr id="3" name="Oval 2"/>
          <p:cNvSpPr/>
          <p:nvPr/>
        </p:nvSpPr>
        <p:spPr>
          <a:xfrm>
            <a:off x="548640" y="2011680"/>
            <a:ext cx="1188720" cy="1188720"/>
          </a:xfrm>
          <a:prstGeom prst="ellipse">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FFFFFF"/>
                </a:solidFill>
                <a:latin typeface="Cambria"/>
              </a:rPr>
              <a:t>4</a:t>
            </a:r>
          </a:p>
        </p:txBody>
      </p:sp>
      <p:sp>
        <p:nvSpPr>
          <p:cNvPr id="4" name="TextBox 3"/>
          <p:cNvSpPr txBox="1"/>
          <p:nvPr/>
        </p:nvSpPr>
        <p:spPr>
          <a:xfrm>
            <a:off x="548640" y="4343400"/>
            <a:ext cx="11094415" cy="548640"/>
          </a:xfrm>
          <a:prstGeom prst="rect">
            <a:avLst/>
          </a:prstGeom>
          <a:noFill/>
        </p:spPr>
        <p:txBody>
          <a:bodyPr wrap="square" anchor="t" lIns="0" rIns="0" tIns="0" bIns="0">
            <a:spAutoFit/>
          </a:bodyPr>
          <a:lstStyle/>
          <a:p>
            <a:r>
              <a:rPr sz="2000" b="0">
                <a:solidFill>
                  <a:srgbClr val="CFE3E8"/>
                </a:solidFill>
                <a:latin typeface="Calibri"/>
              </a:rPr>
              <a:t>Construcción en dos pasos, proyección y dos ejemplos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¿Cómo construyo una fracción un medio? Dos pasos</a:t>
            </a:r>
          </a:p>
        </p:txBody>
      </p:sp>
      <p:sp>
        <p:nvSpPr>
          <p:cNvPr id="3" name="TextBox 2"/>
          <p:cNvSpPr txBox="1"/>
          <p:nvPr/>
        </p:nvSpPr>
        <p:spPr>
          <a:xfrm>
            <a:off x="548640" y="1417320"/>
            <a:ext cx="5341467" cy="1218183"/>
          </a:xfrm>
          <a:prstGeom prst="rect">
            <a:avLst/>
          </a:prstGeom>
          <a:noFill/>
        </p:spPr>
        <p:txBody>
          <a:bodyPr wrap="square" anchor="t" lIns="0" rIns="0" tIns="0" bIns="0">
            <a:spAutoFit/>
          </a:bodyPr>
          <a:lstStyle/>
          <a:p>
            <a:pPr marL="320040" indent="-320040">
              <a:spcAft>
                <a:spcPts val="600"/>
              </a:spcAft>
              <a:buClr>
                <a:srgbClr val="E36414"/>
              </a:buClr>
              <a:buFont typeface="+mj-lt"/>
              <a:buAutoNum type="arabicPeriod"/>
            </a:pPr>
            <a:r>
              <a:rPr sz="1700" b="0">
                <a:solidFill>
                  <a:srgbClr val="142B33"/>
                </a:solidFill>
                <a:latin typeface="Calibri"/>
              </a:rPr>
              <a:t>​</a:t>
            </a:r>
            <a:r>
              <a:rPr sz="1700" b="1">
                <a:solidFill>
                  <a:srgbClr val="142B33"/>
                </a:solidFill>
                <a:latin typeface="Calibri"/>
              </a:rPr>
              <a:t>Paso 1</a:t>
            </a:r>
            <a:r>
              <a:rPr sz="1700" b="0">
                <a:solidFill>
                  <a:srgbClr val="142B33"/>
                </a:solidFill>
                <a:latin typeface="Calibri"/>
              </a:rPr>
              <a:t>: escribir el factorial completo en los primeros </a:t>
            </a:r>
            <a:r>
              <a:rPr sz="1700" b="1">
                <a:solidFill>
                  <a:srgbClr val="142B33"/>
                </a:solidFill>
                <a:latin typeface="Calibri"/>
              </a:rPr>
              <a:t>k − 1</a:t>
            </a:r>
            <a:r>
              <a:rPr sz="1700" b="0">
                <a:solidFill>
                  <a:srgbClr val="142B33"/>
                </a:solidFill>
                <a:latin typeface="Calibri"/>
              </a:rPr>
              <a:t> factores (Montgomery: </a:t>
            </a:r>
            <a:r>
              <a:rPr sz="1700" b="1">
                <a:solidFill>
                  <a:srgbClr val="142B33"/>
                </a:solidFill>
                <a:latin typeface="Calibri"/>
              </a:rPr>
              <a:t>diseño básico</a:t>
            </a:r>
            <a:r>
              <a:rPr sz="1700" b="0">
                <a:solidFill>
                  <a:srgbClr val="142B33"/>
                </a:solidFill>
                <a:latin typeface="Calibri"/>
              </a:rPr>
              <a:t>)</a:t>
            </a:r>
          </a:p>
          <a:p>
            <a:pPr marL="320040" indent="-320040">
              <a:spcAft>
                <a:spcPts val="600"/>
              </a:spcAft>
              <a:buClr>
                <a:srgbClr val="E36414"/>
              </a:buClr>
              <a:buFont typeface="+mj-lt"/>
              <a:buAutoNum type="arabicPeriod"/>
            </a:pPr>
            <a:r>
              <a:rPr sz="1700" b="0">
                <a:solidFill>
                  <a:srgbClr val="142B33"/>
                </a:solidFill>
                <a:latin typeface="Calibri"/>
              </a:rPr>
              <a:t>​</a:t>
            </a:r>
            <a:r>
              <a:rPr sz="1700" b="1">
                <a:solidFill>
                  <a:srgbClr val="142B33"/>
                </a:solidFill>
                <a:latin typeface="Calibri"/>
              </a:rPr>
              <a:t>Paso 2</a:t>
            </a:r>
            <a:r>
              <a:rPr sz="1700" b="0">
                <a:solidFill>
                  <a:srgbClr val="142B33"/>
                </a:solidFill>
                <a:latin typeface="Calibri"/>
              </a:rPr>
              <a:t>: la columna del factor k = </a:t>
            </a:r>
            <a:r>
              <a:rPr sz="1700" b="1">
                <a:solidFill>
                  <a:srgbClr val="142B33"/>
                </a:solidFill>
                <a:latin typeface="Calibri"/>
              </a:rPr>
              <a:t>producto</a:t>
            </a:r>
            <a:r>
              <a:rPr sz="1700" b="0">
                <a:solidFill>
                  <a:srgbClr val="142B33"/>
                </a:solidFill>
                <a:latin typeface="Calibri"/>
              </a:rPr>
              <a:t> de las anteriores; para la complementaria, con signo </a:t>
            </a:r>
            <a:r>
              <a:rPr sz="1700" b="1">
                <a:solidFill>
                  <a:srgbClr val="142B33"/>
                </a:solidFill>
                <a:latin typeface="Calibri"/>
              </a:rPr>
              <a:t>−</a:t>
            </a:r>
          </a:p>
        </p:txBody>
      </p:sp>
      <p:sp>
        <p:nvSpPr>
          <p:cNvPr id="4" name="Rounded Rectangle 3"/>
          <p:cNvSpPr/>
          <p:nvPr/>
        </p:nvSpPr>
        <p:spPr>
          <a:xfrm>
            <a:off x="548640" y="2836672"/>
            <a:ext cx="5341467" cy="621385"/>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2000" b="0">
                <a:solidFill>
                  <a:srgbClr val="0F4C5C"/>
                </a:solidFill>
                <a:latin typeface="Cambria Math"/>
              </a:rPr>
              <a:t>D = −ABC   ⇔   I = −ABCD</a:t>
            </a:r>
          </a:p>
        </p:txBody>
      </p:sp>
      <p:sp>
        <p:nvSpPr>
          <p:cNvPr id="5" name="Rounded Rectangle 4"/>
          <p:cNvSpPr/>
          <p:nvPr/>
        </p:nvSpPr>
        <p:spPr>
          <a:xfrm>
            <a:off x="548640" y="3659225"/>
            <a:ext cx="5341467"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La fracción un medio construida así tiene </a:t>
            </a:r>
            <a:r>
              <a:rPr sz="1500" b="1">
                <a:solidFill>
                  <a:srgbClr val="142B33"/>
                </a:solidFill>
                <a:latin typeface="Calibri"/>
              </a:rPr>
              <a:t>resolución R = k</a:t>
            </a:r>
          </a:p>
        </p:txBody>
      </p:sp>
      <p:graphicFrame>
        <p:nvGraphicFramePr>
          <p:cNvPr id="6" name="Table 5"/>
          <p:cNvGraphicFramePr>
            <a:graphicFrameLocks noGrp="1"/>
          </p:cNvGraphicFramePr>
          <p:nvPr/>
        </p:nvGraphicFramePr>
        <p:xfrm>
          <a:off x="6301587" y="1417320"/>
          <a:ext cx="5341464" cy="3161538"/>
        </p:xfrm>
        <a:graphic>
          <a:graphicData uri="http://schemas.openxmlformats.org/drawingml/2006/table">
            <a:tbl>
              <a:tblPr firstRow="0" bandRow="0">
                <a:tableStyleId>{5C22544A-7EE6-4342-B048-85BDC9FD1C3A}</a:tableStyleId>
              </a:tblPr>
              <a:tblGrid>
                <a:gridCol w="1379978"/>
                <a:gridCol w="452061"/>
                <a:gridCol w="452061"/>
                <a:gridCol w="452061"/>
                <a:gridCol w="1534631"/>
                <a:gridCol w="1070672"/>
              </a:tblGrid>
              <a:tr h="351282">
                <a:tc>
                  <a:txBody>
                    <a:bodyPr/>
                    <a:lstStyle/>
                    <a:p>
                      <a:pPr algn="ctr"/>
                      <a:r>
                        <a:rPr sz="1500" b="1">
                          <a:solidFill>
                            <a:srgbClr val="FFFFFF"/>
                          </a:solidFill>
                          <a:latin typeface="Calibri"/>
                        </a:rPr>
                        <a:t>Corrida</a:t>
                      </a:r>
                    </a:p>
                  </a:txBody>
                  <a:tcPr marL="73152" marR="73152" marT="27432" marB="27432" anchor="ctr">
                    <a:solidFill>
                      <a:srgbClr val="0F4C5C"/>
                    </a:solidFill>
                  </a:tcPr>
                </a:tc>
                <a:tc>
                  <a:txBody>
                    <a:bodyPr/>
                    <a:lstStyle/>
                    <a:p>
                      <a:pPr algn="ctr"/>
                      <a:r>
                        <a:rPr sz="1500" b="1">
                          <a:solidFill>
                            <a:srgbClr val="FFFFFF"/>
                          </a:solidFill>
                          <a:latin typeface="Calibri"/>
                        </a:rPr>
                        <a:t>A</a:t>
                      </a:r>
                    </a:p>
                  </a:txBody>
                  <a:tcPr marL="73152" marR="73152" marT="27432" marB="27432" anchor="ctr">
                    <a:solidFill>
                      <a:srgbClr val="0F4C5C"/>
                    </a:solidFill>
                  </a:tcPr>
                </a:tc>
                <a:tc>
                  <a:txBody>
                    <a:bodyPr/>
                    <a:lstStyle/>
                    <a:p>
                      <a:pPr algn="ctr"/>
                      <a:r>
                        <a:rPr sz="1500" b="1">
                          <a:solidFill>
                            <a:srgbClr val="FFFFFF"/>
                          </a:solidFill>
                          <a:latin typeface="Calibri"/>
                        </a:rPr>
                        <a:t>B</a:t>
                      </a:r>
                    </a:p>
                  </a:txBody>
                  <a:tcPr marL="73152" marR="73152" marT="27432" marB="27432" anchor="ctr">
                    <a:solidFill>
                      <a:srgbClr val="0F4C5C"/>
                    </a:solidFill>
                  </a:tcPr>
                </a:tc>
                <a:tc>
                  <a:txBody>
                    <a:bodyPr/>
                    <a:lstStyle/>
                    <a:p>
                      <a:pPr algn="ctr"/>
                      <a:r>
                        <a:rPr sz="1500" b="1">
                          <a:solidFill>
                            <a:srgbClr val="FFFFFF"/>
                          </a:solidFill>
                          <a:latin typeface="Calibri"/>
                        </a:rPr>
                        <a:t>C</a:t>
                      </a:r>
                    </a:p>
                  </a:txBody>
                  <a:tcPr marL="73152" marR="73152" marT="27432" marB="27432" anchor="ctr">
                    <a:solidFill>
                      <a:srgbClr val="0F4C5C"/>
                    </a:solidFill>
                  </a:tcPr>
                </a:tc>
                <a:tc>
                  <a:txBody>
                    <a:bodyPr/>
                    <a:lstStyle/>
                    <a:p>
                      <a:pPr algn="ctr"/>
                      <a:r>
                        <a:rPr sz="1500" b="1">
                          <a:solidFill>
                            <a:srgbClr val="FFFFFF"/>
                          </a:solidFill>
                          <a:latin typeface="Calibri"/>
                        </a:rPr>
                        <a:t>D = −ABC</a:t>
                      </a:r>
                    </a:p>
                  </a:txBody>
                  <a:tcPr marL="73152" marR="73152" marT="27432" marB="27432" anchor="ctr">
                    <a:solidFill>
                      <a:srgbClr val="0F4C5C"/>
                    </a:solidFill>
                  </a:tcPr>
                </a:tc>
                <a:tc>
                  <a:txBody>
                    <a:bodyPr/>
                    <a:lstStyle/>
                    <a:p>
                      <a:pPr algn="ctr"/>
                      <a:r>
                        <a:rPr sz="1500" b="1">
                          <a:solidFill>
                            <a:srgbClr val="FFFFFF"/>
                          </a:solidFill>
                          <a:latin typeface="Calibri"/>
                        </a:rPr>
                        <a:t>Trat.</a:t>
                      </a:r>
                    </a:p>
                  </a:txBody>
                  <a:tcPr marL="73152" marR="73152" marT="27432" marB="27432" anchor="ctr">
                    <a:solidFill>
                      <a:srgbClr val="0F4C5C"/>
                    </a:solidFill>
                  </a:tcPr>
                </a:tc>
              </a:tr>
              <a:tr h="351282">
                <a:tc>
                  <a:txBody>
                    <a:bodyPr/>
                    <a:lstStyle/>
                    <a:p>
                      <a:pPr algn="ctr"/>
                      <a:r>
                        <a:rPr sz="1500" b="0">
                          <a:solidFill>
                            <a:srgbClr val="142B33"/>
                          </a:solidFill>
                          <a:latin typeface="Calibri"/>
                        </a:rPr>
                        <a:t>1</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d</a:t>
                      </a:r>
                    </a:p>
                  </a:txBody>
                  <a:tcPr marL="73152" marR="73152" marT="27432" marB="27432" anchor="ctr">
                    <a:solidFill>
                      <a:srgbClr val="FFFFFF"/>
                    </a:solidFill>
                  </a:tcPr>
                </a:tc>
              </a:tr>
              <a:tr h="351282">
                <a:tc>
                  <a:txBody>
                    <a:bodyPr/>
                    <a:lstStyle/>
                    <a:p>
                      <a:pPr algn="ctr"/>
                      <a:r>
                        <a:rPr sz="1500" b="0">
                          <a:solidFill>
                            <a:srgbClr val="142B33"/>
                          </a:solidFill>
                          <a:latin typeface="Calibri"/>
                        </a:rPr>
                        <a:t>2</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a</a:t>
                      </a:r>
                    </a:p>
                  </a:txBody>
                  <a:tcPr marL="73152" marR="73152" marT="27432" marB="27432" anchor="ctr">
                    <a:solidFill>
                      <a:srgbClr val="F4F8F9"/>
                    </a:solidFill>
                  </a:tcPr>
                </a:tc>
              </a:tr>
              <a:tr h="351282">
                <a:tc>
                  <a:txBody>
                    <a:bodyPr/>
                    <a:lstStyle/>
                    <a:p>
                      <a:pPr algn="ctr"/>
                      <a:r>
                        <a:rPr sz="1500" b="0">
                          <a:solidFill>
                            <a:srgbClr val="142B33"/>
                          </a:solidFill>
                          <a:latin typeface="Calibri"/>
                        </a:rPr>
                        <a:t>3</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b</a:t>
                      </a:r>
                    </a:p>
                  </a:txBody>
                  <a:tcPr marL="73152" marR="73152" marT="27432" marB="27432" anchor="ctr">
                    <a:solidFill>
                      <a:srgbClr val="FFFFFF"/>
                    </a:solidFill>
                  </a:tcPr>
                </a:tc>
              </a:tr>
              <a:tr h="351282">
                <a:tc>
                  <a:txBody>
                    <a:bodyPr/>
                    <a:lstStyle/>
                    <a:p>
                      <a:pPr algn="ctr"/>
                      <a:r>
                        <a:rPr sz="1500" b="0">
                          <a:solidFill>
                            <a:srgbClr val="142B33"/>
                          </a:solidFill>
                          <a:latin typeface="Calibri"/>
                        </a:rPr>
                        <a:t>4</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abd</a:t>
                      </a:r>
                    </a:p>
                  </a:txBody>
                  <a:tcPr marL="73152" marR="73152" marT="27432" marB="27432" anchor="ctr">
                    <a:solidFill>
                      <a:srgbClr val="F4F8F9"/>
                    </a:solidFill>
                  </a:tcPr>
                </a:tc>
              </a:tr>
              <a:tr h="351282">
                <a:tc>
                  <a:txBody>
                    <a:bodyPr/>
                    <a:lstStyle/>
                    <a:p>
                      <a:pPr algn="ctr"/>
                      <a:r>
                        <a:rPr sz="1500" b="0">
                          <a:solidFill>
                            <a:srgbClr val="142B33"/>
                          </a:solidFill>
                          <a:latin typeface="Calibri"/>
                        </a:rPr>
                        <a:t>5</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c</a:t>
                      </a:r>
                    </a:p>
                  </a:txBody>
                  <a:tcPr marL="73152" marR="73152" marT="27432" marB="27432" anchor="ctr">
                    <a:solidFill>
                      <a:srgbClr val="FFFFFF"/>
                    </a:solidFill>
                  </a:tcPr>
                </a:tc>
              </a:tr>
              <a:tr h="351282">
                <a:tc>
                  <a:txBody>
                    <a:bodyPr/>
                    <a:lstStyle/>
                    <a:p>
                      <a:pPr algn="ctr"/>
                      <a:r>
                        <a:rPr sz="1500" b="0">
                          <a:solidFill>
                            <a:srgbClr val="142B33"/>
                          </a:solidFill>
                          <a:latin typeface="Calibri"/>
                        </a:rPr>
                        <a:t>6</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acd</a:t>
                      </a:r>
                    </a:p>
                  </a:txBody>
                  <a:tcPr marL="73152" marR="73152" marT="27432" marB="27432" anchor="ctr">
                    <a:solidFill>
                      <a:srgbClr val="F4F8F9"/>
                    </a:solidFill>
                  </a:tcPr>
                </a:tc>
              </a:tr>
              <a:tr h="351282">
                <a:tc>
                  <a:txBody>
                    <a:bodyPr/>
                    <a:lstStyle/>
                    <a:p>
                      <a:pPr algn="ctr"/>
                      <a:r>
                        <a:rPr sz="1500" b="0">
                          <a:solidFill>
                            <a:srgbClr val="142B33"/>
                          </a:solidFill>
                          <a:latin typeface="Calibri"/>
                        </a:rPr>
                        <a:t>7</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bcd</a:t>
                      </a:r>
                    </a:p>
                  </a:txBody>
                  <a:tcPr marL="73152" marR="73152" marT="27432" marB="27432" anchor="ctr">
                    <a:solidFill>
                      <a:srgbClr val="FFFFFF"/>
                    </a:solidFill>
                  </a:tcPr>
                </a:tc>
              </a:tr>
              <a:tr h="351282">
                <a:tc>
                  <a:txBody>
                    <a:bodyPr/>
                    <a:lstStyle/>
                    <a:p>
                      <a:pPr algn="ctr"/>
                      <a:r>
                        <a:rPr sz="1500" b="0">
                          <a:solidFill>
                            <a:srgbClr val="142B33"/>
                          </a:solidFill>
                          <a:latin typeface="Calibri"/>
                        </a:rPr>
                        <a:t>8</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abc</a:t>
                      </a:r>
                    </a:p>
                  </a:txBody>
                  <a:tcPr marL="73152" marR="73152" marT="27432" marB="27432" anchor="ctr">
                    <a:solidFill>
                      <a:srgbClr val="F4F8F9"/>
                    </a:solidFill>
                  </a:tcPr>
                </a:tc>
              </a:tr>
            </a:tbl>
          </a:graphicData>
        </a:graphic>
      </p:graphicFrame>
      <p:sp>
        <p:nvSpPr>
          <p:cNvPr id="7" name="Rounded Rectangle 6"/>
          <p:cNvSpPr/>
          <p:nvPr/>
        </p:nvSpPr>
        <p:spPr>
          <a:xfrm>
            <a:off x="6301587" y="4780026"/>
            <a:ext cx="5341467" cy="708151"/>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400" b="0">
                <a:solidFill>
                  <a:srgbClr val="142B33"/>
                </a:solidFill>
                <a:latin typeface="Calibri"/>
              </a:rPr>
              <a:t>No aparecen </a:t>
            </a:r>
            <a:r>
              <a:rPr sz="1400" b="1">
                <a:solidFill>
                  <a:srgbClr val="142B33"/>
                </a:solidFill>
                <a:latin typeface="Calibri"/>
              </a:rPr>
              <a:t>(1)</a:t>
            </a:r>
            <a:r>
              <a:rPr sz="1400" b="0">
                <a:solidFill>
                  <a:srgbClr val="142B33"/>
                </a:solidFill>
                <a:latin typeface="Calibri"/>
              </a:rPr>
              <a:t> ni </a:t>
            </a:r>
            <a:r>
              <a:rPr sz="1400" b="1">
                <a:solidFill>
                  <a:srgbClr val="142B33"/>
                </a:solidFill>
                <a:latin typeface="Calibri"/>
              </a:rPr>
              <a:t>abcd</a:t>
            </a:r>
            <a:r>
              <a:rPr sz="1400" b="0">
                <a:solidFill>
                  <a:srgbClr val="142B33"/>
                </a:solidFill>
                <a:latin typeface="Calibri"/>
              </a:rPr>
              <a:t>: la complementaria evita las combinaciones extremas</a:t>
            </a:r>
          </a:p>
        </p:txBody>
      </p:sp>
      <p:sp>
        <p:nvSpPr>
          <p:cNvPr id="8" name="TextBox 7"/>
          <p:cNvSpPr txBox="1"/>
          <p:nvPr/>
        </p:nvSpPr>
        <p:spPr>
          <a:xfrm>
            <a:off x="6301587" y="5689346"/>
            <a:ext cx="5341467" cy="222504"/>
          </a:xfrm>
          <a:prstGeom prst="rect">
            <a:avLst/>
          </a:prstGeom>
          <a:noFill/>
        </p:spPr>
        <p:txBody>
          <a:bodyPr wrap="square" anchor="t" lIns="0" rIns="0" tIns="0" bIns="0">
            <a:spAutoFit/>
          </a:bodyPr>
          <a:lstStyle/>
          <a:p>
            <a:r>
              <a:rPr sz="1200" b="0">
                <a:solidFill>
                  <a:srgbClr val="5B6B73"/>
                </a:solidFill>
                <a:latin typeface="Calibri"/>
              </a:rPr>
              <a:t>Gutiérrez, ejemplo 8.1</a:t>
            </a:r>
          </a:p>
        </p:txBody>
      </p:sp>
      <p:sp>
        <p:nvSpPr>
          <p:cNvPr id="9" name="TextBox 8"/>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La fracción un medio 2</a:t>
            </a:r>
            <a:r>
              <a:rPr sz="1000" b="0" baseline="30000">
                <a:solidFill>
                  <a:srgbClr val="5B6B73"/>
                </a:solidFill>
                <a:latin typeface="Calibri"/>
              </a:rPr>
              <a:t>k−1</a:t>
            </a:r>
          </a:p>
        </p:txBody>
      </p:sp>
      <p:sp>
        <p:nvSpPr>
          <p:cNvPr id="10" name="TextBox 9"/>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22</a:t>
            </a:r>
          </a:p>
        </p:txBody>
      </p:sp>
      <p:sp>
        <p:nvSpPr>
          <p:cNvPr id="11" name="Rounded Rectangle 10"/>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4 · La fracción un medio 2</a:t>
            </a:r>
            <a:r>
              <a:rPr sz="1100" b="1" baseline="30000">
                <a:solidFill>
                  <a:srgbClr val="FFFFFF"/>
                </a:solidFill>
                <a:latin typeface="Calibri"/>
              </a:rPr>
              <a:t>k−1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¿En qué se proyecta (colapsa) una fracción un medio?</a:t>
            </a:r>
          </a:p>
        </p:txBody>
      </p:sp>
      <p:sp>
        <p:nvSpPr>
          <p:cNvPr id="3" name="Rounded Rectangle 2"/>
          <p:cNvSpPr/>
          <p:nvPr/>
        </p:nvSpPr>
        <p:spPr>
          <a:xfrm>
            <a:off x="548640" y="1417320"/>
            <a:ext cx="4914150" cy="586679"/>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800" b="0">
                <a:solidFill>
                  <a:srgbClr val="0F4C5C"/>
                </a:solidFill>
                <a:latin typeface="Cambria Math"/>
              </a:rPr>
              <a:t>Resolución R ⇒ factorial completo en cualquier subconjunto de </a:t>
            </a:r>
            <a:r>
              <a:rPr sz="1800" b="1">
                <a:solidFill>
                  <a:srgbClr val="0F4C5C"/>
                </a:solidFill>
                <a:latin typeface="Cambria Math"/>
              </a:rPr>
              <a:t>R − 1</a:t>
            </a:r>
            <a:r>
              <a:rPr sz="1800" b="0">
                <a:solidFill>
                  <a:srgbClr val="0F4C5C"/>
                </a:solidFill>
                <a:latin typeface="Cambria Math"/>
              </a:rPr>
              <a:t> factores</a:t>
            </a:r>
          </a:p>
        </p:txBody>
      </p:sp>
      <p:sp>
        <p:nvSpPr>
          <p:cNvPr id="4" name="TextBox 3"/>
          <p:cNvSpPr txBox="1"/>
          <p:nvPr/>
        </p:nvSpPr>
        <p:spPr>
          <a:xfrm>
            <a:off x="548640" y="2205167"/>
            <a:ext cx="4914150" cy="1486407"/>
          </a:xfrm>
          <a:prstGeom prst="rect">
            <a:avLst/>
          </a:prstGeom>
          <a:noFill/>
        </p:spPr>
        <p:txBody>
          <a:bodyPr wrap="square" anchor="t" lIns="0" rIns="0" tIns="0" bIns="0">
            <a:spAutoFit/>
          </a:bodyPr>
          <a:lstStyle/>
          <a:p>
            <a:pPr marL="320040" indent="-320040">
              <a:spcAft>
                <a:spcPts val="600"/>
              </a:spcAft>
              <a:buClr>
                <a:srgbClr val="E36414"/>
              </a:buClr>
              <a:buFont typeface="Arial"/>
              <a:buChar char="•"/>
            </a:pPr>
            <a:r>
              <a:rPr sz="1600" b="0">
                <a:solidFill>
                  <a:srgbClr val="142B33"/>
                </a:solidFill>
                <a:latin typeface="Calibri"/>
              </a:rPr>
              <a:t>Fracción un medio de máxima resolución: </a:t>
            </a:r>
            <a:r>
              <a:rPr sz="1600" b="1">
                <a:solidFill>
                  <a:srgbClr val="142B33"/>
                </a:solidFill>
                <a:latin typeface="Calibri"/>
              </a:rPr>
              <a:t>R = k</a:t>
            </a:r>
          </a:p>
          <a:p>
            <a:pPr marL="320040" indent="-320040">
              <a:spcAft>
                <a:spcPts val="600"/>
              </a:spcAft>
              <a:buClr>
                <a:srgbClr val="E36414"/>
              </a:buClr>
              <a:buFont typeface="Arial"/>
              <a:buChar char="•"/>
            </a:pPr>
            <a:r>
              <a:rPr sz="1600" b="0">
                <a:solidFill>
                  <a:srgbClr val="142B33"/>
                </a:solidFill>
                <a:latin typeface="Calibri"/>
              </a:rPr>
              <a:t>Si a lo sumo R − 1 factores importan, un diseño de resolución R es </a:t>
            </a:r>
            <a:r>
              <a:rPr sz="1600" b="1">
                <a:solidFill>
                  <a:srgbClr val="142B33"/>
                </a:solidFill>
                <a:latin typeface="Calibri"/>
              </a:rPr>
              <a:t>adecuado</a:t>
            </a:r>
          </a:p>
          <a:p>
            <a:pPr marL="320040" indent="-320040">
              <a:spcAft>
                <a:spcPts val="600"/>
              </a:spcAft>
              <a:buClr>
                <a:srgbClr val="E36414"/>
              </a:buClr>
              <a:buFont typeface="Arial"/>
              <a:buChar char="•"/>
            </a:pPr>
            <a:r>
              <a:rPr sz="1600" b="0">
                <a:solidFill>
                  <a:srgbClr val="142B33"/>
                </a:solidFill>
                <a:latin typeface="Calibri"/>
              </a:rPr>
              <a:t>Los factores descartados se convierten en </a:t>
            </a:r>
            <a:r>
              <a:rPr sz="1600" b="1">
                <a:solidFill>
                  <a:srgbClr val="142B33"/>
                </a:solidFill>
                <a:latin typeface="Calibri"/>
              </a:rPr>
              <a:t>réplicas</a:t>
            </a:r>
          </a:p>
        </p:txBody>
      </p:sp>
      <p:graphicFrame>
        <p:nvGraphicFramePr>
          <p:cNvPr id="5" name="Table 4"/>
          <p:cNvGraphicFramePr>
            <a:graphicFrameLocks noGrp="1"/>
          </p:cNvGraphicFramePr>
          <p:nvPr/>
        </p:nvGraphicFramePr>
        <p:xfrm>
          <a:off x="5874270" y="1417320"/>
          <a:ext cx="5768784" cy="2102358"/>
        </p:xfrm>
        <a:graphic>
          <a:graphicData uri="http://schemas.openxmlformats.org/drawingml/2006/table">
            <a:tbl>
              <a:tblPr firstRow="0" bandRow="0">
                <a:tableStyleId>{5C22544A-7EE6-4342-B048-85BDC9FD1C3A}</a:tableStyleId>
              </a:tblPr>
              <a:tblGrid>
                <a:gridCol w="1269132"/>
                <a:gridCol w="1499884"/>
                <a:gridCol w="1499884"/>
                <a:gridCol w="1499884"/>
              </a:tblGrid>
              <a:tr h="583692">
                <a:tc>
                  <a:txBody>
                    <a:bodyPr/>
                    <a:lstStyle/>
                    <a:p>
                      <a:pPr algn="ctr"/>
                      <a:r>
                        <a:rPr sz="1500" b="1">
                          <a:solidFill>
                            <a:srgbClr val="FFFFFF"/>
                          </a:solidFill>
                          <a:latin typeface="Calibri"/>
                        </a:rPr>
                        <a:t>Diseño</a:t>
                      </a:r>
                    </a:p>
                  </a:txBody>
                  <a:tcPr marL="73152" marR="73152" marT="27432" marB="27432" anchor="ctr">
                    <a:solidFill>
                      <a:srgbClr val="0F4C5C"/>
                    </a:solidFill>
                  </a:tcPr>
                </a:tc>
                <a:tc>
                  <a:txBody>
                    <a:bodyPr/>
                    <a:lstStyle/>
                    <a:p>
                      <a:pPr algn="ctr"/>
                      <a:r>
                        <a:rPr sz="1500" b="1">
                          <a:solidFill>
                            <a:srgbClr val="FFFFFF"/>
                          </a:solidFill>
                          <a:latin typeface="Calibri"/>
                        </a:rPr>
                        <a:t>En k − 1 factores</a:t>
                      </a:r>
                    </a:p>
                  </a:txBody>
                  <a:tcPr marL="73152" marR="73152" marT="27432" marB="27432" anchor="ctr">
                    <a:solidFill>
                      <a:srgbClr val="0F4C5C"/>
                    </a:solidFill>
                  </a:tcPr>
                </a:tc>
                <a:tc>
                  <a:txBody>
                    <a:bodyPr/>
                    <a:lstStyle/>
                    <a:p>
                      <a:pPr algn="ctr"/>
                      <a:r>
                        <a:rPr sz="1500" b="1">
                          <a:solidFill>
                            <a:srgbClr val="FFFFFF"/>
                          </a:solidFill>
                          <a:latin typeface="Calibri"/>
                        </a:rPr>
                        <a:t>En k − 2</a:t>
                      </a:r>
                    </a:p>
                  </a:txBody>
                  <a:tcPr marL="73152" marR="73152" marT="27432" marB="27432" anchor="ctr">
                    <a:solidFill>
                      <a:srgbClr val="0F4C5C"/>
                    </a:solidFill>
                  </a:tcPr>
                </a:tc>
                <a:tc>
                  <a:txBody>
                    <a:bodyPr/>
                    <a:lstStyle/>
                    <a:p>
                      <a:pPr algn="ctr"/>
                      <a:r>
                        <a:rPr sz="1500" b="1">
                          <a:solidFill>
                            <a:srgbClr val="FFFFFF"/>
                          </a:solidFill>
                          <a:latin typeface="Calibri"/>
                        </a:rPr>
                        <a:t>En k − 3</a:t>
                      </a:r>
                    </a:p>
                  </a:txBody>
                  <a:tcPr marL="73152" marR="73152" marT="27432" marB="27432" anchor="ctr">
                    <a:solidFill>
                      <a:srgbClr val="0F4C5C"/>
                    </a:solidFill>
                  </a:tcPr>
                </a:tc>
              </a:tr>
              <a:tr h="351282">
                <a:tc>
                  <a:txBody>
                    <a:bodyPr/>
                    <a:lstStyle/>
                    <a:p>
                      <a:pPr algn="ctr"/>
                      <a:r>
                        <a:rPr sz="1500" b="0">
                          <a:solidFill>
                            <a:srgbClr val="142B33"/>
                          </a:solidFill>
                          <a:latin typeface="Calibri"/>
                        </a:rPr>
                        <a:t>2</a:t>
                      </a:r>
                      <a:r>
                        <a:rPr sz="1500" b="0" baseline="30000">
                          <a:solidFill>
                            <a:srgbClr val="142B33"/>
                          </a:solidFill>
                          <a:latin typeface="Calibri"/>
                        </a:rPr>
                        <a:t>3−1</a:t>
                      </a:r>
                      <a:r>
                        <a:rPr sz="1500" b="0" baseline="-25000">
                          <a:solidFill>
                            <a:srgbClr val="142B33"/>
                          </a:solidFill>
                          <a:latin typeface="Calibri"/>
                        </a:rPr>
                        <a:t>III</a:t>
                      </a:r>
                    </a:p>
                  </a:txBody>
                  <a:tcPr marL="73152" marR="73152" marT="27432" marB="27432" anchor="ctr">
                    <a:solidFill>
                      <a:srgbClr val="FFFFFF"/>
                    </a:solidFill>
                  </a:tcPr>
                </a:tc>
                <a:tc>
                  <a:txBody>
                    <a:bodyPr/>
                    <a:lstStyle/>
                    <a:p>
                      <a:pPr algn="ctr"/>
                      <a:r>
                        <a:rPr sz="1500" b="0">
                          <a:solidFill>
                            <a:srgbClr val="142B33"/>
                          </a:solidFill>
                          <a:latin typeface="Calibri"/>
                        </a:rPr>
                        <a:t>2</a:t>
                      </a:r>
                      <a:r>
                        <a:rPr sz="1500" b="0" baseline="30000">
                          <a:solidFill>
                            <a:srgbClr val="142B33"/>
                          </a:solidFill>
                          <a:latin typeface="Calibri"/>
                        </a:rPr>
                        <a:t>2</a:t>
                      </a:r>
                      <a:r>
                        <a:rPr sz="1500" b="0">
                          <a:solidFill>
                            <a:srgbClr val="142B33"/>
                          </a:solidFill>
                          <a:latin typeface="Calibri"/>
                        </a:rPr>
                        <a:t> completo</a:t>
                      </a:r>
                    </a:p>
                  </a:txBody>
                  <a:tcPr marL="73152" marR="73152" marT="27432" marB="27432" anchor="ctr">
                    <a:solidFill>
                      <a:srgbClr val="FFFFFF"/>
                    </a:solidFill>
                  </a:tcPr>
                </a:tc>
                <a:tc>
                  <a:txBody>
                    <a:bodyPr/>
                    <a:lstStyle/>
                    <a:p>
                      <a:pPr algn="ctr"/>
                      <a:r>
                        <a:rPr sz="1500" b="0">
                          <a:solidFill>
                            <a:srgbClr val="142B33"/>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a:t>
                      </a:r>
                    </a:p>
                  </a:txBody>
                  <a:tcPr marL="73152" marR="73152" marT="27432" marB="27432" anchor="ctr">
                    <a:solidFill>
                      <a:srgbClr val="FFFFFF"/>
                    </a:solidFill>
                  </a:tcPr>
                </a:tc>
              </a:tr>
              <a:tr h="583692">
                <a:tc>
                  <a:txBody>
                    <a:bodyPr/>
                    <a:lstStyle/>
                    <a:p>
                      <a:pPr algn="ctr"/>
                      <a:r>
                        <a:rPr sz="1500" b="0">
                          <a:solidFill>
                            <a:srgbClr val="142B33"/>
                          </a:solidFill>
                          <a:latin typeface="Calibri"/>
                        </a:rPr>
                        <a:t>2</a:t>
                      </a:r>
                      <a:r>
                        <a:rPr sz="1500" b="0" baseline="30000">
                          <a:solidFill>
                            <a:srgbClr val="142B33"/>
                          </a:solidFill>
                          <a:latin typeface="Calibri"/>
                        </a:rPr>
                        <a:t>4−1</a:t>
                      </a:r>
                      <a:r>
                        <a:rPr sz="1500" b="0" baseline="-25000">
                          <a:solidFill>
                            <a:srgbClr val="142B33"/>
                          </a:solidFill>
                          <a:latin typeface="Calibri"/>
                        </a:rPr>
                        <a:t>IV</a:t>
                      </a:r>
                    </a:p>
                  </a:txBody>
                  <a:tcPr marL="73152" marR="73152" marT="27432" marB="27432" anchor="ctr">
                    <a:solidFill>
                      <a:srgbClr val="F4F8F9"/>
                    </a:solidFill>
                  </a:tcPr>
                </a:tc>
                <a:tc>
                  <a:txBody>
                    <a:bodyPr/>
                    <a:lstStyle/>
                    <a:p>
                      <a:pPr algn="ctr"/>
                      <a:r>
                        <a:rPr sz="1500" b="0">
                          <a:solidFill>
                            <a:srgbClr val="142B33"/>
                          </a:solidFill>
                          <a:latin typeface="Calibri"/>
                        </a:rPr>
                        <a:t>2</a:t>
                      </a:r>
                      <a:r>
                        <a:rPr sz="1500" b="0" baseline="30000">
                          <a:solidFill>
                            <a:srgbClr val="142B33"/>
                          </a:solidFill>
                          <a:latin typeface="Calibri"/>
                        </a:rPr>
                        <a:t>3</a:t>
                      </a:r>
                      <a:r>
                        <a:rPr sz="1500" b="0">
                          <a:solidFill>
                            <a:srgbClr val="142B33"/>
                          </a:solidFill>
                          <a:latin typeface="Calibri"/>
                        </a:rPr>
                        <a:t> completo</a:t>
                      </a:r>
                    </a:p>
                  </a:txBody>
                  <a:tcPr marL="73152" marR="73152" marT="27432" marB="27432" anchor="ctr">
                    <a:solidFill>
                      <a:srgbClr val="F4F8F9"/>
                    </a:solidFill>
                  </a:tcPr>
                </a:tc>
                <a:tc>
                  <a:txBody>
                    <a:bodyPr/>
                    <a:lstStyle/>
                    <a:p>
                      <a:pPr algn="ctr"/>
                      <a:r>
                        <a:rPr sz="1500" b="0">
                          <a:solidFill>
                            <a:srgbClr val="142B33"/>
                          </a:solidFill>
                          <a:latin typeface="Calibri"/>
                        </a:rPr>
                        <a:t>2 réplicas de 2</a:t>
                      </a:r>
                      <a:r>
                        <a:rPr sz="1500" b="0" baseline="30000">
                          <a:solidFill>
                            <a:srgbClr val="142B33"/>
                          </a:solidFill>
                          <a:latin typeface="Calibri"/>
                        </a:rPr>
                        <a:t>2</a:t>
                      </a:r>
                    </a:p>
                  </a:txBody>
                  <a:tcPr marL="73152" marR="73152" marT="27432" marB="27432" anchor="ctr">
                    <a:solidFill>
                      <a:srgbClr val="F4F8F9"/>
                    </a:solidFill>
                  </a:tcPr>
                </a:tc>
                <a:tc>
                  <a:txBody>
                    <a:bodyPr/>
                    <a:lstStyle/>
                    <a:p>
                      <a:pPr algn="ctr"/>
                      <a:r>
                        <a:rPr sz="1500" b="0">
                          <a:solidFill>
                            <a:srgbClr val="142B33"/>
                          </a:solidFill>
                          <a:latin typeface="Calibri"/>
                        </a:rPr>
                        <a:t>—</a:t>
                      </a:r>
                    </a:p>
                  </a:txBody>
                  <a:tcPr marL="73152" marR="73152" marT="27432" marB="27432" anchor="ctr">
                    <a:solidFill>
                      <a:srgbClr val="F4F8F9"/>
                    </a:solidFill>
                  </a:tcPr>
                </a:tc>
              </a:tr>
              <a:tr h="583692">
                <a:tc>
                  <a:txBody>
                    <a:bodyPr/>
                    <a:lstStyle/>
                    <a:p>
                      <a:pPr algn="ctr"/>
                      <a:r>
                        <a:rPr sz="1500" b="0">
                          <a:solidFill>
                            <a:srgbClr val="142B33"/>
                          </a:solidFill>
                          <a:latin typeface="Calibri"/>
                        </a:rPr>
                        <a:t>2</a:t>
                      </a:r>
                      <a:r>
                        <a:rPr sz="1500" b="0" baseline="30000">
                          <a:solidFill>
                            <a:srgbClr val="142B33"/>
                          </a:solidFill>
                          <a:latin typeface="Calibri"/>
                        </a:rPr>
                        <a:t>5−1</a:t>
                      </a:r>
                      <a:r>
                        <a:rPr sz="1500" b="0" baseline="-25000">
                          <a:solidFill>
                            <a:srgbClr val="142B33"/>
                          </a:solidFill>
                          <a:latin typeface="Calibri"/>
                        </a:rPr>
                        <a:t>V</a:t>
                      </a:r>
                    </a:p>
                  </a:txBody>
                  <a:tcPr marL="73152" marR="73152" marT="27432" marB="27432" anchor="ctr">
                    <a:solidFill>
                      <a:srgbClr val="FFFFFF"/>
                    </a:solidFill>
                  </a:tcPr>
                </a:tc>
                <a:tc>
                  <a:txBody>
                    <a:bodyPr/>
                    <a:lstStyle/>
                    <a:p>
                      <a:pPr algn="ctr"/>
                      <a:r>
                        <a:rPr sz="1500" b="0">
                          <a:solidFill>
                            <a:srgbClr val="142B33"/>
                          </a:solidFill>
                          <a:latin typeface="Calibri"/>
                        </a:rPr>
                        <a:t>2</a:t>
                      </a:r>
                      <a:r>
                        <a:rPr sz="1500" b="0" baseline="30000">
                          <a:solidFill>
                            <a:srgbClr val="142B33"/>
                          </a:solidFill>
                          <a:latin typeface="Calibri"/>
                        </a:rPr>
                        <a:t>4</a:t>
                      </a:r>
                      <a:r>
                        <a:rPr sz="1500" b="0">
                          <a:solidFill>
                            <a:srgbClr val="142B33"/>
                          </a:solidFill>
                          <a:latin typeface="Calibri"/>
                        </a:rPr>
                        <a:t> completo</a:t>
                      </a:r>
                    </a:p>
                  </a:txBody>
                  <a:tcPr marL="73152" marR="73152" marT="27432" marB="27432" anchor="ctr">
                    <a:solidFill>
                      <a:srgbClr val="FFFFFF"/>
                    </a:solidFill>
                  </a:tcPr>
                </a:tc>
                <a:tc>
                  <a:txBody>
                    <a:bodyPr/>
                    <a:lstStyle/>
                    <a:p>
                      <a:pPr algn="ctr"/>
                      <a:r>
                        <a:rPr sz="1500" b="0">
                          <a:solidFill>
                            <a:srgbClr val="142B33"/>
                          </a:solidFill>
                          <a:latin typeface="Calibri"/>
                        </a:rPr>
                        <a:t>2 réplicas de 2</a:t>
                      </a:r>
                      <a:r>
                        <a:rPr sz="1500" b="0" baseline="30000">
                          <a:solidFill>
                            <a:srgbClr val="142B33"/>
                          </a:solidFill>
                          <a:latin typeface="Calibri"/>
                        </a:rPr>
                        <a:t>3</a:t>
                      </a:r>
                    </a:p>
                  </a:txBody>
                  <a:tcPr marL="73152" marR="73152" marT="27432" marB="27432" anchor="ctr">
                    <a:solidFill>
                      <a:srgbClr val="FFFFFF"/>
                    </a:solidFill>
                  </a:tcPr>
                </a:tc>
                <a:tc>
                  <a:txBody>
                    <a:bodyPr/>
                    <a:lstStyle/>
                    <a:p>
                      <a:pPr algn="ctr"/>
                      <a:r>
                        <a:rPr sz="1500" b="0">
                          <a:solidFill>
                            <a:srgbClr val="142B33"/>
                          </a:solidFill>
                          <a:latin typeface="Calibri"/>
                        </a:rPr>
                        <a:t>4 réplicas de 2</a:t>
                      </a:r>
                      <a:r>
                        <a:rPr sz="1500" b="0" baseline="30000">
                          <a:solidFill>
                            <a:srgbClr val="142B33"/>
                          </a:solidFill>
                          <a:latin typeface="Calibri"/>
                        </a:rPr>
                        <a:t>2</a:t>
                      </a:r>
                    </a:p>
                  </a:txBody>
                  <a:tcPr marL="73152" marR="73152" marT="27432" marB="27432" anchor="ctr">
                    <a:solidFill>
                      <a:srgbClr val="FFFFFF"/>
                    </a:solidFill>
                  </a:tcPr>
                </a:tc>
              </a:tr>
            </a:tbl>
          </a:graphicData>
        </a:graphic>
      </p:graphicFrame>
      <p:sp>
        <p:nvSpPr>
          <p:cNvPr id="6" name="TextBox 5"/>
          <p:cNvSpPr txBox="1"/>
          <p:nvPr/>
        </p:nvSpPr>
        <p:spPr>
          <a:xfrm>
            <a:off x="5874270" y="3720846"/>
            <a:ext cx="5768785" cy="470407"/>
          </a:xfrm>
          <a:prstGeom prst="rect">
            <a:avLst/>
          </a:prstGeom>
          <a:noFill/>
        </p:spPr>
        <p:txBody>
          <a:bodyPr wrap="square" anchor="t" lIns="0" rIns="0" tIns="0" bIns="0">
            <a:spAutoFit/>
          </a:bodyPr>
          <a:lstStyle/>
          <a:p>
            <a:r>
              <a:rPr sz="1400" b="0">
                <a:solidFill>
                  <a:srgbClr val="5B6B73"/>
                </a:solidFill>
                <a:latin typeface="Calibri"/>
              </a:rPr>
              <a:t>Ejemplo: el 2</a:t>
            </a:r>
            <a:r>
              <a:rPr sz="1400" b="0" baseline="30000">
                <a:solidFill>
                  <a:srgbClr val="5B6B73"/>
                </a:solidFill>
                <a:latin typeface="Calibri"/>
              </a:rPr>
              <a:t>3−1</a:t>
            </a:r>
            <a:r>
              <a:rPr sz="1400" b="0">
                <a:solidFill>
                  <a:srgbClr val="5B6B73"/>
                </a:solidFill>
                <a:latin typeface="Calibri"/>
              </a:rPr>
              <a:t> deja un cuadrado completo en cada cara del cubo (Montgomery, fig. 8-2)</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La fracción un medio 2</a:t>
            </a:r>
            <a:r>
              <a:rPr sz="1000" b="0" baseline="30000">
                <a:solidFill>
                  <a:srgbClr val="5B6B73"/>
                </a:solidFill>
                <a:latin typeface="Calibri"/>
              </a:rPr>
              <a:t>k−1</a:t>
            </a:r>
          </a:p>
        </p:txBody>
      </p:sp>
      <p:sp>
        <p:nvSpPr>
          <p:cNvPr id="8" name="TextBox 7"/>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23</a:t>
            </a:r>
          </a:p>
        </p:txBody>
      </p:sp>
      <p:sp>
        <p:nvSpPr>
          <p:cNvPr id="9" name="Rounded Rectangle 8"/>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4 · La fracción un medio 2</a:t>
            </a:r>
            <a:r>
              <a:rPr sz="1100" b="1" baseline="30000">
                <a:solidFill>
                  <a:srgbClr val="FFFFFF"/>
                </a:solidFill>
                <a:latin typeface="Calibri"/>
              </a:rPr>
              <a:t>k−1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1 · Enunciado: índice de filtración</a:t>
            </a:r>
          </a:p>
        </p:txBody>
      </p:sp>
      <p:sp>
        <p:nvSpPr>
          <p:cNvPr id="3" name="TextBox 2"/>
          <p:cNvSpPr txBox="1"/>
          <p:nvPr/>
        </p:nvSpPr>
        <p:spPr>
          <a:xfrm>
            <a:off x="548640" y="1417320"/>
            <a:ext cx="6196102" cy="1276096"/>
          </a:xfrm>
          <a:prstGeom prst="rect">
            <a:avLst/>
          </a:prstGeom>
          <a:noFill/>
        </p:spPr>
        <p:txBody>
          <a:bodyPr wrap="square" anchor="t" lIns="0" rIns="0" tIns="0" bIns="0">
            <a:spAutoFit/>
          </a:bodyPr>
          <a:lstStyle/>
          <a:p>
            <a:r>
              <a:rPr sz="1600" b="0">
                <a:solidFill>
                  <a:srgbClr val="142B33"/>
                </a:solidFill>
                <a:latin typeface="Calibri"/>
              </a:rPr>
              <a:t>Un producto químico se fabrica en un recipiente a presión. En la planta piloto se quiere estudiar los factores que se cree influyen en el </a:t>
            </a:r>
            <a:r>
              <a:rPr sz="1600" b="1">
                <a:solidFill>
                  <a:srgbClr val="142B33"/>
                </a:solidFill>
                <a:latin typeface="Calibri"/>
              </a:rPr>
              <a:t>índice de filtración</a:t>
            </a:r>
            <a:r>
              <a:rPr sz="1600" b="0">
                <a:solidFill>
                  <a:srgbClr val="142B33"/>
                </a:solidFill>
                <a:latin typeface="Calibri"/>
              </a:rPr>
              <a:t> del producto (gal/h): A temperatura, B presión, C concentración de formaldehído y D velocidad de agitación, cada uno a dos niveles.</a:t>
            </a:r>
          </a:p>
        </p:txBody>
      </p:sp>
      <p:sp>
        <p:nvSpPr>
          <p:cNvPr id="4" name="TextBox 3"/>
          <p:cNvSpPr txBox="1"/>
          <p:nvPr/>
        </p:nvSpPr>
        <p:spPr>
          <a:xfrm>
            <a:off x="548640" y="2894584"/>
            <a:ext cx="6196102" cy="1276096"/>
          </a:xfrm>
          <a:prstGeom prst="rect">
            <a:avLst/>
          </a:prstGeom>
          <a:noFill/>
        </p:spPr>
        <p:txBody>
          <a:bodyPr wrap="square" anchor="t" lIns="0" rIns="0" tIns="0" bIns="0">
            <a:spAutoFit/>
          </a:bodyPr>
          <a:lstStyle/>
          <a:p>
            <a:r>
              <a:rPr sz="1600" b="0">
                <a:solidFill>
                  <a:srgbClr val="142B33"/>
                </a:solidFill>
                <a:latin typeface="Calibri"/>
              </a:rPr>
              <a:t>Con las condiciones actuales la filtración ronda los 75 gal/h y el proceso trabaja con la concentración de formaldehído en el nivel alto. El ingeniero quiere </a:t>
            </a:r>
            <a:r>
              <a:rPr sz="1600" b="1">
                <a:solidFill>
                  <a:srgbClr val="142B33"/>
                </a:solidFill>
                <a:latin typeface="Calibri"/>
              </a:rPr>
              <a:t>reducir el formaldehído</a:t>
            </a:r>
            <a:r>
              <a:rPr sz="1600" b="0">
                <a:solidFill>
                  <a:srgbClr val="142B33"/>
                </a:solidFill>
                <a:latin typeface="Calibri"/>
              </a:rPr>
              <a:t> tanto como sea posible, pero hasta ahora cada intento ha bajado la filtración.</a:t>
            </a:r>
          </a:p>
        </p:txBody>
      </p:sp>
      <p:sp>
        <p:nvSpPr>
          <p:cNvPr id="5" name="TextBox 4"/>
          <p:cNvSpPr txBox="1"/>
          <p:nvPr/>
        </p:nvSpPr>
        <p:spPr>
          <a:xfrm>
            <a:off x="548640" y="4371848"/>
            <a:ext cx="6196102" cy="1028191"/>
          </a:xfrm>
          <a:prstGeom prst="rect">
            <a:avLst/>
          </a:prstGeom>
          <a:noFill/>
        </p:spPr>
        <p:txBody>
          <a:bodyPr wrap="square" anchor="t" lIns="0" rIns="0" tIns="0" bIns="0">
            <a:spAutoFit/>
          </a:bodyPr>
          <a:lstStyle/>
          <a:p>
            <a:r>
              <a:rPr sz="1600" b="0">
                <a:solidFill>
                  <a:srgbClr val="142B33"/>
                </a:solidFill>
                <a:latin typeface="Calibri"/>
              </a:rPr>
              <a:t>El factorial completo 2</a:t>
            </a:r>
            <a:r>
              <a:rPr sz="1600" b="0" baseline="30000">
                <a:solidFill>
                  <a:srgbClr val="142B33"/>
                </a:solidFill>
                <a:latin typeface="Calibri"/>
              </a:rPr>
              <a:t>4</a:t>
            </a:r>
            <a:r>
              <a:rPr sz="1600" b="0">
                <a:solidFill>
                  <a:srgbClr val="142B33"/>
                </a:solidFill>
                <a:latin typeface="Calibri"/>
              </a:rPr>
              <a:t> exige 16 corridas. Para ahorrar, se corre solo </a:t>
            </a:r>
            <a:r>
              <a:rPr sz="1600" b="1">
                <a:solidFill>
                  <a:srgbClr val="142B33"/>
                </a:solidFill>
                <a:latin typeface="Calibri"/>
              </a:rPr>
              <a:t>la mitad: 8 corridas</a:t>
            </a:r>
            <a:r>
              <a:rPr sz="1600" b="0">
                <a:solidFill>
                  <a:srgbClr val="142B33"/>
                </a:solidFill>
                <a:latin typeface="Calibri"/>
              </a:rPr>
              <a:t>, elegidas con D = ABC (I = ABCD). Cada combinación se corre una vez, en orden aleatorio.</a:t>
            </a:r>
          </a:p>
        </p:txBody>
      </p:sp>
      <p:sp>
        <p:nvSpPr>
          <p:cNvPr id="6" name="TextBox 5"/>
          <p:cNvSpPr txBox="1"/>
          <p:nvPr/>
        </p:nvSpPr>
        <p:spPr>
          <a:xfrm>
            <a:off x="548640" y="5601207"/>
            <a:ext cx="6196102" cy="222504"/>
          </a:xfrm>
          <a:prstGeom prst="rect">
            <a:avLst/>
          </a:prstGeom>
          <a:noFill/>
        </p:spPr>
        <p:txBody>
          <a:bodyPr wrap="square" anchor="t" lIns="0" rIns="0" tIns="0" bIns="0">
            <a:spAutoFit/>
          </a:bodyPr>
          <a:lstStyle/>
          <a:p>
            <a:r>
              <a:rPr sz="1200" b="0">
                <a:solidFill>
                  <a:srgbClr val="5B6B73"/>
                </a:solidFill>
                <a:latin typeface="Calibri"/>
              </a:rPr>
              <a:t>Fuente: Montgomery, ejemplos 6-2 y 8-1</a:t>
            </a:r>
          </a:p>
        </p:txBody>
      </p:sp>
      <p:sp>
        <p:nvSpPr>
          <p:cNvPr id="7" name="Rounded Rectangle 6"/>
          <p:cNvSpPr/>
          <p:nvPr/>
        </p:nvSpPr>
        <p:spPr>
          <a:xfrm>
            <a:off x="7156222" y="1417320"/>
            <a:ext cx="4486832" cy="1481836"/>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700" b="1">
                <a:solidFill>
                  <a:srgbClr val="0F4C5C"/>
                </a:solidFill>
                <a:latin typeface="Cambria"/>
              </a:rPr>
              <a:t>Objetivo</a:t>
            </a:r>
          </a:p>
          <a:p>
            <a:pPr algn="l"/>
            <a:r>
              <a:rPr sz="1500" b="0">
                <a:solidFill>
                  <a:srgbClr val="142B33"/>
                </a:solidFill>
                <a:latin typeface="Calibri"/>
              </a:rPr>
              <a:t>Encontrar las condiciones que </a:t>
            </a:r>
            <a:r>
              <a:rPr sz="1500" b="1">
                <a:solidFill>
                  <a:srgbClr val="142B33"/>
                </a:solidFill>
                <a:latin typeface="Calibri"/>
              </a:rPr>
              <a:t>maximizan la filtración</a:t>
            </a:r>
            <a:r>
              <a:rPr sz="1500" b="0">
                <a:solidFill>
                  <a:srgbClr val="142B33"/>
                </a:solidFill>
                <a:latin typeface="Calibri"/>
              </a:rPr>
              <a:t> y ver si se puede trabajar con </a:t>
            </a:r>
            <a:r>
              <a:rPr sz="1500" b="1">
                <a:solidFill>
                  <a:srgbClr val="142B33"/>
                </a:solidFill>
                <a:latin typeface="Calibri"/>
              </a:rPr>
              <a:t>menos formaldehído</a:t>
            </a:r>
            <a:r>
              <a:rPr sz="1500" b="0">
                <a:solidFill>
                  <a:srgbClr val="142B33"/>
                </a:solidFill>
                <a:latin typeface="Calibri"/>
              </a:rPr>
              <a:t> sin perderla</a:t>
            </a:r>
          </a:p>
        </p:txBody>
      </p:sp>
      <p:sp>
        <p:nvSpPr>
          <p:cNvPr id="8" name="TextBox 7"/>
          <p:cNvSpPr txBox="1"/>
          <p:nvPr/>
        </p:nvSpPr>
        <p:spPr>
          <a:xfrm>
            <a:off x="7156222" y="3100324"/>
            <a:ext cx="4486832" cy="299973"/>
          </a:xfrm>
          <a:prstGeom prst="rect">
            <a:avLst/>
          </a:prstGeom>
          <a:noFill/>
        </p:spPr>
        <p:txBody>
          <a:bodyPr wrap="square" anchor="t" lIns="0" rIns="0" tIns="0" bIns="0">
            <a:spAutoFit/>
          </a:bodyPr>
          <a:lstStyle/>
          <a:p>
            <a:r>
              <a:rPr sz="1700" b="1">
                <a:solidFill>
                  <a:srgbClr val="142B33"/>
                </a:solidFill>
                <a:latin typeface="Calibri"/>
              </a:rPr>
              <a:t>Se pide</a:t>
            </a:r>
          </a:p>
        </p:txBody>
      </p:sp>
      <p:sp>
        <p:nvSpPr>
          <p:cNvPr id="9" name="TextBox 8"/>
          <p:cNvSpPr txBox="1"/>
          <p:nvPr/>
        </p:nvSpPr>
        <p:spPr>
          <a:xfrm>
            <a:off x="7156222" y="3601465"/>
            <a:ext cx="4486832" cy="1258823"/>
          </a:xfrm>
          <a:prstGeom prst="rect">
            <a:avLst/>
          </a:prstGeom>
          <a:noFill/>
        </p:spPr>
        <p:txBody>
          <a:bodyPr wrap="square" anchor="t" lIns="0" rIns="0" tIns="0" bIns="0">
            <a:spAutoFit/>
          </a:bodyPr>
          <a:lstStyle/>
          <a:p>
            <a:pPr marL="320040" indent="-320040">
              <a:spcAft>
                <a:spcPts val="600"/>
              </a:spcAft>
              <a:buClr>
                <a:srgbClr val="E36414"/>
              </a:buClr>
              <a:buFont typeface="+mj-lt"/>
              <a:buAutoNum type="arabicPeriod"/>
            </a:pPr>
            <a:r>
              <a:rPr sz="1500" b="0">
                <a:solidFill>
                  <a:srgbClr val="142B33"/>
                </a:solidFill>
                <a:latin typeface="Calibri"/>
              </a:rPr>
              <a:t>Construir la fracción y escribir sus alias</a:t>
            </a:r>
          </a:p>
          <a:p>
            <a:pPr marL="320040" indent="-320040">
              <a:spcAft>
                <a:spcPts val="600"/>
              </a:spcAft>
              <a:buClr>
                <a:srgbClr val="E36414"/>
              </a:buClr>
              <a:buFont typeface="+mj-lt"/>
              <a:buAutoNum type="arabicPeriod"/>
            </a:pPr>
            <a:r>
              <a:rPr sz="1500" b="0">
                <a:solidFill>
                  <a:srgbClr val="142B33"/>
                </a:solidFill>
                <a:latin typeface="Calibri"/>
              </a:rPr>
              <a:t>Estimar los efectos e identificar los activos</a:t>
            </a:r>
          </a:p>
          <a:p>
            <a:pPr marL="320040" indent="-320040">
              <a:spcAft>
                <a:spcPts val="600"/>
              </a:spcAft>
              <a:buClr>
                <a:srgbClr val="E36414"/>
              </a:buClr>
              <a:buFont typeface="+mj-lt"/>
              <a:buAutoNum type="arabicPeriod"/>
            </a:pPr>
            <a:r>
              <a:rPr sz="1500" b="0">
                <a:solidFill>
                  <a:srgbClr val="142B33"/>
                </a:solidFill>
                <a:latin typeface="Calibri"/>
              </a:rPr>
              <a:t>Interpretar las cadenas de alias grandes</a:t>
            </a:r>
          </a:p>
          <a:p>
            <a:pPr marL="320040" indent="-320040">
              <a:spcAft>
                <a:spcPts val="600"/>
              </a:spcAft>
              <a:buClr>
                <a:srgbClr val="E36414"/>
              </a:buClr>
              <a:buFont typeface="+mj-lt"/>
              <a:buAutoNum type="arabicPeriod"/>
            </a:pPr>
            <a:r>
              <a:rPr sz="1500" b="0">
                <a:solidFill>
                  <a:srgbClr val="142B33"/>
                </a:solidFill>
                <a:latin typeface="Calibri"/>
              </a:rPr>
              <a:t>Proponer el modelo y la mejor condición</a:t>
            </a:r>
          </a:p>
        </p:txBody>
      </p:sp>
      <p:sp>
        <p:nvSpPr>
          <p:cNvPr id="10" name="TextBox 9"/>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La fracción un medio 2</a:t>
            </a:r>
            <a:r>
              <a:rPr sz="1000" b="0" baseline="30000">
                <a:solidFill>
                  <a:srgbClr val="5B6B73"/>
                </a:solidFill>
                <a:latin typeface="Calibri"/>
              </a:rPr>
              <a:t>k−1</a:t>
            </a:r>
          </a:p>
        </p:txBody>
      </p:sp>
      <p:sp>
        <p:nvSpPr>
          <p:cNvPr id="11" name="TextBox 10"/>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24</a:t>
            </a:r>
          </a:p>
        </p:txBody>
      </p:sp>
      <p:sp>
        <p:nvSpPr>
          <p:cNvPr id="12" name="Rounded Rectangle 11"/>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4 · La fracción un medio 2</a:t>
            </a:r>
            <a:r>
              <a:rPr sz="1100" b="1" baseline="30000">
                <a:solidFill>
                  <a:srgbClr val="FFFFFF"/>
                </a:solidFill>
                <a:latin typeface="Calibri"/>
              </a:rPr>
              <a:t>k−1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1 · Índice de filtración, 2</a:t>
            </a:r>
            <a:r>
              <a:rPr sz="3000" b="1" baseline="30000">
                <a:solidFill>
                  <a:srgbClr val="0F4C5C"/>
                </a:solidFill>
                <a:latin typeface="Cambria"/>
              </a:rPr>
              <a:t>4−1</a:t>
            </a:r>
            <a:r>
              <a:rPr sz="3000" b="1" baseline="-25000">
                <a:solidFill>
                  <a:srgbClr val="0F4C5C"/>
                </a:solidFill>
                <a:latin typeface="Cambria"/>
              </a:rPr>
              <a:t>IV</a:t>
            </a:r>
          </a:p>
        </p:txBody>
      </p:sp>
      <p:sp>
        <p:nvSpPr>
          <p:cNvPr id="3" name="TextBox 2"/>
          <p:cNvSpPr txBox="1"/>
          <p:nvPr/>
        </p:nvSpPr>
        <p:spPr>
          <a:xfrm>
            <a:off x="548640" y="1417320"/>
            <a:ext cx="5341467" cy="1280160"/>
          </a:xfrm>
          <a:prstGeom prst="rect">
            <a:avLst/>
          </a:prstGeom>
          <a:noFill/>
        </p:spPr>
        <p:txBody>
          <a:bodyPr wrap="square" anchor="t" lIns="0" rIns="0" tIns="0" bIns="0">
            <a:spAutoFit/>
          </a:bodyPr>
          <a:lstStyle/>
          <a:p>
            <a:pPr marL="320040" indent="-320040">
              <a:spcAft>
                <a:spcPts val="600"/>
              </a:spcAft>
              <a:buClr>
                <a:srgbClr val="E36414"/>
              </a:buClr>
              <a:buFont typeface="Arial"/>
              <a:buChar char="•"/>
            </a:pPr>
            <a:r>
              <a:rPr sz="1800" b="0">
                <a:solidFill>
                  <a:srgbClr val="142B33"/>
                </a:solidFill>
                <a:latin typeface="Calibri"/>
              </a:rPr>
              <a:t>Fracción un medio con </a:t>
            </a:r>
            <a:r>
              <a:rPr sz="1800" b="1">
                <a:solidFill>
                  <a:srgbClr val="142B33"/>
                </a:solidFill>
                <a:latin typeface="Calibri"/>
              </a:rPr>
              <a:t>D = ABC</a:t>
            </a:r>
            <a:r>
              <a:rPr sz="1800" b="0">
                <a:solidFill>
                  <a:srgbClr val="142B33"/>
                </a:solidFill>
                <a:latin typeface="Calibri"/>
              </a:rPr>
              <a:t>  (I = ABCD), 8 corridas</a:t>
            </a:r>
          </a:p>
          <a:p>
            <a:pPr marL="320040" indent="-320040">
              <a:spcAft>
                <a:spcPts val="600"/>
              </a:spcAft>
              <a:buClr>
                <a:srgbClr val="E36414"/>
              </a:buClr>
              <a:buFont typeface="Arial"/>
              <a:buChar char="•"/>
            </a:pPr>
            <a:r>
              <a:rPr sz="1800" b="1">
                <a:solidFill>
                  <a:srgbClr val="142B33"/>
                </a:solidFill>
                <a:latin typeface="Calibri"/>
              </a:rPr>
              <a:t>Resolución IV</a:t>
            </a:r>
            <a:r>
              <a:rPr sz="1800" b="0">
                <a:solidFill>
                  <a:srgbClr val="142B33"/>
                </a:solidFill>
                <a:latin typeface="Calibri"/>
              </a:rPr>
              <a:t>: principales libres de interacciones dobles; las dobles, aliadas por pares</a:t>
            </a:r>
          </a:p>
        </p:txBody>
      </p:sp>
      <p:graphicFrame>
        <p:nvGraphicFramePr>
          <p:cNvPr id="4" name="Table 3"/>
          <p:cNvGraphicFramePr>
            <a:graphicFrameLocks noGrp="1"/>
          </p:cNvGraphicFramePr>
          <p:nvPr/>
        </p:nvGraphicFramePr>
        <p:xfrm>
          <a:off x="548640" y="2898648"/>
          <a:ext cx="5341467" cy="1988820"/>
        </p:xfrm>
        <a:graphic>
          <a:graphicData uri="http://schemas.openxmlformats.org/drawingml/2006/table">
            <a:tbl>
              <a:tblPr firstRow="0" bandRow="0">
                <a:tableStyleId>{5C22544A-7EE6-4342-B048-85BDC9FD1C3A}</a:tableStyleId>
              </a:tblPr>
              <a:tblGrid>
                <a:gridCol w="2571535"/>
                <a:gridCol w="2769932"/>
              </a:tblGrid>
              <a:tr h="583692">
                <a:tc>
                  <a:txBody>
                    <a:bodyPr/>
                    <a:lstStyle/>
                    <a:p>
                      <a:pPr algn="ctr"/>
                      <a:r>
                        <a:rPr sz="1500" b="1">
                          <a:solidFill>
                            <a:srgbClr val="FFFFFF"/>
                          </a:solidFill>
                          <a:latin typeface="Calibri"/>
                        </a:rPr>
                        <a:t>Alias de los principales</a:t>
                      </a:r>
                    </a:p>
                  </a:txBody>
                  <a:tcPr marL="73152" marR="73152" marT="27432" marB="27432" anchor="ctr">
                    <a:solidFill>
                      <a:srgbClr val="0F4C5C"/>
                    </a:solidFill>
                  </a:tcPr>
                </a:tc>
                <a:tc>
                  <a:txBody>
                    <a:bodyPr/>
                    <a:lstStyle/>
                    <a:p>
                      <a:pPr algn="ctr"/>
                      <a:r>
                        <a:rPr sz="1500" b="1">
                          <a:solidFill>
                            <a:srgbClr val="FFFFFF"/>
                          </a:solidFill>
                          <a:latin typeface="Calibri"/>
                        </a:rPr>
                        <a:t>Alias de las interacciones</a:t>
                      </a:r>
                    </a:p>
                  </a:txBody>
                  <a:tcPr marL="73152" marR="73152" marT="27432" marB="27432" anchor="ctr">
                    <a:solidFill>
                      <a:srgbClr val="0F4C5C"/>
                    </a:solidFill>
                  </a:tcPr>
                </a:tc>
              </a:tr>
              <a:tr h="351282">
                <a:tc>
                  <a:txBody>
                    <a:bodyPr/>
                    <a:lstStyle/>
                    <a:p>
                      <a:pPr algn="ctr"/>
                      <a:r>
                        <a:rPr sz="1500" b="0">
                          <a:solidFill>
                            <a:srgbClr val="142B33"/>
                          </a:solidFill>
                          <a:latin typeface="Calibri"/>
                        </a:rPr>
                        <a:t>A = BCD</a:t>
                      </a:r>
                    </a:p>
                  </a:txBody>
                  <a:tcPr marL="73152" marR="73152" marT="27432" marB="27432" anchor="ctr">
                    <a:solidFill>
                      <a:srgbClr val="FFFFFF"/>
                    </a:solidFill>
                  </a:tcPr>
                </a:tc>
                <a:tc>
                  <a:txBody>
                    <a:bodyPr/>
                    <a:lstStyle/>
                    <a:p>
                      <a:pPr algn="ctr"/>
                      <a:r>
                        <a:rPr sz="1500" b="0">
                          <a:solidFill>
                            <a:srgbClr val="142B33"/>
                          </a:solidFill>
                          <a:latin typeface="Calibri"/>
                        </a:rPr>
                        <a:t>AB = CD</a:t>
                      </a:r>
                    </a:p>
                  </a:txBody>
                  <a:tcPr marL="73152" marR="73152" marT="27432" marB="27432" anchor="ctr">
                    <a:solidFill>
                      <a:srgbClr val="FFFFFF"/>
                    </a:solidFill>
                  </a:tcPr>
                </a:tc>
              </a:tr>
              <a:tr h="351282">
                <a:tc>
                  <a:txBody>
                    <a:bodyPr/>
                    <a:lstStyle/>
                    <a:p>
                      <a:pPr algn="ctr"/>
                      <a:r>
                        <a:rPr sz="1500" b="0">
                          <a:solidFill>
                            <a:srgbClr val="142B33"/>
                          </a:solidFill>
                          <a:latin typeface="Calibri"/>
                        </a:rPr>
                        <a:t>B = ACD</a:t>
                      </a:r>
                    </a:p>
                  </a:txBody>
                  <a:tcPr marL="73152" marR="73152" marT="27432" marB="27432" anchor="ctr">
                    <a:solidFill>
                      <a:srgbClr val="F4F8F9"/>
                    </a:solidFill>
                  </a:tcPr>
                </a:tc>
                <a:tc>
                  <a:txBody>
                    <a:bodyPr/>
                    <a:lstStyle/>
                    <a:p>
                      <a:pPr algn="ctr"/>
                      <a:r>
                        <a:rPr sz="1500" b="0">
                          <a:solidFill>
                            <a:srgbClr val="142B33"/>
                          </a:solidFill>
                          <a:latin typeface="Calibri"/>
                        </a:rPr>
                        <a:t>AC = BD</a:t>
                      </a:r>
                    </a:p>
                  </a:txBody>
                  <a:tcPr marL="73152" marR="73152" marT="27432" marB="27432" anchor="ctr">
                    <a:solidFill>
                      <a:srgbClr val="F4F8F9"/>
                    </a:solidFill>
                  </a:tcPr>
                </a:tc>
              </a:tr>
              <a:tr h="351282">
                <a:tc>
                  <a:txBody>
                    <a:bodyPr/>
                    <a:lstStyle/>
                    <a:p>
                      <a:pPr algn="ctr"/>
                      <a:r>
                        <a:rPr sz="1500" b="0">
                          <a:solidFill>
                            <a:srgbClr val="142B33"/>
                          </a:solidFill>
                          <a:latin typeface="Calibri"/>
                        </a:rPr>
                        <a:t>C = ABD</a:t>
                      </a:r>
                    </a:p>
                  </a:txBody>
                  <a:tcPr marL="73152" marR="73152" marT="27432" marB="27432" anchor="ctr">
                    <a:solidFill>
                      <a:srgbClr val="FFFFFF"/>
                    </a:solidFill>
                  </a:tcPr>
                </a:tc>
                <a:tc>
                  <a:txBody>
                    <a:bodyPr/>
                    <a:lstStyle/>
                    <a:p>
                      <a:pPr algn="ctr"/>
                      <a:r>
                        <a:rPr sz="1500" b="0">
                          <a:solidFill>
                            <a:srgbClr val="142B33"/>
                          </a:solidFill>
                          <a:latin typeface="Calibri"/>
                        </a:rPr>
                        <a:t>AD = BC</a:t>
                      </a:r>
                    </a:p>
                  </a:txBody>
                  <a:tcPr marL="73152" marR="73152" marT="27432" marB="27432" anchor="ctr">
                    <a:solidFill>
                      <a:srgbClr val="FFFFFF"/>
                    </a:solidFill>
                  </a:tcPr>
                </a:tc>
              </a:tr>
              <a:tr h="351282">
                <a:tc>
                  <a:txBody>
                    <a:bodyPr/>
                    <a:lstStyle/>
                    <a:p>
                      <a:pPr algn="ctr"/>
                      <a:r>
                        <a:rPr sz="1500" b="0">
                          <a:solidFill>
                            <a:srgbClr val="142B33"/>
                          </a:solidFill>
                          <a:latin typeface="Calibri"/>
                        </a:rPr>
                        <a:t>D = ABC</a:t>
                      </a:r>
                    </a:p>
                  </a:txBody>
                  <a:tcPr marL="73152" marR="73152" marT="27432" marB="27432" anchor="ctr">
                    <a:solidFill>
                      <a:srgbClr val="F4F8F9"/>
                    </a:solidFill>
                  </a:tcPr>
                </a:tc>
                <a:tc>
                  <a:txBody>
                    <a:bodyPr/>
                    <a:lstStyle/>
                    <a:p>
                      <a:pPr algn="ctr"/>
                      <a:r>
                        <a:rPr sz="1500" b="0">
                          <a:solidFill>
                            <a:srgbClr val="142B33"/>
                          </a:solidFill>
                          <a:latin typeface="Calibri"/>
                        </a:rPr>
                        <a:t>—</a:t>
                      </a:r>
                    </a:p>
                  </a:txBody>
                  <a:tcPr marL="73152" marR="73152" marT="27432" marB="27432" anchor="ctr">
                    <a:solidFill>
                      <a:srgbClr val="F4F8F9"/>
                    </a:solidFill>
                  </a:tcPr>
                </a:tc>
              </a:tr>
            </a:tbl>
          </a:graphicData>
        </a:graphic>
      </p:graphicFrame>
      <p:graphicFrame>
        <p:nvGraphicFramePr>
          <p:cNvPr id="5" name="Table 4"/>
          <p:cNvGraphicFramePr>
            <a:graphicFrameLocks noGrp="1"/>
          </p:cNvGraphicFramePr>
          <p:nvPr/>
        </p:nvGraphicFramePr>
        <p:xfrm>
          <a:off x="6301587" y="1417320"/>
          <a:ext cx="5341465" cy="3161538"/>
        </p:xfrm>
        <a:graphic>
          <a:graphicData uri="http://schemas.openxmlformats.org/drawingml/2006/table">
            <a:tbl>
              <a:tblPr firstRow="0" bandRow="0">
                <a:tableStyleId>{5C22544A-7EE6-4342-B048-85BDC9FD1C3A}</a:tableStyleId>
              </a:tblPr>
              <a:tblGrid>
                <a:gridCol w="1207817"/>
                <a:gridCol w="395664"/>
                <a:gridCol w="395664"/>
                <a:gridCol w="395664"/>
                <a:gridCol w="395664"/>
                <a:gridCol w="937099"/>
                <a:gridCol w="1613893"/>
              </a:tblGrid>
              <a:tr h="351282">
                <a:tc>
                  <a:txBody>
                    <a:bodyPr/>
                    <a:lstStyle/>
                    <a:p>
                      <a:pPr algn="ctr"/>
                      <a:r>
                        <a:rPr sz="1500" b="1">
                          <a:solidFill>
                            <a:srgbClr val="FFFFFF"/>
                          </a:solidFill>
                          <a:latin typeface="Calibri"/>
                        </a:rPr>
                        <a:t>Corrida</a:t>
                      </a:r>
                    </a:p>
                  </a:txBody>
                  <a:tcPr marL="73152" marR="73152" marT="27432" marB="27432" anchor="ctr">
                    <a:solidFill>
                      <a:srgbClr val="0F4C5C"/>
                    </a:solidFill>
                  </a:tcPr>
                </a:tc>
                <a:tc>
                  <a:txBody>
                    <a:bodyPr/>
                    <a:lstStyle/>
                    <a:p>
                      <a:pPr algn="ctr"/>
                      <a:r>
                        <a:rPr sz="1500" b="1">
                          <a:solidFill>
                            <a:srgbClr val="FFFFFF"/>
                          </a:solidFill>
                          <a:latin typeface="Calibri"/>
                        </a:rPr>
                        <a:t>A</a:t>
                      </a:r>
                    </a:p>
                  </a:txBody>
                  <a:tcPr marL="73152" marR="73152" marT="27432" marB="27432" anchor="ctr">
                    <a:solidFill>
                      <a:srgbClr val="0F4C5C"/>
                    </a:solidFill>
                  </a:tcPr>
                </a:tc>
                <a:tc>
                  <a:txBody>
                    <a:bodyPr/>
                    <a:lstStyle/>
                    <a:p>
                      <a:pPr algn="ctr"/>
                      <a:r>
                        <a:rPr sz="1500" b="1">
                          <a:solidFill>
                            <a:srgbClr val="FFFFFF"/>
                          </a:solidFill>
                          <a:latin typeface="Calibri"/>
                        </a:rPr>
                        <a:t>B</a:t>
                      </a:r>
                    </a:p>
                  </a:txBody>
                  <a:tcPr marL="73152" marR="73152" marT="27432" marB="27432" anchor="ctr">
                    <a:solidFill>
                      <a:srgbClr val="0F4C5C"/>
                    </a:solidFill>
                  </a:tcPr>
                </a:tc>
                <a:tc>
                  <a:txBody>
                    <a:bodyPr/>
                    <a:lstStyle/>
                    <a:p>
                      <a:pPr algn="ctr"/>
                      <a:r>
                        <a:rPr sz="1500" b="1">
                          <a:solidFill>
                            <a:srgbClr val="FFFFFF"/>
                          </a:solidFill>
                          <a:latin typeface="Calibri"/>
                        </a:rPr>
                        <a:t>C</a:t>
                      </a:r>
                    </a:p>
                  </a:txBody>
                  <a:tcPr marL="73152" marR="73152" marT="27432" marB="27432" anchor="ctr">
                    <a:solidFill>
                      <a:srgbClr val="0F4C5C"/>
                    </a:solidFill>
                  </a:tcPr>
                </a:tc>
                <a:tc>
                  <a:txBody>
                    <a:bodyPr/>
                    <a:lstStyle/>
                    <a:p>
                      <a:pPr algn="ctr"/>
                      <a:r>
                        <a:rPr sz="1500" b="1">
                          <a:solidFill>
                            <a:srgbClr val="FFFFFF"/>
                          </a:solidFill>
                          <a:latin typeface="Calibri"/>
                        </a:rPr>
                        <a:t>D</a:t>
                      </a:r>
                    </a:p>
                  </a:txBody>
                  <a:tcPr marL="73152" marR="73152" marT="27432" marB="27432" anchor="ctr">
                    <a:solidFill>
                      <a:srgbClr val="0F4C5C"/>
                    </a:solidFill>
                  </a:tcPr>
                </a:tc>
                <a:tc>
                  <a:txBody>
                    <a:bodyPr/>
                    <a:lstStyle/>
                    <a:p>
                      <a:pPr algn="ctr"/>
                      <a:r>
                        <a:rPr sz="1500" b="1">
                          <a:solidFill>
                            <a:srgbClr val="FFFFFF"/>
                          </a:solidFill>
                          <a:latin typeface="Calibri"/>
                        </a:rPr>
                        <a:t>Trat.</a:t>
                      </a:r>
                    </a:p>
                  </a:txBody>
                  <a:tcPr marL="73152" marR="73152" marT="27432" marB="27432" anchor="ctr">
                    <a:solidFill>
                      <a:srgbClr val="0F4C5C"/>
                    </a:solidFill>
                  </a:tcPr>
                </a:tc>
                <a:tc>
                  <a:txBody>
                    <a:bodyPr/>
                    <a:lstStyle/>
                    <a:p>
                      <a:pPr algn="ctr"/>
                      <a:r>
                        <a:rPr sz="1500" b="1">
                          <a:solidFill>
                            <a:srgbClr val="FFFFFF"/>
                          </a:solidFill>
                          <a:latin typeface="Calibri"/>
                        </a:rPr>
                        <a:t>Filtración</a:t>
                      </a:r>
                    </a:p>
                  </a:txBody>
                  <a:tcPr marL="73152" marR="73152" marT="27432" marB="27432" anchor="ctr">
                    <a:solidFill>
                      <a:srgbClr val="0F4C5C"/>
                    </a:solidFill>
                  </a:tcPr>
                </a:tc>
              </a:tr>
              <a:tr h="351282">
                <a:tc>
                  <a:txBody>
                    <a:bodyPr/>
                    <a:lstStyle/>
                    <a:p>
                      <a:pPr algn="ctr"/>
                      <a:r>
                        <a:rPr sz="1500" b="0">
                          <a:solidFill>
                            <a:srgbClr val="142B33"/>
                          </a:solidFill>
                          <a:latin typeface="Calibri"/>
                        </a:rPr>
                        <a:t>1</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(1)</a:t>
                      </a:r>
                    </a:p>
                  </a:txBody>
                  <a:tcPr marL="73152" marR="73152" marT="27432" marB="27432" anchor="ctr">
                    <a:solidFill>
                      <a:srgbClr val="FFFFFF"/>
                    </a:solidFill>
                  </a:tcPr>
                </a:tc>
                <a:tc>
                  <a:txBody>
                    <a:bodyPr/>
                    <a:lstStyle/>
                    <a:p>
                      <a:pPr algn="ctr"/>
                      <a:r>
                        <a:rPr sz="1500" b="0">
                          <a:solidFill>
                            <a:srgbClr val="142B33"/>
                          </a:solidFill>
                          <a:latin typeface="Calibri"/>
                        </a:rPr>
                        <a:t>45</a:t>
                      </a:r>
                    </a:p>
                  </a:txBody>
                  <a:tcPr marL="73152" marR="73152" marT="27432" marB="27432" anchor="ctr">
                    <a:solidFill>
                      <a:srgbClr val="FFFFFF"/>
                    </a:solidFill>
                  </a:tcPr>
                </a:tc>
              </a:tr>
              <a:tr h="351282">
                <a:tc>
                  <a:txBody>
                    <a:bodyPr/>
                    <a:lstStyle/>
                    <a:p>
                      <a:pPr algn="ctr"/>
                      <a:r>
                        <a:rPr sz="1500" b="0">
                          <a:solidFill>
                            <a:srgbClr val="142B33"/>
                          </a:solidFill>
                          <a:latin typeface="Calibri"/>
                        </a:rPr>
                        <a:t>2</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ad</a:t>
                      </a:r>
                    </a:p>
                  </a:txBody>
                  <a:tcPr marL="73152" marR="73152" marT="27432" marB="27432" anchor="ctr">
                    <a:solidFill>
                      <a:srgbClr val="F4F8F9"/>
                    </a:solidFill>
                  </a:tcPr>
                </a:tc>
                <a:tc>
                  <a:txBody>
                    <a:bodyPr/>
                    <a:lstStyle/>
                    <a:p>
                      <a:pPr algn="ctr"/>
                      <a:r>
                        <a:rPr sz="1500" b="0">
                          <a:solidFill>
                            <a:srgbClr val="142B33"/>
                          </a:solidFill>
                          <a:latin typeface="Calibri"/>
                        </a:rPr>
                        <a:t>100</a:t>
                      </a:r>
                    </a:p>
                  </a:txBody>
                  <a:tcPr marL="73152" marR="73152" marT="27432" marB="27432" anchor="ctr">
                    <a:solidFill>
                      <a:srgbClr val="F4F8F9"/>
                    </a:solidFill>
                  </a:tcPr>
                </a:tc>
              </a:tr>
              <a:tr h="351282">
                <a:tc>
                  <a:txBody>
                    <a:bodyPr/>
                    <a:lstStyle/>
                    <a:p>
                      <a:pPr algn="ctr"/>
                      <a:r>
                        <a:rPr sz="1500" b="0">
                          <a:solidFill>
                            <a:srgbClr val="142B33"/>
                          </a:solidFill>
                          <a:latin typeface="Calibri"/>
                        </a:rPr>
                        <a:t>3</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bd</a:t>
                      </a:r>
                    </a:p>
                  </a:txBody>
                  <a:tcPr marL="73152" marR="73152" marT="27432" marB="27432" anchor="ctr">
                    <a:solidFill>
                      <a:srgbClr val="FFFFFF"/>
                    </a:solidFill>
                  </a:tcPr>
                </a:tc>
                <a:tc>
                  <a:txBody>
                    <a:bodyPr/>
                    <a:lstStyle/>
                    <a:p>
                      <a:pPr algn="ctr"/>
                      <a:r>
                        <a:rPr sz="1500" b="0">
                          <a:solidFill>
                            <a:srgbClr val="142B33"/>
                          </a:solidFill>
                          <a:latin typeface="Calibri"/>
                        </a:rPr>
                        <a:t>45</a:t>
                      </a:r>
                    </a:p>
                  </a:txBody>
                  <a:tcPr marL="73152" marR="73152" marT="27432" marB="27432" anchor="ctr">
                    <a:solidFill>
                      <a:srgbClr val="FFFFFF"/>
                    </a:solidFill>
                  </a:tcPr>
                </a:tc>
              </a:tr>
              <a:tr h="351282">
                <a:tc>
                  <a:txBody>
                    <a:bodyPr/>
                    <a:lstStyle/>
                    <a:p>
                      <a:pPr algn="ctr"/>
                      <a:r>
                        <a:rPr sz="1500" b="0">
                          <a:solidFill>
                            <a:srgbClr val="142B33"/>
                          </a:solidFill>
                          <a:latin typeface="Calibri"/>
                        </a:rPr>
                        <a:t>4</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ab</a:t>
                      </a:r>
                    </a:p>
                  </a:txBody>
                  <a:tcPr marL="73152" marR="73152" marT="27432" marB="27432" anchor="ctr">
                    <a:solidFill>
                      <a:srgbClr val="F4F8F9"/>
                    </a:solidFill>
                  </a:tcPr>
                </a:tc>
                <a:tc>
                  <a:txBody>
                    <a:bodyPr/>
                    <a:lstStyle/>
                    <a:p>
                      <a:pPr algn="ctr"/>
                      <a:r>
                        <a:rPr sz="1500" b="0">
                          <a:solidFill>
                            <a:srgbClr val="142B33"/>
                          </a:solidFill>
                          <a:latin typeface="Calibri"/>
                        </a:rPr>
                        <a:t>65</a:t>
                      </a:r>
                    </a:p>
                  </a:txBody>
                  <a:tcPr marL="73152" marR="73152" marT="27432" marB="27432" anchor="ctr">
                    <a:solidFill>
                      <a:srgbClr val="F4F8F9"/>
                    </a:solidFill>
                  </a:tcPr>
                </a:tc>
              </a:tr>
              <a:tr h="351282">
                <a:tc>
                  <a:txBody>
                    <a:bodyPr/>
                    <a:lstStyle/>
                    <a:p>
                      <a:pPr algn="ctr"/>
                      <a:r>
                        <a:rPr sz="1500" b="0">
                          <a:solidFill>
                            <a:srgbClr val="142B33"/>
                          </a:solidFill>
                          <a:latin typeface="Calibri"/>
                        </a:rPr>
                        <a:t>5</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cd</a:t>
                      </a:r>
                    </a:p>
                  </a:txBody>
                  <a:tcPr marL="73152" marR="73152" marT="27432" marB="27432" anchor="ctr">
                    <a:solidFill>
                      <a:srgbClr val="FFFFFF"/>
                    </a:solidFill>
                  </a:tcPr>
                </a:tc>
                <a:tc>
                  <a:txBody>
                    <a:bodyPr/>
                    <a:lstStyle/>
                    <a:p>
                      <a:pPr algn="ctr"/>
                      <a:r>
                        <a:rPr sz="1500" b="0">
                          <a:solidFill>
                            <a:srgbClr val="142B33"/>
                          </a:solidFill>
                          <a:latin typeface="Calibri"/>
                        </a:rPr>
                        <a:t>75</a:t>
                      </a:r>
                    </a:p>
                  </a:txBody>
                  <a:tcPr marL="73152" marR="73152" marT="27432" marB="27432" anchor="ctr">
                    <a:solidFill>
                      <a:srgbClr val="FFFFFF"/>
                    </a:solidFill>
                  </a:tcPr>
                </a:tc>
              </a:tr>
              <a:tr h="351282">
                <a:tc>
                  <a:txBody>
                    <a:bodyPr/>
                    <a:lstStyle/>
                    <a:p>
                      <a:pPr algn="ctr"/>
                      <a:r>
                        <a:rPr sz="1500" b="0">
                          <a:solidFill>
                            <a:srgbClr val="142B33"/>
                          </a:solidFill>
                          <a:latin typeface="Calibri"/>
                        </a:rPr>
                        <a:t>6</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ac</a:t>
                      </a:r>
                    </a:p>
                  </a:txBody>
                  <a:tcPr marL="73152" marR="73152" marT="27432" marB="27432" anchor="ctr">
                    <a:solidFill>
                      <a:srgbClr val="F4F8F9"/>
                    </a:solidFill>
                  </a:tcPr>
                </a:tc>
                <a:tc>
                  <a:txBody>
                    <a:bodyPr/>
                    <a:lstStyle/>
                    <a:p>
                      <a:pPr algn="ctr"/>
                      <a:r>
                        <a:rPr sz="1500" b="0">
                          <a:solidFill>
                            <a:srgbClr val="142B33"/>
                          </a:solidFill>
                          <a:latin typeface="Calibri"/>
                        </a:rPr>
                        <a:t>60</a:t>
                      </a:r>
                    </a:p>
                  </a:txBody>
                  <a:tcPr marL="73152" marR="73152" marT="27432" marB="27432" anchor="ctr">
                    <a:solidFill>
                      <a:srgbClr val="F4F8F9"/>
                    </a:solidFill>
                  </a:tcPr>
                </a:tc>
              </a:tr>
              <a:tr h="351282">
                <a:tc>
                  <a:txBody>
                    <a:bodyPr/>
                    <a:lstStyle/>
                    <a:p>
                      <a:pPr algn="ctr"/>
                      <a:r>
                        <a:rPr sz="1500" b="0">
                          <a:solidFill>
                            <a:srgbClr val="142B33"/>
                          </a:solidFill>
                          <a:latin typeface="Calibri"/>
                        </a:rPr>
                        <a:t>7</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bc</a:t>
                      </a:r>
                    </a:p>
                  </a:txBody>
                  <a:tcPr marL="73152" marR="73152" marT="27432" marB="27432" anchor="ctr">
                    <a:solidFill>
                      <a:srgbClr val="FFFFFF"/>
                    </a:solidFill>
                  </a:tcPr>
                </a:tc>
                <a:tc>
                  <a:txBody>
                    <a:bodyPr/>
                    <a:lstStyle/>
                    <a:p>
                      <a:pPr algn="ctr"/>
                      <a:r>
                        <a:rPr sz="1500" b="0">
                          <a:solidFill>
                            <a:srgbClr val="142B33"/>
                          </a:solidFill>
                          <a:latin typeface="Calibri"/>
                        </a:rPr>
                        <a:t>80</a:t>
                      </a:r>
                    </a:p>
                  </a:txBody>
                  <a:tcPr marL="73152" marR="73152" marT="27432" marB="27432" anchor="ctr">
                    <a:solidFill>
                      <a:srgbClr val="FFFFFF"/>
                    </a:solidFill>
                  </a:tcPr>
                </a:tc>
              </a:tr>
              <a:tr h="351282">
                <a:tc>
                  <a:txBody>
                    <a:bodyPr/>
                    <a:lstStyle/>
                    <a:p>
                      <a:pPr algn="ctr"/>
                      <a:r>
                        <a:rPr sz="1500" b="0">
                          <a:solidFill>
                            <a:srgbClr val="142B33"/>
                          </a:solidFill>
                          <a:latin typeface="Calibri"/>
                        </a:rPr>
                        <a:t>8</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abcd</a:t>
                      </a:r>
                    </a:p>
                  </a:txBody>
                  <a:tcPr marL="73152" marR="73152" marT="27432" marB="27432" anchor="ctr">
                    <a:solidFill>
                      <a:srgbClr val="F4F8F9"/>
                    </a:solidFill>
                  </a:tcPr>
                </a:tc>
                <a:tc>
                  <a:txBody>
                    <a:bodyPr/>
                    <a:lstStyle/>
                    <a:p>
                      <a:pPr algn="ctr"/>
                      <a:r>
                        <a:rPr sz="1500" b="0">
                          <a:solidFill>
                            <a:srgbClr val="142B33"/>
                          </a:solidFill>
                          <a:latin typeface="Calibri"/>
                        </a:rPr>
                        <a:t>96</a:t>
                      </a:r>
                    </a:p>
                  </a:txBody>
                  <a:tcPr marL="73152" marR="73152" marT="27432" marB="27432" anchor="ctr">
                    <a:solidFill>
                      <a:srgbClr val="F4F8F9"/>
                    </a:solidFill>
                  </a:tcPr>
                </a:tc>
              </a:tr>
            </a:tbl>
          </a:graphicData>
        </a:graphic>
      </p:graphicFrame>
      <p:sp>
        <p:nvSpPr>
          <p:cNvPr id="6" name="TextBox 5"/>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La fracción un medio 2</a:t>
            </a:r>
            <a:r>
              <a:rPr sz="1000" b="0" baseline="30000">
                <a:solidFill>
                  <a:srgbClr val="5B6B73"/>
                </a:solidFill>
                <a:latin typeface="Calibri"/>
              </a:rPr>
              <a:t>k−1</a:t>
            </a:r>
          </a:p>
        </p:txBody>
      </p:sp>
      <p:sp>
        <p:nvSpPr>
          <p:cNvPr id="7" name="TextBox 6"/>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25</a:t>
            </a:r>
          </a:p>
        </p:txBody>
      </p:sp>
      <p:sp>
        <p:nvSpPr>
          <p:cNvPr id="8" name="Rounded Rectangle 7"/>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4 · La fracción un medio 2</a:t>
            </a:r>
            <a:r>
              <a:rPr sz="1100" b="1" baseline="30000">
                <a:solidFill>
                  <a:srgbClr val="FFFFFF"/>
                </a:solidFill>
                <a:latin typeface="Calibri"/>
              </a:rPr>
              <a:t>k−1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1 · Efectos estimados y alias</a:t>
            </a:r>
          </a:p>
        </p:txBody>
      </p:sp>
      <p:graphicFrame>
        <p:nvGraphicFramePr>
          <p:cNvPr id="3" name="Table 2"/>
          <p:cNvGraphicFramePr>
            <a:graphicFrameLocks noGrp="1"/>
          </p:cNvGraphicFramePr>
          <p:nvPr/>
        </p:nvGraphicFramePr>
        <p:xfrm>
          <a:off x="548640" y="1417320"/>
          <a:ext cx="4914148" cy="2934208"/>
        </p:xfrm>
        <a:graphic>
          <a:graphicData uri="http://schemas.openxmlformats.org/drawingml/2006/table">
            <a:tbl>
              <a:tblPr firstRow="0" bandRow="0">
                <a:tableStyleId>{5C22544A-7EE6-4342-B048-85BDC9FD1C3A}</a:tableStyleId>
              </a:tblPr>
              <a:tblGrid>
                <a:gridCol w="1770314"/>
                <a:gridCol w="1571917"/>
                <a:gridCol w="1571917"/>
              </a:tblGrid>
              <a:tr h="366776">
                <a:tc>
                  <a:txBody>
                    <a:bodyPr/>
                    <a:lstStyle/>
                    <a:p>
                      <a:pPr algn="ctr"/>
                      <a:r>
                        <a:rPr sz="1600" b="1">
                          <a:solidFill>
                            <a:srgbClr val="FFFFFF"/>
                          </a:solidFill>
                          <a:latin typeface="Calibri"/>
                        </a:rPr>
                        <a:t>Columna</a:t>
                      </a:r>
                    </a:p>
                  </a:txBody>
                  <a:tcPr marL="73152" marR="73152" marT="27432" marB="27432" anchor="ctr">
                    <a:solidFill>
                      <a:srgbClr val="0F4C5C"/>
                    </a:solidFill>
                  </a:tcPr>
                </a:tc>
                <a:tc>
                  <a:txBody>
                    <a:bodyPr/>
                    <a:lstStyle/>
                    <a:p>
                      <a:pPr algn="ctr"/>
                      <a:r>
                        <a:rPr sz="1600" b="1">
                          <a:solidFill>
                            <a:srgbClr val="FFFFFF"/>
                          </a:solidFill>
                          <a:latin typeface="Calibri"/>
                        </a:rPr>
                        <a:t>Efecto</a:t>
                      </a:r>
                    </a:p>
                  </a:txBody>
                  <a:tcPr marL="73152" marR="73152" marT="27432" marB="27432" anchor="ctr">
                    <a:solidFill>
                      <a:srgbClr val="0F4C5C"/>
                    </a:solidFill>
                  </a:tcPr>
                </a:tc>
                <a:tc>
                  <a:txBody>
                    <a:bodyPr/>
                    <a:lstStyle/>
                    <a:p>
                      <a:pPr algn="ctr"/>
                      <a:r>
                        <a:rPr sz="1600" b="1">
                          <a:solidFill>
                            <a:srgbClr val="FFFFFF"/>
                          </a:solidFill>
                          <a:latin typeface="Calibri"/>
                        </a:rPr>
                        <a:t>Estima</a:t>
                      </a:r>
                    </a:p>
                  </a:txBody>
                  <a:tcPr marL="73152" marR="73152" marT="27432" marB="27432" anchor="ctr">
                    <a:solidFill>
                      <a:srgbClr val="0F4C5C"/>
                    </a:solidFill>
                  </a:tcPr>
                </a:tc>
              </a:tr>
              <a:tr h="366776">
                <a:tc>
                  <a:txBody>
                    <a:bodyPr/>
                    <a:lstStyle/>
                    <a:p>
                      <a:pPr algn="ctr"/>
                      <a:r>
                        <a:rPr sz="1600" b="0">
                          <a:solidFill>
                            <a:srgbClr val="142B33"/>
                          </a:solidFill>
                          <a:latin typeface="Calibri"/>
                        </a:rPr>
                        <a:t>A</a:t>
                      </a:r>
                    </a:p>
                  </a:txBody>
                  <a:tcPr marL="73152" marR="73152" marT="27432" marB="27432" anchor="ctr">
                    <a:solidFill>
                      <a:srgbClr val="FDE8D7"/>
                    </a:solidFill>
                  </a:tcPr>
                </a:tc>
                <a:tc>
                  <a:txBody>
                    <a:bodyPr/>
                    <a:lstStyle/>
                    <a:p>
                      <a:pPr algn="ctr"/>
                      <a:r>
                        <a:rPr sz="1600" b="0">
                          <a:solidFill>
                            <a:srgbClr val="142B33"/>
                          </a:solidFill>
                          <a:latin typeface="Calibri"/>
                        </a:rPr>
                        <a:t>19.00</a:t>
                      </a:r>
                    </a:p>
                  </a:txBody>
                  <a:tcPr marL="73152" marR="73152" marT="27432" marB="27432" anchor="ctr">
                    <a:solidFill>
                      <a:srgbClr val="FDE8D7"/>
                    </a:solidFill>
                  </a:tcPr>
                </a:tc>
                <a:tc>
                  <a:txBody>
                    <a:bodyPr/>
                    <a:lstStyle/>
                    <a:p>
                      <a:pPr algn="ctr"/>
                      <a:r>
                        <a:rPr sz="1600" b="0">
                          <a:solidFill>
                            <a:srgbClr val="142B33"/>
                          </a:solidFill>
                          <a:latin typeface="Calibri"/>
                        </a:rPr>
                        <a:t>A + BCD</a:t>
                      </a:r>
                    </a:p>
                  </a:txBody>
                  <a:tcPr marL="73152" marR="73152" marT="27432" marB="27432" anchor="ctr">
                    <a:solidFill>
                      <a:srgbClr val="FDE8D7"/>
                    </a:solidFill>
                  </a:tcPr>
                </a:tc>
              </a:tr>
              <a:tr h="366776">
                <a:tc>
                  <a:txBody>
                    <a:bodyPr/>
                    <a:lstStyle/>
                    <a:p>
                      <a:pPr algn="ctr"/>
                      <a:r>
                        <a:rPr sz="1600" b="0">
                          <a:solidFill>
                            <a:srgbClr val="142B33"/>
                          </a:solidFill>
                          <a:latin typeface="Calibri"/>
                        </a:rPr>
                        <a:t>B</a:t>
                      </a:r>
                    </a:p>
                  </a:txBody>
                  <a:tcPr marL="73152" marR="73152" marT="27432" marB="27432" anchor="ctr">
                    <a:solidFill>
                      <a:srgbClr val="F4F8F9"/>
                    </a:solidFill>
                  </a:tcPr>
                </a:tc>
                <a:tc>
                  <a:txBody>
                    <a:bodyPr/>
                    <a:lstStyle/>
                    <a:p>
                      <a:pPr algn="ctr"/>
                      <a:r>
                        <a:rPr sz="1600" b="0">
                          <a:solidFill>
                            <a:srgbClr val="142B33"/>
                          </a:solidFill>
                          <a:latin typeface="Calibri"/>
                        </a:rPr>
                        <a:t>1.50</a:t>
                      </a:r>
                    </a:p>
                  </a:txBody>
                  <a:tcPr marL="73152" marR="73152" marT="27432" marB="27432" anchor="ctr">
                    <a:solidFill>
                      <a:srgbClr val="F4F8F9"/>
                    </a:solidFill>
                  </a:tcPr>
                </a:tc>
                <a:tc>
                  <a:txBody>
                    <a:bodyPr/>
                    <a:lstStyle/>
                    <a:p>
                      <a:pPr algn="ctr"/>
                      <a:r>
                        <a:rPr sz="1600" b="0">
                          <a:solidFill>
                            <a:srgbClr val="142B33"/>
                          </a:solidFill>
                          <a:latin typeface="Calibri"/>
                        </a:rPr>
                        <a:t>B + ACD</a:t>
                      </a:r>
                    </a:p>
                  </a:txBody>
                  <a:tcPr marL="73152" marR="73152" marT="27432" marB="27432" anchor="ctr">
                    <a:solidFill>
                      <a:srgbClr val="F4F8F9"/>
                    </a:solidFill>
                  </a:tcPr>
                </a:tc>
              </a:tr>
              <a:tr h="366776">
                <a:tc>
                  <a:txBody>
                    <a:bodyPr/>
                    <a:lstStyle/>
                    <a:p>
                      <a:pPr algn="ctr"/>
                      <a:r>
                        <a:rPr sz="1600" b="0">
                          <a:solidFill>
                            <a:srgbClr val="142B33"/>
                          </a:solidFill>
                          <a:latin typeface="Calibri"/>
                        </a:rPr>
                        <a:t>C</a:t>
                      </a:r>
                    </a:p>
                  </a:txBody>
                  <a:tcPr marL="73152" marR="73152" marT="27432" marB="27432" anchor="ctr">
                    <a:solidFill>
                      <a:srgbClr val="FDE8D7"/>
                    </a:solidFill>
                  </a:tcPr>
                </a:tc>
                <a:tc>
                  <a:txBody>
                    <a:bodyPr/>
                    <a:lstStyle/>
                    <a:p>
                      <a:pPr algn="ctr"/>
                      <a:r>
                        <a:rPr sz="1600" b="0">
                          <a:solidFill>
                            <a:srgbClr val="142B33"/>
                          </a:solidFill>
                          <a:latin typeface="Calibri"/>
                        </a:rPr>
                        <a:t>14.00</a:t>
                      </a:r>
                    </a:p>
                  </a:txBody>
                  <a:tcPr marL="73152" marR="73152" marT="27432" marB="27432" anchor="ctr">
                    <a:solidFill>
                      <a:srgbClr val="FDE8D7"/>
                    </a:solidFill>
                  </a:tcPr>
                </a:tc>
                <a:tc>
                  <a:txBody>
                    <a:bodyPr/>
                    <a:lstStyle/>
                    <a:p>
                      <a:pPr algn="ctr"/>
                      <a:r>
                        <a:rPr sz="1600" b="0">
                          <a:solidFill>
                            <a:srgbClr val="142B33"/>
                          </a:solidFill>
                          <a:latin typeface="Calibri"/>
                        </a:rPr>
                        <a:t>C + ABD</a:t>
                      </a:r>
                    </a:p>
                  </a:txBody>
                  <a:tcPr marL="73152" marR="73152" marT="27432" marB="27432" anchor="ctr">
                    <a:solidFill>
                      <a:srgbClr val="FDE8D7"/>
                    </a:solidFill>
                  </a:tcPr>
                </a:tc>
              </a:tr>
              <a:tr h="366776">
                <a:tc>
                  <a:txBody>
                    <a:bodyPr/>
                    <a:lstStyle/>
                    <a:p>
                      <a:pPr algn="ctr"/>
                      <a:r>
                        <a:rPr sz="1600" b="0">
                          <a:solidFill>
                            <a:srgbClr val="142B33"/>
                          </a:solidFill>
                          <a:latin typeface="Calibri"/>
                        </a:rPr>
                        <a:t>D</a:t>
                      </a:r>
                    </a:p>
                  </a:txBody>
                  <a:tcPr marL="73152" marR="73152" marT="27432" marB="27432" anchor="ctr">
                    <a:solidFill>
                      <a:srgbClr val="FDE8D7"/>
                    </a:solidFill>
                  </a:tcPr>
                </a:tc>
                <a:tc>
                  <a:txBody>
                    <a:bodyPr/>
                    <a:lstStyle/>
                    <a:p>
                      <a:pPr algn="ctr"/>
                      <a:r>
                        <a:rPr sz="1600" b="0">
                          <a:solidFill>
                            <a:srgbClr val="142B33"/>
                          </a:solidFill>
                          <a:latin typeface="Calibri"/>
                        </a:rPr>
                        <a:t>16.50</a:t>
                      </a:r>
                    </a:p>
                  </a:txBody>
                  <a:tcPr marL="73152" marR="73152" marT="27432" marB="27432" anchor="ctr">
                    <a:solidFill>
                      <a:srgbClr val="FDE8D7"/>
                    </a:solidFill>
                  </a:tcPr>
                </a:tc>
                <a:tc>
                  <a:txBody>
                    <a:bodyPr/>
                    <a:lstStyle/>
                    <a:p>
                      <a:pPr algn="ctr"/>
                      <a:r>
                        <a:rPr sz="1600" b="0">
                          <a:solidFill>
                            <a:srgbClr val="142B33"/>
                          </a:solidFill>
                          <a:latin typeface="Calibri"/>
                        </a:rPr>
                        <a:t>D + ABC</a:t>
                      </a:r>
                    </a:p>
                  </a:txBody>
                  <a:tcPr marL="73152" marR="73152" marT="27432" marB="27432" anchor="ctr">
                    <a:solidFill>
                      <a:srgbClr val="FDE8D7"/>
                    </a:solidFill>
                  </a:tcPr>
                </a:tc>
              </a:tr>
              <a:tr h="366776">
                <a:tc>
                  <a:txBody>
                    <a:bodyPr/>
                    <a:lstStyle/>
                    <a:p>
                      <a:pPr algn="ctr"/>
                      <a:r>
                        <a:rPr sz="1600" b="0">
                          <a:solidFill>
                            <a:srgbClr val="142B33"/>
                          </a:solidFill>
                          <a:latin typeface="Calibri"/>
                        </a:rPr>
                        <a:t>AB</a:t>
                      </a:r>
                    </a:p>
                  </a:txBody>
                  <a:tcPr marL="73152" marR="73152" marT="27432" marB="27432" anchor="ctr">
                    <a:solidFill>
                      <a:srgbClr val="FFFFFF"/>
                    </a:solidFill>
                  </a:tcPr>
                </a:tc>
                <a:tc>
                  <a:txBody>
                    <a:bodyPr/>
                    <a:lstStyle/>
                    <a:p>
                      <a:pPr algn="ctr"/>
                      <a:r>
                        <a:rPr sz="1600" b="0">
                          <a:solidFill>
                            <a:srgbClr val="142B33"/>
                          </a:solidFill>
                          <a:latin typeface="Calibri"/>
                        </a:rPr>
                        <a:t>−1.00</a:t>
                      </a:r>
                    </a:p>
                  </a:txBody>
                  <a:tcPr marL="73152" marR="73152" marT="27432" marB="27432" anchor="ctr">
                    <a:solidFill>
                      <a:srgbClr val="FFFFFF"/>
                    </a:solidFill>
                  </a:tcPr>
                </a:tc>
                <a:tc>
                  <a:txBody>
                    <a:bodyPr/>
                    <a:lstStyle/>
                    <a:p>
                      <a:pPr algn="ctr"/>
                      <a:r>
                        <a:rPr sz="1600" b="0">
                          <a:solidFill>
                            <a:srgbClr val="142B33"/>
                          </a:solidFill>
                          <a:latin typeface="Calibri"/>
                        </a:rPr>
                        <a:t>AB + CD</a:t>
                      </a:r>
                    </a:p>
                  </a:txBody>
                  <a:tcPr marL="73152" marR="73152" marT="27432" marB="27432" anchor="ctr">
                    <a:solidFill>
                      <a:srgbClr val="FFFFFF"/>
                    </a:solidFill>
                  </a:tcPr>
                </a:tc>
              </a:tr>
              <a:tr h="366776">
                <a:tc>
                  <a:txBody>
                    <a:bodyPr/>
                    <a:lstStyle/>
                    <a:p>
                      <a:pPr algn="ctr"/>
                      <a:r>
                        <a:rPr sz="1600" b="0">
                          <a:solidFill>
                            <a:srgbClr val="142B33"/>
                          </a:solidFill>
                          <a:latin typeface="Calibri"/>
                        </a:rPr>
                        <a:t>AC</a:t>
                      </a:r>
                    </a:p>
                  </a:txBody>
                  <a:tcPr marL="73152" marR="73152" marT="27432" marB="27432" anchor="ctr">
                    <a:solidFill>
                      <a:srgbClr val="FDE8D7"/>
                    </a:solidFill>
                  </a:tcPr>
                </a:tc>
                <a:tc>
                  <a:txBody>
                    <a:bodyPr/>
                    <a:lstStyle/>
                    <a:p>
                      <a:pPr algn="ctr"/>
                      <a:r>
                        <a:rPr sz="1600" b="0">
                          <a:solidFill>
                            <a:srgbClr val="142B33"/>
                          </a:solidFill>
                          <a:latin typeface="Calibri"/>
                        </a:rPr>
                        <a:t>−18.50</a:t>
                      </a:r>
                    </a:p>
                  </a:txBody>
                  <a:tcPr marL="73152" marR="73152" marT="27432" marB="27432" anchor="ctr">
                    <a:solidFill>
                      <a:srgbClr val="FDE8D7"/>
                    </a:solidFill>
                  </a:tcPr>
                </a:tc>
                <a:tc>
                  <a:txBody>
                    <a:bodyPr/>
                    <a:lstStyle/>
                    <a:p>
                      <a:pPr algn="ctr"/>
                      <a:r>
                        <a:rPr sz="1600" b="0">
                          <a:solidFill>
                            <a:srgbClr val="142B33"/>
                          </a:solidFill>
                          <a:latin typeface="Calibri"/>
                        </a:rPr>
                        <a:t>AC + BD</a:t>
                      </a:r>
                    </a:p>
                  </a:txBody>
                  <a:tcPr marL="73152" marR="73152" marT="27432" marB="27432" anchor="ctr">
                    <a:solidFill>
                      <a:srgbClr val="FDE8D7"/>
                    </a:solidFill>
                  </a:tcPr>
                </a:tc>
              </a:tr>
              <a:tr h="366776">
                <a:tc>
                  <a:txBody>
                    <a:bodyPr/>
                    <a:lstStyle/>
                    <a:p>
                      <a:pPr algn="ctr"/>
                      <a:r>
                        <a:rPr sz="1600" b="0">
                          <a:solidFill>
                            <a:srgbClr val="142B33"/>
                          </a:solidFill>
                          <a:latin typeface="Calibri"/>
                        </a:rPr>
                        <a:t>AD</a:t>
                      </a:r>
                    </a:p>
                  </a:txBody>
                  <a:tcPr marL="73152" marR="73152" marT="27432" marB="27432" anchor="ctr">
                    <a:solidFill>
                      <a:srgbClr val="FDE8D7"/>
                    </a:solidFill>
                  </a:tcPr>
                </a:tc>
                <a:tc>
                  <a:txBody>
                    <a:bodyPr/>
                    <a:lstStyle/>
                    <a:p>
                      <a:pPr algn="ctr"/>
                      <a:r>
                        <a:rPr sz="1600" b="0">
                          <a:solidFill>
                            <a:srgbClr val="142B33"/>
                          </a:solidFill>
                          <a:latin typeface="Calibri"/>
                        </a:rPr>
                        <a:t>19.00</a:t>
                      </a:r>
                    </a:p>
                  </a:txBody>
                  <a:tcPr marL="73152" marR="73152" marT="27432" marB="27432" anchor="ctr">
                    <a:solidFill>
                      <a:srgbClr val="FDE8D7"/>
                    </a:solidFill>
                  </a:tcPr>
                </a:tc>
                <a:tc>
                  <a:txBody>
                    <a:bodyPr/>
                    <a:lstStyle/>
                    <a:p>
                      <a:pPr algn="ctr"/>
                      <a:r>
                        <a:rPr sz="1600" b="0">
                          <a:solidFill>
                            <a:srgbClr val="142B33"/>
                          </a:solidFill>
                          <a:latin typeface="Calibri"/>
                        </a:rPr>
                        <a:t>AD + BC</a:t>
                      </a:r>
                    </a:p>
                  </a:txBody>
                  <a:tcPr marL="73152" marR="73152" marT="27432" marB="27432" anchor="ctr">
                    <a:solidFill>
                      <a:srgbClr val="FDE8D7"/>
                    </a:solidFill>
                  </a:tcPr>
                </a:tc>
              </a:tr>
            </a:tbl>
          </a:graphicData>
        </a:graphic>
      </p:graphicFrame>
      <p:sp>
        <p:nvSpPr>
          <p:cNvPr id="4" name="Rounded Rectangle 3"/>
          <p:cNvSpPr/>
          <p:nvPr/>
        </p:nvSpPr>
        <p:spPr>
          <a:xfrm>
            <a:off x="548640" y="4552696"/>
            <a:ext cx="4914150"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B es pequeño  →  AC + BD se atribuye a </a:t>
            </a:r>
            <a:r>
              <a:rPr sz="1500" b="1">
                <a:solidFill>
                  <a:srgbClr val="142B33"/>
                </a:solidFill>
                <a:latin typeface="Calibri"/>
              </a:rPr>
              <a:t>AC</a:t>
            </a:r>
            <a:r>
              <a:rPr sz="1500" b="0">
                <a:solidFill>
                  <a:srgbClr val="142B33"/>
                </a:solidFill>
                <a:latin typeface="Calibri"/>
              </a:rPr>
              <a:t> y AD + BC a </a:t>
            </a:r>
            <a:r>
              <a:rPr sz="1500" b="1">
                <a:solidFill>
                  <a:srgbClr val="142B33"/>
                </a:solidFill>
                <a:latin typeface="Calibri"/>
              </a:rPr>
              <a:t>AD</a:t>
            </a:r>
          </a:p>
        </p:txBody>
      </p:sp>
      <p:graphicFrame>
        <p:nvGraphicFramePr>
          <p:cNvPr id="5" name="Chart 4"/>
          <p:cNvGraphicFramePr>
            <a:graphicFrameLocks noGrp="1"/>
          </p:cNvGraphicFramePr>
          <p:nvPr/>
        </p:nvGraphicFramePr>
        <p:xfrm>
          <a:off x="5874270" y="1417320"/>
          <a:ext cx="5768785" cy="3749039"/>
        </p:xfrm>
        <a:graphic>
          <a:graphicData uri="http://schemas.openxmlformats.org/drawingml/2006/chart">
            <c:chart xmlns:c="http://schemas.openxmlformats.org/drawingml/2006/chart" r:id="rId2"/>
          </a:graphicData>
        </a:graphic>
      </p:graphicFrame>
      <p:sp>
        <p:nvSpPr>
          <p:cNvPr id="6" name="Rounded Rectangle 5"/>
          <p:cNvSpPr/>
          <p:nvPr/>
        </p:nvSpPr>
        <p:spPr>
          <a:xfrm>
            <a:off x="5874270" y="5367527"/>
            <a:ext cx="5768785" cy="708151"/>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400" b="0">
                <a:solidFill>
                  <a:srgbClr val="142B33"/>
                </a:solidFill>
                <a:latin typeface="Calibri"/>
              </a:rPr>
              <a:t>Lejos de la recta → </a:t>
            </a:r>
            <a:r>
              <a:rPr sz="1400" b="1">
                <a:solidFill>
                  <a:srgbClr val="142B33"/>
                </a:solidFill>
                <a:latin typeface="Calibri"/>
              </a:rPr>
              <a:t>modelo</a:t>
            </a:r>
            <a:r>
              <a:rPr sz="1400" b="0">
                <a:solidFill>
                  <a:srgbClr val="142B33"/>
                </a:solidFill>
                <a:latin typeface="Calibri"/>
              </a:rPr>
              <a:t> (A, C, D, AC, AD).  Sobre la recta → </a:t>
            </a:r>
            <a:r>
              <a:rPr sz="1400" b="1">
                <a:solidFill>
                  <a:srgbClr val="142B33"/>
                </a:solidFill>
                <a:latin typeface="Calibri"/>
              </a:rPr>
              <a:t>error</a:t>
            </a:r>
            <a:r>
              <a:rPr sz="1400" b="0">
                <a:solidFill>
                  <a:srgbClr val="142B33"/>
                </a:solidFill>
                <a:latin typeface="Calibri"/>
              </a:rPr>
              <a:t> (B, AB)</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La fracción un medio 2</a:t>
            </a:r>
            <a:r>
              <a:rPr sz="1000" b="0" baseline="30000">
                <a:solidFill>
                  <a:srgbClr val="5B6B73"/>
                </a:solidFill>
                <a:latin typeface="Calibri"/>
              </a:rPr>
              <a:t>k−1</a:t>
            </a:r>
          </a:p>
        </p:txBody>
      </p:sp>
      <p:sp>
        <p:nvSpPr>
          <p:cNvPr id="8" name="TextBox 7"/>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26</a:t>
            </a:r>
          </a:p>
        </p:txBody>
      </p:sp>
      <p:sp>
        <p:nvSpPr>
          <p:cNvPr id="9" name="Rounded Rectangle 8"/>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4 · La fracción un medio 2</a:t>
            </a:r>
            <a:r>
              <a:rPr sz="1100" b="1" baseline="30000">
                <a:solidFill>
                  <a:srgbClr val="FFFFFF"/>
                </a:solidFill>
                <a:latin typeface="Calibri"/>
              </a:rPr>
              <a:t>k−1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1 · ANOVA e interpretación</a:t>
            </a:r>
          </a:p>
        </p:txBody>
      </p:sp>
      <p:graphicFrame>
        <p:nvGraphicFramePr>
          <p:cNvPr id="3" name="Table 2"/>
          <p:cNvGraphicFramePr>
            <a:graphicFrameLocks noGrp="1"/>
          </p:cNvGraphicFramePr>
          <p:nvPr/>
        </p:nvGraphicFramePr>
        <p:xfrm>
          <a:off x="548640" y="1417320"/>
          <a:ext cx="5982440" cy="2810256"/>
        </p:xfrm>
        <a:graphic>
          <a:graphicData uri="http://schemas.openxmlformats.org/drawingml/2006/table">
            <a:tbl>
              <a:tblPr firstRow="0" bandRow="0">
                <a:tableStyleId>{5C22544A-7EE6-4342-B048-85BDC9FD1C3A}</a:tableStyleId>
              </a:tblPr>
              <a:tblGrid>
                <a:gridCol w="921320"/>
                <a:gridCol w="1044163"/>
                <a:gridCol w="626498"/>
                <a:gridCol w="921320"/>
                <a:gridCol w="1044163"/>
                <a:gridCol w="1424976"/>
              </a:tblGrid>
              <a:tr h="351282">
                <a:tc>
                  <a:txBody>
                    <a:bodyPr/>
                    <a:lstStyle/>
                    <a:p>
                      <a:pPr algn="l"/>
                      <a:r>
                        <a:rPr sz="1500" b="1">
                          <a:solidFill>
                            <a:srgbClr val="FFFFFF"/>
                          </a:solidFill>
                          <a:latin typeface="Calibri"/>
                        </a:rPr>
                        <a:t>SV</a:t>
                      </a:r>
                    </a:p>
                  </a:txBody>
                  <a:tcPr marL="73152" marR="73152" marT="27432" marB="27432" anchor="ctr">
                    <a:solidFill>
                      <a:srgbClr val="0F4C5C"/>
                    </a:solidFill>
                  </a:tcPr>
                </a:tc>
                <a:tc>
                  <a:txBody>
                    <a:bodyPr/>
                    <a:lstStyle/>
                    <a:p>
                      <a:pPr algn="ctr"/>
                      <a:r>
                        <a:rPr sz="1500" b="1">
                          <a:solidFill>
                            <a:srgbClr val="FFFFFF"/>
                          </a:solidFill>
                          <a:latin typeface="Calibri"/>
                        </a:rPr>
                        <a:t>SS</a:t>
                      </a:r>
                    </a:p>
                  </a:txBody>
                  <a:tcPr marL="73152" marR="73152" marT="27432" marB="27432" anchor="ctr">
                    <a:solidFill>
                      <a:srgbClr val="0F4C5C"/>
                    </a:solidFill>
                  </a:tcPr>
                </a:tc>
                <a:tc>
                  <a:txBody>
                    <a:bodyPr/>
                    <a:lstStyle/>
                    <a:p>
                      <a:pPr algn="ctr"/>
                      <a:r>
                        <a:rPr sz="1500" b="1">
                          <a:solidFill>
                            <a:srgbClr val="FFFFFF"/>
                          </a:solidFill>
                          <a:latin typeface="Calibri"/>
                        </a:rPr>
                        <a:t>DF</a:t>
                      </a:r>
                    </a:p>
                  </a:txBody>
                  <a:tcPr marL="73152" marR="73152" marT="27432" marB="27432" anchor="ctr">
                    <a:solidFill>
                      <a:srgbClr val="0F4C5C"/>
                    </a:solidFill>
                  </a:tcPr>
                </a:tc>
                <a:tc>
                  <a:txBody>
                    <a:bodyPr/>
                    <a:lstStyle/>
                    <a:p>
                      <a:pPr algn="ctr"/>
                      <a:r>
                        <a:rPr sz="1500" b="1">
                          <a:solidFill>
                            <a:srgbClr val="FFFFFF"/>
                          </a:solidFill>
                          <a:latin typeface="Calibri"/>
                        </a:rPr>
                        <a:t>MS</a:t>
                      </a:r>
                    </a:p>
                  </a:txBody>
                  <a:tcPr marL="73152" marR="73152" marT="27432" marB="27432" anchor="ctr">
                    <a:solidFill>
                      <a:srgbClr val="0F4C5C"/>
                    </a:solidFill>
                  </a:tcPr>
                </a:tc>
                <a:tc>
                  <a:txBody>
                    <a:bodyPr/>
                    <a:lstStyle/>
                    <a:p>
                      <a:pPr algn="ctr"/>
                      <a:r>
                        <a:rPr sz="1500" b="1">
                          <a:solidFill>
                            <a:srgbClr val="FFFFFF"/>
                          </a:solidFill>
                          <a:latin typeface="Calibri"/>
                        </a:rPr>
                        <a:t>F</a:t>
                      </a:r>
                      <a:r>
                        <a:rPr sz="1500" b="1" baseline="-25000">
                          <a:solidFill>
                            <a:srgbClr val="FFFFFF"/>
                          </a:solidFill>
                          <a:latin typeface="Calibri"/>
                        </a:rPr>
                        <a:t>0</a:t>
                      </a:r>
                    </a:p>
                  </a:txBody>
                  <a:tcPr marL="73152" marR="73152" marT="27432" marB="27432" anchor="ctr">
                    <a:solidFill>
                      <a:srgbClr val="0F4C5C"/>
                    </a:solidFill>
                  </a:tcPr>
                </a:tc>
                <a:tc>
                  <a:txBody>
                    <a:bodyPr/>
                    <a:lstStyle/>
                    <a:p>
                      <a:pPr algn="ctr"/>
                      <a:r>
                        <a:rPr sz="1500" b="1">
                          <a:solidFill>
                            <a:srgbClr val="FFFFFF"/>
                          </a:solidFill>
                          <a:latin typeface="Calibri"/>
                        </a:rPr>
                        <a:t>P-Value</a:t>
                      </a:r>
                    </a:p>
                  </a:txBody>
                  <a:tcPr marL="73152" marR="73152" marT="27432" marB="27432" anchor="ctr">
                    <a:solidFill>
                      <a:srgbClr val="0F4C5C"/>
                    </a:solidFill>
                  </a:tcPr>
                </a:tc>
              </a:tr>
              <a:tr h="351282">
                <a:tc>
                  <a:txBody>
                    <a:bodyPr/>
                    <a:lstStyle/>
                    <a:p>
                      <a:pPr algn="l"/>
                      <a:r>
                        <a:rPr sz="1500" b="0">
                          <a:solidFill>
                            <a:srgbClr val="142B33"/>
                          </a:solidFill>
                          <a:latin typeface="Calibri"/>
                        </a:rPr>
                        <a:t>A</a:t>
                      </a:r>
                    </a:p>
                  </a:txBody>
                  <a:tcPr marL="73152" marR="73152" marT="27432" marB="27432" anchor="ctr">
                    <a:solidFill>
                      <a:srgbClr val="FFFFFF"/>
                    </a:solidFill>
                  </a:tcPr>
                </a:tc>
                <a:tc>
                  <a:txBody>
                    <a:bodyPr/>
                    <a:lstStyle/>
                    <a:p>
                      <a:pPr algn="ctr"/>
                      <a:r>
                        <a:rPr sz="1500" b="0">
                          <a:solidFill>
                            <a:srgbClr val="142B33"/>
                          </a:solidFill>
                          <a:latin typeface="Calibri"/>
                        </a:rPr>
                        <a:t>722.0</a:t>
                      </a:r>
                    </a:p>
                  </a:txBody>
                  <a:tcPr marL="73152" marR="73152" marT="27432" marB="27432" anchor="ctr">
                    <a:solidFill>
                      <a:srgbClr val="FFFFFF"/>
                    </a:solidFill>
                  </a:tcPr>
                </a:tc>
                <a:tc>
                  <a:txBody>
                    <a:bodyPr/>
                    <a:lstStyle/>
                    <a:p>
                      <a:pPr algn="ctr"/>
                      <a:r>
                        <a:rPr sz="1500" b="0">
                          <a:solidFill>
                            <a:srgbClr val="142B33"/>
                          </a:solidFill>
                          <a:latin typeface="Calibri"/>
                        </a:rPr>
                        <a:t>1</a:t>
                      </a:r>
                    </a:p>
                  </a:txBody>
                  <a:tcPr marL="73152" marR="73152" marT="27432" marB="27432" anchor="ctr">
                    <a:solidFill>
                      <a:srgbClr val="FFFFFF"/>
                    </a:solidFill>
                  </a:tcPr>
                </a:tc>
                <a:tc>
                  <a:txBody>
                    <a:bodyPr/>
                    <a:lstStyle/>
                    <a:p>
                      <a:pPr algn="ctr"/>
                      <a:r>
                        <a:rPr sz="1500" b="0">
                          <a:solidFill>
                            <a:srgbClr val="142B33"/>
                          </a:solidFill>
                          <a:latin typeface="Calibri"/>
                        </a:rPr>
                        <a:t>722.0</a:t>
                      </a:r>
                    </a:p>
                  </a:txBody>
                  <a:tcPr marL="73152" marR="73152" marT="27432" marB="27432" anchor="ctr">
                    <a:solidFill>
                      <a:srgbClr val="FFFFFF"/>
                    </a:solidFill>
                  </a:tcPr>
                </a:tc>
                <a:tc>
                  <a:txBody>
                    <a:bodyPr/>
                    <a:lstStyle/>
                    <a:p>
                      <a:pPr algn="ctr"/>
                      <a:r>
                        <a:rPr sz="1500" b="0">
                          <a:solidFill>
                            <a:srgbClr val="142B33"/>
                          </a:solidFill>
                          <a:latin typeface="Calibri"/>
                        </a:rPr>
                        <a:t>222.15</a:t>
                      </a:r>
                    </a:p>
                  </a:txBody>
                  <a:tcPr marL="73152" marR="73152" marT="27432" marB="27432" anchor="ctr">
                    <a:solidFill>
                      <a:srgbClr val="FFFFFF"/>
                    </a:solidFill>
                  </a:tcPr>
                </a:tc>
                <a:tc>
                  <a:txBody>
                    <a:bodyPr/>
                    <a:lstStyle/>
                    <a:p>
                      <a:pPr algn="ctr"/>
                      <a:r>
                        <a:rPr sz="1500" b="0">
                          <a:solidFill>
                            <a:srgbClr val="142B33"/>
                          </a:solidFill>
                          <a:latin typeface="Calibri"/>
                        </a:rPr>
                        <a:t>0.0045</a:t>
                      </a:r>
                    </a:p>
                  </a:txBody>
                  <a:tcPr marL="73152" marR="73152" marT="27432" marB="27432" anchor="ctr">
                    <a:solidFill>
                      <a:srgbClr val="FFFFFF"/>
                    </a:solidFill>
                  </a:tcPr>
                </a:tc>
              </a:tr>
              <a:tr h="351282">
                <a:tc>
                  <a:txBody>
                    <a:bodyPr/>
                    <a:lstStyle/>
                    <a:p>
                      <a:pPr algn="l"/>
                      <a:r>
                        <a:rPr sz="1500" b="0">
                          <a:solidFill>
                            <a:srgbClr val="142B33"/>
                          </a:solidFill>
                          <a:latin typeface="Calibri"/>
                        </a:rPr>
                        <a:t>C</a:t>
                      </a:r>
                    </a:p>
                  </a:txBody>
                  <a:tcPr marL="73152" marR="73152" marT="27432" marB="27432" anchor="ctr">
                    <a:solidFill>
                      <a:srgbClr val="F4F8F9"/>
                    </a:solidFill>
                  </a:tcPr>
                </a:tc>
                <a:tc>
                  <a:txBody>
                    <a:bodyPr/>
                    <a:lstStyle/>
                    <a:p>
                      <a:pPr algn="ctr"/>
                      <a:r>
                        <a:rPr sz="1500" b="0">
                          <a:solidFill>
                            <a:srgbClr val="142B33"/>
                          </a:solidFill>
                          <a:latin typeface="Calibri"/>
                        </a:rPr>
                        <a:t>392.0</a:t>
                      </a:r>
                    </a:p>
                  </a:txBody>
                  <a:tcPr marL="73152" marR="73152" marT="27432" marB="27432" anchor="ctr">
                    <a:solidFill>
                      <a:srgbClr val="F4F8F9"/>
                    </a:solidFill>
                  </a:tcPr>
                </a:tc>
                <a:tc>
                  <a:txBody>
                    <a:bodyPr/>
                    <a:lstStyle/>
                    <a:p>
                      <a:pPr algn="ctr"/>
                      <a:r>
                        <a:rPr sz="1500" b="0">
                          <a:solidFill>
                            <a:srgbClr val="142B33"/>
                          </a:solidFill>
                          <a:latin typeface="Calibri"/>
                        </a:rPr>
                        <a:t>1</a:t>
                      </a:r>
                    </a:p>
                  </a:txBody>
                  <a:tcPr marL="73152" marR="73152" marT="27432" marB="27432" anchor="ctr">
                    <a:solidFill>
                      <a:srgbClr val="F4F8F9"/>
                    </a:solidFill>
                  </a:tcPr>
                </a:tc>
                <a:tc>
                  <a:txBody>
                    <a:bodyPr/>
                    <a:lstStyle/>
                    <a:p>
                      <a:pPr algn="ctr"/>
                      <a:r>
                        <a:rPr sz="1500" b="0">
                          <a:solidFill>
                            <a:srgbClr val="142B33"/>
                          </a:solidFill>
                          <a:latin typeface="Calibri"/>
                        </a:rPr>
                        <a:t>392.0</a:t>
                      </a:r>
                    </a:p>
                  </a:txBody>
                  <a:tcPr marL="73152" marR="73152" marT="27432" marB="27432" anchor="ctr">
                    <a:solidFill>
                      <a:srgbClr val="F4F8F9"/>
                    </a:solidFill>
                  </a:tcPr>
                </a:tc>
                <a:tc>
                  <a:txBody>
                    <a:bodyPr/>
                    <a:lstStyle/>
                    <a:p>
                      <a:pPr algn="ctr"/>
                      <a:r>
                        <a:rPr sz="1500" b="0">
                          <a:solidFill>
                            <a:srgbClr val="142B33"/>
                          </a:solidFill>
                          <a:latin typeface="Calibri"/>
                        </a:rPr>
                        <a:t>120.62</a:t>
                      </a:r>
                    </a:p>
                  </a:txBody>
                  <a:tcPr marL="73152" marR="73152" marT="27432" marB="27432" anchor="ctr">
                    <a:solidFill>
                      <a:srgbClr val="F4F8F9"/>
                    </a:solidFill>
                  </a:tcPr>
                </a:tc>
                <a:tc>
                  <a:txBody>
                    <a:bodyPr/>
                    <a:lstStyle/>
                    <a:p>
                      <a:pPr algn="ctr"/>
                      <a:r>
                        <a:rPr sz="1500" b="0">
                          <a:solidFill>
                            <a:srgbClr val="142B33"/>
                          </a:solidFill>
                          <a:latin typeface="Calibri"/>
                        </a:rPr>
                        <a:t>0.0082</a:t>
                      </a:r>
                    </a:p>
                  </a:txBody>
                  <a:tcPr marL="73152" marR="73152" marT="27432" marB="27432" anchor="ctr">
                    <a:solidFill>
                      <a:srgbClr val="F4F8F9"/>
                    </a:solidFill>
                  </a:tcPr>
                </a:tc>
              </a:tr>
              <a:tr h="351282">
                <a:tc>
                  <a:txBody>
                    <a:bodyPr/>
                    <a:lstStyle/>
                    <a:p>
                      <a:pPr algn="l"/>
                      <a:r>
                        <a:rPr sz="1500" b="0">
                          <a:solidFill>
                            <a:srgbClr val="142B33"/>
                          </a:solidFill>
                          <a:latin typeface="Calibri"/>
                        </a:rPr>
                        <a:t>D</a:t>
                      </a:r>
                    </a:p>
                  </a:txBody>
                  <a:tcPr marL="73152" marR="73152" marT="27432" marB="27432" anchor="ctr">
                    <a:solidFill>
                      <a:srgbClr val="FFFFFF"/>
                    </a:solidFill>
                  </a:tcPr>
                </a:tc>
                <a:tc>
                  <a:txBody>
                    <a:bodyPr/>
                    <a:lstStyle/>
                    <a:p>
                      <a:pPr algn="ctr"/>
                      <a:r>
                        <a:rPr sz="1500" b="0">
                          <a:solidFill>
                            <a:srgbClr val="142B33"/>
                          </a:solidFill>
                          <a:latin typeface="Calibri"/>
                        </a:rPr>
                        <a:t>544.5</a:t>
                      </a:r>
                    </a:p>
                  </a:txBody>
                  <a:tcPr marL="73152" marR="73152" marT="27432" marB="27432" anchor="ctr">
                    <a:solidFill>
                      <a:srgbClr val="FFFFFF"/>
                    </a:solidFill>
                  </a:tcPr>
                </a:tc>
                <a:tc>
                  <a:txBody>
                    <a:bodyPr/>
                    <a:lstStyle/>
                    <a:p>
                      <a:pPr algn="ctr"/>
                      <a:r>
                        <a:rPr sz="1500" b="0">
                          <a:solidFill>
                            <a:srgbClr val="142B33"/>
                          </a:solidFill>
                          <a:latin typeface="Calibri"/>
                        </a:rPr>
                        <a:t>1</a:t>
                      </a:r>
                    </a:p>
                  </a:txBody>
                  <a:tcPr marL="73152" marR="73152" marT="27432" marB="27432" anchor="ctr">
                    <a:solidFill>
                      <a:srgbClr val="FFFFFF"/>
                    </a:solidFill>
                  </a:tcPr>
                </a:tc>
                <a:tc>
                  <a:txBody>
                    <a:bodyPr/>
                    <a:lstStyle/>
                    <a:p>
                      <a:pPr algn="ctr"/>
                      <a:r>
                        <a:rPr sz="1500" b="0">
                          <a:solidFill>
                            <a:srgbClr val="142B33"/>
                          </a:solidFill>
                          <a:latin typeface="Calibri"/>
                        </a:rPr>
                        <a:t>544.5</a:t>
                      </a:r>
                    </a:p>
                  </a:txBody>
                  <a:tcPr marL="73152" marR="73152" marT="27432" marB="27432" anchor="ctr">
                    <a:solidFill>
                      <a:srgbClr val="FFFFFF"/>
                    </a:solidFill>
                  </a:tcPr>
                </a:tc>
                <a:tc>
                  <a:txBody>
                    <a:bodyPr/>
                    <a:lstStyle/>
                    <a:p>
                      <a:pPr algn="ctr"/>
                      <a:r>
                        <a:rPr sz="1500" b="0">
                          <a:solidFill>
                            <a:srgbClr val="142B33"/>
                          </a:solidFill>
                          <a:latin typeface="Calibri"/>
                        </a:rPr>
                        <a:t>167.54</a:t>
                      </a:r>
                    </a:p>
                  </a:txBody>
                  <a:tcPr marL="73152" marR="73152" marT="27432" marB="27432" anchor="ctr">
                    <a:solidFill>
                      <a:srgbClr val="FFFFFF"/>
                    </a:solidFill>
                  </a:tcPr>
                </a:tc>
                <a:tc>
                  <a:txBody>
                    <a:bodyPr/>
                    <a:lstStyle/>
                    <a:p>
                      <a:pPr algn="ctr"/>
                      <a:r>
                        <a:rPr sz="1500" b="0">
                          <a:solidFill>
                            <a:srgbClr val="142B33"/>
                          </a:solidFill>
                          <a:latin typeface="Calibri"/>
                        </a:rPr>
                        <a:t>0.0059</a:t>
                      </a:r>
                    </a:p>
                  </a:txBody>
                  <a:tcPr marL="73152" marR="73152" marT="27432" marB="27432" anchor="ctr">
                    <a:solidFill>
                      <a:srgbClr val="FFFFFF"/>
                    </a:solidFill>
                  </a:tcPr>
                </a:tc>
              </a:tr>
              <a:tr h="351282">
                <a:tc>
                  <a:txBody>
                    <a:bodyPr/>
                    <a:lstStyle/>
                    <a:p>
                      <a:pPr algn="l"/>
                      <a:r>
                        <a:rPr sz="1500" b="0">
                          <a:solidFill>
                            <a:srgbClr val="142B33"/>
                          </a:solidFill>
                          <a:latin typeface="Calibri"/>
                        </a:rPr>
                        <a:t>AC</a:t>
                      </a:r>
                    </a:p>
                  </a:txBody>
                  <a:tcPr marL="73152" marR="73152" marT="27432" marB="27432" anchor="ctr">
                    <a:solidFill>
                      <a:srgbClr val="F4F8F9"/>
                    </a:solidFill>
                  </a:tcPr>
                </a:tc>
                <a:tc>
                  <a:txBody>
                    <a:bodyPr/>
                    <a:lstStyle/>
                    <a:p>
                      <a:pPr algn="ctr"/>
                      <a:r>
                        <a:rPr sz="1500" b="0">
                          <a:solidFill>
                            <a:srgbClr val="142B33"/>
                          </a:solidFill>
                          <a:latin typeface="Calibri"/>
                        </a:rPr>
                        <a:t>684.5</a:t>
                      </a:r>
                    </a:p>
                  </a:txBody>
                  <a:tcPr marL="73152" marR="73152" marT="27432" marB="27432" anchor="ctr">
                    <a:solidFill>
                      <a:srgbClr val="F4F8F9"/>
                    </a:solidFill>
                  </a:tcPr>
                </a:tc>
                <a:tc>
                  <a:txBody>
                    <a:bodyPr/>
                    <a:lstStyle/>
                    <a:p>
                      <a:pPr algn="ctr"/>
                      <a:r>
                        <a:rPr sz="1500" b="0">
                          <a:solidFill>
                            <a:srgbClr val="142B33"/>
                          </a:solidFill>
                          <a:latin typeface="Calibri"/>
                        </a:rPr>
                        <a:t>1</a:t>
                      </a:r>
                    </a:p>
                  </a:txBody>
                  <a:tcPr marL="73152" marR="73152" marT="27432" marB="27432" anchor="ctr">
                    <a:solidFill>
                      <a:srgbClr val="F4F8F9"/>
                    </a:solidFill>
                  </a:tcPr>
                </a:tc>
                <a:tc>
                  <a:txBody>
                    <a:bodyPr/>
                    <a:lstStyle/>
                    <a:p>
                      <a:pPr algn="ctr"/>
                      <a:r>
                        <a:rPr sz="1500" b="0">
                          <a:solidFill>
                            <a:srgbClr val="142B33"/>
                          </a:solidFill>
                          <a:latin typeface="Calibri"/>
                        </a:rPr>
                        <a:t>684.5</a:t>
                      </a:r>
                    </a:p>
                  </a:txBody>
                  <a:tcPr marL="73152" marR="73152" marT="27432" marB="27432" anchor="ctr">
                    <a:solidFill>
                      <a:srgbClr val="F4F8F9"/>
                    </a:solidFill>
                  </a:tcPr>
                </a:tc>
                <a:tc>
                  <a:txBody>
                    <a:bodyPr/>
                    <a:lstStyle/>
                    <a:p>
                      <a:pPr algn="ctr"/>
                      <a:r>
                        <a:rPr sz="1500" b="0">
                          <a:solidFill>
                            <a:srgbClr val="142B33"/>
                          </a:solidFill>
                          <a:latin typeface="Calibri"/>
                        </a:rPr>
                        <a:t>210.62</a:t>
                      </a:r>
                    </a:p>
                  </a:txBody>
                  <a:tcPr marL="73152" marR="73152" marT="27432" marB="27432" anchor="ctr">
                    <a:solidFill>
                      <a:srgbClr val="F4F8F9"/>
                    </a:solidFill>
                  </a:tcPr>
                </a:tc>
                <a:tc>
                  <a:txBody>
                    <a:bodyPr/>
                    <a:lstStyle/>
                    <a:p>
                      <a:pPr algn="ctr"/>
                      <a:r>
                        <a:rPr sz="1500" b="0">
                          <a:solidFill>
                            <a:srgbClr val="142B33"/>
                          </a:solidFill>
                          <a:latin typeface="Calibri"/>
                        </a:rPr>
                        <a:t>0.0047</a:t>
                      </a:r>
                    </a:p>
                  </a:txBody>
                  <a:tcPr marL="73152" marR="73152" marT="27432" marB="27432" anchor="ctr">
                    <a:solidFill>
                      <a:srgbClr val="F4F8F9"/>
                    </a:solidFill>
                  </a:tcPr>
                </a:tc>
              </a:tr>
              <a:tr h="351282">
                <a:tc>
                  <a:txBody>
                    <a:bodyPr/>
                    <a:lstStyle/>
                    <a:p>
                      <a:pPr algn="l"/>
                      <a:r>
                        <a:rPr sz="1500" b="0">
                          <a:solidFill>
                            <a:srgbClr val="142B33"/>
                          </a:solidFill>
                          <a:latin typeface="Calibri"/>
                        </a:rPr>
                        <a:t>AD</a:t>
                      </a:r>
                    </a:p>
                  </a:txBody>
                  <a:tcPr marL="73152" marR="73152" marT="27432" marB="27432" anchor="ctr">
                    <a:solidFill>
                      <a:srgbClr val="FFFFFF"/>
                    </a:solidFill>
                  </a:tcPr>
                </a:tc>
                <a:tc>
                  <a:txBody>
                    <a:bodyPr/>
                    <a:lstStyle/>
                    <a:p>
                      <a:pPr algn="ctr"/>
                      <a:r>
                        <a:rPr sz="1500" b="0">
                          <a:solidFill>
                            <a:srgbClr val="142B33"/>
                          </a:solidFill>
                          <a:latin typeface="Calibri"/>
                        </a:rPr>
                        <a:t>722.0</a:t>
                      </a:r>
                    </a:p>
                  </a:txBody>
                  <a:tcPr marL="73152" marR="73152" marT="27432" marB="27432" anchor="ctr">
                    <a:solidFill>
                      <a:srgbClr val="FFFFFF"/>
                    </a:solidFill>
                  </a:tcPr>
                </a:tc>
                <a:tc>
                  <a:txBody>
                    <a:bodyPr/>
                    <a:lstStyle/>
                    <a:p>
                      <a:pPr algn="ctr"/>
                      <a:r>
                        <a:rPr sz="1500" b="0">
                          <a:solidFill>
                            <a:srgbClr val="142B33"/>
                          </a:solidFill>
                          <a:latin typeface="Calibri"/>
                        </a:rPr>
                        <a:t>1</a:t>
                      </a:r>
                    </a:p>
                  </a:txBody>
                  <a:tcPr marL="73152" marR="73152" marT="27432" marB="27432" anchor="ctr">
                    <a:solidFill>
                      <a:srgbClr val="FFFFFF"/>
                    </a:solidFill>
                  </a:tcPr>
                </a:tc>
                <a:tc>
                  <a:txBody>
                    <a:bodyPr/>
                    <a:lstStyle/>
                    <a:p>
                      <a:pPr algn="ctr"/>
                      <a:r>
                        <a:rPr sz="1500" b="0">
                          <a:solidFill>
                            <a:srgbClr val="142B33"/>
                          </a:solidFill>
                          <a:latin typeface="Calibri"/>
                        </a:rPr>
                        <a:t>722.0</a:t>
                      </a:r>
                    </a:p>
                  </a:txBody>
                  <a:tcPr marL="73152" marR="73152" marT="27432" marB="27432" anchor="ctr">
                    <a:solidFill>
                      <a:srgbClr val="FFFFFF"/>
                    </a:solidFill>
                  </a:tcPr>
                </a:tc>
                <a:tc>
                  <a:txBody>
                    <a:bodyPr/>
                    <a:lstStyle/>
                    <a:p>
                      <a:pPr algn="ctr"/>
                      <a:r>
                        <a:rPr sz="1500" b="0">
                          <a:solidFill>
                            <a:srgbClr val="142B33"/>
                          </a:solidFill>
                          <a:latin typeface="Calibri"/>
                        </a:rPr>
                        <a:t>222.15</a:t>
                      </a:r>
                    </a:p>
                  </a:txBody>
                  <a:tcPr marL="73152" marR="73152" marT="27432" marB="27432" anchor="ctr">
                    <a:solidFill>
                      <a:srgbClr val="FFFFFF"/>
                    </a:solidFill>
                  </a:tcPr>
                </a:tc>
                <a:tc>
                  <a:txBody>
                    <a:bodyPr/>
                    <a:lstStyle/>
                    <a:p>
                      <a:pPr algn="ctr"/>
                      <a:r>
                        <a:rPr sz="1500" b="0">
                          <a:solidFill>
                            <a:srgbClr val="142B33"/>
                          </a:solidFill>
                          <a:latin typeface="Calibri"/>
                        </a:rPr>
                        <a:t>0.0045</a:t>
                      </a:r>
                    </a:p>
                  </a:txBody>
                  <a:tcPr marL="73152" marR="73152" marT="27432" marB="27432" anchor="ctr">
                    <a:solidFill>
                      <a:srgbClr val="FFFFFF"/>
                    </a:solidFill>
                  </a:tcPr>
                </a:tc>
              </a:tr>
              <a:tr h="351282">
                <a:tc>
                  <a:txBody>
                    <a:bodyPr/>
                    <a:lstStyle/>
                    <a:p>
                      <a:pPr algn="l"/>
                      <a:r>
                        <a:rPr sz="1500" b="0">
                          <a:solidFill>
                            <a:srgbClr val="142B33"/>
                          </a:solidFill>
                          <a:latin typeface="Calibri"/>
                        </a:rPr>
                        <a:t>Error</a:t>
                      </a:r>
                    </a:p>
                  </a:txBody>
                  <a:tcPr marL="73152" marR="73152" marT="27432" marB="27432" anchor="ctr">
                    <a:solidFill>
                      <a:srgbClr val="F4F8F9"/>
                    </a:solidFill>
                  </a:tcPr>
                </a:tc>
                <a:tc>
                  <a:txBody>
                    <a:bodyPr/>
                    <a:lstStyle/>
                    <a:p>
                      <a:pPr algn="ctr"/>
                      <a:r>
                        <a:rPr sz="1500" b="0">
                          <a:solidFill>
                            <a:srgbClr val="142B33"/>
                          </a:solidFill>
                          <a:latin typeface="Calibri"/>
                        </a:rPr>
                        <a:t>6.5</a:t>
                      </a:r>
                    </a:p>
                  </a:txBody>
                  <a:tcPr marL="73152" marR="73152" marT="27432" marB="27432" anchor="ctr">
                    <a:solidFill>
                      <a:srgbClr val="F4F8F9"/>
                    </a:solidFill>
                  </a:tcPr>
                </a:tc>
                <a:tc>
                  <a:txBody>
                    <a:bodyPr/>
                    <a:lstStyle/>
                    <a:p>
                      <a:pPr algn="ctr"/>
                      <a:r>
                        <a:rPr sz="1500" b="0">
                          <a:solidFill>
                            <a:srgbClr val="142B33"/>
                          </a:solidFill>
                          <a:latin typeface="Calibri"/>
                        </a:rPr>
                        <a:t>2</a:t>
                      </a:r>
                    </a:p>
                  </a:txBody>
                  <a:tcPr marL="73152" marR="73152" marT="27432" marB="27432" anchor="ctr">
                    <a:solidFill>
                      <a:srgbClr val="F4F8F9"/>
                    </a:solidFill>
                  </a:tcPr>
                </a:tc>
                <a:tc>
                  <a:txBody>
                    <a:bodyPr/>
                    <a:lstStyle/>
                    <a:p>
                      <a:pPr algn="ctr"/>
                      <a:r>
                        <a:rPr sz="1500" b="0">
                          <a:solidFill>
                            <a:srgbClr val="142B33"/>
                          </a:solidFill>
                          <a:latin typeface="Calibri"/>
                        </a:rPr>
                        <a:t>3.25</a:t>
                      </a:r>
                    </a:p>
                  </a:txBody>
                  <a:tcPr marL="73152" marR="73152" marT="27432" marB="27432" anchor="ctr">
                    <a:solidFill>
                      <a:srgbClr val="F4F8F9"/>
                    </a:solidFill>
                  </a:tcPr>
                </a:tc>
                <a:tc>
                  <a:txBody>
                    <a:bodyPr/>
                    <a:lstStyle/>
                    <a:p>
                      <a:pPr algn="ctr"/>
                    </a:p>
                  </a:txBody>
                  <a:tcPr marL="73152" marR="73152" marT="27432" marB="27432" anchor="ctr">
                    <a:solidFill>
                      <a:srgbClr val="F4F8F9"/>
                    </a:solidFill>
                  </a:tcPr>
                </a:tc>
                <a:tc>
                  <a:txBody>
                    <a:bodyPr/>
                    <a:lstStyle/>
                    <a:p>
                      <a:pPr algn="ctr"/>
                    </a:p>
                  </a:txBody>
                  <a:tcPr marL="73152" marR="73152" marT="27432" marB="27432" anchor="ctr">
                    <a:solidFill>
                      <a:srgbClr val="F4F8F9"/>
                    </a:solidFill>
                  </a:tcPr>
                </a:tc>
              </a:tr>
              <a:tr h="351282">
                <a:tc>
                  <a:txBody>
                    <a:bodyPr/>
                    <a:lstStyle/>
                    <a:p>
                      <a:pPr algn="l"/>
                      <a:r>
                        <a:rPr sz="1500" b="0">
                          <a:solidFill>
                            <a:srgbClr val="142B33"/>
                          </a:solidFill>
                          <a:latin typeface="Calibri"/>
                        </a:rPr>
                        <a:t>Total</a:t>
                      </a:r>
                    </a:p>
                  </a:txBody>
                  <a:tcPr marL="73152" marR="73152" marT="27432" marB="27432" anchor="ctr">
                    <a:solidFill>
                      <a:srgbClr val="FFFFFF"/>
                    </a:solidFill>
                  </a:tcPr>
                </a:tc>
                <a:tc>
                  <a:txBody>
                    <a:bodyPr/>
                    <a:lstStyle/>
                    <a:p>
                      <a:pPr algn="ctr"/>
                      <a:r>
                        <a:rPr sz="1500" b="0">
                          <a:solidFill>
                            <a:srgbClr val="142B33"/>
                          </a:solidFill>
                          <a:latin typeface="Calibri"/>
                        </a:rPr>
                        <a:t>3071.5</a:t>
                      </a:r>
                    </a:p>
                  </a:txBody>
                  <a:tcPr marL="73152" marR="73152" marT="27432" marB="27432" anchor="ctr">
                    <a:solidFill>
                      <a:srgbClr val="FFFFFF"/>
                    </a:solidFill>
                  </a:tcPr>
                </a:tc>
                <a:tc>
                  <a:txBody>
                    <a:bodyPr/>
                    <a:lstStyle/>
                    <a:p>
                      <a:pPr algn="ctr"/>
                      <a:r>
                        <a:rPr sz="1500" b="0">
                          <a:solidFill>
                            <a:srgbClr val="142B33"/>
                          </a:solidFill>
                          <a:latin typeface="Calibri"/>
                        </a:rPr>
                        <a:t>7</a:t>
                      </a:r>
                    </a:p>
                  </a:txBody>
                  <a:tcPr marL="73152" marR="73152" marT="27432" marB="27432" anchor="ctr">
                    <a:solidFill>
                      <a:srgbClr val="FFFFFF"/>
                    </a:solidFill>
                  </a:tcPr>
                </a:tc>
                <a:tc>
                  <a:txBody>
                    <a:bodyPr/>
                    <a:lstStyle/>
                    <a:p>
                      <a:pPr algn="ctr"/>
                    </a:p>
                  </a:txBody>
                  <a:tcPr marL="73152" marR="73152" marT="27432" marB="27432" anchor="ctr">
                    <a:solidFill>
                      <a:srgbClr val="FFFFFF"/>
                    </a:solidFill>
                  </a:tcPr>
                </a:tc>
                <a:tc>
                  <a:txBody>
                    <a:bodyPr/>
                    <a:lstStyle/>
                    <a:p>
                      <a:pPr algn="ctr"/>
                    </a:p>
                  </a:txBody>
                  <a:tcPr marL="73152" marR="73152" marT="27432" marB="27432" anchor="ctr">
                    <a:solidFill>
                      <a:srgbClr val="FFFFFF"/>
                    </a:solidFill>
                  </a:tcPr>
                </a:tc>
                <a:tc>
                  <a:txBody>
                    <a:bodyPr/>
                    <a:lstStyle/>
                    <a:p>
                      <a:pPr algn="ctr"/>
                    </a:p>
                  </a:txBody>
                  <a:tcPr marL="73152" marR="73152" marT="27432" marB="27432" anchor="ctr">
                    <a:solidFill>
                      <a:srgbClr val="FFFFFF"/>
                    </a:solidFill>
                  </a:tcPr>
                </a:tc>
              </a:tr>
            </a:tbl>
          </a:graphicData>
        </a:graphic>
      </p:graphicFrame>
      <p:sp>
        <p:nvSpPr>
          <p:cNvPr id="4" name="Rounded Rectangle 3"/>
          <p:cNvSpPr/>
          <p:nvPr/>
        </p:nvSpPr>
        <p:spPr>
          <a:xfrm>
            <a:off x="548640" y="4428744"/>
            <a:ext cx="5982443" cy="534619"/>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500" b="0">
                <a:solidFill>
                  <a:srgbClr val="0F4C5C"/>
                </a:solidFill>
                <a:latin typeface="Cambria Math"/>
              </a:rPr>
              <a:t>ŷ = 70.75 + 9.50 x</a:t>
            </a:r>
            <a:r>
              <a:rPr sz="1500" b="0" baseline="-25000">
                <a:solidFill>
                  <a:srgbClr val="0F4C5C"/>
                </a:solidFill>
                <a:latin typeface="Cambria Math"/>
              </a:rPr>
              <a:t>1</a:t>
            </a:r>
            <a:r>
              <a:rPr sz="1500" b="0">
                <a:solidFill>
                  <a:srgbClr val="0F4C5C"/>
                </a:solidFill>
                <a:latin typeface="Cambria Math"/>
              </a:rPr>
              <a:t> + 7.00 x</a:t>
            </a:r>
            <a:r>
              <a:rPr sz="1500" b="0" baseline="-25000">
                <a:solidFill>
                  <a:srgbClr val="0F4C5C"/>
                </a:solidFill>
                <a:latin typeface="Cambria Math"/>
              </a:rPr>
              <a:t>3</a:t>
            </a:r>
            <a:r>
              <a:rPr sz="1500" b="0">
                <a:solidFill>
                  <a:srgbClr val="0F4C5C"/>
                </a:solidFill>
                <a:latin typeface="Cambria Math"/>
              </a:rPr>
              <a:t> + 8.25 x</a:t>
            </a:r>
            <a:r>
              <a:rPr sz="1500" b="0" baseline="-25000">
                <a:solidFill>
                  <a:srgbClr val="0F4C5C"/>
                </a:solidFill>
                <a:latin typeface="Cambria Math"/>
              </a:rPr>
              <a:t>4</a:t>
            </a:r>
            <a:r>
              <a:rPr sz="1500" b="0">
                <a:solidFill>
                  <a:srgbClr val="0F4C5C"/>
                </a:solidFill>
                <a:latin typeface="Cambria Math"/>
              </a:rPr>
              <a:t> − 9.25 x</a:t>
            </a:r>
            <a:r>
              <a:rPr sz="1500" b="0" baseline="-25000">
                <a:solidFill>
                  <a:srgbClr val="0F4C5C"/>
                </a:solidFill>
                <a:latin typeface="Cambria Math"/>
              </a:rPr>
              <a:t>1</a:t>
            </a:r>
            <a:r>
              <a:rPr sz="1500" b="0">
                <a:solidFill>
                  <a:srgbClr val="0F4C5C"/>
                </a:solidFill>
                <a:latin typeface="Cambria Math"/>
              </a:rPr>
              <a:t>x</a:t>
            </a:r>
            <a:r>
              <a:rPr sz="1500" b="0" baseline="-25000">
                <a:solidFill>
                  <a:srgbClr val="0F4C5C"/>
                </a:solidFill>
                <a:latin typeface="Cambria Math"/>
              </a:rPr>
              <a:t>3</a:t>
            </a:r>
            <a:r>
              <a:rPr sz="1500" b="0">
                <a:solidFill>
                  <a:srgbClr val="0F4C5C"/>
                </a:solidFill>
                <a:latin typeface="Cambria Math"/>
              </a:rPr>
              <a:t> + 9.50 x</a:t>
            </a:r>
            <a:r>
              <a:rPr sz="1500" b="0" baseline="-25000">
                <a:solidFill>
                  <a:srgbClr val="0F4C5C"/>
                </a:solidFill>
                <a:latin typeface="Cambria Math"/>
              </a:rPr>
              <a:t>1</a:t>
            </a:r>
            <a:r>
              <a:rPr sz="1500" b="0">
                <a:solidFill>
                  <a:srgbClr val="0F4C5C"/>
                </a:solidFill>
                <a:latin typeface="Cambria Math"/>
              </a:rPr>
              <a:t>x</a:t>
            </a:r>
            <a:r>
              <a:rPr sz="1500" b="0" baseline="-25000">
                <a:solidFill>
                  <a:srgbClr val="0F4C5C"/>
                </a:solidFill>
                <a:latin typeface="Cambria Math"/>
              </a:rPr>
              <a:t>4</a:t>
            </a:r>
          </a:p>
        </p:txBody>
      </p:sp>
      <p:sp>
        <p:nvSpPr>
          <p:cNvPr id="5" name="TextBox 4"/>
          <p:cNvSpPr txBox="1"/>
          <p:nvPr/>
        </p:nvSpPr>
        <p:spPr>
          <a:xfrm>
            <a:off x="6942563" y="1417320"/>
            <a:ext cx="4700491" cy="1909571"/>
          </a:xfrm>
          <a:prstGeom prst="rect">
            <a:avLst/>
          </a:prstGeom>
          <a:noFill/>
        </p:spPr>
        <p:txBody>
          <a:bodyPr wrap="square" anchor="t" lIns="0" rIns="0" tIns="0" bIns="0">
            <a:spAutoFit/>
          </a:bodyPr>
          <a:lstStyle/>
          <a:p>
            <a:pPr marL="320040" indent="-320040">
              <a:spcAft>
                <a:spcPts val="600"/>
              </a:spcAft>
              <a:buClr>
                <a:srgbClr val="E36414"/>
              </a:buClr>
              <a:buFont typeface="Arial"/>
              <a:buChar char="•"/>
            </a:pPr>
            <a:r>
              <a:rPr sz="1700" b="0">
                <a:solidFill>
                  <a:srgbClr val="142B33"/>
                </a:solidFill>
                <a:latin typeface="Calibri"/>
              </a:rPr>
              <a:t>Todos los términos: F</a:t>
            </a:r>
            <a:r>
              <a:rPr sz="1700" b="0" baseline="-25000">
                <a:solidFill>
                  <a:srgbClr val="142B33"/>
                </a:solidFill>
                <a:latin typeface="Calibri"/>
              </a:rPr>
              <a:t>0</a:t>
            </a:r>
            <a:r>
              <a:rPr sz="1700" b="0">
                <a:solidFill>
                  <a:srgbClr val="142B33"/>
                </a:solidFill>
                <a:latin typeface="Calibri"/>
              </a:rPr>
              <a:t> &gt; F</a:t>
            </a:r>
            <a:r>
              <a:rPr sz="1700" b="0" baseline="-25000">
                <a:solidFill>
                  <a:srgbClr val="142B33"/>
                </a:solidFill>
                <a:latin typeface="Calibri"/>
              </a:rPr>
              <a:t>0.05, 1, 2</a:t>
            </a:r>
            <a:r>
              <a:rPr sz="1700" b="0">
                <a:solidFill>
                  <a:srgbClr val="142B33"/>
                </a:solidFill>
                <a:latin typeface="Calibri"/>
              </a:rPr>
              <a:t> = 18.51  →  se rechaza H</a:t>
            </a:r>
            <a:r>
              <a:rPr sz="1700" b="0" baseline="-25000">
                <a:solidFill>
                  <a:srgbClr val="142B33"/>
                </a:solidFill>
                <a:latin typeface="Calibri"/>
              </a:rPr>
              <a:t>0</a:t>
            </a:r>
          </a:p>
          <a:p>
            <a:pPr marL="320040" indent="-320040">
              <a:spcAft>
                <a:spcPts val="600"/>
              </a:spcAft>
              <a:buClr>
                <a:srgbClr val="E36414"/>
              </a:buClr>
              <a:buFont typeface="Arial"/>
              <a:buChar char="•"/>
            </a:pPr>
            <a:r>
              <a:rPr sz="1700" b="0">
                <a:solidFill>
                  <a:srgbClr val="142B33"/>
                </a:solidFill>
                <a:latin typeface="Calibri"/>
              </a:rPr>
              <a:t>R</a:t>
            </a:r>
            <a:r>
              <a:rPr sz="1700" b="0" baseline="30000">
                <a:solidFill>
                  <a:srgbClr val="142B33"/>
                </a:solidFill>
                <a:latin typeface="Calibri"/>
              </a:rPr>
              <a:t>2</a:t>
            </a:r>
            <a:r>
              <a:rPr sz="1700" b="0">
                <a:solidFill>
                  <a:srgbClr val="142B33"/>
                </a:solidFill>
                <a:latin typeface="Calibri"/>
              </a:rPr>
              <a:t> = 99.79 %;  R</a:t>
            </a:r>
            <a:r>
              <a:rPr sz="1700" b="0" baseline="30000">
                <a:solidFill>
                  <a:srgbClr val="142B33"/>
                </a:solidFill>
                <a:latin typeface="Calibri"/>
              </a:rPr>
              <a:t>2</a:t>
            </a:r>
            <a:r>
              <a:rPr sz="1700" b="0">
                <a:solidFill>
                  <a:srgbClr val="142B33"/>
                </a:solidFill>
                <a:latin typeface="Calibri"/>
              </a:rPr>
              <a:t> ajustado = 99.26 %</a:t>
            </a:r>
          </a:p>
          <a:p>
            <a:pPr marL="320040" indent="-320040">
              <a:spcAft>
                <a:spcPts val="600"/>
              </a:spcAft>
              <a:buClr>
                <a:srgbClr val="E36414"/>
              </a:buClr>
              <a:buFont typeface="Arial"/>
              <a:buChar char="•"/>
            </a:pPr>
            <a:r>
              <a:rPr sz="1700" b="0">
                <a:solidFill>
                  <a:srgbClr val="142B33"/>
                </a:solidFill>
                <a:latin typeface="Calibri"/>
              </a:rPr>
              <a:t>B no influye: el diseño se </a:t>
            </a:r>
            <a:r>
              <a:rPr sz="1700" b="1">
                <a:solidFill>
                  <a:srgbClr val="142B33"/>
                </a:solidFill>
                <a:latin typeface="Calibri"/>
              </a:rPr>
              <a:t>proyecta</a:t>
            </a:r>
            <a:r>
              <a:rPr sz="1700" b="0">
                <a:solidFill>
                  <a:srgbClr val="142B33"/>
                </a:solidFill>
                <a:latin typeface="Calibri"/>
              </a:rPr>
              <a:t> en un 2</a:t>
            </a:r>
            <a:r>
              <a:rPr sz="1700" b="0" baseline="30000">
                <a:solidFill>
                  <a:srgbClr val="142B33"/>
                </a:solidFill>
                <a:latin typeface="Calibri"/>
              </a:rPr>
              <a:t>3</a:t>
            </a:r>
            <a:r>
              <a:rPr sz="1700" b="0">
                <a:solidFill>
                  <a:srgbClr val="142B33"/>
                </a:solidFill>
                <a:latin typeface="Calibri"/>
              </a:rPr>
              <a:t> completo en A, C, D</a:t>
            </a:r>
          </a:p>
          <a:p>
            <a:pPr marL="320040" indent="-320040">
              <a:spcAft>
                <a:spcPts val="600"/>
              </a:spcAft>
              <a:buClr>
                <a:srgbClr val="E36414"/>
              </a:buClr>
              <a:buFont typeface="Arial"/>
              <a:buChar char="•"/>
            </a:pPr>
            <a:r>
              <a:rPr sz="1700" b="0">
                <a:solidFill>
                  <a:srgbClr val="142B33"/>
                </a:solidFill>
                <a:latin typeface="Calibri"/>
              </a:rPr>
              <a:t>Mejor condición: </a:t>
            </a:r>
            <a:r>
              <a:rPr sz="1700" b="1">
                <a:solidFill>
                  <a:srgbClr val="142B33"/>
                </a:solidFill>
                <a:latin typeface="Calibri"/>
              </a:rPr>
              <a:t>A alto, C bajo, D alto</a:t>
            </a:r>
          </a:p>
        </p:txBody>
      </p:sp>
      <p:sp>
        <p:nvSpPr>
          <p:cNvPr id="6" name="Rounded Rectangle 5"/>
          <p:cNvSpPr/>
          <p:nvPr/>
        </p:nvSpPr>
        <p:spPr>
          <a:xfrm>
            <a:off x="6942563" y="3528060"/>
            <a:ext cx="4700491"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ANOVA calculada aquí (no está en el libro). Solo 2 g.l. de error: conclusión </a:t>
            </a:r>
            <a:r>
              <a:rPr sz="1500" b="1">
                <a:solidFill>
                  <a:srgbClr val="142B33"/>
                </a:solidFill>
                <a:latin typeface="Calibri"/>
              </a:rPr>
              <a:t>tentativa</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La fracción un medio 2</a:t>
            </a:r>
            <a:r>
              <a:rPr sz="1000" b="0" baseline="30000">
                <a:solidFill>
                  <a:srgbClr val="5B6B73"/>
                </a:solidFill>
                <a:latin typeface="Calibri"/>
              </a:rPr>
              <a:t>k−1</a:t>
            </a:r>
          </a:p>
        </p:txBody>
      </p:sp>
      <p:sp>
        <p:nvSpPr>
          <p:cNvPr id="8" name="TextBox 7"/>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27</a:t>
            </a:r>
          </a:p>
        </p:txBody>
      </p:sp>
      <p:sp>
        <p:nvSpPr>
          <p:cNvPr id="9" name="Rounded Rectangle 8"/>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4 · La fracción un medio 2</a:t>
            </a:r>
            <a:r>
              <a:rPr sz="1100" b="1" baseline="30000">
                <a:solidFill>
                  <a:srgbClr val="FFFFFF"/>
                </a:solidFill>
                <a:latin typeface="Calibri"/>
              </a:rPr>
              <a:t>k−1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2 · Enunciado: rendimiento de un circuito integrado (semiconductores)</a:t>
            </a:r>
          </a:p>
        </p:txBody>
      </p:sp>
      <p:sp>
        <p:nvSpPr>
          <p:cNvPr id="3" name="TextBox 2"/>
          <p:cNvSpPr txBox="1"/>
          <p:nvPr/>
        </p:nvSpPr>
        <p:spPr>
          <a:xfrm>
            <a:off x="548640" y="1417320"/>
            <a:ext cx="6196102" cy="1523999"/>
          </a:xfrm>
          <a:prstGeom prst="rect">
            <a:avLst/>
          </a:prstGeom>
          <a:noFill/>
        </p:spPr>
        <p:txBody>
          <a:bodyPr wrap="square" anchor="t" lIns="0" rIns="0" tIns="0" bIns="0">
            <a:spAutoFit/>
          </a:bodyPr>
          <a:lstStyle/>
          <a:p>
            <a:r>
              <a:rPr sz="1600" b="0">
                <a:solidFill>
                  <a:srgbClr val="142B33"/>
                </a:solidFill>
                <a:latin typeface="Calibri"/>
              </a:rPr>
              <a:t>En la manufactura de un circuito integrado se quiere </a:t>
            </a:r>
            <a:r>
              <a:rPr sz="1600" b="1">
                <a:solidFill>
                  <a:srgbClr val="142B33"/>
                </a:solidFill>
                <a:latin typeface="Calibri"/>
              </a:rPr>
              <a:t>mejorar el rendimiento</a:t>
            </a:r>
            <a:r>
              <a:rPr sz="1600" b="0">
                <a:solidFill>
                  <a:srgbClr val="142B33"/>
                </a:solidFill>
                <a:latin typeface="Calibri"/>
              </a:rPr>
              <a:t> del proceso. Se investigan cinco factores a dos niveles: A ajuste de apertura (pequeña, grande), B tiempo de exposición (20 % por debajo y por encima del nominal), C tiempo de desarrollo (30 y 45 s), D tamaño de la máscara (pequeña, grande) y E tiempo de grabado (14.5 y 15.5 min).</a:t>
            </a:r>
          </a:p>
        </p:txBody>
      </p:sp>
      <p:sp>
        <p:nvSpPr>
          <p:cNvPr id="4" name="TextBox 3"/>
          <p:cNvSpPr txBox="1"/>
          <p:nvPr/>
        </p:nvSpPr>
        <p:spPr>
          <a:xfrm>
            <a:off x="548640" y="3142488"/>
            <a:ext cx="6196102" cy="780288"/>
          </a:xfrm>
          <a:prstGeom prst="rect">
            <a:avLst/>
          </a:prstGeom>
          <a:noFill/>
        </p:spPr>
        <p:txBody>
          <a:bodyPr wrap="square" anchor="t" lIns="0" rIns="0" tIns="0" bIns="0">
            <a:spAutoFit/>
          </a:bodyPr>
          <a:lstStyle/>
          <a:p>
            <a:r>
              <a:rPr sz="1600" b="0">
                <a:solidFill>
                  <a:srgbClr val="142B33"/>
                </a:solidFill>
                <a:latin typeface="Calibri"/>
              </a:rPr>
              <a:t>El factorial completo 2</a:t>
            </a:r>
            <a:r>
              <a:rPr sz="1600" b="0" baseline="30000">
                <a:solidFill>
                  <a:srgbClr val="142B33"/>
                </a:solidFill>
                <a:latin typeface="Calibri"/>
              </a:rPr>
              <a:t>5</a:t>
            </a:r>
            <a:r>
              <a:rPr sz="1600" b="0">
                <a:solidFill>
                  <a:srgbClr val="142B33"/>
                </a:solidFill>
                <a:latin typeface="Calibri"/>
              </a:rPr>
              <a:t> exige 32 corridas. Se decide correr </a:t>
            </a:r>
            <a:r>
              <a:rPr sz="1600" b="1">
                <a:solidFill>
                  <a:srgbClr val="142B33"/>
                </a:solidFill>
                <a:latin typeface="Calibri"/>
              </a:rPr>
              <a:t>la mitad, 16 corridas</a:t>
            </a:r>
            <a:r>
              <a:rPr sz="1600" b="0">
                <a:solidFill>
                  <a:srgbClr val="142B33"/>
                </a:solidFill>
                <a:latin typeface="Calibri"/>
              </a:rPr>
              <a:t>, con E = ABCD (I = ABCDE), una sola réplica de cada combinación y en orden aleatorio.</a:t>
            </a:r>
          </a:p>
        </p:txBody>
      </p:sp>
      <p:sp>
        <p:nvSpPr>
          <p:cNvPr id="5" name="TextBox 4"/>
          <p:cNvSpPr txBox="1"/>
          <p:nvPr/>
        </p:nvSpPr>
        <p:spPr>
          <a:xfrm>
            <a:off x="548640" y="4123944"/>
            <a:ext cx="6196102" cy="1028191"/>
          </a:xfrm>
          <a:prstGeom prst="rect">
            <a:avLst/>
          </a:prstGeom>
          <a:noFill/>
        </p:spPr>
        <p:txBody>
          <a:bodyPr wrap="square" anchor="t" lIns="0" rIns="0" tIns="0" bIns="0">
            <a:spAutoFit/>
          </a:bodyPr>
          <a:lstStyle/>
          <a:p>
            <a:r>
              <a:rPr sz="1600" b="0">
                <a:solidFill>
                  <a:srgbClr val="142B33"/>
                </a:solidFill>
                <a:latin typeface="Calibri"/>
              </a:rPr>
              <a:t>Sin réplicas no hay una estimación directa del error: la significancia de los efectos se tiene que juzgar con los propios efectos. Gutiérrez usa el mismo experimento (lo llama de semiconductores) para demostrar que </a:t>
            </a:r>
            <a:r>
              <a:rPr sz="1600" b="1">
                <a:solidFill>
                  <a:srgbClr val="142B33"/>
                </a:solidFill>
                <a:latin typeface="Calibri"/>
              </a:rPr>
              <a:t>bastaba con la mitad</a:t>
            </a:r>
            <a:r>
              <a:rPr sz="1600" b="0">
                <a:solidFill>
                  <a:srgbClr val="142B33"/>
                </a:solidFill>
                <a:latin typeface="Calibri"/>
              </a:rPr>
              <a:t>.</a:t>
            </a:r>
          </a:p>
        </p:txBody>
      </p:sp>
      <p:sp>
        <p:nvSpPr>
          <p:cNvPr id="6" name="TextBox 5"/>
          <p:cNvSpPr txBox="1"/>
          <p:nvPr/>
        </p:nvSpPr>
        <p:spPr>
          <a:xfrm>
            <a:off x="548640" y="5353303"/>
            <a:ext cx="6196102" cy="408432"/>
          </a:xfrm>
          <a:prstGeom prst="rect">
            <a:avLst/>
          </a:prstGeom>
          <a:noFill/>
        </p:spPr>
        <p:txBody>
          <a:bodyPr wrap="square" anchor="t" lIns="0" rIns="0" tIns="0" bIns="0">
            <a:spAutoFit/>
          </a:bodyPr>
          <a:lstStyle/>
          <a:p>
            <a:r>
              <a:rPr sz="1200" b="0">
                <a:solidFill>
                  <a:srgbClr val="5B6B73"/>
                </a:solidFill>
                <a:latin typeface="Calibri"/>
              </a:rPr>
              <a:t>Fuente: Montgomery, ejemplo 8-2; Gutiérrez, «Experimento 2</a:t>
            </a:r>
            <a:r>
              <a:rPr sz="1200" b="0" baseline="30000">
                <a:solidFill>
                  <a:srgbClr val="5B6B73"/>
                </a:solidFill>
                <a:latin typeface="Calibri"/>
              </a:rPr>
              <a:t>5−1</a:t>
            </a:r>
            <a:r>
              <a:rPr sz="1200" b="0">
                <a:solidFill>
                  <a:srgbClr val="5B6B73"/>
                </a:solidFill>
                <a:latin typeface="Calibri"/>
              </a:rPr>
              <a:t>: ejemplo integrador»</a:t>
            </a:r>
          </a:p>
        </p:txBody>
      </p:sp>
      <p:sp>
        <p:nvSpPr>
          <p:cNvPr id="7" name="Rounded Rectangle 6"/>
          <p:cNvSpPr/>
          <p:nvPr/>
        </p:nvSpPr>
        <p:spPr>
          <a:xfrm>
            <a:off x="7156222" y="1417320"/>
            <a:ext cx="4486832" cy="1481836"/>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700" b="1">
                <a:solidFill>
                  <a:srgbClr val="0F4C5C"/>
                </a:solidFill>
                <a:latin typeface="Cambria"/>
              </a:rPr>
              <a:t>Objetivo</a:t>
            </a:r>
          </a:p>
          <a:p>
            <a:pPr algn="l"/>
            <a:r>
              <a:rPr sz="1500" b="0">
                <a:solidFill>
                  <a:srgbClr val="142B33"/>
                </a:solidFill>
                <a:latin typeface="Calibri"/>
              </a:rPr>
              <a:t>Saber qué factores e interacciones </a:t>
            </a:r>
            <a:r>
              <a:rPr sz="1500" b="1">
                <a:solidFill>
                  <a:srgbClr val="142B33"/>
                </a:solidFill>
                <a:latin typeface="Calibri"/>
              </a:rPr>
              <a:t>afectan el rendimiento</a:t>
            </a:r>
            <a:r>
              <a:rPr sz="1500" b="0">
                <a:solidFill>
                  <a:srgbClr val="142B33"/>
                </a:solidFill>
                <a:latin typeface="Calibri"/>
              </a:rPr>
              <a:t> y en qué niveles conviene operar</a:t>
            </a:r>
          </a:p>
        </p:txBody>
      </p:sp>
      <p:sp>
        <p:nvSpPr>
          <p:cNvPr id="8" name="TextBox 7"/>
          <p:cNvSpPr txBox="1"/>
          <p:nvPr/>
        </p:nvSpPr>
        <p:spPr>
          <a:xfrm>
            <a:off x="7156222" y="3100324"/>
            <a:ext cx="4486832" cy="299973"/>
          </a:xfrm>
          <a:prstGeom prst="rect">
            <a:avLst/>
          </a:prstGeom>
          <a:noFill/>
        </p:spPr>
        <p:txBody>
          <a:bodyPr wrap="square" anchor="t" lIns="0" rIns="0" tIns="0" bIns="0">
            <a:spAutoFit/>
          </a:bodyPr>
          <a:lstStyle/>
          <a:p>
            <a:r>
              <a:rPr sz="1700" b="1">
                <a:solidFill>
                  <a:srgbClr val="142B33"/>
                </a:solidFill>
                <a:latin typeface="Calibri"/>
              </a:rPr>
              <a:t>Se pide</a:t>
            </a:r>
          </a:p>
        </p:txBody>
      </p:sp>
      <p:sp>
        <p:nvSpPr>
          <p:cNvPr id="9" name="TextBox 8"/>
          <p:cNvSpPr txBox="1"/>
          <p:nvPr/>
        </p:nvSpPr>
        <p:spPr>
          <a:xfrm>
            <a:off x="7156222" y="3601465"/>
            <a:ext cx="4486832" cy="1723643"/>
          </a:xfrm>
          <a:prstGeom prst="rect">
            <a:avLst/>
          </a:prstGeom>
          <a:noFill/>
        </p:spPr>
        <p:txBody>
          <a:bodyPr wrap="square" anchor="t" lIns="0" rIns="0" tIns="0" bIns="0">
            <a:spAutoFit/>
          </a:bodyPr>
          <a:lstStyle/>
          <a:p>
            <a:pPr marL="320040" indent="-320040">
              <a:spcAft>
                <a:spcPts val="600"/>
              </a:spcAft>
              <a:buClr>
                <a:srgbClr val="E36414"/>
              </a:buClr>
              <a:buFont typeface="+mj-lt"/>
              <a:buAutoNum type="arabicPeriod"/>
            </a:pPr>
            <a:r>
              <a:rPr sz="1500" b="0">
                <a:solidFill>
                  <a:srgbClr val="142B33"/>
                </a:solidFill>
                <a:latin typeface="Calibri"/>
              </a:rPr>
              <a:t>Identificar la resolución y los alias</a:t>
            </a:r>
          </a:p>
          <a:p>
            <a:pPr marL="320040" indent="-320040">
              <a:spcAft>
                <a:spcPts val="600"/>
              </a:spcAft>
              <a:buClr>
                <a:srgbClr val="E36414"/>
              </a:buClr>
              <a:buFont typeface="+mj-lt"/>
              <a:buAutoNum type="arabicPeriod"/>
            </a:pPr>
            <a:r>
              <a:rPr sz="1500" b="0">
                <a:solidFill>
                  <a:srgbClr val="142B33"/>
                </a:solidFill>
                <a:latin typeface="Calibri"/>
              </a:rPr>
              <a:t>Estimar los 15 efectos y decidir cuáles son activos</a:t>
            </a:r>
          </a:p>
          <a:p>
            <a:pPr marL="320040" indent="-320040">
              <a:spcAft>
                <a:spcPts val="600"/>
              </a:spcAft>
              <a:buClr>
                <a:srgbClr val="E36414"/>
              </a:buClr>
              <a:buFont typeface="+mj-lt"/>
              <a:buAutoNum type="arabicPeriod"/>
            </a:pPr>
            <a:r>
              <a:rPr sz="1500" b="0">
                <a:solidFill>
                  <a:srgbClr val="142B33"/>
                </a:solidFill>
                <a:latin typeface="Calibri"/>
              </a:rPr>
              <a:t>Ajustar el modelo reducido y validar los supuestos</a:t>
            </a:r>
          </a:p>
          <a:p>
            <a:pPr marL="320040" indent="-320040">
              <a:spcAft>
                <a:spcPts val="600"/>
              </a:spcAft>
              <a:buClr>
                <a:srgbClr val="E36414"/>
              </a:buClr>
              <a:buFont typeface="+mj-lt"/>
              <a:buAutoNum type="arabicPeriod"/>
            </a:pPr>
            <a:r>
              <a:rPr sz="1500" b="0">
                <a:solidFill>
                  <a:srgbClr val="142B33"/>
                </a:solidFill>
                <a:latin typeface="Calibri"/>
              </a:rPr>
              <a:t>Recomendar las condiciones de operación</a:t>
            </a:r>
          </a:p>
        </p:txBody>
      </p:sp>
      <p:sp>
        <p:nvSpPr>
          <p:cNvPr id="10" name="TextBox 9"/>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La fracción un medio 2</a:t>
            </a:r>
            <a:r>
              <a:rPr sz="1000" b="0" baseline="30000">
                <a:solidFill>
                  <a:srgbClr val="5B6B73"/>
                </a:solidFill>
                <a:latin typeface="Calibri"/>
              </a:rPr>
              <a:t>k−1</a:t>
            </a:r>
          </a:p>
        </p:txBody>
      </p:sp>
      <p:sp>
        <p:nvSpPr>
          <p:cNvPr id="11" name="TextBox 10"/>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28</a:t>
            </a:r>
          </a:p>
        </p:txBody>
      </p:sp>
      <p:sp>
        <p:nvSpPr>
          <p:cNvPr id="12" name="Rounded Rectangle 11"/>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4 · La fracción un medio 2</a:t>
            </a:r>
            <a:r>
              <a:rPr sz="1100" b="1" baseline="30000">
                <a:solidFill>
                  <a:srgbClr val="FFFFFF"/>
                </a:solidFill>
                <a:latin typeface="Calibri"/>
              </a:rPr>
              <a:t>k−1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2 · Rendimiento de un circuito integrado</a:t>
            </a:r>
          </a:p>
        </p:txBody>
      </p:sp>
      <p:sp>
        <p:nvSpPr>
          <p:cNvPr id="3" name="TextBox 2"/>
          <p:cNvSpPr txBox="1"/>
          <p:nvPr/>
        </p:nvSpPr>
        <p:spPr>
          <a:xfrm>
            <a:off x="548640" y="1417320"/>
            <a:ext cx="5555126" cy="1280160"/>
          </a:xfrm>
          <a:prstGeom prst="rect">
            <a:avLst/>
          </a:prstGeom>
          <a:noFill/>
        </p:spPr>
        <p:txBody>
          <a:bodyPr wrap="square" anchor="t" lIns="0" rIns="0" tIns="0" bIns="0">
            <a:spAutoFit/>
          </a:bodyPr>
          <a:lstStyle/>
          <a:p>
            <a:pPr marL="320040" indent="-320040">
              <a:spcAft>
                <a:spcPts val="600"/>
              </a:spcAft>
              <a:buClr>
                <a:srgbClr val="E36414"/>
              </a:buClr>
              <a:buFont typeface="Arial"/>
              <a:buChar char="•"/>
            </a:pPr>
            <a:r>
              <a:rPr sz="1800" b="0">
                <a:solidFill>
                  <a:srgbClr val="142B33"/>
                </a:solidFill>
                <a:latin typeface="Calibri"/>
              </a:rPr>
              <a:t>Cinco factores, 16 corridas: </a:t>
            </a:r>
            <a:r>
              <a:rPr sz="1800" b="1">
                <a:solidFill>
                  <a:srgbClr val="142B33"/>
                </a:solidFill>
                <a:latin typeface="Calibri"/>
              </a:rPr>
              <a:t>E = ABCD</a:t>
            </a:r>
            <a:r>
              <a:rPr sz="1800" b="0">
                <a:solidFill>
                  <a:srgbClr val="142B33"/>
                </a:solidFill>
                <a:latin typeface="Calibri"/>
              </a:rPr>
              <a:t>  (I = ABCDE)</a:t>
            </a:r>
          </a:p>
          <a:p>
            <a:pPr marL="320040" indent="-320040">
              <a:spcAft>
                <a:spcPts val="600"/>
              </a:spcAft>
              <a:buClr>
                <a:srgbClr val="E36414"/>
              </a:buClr>
              <a:buFont typeface="Arial"/>
              <a:buChar char="•"/>
            </a:pPr>
            <a:r>
              <a:rPr sz="1800" b="1">
                <a:solidFill>
                  <a:srgbClr val="142B33"/>
                </a:solidFill>
                <a:latin typeface="Calibri"/>
              </a:rPr>
              <a:t>Resolución V</a:t>
            </a:r>
            <a:r>
              <a:rPr sz="1800" b="0">
                <a:solidFill>
                  <a:srgbClr val="142B33"/>
                </a:solidFill>
                <a:latin typeface="Calibri"/>
              </a:rPr>
              <a:t>: principales e interacciones dobles libres entre sí</a:t>
            </a:r>
          </a:p>
        </p:txBody>
      </p:sp>
      <p:graphicFrame>
        <p:nvGraphicFramePr>
          <p:cNvPr id="4" name="Table 3"/>
          <p:cNvGraphicFramePr>
            <a:graphicFrameLocks noGrp="1"/>
          </p:cNvGraphicFramePr>
          <p:nvPr/>
        </p:nvGraphicFramePr>
        <p:xfrm>
          <a:off x="548640" y="2898648"/>
          <a:ext cx="5555124" cy="2107692"/>
        </p:xfrm>
        <a:graphic>
          <a:graphicData uri="http://schemas.openxmlformats.org/drawingml/2006/table">
            <a:tbl>
              <a:tblPr firstRow="0" bandRow="0">
                <a:tableStyleId>{5C22544A-7EE6-4342-B048-85BDC9FD1C3A}</a:tableStyleId>
              </a:tblPr>
              <a:tblGrid>
                <a:gridCol w="2628120"/>
                <a:gridCol w="1463502"/>
                <a:gridCol w="1463502"/>
              </a:tblGrid>
              <a:tr h="351282">
                <a:tc>
                  <a:txBody>
                    <a:bodyPr/>
                    <a:lstStyle/>
                    <a:p>
                      <a:pPr algn="l"/>
                      <a:r>
                        <a:rPr sz="1500" b="1">
                          <a:solidFill>
                            <a:srgbClr val="FFFFFF"/>
                          </a:solidFill>
                          <a:latin typeface="Calibri"/>
                        </a:rPr>
                        <a:t>Factor</a:t>
                      </a:r>
                    </a:p>
                  </a:txBody>
                  <a:tcPr marL="73152" marR="73152" marT="27432" marB="27432" anchor="ctr">
                    <a:solidFill>
                      <a:srgbClr val="0F4C5C"/>
                    </a:solidFill>
                  </a:tcPr>
                </a:tc>
                <a:tc>
                  <a:txBody>
                    <a:bodyPr/>
                    <a:lstStyle/>
                    <a:p>
                      <a:pPr algn="ctr"/>
                      <a:r>
                        <a:rPr sz="1500" b="1">
                          <a:solidFill>
                            <a:srgbClr val="FFFFFF"/>
                          </a:solidFill>
                          <a:latin typeface="Calibri"/>
                        </a:rPr>
                        <a:t>Nivel (−)</a:t>
                      </a:r>
                    </a:p>
                  </a:txBody>
                  <a:tcPr marL="73152" marR="73152" marT="27432" marB="27432" anchor="ctr">
                    <a:solidFill>
                      <a:srgbClr val="0F4C5C"/>
                    </a:solidFill>
                  </a:tcPr>
                </a:tc>
                <a:tc>
                  <a:txBody>
                    <a:bodyPr/>
                    <a:lstStyle/>
                    <a:p>
                      <a:pPr algn="ctr"/>
                      <a:r>
                        <a:rPr sz="1500" b="1">
                          <a:solidFill>
                            <a:srgbClr val="FFFFFF"/>
                          </a:solidFill>
                          <a:latin typeface="Calibri"/>
                        </a:rPr>
                        <a:t>Nivel (+)</a:t>
                      </a:r>
                    </a:p>
                  </a:txBody>
                  <a:tcPr marL="73152" marR="73152" marT="27432" marB="27432" anchor="ctr">
                    <a:solidFill>
                      <a:srgbClr val="0F4C5C"/>
                    </a:solidFill>
                  </a:tcPr>
                </a:tc>
              </a:tr>
              <a:tr h="351282">
                <a:tc>
                  <a:txBody>
                    <a:bodyPr/>
                    <a:lstStyle/>
                    <a:p>
                      <a:pPr algn="l"/>
                      <a:r>
                        <a:rPr sz="1500" b="0">
                          <a:solidFill>
                            <a:srgbClr val="142B33"/>
                          </a:solidFill>
                          <a:latin typeface="Calibri"/>
                        </a:rPr>
                        <a:t>A  Apertura</a:t>
                      </a:r>
                    </a:p>
                  </a:txBody>
                  <a:tcPr marL="73152" marR="73152" marT="27432" marB="27432" anchor="ctr">
                    <a:solidFill>
                      <a:srgbClr val="FFFFFF"/>
                    </a:solidFill>
                  </a:tcPr>
                </a:tc>
                <a:tc>
                  <a:txBody>
                    <a:bodyPr/>
                    <a:lstStyle/>
                    <a:p>
                      <a:pPr algn="ctr"/>
                      <a:r>
                        <a:rPr sz="1500" b="0">
                          <a:solidFill>
                            <a:srgbClr val="142B33"/>
                          </a:solidFill>
                          <a:latin typeface="Calibri"/>
                        </a:rPr>
                        <a:t>pequeña</a:t>
                      </a:r>
                    </a:p>
                  </a:txBody>
                  <a:tcPr marL="73152" marR="73152" marT="27432" marB="27432" anchor="ctr">
                    <a:solidFill>
                      <a:srgbClr val="FFFFFF"/>
                    </a:solidFill>
                  </a:tcPr>
                </a:tc>
                <a:tc>
                  <a:txBody>
                    <a:bodyPr/>
                    <a:lstStyle/>
                    <a:p>
                      <a:pPr algn="ctr"/>
                      <a:r>
                        <a:rPr sz="1500" b="0">
                          <a:solidFill>
                            <a:srgbClr val="142B33"/>
                          </a:solidFill>
                          <a:latin typeface="Calibri"/>
                        </a:rPr>
                        <a:t>grande</a:t>
                      </a:r>
                    </a:p>
                  </a:txBody>
                  <a:tcPr marL="73152" marR="73152" marT="27432" marB="27432" anchor="ctr">
                    <a:solidFill>
                      <a:srgbClr val="FFFFFF"/>
                    </a:solidFill>
                  </a:tcPr>
                </a:tc>
              </a:tr>
              <a:tr h="351282">
                <a:tc>
                  <a:txBody>
                    <a:bodyPr/>
                    <a:lstStyle/>
                    <a:p>
                      <a:pPr algn="l"/>
                      <a:r>
                        <a:rPr sz="1500" b="0">
                          <a:solidFill>
                            <a:srgbClr val="142B33"/>
                          </a:solidFill>
                          <a:latin typeface="Calibri"/>
                        </a:rPr>
                        <a:t>B  Tiempo de exposición</a:t>
                      </a:r>
                    </a:p>
                  </a:txBody>
                  <a:tcPr marL="73152" marR="73152" marT="27432" marB="27432" anchor="ctr">
                    <a:solidFill>
                      <a:srgbClr val="F4F8F9"/>
                    </a:solidFill>
                  </a:tcPr>
                </a:tc>
                <a:tc>
                  <a:txBody>
                    <a:bodyPr/>
                    <a:lstStyle/>
                    <a:p>
                      <a:pPr algn="ctr"/>
                      <a:r>
                        <a:rPr sz="1500" b="0">
                          <a:solidFill>
                            <a:srgbClr val="142B33"/>
                          </a:solidFill>
                          <a:latin typeface="Calibri"/>
                        </a:rPr>
                        <a:t>−20 %</a:t>
                      </a:r>
                    </a:p>
                  </a:txBody>
                  <a:tcPr marL="73152" marR="73152" marT="27432" marB="27432" anchor="ctr">
                    <a:solidFill>
                      <a:srgbClr val="F4F8F9"/>
                    </a:solidFill>
                  </a:tcPr>
                </a:tc>
                <a:tc>
                  <a:txBody>
                    <a:bodyPr/>
                    <a:lstStyle/>
                    <a:p>
                      <a:pPr algn="ctr"/>
                      <a:r>
                        <a:rPr sz="1500" b="0">
                          <a:solidFill>
                            <a:srgbClr val="142B33"/>
                          </a:solidFill>
                          <a:latin typeface="Calibri"/>
                        </a:rPr>
                        <a:t>+20 %</a:t>
                      </a:r>
                    </a:p>
                  </a:txBody>
                  <a:tcPr marL="73152" marR="73152" marT="27432" marB="27432" anchor="ctr">
                    <a:solidFill>
                      <a:srgbClr val="F4F8F9"/>
                    </a:solidFill>
                  </a:tcPr>
                </a:tc>
              </a:tr>
              <a:tr h="351282">
                <a:tc>
                  <a:txBody>
                    <a:bodyPr/>
                    <a:lstStyle/>
                    <a:p>
                      <a:pPr algn="l"/>
                      <a:r>
                        <a:rPr sz="1500" b="0">
                          <a:solidFill>
                            <a:srgbClr val="142B33"/>
                          </a:solidFill>
                          <a:latin typeface="Calibri"/>
                        </a:rPr>
                        <a:t>C  Tiempo de desarrollo</a:t>
                      </a:r>
                    </a:p>
                  </a:txBody>
                  <a:tcPr marL="73152" marR="73152" marT="27432" marB="27432" anchor="ctr">
                    <a:solidFill>
                      <a:srgbClr val="FFFFFF"/>
                    </a:solidFill>
                  </a:tcPr>
                </a:tc>
                <a:tc>
                  <a:txBody>
                    <a:bodyPr/>
                    <a:lstStyle/>
                    <a:p>
                      <a:pPr algn="ctr"/>
                      <a:r>
                        <a:rPr sz="1500" b="0">
                          <a:solidFill>
                            <a:srgbClr val="142B33"/>
                          </a:solidFill>
                          <a:latin typeface="Calibri"/>
                        </a:rPr>
                        <a:t>30 s</a:t>
                      </a:r>
                    </a:p>
                  </a:txBody>
                  <a:tcPr marL="73152" marR="73152" marT="27432" marB="27432" anchor="ctr">
                    <a:solidFill>
                      <a:srgbClr val="FFFFFF"/>
                    </a:solidFill>
                  </a:tcPr>
                </a:tc>
                <a:tc>
                  <a:txBody>
                    <a:bodyPr/>
                    <a:lstStyle/>
                    <a:p>
                      <a:pPr algn="ctr"/>
                      <a:r>
                        <a:rPr sz="1500" b="0">
                          <a:solidFill>
                            <a:srgbClr val="142B33"/>
                          </a:solidFill>
                          <a:latin typeface="Calibri"/>
                        </a:rPr>
                        <a:t>45 s</a:t>
                      </a:r>
                    </a:p>
                  </a:txBody>
                  <a:tcPr marL="73152" marR="73152" marT="27432" marB="27432" anchor="ctr">
                    <a:solidFill>
                      <a:srgbClr val="FFFFFF"/>
                    </a:solidFill>
                  </a:tcPr>
                </a:tc>
              </a:tr>
              <a:tr h="351282">
                <a:tc>
                  <a:txBody>
                    <a:bodyPr/>
                    <a:lstStyle/>
                    <a:p>
                      <a:pPr algn="l"/>
                      <a:r>
                        <a:rPr sz="1500" b="0">
                          <a:solidFill>
                            <a:srgbClr val="142B33"/>
                          </a:solidFill>
                          <a:latin typeface="Calibri"/>
                        </a:rPr>
                        <a:t>D  Tamaño de máscara</a:t>
                      </a:r>
                    </a:p>
                  </a:txBody>
                  <a:tcPr marL="73152" marR="73152" marT="27432" marB="27432" anchor="ctr">
                    <a:solidFill>
                      <a:srgbClr val="F4F8F9"/>
                    </a:solidFill>
                  </a:tcPr>
                </a:tc>
                <a:tc>
                  <a:txBody>
                    <a:bodyPr/>
                    <a:lstStyle/>
                    <a:p>
                      <a:pPr algn="ctr"/>
                      <a:r>
                        <a:rPr sz="1500" b="0">
                          <a:solidFill>
                            <a:srgbClr val="142B33"/>
                          </a:solidFill>
                          <a:latin typeface="Calibri"/>
                        </a:rPr>
                        <a:t>pequeña</a:t>
                      </a:r>
                    </a:p>
                  </a:txBody>
                  <a:tcPr marL="73152" marR="73152" marT="27432" marB="27432" anchor="ctr">
                    <a:solidFill>
                      <a:srgbClr val="F4F8F9"/>
                    </a:solidFill>
                  </a:tcPr>
                </a:tc>
                <a:tc>
                  <a:txBody>
                    <a:bodyPr/>
                    <a:lstStyle/>
                    <a:p>
                      <a:pPr algn="ctr"/>
                      <a:r>
                        <a:rPr sz="1500" b="0">
                          <a:solidFill>
                            <a:srgbClr val="142B33"/>
                          </a:solidFill>
                          <a:latin typeface="Calibri"/>
                        </a:rPr>
                        <a:t>grande</a:t>
                      </a:r>
                    </a:p>
                  </a:txBody>
                  <a:tcPr marL="73152" marR="73152" marT="27432" marB="27432" anchor="ctr">
                    <a:solidFill>
                      <a:srgbClr val="F4F8F9"/>
                    </a:solidFill>
                  </a:tcPr>
                </a:tc>
              </a:tr>
              <a:tr h="351282">
                <a:tc>
                  <a:txBody>
                    <a:bodyPr/>
                    <a:lstStyle/>
                    <a:p>
                      <a:pPr algn="l"/>
                      <a:r>
                        <a:rPr sz="1500" b="0">
                          <a:solidFill>
                            <a:srgbClr val="142B33"/>
                          </a:solidFill>
                          <a:latin typeface="Calibri"/>
                        </a:rPr>
                        <a:t>E  Tiempo de grabado</a:t>
                      </a:r>
                    </a:p>
                  </a:txBody>
                  <a:tcPr marL="73152" marR="73152" marT="27432" marB="27432" anchor="ctr">
                    <a:solidFill>
                      <a:srgbClr val="FFFFFF"/>
                    </a:solidFill>
                  </a:tcPr>
                </a:tc>
                <a:tc>
                  <a:txBody>
                    <a:bodyPr/>
                    <a:lstStyle/>
                    <a:p>
                      <a:pPr algn="ctr"/>
                      <a:r>
                        <a:rPr sz="1500" b="0">
                          <a:solidFill>
                            <a:srgbClr val="142B33"/>
                          </a:solidFill>
                          <a:latin typeface="Calibri"/>
                        </a:rPr>
                        <a:t>14.5 min</a:t>
                      </a:r>
                    </a:p>
                  </a:txBody>
                  <a:tcPr marL="73152" marR="73152" marT="27432" marB="27432" anchor="ctr">
                    <a:solidFill>
                      <a:srgbClr val="FFFFFF"/>
                    </a:solidFill>
                  </a:tcPr>
                </a:tc>
                <a:tc>
                  <a:txBody>
                    <a:bodyPr/>
                    <a:lstStyle/>
                    <a:p>
                      <a:pPr algn="ctr"/>
                      <a:r>
                        <a:rPr sz="1500" b="0">
                          <a:solidFill>
                            <a:srgbClr val="142B33"/>
                          </a:solidFill>
                          <a:latin typeface="Calibri"/>
                        </a:rPr>
                        <a:t>15.5 min</a:t>
                      </a:r>
                    </a:p>
                  </a:txBody>
                  <a:tcPr marL="73152" marR="73152" marT="27432" marB="27432" anchor="ctr">
                    <a:solidFill>
                      <a:srgbClr val="FFFFFF"/>
                    </a:solidFill>
                  </a:tcPr>
                </a:tc>
              </a:tr>
            </a:tbl>
          </a:graphicData>
        </a:graphic>
      </p:graphicFrame>
      <p:graphicFrame>
        <p:nvGraphicFramePr>
          <p:cNvPr id="5" name="Table 4"/>
          <p:cNvGraphicFramePr>
            <a:graphicFrameLocks noGrp="1"/>
          </p:cNvGraphicFramePr>
          <p:nvPr/>
        </p:nvGraphicFramePr>
        <p:xfrm>
          <a:off x="6515246" y="1417320"/>
          <a:ext cx="5127806" cy="4715256"/>
        </p:xfrm>
        <a:graphic>
          <a:graphicData uri="http://schemas.openxmlformats.org/drawingml/2006/table">
            <a:tbl>
              <a:tblPr firstRow="0" bandRow="0">
                <a:tableStyleId>{5C22544A-7EE6-4342-B048-85BDC9FD1C3A}</a:tableStyleId>
              </a:tblPr>
              <a:tblGrid>
                <a:gridCol w="1694660"/>
                <a:gridCol w="555147"/>
                <a:gridCol w="555147"/>
                <a:gridCol w="555147"/>
                <a:gridCol w="555147"/>
                <a:gridCol w="555147"/>
                <a:gridCol w="657411"/>
              </a:tblGrid>
              <a:tr h="277368">
                <a:tc>
                  <a:txBody>
                    <a:bodyPr/>
                    <a:lstStyle/>
                    <a:p>
                      <a:pPr algn="ctr"/>
                      <a:r>
                        <a:rPr sz="1200" b="1">
                          <a:solidFill>
                            <a:srgbClr val="FFFFFF"/>
                          </a:solidFill>
                          <a:latin typeface="Calibri"/>
                        </a:rPr>
                        <a:t>Corrida</a:t>
                      </a:r>
                    </a:p>
                  </a:txBody>
                  <a:tcPr marL="73152" marR="73152" marT="27432" marB="27432" anchor="ctr">
                    <a:solidFill>
                      <a:srgbClr val="0F4C5C"/>
                    </a:solidFill>
                  </a:tcPr>
                </a:tc>
                <a:tc>
                  <a:txBody>
                    <a:bodyPr/>
                    <a:lstStyle/>
                    <a:p>
                      <a:pPr algn="ctr"/>
                      <a:r>
                        <a:rPr sz="1200" b="1">
                          <a:solidFill>
                            <a:srgbClr val="FFFFFF"/>
                          </a:solidFill>
                          <a:latin typeface="Calibri"/>
                        </a:rPr>
                        <a:t>A</a:t>
                      </a:r>
                    </a:p>
                  </a:txBody>
                  <a:tcPr marL="73152" marR="73152" marT="27432" marB="27432" anchor="ctr">
                    <a:solidFill>
                      <a:srgbClr val="0F4C5C"/>
                    </a:solidFill>
                  </a:tcPr>
                </a:tc>
                <a:tc>
                  <a:txBody>
                    <a:bodyPr/>
                    <a:lstStyle/>
                    <a:p>
                      <a:pPr algn="ctr"/>
                      <a:r>
                        <a:rPr sz="1200" b="1">
                          <a:solidFill>
                            <a:srgbClr val="FFFFFF"/>
                          </a:solidFill>
                          <a:latin typeface="Calibri"/>
                        </a:rPr>
                        <a:t>B</a:t>
                      </a:r>
                    </a:p>
                  </a:txBody>
                  <a:tcPr marL="73152" marR="73152" marT="27432" marB="27432" anchor="ctr">
                    <a:solidFill>
                      <a:srgbClr val="0F4C5C"/>
                    </a:solidFill>
                  </a:tcPr>
                </a:tc>
                <a:tc>
                  <a:txBody>
                    <a:bodyPr/>
                    <a:lstStyle/>
                    <a:p>
                      <a:pPr algn="ctr"/>
                      <a:r>
                        <a:rPr sz="1200" b="1">
                          <a:solidFill>
                            <a:srgbClr val="FFFFFF"/>
                          </a:solidFill>
                          <a:latin typeface="Calibri"/>
                        </a:rPr>
                        <a:t>C</a:t>
                      </a:r>
                    </a:p>
                  </a:txBody>
                  <a:tcPr marL="73152" marR="73152" marT="27432" marB="27432" anchor="ctr">
                    <a:solidFill>
                      <a:srgbClr val="0F4C5C"/>
                    </a:solidFill>
                  </a:tcPr>
                </a:tc>
                <a:tc>
                  <a:txBody>
                    <a:bodyPr/>
                    <a:lstStyle/>
                    <a:p>
                      <a:pPr algn="ctr"/>
                      <a:r>
                        <a:rPr sz="1200" b="1">
                          <a:solidFill>
                            <a:srgbClr val="FFFFFF"/>
                          </a:solidFill>
                          <a:latin typeface="Calibri"/>
                        </a:rPr>
                        <a:t>D</a:t>
                      </a:r>
                    </a:p>
                  </a:txBody>
                  <a:tcPr marL="73152" marR="73152" marT="27432" marB="27432" anchor="ctr">
                    <a:solidFill>
                      <a:srgbClr val="0F4C5C"/>
                    </a:solidFill>
                  </a:tcPr>
                </a:tc>
                <a:tc>
                  <a:txBody>
                    <a:bodyPr/>
                    <a:lstStyle/>
                    <a:p>
                      <a:pPr algn="ctr"/>
                      <a:r>
                        <a:rPr sz="1200" b="1">
                          <a:solidFill>
                            <a:srgbClr val="FFFFFF"/>
                          </a:solidFill>
                          <a:latin typeface="Calibri"/>
                        </a:rPr>
                        <a:t>E</a:t>
                      </a:r>
                    </a:p>
                  </a:txBody>
                  <a:tcPr marL="73152" marR="73152" marT="27432" marB="27432" anchor="ctr">
                    <a:solidFill>
                      <a:srgbClr val="0F4C5C"/>
                    </a:solidFill>
                  </a:tcPr>
                </a:tc>
                <a:tc>
                  <a:txBody>
                    <a:bodyPr/>
                    <a:lstStyle/>
                    <a:p>
                      <a:pPr algn="ctr"/>
                      <a:r>
                        <a:rPr sz="1200" b="1">
                          <a:solidFill>
                            <a:srgbClr val="FFFFFF"/>
                          </a:solidFill>
                          <a:latin typeface="Calibri"/>
                        </a:rPr>
                        <a:t>Y</a:t>
                      </a:r>
                    </a:p>
                  </a:txBody>
                  <a:tcPr marL="73152" marR="73152" marT="27432" marB="27432" anchor="ctr">
                    <a:solidFill>
                      <a:srgbClr val="0F4C5C"/>
                    </a:solidFill>
                  </a:tcPr>
                </a:tc>
              </a:tr>
              <a:tr h="277368">
                <a:tc>
                  <a:txBody>
                    <a:bodyPr/>
                    <a:lstStyle/>
                    <a:p>
                      <a:pPr algn="ctr"/>
                      <a:r>
                        <a:rPr sz="1200" b="0">
                          <a:solidFill>
                            <a:srgbClr val="142B33"/>
                          </a:solidFill>
                          <a:latin typeface="Calibri"/>
                        </a:rPr>
                        <a:t>1</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200" b="0">
                          <a:solidFill>
                            <a:srgbClr val="142B33"/>
                          </a:solidFill>
                          <a:latin typeface="Calibri"/>
                        </a:rPr>
                        <a:t>8</a:t>
                      </a:r>
                    </a:p>
                  </a:txBody>
                  <a:tcPr marL="73152" marR="73152" marT="27432" marB="27432" anchor="ctr">
                    <a:solidFill>
                      <a:srgbClr val="FFFFFF"/>
                    </a:solidFill>
                  </a:tcPr>
                </a:tc>
              </a:tr>
              <a:tr h="277368">
                <a:tc>
                  <a:txBody>
                    <a:bodyPr/>
                    <a:lstStyle/>
                    <a:p>
                      <a:pPr algn="ctr"/>
                      <a:r>
                        <a:rPr sz="1200" b="0">
                          <a:solidFill>
                            <a:srgbClr val="142B33"/>
                          </a:solidFill>
                          <a:latin typeface="Calibri"/>
                        </a:rPr>
                        <a:t>2</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200" b="0">
                          <a:solidFill>
                            <a:srgbClr val="142B33"/>
                          </a:solidFill>
                          <a:latin typeface="Calibri"/>
                        </a:rPr>
                        <a:t>9</a:t>
                      </a:r>
                    </a:p>
                  </a:txBody>
                  <a:tcPr marL="73152" marR="73152" marT="27432" marB="27432" anchor="ctr">
                    <a:solidFill>
                      <a:srgbClr val="F4F8F9"/>
                    </a:solidFill>
                  </a:tcPr>
                </a:tc>
              </a:tr>
              <a:tr h="277368">
                <a:tc>
                  <a:txBody>
                    <a:bodyPr/>
                    <a:lstStyle/>
                    <a:p>
                      <a:pPr algn="ctr"/>
                      <a:r>
                        <a:rPr sz="1200" b="0">
                          <a:solidFill>
                            <a:srgbClr val="142B33"/>
                          </a:solidFill>
                          <a:latin typeface="Calibri"/>
                        </a:rPr>
                        <a:t>3</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200" b="0">
                          <a:solidFill>
                            <a:srgbClr val="142B33"/>
                          </a:solidFill>
                          <a:latin typeface="Calibri"/>
                        </a:rPr>
                        <a:t>34</a:t>
                      </a:r>
                    </a:p>
                  </a:txBody>
                  <a:tcPr marL="73152" marR="73152" marT="27432" marB="27432" anchor="ctr">
                    <a:solidFill>
                      <a:srgbClr val="FFFFFF"/>
                    </a:solidFill>
                  </a:tcPr>
                </a:tc>
              </a:tr>
              <a:tr h="277368">
                <a:tc>
                  <a:txBody>
                    <a:bodyPr/>
                    <a:lstStyle/>
                    <a:p>
                      <a:pPr algn="ctr"/>
                      <a:r>
                        <a:rPr sz="1200" b="0">
                          <a:solidFill>
                            <a:srgbClr val="142B33"/>
                          </a:solidFill>
                          <a:latin typeface="Calibri"/>
                        </a:rPr>
                        <a:t>4</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200" b="0">
                          <a:solidFill>
                            <a:srgbClr val="142B33"/>
                          </a:solidFill>
                          <a:latin typeface="Calibri"/>
                        </a:rPr>
                        <a:t>52</a:t>
                      </a:r>
                    </a:p>
                  </a:txBody>
                  <a:tcPr marL="73152" marR="73152" marT="27432" marB="27432" anchor="ctr">
                    <a:solidFill>
                      <a:srgbClr val="F4F8F9"/>
                    </a:solidFill>
                  </a:tcPr>
                </a:tc>
              </a:tr>
              <a:tr h="277368">
                <a:tc>
                  <a:txBody>
                    <a:bodyPr/>
                    <a:lstStyle/>
                    <a:p>
                      <a:pPr algn="ctr"/>
                      <a:r>
                        <a:rPr sz="1200" b="0">
                          <a:solidFill>
                            <a:srgbClr val="142B33"/>
                          </a:solidFill>
                          <a:latin typeface="Calibri"/>
                        </a:rPr>
                        <a:t>5</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200" b="0">
                          <a:solidFill>
                            <a:srgbClr val="142B33"/>
                          </a:solidFill>
                          <a:latin typeface="Calibri"/>
                        </a:rPr>
                        <a:t>16</a:t>
                      </a:r>
                    </a:p>
                  </a:txBody>
                  <a:tcPr marL="73152" marR="73152" marT="27432" marB="27432" anchor="ctr">
                    <a:solidFill>
                      <a:srgbClr val="FFFFFF"/>
                    </a:solidFill>
                  </a:tcPr>
                </a:tc>
              </a:tr>
              <a:tr h="277368">
                <a:tc>
                  <a:txBody>
                    <a:bodyPr/>
                    <a:lstStyle/>
                    <a:p>
                      <a:pPr algn="ctr"/>
                      <a:r>
                        <a:rPr sz="1200" b="0">
                          <a:solidFill>
                            <a:srgbClr val="142B33"/>
                          </a:solidFill>
                          <a:latin typeface="Calibri"/>
                        </a:rPr>
                        <a:t>6</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200" b="0">
                          <a:solidFill>
                            <a:srgbClr val="142B33"/>
                          </a:solidFill>
                          <a:latin typeface="Calibri"/>
                        </a:rPr>
                        <a:t>22</a:t>
                      </a:r>
                    </a:p>
                  </a:txBody>
                  <a:tcPr marL="73152" marR="73152" marT="27432" marB="27432" anchor="ctr">
                    <a:solidFill>
                      <a:srgbClr val="F4F8F9"/>
                    </a:solidFill>
                  </a:tcPr>
                </a:tc>
              </a:tr>
              <a:tr h="277368">
                <a:tc>
                  <a:txBody>
                    <a:bodyPr/>
                    <a:lstStyle/>
                    <a:p>
                      <a:pPr algn="ctr"/>
                      <a:r>
                        <a:rPr sz="1200" b="0">
                          <a:solidFill>
                            <a:srgbClr val="142B33"/>
                          </a:solidFill>
                          <a:latin typeface="Calibri"/>
                        </a:rPr>
                        <a:t>7</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200" b="0">
                          <a:solidFill>
                            <a:srgbClr val="142B33"/>
                          </a:solidFill>
                          <a:latin typeface="Calibri"/>
                        </a:rPr>
                        <a:t>45</a:t>
                      </a:r>
                    </a:p>
                  </a:txBody>
                  <a:tcPr marL="73152" marR="73152" marT="27432" marB="27432" anchor="ctr">
                    <a:solidFill>
                      <a:srgbClr val="FFFFFF"/>
                    </a:solidFill>
                  </a:tcPr>
                </a:tc>
              </a:tr>
              <a:tr h="277368">
                <a:tc>
                  <a:txBody>
                    <a:bodyPr/>
                    <a:lstStyle/>
                    <a:p>
                      <a:pPr algn="ctr"/>
                      <a:r>
                        <a:rPr sz="1200" b="0">
                          <a:solidFill>
                            <a:srgbClr val="142B33"/>
                          </a:solidFill>
                          <a:latin typeface="Calibri"/>
                        </a:rPr>
                        <a:t>8</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200" b="0">
                          <a:solidFill>
                            <a:srgbClr val="142B33"/>
                          </a:solidFill>
                          <a:latin typeface="Calibri"/>
                        </a:rPr>
                        <a:t>60</a:t>
                      </a:r>
                    </a:p>
                  </a:txBody>
                  <a:tcPr marL="73152" marR="73152" marT="27432" marB="27432" anchor="ctr">
                    <a:solidFill>
                      <a:srgbClr val="F4F8F9"/>
                    </a:solidFill>
                  </a:tcPr>
                </a:tc>
              </a:tr>
              <a:tr h="277368">
                <a:tc>
                  <a:txBody>
                    <a:bodyPr/>
                    <a:lstStyle/>
                    <a:p>
                      <a:pPr algn="ctr"/>
                      <a:r>
                        <a:rPr sz="1200" b="0">
                          <a:solidFill>
                            <a:srgbClr val="142B33"/>
                          </a:solidFill>
                          <a:latin typeface="Calibri"/>
                        </a:rPr>
                        <a:t>9</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200" b="0">
                          <a:solidFill>
                            <a:srgbClr val="142B33"/>
                          </a:solidFill>
                          <a:latin typeface="Calibri"/>
                        </a:rPr>
                        <a:t>6</a:t>
                      </a:r>
                    </a:p>
                  </a:txBody>
                  <a:tcPr marL="73152" marR="73152" marT="27432" marB="27432" anchor="ctr">
                    <a:solidFill>
                      <a:srgbClr val="FFFFFF"/>
                    </a:solidFill>
                  </a:tcPr>
                </a:tc>
              </a:tr>
              <a:tr h="277368">
                <a:tc>
                  <a:txBody>
                    <a:bodyPr/>
                    <a:lstStyle/>
                    <a:p>
                      <a:pPr algn="ctr"/>
                      <a:r>
                        <a:rPr sz="1200" b="0">
                          <a:solidFill>
                            <a:srgbClr val="142B33"/>
                          </a:solidFill>
                          <a:latin typeface="Calibri"/>
                        </a:rPr>
                        <a:t>10</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200" b="0">
                          <a:solidFill>
                            <a:srgbClr val="142B33"/>
                          </a:solidFill>
                          <a:latin typeface="Calibri"/>
                        </a:rPr>
                        <a:t>10</a:t>
                      </a:r>
                    </a:p>
                  </a:txBody>
                  <a:tcPr marL="73152" marR="73152" marT="27432" marB="27432" anchor="ctr">
                    <a:solidFill>
                      <a:srgbClr val="F4F8F9"/>
                    </a:solidFill>
                  </a:tcPr>
                </a:tc>
              </a:tr>
              <a:tr h="277368">
                <a:tc>
                  <a:txBody>
                    <a:bodyPr/>
                    <a:lstStyle/>
                    <a:p>
                      <a:pPr algn="ctr"/>
                      <a:r>
                        <a:rPr sz="1200" b="0">
                          <a:solidFill>
                            <a:srgbClr val="142B33"/>
                          </a:solidFill>
                          <a:latin typeface="Calibri"/>
                        </a:rPr>
                        <a:t>11</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200" b="0">
                          <a:solidFill>
                            <a:srgbClr val="142B33"/>
                          </a:solidFill>
                          <a:latin typeface="Calibri"/>
                        </a:rPr>
                        <a:t>30</a:t>
                      </a:r>
                    </a:p>
                  </a:txBody>
                  <a:tcPr marL="73152" marR="73152" marT="27432" marB="27432" anchor="ctr">
                    <a:solidFill>
                      <a:srgbClr val="FFFFFF"/>
                    </a:solidFill>
                  </a:tcPr>
                </a:tc>
              </a:tr>
              <a:tr h="277368">
                <a:tc>
                  <a:txBody>
                    <a:bodyPr/>
                    <a:lstStyle/>
                    <a:p>
                      <a:pPr algn="ctr"/>
                      <a:r>
                        <a:rPr sz="1200" b="0">
                          <a:solidFill>
                            <a:srgbClr val="142B33"/>
                          </a:solidFill>
                          <a:latin typeface="Calibri"/>
                        </a:rPr>
                        <a:t>12</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200" b="0">
                          <a:solidFill>
                            <a:srgbClr val="142B33"/>
                          </a:solidFill>
                          <a:latin typeface="Calibri"/>
                        </a:rPr>
                        <a:t>50</a:t>
                      </a:r>
                    </a:p>
                  </a:txBody>
                  <a:tcPr marL="73152" marR="73152" marT="27432" marB="27432" anchor="ctr">
                    <a:solidFill>
                      <a:srgbClr val="F4F8F9"/>
                    </a:solidFill>
                  </a:tcPr>
                </a:tc>
              </a:tr>
              <a:tr h="277368">
                <a:tc>
                  <a:txBody>
                    <a:bodyPr/>
                    <a:lstStyle/>
                    <a:p>
                      <a:pPr algn="ctr"/>
                      <a:r>
                        <a:rPr sz="1200" b="0">
                          <a:solidFill>
                            <a:srgbClr val="142B33"/>
                          </a:solidFill>
                          <a:latin typeface="Calibri"/>
                        </a:rPr>
                        <a:t>13</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200" b="0">
                          <a:solidFill>
                            <a:srgbClr val="142B33"/>
                          </a:solidFill>
                          <a:latin typeface="Calibri"/>
                        </a:rPr>
                        <a:t>15</a:t>
                      </a:r>
                    </a:p>
                  </a:txBody>
                  <a:tcPr marL="73152" marR="73152" marT="27432" marB="27432" anchor="ctr">
                    <a:solidFill>
                      <a:srgbClr val="FFFFFF"/>
                    </a:solidFill>
                  </a:tcPr>
                </a:tc>
              </a:tr>
              <a:tr h="277368">
                <a:tc>
                  <a:txBody>
                    <a:bodyPr/>
                    <a:lstStyle/>
                    <a:p>
                      <a:pPr algn="ctr"/>
                      <a:r>
                        <a:rPr sz="1200" b="0">
                          <a:solidFill>
                            <a:srgbClr val="142B33"/>
                          </a:solidFill>
                          <a:latin typeface="Calibri"/>
                        </a:rPr>
                        <a:t>14</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200" b="0">
                          <a:solidFill>
                            <a:srgbClr val="142B33"/>
                          </a:solidFill>
                          <a:latin typeface="Calibri"/>
                        </a:rPr>
                        <a:t>21</a:t>
                      </a:r>
                    </a:p>
                  </a:txBody>
                  <a:tcPr marL="73152" marR="73152" marT="27432" marB="27432" anchor="ctr">
                    <a:solidFill>
                      <a:srgbClr val="F4F8F9"/>
                    </a:solidFill>
                  </a:tcPr>
                </a:tc>
              </a:tr>
              <a:tr h="277368">
                <a:tc>
                  <a:txBody>
                    <a:bodyPr/>
                    <a:lstStyle/>
                    <a:p>
                      <a:pPr algn="ctr"/>
                      <a:r>
                        <a:rPr sz="1200" b="0">
                          <a:solidFill>
                            <a:srgbClr val="142B33"/>
                          </a:solidFill>
                          <a:latin typeface="Calibri"/>
                        </a:rPr>
                        <a:t>15</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200" b="0">
                          <a:solidFill>
                            <a:srgbClr val="142B33"/>
                          </a:solidFill>
                          <a:latin typeface="Calibri"/>
                        </a:rPr>
                        <a:t>44</a:t>
                      </a:r>
                    </a:p>
                  </a:txBody>
                  <a:tcPr marL="73152" marR="73152" marT="27432" marB="27432" anchor="ctr">
                    <a:solidFill>
                      <a:srgbClr val="FFFFFF"/>
                    </a:solidFill>
                  </a:tcPr>
                </a:tc>
              </a:tr>
              <a:tr h="277368">
                <a:tc>
                  <a:txBody>
                    <a:bodyPr/>
                    <a:lstStyle/>
                    <a:p>
                      <a:pPr algn="ctr"/>
                      <a:r>
                        <a:rPr sz="1200" b="0">
                          <a:solidFill>
                            <a:srgbClr val="142B33"/>
                          </a:solidFill>
                          <a:latin typeface="Calibri"/>
                        </a:rPr>
                        <a:t>16</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200" b="0">
                          <a:solidFill>
                            <a:srgbClr val="142B33"/>
                          </a:solidFill>
                          <a:latin typeface="Calibri"/>
                        </a:rPr>
                        <a:t>63</a:t>
                      </a:r>
                    </a:p>
                  </a:txBody>
                  <a:tcPr marL="73152" marR="73152" marT="27432" marB="27432" anchor="ctr">
                    <a:solidFill>
                      <a:srgbClr val="F4F8F9"/>
                    </a:solidFill>
                  </a:tcPr>
                </a:tc>
              </a:tr>
            </a:tbl>
          </a:graphicData>
        </a:graphic>
      </p:graphicFrame>
      <p:sp>
        <p:nvSpPr>
          <p:cNvPr id="6" name="TextBox 5"/>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La fracción un medio 2</a:t>
            </a:r>
            <a:r>
              <a:rPr sz="1000" b="0" baseline="30000">
                <a:solidFill>
                  <a:srgbClr val="5B6B73"/>
                </a:solidFill>
                <a:latin typeface="Calibri"/>
              </a:rPr>
              <a:t>k−1</a:t>
            </a:r>
          </a:p>
        </p:txBody>
      </p:sp>
      <p:sp>
        <p:nvSpPr>
          <p:cNvPr id="7" name="TextBox 6"/>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29</a:t>
            </a:r>
          </a:p>
        </p:txBody>
      </p:sp>
      <p:sp>
        <p:nvSpPr>
          <p:cNvPr id="8" name="Rounded Rectangle 7"/>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4 · La fracción un medio 2</a:t>
            </a:r>
            <a:r>
              <a:rPr sz="1100" b="1" baseline="30000">
                <a:solidFill>
                  <a:srgbClr val="FFFFFF"/>
                </a:solidFill>
                <a:latin typeface="Calibri"/>
              </a:rPr>
              <a:t>k−1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2 · ¿Qué efectos son activos?</a:t>
            </a:r>
          </a:p>
        </p:txBody>
      </p:sp>
      <p:graphicFrame>
        <p:nvGraphicFramePr>
          <p:cNvPr id="3" name="Chart 2"/>
          <p:cNvGraphicFramePr>
            <a:graphicFrameLocks noGrp="1"/>
          </p:cNvGraphicFramePr>
          <p:nvPr/>
        </p:nvGraphicFramePr>
        <p:xfrm>
          <a:off x="548640" y="1417320"/>
          <a:ext cx="5341467" cy="3840480"/>
        </p:xfrm>
        <a:graphic>
          <a:graphicData uri="http://schemas.openxmlformats.org/drawingml/2006/chart">
            <c:chart xmlns:c="http://schemas.openxmlformats.org/drawingml/2006/chart" r:id="rId2"/>
          </a:graphicData>
        </a:graphic>
      </p:graphicFrame>
      <p:sp>
        <p:nvSpPr>
          <p:cNvPr id="4" name="Rounded Rectangle 3"/>
          <p:cNvSpPr/>
          <p:nvPr/>
        </p:nvSpPr>
        <p:spPr>
          <a:xfrm>
            <a:off x="548640" y="5458968"/>
            <a:ext cx="5341467" cy="708151"/>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400" b="0">
                <a:solidFill>
                  <a:srgbClr val="142B33"/>
                </a:solidFill>
                <a:latin typeface="Calibri"/>
              </a:rPr>
              <a:t>Fuera de la recta → </a:t>
            </a:r>
            <a:r>
              <a:rPr sz="1400" b="1">
                <a:solidFill>
                  <a:srgbClr val="142B33"/>
                </a:solidFill>
                <a:latin typeface="Calibri"/>
              </a:rPr>
              <a:t>modelo</a:t>
            </a:r>
            <a:r>
              <a:rPr sz="1400" b="0">
                <a:solidFill>
                  <a:srgbClr val="142B33"/>
                </a:solidFill>
                <a:latin typeface="Calibri"/>
              </a:rPr>
              <a:t> (B, A, C, AB).  Sobre la recta → </a:t>
            </a:r>
            <a:r>
              <a:rPr sz="1400" b="1">
                <a:solidFill>
                  <a:srgbClr val="142B33"/>
                </a:solidFill>
                <a:latin typeface="Calibri"/>
              </a:rPr>
              <a:t>error</a:t>
            </a:r>
            <a:r>
              <a:rPr sz="1400" b="0">
                <a:solidFill>
                  <a:srgbClr val="142B33"/>
                </a:solidFill>
                <a:latin typeface="Calibri"/>
              </a:rPr>
              <a:t> (11 g.l.)</a:t>
            </a:r>
          </a:p>
        </p:txBody>
      </p:sp>
      <p:graphicFrame>
        <p:nvGraphicFramePr>
          <p:cNvPr id="5" name="Chart 4"/>
          <p:cNvGraphicFramePr>
            <a:graphicFrameLocks noGrp="1"/>
          </p:cNvGraphicFramePr>
          <p:nvPr/>
        </p:nvGraphicFramePr>
        <p:xfrm>
          <a:off x="6301587" y="1417320"/>
          <a:ext cx="5341467" cy="3108960"/>
        </p:xfrm>
        <a:graphic>
          <a:graphicData uri="http://schemas.openxmlformats.org/drawingml/2006/chart">
            <c:chart xmlns:c="http://schemas.openxmlformats.org/drawingml/2006/chart" r:id="rId3"/>
          </a:graphicData>
        </a:graphic>
      </p:graphicFrame>
      <p:sp>
        <p:nvSpPr>
          <p:cNvPr id="6" name="Rounded Rectangle 5"/>
          <p:cNvSpPr/>
          <p:nvPr/>
        </p:nvSpPr>
        <p:spPr>
          <a:xfrm>
            <a:off x="6301587" y="4727448"/>
            <a:ext cx="5341467"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Lenth: PSE = 0.9375,  ME = 2.41.  Activos: </a:t>
            </a:r>
            <a:r>
              <a:rPr sz="1500" b="1">
                <a:solidFill>
                  <a:srgbClr val="142B33"/>
                </a:solidFill>
                <a:latin typeface="Calibri"/>
              </a:rPr>
              <a:t>B, A, C y AB</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La fracción un medio 2</a:t>
            </a:r>
            <a:r>
              <a:rPr sz="1000" b="0" baseline="30000">
                <a:solidFill>
                  <a:srgbClr val="5B6B73"/>
                </a:solidFill>
                <a:latin typeface="Calibri"/>
              </a:rPr>
              <a:t>k−1</a:t>
            </a:r>
          </a:p>
        </p:txBody>
      </p:sp>
      <p:sp>
        <p:nvSpPr>
          <p:cNvPr id="8" name="TextBox 7"/>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30</a:t>
            </a:r>
          </a:p>
        </p:txBody>
      </p:sp>
      <p:sp>
        <p:nvSpPr>
          <p:cNvPr id="9" name="Rounded Rectangle 8"/>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4 · La fracción un medio 2</a:t>
            </a:r>
            <a:r>
              <a:rPr sz="1100" b="1" baseline="30000">
                <a:solidFill>
                  <a:srgbClr val="FFFFFF"/>
                </a:solidFill>
                <a:latin typeface="Calibri"/>
              </a:rPr>
              <a:t>k−1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2 · ANOVA y conclusión</a:t>
            </a:r>
          </a:p>
        </p:txBody>
      </p:sp>
      <p:graphicFrame>
        <p:nvGraphicFramePr>
          <p:cNvPr id="3" name="Table 2"/>
          <p:cNvGraphicFramePr>
            <a:graphicFrameLocks noGrp="1"/>
          </p:cNvGraphicFramePr>
          <p:nvPr/>
        </p:nvGraphicFramePr>
        <p:xfrm>
          <a:off x="548640" y="1417320"/>
          <a:ext cx="5982442" cy="2458974"/>
        </p:xfrm>
        <a:graphic>
          <a:graphicData uri="http://schemas.openxmlformats.org/drawingml/2006/table">
            <a:tbl>
              <a:tblPr firstRow="0" bandRow="0">
                <a:tableStyleId>{5C22544A-7EE6-4342-B048-85BDC9FD1C3A}</a:tableStyleId>
              </a:tblPr>
              <a:tblGrid>
                <a:gridCol w="851391"/>
                <a:gridCol w="1078429"/>
                <a:gridCol w="578946"/>
                <a:gridCol w="1078429"/>
                <a:gridCol w="1078429"/>
                <a:gridCol w="1316818"/>
              </a:tblGrid>
              <a:tr h="351282">
                <a:tc>
                  <a:txBody>
                    <a:bodyPr/>
                    <a:lstStyle/>
                    <a:p>
                      <a:pPr algn="l"/>
                      <a:r>
                        <a:rPr sz="1500" b="1">
                          <a:solidFill>
                            <a:srgbClr val="FFFFFF"/>
                          </a:solidFill>
                          <a:latin typeface="Calibri"/>
                        </a:rPr>
                        <a:t>SV</a:t>
                      </a:r>
                    </a:p>
                  </a:txBody>
                  <a:tcPr marL="73152" marR="73152" marT="27432" marB="27432" anchor="ctr">
                    <a:solidFill>
                      <a:srgbClr val="0F4C5C"/>
                    </a:solidFill>
                  </a:tcPr>
                </a:tc>
                <a:tc>
                  <a:txBody>
                    <a:bodyPr/>
                    <a:lstStyle/>
                    <a:p>
                      <a:pPr algn="ctr"/>
                      <a:r>
                        <a:rPr sz="1500" b="1">
                          <a:solidFill>
                            <a:srgbClr val="FFFFFF"/>
                          </a:solidFill>
                          <a:latin typeface="Calibri"/>
                        </a:rPr>
                        <a:t>SS</a:t>
                      </a:r>
                    </a:p>
                  </a:txBody>
                  <a:tcPr marL="73152" marR="73152" marT="27432" marB="27432" anchor="ctr">
                    <a:solidFill>
                      <a:srgbClr val="0F4C5C"/>
                    </a:solidFill>
                  </a:tcPr>
                </a:tc>
                <a:tc>
                  <a:txBody>
                    <a:bodyPr/>
                    <a:lstStyle/>
                    <a:p>
                      <a:pPr algn="ctr"/>
                      <a:r>
                        <a:rPr sz="1500" b="1">
                          <a:solidFill>
                            <a:srgbClr val="FFFFFF"/>
                          </a:solidFill>
                          <a:latin typeface="Calibri"/>
                        </a:rPr>
                        <a:t>DF</a:t>
                      </a:r>
                    </a:p>
                  </a:txBody>
                  <a:tcPr marL="73152" marR="73152" marT="27432" marB="27432" anchor="ctr">
                    <a:solidFill>
                      <a:srgbClr val="0F4C5C"/>
                    </a:solidFill>
                  </a:tcPr>
                </a:tc>
                <a:tc>
                  <a:txBody>
                    <a:bodyPr/>
                    <a:lstStyle/>
                    <a:p>
                      <a:pPr algn="ctr"/>
                      <a:r>
                        <a:rPr sz="1500" b="1">
                          <a:solidFill>
                            <a:srgbClr val="FFFFFF"/>
                          </a:solidFill>
                          <a:latin typeface="Calibri"/>
                        </a:rPr>
                        <a:t>MS</a:t>
                      </a:r>
                    </a:p>
                  </a:txBody>
                  <a:tcPr marL="73152" marR="73152" marT="27432" marB="27432" anchor="ctr">
                    <a:solidFill>
                      <a:srgbClr val="0F4C5C"/>
                    </a:solidFill>
                  </a:tcPr>
                </a:tc>
                <a:tc>
                  <a:txBody>
                    <a:bodyPr/>
                    <a:lstStyle/>
                    <a:p>
                      <a:pPr algn="ctr"/>
                      <a:r>
                        <a:rPr sz="1500" b="1">
                          <a:solidFill>
                            <a:srgbClr val="FFFFFF"/>
                          </a:solidFill>
                          <a:latin typeface="Calibri"/>
                        </a:rPr>
                        <a:t>F</a:t>
                      </a:r>
                      <a:r>
                        <a:rPr sz="1500" b="1" baseline="-25000">
                          <a:solidFill>
                            <a:srgbClr val="FFFFFF"/>
                          </a:solidFill>
                          <a:latin typeface="Calibri"/>
                        </a:rPr>
                        <a:t>0</a:t>
                      </a:r>
                    </a:p>
                  </a:txBody>
                  <a:tcPr marL="73152" marR="73152" marT="27432" marB="27432" anchor="ctr">
                    <a:solidFill>
                      <a:srgbClr val="0F4C5C"/>
                    </a:solidFill>
                  </a:tcPr>
                </a:tc>
                <a:tc>
                  <a:txBody>
                    <a:bodyPr/>
                    <a:lstStyle/>
                    <a:p>
                      <a:pPr algn="ctr"/>
                      <a:r>
                        <a:rPr sz="1500" b="1">
                          <a:solidFill>
                            <a:srgbClr val="FFFFFF"/>
                          </a:solidFill>
                          <a:latin typeface="Calibri"/>
                        </a:rPr>
                        <a:t>P-Value</a:t>
                      </a:r>
                    </a:p>
                  </a:txBody>
                  <a:tcPr marL="73152" marR="73152" marT="27432" marB="27432" anchor="ctr">
                    <a:solidFill>
                      <a:srgbClr val="0F4C5C"/>
                    </a:solidFill>
                  </a:tcPr>
                </a:tc>
              </a:tr>
              <a:tr h="351282">
                <a:tc>
                  <a:txBody>
                    <a:bodyPr/>
                    <a:lstStyle/>
                    <a:p>
                      <a:pPr algn="l"/>
                      <a:r>
                        <a:rPr sz="1500" b="0">
                          <a:solidFill>
                            <a:srgbClr val="142B33"/>
                          </a:solidFill>
                          <a:latin typeface="Calibri"/>
                        </a:rPr>
                        <a:t>A</a:t>
                      </a:r>
                    </a:p>
                  </a:txBody>
                  <a:tcPr marL="73152" marR="73152" marT="27432" marB="27432" anchor="ctr">
                    <a:solidFill>
                      <a:srgbClr val="FFFFFF"/>
                    </a:solidFill>
                  </a:tcPr>
                </a:tc>
                <a:tc>
                  <a:txBody>
                    <a:bodyPr/>
                    <a:lstStyle/>
                    <a:p>
                      <a:pPr algn="ctr"/>
                      <a:r>
                        <a:rPr sz="1500" b="0">
                          <a:solidFill>
                            <a:srgbClr val="142B33"/>
                          </a:solidFill>
                          <a:latin typeface="Calibri"/>
                        </a:rPr>
                        <a:t>495.06</a:t>
                      </a:r>
                    </a:p>
                  </a:txBody>
                  <a:tcPr marL="73152" marR="73152" marT="27432" marB="27432" anchor="ctr">
                    <a:solidFill>
                      <a:srgbClr val="FFFFFF"/>
                    </a:solidFill>
                  </a:tcPr>
                </a:tc>
                <a:tc>
                  <a:txBody>
                    <a:bodyPr/>
                    <a:lstStyle/>
                    <a:p>
                      <a:pPr algn="ctr"/>
                      <a:r>
                        <a:rPr sz="1500" b="0">
                          <a:solidFill>
                            <a:srgbClr val="142B33"/>
                          </a:solidFill>
                          <a:latin typeface="Calibri"/>
                        </a:rPr>
                        <a:t>1</a:t>
                      </a:r>
                    </a:p>
                  </a:txBody>
                  <a:tcPr marL="73152" marR="73152" marT="27432" marB="27432" anchor="ctr">
                    <a:solidFill>
                      <a:srgbClr val="FFFFFF"/>
                    </a:solidFill>
                  </a:tcPr>
                </a:tc>
                <a:tc>
                  <a:txBody>
                    <a:bodyPr/>
                    <a:lstStyle/>
                    <a:p>
                      <a:pPr algn="ctr"/>
                      <a:r>
                        <a:rPr sz="1500" b="0">
                          <a:solidFill>
                            <a:srgbClr val="142B33"/>
                          </a:solidFill>
                          <a:latin typeface="Calibri"/>
                        </a:rPr>
                        <a:t>495.06</a:t>
                      </a:r>
                    </a:p>
                  </a:txBody>
                  <a:tcPr marL="73152" marR="73152" marT="27432" marB="27432" anchor="ctr">
                    <a:solidFill>
                      <a:srgbClr val="FFFFFF"/>
                    </a:solidFill>
                  </a:tcPr>
                </a:tc>
                <a:tc>
                  <a:txBody>
                    <a:bodyPr/>
                    <a:lstStyle/>
                    <a:p>
                      <a:pPr algn="ctr"/>
                      <a:r>
                        <a:rPr sz="1500" b="0">
                          <a:solidFill>
                            <a:srgbClr val="142B33"/>
                          </a:solidFill>
                          <a:latin typeface="Calibri"/>
                        </a:rPr>
                        <a:t>193.20</a:t>
                      </a:r>
                    </a:p>
                  </a:txBody>
                  <a:tcPr marL="73152" marR="73152" marT="27432" marB="27432" anchor="ctr">
                    <a:solidFill>
                      <a:srgbClr val="FFFFFF"/>
                    </a:solidFill>
                  </a:tcPr>
                </a:tc>
                <a:tc>
                  <a:txBody>
                    <a:bodyPr/>
                    <a:lstStyle/>
                    <a:p>
                      <a:pPr algn="ctr"/>
                      <a:r>
                        <a:rPr sz="1500" b="0">
                          <a:solidFill>
                            <a:srgbClr val="142B33"/>
                          </a:solidFill>
                          <a:latin typeface="Calibri"/>
                        </a:rPr>
                        <a:t>&lt;0.0001</a:t>
                      </a:r>
                    </a:p>
                  </a:txBody>
                  <a:tcPr marL="73152" marR="73152" marT="27432" marB="27432" anchor="ctr">
                    <a:solidFill>
                      <a:srgbClr val="FFFFFF"/>
                    </a:solidFill>
                  </a:tcPr>
                </a:tc>
              </a:tr>
              <a:tr h="351282">
                <a:tc>
                  <a:txBody>
                    <a:bodyPr/>
                    <a:lstStyle/>
                    <a:p>
                      <a:pPr algn="l"/>
                      <a:r>
                        <a:rPr sz="1500" b="0">
                          <a:solidFill>
                            <a:srgbClr val="142B33"/>
                          </a:solidFill>
                          <a:latin typeface="Calibri"/>
                        </a:rPr>
                        <a:t>B</a:t>
                      </a:r>
                    </a:p>
                  </a:txBody>
                  <a:tcPr marL="73152" marR="73152" marT="27432" marB="27432" anchor="ctr">
                    <a:solidFill>
                      <a:srgbClr val="F4F8F9"/>
                    </a:solidFill>
                  </a:tcPr>
                </a:tc>
                <a:tc>
                  <a:txBody>
                    <a:bodyPr/>
                    <a:lstStyle/>
                    <a:p>
                      <a:pPr algn="ctr"/>
                      <a:r>
                        <a:rPr sz="1500" b="0">
                          <a:solidFill>
                            <a:srgbClr val="142B33"/>
                          </a:solidFill>
                          <a:latin typeface="Calibri"/>
                        </a:rPr>
                        <a:t>4590.06</a:t>
                      </a:r>
                    </a:p>
                  </a:txBody>
                  <a:tcPr marL="73152" marR="73152" marT="27432" marB="27432" anchor="ctr">
                    <a:solidFill>
                      <a:srgbClr val="F4F8F9"/>
                    </a:solidFill>
                  </a:tcPr>
                </a:tc>
                <a:tc>
                  <a:txBody>
                    <a:bodyPr/>
                    <a:lstStyle/>
                    <a:p>
                      <a:pPr algn="ctr"/>
                      <a:r>
                        <a:rPr sz="1500" b="0">
                          <a:solidFill>
                            <a:srgbClr val="142B33"/>
                          </a:solidFill>
                          <a:latin typeface="Calibri"/>
                        </a:rPr>
                        <a:t>1</a:t>
                      </a:r>
                    </a:p>
                  </a:txBody>
                  <a:tcPr marL="73152" marR="73152" marT="27432" marB="27432" anchor="ctr">
                    <a:solidFill>
                      <a:srgbClr val="F4F8F9"/>
                    </a:solidFill>
                  </a:tcPr>
                </a:tc>
                <a:tc>
                  <a:txBody>
                    <a:bodyPr/>
                    <a:lstStyle/>
                    <a:p>
                      <a:pPr algn="ctr"/>
                      <a:r>
                        <a:rPr sz="1500" b="0">
                          <a:solidFill>
                            <a:srgbClr val="142B33"/>
                          </a:solidFill>
                          <a:latin typeface="Calibri"/>
                        </a:rPr>
                        <a:t>4590.06</a:t>
                      </a:r>
                    </a:p>
                  </a:txBody>
                  <a:tcPr marL="73152" marR="73152" marT="27432" marB="27432" anchor="ctr">
                    <a:solidFill>
                      <a:srgbClr val="F4F8F9"/>
                    </a:solidFill>
                  </a:tcPr>
                </a:tc>
                <a:tc>
                  <a:txBody>
                    <a:bodyPr/>
                    <a:lstStyle/>
                    <a:p>
                      <a:pPr algn="ctr"/>
                      <a:r>
                        <a:rPr sz="1500" b="0">
                          <a:solidFill>
                            <a:srgbClr val="142B33"/>
                          </a:solidFill>
                          <a:latin typeface="Calibri"/>
                        </a:rPr>
                        <a:t>1791.24</a:t>
                      </a:r>
                    </a:p>
                  </a:txBody>
                  <a:tcPr marL="73152" marR="73152" marT="27432" marB="27432" anchor="ctr">
                    <a:solidFill>
                      <a:srgbClr val="F4F8F9"/>
                    </a:solidFill>
                  </a:tcPr>
                </a:tc>
                <a:tc>
                  <a:txBody>
                    <a:bodyPr/>
                    <a:lstStyle/>
                    <a:p>
                      <a:pPr algn="ctr"/>
                      <a:r>
                        <a:rPr sz="1500" b="0">
                          <a:solidFill>
                            <a:srgbClr val="142B33"/>
                          </a:solidFill>
                          <a:latin typeface="Calibri"/>
                        </a:rPr>
                        <a:t>&lt;0.0001</a:t>
                      </a:r>
                    </a:p>
                  </a:txBody>
                  <a:tcPr marL="73152" marR="73152" marT="27432" marB="27432" anchor="ctr">
                    <a:solidFill>
                      <a:srgbClr val="F4F8F9"/>
                    </a:solidFill>
                  </a:tcPr>
                </a:tc>
              </a:tr>
              <a:tr h="351282">
                <a:tc>
                  <a:txBody>
                    <a:bodyPr/>
                    <a:lstStyle/>
                    <a:p>
                      <a:pPr algn="l"/>
                      <a:r>
                        <a:rPr sz="1500" b="0">
                          <a:solidFill>
                            <a:srgbClr val="142B33"/>
                          </a:solidFill>
                          <a:latin typeface="Calibri"/>
                        </a:rPr>
                        <a:t>C</a:t>
                      </a:r>
                    </a:p>
                  </a:txBody>
                  <a:tcPr marL="73152" marR="73152" marT="27432" marB="27432" anchor="ctr">
                    <a:solidFill>
                      <a:srgbClr val="FFFFFF"/>
                    </a:solidFill>
                  </a:tcPr>
                </a:tc>
                <a:tc>
                  <a:txBody>
                    <a:bodyPr/>
                    <a:lstStyle/>
                    <a:p>
                      <a:pPr algn="ctr"/>
                      <a:r>
                        <a:rPr sz="1500" b="0">
                          <a:solidFill>
                            <a:srgbClr val="142B33"/>
                          </a:solidFill>
                          <a:latin typeface="Calibri"/>
                        </a:rPr>
                        <a:t>473.06</a:t>
                      </a:r>
                    </a:p>
                  </a:txBody>
                  <a:tcPr marL="73152" marR="73152" marT="27432" marB="27432" anchor="ctr">
                    <a:solidFill>
                      <a:srgbClr val="FFFFFF"/>
                    </a:solidFill>
                  </a:tcPr>
                </a:tc>
                <a:tc>
                  <a:txBody>
                    <a:bodyPr/>
                    <a:lstStyle/>
                    <a:p>
                      <a:pPr algn="ctr"/>
                      <a:r>
                        <a:rPr sz="1500" b="0">
                          <a:solidFill>
                            <a:srgbClr val="142B33"/>
                          </a:solidFill>
                          <a:latin typeface="Calibri"/>
                        </a:rPr>
                        <a:t>1</a:t>
                      </a:r>
                    </a:p>
                  </a:txBody>
                  <a:tcPr marL="73152" marR="73152" marT="27432" marB="27432" anchor="ctr">
                    <a:solidFill>
                      <a:srgbClr val="FFFFFF"/>
                    </a:solidFill>
                  </a:tcPr>
                </a:tc>
                <a:tc>
                  <a:txBody>
                    <a:bodyPr/>
                    <a:lstStyle/>
                    <a:p>
                      <a:pPr algn="ctr"/>
                      <a:r>
                        <a:rPr sz="1500" b="0">
                          <a:solidFill>
                            <a:srgbClr val="142B33"/>
                          </a:solidFill>
                          <a:latin typeface="Calibri"/>
                        </a:rPr>
                        <a:t>473.06</a:t>
                      </a:r>
                    </a:p>
                  </a:txBody>
                  <a:tcPr marL="73152" marR="73152" marT="27432" marB="27432" anchor="ctr">
                    <a:solidFill>
                      <a:srgbClr val="FFFFFF"/>
                    </a:solidFill>
                  </a:tcPr>
                </a:tc>
                <a:tc>
                  <a:txBody>
                    <a:bodyPr/>
                    <a:lstStyle/>
                    <a:p>
                      <a:pPr algn="ctr"/>
                      <a:r>
                        <a:rPr sz="1500" b="0">
                          <a:solidFill>
                            <a:srgbClr val="142B33"/>
                          </a:solidFill>
                          <a:latin typeface="Calibri"/>
                        </a:rPr>
                        <a:t>184.61</a:t>
                      </a:r>
                    </a:p>
                  </a:txBody>
                  <a:tcPr marL="73152" marR="73152" marT="27432" marB="27432" anchor="ctr">
                    <a:solidFill>
                      <a:srgbClr val="FFFFFF"/>
                    </a:solidFill>
                  </a:tcPr>
                </a:tc>
                <a:tc>
                  <a:txBody>
                    <a:bodyPr/>
                    <a:lstStyle/>
                    <a:p>
                      <a:pPr algn="ctr"/>
                      <a:r>
                        <a:rPr sz="1500" b="0">
                          <a:solidFill>
                            <a:srgbClr val="142B33"/>
                          </a:solidFill>
                          <a:latin typeface="Calibri"/>
                        </a:rPr>
                        <a:t>&lt;0.0001</a:t>
                      </a:r>
                    </a:p>
                  </a:txBody>
                  <a:tcPr marL="73152" marR="73152" marT="27432" marB="27432" anchor="ctr">
                    <a:solidFill>
                      <a:srgbClr val="FFFFFF"/>
                    </a:solidFill>
                  </a:tcPr>
                </a:tc>
              </a:tr>
              <a:tr h="351282">
                <a:tc>
                  <a:txBody>
                    <a:bodyPr/>
                    <a:lstStyle/>
                    <a:p>
                      <a:pPr algn="l"/>
                      <a:r>
                        <a:rPr sz="1500" b="0">
                          <a:solidFill>
                            <a:srgbClr val="142B33"/>
                          </a:solidFill>
                          <a:latin typeface="Calibri"/>
                        </a:rPr>
                        <a:t>AB</a:t>
                      </a:r>
                    </a:p>
                  </a:txBody>
                  <a:tcPr marL="73152" marR="73152" marT="27432" marB="27432" anchor="ctr">
                    <a:solidFill>
                      <a:srgbClr val="F4F8F9"/>
                    </a:solidFill>
                  </a:tcPr>
                </a:tc>
                <a:tc>
                  <a:txBody>
                    <a:bodyPr/>
                    <a:lstStyle/>
                    <a:p>
                      <a:pPr algn="ctr"/>
                      <a:r>
                        <a:rPr sz="1500" b="0">
                          <a:solidFill>
                            <a:srgbClr val="142B33"/>
                          </a:solidFill>
                          <a:latin typeface="Calibri"/>
                        </a:rPr>
                        <a:t>189.06</a:t>
                      </a:r>
                    </a:p>
                  </a:txBody>
                  <a:tcPr marL="73152" marR="73152" marT="27432" marB="27432" anchor="ctr">
                    <a:solidFill>
                      <a:srgbClr val="F4F8F9"/>
                    </a:solidFill>
                  </a:tcPr>
                </a:tc>
                <a:tc>
                  <a:txBody>
                    <a:bodyPr/>
                    <a:lstStyle/>
                    <a:p>
                      <a:pPr algn="ctr"/>
                      <a:r>
                        <a:rPr sz="1500" b="0">
                          <a:solidFill>
                            <a:srgbClr val="142B33"/>
                          </a:solidFill>
                          <a:latin typeface="Calibri"/>
                        </a:rPr>
                        <a:t>1</a:t>
                      </a:r>
                    </a:p>
                  </a:txBody>
                  <a:tcPr marL="73152" marR="73152" marT="27432" marB="27432" anchor="ctr">
                    <a:solidFill>
                      <a:srgbClr val="F4F8F9"/>
                    </a:solidFill>
                  </a:tcPr>
                </a:tc>
                <a:tc>
                  <a:txBody>
                    <a:bodyPr/>
                    <a:lstStyle/>
                    <a:p>
                      <a:pPr algn="ctr"/>
                      <a:r>
                        <a:rPr sz="1500" b="0">
                          <a:solidFill>
                            <a:srgbClr val="142B33"/>
                          </a:solidFill>
                          <a:latin typeface="Calibri"/>
                        </a:rPr>
                        <a:t>189.06</a:t>
                      </a:r>
                    </a:p>
                  </a:txBody>
                  <a:tcPr marL="73152" marR="73152" marT="27432" marB="27432" anchor="ctr">
                    <a:solidFill>
                      <a:srgbClr val="F4F8F9"/>
                    </a:solidFill>
                  </a:tcPr>
                </a:tc>
                <a:tc>
                  <a:txBody>
                    <a:bodyPr/>
                    <a:lstStyle/>
                    <a:p>
                      <a:pPr algn="ctr"/>
                      <a:r>
                        <a:rPr sz="1500" b="0">
                          <a:solidFill>
                            <a:srgbClr val="142B33"/>
                          </a:solidFill>
                          <a:latin typeface="Calibri"/>
                        </a:rPr>
                        <a:t>73.78</a:t>
                      </a:r>
                    </a:p>
                  </a:txBody>
                  <a:tcPr marL="73152" marR="73152" marT="27432" marB="27432" anchor="ctr">
                    <a:solidFill>
                      <a:srgbClr val="F4F8F9"/>
                    </a:solidFill>
                  </a:tcPr>
                </a:tc>
                <a:tc>
                  <a:txBody>
                    <a:bodyPr/>
                    <a:lstStyle/>
                    <a:p>
                      <a:pPr algn="ctr"/>
                      <a:r>
                        <a:rPr sz="1500" b="0">
                          <a:solidFill>
                            <a:srgbClr val="142B33"/>
                          </a:solidFill>
                          <a:latin typeface="Calibri"/>
                        </a:rPr>
                        <a:t>&lt;0.0001</a:t>
                      </a:r>
                    </a:p>
                  </a:txBody>
                  <a:tcPr marL="73152" marR="73152" marT="27432" marB="27432" anchor="ctr">
                    <a:solidFill>
                      <a:srgbClr val="F4F8F9"/>
                    </a:solidFill>
                  </a:tcPr>
                </a:tc>
              </a:tr>
              <a:tr h="351282">
                <a:tc>
                  <a:txBody>
                    <a:bodyPr/>
                    <a:lstStyle/>
                    <a:p>
                      <a:pPr algn="l"/>
                      <a:r>
                        <a:rPr sz="1500" b="0">
                          <a:solidFill>
                            <a:srgbClr val="142B33"/>
                          </a:solidFill>
                          <a:latin typeface="Calibri"/>
                        </a:rPr>
                        <a:t>Error</a:t>
                      </a:r>
                    </a:p>
                  </a:txBody>
                  <a:tcPr marL="73152" marR="73152" marT="27432" marB="27432" anchor="ctr">
                    <a:solidFill>
                      <a:srgbClr val="FFFFFF"/>
                    </a:solidFill>
                  </a:tcPr>
                </a:tc>
                <a:tc>
                  <a:txBody>
                    <a:bodyPr/>
                    <a:lstStyle/>
                    <a:p>
                      <a:pPr algn="ctr"/>
                      <a:r>
                        <a:rPr sz="1500" b="0">
                          <a:solidFill>
                            <a:srgbClr val="142B33"/>
                          </a:solidFill>
                          <a:latin typeface="Calibri"/>
                        </a:rPr>
                        <a:t>28.19</a:t>
                      </a:r>
                    </a:p>
                  </a:txBody>
                  <a:tcPr marL="73152" marR="73152" marT="27432" marB="27432" anchor="ctr">
                    <a:solidFill>
                      <a:srgbClr val="FFFFFF"/>
                    </a:solidFill>
                  </a:tcPr>
                </a:tc>
                <a:tc>
                  <a:txBody>
                    <a:bodyPr/>
                    <a:lstStyle/>
                    <a:p>
                      <a:pPr algn="ctr"/>
                      <a:r>
                        <a:rPr sz="1500" b="0">
                          <a:solidFill>
                            <a:srgbClr val="142B33"/>
                          </a:solidFill>
                          <a:latin typeface="Calibri"/>
                        </a:rPr>
                        <a:t>11</a:t>
                      </a:r>
                    </a:p>
                  </a:txBody>
                  <a:tcPr marL="73152" marR="73152" marT="27432" marB="27432" anchor="ctr">
                    <a:solidFill>
                      <a:srgbClr val="FFFFFF"/>
                    </a:solidFill>
                  </a:tcPr>
                </a:tc>
                <a:tc>
                  <a:txBody>
                    <a:bodyPr/>
                    <a:lstStyle/>
                    <a:p>
                      <a:pPr algn="ctr"/>
                      <a:r>
                        <a:rPr sz="1500" b="0">
                          <a:solidFill>
                            <a:srgbClr val="142B33"/>
                          </a:solidFill>
                          <a:latin typeface="Calibri"/>
                        </a:rPr>
                        <a:t>2.5625</a:t>
                      </a:r>
                    </a:p>
                  </a:txBody>
                  <a:tcPr marL="73152" marR="73152" marT="27432" marB="27432" anchor="ctr">
                    <a:solidFill>
                      <a:srgbClr val="FFFFFF"/>
                    </a:solidFill>
                  </a:tcPr>
                </a:tc>
                <a:tc>
                  <a:txBody>
                    <a:bodyPr/>
                    <a:lstStyle/>
                    <a:p>
                      <a:pPr algn="ctr"/>
                    </a:p>
                  </a:txBody>
                  <a:tcPr marL="73152" marR="73152" marT="27432" marB="27432" anchor="ctr">
                    <a:solidFill>
                      <a:srgbClr val="FFFFFF"/>
                    </a:solidFill>
                  </a:tcPr>
                </a:tc>
                <a:tc>
                  <a:txBody>
                    <a:bodyPr/>
                    <a:lstStyle/>
                    <a:p>
                      <a:pPr algn="ctr"/>
                    </a:p>
                  </a:txBody>
                  <a:tcPr marL="73152" marR="73152" marT="27432" marB="27432" anchor="ctr">
                    <a:solidFill>
                      <a:srgbClr val="FFFFFF"/>
                    </a:solidFill>
                  </a:tcPr>
                </a:tc>
              </a:tr>
              <a:tr h="351282">
                <a:tc>
                  <a:txBody>
                    <a:bodyPr/>
                    <a:lstStyle/>
                    <a:p>
                      <a:pPr algn="l"/>
                      <a:r>
                        <a:rPr sz="1500" b="0">
                          <a:solidFill>
                            <a:srgbClr val="142B33"/>
                          </a:solidFill>
                          <a:latin typeface="Calibri"/>
                        </a:rPr>
                        <a:t>Total</a:t>
                      </a:r>
                    </a:p>
                  </a:txBody>
                  <a:tcPr marL="73152" marR="73152" marT="27432" marB="27432" anchor="ctr">
                    <a:solidFill>
                      <a:srgbClr val="F4F8F9"/>
                    </a:solidFill>
                  </a:tcPr>
                </a:tc>
                <a:tc>
                  <a:txBody>
                    <a:bodyPr/>
                    <a:lstStyle/>
                    <a:p>
                      <a:pPr algn="ctr"/>
                      <a:r>
                        <a:rPr sz="1500" b="0">
                          <a:solidFill>
                            <a:srgbClr val="142B33"/>
                          </a:solidFill>
                          <a:latin typeface="Calibri"/>
                        </a:rPr>
                        <a:t>5775.44</a:t>
                      </a:r>
                    </a:p>
                  </a:txBody>
                  <a:tcPr marL="73152" marR="73152" marT="27432" marB="27432" anchor="ctr">
                    <a:solidFill>
                      <a:srgbClr val="F4F8F9"/>
                    </a:solidFill>
                  </a:tcPr>
                </a:tc>
                <a:tc>
                  <a:txBody>
                    <a:bodyPr/>
                    <a:lstStyle/>
                    <a:p>
                      <a:pPr algn="ctr"/>
                      <a:r>
                        <a:rPr sz="1500" b="0">
                          <a:solidFill>
                            <a:srgbClr val="142B33"/>
                          </a:solidFill>
                          <a:latin typeface="Calibri"/>
                        </a:rPr>
                        <a:t>15</a:t>
                      </a:r>
                    </a:p>
                  </a:txBody>
                  <a:tcPr marL="73152" marR="73152" marT="27432" marB="27432" anchor="ctr">
                    <a:solidFill>
                      <a:srgbClr val="F4F8F9"/>
                    </a:solidFill>
                  </a:tcPr>
                </a:tc>
                <a:tc>
                  <a:txBody>
                    <a:bodyPr/>
                    <a:lstStyle/>
                    <a:p>
                      <a:pPr algn="ctr"/>
                    </a:p>
                  </a:txBody>
                  <a:tcPr marL="73152" marR="73152" marT="27432" marB="27432" anchor="ctr">
                    <a:solidFill>
                      <a:srgbClr val="F4F8F9"/>
                    </a:solidFill>
                  </a:tcPr>
                </a:tc>
                <a:tc>
                  <a:txBody>
                    <a:bodyPr/>
                    <a:lstStyle/>
                    <a:p>
                      <a:pPr algn="ctr"/>
                    </a:p>
                  </a:txBody>
                  <a:tcPr marL="73152" marR="73152" marT="27432" marB="27432" anchor="ctr">
                    <a:solidFill>
                      <a:srgbClr val="F4F8F9"/>
                    </a:solidFill>
                  </a:tcPr>
                </a:tc>
                <a:tc>
                  <a:txBody>
                    <a:bodyPr/>
                    <a:lstStyle/>
                    <a:p>
                      <a:pPr algn="ctr"/>
                    </a:p>
                  </a:txBody>
                  <a:tcPr marL="73152" marR="73152" marT="27432" marB="27432" anchor="ctr">
                    <a:solidFill>
                      <a:srgbClr val="F4F8F9"/>
                    </a:solidFill>
                  </a:tcPr>
                </a:tc>
              </a:tr>
            </a:tbl>
          </a:graphicData>
        </a:graphic>
      </p:graphicFrame>
      <p:sp>
        <p:nvSpPr>
          <p:cNvPr id="4" name="Rounded Rectangle 3"/>
          <p:cNvSpPr/>
          <p:nvPr/>
        </p:nvSpPr>
        <p:spPr>
          <a:xfrm>
            <a:off x="548640" y="4077462"/>
            <a:ext cx="5982443" cy="551972"/>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0">
                <a:solidFill>
                  <a:srgbClr val="0F4C5C"/>
                </a:solidFill>
                <a:latin typeface="Cambria Math"/>
              </a:rPr>
              <a:t>ŷ = 30.31 + 5.56 x</a:t>
            </a:r>
            <a:r>
              <a:rPr sz="1600" b="0" baseline="-25000">
                <a:solidFill>
                  <a:srgbClr val="0F4C5C"/>
                </a:solidFill>
                <a:latin typeface="Cambria Math"/>
              </a:rPr>
              <a:t>1</a:t>
            </a:r>
            <a:r>
              <a:rPr sz="1600" b="0">
                <a:solidFill>
                  <a:srgbClr val="0F4C5C"/>
                </a:solidFill>
                <a:latin typeface="Cambria Math"/>
              </a:rPr>
              <a:t> + 16.94 x</a:t>
            </a:r>
            <a:r>
              <a:rPr sz="1600" b="0" baseline="-25000">
                <a:solidFill>
                  <a:srgbClr val="0F4C5C"/>
                </a:solidFill>
                <a:latin typeface="Cambria Math"/>
              </a:rPr>
              <a:t>2</a:t>
            </a:r>
            <a:r>
              <a:rPr sz="1600" b="0">
                <a:solidFill>
                  <a:srgbClr val="0F4C5C"/>
                </a:solidFill>
                <a:latin typeface="Cambria Math"/>
              </a:rPr>
              <a:t> + 5.44 x</a:t>
            </a:r>
            <a:r>
              <a:rPr sz="1600" b="0" baseline="-25000">
                <a:solidFill>
                  <a:srgbClr val="0F4C5C"/>
                </a:solidFill>
                <a:latin typeface="Cambria Math"/>
              </a:rPr>
              <a:t>3</a:t>
            </a:r>
            <a:r>
              <a:rPr sz="1600" b="0">
                <a:solidFill>
                  <a:srgbClr val="0F4C5C"/>
                </a:solidFill>
                <a:latin typeface="Cambria Math"/>
              </a:rPr>
              <a:t> + 3.44 x</a:t>
            </a:r>
            <a:r>
              <a:rPr sz="1600" b="0" baseline="-25000">
                <a:solidFill>
                  <a:srgbClr val="0F4C5C"/>
                </a:solidFill>
                <a:latin typeface="Cambria Math"/>
              </a:rPr>
              <a:t>1</a:t>
            </a:r>
            <a:r>
              <a:rPr sz="1600" b="0">
                <a:solidFill>
                  <a:srgbClr val="0F4C5C"/>
                </a:solidFill>
                <a:latin typeface="Cambria Math"/>
              </a:rPr>
              <a:t>x</a:t>
            </a:r>
            <a:r>
              <a:rPr sz="1600" b="0" baseline="-25000">
                <a:solidFill>
                  <a:srgbClr val="0F4C5C"/>
                </a:solidFill>
                <a:latin typeface="Cambria Math"/>
              </a:rPr>
              <a:t>2</a:t>
            </a:r>
          </a:p>
        </p:txBody>
      </p:sp>
      <p:sp>
        <p:nvSpPr>
          <p:cNvPr id="5" name="TextBox 4"/>
          <p:cNvSpPr txBox="1"/>
          <p:nvPr/>
        </p:nvSpPr>
        <p:spPr>
          <a:xfrm>
            <a:off x="6942563" y="1417320"/>
            <a:ext cx="4700491" cy="2518663"/>
          </a:xfrm>
          <a:prstGeom prst="rect">
            <a:avLst/>
          </a:prstGeom>
          <a:noFill/>
        </p:spPr>
        <p:txBody>
          <a:bodyPr wrap="square" anchor="t" lIns="0" rIns="0" tIns="0" bIns="0">
            <a:spAutoFit/>
          </a:bodyPr>
          <a:lstStyle/>
          <a:p>
            <a:pPr marL="320040" indent="-320040">
              <a:spcAft>
                <a:spcPts val="600"/>
              </a:spcAft>
              <a:buClr>
                <a:srgbClr val="E36414"/>
              </a:buClr>
              <a:buFont typeface="Arial"/>
              <a:buChar char="•"/>
            </a:pPr>
            <a:r>
              <a:rPr sz="1700" b="0">
                <a:solidFill>
                  <a:srgbClr val="142B33"/>
                </a:solidFill>
                <a:latin typeface="Calibri"/>
              </a:rPr>
              <a:t>F</a:t>
            </a:r>
            <a:r>
              <a:rPr sz="1700" b="0" baseline="-25000">
                <a:solidFill>
                  <a:srgbClr val="142B33"/>
                </a:solidFill>
                <a:latin typeface="Calibri"/>
              </a:rPr>
              <a:t>0.05, 1, 11</a:t>
            </a:r>
            <a:r>
              <a:rPr sz="1700" b="0">
                <a:solidFill>
                  <a:srgbClr val="142B33"/>
                </a:solidFill>
                <a:latin typeface="Calibri"/>
              </a:rPr>
              <a:t> = 4.84: los cuatro términos son significativos</a:t>
            </a:r>
          </a:p>
          <a:p>
            <a:pPr marL="320040" indent="-320040">
              <a:spcAft>
                <a:spcPts val="600"/>
              </a:spcAft>
              <a:buClr>
                <a:srgbClr val="E36414"/>
              </a:buClr>
              <a:buFont typeface="Arial"/>
              <a:buChar char="•"/>
            </a:pPr>
            <a:r>
              <a:rPr sz="1700" b="0">
                <a:solidFill>
                  <a:srgbClr val="142B33"/>
                </a:solidFill>
                <a:latin typeface="Calibri"/>
              </a:rPr>
              <a:t>R</a:t>
            </a:r>
            <a:r>
              <a:rPr sz="1700" b="0" baseline="30000">
                <a:solidFill>
                  <a:srgbClr val="142B33"/>
                </a:solidFill>
                <a:latin typeface="Calibri"/>
              </a:rPr>
              <a:t>2</a:t>
            </a:r>
            <a:r>
              <a:rPr sz="1700" b="0">
                <a:solidFill>
                  <a:srgbClr val="142B33"/>
                </a:solidFill>
                <a:latin typeface="Calibri"/>
              </a:rPr>
              <a:t> = 99.51 %;  R</a:t>
            </a:r>
            <a:r>
              <a:rPr sz="1700" b="0" baseline="30000">
                <a:solidFill>
                  <a:srgbClr val="142B33"/>
                </a:solidFill>
                <a:latin typeface="Calibri"/>
              </a:rPr>
              <a:t>2</a:t>
            </a:r>
            <a:r>
              <a:rPr sz="1700" b="0">
                <a:solidFill>
                  <a:srgbClr val="142B33"/>
                </a:solidFill>
                <a:latin typeface="Calibri"/>
              </a:rPr>
              <a:t> ajustado = 99.33 %</a:t>
            </a:r>
          </a:p>
          <a:p>
            <a:pPr marL="320040" indent="-320040">
              <a:spcAft>
                <a:spcPts val="600"/>
              </a:spcAft>
              <a:buClr>
                <a:srgbClr val="E36414"/>
              </a:buClr>
              <a:buFont typeface="Arial"/>
              <a:buChar char="•"/>
            </a:pPr>
            <a:r>
              <a:rPr sz="1700" b="0">
                <a:solidFill>
                  <a:srgbClr val="142B33"/>
                </a:solidFill>
                <a:latin typeface="Calibri"/>
              </a:rPr>
              <a:t>D y E no influyen: proyección en </a:t>
            </a:r>
            <a:r>
              <a:rPr sz="1700" b="1">
                <a:solidFill>
                  <a:srgbClr val="142B33"/>
                </a:solidFill>
                <a:latin typeface="Calibri"/>
              </a:rPr>
              <a:t>dos réplicas de un 2</a:t>
            </a:r>
            <a:r>
              <a:rPr sz="1700" b="1" baseline="30000">
                <a:solidFill>
                  <a:srgbClr val="142B33"/>
                </a:solidFill>
                <a:latin typeface="Calibri"/>
              </a:rPr>
              <a:t>3</a:t>
            </a:r>
            <a:r>
              <a:rPr sz="1700" b="0">
                <a:solidFill>
                  <a:srgbClr val="142B33"/>
                </a:solidFill>
                <a:latin typeface="Calibri"/>
              </a:rPr>
              <a:t> en A, B, C</a:t>
            </a:r>
          </a:p>
          <a:p>
            <a:pPr marL="320040" indent="-320040">
              <a:spcAft>
                <a:spcPts val="600"/>
              </a:spcAft>
              <a:buClr>
                <a:srgbClr val="E36414"/>
              </a:buClr>
              <a:buFont typeface="Arial"/>
              <a:buChar char="•"/>
            </a:pPr>
            <a:r>
              <a:rPr sz="1700" b="0">
                <a:solidFill>
                  <a:srgbClr val="142B33"/>
                </a:solidFill>
                <a:latin typeface="Calibri"/>
              </a:rPr>
              <a:t>Mejor condición: </a:t>
            </a:r>
            <a:r>
              <a:rPr sz="1700" b="1">
                <a:solidFill>
                  <a:srgbClr val="142B33"/>
                </a:solidFill>
                <a:latin typeface="Calibri"/>
              </a:rPr>
              <a:t>A, B y C altos</a:t>
            </a:r>
            <a:r>
              <a:rPr sz="1700" b="0">
                <a:solidFill>
                  <a:srgbClr val="142B33"/>
                </a:solidFill>
                <a:latin typeface="Calibri"/>
              </a:rPr>
              <a:t> (promedio 61.5)</a:t>
            </a:r>
          </a:p>
          <a:p>
            <a:pPr marL="320040" indent="-320040">
              <a:spcAft>
                <a:spcPts val="600"/>
              </a:spcAft>
              <a:buClr>
                <a:srgbClr val="E36414"/>
              </a:buClr>
              <a:buFont typeface="Arial"/>
              <a:buChar char="•"/>
            </a:pPr>
            <a:r>
              <a:rPr sz="1700" b="0">
                <a:solidFill>
                  <a:srgbClr val="142B33"/>
                </a:solidFill>
                <a:latin typeface="Calibri"/>
              </a:rPr>
              <a:t>D y E se fijan donde sea más económico</a:t>
            </a:r>
          </a:p>
        </p:txBody>
      </p:sp>
      <p:sp>
        <p:nvSpPr>
          <p:cNvPr id="6" name="TextBox 5"/>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La fracción un medio 2</a:t>
            </a:r>
            <a:r>
              <a:rPr sz="1000" b="0" baseline="30000">
                <a:solidFill>
                  <a:srgbClr val="5B6B73"/>
                </a:solidFill>
                <a:latin typeface="Calibri"/>
              </a:rPr>
              <a:t>k−1</a:t>
            </a:r>
          </a:p>
        </p:txBody>
      </p:sp>
      <p:sp>
        <p:nvSpPr>
          <p:cNvPr id="7" name="TextBox 6"/>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31</a:t>
            </a:r>
          </a:p>
        </p:txBody>
      </p:sp>
      <p:sp>
        <p:nvSpPr>
          <p:cNvPr id="8" name="Rounded Rectangle 7"/>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4 · La fracción un medio 2</a:t>
            </a:r>
            <a:r>
              <a:rPr sz="1100" b="1" baseline="30000">
                <a:solidFill>
                  <a:srgbClr val="FFFFFF"/>
                </a:solidFill>
                <a:latin typeface="Calibri"/>
              </a:rPr>
              <a:t>k−1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2 · ¿Y si se hubiera corrido la otra mitad?</a:t>
            </a:r>
          </a:p>
        </p:txBody>
      </p:sp>
      <p:graphicFrame>
        <p:nvGraphicFramePr>
          <p:cNvPr id="3" name="Table 2"/>
          <p:cNvGraphicFramePr>
            <a:graphicFrameLocks noGrp="1"/>
          </p:cNvGraphicFramePr>
          <p:nvPr/>
        </p:nvGraphicFramePr>
        <p:xfrm>
          <a:off x="548640" y="1417320"/>
          <a:ext cx="5341467" cy="2691384"/>
        </p:xfrm>
        <a:graphic>
          <a:graphicData uri="http://schemas.openxmlformats.org/drawingml/2006/table">
            <a:tbl>
              <a:tblPr firstRow="0" bandRow="0">
                <a:tableStyleId>{5C22544A-7EE6-4342-B048-85BDC9FD1C3A}</a:tableStyleId>
              </a:tblPr>
              <a:tblGrid>
                <a:gridCol w="1068293"/>
                <a:gridCol w="2136587"/>
                <a:gridCol w="2136587"/>
              </a:tblGrid>
              <a:tr h="583692">
                <a:tc>
                  <a:txBody>
                    <a:bodyPr/>
                    <a:lstStyle/>
                    <a:p>
                      <a:pPr algn="ctr"/>
                      <a:r>
                        <a:rPr sz="1500" b="1">
                          <a:solidFill>
                            <a:srgbClr val="FFFFFF"/>
                          </a:solidFill>
                          <a:latin typeface="Calibri"/>
                        </a:rPr>
                        <a:t>Efecto</a:t>
                      </a:r>
                    </a:p>
                  </a:txBody>
                  <a:tcPr marL="73152" marR="73152" marT="27432" marB="27432" anchor="ctr">
                    <a:solidFill>
                      <a:srgbClr val="0F4C5C"/>
                    </a:solidFill>
                  </a:tcPr>
                </a:tc>
                <a:tc>
                  <a:txBody>
                    <a:bodyPr/>
                    <a:lstStyle/>
                    <a:p>
                      <a:pPr algn="ctr"/>
                      <a:r>
                        <a:rPr sz="1500" b="1">
                          <a:solidFill>
                            <a:srgbClr val="FFFFFF"/>
                          </a:solidFill>
                          <a:latin typeface="Calibri"/>
                        </a:rPr>
                        <a:t>Mitad principal (I = ABCDE)</a:t>
                      </a:r>
                    </a:p>
                  </a:txBody>
                  <a:tcPr marL="73152" marR="73152" marT="27432" marB="27432" anchor="ctr">
                    <a:solidFill>
                      <a:srgbClr val="0F4C5C"/>
                    </a:solidFill>
                  </a:tcPr>
                </a:tc>
                <a:tc>
                  <a:txBody>
                    <a:bodyPr/>
                    <a:lstStyle/>
                    <a:p>
                      <a:pPr algn="ctr"/>
                      <a:r>
                        <a:rPr sz="1500" b="1">
                          <a:solidFill>
                            <a:srgbClr val="FFFFFF"/>
                          </a:solidFill>
                          <a:latin typeface="Calibri"/>
                        </a:rPr>
                        <a:t>Mitad complementaria (I = −ABCDE)</a:t>
                      </a:r>
                    </a:p>
                  </a:txBody>
                  <a:tcPr marL="73152" marR="73152" marT="27432" marB="27432" anchor="ctr">
                    <a:solidFill>
                      <a:srgbClr val="0F4C5C"/>
                    </a:solidFill>
                  </a:tcPr>
                </a:tc>
              </a:tr>
              <a:tr h="351282">
                <a:tc>
                  <a:txBody>
                    <a:bodyPr/>
                    <a:lstStyle/>
                    <a:p>
                      <a:pPr algn="ctr"/>
                      <a:r>
                        <a:rPr sz="1500" b="0">
                          <a:solidFill>
                            <a:srgbClr val="142B33"/>
                          </a:solidFill>
                          <a:latin typeface="Calibri"/>
                        </a:rPr>
                        <a:t>A</a:t>
                      </a:r>
                    </a:p>
                  </a:txBody>
                  <a:tcPr marL="73152" marR="73152" marT="27432" marB="27432" anchor="ctr">
                    <a:solidFill>
                      <a:srgbClr val="FDE8D7"/>
                    </a:solidFill>
                  </a:tcPr>
                </a:tc>
                <a:tc>
                  <a:txBody>
                    <a:bodyPr/>
                    <a:lstStyle/>
                    <a:p>
                      <a:pPr algn="ctr"/>
                      <a:r>
                        <a:rPr sz="1500" b="0">
                          <a:solidFill>
                            <a:srgbClr val="142B33"/>
                          </a:solidFill>
                          <a:latin typeface="Calibri"/>
                        </a:rPr>
                        <a:t>11.13</a:t>
                      </a:r>
                    </a:p>
                  </a:txBody>
                  <a:tcPr marL="73152" marR="73152" marT="27432" marB="27432" anchor="ctr">
                    <a:solidFill>
                      <a:srgbClr val="FDE8D7"/>
                    </a:solidFill>
                  </a:tcPr>
                </a:tc>
                <a:tc>
                  <a:txBody>
                    <a:bodyPr/>
                    <a:lstStyle/>
                    <a:p>
                      <a:pPr algn="ctr"/>
                      <a:r>
                        <a:rPr sz="1500" b="0">
                          <a:solidFill>
                            <a:srgbClr val="142B33"/>
                          </a:solidFill>
                          <a:latin typeface="Calibri"/>
                        </a:rPr>
                        <a:t>12.75</a:t>
                      </a:r>
                    </a:p>
                  </a:txBody>
                  <a:tcPr marL="73152" marR="73152" marT="27432" marB="27432" anchor="ctr">
                    <a:solidFill>
                      <a:srgbClr val="FDE8D7"/>
                    </a:solidFill>
                  </a:tcPr>
                </a:tc>
              </a:tr>
              <a:tr h="351282">
                <a:tc>
                  <a:txBody>
                    <a:bodyPr/>
                    <a:lstStyle/>
                    <a:p>
                      <a:pPr algn="ctr"/>
                      <a:r>
                        <a:rPr sz="1500" b="0">
                          <a:solidFill>
                            <a:srgbClr val="142B33"/>
                          </a:solidFill>
                          <a:latin typeface="Calibri"/>
                        </a:rPr>
                        <a:t>B</a:t>
                      </a:r>
                    </a:p>
                  </a:txBody>
                  <a:tcPr marL="73152" marR="73152" marT="27432" marB="27432" anchor="ctr">
                    <a:solidFill>
                      <a:srgbClr val="FDE8D7"/>
                    </a:solidFill>
                  </a:tcPr>
                </a:tc>
                <a:tc>
                  <a:txBody>
                    <a:bodyPr/>
                    <a:lstStyle/>
                    <a:p>
                      <a:pPr algn="ctr"/>
                      <a:r>
                        <a:rPr sz="1500" b="0">
                          <a:solidFill>
                            <a:srgbClr val="142B33"/>
                          </a:solidFill>
                          <a:latin typeface="Calibri"/>
                        </a:rPr>
                        <a:t>33.88</a:t>
                      </a:r>
                    </a:p>
                  </a:txBody>
                  <a:tcPr marL="73152" marR="73152" marT="27432" marB="27432" anchor="ctr">
                    <a:solidFill>
                      <a:srgbClr val="FDE8D7"/>
                    </a:solidFill>
                  </a:tcPr>
                </a:tc>
                <a:tc>
                  <a:txBody>
                    <a:bodyPr/>
                    <a:lstStyle/>
                    <a:p>
                      <a:pPr algn="ctr"/>
                      <a:r>
                        <a:rPr sz="1500" b="0">
                          <a:solidFill>
                            <a:srgbClr val="142B33"/>
                          </a:solidFill>
                          <a:latin typeface="Calibri"/>
                        </a:rPr>
                        <a:t>34.25</a:t>
                      </a:r>
                    </a:p>
                  </a:txBody>
                  <a:tcPr marL="73152" marR="73152" marT="27432" marB="27432" anchor="ctr">
                    <a:solidFill>
                      <a:srgbClr val="FDE8D7"/>
                    </a:solidFill>
                  </a:tcPr>
                </a:tc>
              </a:tr>
              <a:tr h="351282">
                <a:tc>
                  <a:txBody>
                    <a:bodyPr/>
                    <a:lstStyle/>
                    <a:p>
                      <a:pPr algn="ctr"/>
                      <a:r>
                        <a:rPr sz="1500" b="0">
                          <a:solidFill>
                            <a:srgbClr val="142B33"/>
                          </a:solidFill>
                          <a:latin typeface="Calibri"/>
                        </a:rPr>
                        <a:t>C</a:t>
                      </a:r>
                    </a:p>
                  </a:txBody>
                  <a:tcPr marL="73152" marR="73152" marT="27432" marB="27432" anchor="ctr">
                    <a:solidFill>
                      <a:srgbClr val="FDE8D7"/>
                    </a:solidFill>
                  </a:tcPr>
                </a:tc>
                <a:tc>
                  <a:txBody>
                    <a:bodyPr/>
                    <a:lstStyle/>
                    <a:p>
                      <a:pPr algn="ctr"/>
                      <a:r>
                        <a:rPr sz="1500" b="0">
                          <a:solidFill>
                            <a:srgbClr val="142B33"/>
                          </a:solidFill>
                          <a:latin typeface="Calibri"/>
                        </a:rPr>
                        <a:t>10.88</a:t>
                      </a:r>
                    </a:p>
                  </a:txBody>
                  <a:tcPr marL="73152" marR="73152" marT="27432" marB="27432" anchor="ctr">
                    <a:solidFill>
                      <a:srgbClr val="FDE8D7"/>
                    </a:solidFill>
                  </a:tcPr>
                </a:tc>
                <a:tc>
                  <a:txBody>
                    <a:bodyPr/>
                    <a:lstStyle/>
                    <a:p>
                      <a:pPr algn="ctr"/>
                      <a:r>
                        <a:rPr sz="1500" b="0">
                          <a:solidFill>
                            <a:srgbClr val="142B33"/>
                          </a:solidFill>
                          <a:latin typeface="Calibri"/>
                        </a:rPr>
                        <a:t>8.75</a:t>
                      </a:r>
                    </a:p>
                  </a:txBody>
                  <a:tcPr marL="73152" marR="73152" marT="27432" marB="27432" anchor="ctr">
                    <a:solidFill>
                      <a:srgbClr val="FDE8D7"/>
                    </a:solidFill>
                  </a:tcPr>
                </a:tc>
              </a:tr>
              <a:tr h="351282">
                <a:tc>
                  <a:txBody>
                    <a:bodyPr/>
                    <a:lstStyle/>
                    <a:p>
                      <a:pPr algn="ctr"/>
                      <a:r>
                        <a:rPr sz="1500" b="0">
                          <a:solidFill>
                            <a:srgbClr val="142B33"/>
                          </a:solidFill>
                          <a:latin typeface="Calibri"/>
                        </a:rPr>
                        <a:t>AB</a:t>
                      </a:r>
                    </a:p>
                  </a:txBody>
                  <a:tcPr marL="73152" marR="73152" marT="27432" marB="27432" anchor="ctr">
                    <a:solidFill>
                      <a:srgbClr val="FDE8D7"/>
                    </a:solidFill>
                  </a:tcPr>
                </a:tc>
                <a:tc>
                  <a:txBody>
                    <a:bodyPr/>
                    <a:lstStyle/>
                    <a:p>
                      <a:pPr algn="ctr"/>
                      <a:r>
                        <a:rPr sz="1500" b="0">
                          <a:solidFill>
                            <a:srgbClr val="142B33"/>
                          </a:solidFill>
                          <a:latin typeface="Calibri"/>
                        </a:rPr>
                        <a:t>6.88</a:t>
                      </a:r>
                    </a:p>
                  </a:txBody>
                  <a:tcPr marL="73152" marR="73152" marT="27432" marB="27432" anchor="ctr">
                    <a:solidFill>
                      <a:srgbClr val="FDE8D7"/>
                    </a:solidFill>
                  </a:tcPr>
                </a:tc>
                <a:tc>
                  <a:txBody>
                    <a:bodyPr/>
                    <a:lstStyle/>
                    <a:p>
                      <a:pPr algn="ctr"/>
                      <a:r>
                        <a:rPr sz="1500" b="0">
                          <a:solidFill>
                            <a:srgbClr val="142B33"/>
                          </a:solidFill>
                          <a:latin typeface="Calibri"/>
                        </a:rPr>
                        <a:t>8.75</a:t>
                      </a:r>
                    </a:p>
                  </a:txBody>
                  <a:tcPr marL="73152" marR="73152" marT="27432" marB="27432" anchor="ctr">
                    <a:solidFill>
                      <a:srgbClr val="FDE8D7"/>
                    </a:solidFill>
                  </a:tcPr>
                </a:tc>
              </a:tr>
              <a:tr h="351282">
                <a:tc>
                  <a:txBody>
                    <a:bodyPr/>
                    <a:lstStyle/>
                    <a:p>
                      <a:pPr algn="ctr"/>
                      <a:r>
                        <a:rPr sz="1500" b="0">
                          <a:solidFill>
                            <a:srgbClr val="142B33"/>
                          </a:solidFill>
                          <a:latin typeface="Calibri"/>
                        </a:rPr>
                        <a:t>D</a:t>
                      </a:r>
                    </a:p>
                  </a:txBody>
                  <a:tcPr marL="73152" marR="73152" marT="27432" marB="27432" anchor="ctr">
                    <a:solidFill>
                      <a:srgbClr val="FFFFFF"/>
                    </a:solidFill>
                  </a:tcPr>
                </a:tc>
                <a:tc>
                  <a:txBody>
                    <a:bodyPr/>
                    <a:lstStyle/>
                    <a:p>
                      <a:pPr algn="ctr"/>
                      <a:r>
                        <a:rPr sz="1500" b="0">
                          <a:solidFill>
                            <a:srgbClr val="142B33"/>
                          </a:solidFill>
                          <a:latin typeface="Calibri"/>
                        </a:rPr>
                        <a:t>−0.88</a:t>
                      </a:r>
                    </a:p>
                  </a:txBody>
                  <a:tcPr marL="73152" marR="73152" marT="27432" marB="27432" anchor="ctr">
                    <a:solidFill>
                      <a:srgbClr val="FFFFFF"/>
                    </a:solidFill>
                  </a:tcPr>
                </a:tc>
                <a:tc>
                  <a:txBody>
                    <a:bodyPr/>
                    <a:lstStyle/>
                    <a:p>
                      <a:pPr algn="ctr"/>
                      <a:r>
                        <a:rPr sz="1500" b="0">
                          <a:solidFill>
                            <a:srgbClr val="142B33"/>
                          </a:solidFill>
                          <a:latin typeface="Calibri"/>
                        </a:rPr>
                        <a:t>−1.00</a:t>
                      </a:r>
                    </a:p>
                  </a:txBody>
                  <a:tcPr marL="73152" marR="73152" marT="27432" marB="27432" anchor="ctr">
                    <a:solidFill>
                      <a:srgbClr val="FFFFFF"/>
                    </a:solidFill>
                  </a:tcPr>
                </a:tc>
              </a:tr>
              <a:tr h="351282">
                <a:tc>
                  <a:txBody>
                    <a:bodyPr/>
                    <a:lstStyle/>
                    <a:p>
                      <a:pPr algn="ctr"/>
                      <a:r>
                        <a:rPr sz="1500" b="0">
                          <a:solidFill>
                            <a:srgbClr val="142B33"/>
                          </a:solidFill>
                          <a:latin typeface="Calibri"/>
                        </a:rPr>
                        <a:t>E</a:t>
                      </a:r>
                    </a:p>
                  </a:txBody>
                  <a:tcPr marL="73152" marR="73152" marT="27432" marB="27432" anchor="ctr">
                    <a:solidFill>
                      <a:srgbClr val="F4F8F9"/>
                    </a:solidFill>
                  </a:tcPr>
                </a:tc>
                <a:tc>
                  <a:txBody>
                    <a:bodyPr/>
                    <a:lstStyle/>
                    <a:p>
                      <a:pPr algn="ctr"/>
                      <a:r>
                        <a:rPr sz="1500" b="0">
                          <a:solidFill>
                            <a:srgbClr val="142B33"/>
                          </a:solidFill>
                          <a:latin typeface="Calibri"/>
                        </a:rPr>
                        <a:t>0.63</a:t>
                      </a:r>
                    </a:p>
                  </a:txBody>
                  <a:tcPr marL="73152" marR="73152" marT="27432" marB="27432" anchor="ctr">
                    <a:solidFill>
                      <a:srgbClr val="F4F8F9"/>
                    </a:solidFill>
                  </a:tcPr>
                </a:tc>
                <a:tc>
                  <a:txBody>
                    <a:bodyPr/>
                    <a:lstStyle/>
                    <a:p>
                      <a:pPr algn="ctr"/>
                      <a:r>
                        <a:rPr sz="1500" b="0">
                          <a:solidFill>
                            <a:srgbClr val="142B33"/>
                          </a:solidFill>
                          <a:latin typeface="Calibri"/>
                        </a:rPr>
                        <a:t>0.50</a:t>
                      </a:r>
                    </a:p>
                  </a:txBody>
                  <a:tcPr marL="73152" marR="73152" marT="27432" marB="27432" anchor="ctr">
                    <a:solidFill>
                      <a:srgbClr val="F4F8F9"/>
                    </a:solidFill>
                  </a:tcPr>
                </a:tc>
              </a:tr>
            </a:tbl>
          </a:graphicData>
        </a:graphic>
      </p:graphicFrame>
      <p:sp>
        <p:nvSpPr>
          <p:cNvPr id="4" name="Rounded Rectangle 3"/>
          <p:cNvSpPr/>
          <p:nvPr/>
        </p:nvSpPr>
        <p:spPr>
          <a:xfrm>
            <a:off x="548640" y="4309872"/>
            <a:ext cx="5341467"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Las dos mitades detectan </a:t>
            </a:r>
            <a:r>
              <a:rPr sz="1500" b="1">
                <a:solidFill>
                  <a:srgbClr val="142B33"/>
                </a:solidFill>
                <a:latin typeface="Calibri"/>
              </a:rPr>
              <a:t>B, A, C y AB</a:t>
            </a:r>
            <a:r>
              <a:rPr sz="1500" b="0">
                <a:solidFill>
                  <a:srgbClr val="142B33"/>
                </a:solidFill>
                <a:latin typeface="Calibri"/>
              </a:rPr>
              <a:t>; D y E son ruido en ambas</a:t>
            </a:r>
          </a:p>
        </p:txBody>
      </p:sp>
      <p:sp>
        <p:nvSpPr>
          <p:cNvPr id="5" name="TextBox 4"/>
          <p:cNvSpPr txBox="1"/>
          <p:nvPr/>
        </p:nvSpPr>
        <p:spPr>
          <a:xfrm>
            <a:off x="548640" y="5250180"/>
            <a:ext cx="5341467" cy="222504"/>
          </a:xfrm>
          <a:prstGeom prst="rect">
            <a:avLst/>
          </a:prstGeom>
          <a:noFill/>
        </p:spPr>
        <p:txBody>
          <a:bodyPr wrap="square" anchor="t" lIns="0" rIns="0" tIns="0" bIns="0">
            <a:spAutoFit/>
          </a:bodyPr>
          <a:lstStyle/>
          <a:p>
            <a:r>
              <a:rPr sz="1200" b="0">
                <a:solidFill>
                  <a:srgbClr val="5B6B73"/>
                </a:solidFill>
                <a:latin typeface="Calibri"/>
              </a:rPr>
              <a:t>Complementaria: Gutiérrez, tabla 8.4</a:t>
            </a:r>
          </a:p>
        </p:txBody>
      </p:sp>
      <p:graphicFrame>
        <p:nvGraphicFramePr>
          <p:cNvPr id="6" name="Chart 5"/>
          <p:cNvGraphicFramePr>
            <a:graphicFrameLocks noGrp="1"/>
          </p:cNvGraphicFramePr>
          <p:nvPr/>
        </p:nvGraphicFramePr>
        <p:xfrm>
          <a:off x="6301587" y="1417320"/>
          <a:ext cx="5341467" cy="2926080"/>
        </p:xfrm>
        <a:graphic>
          <a:graphicData uri="http://schemas.openxmlformats.org/drawingml/2006/chart">
            <c:chart xmlns:c="http://schemas.openxmlformats.org/drawingml/2006/chart" r:id="rId2"/>
          </a:graphicData>
        </a:graphic>
      </p:graphicFrame>
      <p:sp>
        <p:nvSpPr>
          <p:cNvPr id="7" name="Rounded Rectangle 6"/>
          <p:cNvSpPr/>
          <p:nvPr/>
        </p:nvSpPr>
        <p:spPr>
          <a:xfrm>
            <a:off x="6301587" y="4544568"/>
            <a:ext cx="5341467"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«Bastaba con una fracción a la mitad»: </a:t>
            </a:r>
            <a:r>
              <a:rPr sz="1500" b="1">
                <a:solidFill>
                  <a:srgbClr val="142B33"/>
                </a:solidFill>
                <a:latin typeface="Calibri"/>
              </a:rPr>
              <a:t>mismas conclusiones, mitad del costo</a:t>
            </a:r>
            <a:r>
              <a:rPr sz="1500" b="0">
                <a:solidFill>
                  <a:srgbClr val="142B33"/>
                </a:solidFill>
                <a:latin typeface="Calibri"/>
              </a:rPr>
              <a:t> (Gutiérrez)</a:t>
            </a:r>
          </a:p>
        </p:txBody>
      </p:sp>
      <p:sp>
        <p:nvSpPr>
          <p:cNvPr id="8" name="TextBox 7"/>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La fracción un medio 2</a:t>
            </a:r>
            <a:r>
              <a:rPr sz="1000" b="0" baseline="30000">
                <a:solidFill>
                  <a:srgbClr val="5B6B73"/>
                </a:solidFill>
                <a:latin typeface="Calibri"/>
              </a:rPr>
              <a:t>k−1</a:t>
            </a:r>
          </a:p>
        </p:txBody>
      </p:sp>
      <p:sp>
        <p:nvSpPr>
          <p:cNvPr id="9" name="TextBox 8"/>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32</a:t>
            </a:r>
          </a:p>
        </p:txBody>
      </p:sp>
      <p:sp>
        <p:nvSpPr>
          <p:cNvPr id="10" name="Rounded Rectangle 9"/>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4 · La fracción un medio 2</a:t>
            </a:r>
            <a:r>
              <a:rPr sz="1100" b="1" baseline="30000">
                <a:solidFill>
                  <a:srgbClr val="FFFFFF"/>
                </a:solidFill>
                <a:latin typeface="Calibri"/>
              </a:rPr>
              <a:t>k−1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F4C5C"/>
        </a:solidFill>
        <a:effectLst/>
      </p:bgPr>
    </p:bg>
    <p:spTree>
      <p:nvGrpSpPr>
        <p:cNvPr id="1" name=""/>
        <p:cNvGrpSpPr/>
        <p:nvPr/>
      </p:nvGrpSpPr>
      <p:grpSpPr/>
      <p:sp>
        <p:nvSpPr>
          <p:cNvPr id="2" name="Title 1"/>
          <p:cNvSpPr>
            <a:spLocks noGrp="1"/>
          </p:cNvSpPr>
          <p:nvPr>
            <p:ph type="title"/>
          </p:nvPr>
        </p:nvSpPr>
        <p:spPr>
          <a:xfrm>
            <a:off x="548640" y="3383280"/>
            <a:ext cx="11094415" cy="914400"/>
          </a:xfrm>
        </p:spPr>
        <p:txBody>
          <a:bodyPr wrap="square" anchor="t" lIns="0" rIns="0" tIns="0" bIns="0"/>
          <a:lstStyle/>
          <a:p>
            <a:pPr algn="l"/>
            <a:r>
              <a:rPr sz="4400" b="1">
                <a:solidFill>
                  <a:srgbClr val="FFFFFF"/>
                </a:solidFill>
                <a:latin typeface="Cambria"/>
              </a:rPr>
              <a:t>Otra fracción aclara las dudas</a:t>
            </a:r>
          </a:p>
        </p:txBody>
      </p:sp>
      <p:sp>
        <p:nvSpPr>
          <p:cNvPr id="3" name="Oval 2"/>
          <p:cNvSpPr/>
          <p:nvPr/>
        </p:nvSpPr>
        <p:spPr>
          <a:xfrm>
            <a:off x="548640" y="2011680"/>
            <a:ext cx="1188720" cy="1188720"/>
          </a:xfrm>
          <a:prstGeom prst="ellipse">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FFFFFF"/>
                </a:solidFill>
                <a:latin typeface="Cambria"/>
              </a:rPr>
              <a:t>5</a:t>
            </a:r>
          </a:p>
        </p:txBody>
      </p:sp>
      <p:sp>
        <p:nvSpPr>
          <p:cNvPr id="4" name="TextBox 3"/>
          <p:cNvSpPr txBox="1"/>
          <p:nvPr/>
        </p:nvSpPr>
        <p:spPr>
          <a:xfrm>
            <a:off x="548640" y="4343400"/>
            <a:ext cx="11094415" cy="548640"/>
          </a:xfrm>
          <a:prstGeom prst="rect">
            <a:avLst/>
          </a:prstGeom>
          <a:noFill/>
        </p:spPr>
        <p:txBody>
          <a:bodyPr wrap="square" anchor="t" lIns="0" rIns="0" tIns="0" bIns="0">
            <a:spAutoFit/>
          </a:bodyPr>
          <a:lstStyle/>
          <a:p>
            <a:r>
              <a:rPr sz="2000" b="0">
                <a:solidFill>
                  <a:srgbClr val="CFE3E8"/>
                </a:solidFill>
                <a:latin typeface="Calibri"/>
              </a:rPr>
              <a:t>Secuencias, fracción complementaria, confirmación y un ejemplo didáctico</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¿Qué opciones hay después de la primera fracción?</a:t>
            </a:r>
          </a:p>
        </p:txBody>
      </p:sp>
      <p:sp>
        <p:nvSpPr>
          <p:cNvPr id="3" name="Rounded Rectangle 2"/>
          <p:cNvSpPr/>
          <p:nvPr/>
        </p:nvSpPr>
        <p:spPr>
          <a:xfrm>
            <a:off x="548640" y="1417320"/>
            <a:ext cx="11094415"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Correr primero </a:t>
            </a:r>
            <a:r>
              <a:rPr sz="1500" b="1">
                <a:solidFill>
                  <a:srgbClr val="142B33"/>
                </a:solidFill>
                <a:latin typeface="Calibri"/>
              </a:rPr>
              <a:t>una fracción</a:t>
            </a:r>
            <a:r>
              <a:rPr sz="1500" b="0">
                <a:solidFill>
                  <a:srgbClr val="142B33"/>
                </a:solidFill>
                <a:latin typeface="Calibri"/>
              </a:rPr>
              <a:t> (con 4 factores, el 2</a:t>
            </a:r>
            <a:r>
              <a:rPr sz="1500" b="0" baseline="30000">
                <a:solidFill>
                  <a:srgbClr val="142B33"/>
                </a:solidFill>
                <a:latin typeface="Calibri"/>
              </a:rPr>
              <a:t>4−1</a:t>
            </a:r>
            <a:r>
              <a:rPr sz="1500" b="0">
                <a:solidFill>
                  <a:srgbClr val="142B33"/>
                </a:solidFill>
                <a:latin typeface="Calibri"/>
              </a:rPr>
              <a:t> de 8 corridas), analizarla y decidir. Si queda ambigüedad, la fracción alterna completa el 2</a:t>
            </a:r>
            <a:r>
              <a:rPr sz="1500" b="0" baseline="30000">
                <a:solidFill>
                  <a:srgbClr val="142B33"/>
                </a:solidFill>
                <a:latin typeface="Calibri"/>
              </a:rPr>
              <a:t>4</a:t>
            </a:r>
            <a:r>
              <a:rPr sz="1500" b="0">
                <a:solidFill>
                  <a:srgbClr val="142B33"/>
                </a:solidFill>
                <a:latin typeface="Calibri"/>
              </a:rPr>
              <a:t> y solo se pierde </a:t>
            </a:r>
            <a:r>
              <a:rPr sz="1500" b="1">
                <a:solidFill>
                  <a:srgbClr val="142B33"/>
                </a:solidFill>
                <a:latin typeface="Calibri"/>
              </a:rPr>
              <a:t>ABCD</a:t>
            </a:r>
            <a:r>
              <a:rPr sz="1500" b="0">
                <a:solidFill>
                  <a:srgbClr val="142B33"/>
                </a:solidFill>
                <a:latin typeface="Calibri"/>
              </a:rPr>
              <a:t>, confundida con los dos bloques</a:t>
            </a:r>
          </a:p>
        </p:txBody>
      </p:sp>
      <p:sp>
        <p:nvSpPr>
          <p:cNvPr id="4" name="Rounded Rectangle 3"/>
          <p:cNvSpPr/>
          <p:nvPr/>
        </p:nvSpPr>
        <p:spPr>
          <a:xfrm>
            <a:off x="548640" y="2357628"/>
            <a:ext cx="3545738" cy="1668272"/>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700" b="1">
                <a:solidFill>
                  <a:srgbClr val="0F4C5C"/>
                </a:solidFill>
                <a:latin typeface="Cambria"/>
              </a:rPr>
              <a:t>a · Moverse</a:t>
            </a:r>
          </a:p>
          <a:p>
            <a:pPr algn="l"/>
            <a:r>
              <a:rPr sz="1500" b="0">
                <a:solidFill>
                  <a:srgbClr val="142B33"/>
                </a:solidFill>
                <a:latin typeface="Calibri"/>
              </a:rPr>
              <a:t>A una nueva región, para explorar una </a:t>
            </a:r>
            <a:r>
              <a:rPr sz="1500" b="1">
                <a:solidFill>
                  <a:srgbClr val="142B33"/>
                </a:solidFill>
                <a:latin typeface="Calibri"/>
              </a:rPr>
              <a:t>tendencia</a:t>
            </a:r>
            <a:r>
              <a:rPr sz="1500" b="0">
                <a:solidFill>
                  <a:srgbClr val="142B33"/>
                </a:solidFill>
                <a:latin typeface="Calibri"/>
              </a:rPr>
              <a:t> aparente de la respuesta</a:t>
            </a:r>
          </a:p>
        </p:txBody>
      </p:sp>
      <p:sp>
        <p:nvSpPr>
          <p:cNvPr id="5" name="Rounded Rectangle 4"/>
          <p:cNvSpPr/>
          <p:nvPr/>
        </p:nvSpPr>
        <p:spPr>
          <a:xfrm>
            <a:off x="4322978" y="2357628"/>
            <a:ext cx="3545738" cy="1668272"/>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700" b="1">
                <a:solidFill>
                  <a:srgbClr val="0F4C5C"/>
                </a:solidFill>
                <a:latin typeface="Cambria"/>
              </a:rPr>
              <a:t>b · Agregar otra fracción</a:t>
            </a:r>
          </a:p>
          <a:p>
            <a:pPr algn="l"/>
            <a:r>
              <a:rPr sz="1500" b="0">
                <a:solidFill>
                  <a:srgbClr val="142B33"/>
                </a:solidFill>
                <a:latin typeface="Calibri"/>
              </a:rPr>
              <a:t>Para resolver las </a:t>
            </a:r>
            <a:r>
              <a:rPr sz="1500" b="1">
                <a:solidFill>
                  <a:srgbClr val="142B33"/>
                </a:solidFill>
                <a:latin typeface="Calibri"/>
              </a:rPr>
              <a:t>ambigüedades</a:t>
            </a:r>
            <a:r>
              <a:rPr sz="1500" b="0">
                <a:solidFill>
                  <a:srgbClr val="142B33"/>
                </a:solidFill>
                <a:latin typeface="Calibri"/>
              </a:rPr>
              <a:t> de la primera</a:t>
            </a:r>
          </a:p>
        </p:txBody>
      </p:sp>
      <p:sp>
        <p:nvSpPr>
          <p:cNvPr id="6" name="Rounded Rectangle 5"/>
          <p:cNvSpPr/>
          <p:nvPr/>
        </p:nvSpPr>
        <p:spPr>
          <a:xfrm>
            <a:off x="8097316" y="2357628"/>
            <a:ext cx="3545738" cy="1668272"/>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700" b="1">
                <a:solidFill>
                  <a:srgbClr val="0F4C5C"/>
                </a:solidFill>
                <a:latin typeface="Cambria"/>
              </a:rPr>
              <a:t>c · Reescalar factores</a:t>
            </a:r>
          </a:p>
          <a:p>
            <a:pPr algn="l"/>
            <a:r>
              <a:rPr sz="1500" b="0">
                <a:solidFill>
                  <a:srgbClr val="142B33"/>
                </a:solidFill>
                <a:latin typeface="Calibri"/>
              </a:rPr>
              <a:t>Si sus niveles se eligieron en </a:t>
            </a:r>
            <a:r>
              <a:rPr sz="1500" b="1">
                <a:solidFill>
                  <a:srgbClr val="142B33"/>
                </a:solidFill>
                <a:latin typeface="Calibri"/>
              </a:rPr>
              <a:t>rangos inapropiados</a:t>
            </a:r>
          </a:p>
        </p:txBody>
      </p:sp>
      <p:sp>
        <p:nvSpPr>
          <p:cNvPr id="7" name="Rounded Rectangle 6"/>
          <p:cNvSpPr/>
          <p:nvPr/>
        </p:nvSpPr>
        <p:spPr>
          <a:xfrm>
            <a:off x="548640" y="4254500"/>
            <a:ext cx="3545738" cy="1668272"/>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700" b="1">
                <a:solidFill>
                  <a:srgbClr val="0F4C5C"/>
                </a:solidFill>
                <a:latin typeface="Cambria"/>
              </a:rPr>
              <a:t>d · Eliminar y agregar factores</a:t>
            </a:r>
          </a:p>
          <a:p>
            <a:pPr algn="l"/>
            <a:r>
              <a:rPr sz="1500" b="0">
                <a:solidFill>
                  <a:srgbClr val="142B33"/>
                </a:solidFill>
                <a:latin typeface="Calibri"/>
              </a:rPr>
              <a:t>Quitar los que no influyen y </a:t>
            </a:r>
            <a:r>
              <a:rPr sz="1500" b="1">
                <a:solidFill>
                  <a:srgbClr val="142B33"/>
                </a:solidFill>
                <a:latin typeface="Calibri"/>
              </a:rPr>
              <a:t>probar otros</a:t>
            </a:r>
          </a:p>
        </p:txBody>
      </p:sp>
      <p:sp>
        <p:nvSpPr>
          <p:cNvPr id="8" name="Rounded Rectangle 7"/>
          <p:cNvSpPr/>
          <p:nvPr/>
        </p:nvSpPr>
        <p:spPr>
          <a:xfrm>
            <a:off x="4322978" y="4254500"/>
            <a:ext cx="3545738" cy="1668272"/>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700" b="1">
                <a:solidFill>
                  <a:srgbClr val="0F4C5C"/>
                </a:solidFill>
                <a:latin typeface="Cambria"/>
              </a:rPr>
              <a:t>e · Hacer réplicas</a:t>
            </a:r>
          </a:p>
          <a:p>
            <a:pPr algn="l"/>
            <a:r>
              <a:rPr sz="1500" b="0">
                <a:solidFill>
                  <a:srgbClr val="142B33"/>
                </a:solidFill>
                <a:latin typeface="Calibri"/>
              </a:rPr>
              <a:t>Para mejorar las estimaciones o </a:t>
            </a:r>
            <a:r>
              <a:rPr sz="1500" b="1">
                <a:solidFill>
                  <a:srgbClr val="142B33"/>
                </a:solidFill>
                <a:latin typeface="Calibri"/>
              </a:rPr>
              <a:t>repetir corridas</a:t>
            </a:r>
            <a:r>
              <a:rPr sz="1500" b="0">
                <a:solidFill>
                  <a:srgbClr val="142B33"/>
                </a:solidFill>
                <a:latin typeface="Calibri"/>
              </a:rPr>
              <a:t> mal hechas</a:t>
            </a:r>
          </a:p>
        </p:txBody>
      </p:sp>
      <p:sp>
        <p:nvSpPr>
          <p:cNvPr id="9" name="Rounded Rectangle 8"/>
          <p:cNvSpPr/>
          <p:nvPr/>
        </p:nvSpPr>
        <p:spPr>
          <a:xfrm>
            <a:off x="8097316" y="4254500"/>
            <a:ext cx="3545738" cy="1668272"/>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700" b="1">
                <a:solidFill>
                  <a:srgbClr val="0F4C5C"/>
                </a:solidFill>
                <a:latin typeface="Cambria"/>
              </a:rPr>
              <a:t>f · Aumentar el diseño</a:t>
            </a:r>
          </a:p>
          <a:p>
            <a:pPr algn="l"/>
            <a:r>
              <a:rPr sz="1500" b="0">
                <a:solidFill>
                  <a:srgbClr val="142B33"/>
                </a:solidFill>
                <a:latin typeface="Calibri"/>
              </a:rPr>
              <a:t>Para modelar una </a:t>
            </a:r>
            <a:r>
              <a:rPr sz="1500" b="1">
                <a:solidFill>
                  <a:srgbClr val="142B33"/>
                </a:solidFill>
                <a:latin typeface="Calibri"/>
              </a:rPr>
              <a:t>curvatura</a:t>
            </a:r>
            <a:r>
              <a:rPr sz="1500" b="0">
                <a:solidFill>
                  <a:srgbClr val="142B33"/>
                </a:solidFill>
                <a:latin typeface="Calibri"/>
              </a:rPr>
              <a:t> aparente (Montgomery, fig. 8-11)</a:t>
            </a:r>
          </a:p>
        </p:txBody>
      </p:sp>
      <p:sp>
        <p:nvSpPr>
          <p:cNvPr id="10" name="TextBox 9"/>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Otra fracción aclara las dudas</a:t>
            </a:r>
          </a:p>
        </p:txBody>
      </p:sp>
      <p:sp>
        <p:nvSpPr>
          <p:cNvPr id="11" name="TextBox 10"/>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34</a:t>
            </a:r>
          </a:p>
        </p:txBody>
      </p:sp>
      <p:sp>
        <p:nvSpPr>
          <p:cNvPr id="12" name="Rounded Rectangle 11"/>
          <p:cNvSpPr/>
          <p:nvPr/>
        </p:nvSpPr>
        <p:spPr>
          <a:xfrm>
            <a:off x="548640" y="91440"/>
            <a:ext cx="344271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5 · Otra fracción aclara las dudas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1 · Enunciado: la fracción alterna o complementaria (continuación)</a:t>
            </a:r>
          </a:p>
        </p:txBody>
      </p:sp>
      <p:sp>
        <p:nvSpPr>
          <p:cNvPr id="3" name="TextBox 2"/>
          <p:cNvSpPr txBox="1"/>
          <p:nvPr/>
        </p:nvSpPr>
        <p:spPr>
          <a:xfrm>
            <a:off x="548640" y="1417320"/>
            <a:ext cx="6196102" cy="1028191"/>
          </a:xfrm>
          <a:prstGeom prst="rect">
            <a:avLst/>
          </a:prstGeom>
          <a:noFill/>
        </p:spPr>
        <p:txBody>
          <a:bodyPr wrap="square" anchor="t" lIns="0" rIns="0" tIns="0" bIns="0">
            <a:spAutoFit/>
          </a:bodyPr>
          <a:lstStyle/>
          <a:p>
            <a:r>
              <a:rPr sz="1600" b="0">
                <a:solidFill>
                  <a:srgbClr val="142B33"/>
                </a:solidFill>
                <a:latin typeface="Calibri"/>
              </a:rPr>
              <a:t>Con la primera fracción del índice de filtración quedaron dos cadenas grandes: AC + BD = −18.5 y AD + BC = 19.0. Se atribuyeron a AC y AD porque B no parecía influir, pero esa decisión se apoyó en el juicio del analista.</a:t>
            </a:r>
          </a:p>
        </p:txBody>
      </p:sp>
      <p:sp>
        <p:nvSpPr>
          <p:cNvPr id="4" name="TextBox 3"/>
          <p:cNvSpPr txBox="1"/>
          <p:nvPr/>
        </p:nvSpPr>
        <p:spPr>
          <a:xfrm>
            <a:off x="548640" y="2646680"/>
            <a:ext cx="6196102" cy="780288"/>
          </a:xfrm>
          <a:prstGeom prst="rect">
            <a:avLst/>
          </a:prstGeom>
          <a:noFill/>
        </p:spPr>
        <p:txBody>
          <a:bodyPr wrap="square" anchor="t" lIns="0" rIns="0" tIns="0" bIns="0">
            <a:spAutoFit/>
          </a:bodyPr>
          <a:lstStyle/>
          <a:p>
            <a:r>
              <a:rPr sz="1600" b="0">
                <a:solidFill>
                  <a:srgbClr val="142B33"/>
                </a:solidFill>
                <a:latin typeface="Calibri"/>
              </a:rPr>
              <a:t>El ingeniero no quiere depender de ese juicio antes de cambiar el proceso. Tiene la posibilidad de volver a la planta piloto y hacer </a:t>
            </a:r>
            <a:r>
              <a:rPr sz="1600" b="1">
                <a:solidFill>
                  <a:srgbClr val="142B33"/>
                </a:solidFill>
                <a:latin typeface="Calibri"/>
              </a:rPr>
              <a:t>8 corridas más</a:t>
            </a:r>
            <a:r>
              <a:rPr sz="1600" b="0">
                <a:solidFill>
                  <a:srgbClr val="142B33"/>
                </a:solidFill>
                <a:latin typeface="Calibri"/>
              </a:rPr>
              <a:t>.</a:t>
            </a:r>
          </a:p>
        </p:txBody>
      </p:sp>
      <p:sp>
        <p:nvSpPr>
          <p:cNvPr id="5" name="TextBox 4"/>
          <p:cNvSpPr txBox="1"/>
          <p:nvPr/>
        </p:nvSpPr>
        <p:spPr>
          <a:xfrm>
            <a:off x="548640" y="3628136"/>
            <a:ext cx="6196102" cy="780288"/>
          </a:xfrm>
          <a:prstGeom prst="rect">
            <a:avLst/>
          </a:prstGeom>
          <a:noFill/>
        </p:spPr>
        <p:txBody>
          <a:bodyPr wrap="square" anchor="t" lIns="0" rIns="0" tIns="0" bIns="0">
            <a:spAutoFit/>
          </a:bodyPr>
          <a:lstStyle/>
          <a:p>
            <a:r>
              <a:rPr sz="1600" b="0">
                <a:solidFill>
                  <a:srgbClr val="142B33"/>
                </a:solidFill>
                <a:latin typeface="Calibri"/>
              </a:rPr>
              <a:t>Decide correr la </a:t>
            </a:r>
            <a:r>
              <a:rPr sz="1600" b="1">
                <a:solidFill>
                  <a:srgbClr val="142B33"/>
                </a:solidFill>
                <a:latin typeface="Calibri"/>
              </a:rPr>
              <a:t>fracción alterna</a:t>
            </a:r>
            <a:r>
              <a:rPr sz="1600" b="0">
                <a:solidFill>
                  <a:srgbClr val="142B33"/>
                </a:solidFill>
                <a:latin typeface="Calibri"/>
              </a:rPr>
              <a:t>, I = −ABCD (D = −ABC): las ocho combinaciones del 2</a:t>
            </a:r>
            <a:r>
              <a:rPr sz="1600" b="0" baseline="30000">
                <a:solidFill>
                  <a:srgbClr val="142B33"/>
                </a:solidFill>
                <a:latin typeface="Calibri"/>
              </a:rPr>
              <a:t>4</a:t>
            </a:r>
            <a:r>
              <a:rPr sz="1600" b="0">
                <a:solidFill>
                  <a:srgbClr val="142B33"/>
                </a:solidFill>
                <a:latin typeface="Calibri"/>
              </a:rPr>
              <a:t> que no se corrieron la primera vez.</a:t>
            </a:r>
          </a:p>
        </p:txBody>
      </p:sp>
      <p:sp>
        <p:nvSpPr>
          <p:cNvPr id="6" name="TextBox 5"/>
          <p:cNvSpPr txBox="1"/>
          <p:nvPr/>
        </p:nvSpPr>
        <p:spPr>
          <a:xfrm>
            <a:off x="548640" y="4609591"/>
            <a:ext cx="6196102" cy="222504"/>
          </a:xfrm>
          <a:prstGeom prst="rect">
            <a:avLst/>
          </a:prstGeom>
          <a:noFill/>
        </p:spPr>
        <p:txBody>
          <a:bodyPr wrap="square" anchor="t" lIns="0" rIns="0" tIns="0" bIns="0">
            <a:spAutoFit/>
          </a:bodyPr>
          <a:lstStyle/>
          <a:p>
            <a:r>
              <a:rPr sz="1200" b="0">
                <a:solidFill>
                  <a:srgbClr val="5B6B73"/>
                </a:solidFill>
                <a:latin typeface="Calibri"/>
              </a:rPr>
              <a:t>Fuente: Montgomery, ejemplo 8-3</a:t>
            </a:r>
          </a:p>
        </p:txBody>
      </p:sp>
      <p:sp>
        <p:nvSpPr>
          <p:cNvPr id="7" name="Rounded Rectangle 6"/>
          <p:cNvSpPr/>
          <p:nvPr/>
        </p:nvSpPr>
        <p:spPr>
          <a:xfrm>
            <a:off x="7156222" y="1417320"/>
            <a:ext cx="4486832" cy="1249426"/>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700" b="1">
                <a:solidFill>
                  <a:srgbClr val="0F4C5C"/>
                </a:solidFill>
                <a:latin typeface="Cambria"/>
              </a:rPr>
              <a:t>Objetivo</a:t>
            </a:r>
          </a:p>
          <a:p>
            <a:pPr algn="l"/>
            <a:r>
              <a:rPr sz="1500" b="0">
                <a:solidFill>
                  <a:srgbClr val="142B33"/>
                </a:solidFill>
                <a:latin typeface="Calibri"/>
              </a:rPr>
              <a:t>Separar </a:t>
            </a:r>
            <a:r>
              <a:rPr sz="1500" b="1">
                <a:solidFill>
                  <a:srgbClr val="142B33"/>
                </a:solidFill>
                <a:latin typeface="Calibri"/>
              </a:rPr>
              <a:t>AC de BD</a:t>
            </a:r>
            <a:r>
              <a:rPr sz="1500" b="0">
                <a:solidFill>
                  <a:srgbClr val="142B33"/>
                </a:solidFill>
                <a:latin typeface="Calibri"/>
              </a:rPr>
              <a:t> y </a:t>
            </a:r>
            <a:r>
              <a:rPr sz="1500" b="1">
                <a:solidFill>
                  <a:srgbClr val="142B33"/>
                </a:solidFill>
                <a:latin typeface="Calibri"/>
              </a:rPr>
              <a:t>AD de BC</a:t>
            </a:r>
            <a:r>
              <a:rPr sz="1500" b="0">
                <a:solidFill>
                  <a:srgbClr val="142B33"/>
                </a:solidFill>
                <a:latin typeface="Calibri"/>
              </a:rPr>
              <a:t> con datos, sin depender del juicio</a:t>
            </a:r>
          </a:p>
        </p:txBody>
      </p:sp>
      <p:sp>
        <p:nvSpPr>
          <p:cNvPr id="8" name="TextBox 7"/>
          <p:cNvSpPr txBox="1"/>
          <p:nvPr/>
        </p:nvSpPr>
        <p:spPr>
          <a:xfrm>
            <a:off x="7156222" y="2867914"/>
            <a:ext cx="4486832" cy="299973"/>
          </a:xfrm>
          <a:prstGeom prst="rect">
            <a:avLst/>
          </a:prstGeom>
          <a:noFill/>
        </p:spPr>
        <p:txBody>
          <a:bodyPr wrap="square" anchor="t" lIns="0" rIns="0" tIns="0" bIns="0">
            <a:spAutoFit/>
          </a:bodyPr>
          <a:lstStyle/>
          <a:p>
            <a:r>
              <a:rPr sz="1700" b="1">
                <a:solidFill>
                  <a:srgbClr val="142B33"/>
                </a:solidFill>
                <a:latin typeface="Calibri"/>
              </a:rPr>
              <a:t>Se pide</a:t>
            </a:r>
          </a:p>
        </p:txBody>
      </p:sp>
      <p:sp>
        <p:nvSpPr>
          <p:cNvPr id="9" name="TextBox 8"/>
          <p:cNvSpPr txBox="1"/>
          <p:nvPr/>
        </p:nvSpPr>
        <p:spPr>
          <a:xfrm>
            <a:off x="7156222" y="3369056"/>
            <a:ext cx="4486832" cy="1723643"/>
          </a:xfrm>
          <a:prstGeom prst="rect">
            <a:avLst/>
          </a:prstGeom>
          <a:noFill/>
        </p:spPr>
        <p:txBody>
          <a:bodyPr wrap="square" anchor="t" lIns="0" rIns="0" tIns="0" bIns="0">
            <a:spAutoFit/>
          </a:bodyPr>
          <a:lstStyle/>
          <a:p>
            <a:pPr marL="320040" indent="-320040">
              <a:spcAft>
                <a:spcPts val="600"/>
              </a:spcAft>
              <a:buClr>
                <a:srgbClr val="E36414"/>
              </a:buClr>
              <a:buFont typeface="+mj-lt"/>
              <a:buAutoNum type="arabicPeriod"/>
            </a:pPr>
            <a:r>
              <a:rPr sz="1500" b="0">
                <a:solidFill>
                  <a:srgbClr val="142B33"/>
                </a:solidFill>
                <a:latin typeface="Calibri"/>
              </a:rPr>
              <a:t>Construir la fracción alterna y escribir sus alias</a:t>
            </a:r>
          </a:p>
          <a:p>
            <a:pPr marL="320040" indent="-320040">
              <a:spcAft>
                <a:spcPts val="600"/>
              </a:spcAft>
              <a:buClr>
                <a:srgbClr val="E36414"/>
              </a:buClr>
              <a:buFont typeface="+mj-lt"/>
              <a:buAutoNum type="arabicPeriod"/>
            </a:pPr>
            <a:r>
              <a:rPr sz="1500" b="0">
                <a:solidFill>
                  <a:srgbClr val="142B33"/>
                </a:solidFill>
                <a:latin typeface="Calibri"/>
              </a:rPr>
              <a:t>Estimar sus efectos</a:t>
            </a:r>
          </a:p>
          <a:p>
            <a:pPr marL="320040" indent="-320040">
              <a:spcAft>
                <a:spcPts val="600"/>
              </a:spcAft>
              <a:buClr>
                <a:srgbClr val="E36414"/>
              </a:buClr>
              <a:buFont typeface="+mj-lt"/>
              <a:buAutoNum type="arabicPeriod"/>
            </a:pPr>
            <a:r>
              <a:rPr sz="1500" b="0">
                <a:solidFill>
                  <a:srgbClr val="142B33"/>
                </a:solidFill>
                <a:latin typeface="Calibri"/>
              </a:rPr>
              <a:t>Combinar las dos fracciones y aislar cada efecto</a:t>
            </a:r>
          </a:p>
          <a:p>
            <a:pPr marL="320040" indent="-320040">
              <a:spcAft>
                <a:spcPts val="600"/>
              </a:spcAft>
              <a:buClr>
                <a:srgbClr val="E36414"/>
              </a:buClr>
              <a:buFont typeface="+mj-lt"/>
              <a:buAutoNum type="arabicPeriod"/>
            </a:pPr>
            <a:r>
              <a:rPr sz="1500" b="0">
                <a:solidFill>
                  <a:srgbClr val="142B33"/>
                </a:solidFill>
                <a:latin typeface="Calibri"/>
              </a:rPr>
              <a:t>Decidir qué interacciones son las reales</a:t>
            </a:r>
          </a:p>
        </p:txBody>
      </p:sp>
      <p:sp>
        <p:nvSpPr>
          <p:cNvPr id="10" name="TextBox 9"/>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Otra fracción aclara las dudas</a:t>
            </a:r>
          </a:p>
        </p:txBody>
      </p:sp>
      <p:sp>
        <p:nvSpPr>
          <p:cNvPr id="11" name="TextBox 10"/>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35</a:t>
            </a:r>
          </a:p>
        </p:txBody>
      </p:sp>
      <p:sp>
        <p:nvSpPr>
          <p:cNvPr id="12" name="Rounded Rectangle 11"/>
          <p:cNvSpPr/>
          <p:nvPr/>
        </p:nvSpPr>
        <p:spPr>
          <a:xfrm>
            <a:off x="548640" y="91440"/>
            <a:ext cx="344271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5 · Otra fracción aclara las dudas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1 · La fracción complementaria I = −ABCD</a:t>
            </a:r>
          </a:p>
        </p:txBody>
      </p:sp>
      <p:graphicFrame>
        <p:nvGraphicFramePr>
          <p:cNvPr id="3" name="Table 2"/>
          <p:cNvGraphicFramePr>
            <a:graphicFrameLocks noGrp="1"/>
          </p:cNvGraphicFramePr>
          <p:nvPr/>
        </p:nvGraphicFramePr>
        <p:xfrm>
          <a:off x="548640" y="1417320"/>
          <a:ext cx="5555122" cy="3161538"/>
        </p:xfrm>
        <a:graphic>
          <a:graphicData uri="http://schemas.openxmlformats.org/drawingml/2006/table">
            <a:tbl>
              <a:tblPr firstRow="0" bandRow="0">
                <a:tableStyleId>{5C22544A-7EE6-4342-B048-85BDC9FD1C3A}</a:tableStyleId>
              </a:tblPr>
              <a:tblGrid>
                <a:gridCol w="1066878"/>
                <a:gridCol w="349494"/>
                <a:gridCol w="349494"/>
                <a:gridCol w="349494"/>
                <a:gridCol w="1186442"/>
                <a:gridCol w="827750"/>
                <a:gridCol w="1425570"/>
              </a:tblGrid>
              <a:tr h="351282">
                <a:tc>
                  <a:txBody>
                    <a:bodyPr/>
                    <a:lstStyle/>
                    <a:p>
                      <a:pPr algn="ctr"/>
                      <a:r>
                        <a:rPr sz="1500" b="1">
                          <a:solidFill>
                            <a:srgbClr val="FFFFFF"/>
                          </a:solidFill>
                          <a:latin typeface="Calibri"/>
                        </a:rPr>
                        <a:t>Corrida</a:t>
                      </a:r>
                    </a:p>
                  </a:txBody>
                  <a:tcPr marL="73152" marR="73152" marT="27432" marB="27432" anchor="ctr">
                    <a:solidFill>
                      <a:srgbClr val="0F4C5C"/>
                    </a:solidFill>
                  </a:tcPr>
                </a:tc>
                <a:tc>
                  <a:txBody>
                    <a:bodyPr/>
                    <a:lstStyle/>
                    <a:p>
                      <a:pPr algn="ctr"/>
                      <a:r>
                        <a:rPr sz="1500" b="1">
                          <a:solidFill>
                            <a:srgbClr val="FFFFFF"/>
                          </a:solidFill>
                          <a:latin typeface="Calibri"/>
                        </a:rPr>
                        <a:t>A</a:t>
                      </a:r>
                    </a:p>
                  </a:txBody>
                  <a:tcPr marL="73152" marR="73152" marT="27432" marB="27432" anchor="ctr">
                    <a:solidFill>
                      <a:srgbClr val="0F4C5C"/>
                    </a:solidFill>
                  </a:tcPr>
                </a:tc>
                <a:tc>
                  <a:txBody>
                    <a:bodyPr/>
                    <a:lstStyle/>
                    <a:p>
                      <a:pPr algn="ctr"/>
                      <a:r>
                        <a:rPr sz="1500" b="1">
                          <a:solidFill>
                            <a:srgbClr val="FFFFFF"/>
                          </a:solidFill>
                          <a:latin typeface="Calibri"/>
                        </a:rPr>
                        <a:t>B</a:t>
                      </a:r>
                    </a:p>
                  </a:txBody>
                  <a:tcPr marL="73152" marR="73152" marT="27432" marB="27432" anchor="ctr">
                    <a:solidFill>
                      <a:srgbClr val="0F4C5C"/>
                    </a:solidFill>
                  </a:tcPr>
                </a:tc>
                <a:tc>
                  <a:txBody>
                    <a:bodyPr/>
                    <a:lstStyle/>
                    <a:p>
                      <a:pPr algn="ctr"/>
                      <a:r>
                        <a:rPr sz="1500" b="1">
                          <a:solidFill>
                            <a:srgbClr val="FFFFFF"/>
                          </a:solidFill>
                          <a:latin typeface="Calibri"/>
                        </a:rPr>
                        <a:t>C</a:t>
                      </a:r>
                    </a:p>
                  </a:txBody>
                  <a:tcPr marL="73152" marR="73152" marT="27432" marB="27432" anchor="ctr">
                    <a:solidFill>
                      <a:srgbClr val="0F4C5C"/>
                    </a:solidFill>
                  </a:tcPr>
                </a:tc>
                <a:tc>
                  <a:txBody>
                    <a:bodyPr/>
                    <a:lstStyle/>
                    <a:p>
                      <a:pPr algn="ctr"/>
                      <a:r>
                        <a:rPr sz="1500" b="1">
                          <a:solidFill>
                            <a:srgbClr val="FFFFFF"/>
                          </a:solidFill>
                          <a:latin typeface="Calibri"/>
                        </a:rPr>
                        <a:t>D = −ABC</a:t>
                      </a:r>
                    </a:p>
                  </a:txBody>
                  <a:tcPr marL="73152" marR="73152" marT="27432" marB="27432" anchor="ctr">
                    <a:solidFill>
                      <a:srgbClr val="0F4C5C"/>
                    </a:solidFill>
                  </a:tcPr>
                </a:tc>
                <a:tc>
                  <a:txBody>
                    <a:bodyPr/>
                    <a:lstStyle/>
                    <a:p>
                      <a:pPr algn="ctr"/>
                      <a:r>
                        <a:rPr sz="1500" b="1">
                          <a:solidFill>
                            <a:srgbClr val="FFFFFF"/>
                          </a:solidFill>
                          <a:latin typeface="Calibri"/>
                        </a:rPr>
                        <a:t>Trat.</a:t>
                      </a:r>
                    </a:p>
                  </a:txBody>
                  <a:tcPr marL="73152" marR="73152" marT="27432" marB="27432" anchor="ctr">
                    <a:solidFill>
                      <a:srgbClr val="0F4C5C"/>
                    </a:solidFill>
                  </a:tcPr>
                </a:tc>
                <a:tc>
                  <a:txBody>
                    <a:bodyPr/>
                    <a:lstStyle/>
                    <a:p>
                      <a:pPr algn="ctr"/>
                      <a:r>
                        <a:rPr sz="1500" b="1">
                          <a:solidFill>
                            <a:srgbClr val="FFFFFF"/>
                          </a:solidFill>
                          <a:latin typeface="Calibri"/>
                        </a:rPr>
                        <a:t>Filtración</a:t>
                      </a:r>
                    </a:p>
                  </a:txBody>
                  <a:tcPr marL="73152" marR="73152" marT="27432" marB="27432" anchor="ctr">
                    <a:solidFill>
                      <a:srgbClr val="0F4C5C"/>
                    </a:solidFill>
                  </a:tcPr>
                </a:tc>
              </a:tr>
              <a:tr h="351282">
                <a:tc>
                  <a:txBody>
                    <a:bodyPr/>
                    <a:lstStyle/>
                    <a:p>
                      <a:pPr algn="ctr"/>
                      <a:r>
                        <a:rPr sz="1500" b="0">
                          <a:solidFill>
                            <a:srgbClr val="142B33"/>
                          </a:solidFill>
                          <a:latin typeface="Calibri"/>
                        </a:rPr>
                        <a:t>1</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d</a:t>
                      </a:r>
                    </a:p>
                  </a:txBody>
                  <a:tcPr marL="73152" marR="73152" marT="27432" marB="27432" anchor="ctr">
                    <a:solidFill>
                      <a:srgbClr val="FFFFFF"/>
                    </a:solidFill>
                  </a:tcPr>
                </a:tc>
                <a:tc>
                  <a:txBody>
                    <a:bodyPr/>
                    <a:lstStyle/>
                    <a:p>
                      <a:pPr algn="ctr"/>
                      <a:r>
                        <a:rPr sz="1500" b="0">
                          <a:solidFill>
                            <a:srgbClr val="142B33"/>
                          </a:solidFill>
                          <a:latin typeface="Calibri"/>
                        </a:rPr>
                        <a:t>43</a:t>
                      </a:r>
                    </a:p>
                  </a:txBody>
                  <a:tcPr marL="73152" marR="73152" marT="27432" marB="27432" anchor="ctr">
                    <a:solidFill>
                      <a:srgbClr val="FFFFFF"/>
                    </a:solidFill>
                  </a:tcPr>
                </a:tc>
              </a:tr>
              <a:tr h="351282">
                <a:tc>
                  <a:txBody>
                    <a:bodyPr/>
                    <a:lstStyle/>
                    <a:p>
                      <a:pPr algn="ctr"/>
                      <a:r>
                        <a:rPr sz="1500" b="0">
                          <a:solidFill>
                            <a:srgbClr val="142B33"/>
                          </a:solidFill>
                          <a:latin typeface="Calibri"/>
                        </a:rPr>
                        <a:t>2</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a</a:t>
                      </a:r>
                    </a:p>
                  </a:txBody>
                  <a:tcPr marL="73152" marR="73152" marT="27432" marB="27432" anchor="ctr">
                    <a:solidFill>
                      <a:srgbClr val="F4F8F9"/>
                    </a:solidFill>
                  </a:tcPr>
                </a:tc>
                <a:tc>
                  <a:txBody>
                    <a:bodyPr/>
                    <a:lstStyle/>
                    <a:p>
                      <a:pPr algn="ctr"/>
                      <a:r>
                        <a:rPr sz="1500" b="0">
                          <a:solidFill>
                            <a:srgbClr val="142B33"/>
                          </a:solidFill>
                          <a:latin typeface="Calibri"/>
                        </a:rPr>
                        <a:t>71</a:t>
                      </a:r>
                    </a:p>
                  </a:txBody>
                  <a:tcPr marL="73152" marR="73152" marT="27432" marB="27432" anchor="ctr">
                    <a:solidFill>
                      <a:srgbClr val="F4F8F9"/>
                    </a:solidFill>
                  </a:tcPr>
                </a:tc>
              </a:tr>
              <a:tr h="351282">
                <a:tc>
                  <a:txBody>
                    <a:bodyPr/>
                    <a:lstStyle/>
                    <a:p>
                      <a:pPr algn="ctr"/>
                      <a:r>
                        <a:rPr sz="1500" b="0">
                          <a:solidFill>
                            <a:srgbClr val="142B33"/>
                          </a:solidFill>
                          <a:latin typeface="Calibri"/>
                        </a:rPr>
                        <a:t>3</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b</a:t>
                      </a:r>
                    </a:p>
                  </a:txBody>
                  <a:tcPr marL="73152" marR="73152" marT="27432" marB="27432" anchor="ctr">
                    <a:solidFill>
                      <a:srgbClr val="FFFFFF"/>
                    </a:solidFill>
                  </a:tcPr>
                </a:tc>
                <a:tc>
                  <a:txBody>
                    <a:bodyPr/>
                    <a:lstStyle/>
                    <a:p>
                      <a:pPr algn="ctr"/>
                      <a:r>
                        <a:rPr sz="1500" b="0">
                          <a:solidFill>
                            <a:srgbClr val="142B33"/>
                          </a:solidFill>
                          <a:latin typeface="Calibri"/>
                        </a:rPr>
                        <a:t>48</a:t>
                      </a:r>
                    </a:p>
                  </a:txBody>
                  <a:tcPr marL="73152" marR="73152" marT="27432" marB="27432" anchor="ctr">
                    <a:solidFill>
                      <a:srgbClr val="FFFFFF"/>
                    </a:solidFill>
                  </a:tcPr>
                </a:tc>
              </a:tr>
              <a:tr h="351282">
                <a:tc>
                  <a:txBody>
                    <a:bodyPr/>
                    <a:lstStyle/>
                    <a:p>
                      <a:pPr algn="ctr"/>
                      <a:r>
                        <a:rPr sz="1500" b="0">
                          <a:solidFill>
                            <a:srgbClr val="142B33"/>
                          </a:solidFill>
                          <a:latin typeface="Calibri"/>
                        </a:rPr>
                        <a:t>4</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abd</a:t>
                      </a:r>
                    </a:p>
                  </a:txBody>
                  <a:tcPr marL="73152" marR="73152" marT="27432" marB="27432" anchor="ctr">
                    <a:solidFill>
                      <a:srgbClr val="F4F8F9"/>
                    </a:solidFill>
                  </a:tcPr>
                </a:tc>
                <a:tc>
                  <a:txBody>
                    <a:bodyPr/>
                    <a:lstStyle/>
                    <a:p>
                      <a:pPr algn="ctr"/>
                      <a:r>
                        <a:rPr sz="1500" b="0">
                          <a:solidFill>
                            <a:srgbClr val="142B33"/>
                          </a:solidFill>
                          <a:latin typeface="Calibri"/>
                        </a:rPr>
                        <a:t>104</a:t>
                      </a:r>
                    </a:p>
                  </a:txBody>
                  <a:tcPr marL="73152" marR="73152" marT="27432" marB="27432" anchor="ctr">
                    <a:solidFill>
                      <a:srgbClr val="F4F8F9"/>
                    </a:solidFill>
                  </a:tcPr>
                </a:tc>
              </a:tr>
              <a:tr h="351282">
                <a:tc>
                  <a:txBody>
                    <a:bodyPr/>
                    <a:lstStyle/>
                    <a:p>
                      <a:pPr algn="ctr"/>
                      <a:r>
                        <a:rPr sz="1500" b="0">
                          <a:solidFill>
                            <a:srgbClr val="142B33"/>
                          </a:solidFill>
                          <a:latin typeface="Calibri"/>
                        </a:rPr>
                        <a:t>5</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c</a:t>
                      </a:r>
                    </a:p>
                  </a:txBody>
                  <a:tcPr marL="73152" marR="73152" marT="27432" marB="27432" anchor="ctr">
                    <a:solidFill>
                      <a:srgbClr val="FFFFFF"/>
                    </a:solidFill>
                  </a:tcPr>
                </a:tc>
                <a:tc>
                  <a:txBody>
                    <a:bodyPr/>
                    <a:lstStyle/>
                    <a:p>
                      <a:pPr algn="ctr"/>
                      <a:r>
                        <a:rPr sz="1500" b="0">
                          <a:solidFill>
                            <a:srgbClr val="142B33"/>
                          </a:solidFill>
                          <a:latin typeface="Calibri"/>
                        </a:rPr>
                        <a:t>68</a:t>
                      </a:r>
                    </a:p>
                  </a:txBody>
                  <a:tcPr marL="73152" marR="73152" marT="27432" marB="27432" anchor="ctr">
                    <a:solidFill>
                      <a:srgbClr val="FFFFFF"/>
                    </a:solidFill>
                  </a:tcPr>
                </a:tc>
              </a:tr>
              <a:tr h="351282">
                <a:tc>
                  <a:txBody>
                    <a:bodyPr/>
                    <a:lstStyle/>
                    <a:p>
                      <a:pPr algn="ctr"/>
                      <a:r>
                        <a:rPr sz="1500" b="0">
                          <a:solidFill>
                            <a:srgbClr val="142B33"/>
                          </a:solidFill>
                          <a:latin typeface="Calibri"/>
                        </a:rPr>
                        <a:t>6</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acd</a:t>
                      </a:r>
                    </a:p>
                  </a:txBody>
                  <a:tcPr marL="73152" marR="73152" marT="27432" marB="27432" anchor="ctr">
                    <a:solidFill>
                      <a:srgbClr val="F4F8F9"/>
                    </a:solidFill>
                  </a:tcPr>
                </a:tc>
                <a:tc>
                  <a:txBody>
                    <a:bodyPr/>
                    <a:lstStyle/>
                    <a:p>
                      <a:pPr algn="ctr"/>
                      <a:r>
                        <a:rPr sz="1500" b="0">
                          <a:solidFill>
                            <a:srgbClr val="142B33"/>
                          </a:solidFill>
                          <a:latin typeface="Calibri"/>
                        </a:rPr>
                        <a:t>86</a:t>
                      </a:r>
                    </a:p>
                  </a:txBody>
                  <a:tcPr marL="73152" marR="73152" marT="27432" marB="27432" anchor="ctr">
                    <a:solidFill>
                      <a:srgbClr val="F4F8F9"/>
                    </a:solidFill>
                  </a:tcPr>
                </a:tc>
              </a:tr>
              <a:tr h="351282">
                <a:tc>
                  <a:txBody>
                    <a:bodyPr/>
                    <a:lstStyle/>
                    <a:p>
                      <a:pPr algn="ctr"/>
                      <a:r>
                        <a:rPr sz="1500" b="0">
                          <a:solidFill>
                            <a:srgbClr val="142B33"/>
                          </a:solidFill>
                          <a:latin typeface="Calibri"/>
                        </a:rPr>
                        <a:t>7</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bcd</a:t>
                      </a:r>
                    </a:p>
                  </a:txBody>
                  <a:tcPr marL="73152" marR="73152" marT="27432" marB="27432" anchor="ctr">
                    <a:solidFill>
                      <a:srgbClr val="FFFFFF"/>
                    </a:solidFill>
                  </a:tcPr>
                </a:tc>
                <a:tc>
                  <a:txBody>
                    <a:bodyPr/>
                    <a:lstStyle/>
                    <a:p>
                      <a:pPr algn="ctr"/>
                      <a:r>
                        <a:rPr sz="1500" b="0">
                          <a:solidFill>
                            <a:srgbClr val="142B33"/>
                          </a:solidFill>
                          <a:latin typeface="Calibri"/>
                        </a:rPr>
                        <a:t>70</a:t>
                      </a:r>
                    </a:p>
                  </a:txBody>
                  <a:tcPr marL="73152" marR="73152" marT="27432" marB="27432" anchor="ctr">
                    <a:solidFill>
                      <a:srgbClr val="FFFFFF"/>
                    </a:solidFill>
                  </a:tcPr>
                </a:tc>
              </a:tr>
              <a:tr h="351282">
                <a:tc>
                  <a:txBody>
                    <a:bodyPr/>
                    <a:lstStyle/>
                    <a:p>
                      <a:pPr algn="ctr"/>
                      <a:r>
                        <a:rPr sz="1500" b="0">
                          <a:solidFill>
                            <a:srgbClr val="142B33"/>
                          </a:solidFill>
                          <a:latin typeface="Calibri"/>
                        </a:rPr>
                        <a:t>8</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abc</a:t>
                      </a:r>
                    </a:p>
                  </a:txBody>
                  <a:tcPr marL="73152" marR="73152" marT="27432" marB="27432" anchor="ctr">
                    <a:solidFill>
                      <a:srgbClr val="F4F8F9"/>
                    </a:solidFill>
                  </a:tcPr>
                </a:tc>
                <a:tc>
                  <a:txBody>
                    <a:bodyPr/>
                    <a:lstStyle/>
                    <a:p>
                      <a:pPr algn="ctr"/>
                      <a:r>
                        <a:rPr sz="1500" b="0">
                          <a:solidFill>
                            <a:srgbClr val="142B33"/>
                          </a:solidFill>
                          <a:latin typeface="Calibri"/>
                        </a:rPr>
                        <a:t>65</a:t>
                      </a:r>
                    </a:p>
                  </a:txBody>
                  <a:tcPr marL="73152" marR="73152" marT="27432" marB="27432" anchor="ctr">
                    <a:solidFill>
                      <a:srgbClr val="F4F8F9"/>
                    </a:solidFill>
                  </a:tcPr>
                </a:tc>
              </a:tr>
            </a:tbl>
          </a:graphicData>
        </a:graphic>
      </p:graphicFrame>
      <p:graphicFrame>
        <p:nvGraphicFramePr>
          <p:cNvPr id="4" name="Table 3"/>
          <p:cNvGraphicFramePr>
            <a:graphicFrameLocks noGrp="1"/>
          </p:cNvGraphicFramePr>
          <p:nvPr/>
        </p:nvGraphicFramePr>
        <p:xfrm>
          <a:off x="6515246" y="1417320"/>
          <a:ext cx="5127808" cy="2810256"/>
        </p:xfrm>
        <a:graphic>
          <a:graphicData uri="http://schemas.openxmlformats.org/drawingml/2006/table">
            <a:tbl>
              <a:tblPr firstRow="0" bandRow="0">
                <a:tableStyleId>{5C22544A-7EE6-4342-B048-85BDC9FD1C3A}</a:tableStyleId>
              </a:tblPr>
              <a:tblGrid>
                <a:gridCol w="3080660"/>
                <a:gridCol w="2047148"/>
              </a:tblGrid>
              <a:tr h="351282">
                <a:tc>
                  <a:txBody>
                    <a:bodyPr/>
                    <a:lstStyle/>
                    <a:p>
                      <a:pPr algn="ctr"/>
                      <a:r>
                        <a:rPr sz="1500" b="1">
                          <a:solidFill>
                            <a:srgbClr val="FFFFFF"/>
                          </a:solidFill>
                          <a:latin typeface="Calibri"/>
                        </a:rPr>
                        <a:t>Estimación</a:t>
                      </a:r>
                    </a:p>
                  </a:txBody>
                  <a:tcPr marL="73152" marR="73152" marT="27432" marB="27432" anchor="ctr">
                    <a:solidFill>
                      <a:srgbClr val="0F4C5C"/>
                    </a:solidFill>
                  </a:tcPr>
                </a:tc>
                <a:tc>
                  <a:txBody>
                    <a:bodyPr/>
                    <a:lstStyle/>
                    <a:p>
                      <a:pPr algn="ctr"/>
                      <a:r>
                        <a:rPr sz="1500" b="1">
                          <a:solidFill>
                            <a:srgbClr val="FFFFFF"/>
                          </a:solidFill>
                          <a:latin typeface="Calibri"/>
                        </a:rPr>
                        <a:t>Estima</a:t>
                      </a:r>
                    </a:p>
                  </a:txBody>
                  <a:tcPr marL="73152" marR="73152" marT="27432" marB="27432" anchor="ctr">
                    <a:solidFill>
                      <a:srgbClr val="0F4C5C"/>
                    </a:solidFill>
                  </a:tcPr>
                </a:tc>
              </a:tr>
              <a:tr h="351282">
                <a:tc>
                  <a:txBody>
                    <a:bodyPr/>
                    <a:lstStyle/>
                    <a:p>
                      <a:pPr algn="ctr"/>
                      <a:r>
                        <a:rPr sz="1500" b="0">
                          <a:solidFill>
                            <a:srgbClr val="142B33"/>
                          </a:solidFill>
                          <a:latin typeface="Calibri"/>
                        </a:rPr>
                        <a:t>ℓ′</a:t>
                      </a:r>
                      <a:r>
                        <a:rPr sz="1500" b="0" baseline="-25000">
                          <a:solidFill>
                            <a:srgbClr val="142B33"/>
                          </a:solidFill>
                          <a:latin typeface="Calibri"/>
                        </a:rPr>
                        <a:t>A</a:t>
                      </a:r>
                      <a:r>
                        <a:rPr sz="1500" b="0">
                          <a:solidFill>
                            <a:srgbClr val="142B33"/>
                          </a:solidFill>
                          <a:latin typeface="Calibri"/>
                        </a:rPr>
                        <a:t> = 24.25</a:t>
                      </a:r>
                    </a:p>
                  </a:txBody>
                  <a:tcPr marL="73152" marR="73152" marT="27432" marB="27432" anchor="ctr">
                    <a:solidFill>
                      <a:srgbClr val="FFFFFF"/>
                    </a:solidFill>
                  </a:tcPr>
                </a:tc>
                <a:tc>
                  <a:txBody>
                    <a:bodyPr/>
                    <a:lstStyle/>
                    <a:p>
                      <a:pPr algn="ctr"/>
                      <a:r>
                        <a:rPr sz="1500" b="0">
                          <a:solidFill>
                            <a:srgbClr val="142B33"/>
                          </a:solidFill>
                          <a:latin typeface="Calibri"/>
                        </a:rPr>
                        <a:t>A − BCD</a:t>
                      </a:r>
                    </a:p>
                  </a:txBody>
                  <a:tcPr marL="73152" marR="73152" marT="27432" marB="27432" anchor="ctr">
                    <a:solidFill>
                      <a:srgbClr val="FFFFFF"/>
                    </a:solidFill>
                  </a:tcPr>
                </a:tc>
              </a:tr>
              <a:tr h="351282">
                <a:tc>
                  <a:txBody>
                    <a:bodyPr/>
                    <a:lstStyle/>
                    <a:p>
                      <a:pPr algn="ctr"/>
                      <a:r>
                        <a:rPr sz="1500" b="0">
                          <a:solidFill>
                            <a:srgbClr val="142B33"/>
                          </a:solidFill>
                          <a:latin typeface="Calibri"/>
                        </a:rPr>
                        <a:t>ℓ′</a:t>
                      </a:r>
                      <a:r>
                        <a:rPr sz="1500" b="0" baseline="-25000">
                          <a:solidFill>
                            <a:srgbClr val="142B33"/>
                          </a:solidFill>
                          <a:latin typeface="Calibri"/>
                        </a:rPr>
                        <a:t>B</a:t>
                      </a:r>
                      <a:r>
                        <a:rPr sz="1500" b="0">
                          <a:solidFill>
                            <a:srgbClr val="142B33"/>
                          </a:solidFill>
                          <a:latin typeface="Calibri"/>
                        </a:rPr>
                        <a:t> = 4.75</a:t>
                      </a:r>
                    </a:p>
                  </a:txBody>
                  <a:tcPr marL="73152" marR="73152" marT="27432" marB="27432" anchor="ctr">
                    <a:solidFill>
                      <a:srgbClr val="F4F8F9"/>
                    </a:solidFill>
                  </a:tcPr>
                </a:tc>
                <a:tc>
                  <a:txBody>
                    <a:bodyPr/>
                    <a:lstStyle/>
                    <a:p>
                      <a:pPr algn="ctr"/>
                      <a:r>
                        <a:rPr sz="1500" b="0">
                          <a:solidFill>
                            <a:srgbClr val="142B33"/>
                          </a:solidFill>
                          <a:latin typeface="Calibri"/>
                        </a:rPr>
                        <a:t>B − ACD</a:t>
                      </a:r>
                    </a:p>
                  </a:txBody>
                  <a:tcPr marL="73152" marR="73152" marT="27432" marB="27432" anchor="ctr">
                    <a:solidFill>
                      <a:srgbClr val="F4F8F9"/>
                    </a:solidFill>
                  </a:tcPr>
                </a:tc>
              </a:tr>
              <a:tr h="351282">
                <a:tc>
                  <a:txBody>
                    <a:bodyPr/>
                    <a:lstStyle/>
                    <a:p>
                      <a:pPr algn="ctr"/>
                      <a:r>
                        <a:rPr sz="1500" b="0">
                          <a:solidFill>
                            <a:srgbClr val="142B33"/>
                          </a:solidFill>
                          <a:latin typeface="Calibri"/>
                        </a:rPr>
                        <a:t>ℓ′</a:t>
                      </a:r>
                      <a:r>
                        <a:rPr sz="1500" b="0" baseline="-25000">
                          <a:solidFill>
                            <a:srgbClr val="142B33"/>
                          </a:solidFill>
                          <a:latin typeface="Calibri"/>
                        </a:rPr>
                        <a:t>C</a:t>
                      </a:r>
                      <a:r>
                        <a:rPr sz="1500" b="0">
                          <a:solidFill>
                            <a:srgbClr val="142B33"/>
                          </a:solidFill>
                          <a:latin typeface="Calibri"/>
                        </a:rPr>
                        <a:t> = 5.75</a:t>
                      </a:r>
                    </a:p>
                  </a:txBody>
                  <a:tcPr marL="73152" marR="73152" marT="27432" marB="27432" anchor="ctr">
                    <a:solidFill>
                      <a:srgbClr val="FFFFFF"/>
                    </a:solidFill>
                  </a:tcPr>
                </a:tc>
                <a:tc>
                  <a:txBody>
                    <a:bodyPr/>
                    <a:lstStyle/>
                    <a:p>
                      <a:pPr algn="ctr"/>
                      <a:r>
                        <a:rPr sz="1500" b="0">
                          <a:solidFill>
                            <a:srgbClr val="142B33"/>
                          </a:solidFill>
                          <a:latin typeface="Calibri"/>
                        </a:rPr>
                        <a:t>C − ABD</a:t>
                      </a:r>
                    </a:p>
                  </a:txBody>
                  <a:tcPr marL="73152" marR="73152" marT="27432" marB="27432" anchor="ctr">
                    <a:solidFill>
                      <a:srgbClr val="FFFFFF"/>
                    </a:solidFill>
                  </a:tcPr>
                </a:tc>
              </a:tr>
              <a:tr h="351282">
                <a:tc>
                  <a:txBody>
                    <a:bodyPr/>
                    <a:lstStyle/>
                    <a:p>
                      <a:pPr algn="ctr"/>
                      <a:r>
                        <a:rPr sz="1500" b="0">
                          <a:solidFill>
                            <a:srgbClr val="142B33"/>
                          </a:solidFill>
                          <a:latin typeface="Calibri"/>
                        </a:rPr>
                        <a:t>ℓ′</a:t>
                      </a:r>
                      <a:r>
                        <a:rPr sz="1500" b="0" baseline="-25000">
                          <a:solidFill>
                            <a:srgbClr val="142B33"/>
                          </a:solidFill>
                          <a:latin typeface="Calibri"/>
                        </a:rPr>
                        <a:t>D</a:t>
                      </a:r>
                      <a:r>
                        <a:rPr sz="1500" b="0">
                          <a:solidFill>
                            <a:srgbClr val="142B33"/>
                          </a:solidFill>
                          <a:latin typeface="Calibri"/>
                        </a:rPr>
                        <a:t> = 12.75</a:t>
                      </a:r>
                    </a:p>
                  </a:txBody>
                  <a:tcPr marL="73152" marR="73152" marT="27432" marB="27432" anchor="ctr">
                    <a:solidFill>
                      <a:srgbClr val="F4F8F9"/>
                    </a:solidFill>
                  </a:tcPr>
                </a:tc>
                <a:tc>
                  <a:txBody>
                    <a:bodyPr/>
                    <a:lstStyle/>
                    <a:p>
                      <a:pPr algn="ctr"/>
                      <a:r>
                        <a:rPr sz="1500" b="0">
                          <a:solidFill>
                            <a:srgbClr val="142B33"/>
                          </a:solidFill>
                          <a:latin typeface="Calibri"/>
                        </a:rPr>
                        <a:t>D − ABC</a:t>
                      </a:r>
                    </a:p>
                  </a:txBody>
                  <a:tcPr marL="73152" marR="73152" marT="27432" marB="27432" anchor="ctr">
                    <a:solidFill>
                      <a:srgbClr val="F4F8F9"/>
                    </a:solidFill>
                  </a:tcPr>
                </a:tc>
              </a:tr>
              <a:tr h="351282">
                <a:tc>
                  <a:txBody>
                    <a:bodyPr/>
                    <a:lstStyle/>
                    <a:p>
                      <a:pPr algn="ctr"/>
                      <a:r>
                        <a:rPr sz="1500" b="0">
                          <a:solidFill>
                            <a:srgbClr val="142B33"/>
                          </a:solidFill>
                          <a:latin typeface="Calibri"/>
                        </a:rPr>
                        <a:t>ℓ′</a:t>
                      </a:r>
                      <a:r>
                        <a:rPr sz="1500" b="0" baseline="-25000">
                          <a:solidFill>
                            <a:srgbClr val="142B33"/>
                          </a:solidFill>
                          <a:latin typeface="Calibri"/>
                        </a:rPr>
                        <a:t>AB</a:t>
                      </a:r>
                      <a:r>
                        <a:rPr sz="1500" b="0">
                          <a:solidFill>
                            <a:srgbClr val="142B33"/>
                          </a:solidFill>
                          <a:latin typeface="Calibri"/>
                        </a:rPr>
                        <a:t> = 1.25</a:t>
                      </a:r>
                    </a:p>
                  </a:txBody>
                  <a:tcPr marL="73152" marR="73152" marT="27432" marB="27432" anchor="ctr">
                    <a:solidFill>
                      <a:srgbClr val="FFFFFF"/>
                    </a:solidFill>
                  </a:tcPr>
                </a:tc>
                <a:tc>
                  <a:txBody>
                    <a:bodyPr/>
                    <a:lstStyle/>
                    <a:p>
                      <a:pPr algn="ctr"/>
                      <a:r>
                        <a:rPr sz="1500" b="0">
                          <a:solidFill>
                            <a:srgbClr val="142B33"/>
                          </a:solidFill>
                          <a:latin typeface="Calibri"/>
                        </a:rPr>
                        <a:t>AB − CD</a:t>
                      </a:r>
                    </a:p>
                  </a:txBody>
                  <a:tcPr marL="73152" marR="73152" marT="27432" marB="27432" anchor="ctr">
                    <a:solidFill>
                      <a:srgbClr val="FFFFFF"/>
                    </a:solidFill>
                  </a:tcPr>
                </a:tc>
              </a:tr>
              <a:tr h="351282">
                <a:tc>
                  <a:txBody>
                    <a:bodyPr/>
                    <a:lstStyle/>
                    <a:p>
                      <a:pPr algn="ctr"/>
                      <a:r>
                        <a:rPr sz="1500" b="0">
                          <a:solidFill>
                            <a:srgbClr val="142B33"/>
                          </a:solidFill>
                          <a:latin typeface="Calibri"/>
                        </a:rPr>
                        <a:t>ℓ′</a:t>
                      </a:r>
                      <a:r>
                        <a:rPr sz="1500" b="0" baseline="-25000">
                          <a:solidFill>
                            <a:srgbClr val="142B33"/>
                          </a:solidFill>
                          <a:latin typeface="Calibri"/>
                        </a:rPr>
                        <a:t>AC</a:t>
                      </a:r>
                      <a:r>
                        <a:rPr sz="1500" b="0">
                          <a:solidFill>
                            <a:srgbClr val="142B33"/>
                          </a:solidFill>
                          <a:latin typeface="Calibri"/>
                        </a:rPr>
                        <a:t> = −17.75</a:t>
                      </a:r>
                    </a:p>
                  </a:txBody>
                  <a:tcPr marL="73152" marR="73152" marT="27432" marB="27432" anchor="ctr">
                    <a:solidFill>
                      <a:srgbClr val="F4F8F9"/>
                    </a:solidFill>
                  </a:tcPr>
                </a:tc>
                <a:tc>
                  <a:txBody>
                    <a:bodyPr/>
                    <a:lstStyle/>
                    <a:p>
                      <a:pPr algn="ctr"/>
                      <a:r>
                        <a:rPr sz="1500" b="0">
                          <a:solidFill>
                            <a:srgbClr val="142B33"/>
                          </a:solidFill>
                          <a:latin typeface="Calibri"/>
                        </a:rPr>
                        <a:t>AC − BD</a:t>
                      </a:r>
                    </a:p>
                  </a:txBody>
                  <a:tcPr marL="73152" marR="73152" marT="27432" marB="27432" anchor="ctr">
                    <a:solidFill>
                      <a:srgbClr val="F4F8F9"/>
                    </a:solidFill>
                  </a:tcPr>
                </a:tc>
              </a:tr>
              <a:tr h="351282">
                <a:tc>
                  <a:txBody>
                    <a:bodyPr/>
                    <a:lstStyle/>
                    <a:p>
                      <a:pPr algn="ctr"/>
                      <a:r>
                        <a:rPr sz="1500" b="0">
                          <a:solidFill>
                            <a:srgbClr val="142B33"/>
                          </a:solidFill>
                          <a:latin typeface="Calibri"/>
                        </a:rPr>
                        <a:t>ℓ′</a:t>
                      </a:r>
                      <a:r>
                        <a:rPr sz="1500" b="0" baseline="-25000">
                          <a:solidFill>
                            <a:srgbClr val="142B33"/>
                          </a:solidFill>
                          <a:latin typeface="Calibri"/>
                        </a:rPr>
                        <a:t>AD</a:t>
                      </a:r>
                      <a:r>
                        <a:rPr sz="1500" b="0">
                          <a:solidFill>
                            <a:srgbClr val="142B33"/>
                          </a:solidFill>
                          <a:latin typeface="Calibri"/>
                        </a:rPr>
                        <a:t> = 14.25</a:t>
                      </a:r>
                    </a:p>
                  </a:txBody>
                  <a:tcPr marL="73152" marR="73152" marT="27432" marB="27432" anchor="ctr">
                    <a:solidFill>
                      <a:srgbClr val="FFFFFF"/>
                    </a:solidFill>
                  </a:tcPr>
                </a:tc>
                <a:tc>
                  <a:txBody>
                    <a:bodyPr/>
                    <a:lstStyle/>
                    <a:p>
                      <a:pPr algn="ctr"/>
                      <a:r>
                        <a:rPr sz="1500" b="0">
                          <a:solidFill>
                            <a:srgbClr val="142B33"/>
                          </a:solidFill>
                          <a:latin typeface="Calibri"/>
                        </a:rPr>
                        <a:t>AD − BC</a:t>
                      </a:r>
                    </a:p>
                  </a:txBody>
                  <a:tcPr marL="73152" marR="73152" marT="27432" marB="27432" anchor="ctr">
                    <a:solidFill>
                      <a:srgbClr val="FFFFFF"/>
                    </a:solidFill>
                  </a:tcPr>
                </a:tc>
              </a:tr>
            </a:tbl>
          </a:graphicData>
        </a:graphic>
      </p:graphicFrame>
      <p:sp>
        <p:nvSpPr>
          <p:cNvPr id="5" name="Rounded Rectangle 4"/>
          <p:cNvSpPr/>
          <p:nvPr/>
        </p:nvSpPr>
        <p:spPr>
          <a:xfrm>
            <a:off x="6515246" y="4428744"/>
            <a:ext cx="5127808"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En la fracción alterna los alias aparecen con </a:t>
            </a:r>
            <a:r>
              <a:rPr sz="1500" b="1">
                <a:solidFill>
                  <a:srgbClr val="142B33"/>
                </a:solidFill>
                <a:latin typeface="Calibri"/>
              </a:rPr>
              <a:t>signo contrario</a:t>
            </a:r>
          </a:p>
        </p:txBody>
      </p:sp>
      <p:sp>
        <p:nvSpPr>
          <p:cNvPr id="6" name="TextBox 5"/>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Otra fracción aclara las dudas</a:t>
            </a:r>
          </a:p>
        </p:txBody>
      </p:sp>
      <p:sp>
        <p:nvSpPr>
          <p:cNvPr id="7" name="TextBox 6"/>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36</a:t>
            </a:r>
          </a:p>
        </p:txBody>
      </p:sp>
      <p:sp>
        <p:nvSpPr>
          <p:cNvPr id="8" name="Rounded Rectangle 7"/>
          <p:cNvSpPr/>
          <p:nvPr/>
        </p:nvSpPr>
        <p:spPr>
          <a:xfrm>
            <a:off x="548640" y="91440"/>
            <a:ext cx="344271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5 · Otra fracción aclara las dudas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1 · Combinar las dos fracciones</a:t>
            </a:r>
          </a:p>
        </p:txBody>
      </p:sp>
      <p:graphicFrame>
        <p:nvGraphicFramePr>
          <p:cNvPr id="3" name="Table 2"/>
          <p:cNvGraphicFramePr>
            <a:graphicFrameLocks noGrp="1"/>
          </p:cNvGraphicFramePr>
          <p:nvPr/>
        </p:nvGraphicFramePr>
        <p:xfrm>
          <a:off x="548640" y="1417320"/>
          <a:ext cx="11094412" cy="2934208"/>
        </p:xfrm>
        <a:graphic>
          <a:graphicData uri="http://schemas.openxmlformats.org/drawingml/2006/table">
            <a:tbl>
              <a:tblPr firstRow="0" bandRow="0">
                <a:tableStyleId>{5C22544A-7EE6-4342-B048-85BDC9FD1C3A}</a:tableStyleId>
              </a:tblPr>
              <a:tblGrid>
                <a:gridCol w="1532085"/>
                <a:gridCol w="2562281"/>
                <a:gridCol w="2905680"/>
                <a:gridCol w="2047183"/>
                <a:gridCol w="2047183"/>
              </a:tblGrid>
              <a:tr h="366776">
                <a:tc>
                  <a:txBody>
                    <a:bodyPr/>
                    <a:lstStyle/>
                    <a:p>
                      <a:pPr algn="ctr"/>
                      <a:r>
                        <a:rPr sz="1600" b="1">
                          <a:solidFill>
                            <a:srgbClr val="FFFFFF"/>
                          </a:solidFill>
                          <a:latin typeface="Calibri"/>
                        </a:rPr>
                        <a:t>Columna</a:t>
                      </a:r>
                    </a:p>
                  </a:txBody>
                  <a:tcPr marL="73152" marR="73152" marT="27432" marB="27432" anchor="ctr">
                    <a:solidFill>
                      <a:srgbClr val="0F4C5C"/>
                    </a:solidFill>
                  </a:tcPr>
                </a:tc>
                <a:tc>
                  <a:txBody>
                    <a:bodyPr/>
                    <a:lstStyle/>
                    <a:p>
                      <a:pPr algn="ctr"/>
                      <a:r>
                        <a:rPr sz="1600" b="1">
                          <a:solidFill>
                            <a:srgbClr val="FFFFFF"/>
                          </a:solidFill>
                          <a:latin typeface="Calibri"/>
                        </a:rPr>
                        <a:t>ℓ  (I = ABCD)</a:t>
                      </a:r>
                    </a:p>
                  </a:txBody>
                  <a:tcPr marL="73152" marR="73152" marT="27432" marB="27432" anchor="ctr">
                    <a:solidFill>
                      <a:srgbClr val="0F4C5C"/>
                    </a:solidFill>
                  </a:tcPr>
                </a:tc>
                <a:tc>
                  <a:txBody>
                    <a:bodyPr/>
                    <a:lstStyle/>
                    <a:p>
                      <a:pPr algn="ctr"/>
                      <a:r>
                        <a:rPr sz="1600" b="1">
                          <a:solidFill>
                            <a:srgbClr val="FFFFFF"/>
                          </a:solidFill>
                          <a:latin typeface="Calibri"/>
                        </a:rPr>
                        <a:t>ℓ′  (I = −ABCD)</a:t>
                      </a:r>
                    </a:p>
                  </a:txBody>
                  <a:tcPr marL="73152" marR="73152" marT="27432" marB="27432" anchor="ctr">
                    <a:solidFill>
                      <a:srgbClr val="0F4C5C"/>
                    </a:solidFill>
                  </a:tcPr>
                </a:tc>
                <a:tc>
                  <a:txBody>
                    <a:bodyPr/>
                    <a:lstStyle/>
                    <a:p>
                      <a:pPr algn="ctr"/>
                      <a:r>
                        <a:rPr sz="1600" b="1">
                          <a:solidFill>
                            <a:srgbClr val="FFFFFF"/>
                          </a:solidFill>
                          <a:latin typeface="Calibri"/>
                        </a:rPr>
                        <a:t>½ (ℓ + ℓ′)</a:t>
                      </a:r>
                    </a:p>
                  </a:txBody>
                  <a:tcPr marL="73152" marR="73152" marT="27432" marB="27432" anchor="ctr">
                    <a:solidFill>
                      <a:srgbClr val="0F4C5C"/>
                    </a:solidFill>
                  </a:tcPr>
                </a:tc>
                <a:tc>
                  <a:txBody>
                    <a:bodyPr/>
                    <a:lstStyle/>
                    <a:p>
                      <a:pPr algn="ctr"/>
                      <a:r>
                        <a:rPr sz="1600" b="1">
                          <a:solidFill>
                            <a:srgbClr val="FFFFFF"/>
                          </a:solidFill>
                          <a:latin typeface="Calibri"/>
                        </a:rPr>
                        <a:t>½ (ℓ − ℓ′)</a:t>
                      </a:r>
                    </a:p>
                  </a:txBody>
                  <a:tcPr marL="73152" marR="73152" marT="27432" marB="27432" anchor="ctr">
                    <a:solidFill>
                      <a:srgbClr val="0F4C5C"/>
                    </a:solidFill>
                  </a:tcPr>
                </a:tc>
              </a:tr>
              <a:tr h="366776">
                <a:tc>
                  <a:txBody>
                    <a:bodyPr/>
                    <a:lstStyle/>
                    <a:p>
                      <a:pPr algn="ctr"/>
                      <a:r>
                        <a:rPr sz="1600" b="0">
                          <a:solidFill>
                            <a:srgbClr val="142B33"/>
                          </a:solidFill>
                          <a:latin typeface="Calibri"/>
                        </a:rPr>
                        <a:t>A</a:t>
                      </a:r>
                    </a:p>
                  </a:txBody>
                  <a:tcPr marL="73152" marR="73152" marT="27432" marB="27432" anchor="ctr">
                    <a:solidFill>
                      <a:srgbClr val="FFFFFF"/>
                    </a:solidFill>
                  </a:tcPr>
                </a:tc>
                <a:tc>
                  <a:txBody>
                    <a:bodyPr/>
                    <a:lstStyle/>
                    <a:p>
                      <a:pPr algn="ctr"/>
                      <a:r>
                        <a:rPr sz="1600" b="0">
                          <a:solidFill>
                            <a:srgbClr val="142B33"/>
                          </a:solidFill>
                          <a:latin typeface="Calibri"/>
                        </a:rPr>
                        <a:t>19.00</a:t>
                      </a:r>
                    </a:p>
                  </a:txBody>
                  <a:tcPr marL="73152" marR="73152" marT="27432" marB="27432" anchor="ctr">
                    <a:solidFill>
                      <a:srgbClr val="FFFFFF"/>
                    </a:solidFill>
                  </a:tcPr>
                </a:tc>
                <a:tc>
                  <a:txBody>
                    <a:bodyPr/>
                    <a:lstStyle/>
                    <a:p>
                      <a:pPr algn="ctr"/>
                      <a:r>
                        <a:rPr sz="1600" b="0">
                          <a:solidFill>
                            <a:srgbClr val="142B33"/>
                          </a:solidFill>
                          <a:latin typeface="Calibri"/>
                        </a:rPr>
                        <a:t>24.25</a:t>
                      </a:r>
                    </a:p>
                  </a:txBody>
                  <a:tcPr marL="73152" marR="73152" marT="27432" marB="27432" anchor="ctr">
                    <a:solidFill>
                      <a:srgbClr val="FFFFFF"/>
                    </a:solidFill>
                  </a:tcPr>
                </a:tc>
                <a:tc>
                  <a:txBody>
                    <a:bodyPr/>
                    <a:lstStyle/>
                    <a:p>
                      <a:pPr algn="ctr"/>
                      <a:r>
                        <a:rPr sz="1600" b="0">
                          <a:solidFill>
                            <a:srgbClr val="142B33"/>
                          </a:solidFill>
                          <a:latin typeface="Calibri"/>
                        </a:rPr>
                        <a:t>A = 21.63</a:t>
                      </a:r>
                    </a:p>
                  </a:txBody>
                  <a:tcPr marL="73152" marR="73152" marT="27432" marB="27432" anchor="ctr">
                    <a:solidFill>
                      <a:srgbClr val="FFFFFF"/>
                    </a:solidFill>
                  </a:tcPr>
                </a:tc>
                <a:tc>
                  <a:txBody>
                    <a:bodyPr/>
                    <a:lstStyle/>
                    <a:p>
                      <a:pPr algn="ctr"/>
                      <a:r>
                        <a:rPr sz="1600" b="0">
                          <a:solidFill>
                            <a:srgbClr val="142B33"/>
                          </a:solidFill>
                          <a:latin typeface="Calibri"/>
                        </a:rPr>
                        <a:t>BCD = −2.63</a:t>
                      </a:r>
                    </a:p>
                  </a:txBody>
                  <a:tcPr marL="73152" marR="73152" marT="27432" marB="27432" anchor="ctr">
                    <a:solidFill>
                      <a:srgbClr val="FFFFFF"/>
                    </a:solidFill>
                  </a:tcPr>
                </a:tc>
              </a:tr>
              <a:tr h="366776">
                <a:tc>
                  <a:txBody>
                    <a:bodyPr/>
                    <a:lstStyle/>
                    <a:p>
                      <a:pPr algn="ctr"/>
                      <a:r>
                        <a:rPr sz="1600" b="0">
                          <a:solidFill>
                            <a:srgbClr val="142B33"/>
                          </a:solidFill>
                          <a:latin typeface="Calibri"/>
                        </a:rPr>
                        <a:t>B</a:t>
                      </a:r>
                    </a:p>
                  </a:txBody>
                  <a:tcPr marL="73152" marR="73152" marT="27432" marB="27432" anchor="ctr">
                    <a:solidFill>
                      <a:srgbClr val="F4F8F9"/>
                    </a:solidFill>
                  </a:tcPr>
                </a:tc>
                <a:tc>
                  <a:txBody>
                    <a:bodyPr/>
                    <a:lstStyle/>
                    <a:p>
                      <a:pPr algn="ctr"/>
                      <a:r>
                        <a:rPr sz="1600" b="0">
                          <a:solidFill>
                            <a:srgbClr val="142B33"/>
                          </a:solidFill>
                          <a:latin typeface="Calibri"/>
                        </a:rPr>
                        <a:t>1.50</a:t>
                      </a:r>
                    </a:p>
                  </a:txBody>
                  <a:tcPr marL="73152" marR="73152" marT="27432" marB="27432" anchor="ctr">
                    <a:solidFill>
                      <a:srgbClr val="F4F8F9"/>
                    </a:solidFill>
                  </a:tcPr>
                </a:tc>
                <a:tc>
                  <a:txBody>
                    <a:bodyPr/>
                    <a:lstStyle/>
                    <a:p>
                      <a:pPr algn="ctr"/>
                      <a:r>
                        <a:rPr sz="1600" b="0">
                          <a:solidFill>
                            <a:srgbClr val="142B33"/>
                          </a:solidFill>
                          <a:latin typeface="Calibri"/>
                        </a:rPr>
                        <a:t>4.75</a:t>
                      </a:r>
                    </a:p>
                  </a:txBody>
                  <a:tcPr marL="73152" marR="73152" marT="27432" marB="27432" anchor="ctr">
                    <a:solidFill>
                      <a:srgbClr val="F4F8F9"/>
                    </a:solidFill>
                  </a:tcPr>
                </a:tc>
                <a:tc>
                  <a:txBody>
                    <a:bodyPr/>
                    <a:lstStyle/>
                    <a:p>
                      <a:pPr algn="ctr"/>
                      <a:r>
                        <a:rPr sz="1600" b="0">
                          <a:solidFill>
                            <a:srgbClr val="142B33"/>
                          </a:solidFill>
                          <a:latin typeface="Calibri"/>
                        </a:rPr>
                        <a:t>B = 3.13</a:t>
                      </a:r>
                    </a:p>
                  </a:txBody>
                  <a:tcPr marL="73152" marR="73152" marT="27432" marB="27432" anchor="ctr">
                    <a:solidFill>
                      <a:srgbClr val="F4F8F9"/>
                    </a:solidFill>
                  </a:tcPr>
                </a:tc>
                <a:tc>
                  <a:txBody>
                    <a:bodyPr/>
                    <a:lstStyle/>
                    <a:p>
                      <a:pPr algn="ctr"/>
                      <a:r>
                        <a:rPr sz="1600" b="0">
                          <a:solidFill>
                            <a:srgbClr val="142B33"/>
                          </a:solidFill>
                          <a:latin typeface="Calibri"/>
                        </a:rPr>
                        <a:t>ACD = −1.63</a:t>
                      </a:r>
                    </a:p>
                  </a:txBody>
                  <a:tcPr marL="73152" marR="73152" marT="27432" marB="27432" anchor="ctr">
                    <a:solidFill>
                      <a:srgbClr val="F4F8F9"/>
                    </a:solidFill>
                  </a:tcPr>
                </a:tc>
              </a:tr>
              <a:tr h="366776">
                <a:tc>
                  <a:txBody>
                    <a:bodyPr/>
                    <a:lstStyle/>
                    <a:p>
                      <a:pPr algn="ctr"/>
                      <a:r>
                        <a:rPr sz="1600" b="0">
                          <a:solidFill>
                            <a:srgbClr val="142B33"/>
                          </a:solidFill>
                          <a:latin typeface="Calibri"/>
                        </a:rPr>
                        <a:t>C</a:t>
                      </a:r>
                    </a:p>
                  </a:txBody>
                  <a:tcPr marL="73152" marR="73152" marT="27432" marB="27432" anchor="ctr">
                    <a:solidFill>
                      <a:srgbClr val="FFFFFF"/>
                    </a:solidFill>
                  </a:tcPr>
                </a:tc>
                <a:tc>
                  <a:txBody>
                    <a:bodyPr/>
                    <a:lstStyle/>
                    <a:p>
                      <a:pPr algn="ctr"/>
                      <a:r>
                        <a:rPr sz="1600" b="0">
                          <a:solidFill>
                            <a:srgbClr val="142B33"/>
                          </a:solidFill>
                          <a:latin typeface="Calibri"/>
                        </a:rPr>
                        <a:t>14.00</a:t>
                      </a:r>
                    </a:p>
                  </a:txBody>
                  <a:tcPr marL="73152" marR="73152" marT="27432" marB="27432" anchor="ctr">
                    <a:solidFill>
                      <a:srgbClr val="FFFFFF"/>
                    </a:solidFill>
                  </a:tcPr>
                </a:tc>
                <a:tc>
                  <a:txBody>
                    <a:bodyPr/>
                    <a:lstStyle/>
                    <a:p>
                      <a:pPr algn="ctr"/>
                      <a:r>
                        <a:rPr sz="1600" b="0">
                          <a:solidFill>
                            <a:srgbClr val="142B33"/>
                          </a:solidFill>
                          <a:latin typeface="Calibri"/>
                        </a:rPr>
                        <a:t>5.75</a:t>
                      </a:r>
                    </a:p>
                  </a:txBody>
                  <a:tcPr marL="73152" marR="73152" marT="27432" marB="27432" anchor="ctr">
                    <a:solidFill>
                      <a:srgbClr val="FFFFFF"/>
                    </a:solidFill>
                  </a:tcPr>
                </a:tc>
                <a:tc>
                  <a:txBody>
                    <a:bodyPr/>
                    <a:lstStyle/>
                    <a:p>
                      <a:pPr algn="ctr"/>
                      <a:r>
                        <a:rPr sz="1600" b="0">
                          <a:solidFill>
                            <a:srgbClr val="142B33"/>
                          </a:solidFill>
                          <a:latin typeface="Calibri"/>
                        </a:rPr>
                        <a:t>C = 9.88</a:t>
                      </a:r>
                    </a:p>
                  </a:txBody>
                  <a:tcPr marL="73152" marR="73152" marT="27432" marB="27432" anchor="ctr">
                    <a:solidFill>
                      <a:srgbClr val="FFFFFF"/>
                    </a:solidFill>
                  </a:tcPr>
                </a:tc>
                <a:tc>
                  <a:txBody>
                    <a:bodyPr/>
                    <a:lstStyle/>
                    <a:p>
                      <a:pPr algn="ctr"/>
                      <a:r>
                        <a:rPr sz="1600" b="0">
                          <a:solidFill>
                            <a:srgbClr val="142B33"/>
                          </a:solidFill>
                          <a:latin typeface="Calibri"/>
                        </a:rPr>
                        <a:t>ABD = 4.13</a:t>
                      </a:r>
                    </a:p>
                  </a:txBody>
                  <a:tcPr marL="73152" marR="73152" marT="27432" marB="27432" anchor="ctr">
                    <a:solidFill>
                      <a:srgbClr val="FFFFFF"/>
                    </a:solidFill>
                  </a:tcPr>
                </a:tc>
              </a:tr>
              <a:tr h="366776">
                <a:tc>
                  <a:txBody>
                    <a:bodyPr/>
                    <a:lstStyle/>
                    <a:p>
                      <a:pPr algn="ctr"/>
                      <a:r>
                        <a:rPr sz="1600" b="0">
                          <a:solidFill>
                            <a:srgbClr val="142B33"/>
                          </a:solidFill>
                          <a:latin typeface="Calibri"/>
                        </a:rPr>
                        <a:t>D</a:t>
                      </a:r>
                    </a:p>
                  </a:txBody>
                  <a:tcPr marL="73152" marR="73152" marT="27432" marB="27432" anchor="ctr">
                    <a:solidFill>
                      <a:srgbClr val="F4F8F9"/>
                    </a:solidFill>
                  </a:tcPr>
                </a:tc>
                <a:tc>
                  <a:txBody>
                    <a:bodyPr/>
                    <a:lstStyle/>
                    <a:p>
                      <a:pPr algn="ctr"/>
                      <a:r>
                        <a:rPr sz="1600" b="0">
                          <a:solidFill>
                            <a:srgbClr val="142B33"/>
                          </a:solidFill>
                          <a:latin typeface="Calibri"/>
                        </a:rPr>
                        <a:t>16.50</a:t>
                      </a:r>
                    </a:p>
                  </a:txBody>
                  <a:tcPr marL="73152" marR="73152" marT="27432" marB="27432" anchor="ctr">
                    <a:solidFill>
                      <a:srgbClr val="F4F8F9"/>
                    </a:solidFill>
                  </a:tcPr>
                </a:tc>
                <a:tc>
                  <a:txBody>
                    <a:bodyPr/>
                    <a:lstStyle/>
                    <a:p>
                      <a:pPr algn="ctr"/>
                      <a:r>
                        <a:rPr sz="1600" b="0">
                          <a:solidFill>
                            <a:srgbClr val="142B33"/>
                          </a:solidFill>
                          <a:latin typeface="Calibri"/>
                        </a:rPr>
                        <a:t>12.75</a:t>
                      </a:r>
                    </a:p>
                  </a:txBody>
                  <a:tcPr marL="73152" marR="73152" marT="27432" marB="27432" anchor="ctr">
                    <a:solidFill>
                      <a:srgbClr val="F4F8F9"/>
                    </a:solidFill>
                  </a:tcPr>
                </a:tc>
                <a:tc>
                  <a:txBody>
                    <a:bodyPr/>
                    <a:lstStyle/>
                    <a:p>
                      <a:pPr algn="ctr"/>
                      <a:r>
                        <a:rPr sz="1600" b="0">
                          <a:solidFill>
                            <a:srgbClr val="142B33"/>
                          </a:solidFill>
                          <a:latin typeface="Calibri"/>
                        </a:rPr>
                        <a:t>D = 14.63</a:t>
                      </a:r>
                    </a:p>
                  </a:txBody>
                  <a:tcPr marL="73152" marR="73152" marT="27432" marB="27432" anchor="ctr">
                    <a:solidFill>
                      <a:srgbClr val="F4F8F9"/>
                    </a:solidFill>
                  </a:tcPr>
                </a:tc>
                <a:tc>
                  <a:txBody>
                    <a:bodyPr/>
                    <a:lstStyle/>
                    <a:p>
                      <a:pPr algn="ctr"/>
                      <a:r>
                        <a:rPr sz="1600" b="0">
                          <a:solidFill>
                            <a:srgbClr val="142B33"/>
                          </a:solidFill>
                          <a:latin typeface="Calibri"/>
                        </a:rPr>
                        <a:t>ABC = 1.88</a:t>
                      </a:r>
                    </a:p>
                  </a:txBody>
                  <a:tcPr marL="73152" marR="73152" marT="27432" marB="27432" anchor="ctr">
                    <a:solidFill>
                      <a:srgbClr val="F4F8F9"/>
                    </a:solidFill>
                  </a:tcPr>
                </a:tc>
              </a:tr>
              <a:tr h="366776">
                <a:tc>
                  <a:txBody>
                    <a:bodyPr/>
                    <a:lstStyle/>
                    <a:p>
                      <a:pPr algn="ctr"/>
                      <a:r>
                        <a:rPr sz="1600" b="0">
                          <a:solidFill>
                            <a:srgbClr val="142B33"/>
                          </a:solidFill>
                          <a:latin typeface="Calibri"/>
                        </a:rPr>
                        <a:t>AB</a:t>
                      </a:r>
                    </a:p>
                  </a:txBody>
                  <a:tcPr marL="73152" marR="73152" marT="27432" marB="27432" anchor="ctr">
                    <a:solidFill>
                      <a:srgbClr val="FFFFFF"/>
                    </a:solidFill>
                  </a:tcPr>
                </a:tc>
                <a:tc>
                  <a:txBody>
                    <a:bodyPr/>
                    <a:lstStyle/>
                    <a:p>
                      <a:pPr algn="ctr"/>
                      <a:r>
                        <a:rPr sz="1600" b="0">
                          <a:solidFill>
                            <a:srgbClr val="142B33"/>
                          </a:solidFill>
                          <a:latin typeface="Calibri"/>
                        </a:rPr>
                        <a:t>−1.00</a:t>
                      </a:r>
                    </a:p>
                  </a:txBody>
                  <a:tcPr marL="73152" marR="73152" marT="27432" marB="27432" anchor="ctr">
                    <a:solidFill>
                      <a:srgbClr val="FFFFFF"/>
                    </a:solidFill>
                  </a:tcPr>
                </a:tc>
                <a:tc>
                  <a:txBody>
                    <a:bodyPr/>
                    <a:lstStyle/>
                    <a:p>
                      <a:pPr algn="ctr"/>
                      <a:r>
                        <a:rPr sz="1600" b="0">
                          <a:solidFill>
                            <a:srgbClr val="142B33"/>
                          </a:solidFill>
                          <a:latin typeface="Calibri"/>
                        </a:rPr>
                        <a:t>1.25</a:t>
                      </a:r>
                    </a:p>
                  </a:txBody>
                  <a:tcPr marL="73152" marR="73152" marT="27432" marB="27432" anchor="ctr">
                    <a:solidFill>
                      <a:srgbClr val="FFFFFF"/>
                    </a:solidFill>
                  </a:tcPr>
                </a:tc>
                <a:tc>
                  <a:txBody>
                    <a:bodyPr/>
                    <a:lstStyle/>
                    <a:p>
                      <a:pPr algn="ctr"/>
                      <a:r>
                        <a:rPr sz="1600" b="0">
                          <a:solidFill>
                            <a:srgbClr val="142B33"/>
                          </a:solidFill>
                          <a:latin typeface="Calibri"/>
                        </a:rPr>
                        <a:t>AB = 0.13</a:t>
                      </a:r>
                    </a:p>
                  </a:txBody>
                  <a:tcPr marL="73152" marR="73152" marT="27432" marB="27432" anchor="ctr">
                    <a:solidFill>
                      <a:srgbClr val="FFFFFF"/>
                    </a:solidFill>
                  </a:tcPr>
                </a:tc>
                <a:tc>
                  <a:txBody>
                    <a:bodyPr/>
                    <a:lstStyle/>
                    <a:p>
                      <a:pPr algn="ctr"/>
                      <a:r>
                        <a:rPr sz="1600" b="0">
                          <a:solidFill>
                            <a:srgbClr val="142B33"/>
                          </a:solidFill>
                          <a:latin typeface="Calibri"/>
                        </a:rPr>
                        <a:t>CD = −1.13</a:t>
                      </a:r>
                    </a:p>
                  </a:txBody>
                  <a:tcPr marL="73152" marR="73152" marT="27432" marB="27432" anchor="ctr">
                    <a:solidFill>
                      <a:srgbClr val="FFFFFF"/>
                    </a:solidFill>
                  </a:tcPr>
                </a:tc>
              </a:tr>
              <a:tr h="366776">
                <a:tc>
                  <a:txBody>
                    <a:bodyPr/>
                    <a:lstStyle/>
                    <a:p>
                      <a:pPr algn="ctr"/>
                      <a:r>
                        <a:rPr sz="1600" b="0">
                          <a:solidFill>
                            <a:srgbClr val="142B33"/>
                          </a:solidFill>
                          <a:latin typeface="Calibri"/>
                        </a:rPr>
                        <a:t>AC</a:t>
                      </a:r>
                    </a:p>
                  </a:txBody>
                  <a:tcPr marL="73152" marR="73152" marT="27432" marB="27432" anchor="ctr">
                    <a:solidFill>
                      <a:srgbClr val="FDE8D7"/>
                    </a:solidFill>
                  </a:tcPr>
                </a:tc>
                <a:tc>
                  <a:txBody>
                    <a:bodyPr/>
                    <a:lstStyle/>
                    <a:p>
                      <a:pPr algn="ctr"/>
                      <a:r>
                        <a:rPr sz="1600" b="0">
                          <a:solidFill>
                            <a:srgbClr val="142B33"/>
                          </a:solidFill>
                          <a:latin typeface="Calibri"/>
                        </a:rPr>
                        <a:t>−18.50</a:t>
                      </a:r>
                    </a:p>
                  </a:txBody>
                  <a:tcPr marL="73152" marR="73152" marT="27432" marB="27432" anchor="ctr">
                    <a:solidFill>
                      <a:srgbClr val="FDE8D7"/>
                    </a:solidFill>
                  </a:tcPr>
                </a:tc>
                <a:tc>
                  <a:txBody>
                    <a:bodyPr/>
                    <a:lstStyle/>
                    <a:p>
                      <a:pPr algn="ctr"/>
                      <a:r>
                        <a:rPr sz="1600" b="0">
                          <a:solidFill>
                            <a:srgbClr val="142B33"/>
                          </a:solidFill>
                          <a:latin typeface="Calibri"/>
                        </a:rPr>
                        <a:t>−17.75</a:t>
                      </a:r>
                    </a:p>
                  </a:txBody>
                  <a:tcPr marL="73152" marR="73152" marT="27432" marB="27432" anchor="ctr">
                    <a:solidFill>
                      <a:srgbClr val="FDE8D7"/>
                    </a:solidFill>
                  </a:tcPr>
                </a:tc>
                <a:tc>
                  <a:txBody>
                    <a:bodyPr/>
                    <a:lstStyle/>
                    <a:p>
                      <a:pPr algn="ctr"/>
                      <a:r>
                        <a:rPr sz="1600" b="0">
                          <a:solidFill>
                            <a:srgbClr val="142B33"/>
                          </a:solidFill>
                          <a:latin typeface="Calibri"/>
                        </a:rPr>
                        <a:t>AC = −18.13</a:t>
                      </a:r>
                    </a:p>
                  </a:txBody>
                  <a:tcPr marL="73152" marR="73152" marT="27432" marB="27432" anchor="ctr">
                    <a:solidFill>
                      <a:srgbClr val="FDE8D7"/>
                    </a:solidFill>
                  </a:tcPr>
                </a:tc>
                <a:tc>
                  <a:txBody>
                    <a:bodyPr/>
                    <a:lstStyle/>
                    <a:p>
                      <a:pPr algn="ctr"/>
                      <a:r>
                        <a:rPr sz="1600" b="0">
                          <a:solidFill>
                            <a:srgbClr val="142B33"/>
                          </a:solidFill>
                          <a:latin typeface="Calibri"/>
                        </a:rPr>
                        <a:t>BD = −0.38</a:t>
                      </a:r>
                    </a:p>
                  </a:txBody>
                  <a:tcPr marL="73152" marR="73152" marT="27432" marB="27432" anchor="ctr">
                    <a:solidFill>
                      <a:srgbClr val="FDE8D7"/>
                    </a:solidFill>
                  </a:tcPr>
                </a:tc>
              </a:tr>
              <a:tr h="366776">
                <a:tc>
                  <a:txBody>
                    <a:bodyPr/>
                    <a:lstStyle/>
                    <a:p>
                      <a:pPr algn="ctr"/>
                      <a:r>
                        <a:rPr sz="1600" b="0">
                          <a:solidFill>
                            <a:srgbClr val="142B33"/>
                          </a:solidFill>
                          <a:latin typeface="Calibri"/>
                        </a:rPr>
                        <a:t>AD</a:t>
                      </a:r>
                    </a:p>
                  </a:txBody>
                  <a:tcPr marL="73152" marR="73152" marT="27432" marB="27432" anchor="ctr">
                    <a:solidFill>
                      <a:srgbClr val="FDE8D7"/>
                    </a:solidFill>
                  </a:tcPr>
                </a:tc>
                <a:tc>
                  <a:txBody>
                    <a:bodyPr/>
                    <a:lstStyle/>
                    <a:p>
                      <a:pPr algn="ctr"/>
                      <a:r>
                        <a:rPr sz="1600" b="0">
                          <a:solidFill>
                            <a:srgbClr val="142B33"/>
                          </a:solidFill>
                          <a:latin typeface="Calibri"/>
                        </a:rPr>
                        <a:t>19.00</a:t>
                      </a:r>
                    </a:p>
                  </a:txBody>
                  <a:tcPr marL="73152" marR="73152" marT="27432" marB="27432" anchor="ctr">
                    <a:solidFill>
                      <a:srgbClr val="FDE8D7"/>
                    </a:solidFill>
                  </a:tcPr>
                </a:tc>
                <a:tc>
                  <a:txBody>
                    <a:bodyPr/>
                    <a:lstStyle/>
                    <a:p>
                      <a:pPr algn="ctr"/>
                      <a:r>
                        <a:rPr sz="1600" b="0">
                          <a:solidFill>
                            <a:srgbClr val="142B33"/>
                          </a:solidFill>
                          <a:latin typeface="Calibri"/>
                        </a:rPr>
                        <a:t>14.25</a:t>
                      </a:r>
                    </a:p>
                  </a:txBody>
                  <a:tcPr marL="73152" marR="73152" marT="27432" marB="27432" anchor="ctr">
                    <a:solidFill>
                      <a:srgbClr val="FDE8D7"/>
                    </a:solidFill>
                  </a:tcPr>
                </a:tc>
                <a:tc>
                  <a:txBody>
                    <a:bodyPr/>
                    <a:lstStyle/>
                    <a:p>
                      <a:pPr algn="ctr"/>
                      <a:r>
                        <a:rPr sz="1600" b="0">
                          <a:solidFill>
                            <a:srgbClr val="142B33"/>
                          </a:solidFill>
                          <a:latin typeface="Calibri"/>
                        </a:rPr>
                        <a:t>AD = 16.63</a:t>
                      </a:r>
                    </a:p>
                  </a:txBody>
                  <a:tcPr marL="73152" marR="73152" marT="27432" marB="27432" anchor="ctr">
                    <a:solidFill>
                      <a:srgbClr val="FDE8D7"/>
                    </a:solidFill>
                  </a:tcPr>
                </a:tc>
                <a:tc>
                  <a:txBody>
                    <a:bodyPr/>
                    <a:lstStyle/>
                    <a:p>
                      <a:pPr algn="ctr"/>
                      <a:r>
                        <a:rPr sz="1600" b="0">
                          <a:solidFill>
                            <a:srgbClr val="142B33"/>
                          </a:solidFill>
                          <a:latin typeface="Calibri"/>
                        </a:rPr>
                        <a:t>BC = 2.38</a:t>
                      </a:r>
                    </a:p>
                  </a:txBody>
                  <a:tcPr marL="73152" marR="73152" marT="27432" marB="27432" anchor="ctr">
                    <a:solidFill>
                      <a:srgbClr val="FDE8D7"/>
                    </a:solidFill>
                  </a:tcPr>
                </a:tc>
              </a:tr>
            </a:tbl>
          </a:graphicData>
        </a:graphic>
      </p:graphicFrame>
      <p:sp>
        <p:nvSpPr>
          <p:cNvPr id="4" name="Rounded Rectangle 3"/>
          <p:cNvSpPr/>
          <p:nvPr/>
        </p:nvSpPr>
        <p:spPr>
          <a:xfrm>
            <a:off x="548640" y="4552696"/>
            <a:ext cx="11094415" cy="522224"/>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600" b="0">
                <a:solidFill>
                  <a:srgbClr val="142B33"/>
                </a:solidFill>
                <a:latin typeface="Calibri"/>
              </a:rPr>
              <a:t>Se confirma la interpretación: las interacciones activas son </a:t>
            </a:r>
            <a:r>
              <a:rPr sz="1600" b="1">
                <a:solidFill>
                  <a:srgbClr val="142B33"/>
                </a:solidFill>
                <a:latin typeface="Calibri"/>
              </a:rPr>
              <a:t>AC</a:t>
            </a:r>
            <a:r>
              <a:rPr sz="1600" b="0">
                <a:solidFill>
                  <a:srgbClr val="142B33"/>
                </a:solidFill>
                <a:latin typeface="Calibri"/>
              </a:rPr>
              <a:t> y </a:t>
            </a:r>
            <a:r>
              <a:rPr sz="1600" b="1">
                <a:solidFill>
                  <a:srgbClr val="142B33"/>
                </a:solidFill>
                <a:latin typeface="Calibri"/>
              </a:rPr>
              <a:t>AD</a:t>
            </a:r>
            <a:r>
              <a:rPr sz="1600" b="0">
                <a:solidFill>
                  <a:srgbClr val="142B33"/>
                </a:solidFill>
                <a:latin typeface="Calibri"/>
              </a:rPr>
              <a:t>, no BD ni BC</a:t>
            </a:r>
          </a:p>
        </p:txBody>
      </p:sp>
      <p:sp>
        <p:nvSpPr>
          <p:cNvPr id="5" name="TextBox 4"/>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Otra fracción aclara las dudas</a:t>
            </a:r>
          </a:p>
        </p:txBody>
      </p:sp>
      <p:sp>
        <p:nvSpPr>
          <p:cNvPr id="6" name="TextBox 5"/>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37</a:t>
            </a:r>
          </a:p>
        </p:txBody>
      </p:sp>
      <p:sp>
        <p:nvSpPr>
          <p:cNvPr id="7" name="Rounded Rectangle 6"/>
          <p:cNvSpPr/>
          <p:nvPr/>
        </p:nvSpPr>
        <p:spPr>
          <a:xfrm>
            <a:off x="548640" y="91440"/>
            <a:ext cx="344271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5 · Otra fracción aclara las dudas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¿Cómo se confirma una conclusión?</a:t>
            </a:r>
          </a:p>
        </p:txBody>
      </p:sp>
      <p:sp>
        <p:nvSpPr>
          <p:cNvPr id="3" name="Rounded Rectangle 2"/>
          <p:cNvSpPr/>
          <p:nvPr/>
        </p:nvSpPr>
        <p:spPr>
          <a:xfrm>
            <a:off x="548640" y="1417320"/>
            <a:ext cx="4486832" cy="1295908"/>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800" b="1">
                <a:solidFill>
                  <a:srgbClr val="0F4C5C"/>
                </a:solidFill>
                <a:latin typeface="Cambria"/>
              </a:rPr>
              <a:t>Fracción alterna</a:t>
            </a:r>
          </a:p>
          <a:p>
            <a:pPr algn="l"/>
            <a:r>
              <a:rPr sz="1600" b="0">
                <a:solidFill>
                  <a:srgbClr val="142B33"/>
                </a:solidFill>
                <a:latin typeface="Calibri"/>
              </a:rPr>
              <a:t>Confirma y separa alias: duplica las corridas</a:t>
            </a:r>
          </a:p>
        </p:txBody>
      </p:sp>
      <p:sp>
        <p:nvSpPr>
          <p:cNvPr id="4" name="Rounded Rectangle 3"/>
          <p:cNvSpPr/>
          <p:nvPr/>
        </p:nvSpPr>
        <p:spPr>
          <a:xfrm>
            <a:off x="548640" y="2941828"/>
            <a:ext cx="4486832" cy="1295908"/>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800" b="1">
                <a:solidFill>
                  <a:srgbClr val="0F4C5C"/>
                </a:solidFill>
                <a:latin typeface="Cambria"/>
              </a:rPr>
              <a:t>Corrida de confirmación</a:t>
            </a:r>
          </a:p>
          <a:p>
            <a:pPr algn="l"/>
            <a:r>
              <a:rPr sz="1600" b="0">
                <a:solidFill>
                  <a:srgbClr val="142B33"/>
                </a:solidFill>
                <a:latin typeface="Calibri"/>
              </a:rPr>
              <a:t>Predecir con el modelo en un punto </a:t>
            </a:r>
            <a:r>
              <a:rPr sz="1600" b="1">
                <a:solidFill>
                  <a:srgbClr val="142B33"/>
                </a:solidFill>
                <a:latin typeface="Calibri"/>
              </a:rPr>
              <a:t>nuevo</a:t>
            </a:r>
            <a:r>
              <a:rPr sz="1600" b="0">
                <a:solidFill>
                  <a:srgbClr val="142B33"/>
                </a:solidFill>
                <a:latin typeface="Calibri"/>
              </a:rPr>
              <a:t>, correrlo varias veces y comparar</a:t>
            </a:r>
          </a:p>
        </p:txBody>
      </p:sp>
      <p:sp>
        <p:nvSpPr>
          <p:cNvPr id="5" name="Rounded Rectangle 4"/>
          <p:cNvSpPr/>
          <p:nvPr/>
        </p:nvSpPr>
        <p:spPr>
          <a:xfrm>
            <a:off x="5446952" y="1417320"/>
            <a:ext cx="6196102" cy="534619"/>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500" b="0">
                <a:solidFill>
                  <a:srgbClr val="0F4C5C"/>
                </a:solidFill>
                <a:latin typeface="Cambria Math"/>
              </a:rPr>
              <a:t>ŷ = 70.75 + 9.50 x</a:t>
            </a:r>
            <a:r>
              <a:rPr sz="1500" b="0" baseline="-25000">
                <a:solidFill>
                  <a:srgbClr val="0F4C5C"/>
                </a:solidFill>
                <a:latin typeface="Cambria Math"/>
              </a:rPr>
              <a:t>1</a:t>
            </a:r>
            <a:r>
              <a:rPr sz="1500" b="0">
                <a:solidFill>
                  <a:srgbClr val="0F4C5C"/>
                </a:solidFill>
                <a:latin typeface="Cambria Math"/>
              </a:rPr>
              <a:t> + 7.00 x</a:t>
            </a:r>
            <a:r>
              <a:rPr sz="1500" b="0" baseline="-25000">
                <a:solidFill>
                  <a:srgbClr val="0F4C5C"/>
                </a:solidFill>
                <a:latin typeface="Cambria Math"/>
              </a:rPr>
              <a:t>3</a:t>
            </a:r>
            <a:r>
              <a:rPr sz="1500" b="0">
                <a:solidFill>
                  <a:srgbClr val="0F4C5C"/>
                </a:solidFill>
                <a:latin typeface="Cambria Math"/>
              </a:rPr>
              <a:t> + 8.25 x</a:t>
            </a:r>
            <a:r>
              <a:rPr sz="1500" b="0" baseline="-25000">
                <a:solidFill>
                  <a:srgbClr val="0F4C5C"/>
                </a:solidFill>
                <a:latin typeface="Cambria Math"/>
              </a:rPr>
              <a:t>4</a:t>
            </a:r>
            <a:r>
              <a:rPr sz="1500" b="0">
                <a:solidFill>
                  <a:srgbClr val="0F4C5C"/>
                </a:solidFill>
                <a:latin typeface="Cambria Math"/>
              </a:rPr>
              <a:t> − 9.25 x</a:t>
            </a:r>
            <a:r>
              <a:rPr sz="1500" b="0" baseline="-25000">
                <a:solidFill>
                  <a:srgbClr val="0F4C5C"/>
                </a:solidFill>
                <a:latin typeface="Cambria Math"/>
              </a:rPr>
              <a:t>1</a:t>
            </a:r>
            <a:r>
              <a:rPr sz="1500" b="0">
                <a:solidFill>
                  <a:srgbClr val="0F4C5C"/>
                </a:solidFill>
                <a:latin typeface="Cambria Math"/>
              </a:rPr>
              <a:t>x</a:t>
            </a:r>
            <a:r>
              <a:rPr sz="1500" b="0" baseline="-25000">
                <a:solidFill>
                  <a:srgbClr val="0F4C5C"/>
                </a:solidFill>
                <a:latin typeface="Cambria Math"/>
              </a:rPr>
              <a:t>3</a:t>
            </a:r>
            <a:r>
              <a:rPr sz="1500" b="0">
                <a:solidFill>
                  <a:srgbClr val="0F4C5C"/>
                </a:solidFill>
                <a:latin typeface="Cambria Math"/>
              </a:rPr>
              <a:t> + 9.50 x</a:t>
            </a:r>
            <a:r>
              <a:rPr sz="1500" b="0" baseline="-25000">
                <a:solidFill>
                  <a:srgbClr val="0F4C5C"/>
                </a:solidFill>
                <a:latin typeface="Cambria Math"/>
              </a:rPr>
              <a:t>1</a:t>
            </a:r>
            <a:r>
              <a:rPr sz="1500" b="0">
                <a:solidFill>
                  <a:srgbClr val="0F4C5C"/>
                </a:solidFill>
                <a:latin typeface="Cambria Math"/>
              </a:rPr>
              <a:t>x</a:t>
            </a:r>
            <a:r>
              <a:rPr sz="1500" b="0" baseline="-25000">
                <a:solidFill>
                  <a:srgbClr val="0F4C5C"/>
                </a:solidFill>
                <a:latin typeface="Cambria Math"/>
              </a:rPr>
              <a:t>4</a:t>
            </a:r>
          </a:p>
        </p:txBody>
      </p:sp>
      <p:graphicFrame>
        <p:nvGraphicFramePr>
          <p:cNvPr id="6" name="Table 5"/>
          <p:cNvGraphicFramePr>
            <a:graphicFrameLocks noGrp="1"/>
          </p:cNvGraphicFramePr>
          <p:nvPr/>
        </p:nvGraphicFramePr>
        <p:xfrm>
          <a:off x="5446952" y="2153107"/>
          <a:ext cx="6196101" cy="733552"/>
        </p:xfrm>
        <a:graphic>
          <a:graphicData uri="http://schemas.openxmlformats.org/drawingml/2006/table">
            <a:tbl>
              <a:tblPr firstRow="0" bandRow="0">
                <a:tableStyleId>{5C22544A-7EE6-4342-B048-85BDC9FD1C3A}</a:tableStyleId>
              </a:tblPr>
              <a:tblGrid>
                <a:gridCol w="3007137"/>
                <a:gridCol w="713321"/>
                <a:gridCol w="713321"/>
                <a:gridCol w="713321"/>
                <a:gridCol w="1049001"/>
              </a:tblGrid>
              <a:tr h="366776">
                <a:tc>
                  <a:txBody>
                    <a:bodyPr/>
                    <a:lstStyle/>
                    <a:p>
                      <a:pPr algn="ctr"/>
                      <a:r>
                        <a:rPr sz="1600" b="1">
                          <a:solidFill>
                            <a:srgbClr val="FFFFFF"/>
                          </a:solidFill>
                          <a:latin typeface="Calibri"/>
                        </a:rPr>
                        <a:t>Punto</a:t>
                      </a:r>
                    </a:p>
                  </a:txBody>
                  <a:tcPr marL="73152" marR="73152" marT="27432" marB="27432" anchor="ctr">
                    <a:solidFill>
                      <a:srgbClr val="0F4C5C"/>
                    </a:solidFill>
                  </a:tcPr>
                </a:tc>
                <a:tc>
                  <a:txBody>
                    <a:bodyPr/>
                    <a:lstStyle/>
                    <a:p>
                      <a:pPr algn="ctr"/>
                      <a:r>
                        <a:rPr sz="1600" b="1">
                          <a:solidFill>
                            <a:srgbClr val="FFFFFF"/>
                          </a:solidFill>
                          <a:latin typeface="Calibri"/>
                        </a:rPr>
                        <a:t>x</a:t>
                      </a:r>
                      <a:r>
                        <a:rPr sz="1600" b="1" baseline="-25000">
                          <a:solidFill>
                            <a:srgbClr val="FFFFFF"/>
                          </a:solidFill>
                          <a:latin typeface="Calibri"/>
                        </a:rPr>
                        <a:t>1</a:t>
                      </a:r>
                    </a:p>
                  </a:txBody>
                  <a:tcPr marL="73152" marR="73152" marT="27432" marB="27432" anchor="ctr">
                    <a:solidFill>
                      <a:srgbClr val="0F4C5C"/>
                    </a:solidFill>
                  </a:tcPr>
                </a:tc>
                <a:tc>
                  <a:txBody>
                    <a:bodyPr/>
                    <a:lstStyle/>
                    <a:p>
                      <a:pPr algn="ctr"/>
                      <a:r>
                        <a:rPr sz="1600" b="1">
                          <a:solidFill>
                            <a:srgbClr val="FFFFFF"/>
                          </a:solidFill>
                          <a:latin typeface="Calibri"/>
                        </a:rPr>
                        <a:t>x</a:t>
                      </a:r>
                      <a:r>
                        <a:rPr sz="1600" b="1" baseline="-25000">
                          <a:solidFill>
                            <a:srgbClr val="FFFFFF"/>
                          </a:solidFill>
                          <a:latin typeface="Calibri"/>
                        </a:rPr>
                        <a:t>3</a:t>
                      </a:r>
                    </a:p>
                  </a:txBody>
                  <a:tcPr marL="73152" marR="73152" marT="27432" marB="27432" anchor="ctr">
                    <a:solidFill>
                      <a:srgbClr val="0F4C5C"/>
                    </a:solidFill>
                  </a:tcPr>
                </a:tc>
                <a:tc>
                  <a:txBody>
                    <a:bodyPr/>
                    <a:lstStyle/>
                    <a:p>
                      <a:pPr algn="ctr"/>
                      <a:r>
                        <a:rPr sz="1600" b="1">
                          <a:solidFill>
                            <a:srgbClr val="FFFFFF"/>
                          </a:solidFill>
                          <a:latin typeface="Calibri"/>
                        </a:rPr>
                        <a:t>x</a:t>
                      </a:r>
                      <a:r>
                        <a:rPr sz="1600" b="1" baseline="-25000">
                          <a:solidFill>
                            <a:srgbClr val="FFFFFF"/>
                          </a:solidFill>
                          <a:latin typeface="Calibri"/>
                        </a:rPr>
                        <a:t>4</a:t>
                      </a:r>
                    </a:p>
                  </a:txBody>
                  <a:tcPr marL="73152" marR="73152" marT="27432" marB="27432" anchor="ctr">
                    <a:solidFill>
                      <a:srgbClr val="0F4C5C"/>
                    </a:solidFill>
                  </a:tcPr>
                </a:tc>
                <a:tc>
                  <a:txBody>
                    <a:bodyPr/>
                    <a:lstStyle/>
                    <a:p>
                      <a:pPr algn="ctr"/>
                      <a:r>
                        <a:rPr sz="1600" b="1">
                          <a:solidFill>
                            <a:srgbClr val="FFFFFF"/>
                          </a:solidFill>
                          <a:latin typeface="Calibri"/>
                        </a:rPr>
                        <a:t>ŷ</a:t>
                      </a:r>
                    </a:p>
                  </a:txBody>
                  <a:tcPr marL="73152" marR="73152" marT="27432" marB="27432" anchor="ctr">
                    <a:solidFill>
                      <a:srgbClr val="0F4C5C"/>
                    </a:solidFill>
                  </a:tcPr>
                </a:tc>
              </a:tr>
              <a:tr h="366776">
                <a:tc>
                  <a:txBody>
                    <a:bodyPr/>
                    <a:lstStyle/>
                    <a:p>
                      <a:pPr algn="ctr"/>
                      <a:r>
                        <a:rPr sz="1600" b="0">
                          <a:solidFill>
                            <a:srgbClr val="142B33"/>
                          </a:solidFill>
                          <a:latin typeface="Calibri"/>
                        </a:rPr>
                        <a:t>Centro de la región</a:t>
                      </a:r>
                    </a:p>
                  </a:txBody>
                  <a:tcPr marL="73152" marR="73152" marT="27432" marB="27432" anchor="ctr">
                    <a:solidFill>
                      <a:srgbClr val="FFFFFF"/>
                    </a:solidFill>
                  </a:tcPr>
                </a:tc>
                <a:tc>
                  <a:txBody>
                    <a:bodyPr/>
                    <a:lstStyle/>
                    <a:p>
                      <a:pPr algn="ctr"/>
                      <a:r>
                        <a:rPr sz="1600" b="0">
                          <a:solidFill>
                            <a:srgbClr val="142B33"/>
                          </a:solidFill>
                          <a:latin typeface="Calibri"/>
                        </a:rPr>
                        <a:t>0</a:t>
                      </a:r>
                    </a:p>
                  </a:txBody>
                  <a:tcPr marL="73152" marR="73152" marT="27432" marB="27432" anchor="ctr">
                    <a:solidFill>
                      <a:srgbClr val="FFFFFF"/>
                    </a:solidFill>
                  </a:tcPr>
                </a:tc>
                <a:tc>
                  <a:txBody>
                    <a:bodyPr/>
                    <a:lstStyle/>
                    <a:p>
                      <a:pPr algn="ctr"/>
                      <a:r>
                        <a:rPr sz="1600" b="0">
                          <a:solidFill>
                            <a:srgbClr val="142B33"/>
                          </a:solidFill>
                          <a:latin typeface="Calibri"/>
                        </a:rPr>
                        <a:t>0</a:t>
                      </a:r>
                    </a:p>
                  </a:txBody>
                  <a:tcPr marL="73152" marR="73152" marT="27432" marB="27432" anchor="ctr">
                    <a:solidFill>
                      <a:srgbClr val="FFFFFF"/>
                    </a:solidFill>
                  </a:tcPr>
                </a:tc>
                <a:tc>
                  <a:txBody>
                    <a:bodyPr/>
                    <a:lstStyle/>
                    <a:p>
                      <a:pPr algn="ctr"/>
                      <a:r>
                        <a:rPr sz="1600" b="0">
                          <a:solidFill>
                            <a:srgbClr val="142B33"/>
                          </a:solidFill>
                          <a:latin typeface="Calibri"/>
                        </a:rPr>
                        <a:t>0</a:t>
                      </a:r>
                    </a:p>
                  </a:txBody>
                  <a:tcPr marL="73152" marR="73152" marT="27432" marB="27432" anchor="ctr">
                    <a:solidFill>
                      <a:srgbClr val="FFFFFF"/>
                    </a:solidFill>
                  </a:tcPr>
                </a:tc>
                <a:tc>
                  <a:txBody>
                    <a:bodyPr/>
                    <a:lstStyle/>
                    <a:p>
                      <a:pPr algn="ctr"/>
                      <a:r>
                        <a:rPr sz="1600" b="0">
                          <a:solidFill>
                            <a:srgbClr val="142B33"/>
                          </a:solidFill>
                          <a:latin typeface="Calibri"/>
                        </a:rPr>
                        <a:t>70.75</a:t>
                      </a:r>
                    </a:p>
                  </a:txBody>
                  <a:tcPr marL="73152" marR="73152" marT="27432" marB="27432" anchor="ctr">
                    <a:solidFill>
                      <a:srgbClr val="FFFFFF"/>
                    </a:solidFill>
                  </a:tcPr>
                </a:tc>
              </a:tr>
            </a:tbl>
          </a:graphicData>
        </a:graphic>
      </p:graphicFrame>
      <p:sp>
        <p:nvSpPr>
          <p:cNvPr id="7" name="Rounded Rectangle 6"/>
          <p:cNvSpPr/>
          <p:nvPr/>
        </p:nvSpPr>
        <p:spPr>
          <a:xfrm>
            <a:off x="5446952" y="3087827"/>
            <a:ext cx="6196102"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Si las corridas en el centro se alejan de 70.75, el modelo </a:t>
            </a:r>
            <a:r>
              <a:rPr sz="1500" b="1">
                <a:solidFill>
                  <a:srgbClr val="142B33"/>
                </a:solidFill>
                <a:latin typeface="Calibri"/>
              </a:rPr>
              <a:t>no</a:t>
            </a:r>
            <a:r>
              <a:rPr sz="1500" b="0">
                <a:solidFill>
                  <a:srgbClr val="142B33"/>
                </a:solidFill>
                <a:latin typeface="Calibri"/>
              </a:rPr>
              <a:t> queda confirmado (o hay curvatura)</a:t>
            </a:r>
          </a:p>
        </p:txBody>
      </p:sp>
      <p:sp>
        <p:nvSpPr>
          <p:cNvPr id="8" name="TextBox 7"/>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Otra fracción aclara las dudas</a:t>
            </a:r>
          </a:p>
        </p:txBody>
      </p:sp>
      <p:sp>
        <p:nvSpPr>
          <p:cNvPr id="9" name="TextBox 8"/>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38</a:t>
            </a:r>
          </a:p>
        </p:txBody>
      </p:sp>
      <p:sp>
        <p:nvSpPr>
          <p:cNvPr id="10" name="Rounded Rectangle 9"/>
          <p:cNvSpPr/>
          <p:nvPr/>
        </p:nvSpPr>
        <p:spPr>
          <a:xfrm>
            <a:off x="548640" y="91440"/>
            <a:ext cx="344271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5 · Otra fracción aclara las dudas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didáctico · Enunciado: el sabor de un café</a:t>
            </a:r>
          </a:p>
        </p:txBody>
      </p:sp>
      <p:sp>
        <p:nvSpPr>
          <p:cNvPr id="3" name="TextBox 2"/>
          <p:cNvSpPr txBox="1"/>
          <p:nvPr/>
        </p:nvSpPr>
        <p:spPr>
          <a:xfrm>
            <a:off x="548640" y="1417320"/>
            <a:ext cx="6196102" cy="1276096"/>
          </a:xfrm>
          <a:prstGeom prst="rect">
            <a:avLst/>
          </a:prstGeom>
          <a:noFill/>
        </p:spPr>
        <p:txBody>
          <a:bodyPr wrap="square" anchor="t" lIns="0" rIns="0" tIns="0" bIns="0">
            <a:spAutoFit/>
          </a:bodyPr>
          <a:lstStyle/>
          <a:p>
            <a:r>
              <a:rPr sz="1600" b="0">
                <a:solidFill>
                  <a:srgbClr val="142B33"/>
                </a:solidFill>
                <a:latin typeface="Calibri"/>
              </a:rPr>
              <a:t>Una tienda de café quiere mejorar el </a:t>
            </a:r>
            <a:r>
              <a:rPr sz="1600" b="1">
                <a:solidFill>
                  <a:srgbClr val="142B33"/>
                </a:solidFill>
                <a:latin typeface="Calibri"/>
              </a:rPr>
              <a:t>puntaje de sabor</a:t>
            </a:r>
            <a:r>
              <a:rPr sz="1600" b="0">
                <a:solidFill>
                  <a:srgbClr val="142B33"/>
                </a:solidFill>
                <a:latin typeface="Calibri"/>
              </a:rPr>
              <a:t> de su bebida (0 a 100, promedio de un panel de catadores). Se sospecha de tres factores, cada uno a dos niveles: A temperatura del agua (88 o 96 °C), B molienda (gruesa o fina) y C tiempo de infusión (3 o 4 min).</a:t>
            </a:r>
          </a:p>
        </p:txBody>
      </p:sp>
      <p:sp>
        <p:nvSpPr>
          <p:cNvPr id="4" name="TextBox 3"/>
          <p:cNvSpPr txBox="1"/>
          <p:nvPr/>
        </p:nvSpPr>
        <p:spPr>
          <a:xfrm>
            <a:off x="548640" y="2894584"/>
            <a:ext cx="6196102" cy="1276096"/>
          </a:xfrm>
          <a:prstGeom prst="rect">
            <a:avLst/>
          </a:prstGeom>
          <a:noFill/>
        </p:spPr>
        <p:txBody>
          <a:bodyPr wrap="square" anchor="t" lIns="0" rIns="0" tIns="0" bIns="0">
            <a:spAutoFit/>
          </a:bodyPr>
          <a:lstStyle/>
          <a:p>
            <a:r>
              <a:rPr sz="1600" b="0">
                <a:solidFill>
                  <a:srgbClr val="142B33"/>
                </a:solidFill>
                <a:latin typeface="Calibri"/>
              </a:rPr>
              <a:t>Cada preparación consume un lote de café y una sesión del panel, así que solo hay presupuesto para </a:t>
            </a:r>
            <a:r>
              <a:rPr sz="1600" b="1">
                <a:solidFill>
                  <a:srgbClr val="142B33"/>
                </a:solidFill>
                <a:latin typeface="Calibri"/>
              </a:rPr>
              <a:t>4 corridas</a:t>
            </a:r>
            <a:r>
              <a:rPr sz="1600" b="0">
                <a:solidFill>
                  <a:srgbClr val="142B33"/>
                </a:solidFill>
                <a:latin typeface="Calibri"/>
              </a:rPr>
              <a:t>, la mitad de las 8 del factorial 2</a:t>
            </a:r>
            <a:r>
              <a:rPr sz="1600" b="0" baseline="30000">
                <a:solidFill>
                  <a:srgbClr val="142B33"/>
                </a:solidFill>
                <a:latin typeface="Calibri"/>
              </a:rPr>
              <a:t>3</a:t>
            </a:r>
            <a:r>
              <a:rPr sz="1600" b="0">
                <a:solidFill>
                  <a:srgbClr val="142B33"/>
                </a:solidFill>
                <a:latin typeface="Calibri"/>
              </a:rPr>
              <a:t>. Se corre la fracción un medio con </a:t>
            </a:r>
            <a:r>
              <a:rPr sz="1600" b="1">
                <a:solidFill>
                  <a:srgbClr val="142B33"/>
                </a:solidFill>
                <a:latin typeface="Calibri"/>
              </a:rPr>
              <a:t>C = AB</a:t>
            </a:r>
            <a:r>
              <a:rPr sz="1600" b="0">
                <a:solidFill>
                  <a:srgbClr val="142B33"/>
                </a:solidFill>
                <a:latin typeface="Calibri"/>
              </a:rPr>
              <a:t> (I = ABC): las preparaciones a, b, c y abc. Si hace falta, más adelante se pueden pagar 4 corridas más.</a:t>
            </a:r>
          </a:p>
        </p:txBody>
      </p:sp>
      <p:sp>
        <p:nvSpPr>
          <p:cNvPr id="5" name="TextBox 4"/>
          <p:cNvSpPr txBox="1"/>
          <p:nvPr/>
        </p:nvSpPr>
        <p:spPr>
          <a:xfrm>
            <a:off x="548640" y="4371848"/>
            <a:ext cx="6196102" cy="1276096"/>
          </a:xfrm>
          <a:prstGeom prst="rect">
            <a:avLst/>
          </a:prstGeom>
          <a:noFill/>
        </p:spPr>
        <p:txBody>
          <a:bodyPr wrap="square" anchor="t" lIns="0" rIns="0" tIns="0" bIns="0">
            <a:spAutoFit/>
          </a:bodyPr>
          <a:lstStyle/>
          <a:p>
            <a:r>
              <a:rPr sz="1600" b="0">
                <a:solidFill>
                  <a:srgbClr val="142B33"/>
                </a:solidFill>
                <a:latin typeface="Calibri"/>
              </a:rPr>
              <a:t>Se analizan dos situaciones posibles. </a:t>
            </a:r>
            <a:r>
              <a:rPr sz="1600" b="1">
                <a:solidFill>
                  <a:srgbClr val="142B33"/>
                </a:solidFill>
                <a:latin typeface="Calibri"/>
              </a:rPr>
              <a:t>Caso 1</a:t>
            </a:r>
            <a:r>
              <a:rPr sz="1600" b="0">
                <a:solidFill>
                  <a:srgbClr val="142B33"/>
                </a:solidFill>
                <a:latin typeface="Calibri"/>
              </a:rPr>
              <a:t>: el tiempo de infusión no influye en el sabor. </a:t>
            </a:r>
            <a:r>
              <a:rPr sz="1600" b="1">
                <a:solidFill>
                  <a:srgbClr val="142B33"/>
                </a:solidFill>
                <a:latin typeface="Calibri"/>
              </a:rPr>
              <a:t>Caso 2</a:t>
            </a:r>
            <a:r>
              <a:rPr sz="1600" b="0">
                <a:solidFill>
                  <a:srgbClr val="142B33"/>
                </a:solidFill>
                <a:latin typeface="Calibri"/>
              </a:rPr>
              <a:t>: el tiempo de infusión tampoco influye, pero la temperatura y la molienda interactúan. El experimentador no sabe cuál de las dos es la real; solo ve los cuatro puntajes.</a:t>
            </a:r>
          </a:p>
        </p:txBody>
      </p:sp>
      <p:sp>
        <p:nvSpPr>
          <p:cNvPr id="6" name="TextBox 5"/>
          <p:cNvSpPr txBox="1"/>
          <p:nvPr/>
        </p:nvSpPr>
        <p:spPr>
          <a:xfrm>
            <a:off x="548640" y="5849112"/>
            <a:ext cx="6196102" cy="222504"/>
          </a:xfrm>
          <a:prstGeom prst="rect">
            <a:avLst/>
          </a:prstGeom>
          <a:noFill/>
        </p:spPr>
        <p:txBody>
          <a:bodyPr wrap="square" anchor="t" lIns="0" rIns="0" tIns="0" bIns="0">
            <a:spAutoFit/>
          </a:bodyPr>
          <a:lstStyle/>
          <a:p>
            <a:r>
              <a:rPr sz="1200" b="0">
                <a:solidFill>
                  <a:srgbClr val="5B6B73"/>
                </a:solidFill>
                <a:latin typeface="Calibri"/>
              </a:rPr>
              <a:t>Fuente: ejemplo construido para la clase, con datos inventados</a:t>
            </a:r>
          </a:p>
        </p:txBody>
      </p:sp>
      <p:sp>
        <p:nvSpPr>
          <p:cNvPr id="7" name="Rounded Rectangle 6"/>
          <p:cNvSpPr/>
          <p:nvPr/>
        </p:nvSpPr>
        <p:spPr>
          <a:xfrm>
            <a:off x="7156222" y="1417320"/>
            <a:ext cx="4486832" cy="1481836"/>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700" b="1">
                <a:solidFill>
                  <a:srgbClr val="0F4C5C"/>
                </a:solidFill>
                <a:latin typeface="Cambria"/>
              </a:rPr>
              <a:t>Objetivo</a:t>
            </a:r>
          </a:p>
          <a:p>
            <a:pPr algn="l"/>
            <a:r>
              <a:rPr sz="1500" b="0">
                <a:solidFill>
                  <a:srgbClr val="142B33"/>
                </a:solidFill>
                <a:latin typeface="Calibri"/>
              </a:rPr>
              <a:t>Ver, con cuentas a mano, qué se puede concluir con 4 corridas, cuándo la </a:t>
            </a:r>
            <a:r>
              <a:rPr sz="1500" b="1">
                <a:solidFill>
                  <a:srgbClr val="142B33"/>
                </a:solidFill>
                <a:latin typeface="Calibri"/>
              </a:rPr>
              <a:t>proyección</a:t>
            </a:r>
            <a:r>
              <a:rPr sz="1500" b="0">
                <a:solidFill>
                  <a:srgbClr val="142B33"/>
                </a:solidFill>
                <a:latin typeface="Calibri"/>
              </a:rPr>
              <a:t> basta y cuándo hace falta un </a:t>
            </a:r>
            <a:r>
              <a:rPr sz="1500" b="1">
                <a:solidFill>
                  <a:srgbClr val="142B33"/>
                </a:solidFill>
                <a:latin typeface="Calibri"/>
              </a:rPr>
              <a:t>doblez</a:t>
            </a:r>
          </a:p>
        </p:txBody>
      </p:sp>
      <p:sp>
        <p:nvSpPr>
          <p:cNvPr id="8" name="TextBox 7"/>
          <p:cNvSpPr txBox="1"/>
          <p:nvPr/>
        </p:nvSpPr>
        <p:spPr>
          <a:xfrm>
            <a:off x="7156222" y="3100324"/>
            <a:ext cx="4486832" cy="299973"/>
          </a:xfrm>
          <a:prstGeom prst="rect">
            <a:avLst/>
          </a:prstGeom>
          <a:noFill/>
        </p:spPr>
        <p:txBody>
          <a:bodyPr wrap="square" anchor="t" lIns="0" rIns="0" tIns="0" bIns="0">
            <a:spAutoFit/>
          </a:bodyPr>
          <a:lstStyle/>
          <a:p>
            <a:r>
              <a:rPr sz="1700" b="1">
                <a:solidFill>
                  <a:srgbClr val="142B33"/>
                </a:solidFill>
                <a:latin typeface="Calibri"/>
              </a:rPr>
              <a:t>Se pide</a:t>
            </a:r>
          </a:p>
        </p:txBody>
      </p:sp>
      <p:sp>
        <p:nvSpPr>
          <p:cNvPr id="9" name="TextBox 8"/>
          <p:cNvSpPr txBox="1"/>
          <p:nvPr/>
        </p:nvSpPr>
        <p:spPr>
          <a:xfrm>
            <a:off x="7156222" y="3601465"/>
            <a:ext cx="4486832" cy="1723643"/>
          </a:xfrm>
          <a:prstGeom prst="rect">
            <a:avLst/>
          </a:prstGeom>
          <a:noFill/>
        </p:spPr>
        <p:txBody>
          <a:bodyPr wrap="square" anchor="t" lIns="0" rIns="0" tIns="0" bIns="0">
            <a:spAutoFit/>
          </a:bodyPr>
          <a:lstStyle/>
          <a:p>
            <a:pPr marL="320040" indent="-320040">
              <a:spcAft>
                <a:spcPts val="600"/>
              </a:spcAft>
              <a:buClr>
                <a:srgbClr val="E36414"/>
              </a:buClr>
              <a:buFont typeface="+mj-lt"/>
              <a:buAutoNum type="arabicPeriod"/>
            </a:pPr>
            <a:r>
              <a:rPr sz="1500" b="0">
                <a:solidFill>
                  <a:srgbClr val="142B33"/>
                </a:solidFill>
                <a:latin typeface="Calibri"/>
              </a:rPr>
              <a:t>Escribir la fracción, la palabra y los alias</a:t>
            </a:r>
          </a:p>
          <a:p>
            <a:pPr marL="320040" indent="-320040">
              <a:spcAft>
                <a:spcPts val="600"/>
              </a:spcAft>
              <a:buClr>
                <a:srgbClr val="E36414"/>
              </a:buClr>
              <a:buFont typeface="+mj-lt"/>
              <a:buAutoNum type="arabicPeriod"/>
            </a:pPr>
            <a:r>
              <a:rPr sz="1500" b="0">
                <a:solidFill>
                  <a:srgbClr val="142B33"/>
                </a:solidFill>
                <a:latin typeface="Calibri"/>
              </a:rPr>
              <a:t>Caso 1: calcular los contrastes y proyectar en A y B</a:t>
            </a:r>
          </a:p>
          <a:p>
            <a:pPr marL="320040" indent="-320040">
              <a:spcAft>
                <a:spcPts val="600"/>
              </a:spcAft>
              <a:buClr>
                <a:srgbClr val="E36414"/>
              </a:buClr>
              <a:buFont typeface="+mj-lt"/>
              <a:buAutoNum type="arabicPeriod"/>
            </a:pPr>
            <a:r>
              <a:rPr sz="1500" b="0">
                <a:solidFill>
                  <a:srgbClr val="142B33"/>
                </a:solidFill>
                <a:latin typeface="Calibri"/>
              </a:rPr>
              <a:t>Caso 2: identificar la ambigüedad entre C y AB</a:t>
            </a:r>
          </a:p>
          <a:p>
            <a:pPr marL="320040" indent="-320040">
              <a:spcAft>
                <a:spcPts val="600"/>
              </a:spcAft>
              <a:buClr>
                <a:srgbClr val="E36414"/>
              </a:buClr>
              <a:buFont typeface="+mj-lt"/>
              <a:buAutoNum type="arabicPeriod"/>
            </a:pPr>
            <a:r>
              <a:rPr sz="1500" b="0">
                <a:solidFill>
                  <a:srgbClr val="142B33"/>
                </a:solidFill>
                <a:latin typeface="Calibri"/>
              </a:rPr>
              <a:t>Caso 2: correr la fracción alterna y separar C de AB</a:t>
            </a:r>
          </a:p>
        </p:txBody>
      </p:sp>
      <p:sp>
        <p:nvSpPr>
          <p:cNvPr id="10" name="TextBox 9"/>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Otra fracción aclara las dudas</a:t>
            </a:r>
          </a:p>
        </p:txBody>
      </p:sp>
      <p:sp>
        <p:nvSpPr>
          <p:cNvPr id="11" name="TextBox 10"/>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39</a:t>
            </a:r>
          </a:p>
        </p:txBody>
      </p:sp>
      <p:sp>
        <p:nvSpPr>
          <p:cNvPr id="12" name="Rounded Rectangle 11"/>
          <p:cNvSpPr/>
          <p:nvPr/>
        </p:nvSpPr>
        <p:spPr>
          <a:xfrm>
            <a:off x="548640" y="91440"/>
            <a:ext cx="344271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5 · Otra fracción aclara las dudas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Caso 1 · C no influye: la proyección</a:t>
            </a:r>
          </a:p>
        </p:txBody>
      </p:sp>
      <p:sp>
        <p:nvSpPr>
          <p:cNvPr id="3" name="Rounded Rectangle 2"/>
          <p:cNvSpPr/>
          <p:nvPr/>
        </p:nvSpPr>
        <p:spPr>
          <a:xfrm>
            <a:off x="548640" y="1417320"/>
            <a:ext cx="5875614" cy="569325"/>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700" b="0">
                <a:solidFill>
                  <a:srgbClr val="0F4C5C"/>
                </a:solidFill>
                <a:latin typeface="Cambria Math"/>
              </a:rPr>
              <a:t>Verdad oculta:  y = 70 + 5x</a:t>
            </a:r>
            <a:r>
              <a:rPr sz="1700" b="0" baseline="-25000">
                <a:solidFill>
                  <a:srgbClr val="0F4C5C"/>
                </a:solidFill>
                <a:latin typeface="Cambria Math"/>
              </a:rPr>
              <a:t>A</a:t>
            </a:r>
            <a:r>
              <a:rPr sz="1700" b="0">
                <a:solidFill>
                  <a:srgbClr val="0F4C5C"/>
                </a:solidFill>
                <a:latin typeface="Cambria Math"/>
              </a:rPr>
              <a:t> + 3x</a:t>
            </a:r>
            <a:r>
              <a:rPr sz="1700" b="0" baseline="-25000">
                <a:solidFill>
                  <a:srgbClr val="0F4C5C"/>
                </a:solidFill>
                <a:latin typeface="Cambria Math"/>
              </a:rPr>
              <a:t>B</a:t>
            </a:r>
          </a:p>
        </p:txBody>
      </p:sp>
      <p:graphicFrame>
        <p:nvGraphicFramePr>
          <p:cNvPr id="4" name="Table 3"/>
          <p:cNvGraphicFramePr>
            <a:graphicFrameLocks noGrp="1"/>
          </p:cNvGraphicFramePr>
          <p:nvPr/>
        </p:nvGraphicFramePr>
        <p:xfrm>
          <a:off x="548640" y="2187813"/>
          <a:ext cx="5875612" cy="1756410"/>
        </p:xfrm>
        <a:graphic>
          <a:graphicData uri="http://schemas.openxmlformats.org/drawingml/2006/table">
            <a:tbl>
              <a:tblPr firstRow="0" bandRow="0">
                <a:tableStyleId>{5C22544A-7EE6-4342-B048-85BDC9FD1C3A}</a:tableStyleId>
              </a:tblPr>
              <a:tblGrid>
                <a:gridCol w="1969859"/>
                <a:gridCol w="645298"/>
                <a:gridCol w="645298"/>
                <a:gridCol w="645298"/>
                <a:gridCol w="1969859"/>
              </a:tblGrid>
              <a:tr h="351282">
                <a:tc>
                  <a:txBody>
                    <a:bodyPr/>
                    <a:lstStyle/>
                    <a:p>
                      <a:pPr algn="ctr"/>
                      <a:r>
                        <a:rPr sz="1500" b="1">
                          <a:solidFill>
                            <a:srgbClr val="FFFFFF"/>
                          </a:solidFill>
                          <a:latin typeface="Calibri"/>
                        </a:rPr>
                        <a:t>Corrida</a:t>
                      </a:r>
                    </a:p>
                  </a:txBody>
                  <a:tcPr marL="73152" marR="73152" marT="27432" marB="27432" anchor="ctr">
                    <a:solidFill>
                      <a:srgbClr val="0F4C5C"/>
                    </a:solidFill>
                  </a:tcPr>
                </a:tc>
                <a:tc>
                  <a:txBody>
                    <a:bodyPr/>
                    <a:lstStyle/>
                    <a:p>
                      <a:pPr algn="ctr"/>
                      <a:r>
                        <a:rPr sz="1500" b="1">
                          <a:solidFill>
                            <a:srgbClr val="FFFFFF"/>
                          </a:solidFill>
                          <a:latin typeface="Calibri"/>
                        </a:rPr>
                        <a:t>A</a:t>
                      </a:r>
                    </a:p>
                  </a:txBody>
                  <a:tcPr marL="73152" marR="73152" marT="27432" marB="27432" anchor="ctr">
                    <a:solidFill>
                      <a:srgbClr val="0F4C5C"/>
                    </a:solidFill>
                  </a:tcPr>
                </a:tc>
                <a:tc>
                  <a:txBody>
                    <a:bodyPr/>
                    <a:lstStyle/>
                    <a:p>
                      <a:pPr algn="ctr"/>
                      <a:r>
                        <a:rPr sz="1500" b="1">
                          <a:solidFill>
                            <a:srgbClr val="FFFFFF"/>
                          </a:solidFill>
                          <a:latin typeface="Calibri"/>
                        </a:rPr>
                        <a:t>B</a:t>
                      </a:r>
                    </a:p>
                  </a:txBody>
                  <a:tcPr marL="73152" marR="73152" marT="27432" marB="27432" anchor="ctr">
                    <a:solidFill>
                      <a:srgbClr val="0F4C5C"/>
                    </a:solidFill>
                  </a:tcPr>
                </a:tc>
                <a:tc>
                  <a:txBody>
                    <a:bodyPr/>
                    <a:lstStyle/>
                    <a:p>
                      <a:pPr algn="ctr"/>
                      <a:r>
                        <a:rPr sz="1500" b="1">
                          <a:solidFill>
                            <a:srgbClr val="FFFFFF"/>
                          </a:solidFill>
                          <a:latin typeface="Calibri"/>
                        </a:rPr>
                        <a:t>C</a:t>
                      </a:r>
                    </a:p>
                  </a:txBody>
                  <a:tcPr marL="73152" marR="73152" marT="27432" marB="27432" anchor="ctr">
                    <a:solidFill>
                      <a:srgbClr val="0F4C5C"/>
                    </a:solidFill>
                  </a:tcPr>
                </a:tc>
                <a:tc>
                  <a:txBody>
                    <a:bodyPr/>
                    <a:lstStyle/>
                    <a:p>
                      <a:pPr algn="ctr"/>
                      <a:r>
                        <a:rPr sz="1500" b="1">
                          <a:solidFill>
                            <a:srgbClr val="FFFFFF"/>
                          </a:solidFill>
                          <a:latin typeface="Calibri"/>
                        </a:rPr>
                        <a:t>Sabor y</a:t>
                      </a:r>
                    </a:p>
                  </a:txBody>
                  <a:tcPr marL="73152" marR="73152" marT="27432" marB="27432" anchor="ctr">
                    <a:solidFill>
                      <a:srgbClr val="0F4C5C"/>
                    </a:solidFill>
                  </a:tcPr>
                </a:tc>
              </a:tr>
              <a:tr h="351282">
                <a:tc>
                  <a:txBody>
                    <a:bodyPr/>
                    <a:lstStyle/>
                    <a:p>
                      <a:pPr algn="ctr"/>
                      <a:r>
                        <a:rPr sz="1500" b="0">
                          <a:solidFill>
                            <a:srgbClr val="142B33"/>
                          </a:solidFill>
                          <a:latin typeface="Calibri"/>
                        </a:rPr>
                        <a:t>a</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72</a:t>
                      </a:r>
                    </a:p>
                  </a:txBody>
                  <a:tcPr marL="73152" marR="73152" marT="27432" marB="27432" anchor="ctr">
                    <a:solidFill>
                      <a:srgbClr val="FFFFFF"/>
                    </a:solidFill>
                  </a:tcPr>
                </a:tc>
              </a:tr>
              <a:tr h="351282">
                <a:tc>
                  <a:txBody>
                    <a:bodyPr/>
                    <a:lstStyle/>
                    <a:p>
                      <a:pPr algn="ctr"/>
                      <a:r>
                        <a:rPr sz="1500" b="0">
                          <a:solidFill>
                            <a:srgbClr val="142B33"/>
                          </a:solidFill>
                          <a:latin typeface="Calibri"/>
                        </a:rPr>
                        <a:t>b</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68</a:t>
                      </a:r>
                    </a:p>
                  </a:txBody>
                  <a:tcPr marL="73152" marR="73152" marT="27432" marB="27432" anchor="ctr">
                    <a:solidFill>
                      <a:srgbClr val="F4F8F9"/>
                    </a:solidFill>
                  </a:tcPr>
                </a:tc>
              </a:tr>
              <a:tr h="351282">
                <a:tc>
                  <a:txBody>
                    <a:bodyPr/>
                    <a:lstStyle/>
                    <a:p>
                      <a:pPr algn="ctr"/>
                      <a:r>
                        <a:rPr sz="1500" b="0">
                          <a:solidFill>
                            <a:srgbClr val="142B33"/>
                          </a:solidFill>
                          <a:latin typeface="Calibri"/>
                        </a:rPr>
                        <a:t>c</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62</a:t>
                      </a:r>
                    </a:p>
                  </a:txBody>
                  <a:tcPr marL="73152" marR="73152" marT="27432" marB="27432" anchor="ctr">
                    <a:solidFill>
                      <a:srgbClr val="FFFFFF"/>
                    </a:solidFill>
                  </a:tcPr>
                </a:tc>
              </a:tr>
              <a:tr h="351282">
                <a:tc>
                  <a:txBody>
                    <a:bodyPr/>
                    <a:lstStyle/>
                    <a:p>
                      <a:pPr algn="ctr"/>
                      <a:r>
                        <a:rPr sz="1500" b="0">
                          <a:solidFill>
                            <a:srgbClr val="142B33"/>
                          </a:solidFill>
                          <a:latin typeface="Calibri"/>
                        </a:rPr>
                        <a:t>abc</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78</a:t>
                      </a:r>
                    </a:p>
                  </a:txBody>
                  <a:tcPr marL="73152" marR="73152" marT="27432" marB="27432" anchor="ctr">
                    <a:solidFill>
                      <a:srgbClr val="F4F8F9"/>
                    </a:solidFill>
                  </a:tcPr>
                </a:tc>
              </a:tr>
            </a:tbl>
          </a:graphicData>
        </a:graphic>
      </p:graphicFrame>
      <p:graphicFrame>
        <p:nvGraphicFramePr>
          <p:cNvPr id="5" name="Table 4"/>
          <p:cNvGraphicFramePr>
            <a:graphicFrameLocks noGrp="1"/>
          </p:cNvGraphicFramePr>
          <p:nvPr/>
        </p:nvGraphicFramePr>
        <p:xfrm>
          <a:off x="548640" y="4145391"/>
          <a:ext cx="5875613" cy="1343152"/>
        </p:xfrm>
        <a:graphic>
          <a:graphicData uri="http://schemas.openxmlformats.org/drawingml/2006/table">
            <a:tbl>
              <a:tblPr firstRow="0" bandRow="0">
                <a:tableStyleId>{5C22544A-7EE6-4342-B048-85BDC9FD1C3A}</a:tableStyleId>
              </a:tblPr>
              <a:tblGrid>
                <a:gridCol w="1516976"/>
                <a:gridCol w="2296831"/>
                <a:gridCol w="961464"/>
                <a:gridCol w="1100342"/>
              </a:tblGrid>
              <a:tr h="335788">
                <a:tc>
                  <a:txBody>
                    <a:bodyPr/>
                    <a:lstStyle/>
                    <a:p>
                      <a:pPr algn="ctr"/>
                      <a:r>
                        <a:rPr sz="1400" b="1">
                          <a:solidFill>
                            <a:srgbClr val="FFFFFF"/>
                          </a:solidFill>
                          <a:latin typeface="Calibri"/>
                        </a:rPr>
                        <a:t>Contraste</a:t>
                      </a:r>
                    </a:p>
                  </a:txBody>
                  <a:tcPr marL="73152" marR="73152" marT="27432" marB="27432" anchor="ctr">
                    <a:solidFill>
                      <a:srgbClr val="0F4C5C"/>
                    </a:solidFill>
                  </a:tcPr>
                </a:tc>
                <a:tc>
                  <a:txBody>
                    <a:bodyPr/>
                    <a:lstStyle/>
                    <a:p>
                      <a:pPr algn="ctr"/>
                      <a:r>
                        <a:rPr sz="1400" b="1">
                          <a:solidFill>
                            <a:srgbClr val="FFFFFF"/>
                          </a:solidFill>
                          <a:latin typeface="Calibri"/>
                        </a:rPr>
                        <a:t>Cuenta</a:t>
                      </a:r>
                    </a:p>
                  </a:txBody>
                  <a:tcPr marL="73152" marR="73152" marT="27432" marB="27432" anchor="ctr">
                    <a:solidFill>
                      <a:srgbClr val="0F4C5C"/>
                    </a:solidFill>
                  </a:tcPr>
                </a:tc>
                <a:tc>
                  <a:txBody>
                    <a:bodyPr/>
                    <a:lstStyle/>
                    <a:p>
                      <a:pPr algn="ctr"/>
                      <a:r>
                        <a:rPr sz="1400" b="1">
                          <a:solidFill>
                            <a:srgbClr val="FFFFFF"/>
                          </a:solidFill>
                          <a:latin typeface="Calibri"/>
                        </a:rPr>
                        <a:t>Valor</a:t>
                      </a:r>
                    </a:p>
                  </a:txBody>
                  <a:tcPr marL="73152" marR="73152" marT="27432" marB="27432" anchor="ctr">
                    <a:solidFill>
                      <a:srgbClr val="0F4C5C"/>
                    </a:solidFill>
                  </a:tcPr>
                </a:tc>
                <a:tc>
                  <a:txBody>
                    <a:bodyPr/>
                    <a:lstStyle/>
                    <a:p>
                      <a:pPr algn="ctr"/>
                      <a:r>
                        <a:rPr sz="1400" b="1">
                          <a:solidFill>
                            <a:srgbClr val="FFFFFF"/>
                          </a:solidFill>
                          <a:latin typeface="Calibri"/>
                        </a:rPr>
                        <a:t>Estima</a:t>
                      </a:r>
                    </a:p>
                  </a:txBody>
                  <a:tcPr marL="73152" marR="73152" marT="27432" marB="27432" anchor="ctr">
                    <a:solidFill>
                      <a:srgbClr val="0F4C5C"/>
                    </a:solidFill>
                  </a:tcPr>
                </a:tc>
              </a:tr>
              <a:tr h="335788">
                <a:tc>
                  <a:txBody>
                    <a:bodyPr/>
                    <a:lstStyle/>
                    <a:p>
                      <a:pPr algn="ctr"/>
                      <a:r>
                        <a:rPr sz="1400" b="0">
                          <a:solidFill>
                            <a:srgbClr val="142B33"/>
                          </a:solidFill>
                          <a:latin typeface="Calibri"/>
                        </a:rPr>
                        <a:t>ℓ</a:t>
                      </a:r>
                      <a:r>
                        <a:rPr sz="1400" b="0" baseline="-25000">
                          <a:solidFill>
                            <a:srgbClr val="142B33"/>
                          </a:solidFill>
                          <a:latin typeface="Calibri"/>
                        </a:rPr>
                        <a:t>A</a:t>
                      </a:r>
                    </a:p>
                  </a:txBody>
                  <a:tcPr marL="73152" marR="73152" marT="27432" marB="27432" anchor="ctr">
                    <a:solidFill>
                      <a:srgbClr val="FFFFFF"/>
                    </a:solidFill>
                  </a:tcPr>
                </a:tc>
                <a:tc>
                  <a:txBody>
                    <a:bodyPr/>
                    <a:lstStyle/>
                    <a:p>
                      <a:pPr algn="ctr"/>
                      <a:r>
                        <a:rPr sz="1400" b="0">
                          <a:solidFill>
                            <a:srgbClr val="142B33"/>
                          </a:solidFill>
                          <a:latin typeface="Calibri"/>
                        </a:rPr>
                        <a:t>(a + abc − b − c)/2</a:t>
                      </a:r>
                    </a:p>
                  </a:txBody>
                  <a:tcPr marL="73152" marR="73152" marT="27432" marB="27432" anchor="ctr">
                    <a:solidFill>
                      <a:srgbClr val="FFFFFF"/>
                    </a:solidFill>
                  </a:tcPr>
                </a:tc>
                <a:tc>
                  <a:txBody>
                    <a:bodyPr/>
                    <a:lstStyle/>
                    <a:p>
                      <a:pPr algn="ctr"/>
                      <a:r>
                        <a:rPr sz="1400" b="0">
                          <a:solidFill>
                            <a:srgbClr val="142B33"/>
                          </a:solidFill>
                          <a:latin typeface="Calibri"/>
                        </a:rPr>
                        <a:t>10</a:t>
                      </a:r>
                    </a:p>
                  </a:txBody>
                  <a:tcPr marL="73152" marR="73152" marT="27432" marB="27432" anchor="ctr">
                    <a:solidFill>
                      <a:srgbClr val="FFFFFF"/>
                    </a:solidFill>
                  </a:tcPr>
                </a:tc>
                <a:tc>
                  <a:txBody>
                    <a:bodyPr/>
                    <a:lstStyle/>
                    <a:p>
                      <a:pPr algn="ctr"/>
                      <a:r>
                        <a:rPr sz="1400" b="0">
                          <a:solidFill>
                            <a:srgbClr val="142B33"/>
                          </a:solidFill>
                          <a:latin typeface="Calibri"/>
                        </a:rPr>
                        <a:t>A + BC</a:t>
                      </a:r>
                    </a:p>
                  </a:txBody>
                  <a:tcPr marL="73152" marR="73152" marT="27432" marB="27432" anchor="ctr">
                    <a:solidFill>
                      <a:srgbClr val="FFFFFF"/>
                    </a:solidFill>
                  </a:tcPr>
                </a:tc>
              </a:tr>
              <a:tr h="335788">
                <a:tc>
                  <a:txBody>
                    <a:bodyPr/>
                    <a:lstStyle/>
                    <a:p>
                      <a:pPr algn="ctr"/>
                      <a:r>
                        <a:rPr sz="1400" b="0">
                          <a:solidFill>
                            <a:srgbClr val="142B33"/>
                          </a:solidFill>
                          <a:latin typeface="Calibri"/>
                        </a:rPr>
                        <a:t>ℓ</a:t>
                      </a:r>
                      <a:r>
                        <a:rPr sz="1400" b="0" baseline="-25000">
                          <a:solidFill>
                            <a:srgbClr val="142B33"/>
                          </a:solidFill>
                          <a:latin typeface="Calibri"/>
                        </a:rPr>
                        <a:t>B</a:t>
                      </a:r>
                    </a:p>
                  </a:txBody>
                  <a:tcPr marL="73152" marR="73152" marT="27432" marB="27432" anchor="ctr">
                    <a:solidFill>
                      <a:srgbClr val="F4F8F9"/>
                    </a:solidFill>
                  </a:tcPr>
                </a:tc>
                <a:tc>
                  <a:txBody>
                    <a:bodyPr/>
                    <a:lstStyle/>
                    <a:p>
                      <a:pPr algn="ctr"/>
                      <a:r>
                        <a:rPr sz="1400" b="0">
                          <a:solidFill>
                            <a:srgbClr val="142B33"/>
                          </a:solidFill>
                          <a:latin typeface="Calibri"/>
                        </a:rPr>
                        <a:t>(b + abc − a − c)/2</a:t>
                      </a:r>
                    </a:p>
                  </a:txBody>
                  <a:tcPr marL="73152" marR="73152" marT="27432" marB="27432" anchor="ctr">
                    <a:solidFill>
                      <a:srgbClr val="F4F8F9"/>
                    </a:solidFill>
                  </a:tcPr>
                </a:tc>
                <a:tc>
                  <a:txBody>
                    <a:bodyPr/>
                    <a:lstStyle/>
                    <a:p>
                      <a:pPr algn="ctr"/>
                      <a:r>
                        <a:rPr sz="1400" b="0">
                          <a:solidFill>
                            <a:srgbClr val="142B33"/>
                          </a:solidFill>
                          <a:latin typeface="Calibri"/>
                        </a:rPr>
                        <a:t>6</a:t>
                      </a:r>
                    </a:p>
                  </a:txBody>
                  <a:tcPr marL="73152" marR="73152" marT="27432" marB="27432" anchor="ctr">
                    <a:solidFill>
                      <a:srgbClr val="F4F8F9"/>
                    </a:solidFill>
                  </a:tcPr>
                </a:tc>
                <a:tc>
                  <a:txBody>
                    <a:bodyPr/>
                    <a:lstStyle/>
                    <a:p>
                      <a:pPr algn="ctr"/>
                      <a:r>
                        <a:rPr sz="1400" b="0">
                          <a:solidFill>
                            <a:srgbClr val="142B33"/>
                          </a:solidFill>
                          <a:latin typeface="Calibri"/>
                        </a:rPr>
                        <a:t>B + AC</a:t>
                      </a:r>
                    </a:p>
                  </a:txBody>
                  <a:tcPr marL="73152" marR="73152" marT="27432" marB="27432" anchor="ctr">
                    <a:solidFill>
                      <a:srgbClr val="F4F8F9"/>
                    </a:solidFill>
                  </a:tcPr>
                </a:tc>
              </a:tr>
              <a:tr h="335788">
                <a:tc>
                  <a:txBody>
                    <a:bodyPr/>
                    <a:lstStyle/>
                    <a:p>
                      <a:pPr algn="ctr"/>
                      <a:r>
                        <a:rPr sz="1400" b="0">
                          <a:solidFill>
                            <a:srgbClr val="142B33"/>
                          </a:solidFill>
                          <a:latin typeface="Calibri"/>
                        </a:rPr>
                        <a:t>ℓ</a:t>
                      </a:r>
                      <a:r>
                        <a:rPr sz="1400" b="0" baseline="-25000">
                          <a:solidFill>
                            <a:srgbClr val="142B33"/>
                          </a:solidFill>
                          <a:latin typeface="Calibri"/>
                        </a:rPr>
                        <a:t>C</a:t>
                      </a:r>
                    </a:p>
                  </a:txBody>
                  <a:tcPr marL="73152" marR="73152" marT="27432" marB="27432" anchor="ctr">
                    <a:solidFill>
                      <a:srgbClr val="FFFFFF"/>
                    </a:solidFill>
                  </a:tcPr>
                </a:tc>
                <a:tc>
                  <a:txBody>
                    <a:bodyPr/>
                    <a:lstStyle/>
                    <a:p>
                      <a:pPr algn="ctr"/>
                      <a:r>
                        <a:rPr sz="1400" b="0">
                          <a:solidFill>
                            <a:srgbClr val="142B33"/>
                          </a:solidFill>
                          <a:latin typeface="Calibri"/>
                        </a:rPr>
                        <a:t>(c + abc − a − b)/2</a:t>
                      </a:r>
                    </a:p>
                  </a:txBody>
                  <a:tcPr marL="73152" marR="73152" marT="27432" marB="27432" anchor="ctr">
                    <a:solidFill>
                      <a:srgbClr val="FFFFFF"/>
                    </a:solidFill>
                  </a:tcPr>
                </a:tc>
                <a:tc>
                  <a:txBody>
                    <a:bodyPr/>
                    <a:lstStyle/>
                    <a:p>
                      <a:pPr algn="ctr"/>
                      <a:r>
                        <a:rPr sz="1400" b="0">
                          <a:solidFill>
                            <a:srgbClr val="142B33"/>
                          </a:solidFill>
                          <a:latin typeface="Calibri"/>
                        </a:rPr>
                        <a:t>0</a:t>
                      </a:r>
                    </a:p>
                  </a:txBody>
                  <a:tcPr marL="73152" marR="73152" marT="27432" marB="27432" anchor="ctr">
                    <a:solidFill>
                      <a:srgbClr val="FFFFFF"/>
                    </a:solidFill>
                  </a:tcPr>
                </a:tc>
                <a:tc>
                  <a:txBody>
                    <a:bodyPr/>
                    <a:lstStyle/>
                    <a:p>
                      <a:pPr algn="ctr"/>
                      <a:r>
                        <a:rPr sz="1400" b="0">
                          <a:solidFill>
                            <a:srgbClr val="142B33"/>
                          </a:solidFill>
                          <a:latin typeface="Calibri"/>
                        </a:rPr>
                        <a:t>C + AB</a:t>
                      </a:r>
                    </a:p>
                  </a:txBody>
                  <a:tcPr marL="73152" marR="73152" marT="27432" marB="27432" anchor="ctr">
                    <a:solidFill>
                      <a:srgbClr val="FFFFFF"/>
                    </a:solidFill>
                  </a:tcPr>
                </a:tc>
              </a:tr>
            </a:tbl>
          </a:graphicData>
        </a:graphic>
      </p:graphicFrame>
      <p:sp>
        <p:nvSpPr>
          <p:cNvPr id="6" name="TextBox 5"/>
          <p:cNvSpPr txBox="1"/>
          <p:nvPr/>
        </p:nvSpPr>
        <p:spPr>
          <a:xfrm>
            <a:off x="6835734" y="1417320"/>
            <a:ext cx="4807320" cy="299973"/>
          </a:xfrm>
          <a:prstGeom prst="rect">
            <a:avLst/>
          </a:prstGeom>
          <a:noFill/>
        </p:spPr>
        <p:txBody>
          <a:bodyPr wrap="square" anchor="t" lIns="0" rIns="0" tIns="0" bIns="0">
            <a:spAutoFit/>
          </a:bodyPr>
          <a:lstStyle/>
          <a:p>
            <a:r>
              <a:rPr sz="1700" b="1">
                <a:solidFill>
                  <a:srgbClr val="142B33"/>
                </a:solidFill>
                <a:latin typeface="Calibri"/>
              </a:rPr>
              <a:t>Se borra C</a:t>
            </a:r>
            <a:r>
              <a:rPr sz="1700" b="0">
                <a:solidFill>
                  <a:srgbClr val="142B33"/>
                </a:solidFill>
                <a:latin typeface="Calibri"/>
              </a:rPr>
              <a:t> y se miran solo A y B</a:t>
            </a:r>
          </a:p>
        </p:txBody>
      </p:sp>
      <p:graphicFrame>
        <p:nvGraphicFramePr>
          <p:cNvPr id="7" name="Table 6"/>
          <p:cNvGraphicFramePr>
            <a:graphicFrameLocks noGrp="1"/>
          </p:cNvGraphicFramePr>
          <p:nvPr/>
        </p:nvGraphicFramePr>
        <p:xfrm>
          <a:off x="6835734" y="1918462"/>
          <a:ext cx="4807319" cy="1756410"/>
        </p:xfrm>
        <a:graphic>
          <a:graphicData uri="http://schemas.openxmlformats.org/drawingml/2006/table">
            <a:tbl>
              <a:tblPr firstRow="0" bandRow="0">
                <a:tableStyleId>{5C22544A-7EE6-4342-B048-85BDC9FD1C3A}</a:tableStyleId>
              </a:tblPr>
              <a:tblGrid>
                <a:gridCol w="2904423"/>
                <a:gridCol w="951448"/>
                <a:gridCol w="951448"/>
              </a:tblGrid>
              <a:tr h="351282">
                <a:tc>
                  <a:txBody>
                    <a:bodyPr/>
                    <a:lstStyle/>
                    <a:p>
                      <a:pPr algn="ctr"/>
                      <a:r>
                        <a:rPr sz="1500" b="1">
                          <a:solidFill>
                            <a:srgbClr val="FFFFFF"/>
                          </a:solidFill>
                          <a:latin typeface="Calibri"/>
                        </a:rPr>
                        <a:t>Corrida</a:t>
                      </a:r>
                    </a:p>
                  </a:txBody>
                  <a:tcPr marL="73152" marR="73152" marT="27432" marB="27432" anchor="ctr">
                    <a:solidFill>
                      <a:srgbClr val="0F4C5C"/>
                    </a:solidFill>
                  </a:tcPr>
                </a:tc>
                <a:tc>
                  <a:txBody>
                    <a:bodyPr/>
                    <a:lstStyle/>
                    <a:p>
                      <a:pPr algn="ctr"/>
                      <a:r>
                        <a:rPr sz="1500" b="1">
                          <a:solidFill>
                            <a:srgbClr val="FFFFFF"/>
                          </a:solidFill>
                          <a:latin typeface="Calibri"/>
                        </a:rPr>
                        <a:t>A</a:t>
                      </a:r>
                    </a:p>
                  </a:txBody>
                  <a:tcPr marL="73152" marR="73152" marT="27432" marB="27432" anchor="ctr">
                    <a:solidFill>
                      <a:srgbClr val="0F4C5C"/>
                    </a:solidFill>
                  </a:tcPr>
                </a:tc>
                <a:tc>
                  <a:txBody>
                    <a:bodyPr/>
                    <a:lstStyle/>
                    <a:p>
                      <a:pPr algn="ctr"/>
                      <a:r>
                        <a:rPr sz="1500" b="1">
                          <a:solidFill>
                            <a:srgbClr val="FFFFFF"/>
                          </a:solidFill>
                          <a:latin typeface="Calibri"/>
                        </a:rPr>
                        <a:t>B</a:t>
                      </a:r>
                    </a:p>
                  </a:txBody>
                  <a:tcPr marL="73152" marR="73152" marT="27432" marB="27432" anchor="ctr">
                    <a:solidFill>
                      <a:srgbClr val="0F4C5C"/>
                    </a:solidFill>
                  </a:tcPr>
                </a:tc>
              </a:tr>
              <a:tr h="351282">
                <a:tc>
                  <a:txBody>
                    <a:bodyPr/>
                    <a:lstStyle/>
                    <a:p>
                      <a:pPr algn="ctr"/>
                      <a:r>
                        <a:rPr sz="1500" b="0">
                          <a:solidFill>
                            <a:srgbClr val="142B33"/>
                          </a:solidFill>
                          <a:latin typeface="Calibri"/>
                        </a:rPr>
                        <a:t>a</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r>
              <a:tr h="351282">
                <a:tc>
                  <a:txBody>
                    <a:bodyPr/>
                    <a:lstStyle/>
                    <a:p>
                      <a:pPr algn="ctr"/>
                      <a:r>
                        <a:rPr sz="1500" b="0">
                          <a:solidFill>
                            <a:srgbClr val="142B33"/>
                          </a:solidFill>
                          <a:latin typeface="Calibri"/>
                        </a:rPr>
                        <a:t>b</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r>
              <a:tr h="351282">
                <a:tc>
                  <a:txBody>
                    <a:bodyPr/>
                    <a:lstStyle/>
                    <a:p>
                      <a:pPr algn="ctr"/>
                      <a:r>
                        <a:rPr sz="1500" b="0">
                          <a:solidFill>
                            <a:srgbClr val="142B33"/>
                          </a:solidFill>
                          <a:latin typeface="Calibri"/>
                        </a:rPr>
                        <a:t>c</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r>
              <a:tr h="351282">
                <a:tc>
                  <a:txBody>
                    <a:bodyPr/>
                    <a:lstStyle/>
                    <a:p>
                      <a:pPr algn="ctr"/>
                      <a:r>
                        <a:rPr sz="1500" b="0">
                          <a:solidFill>
                            <a:srgbClr val="142B33"/>
                          </a:solidFill>
                          <a:latin typeface="Calibri"/>
                        </a:rPr>
                        <a:t>abc</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r>
            </a:tbl>
          </a:graphicData>
        </a:graphic>
      </p:graphicFrame>
      <p:sp>
        <p:nvSpPr>
          <p:cNvPr id="8" name="Rounded Rectangle 7"/>
          <p:cNvSpPr/>
          <p:nvPr/>
        </p:nvSpPr>
        <p:spPr>
          <a:xfrm>
            <a:off x="6835734" y="3876040"/>
            <a:ext cx="4807320"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Las 4 combinaciones de A y B, una vez cada una: </a:t>
            </a:r>
            <a:r>
              <a:rPr sz="1500" b="1">
                <a:solidFill>
                  <a:srgbClr val="142B33"/>
                </a:solidFill>
                <a:latin typeface="Calibri"/>
              </a:rPr>
              <a:t>2</a:t>
            </a:r>
            <a:r>
              <a:rPr sz="1500" b="1" baseline="30000">
                <a:solidFill>
                  <a:srgbClr val="142B33"/>
                </a:solidFill>
                <a:latin typeface="Calibri"/>
              </a:rPr>
              <a:t>2</a:t>
            </a:r>
            <a:r>
              <a:rPr sz="1500" b="1">
                <a:solidFill>
                  <a:srgbClr val="142B33"/>
                </a:solidFill>
                <a:latin typeface="Calibri"/>
              </a:rPr>
              <a:t> completo</a:t>
            </a:r>
          </a:p>
        </p:txBody>
      </p:sp>
      <p:sp>
        <p:nvSpPr>
          <p:cNvPr id="9" name="Rounded Rectangle 8"/>
          <p:cNvSpPr/>
          <p:nvPr/>
        </p:nvSpPr>
        <p:spPr>
          <a:xfrm>
            <a:off x="6835734" y="4816348"/>
            <a:ext cx="4807320"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A y B </a:t>
            </a:r>
            <a:r>
              <a:rPr sz="1500" b="1">
                <a:solidFill>
                  <a:srgbClr val="142B33"/>
                </a:solidFill>
                <a:latin typeface="Calibri"/>
              </a:rPr>
              <a:t>no</a:t>
            </a:r>
            <a:r>
              <a:rPr sz="1500" b="0">
                <a:solidFill>
                  <a:srgbClr val="142B33"/>
                </a:solidFill>
                <a:latin typeface="Calibri"/>
              </a:rPr>
              <a:t> forman palabra  →  no hay ambigüedad: A = 10, B = 6</a:t>
            </a:r>
          </a:p>
        </p:txBody>
      </p:sp>
      <p:sp>
        <p:nvSpPr>
          <p:cNvPr id="10" name="TextBox 9"/>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Otra fracción aclara las dudas</a:t>
            </a:r>
          </a:p>
        </p:txBody>
      </p:sp>
      <p:sp>
        <p:nvSpPr>
          <p:cNvPr id="11" name="TextBox 10"/>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40</a:t>
            </a:r>
          </a:p>
        </p:txBody>
      </p:sp>
      <p:sp>
        <p:nvSpPr>
          <p:cNvPr id="12" name="Rounded Rectangle 11"/>
          <p:cNvSpPr/>
          <p:nvPr/>
        </p:nvSpPr>
        <p:spPr>
          <a:xfrm>
            <a:off x="548640" y="91440"/>
            <a:ext cx="344271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5 · Otra fracción aclara las dudas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Caso 2 · ¿Es C o es AB? Una ambigüedad</a:t>
            </a:r>
          </a:p>
        </p:txBody>
      </p:sp>
      <p:sp>
        <p:nvSpPr>
          <p:cNvPr id="3" name="Rounded Rectangle 2"/>
          <p:cNvSpPr/>
          <p:nvPr/>
        </p:nvSpPr>
        <p:spPr>
          <a:xfrm>
            <a:off x="548640" y="1417320"/>
            <a:ext cx="5555126" cy="551972"/>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0">
                <a:solidFill>
                  <a:srgbClr val="0F4C5C"/>
                </a:solidFill>
                <a:latin typeface="Cambria Math"/>
              </a:rPr>
              <a:t>Verdad oculta:  y = 70 + 5x</a:t>
            </a:r>
            <a:r>
              <a:rPr sz="1600" b="0" baseline="-25000">
                <a:solidFill>
                  <a:srgbClr val="0F4C5C"/>
                </a:solidFill>
                <a:latin typeface="Cambria Math"/>
              </a:rPr>
              <a:t>A</a:t>
            </a:r>
            <a:r>
              <a:rPr sz="1600" b="0">
                <a:solidFill>
                  <a:srgbClr val="0F4C5C"/>
                </a:solidFill>
                <a:latin typeface="Cambria Math"/>
              </a:rPr>
              <a:t> + 3x</a:t>
            </a:r>
            <a:r>
              <a:rPr sz="1600" b="0" baseline="-25000">
                <a:solidFill>
                  <a:srgbClr val="0F4C5C"/>
                </a:solidFill>
                <a:latin typeface="Cambria Math"/>
              </a:rPr>
              <a:t>B</a:t>
            </a:r>
            <a:r>
              <a:rPr sz="1600" b="0">
                <a:solidFill>
                  <a:srgbClr val="0F4C5C"/>
                </a:solidFill>
                <a:latin typeface="Cambria Math"/>
              </a:rPr>
              <a:t> + 4x</a:t>
            </a:r>
            <a:r>
              <a:rPr sz="1600" b="0" baseline="-25000">
                <a:solidFill>
                  <a:srgbClr val="0F4C5C"/>
                </a:solidFill>
                <a:latin typeface="Cambria Math"/>
              </a:rPr>
              <a:t>A</a:t>
            </a:r>
            <a:r>
              <a:rPr sz="1600" b="0">
                <a:solidFill>
                  <a:srgbClr val="0F4C5C"/>
                </a:solidFill>
                <a:latin typeface="Cambria Math"/>
              </a:rPr>
              <a:t>x</a:t>
            </a:r>
            <a:r>
              <a:rPr sz="1600" b="0" baseline="-25000">
                <a:solidFill>
                  <a:srgbClr val="0F4C5C"/>
                </a:solidFill>
                <a:latin typeface="Cambria Math"/>
              </a:rPr>
              <a:t>B</a:t>
            </a:r>
          </a:p>
        </p:txBody>
      </p:sp>
      <p:graphicFrame>
        <p:nvGraphicFramePr>
          <p:cNvPr id="4" name="Table 3"/>
          <p:cNvGraphicFramePr>
            <a:graphicFrameLocks noGrp="1"/>
          </p:cNvGraphicFramePr>
          <p:nvPr/>
        </p:nvGraphicFramePr>
        <p:xfrm>
          <a:off x="548640" y="2170460"/>
          <a:ext cx="5555124" cy="1756410"/>
        </p:xfrm>
        <a:graphic>
          <a:graphicData uri="http://schemas.openxmlformats.org/drawingml/2006/table">
            <a:tbl>
              <a:tblPr firstRow="0" bandRow="0">
                <a:tableStyleId>{5C22544A-7EE6-4342-B048-85BDC9FD1C3A}</a:tableStyleId>
              </a:tblPr>
              <a:tblGrid>
                <a:gridCol w="1862412"/>
                <a:gridCol w="610100"/>
                <a:gridCol w="610100"/>
                <a:gridCol w="610100"/>
                <a:gridCol w="1862412"/>
              </a:tblGrid>
              <a:tr h="351282">
                <a:tc>
                  <a:txBody>
                    <a:bodyPr/>
                    <a:lstStyle/>
                    <a:p>
                      <a:pPr algn="ctr"/>
                      <a:r>
                        <a:rPr sz="1500" b="1">
                          <a:solidFill>
                            <a:srgbClr val="FFFFFF"/>
                          </a:solidFill>
                          <a:latin typeface="Calibri"/>
                        </a:rPr>
                        <a:t>Corrida</a:t>
                      </a:r>
                    </a:p>
                  </a:txBody>
                  <a:tcPr marL="73152" marR="73152" marT="27432" marB="27432" anchor="ctr">
                    <a:solidFill>
                      <a:srgbClr val="0F4C5C"/>
                    </a:solidFill>
                  </a:tcPr>
                </a:tc>
                <a:tc>
                  <a:txBody>
                    <a:bodyPr/>
                    <a:lstStyle/>
                    <a:p>
                      <a:pPr algn="ctr"/>
                      <a:r>
                        <a:rPr sz="1500" b="1">
                          <a:solidFill>
                            <a:srgbClr val="FFFFFF"/>
                          </a:solidFill>
                          <a:latin typeface="Calibri"/>
                        </a:rPr>
                        <a:t>A</a:t>
                      </a:r>
                    </a:p>
                  </a:txBody>
                  <a:tcPr marL="73152" marR="73152" marT="27432" marB="27432" anchor="ctr">
                    <a:solidFill>
                      <a:srgbClr val="0F4C5C"/>
                    </a:solidFill>
                  </a:tcPr>
                </a:tc>
                <a:tc>
                  <a:txBody>
                    <a:bodyPr/>
                    <a:lstStyle/>
                    <a:p>
                      <a:pPr algn="ctr"/>
                      <a:r>
                        <a:rPr sz="1500" b="1">
                          <a:solidFill>
                            <a:srgbClr val="FFFFFF"/>
                          </a:solidFill>
                          <a:latin typeface="Calibri"/>
                        </a:rPr>
                        <a:t>B</a:t>
                      </a:r>
                    </a:p>
                  </a:txBody>
                  <a:tcPr marL="73152" marR="73152" marT="27432" marB="27432" anchor="ctr">
                    <a:solidFill>
                      <a:srgbClr val="0F4C5C"/>
                    </a:solidFill>
                  </a:tcPr>
                </a:tc>
                <a:tc>
                  <a:txBody>
                    <a:bodyPr/>
                    <a:lstStyle/>
                    <a:p>
                      <a:pPr algn="ctr"/>
                      <a:r>
                        <a:rPr sz="1500" b="1">
                          <a:solidFill>
                            <a:srgbClr val="FFFFFF"/>
                          </a:solidFill>
                          <a:latin typeface="Calibri"/>
                        </a:rPr>
                        <a:t>C</a:t>
                      </a:r>
                    </a:p>
                  </a:txBody>
                  <a:tcPr marL="73152" marR="73152" marT="27432" marB="27432" anchor="ctr">
                    <a:solidFill>
                      <a:srgbClr val="0F4C5C"/>
                    </a:solidFill>
                  </a:tcPr>
                </a:tc>
                <a:tc>
                  <a:txBody>
                    <a:bodyPr/>
                    <a:lstStyle/>
                    <a:p>
                      <a:pPr algn="ctr"/>
                      <a:r>
                        <a:rPr sz="1500" b="1">
                          <a:solidFill>
                            <a:srgbClr val="FFFFFF"/>
                          </a:solidFill>
                          <a:latin typeface="Calibri"/>
                        </a:rPr>
                        <a:t>Sabor y</a:t>
                      </a:r>
                    </a:p>
                  </a:txBody>
                  <a:tcPr marL="73152" marR="73152" marT="27432" marB="27432" anchor="ctr">
                    <a:solidFill>
                      <a:srgbClr val="0F4C5C"/>
                    </a:solidFill>
                  </a:tcPr>
                </a:tc>
              </a:tr>
              <a:tr h="351282">
                <a:tc>
                  <a:txBody>
                    <a:bodyPr/>
                    <a:lstStyle/>
                    <a:p>
                      <a:pPr algn="ctr"/>
                      <a:r>
                        <a:rPr sz="1500" b="0">
                          <a:solidFill>
                            <a:srgbClr val="142B33"/>
                          </a:solidFill>
                          <a:latin typeface="Calibri"/>
                        </a:rPr>
                        <a:t>a</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68</a:t>
                      </a:r>
                    </a:p>
                  </a:txBody>
                  <a:tcPr marL="73152" marR="73152" marT="27432" marB="27432" anchor="ctr">
                    <a:solidFill>
                      <a:srgbClr val="FFFFFF"/>
                    </a:solidFill>
                  </a:tcPr>
                </a:tc>
              </a:tr>
              <a:tr h="351282">
                <a:tc>
                  <a:txBody>
                    <a:bodyPr/>
                    <a:lstStyle/>
                    <a:p>
                      <a:pPr algn="ctr"/>
                      <a:r>
                        <a:rPr sz="1500" b="0">
                          <a:solidFill>
                            <a:srgbClr val="142B33"/>
                          </a:solidFill>
                          <a:latin typeface="Calibri"/>
                        </a:rPr>
                        <a:t>b</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64</a:t>
                      </a:r>
                    </a:p>
                  </a:txBody>
                  <a:tcPr marL="73152" marR="73152" marT="27432" marB="27432" anchor="ctr">
                    <a:solidFill>
                      <a:srgbClr val="F4F8F9"/>
                    </a:solidFill>
                  </a:tcPr>
                </a:tc>
              </a:tr>
              <a:tr h="351282">
                <a:tc>
                  <a:txBody>
                    <a:bodyPr/>
                    <a:lstStyle/>
                    <a:p>
                      <a:pPr algn="ctr"/>
                      <a:r>
                        <a:rPr sz="1500" b="0">
                          <a:solidFill>
                            <a:srgbClr val="142B33"/>
                          </a:solidFill>
                          <a:latin typeface="Calibri"/>
                        </a:rPr>
                        <a:t>c</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66</a:t>
                      </a:r>
                    </a:p>
                  </a:txBody>
                  <a:tcPr marL="73152" marR="73152" marT="27432" marB="27432" anchor="ctr">
                    <a:solidFill>
                      <a:srgbClr val="FFFFFF"/>
                    </a:solidFill>
                  </a:tcPr>
                </a:tc>
              </a:tr>
              <a:tr h="351282">
                <a:tc>
                  <a:txBody>
                    <a:bodyPr/>
                    <a:lstStyle/>
                    <a:p>
                      <a:pPr algn="ctr"/>
                      <a:r>
                        <a:rPr sz="1500" b="0">
                          <a:solidFill>
                            <a:srgbClr val="142B33"/>
                          </a:solidFill>
                          <a:latin typeface="Calibri"/>
                        </a:rPr>
                        <a:t>abc</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82</a:t>
                      </a:r>
                    </a:p>
                  </a:txBody>
                  <a:tcPr marL="73152" marR="73152" marT="27432" marB="27432" anchor="ctr">
                    <a:solidFill>
                      <a:srgbClr val="F4F8F9"/>
                    </a:solidFill>
                  </a:tcPr>
                </a:tc>
              </a:tr>
            </a:tbl>
          </a:graphicData>
        </a:graphic>
      </p:graphicFrame>
      <p:graphicFrame>
        <p:nvGraphicFramePr>
          <p:cNvPr id="5" name="Table 4"/>
          <p:cNvGraphicFramePr>
            <a:graphicFrameLocks noGrp="1"/>
          </p:cNvGraphicFramePr>
          <p:nvPr/>
        </p:nvGraphicFramePr>
        <p:xfrm>
          <a:off x="548640" y="4128038"/>
          <a:ext cx="5555125" cy="1405128"/>
        </p:xfrm>
        <a:graphic>
          <a:graphicData uri="http://schemas.openxmlformats.org/drawingml/2006/table">
            <a:tbl>
              <a:tblPr firstRow="0" bandRow="0">
                <a:tableStyleId>{5C22544A-7EE6-4342-B048-85BDC9FD1C3A}</a:tableStyleId>
              </a:tblPr>
              <a:tblGrid>
                <a:gridCol w="2354710"/>
                <a:gridCol w="1492421"/>
                <a:gridCol w="1707994"/>
              </a:tblGrid>
              <a:tr h="351282">
                <a:tc>
                  <a:txBody>
                    <a:bodyPr/>
                    <a:lstStyle/>
                    <a:p>
                      <a:pPr algn="ctr"/>
                      <a:r>
                        <a:rPr sz="1500" b="1">
                          <a:solidFill>
                            <a:srgbClr val="FFFFFF"/>
                          </a:solidFill>
                          <a:latin typeface="Calibri"/>
                        </a:rPr>
                        <a:t>Contraste</a:t>
                      </a:r>
                    </a:p>
                  </a:txBody>
                  <a:tcPr marL="73152" marR="73152" marT="27432" marB="27432" anchor="ctr">
                    <a:solidFill>
                      <a:srgbClr val="0F4C5C"/>
                    </a:solidFill>
                  </a:tcPr>
                </a:tc>
                <a:tc>
                  <a:txBody>
                    <a:bodyPr/>
                    <a:lstStyle/>
                    <a:p>
                      <a:pPr algn="ctr"/>
                      <a:r>
                        <a:rPr sz="1500" b="1">
                          <a:solidFill>
                            <a:srgbClr val="FFFFFF"/>
                          </a:solidFill>
                          <a:latin typeface="Calibri"/>
                        </a:rPr>
                        <a:t>Valor</a:t>
                      </a:r>
                    </a:p>
                  </a:txBody>
                  <a:tcPr marL="73152" marR="73152" marT="27432" marB="27432" anchor="ctr">
                    <a:solidFill>
                      <a:srgbClr val="0F4C5C"/>
                    </a:solidFill>
                  </a:tcPr>
                </a:tc>
                <a:tc>
                  <a:txBody>
                    <a:bodyPr/>
                    <a:lstStyle/>
                    <a:p>
                      <a:pPr algn="ctr"/>
                      <a:r>
                        <a:rPr sz="1500" b="1">
                          <a:solidFill>
                            <a:srgbClr val="FFFFFF"/>
                          </a:solidFill>
                          <a:latin typeface="Calibri"/>
                        </a:rPr>
                        <a:t>Estima</a:t>
                      </a:r>
                    </a:p>
                  </a:txBody>
                  <a:tcPr marL="73152" marR="73152" marT="27432" marB="27432" anchor="ctr">
                    <a:solidFill>
                      <a:srgbClr val="0F4C5C"/>
                    </a:solidFill>
                  </a:tcPr>
                </a:tc>
              </a:tr>
              <a:tr h="351282">
                <a:tc>
                  <a:txBody>
                    <a:bodyPr/>
                    <a:lstStyle/>
                    <a:p>
                      <a:pPr algn="ctr"/>
                      <a:r>
                        <a:rPr sz="1500" b="0">
                          <a:solidFill>
                            <a:srgbClr val="142B33"/>
                          </a:solidFill>
                          <a:latin typeface="Calibri"/>
                        </a:rPr>
                        <a:t>ℓ</a:t>
                      </a:r>
                      <a:r>
                        <a:rPr sz="1500" b="0" baseline="-25000">
                          <a:solidFill>
                            <a:srgbClr val="142B33"/>
                          </a:solidFill>
                          <a:latin typeface="Calibri"/>
                        </a:rPr>
                        <a:t>A</a:t>
                      </a:r>
                    </a:p>
                  </a:txBody>
                  <a:tcPr marL="73152" marR="73152" marT="27432" marB="27432" anchor="ctr">
                    <a:solidFill>
                      <a:srgbClr val="FFFFFF"/>
                    </a:solidFill>
                  </a:tcPr>
                </a:tc>
                <a:tc>
                  <a:txBody>
                    <a:bodyPr/>
                    <a:lstStyle/>
                    <a:p>
                      <a:pPr algn="ctr"/>
                      <a:r>
                        <a:rPr sz="1500" b="0">
                          <a:solidFill>
                            <a:srgbClr val="142B33"/>
                          </a:solidFill>
                          <a:latin typeface="Calibri"/>
                        </a:rPr>
                        <a:t>10</a:t>
                      </a:r>
                    </a:p>
                  </a:txBody>
                  <a:tcPr marL="73152" marR="73152" marT="27432" marB="27432" anchor="ctr">
                    <a:solidFill>
                      <a:srgbClr val="FFFFFF"/>
                    </a:solidFill>
                  </a:tcPr>
                </a:tc>
                <a:tc>
                  <a:txBody>
                    <a:bodyPr/>
                    <a:lstStyle/>
                    <a:p>
                      <a:pPr algn="ctr"/>
                      <a:r>
                        <a:rPr sz="1500" b="0">
                          <a:solidFill>
                            <a:srgbClr val="142B33"/>
                          </a:solidFill>
                          <a:latin typeface="Calibri"/>
                        </a:rPr>
                        <a:t>A + BC</a:t>
                      </a:r>
                    </a:p>
                  </a:txBody>
                  <a:tcPr marL="73152" marR="73152" marT="27432" marB="27432" anchor="ctr">
                    <a:solidFill>
                      <a:srgbClr val="FFFFFF"/>
                    </a:solidFill>
                  </a:tcPr>
                </a:tc>
              </a:tr>
              <a:tr h="351282">
                <a:tc>
                  <a:txBody>
                    <a:bodyPr/>
                    <a:lstStyle/>
                    <a:p>
                      <a:pPr algn="ctr"/>
                      <a:r>
                        <a:rPr sz="1500" b="0">
                          <a:solidFill>
                            <a:srgbClr val="142B33"/>
                          </a:solidFill>
                          <a:latin typeface="Calibri"/>
                        </a:rPr>
                        <a:t>ℓ</a:t>
                      </a:r>
                      <a:r>
                        <a:rPr sz="1500" b="0" baseline="-25000">
                          <a:solidFill>
                            <a:srgbClr val="142B33"/>
                          </a:solidFill>
                          <a:latin typeface="Calibri"/>
                        </a:rPr>
                        <a:t>B</a:t>
                      </a:r>
                    </a:p>
                  </a:txBody>
                  <a:tcPr marL="73152" marR="73152" marT="27432" marB="27432" anchor="ctr">
                    <a:solidFill>
                      <a:srgbClr val="F4F8F9"/>
                    </a:solidFill>
                  </a:tcPr>
                </a:tc>
                <a:tc>
                  <a:txBody>
                    <a:bodyPr/>
                    <a:lstStyle/>
                    <a:p>
                      <a:pPr algn="ctr"/>
                      <a:r>
                        <a:rPr sz="1500" b="0">
                          <a:solidFill>
                            <a:srgbClr val="142B33"/>
                          </a:solidFill>
                          <a:latin typeface="Calibri"/>
                        </a:rPr>
                        <a:t>6</a:t>
                      </a:r>
                    </a:p>
                  </a:txBody>
                  <a:tcPr marL="73152" marR="73152" marT="27432" marB="27432" anchor="ctr">
                    <a:solidFill>
                      <a:srgbClr val="F4F8F9"/>
                    </a:solidFill>
                  </a:tcPr>
                </a:tc>
                <a:tc>
                  <a:txBody>
                    <a:bodyPr/>
                    <a:lstStyle/>
                    <a:p>
                      <a:pPr algn="ctr"/>
                      <a:r>
                        <a:rPr sz="1500" b="0">
                          <a:solidFill>
                            <a:srgbClr val="142B33"/>
                          </a:solidFill>
                          <a:latin typeface="Calibri"/>
                        </a:rPr>
                        <a:t>B + AC</a:t>
                      </a:r>
                    </a:p>
                  </a:txBody>
                  <a:tcPr marL="73152" marR="73152" marT="27432" marB="27432" anchor="ctr">
                    <a:solidFill>
                      <a:srgbClr val="F4F8F9"/>
                    </a:solidFill>
                  </a:tcPr>
                </a:tc>
              </a:tr>
              <a:tr h="351282">
                <a:tc>
                  <a:txBody>
                    <a:bodyPr/>
                    <a:lstStyle/>
                    <a:p>
                      <a:pPr algn="ctr"/>
                      <a:r>
                        <a:rPr sz="1500" b="0">
                          <a:solidFill>
                            <a:srgbClr val="142B33"/>
                          </a:solidFill>
                          <a:latin typeface="Calibri"/>
                        </a:rPr>
                        <a:t>ℓ</a:t>
                      </a:r>
                      <a:r>
                        <a:rPr sz="1500" b="0" baseline="-25000">
                          <a:solidFill>
                            <a:srgbClr val="142B33"/>
                          </a:solidFill>
                          <a:latin typeface="Calibri"/>
                        </a:rPr>
                        <a:t>C</a:t>
                      </a:r>
                    </a:p>
                  </a:txBody>
                  <a:tcPr marL="73152" marR="73152" marT="27432" marB="27432" anchor="ctr">
                    <a:solidFill>
                      <a:srgbClr val="FDE8D7"/>
                    </a:solidFill>
                  </a:tcPr>
                </a:tc>
                <a:tc>
                  <a:txBody>
                    <a:bodyPr/>
                    <a:lstStyle/>
                    <a:p>
                      <a:pPr algn="ctr"/>
                      <a:r>
                        <a:rPr sz="1500" b="0">
                          <a:solidFill>
                            <a:srgbClr val="142B33"/>
                          </a:solidFill>
                          <a:latin typeface="Calibri"/>
                        </a:rPr>
                        <a:t>8</a:t>
                      </a:r>
                    </a:p>
                  </a:txBody>
                  <a:tcPr marL="73152" marR="73152" marT="27432" marB="27432" anchor="ctr">
                    <a:solidFill>
                      <a:srgbClr val="FDE8D7"/>
                    </a:solidFill>
                  </a:tcPr>
                </a:tc>
                <a:tc>
                  <a:txBody>
                    <a:bodyPr/>
                    <a:lstStyle/>
                    <a:p>
                      <a:pPr algn="ctr"/>
                      <a:r>
                        <a:rPr sz="1500" b="1">
                          <a:solidFill>
                            <a:srgbClr val="142B33"/>
                          </a:solidFill>
                          <a:latin typeface="Calibri"/>
                        </a:rPr>
                        <a:t>C + AB</a:t>
                      </a:r>
                    </a:p>
                  </a:txBody>
                  <a:tcPr marL="73152" marR="73152" marT="27432" marB="27432" anchor="ctr">
                    <a:solidFill>
                      <a:srgbClr val="FDE8D7"/>
                    </a:solidFill>
                  </a:tcPr>
                </a:tc>
              </a:tr>
            </a:tbl>
          </a:graphicData>
        </a:graphic>
      </p:graphicFrame>
      <p:sp>
        <p:nvSpPr>
          <p:cNvPr id="6" name="Rounded Rectangle 5"/>
          <p:cNvSpPr/>
          <p:nvPr/>
        </p:nvSpPr>
        <p:spPr>
          <a:xfrm>
            <a:off x="6515246" y="1417320"/>
            <a:ext cx="5127808" cy="1249426"/>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700" b="1">
                <a:solidFill>
                  <a:srgbClr val="0F4C5C"/>
                </a:solidFill>
                <a:latin typeface="Cambria"/>
              </a:rPr>
              <a:t>Explicación 1</a:t>
            </a:r>
          </a:p>
          <a:p>
            <a:pPr algn="l"/>
            <a:r>
              <a:rPr sz="1500" b="1">
                <a:solidFill>
                  <a:srgbClr val="142B33"/>
                </a:solidFill>
                <a:latin typeface="Calibri"/>
              </a:rPr>
              <a:t>C</a:t>
            </a:r>
            <a:r>
              <a:rPr sz="1500" b="0">
                <a:solidFill>
                  <a:srgbClr val="142B33"/>
                </a:solidFill>
                <a:latin typeface="Calibri"/>
              </a:rPr>
              <a:t> (tiempo de infusión) sube el sabor 8 puntos</a:t>
            </a:r>
          </a:p>
        </p:txBody>
      </p:sp>
      <p:sp>
        <p:nvSpPr>
          <p:cNvPr id="7" name="Rounded Rectangle 6"/>
          <p:cNvSpPr/>
          <p:nvPr/>
        </p:nvSpPr>
        <p:spPr>
          <a:xfrm>
            <a:off x="6515246" y="2895346"/>
            <a:ext cx="5127808" cy="1249426"/>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700" b="1">
                <a:solidFill>
                  <a:srgbClr val="0F4C5C"/>
                </a:solidFill>
                <a:latin typeface="Cambria"/>
              </a:rPr>
              <a:t>Explicación 2</a:t>
            </a:r>
          </a:p>
          <a:p>
            <a:pPr algn="l"/>
            <a:r>
              <a:rPr sz="1500" b="0">
                <a:solidFill>
                  <a:srgbClr val="142B33"/>
                </a:solidFill>
                <a:latin typeface="Calibri"/>
              </a:rPr>
              <a:t>C no hace nada; es la interacción </a:t>
            </a:r>
            <a:r>
              <a:rPr sz="1500" b="1">
                <a:solidFill>
                  <a:srgbClr val="142B33"/>
                </a:solidFill>
                <a:latin typeface="Calibri"/>
              </a:rPr>
              <a:t>AB</a:t>
            </a:r>
            <a:r>
              <a:rPr sz="1500" b="0">
                <a:solidFill>
                  <a:srgbClr val="142B33"/>
                </a:solidFill>
                <a:latin typeface="Calibri"/>
              </a:rPr>
              <a:t> (temperatura × molienda)</a:t>
            </a:r>
          </a:p>
        </p:txBody>
      </p:sp>
      <p:sp>
        <p:nvSpPr>
          <p:cNvPr id="8" name="Rounded Rectangle 7"/>
          <p:cNvSpPr/>
          <p:nvPr/>
        </p:nvSpPr>
        <p:spPr>
          <a:xfrm>
            <a:off x="6515246" y="4345940"/>
            <a:ext cx="5127808" cy="97155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A, B y C forman la palabra </a:t>
            </a:r>
            <a:r>
              <a:rPr sz="1500" b="1">
                <a:solidFill>
                  <a:srgbClr val="142B33"/>
                </a:solidFill>
                <a:latin typeface="Calibri"/>
              </a:rPr>
              <a:t>ABC</a:t>
            </a:r>
            <a:r>
              <a:rPr sz="1500" b="0">
                <a:solidFill>
                  <a:srgbClr val="142B33"/>
                </a:solidFill>
                <a:latin typeface="Calibri"/>
              </a:rPr>
              <a:t>: solo se corrieron 4 de las 8 combinaciones  →  no se pueden separar</a:t>
            </a:r>
          </a:p>
        </p:txBody>
      </p:sp>
      <p:sp>
        <p:nvSpPr>
          <p:cNvPr id="9" name="TextBox 8"/>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Otra fracción aclara las dudas</a:t>
            </a:r>
          </a:p>
        </p:txBody>
      </p:sp>
      <p:sp>
        <p:nvSpPr>
          <p:cNvPr id="10" name="TextBox 9"/>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41</a:t>
            </a:r>
          </a:p>
        </p:txBody>
      </p:sp>
      <p:sp>
        <p:nvSpPr>
          <p:cNvPr id="11" name="Rounded Rectangle 10"/>
          <p:cNvSpPr/>
          <p:nvPr/>
        </p:nvSpPr>
        <p:spPr>
          <a:xfrm>
            <a:off x="548640" y="91440"/>
            <a:ext cx="344271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5 · Otra fracción aclara las dudas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Caso 2 · El doblez resuelve la duda</a:t>
            </a:r>
          </a:p>
        </p:txBody>
      </p:sp>
      <p:graphicFrame>
        <p:nvGraphicFramePr>
          <p:cNvPr id="3" name="Table 2"/>
          <p:cNvGraphicFramePr>
            <a:graphicFrameLocks noGrp="1"/>
          </p:cNvGraphicFramePr>
          <p:nvPr/>
        </p:nvGraphicFramePr>
        <p:xfrm>
          <a:off x="548640" y="1417320"/>
          <a:ext cx="4700489" cy="1756410"/>
        </p:xfrm>
        <a:graphic>
          <a:graphicData uri="http://schemas.openxmlformats.org/drawingml/2006/table">
            <a:tbl>
              <a:tblPr firstRow="0" bandRow="0">
                <a:tableStyleId>{5C22544A-7EE6-4342-B048-85BDC9FD1C3A}</a:tableStyleId>
              </a:tblPr>
              <a:tblGrid>
                <a:gridCol w="1285983"/>
                <a:gridCol w="421270"/>
                <a:gridCol w="421270"/>
                <a:gridCol w="1285983"/>
                <a:gridCol w="1285983"/>
              </a:tblGrid>
              <a:tr h="351282">
                <a:tc>
                  <a:txBody>
                    <a:bodyPr/>
                    <a:lstStyle/>
                    <a:p>
                      <a:pPr algn="ctr"/>
                      <a:r>
                        <a:rPr sz="1500" b="1">
                          <a:solidFill>
                            <a:srgbClr val="FFFFFF"/>
                          </a:solidFill>
                          <a:latin typeface="Calibri"/>
                        </a:rPr>
                        <a:t>Corrida</a:t>
                      </a:r>
                    </a:p>
                  </a:txBody>
                  <a:tcPr marL="73152" marR="73152" marT="27432" marB="27432" anchor="ctr">
                    <a:solidFill>
                      <a:srgbClr val="0F4C5C"/>
                    </a:solidFill>
                  </a:tcPr>
                </a:tc>
                <a:tc>
                  <a:txBody>
                    <a:bodyPr/>
                    <a:lstStyle/>
                    <a:p>
                      <a:pPr algn="ctr"/>
                      <a:r>
                        <a:rPr sz="1500" b="1">
                          <a:solidFill>
                            <a:srgbClr val="FFFFFF"/>
                          </a:solidFill>
                          <a:latin typeface="Calibri"/>
                        </a:rPr>
                        <a:t>A</a:t>
                      </a:r>
                    </a:p>
                  </a:txBody>
                  <a:tcPr marL="73152" marR="73152" marT="27432" marB="27432" anchor="ctr">
                    <a:solidFill>
                      <a:srgbClr val="0F4C5C"/>
                    </a:solidFill>
                  </a:tcPr>
                </a:tc>
                <a:tc>
                  <a:txBody>
                    <a:bodyPr/>
                    <a:lstStyle/>
                    <a:p>
                      <a:pPr algn="ctr"/>
                      <a:r>
                        <a:rPr sz="1500" b="1">
                          <a:solidFill>
                            <a:srgbClr val="FFFFFF"/>
                          </a:solidFill>
                          <a:latin typeface="Calibri"/>
                        </a:rPr>
                        <a:t>B</a:t>
                      </a:r>
                    </a:p>
                  </a:txBody>
                  <a:tcPr marL="73152" marR="73152" marT="27432" marB="27432" anchor="ctr">
                    <a:solidFill>
                      <a:srgbClr val="0F4C5C"/>
                    </a:solidFill>
                  </a:tcPr>
                </a:tc>
                <a:tc>
                  <a:txBody>
                    <a:bodyPr/>
                    <a:lstStyle/>
                    <a:p>
                      <a:pPr algn="ctr"/>
                      <a:r>
                        <a:rPr sz="1500" b="1">
                          <a:solidFill>
                            <a:srgbClr val="FFFFFF"/>
                          </a:solidFill>
                          <a:latin typeface="Calibri"/>
                        </a:rPr>
                        <a:t>C = −AB</a:t>
                      </a:r>
                    </a:p>
                  </a:txBody>
                  <a:tcPr marL="73152" marR="73152" marT="27432" marB="27432" anchor="ctr">
                    <a:solidFill>
                      <a:srgbClr val="0F4C5C"/>
                    </a:solidFill>
                  </a:tcPr>
                </a:tc>
                <a:tc>
                  <a:txBody>
                    <a:bodyPr/>
                    <a:lstStyle/>
                    <a:p>
                      <a:pPr algn="ctr"/>
                      <a:r>
                        <a:rPr sz="1500" b="1">
                          <a:solidFill>
                            <a:srgbClr val="FFFFFF"/>
                          </a:solidFill>
                          <a:latin typeface="Calibri"/>
                        </a:rPr>
                        <a:t>Sabor y</a:t>
                      </a:r>
                    </a:p>
                  </a:txBody>
                  <a:tcPr marL="73152" marR="73152" marT="27432" marB="27432" anchor="ctr">
                    <a:solidFill>
                      <a:srgbClr val="0F4C5C"/>
                    </a:solidFill>
                  </a:tcPr>
                </a:tc>
              </a:tr>
              <a:tr h="351282">
                <a:tc>
                  <a:txBody>
                    <a:bodyPr/>
                    <a:lstStyle/>
                    <a:p>
                      <a:pPr algn="ctr"/>
                      <a:r>
                        <a:rPr sz="1500" b="0">
                          <a:solidFill>
                            <a:srgbClr val="142B33"/>
                          </a:solidFill>
                          <a:latin typeface="Calibri"/>
                        </a:rPr>
                        <a:t>(1)</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66</a:t>
                      </a:r>
                    </a:p>
                  </a:txBody>
                  <a:tcPr marL="73152" marR="73152" marT="27432" marB="27432" anchor="ctr">
                    <a:solidFill>
                      <a:srgbClr val="FFFFFF"/>
                    </a:solidFill>
                  </a:tcPr>
                </a:tc>
              </a:tr>
              <a:tr h="351282">
                <a:tc>
                  <a:txBody>
                    <a:bodyPr/>
                    <a:lstStyle/>
                    <a:p>
                      <a:pPr algn="ctr"/>
                      <a:r>
                        <a:rPr sz="1500" b="0">
                          <a:solidFill>
                            <a:srgbClr val="142B33"/>
                          </a:solidFill>
                          <a:latin typeface="Calibri"/>
                        </a:rPr>
                        <a:t>ab</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82</a:t>
                      </a:r>
                    </a:p>
                  </a:txBody>
                  <a:tcPr marL="73152" marR="73152" marT="27432" marB="27432" anchor="ctr">
                    <a:solidFill>
                      <a:srgbClr val="F4F8F9"/>
                    </a:solidFill>
                  </a:tcPr>
                </a:tc>
              </a:tr>
              <a:tr h="351282">
                <a:tc>
                  <a:txBody>
                    <a:bodyPr/>
                    <a:lstStyle/>
                    <a:p>
                      <a:pPr algn="ctr"/>
                      <a:r>
                        <a:rPr sz="1500" b="0">
                          <a:solidFill>
                            <a:srgbClr val="142B33"/>
                          </a:solidFill>
                          <a:latin typeface="Calibri"/>
                        </a:rPr>
                        <a:t>ac</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68</a:t>
                      </a:r>
                    </a:p>
                  </a:txBody>
                  <a:tcPr marL="73152" marR="73152" marT="27432" marB="27432" anchor="ctr">
                    <a:solidFill>
                      <a:srgbClr val="FFFFFF"/>
                    </a:solidFill>
                  </a:tcPr>
                </a:tc>
              </a:tr>
              <a:tr h="351282">
                <a:tc>
                  <a:txBody>
                    <a:bodyPr/>
                    <a:lstStyle/>
                    <a:p>
                      <a:pPr algn="ctr"/>
                      <a:r>
                        <a:rPr sz="1500" b="0">
                          <a:solidFill>
                            <a:srgbClr val="142B33"/>
                          </a:solidFill>
                          <a:latin typeface="Calibri"/>
                        </a:rPr>
                        <a:t>bc</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64</a:t>
                      </a:r>
                    </a:p>
                  </a:txBody>
                  <a:tcPr marL="73152" marR="73152" marT="27432" marB="27432" anchor="ctr">
                    <a:solidFill>
                      <a:srgbClr val="F4F8F9"/>
                    </a:solidFill>
                  </a:tcPr>
                </a:tc>
              </a:tr>
            </a:tbl>
          </a:graphicData>
        </a:graphic>
      </p:graphicFrame>
      <p:sp>
        <p:nvSpPr>
          <p:cNvPr id="4" name="Rounded Rectangle 3"/>
          <p:cNvSpPr/>
          <p:nvPr/>
        </p:nvSpPr>
        <p:spPr>
          <a:xfrm>
            <a:off x="548640" y="3374898"/>
            <a:ext cx="4700491" cy="864331"/>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700" b="0">
                <a:solidFill>
                  <a:srgbClr val="0F4C5C"/>
                </a:solidFill>
                <a:latin typeface="Cambria Math"/>
              </a:rPr>
              <a:t>½ (ℓ + ℓ′) → el efecto principal</a:t>
            </a:r>
          </a:p>
          <a:p>
            <a:pPr algn="ctr"/>
            <a:r>
              <a:rPr sz="1700" b="0">
                <a:solidFill>
                  <a:srgbClr val="0F4C5C"/>
                </a:solidFill>
                <a:latin typeface="Cambria Math"/>
              </a:rPr>
              <a:t>½ (ℓ − ℓ′) → su alias</a:t>
            </a:r>
          </a:p>
        </p:txBody>
      </p:sp>
      <p:graphicFrame>
        <p:nvGraphicFramePr>
          <p:cNvPr id="5" name="Table 4"/>
          <p:cNvGraphicFramePr>
            <a:graphicFrameLocks noGrp="1"/>
          </p:cNvGraphicFramePr>
          <p:nvPr/>
        </p:nvGraphicFramePr>
        <p:xfrm>
          <a:off x="5660611" y="1417320"/>
          <a:ext cx="5982441" cy="1637538"/>
        </p:xfrm>
        <a:graphic>
          <a:graphicData uri="http://schemas.openxmlformats.org/drawingml/2006/table">
            <a:tbl>
              <a:tblPr firstRow="0" bandRow="0">
                <a:tableStyleId>{5C22544A-7EE6-4342-B048-85BDC9FD1C3A}</a:tableStyleId>
              </a:tblPr>
              <a:tblGrid>
                <a:gridCol w="852534"/>
                <a:gridCol w="1330248"/>
                <a:gridCol w="1521333"/>
                <a:gridCol w="1139163"/>
                <a:gridCol w="1139163"/>
              </a:tblGrid>
              <a:tr h="583692">
                <a:tc>
                  <a:txBody>
                    <a:bodyPr/>
                    <a:lstStyle/>
                    <a:p>
                      <a:pPr algn="ctr"/>
                      <a:r>
                        <a:rPr sz="1500" b="1">
                          <a:solidFill>
                            <a:srgbClr val="FFFFFF"/>
                          </a:solidFill>
                          <a:latin typeface="Calibri"/>
                        </a:rPr>
                        <a:t>Columna</a:t>
                      </a:r>
                    </a:p>
                  </a:txBody>
                  <a:tcPr marL="73152" marR="73152" marT="27432" marB="27432" anchor="ctr">
                    <a:solidFill>
                      <a:srgbClr val="0F4C5C"/>
                    </a:solidFill>
                  </a:tcPr>
                </a:tc>
                <a:tc>
                  <a:txBody>
                    <a:bodyPr/>
                    <a:lstStyle/>
                    <a:p>
                      <a:pPr algn="ctr"/>
                      <a:r>
                        <a:rPr sz="1500" b="1">
                          <a:solidFill>
                            <a:srgbClr val="FFFFFF"/>
                          </a:solidFill>
                          <a:latin typeface="Calibri"/>
                        </a:rPr>
                        <a:t>ℓ  (I = ABC)</a:t>
                      </a:r>
                    </a:p>
                  </a:txBody>
                  <a:tcPr marL="73152" marR="73152" marT="27432" marB="27432" anchor="ctr">
                    <a:solidFill>
                      <a:srgbClr val="0F4C5C"/>
                    </a:solidFill>
                  </a:tcPr>
                </a:tc>
                <a:tc>
                  <a:txBody>
                    <a:bodyPr/>
                    <a:lstStyle/>
                    <a:p>
                      <a:pPr algn="ctr"/>
                      <a:r>
                        <a:rPr sz="1500" b="1">
                          <a:solidFill>
                            <a:srgbClr val="FFFFFF"/>
                          </a:solidFill>
                          <a:latin typeface="Calibri"/>
                        </a:rPr>
                        <a:t>ℓ′  (I = −ABC)</a:t>
                      </a:r>
                    </a:p>
                  </a:txBody>
                  <a:tcPr marL="73152" marR="73152" marT="27432" marB="27432" anchor="ctr">
                    <a:solidFill>
                      <a:srgbClr val="0F4C5C"/>
                    </a:solidFill>
                  </a:tcPr>
                </a:tc>
                <a:tc>
                  <a:txBody>
                    <a:bodyPr/>
                    <a:lstStyle/>
                    <a:p>
                      <a:pPr algn="ctr"/>
                      <a:r>
                        <a:rPr sz="1500" b="1">
                          <a:solidFill>
                            <a:srgbClr val="FFFFFF"/>
                          </a:solidFill>
                          <a:latin typeface="Calibri"/>
                        </a:rPr>
                        <a:t>½ (ℓ + ℓ′)</a:t>
                      </a:r>
                    </a:p>
                  </a:txBody>
                  <a:tcPr marL="73152" marR="73152" marT="27432" marB="27432" anchor="ctr">
                    <a:solidFill>
                      <a:srgbClr val="0F4C5C"/>
                    </a:solidFill>
                  </a:tcPr>
                </a:tc>
                <a:tc>
                  <a:txBody>
                    <a:bodyPr/>
                    <a:lstStyle/>
                    <a:p>
                      <a:pPr algn="ctr"/>
                      <a:r>
                        <a:rPr sz="1500" b="1">
                          <a:solidFill>
                            <a:srgbClr val="FFFFFF"/>
                          </a:solidFill>
                          <a:latin typeface="Calibri"/>
                        </a:rPr>
                        <a:t>½ (ℓ − ℓ′)</a:t>
                      </a:r>
                    </a:p>
                  </a:txBody>
                  <a:tcPr marL="73152" marR="73152" marT="27432" marB="27432" anchor="ctr">
                    <a:solidFill>
                      <a:srgbClr val="0F4C5C"/>
                    </a:solidFill>
                  </a:tcPr>
                </a:tc>
              </a:tr>
              <a:tr h="351282">
                <a:tc>
                  <a:txBody>
                    <a:bodyPr/>
                    <a:lstStyle/>
                    <a:p>
                      <a:pPr algn="ctr"/>
                      <a:r>
                        <a:rPr sz="1500" b="0">
                          <a:solidFill>
                            <a:srgbClr val="142B33"/>
                          </a:solidFill>
                          <a:latin typeface="Calibri"/>
                        </a:rPr>
                        <a:t>A</a:t>
                      </a:r>
                    </a:p>
                  </a:txBody>
                  <a:tcPr marL="73152" marR="73152" marT="27432" marB="27432" anchor="ctr">
                    <a:solidFill>
                      <a:srgbClr val="FFFFFF"/>
                    </a:solidFill>
                  </a:tcPr>
                </a:tc>
                <a:tc>
                  <a:txBody>
                    <a:bodyPr/>
                    <a:lstStyle/>
                    <a:p>
                      <a:pPr algn="ctr"/>
                      <a:r>
                        <a:rPr sz="1500" b="0">
                          <a:solidFill>
                            <a:srgbClr val="142B33"/>
                          </a:solidFill>
                          <a:latin typeface="Calibri"/>
                        </a:rPr>
                        <a:t>10</a:t>
                      </a:r>
                    </a:p>
                  </a:txBody>
                  <a:tcPr marL="73152" marR="73152" marT="27432" marB="27432" anchor="ctr">
                    <a:solidFill>
                      <a:srgbClr val="FFFFFF"/>
                    </a:solidFill>
                  </a:tcPr>
                </a:tc>
                <a:tc>
                  <a:txBody>
                    <a:bodyPr/>
                    <a:lstStyle/>
                    <a:p>
                      <a:pPr algn="ctr"/>
                      <a:r>
                        <a:rPr sz="1500" b="0">
                          <a:solidFill>
                            <a:srgbClr val="142B33"/>
                          </a:solidFill>
                          <a:latin typeface="Calibri"/>
                        </a:rPr>
                        <a:t>10</a:t>
                      </a:r>
                    </a:p>
                  </a:txBody>
                  <a:tcPr marL="73152" marR="73152" marT="27432" marB="27432" anchor="ctr">
                    <a:solidFill>
                      <a:srgbClr val="FFFFFF"/>
                    </a:solidFill>
                  </a:tcPr>
                </a:tc>
                <a:tc>
                  <a:txBody>
                    <a:bodyPr/>
                    <a:lstStyle/>
                    <a:p>
                      <a:pPr algn="ctr"/>
                      <a:r>
                        <a:rPr sz="1500" b="0">
                          <a:solidFill>
                            <a:srgbClr val="142B33"/>
                          </a:solidFill>
                          <a:latin typeface="Calibri"/>
                        </a:rPr>
                        <a:t>A = 10</a:t>
                      </a:r>
                    </a:p>
                  </a:txBody>
                  <a:tcPr marL="73152" marR="73152" marT="27432" marB="27432" anchor="ctr">
                    <a:solidFill>
                      <a:srgbClr val="FFFFFF"/>
                    </a:solidFill>
                  </a:tcPr>
                </a:tc>
                <a:tc>
                  <a:txBody>
                    <a:bodyPr/>
                    <a:lstStyle/>
                    <a:p>
                      <a:pPr algn="ctr"/>
                      <a:r>
                        <a:rPr sz="1500" b="0">
                          <a:solidFill>
                            <a:srgbClr val="142B33"/>
                          </a:solidFill>
                          <a:latin typeface="Calibri"/>
                        </a:rPr>
                        <a:t>BC = 0</a:t>
                      </a:r>
                    </a:p>
                  </a:txBody>
                  <a:tcPr marL="73152" marR="73152" marT="27432" marB="27432" anchor="ctr">
                    <a:solidFill>
                      <a:srgbClr val="FFFFFF"/>
                    </a:solidFill>
                  </a:tcPr>
                </a:tc>
              </a:tr>
              <a:tr h="351282">
                <a:tc>
                  <a:txBody>
                    <a:bodyPr/>
                    <a:lstStyle/>
                    <a:p>
                      <a:pPr algn="ctr"/>
                      <a:r>
                        <a:rPr sz="1500" b="0">
                          <a:solidFill>
                            <a:srgbClr val="142B33"/>
                          </a:solidFill>
                          <a:latin typeface="Calibri"/>
                        </a:rPr>
                        <a:t>B</a:t>
                      </a:r>
                    </a:p>
                  </a:txBody>
                  <a:tcPr marL="73152" marR="73152" marT="27432" marB="27432" anchor="ctr">
                    <a:solidFill>
                      <a:srgbClr val="F4F8F9"/>
                    </a:solidFill>
                  </a:tcPr>
                </a:tc>
                <a:tc>
                  <a:txBody>
                    <a:bodyPr/>
                    <a:lstStyle/>
                    <a:p>
                      <a:pPr algn="ctr"/>
                      <a:r>
                        <a:rPr sz="1500" b="0">
                          <a:solidFill>
                            <a:srgbClr val="142B33"/>
                          </a:solidFill>
                          <a:latin typeface="Calibri"/>
                        </a:rPr>
                        <a:t>6</a:t>
                      </a:r>
                    </a:p>
                  </a:txBody>
                  <a:tcPr marL="73152" marR="73152" marT="27432" marB="27432" anchor="ctr">
                    <a:solidFill>
                      <a:srgbClr val="F4F8F9"/>
                    </a:solidFill>
                  </a:tcPr>
                </a:tc>
                <a:tc>
                  <a:txBody>
                    <a:bodyPr/>
                    <a:lstStyle/>
                    <a:p>
                      <a:pPr algn="ctr"/>
                      <a:r>
                        <a:rPr sz="1500" b="0">
                          <a:solidFill>
                            <a:srgbClr val="142B33"/>
                          </a:solidFill>
                          <a:latin typeface="Calibri"/>
                        </a:rPr>
                        <a:t>6</a:t>
                      </a:r>
                    </a:p>
                  </a:txBody>
                  <a:tcPr marL="73152" marR="73152" marT="27432" marB="27432" anchor="ctr">
                    <a:solidFill>
                      <a:srgbClr val="F4F8F9"/>
                    </a:solidFill>
                  </a:tcPr>
                </a:tc>
                <a:tc>
                  <a:txBody>
                    <a:bodyPr/>
                    <a:lstStyle/>
                    <a:p>
                      <a:pPr algn="ctr"/>
                      <a:r>
                        <a:rPr sz="1500" b="0">
                          <a:solidFill>
                            <a:srgbClr val="142B33"/>
                          </a:solidFill>
                          <a:latin typeface="Calibri"/>
                        </a:rPr>
                        <a:t>B = 6</a:t>
                      </a:r>
                    </a:p>
                  </a:txBody>
                  <a:tcPr marL="73152" marR="73152" marT="27432" marB="27432" anchor="ctr">
                    <a:solidFill>
                      <a:srgbClr val="F4F8F9"/>
                    </a:solidFill>
                  </a:tcPr>
                </a:tc>
                <a:tc>
                  <a:txBody>
                    <a:bodyPr/>
                    <a:lstStyle/>
                    <a:p>
                      <a:pPr algn="ctr"/>
                      <a:r>
                        <a:rPr sz="1500" b="0">
                          <a:solidFill>
                            <a:srgbClr val="142B33"/>
                          </a:solidFill>
                          <a:latin typeface="Calibri"/>
                        </a:rPr>
                        <a:t>AC = 0</a:t>
                      </a:r>
                    </a:p>
                  </a:txBody>
                  <a:tcPr marL="73152" marR="73152" marT="27432" marB="27432" anchor="ctr">
                    <a:solidFill>
                      <a:srgbClr val="F4F8F9"/>
                    </a:solidFill>
                  </a:tcPr>
                </a:tc>
              </a:tr>
              <a:tr h="351282">
                <a:tc>
                  <a:txBody>
                    <a:bodyPr/>
                    <a:lstStyle/>
                    <a:p>
                      <a:pPr algn="ctr"/>
                      <a:r>
                        <a:rPr sz="1500" b="0">
                          <a:solidFill>
                            <a:srgbClr val="142B33"/>
                          </a:solidFill>
                          <a:latin typeface="Calibri"/>
                        </a:rPr>
                        <a:t>C</a:t>
                      </a:r>
                    </a:p>
                  </a:txBody>
                  <a:tcPr marL="73152" marR="73152" marT="27432" marB="27432" anchor="ctr">
                    <a:solidFill>
                      <a:srgbClr val="FDE8D7"/>
                    </a:solidFill>
                  </a:tcPr>
                </a:tc>
                <a:tc>
                  <a:txBody>
                    <a:bodyPr/>
                    <a:lstStyle/>
                    <a:p>
                      <a:pPr algn="ctr"/>
                      <a:r>
                        <a:rPr sz="1500" b="0">
                          <a:solidFill>
                            <a:srgbClr val="142B33"/>
                          </a:solidFill>
                          <a:latin typeface="Calibri"/>
                        </a:rPr>
                        <a:t>8</a:t>
                      </a:r>
                    </a:p>
                  </a:txBody>
                  <a:tcPr marL="73152" marR="73152" marT="27432" marB="27432" anchor="ctr">
                    <a:solidFill>
                      <a:srgbClr val="FDE8D7"/>
                    </a:solidFill>
                  </a:tcPr>
                </a:tc>
                <a:tc>
                  <a:txBody>
                    <a:bodyPr/>
                    <a:lstStyle/>
                    <a:p>
                      <a:pPr algn="ctr"/>
                      <a:r>
                        <a:rPr sz="1500" b="0">
                          <a:solidFill>
                            <a:srgbClr val="142B33"/>
                          </a:solidFill>
                          <a:latin typeface="Calibri"/>
                        </a:rPr>
                        <a:t>−8</a:t>
                      </a:r>
                    </a:p>
                  </a:txBody>
                  <a:tcPr marL="73152" marR="73152" marT="27432" marB="27432" anchor="ctr">
                    <a:solidFill>
                      <a:srgbClr val="FDE8D7"/>
                    </a:solidFill>
                  </a:tcPr>
                </a:tc>
                <a:tc>
                  <a:txBody>
                    <a:bodyPr/>
                    <a:lstStyle/>
                    <a:p>
                      <a:pPr algn="ctr"/>
                      <a:r>
                        <a:rPr sz="1500" b="0">
                          <a:solidFill>
                            <a:srgbClr val="142B33"/>
                          </a:solidFill>
                          <a:latin typeface="Calibri"/>
                        </a:rPr>
                        <a:t>C = 0</a:t>
                      </a:r>
                    </a:p>
                  </a:txBody>
                  <a:tcPr marL="73152" marR="73152" marT="27432" marB="27432" anchor="ctr">
                    <a:solidFill>
                      <a:srgbClr val="FDE8D7"/>
                    </a:solidFill>
                  </a:tcPr>
                </a:tc>
                <a:tc>
                  <a:txBody>
                    <a:bodyPr/>
                    <a:lstStyle/>
                    <a:p>
                      <a:pPr algn="ctr"/>
                      <a:r>
                        <a:rPr sz="1500" b="0">
                          <a:solidFill>
                            <a:srgbClr val="142B33"/>
                          </a:solidFill>
                          <a:latin typeface="Calibri"/>
                        </a:rPr>
                        <a:t>AB = 8</a:t>
                      </a:r>
                    </a:p>
                  </a:txBody>
                  <a:tcPr marL="73152" marR="73152" marT="27432" marB="27432" anchor="ctr">
                    <a:solidFill>
                      <a:srgbClr val="FDE8D7"/>
                    </a:solidFill>
                  </a:tcPr>
                </a:tc>
              </a:tr>
            </a:tbl>
          </a:graphicData>
        </a:graphic>
      </p:graphicFrame>
      <p:sp>
        <p:nvSpPr>
          <p:cNvPr id="6" name="Rounded Rectangle 5"/>
          <p:cNvSpPr/>
          <p:nvPr/>
        </p:nvSpPr>
        <p:spPr>
          <a:xfrm>
            <a:off x="5660611" y="3256025"/>
            <a:ext cx="5982443" cy="534619"/>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500" b="0">
                <a:solidFill>
                  <a:srgbClr val="0F4C5C"/>
                </a:solidFill>
                <a:latin typeface="Cambria Math"/>
              </a:rPr>
              <a:t>ℓ′</a:t>
            </a:r>
            <a:r>
              <a:rPr sz="1500" b="0" baseline="-25000">
                <a:solidFill>
                  <a:srgbClr val="0F4C5C"/>
                </a:solidFill>
                <a:latin typeface="Cambria Math"/>
              </a:rPr>
              <a:t>C</a:t>
            </a:r>
            <a:r>
              <a:rPr sz="1500" b="0">
                <a:solidFill>
                  <a:srgbClr val="0F4C5C"/>
                </a:solidFill>
                <a:latin typeface="Cambria Math"/>
              </a:rPr>
              <a:t> → C − AB  (en la segunda fracción x</a:t>
            </a:r>
            <a:r>
              <a:rPr sz="1500" b="0" baseline="-25000">
                <a:solidFill>
                  <a:srgbClr val="0F4C5C"/>
                </a:solidFill>
                <a:latin typeface="Cambria Math"/>
              </a:rPr>
              <a:t>A</a:t>
            </a:r>
            <a:r>
              <a:rPr sz="1500" b="0">
                <a:solidFill>
                  <a:srgbClr val="0F4C5C"/>
                </a:solidFill>
                <a:latin typeface="Cambria Math"/>
              </a:rPr>
              <a:t>x</a:t>
            </a:r>
            <a:r>
              <a:rPr sz="1500" b="0" baseline="-25000">
                <a:solidFill>
                  <a:srgbClr val="0F4C5C"/>
                </a:solidFill>
                <a:latin typeface="Cambria Math"/>
              </a:rPr>
              <a:t>B</a:t>
            </a:r>
            <a:r>
              <a:rPr sz="1500" b="0">
                <a:solidFill>
                  <a:srgbClr val="0F4C5C"/>
                </a:solidFill>
                <a:latin typeface="Cambria Math"/>
              </a:rPr>
              <a:t>x</a:t>
            </a:r>
            <a:r>
              <a:rPr sz="1500" b="0" baseline="-25000">
                <a:solidFill>
                  <a:srgbClr val="0F4C5C"/>
                </a:solidFill>
                <a:latin typeface="Cambria Math"/>
              </a:rPr>
              <a:t>C</a:t>
            </a:r>
            <a:r>
              <a:rPr sz="1500" b="0">
                <a:solidFill>
                  <a:srgbClr val="0F4C5C"/>
                </a:solidFill>
                <a:latin typeface="Cambria Math"/>
              </a:rPr>
              <a:t> = −1)</a:t>
            </a:r>
          </a:p>
        </p:txBody>
      </p:sp>
      <p:sp>
        <p:nvSpPr>
          <p:cNvPr id="7" name="Rounded Rectangle 6"/>
          <p:cNvSpPr/>
          <p:nvPr/>
        </p:nvSpPr>
        <p:spPr>
          <a:xfrm>
            <a:off x="5660611" y="3991813"/>
            <a:ext cx="5982443"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C = 0 y </a:t>
            </a:r>
            <a:r>
              <a:rPr sz="1500" b="1">
                <a:solidFill>
                  <a:srgbClr val="142B33"/>
                </a:solidFill>
                <a:latin typeface="Calibri"/>
              </a:rPr>
              <a:t>AB = 8</a:t>
            </a:r>
            <a:r>
              <a:rPr sz="1500" b="0">
                <a:solidFill>
                  <a:srgbClr val="142B33"/>
                </a:solidFill>
                <a:latin typeface="Calibri"/>
              </a:rPr>
              <a:t>: era la interacción, no el tiempo de infusión</a:t>
            </a:r>
          </a:p>
        </p:txBody>
      </p:sp>
      <p:sp>
        <p:nvSpPr>
          <p:cNvPr id="8" name="Rounded Rectangle 7"/>
          <p:cNvSpPr/>
          <p:nvPr/>
        </p:nvSpPr>
        <p:spPr>
          <a:xfrm>
            <a:off x="5660611" y="4932121"/>
            <a:ext cx="5982443" cy="50673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4 + 4 corridas = </a:t>
            </a:r>
            <a:r>
              <a:rPr sz="1500" b="1">
                <a:solidFill>
                  <a:srgbClr val="142B33"/>
                </a:solidFill>
                <a:latin typeface="Calibri"/>
              </a:rPr>
              <a:t>2</a:t>
            </a:r>
            <a:r>
              <a:rPr sz="1500" b="1" baseline="30000">
                <a:solidFill>
                  <a:srgbClr val="142B33"/>
                </a:solidFill>
                <a:latin typeface="Calibri"/>
              </a:rPr>
              <a:t>3</a:t>
            </a:r>
            <a:r>
              <a:rPr sz="1500" b="1">
                <a:solidFill>
                  <a:srgbClr val="142B33"/>
                </a:solidFill>
                <a:latin typeface="Calibri"/>
              </a:rPr>
              <a:t> completo</a:t>
            </a:r>
            <a:r>
              <a:rPr sz="1500" b="0">
                <a:solidFill>
                  <a:srgbClr val="142B33"/>
                </a:solidFill>
                <a:latin typeface="Calibri"/>
              </a:rPr>
              <a:t>; nada se desperdició</a:t>
            </a:r>
          </a:p>
        </p:txBody>
      </p:sp>
      <p:sp>
        <p:nvSpPr>
          <p:cNvPr id="9" name="TextBox 8"/>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Otra fracción aclara las dudas</a:t>
            </a:r>
          </a:p>
        </p:txBody>
      </p:sp>
      <p:sp>
        <p:nvSpPr>
          <p:cNvPr id="10" name="TextBox 9"/>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42</a:t>
            </a:r>
          </a:p>
        </p:txBody>
      </p:sp>
      <p:sp>
        <p:nvSpPr>
          <p:cNvPr id="11" name="Rounded Rectangle 10"/>
          <p:cNvSpPr/>
          <p:nvPr/>
        </p:nvSpPr>
        <p:spPr>
          <a:xfrm>
            <a:off x="548640" y="91440"/>
            <a:ext cx="344271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5 · Otra fracción aclara las dudas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F4C5C"/>
        </a:solidFill>
        <a:effectLst/>
      </p:bgPr>
    </p:bg>
    <p:spTree>
      <p:nvGrpSpPr>
        <p:cNvPr id="1" name=""/>
        <p:cNvGrpSpPr/>
        <p:nvPr/>
      </p:nvGrpSpPr>
      <p:grpSpPr/>
      <p:sp>
        <p:nvSpPr>
          <p:cNvPr id="2" name="Title 1"/>
          <p:cNvSpPr>
            <a:spLocks noGrp="1"/>
          </p:cNvSpPr>
          <p:nvPr>
            <p:ph type="title"/>
          </p:nvPr>
        </p:nvSpPr>
        <p:spPr>
          <a:xfrm>
            <a:off x="548640" y="3383280"/>
            <a:ext cx="11094415" cy="914400"/>
          </a:xfrm>
        </p:spPr>
        <p:txBody>
          <a:bodyPr wrap="square" anchor="t" lIns="0" rIns="0" tIns="0" bIns="0"/>
          <a:lstStyle/>
          <a:p>
            <a:pPr algn="l"/>
            <a:r>
              <a:rPr sz="4400" b="1">
                <a:solidFill>
                  <a:srgbClr val="FFFFFF"/>
                </a:solidFill>
                <a:latin typeface="Cambria"/>
              </a:rPr>
              <a:t>La fracción un cuarto 2</a:t>
            </a:r>
            <a:r>
              <a:rPr sz="4400" b="1" baseline="30000">
                <a:solidFill>
                  <a:srgbClr val="FFFFFF"/>
                </a:solidFill>
                <a:latin typeface="Cambria"/>
              </a:rPr>
              <a:t>k−2</a:t>
            </a:r>
          </a:p>
        </p:txBody>
      </p:sp>
      <p:sp>
        <p:nvSpPr>
          <p:cNvPr id="3" name="Oval 2"/>
          <p:cNvSpPr/>
          <p:nvPr/>
        </p:nvSpPr>
        <p:spPr>
          <a:xfrm>
            <a:off x="548640" y="2011680"/>
            <a:ext cx="1188720" cy="1188720"/>
          </a:xfrm>
          <a:prstGeom prst="ellipse">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FFFFFF"/>
                </a:solidFill>
                <a:latin typeface="Cambria"/>
              </a:rPr>
              <a:t>6</a:t>
            </a:r>
          </a:p>
        </p:txBody>
      </p:sp>
      <p:sp>
        <p:nvSpPr>
          <p:cNvPr id="4" name="TextBox 3"/>
          <p:cNvSpPr txBox="1"/>
          <p:nvPr/>
        </p:nvSpPr>
        <p:spPr>
          <a:xfrm>
            <a:off x="548640" y="4343400"/>
            <a:ext cx="11094415" cy="548640"/>
          </a:xfrm>
          <a:prstGeom prst="rect">
            <a:avLst/>
          </a:prstGeom>
          <a:noFill/>
        </p:spPr>
        <p:txBody>
          <a:bodyPr wrap="square" anchor="t" lIns="0" rIns="0" tIns="0" bIns="0">
            <a:spAutoFit/>
          </a:bodyPr>
          <a:lstStyle/>
          <a:p>
            <a:r>
              <a:rPr sz="2000" b="0">
                <a:solidFill>
                  <a:srgbClr val="CFE3E8"/>
                </a:solidFill>
                <a:latin typeface="Calibri"/>
              </a:rPr>
              <a:t>Dos generadores, estructura de alias reducida, proyección y un ejemplo</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¿Qué es una fracción un cuarto? El 2</a:t>
            </a:r>
            <a:r>
              <a:rPr sz="3000" b="1" baseline="30000">
                <a:solidFill>
                  <a:srgbClr val="0F4C5C"/>
                </a:solidFill>
                <a:latin typeface="Cambria"/>
              </a:rPr>
              <a:t>6−2</a:t>
            </a:r>
            <a:r>
              <a:rPr sz="3000" b="1" baseline="-25000">
                <a:solidFill>
                  <a:srgbClr val="0F4C5C"/>
                </a:solidFill>
                <a:latin typeface="Cambria"/>
              </a:rPr>
              <a:t>IV</a:t>
            </a:r>
          </a:p>
        </p:txBody>
      </p:sp>
      <p:sp>
        <p:nvSpPr>
          <p:cNvPr id="3" name="TextBox 2"/>
          <p:cNvSpPr txBox="1"/>
          <p:nvPr/>
        </p:nvSpPr>
        <p:spPr>
          <a:xfrm>
            <a:off x="548640" y="1417320"/>
            <a:ext cx="5127808" cy="1408937"/>
          </a:xfrm>
          <a:prstGeom prst="rect">
            <a:avLst/>
          </a:prstGeom>
          <a:noFill/>
        </p:spPr>
        <p:txBody>
          <a:bodyPr wrap="square" anchor="t" lIns="0" rIns="0" tIns="0" bIns="0">
            <a:spAutoFit/>
          </a:bodyPr>
          <a:lstStyle/>
          <a:p>
            <a:pPr marL="320040" indent="-320040">
              <a:spcAft>
                <a:spcPts val="600"/>
              </a:spcAft>
              <a:buClr>
                <a:srgbClr val="E36414"/>
              </a:buClr>
              <a:buFont typeface="Arial"/>
              <a:buChar char="•"/>
            </a:pPr>
            <a:r>
              <a:rPr sz="1500" b="1">
                <a:solidFill>
                  <a:srgbClr val="142B33"/>
                </a:solidFill>
                <a:latin typeface="Calibri"/>
              </a:rPr>
              <a:t>2</a:t>
            </a:r>
            <a:r>
              <a:rPr sz="1500" b="1" baseline="30000">
                <a:solidFill>
                  <a:srgbClr val="142B33"/>
                </a:solidFill>
                <a:latin typeface="Calibri"/>
              </a:rPr>
              <a:t>k−2</a:t>
            </a:r>
            <a:r>
              <a:rPr sz="1500" b="0">
                <a:solidFill>
                  <a:srgbClr val="142B33"/>
                </a:solidFill>
                <a:latin typeface="Calibri"/>
              </a:rPr>
              <a:t> corridas, la cuarta parte: dos generadores </a:t>
            </a:r>
            <a:r>
              <a:rPr sz="1500" b="1">
                <a:solidFill>
                  <a:srgbClr val="142B33"/>
                </a:solidFill>
                <a:latin typeface="Calibri"/>
              </a:rPr>
              <a:t>P</a:t>
            </a:r>
            <a:r>
              <a:rPr sz="1500" b="0">
                <a:solidFill>
                  <a:srgbClr val="142B33"/>
                </a:solidFill>
                <a:latin typeface="Calibri"/>
              </a:rPr>
              <a:t> y </a:t>
            </a:r>
            <a:r>
              <a:rPr sz="1500" b="1">
                <a:solidFill>
                  <a:srgbClr val="142B33"/>
                </a:solidFill>
                <a:latin typeface="Calibri"/>
              </a:rPr>
              <a:t>Q</a:t>
            </a:r>
            <a:r>
              <a:rPr sz="1500" b="0">
                <a:solidFill>
                  <a:srgbClr val="142B33"/>
                </a:solidFill>
                <a:latin typeface="Calibri"/>
              </a:rPr>
              <a:t>; su producto </a:t>
            </a:r>
            <a:r>
              <a:rPr sz="1500" b="1">
                <a:solidFill>
                  <a:srgbClr val="142B33"/>
                </a:solidFill>
                <a:latin typeface="Calibri"/>
              </a:rPr>
              <a:t>PQ</a:t>
            </a:r>
            <a:r>
              <a:rPr sz="1500" b="0">
                <a:solidFill>
                  <a:srgbClr val="142B33"/>
                </a:solidFill>
                <a:latin typeface="Calibri"/>
              </a:rPr>
              <a:t> también es palabra</a:t>
            </a:r>
          </a:p>
          <a:p>
            <a:pPr marL="320040" indent="-320040">
              <a:spcAft>
                <a:spcPts val="600"/>
              </a:spcAft>
              <a:buClr>
                <a:srgbClr val="E36414"/>
              </a:buClr>
              <a:buFont typeface="Arial"/>
              <a:buChar char="•"/>
            </a:pPr>
            <a:r>
              <a:rPr sz="1500" b="0">
                <a:solidFill>
                  <a:srgbClr val="142B33"/>
                </a:solidFill>
                <a:latin typeface="Calibri"/>
              </a:rPr>
              <a:t>Cada efecto tiene </a:t>
            </a:r>
            <a:r>
              <a:rPr sz="1500" b="1">
                <a:solidFill>
                  <a:srgbClr val="142B33"/>
                </a:solidFill>
                <a:latin typeface="Calibri"/>
              </a:rPr>
              <a:t>tres alias</a:t>
            </a:r>
            <a:r>
              <a:rPr sz="1500" b="0">
                <a:solidFill>
                  <a:srgbClr val="142B33"/>
                </a:solidFill>
                <a:latin typeface="Calibri"/>
              </a:rPr>
              <a:t> (efecto × cada palabra)</a:t>
            </a:r>
          </a:p>
          <a:p>
            <a:pPr marL="320040" indent="-320040">
              <a:spcAft>
                <a:spcPts val="600"/>
              </a:spcAft>
              <a:buClr>
                <a:srgbClr val="E36414"/>
              </a:buClr>
              <a:buFont typeface="Arial"/>
              <a:buChar char="•"/>
            </a:pPr>
            <a:r>
              <a:rPr sz="1500" b="0">
                <a:solidFill>
                  <a:srgbClr val="142B33"/>
                </a:solidFill>
                <a:latin typeface="Calibri"/>
              </a:rPr>
              <a:t>Los signos de P y Q dan </a:t>
            </a:r>
            <a:r>
              <a:rPr sz="1500" b="1">
                <a:solidFill>
                  <a:srgbClr val="142B33"/>
                </a:solidFill>
                <a:latin typeface="Calibri"/>
              </a:rPr>
              <a:t>4 fracciones</a:t>
            </a:r>
            <a:r>
              <a:rPr sz="1500" b="0">
                <a:solidFill>
                  <a:srgbClr val="142B33"/>
                </a:solidFill>
                <a:latin typeface="Calibri"/>
              </a:rPr>
              <a:t>, una </a:t>
            </a:r>
            <a:r>
              <a:rPr sz="1500" b="1">
                <a:solidFill>
                  <a:srgbClr val="142B33"/>
                </a:solidFill>
                <a:latin typeface="Calibri"/>
              </a:rPr>
              <a:t>familia</a:t>
            </a:r>
            <a:r>
              <a:rPr sz="1500" b="0">
                <a:solidFill>
                  <a:srgbClr val="142B33"/>
                </a:solidFill>
                <a:latin typeface="Calibri"/>
              </a:rPr>
              <a:t>; +P, +Q es la principal</a:t>
            </a:r>
          </a:p>
        </p:txBody>
      </p:sp>
      <p:sp>
        <p:nvSpPr>
          <p:cNvPr id="4" name="Rounded Rectangle 3"/>
          <p:cNvSpPr/>
          <p:nvPr/>
        </p:nvSpPr>
        <p:spPr>
          <a:xfrm>
            <a:off x="548640" y="3027425"/>
            <a:ext cx="5127808" cy="1263456"/>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900" b="0">
                <a:solidFill>
                  <a:srgbClr val="0F4C5C"/>
                </a:solidFill>
                <a:latin typeface="Cambria Math"/>
              </a:rPr>
              <a:t>I = P = Q = PQ</a:t>
            </a:r>
          </a:p>
          <a:p>
            <a:pPr algn="ctr"/>
            <a:r>
              <a:rPr sz="1900" b="0">
                <a:solidFill>
                  <a:srgbClr val="0F4C5C"/>
                </a:solidFill>
                <a:latin typeface="Cambria Math"/>
              </a:rPr>
              <a:t>2</a:t>
            </a:r>
            <a:r>
              <a:rPr sz="1900" b="0" baseline="30000">
                <a:solidFill>
                  <a:srgbClr val="0F4C5C"/>
                </a:solidFill>
                <a:latin typeface="Cambria Math"/>
              </a:rPr>
              <a:t>6−2</a:t>
            </a:r>
            <a:r>
              <a:rPr sz="1900" b="0">
                <a:solidFill>
                  <a:srgbClr val="0F4C5C"/>
                </a:solidFill>
                <a:latin typeface="Cambria Math"/>
              </a:rPr>
              <a:t>:  E = ABC,  F = BCD</a:t>
            </a:r>
          </a:p>
          <a:p>
            <a:pPr algn="ctr"/>
            <a:r>
              <a:rPr sz="1900" b="0">
                <a:solidFill>
                  <a:srgbClr val="0F4C5C"/>
                </a:solidFill>
                <a:latin typeface="Cambria Math"/>
              </a:rPr>
              <a:t>I = ABCE = BCDF = ADEF</a:t>
            </a:r>
          </a:p>
        </p:txBody>
      </p:sp>
      <p:sp>
        <p:nvSpPr>
          <p:cNvPr id="5" name="Rounded Rectangle 4"/>
          <p:cNvSpPr/>
          <p:nvPr/>
        </p:nvSpPr>
        <p:spPr>
          <a:xfrm>
            <a:off x="548640" y="4492050"/>
            <a:ext cx="5127808" cy="522224"/>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600" b="0">
                <a:solidFill>
                  <a:srgbClr val="142B33"/>
                </a:solidFill>
                <a:latin typeface="Calibri"/>
              </a:rPr>
              <a:t>Palabra más corta: 4 letras  →  </a:t>
            </a:r>
            <a:r>
              <a:rPr sz="1600" b="1">
                <a:solidFill>
                  <a:srgbClr val="142B33"/>
                </a:solidFill>
                <a:latin typeface="Calibri"/>
              </a:rPr>
              <a:t>resolución IV</a:t>
            </a:r>
          </a:p>
        </p:txBody>
      </p:sp>
      <p:sp>
        <p:nvSpPr>
          <p:cNvPr id="6" name="TextBox 5"/>
          <p:cNvSpPr txBox="1"/>
          <p:nvPr/>
        </p:nvSpPr>
        <p:spPr>
          <a:xfrm>
            <a:off x="6087928" y="1417320"/>
            <a:ext cx="5555126" cy="253491"/>
          </a:xfrm>
          <a:prstGeom prst="rect">
            <a:avLst/>
          </a:prstGeom>
          <a:noFill/>
        </p:spPr>
        <p:txBody>
          <a:bodyPr wrap="square" anchor="t" lIns="0" rIns="0" tIns="0" bIns="0">
            <a:spAutoFit/>
          </a:bodyPr>
          <a:lstStyle/>
          <a:p>
            <a:r>
              <a:rPr sz="1400" b="1">
                <a:solidFill>
                  <a:srgbClr val="5B6B73"/>
                </a:solidFill>
                <a:latin typeface="Calibri"/>
              </a:rPr>
              <a:t>Estructura de alias reducida</a:t>
            </a:r>
            <a:r>
              <a:rPr sz="1400" b="0">
                <a:solidFill>
                  <a:srgbClr val="5B6B73"/>
                </a:solidFill>
                <a:latin typeface="Calibri"/>
              </a:rPr>
              <a:t> (hasta interacciones dobles)</a:t>
            </a:r>
          </a:p>
        </p:txBody>
      </p:sp>
      <p:graphicFrame>
        <p:nvGraphicFramePr>
          <p:cNvPr id="7" name="Table 6"/>
          <p:cNvGraphicFramePr>
            <a:graphicFrameLocks noGrp="1"/>
          </p:cNvGraphicFramePr>
          <p:nvPr/>
        </p:nvGraphicFramePr>
        <p:xfrm>
          <a:off x="6087928" y="1871980"/>
          <a:ext cx="5555125" cy="2810256"/>
        </p:xfrm>
        <a:graphic>
          <a:graphicData uri="http://schemas.openxmlformats.org/drawingml/2006/table">
            <a:tbl>
              <a:tblPr firstRow="0" bandRow="0">
                <a:tableStyleId>{5C22544A-7EE6-4342-B048-85BDC9FD1C3A}</a:tableStyleId>
              </a:tblPr>
              <a:tblGrid>
                <a:gridCol w="2331781"/>
                <a:gridCol w="3223344"/>
              </a:tblGrid>
              <a:tr h="351282">
                <a:tc>
                  <a:txBody>
                    <a:bodyPr/>
                    <a:lstStyle/>
                    <a:p>
                      <a:pPr algn="ctr"/>
                      <a:r>
                        <a:rPr sz="1500" b="1">
                          <a:solidFill>
                            <a:srgbClr val="FFFFFF"/>
                          </a:solidFill>
                          <a:latin typeface="Calibri"/>
                        </a:rPr>
                        <a:t>Efectos principales</a:t>
                      </a:r>
                    </a:p>
                  </a:txBody>
                  <a:tcPr marL="73152" marR="73152" marT="27432" marB="27432" anchor="ctr">
                    <a:solidFill>
                      <a:srgbClr val="0F4C5C"/>
                    </a:solidFill>
                  </a:tcPr>
                </a:tc>
                <a:tc>
                  <a:txBody>
                    <a:bodyPr/>
                    <a:lstStyle/>
                    <a:p>
                      <a:pPr algn="ctr"/>
                      <a:r>
                        <a:rPr sz="1500" b="1">
                          <a:solidFill>
                            <a:srgbClr val="FFFFFF"/>
                          </a:solidFill>
                          <a:latin typeface="Calibri"/>
                        </a:rPr>
                        <a:t>Interacciones de 2 factores</a:t>
                      </a:r>
                    </a:p>
                  </a:txBody>
                  <a:tcPr marL="73152" marR="73152" marT="27432" marB="27432" anchor="ctr">
                    <a:solidFill>
                      <a:srgbClr val="0F4C5C"/>
                    </a:solidFill>
                  </a:tcPr>
                </a:tc>
              </a:tr>
              <a:tr h="351282">
                <a:tc>
                  <a:txBody>
                    <a:bodyPr/>
                    <a:lstStyle/>
                    <a:p>
                      <a:pPr algn="ctr"/>
                      <a:r>
                        <a:rPr sz="1500" b="0">
                          <a:solidFill>
                            <a:srgbClr val="142B33"/>
                          </a:solidFill>
                          <a:latin typeface="Calibri"/>
                        </a:rPr>
                        <a:t>A = BCE = DEF</a:t>
                      </a:r>
                    </a:p>
                  </a:txBody>
                  <a:tcPr marL="73152" marR="73152" marT="27432" marB="27432" anchor="ctr">
                    <a:solidFill>
                      <a:srgbClr val="FFFFFF"/>
                    </a:solidFill>
                  </a:tcPr>
                </a:tc>
                <a:tc>
                  <a:txBody>
                    <a:bodyPr/>
                    <a:lstStyle/>
                    <a:p>
                      <a:pPr algn="ctr"/>
                      <a:r>
                        <a:rPr sz="1500" b="0">
                          <a:solidFill>
                            <a:srgbClr val="142B33"/>
                          </a:solidFill>
                          <a:latin typeface="Calibri"/>
                        </a:rPr>
                        <a:t>AB = CE</a:t>
                      </a:r>
                    </a:p>
                  </a:txBody>
                  <a:tcPr marL="73152" marR="73152" marT="27432" marB="27432" anchor="ctr">
                    <a:solidFill>
                      <a:srgbClr val="FFFFFF"/>
                    </a:solidFill>
                  </a:tcPr>
                </a:tc>
              </a:tr>
              <a:tr h="351282">
                <a:tc>
                  <a:txBody>
                    <a:bodyPr/>
                    <a:lstStyle/>
                    <a:p>
                      <a:pPr algn="ctr"/>
                      <a:r>
                        <a:rPr sz="1500" b="0">
                          <a:solidFill>
                            <a:srgbClr val="142B33"/>
                          </a:solidFill>
                          <a:latin typeface="Calibri"/>
                        </a:rPr>
                        <a:t>B = ACE = CDF</a:t>
                      </a:r>
                    </a:p>
                  </a:txBody>
                  <a:tcPr marL="73152" marR="73152" marT="27432" marB="27432" anchor="ctr">
                    <a:solidFill>
                      <a:srgbClr val="F4F8F9"/>
                    </a:solidFill>
                  </a:tcPr>
                </a:tc>
                <a:tc>
                  <a:txBody>
                    <a:bodyPr/>
                    <a:lstStyle/>
                    <a:p>
                      <a:pPr algn="ctr"/>
                      <a:r>
                        <a:rPr sz="1500" b="0">
                          <a:solidFill>
                            <a:srgbClr val="142B33"/>
                          </a:solidFill>
                          <a:latin typeface="Calibri"/>
                        </a:rPr>
                        <a:t>AC = BE</a:t>
                      </a:r>
                    </a:p>
                  </a:txBody>
                  <a:tcPr marL="73152" marR="73152" marT="27432" marB="27432" anchor="ctr">
                    <a:solidFill>
                      <a:srgbClr val="F4F8F9"/>
                    </a:solidFill>
                  </a:tcPr>
                </a:tc>
              </a:tr>
              <a:tr h="351282">
                <a:tc>
                  <a:txBody>
                    <a:bodyPr/>
                    <a:lstStyle/>
                    <a:p>
                      <a:pPr algn="ctr"/>
                      <a:r>
                        <a:rPr sz="1500" b="0">
                          <a:solidFill>
                            <a:srgbClr val="142B33"/>
                          </a:solidFill>
                          <a:latin typeface="Calibri"/>
                        </a:rPr>
                        <a:t>C = ABE = BDF</a:t>
                      </a:r>
                    </a:p>
                  </a:txBody>
                  <a:tcPr marL="73152" marR="73152" marT="27432" marB="27432" anchor="ctr">
                    <a:solidFill>
                      <a:srgbClr val="FFFFFF"/>
                    </a:solidFill>
                  </a:tcPr>
                </a:tc>
                <a:tc>
                  <a:txBody>
                    <a:bodyPr/>
                    <a:lstStyle/>
                    <a:p>
                      <a:pPr algn="ctr"/>
                      <a:r>
                        <a:rPr sz="1500" b="0">
                          <a:solidFill>
                            <a:srgbClr val="142B33"/>
                          </a:solidFill>
                          <a:latin typeface="Calibri"/>
                        </a:rPr>
                        <a:t>AD = EF</a:t>
                      </a:r>
                    </a:p>
                  </a:txBody>
                  <a:tcPr marL="73152" marR="73152" marT="27432" marB="27432" anchor="ctr">
                    <a:solidFill>
                      <a:srgbClr val="FFFFFF"/>
                    </a:solidFill>
                  </a:tcPr>
                </a:tc>
              </a:tr>
              <a:tr h="351282">
                <a:tc>
                  <a:txBody>
                    <a:bodyPr/>
                    <a:lstStyle/>
                    <a:p>
                      <a:pPr algn="ctr"/>
                      <a:r>
                        <a:rPr sz="1500" b="0">
                          <a:solidFill>
                            <a:srgbClr val="142B33"/>
                          </a:solidFill>
                          <a:latin typeface="Calibri"/>
                        </a:rPr>
                        <a:t>D = BCF = AEF</a:t>
                      </a:r>
                    </a:p>
                  </a:txBody>
                  <a:tcPr marL="73152" marR="73152" marT="27432" marB="27432" anchor="ctr">
                    <a:solidFill>
                      <a:srgbClr val="F4F8F9"/>
                    </a:solidFill>
                  </a:tcPr>
                </a:tc>
                <a:tc>
                  <a:txBody>
                    <a:bodyPr/>
                    <a:lstStyle/>
                    <a:p>
                      <a:pPr algn="ctr"/>
                      <a:r>
                        <a:rPr sz="1500" b="0">
                          <a:solidFill>
                            <a:srgbClr val="142B33"/>
                          </a:solidFill>
                          <a:latin typeface="Calibri"/>
                        </a:rPr>
                        <a:t>AE = BC = DF</a:t>
                      </a:r>
                    </a:p>
                  </a:txBody>
                  <a:tcPr marL="73152" marR="73152" marT="27432" marB="27432" anchor="ctr">
                    <a:solidFill>
                      <a:srgbClr val="F4F8F9"/>
                    </a:solidFill>
                  </a:tcPr>
                </a:tc>
              </a:tr>
              <a:tr h="351282">
                <a:tc>
                  <a:txBody>
                    <a:bodyPr/>
                    <a:lstStyle/>
                    <a:p>
                      <a:pPr algn="ctr"/>
                      <a:r>
                        <a:rPr sz="1500" b="0">
                          <a:solidFill>
                            <a:srgbClr val="142B33"/>
                          </a:solidFill>
                          <a:latin typeface="Calibri"/>
                        </a:rPr>
                        <a:t>E = ABC = ADF</a:t>
                      </a:r>
                    </a:p>
                  </a:txBody>
                  <a:tcPr marL="73152" marR="73152" marT="27432" marB="27432" anchor="ctr">
                    <a:solidFill>
                      <a:srgbClr val="FFFFFF"/>
                    </a:solidFill>
                  </a:tcPr>
                </a:tc>
                <a:tc>
                  <a:txBody>
                    <a:bodyPr/>
                    <a:lstStyle/>
                    <a:p>
                      <a:pPr algn="ctr"/>
                      <a:r>
                        <a:rPr sz="1500" b="0">
                          <a:solidFill>
                            <a:srgbClr val="142B33"/>
                          </a:solidFill>
                          <a:latin typeface="Calibri"/>
                        </a:rPr>
                        <a:t>AF = DE</a:t>
                      </a:r>
                    </a:p>
                  </a:txBody>
                  <a:tcPr marL="73152" marR="73152" marT="27432" marB="27432" anchor="ctr">
                    <a:solidFill>
                      <a:srgbClr val="FFFFFF"/>
                    </a:solidFill>
                  </a:tcPr>
                </a:tc>
              </a:tr>
              <a:tr h="351282">
                <a:tc>
                  <a:txBody>
                    <a:bodyPr/>
                    <a:lstStyle/>
                    <a:p>
                      <a:pPr algn="ctr"/>
                      <a:r>
                        <a:rPr sz="1500" b="0">
                          <a:solidFill>
                            <a:srgbClr val="142B33"/>
                          </a:solidFill>
                          <a:latin typeface="Calibri"/>
                        </a:rPr>
                        <a:t>F = BCD = ADE</a:t>
                      </a:r>
                    </a:p>
                  </a:txBody>
                  <a:tcPr marL="73152" marR="73152" marT="27432" marB="27432" anchor="ctr">
                    <a:solidFill>
                      <a:srgbClr val="F4F8F9"/>
                    </a:solidFill>
                  </a:tcPr>
                </a:tc>
                <a:tc>
                  <a:txBody>
                    <a:bodyPr/>
                    <a:lstStyle/>
                    <a:p>
                      <a:pPr algn="ctr"/>
                      <a:r>
                        <a:rPr sz="1500" b="0">
                          <a:solidFill>
                            <a:srgbClr val="142B33"/>
                          </a:solidFill>
                          <a:latin typeface="Calibri"/>
                        </a:rPr>
                        <a:t>BD = CF</a:t>
                      </a:r>
                    </a:p>
                  </a:txBody>
                  <a:tcPr marL="73152" marR="73152" marT="27432" marB="27432" anchor="ctr">
                    <a:solidFill>
                      <a:srgbClr val="F4F8F9"/>
                    </a:solidFill>
                  </a:tcPr>
                </a:tc>
              </a:tr>
              <a:tr h="351282">
                <a:tc>
                  <a:txBody>
                    <a:bodyPr/>
                    <a:lstStyle/>
                    <a:p>
                      <a:pPr algn="ctr"/>
                    </a:p>
                  </a:txBody>
                  <a:tcPr marL="73152" marR="73152" marT="27432" marB="27432" anchor="ctr">
                    <a:solidFill>
                      <a:srgbClr val="FFFFFF"/>
                    </a:solidFill>
                  </a:tcPr>
                </a:tc>
                <a:tc>
                  <a:txBody>
                    <a:bodyPr/>
                    <a:lstStyle/>
                    <a:p>
                      <a:pPr algn="ctr"/>
                      <a:r>
                        <a:rPr sz="1500" b="0">
                          <a:solidFill>
                            <a:srgbClr val="142B33"/>
                          </a:solidFill>
                          <a:latin typeface="Calibri"/>
                        </a:rPr>
                        <a:t>BF = CD</a:t>
                      </a:r>
                    </a:p>
                  </a:txBody>
                  <a:tcPr marL="73152" marR="73152" marT="27432" marB="27432" anchor="ctr">
                    <a:solidFill>
                      <a:srgbClr val="FFFFFF"/>
                    </a:solidFill>
                  </a:tcPr>
                </a:tc>
              </a:tr>
            </a:tbl>
          </a:graphicData>
        </a:graphic>
      </p:graphicFrame>
      <p:sp>
        <p:nvSpPr>
          <p:cNvPr id="8" name="TextBox 7"/>
          <p:cNvSpPr txBox="1"/>
          <p:nvPr/>
        </p:nvSpPr>
        <p:spPr>
          <a:xfrm>
            <a:off x="6087928" y="4883404"/>
            <a:ext cx="5555126" cy="439419"/>
          </a:xfrm>
          <a:prstGeom prst="rect">
            <a:avLst/>
          </a:prstGeom>
          <a:noFill/>
        </p:spPr>
        <p:txBody>
          <a:bodyPr wrap="square" anchor="t" lIns="0" rIns="0" tIns="0" bIns="0">
            <a:spAutoFit/>
          </a:bodyPr>
          <a:lstStyle/>
          <a:p>
            <a:r>
              <a:rPr sz="1300" b="0">
                <a:solidFill>
                  <a:srgbClr val="5B6B73"/>
                </a:solidFill>
                <a:latin typeface="Calibri"/>
              </a:rPr>
              <a:t>Faltan dos cadenas, solo de interacciones triples: ABD = CDE = ACF = BEF y ACD = BDE = ABF = CEF</a:t>
            </a:r>
          </a:p>
        </p:txBody>
      </p:sp>
      <p:sp>
        <p:nvSpPr>
          <p:cNvPr id="9" name="TextBox 8"/>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La fracción un cuarto 2</a:t>
            </a:r>
            <a:r>
              <a:rPr sz="1000" b="0" baseline="30000">
                <a:solidFill>
                  <a:srgbClr val="5B6B73"/>
                </a:solidFill>
                <a:latin typeface="Calibri"/>
              </a:rPr>
              <a:t>k−2</a:t>
            </a:r>
          </a:p>
        </p:txBody>
      </p:sp>
      <p:sp>
        <p:nvSpPr>
          <p:cNvPr id="10" name="TextBox 9"/>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44</a:t>
            </a:r>
          </a:p>
        </p:txBody>
      </p:sp>
      <p:sp>
        <p:nvSpPr>
          <p:cNvPr id="11" name="Rounded Rectangle 10"/>
          <p:cNvSpPr/>
          <p:nvPr/>
        </p:nvSpPr>
        <p:spPr>
          <a:xfrm>
            <a:off x="548640" y="91440"/>
            <a:ext cx="3131820"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6 · La fracción un cuarto 2</a:t>
            </a:r>
            <a:r>
              <a:rPr sz="1100" b="1" baseline="30000">
                <a:solidFill>
                  <a:srgbClr val="FFFFFF"/>
                </a:solidFill>
                <a:latin typeface="Calibri"/>
              </a:rPr>
              <a:t>k−2</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¿Cómo se construye el 2</a:t>
            </a:r>
            <a:r>
              <a:rPr sz="3000" b="1" baseline="30000">
                <a:solidFill>
                  <a:srgbClr val="0F4C5C"/>
                </a:solidFill>
                <a:latin typeface="Cambria"/>
              </a:rPr>
              <a:t>6−2</a:t>
            </a:r>
            <a:r>
              <a:rPr sz="3000" b="1">
                <a:solidFill>
                  <a:srgbClr val="0F4C5C"/>
                </a:solidFill>
                <a:latin typeface="Cambria"/>
              </a:rPr>
              <a:t>?</a:t>
            </a:r>
          </a:p>
        </p:txBody>
      </p:sp>
      <p:graphicFrame>
        <p:nvGraphicFramePr>
          <p:cNvPr id="3" name="Table 2"/>
          <p:cNvGraphicFramePr>
            <a:graphicFrameLocks noGrp="1"/>
          </p:cNvGraphicFramePr>
          <p:nvPr/>
        </p:nvGraphicFramePr>
        <p:xfrm>
          <a:off x="548640" y="1417320"/>
          <a:ext cx="5555123" cy="4404360"/>
        </p:xfrm>
        <a:graphic>
          <a:graphicData uri="http://schemas.openxmlformats.org/drawingml/2006/table">
            <a:tbl>
              <a:tblPr firstRow="0" bandRow="0">
                <a:tableStyleId>{5C22544A-7EE6-4342-B048-85BDC9FD1C3A}</a:tableStyleId>
              </a:tblPr>
              <a:tblGrid>
                <a:gridCol w="1288789"/>
                <a:gridCol w="422189"/>
                <a:gridCol w="422189"/>
                <a:gridCol w="422189"/>
                <a:gridCol w="422189"/>
                <a:gridCol w="1288789"/>
                <a:gridCol w="1288789"/>
              </a:tblGrid>
              <a:tr h="259080">
                <a:tc>
                  <a:txBody>
                    <a:bodyPr/>
                    <a:lstStyle/>
                    <a:p>
                      <a:pPr algn="ctr"/>
                      <a:r>
                        <a:rPr sz="1200" b="1">
                          <a:solidFill>
                            <a:srgbClr val="FFFFFF"/>
                          </a:solidFill>
                          <a:latin typeface="Calibri"/>
                        </a:rPr>
                        <a:t>Corrida</a:t>
                      </a:r>
                    </a:p>
                  </a:txBody>
                  <a:tcPr marL="73152" marR="73152" marT="27432" marB="27432" anchor="ctr">
                    <a:solidFill>
                      <a:srgbClr val="0F4C5C"/>
                    </a:solidFill>
                  </a:tcPr>
                </a:tc>
                <a:tc>
                  <a:txBody>
                    <a:bodyPr/>
                    <a:lstStyle/>
                    <a:p>
                      <a:pPr algn="ctr"/>
                      <a:r>
                        <a:rPr sz="1200" b="1">
                          <a:solidFill>
                            <a:srgbClr val="FFFFFF"/>
                          </a:solidFill>
                          <a:latin typeface="Calibri"/>
                        </a:rPr>
                        <a:t>A</a:t>
                      </a:r>
                    </a:p>
                  </a:txBody>
                  <a:tcPr marL="73152" marR="73152" marT="27432" marB="27432" anchor="ctr">
                    <a:solidFill>
                      <a:srgbClr val="0F4C5C"/>
                    </a:solidFill>
                  </a:tcPr>
                </a:tc>
                <a:tc>
                  <a:txBody>
                    <a:bodyPr/>
                    <a:lstStyle/>
                    <a:p>
                      <a:pPr algn="ctr"/>
                      <a:r>
                        <a:rPr sz="1200" b="1">
                          <a:solidFill>
                            <a:srgbClr val="FFFFFF"/>
                          </a:solidFill>
                          <a:latin typeface="Calibri"/>
                        </a:rPr>
                        <a:t>B</a:t>
                      </a:r>
                    </a:p>
                  </a:txBody>
                  <a:tcPr marL="73152" marR="73152" marT="27432" marB="27432" anchor="ctr">
                    <a:solidFill>
                      <a:srgbClr val="0F4C5C"/>
                    </a:solidFill>
                  </a:tcPr>
                </a:tc>
                <a:tc>
                  <a:txBody>
                    <a:bodyPr/>
                    <a:lstStyle/>
                    <a:p>
                      <a:pPr algn="ctr"/>
                      <a:r>
                        <a:rPr sz="1200" b="1">
                          <a:solidFill>
                            <a:srgbClr val="FFFFFF"/>
                          </a:solidFill>
                          <a:latin typeface="Calibri"/>
                        </a:rPr>
                        <a:t>C</a:t>
                      </a:r>
                    </a:p>
                  </a:txBody>
                  <a:tcPr marL="73152" marR="73152" marT="27432" marB="27432" anchor="ctr">
                    <a:solidFill>
                      <a:srgbClr val="0F4C5C"/>
                    </a:solidFill>
                  </a:tcPr>
                </a:tc>
                <a:tc>
                  <a:txBody>
                    <a:bodyPr/>
                    <a:lstStyle/>
                    <a:p>
                      <a:pPr algn="ctr"/>
                      <a:r>
                        <a:rPr sz="1200" b="1">
                          <a:solidFill>
                            <a:srgbClr val="FFFFFF"/>
                          </a:solidFill>
                          <a:latin typeface="Calibri"/>
                        </a:rPr>
                        <a:t>D</a:t>
                      </a:r>
                    </a:p>
                  </a:txBody>
                  <a:tcPr marL="73152" marR="73152" marT="27432" marB="27432" anchor="ctr">
                    <a:solidFill>
                      <a:srgbClr val="0F4C5C"/>
                    </a:solidFill>
                  </a:tcPr>
                </a:tc>
                <a:tc>
                  <a:txBody>
                    <a:bodyPr/>
                    <a:lstStyle/>
                    <a:p>
                      <a:pPr algn="ctr"/>
                      <a:r>
                        <a:rPr sz="1200" b="1">
                          <a:solidFill>
                            <a:srgbClr val="FFFFFF"/>
                          </a:solidFill>
                          <a:latin typeface="Calibri"/>
                        </a:rPr>
                        <a:t>E = ABC</a:t>
                      </a:r>
                    </a:p>
                  </a:txBody>
                  <a:tcPr marL="73152" marR="73152" marT="27432" marB="27432" anchor="ctr">
                    <a:solidFill>
                      <a:srgbClr val="0F4C5C"/>
                    </a:solidFill>
                  </a:tcPr>
                </a:tc>
                <a:tc>
                  <a:txBody>
                    <a:bodyPr/>
                    <a:lstStyle/>
                    <a:p>
                      <a:pPr algn="ctr"/>
                      <a:r>
                        <a:rPr sz="1200" b="1">
                          <a:solidFill>
                            <a:srgbClr val="FFFFFF"/>
                          </a:solidFill>
                          <a:latin typeface="Calibri"/>
                        </a:rPr>
                        <a:t>F = BCD</a:t>
                      </a:r>
                    </a:p>
                  </a:txBody>
                  <a:tcPr marL="73152" marR="73152" marT="27432" marB="27432" anchor="ctr">
                    <a:solidFill>
                      <a:srgbClr val="0F4C5C"/>
                    </a:solidFill>
                  </a:tcPr>
                </a:tc>
              </a:tr>
              <a:tr h="259080">
                <a:tc>
                  <a:txBody>
                    <a:bodyPr/>
                    <a:lstStyle/>
                    <a:p>
                      <a:pPr algn="ctr"/>
                      <a:r>
                        <a:rPr sz="1200" b="0">
                          <a:solidFill>
                            <a:srgbClr val="142B33"/>
                          </a:solidFill>
                          <a:latin typeface="Calibri"/>
                        </a:rPr>
                        <a:t>1</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r>
              <a:tr h="259080">
                <a:tc>
                  <a:txBody>
                    <a:bodyPr/>
                    <a:lstStyle/>
                    <a:p>
                      <a:pPr algn="ctr"/>
                      <a:r>
                        <a:rPr sz="1200" b="0">
                          <a:solidFill>
                            <a:srgbClr val="142B33"/>
                          </a:solidFill>
                          <a:latin typeface="Calibri"/>
                        </a:rPr>
                        <a:t>2</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r>
              <a:tr h="259080">
                <a:tc>
                  <a:txBody>
                    <a:bodyPr/>
                    <a:lstStyle/>
                    <a:p>
                      <a:pPr algn="ctr"/>
                      <a:r>
                        <a:rPr sz="1200" b="0">
                          <a:solidFill>
                            <a:srgbClr val="142B33"/>
                          </a:solidFill>
                          <a:latin typeface="Calibri"/>
                        </a:rPr>
                        <a:t>3</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r>
              <a:tr h="259080">
                <a:tc>
                  <a:txBody>
                    <a:bodyPr/>
                    <a:lstStyle/>
                    <a:p>
                      <a:pPr algn="ctr"/>
                      <a:r>
                        <a:rPr sz="1200" b="0">
                          <a:solidFill>
                            <a:srgbClr val="142B33"/>
                          </a:solidFill>
                          <a:latin typeface="Calibri"/>
                        </a:rPr>
                        <a:t>4</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r>
              <a:tr h="259080">
                <a:tc>
                  <a:txBody>
                    <a:bodyPr/>
                    <a:lstStyle/>
                    <a:p>
                      <a:pPr algn="ctr"/>
                      <a:r>
                        <a:rPr sz="1200" b="0">
                          <a:solidFill>
                            <a:srgbClr val="142B33"/>
                          </a:solidFill>
                          <a:latin typeface="Calibri"/>
                        </a:rPr>
                        <a:t>5</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r>
              <a:tr h="259080">
                <a:tc>
                  <a:txBody>
                    <a:bodyPr/>
                    <a:lstStyle/>
                    <a:p>
                      <a:pPr algn="ctr"/>
                      <a:r>
                        <a:rPr sz="1200" b="0">
                          <a:solidFill>
                            <a:srgbClr val="142B33"/>
                          </a:solidFill>
                          <a:latin typeface="Calibri"/>
                        </a:rPr>
                        <a:t>6</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r>
              <a:tr h="259080">
                <a:tc>
                  <a:txBody>
                    <a:bodyPr/>
                    <a:lstStyle/>
                    <a:p>
                      <a:pPr algn="ctr"/>
                      <a:r>
                        <a:rPr sz="1200" b="0">
                          <a:solidFill>
                            <a:srgbClr val="142B33"/>
                          </a:solidFill>
                          <a:latin typeface="Calibri"/>
                        </a:rPr>
                        <a:t>7</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r>
              <a:tr h="259080">
                <a:tc>
                  <a:txBody>
                    <a:bodyPr/>
                    <a:lstStyle/>
                    <a:p>
                      <a:pPr algn="ctr"/>
                      <a:r>
                        <a:rPr sz="1200" b="0">
                          <a:solidFill>
                            <a:srgbClr val="142B33"/>
                          </a:solidFill>
                          <a:latin typeface="Calibri"/>
                        </a:rPr>
                        <a:t>8</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r>
              <a:tr h="259080">
                <a:tc>
                  <a:txBody>
                    <a:bodyPr/>
                    <a:lstStyle/>
                    <a:p>
                      <a:pPr algn="ctr"/>
                      <a:r>
                        <a:rPr sz="1200" b="0">
                          <a:solidFill>
                            <a:srgbClr val="142B33"/>
                          </a:solidFill>
                          <a:latin typeface="Calibri"/>
                        </a:rPr>
                        <a:t>9</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r>
              <a:tr h="259080">
                <a:tc>
                  <a:txBody>
                    <a:bodyPr/>
                    <a:lstStyle/>
                    <a:p>
                      <a:pPr algn="ctr"/>
                      <a:r>
                        <a:rPr sz="1200" b="0">
                          <a:solidFill>
                            <a:srgbClr val="142B33"/>
                          </a:solidFill>
                          <a:latin typeface="Calibri"/>
                        </a:rPr>
                        <a:t>10</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r>
              <a:tr h="259080">
                <a:tc>
                  <a:txBody>
                    <a:bodyPr/>
                    <a:lstStyle/>
                    <a:p>
                      <a:pPr algn="ctr"/>
                      <a:r>
                        <a:rPr sz="1200" b="0">
                          <a:solidFill>
                            <a:srgbClr val="142B33"/>
                          </a:solidFill>
                          <a:latin typeface="Calibri"/>
                        </a:rPr>
                        <a:t>11</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r>
              <a:tr h="259080">
                <a:tc>
                  <a:txBody>
                    <a:bodyPr/>
                    <a:lstStyle/>
                    <a:p>
                      <a:pPr algn="ctr"/>
                      <a:r>
                        <a:rPr sz="1200" b="0">
                          <a:solidFill>
                            <a:srgbClr val="142B33"/>
                          </a:solidFill>
                          <a:latin typeface="Calibri"/>
                        </a:rPr>
                        <a:t>12</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r>
              <a:tr h="259080">
                <a:tc>
                  <a:txBody>
                    <a:bodyPr/>
                    <a:lstStyle/>
                    <a:p>
                      <a:pPr algn="ctr"/>
                      <a:r>
                        <a:rPr sz="1200" b="0">
                          <a:solidFill>
                            <a:srgbClr val="142B33"/>
                          </a:solidFill>
                          <a:latin typeface="Calibri"/>
                        </a:rPr>
                        <a:t>13</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r>
              <a:tr h="259080">
                <a:tc>
                  <a:txBody>
                    <a:bodyPr/>
                    <a:lstStyle/>
                    <a:p>
                      <a:pPr algn="ctr"/>
                      <a:r>
                        <a:rPr sz="1200" b="0">
                          <a:solidFill>
                            <a:srgbClr val="142B33"/>
                          </a:solidFill>
                          <a:latin typeface="Calibri"/>
                        </a:rPr>
                        <a:t>14</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r>
              <a:tr h="259080">
                <a:tc>
                  <a:txBody>
                    <a:bodyPr/>
                    <a:lstStyle/>
                    <a:p>
                      <a:pPr algn="ctr"/>
                      <a:r>
                        <a:rPr sz="1200" b="0">
                          <a:solidFill>
                            <a:srgbClr val="142B33"/>
                          </a:solidFill>
                          <a:latin typeface="Calibri"/>
                        </a:rPr>
                        <a:t>15</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r>
              <a:tr h="259080">
                <a:tc>
                  <a:txBody>
                    <a:bodyPr/>
                    <a:lstStyle/>
                    <a:p>
                      <a:pPr algn="ctr"/>
                      <a:r>
                        <a:rPr sz="1200" b="0">
                          <a:solidFill>
                            <a:srgbClr val="142B33"/>
                          </a:solidFill>
                          <a:latin typeface="Calibri"/>
                        </a:rPr>
                        <a:t>16</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r>
            </a:tbl>
          </a:graphicData>
        </a:graphic>
      </p:graphicFrame>
      <p:sp>
        <p:nvSpPr>
          <p:cNvPr id="4" name="TextBox 3"/>
          <p:cNvSpPr txBox="1"/>
          <p:nvPr/>
        </p:nvSpPr>
        <p:spPr>
          <a:xfrm>
            <a:off x="6515246" y="1417320"/>
            <a:ext cx="5127808" cy="1238504"/>
          </a:xfrm>
          <a:prstGeom prst="rect">
            <a:avLst/>
          </a:prstGeom>
          <a:noFill/>
        </p:spPr>
        <p:txBody>
          <a:bodyPr wrap="square" anchor="t" lIns="0" rIns="0" tIns="0" bIns="0">
            <a:spAutoFit/>
          </a:bodyPr>
          <a:lstStyle/>
          <a:p>
            <a:pPr marL="320040" indent="-320040">
              <a:spcAft>
                <a:spcPts val="600"/>
              </a:spcAft>
              <a:buClr>
                <a:srgbClr val="E36414"/>
              </a:buClr>
              <a:buFont typeface="+mj-lt"/>
              <a:buAutoNum type="arabicPeriod"/>
            </a:pPr>
            <a:r>
              <a:rPr sz="1600" b="0">
                <a:solidFill>
                  <a:srgbClr val="142B33"/>
                </a:solidFill>
                <a:latin typeface="Calibri"/>
              </a:rPr>
              <a:t>Escribir el </a:t>
            </a:r>
            <a:r>
              <a:rPr sz="1600" b="1">
                <a:solidFill>
                  <a:srgbClr val="142B33"/>
                </a:solidFill>
                <a:latin typeface="Calibri"/>
              </a:rPr>
              <a:t>2</a:t>
            </a:r>
            <a:r>
              <a:rPr sz="1600" b="1" baseline="30000">
                <a:solidFill>
                  <a:srgbClr val="142B33"/>
                </a:solidFill>
                <a:latin typeface="Calibri"/>
              </a:rPr>
              <a:t>4</a:t>
            </a:r>
            <a:r>
              <a:rPr sz="1600" b="1">
                <a:solidFill>
                  <a:srgbClr val="142B33"/>
                </a:solidFill>
                <a:latin typeface="Calibri"/>
              </a:rPr>
              <a:t> completo</a:t>
            </a:r>
            <a:r>
              <a:rPr sz="1600" b="0">
                <a:solidFill>
                  <a:srgbClr val="142B33"/>
                </a:solidFill>
                <a:latin typeface="Calibri"/>
              </a:rPr>
              <a:t> en A, B, C, D (diseño básico)</a:t>
            </a:r>
          </a:p>
          <a:p>
            <a:pPr marL="320040" indent="-320040">
              <a:spcAft>
                <a:spcPts val="600"/>
              </a:spcAft>
              <a:buClr>
                <a:srgbClr val="E36414"/>
              </a:buClr>
              <a:buFont typeface="+mj-lt"/>
              <a:buAutoNum type="arabicPeriod"/>
            </a:pPr>
            <a:r>
              <a:rPr sz="1600" b="0">
                <a:solidFill>
                  <a:srgbClr val="142B33"/>
                </a:solidFill>
                <a:latin typeface="Calibri"/>
              </a:rPr>
              <a:t>Agregar </a:t>
            </a:r>
            <a:r>
              <a:rPr sz="1600" b="1">
                <a:solidFill>
                  <a:srgbClr val="142B33"/>
                </a:solidFill>
                <a:latin typeface="Calibri"/>
              </a:rPr>
              <a:t>E = ABC</a:t>
            </a:r>
            <a:r>
              <a:rPr sz="1600" b="0">
                <a:solidFill>
                  <a:srgbClr val="142B33"/>
                </a:solidFill>
                <a:latin typeface="Calibri"/>
              </a:rPr>
              <a:t> y </a:t>
            </a:r>
            <a:r>
              <a:rPr sz="1600" b="1">
                <a:solidFill>
                  <a:srgbClr val="142B33"/>
                </a:solidFill>
                <a:latin typeface="Calibri"/>
              </a:rPr>
              <a:t>F = BCD</a:t>
            </a:r>
          </a:p>
          <a:p>
            <a:pPr marL="320040" indent="-320040">
              <a:spcAft>
                <a:spcPts val="600"/>
              </a:spcAft>
              <a:buClr>
                <a:srgbClr val="E36414"/>
              </a:buClr>
              <a:buFont typeface="+mj-lt"/>
              <a:buAutoNum type="arabicPeriod"/>
            </a:pPr>
            <a:r>
              <a:rPr sz="1600" b="0">
                <a:solidFill>
                  <a:srgbClr val="142B33"/>
                </a:solidFill>
                <a:latin typeface="Calibri"/>
              </a:rPr>
              <a:t>Con todos los signos positivos: </a:t>
            </a:r>
            <a:r>
              <a:rPr sz="1600" b="1">
                <a:solidFill>
                  <a:srgbClr val="142B33"/>
                </a:solidFill>
                <a:latin typeface="Calibri"/>
              </a:rPr>
              <a:t>fracción principal</a:t>
            </a:r>
          </a:p>
        </p:txBody>
      </p:sp>
      <p:sp>
        <p:nvSpPr>
          <p:cNvPr id="5" name="Rounded Rectangle 4"/>
          <p:cNvSpPr/>
          <p:nvPr/>
        </p:nvSpPr>
        <p:spPr>
          <a:xfrm>
            <a:off x="6515246" y="2856992"/>
            <a:ext cx="5127808" cy="621385"/>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2000" b="0">
                <a:solidFill>
                  <a:srgbClr val="0F4C5C"/>
                </a:solidFill>
                <a:latin typeface="Cambria Math"/>
              </a:rPr>
              <a:t>I = ABCE,   I = BCDF</a:t>
            </a:r>
          </a:p>
        </p:txBody>
      </p:sp>
      <p:sp>
        <p:nvSpPr>
          <p:cNvPr id="6" name="Rounded Rectangle 5"/>
          <p:cNvSpPr/>
          <p:nvPr/>
        </p:nvSpPr>
        <p:spPr>
          <a:xfrm>
            <a:off x="6515246" y="3679545"/>
            <a:ext cx="5127808" cy="708151"/>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400" b="0">
                <a:solidFill>
                  <a:srgbClr val="142B33"/>
                </a:solidFill>
                <a:latin typeface="Calibri"/>
              </a:rPr>
              <a:t>Alternativa: 4 bloques del 2</a:t>
            </a:r>
            <a:r>
              <a:rPr sz="1400" b="0" baseline="30000">
                <a:solidFill>
                  <a:srgbClr val="142B33"/>
                </a:solidFill>
                <a:latin typeface="Calibri"/>
              </a:rPr>
              <a:t>6</a:t>
            </a:r>
            <a:r>
              <a:rPr sz="1400" b="0">
                <a:solidFill>
                  <a:srgbClr val="142B33"/>
                </a:solidFill>
                <a:latin typeface="Calibri"/>
              </a:rPr>
              <a:t> con ABCE y BCDF confundidas; se toma el bloque en que ambas son +</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La fracción un cuarto 2</a:t>
            </a:r>
            <a:r>
              <a:rPr sz="1000" b="0" baseline="30000">
                <a:solidFill>
                  <a:srgbClr val="5B6B73"/>
                </a:solidFill>
                <a:latin typeface="Calibri"/>
              </a:rPr>
              <a:t>k−2</a:t>
            </a:r>
          </a:p>
        </p:txBody>
      </p:sp>
      <p:sp>
        <p:nvSpPr>
          <p:cNvPr id="8" name="TextBox 7"/>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45</a:t>
            </a:r>
          </a:p>
        </p:txBody>
      </p:sp>
      <p:sp>
        <p:nvSpPr>
          <p:cNvPr id="9" name="Rounded Rectangle 8"/>
          <p:cNvSpPr/>
          <p:nvPr/>
        </p:nvSpPr>
        <p:spPr>
          <a:xfrm>
            <a:off x="548640" y="91440"/>
            <a:ext cx="3131820"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6 · La fracción un cuarto 2</a:t>
            </a:r>
            <a:r>
              <a:rPr sz="1100" b="1" baseline="30000">
                <a:solidFill>
                  <a:srgbClr val="FFFFFF"/>
                </a:solidFill>
                <a:latin typeface="Calibri"/>
              </a:rPr>
              <a:t>k−2</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¿Cuáles son las fracciones alternas del 2</a:t>
            </a:r>
            <a:r>
              <a:rPr sz="3000" b="1" baseline="30000">
                <a:solidFill>
                  <a:srgbClr val="0F4C5C"/>
                </a:solidFill>
                <a:latin typeface="Cambria"/>
              </a:rPr>
              <a:t>6−2</a:t>
            </a:r>
            <a:r>
              <a:rPr sz="3000" b="1">
                <a:solidFill>
                  <a:srgbClr val="0F4C5C"/>
                </a:solidFill>
                <a:latin typeface="Cambria"/>
              </a:rPr>
              <a:t>?</a:t>
            </a:r>
          </a:p>
        </p:txBody>
      </p:sp>
      <p:graphicFrame>
        <p:nvGraphicFramePr>
          <p:cNvPr id="3" name="Table 2"/>
          <p:cNvGraphicFramePr>
            <a:graphicFrameLocks noGrp="1"/>
          </p:cNvGraphicFramePr>
          <p:nvPr/>
        </p:nvGraphicFramePr>
        <p:xfrm>
          <a:off x="548640" y="1417320"/>
          <a:ext cx="11094414" cy="1833880"/>
        </p:xfrm>
        <a:graphic>
          <a:graphicData uri="http://schemas.openxmlformats.org/drawingml/2006/table">
            <a:tbl>
              <a:tblPr firstRow="0" bandRow="0">
                <a:tableStyleId>{5C22544A-7EE6-4342-B048-85BDC9FD1C3A}</a:tableStyleId>
              </a:tblPr>
              <a:tblGrid>
                <a:gridCol w="3328324"/>
                <a:gridCol w="3328324"/>
                <a:gridCol w="4437766"/>
              </a:tblGrid>
              <a:tr h="366776">
                <a:tc>
                  <a:txBody>
                    <a:bodyPr/>
                    <a:lstStyle/>
                    <a:p>
                      <a:pPr algn="l"/>
                      <a:r>
                        <a:rPr sz="1600" b="1">
                          <a:solidFill>
                            <a:srgbClr val="FFFFFF"/>
                          </a:solidFill>
                          <a:latin typeface="Calibri"/>
                        </a:rPr>
                        <a:t>Generadores</a:t>
                      </a:r>
                    </a:p>
                  </a:txBody>
                  <a:tcPr marL="73152" marR="73152" marT="27432" marB="27432" anchor="ctr">
                    <a:solidFill>
                      <a:srgbClr val="0F4C5C"/>
                    </a:solidFill>
                  </a:tcPr>
                </a:tc>
                <a:tc>
                  <a:txBody>
                    <a:bodyPr/>
                    <a:lstStyle/>
                    <a:p>
                      <a:pPr algn="ctr"/>
                      <a:r>
                        <a:rPr sz="1600" b="1">
                          <a:solidFill>
                            <a:srgbClr val="FFFFFF"/>
                          </a:solidFill>
                          <a:latin typeface="Calibri"/>
                        </a:rPr>
                        <a:t>Cómo se construye</a:t>
                      </a:r>
                    </a:p>
                  </a:txBody>
                  <a:tcPr marL="73152" marR="73152" marT="27432" marB="27432" anchor="ctr">
                    <a:solidFill>
                      <a:srgbClr val="0F4C5C"/>
                    </a:solidFill>
                  </a:tcPr>
                </a:tc>
                <a:tc>
                  <a:txBody>
                    <a:bodyPr/>
                    <a:lstStyle/>
                    <a:p>
                      <a:pPr algn="l"/>
                      <a:r>
                        <a:rPr sz="1600" b="1">
                          <a:solidFill>
                            <a:srgbClr val="FFFFFF"/>
                          </a:solidFill>
                          <a:latin typeface="Calibri"/>
                        </a:rPr>
                        <a:t>Relación de definición completa</a:t>
                      </a:r>
                    </a:p>
                  </a:txBody>
                  <a:tcPr marL="73152" marR="73152" marT="27432" marB="27432" anchor="ctr">
                    <a:solidFill>
                      <a:srgbClr val="0F4C5C"/>
                    </a:solidFill>
                  </a:tcPr>
                </a:tc>
              </a:tr>
              <a:tr h="366776">
                <a:tc>
                  <a:txBody>
                    <a:bodyPr/>
                    <a:lstStyle/>
                    <a:p>
                      <a:pPr algn="l"/>
                      <a:r>
                        <a:rPr sz="1600" b="0">
                          <a:solidFill>
                            <a:srgbClr val="142B33"/>
                          </a:solidFill>
                          <a:latin typeface="Calibri"/>
                        </a:rPr>
                        <a:t>I = ABCE,  I = BCDF</a:t>
                      </a:r>
                    </a:p>
                  </a:txBody>
                  <a:tcPr marL="73152" marR="73152" marT="27432" marB="27432" anchor="ctr">
                    <a:solidFill>
                      <a:srgbClr val="FFFFFF"/>
                    </a:solidFill>
                  </a:tcPr>
                </a:tc>
                <a:tc>
                  <a:txBody>
                    <a:bodyPr/>
                    <a:lstStyle/>
                    <a:p>
                      <a:pPr algn="ctr"/>
                      <a:r>
                        <a:rPr sz="1600" b="0">
                          <a:solidFill>
                            <a:srgbClr val="142B33"/>
                          </a:solidFill>
                          <a:latin typeface="Calibri"/>
                        </a:rPr>
                        <a:t>E = ABC,  F = BCD</a:t>
                      </a:r>
                    </a:p>
                  </a:txBody>
                  <a:tcPr marL="73152" marR="73152" marT="27432" marB="27432" anchor="ctr">
                    <a:solidFill>
                      <a:srgbClr val="FFFFFF"/>
                    </a:solidFill>
                  </a:tcPr>
                </a:tc>
                <a:tc>
                  <a:txBody>
                    <a:bodyPr/>
                    <a:lstStyle/>
                    <a:p>
                      <a:pPr algn="l"/>
                      <a:r>
                        <a:rPr sz="1600" b="0">
                          <a:solidFill>
                            <a:srgbClr val="142B33"/>
                          </a:solidFill>
                          <a:latin typeface="Calibri"/>
                        </a:rPr>
                        <a:t>I = ABCE = BCDF = ADEF  (principal)</a:t>
                      </a:r>
                    </a:p>
                  </a:txBody>
                  <a:tcPr marL="73152" marR="73152" marT="27432" marB="27432" anchor="ctr">
                    <a:solidFill>
                      <a:srgbClr val="FFFFFF"/>
                    </a:solidFill>
                  </a:tcPr>
                </a:tc>
              </a:tr>
              <a:tr h="366776">
                <a:tc>
                  <a:txBody>
                    <a:bodyPr/>
                    <a:lstStyle/>
                    <a:p>
                      <a:pPr algn="l"/>
                      <a:r>
                        <a:rPr sz="1600" b="0">
                          <a:solidFill>
                            <a:srgbClr val="142B33"/>
                          </a:solidFill>
                          <a:latin typeface="Calibri"/>
                        </a:rPr>
                        <a:t>I = ABCE,  I = −BCDF</a:t>
                      </a:r>
                    </a:p>
                  </a:txBody>
                  <a:tcPr marL="73152" marR="73152" marT="27432" marB="27432" anchor="ctr">
                    <a:solidFill>
                      <a:srgbClr val="FDE8D7"/>
                    </a:solidFill>
                  </a:tcPr>
                </a:tc>
                <a:tc>
                  <a:txBody>
                    <a:bodyPr/>
                    <a:lstStyle/>
                    <a:p>
                      <a:pPr algn="ctr"/>
                      <a:r>
                        <a:rPr sz="1600" b="0">
                          <a:solidFill>
                            <a:srgbClr val="142B33"/>
                          </a:solidFill>
                          <a:latin typeface="Calibri"/>
                        </a:rPr>
                        <a:t>E = ABC,  F = −BCD</a:t>
                      </a:r>
                    </a:p>
                  </a:txBody>
                  <a:tcPr marL="73152" marR="73152" marT="27432" marB="27432" anchor="ctr">
                    <a:solidFill>
                      <a:srgbClr val="FDE8D7"/>
                    </a:solidFill>
                  </a:tcPr>
                </a:tc>
                <a:tc>
                  <a:txBody>
                    <a:bodyPr/>
                    <a:lstStyle/>
                    <a:p>
                      <a:pPr algn="l"/>
                      <a:r>
                        <a:rPr sz="1600" b="0">
                          <a:solidFill>
                            <a:srgbClr val="142B33"/>
                          </a:solidFill>
                          <a:latin typeface="Calibri"/>
                        </a:rPr>
                        <a:t>I = ABCE = −BCDF = −ADEF</a:t>
                      </a:r>
                    </a:p>
                  </a:txBody>
                  <a:tcPr marL="73152" marR="73152" marT="27432" marB="27432" anchor="ctr">
                    <a:solidFill>
                      <a:srgbClr val="FDE8D7"/>
                    </a:solidFill>
                  </a:tcPr>
                </a:tc>
              </a:tr>
              <a:tr h="366776">
                <a:tc>
                  <a:txBody>
                    <a:bodyPr/>
                    <a:lstStyle/>
                    <a:p>
                      <a:pPr algn="l"/>
                      <a:r>
                        <a:rPr sz="1600" b="0">
                          <a:solidFill>
                            <a:srgbClr val="142B33"/>
                          </a:solidFill>
                          <a:latin typeface="Calibri"/>
                        </a:rPr>
                        <a:t>I = −ABCE,  I = BCDF</a:t>
                      </a:r>
                    </a:p>
                  </a:txBody>
                  <a:tcPr marL="73152" marR="73152" marT="27432" marB="27432" anchor="ctr">
                    <a:solidFill>
                      <a:srgbClr val="FFFFFF"/>
                    </a:solidFill>
                  </a:tcPr>
                </a:tc>
                <a:tc>
                  <a:txBody>
                    <a:bodyPr/>
                    <a:lstStyle/>
                    <a:p>
                      <a:pPr algn="ctr"/>
                      <a:r>
                        <a:rPr sz="1600" b="0">
                          <a:solidFill>
                            <a:srgbClr val="142B33"/>
                          </a:solidFill>
                          <a:latin typeface="Calibri"/>
                        </a:rPr>
                        <a:t>E = −ABC,  F = BCD</a:t>
                      </a:r>
                    </a:p>
                  </a:txBody>
                  <a:tcPr marL="73152" marR="73152" marT="27432" marB="27432" anchor="ctr">
                    <a:solidFill>
                      <a:srgbClr val="FFFFFF"/>
                    </a:solidFill>
                  </a:tcPr>
                </a:tc>
                <a:tc>
                  <a:txBody>
                    <a:bodyPr/>
                    <a:lstStyle/>
                    <a:p>
                      <a:pPr algn="l"/>
                      <a:r>
                        <a:rPr sz="1600" b="0">
                          <a:solidFill>
                            <a:srgbClr val="142B33"/>
                          </a:solidFill>
                          <a:latin typeface="Calibri"/>
                        </a:rPr>
                        <a:t>I = −ABCE = BCDF = −ADEF</a:t>
                      </a:r>
                    </a:p>
                  </a:txBody>
                  <a:tcPr marL="73152" marR="73152" marT="27432" marB="27432" anchor="ctr">
                    <a:solidFill>
                      <a:srgbClr val="FFFFFF"/>
                    </a:solidFill>
                  </a:tcPr>
                </a:tc>
              </a:tr>
              <a:tr h="366776">
                <a:tc>
                  <a:txBody>
                    <a:bodyPr/>
                    <a:lstStyle/>
                    <a:p>
                      <a:pPr algn="l"/>
                      <a:r>
                        <a:rPr sz="1600" b="0">
                          <a:solidFill>
                            <a:srgbClr val="142B33"/>
                          </a:solidFill>
                          <a:latin typeface="Calibri"/>
                        </a:rPr>
                        <a:t>I = −ABCE,  I = −BCDF</a:t>
                      </a:r>
                    </a:p>
                  </a:txBody>
                  <a:tcPr marL="73152" marR="73152" marT="27432" marB="27432" anchor="ctr">
                    <a:solidFill>
                      <a:srgbClr val="F4F8F9"/>
                    </a:solidFill>
                  </a:tcPr>
                </a:tc>
                <a:tc>
                  <a:txBody>
                    <a:bodyPr/>
                    <a:lstStyle/>
                    <a:p>
                      <a:pPr algn="ctr"/>
                      <a:r>
                        <a:rPr sz="1600" b="0">
                          <a:solidFill>
                            <a:srgbClr val="142B33"/>
                          </a:solidFill>
                          <a:latin typeface="Calibri"/>
                        </a:rPr>
                        <a:t>E = −ABC,  F = −BCD</a:t>
                      </a:r>
                    </a:p>
                  </a:txBody>
                  <a:tcPr marL="73152" marR="73152" marT="27432" marB="27432" anchor="ctr">
                    <a:solidFill>
                      <a:srgbClr val="F4F8F9"/>
                    </a:solidFill>
                  </a:tcPr>
                </a:tc>
                <a:tc>
                  <a:txBody>
                    <a:bodyPr/>
                    <a:lstStyle/>
                    <a:p>
                      <a:pPr algn="l"/>
                      <a:r>
                        <a:rPr sz="1600" b="0">
                          <a:solidFill>
                            <a:srgbClr val="142B33"/>
                          </a:solidFill>
                          <a:latin typeface="Calibri"/>
                        </a:rPr>
                        <a:t>I = −ABCE = −BCDF = ADEF</a:t>
                      </a:r>
                    </a:p>
                  </a:txBody>
                  <a:tcPr marL="73152" marR="73152" marT="27432" marB="27432" anchor="ctr">
                    <a:solidFill>
                      <a:srgbClr val="F4F8F9"/>
                    </a:solidFill>
                  </a:tcPr>
                </a:tc>
              </a:tr>
            </a:tbl>
          </a:graphicData>
        </a:graphic>
      </p:graphicFrame>
      <p:sp>
        <p:nvSpPr>
          <p:cNvPr id="4" name="Rounded Rectangle 3"/>
          <p:cNvSpPr/>
          <p:nvPr/>
        </p:nvSpPr>
        <p:spPr>
          <a:xfrm>
            <a:off x="548640" y="3452368"/>
            <a:ext cx="11094415" cy="569325"/>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700" b="0">
                <a:solidFill>
                  <a:srgbClr val="0F4C5C"/>
                </a:solidFill>
                <a:latin typeface="Cambria Math"/>
              </a:rPr>
              <a:t>Con F = −BCD:   A = BCE = −DEF = −ABCDF   ⇒   ℓ</a:t>
            </a:r>
            <a:r>
              <a:rPr sz="1700" b="0" baseline="-25000">
                <a:solidFill>
                  <a:srgbClr val="0F4C5C"/>
                </a:solidFill>
                <a:latin typeface="Cambria Math"/>
              </a:rPr>
              <a:t>A</a:t>
            </a:r>
            <a:r>
              <a:rPr sz="1700" b="0">
                <a:solidFill>
                  <a:srgbClr val="0F4C5C"/>
                </a:solidFill>
                <a:latin typeface="Cambria Math"/>
              </a:rPr>
              <a:t> → A + BCE − DEF − ABCDF</a:t>
            </a:r>
          </a:p>
        </p:txBody>
      </p:sp>
      <p:sp>
        <p:nvSpPr>
          <p:cNvPr id="5" name="Rounded Rectangle 4"/>
          <p:cNvSpPr/>
          <p:nvPr/>
        </p:nvSpPr>
        <p:spPr>
          <a:xfrm>
            <a:off x="548640" y="4222861"/>
            <a:ext cx="11094415" cy="50673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El signo de la interacción generalizada es el </a:t>
            </a:r>
            <a:r>
              <a:rPr sz="1500" b="1">
                <a:solidFill>
                  <a:srgbClr val="142B33"/>
                </a:solidFill>
                <a:latin typeface="Calibri"/>
              </a:rPr>
              <a:t>producto</a:t>
            </a:r>
            <a:r>
              <a:rPr sz="1500" b="0">
                <a:solidFill>
                  <a:srgbClr val="142B33"/>
                </a:solidFill>
                <a:latin typeface="Calibri"/>
              </a:rPr>
              <a:t> de los signos de los generadores</a:t>
            </a:r>
          </a:p>
        </p:txBody>
      </p:sp>
      <p:sp>
        <p:nvSpPr>
          <p:cNvPr id="6" name="TextBox 5"/>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La fracción un cuarto 2</a:t>
            </a:r>
            <a:r>
              <a:rPr sz="1000" b="0" baseline="30000">
                <a:solidFill>
                  <a:srgbClr val="5B6B73"/>
                </a:solidFill>
                <a:latin typeface="Calibri"/>
              </a:rPr>
              <a:t>k−2</a:t>
            </a:r>
          </a:p>
        </p:txBody>
      </p:sp>
      <p:sp>
        <p:nvSpPr>
          <p:cNvPr id="7" name="TextBox 6"/>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46</a:t>
            </a:r>
          </a:p>
        </p:txBody>
      </p:sp>
      <p:sp>
        <p:nvSpPr>
          <p:cNvPr id="8" name="Rounded Rectangle 7"/>
          <p:cNvSpPr/>
          <p:nvPr/>
        </p:nvSpPr>
        <p:spPr>
          <a:xfrm>
            <a:off x="548640" y="91440"/>
            <a:ext cx="3131820"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6 · La fracción un cuarto 2</a:t>
            </a:r>
            <a:r>
              <a:rPr sz="1100" b="1" baseline="30000">
                <a:solidFill>
                  <a:srgbClr val="FFFFFF"/>
                </a:solidFill>
                <a:latin typeface="Calibri"/>
              </a:rPr>
              <a:t>k−2</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¿Qué significa proyectar un fraccionado?</a:t>
            </a:r>
          </a:p>
        </p:txBody>
      </p:sp>
      <p:sp>
        <p:nvSpPr>
          <p:cNvPr id="3" name="TextBox 2"/>
          <p:cNvSpPr txBox="1"/>
          <p:nvPr/>
        </p:nvSpPr>
        <p:spPr>
          <a:xfrm>
            <a:off x="548640" y="1417320"/>
            <a:ext cx="5341467" cy="1816607"/>
          </a:xfrm>
          <a:prstGeom prst="rect">
            <a:avLst/>
          </a:prstGeom>
          <a:noFill/>
        </p:spPr>
        <p:txBody>
          <a:bodyPr wrap="square" anchor="t" lIns="0" rIns="0" tIns="0" bIns="0">
            <a:spAutoFit/>
          </a:bodyPr>
          <a:lstStyle/>
          <a:p>
            <a:pPr marL="320040" indent="-320040">
              <a:spcAft>
                <a:spcPts val="600"/>
              </a:spcAft>
              <a:buClr>
                <a:srgbClr val="E36414"/>
              </a:buClr>
              <a:buFont typeface="+mj-lt"/>
              <a:buAutoNum type="arabicPeriod"/>
            </a:pPr>
            <a:r>
              <a:rPr sz="1600" b="0">
                <a:solidFill>
                  <a:srgbClr val="142B33"/>
                </a:solidFill>
                <a:latin typeface="Calibri"/>
              </a:rPr>
              <a:t>Decidir qué factores son </a:t>
            </a:r>
            <a:r>
              <a:rPr sz="1600" b="1">
                <a:solidFill>
                  <a:srgbClr val="142B33"/>
                </a:solidFill>
                <a:latin typeface="Calibri"/>
              </a:rPr>
              <a:t>inactivos</a:t>
            </a:r>
          </a:p>
          <a:p>
            <a:pPr marL="320040" indent="-320040">
              <a:spcAft>
                <a:spcPts val="600"/>
              </a:spcAft>
              <a:buClr>
                <a:srgbClr val="E36414"/>
              </a:buClr>
              <a:buFont typeface="+mj-lt"/>
              <a:buAutoNum type="arabicPeriod"/>
            </a:pPr>
            <a:r>
              <a:rPr sz="1600" b="0">
                <a:solidFill>
                  <a:srgbClr val="142B33"/>
                </a:solidFill>
                <a:latin typeface="Calibri"/>
              </a:rPr>
              <a:t>​</a:t>
            </a:r>
            <a:r>
              <a:rPr sz="1600" b="1">
                <a:solidFill>
                  <a:srgbClr val="142B33"/>
                </a:solidFill>
                <a:latin typeface="Calibri"/>
              </a:rPr>
              <a:t>Borrar</a:t>
            </a:r>
            <a:r>
              <a:rPr sz="1600" b="0">
                <a:solidFill>
                  <a:srgbClr val="142B33"/>
                </a:solidFill>
                <a:latin typeface="Calibri"/>
              </a:rPr>
              <a:t> sus columnas de la tabla del diseño</a:t>
            </a:r>
          </a:p>
          <a:p>
            <a:pPr marL="320040" indent="-320040">
              <a:spcAft>
                <a:spcPts val="600"/>
              </a:spcAft>
              <a:buClr>
                <a:srgbClr val="E36414"/>
              </a:buClr>
              <a:buFont typeface="+mj-lt"/>
              <a:buAutoNum type="arabicPeriod"/>
            </a:pPr>
            <a:r>
              <a:rPr sz="1600" b="0">
                <a:solidFill>
                  <a:srgbClr val="142B33"/>
                </a:solidFill>
                <a:latin typeface="Calibri"/>
              </a:rPr>
              <a:t>​</a:t>
            </a:r>
            <a:r>
              <a:rPr sz="1600" b="1">
                <a:solidFill>
                  <a:srgbClr val="142B33"/>
                </a:solidFill>
                <a:latin typeface="Calibri"/>
              </a:rPr>
              <a:t>Contar</a:t>
            </a:r>
            <a:r>
              <a:rPr sz="1600" b="0">
                <a:solidFill>
                  <a:srgbClr val="142B33"/>
                </a:solidFill>
                <a:latin typeface="Calibri"/>
              </a:rPr>
              <a:t> cuántas veces aparece cada combinación de signos en las columnas que quedan</a:t>
            </a:r>
          </a:p>
          <a:p>
            <a:pPr marL="320040" indent="-320040">
              <a:spcAft>
                <a:spcPts val="600"/>
              </a:spcAft>
              <a:buClr>
                <a:srgbClr val="E36414"/>
              </a:buClr>
              <a:buFont typeface="+mj-lt"/>
              <a:buAutoNum type="arabicPeriod"/>
            </a:pPr>
            <a:r>
              <a:rPr sz="1600" b="0">
                <a:solidFill>
                  <a:srgbClr val="142B33"/>
                </a:solidFill>
                <a:latin typeface="Calibri"/>
              </a:rPr>
              <a:t>Leer el diseño que resulta: ¿están </a:t>
            </a:r>
            <a:r>
              <a:rPr sz="1600" b="1">
                <a:solidFill>
                  <a:srgbClr val="142B33"/>
                </a:solidFill>
                <a:latin typeface="Calibri"/>
              </a:rPr>
              <a:t>todas</a:t>
            </a:r>
            <a:r>
              <a:rPr sz="1600" b="0">
                <a:solidFill>
                  <a:srgbClr val="142B33"/>
                </a:solidFill>
                <a:latin typeface="Calibri"/>
              </a:rPr>
              <a:t> las combinaciones? ¿cuántas veces?</a:t>
            </a:r>
          </a:p>
        </p:txBody>
      </p:sp>
      <p:sp>
        <p:nvSpPr>
          <p:cNvPr id="4" name="Rounded Rectangle 3"/>
          <p:cNvSpPr/>
          <p:nvPr/>
        </p:nvSpPr>
        <p:spPr>
          <a:xfrm>
            <a:off x="548640" y="3435096"/>
            <a:ext cx="5341467" cy="97155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2</a:t>
            </a:r>
            <a:r>
              <a:rPr sz="1500" b="0" baseline="30000">
                <a:solidFill>
                  <a:srgbClr val="142B33"/>
                </a:solidFill>
                <a:latin typeface="Calibri"/>
              </a:rPr>
              <a:t>6−2</a:t>
            </a:r>
            <a:r>
              <a:rPr sz="1500" b="0">
                <a:solidFill>
                  <a:srgbClr val="142B33"/>
                </a:solidFill>
                <a:latin typeface="Calibri"/>
              </a:rPr>
              <a:t> con solo A, B, C activos: </a:t>
            </a:r>
            <a:r>
              <a:rPr sz="1500" b="1">
                <a:solidFill>
                  <a:srgbClr val="142B33"/>
                </a:solidFill>
                <a:latin typeface="Calibri"/>
              </a:rPr>
              <a:t>8 combinaciones × 2 veces</a:t>
            </a:r>
            <a:r>
              <a:rPr sz="1500" b="0">
                <a:solidFill>
                  <a:srgbClr val="142B33"/>
                </a:solidFill>
                <a:latin typeface="Calibri"/>
              </a:rPr>
              <a:t> = dos réplicas de un 2</a:t>
            </a:r>
            <a:r>
              <a:rPr sz="1500" b="0" baseline="30000">
                <a:solidFill>
                  <a:srgbClr val="142B33"/>
                </a:solidFill>
                <a:latin typeface="Calibri"/>
              </a:rPr>
              <a:t>3</a:t>
            </a:r>
            <a:r>
              <a:rPr sz="1500" b="0">
                <a:solidFill>
                  <a:srgbClr val="142B33"/>
                </a:solidFill>
                <a:latin typeface="Calibri"/>
              </a:rPr>
              <a:t>  →  </a:t>
            </a:r>
            <a:r>
              <a:rPr sz="1500" b="1">
                <a:solidFill>
                  <a:srgbClr val="142B33"/>
                </a:solidFill>
                <a:latin typeface="Calibri"/>
              </a:rPr>
              <a:t>8 g.l. de error puro</a:t>
            </a:r>
          </a:p>
        </p:txBody>
      </p:sp>
      <p:graphicFrame>
        <p:nvGraphicFramePr>
          <p:cNvPr id="5" name="Table 4"/>
          <p:cNvGraphicFramePr>
            <a:graphicFrameLocks noGrp="1"/>
          </p:cNvGraphicFramePr>
          <p:nvPr/>
        </p:nvGraphicFramePr>
        <p:xfrm>
          <a:off x="6301587" y="1417320"/>
          <a:ext cx="5341464" cy="2610603"/>
        </p:xfrm>
        <a:graphic>
          <a:graphicData uri="http://schemas.openxmlformats.org/drawingml/2006/table">
            <a:tbl>
              <a:tblPr firstRow="0" bandRow="0">
                <a:tableStyleId>{5C22544A-7EE6-4342-B048-85BDC9FD1C3A}</a:tableStyleId>
              </a:tblPr>
              <a:tblGrid>
                <a:gridCol w="609536"/>
                <a:gridCol w="609536"/>
                <a:gridCol w="609536"/>
                <a:gridCol w="2069217"/>
                <a:gridCol w="1443639"/>
              </a:tblGrid>
              <a:tr h="290067">
                <a:tc>
                  <a:txBody>
                    <a:bodyPr/>
                    <a:lstStyle/>
                    <a:p>
                      <a:pPr algn="ctr"/>
                      <a:r>
                        <a:rPr sz="1400" b="1">
                          <a:solidFill>
                            <a:srgbClr val="FFFFFF"/>
                          </a:solidFill>
                          <a:latin typeface="Calibri"/>
                        </a:rPr>
                        <a:t>A</a:t>
                      </a:r>
                    </a:p>
                  </a:txBody>
                  <a:tcPr marL="73152" marR="73152" marT="27432" marB="27432" anchor="ctr">
                    <a:solidFill>
                      <a:srgbClr val="0F4C5C"/>
                    </a:solidFill>
                  </a:tcPr>
                </a:tc>
                <a:tc>
                  <a:txBody>
                    <a:bodyPr/>
                    <a:lstStyle/>
                    <a:p>
                      <a:pPr algn="ctr"/>
                      <a:r>
                        <a:rPr sz="1400" b="1">
                          <a:solidFill>
                            <a:srgbClr val="FFFFFF"/>
                          </a:solidFill>
                          <a:latin typeface="Calibri"/>
                        </a:rPr>
                        <a:t>B</a:t>
                      </a:r>
                    </a:p>
                  </a:txBody>
                  <a:tcPr marL="73152" marR="73152" marT="27432" marB="27432" anchor="ctr">
                    <a:solidFill>
                      <a:srgbClr val="0F4C5C"/>
                    </a:solidFill>
                  </a:tcPr>
                </a:tc>
                <a:tc>
                  <a:txBody>
                    <a:bodyPr/>
                    <a:lstStyle/>
                    <a:p>
                      <a:pPr algn="ctr"/>
                      <a:r>
                        <a:rPr sz="1400" b="1">
                          <a:solidFill>
                            <a:srgbClr val="FFFFFF"/>
                          </a:solidFill>
                          <a:latin typeface="Calibri"/>
                        </a:rPr>
                        <a:t>C</a:t>
                      </a:r>
                    </a:p>
                  </a:txBody>
                  <a:tcPr marL="73152" marR="73152" marT="27432" marB="27432" anchor="ctr">
                    <a:solidFill>
                      <a:srgbClr val="0F4C5C"/>
                    </a:solidFill>
                  </a:tcPr>
                </a:tc>
                <a:tc>
                  <a:txBody>
                    <a:bodyPr/>
                    <a:lstStyle/>
                    <a:p>
                      <a:pPr algn="ctr"/>
                      <a:r>
                        <a:rPr sz="1400" b="1">
                          <a:solidFill>
                            <a:srgbClr val="FFFFFF"/>
                          </a:solidFill>
                          <a:latin typeface="Calibri"/>
                        </a:rPr>
                        <a:t>Corridas</a:t>
                      </a:r>
                    </a:p>
                  </a:txBody>
                  <a:tcPr marL="73152" marR="73152" marT="27432" marB="27432" anchor="ctr">
                    <a:solidFill>
                      <a:srgbClr val="0F4C5C"/>
                    </a:solidFill>
                  </a:tcPr>
                </a:tc>
                <a:tc>
                  <a:txBody>
                    <a:bodyPr/>
                    <a:lstStyle/>
                    <a:p>
                      <a:pPr algn="ctr"/>
                      <a:r>
                        <a:rPr sz="1400" b="1">
                          <a:solidFill>
                            <a:srgbClr val="FFFFFF"/>
                          </a:solidFill>
                          <a:latin typeface="Calibri"/>
                        </a:rPr>
                        <a:t>Veces</a:t>
                      </a:r>
                    </a:p>
                  </a:txBody>
                  <a:tcPr marL="73152" marR="73152" marT="27432" marB="27432" anchor="ctr">
                    <a:solidFill>
                      <a:srgbClr val="0F4C5C"/>
                    </a:solidFill>
                  </a:tcPr>
                </a:tc>
              </a:tr>
              <a:tr h="290067">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400" b="0">
                          <a:solidFill>
                            <a:srgbClr val="142B33"/>
                          </a:solidFill>
                          <a:latin typeface="Calibri"/>
                        </a:rPr>
                        <a:t>1 y 9</a:t>
                      </a:r>
                    </a:p>
                  </a:txBody>
                  <a:tcPr marL="73152" marR="73152" marT="27432" marB="27432" anchor="ctr">
                    <a:solidFill>
                      <a:srgbClr val="FFFFFF"/>
                    </a:solidFill>
                  </a:tcPr>
                </a:tc>
                <a:tc>
                  <a:txBody>
                    <a:bodyPr/>
                    <a:lstStyle/>
                    <a:p>
                      <a:pPr algn="ctr"/>
                      <a:r>
                        <a:rPr sz="1400" b="0">
                          <a:solidFill>
                            <a:srgbClr val="142B33"/>
                          </a:solidFill>
                          <a:latin typeface="Calibri"/>
                        </a:rPr>
                        <a:t>2</a:t>
                      </a:r>
                    </a:p>
                  </a:txBody>
                  <a:tcPr marL="73152" marR="73152" marT="27432" marB="27432" anchor="ctr">
                    <a:solidFill>
                      <a:srgbClr val="FFFFFF"/>
                    </a:solidFill>
                  </a:tcPr>
                </a:tc>
              </a:tr>
              <a:tr h="290067">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tc>
                  <a:txBody>
                    <a:bodyPr/>
                    <a:lstStyle/>
                    <a:p>
                      <a:pPr algn="ctr"/>
                      <a:r>
                        <a:rPr sz="1400" b="0">
                          <a:solidFill>
                            <a:srgbClr val="142B33"/>
                          </a:solidFill>
                          <a:latin typeface="Calibri"/>
                        </a:rPr>
                        <a:t>2 y 10</a:t>
                      </a:r>
                    </a:p>
                  </a:txBody>
                  <a:tcPr marL="73152" marR="73152" marT="27432" marB="27432" anchor="ctr">
                    <a:solidFill>
                      <a:srgbClr val="F4F8F9"/>
                    </a:solidFill>
                  </a:tcPr>
                </a:tc>
                <a:tc>
                  <a:txBody>
                    <a:bodyPr/>
                    <a:lstStyle/>
                    <a:p>
                      <a:pPr algn="ctr"/>
                      <a:r>
                        <a:rPr sz="1400" b="0">
                          <a:solidFill>
                            <a:srgbClr val="142B33"/>
                          </a:solidFill>
                          <a:latin typeface="Calibri"/>
                        </a:rPr>
                        <a:t>2</a:t>
                      </a:r>
                    </a:p>
                  </a:txBody>
                  <a:tcPr marL="73152" marR="73152" marT="27432" marB="27432" anchor="ctr">
                    <a:solidFill>
                      <a:srgbClr val="F4F8F9"/>
                    </a:solidFill>
                  </a:tcPr>
                </a:tc>
              </a:tr>
              <a:tr h="290067">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400" b="0">
                          <a:solidFill>
                            <a:srgbClr val="142B33"/>
                          </a:solidFill>
                          <a:latin typeface="Calibri"/>
                        </a:rPr>
                        <a:t>3 y 11</a:t>
                      </a:r>
                    </a:p>
                  </a:txBody>
                  <a:tcPr marL="73152" marR="73152" marT="27432" marB="27432" anchor="ctr">
                    <a:solidFill>
                      <a:srgbClr val="FFFFFF"/>
                    </a:solidFill>
                  </a:tcPr>
                </a:tc>
                <a:tc>
                  <a:txBody>
                    <a:bodyPr/>
                    <a:lstStyle/>
                    <a:p>
                      <a:pPr algn="ctr"/>
                      <a:r>
                        <a:rPr sz="1400" b="0">
                          <a:solidFill>
                            <a:srgbClr val="142B33"/>
                          </a:solidFill>
                          <a:latin typeface="Calibri"/>
                        </a:rPr>
                        <a:t>2</a:t>
                      </a:r>
                    </a:p>
                  </a:txBody>
                  <a:tcPr marL="73152" marR="73152" marT="27432" marB="27432" anchor="ctr">
                    <a:solidFill>
                      <a:srgbClr val="FFFFFF"/>
                    </a:solidFill>
                  </a:tcPr>
                </a:tc>
              </a:tr>
              <a:tr h="290067">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tc>
                  <a:txBody>
                    <a:bodyPr/>
                    <a:lstStyle/>
                    <a:p>
                      <a:pPr algn="ctr"/>
                      <a:r>
                        <a:rPr sz="1400" b="0">
                          <a:solidFill>
                            <a:srgbClr val="142B33"/>
                          </a:solidFill>
                          <a:latin typeface="Calibri"/>
                        </a:rPr>
                        <a:t>4 y 12</a:t>
                      </a:r>
                    </a:p>
                  </a:txBody>
                  <a:tcPr marL="73152" marR="73152" marT="27432" marB="27432" anchor="ctr">
                    <a:solidFill>
                      <a:srgbClr val="F4F8F9"/>
                    </a:solidFill>
                  </a:tcPr>
                </a:tc>
                <a:tc>
                  <a:txBody>
                    <a:bodyPr/>
                    <a:lstStyle/>
                    <a:p>
                      <a:pPr algn="ctr"/>
                      <a:r>
                        <a:rPr sz="1400" b="0">
                          <a:solidFill>
                            <a:srgbClr val="142B33"/>
                          </a:solidFill>
                          <a:latin typeface="Calibri"/>
                        </a:rPr>
                        <a:t>2</a:t>
                      </a:r>
                    </a:p>
                  </a:txBody>
                  <a:tcPr marL="73152" marR="73152" marT="27432" marB="27432" anchor="ctr">
                    <a:solidFill>
                      <a:srgbClr val="F4F8F9"/>
                    </a:solidFill>
                  </a:tcPr>
                </a:tc>
              </a:tr>
              <a:tr h="290067">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tc>
                  <a:txBody>
                    <a:bodyPr/>
                    <a:lstStyle/>
                    <a:p>
                      <a:pPr algn="ctr"/>
                      <a:r>
                        <a:rPr sz="1400" b="0">
                          <a:solidFill>
                            <a:srgbClr val="142B33"/>
                          </a:solidFill>
                          <a:latin typeface="Calibri"/>
                        </a:rPr>
                        <a:t>5 y 13</a:t>
                      </a:r>
                    </a:p>
                  </a:txBody>
                  <a:tcPr marL="73152" marR="73152" marT="27432" marB="27432" anchor="ctr">
                    <a:solidFill>
                      <a:srgbClr val="FFFFFF"/>
                    </a:solidFill>
                  </a:tcPr>
                </a:tc>
                <a:tc>
                  <a:txBody>
                    <a:bodyPr/>
                    <a:lstStyle/>
                    <a:p>
                      <a:pPr algn="ctr"/>
                      <a:r>
                        <a:rPr sz="1400" b="0">
                          <a:solidFill>
                            <a:srgbClr val="142B33"/>
                          </a:solidFill>
                          <a:latin typeface="Calibri"/>
                        </a:rPr>
                        <a:t>2</a:t>
                      </a:r>
                    </a:p>
                  </a:txBody>
                  <a:tcPr marL="73152" marR="73152" marT="27432" marB="27432" anchor="ctr">
                    <a:solidFill>
                      <a:srgbClr val="FFFFFF"/>
                    </a:solidFill>
                  </a:tcPr>
                </a:tc>
              </a:tr>
              <a:tr h="290067">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400" b="0">
                          <a:solidFill>
                            <a:srgbClr val="142B33"/>
                          </a:solidFill>
                          <a:latin typeface="Calibri"/>
                        </a:rPr>
                        <a:t>6 y 14</a:t>
                      </a:r>
                    </a:p>
                  </a:txBody>
                  <a:tcPr marL="73152" marR="73152" marT="27432" marB="27432" anchor="ctr">
                    <a:solidFill>
                      <a:srgbClr val="F4F8F9"/>
                    </a:solidFill>
                  </a:tcPr>
                </a:tc>
                <a:tc>
                  <a:txBody>
                    <a:bodyPr/>
                    <a:lstStyle/>
                    <a:p>
                      <a:pPr algn="ctr"/>
                      <a:r>
                        <a:rPr sz="1400" b="0">
                          <a:solidFill>
                            <a:srgbClr val="142B33"/>
                          </a:solidFill>
                          <a:latin typeface="Calibri"/>
                        </a:rPr>
                        <a:t>2</a:t>
                      </a:r>
                    </a:p>
                  </a:txBody>
                  <a:tcPr marL="73152" marR="73152" marT="27432" marB="27432" anchor="ctr">
                    <a:solidFill>
                      <a:srgbClr val="F4F8F9"/>
                    </a:solidFill>
                  </a:tcPr>
                </a:tc>
              </a:tr>
              <a:tr h="290067">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tc>
                  <a:txBody>
                    <a:bodyPr/>
                    <a:lstStyle/>
                    <a:p>
                      <a:pPr algn="ctr"/>
                      <a:r>
                        <a:rPr sz="1400" b="0">
                          <a:solidFill>
                            <a:srgbClr val="142B33"/>
                          </a:solidFill>
                          <a:latin typeface="Calibri"/>
                        </a:rPr>
                        <a:t>7 y 15</a:t>
                      </a:r>
                    </a:p>
                  </a:txBody>
                  <a:tcPr marL="73152" marR="73152" marT="27432" marB="27432" anchor="ctr">
                    <a:solidFill>
                      <a:srgbClr val="FFFFFF"/>
                    </a:solidFill>
                  </a:tcPr>
                </a:tc>
                <a:tc>
                  <a:txBody>
                    <a:bodyPr/>
                    <a:lstStyle/>
                    <a:p>
                      <a:pPr algn="ctr"/>
                      <a:r>
                        <a:rPr sz="1400" b="0">
                          <a:solidFill>
                            <a:srgbClr val="142B33"/>
                          </a:solidFill>
                          <a:latin typeface="Calibri"/>
                        </a:rPr>
                        <a:t>2</a:t>
                      </a:r>
                    </a:p>
                  </a:txBody>
                  <a:tcPr marL="73152" marR="73152" marT="27432" marB="27432" anchor="ctr">
                    <a:solidFill>
                      <a:srgbClr val="FFFFFF"/>
                    </a:solidFill>
                  </a:tcPr>
                </a:tc>
              </a:tr>
              <a:tr h="290067">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400" b="0">
                          <a:solidFill>
                            <a:srgbClr val="142B33"/>
                          </a:solidFill>
                          <a:latin typeface="Calibri"/>
                        </a:rPr>
                        <a:t>8 y 16</a:t>
                      </a:r>
                    </a:p>
                  </a:txBody>
                  <a:tcPr marL="73152" marR="73152" marT="27432" marB="27432" anchor="ctr">
                    <a:solidFill>
                      <a:srgbClr val="F4F8F9"/>
                    </a:solidFill>
                  </a:tcPr>
                </a:tc>
                <a:tc>
                  <a:txBody>
                    <a:bodyPr/>
                    <a:lstStyle/>
                    <a:p>
                      <a:pPr algn="ctr"/>
                      <a:r>
                        <a:rPr sz="1400" b="0">
                          <a:solidFill>
                            <a:srgbClr val="142B33"/>
                          </a:solidFill>
                          <a:latin typeface="Calibri"/>
                        </a:rPr>
                        <a:t>2</a:t>
                      </a:r>
                    </a:p>
                  </a:txBody>
                  <a:tcPr marL="73152" marR="73152" marT="27432" marB="27432" anchor="ctr">
                    <a:solidFill>
                      <a:srgbClr val="F4F8F9"/>
                    </a:solidFill>
                  </a:tcPr>
                </a:tc>
              </a:tr>
            </a:tbl>
          </a:graphicData>
        </a:graphic>
      </p:graphicFrame>
      <p:sp>
        <p:nvSpPr>
          <p:cNvPr id="6" name="TextBox 5"/>
          <p:cNvSpPr txBox="1"/>
          <p:nvPr/>
        </p:nvSpPr>
        <p:spPr>
          <a:xfrm>
            <a:off x="6301587" y="4229100"/>
            <a:ext cx="5341467" cy="222504"/>
          </a:xfrm>
          <a:prstGeom prst="rect">
            <a:avLst/>
          </a:prstGeom>
          <a:noFill/>
        </p:spPr>
        <p:txBody>
          <a:bodyPr wrap="square" anchor="t" lIns="0" rIns="0" tIns="0" bIns="0">
            <a:spAutoFit/>
          </a:bodyPr>
          <a:lstStyle/>
          <a:p>
            <a:r>
              <a:rPr sz="1200" b="0">
                <a:solidFill>
                  <a:srgbClr val="5B6B73"/>
                </a:solidFill>
                <a:latin typeface="Calibri"/>
              </a:rPr>
              <a:t>Corridas numeradas como en la tabla del 2</a:t>
            </a:r>
            <a:r>
              <a:rPr sz="1200" b="0" baseline="30000">
                <a:solidFill>
                  <a:srgbClr val="5B6B73"/>
                </a:solidFill>
                <a:latin typeface="Calibri"/>
              </a:rPr>
              <a:t>6−2</a:t>
            </a:r>
            <a:r>
              <a:rPr sz="1200" b="0">
                <a:solidFill>
                  <a:srgbClr val="5B6B73"/>
                </a:solidFill>
                <a:latin typeface="Calibri"/>
              </a:rPr>
              <a:t> (E = ABC, F = BCD)</a:t>
            </a:r>
          </a:p>
        </p:txBody>
      </p:sp>
      <p:sp>
        <p:nvSpPr>
          <p:cNvPr id="7" name="Rounded Rectangle 6"/>
          <p:cNvSpPr/>
          <p:nvPr/>
        </p:nvSpPr>
        <p:spPr>
          <a:xfrm>
            <a:off x="6301587" y="4652772"/>
            <a:ext cx="5341467" cy="128143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300" b="0">
                <a:solidFill>
                  <a:srgbClr val="142B33"/>
                </a:solidFill>
                <a:latin typeface="Calibri"/>
              </a:rPr>
              <a:t>La proyección </a:t>
            </a:r>
            <a:r>
              <a:rPr sz="1300" b="1">
                <a:solidFill>
                  <a:srgbClr val="142B33"/>
                </a:solidFill>
                <a:latin typeface="Calibri"/>
              </a:rPr>
              <a:t>no se planea</a:t>
            </a:r>
            <a:r>
              <a:rPr sz="1300" b="0">
                <a:solidFill>
                  <a:srgbClr val="142B33"/>
                </a:solidFill>
                <a:latin typeface="Calibri"/>
              </a:rPr>
              <a:t>: la gráfica de Daniel dice qué factores son activos y recién entonces se mira qué diseño forman las corridas </a:t>
            </a:r>
            <a:r>
              <a:rPr sz="1300" b="1">
                <a:solidFill>
                  <a:srgbClr val="142B33"/>
                </a:solidFill>
                <a:latin typeface="Calibri"/>
              </a:rPr>
              <a:t>ya hechas</a:t>
            </a:r>
            <a:r>
              <a:rPr sz="1300" b="0">
                <a:solidFill>
                  <a:srgbClr val="142B33"/>
                </a:solidFill>
                <a:latin typeface="Calibri"/>
              </a:rPr>
              <a:t>. Si los activos forman una palabra, se agregan corridas (alterna o doblez) que </a:t>
            </a:r>
            <a:r>
              <a:rPr sz="1300" b="1">
                <a:solidFill>
                  <a:srgbClr val="142B33"/>
                </a:solidFill>
                <a:latin typeface="Calibri"/>
              </a:rPr>
              <a:t>se suman</a:t>
            </a:r>
            <a:r>
              <a:rPr sz="1300" b="0">
                <a:solidFill>
                  <a:srgbClr val="142B33"/>
                </a:solidFill>
                <a:latin typeface="Calibri"/>
              </a:rPr>
              <a:t> a las anteriores</a:t>
            </a:r>
          </a:p>
        </p:txBody>
      </p:sp>
      <p:sp>
        <p:nvSpPr>
          <p:cNvPr id="8" name="TextBox 7"/>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La fracción un cuarto 2</a:t>
            </a:r>
            <a:r>
              <a:rPr sz="1000" b="0" baseline="30000">
                <a:solidFill>
                  <a:srgbClr val="5B6B73"/>
                </a:solidFill>
                <a:latin typeface="Calibri"/>
              </a:rPr>
              <a:t>k−2</a:t>
            </a:r>
          </a:p>
        </p:txBody>
      </p:sp>
      <p:sp>
        <p:nvSpPr>
          <p:cNvPr id="9" name="TextBox 8"/>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47</a:t>
            </a:r>
          </a:p>
        </p:txBody>
      </p:sp>
      <p:sp>
        <p:nvSpPr>
          <p:cNvPr id="10" name="Rounded Rectangle 9"/>
          <p:cNvSpPr/>
          <p:nvPr/>
        </p:nvSpPr>
        <p:spPr>
          <a:xfrm>
            <a:off x="548640" y="91440"/>
            <a:ext cx="3131820"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6 · La fracción un cuarto 2</a:t>
            </a:r>
            <a:r>
              <a:rPr sz="1100" b="1" baseline="30000">
                <a:solidFill>
                  <a:srgbClr val="FFFFFF"/>
                </a:solidFill>
                <a:latin typeface="Calibri"/>
              </a:rPr>
              <a:t>k−2</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¿Por qué importa si los factores forman una palabra?</a:t>
            </a:r>
          </a:p>
        </p:txBody>
      </p:sp>
      <p:graphicFrame>
        <p:nvGraphicFramePr>
          <p:cNvPr id="3" name="Table 2"/>
          <p:cNvGraphicFramePr>
            <a:graphicFrameLocks noGrp="1"/>
          </p:cNvGraphicFramePr>
          <p:nvPr/>
        </p:nvGraphicFramePr>
        <p:xfrm>
          <a:off x="548640" y="1417320"/>
          <a:ext cx="5127806" cy="3022092"/>
        </p:xfrm>
        <a:graphic>
          <a:graphicData uri="http://schemas.openxmlformats.org/drawingml/2006/table">
            <a:tbl>
              <a:tblPr firstRow="0" bandRow="0">
                <a:tableStyleId>{5C22544A-7EE6-4342-B048-85BDC9FD1C3A}</a:tableStyleId>
              </a:tblPr>
              <a:tblGrid>
                <a:gridCol w="525220"/>
                <a:gridCol w="525220"/>
                <a:gridCol w="525220"/>
                <a:gridCol w="525220"/>
                <a:gridCol w="1782984"/>
                <a:gridCol w="1243942"/>
              </a:tblGrid>
              <a:tr h="335788">
                <a:tc>
                  <a:txBody>
                    <a:bodyPr/>
                    <a:lstStyle/>
                    <a:p>
                      <a:pPr algn="ctr"/>
                      <a:r>
                        <a:rPr sz="1400" b="1">
                          <a:solidFill>
                            <a:srgbClr val="FFFFFF"/>
                          </a:solidFill>
                          <a:latin typeface="Calibri"/>
                        </a:rPr>
                        <a:t>A</a:t>
                      </a:r>
                    </a:p>
                  </a:txBody>
                  <a:tcPr marL="73152" marR="73152" marT="27432" marB="27432" anchor="ctr">
                    <a:solidFill>
                      <a:srgbClr val="0F4C5C"/>
                    </a:solidFill>
                  </a:tcPr>
                </a:tc>
                <a:tc>
                  <a:txBody>
                    <a:bodyPr/>
                    <a:lstStyle/>
                    <a:p>
                      <a:pPr algn="ctr"/>
                      <a:r>
                        <a:rPr sz="1400" b="1">
                          <a:solidFill>
                            <a:srgbClr val="FFFFFF"/>
                          </a:solidFill>
                          <a:latin typeface="Calibri"/>
                        </a:rPr>
                        <a:t>B</a:t>
                      </a:r>
                    </a:p>
                  </a:txBody>
                  <a:tcPr marL="73152" marR="73152" marT="27432" marB="27432" anchor="ctr">
                    <a:solidFill>
                      <a:srgbClr val="0F4C5C"/>
                    </a:solidFill>
                  </a:tcPr>
                </a:tc>
                <a:tc>
                  <a:txBody>
                    <a:bodyPr/>
                    <a:lstStyle/>
                    <a:p>
                      <a:pPr algn="ctr"/>
                      <a:r>
                        <a:rPr sz="1400" b="1">
                          <a:solidFill>
                            <a:srgbClr val="FFFFFF"/>
                          </a:solidFill>
                          <a:latin typeface="Calibri"/>
                        </a:rPr>
                        <a:t>C</a:t>
                      </a:r>
                    </a:p>
                  </a:txBody>
                  <a:tcPr marL="73152" marR="73152" marT="27432" marB="27432" anchor="ctr">
                    <a:solidFill>
                      <a:srgbClr val="0F4C5C"/>
                    </a:solidFill>
                  </a:tcPr>
                </a:tc>
                <a:tc>
                  <a:txBody>
                    <a:bodyPr/>
                    <a:lstStyle/>
                    <a:p>
                      <a:pPr algn="ctr"/>
                      <a:r>
                        <a:rPr sz="1400" b="1">
                          <a:solidFill>
                            <a:srgbClr val="FFFFFF"/>
                          </a:solidFill>
                          <a:latin typeface="Calibri"/>
                        </a:rPr>
                        <a:t>E</a:t>
                      </a:r>
                    </a:p>
                  </a:txBody>
                  <a:tcPr marL="73152" marR="73152" marT="27432" marB="27432" anchor="ctr">
                    <a:solidFill>
                      <a:srgbClr val="0F4C5C"/>
                    </a:solidFill>
                  </a:tcPr>
                </a:tc>
                <a:tc>
                  <a:txBody>
                    <a:bodyPr/>
                    <a:lstStyle/>
                    <a:p>
                      <a:pPr algn="ctr"/>
                      <a:r>
                        <a:rPr sz="1400" b="1">
                          <a:solidFill>
                            <a:srgbClr val="FFFFFF"/>
                          </a:solidFill>
                          <a:latin typeface="Calibri"/>
                        </a:rPr>
                        <a:t>Corridas</a:t>
                      </a:r>
                    </a:p>
                  </a:txBody>
                  <a:tcPr marL="73152" marR="73152" marT="27432" marB="27432" anchor="ctr">
                    <a:solidFill>
                      <a:srgbClr val="0F4C5C"/>
                    </a:solidFill>
                  </a:tcPr>
                </a:tc>
                <a:tc>
                  <a:txBody>
                    <a:bodyPr/>
                    <a:lstStyle/>
                    <a:p>
                      <a:pPr algn="ctr"/>
                      <a:r>
                        <a:rPr sz="1400" b="1">
                          <a:solidFill>
                            <a:srgbClr val="FFFFFF"/>
                          </a:solidFill>
                          <a:latin typeface="Calibri"/>
                        </a:rPr>
                        <a:t>Veces</a:t>
                      </a:r>
                    </a:p>
                  </a:txBody>
                  <a:tcPr marL="73152" marR="73152" marT="27432" marB="27432" anchor="ctr">
                    <a:solidFill>
                      <a:srgbClr val="0F4C5C"/>
                    </a:solidFill>
                  </a:tcPr>
                </a:tc>
              </a:tr>
              <a:tr h="335788">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400" b="0">
                          <a:solidFill>
                            <a:srgbClr val="142B33"/>
                          </a:solidFill>
                          <a:latin typeface="Calibri"/>
                        </a:rPr>
                        <a:t>1 y 9</a:t>
                      </a:r>
                    </a:p>
                  </a:txBody>
                  <a:tcPr marL="73152" marR="73152" marT="27432" marB="27432" anchor="ctr">
                    <a:solidFill>
                      <a:srgbClr val="FFFFFF"/>
                    </a:solidFill>
                  </a:tcPr>
                </a:tc>
                <a:tc>
                  <a:txBody>
                    <a:bodyPr/>
                    <a:lstStyle/>
                    <a:p>
                      <a:pPr algn="ctr"/>
                      <a:r>
                        <a:rPr sz="1400" b="0">
                          <a:solidFill>
                            <a:srgbClr val="142B33"/>
                          </a:solidFill>
                          <a:latin typeface="Calibri"/>
                        </a:rPr>
                        <a:t>2</a:t>
                      </a:r>
                    </a:p>
                  </a:txBody>
                  <a:tcPr marL="73152" marR="73152" marT="27432" marB="27432" anchor="ctr">
                    <a:solidFill>
                      <a:srgbClr val="FFFFFF"/>
                    </a:solidFill>
                  </a:tcPr>
                </a:tc>
              </a:tr>
              <a:tr h="335788">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400" b="0">
                          <a:solidFill>
                            <a:srgbClr val="142B33"/>
                          </a:solidFill>
                          <a:latin typeface="Calibri"/>
                        </a:rPr>
                        <a:t>2 y 10</a:t>
                      </a:r>
                    </a:p>
                  </a:txBody>
                  <a:tcPr marL="73152" marR="73152" marT="27432" marB="27432" anchor="ctr">
                    <a:solidFill>
                      <a:srgbClr val="F4F8F9"/>
                    </a:solidFill>
                  </a:tcPr>
                </a:tc>
                <a:tc>
                  <a:txBody>
                    <a:bodyPr/>
                    <a:lstStyle/>
                    <a:p>
                      <a:pPr algn="ctr"/>
                      <a:r>
                        <a:rPr sz="1400" b="0">
                          <a:solidFill>
                            <a:srgbClr val="142B33"/>
                          </a:solidFill>
                          <a:latin typeface="Calibri"/>
                        </a:rPr>
                        <a:t>2</a:t>
                      </a:r>
                    </a:p>
                  </a:txBody>
                  <a:tcPr marL="73152" marR="73152" marT="27432" marB="27432" anchor="ctr">
                    <a:solidFill>
                      <a:srgbClr val="F4F8F9"/>
                    </a:solidFill>
                  </a:tcPr>
                </a:tc>
              </a:tr>
              <a:tr h="335788">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tc>
                  <a:txBody>
                    <a:bodyPr/>
                    <a:lstStyle/>
                    <a:p>
                      <a:pPr algn="ctr"/>
                      <a:r>
                        <a:rPr sz="1400" b="0">
                          <a:solidFill>
                            <a:srgbClr val="142B33"/>
                          </a:solidFill>
                          <a:latin typeface="Calibri"/>
                        </a:rPr>
                        <a:t>3 y 11</a:t>
                      </a:r>
                    </a:p>
                  </a:txBody>
                  <a:tcPr marL="73152" marR="73152" marT="27432" marB="27432" anchor="ctr">
                    <a:solidFill>
                      <a:srgbClr val="FFFFFF"/>
                    </a:solidFill>
                  </a:tcPr>
                </a:tc>
                <a:tc>
                  <a:txBody>
                    <a:bodyPr/>
                    <a:lstStyle/>
                    <a:p>
                      <a:pPr algn="ctr"/>
                      <a:r>
                        <a:rPr sz="1400" b="0">
                          <a:solidFill>
                            <a:srgbClr val="142B33"/>
                          </a:solidFill>
                          <a:latin typeface="Calibri"/>
                        </a:rPr>
                        <a:t>2</a:t>
                      </a:r>
                    </a:p>
                  </a:txBody>
                  <a:tcPr marL="73152" marR="73152" marT="27432" marB="27432" anchor="ctr">
                    <a:solidFill>
                      <a:srgbClr val="FFFFFF"/>
                    </a:solidFill>
                  </a:tcPr>
                </a:tc>
              </a:tr>
              <a:tr h="335788">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tc>
                  <a:txBody>
                    <a:bodyPr/>
                    <a:lstStyle/>
                    <a:p>
                      <a:pPr algn="ctr"/>
                      <a:r>
                        <a:rPr sz="1400" b="0">
                          <a:solidFill>
                            <a:srgbClr val="142B33"/>
                          </a:solidFill>
                          <a:latin typeface="Calibri"/>
                        </a:rPr>
                        <a:t>4 y 12</a:t>
                      </a:r>
                    </a:p>
                  </a:txBody>
                  <a:tcPr marL="73152" marR="73152" marT="27432" marB="27432" anchor="ctr">
                    <a:solidFill>
                      <a:srgbClr val="F4F8F9"/>
                    </a:solidFill>
                  </a:tcPr>
                </a:tc>
                <a:tc>
                  <a:txBody>
                    <a:bodyPr/>
                    <a:lstStyle/>
                    <a:p>
                      <a:pPr algn="ctr"/>
                      <a:r>
                        <a:rPr sz="1400" b="0">
                          <a:solidFill>
                            <a:srgbClr val="142B33"/>
                          </a:solidFill>
                          <a:latin typeface="Calibri"/>
                        </a:rPr>
                        <a:t>2</a:t>
                      </a:r>
                    </a:p>
                  </a:txBody>
                  <a:tcPr marL="73152" marR="73152" marT="27432" marB="27432" anchor="ctr">
                    <a:solidFill>
                      <a:srgbClr val="F4F8F9"/>
                    </a:solidFill>
                  </a:tcPr>
                </a:tc>
              </a:tr>
              <a:tr h="335788">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tc>
                  <a:txBody>
                    <a:bodyPr/>
                    <a:lstStyle/>
                    <a:p>
                      <a:pPr algn="ctr"/>
                      <a:r>
                        <a:rPr sz="1400" b="0">
                          <a:solidFill>
                            <a:srgbClr val="142B33"/>
                          </a:solidFill>
                          <a:latin typeface="Calibri"/>
                        </a:rPr>
                        <a:t>5 y 13</a:t>
                      </a:r>
                    </a:p>
                  </a:txBody>
                  <a:tcPr marL="73152" marR="73152" marT="27432" marB="27432" anchor="ctr">
                    <a:solidFill>
                      <a:srgbClr val="FFFFFF"/>
                    </a:solidFill>
                  </a:tcPr>
                </a:tc>
                <a:tc>
                  <a:txBody>
                    <a:bodyPr/>
                    <a:lstStyle/>
                    <a:p>
                      <a:pPr algn="ctr"/>
                      <a:r>
                        <a:rPr sz="1400" b="0">
                          <a:solidFill>
                            <a:srgbClr val="142B33"/>
                          </a:solidFill>
                          <a:latin typeface="Calibri"/>
                        </a:rPr>
                        <a:t>2</a:t>
                      </a:r>
                    </a:p>
                  </a:txBody>
                  <a:tcPr marL="73152" marR="73152" marT="27432" marB="27432" anchor="ctr">
                    <a:solidFill>
                      <a:srgbClr val="FFFFFF"/>
                    </a:solidFill>
                  </a:tcPr>
                </a:tc>
              </a:tr>
              <a:tr h="335788">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tc>
                  <a:txBody>
                    <a:bodyPr/>
                    <a:lstStyle/>
                    <a:p>
                      <a:pPr algn="ctr"/>
                      <a:r>
                        <a:rPr sz="1400" b="0">
                          <a:solidFill>
                            <a:srgbClr val="142B33"/>
                          </a:solidFill>
                          <a:latin typeface="Calibri"/>
                        </a:rPr>
                        <a:t>6 y 14</a:t>
                      </a:r>
                    </a:p>
                  </a:txBody>
                  <a:tcPr marL="73152" marR="73152" marT="27432" marB="27432" anchor="ctr">
                    <a:solidFill>
                      <a:srgbClr val="F4F8F9"/>
                    </a:solidFill>
                  </a:tcPr>
                </a:tc>
                <a:tc>
                  <a:txBody>
                    <a:bodyPr/>
                    <a:lstStyle/>
                    <a:p>
                      <a:pPr algn="ctr"/>
                      <a:r>
                        <a:rPr sz="1400" b="0">
                          <a:solidFill>
                            <a:srgbClr val="142B33"/>
                          </a:solidFill>
                          <a:latin typeface="Calibri"/>
                        </a:rPr>
                        <a:t>2</a:t>
                      </a:r>
                    </a:p>
                  </a:txBody>
                  <a:tcPr marL="73152" marR="73152" marT="27432" marB="27432" anchor="ctr">
                    <a:solidFill>
                      <a:srgbClr val="F4F8F9"/>
                    </a:solidFill>
                  </a:tcPr>
                </a:tc>
              </a:tr>
              <a:tr h="335788">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400" b="0">
                          <a:solidFill>
                            <a:srgbClr val="142B33"/>
                          </a:solidFill>
                          <a:latin typeface="Calibri"/>
                        </a:rPr>
                        <a:t>7 y 15</a:t>
                      </a:r>
                    </a:p>
                  </a:txBody>
                  <a:tcPr marL="73152" marR="73152" marT="27432" marB="27432" anchor="ctr">
                    <a:solidFill>
                      <a:srgbClr val="FFFFFF"/>
                    </a:solidFill>
                  </a:tcPr>
                </a:tc>
                <a:tc>
                  <a:txBody>
                    <a:bodyPr/>
                    <a:lstStyle/>
                    <a:p>
                      <a:pPr algn="ctr"/>
                      <a:r>
                        <a:rPr sz="1400" b="0">
                          <a:solidFill>
                            <a:srgbClr val="142B33"/>
                          </a:solidFill>
                          <a:latin typeface="Calibri"/>
                        </a:rPr>
                        <a:t>2</a:t>
                      </a:r>
                    </a:p>
                  </a:txBody>
                  <a:tcPr marL="73152" marR="73152" marT="27432" marB="27432" anchor="ctr">
                    <a:solidFill>
                      <a:srgbClr val="FFFFFF"/>
                    </a:solidFill>
                  </a:tcPr>
                </a:tc>
              </a:tr>
              <a:tr h="335788">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400" b="0">
                          <a:solidFill>
                            <a:srgbClr val="142B33"/>
                          </a:solidFill>
                          <a:latin typeface="Calibri"/>
                        </a:rPr>
                        <a:t>8 y 16</a:t>
                      </a:r>
                    </a:p>
                  </a:txBody>
                  <a:tcPr marL="73152" marR="73152" marT="27432" marB="27432" anchor="ctr">
                    <a:solidFill>
                      <a:srgbClr val="F4F8F9"/>
                    </a:solidFill>
                  </a:tcPr>
                </a:tc>
                <a:tc>
                  <a:txBody>
                    <a:bodyPr/>
                    <a:lstStyle/>
                    <a:p>
                      <a:pPr algn="ctr"/>
                      <a:r>
                        <a:rPr sz="1400" b="0">
                          <a:solidFill>
                            <a:srgbClr val="142B33"/>
                          </a:solidFill>
                          <a:latin typeface="Calibri"/>
                        </a:rPr>
                        <a:t>2</a:t>
                      </a:r>
                    </a:p>
                  </a:txBody>
                  <a:tcPr marL="73152" marR="73152" marT="27432" marB="27432" anchor="ctr">
                    <a:solidFill>
                      <a:srgbClr val="F4F8F9"/>
                    </a:solidFill>
                  </a:tcPr>
                </a:tc>
              </a:tr>
            </a:tbl>
          </a:graphicData>
        </a:graphic>
      </p:graphicFrame>
      <p:sp>
        <p:nvSpPr>
          <p:cNvPr id="4" name="Rounded Rectangle 3"/>
          <p:cNvSpPr/>
          <p:nvPr/>
        </p:nvSpPr>
        <p:spPr>
          <a:xfrm>
            <a:off x="548640" y="4640580"/>
            <a:ext cx="5127808" cy="708151"/>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400" b="0">
                <a:solidFill>
                  <a:srgbClr val="142B33"/>
                </a:solidFill>
                <a:latin typeface="Calibri"/>
              </a:rPr>
              <a:t>En todas las filas </a:t>
            </a:r>
            <a:r>
              <a:rPr sz="1400" b="1">
                <a:solidFill>
                  <a:srgbClr val="142B33"/>
                </a:solidFill>
                <a:latin typeface="Calibri"/>
              </a:rPr>
              <a:t>E = A·B·C</a:t>
            </a:r>
            <a:r>
              <a:rPr sz="1400" b="0">
                <a:solidFill>
                  <a:srgbClr val="142B33"/>
                </a:solidFill>
                <a:latin typeface="Calibri"/>
              </a:rPr>
              <a:t>: falta la mitad de las combinaciones</a:t>
            </a:r>
          </a:p>
        </p:txBody>
      </p:sp>
      <p:graphicFrame>
        <p:nvGraphicFramePr>
          <p:cNvPr id="5" name="Table 4"/>
          <p:cNvGraphicFramePr>
            <a:graphicFrameLocks noGrp="1"/>
          </p:cNvGraphicFramePr>
          <p:nvPr/>
        </p:nvGraphicFramePr>
        <p:xfrm>
          <a:off x="6087928" y="1417320"/>
          <a:ext cx="5555124" cy="1560067"/>
        </p:xfrm>
        <a:graphic>
          <a:graphicData uri="http://schemas.openxmlformats.org/drawingml/2006/table">
            <a:tbl>
              <a:tblPr firstRow="0" bandRow="0">
                <a:tableStyleId>{5C22544A-7EE6-4342-B048-85BDC9FD1C3A}</a:tableStyleId>
              </a:tblPr>
              <a:tblGrid>
                <a:gridCol w="1388781"/>
                <a:gridCol w="1111025"/>
                <a:gridCol w="1222127"/>
                <a:gridCol w="1833191"/>
              </a:tblGrid>
              <a:tr h="552703">
                <a:tc>
                  <a:txBody>
                    <a:bodyPr/>
                    <a:lstStyle/>
                    <a:p>
                      <a:pPr algn="l"/>
                      <a:r>
                        <a:rPr sz="1400" b="1">
                          <a:solidFill>
                            <a:srgbClr val="FFFFFF"/>
                          </a:solidFill>
                          <a:latin typeface="Calibri"/>
                        </a:rPr>
                        <a:t>Factores activos</a:t>
                      </a:r>
                    </a:p>
                  </a:txBody>
                  <a:tcPr marL="73152" marR="73152" marT="27432" marB="27432" anchor="ctr">
                    <a:solidFill>
                      <a:srgbClr val="0F4C5C"/>
                    </a:solidFill>
                  </a:tcPr>
                </a:tc>
                <a:tc>
                  <a:txBody>
                    <a:bodyPr/>
                    <a:lstStyle/>
                    <a:p>
                      <a:pPr algn="ctr"/>
                      <a:r>
                        <a:rPr sz="1400" b="1">
                          <a:solidFill>
                            <a:srgbClr val="FFFFFF"/>
                          </a:solidFill>
                          <a:latin typeface="Calibri"/>
                        </a:rPr>
                        <a:t>¿Es palabra?</a:t>
                      </a:r>
                    </a:p>
                  </a:txBody>
                  <a:tcPr marL="73152" marR="73152" marT="27432" marB="27432" anchor="ctr">
                    <a:solidFill>
                      <a:srgbClr val="0F4C5C"/>
                    </a:solidFill>
                  </a:tcPr>
                </a:tc>
                <a:tc>
                  <a:txBody>
                    <a:bodyPr/>
                    <a:lstStyle/>
                    <a:p>
                      <a:pPr algn="ctr"/>
                      <a:r>
                        <a:rPr sz="1400" b="1">
                          <a:solidFill>
                            <a:srgbClr val="FFFFFF"/>
                          </a:solidFill>
                          <a:latin typeface="Calibri"/>
                        </a:rPr>
                        <a:t>Comb. × veces</a:t>
                      </a:r>
                    </a:p>
                  </a:txBody>
                  <a:tcPr marL="73152" marR="73152" marT="27432" marB="27432" anchor="ctr">
                    <a:solidFill>
                      <a:srgbClr val="0F4C5C"/>
                    </a:solidFill>
                  </a:tcPr>
                </a:tc>
                <a:tc>
                  <a:txBody>
                    <a:bodyPr/>
                    <a:lstStyle/>
                    <a:p>
                      <a:pPr algn="ctr"/>
                      <a:r>
                        <a:rPr sz="1400" b="1">
                          <a:solidFill>
                            <a:srgbClr val="FFFFFF"/>
                          </a:solidFill>
                          <a:latin typeface="Calibri"/>
                        </a:rPr>
                        <a:t>Diseño</a:t>
                      </a:r>
                    </a:p>
                  </a:txBody>
                  <a:tcPr marL="73152" marR="73152" marT="27432" marB="27432" anchor="ctr">
                    <a:solidFill>
                      <a:srgbClr val="0F4C5C"/>
                    </a:solidFill>
                  </a:tcPr>
                </a:tc>
              </a:tr>
              <a:tr h="335788">
                <a:tc>
                  <a:txBody>
                    <a:bodyPr/>
                    <a:lstStyle/>
                    <a:p>
                      <a:pPr algn="l"/>
                      <a:r>
                        <a:rPr sz="1400" b="0">
                          <a:solidFill>
                            <a:srgbClr val="142B33"/>
                          </a:solidFill>
                          <a:latin typeface="Calibri"/>
                        </a:rPr>
                        <a:t>A, B, C, D</a:t>
                      </a:r>
                    </a:p>
                  </a:txBody>
                  <a:tcPr marL="73152" marR="73152" marT="27432" marB="27432" anchor="ctr">
                    <a:solidFill>
                      <a:srgbClr val="FFFFFF"/>
                    </a:solidFill>
                  </a:tcPr>
                </a:tc>
                <a:tc>
                  <a:txBody>
                    <a:bodyPr/>
                    <a:lstStyle/>
                    <a:p>
                      <a:pPr algn="ctr"/>
                      <a:r>
                        <a:rPr sz="1400" b="0">
                          <a:solidFill>
                            <a:srgbClr val="142B33"/>
                          </a:solidFill>
                          <a:latin typeface="Calibri"/>
                        </a:rPr>
                        <a:t>No</a:t>
                      </a:r>
                    </a:p>
                  </a:txBody>
                  <a:tcPr marL="73152" marR="73152" marT="27432" marB="27432" anchor="ctr">
                    <a:solidFill>
                      <a:srgbClr val="FFFFFF"/>
                    </a:solidFill>
                  </a:tcPr>
                </a:tc>
                <a:tc>
                  <a:txBody>
                    <a:bodyPr/>
                    <a:lstStyle/>
                    <a:p>
                      <a:pPr algn="ctr"/>
                      <a:r>
                        <a:rPr sz="1400" b="0">
                          <a:solidFill>
                            <a:srgbClr val="142B33"/>
                          </a:solidFill>
                          <a:latin typeface="Calibri"/>
                        </a:rPr>
                        <a:t>16 × 1</a:t>
                      </a:r>
                    </a:p>
                  </a:txBody>
                  <a:tcPr marL="73152" marR="73152" marT="27432" marB="27432" anchor="ctr">
                    <a:solidFill>
                      <a:srgbClr val="FFFFFF"/>
                    </a:solidFill>
                  </a:tcPr>
                </a:tc>
                <a:tc>
                  <a:txBody>
                    <a:bodyPr/>
                    <a:lstStyle/>
                    <a:p>
                      <a:pPr algn="ctr"/>
                      <a:r>
                        <a:rPr sz="1400" b="1">
                          <a:solidFill>
                            <a:srgbClr val="142B33"/>
                          </a:solidFill>
                          <a:latin typeface="Calibri"/>
                        </a:rPr>
                        <a:t>2</a:t>
                      </a:r>
                      <a:r>
                        <a:rPr sz="1400" b="1" baseline="30000">
                          <a:solidFill>
                            <a:srgbClr val="142B33"/>
                          </a:solidFill>
                          <a:latin typeface="Calibri"/>
                        </a:rPr>
                        <a:t>4</a:t>
                      </a:r>
                      <a:r>
                        <a:rPr sz="1400" b="0">
                          <a:solidFill>
                            <a:srgbClr val="142B33"/>
                          </a:solidFill>
                          <a:latin typeface="Calibri"/>
                        </a:rPr>
                        <a:t> completo</a:t>
                      </a:r>
                    </a:p>
                  </a:txBody>
                  <a:tcPr marL="73152" marR="73152" marT="27432" marB="27432" anchor="ctr">
                    <a:solidFill>
                      <a:srgbClr val="FFFFFF"/>
                    </a:solidFill>
                  </a:tcPr>
                </a:tc>
              </a:tr>
              <a:tr h="335788">
                <a:tc>
                  <a:txBody>
                    <a:bodyPr/>
                    <a:lstStyle/>
                    <a:p>
                      <a:pPr algn="l"/>
                      <a:r>
                        <a:rPr sz="1400" b="0">
                          <a:solidFill>
                            <a:srgbClr val="142B33"/>
                          </a:solidFill>
                          <a:latin typeface="Calibri"/>
                        </a:rPr>
                        <a:t>A, B, E, F</a:t>
                      </a:r>
                    </a:p>
                  </a:txBody>
                  <a:tcPr marL="73152" marR="73152" marT="27432" marB="27432" anchor="ctr">
                    <a:solidFill>
                      <a:srgbClr val="F4F8F9"/>
                    </a:solidFill>
                  </a:tcPr>
                </a:tc>
                <a:tc>
                  <a:txBody>
                    <a:bodyPr/>
                    <a:lstStyle/>
                    <a:p>
                      <a:pPr algn="ctr"/>
                      <a:r>
                        <a:rPr sz="1400" b="0">
                          <a:solidFill>
                            <a:srgbClr val="142B33"/>
                          </a:solidFill>
                          <a:latin typeface="Calibri"/>
                        </a:rPr>
                        <a:t>No</a:t>
                      </a:r>
                    </a:p>
                  </a:txBody>
                  <a:tcPr marL="73152" marR="73152" marT="27432" marB="27432" anchor="ctr">
                    <a:solidFill>
                      <a:srgbClr val="F4F8F9"/>
                    </a:solidFill>
                  </a:tcPr>
                </a:tc>
                <a:tc>
                  <a:txBody>
                    <a:bodyPr/>
                    <a:lstStyle/>
                    <a:p>
                      <a:pPr algn="ctr"/>
                      <a:r>
                        <a:rPr sz="1400" b="0">
                          <a:solidFill>
                            <a:srgbClr val="142B33"/>
                          </a:solidFill>
                          <a:latin typeface="Calibri"/>
                        </a:rPr>
                        <a:t>16 × 1</a:t>
                      </a:r>
                    </a:p>
                  </a:txBody>
                  <a:tcPr marL="73152" marR="73152" marT="27432" marB="27432" anchor="ctr">
                    <a:solidFill>
                      <a:srgbClr val="F4F8F9"/>
                    </a:solidFill>
                  </a:tcPr>
                </a:tc>
                <a:tc>
                  <a:txBody>
                    <a:bodyPr/>
                    <a:lstStyle/>
                    <a:p>
                      <a:pPr algn="ctr"/>
                      <a:r>
                        <a:rPr sz="1400" b="1">
                          <a:solidFill>
                            <a:srgbClr val="142B33"/>
                          </a:solidFill>
                          <a:latin typeface="Calibri"/>
                        </a:rPr>
                        <a:t>2</a:t>
                      </a:r>
                      <a:r>
                        <a:rPr sz="1400" b="1" baseline="30000">
                          <a:solidFill>
                            <a:srgbClr val="142B33"/>
                          </a:solidFill>
                          <a:latin typeface="Calibri"/>
                        </a:rPr>
                        <a:t>4</a:t>
                      </a:r>
                      <a:r>
                        <a:rPr sz="1400" b="0">
                          <a:solidFill>
                            <a:srgbClr val="142B33"/>
                          </a:solidFill>
                          <a:latin typeface="Calibri"/>
                        </a:rPr>
                        <a:t> completo</a:t>
                      </a:r>
                    </a:p>
                  </a:txBody>
                  <a:tcPr marL="73152" marR="73152" marT="27432" marB="27432" anchor="ctr">
                    <a:solidFill>
                      <a:srgbClr val="F4F8F9"/>
                    </a:solidFill>
                  </a:tcPr>
                </a:tc>
              </a:tr>
              <a:tr h="335788">
                <a:tc>
                  <a:txBody>
                    <a:bodyPr/>
                    <a:lstStyle/>
                    <a:p>
                      <a:pPr algn="l"/>
                      <a:r>
                        <a:rPr sz="1400" b="0">
                          <a:solidFill>
                            <a:srgbClr val="142B33"/>
                          </a:solidFill>
                          <a:latin typeface="Calibri"/>
                        </a:rPr>
                        <a:t>A, B, C, E</a:t>
                      </a:r>
                    </a:p>
                  </a:txBody>
                  <a:tcPr marL="73152" marR="73152" marT="27432" marB="27432" anchor="ctr">
                    <a:solidFill>
                      <a:srgbClr val="FDE8D7"/>
                    </a:solidFill>
                  </a:tcPr>
                </a:tc>
                <a:tc>
                  <a:txBody>
                    <a:bodyPr/>
                    <a:lstStyle/>
                    <a:p>
                      <a:pPr algn="ctr"/>
                      <a:r>
                        <a:rPr sz="1400" b="0">
                          <a:solidFill>
                            <a:srgbClr val="142B33"/>
                          </a:solidFill>
                          <a:latin typeface="Calibri"/>
                        </a:rPr>
                        <a:t>Sí (ABCE)</a:t>
                      </a:r>
                    </a:p>
                  </a:txBody>
                  <a:tcPr marL="73152" marR="73152" marT="27432" marB="27432" anchor="ctr">
                    <a:solidFill>
                      <a:srgbClr val="FDE8D7"/>
                    </a:solidFill>
                  </a:tcPr>
                </a:tc>
                <a:tc>
                  <a:txBody>
                    <a:bodyPr/>
                    <a:lstStyle/>
                    <a:p>
                      <a:pPr algn="ctr"/>
                      <a:r>
                        <a:rPr sz="1400" b="0">
                          <a:solidFill>
                            <a:srgbClr val="142B33"/>
                          </a:solidFill>
                          <a:latin typeface="Calibri"/>
                        </a:rPr>
                        <a:t>8 × 2</a:t>
                      </a:r>
                    </a:p>
                  </a:txBody>
                  <a:tcPr marL="73152" marR="73152" marT="27432" marB="27432" anchor="ctr">
                    <a:solidFill>
                      <a:srgbClr val="FDE8D7"/>
                    </a:solidFill>
                  </a:tcPr>
                </a:tc>
                <a:tc>
                  <a:txBody>
                    <a:bodyPr/>
                    <a:lstStyle/>
                    <a:p>
                      <a:pPr algn="ctr"/>
                      <a:r>
                        <a:rPr sz="1400" b="0">
                          <a:solidFill>
                            <a:srgbClr val="142B33"/>
                          </a:solidFill>
                          <a:latin typeface="Calibri"/>
                        </a:rPr>
                        <a:t>2 réplicas de </a:t>
                      </a:r>
                      <a:r>
                        <a:rPr sz="1400" b="1">
                          <a:solidFill>
                            <a:srgbClr val="142B33"/>
                          </a:solidFill>
                          <a:latin typeface="Calibri"/>
                        </a:rPr>
                        <a:t>2</a:t>
                      </a:r>
                      <a:r>
                        <a:rPr sz="1400" b="1" baseline="30000">
                          <a:solidFill>
                            <a:srgbClr val="142B33"/>
                          </a:solidFill>
                          <a:latin typeface="Calibri"/>
                        </a:rPr>
                        <a:t>4−1</a:t>
                      </a:r>
                    </a:p>
                  </a:txBody>
                  <a:tcPr marL="73152" marR="73152" marT="27432" marB="27432" anchor="ctr">
                    <a:solidFill>
                      <a:srgbClr val="FDE8D7"/>
                    </a:solidFill>
                  </a:tcPr>
                </a:tc>
              </a:tr>
            </a:tbl>
          </a:graphicData>
        </a:graphic>
      </p:graphicFrame>
      <p:sp>
        <p:nvSpPr>
          <p:cNvPr id="6" name="Rounded Rectangle 5"/>
          <p:cNvSpPr/>
          <p:nvPr/>
        </p:nvSpPr>
        <p:spPr>
          <a:xfrm>
            <a:off x="6087928" y="3178556"/>
            <a:ext cx="5555126" cy="829624"/>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0">
                <a:solidFill>
                  <a:srgbClr val="0F4C5C"/>
                </a:solidFill>
                <a:latin typeface="Cambria Math"/>
              </a:rPr>
              <a:t>ABCE palabra  ⇒  x</a:t>
            </a:r>
            <a:r>
              <a:rPr sz="1600" b="0" baseline="-25000">
                <a:solidFill>
                  <a:srgbClr val="0F4C5C"/>
                </a:solidFill>
                <a:latin typeface="Cambria Math"/>
              </a:rPr>
              <a:t>A</a:t>
            </a:r>
            <a:r>
              <a:rPr sz="1600" b="0">
                <a:solidFill>
                  <a:srgbClr val="0F4C5C"/>
                </a:solidFill>
                <a:latin typeface="Cambria Math"/>
              </a:rPr>
              <a:t>x</a:t>
            </a:r>
            <a:r>
              <a:rPr sz="1600" b="0" baseline="-25000">
                <a:solidFill>
                  <a:srgbClr val="0F4C5C"/>
                </a:solidFill>
                <a:latin typeface="Cambria Math"/>
              </a:rPr>
              <a:t>B</a:t>
            </a:r>
            <a:r>
              <a:rPr sz="1600" b="0">
                <a:solidFill>
                  <a:srgbClr val="0F4C5C"/>
                </a:solidFill>
                <a:latin typeface="Cambria Math"/>
              </a:rPr>
              <a:t>x</a:t>
            </a:r>
            <a:r>
              <a:rPr sz="1600" b="0" baseline="-25000">
                <a:solidFill>
                  <a:srgbClr val="0F4C5C"/>
                </a:solidFill>
                <a:latin typeface="Cambria Math"/>
              </a:rPr>
              <a:t>C</a:t>
            </a:r>
            <a:r>
              <a:rPr sz="1600" b="0">
                <a:solidFill>
                  <a:srgbClr val="0F4C5C"/>
                </a:solidFill>
                <a:latin typeface="Cambria Math"/>
              </a:rPr>
              <a:t>x</a:t>
            </a:r>
            <a:r>
              <a:rPr sz="1600" b="0" baseline="-25000">
                <a:solidFill>
                  <a:srgbClr val="0F4C5C"/>
                </a:solidFill>
                <a:latin typeface="Cambria Math"/>
              </a:rPr>
              <a:t>E</a:t>
            </a:r>
            <a:r>
              <a:rPr sz="1600" b="0">
                <a:solidFill>
                  <a:srgbClr val="0F4C5C"/>
                </a:solidFill>
                <a:latin typeface="Cambria Math"/>
              </a:rPr>
              <a:t> = +1 siempre</a:t>
            </a:r>
          </a:p>
          <a:p>
            <a:pPr algn="ctr"/>
            <a:r>
              <a:rPr sz="1600" b="0">
                <a:solidFill>
                  <a:srgbClr val="0F4C5C"/>
                </a:solidFill>
                <a:latin typeface="Cambria Math"/>
              </a:rPr>
              <a:t>⇒  E queda fijado por A, B y C</a:t>
            </a:r>
          </a:p>
        </p:txBody>
      </p:sp>
      <p:sp>
        <p:nvSpPr>
          <p:cNvPr id="7" name="Rounded Rectangle 6"/>
          <p:cNvSpPr/>
          <p:nvPr/>
        </p:nvSpPr>
        <p:spPr>
          <a:xfrm>
            <a:off x="6087928" y="4209348"/>
            <a:ext cx="5555126" cy="128143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300" b="0">
                <a:solidFill>
                  <a:srgbClr val="142B33"/>
                </a:solidFill>
                <a:latin typeface="Calibri"/>
              </a:rPr>
              <a:t>Factorial completo ⇔ el subconjunto </a:t>
            </a:r>
            <a:r>
              <a:rPr sz="1300" b="1">
                <a:solidFill>
                  <a:srgbClr val="142B33"/>
                </a:solidFill>
                <a:latin typeface="Calibri"/>
              </a:rPr>
              <a:t>no contiene una palabra</a:t>
            </a:r>
            <a:r>
              <a:rPr sz="1300" b="0">
                <a:solidFill>
                  <a:srgbClr val="142B33"/>
                </a:solidFill>
                <a:latin typeface="Calibri"/>
              </a:rPr>
              <a:t>. En el 2</a:t>
            </a:r>
            <a:r>
              <a:rPr sz="1300" b="0" baseline="30000">
                <a:solidFill>
                  <a:srgbClr val="142B33"/>
                </a:solidFill>
                <a:latin typeface="Calibri"/>
              </a:rPr>
              <a:t>6−2</a:t>
            </a:r>
            <a:r>
              <a:rPr sz="1300" b="0">
                <a:solidFill>
                  <a:srgbClr val="142B33"/>
                </a:solidFill>
                <a:latin typeface="Calibri"/>
              </a:rPr>
              <a:t>: de 15 subconjuntos de 4 factores, </a:t>
            </a:r>
            <a:r>
              <a:rPr sz="1300" b="1">
                <a:solidFill>
                  <a:srgbClr val="142B33"/>
                </a:solidFill>
                <a:latin typeface="Calibri"/>
              </a:rPr>
              <a:t>12</a:t>
            </a:r>
            <a:r>
              <a:rPr sz="1300" b="0">
                <a:solidFill>
                  <a:srgbClr val="142B33"/>
                </a:solidFill>
                <a:latin typeface="Calibri"/>
              </a:rPr>
              <a:t> dan un 2</a:t>
            </a:r>
            <a:r>
              <a:rPr sz="1300" b="0" baseline="30000">
                <a:solidFill>
                  <a:srgbClr val="142B33"/>
                </a:solidFill>
                <a:latin typeface="Calibri"/>
              </a:rPr>
              <a:t>4</a:t>
            </a:r>
            <a:r>
              <a:rPr sz="1300" b="0">
                <a:solidFill>
                  <a:srgbClr val="142B33"/>
                </a:solidFill>
                <a:latin typeface="Calibri"/>
              </a:rPr>
              <a:t> completo y </a:t>
            </a:r>
            <a:r>
              <a:rPr sz="1300" b="1">
                <a:solidFill>
                  <a:srgbClr val="142B33"/>
                </a:solidFill>
                <a:latin typeface="Calibri"/>
              </a:rPr>
              <a:t>3</a:t>
            </a:r>
            <a:r>
              <a:rPr sz="1300" b="0">
                <a:solidFill>
                  <a:srgbClr val="142B33"/>
                </a:solidFill>
                <a:latin typeface="Calibri"/>
              </a:rPr>
              <a:t> (las palabras) un 2</a:t>
            </a:r>
            <a:r>
              <a:rPr sz="1300" b="0" baseline="30000">
                <a:solidFill>
                  <a:srgbClr val="142B33"/>
                </a:solidFill>
                <a:latin typeface="Calibri"/>
              </a:rPr>
              <a:t>4−1</a:t>
            </a:r>
            <a:r>
              <a:rPr sz="1300" b="0">
                <a:solidFill>
                  <a:srgbClr val="142B33"/>
                </a:solidFill>
                <a:latin typeface="Calibri"/>
              </a:rPr>
              <a:t> replicado; cualquier trío, dos réplicas de un 2</a:t>
            </a:r>
            <a:r>
              <a:rPr sz="1300" b="0" baseline="30000">
                <a:solidFill>
                  <a:srgbClr val="142B33"/>
                </a:solidFill>
                <a:latin typeface="Calibri"/>
              </a:rPr>
              <a:t>3</a:t>
            </a:r>
            <a:r>
              <a:rPr sz="1300" b="0">
                <a:solidFill>
                  <a:srgbClr val="142B33"/>
                </a:solidFill>
                <a:latin typeface="Calibri"/>
              </a:rPr>
              <a:t>; cualquier par, cuatro réplicas de un 2</a:t>
            </a:r>
            <a:r>
              <a:rPr sz="1300" b="0" baseline="30000">
                <a:solidFill>
                  <a:srgbClr val="142B33"/>
                </a:solidFill>
                <a:latin typeface="Calibri"/>
              </a:rPr>
              <a:t>2</a:t>
            </a:r>
            <a:r>
              <a:rPr sz="1300" b="0">
                <a:solidFill>
                  <a:srgbClr val="142B33"/>
                </a:solidFill>
                <a:latin typeface="Calibri"/>
              </a:rPr>
              <a:t> (ejemplo 3)</a:t>
            </a:r>
          </a:p>
        </p:txBody>
      </p:sp>
      <p:sp>
        <p:nvSpPr>
          <p:cNvPr id="8" name="TextBox 7"/>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La fracción un cuarto 2</a:t>
            </a:r>
            <a:r>
              <a:rPr sz="1000" b="0" baseline="30000">
                <a:solidFill>
                  <a:srgbClr val="5B6B73"/>
                </a:solidFill>
                <a:latin typeface="Calibri"/>
              </a:rPr>
              <a:t>k−2</a:t>
            </a:r>
          </a:p>
        </p:txBody>
      </p:sp>
      <p:sp>
        <p:nvSpPr>
          <p:cNvPr id="9" name="TextBox 8"/>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48</a:t>
            </a:r>
          </a:p>
        </p:txBody>
      </p:sp>
      <p:sp>
        <p:nvSpPr>
          <p:cNvPr id="10" name="Rounded Rectangle 9"/>
          <p:cNvSpPr/>
          <p:nvPr/>
        </p:nvSpPr>
        <p:spPr>
          <a:xfrm>
            <a:off x="548640" y="91440"/>
            <a:ext cx="3131820"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6 · La fracción un cuarto 2</a:t>
            </a:r>
            <a:r>
              <a:rPr sz="1100" b="1" baseline="30000">
                <a:solidFill>
                  <a:srgbClr val="FFFFFF"/>
                </a:solidFill>
                <a:latin typeface="Calibri"/>
              </a:rPr>
              <a:t>k−2</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3 · Enunciado: contracción en moldeo por inyección</a:t>
            </a:r>
          </a:p>
        </p:txBody>
      </p:sp>
      <p:sp>
        <p:nvSpPr>
          <p:cNvPr id="3" name="TextBox 2"/>
          <p:cNvSpPr txBox="1"/>
          <p:nvPr/>
        </p:nvSpPr>
        <p:spPr>
          <a:xfrm>
            <a:off x="548640" y="1417320"/>
            <a:ext cx="6196102" cy="780288"/>
          </a:xfrm>
          <a:prstGeom prst="rect">
            <a:avLst/>
          </a:prstGeom>
          <a:noFill/>
        </p:spPr>
        <p:txBody>
          <a:bodyPr wrap="square" anchor="t" lIns="0" rIns="0" tIns="0" bIns="0">
            <a:spAutoFit/>
          </a:bodyPr>
          <a:lstStyle/>
          <a:p>
            <a:r>
              <a:rPr sz="1600" b="0">
                <a:solidFill>
                  <a:srgbClr val="142B33"/>
                </a:solidFill>
                <a:latin typeface="Calibri"/>
              </a:rPr>
              <a:t>Las piezas fabricadas en un proceso de moldeo por inyección presentan una </a:t>
            </a:r>
            <a:r>
              <a:rPr sz="1600" b="1">
                <a:solidFill>
                  <a:srgbClr val="142B33"/>
                </a:solidFill>
                <a:latin typeface="Calibri"/>
              </a:rPr>
              <a:t>contracción excesiva</a:t>
            </a:r>
            <a:r>
              <a:rPr sz="1600" b="0">
                <a:solidFill>
                  <a:srgbClr val="142B33"/>
                </a:solidFill>
                <a:latin typeface="Calibri"/>
              </a:rPr>
              <a:t>, y eso causa problemas en las operaciones de ensamble posteriores.</a:t>
            </a:r>
          </a:p>
        </p:txBody>
      </p:sp>
      <p:sp>
        <p:nvSpPr>
          <p:cNvPr id="4" name="TextBox 3"/>
          <p:cNvSpPr txBox="1"/>
          <p:nvPr/>
        </p:nvSpPr>
        <p:spPr>
          <a:xfrm>
            <a:off x="548640" y="2398775"/>
            <a:ext cx="6196102" cy="1523999"/>
          </a:xfrm>
          <a:prstGeom prst="rect">
            <a:avLst/>
          </a:prstGeom>
          <a:noFill/>
        </p:spPr>
        <p:txBody>
          <a:bodyPr wrap="square" anchor="t" lIns="0" rIns="0" tIns="0" bIns="0">
            <a:spAutoFit/>
          </a:bodyPr>
          <a:lstStyle/>
          <a:p>
            <a:r>
              <a:rPr sz="1600" b="0">
                <a:solidFill>
                  <a:srgbClr val="142B33"/>
                </a:solidFill>
                <a:latin typeface="Calibri"/>
              </a:rPr>
              <a:t>Un equipo de mejora de la calidad decide estudiar el proceso con un experimento diseñado. Investiga seis factores a dos niveles: A temperatura del molde, B velocidad del tornillo, C tiempo de retención, D duración del ciclo, E tamaño de la compuerta (vaciadero) y F presión de retención. La respuesta es la contracción (× 10).</a:t>
            </a:r>
          </a:p>
        </p:txBody>
      </p:sp>
      <p:sp>
        <p:nvSpPr>
          <p:cNvPr id="5" name="TextBox 4"/>
          <p:cNvSpPr txBox="1"/>
          <p:nvPr/>
        </p:nvSpPr>
        <p:spPr>
          <a:xfrm>
            <a:off x="548640" y="4123944"/>
            <a:ext cx="6196102" cy="780288"/>
          </a:xfrm>
          <a:prstGeom prst="rect">
            <a:avLst/>
          </a:prstGeom>
          <a:noFill/>
        </p:spPr>
        <p:txBody>
          <a:bodyPr wrap="square" anchor="t" lIns="0" rIns="0" tIns="0" bIns="0">
            <a:spAutoFit/>
          </a:bodyPr>
          <a:lstStyle/>
          <a:p>
            <a:r>
              <a:rPr sz="1600" b="0">
                <a:solidFill>
                  <a:srgbClr val="142B33"/>
                </a:solidFill>
                <a:latin typeface="Calibri"/>
              </a:rPr>
              <a:t>El factorial completo serían 64 corridas. El equipo usa un </a:t>
            </a:r>
            <a:r>
              <a:rPr sz="1600" b="1">
                <a:solidFill>
                  <a:srgbClr val="142B33"/>
                </a:solidFill>
                <a:latin typeface="Calibri"/>
              </a:rPr>
              <a:t>2</a:t>
            </a:r>
            <a:r>
              <a:rPr sz="1600" b="1" baseline="30000">
                <a:solidFill>
                  <a:srgbClr val="142B33"/>
                </a:solidFill>
                <a:latin typeface="Calibri"/>
              </a:rPr>
              <a:t>6−2</a:t>
            </a:r>
            <a:r>
              <a:rPr sz="1600" b="1">
                <a:solidFill>
                  <a:srgbClr val="142B33"/>
                </a:solidFill>
                <a:latin typeface="Calibri"/>
              </a:rPr>
              <a:t> de 16 corridas</a:t>
            </a:r>
            <a:r>
              <a:rPr sz="1600" b="0">
                <a:solidFill>
                  <a:srgbClr val="142B33"/>
                </a:solidFill>
                <a:latin typeface="Calibri"/>
              </a:rPr>
              <a:t>, con E = ABC y F = BCD, corridas en orden aleatorio.</a:t>
            </a:r>
          </a:p>
        </p:txBody>
      </p:sp>
      <p:sp>
        <p:nvSpPr>
          <p:cNvPr id="6" name="TextBox 5"/>
          <p:cNvSpPr txBox="1"/>
          <p:nvPr/>
        </p:nvSpPr>
        <p:spPr>
          <a:xfrm>
            <a:off x="548640" y="5105400"/>
            <a:ext cx="6196102" cy="222504"/>
          </a:xfrm>
          <a:prstGeom prst="rect">
            <a:avLst/>
          </a:prstGeom>
          <a:noFill/>
        </p:spPr>
        <p:txBody>
          <a:bodyPr wrap="square" anchor="t" lIns="0" rIns="0" tIns="0" bIns="0">
            <a:spAutoFit/>
          </a:bodyPr>
          <a:lstStyle/>
          <a:p>
            <a:r>
              <a:rPr sz="1200" b="0">
                <a:solidFill>
                  <a:srgbClr val="5B6B73"/>
                </a:solidFill>
                <a:latin typeface="Calibri"/>
              </a:rPr>
              <a:t>Fuente: Montgomery, ejemplo 8-4</a:t>
            </a:r>
          </a:p>
        </p:txBody>
      </p:sp>
      <p:sp>
        <p:nvSpPr>
          <p:cNvPr id="7" name="Rounded Rectangle 6"/>
          <p:cNvSpPr/>
          <p:nvPr/>
        </p:nvSpPr>
        <p:spPr>
          <a:xfrm>
            <a:off x="7156222" y="1417320"/>
            <a:ext cx="4486832" cy="1481836"/>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700" b="1">
                <a:solidFill>
                  <a:srgbClr val="0F4C5C"/>
                </a:solidFill>
                <a:latin typeface="Cambria"/>
              </a:rPr>
              <a:t>Objetivo</a:t>
            </a:r>
          </a:p>
          <a:p>
            <a:pPr algn="l"/>
            <a:r>
              <a:rPr sz="1500" b="0">
                <a:solidFill>
                  <a:srgbClr val="142B33"/>
                </a:solidFill>
                <a:latin typeface="Calibri"/>
              </a:rPr>
              <a:t>Aprender cómo afecta cada factor la contracción, </a:t>
            </a:r>
            <a:r>
              <a:rPr sz="1500" b="1">
                <a:solidFill>
                  <a:srgbClr val="142B33"/>
                </a:solidFill>
                <a:latin typeface="Calibri"/>
              </a:rPr>
              <a:t>algo de cómo interactúan</a:t>
            </a:r>
            <a:r>
              <a:rPr sz="1500" b="0">
                <a:solidFill>
                  <a:srgbClr val="142B33"/>
                </a:solidFill>
                <a:latin typeface="Calibri"/>
              </a:rPr>
              <a:t> y cómo </a:t>
            </a:r>
            <a:r>
              <a:rPr sz="1500" b="1">
                <a:solidFill>
                  <a:srgbClr val="142B33"/>
                </a:solidFill>
                <a:latin typeface="Calibri"/>
              </a:rPr>
              <a:t>reducirla</a:t>
            </a:r>
          </a:p>
        </p:txBody>
      </p:sp>
      <p:sp>
        <p:nvSpPr>
          <p:cNvPr id="8" name="TextBox 7"/>
          <p:cNvSpPr txBox="1"/>
          <p:nvPr/>
        </p:nvSpPr>
        <p:spPr>
          <a:xfrm>
            <a:off x="7156222" y="3100324"/>
            <a:ext cx="4486832" cy="299973"/>
          </a:xfrm>
          <a:prstGeom prst="rect">
            <a:avLst/>
          </a:prstGeom>
          <a:noFill/>
        </p:spPr>
        <p:txBody>
          <a:bodyPr wrap="square" anchor="t" lIns="0" rIns="0" tIns="0" bIns="0">
            <a:spAutoFit/>
          </a:bodyPr>
          <a:lstStyle/>
          <a:p>
            <a:r>
              <a:rPr sz="1700" b="1">
                <a:solidFill>
                  <a:srgbClr val="142B33"/>
                </a:solidFill>
                <a:latin typeface="Calibri"/>
              </a:rPr>
              <a:t>Se pide</a:t>
            </a:r>
          </a:p>
        </p:txBody>
      </p:sp>
      <p:sp>
        <p:nvSpPr>
          <p:cNvPr id="9" name="TextBox 8"/>
          <p:cNvSpPr txBox="1"/>
          <p:nvPr/>
        </p:nvSpPr>
        <p:spPr>
          <a:xfrm>
            <a:off x="7156222" y="3601465"/>
            <a:ext cx="4486832" cy="1723643"/>
          </a:xfrm>
          <a:prstGeom prst="rect">
            <a:avLst/>
          </a:prstGeom>
          <a:noFill/>
        </p:spPr>
        <p:txBody>
          <a:bodyPr wrap="square" anchor="t" lIns="0" rIns="0" tIns="0" bIns="0">
            <a:spAutoFit/>
          </a:bodyPr>
          <a:lstStyle/>
          <a:p>
            <a:pPr marL="320040" indent="-320040">
              <a:spcAft>
                <a:spcPts val="600"/>
              </a:spcAft>
              <a:buClr>
                <a:srgbClr val="E36414"/>
              </a:buClr>
              <a:buFont typeface="+mj-lt"/>
              <a:buAutoNum type="arabicPeriod"/>
            </a:pPr>
            <a:r>
              <a:rPr sz="1500" b="0">
                <a:solidFill>
                  <a:srgbClr val="142B33"/>
                </a:solidFill>
                <a:latin typeface="Calibri"/>
              </a:rPr>
              <a:t>Escribir la relación de definición y la resolución</a:t>
            </a:r>
          </a:p>
          <a:p>
            <a:pPr marL="320040" indent="-320040">
              <a:spcAft>
                <a:spcPts val="600"/>
              </a:spcAft>
              <a:buClr>
                <a:srgbClr val="E36414"/>
              </a:buClr>
              <a:buFont typeface="+mj-lt"/>
              <a:buAutoNum type="arabicPeriod"/>
            </a:pPr>
            <a:r>
              <a:rPr sz="1500" b="0">
                <a:solidFill>
                  <a:srgbClr val="142B33"/>
                </a:solidFill>
                <a:latin typeface="Calibri"/>
              </a:rPr>
              <a:t>Identificar los efectos activos y sus alias</a:t>
            </a:r>
          </a:p>
          <a:p>
            <a:pPr marL="320040" indent="-320040">
              <a:spcAft>
                <a:spcPts val="600"/>
              </a:spcAft>
              <a:buClr>
                <a:srgbClr val="E36414"/>
              </a:buClr>
              <a:buFont typeface="+mj-lt"/>
              <a:buAutoNum type="arabicPeriod"/>
            </a:pPr>
            <a:r>
              <a:rPr sz="1500" b="0">
                <a:solidFill>
                  <a:srgbClr val="142B33"/>
                </a:solidFill>
                <a:latin typeface="Calibri"/>
              </a:rPr>
              <a:t>Ajustar el modelo y hacer el ANOVA</a:t>
            </a:r>
          </a:p>
          <a:p>
            <a:pPr marL="320040" indent="-320040">
              <a:spcAft>
                <a:spcPts val="600"/>
              </a:spcAft>
              <a:buClr>
                <a:srgbClr val="E36414"/>
              </a:buClr>
              <a:buFont typeface="+mj-lt"/>
              <a:buAutoNum type="arabicPeriod"/>
            </a:pPr>
            <a:r>
              <a:rPr sz="1500" b="0">
                <a:solidFill>
                  <a:srgbClr val="142B33"/>
                </a:solidFill>
                <a:latin typeface="Calibri"/>
              </a:rPr>
              <a:t>Proyectar en los factores activos e interpretar la interacción</a:t>
            </a:r>
          </a:p>
        </p:txBody>
      </p:sp>
      <p:sp>
        <p:nvSpPr>
          <p:cNvPr id="10" name="TextBox 9"/>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La fracción un cuarto 2</a:t>
            </a:r>
            <a:r>
              <a:rPr sz="1000" b="0" baseline="30000">
                <a:solidFill>
                  <a:srgbClr val="5B6B73"/>
                </a:solidFill>
                <a:latin typeface="Calibri"/>
              </a:rPr>
              <a:t>k−2</a:t>
            </a:r>
          </a:p>
        </p:txBody>
      </p:sp>
      <p:sp>
        <p:nvSpPr>
          <p:cNvPr id="11" name="TextBox 10"/>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49</a:t>
            </a:r>
          </a:p>
        </p:txBody>
      </p:sp>
      <p:sp>
        <p:nvSpPr>
          <p:cNvPr id="12" name="Rounded Rectangle 11"/>
          <p:cNvSpPr/>
          <p:nvPr/>
        </p:nvSpPr>
        <p:spPr>
          <a:xfrm>
            <a:off x="548640" y="91440"/>
            <a:ext cx="3131820"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6 · La fracción un cuarto 2</a:t>
            </a:r>
            <a:r>
              <a:rPr sz="1100" b="1" baseline="30000">
                <a:solidFill>
                  <a:srgbClr val="FFFFFF"/>
                </a:solidFill>
                <a:latin typeface="Calibri"/>
              </a:rPr>
              <a:t>k−2</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3 · ¿Qué efectos son activos?</a:t>
            </a:r>
          </a:p>
        </p:txBody>
      </p:sp>
      <p:graphicFrame>
        <p:nvGraphicFramePr>
          <p:cNvPr id="3" name="Chart 2"/>
          <p:cNvGraphicFramePr>
            <a:graphicFrameLocks noGrp="1"/>
          </p:cNvGraphicFramePr>
          <p:nvPr/>
        </p:nvGraphicFramePr>
        <p:xfrm>
          <a:off x="548640" y="1417320"/>
          <a:ext cx="5341467" cy="3840480"/>
        </p:xfrm>
        <a:graphic>
          <a:graphicData uri="http://schemas.openxmlformats.org/drawingml/2006/chart">
            <c:chart xmlns:c="http://schemas.openxmlformats.org/drawingml/2006/chart" r:id="rId2"/>
          </a:graphicData>
        </a:graphic>
      </p:graphicFrame>
      <p:sp>
        <p:nvSpPr>
          <p:cNvPr id="4" name="Rounded Rectangle 3"/>
          <p:cNvSpPr/>
          <p:nvPr/>
        </p:nvSpPr>
        <p:spPr>
          <a:xfrm>
            <a:off x="548640" y="5458968"/>
            <a:ext cx="5341467"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Al </a:t>
            </a:r>
            <a:r>
              <a:rPr sz="1500" b="1">
                <a:solidFill>
                  <a:srgbClr val="142B33"/>
                </a:solidFill>
                <a:latin typeface="Calibri"/>
              </a:rPr>
              <a:t>modelo</a:t>
            </a:r>
            <a:r>
              <a:rPr sz="1500" b="0">
                <a:solidFill>
                  <a:srgbClr val="142B33"/>
                </a:solidFill>
                <a:latin typeface="Calibri"/>
              </a:rPr>
              <a:t>: A, B y AB.  Al </a:t>
            </a:r>
            <a:r>
              <a:rPr sz="1500" b="1">
                <a:solidFill>
                  <a:srgbClr val="142B33"/>
                </a:solidFill>
                <a:latin typeface="Calibri"/>
              </a:rPr>
              <a:t>error</a:t>
            </a:r>
            <a:r>
              <a:rPr sz="1500" b="0">
                <a:solidFill>
                  <a:srgbClr val="142B33"/>
                </a:solidFill>
                <a:latin typeface="Calibri"/>
              </a:rPr>
              <a:t>: los otros 12 efectos</a:t>
            </a:r>
          </a:p>
        </p:txBody>
      </p:sp>
      <p:sp>
        <p:nvSpPr>
          <p:cNvPr id="5" name="TextBox 4"/>
          <p:cNvSpPr txBox="1"/>
          <p:nvPr/>
        </p:nvSpPr>
        <p:spPr>
          <a:xfrm>
            <a:off x="6301587" y="1417320"/>
            <a:ext cx="5341467" cy="2064512"/>
          </a:xfrm>
          <a:prstGeom prst="rect">
            <a:avLst/>
          </a:prstGeom>
          <a:noFill/>
        </p:spPr>
        <p:txBody>
          <a:bodyPr wrap="square" anchor="t" lIns="0" rIns="0" tIns="0" bIns="0">
            <a:spAutoFit/>
          </a:bodyPr>
          <a:lstStyle/>
          <a:p>
            <a:pPr marL="320040" indent="-320040">
              <a:spcAft>
                <a:spcPts val="600"/>
              </a:spcAft>
              <a:buClr>
                <a:srgbClr val="E36414"/>
              </a:buClr>
              <a:buFont typeface="+mj-lt"/>
              <a:buAutoNum type="arabicPeriod"/>
            </a:pPr>
            <a:r>
              <a:rPr sz="1400" b="0">
                <a:solidFill>
                  <a:srgbClr val="142B33"/>
                </a:solidFill>
                <a:latin typeface="Calibri"/>
              </a:rPr>
              <a:t>​</a:t>
            </a:r>
            <a:r>
              <a:rPr sz="1400" b="1">
                <a:solidFill>
                  <a:srgbClr val="142B33"/>
                </a:solidFill>
                <a:latin typeface="Calibri"/>
              </a:rPr>
              <a:t>Sobre la recta</a:t>
            </a:r>
            <a:r>
              <a:rPr sz="1400" b="0">
                <a:solidFill>
                  <a:srgbClr val="142B33"/>
                </a:solidFill>
                <a:latin typeface="Calibri"/>
              </a:rPr>
              <a:t> = ruido: 10 efectos cerca de cero</a:t>
            </a:r>
          </a:p>
          <a:p>
            <a:pPr marL="320040" indent="-320040">
              <a:spcAft>
                <a:spcPts val="600"/>
              </a:spcAft>
              <a:buClr>
                <a:srgbClr val="E36414"/>
              </a:buClr>
              <a:buFont typeface="+mj-lt"/>
              <a:buAutoNum type="arabicPeriod"/>
            </a:pPr>
            <a:r>
              <a:rPr sz="1400" b="0">
                <a:solidFill>
                  <a:srgbClr val="142B33"/>
                </a:solidFill>
                <a:latin typeface="Calibri"/>
              </a:rPr>
              <a:t>​</a:t>
            </a:r>
            <a:r>
              <a:rPr sz="1400" b="1">
                <a:solidFill>
                  <a:srgbClr val="142B33"/>
                </a:solidFill>
                <a:latin typeface="Calibri"/>
              </a:rPr>
              <a:t>Se apartan con claridad</a:t>
            </a:r>
            <a:r>
              <a:rPr sz="1400" b="0">
                <a:solidFill>
                  <a:srgbClr val="142B33"/>
                </a:solidFill>
                <a:latin typeface="Calibri"/>
              </a:rPr>
              <a:t>: B = 35.63, A = 13.88 y AB + CE = 11.88</a:t>
            </a:r>
          </a:p>
          <a:p>
            <a:pPr marL="320040" indent="-320040">
              <a:spcAft>
                <a:spcPts val="600"/>
              </a:spcAft>
              <a:buClr>
                <a:srgbClr val="E36414"/>
              </a:buClr>
              <a:buFont typeface="+mj-lt"/>
              <a:buAutoNum type="arabicPeriod"/>
            </a:pPr>
            <a:r>
              <a:rPr sz="1400" b="0">
                <a:solidFill>
                  <a:srgbClr val="142B33"/>
                </a:solidFill>
                <a:latin typeface="Calibri"/>
              </a:rPr>
              <a:t>​</a:t>
            </a:r>
            <a:r>
              <a:rPr sz="1400" b="1">
                <a:solidFill>
                  <a:srgbClr val="142B33"/>
                </a:solidFill>
                <a:latin typeface="Calibri"/>
              </a:rPr>
              <a:t>AB + CE se atribuye a AB</a:t>
            </a:r>
            <a:r>
              <a:rPr sz="1400" b="0">
                <a:solidFill>
                  <a:srgbClr val="142B33"/>
                </a:solidFill>
                <a:latin typeface="Calibri"/>
              </a:rPr>
              <a:t>: A y B son activos; C (−0.88) y E (0.38) no</a:t>
            </a:r>
          </a:p>
          <a:p>
            <a:pPr marL="320040" indent="-320040">
              <a:spcAft>
                <a:spcPts val="600"/>
              </a:spcAft>
              <a:buClr>
                <a:srgbClr val="E36414"/>
              </a:buClr>
              <a:buFont typeface="+mj-lt"/>
              <a:buAutoNum type="arabicPeriod"/>
            </a:pPr>
            <a:r>
              <a:rPr sz="1400" b="0">
                <a:solidFill>
                  <a:srgbClr val="142B33"/>
                </a:solidFill>
                <a:latin typeface="Calibri"/>
              </a:rPr>
              <a:t>​</a:t>
            </a:r>
            <a:r>
              <a:rPr sz="1400" b="1">
                <a:solidFill>
                  <a:srgbClr val="142B33"/>
                </a:solidFill>
                <a:latin typeface="Calibri"/>
              </a:rPr>
              <a:t>Zona gris</a:t>
            </a:r>
            <a:r>
              <a:rPr sz="1400" b="0">
                <a:solidFill>
                  <a:srgbClr val="142B33"/>
                </a:solidFill>
                <a:latin typeface="Calibri"/>
              </a:rPr>
              <a:t>: AD + EF = −5.38 y ABF = −4.88. Lenth: ME = 2.41, SME = 4.89; mucho menores que los tres grandes, quedan en el error</a:t>
            </a:r>
          </a:p>
        </p:txBody>
      </p:sp>
      <p:graphicFrame>
        <p:nvGraphicFramePr>
          <p:cNvPr id="6" name="Chart 5"/>
          <p:cNvGraphicFramePr>
            <a:graphicFrameLocks noGrp="1"/>
          </p:cNvGraphicFramePr>
          <p:nvPr/>
        </p:nvGraphicFramePr>
        <p:xfrm>
          <a:off x="6301587" y="3683000"/>
          <a:ext cx="5341467" cy="2377440"/>
        </p:xfrm>
        <a:graphic>
          <a:graphicData uri="http://schemas.openxmlformats.org/drawingml/2006/chart">
            <c:chart xmlns:c="http://schemas.openxmlformats.org/drawingml/2006/chart" r:id="rId3"/>
          </a:graphicData>
        </a:graphic>
      </p:graphicFrame>
      <p:sp>
        <p:nvSpPr>
          <p:cNvPr id="7" name="TextBox 6"/>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La fracción un cuarto 2</a:t>
            </a:r>
            <a:r>
              <a:rPr sz="1000" b="0" baseline="30000">
                <a:solidFill>
                  <a:srgbClr val="5B6B73"/>
                </a:solidFill>
                <a:latin typeface="Calibri"/>
              </a:rPr>
              <a:t>k−2</a:t>
            </a:r>
          </a:p>
        </p:txBody>
      </p:sp>
      <p:sp>
        <p:nvSpPr>
          <p:cNvPr id="8" name="TextBox 7"/>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50</a:t>
            </a:r>
          </a:p>
        </p:txBody>
      </p:sp>
      <p:sp>
        <p:nvSpPr>
          <p:cNvPr id="9" name="Rounded Rectangle 8"/>
          <p:cNvSpPr/>
          <p:nvPr/>
        </p:nvSpPr>
        <p:spPr>
          <a:xfrm>
            <a:off x="548640" y="91440"/>
            <a:ext cx="3131820"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6 · La fracción un cuarto 2</a:t>
            </a:r>
            <a:r>
              <a:rPr sz="1100" b="1" baseline="30000">
                <a:solidFill>
                  <a:srgbClr val="FFFFFF"/>
                </a:solidFill>
                <a:latin typeface="Calibri"/>
              </a:rPr>
              <a:t>k−2</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3 · Modelo y ANOVA</a:t>
            </a:r>
          </a:p>
        </p:txBody>
      </p:sp>
      <p:graphicFrame>
        <p:nvGraphicFramePr>
          <p:cNvPr id="3" name="Table 2"/>
          <p:cNvGraphicFramePr>
            <a:graphicFrameLocks noGrp="1"/>
          </p:cNvGraphicFramePr>
          <p:nvPr/>
        </p:nvGraphicFramePr>
        <p:xfrm>
          <a:off x="548640" y="1417320"/>
          <a:ext cx="4486832" cy="3706368"/>
        </p:xfrm>
        <a:graphic>
          <a:graphicData uri="http://schemas.openxmlformats.org/drawingml/2006/table">
            <a:tbl>
              <a:tblPr firstRow="0" bandRow="0">
                <a:tableStyleId>{5C22544A-7EE6-4342-B048-85BDC9FD1C3A}</a:tableStyleId>
              </a:tblPr>
              <a:tblGrid>
                <a:gridCol w="2596635"/>
                <a:gridCol w="983284"/>
                <a:gridCol w="906913"/>
              </a:tblGrid>
              <a:tr h="231648">
                <a:tc>
                  <a:txBody>
                    <a:bodyPr/>
                    <a:lstStyle/>
                    <a:p>
                      <a:pPr algn="ctr"/>
                      <a:r>
                        <a:rPr sz="1200" b="1">
                          <a:solidFill>
                            <a:srgbClr val="FFFFFF"/>
                          </a:solidFill>
                          <a:latin typeface="Calibri"/>
                        </a:rPr>
                        <a:t>Cadena (tabla 8-11)</a:t>
                      </a:r>
                    </a:p>
                  </a:txBody>
                  <a:tcPr marL="73152" marR="73152" marT="27432" marB="27432" anchor="ctr">
                    <a:solidFill>
                      <a:srgbClr val="0F4C5C"/>
                    </a:solidFill>
                  </a:tcPr>
                </a:tc>
                <a:tc>
                  <a:txBody>
                    <a:bodyPr/>
                    <a:lstStyle/>
                    <a:p>
                      <a:pPr algn="ctr"/>
                      <a:r>
                        <a:rPr sz="1200" b="1">
                          <a:solidFill>
                            <a:srgbClr val="FFFFFF"/>
                          </a:solidFill>
                          <a:latin typeface="Calibri"/>
                        </a:rPr>
                        <a:t>Efecto</a:t>
                      </a:r>
                    </a:p>
                  </a:txBody>
                  <a:tcPr marL="73152" marR="73152" marT="27432" marB="27432" anchor="ctr">
                    <a:solidFill>
                      <a:srgbClr val="0F4C5C"/>
                    </a:solidFill>
                  </a:tcPr>
                </a:tc>
                <a:tc>
                  <a:txBody>
                    <a:bodyPr/>
                    <a:lstStyle/>
                    <a:p>
                      <a:pPr algn="ctr"/>
                      <a:r>
                        <a:rPr sz="1200" b="1">
                          <a:solidFill>
                            <a:srgbClr val="FFFFFF"/>
                          </a:solidFill>
                          <a:latin typeface="Calibri"/>
                        </a:rPr>
                        <a:t>SS</a:t>
                      </a:r>
                    </a:p>
                  </a:txBody>
                  <a:tcPr marL="73152" marR="73152" marT="27432" marB="27432" anchor="ctr">
                    <a:solidFill>
                      <a:srgbClr val="0F4C5C"/>
                    </a:solidFill>
                  </a:tcPr>
                </a:tc>
              </a:tr>
              <a:tr h="231648">
                <a:tc>
                  <a:txBody>
                    <a:bodyPr/>
                    <a:lstStyle/>
                    <a:p>
                      <a:pPr algn="ctr"/>
                      <a:r>
                        <a:rPr sz="1200" b="0">
                          <a:solidFill>
                            <a:srgbClr val="142B33"/>
                          </a:solidFill>
                          <a:latin typeface="Calibri"/>
                        </a:rPr>
                        <a:t>A</a:t>
                      </a:r>
                    </a:p>
                  </a:txBody>
                  <a:tcPr marL="73152" marR="73152" marT="27432" marB="27432" anchor="ctr">
                    <a:solidFill>
                      <a:srgbClr val="FDE8D7"/>
                    </a:solidFill>
                  </a:tcPr>
                </a:tc>
                <a:tc>
                  <a:txBody>
                    <a:bodyPr/>
                    <a:lstStyle/>
                    <a:p>
                      <a:pPr algn="ctr"/>
                      <a:r>
                        <a:rPr sz="1200" b="0">
                          <a:solidFill>
                            <a:srgbClr val="142B33"/>
                          </a:solidFill>
                          <a:latin typeface="Calibri"/>
                        </a:rPr>
                        <a:t>13.875</a:t>
                      </a:r>
                    </a:p>
                  </a:txBody>
                  <a:tcPr marL="73152" marR="73152" marT="27432" marB="27432" anchor="ctr">
                    <a:solidFill>
                      <a:srgbClr val="FDE8D7"/>
                    </a:solidFill>
                  </a:tcPr>
                </a:tc>
                <a:tc>
                  <a:txBody>
                    <a:bodyPr/>
                    <a:lstStyle/>
                    <a:p>
                      <a:pPr algn="ctr"/>
                      <a:r>
                        <a:rPr sz="1200" b="0">
                          <a:solidFill>
                            <a:srgbClr val="142B33"/>
                          </a:solidFill>
                          <a:latin typeface="Calibri"/>
                        </a:rPr>
                        <a:t>770.06</a:t>
                      </a:r>
                    </a:p>
                  </a:txBody>
                  <a:tcPr marL="73152" marR="73152" marT="27432" marB="27432" anchor="ctr">
                    <a:solidFill>
                      <a:srgbClr val="FDE8D7"/>
                    </a:solidFill>
                  </a:tcPr>
                </a:tc>
              </a:tr>
              <a:tr h="231648">
                <a:tc>
                  <a:txBody>
                    <a:bodyPr/>
                    <a:lstStyle/>
                    <a:p>
                      <a:pPr algn="ctr"/>
                      <a:r>
                        <a:rPr sz="1200" b="0">
                          <a:solidFill>
                            <a:srgbClr val="142B33"/>
                          </a:solidFill>
                          <a:latin typeface="Calibri"/>
                        </a:rPr>
                        <a:t>B</a:t>
                      </a:r>
                    </a:p>
                  </a:txBody>
                  <a:tcPr marL="73152" marR="73152" marT="27432" marB="27432" anchor="ctr">
                    <a:solidFill>
                      <a:srgbClr val="FDE8D7"/>
                    </a:solidFill>
                  </a:tcPr>
                </a:tc>
                <a:tc>
                  <a:txBody>
                    <a:bodyPr/>
                    <a:lstStyle/>
                    <a:p>
                      <a:pPr algn="ctr"/>
                      <a:r>
                        <a:rPr sz="1200" b="0">
                          <a:solidFill>
                            <a:srgbClr val="142B33"/>
                          </a:solidFill>
                          <a:latin typeface="Calibri"/>
                        </a:rPr>
                        <a:t>35.625</a:t>
                      </a:r>
                    </a:p>
                  </a:txBody>
                  <a:tcPr marL="73152" marR="73152" marT="27432" marB="27432" anchor="ctr">
                    <a:solidFill>
                      <a:srgbClr val="FDE8D7"/>
                    </a:solidFill>
                  </a:tcPr>
                </a:tc>
                <a:tc>
                  <a:txBody>
                    <a:bodyPr/>
                    <a:lstStyle/>
                    <a:p>
                      <a:pPr algn="ctr"/>
                      <a:r>
                        <a:rPr sz="1200" b="0">
                          <a:solidFill>
                            <a:srgbClr val="142B33"/>
                          </a:solidFill>
                          <a:latin typeface="Calibri"/>
                        </a:rPr>
                        <a:t>5076.56</a:t>
                      </a:r>
                    </a:p>
                  </a:txBody>
                  <a:tcPr marL="73152" marR="73152" marT="27432" marB="27432" anchor="ctr">
                    <a:solidFill>
                      <a:srgbClr val="FDE8D7"/>
                    </a:solidFill>
                  </a:tcPr>
                </a:tc>
              </a:tr>
              <a:tr h="231648">
                <a:tc>
                  <a:txBody>
                    <a:bodyPr/>
                    <a:lstStyle/>
                    <a:p>
                      <a:pPr algn="ctr"/>
                      <a:r>
                        <a:rPr sz="1200" b="0">
                          <a:solidFill>
                            <a:srgbClr val="142B33"/>
                          </a:solidFill>
                          <a:latin typeface="Calibri"/>
                        </a:rPr>
                        <a:t>C</a:t>
                      </a:r>
                    </a:p>
                  </a:txBody>
                  <a:tcPr marL="73152" marR="73152" marT="27432" marB="27432" anchor="ctr">
                    <a:solidFill>
                      <a:srgbClr val="FFFFFF"/>
                    </a:solidFill>
                  </a:tcPr>
                </a:tc>
                <a:tc>
                  <a:txBody>
                    <a:bodyPr/>
                    <a:lstStyle/>
                    <a:p>
                      <a:pPr algn="ctr"/>
                      <a:r>
                        <a:rPr sz="1200" b="0">
                          <a:solidFill>
                            <a:srgbClr val="142B33"/>
                          </a:solidFill>
                          <a:latin typeface="Calibri"/>
                        </a:rPr>
                        <a:t>−0.875</a:t>
                      </a:r>
                    </a:p>
                  </a:txBody>
                  <a:tcPr marL="73152" marR="73152" marT="27432" marB="27432" anchor="ctr">
                    <a:solidFill>
                      <a:srgbClr val="FFFFFF"/>
                    </a:solidFill>
                  </a:tcPr>
                </a:tc>
                <a:tc>
                  <a:txBody>
                    <a:bodyPr/>
                    <a:lstStyle/>
                    <a:p>
                      <a:pPr algn="ctr"/>
                      <a:r>
                        <a:rPr sz="1200" b="0">
                          <a:solidFill>
                            <a:srgbClr val="142B33"/>
                          </a:solidFill>
                          <a:latin typeface="Calibri"/>
                        </a:rPr>
                        <a:t>3.06</a:t>
                      </a:r>
                    </a:p>
                  </a:txBody>
                  <a:tcPr marL="73152" marR="73152" marT="27432" marB="27432" anchor="ctr">
                    <a:solidFill>
                      <a:srgbClr val="FFFFFF"/>
                    </a:solidFill>
                  </a:tcPr>
                </a:tc>
              </a:tr>
              <a:tr h="231648">
                <a:tc>
                  <a:txBody>
                    <a:bodyPr/>
                    <a:lstStyle/>
                    <a:p>
                      <a:pPr algn="ctr"/>
                      <a:r>
                        <a:rPr sz="1200" b="0">
                          <a:solidFill>
                            <a:srgbClr val="142B33"/>
                          </a:solidFill>
                          <a:latin typeface="Calibri"/>
                        </a:rPr>
                        <a:t>D</a:t>
                      </a:r>
                    </a:p>
                  </a:txBody>
                  <a:tcPr marL="73152" marR="73152" marT="27432" marB="27432" anchor="ctr">
                    <a:solidFill>
                      <a:srgbClr val="F4F8F9"/>
                    </a:solidFill>
                  </a:tcPr>
                </a:tc>
                <a:tc>
                  <a:txBody>
                    <a:bodyPr/>
                    <a:lstStyle/>
                    <a:p>
                      <a:pPr algn="ctr"/>
                      <a:r>
                        <a:rPr sz="1200" b="0">
                          <a:solidFill>
                            <a:srgbClr val="142B33"/>
                          </a:solidFill>
                          <a:latin typeface="Calibri"/>
                        </a:rPr>
                        <a:t>1.375</a:t>
                      </a:r>
                    </a:p>
                  </a:txBody>
                  <a:tcPr marL="73152" marR="73152" marT="27432" marB="27432" anchor="ctr">
                    <a:solidFill>
                      <a:srgbClr val="F4F8F9"/>
                    </a:solidFill>
                  </a:tcPr>
                </a:tc>
                <a:tc>
                  <a:txBody>
                    <a:bodyPr/>
                    <a:lstStyle/>
                    <a:p>
                      <a:pPr algn="ctr"/>
                      <a:r>
                        <a:rPr sz="1200" b="0">
                          <a:solidFill>
                            <a:srgbClr val="142B33"/>
                          </a:solidFill>
                          <a:latin typeface="Calibri"/>
                        </a:rPr>
                        <a:t>7.56</a:t>
                      </a:r>
                    </a:p>
                  </a:txBody>
                  <a:tcPr marL="73152" marR="73152" marT="27432" marB="27432" anchor="ctr">
                    <a:solidFill>
                      <a:srgbClr val="F4F8F9"/>
                    </a:solidFill>
                  </a:tcPr>
                </a:tc>
              </a:tr>
              <a:tr h="231648">
                <a:tc>
                  <a:txBody>
                    <a:bodyPr/>
                    <a:lstStyle/>
                    <a:p>
                      <a:pPr algn="ctr"/>
                      <a:r>
                        <a:rPr sz="1200" b="0">
                          <a:solidFill>
                            <a:srgbClr val="142B33"/>
                          </a:solidFill>
                          <a:latin typeface="Calibri"/>
                        </a:rPr>
                        <a:t>E</a:t>
                      </a:r>
                    </a:p>
                  </a:txBody>
                  <a:tcPr marL="73152" marR="73152" marT="27432" marB="27432" anchor="ctr">
                    <a:solidFill>
                      <a:srgbClr val="FFFFFF"/>
                    </a:solidFill>
                  </a:tcPr>
                </a:tc>
                <a:tc>
                  <a:txBody>
                    <a:bodyPr/>
                    <a:lstStyle/>
                    <a:p>
                      <a:pPr algn="ctr"/>
                      <a:r>
                        <a:rPr sz="1200" b="0">
                          <a:solidFill>
                            <a:srgbClr val="142B33"/>
                          </a:solidFill>
                          <a:latin typeface="Calibri"/>
                        </a:rPr>
                        <a:t>0.375</a:t>
                      </a:r>
                    </a:p>
                  </a:txBody>
                  <a:tcPr marL="73152" marR="73152" marT="27432" marB="27432" anchor="ctr">
                    <a:solidFill>
                      <a:srgbClr val="FFFFFF"/>
                    </a:solidFill>
                  </a:tcPr>
                </a:tc>
                <a:tc>
                  <a:txBody>
                    <a:bodyPr/>
                    <a:lstStyle/>
                    <a:p>
                      <a:pPr algn="ctr"/>
                      <a:r>
                        <a:rPr sz="1200" b="0">
                          <a:solidFill>
                            <a:srgbClr val="142B33"/>
                          </a:solidFill>
                          <a:latin typeface="Calibri"/>
                        </a:rPr>
                        <a:t>0.56</a:t>
                      </a:r>
                    </a:p>
                  </a:txBody>
                  <a:tcPr marL="73152" marR="73152" marT="27432" marB="27432" anchor="ctr">
                    <a:solidFill>
                      <a:srgbClr val="FFFFFF"/>
                    </a:solidFill>
                  </a:tcPr>
                </a:tc>
              </a:tr>
              <a:tr h="231648">
                <a:tc>
                  <a:txBody>
                    <a:bodyPr/>
                    <a:lstStyle/>
                    <a:p>
                      <a:pPr algn="ctr"/>
                      <a:r>
                        <a:rPr sz="1200" b="0">
                          <a:solidFill>
                            <a:srgbClr val="142B33"/>
                          </a:solidFill>
                          <a:latin typeface="Calibri"/>
                        </a:rPr>
                        <a:t>F</a:t>
                      </a:r>
                    </a:p>
                  </a:txBody>
                  <a:tcPr marL="73152" marR="73152" marT="27432" marB="27432" anchor="ctr">
                    <a:solidFill>
                      <a:srgbClr val="F4F8F9"/>
                    </a:solidFill>
                  </a:tcPr>
                </a:tc>
                <a:tc>
                  <a:txBody>
                    <a:bodyPr/>
                    <a:lstStyle/>
                    <a:p>
                      <a:pPr algn="ctr"/>
                      <a:r>
                        <a:rPr sz="1200" b="0">
                          <a:solidFill>
                            <a:srgbClr val="142B33"/>
                          </a:solidFill>
                          <a:latin typeface="Calibri"/>
                        </a:rPr>
                        <a:t>0.375</a:t>
                      </a:r>
                    </a:p>
                  </a:txBody>
                  <a:tcPr marL="73152" marR="73152" marT="27432" marB="27432" anchor="ctr">
                    <a:solidFill>
                      <a:srgbClr val="F4F8F9"/>
                    </a:solidFill>
                  </a:tcPr>
                </a:tc>
                <a:tc>
                  <a:txBody>
                    <a:bodyPr/>
                    <a:lstStyle/>
                    <a:p>
                      <a:pPr algn="ctr"/>
                      <a:r>
                        <a:rPr sz="1200" b="0">
                          <a:solidFill>
                            <a:srgbClr val="142B33"/>
                          </a:solidFill>
                          <a:latin typeface="Calibri"/>
                        </a:rPr>
                        <a:t>0.56</a:t>
                      </a:r>
                    </a:p>
                  </a:txBody>
                  <a:tcPr marL="73152" marR="73152" marT="27432" marB="27432" anchor="ctr">
                    <a:solidFill>
                      <a:srgbClr val="F4F8F9"/>
                    </a:solidFill>
                  </a:tcPr>
                </a:tc>
              </a:tr>
              <a:tr h="231648">
                <a:tc>
                  <a:txBody>
                    <a:bodyPr/>
                    <a:lstStyle/>
                    <a:p>
                      <a:pPr algn="ctr"/>
                      <a:r>
                        <a:rPr sz="1200" b="0">
                          <a:solidFill>
                            <a:srgbClr val="142B33"/>
                          </a:solidFill>
                          <a:latin typeface="Calibri"/>
                        </a:rPr>
                        <a:t>AB + CE</a:t>
                      </a:r>
                    </a:p>
                  </a:txBody>
                  <a:tcPr marL="73152" marR="73152" marT="27432" marB="27432" anchor="ctr">
                    <a:solidFill>
                      <a:srgbClr val="FDE8D7"/>
                    </a:solidFill>
                  </a:tcPr>
                </a:tc>
                <a:tc>
                  <a:txBody>
                    <a:bodyPr/>
                    <a:lstStyle/>
                    <a:p>
                      <a:pPr algn="ctr"/>
                      <a:r>
                        <a:rPr sz="1200" b="0">
                          <a:solidFill>
                            <a:srgbClr val="142B33"/>
                          </a:solidFill>
                          <a:latin typeface="Calibri"/>
                        </a:rPr>
                        <a:t>11.875</a:t>
                      </a:r>
                    </a:p>
                  </a:txBody>
                  <a:tcPr marL="73152" marR="73152" marT="27432" marB="27432" anchor="ctr">
                    <a:solidFill>
                      <a:srgbClr val="FDE8D7"/>
                    </a:solidFill>
                  </a:tcPr>
                </a:tc>
                <a:tc>
                  <a:txBody>
                    <a:bodyPr/>
                    <a:lstStyle/>
                    <a:p>
                      <a:pPr algn="ctr"/>
                      <a:r>
                        <a:rPr sz="1200" b="0">
                          <a:solidFill>
                            <a:srgbClr val="142B33"/>
                          </a:solidFill>
                          <a:latin typeface="Calibri"/>
                        </a:rPr>
                        <a:t>564.06</a:t>
                      </a:r>
                    </a:p>
                  </a:txBody>
                  <a:tcPr marL="73152" marR="73152" marT="27432" marB="27432" anchor="ctr">
                    <a:solidFill>
                      <a:srgbClr val="FDE8D7"/>
                    </a:solidFill>
                  </a:tcPr>
                </a:tc>
              </a:tr>
              <a:tr h="231648">
                <a:tc>
                  <a:txBody>
                    <a:bodyPr/>
                    <a:lstStyle/>
                    <a:p>
                      <a:pPr algn="ctr"/>
                      <a:r>
                        <a:rPr sz="1200" b="0">
                          <a:solidFill>
                            <a:srgbClr val="142B33"/>
                          </a:solidFill>
                          <a:latin typeface="Calibri"/>
                        </a:rPr>
                        <a:t>AC + BE</a:t>
                      </a:r>
                    </a:p>
                  </a:txBody>
                  <a:tcPr marL="73152" marR="73152" marT="27432" marB="27432" anchor="ctr">
                    <a:solidFill>
                      <a:srgbClr val="F4F8F9"/>
                    </a:solidFill>
                  </a:tcPr>
                </a:tc>
                <a:tc>
                  <a:txBody>
                    <a:bodyPr/>
                    <a:lstStyle/>
                    <a:p>
                      <a:pPr algn="ctr"/>
                      <a:r>
                        <a:rPr sz="1200" b="0">
                          <a:solidFill>
                            <a:srgbClr val="142B33"/>
                          </a:solidFill>
                          <a:latin typeface="Calibri"/>
                        </a:rPr>
                        <a:t>−1.625</a:t>
                      </a:r>
                    </a:p>
                  </a:txBody>
                  <a:tcPr marL="73152" marR="73152" marT="27432" marB="27432" anchor="ctr">
                    <a:solidFill>
                      <a:srgbClr val="F4F8F9"/>
                    </a:solidFill>
                  </a:tcPr>
                </a:tc>
                <a:tc>
                  <a:txBody>
                    <a:bodyPr/>
                    <a:lstStyle/>
                    <a:p>
                      <a:pPr algn="ctr"/>
                      <a:r>
                        <a:rPr sz="1200" b="0">
                          <a:solidFill>
                            <a:srgbClr val="142B33"/>
                          </a:solidFill>
                          <a:latin typeface="Calibri"/>
                        </a:rPr>
                        <a:t>10.56</a:t>
                      </a:r>
                    </a:p>
                  </a:txBody>
                  <a:tcPr marL="73152" marR="73152" marT="27432" marB="27432" anchor="ctr">
                    <a:solidFill>
                      <a:srgbClr val="F4F8F9"/>
                    </a:solidFill>
                  </a:tcPr>
                </a:tc>
              </a:tr>
              <a:tr h="231648">
                <a:tc>
                  <a:txBody>
                    <a:bodyPr/>
                    <a:lstStyle/>
                    <a:p>
                      <a:pPr algn="ctr"/>
                      <a:r>
                        <a:rPr sz="1200" b="0">
                          <a:solidFill>
                            <a:srgbClr val="142B33"/>
                          </a:solidFill>
                          <a:latin typeface="Calibri"/>
                        </a:rPr>
                        <a:t>AD + EF</a:t>
                      </a:r>
                    </a:p>
                  </a:txBody>
                  <a:tcPr marL="73152" marR="73152" marT="27432" marB="27432" anchor="ctr">
                    <a:solidFill>
                      <a:srgbClr val="FFFFFF"/>
                    </a:solidFill>
                  </a:tcPr>
                </a:tc>
                <a:tc>
                  <a:txBody>
                    <a:bodyPr/>
                    <a:lstStyle/>
                    <a:p>
                      <a:pPr algn="ctr"/>
                      <a:r>
                        <a:rPr sz="1200" b="0">
                          <a:solidFill>
                            <a:srgbClr val="142B33"/>
                          </a:solidFill>
                          <a:latin typeface="Calibri"/>
                        </a:rPr>
                        <a:t>−5.375</a:t>
                      </a:r>
                    </a:p>
                  </a:txBody>
                  <a:tcPr marL="73152" marR="73152" marT="27432" marB="27432" anchor="ctr">
                    <a:solidFill>
                      <a:srgbClr val="FFFFFF"/>
                    </a:solidFill>
                  </a:tcPr>
                </a:tc>
                <a:tc>
                  <a:txBody>
                    <a:bodyPr/>
                    <a:lstStyle/>
                    <a:p>
                      <a:pPr algn="ctr"/>
                      <a:r>
                        <a:rPr sz="1200" b="0">
                          <a:solidFill>
                            <a:srgbClr val="142B33"/>
                          </a:solidFill>
                          <a:latin typeface="Calibri"/>
                        </a:rPr>
                        <a:t>115.56</a:t>
                      </a:r>
                    </a:p>
                  </a:txBody>
                  <a:tcPr marL="73152" marR="73152" marT="27432" marB="27432" anchor="ctr">
                    <a:solidFill>
                      <a:srgbClr val="FFFFFF"/>
                    </a:solidFill>
                  </a:tcPr>
                </a:tc>
              </a:tr>
              <a:tr h="231648">
                <a:tc>
                  <a:txBody>
                    <a:bodyPr/>
                    <a:lstStyle/>
                    <a:p>
                      <a:pPr algn="ctr"/>
                      <a:r>
                        <a:rPr sz="1200" b="0">
                          <a:solidFill>
                            <a:srgbClr val="142B33"/>
                          </a:solidFill>
                          <a:latin typeface="Calibri"/>
                        </a:rPr>
                        <a:t>AE + BC + DF</a:t>
                      </a:r>
                    </a:p>
                  </a:txBody>
                  <a:tcPr marL="73152" marR="73152" marT="27432" marB="27432" anchor="ctr">
                    <a:solidFill>
                      <a:srgbClr val="F4F8F9"/>
                    </a:solidFill>
                  </a:tcPr>
                </a:tc>
                <a:tc>
                  <a:txBody>
                    <a:bodyPr/>
                    <a:lstStyle/>
                    <a:p>
                      <a:pPr algn="ctr"/>
                      <a:r>
                        <a:rPr sz="1200" b="0">
                          <a:solidFill>
                            <a:srgbClr val="142B33"/>
                          </a:solidFill>
                          <a:latin typeface="Calibri"/>
                        </a:rPr>
                        <a:t>−1.875</a:t>
                      </a:r>
                    </a:p>
                  </a:txBody>
                  <a:tcPr marL="73152" marR="73152" marT="27432" marB="27432" anchor="ctr">
                    <a:solidFill>
                      <a:srgbClr val="F4F8F9"/>
                    </a:solidFill>
                  </a:tcPr>
                </a:tc>
                <a:tc>
                  <a:txBody>
                    <a:bodyPr/>
                    <a:lstStyle/>
                    <a:p>
                      <a:pPr algn="ctr"/>
                      <a:r>
                        <a:rPr sz="1200" b="0">
                          <a:solidFill>
                            <a:srgbClr val="142B33"/>
                          </a:solidFill>
                          <a:latin typeface="Calibri"/>
                        </a:rPr>
                        <a:t>14.06</a:t>
                      </a:r>
                    </a:p>
                  </a:txBody>
                  <a:tcPr marL="73152" marR="73152" marT="27432" marB="27432" anchor="ctr">
                    <a:solidFill>
                      <a:srgbClr val="F4F8F9"/>
                    </a:solidFill>
                  </a:tcPr>
                </a:tc>
              </a:tr>
              <a:tr h="231648">
                <a:tc>
                  <a:txBody>
                    <a:bodyPr/>
                    <a:lstStyle/>
                    <a:p>
                      <a:pPr algn="ctr"/>
                      <a:r>
                        <a:rPr sz="1200" b="0">
                          <a:solidFill>
                            <a:srgbClr val="142B33"/>
                          </a:solidFill>
                          <a:latin typeface="Calibri"/>
                        </a:rPr>
                        <a:t>AF + DE</a:t>
                      </a:r>
                    </a:p>
                  </a:txBody>
                  <a:tcPr marL="73152" marR="73152" marT="27432" marB="27432" anchor="ctr">
                    <a:solidFill>
                      <a:srgbClr val="FFFFFF"/>
                    </a:solidFill>
                  </a:tcPr>
                </a:tc>
                <a:tc>
                  <a:txBody>
                    <a:bodyPr/>
                    <a:lstStyle/>
                    <a:p>
                      <a:pPr algn="ctr"/>
                      <a:r>
                        <a:rPr sz="1200" b="0">
                          <a:solidFill>
                            <a:srgbClr val="142B33"/>
                          </a:solidFill>
                          <a:latin typeface="Calibri"/>
                        </a:rPr>
                        <a:t>0.625</a:t>
                      </a:r>
                    </a:p>
                  </a:txBody>
                  <a:tcPr marL="73152" marR="73152" marT="27432" marB="27432" anchor="ctr">
                    <a:solidFill>
                      <a:srgbClr val="FFFFFF"/>
                    </a:solidFill>
                  </a:tcPr>
                </a:tc>
                <a:tc>
                  <a:txBody>
                    <a:bodyPr/>
                    <a:lstStyle/>
                    <a:p>
                      <a:pPr algn="ctr"/>
                      <a:r>
                        <a:rPr sz="1200" b="0">
                          <a:solidFill>
                            <a:srgbClr val="142B33"/>
                          </a:solidFill>
                          <a:latin typeface="Calibri"/>
                        </a:rPr>
                        <a:t>1.56</a:t>
                      </a:r>
                    </a:p>
                  </a:txBody>
                  <a:tcPr marL="73152" marR="73152" marT="27432" marB="27432" anchor="ctr">
                    <a:solidFill>
                      <a:srgbClr val="FFFFFF"/>
                    </a:solidFill>
                  </a:tcPr>
                </a:tc>
              </a:tr>
              <a:tr h="231648">
                <a:tc>
                  <a:txBody>
                    <a:bodyPr/>
                    <a:lstStyle/>
                    <a:p>
                      <a:pPr algn="ctr"/>
                      <a:r>
                        <a:rPr sz="1200" b="0">
                          <a:solidFill>
                            <a:srgbClr val="142B33"/>
                          </a:solidFill>
                          <a:latin typeface="Calibri"/>
                        </a:rPr>
                        <a:t>BD + CF</a:t>
                      </a:r>
                    </a:p>
                  </a:txBody>
                  <a:tcPr marL="73152" marR="73152" marT="27432" marB="27432" anchor="ctr">
                    <a:solidFill>
                      <a:srgbClr val="F4F8F9"/>
                    </a:solidFill>
                  </a:tcPr>
                </a:tc>
                <a:tc>
                  <a:txBody>
                    <a:bodyPr/>
                    <a:lstStyle/>
                    <a:p>
                      <a:pPr algn="ctr"/>
                      <a:r>
                        <a:rPr sz="1200" b="0">
                          <a:solidFill>
                            <a:srgbClr val="142B33"/>
                          </a:solidFill>
                          <a:latin typeface="Calibri"/>
                        </a:rPr>
                        <a:t>−0.125</a:t>
                      </a:r>
                    </a:p>
                  </a:txBody>
                  <a:tcPr marL="73152" marR="73152" marT="27432" marB="27432" anchor="ctr">
                    <a:solidFill>
                      <a:srgbClr val="F4F8F9"/>
                    </a:solidFill>
                  </a:tcPr>
                </a:tc>
                <a:tc>
                  <a:txBody>
                    <a:bodyPr/>
                    <a:lstStyle/>
                    <a:p>
                      <a:pPr algn="ctr"/>
                      <a:r>
                        <a:rPr sz="1200" b="0">
                          <a:solidFill>
                            <a:srgbClr val="142B33"/>
                          </a:solidFill>
                          <a:latin typeface="Calibri"/>
                        </a:rPr>
                        <a:t>0.06</a:t>
                      </a:r>
                    </a:p>
                  </a:txBody>
                  <a:tcPr marL="73152" marR="73152" marT="27432" marB="27432" anchor="ctr">
                    <a:solidFill>
                      <a:srgbClr val="F4F8F9"/>
                    </a:solidFill>
                  </a:tcPr>
                </a:tc>
              </a:tr>
              <a:tr h="231648">
                <a:tc>
                  <a:txBody>
                    <a:bodyPr/>
                    <a:lstStyle/>
                    <a:p>
                      <a:pPr algn="ctr"/>
                      <a:r>
                        <a:rPr sz="1200" b="0">
                          <a:solidFill>
                            <a:srgbClr val="142B33"/>
                          </a:solidFill>
                          <a:latin typeface="Calibri"/>
                        </a:rPr>
                        <a:t>BF + CD</a:t>
                      </a:r>
                    </a:p>
                  </a:txBody>
                  <a:tcPr marL="73152" marR="73152" marT="27432" marB="27432" anchor="ctr">
                    <a:solidFill>
                      <a:srgbClr val="FFFFFF"/>
                    </a:solidFill>
                  </a:tcPr>
                </a:tc>
                <a:tc>
                  <a:txBody>
                    <a:bodyPr/>
                    <a:lstStyle/>
                    <a:p>
                      <a:pPr algn="ctr"/>
                      <a:r>
                        <a:rPr sz="1200" b="0">
                          <a:solidFill>
                            <a:srgbClr val="142B33"/>
                          </a:solidFill>
                          <a:latin typeface="Calibri"/>
                        </a:rPr>
                        <a:t>−0.125</a:t>
                      </a:r>
                    </a:p>
                  </a:txBody>
                  <a:tcPr marL="73152" marR="73152" marT="27432" marB="27432" anchor="ctr">
                    <a:solidFill>
                      <a:srgbClr val="FFFFFF"/>
                    </a:solidFill>
                  </a:tcPr>
                </a:tc>
                <a:tc>
                  <a:txBody>
                    <a:bodyPr/>
                    <a:lstStyle/>
                    <a:p>
                      <a:pPr algn="ctr"/>
                      <a:r>
                        <a:rPr sz="1200" b="0">
                          <a:solidFill>
                            <a:srgbClr val="142B33"/>
                          </a:solidFill>
                          <a:latin typeface="Calibri"/>
                        </a:rPr>
                        <a:t>0.06</a:t>
                      </a:r>
                    </a:p>
                  </a:txBody>
                  <a:tcPr marL="73152" marR="73152" marT="27432" marB="27432" anchor="ctr">
                    <a:solidFill>
                      <a:srgbClr val="FFFFFF"/>
                    </a:solidFill>
                  </a:tcPr>
                </a:tc>
              </a:tr>
              <a:tr h="231648">
                <a:tc>
                  <a:txBody>
                    <a:bodyPr/>
                    <a:lstStyle/>
                    <a:p>
                      <a:pPr algn="ctr"/>
                      <a:r>
                        <a:rPr sz="1200" b="0">
                          <a:solidFill>
                            <a:srgbClr val="142B33"/>
                          </a:solidFill>
                          <a:latin typeface="Calibri"/>
                        </a:rPr>
                        <a:t>ABD (+ alias)</a:t>
                      </a:r>
                    </a:p>
                  </a:txBody>
                  <a:tcPr marL="73152" marR="73152" marT="27432" marB="27432" anchor="ctr">
                    <a:solidFill>
                      <a:srgbClr val="F4F8F9"/>
                    </a:solidFill>
                  </a:tcPr>
                </a:tc>
                <a:tc>
                  <a:txBody>
                    <a:bodyPr/>
                    <a:lstStyle/>
                    <a:p>
                      <a:pPr algn="ctr"/>
                      <a:r>
                        <a:rPr sz="1200" b="0">
                          <a:solidFill>
                            <a:srgbClr val="142B33"/>
                          </a:solidFill>
                          <a:latin typeface="Calibri"/>
                        </a:rPr>
                        <a:t>0.125</a:t>
                      </a:r>
                    </a:p>
                  </a:txBody>
                  <a:tcPr marL="73152" marR="73152" marT="27432" marB="27432" anchor="ctr">
                    <a:solidFill>
                      <a:srgbClr val="F4F8F9"/>
                    </a:solidFill>
                  </a:tcPr>
                </a:tc>
                <a:tc>
                  <a:txBody>
                    <a:bodyPr/>
                    <a:lstStyle/>
                    <a:p>
                      <a:pPr algn="ctr"/>
                      <a:r>
                        <a:rPr sz="1200" b="0">
                          <a:solidFill>
                            <a:srgbClr val="142B33"/>
                          </a:solidFill>
                          <a:latin typeface="Calibri"/>
                        </a:rPr>
                        <a:t>0.06</a:t>
                      </a:r>
                    </a:p>
                  </a:txBody>
                  <a:tcPr marL="73152" marR="73152" marT="27432" marB="27432" anchor="ctr">
                    <a:solidFill>
                      <a:srgbClr val="F4F8F9"/>
                    </a:solidFill>
                  </a:tcPr>
                </a:tc>
              </a:tr>
              <a:tr h="231648">
                <a:tc>
                  <a:txBody>
                    <a:bodyPr/>
                    <a:lstStyle/>
                    <a:p>
                      <a:pPr algn="ctr"/>
                      <a:r>
                        <a:rPr sz="1200" b="0">
                          <a:solidFill>
                            <a:srgbClr val="142B33"/>
                          </a:solidFill>
                          <a:latin typeface="Calibri"/>
                        </a:rPr>
                        <a:t>ABF (+ alias)</a:t>
                      </a:r>
                    </a:p>
                  </a:txBody>
                  <a:tcPr marL="73152" marR="73152" marT="27432" marB="27432" anchor="ctr">
                    <a:solidFill>
                      <a:srgbClr val="FFFFFF"/>
                    </a:solidFill>
                  </a:tcPr>
                </a:tc>
                <a:tc>
                  <a:txBody>
                    <a:bodyPr/>
                    <a:lstStyle/>
                    <a:p>
                      <a:pPr algn="ctr"/>
                      <a:r>
                        <a:rPr sz="1200" b="0">
                          <a:solidFill>
                            <a:srgbClr val="142B33"/>
                          </a:solidFill>
                          <a:latin typeface="Calibri"/>
                        </a:rPr>
                        <a:t>−4.875</a:t>
                      </a:r>
                    </a:p>
                  </a:txBody>
                  <a:tcPr marL="73152" marR="73152" marT="27432" marB="27432" anchor="ctr">
                    <a:solidFill>
                      <a:srgbClr val="FFFFFF"/>
                    </a:solidFill>
                  </a:tcPr>
                </a:tc>
                <a:tc>
                  <a:txBody>
                    <a:bodyPr/>
                    <a:lstStyle/>
                    <a:p>
                      <a:pPr algn="ctr"/>
                      <a:r>
                        <a:rPr sz="1200" b="0">
                          <a:solidFill>
                            <a:srgbClr val="142B33"/>
                          </a:solidFill>
                          <a:latin typeface="Calibri"/>
                        </a:rPr>
                        <a:t>95.06</a:t>
                      </a:r>
                    </a:p>
                  </a:txBody>
                  <a:tcPr marL="73152" marR="73152" marT="27432" marB="27432" anchor="ctr">
                    <a:solidFill>
                      <a:srgbClr val="FFFFFF"/>
                    </a:solidFill>
                  </a:tcPr>
                </a:tc>
              </a:tr>
            </a:tbl>
          </a:graphicData>
        </a:graphic>
      </p:graphicFrame>
      <p:sp>
        <p:nvSpPr>
          <p:cNvPr id="4" name="Rounded Rectangle 3"/>
          <p:cNvSpPr/>
          <p:nvPr/>
        </p:nvSpPr>
        <p:spPr>
          <a:xfrm>
            <a:off x="548640" y="5324856"/>
            <a:ext cx="4486832" cy="677164"/>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300" b="0">
                <a:solidFill>
                  <a:srgbClr val="142B33"/>
                </a:solidFill>
                <a:latin typeface="Calibri"/>
              </a:rPr>
              <a:t>A, B y AB explican </a:t>
            </a:r>
            <a:r>
              <a:rPr sz="1300" b="1">
                <a:solidFill>
                  <a:srgbClr val="142B33"/>
                </a:solidFill>
                <a:latin typeface="Calibri"/>
              </a:rPr>
              <a:t>6411 de 6659</a:t>
            </a:r>
            <a:r>
              <a:rPr sz="1300" b="0">
                <a:solidFill>
                  <a:srgbClr val="142B33"/>
                </a:solidFill>
                <a:latin typeface="Calibri"/>
              </a:rPr>
              <a:t> de la SS total. C (−0.875) es ruido</a:t>
            </a:r>
          </a:p>
        </p:txBody>
      </p:sp>
      <p:graphicFrame>
        <p:nvGraphicFramePr>
          <p:cNvPr id="5" name="Table 4"/>
          <p:cNvGraphicFramePr>
            <a:graphicFrameLocks noGrp="1"/>
          </p:cNvGraphicFramePr>
          <p:nvPr/>
        </p:nvGraphicFramePr>
        <p:xfrm>
          <a:off x="5446952" y="1417320"/>
          <a:ext cx="6196099" cy="2107692"/>
        </p:xfrm>
        <a:graphic>
          <a:graphicData uri="http://schemas.openxmlformats.org/drawingml/2006/table">
            <a:tbl>
              <a:tblPr firstRow="0" bandRow="0">
                <a:tableStyleId>{5C22544A-7EE6-4342-B048-85BDC9FD1C3A}</a:tableStyleId>
              </a:tblPr>
              <a:tblGrid>
                <a:gridCol w="898854"/>
                <a:gridCol w="1138548"/>
                <a:gridCol w="611220"/>
                <a:gridCol w="1138548"/>
                <a:gridCol w="1018701"/>
                <a:gridCol w="1390228"/>
              </a:tblGrid>
              <a:tr h="351282">
                <a:tc>
                  <a:txBody>
                    <a:bodyPr/>
                    <a:lstStyle/>
                    <a:p>
                      <a:pPr algn="l"/>
                      <a:r>
                        <a:rPr sz="1500" b="1">
                          <a:solidFill>
                            <a:srgbClr val="FFFFFF"/>
                          </a:solidFill>
                          <a:latin typeface="Calibri"/>
                        </a:rPr>
                        <a:t>SV</a:t>
                      </a:r>
                    </a:p>
                  </a:txBody>
                  <a:tcPr marL="73152" marR="73152" marT="27432" marB="27432" anchor="ctr">
                    <a:solidFill>
                      <a:srgbClr val="0F4C5C"/>
                    </a:solidFill>
                  </a:tcPr>
                </a:tc>
                <a:tc>
                  <a:txBody>
                    <a:bodyPr/>
                    <a:lstStyle/>
                    <a:p>
                      <a:pPr algn="ctr"/>
                      <a:r>
                        <a:rPr sz="1500" b="1">
                          <a:solidFill>
                            <a:srgbClr val="FFFFFF"/>
                          </a:solidFill>
                          <a:latin typeface="Calibri"/>
                        </a:rPr>
                        <a:t>SS</a:t>
                      </a:r>
                    </a:p>
                  </a:txBody>
                  <a:tcPr marL="73152" marR="73152" marT="27432" marB="27432" anchor="ctr">
                    <a:solidFill>
                      <a:srgbClr val="0F4C5C"/>
                    </a:solidFill>
                  </a:tcPr>
                </a:tc>
                <a:tc>
                  <a:txBody>
                    <a:bodyPr/>
                    <a:lstStyle/>
                    <a:p>
                      <a:pPr algn="ctr"/>
                      <a:r>
                        <a:rPr sz="1500" b="1">
                          <a:solidFill>
                            <a:srgbClr val="FFFFFF"/>
                          </a:solidFill>
                          <a:latin typeface="Calibri"/>
                        </a:rPr>
                        <a:t>DF</a:t>
                      </a:r>
                    </a:p>
                  </a:txBody>
                  <a:tcPr marL="73152" marR="73152" marT="27432" marB="27432" anchor="ctr">
                    <a:solidFill>
                      <a:srgbClr val="0F4C5C"/>
                    </a:solidFill>
                  </a:tcPr>
                </a:tc>
                <a:tc>
                  <a:txBody>
                    <a:bodyPr/>
                    <a:lstStyle/>
                    <a:p>
                      <a:pPr algn="ctr"/>
                      <a:r>
                        <a:rPr sz="1500" b="1">
                          <a:solidFill>
                            <a:srgbClr val="FFFFFF"/>
                          </a:solidFill>
                          <a:latin typeface="Calibri"/>
                        </a:rPr>
                        <a:t>MS</a:t>
                      </a:r>
                    </a:p>
                  </a:txBody>
                  <a:tcPr marL="73152" marR="73152" marT="27432" marB="27432" anchor="ctr">
                    <a:solidFill>
                      <a:srgbClr val="0F4C5C"/>
                    </a:solidFill>
                  </a:tcPr>
                </a:tc>
                <a:tc>
                  <a:txBody>
                    <a:bodyPr/>
                    <a:lstStyle/>
                    <a:p>
                      <a:pPr algn="ctr"/>
                      <a:r>
                        <a:rPr sz="1500" b="1">
                          <a:solidFill>
                            <a:srgbClr val="FFFFFF"/>
                          </a:solidFill>
                          <a:latin typeface="Calibri"/>
                        </a:rPr>
                        <a:t>F</a:t>
                      </a:r>
                      <a:r>
                        <a:rPr sz="1500" b="1" baseline="-25000">
                          <a:solidFill>
                            <a:srgbClr val="FFFFFF"/>
                          </a:solidFill>
                          <a:latin typeface="Calibri"/>
                        </a:rPr>
                        <a:t>0</a:t>
                      </a:r>
                    </a:p>
                  </a:txBody>
                  <a:tcPr marL="73152" marR="73152" marT="27432" marB="27432" anchor="ctr">
                    <a:solidFill>
                      <a:srgbClr val="0F4C5C"/>
                    </a:solidFill>
                  </a:tcPr>
                </a:tc>
                <a:tc>
                  <a:txBody>
                    <a:bodyPr/>
                    <a:lstStyle/>
                    <a:p>
                      <a:pPr algn="ctr"/>
                      <a:r>
                        <a:rPr sz="1500" b="1">
                          <a:solidFill>
                            <a:srgbClr val="FFFFFF"/>
                          </a:solidFill>
                          <a:latin typeface="Calibri"/>
                        </a:rPr>
                        <a:t>P-Value</a:t>
                      </a:r>
                    </a:p>
                  </a:txBody>
                  <a:tcPr marL="73152" marR="73152" marT="27432" marB="27432" anchor="ctr">
                    <a:solidFill>
                      <a:srgbClr val="0F4C5C"/>
                    </a:solidFill>
                  </a:tcPr>
                </a:tc>
              </a:tr>
              <a:tr h="351282">
                <a:tc>
                  <a:txBody>
                    <a:bodyPr/>
                    <a:lstStyle/>
                    <a:p>
                      <a:pPr algn="l"/>
                      <a:r>
                        <a:rPr sz="1500" b="0">
                          <a:solidFill>
                            <a:srgbClr val="142B33"/>
                          </a:solidFill>
                          <a:latin typeface="Calibri"/>
                        </a:rPr>
                        <a:t>A</a:t>
                      </a:r>
                    </a:p>
                  </a:txBody>
                  <a:tcPr marL="73152" marR="73152" marT="27432" marB="27432" anchor="ctr">
                    <a:solidFill>
                      <a:srgbClr val="FFFFFF"/>
                    </a:solidFill>
                  </a:tcPr>
                </a:tc>
                <a:tc>
                  <a:txBody>
                    <a:bodyPr/>
                    <a:lstStyle/>
                    <a:p>
                      <a:pPr algn="ctr"/>
                      <a:r>
                        <a:rPr sz="1500" b="0">
                          <a:solidFill>
                            <a:srgbClr val="142B33"/>
                          </a:solidFill>
                          <a:latin typeface="Calibri"/>
                        </a:rPr>
                        <a:t>770.06</a:t>
                      </a:r>
                    </a:p>
                  </a:txBody>
                  <a:tcPr marL="73152" marR="73152" marT="27432" marB="27432" anchor="ctr">
                    <a:solidFill>
                      <a:srgbClr val="FFFFFF"/>
                    </a:solidFill>
                  </a:tcPr>
                </a:tc>
                <a:tc>
                  <a:txBody>
                    <a:bodyPr/>
                    <a:lstStyle/>
                    <a:p>
                      <a:pPr algn="ctr"/>
                      <a:r>
                        <a:rPr sz="1500" b="0">
                          <a:solidFill>
                            <a:srgbClr val="142B33"/>
                          </a:solidFill>
                          <a:latin typeface="Calibri"/>
                        </a:rPr>
                        <a:t>1</a:t>
                      </a:r>
                    </a:p>
                  </a:txBody>
                  <a:tcPr marL="73152" marR="73152" marT="27432" marB="27432" anchor="ctr">
                    <a:solidFill>
                      <a:srgbClr val="FFFFFF"/>
                    </a:solidFill>
                  </a:tcPr>
                </a:tc>
                <a:tc>
                  <a:txBody>
                    <a:bodyPr/>
                    <a:lstStyle/>
                    <a:p>
                      <a:pPr algn="ctr"/>
                      <a:r>
                        <a:rPr sz="1500" b="0">
                          <a:solidFill>
                            <a:srgbClr val="142B33"/>
                          </a:solidFill>
                          <a:latin typeface="Calibri"/>
                        </a:rPr>
                        <a:t>770.06</a:t>
                      </a:r>
                    </a:p>
                  </a:txBody>
                  <a:tcPr marL="73152" marR="73152" marT="27432" marB="27432" anchor="ctr">
                    <a:solidFill>
                      <a:srgbClr val="FFFFFF"/>
                    </a:solidFill>
                  </a:tcPr>
                </a:tc>
                <a:tc>
                  <a:txBody>
                    <a:bodyPr/>
                    <a:lstStyle/>
                    <a:p>
                      <a:pPr algn="ctr"/>
                      <a:r>
                        <a:rPr sz="1500" b="0">
                          <a:solidFill>
                            <a:srgbClr val="142B33"/>
                          </a:solidFill>
                          <a:latin typeface="Calibri"/>
                        </a:rPr>
                        <a:t>37.15</a:t>
                      </a:r>
                    </a:p>
                  </a:txBody>
                  <a:tcPr marL="73152" marR="73152" marT="27432" marB="27432" anchor="ctr">
                    <a:solidFill>
                      <a:srgbClr val="FFFFFF"/>
                    </a:solidFill>
                  </a:tcPr>
                </a:tc>
                <a:tc>
                  <a:txBody>
                    <a:bodyPr/>
                    <a:lstStyle/>
                    <a:p>
                      <a:pPr algn="ctr"/>
                      <a:r>
                        <a:rPr sz="1500" b="0">
                          <a:solidFill>
                            <a:srgbClr val="142B33"/>
                          </a:solidFill>
                          <a:latin typeface="Calibri"/>
                        </a:rPr>
                        <a:t>&lt;0.0001</a:t>
                      </a:r>
                    </a:p>
                  </a:txBody>
                  <a:tcPr marL="73152" marR="73152" marT="27432" marB="27432" anchor="ctr">
                    <a:solidFill>
                      <a:srgbClr val="FFFFFF"/>
                    </a:solidFill>
                  </a:tcPr>
                </a:tc>
              </a:tr>
              <a:tr h="351282">
                <a:tc>
                  <a:txBody>
                    <a:bodyPr/>
                    <a:lstStyle/>
                    <a:p>
                      <a:pPr algn="l"/>
                      <a:r>
                        <a:rPr sz="1500" b="0">
                          <a:solidFill>
                            <a:srgbClr val="142B33"/>
                          </a:solidFill>
                          <a:latin typeface="Calibri"/>
                        </a:rPr>
                        <a:t>B</a:t>
                      </a:r>
                    </a:p>
                  </a:txBody>
                  <a:tcPr marL="73152" marR="73152" marT="27432" marB="27432" anchor="ctr">
                    <a:solidFill>
                      <a:srgbClr val="F4F8F9"/>
                    </a:solidFill>
                  </a:tcPr>
                </a:tc>
                <a:tc>
                  <a:txBody>
                    <a:bodyPr/>
                    <a:lstStyle/>
                    <a:p>
                      <a:pPr algn="ctr"/>
                      <a:r>
                        <a:rPr sz="1500" b="0">
                          <a:solidFill>
                            <a:srgbClr val="142B33"/>
                          </a:solidFill>
                          <a:latin typeface="Calibri"/>
                        </a:rPr>
                        <a:t>5076.56</a:t>
                      </a:r>
                    </a:p>
                  </a:txBody>
                  <a:tcPr marL="73152" marR="73152" marT="27432" marB="27432" anchor="ctr">
                    <a:solidFill>
                      <a:srgbClr val="F4F8F9"/>
                    </a:solidFill>
                  </a:tcPr>
                </a:tc>
                <a:tc>
                  <a:txBody>
                    <a:bodyPr/>
                    <a:lstStyle/>
                    <a:p>
                      <a:pPr algn="ctr"/>
                      <a:r>
                        <a:rPr sz="1500" b="0">
                          <a:solidFill>
                            <a:srgbClr val="142B33"/>
                          </a:solidFill>
                          <a:latin typeface="Calibri"/>
                        </a:rPr>
                        <a:t>1</a:t>
                      </a:r>
                    </a:p>
                  </a:txBody>
                  <a:tcPr marL="73152" marR="73152" marT="27432" marB="27432" anchor="ctr">
                    <a:solidFill>
                      <a:srgbClr val="F4F8F9"/>
                    </a:solidFill>
                  </a:tcPr>
                </a:tc>
                <a:tc>
                  <a:txBody>
                    <a:bodyPr/>
                    <a:lstStyle/>
                    <a:p>
                      <a:pPr algn="ctr"/>
                      <a:r>
                        <a:rPr sz="1500" b="0">
                          <a:solidFill>
                            <a:srgbClr val="142B33"/>
                          </a:solidFill>
                          <a:latin typeface="Calibri"/>
                        </a:rPr>
                        <a:t>5076.56</a:t>
                      </a:r>
                    </a:p>
                  </a:txBody>
                  <a:tcPr marL="73152" marR="73152" marT="27432" marB="27432" anchor="ctr">
                    <a:solidFill>
                      <a:srgbClr val="F4F8F9"/>
                    </a:solidFill>
                  </a:tcPr>
                </a:tc>
                <a:tc>
                  <a:txBody>
                    <a:bodyPr/>
                    <a:lstStyle/>
                    <a:p>
                      <a:pPr algn="ctr"/>
                      <a:r>
                        <a:rPr sz="1500" b="0">
                          <a:solidFill>
                            <a:srgbClr val="142B33"/>
                          </a:solidFill>
                          <a:latin typeface="Calibri"/>
                        </a:rPr>
                        <a:t>244.90</a:t>
                      </a:r>
                    </a:p>
                  </a:txBody>
                  <a:tcPr marL="73152" marR="73152" marT="27432" marB="27432" anchor="ctr">
                    <a:solidFill>
                      <a:srgbClr val="F4F8F9"/>
                    </a:solidFill>
                  </a:tcPr>
                </a:tc>
                <a:tc>
                  <a:txBody>
                    <a:bodyPr/>
                    <a:lstStyle/>
                    <a:p>
                      <a:pPr algn="ctr"/>
                      <a:r>
                        <a:rPr sz="1500" b="0">
                          <a:solidFill>
                            <a:srgbClr val="142B33"/>
                          </a:solidFill>
                          <a:latin typeface="Calibri"/>
                        </a:rPr>
                        <a:t>&lt;0.0001</a:t>
                      </a:r>
                    </a:p>
                  </a:txBody>
                  <a:tcPr marL="73152" marR="73152" marT="27432" marB="27432" anchor="ctr">
                    <a:solidFill>
                      <a:srgbClr val="F4F8F9"/>
                    </a:solidFill>
                  </a:tcPr>
                </a:tc>
              </a:tr>
              <a:tr h="351282">
                <a:tc>
                  <a:txBody>
                    <a:bodyPr/>
                    <a:lstStyle/>
                    <a:p>
                      <a:pPr algn="l"/>
                      <a:r>
                        <a:rPr sz="1500" b="0">
                          <a:solidFill>
                            <a:srgbClr val="142B33"/>
                          </a:solidFill>
                          <a:latin typeface="Calibri"/>
                        </a:rPr>
                        <a:t>AB</a:t>
                      </a:r>
                    </a:p>
                  </a:txBody>
                  <a:tcPr marL="73152" marR="73152" marT="27432" marB="27432" anchor="ctr">
                    <a:solidFill>
                      <a:srgbClr val="FFFFFF"/>
                    </a:solidFill>
                  </a:tcPr>
                </a:tc>
                <a:tc>
                  <a:txBody>
                    <a:bodyPr/>
                    <a:lstStyle/>
                    <a:p>
                      <a:pPr algn="ctr"/>
                      <a:r>
                        <a:rPr sz="1500" b="0">
                          <a:solidFill>
                            <a:srgbClr val="142B33"/>
                          </a:solidFill>
                          <a:latin typeface="Calibri"/>
                        </a:rPr>
                        <a:t>564.06</a:t>
                      </a:r>
                    </a:p>
                  </a:txBody>
                  <a:tcPr marL="73152" marR="73152" marT="27432" marB="27432" anchor="ctr">
                    <a:solidFill>
                      <a:srgbClr val="FFFFFF"/>
                    </a:solidFill>
                  </a:tcPr>
                </a:tc>
                <a:tc>
                  <a:txBody>
                    <a:bodyPr/>
                    <a:lstStyle/>
                    <a:p>
                      <a:pPr algn="ctr"/>
                      <a:r>
                        <a:rPr sz="1500" b="0">
                          <a:solidFill>
                            <a:srgbClr val="142B33"/>
                          </a:solidFill>
                          <a:latin typeface="Calibri"/>
                        </a:rPr>
                        <a:t>1</a:t>
                      </a:r>
                    </a:p>
                  </a:txBody>
                  <a:tcPr marL="73152" marR="73152" marT="27432" marB="27432" anchor="ctr">
                    <a:solidFill>
                      <a:srgbClr val="FFFFFF"/>
                    </a:solidFill>
                  </a:tcPr>
                </a:tc>
                <a:tc>
                  <a:txBody>
                    <a:bodyPr/>
                    <a:lstStyle/>
                    <a:p>
                      <a:pPr algn="ctr"/>
                      <a:r>
                        <a:rPr sz="1500" b="0">
                          <a:solidFill>
                            <a:srgbClr val="142B33"/>
                          </a:solidFill>
                          <a:latin typeface="Calibri"/>
                        </a:rPr>
                        <a:t>564.06</a:t>
                      </a:r>
                    </a:p>
                  </a:txBody>
                  <a:tcPr marL="73152" marR="73152" marT="27432" marB="27432" anchor="ctr">
                    <a:solidFill>
                      <a:srgbClr val="FFFFFF"/>
                    </a:solidFill>
                  </a:tcPr>
                </a:tc>
                <a:tc>
                  <a:txBody>
                    <a:bodyPr/>
                    <a:lstStyle/>
                    <a:p>
                      <a:pPr algn="ctr"/>
                      <a:r>
                        <a:rPr sz="1500" b="0">
                          <a:solidFill>
                            <a:srgbClr val="142B33"/>
                          </a:solidFill>
                          <a:latin typeface="Calibri"/>
                        </a:rPr>
                        <a:t>27.21</a:t>
                      </a:r>
                    </a:p>
                  </a:txBody>
                  <a:tcPr marL="73152" marR="73152" marT="27432" marB="27432" anchor="ctr">
                    <a:solidFill>
                      <a:srgbClr val="FFFFFF"/>
                    </a:solidFill>
                  </a:tcPr>
                </a:tc>
                <a:tc>
                  <a:txBody>
                    <a:bodyPr/>
                    <a:lstStyle/>
                    <a:p>
                      <a:pPr algn="ctr"/>
                      <a:r>
                        <a:rPr sz="1500" b="0">
                          <a:solidFill>
                            <a:srgbClr val="142B33"/>
                          </a:solidFill>
                          <a:latin typeface="Calibri"/>
                        </a:rPr>
                        <a:t>0.0002</a:t>
                      </a:r>
                    </a:p>
                  </a:txBody>
                  <a:tcPr marL="73152" marR="73152" marT="27432" marB="27432" anchor="ctr">
                    <a:solidFill>
                      <a:srgbClr val="FFFFFF"/>
                    </a:solidFill>
                  </a:tcPr>
                </a:tc>
              </a:tr>
              <a:tr h="351282">
                <a:tc>
                  <a:txBody>
                    <a:bodyPr/>
                    <a:lstStyle/>
                    <a:p>
                      <a:pPr algn="l"/>
                      <a:r>
                        <a:rPr sz="1500" b="0">
                          <a:solidFill>
                            <a:srgbClr val="142B33"/>
                          </a:solidFill>
                          <a:latin typeface="Calibri"/>
                        </a:rPr>
                        <a:t>Error</a:t>
                      </a:r>
                    </a:p>
                  </a:txBody>
                  <a:tcPr marL="73152" marR="73152" marT="27432" marB="27432" anchor="ctr">
                    <a:solidFill>
                      <a:srgbClr val="F4F8F9"/>
                    </a:solidFill>
                  </a:tcPr>
                </a:tc>
                <a:tc>
                  <a:txBody>
                    <a:bodyPr/>
                    <a:lstStyle/>
                    <a:p>
                      <a:pPr algn="ctr"/>
                      <a:r>
                        <a:rPr sz="1500" b="0">
                          <a:solidFill>
                            <a:srgbClr val="142B33"/>
                          </a:solidFill>
                          <a:latin typeface="Calibri"/>
                        </a:rPr>
                        <a:t>248.75</a:t>
                      </a:r>
                    </a:p>
                  </a:txBody>
                  <a:tcPr marL="73152" marR="73152" marT="27432" marB="27432" anchor="ctr">
                    <a:solidFill>
                      <a:srgbClr val="F4F8F9"/>
                    </a:solidFill>
                  </a:tcPr>
                </a:tc>
                <a:tc>
                  <a:txBody>
                    <a:bodyPr/>
                    <a:lstStyle/>
                    <a:p>
                      <a:pPr algn="ctr"/>
                      <a:r>
                        <a:rPr sz="1500" b="0">
                          <a:solidFill>
                            <a:srgbClr val="142B33"/>
                          </a:solidFill>
                          <a:latin typeface="Calibri"/>
                        </a:rPr>
                        <a:t>12</a:t>
                      </a:r>
                    </a:p>
                  </a:txBody>
                  <a:tcPr marL="73152" marR="73152" marT="27432" marB="27432" anchor="ctr">
                    <a:solidFill>
                      <a:srgbClr val="F4F8F9"/>
                    </a:solidFill>
                  </a:tcPr>
                </a:tc>
                <a:tc>
                  <a:txBody>
                    <a:bodyPr/>
                    <a:lstStyle/>
                    <a:p>
                      <a:pPr algn="ctr"/>
                      <a:r>
                        <a:rPr sz="1500" b="0">
                          <a:solidFill>
                            <a:srgbClr val="142B33"/>
                          </a:solidFill>
                          <a:latin typeface="Calibri"/>
                        </a:rPr>
                        <a:t>20.73</a:t>
                      </a:r>
                    </a:p>
                  </a:txBody>
                  <a:tcPr marL="73152" marR="73152" marT="27432" marB="27432" anchor="ctr">
                    <a:solidFill>
                      <a:srgbClr val="F4F8F9"/>
                    </a:solidFill>
                  </a:tcPr>
                </a:tc>
                <a:tc>
                  <a:txBody>
                    <a:bodyPr/>
                    <a:lstStyle/>
                    <a:p>
                      <a:pPr algn="ctr"/>
                    </a:p>
                  </a:txBody>
                  <a:tcPr marL="73152" marR="73152" marT="27432" marB="27432" anchor="ctr">
                    <a:solidFill>
                      <a:srgbClr val="F4F8F9"/>
                    </a:solidFill>
                  </a:tcPr>
                </a:tc>
                <a:tc>
                  <a:txBody>
                    <a:bodyPr/>
                    <a:lstStyle/>
                    <a:p>
                      <a:pPr algn="ctr"/>
                    </a:p>
                  </a:txBody>
                  <a:tcPr marL="73152" marR="73152" marT="27432" marB="27432" anchor="ctr">
                    <a:solidFill>
                      <a:srgbClr val="F4F8F9"/>
                    </a:solidFill>
                  </a:tcPr>
                </a:tc>
              </a:tr>
              <a:tr h="351282">
                <a:tc>
                  <a:txBody>
                    <a:bodyPr/>
                    <a:lstStyle/>
                    <a:p>
                      <a:pPr algn="l"/>
                      <a:r>
                        <a:rPr sz="1500" b="0">
                          <a:solidFill>
                            <a:srgbClr val="142B33"/>
                          </a:solidFill>
                          <a:latin typeface="Calibri"/>
                        </a:rPr>
                        <a:t>Total</a:t>
                      </a:r>
                    </a:p>
                  </a:txBody>
                  <a:tcPr marL="73152" marR="73152" marT="27432" marB="27432" anchor="ctr">
                    <a:solidFill>
                      <a:srgbClr val="FFFFFF"/>
                    </a:solidFill>
                  </a:tcPr>
                </a:tc>
                <a:tc>
                  <a:txBody>
                    <a:bodyPr/>
                    <a:lstStyle/>
                    <a:p>
                      <a:pPr algn="ctr"/>
                      <a:r>
                        <a:rPr sz="1500" b="0">
                          <a:solidFill>
                            <a:srgbClr val="142B33"/>
                          </a:solidFill>
                          <a:latin typeface="Calibri"/>
                        </a:rPr>
                        <a:t>6659.44</a:t>
                      </a:r>
                    </a:p>
                  </a:txBody>
                  <a:tcPr marL="73152" marR="73152" marT="27432" marB="27432" anchor="ctr">
                    <a:solidFill>
                      <a:srgbClr val="FFFFFF"/>
                    </a:solidFill>
                  </a:tcPr>
                </a:tc>
                <a:tc>
                  <a:txBody>
                    <a:bodyPr/>
                    <a:lstStyle/>
                    <a:p>
                      <a:pPr algn="ctr"/>
                      <a:r>
                        <a:rPr sz="1500" b="0">
                          <a:solidFill>
                            <a:srgbClr val="142B33"/>
                          </a:solidFill>
                          <a:latin typeface="Calibri"/>
                        </a:rPr>
                        <a:t>15</a:t>
                      </a:r>
                    </a:p>
                  </a:txBody>
                  <a:tcPr marL="73152" marR="73152" marT="27432" marB="27432" anchor="ctr">
                    <a:solidFill>
                      <a:srgbClr val="FFFFFF"/>
                    </a:solidFill>
                  </a:tcPr>
                </a:tc>
                <a:tc>
                  <a:txBody>
                    <a:bodyPr/>
                    <a:lstStyle/>
                    <a:p>
                      <a:pPr algn="ctr"/>
                    </a:p>
                  </a:txBody>
                  <a:tcPr marL="73152" marR="73152" marT="27432" marB="27432" anchor="ctr">
                    <a:solidFill>
                      <a:srgbClr val="FFFFFF"/>
                    </a:solidFill>
                  </a:tcPr>
                </a:tc>
                <a:tc>
                  <a:txBody>
                    <a:bodyPr/>
                    <a:lstStyle/>
                    <a:p>
                      <a:pPr algn="ctr"/>
                    </a:p>
                  </a:txBody>
                  <a:tcPr marL="73152" marR="73152" marT="27432" marB="27432" anchor="ctr">
                    <a:solidFill>
                      <a:srgbClr val="FFFFFF"/>
                    </a:solidFill>
                  </a:tcPr>
                </a:tc>
                <a:tc>
                  <a:txBody>
                    <a:bodyPr/>
                    <a:lstStyle/>
                    <a:p>
                      <a:pPr algn="ctr"/>
                    </a:p>
                  </a:txBody>
                  <a:tcPr marL="73152" marR="73152" marT="27432" marB="27432" anchor="ctr">
                    <a:solidFill>
                      <a:srgbClr val="FFFFFF"/>
                    </a:solidFill>
                  </a:tcPr>
                </a:tc>
              </a:tr>
            </a:tbl>
          </a:graphicData>
        </a:graphic>
      </p:graphicFrame>
      <p:sp>
        <p:nvSpPr>
          <p:cNvPr id="6" name="Rounded Rectangle 5"/>
          <p:cNvSpPr/>
          <p:nvPr/>
        </p:nvSpPr>
        <p:spPr>
          <a:xfrm>
            <a:off x="5446952" y="3726180"/>
            <a:ext cx="6196102" cy="551972"/>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0">
                <a:solidFill>
                  <a:srgbClr val="0F4C5C"/>
                </a:solidFill>
                <a:latin typeface="Cambria Math"/>
              </a:rPr>
              <a:t>ŷ = 27.31 + 6.94 x</a:t>
            </a:r>
            <a:r>
              <a:rPr sz="1600" b="0" baseline="-25000">
                <a:solidFill>
                  <a:srgbClr val="0F4C5C"/>
                </a:solidFill>
                <a:latin typeface="Cambria Math"/>
              </a:rPr>
              <a:t>1</a:t>
            </a:r>
            <a:r>
              <a:rPr sz="1600" b="0">
                <a:solidFill>
                  <a:srgbClr val="0F4C5C"/>
                </a:solidFill>
                <a:latin typeface="Cambria Math"/>
              </a:rPr>
              <a:t> + 17.81 x</a:t>
            </a:r>
            <a:r>
              <a:rPr sz="1600" b="0" baseline="-25000">
                <a:solidFill>
                  <a:srgbClr val="0F4C5C"/>
                </a:solidFill>
                <a:latin typeface="Cambria Math"/>
              </a:rPr>
              <a:t>2</a:t>
            </a:r>
            <a:r>
              <a:rPr sz="1600" b="0">
                <a:solidFill>
                  <a:srgbClr val="0F4C5C"/>
                </a:solidFill>
                <a:latin typeface="Cambria Math"/>
              </a:rPr>
              <a:t> + 5.94 x</a:t>
            </a:r>
            <a:r>
              <a:rPr sz="1600" b="0" baseline="-25000">
                <a:solidFill>
                  <a:srgbClr val="0F4C5C"/>
                </a:solidFill>
                <a:latin typeface="Cambria Math"/>
              </a:rPr>
              <a:t>1</a:t>
            </a:r>
            <a:r>
              <a:rPr sz="1600" b="0">
                <a:solidFill>
                  <a:srgbClr val="0F4C5C"/>
                </a:solidFill>
                <a:latin typeface="Cambria Math"/>
              </a:rPr>
              <a:t>x</a:t>
            </a:r>
            <a:r>
              <a:rPr sz="1600" b="0" baseline="-25000">
                <a:solidFill>
                  <a:srgbClr val="0F4C5C"/>
                </a:solidFill>
                <a:latin typeface="Cambria Math"/>
              </a:rPr>
              <a:t>2</a:t>
            </a:r>
          </a:p>
        </p:txBody>
      </p:sp>
      <p:sp>
        <p:nvSpPr>
          <p:cNvPr id="7" name="TextBox 6"/>
          <p:cNvSpPr txBox="1"/>
          <p:nvPr/>
        </p:nvSpPr>
        <p:spPr>
          <a:xfrm>
            <a:off x="5446952" y="4479320"/>
            <a:ext cx="6196102" cy="1176528"/>
          </a:xfrm>
          <a:prstGeom prst="rect">
            <a:avLst/>
          </a:prstGeom>
          <a:noFill/>
        </p:spPr>
        <p:txBody>
          <a:bodyPr wrap="square" anchor="t" lIns="0" rIns="0" tIns="0" bIns="0">
            <a:spAutoFit/>
          </a:bodyPr>
          <a:lstStyle/>
          <a:p>
            <a:pPr marL="320040" indent="-320040">
              <a:spcAft>
                <a:spcPts val="600"/>
              </a:spcAft>
              <a:buClr>
                <a:srgbClr val="E36414"/>
              </a:buClr>
              <a:buFont typeface="Arial"/>
              <a:buChar char="•"/>
            </a:pPr>
            <a:r>
              <a:rPr sz="1500" b="0">
                <a:solidFill>
                  <a:srgbClr val="142B33"/>
                </a:solidFill>
                <a:latin typeface="Calibri"/>
              </a:rPr>
              <a:t>F</a:t>
            </a:r>
            <a:r>
              <a:rPr sz="1500" b="0" baseline="-25000">
                <a:solidFill>
                  <a:srgbClr val="142B33"/>
                </a:solidFill>
                <a:latin typeface="Calibri"/>
              </a:rPr>
              <a:t>0</a:t>
            </a:r>
            <a:r>
              <a:rPr sz="1500" b="0">
                <a:solidFill>
                  <a:srgbClr val="142B33"/>
                </a:solidFill>
                <a:latin typeface="Calibri"/>
              </a:rPr>
              <a:t> &gt; F</a:t>
            </a:r>
            <a:r>
              <a:rPr sz="1500" b="0" baseline="-25000">
                <a:solidFill>
                  <a:srgbClr val="142B33"/>
                </a:solidFill>
                <a:latin typeface="Calibri"/>
              </a:rPr>
              <a:t>0.05, 1, 12</a:t>
            </a:r>
            <a:r>
              <a:rPr sz="1500" b="0">
                <a:solidFill>
                  <a:srgbClr val="142B33"/>
                </a:solidFill>
                <a:latin typeface="Calibri"/>
              </a:rPr>
              <a:t> = 4.75 en los tres: </a:t>
            </a:r>
            <a:r>
              <a:rPr sz="1500" b="1">
                <a:solidFill>
                  <a:srgbClr val="142B33"/>
                </a:solidFill>
                <a:latin typeface="Calibri"/>
              </a:rPr>
              <a:t>se rechaza H</a:t>
            </a:r>
            <a:r>
              <a:rPr sz="1500" b="1" baseline="-25000">
                <a:solidFill>
                  <a:srgbClr val="142B33"/>
                </a:solidFill>
                <a:latin typeface="Calibri"/>
              </a:rPr>
              <a:t>0</a:t>
            </a:r>
          </a:p>
          <a:p>
            <a:pPr marL="320040" indent="-320040">
              <a:spcAft>
                <a:spcPts val="600"/>
              </a:spcAft>
              <a:buClr>
                <a:srgbClr val="E36414"/>
              </a:buClr>
              <a:buFont typeface="Arial"/>
              <a:buChar char="•"/>
            </a:pPr>
            <a:r>
              <a:rPr sz="1500" b="0">
                <a:solidFill>
                  <a:srgbClr val="142B33"/>
                </a:solidFill>
                <a:latin typeface="Calibri"/>
              </a:rPr>
              <a:t>R</a:t>
            </a:r>
            <a:r>
              <a:rPr sz="1500" b="0" baseline="30000">
                <a:solidFill>
                  <a:srgbClr val="142B33"/>
                </a:solidFill>
                <a:latin typeface="Calibri"/>
              </a:rPr>
              <a:t>2</a:t>
            </a:r>
            <a:r>
              <a:rPr sz="1500" b="0">
                <a:solidFill>
                  <a:srgbClr val="142B33"/>
                </a:solidFill>
                <a:latin typeface="Calibri"/>
              </a:rPr>
              <a:t> = 96.26 %</a:t>
            </a:r>
          </a:p>
          <a:p>
            <a:pPr marL="320040" indent="-320040">
              <a:spcAft>
                <a:spcPts val="600"/>
              </a:spcAft>
              <a:buClr>
                <a:srgbClr val="E36414"/>
              </a:buClr>
              <a:buFont typeface="Arial"/>
              <a:buChar char="•"/>
            </a:pPr>
            <a:r>
              <a:rPr sz="1500" b="0">
                <a:solidFill>
                  <a:srgbClr val="142B33"/>
                </a:solidFill>
                <a:latin typeface="Calibri"/>
              </a:rPr>
              <a:t>Coeficiente = efecto / 2. Para </a:t>
            </a:r>
            <a:r>
              <a:rPr sz="1500" b="1">
                <a:solidFill>
                  <a:srgbClr val="142B33"/>
                </a:solidFill>
                <a:latin typeface="Calibri"/>
              </a:rPr>
              <a:t>reducir</a:t>
            </a:r>
            <a:r>
              <a:rPr sz="1500" b="0">
                <a:solidFill>
                  <a:srgbClr val="142B33"/>
                </a:solidFill>
                <a:latin typeface="Calibri"/>
              </a:rPr>
              <a:t> la contracción: </a:t>
            </a:r>
            <a:r>
              <a:rPr sz="1500" b="1">
                <a:solidFill>
                  <a:srgbClr val="142B33"/>
                </a:solidFill>
                <a:latin typeface="Calibri"/>
              </a:rPr>
              <a:t>A y B bajos</a:t>
            </a:r>
          </a:p>
        </p:txBody>
      </p:sp>
      <p:sp>
        <p:nvSpPr>
          <p:cNvPr id="8" name="TextBox 7"/>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La fracción un cuarto 2</a:t>
            </a:r>
            <a:r>
              <a:rPr sz="1000" b="0" baseline="30000">
                <a:solidFill>
                  <a:srgbClr val="5B6B73"/>
                </a:solidFill>
                <a:latin typeface="Calibri"/>
              </a:rPr>
              <a:t>k−2</a:t>
            </a:r>
          </a:p>
        </p:txBody>
      </p:sp>
      <p:sp>
        <p:nvSpPr>
          <p:cNvPr id="9" name="TextBox 8"/>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51</a:t>
            </a:r>
          </a:p>
        </p:txBody>
      </p:sp>
      <p:sp>
        <p:nvSpPr>
          <p:cNvPr id="10" name="Rounded Rectangle 9"/>
          <p:cNvSpPr/>
          <p:nvPr/>
        </p:nvSpPr>
        <p:spPr>
          <a:xfrm>
            <a:off x="548640" y="91440"/>
            <a:ext cx="3131820"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6 · La fracción un cuarto 2</a:t>
            </a:r>
            <a:r>
              <a:rPr sz="1100" b="1" baseline="30000">
                <a:solidFill>
                  <a:srgbClr val="FFFFFF"/>
                </a:solidFill>
                <a:latin typeface="Calibri"/>
              </a:rPr>
              <a:t>k−2</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3 · Proyección en A y B e interacción</a:t>
            </a:r>
          </a:p>
        </p:txBody>
      </p:sp>
      <p:graphicFrame>
        <p:nvGraphicFramePr>
          <p:cNvPr id="3" name="Table 2"/>
          <p:cNvGraphicFramePr>
            <a:graphicFrameLocks noGrp="1"/>
          </p:cNvGraphicFramePr>
          <p:nvPr/>
        </p:nvGraphicFramePr>
        <p:xfrm>
          <a:off x="548640" y="1417320"/>
          <a:ext cx="5341466" cy="1988820"/>
        </p:xfrm>
        <a:graphic>
          <a:graphicData uri="http://schemas.openxmlformats.org/drawingml/2006/table">
            <a:tbl>
              <a:tblPr firstRow="0" bandRow="0">
                <a:tableStyleId>{5C22544A-7EE6-4342-B048-85BDC9FD1C3A}</a:tableStyleId>
              </a:tblPr>
              <a:tblGrid>
                <a:gridCol w="640976"/>
                <a:gridCol w="640976"/>
                <a:gridCol w="2670733"/>
                <a:gridCol w="1388781"/>
              </a:tblGrid>
              <a:tr h="583692">
                <a:tc>
                  <a:txBody>
                    <a:bodyPr/>
                    <a:lstStyle/>
                    <a:p>
                      <a:pPr algn="ctr"/>
                      <a:r>
                        <a:rPr sz="1500" b="1">
                          <a:solidFill>
                            <a:srgbClr val="FFFFFF"/>
                          </a:solidFill>
                          <a:latin typeface="Calibri"/>
                        </a:rPr>
                        <a:t>A</a:t>
                      </a:r>
                    </a:p>
                  </a:txBody>
                  <a:tcPr marL="73152" marR="73152" marT="27432" marB="27432" anchor="ctr">
                    <a:solidFill>
                      <a:srgbClr val="0F4C5C"/>
                    </a:solidFill>
                  </a:tcPr>
                </a:tc>
                <a:tc>
                  <a:txBody>
                    <a:bodyPr/>
                    <a:lstStyle/>
                    <a:p>
                      <a:pPr algn="ctr"/>
                      <a:r>
                        <a:rPr sz="1500" b="1">
                          <a:solidFill>
                            <a:srgbClr val="FFFFFF"/>
                          </a:solidFill>
                          <a:latin typeface="Calibri"/>
                        </a:rPr>
                        <a:t>B</a:t>
                      </a:r>
                    </a:p>
                  </a:txBody>
                  <a:tcPr marL="73152" marR="73152" marT="27432" marB="27432" anchor="ctr">
                    <a:solidFill>
                      <a:srgbClr val="0F4C5C"/>
                    </a:solidFill>
                  </a:tcPr>
                </a:tc>
                <a:tc>
                  <a:txBody>
                    <a:bodyPr/>
                    <a:lstStyle/>
                    <a:p>
                      <a:pPr algn="ctr"/>
                      <a:r>
                        <a:rPr sz="1500" b="1">
                          <a:solidFill>
                            <a:srgbClr val="FFFFFF"/>
                          </a:solidFill>
                          <a:latin typeface="Calibri"/>
                        </a:rPr>
                        <a:t>Las 4 corridas (contracción)</a:t>
                      </a:r>
                    </a:p>
                  </a:txBody>
                  <a:tcPr marL="73152" marR="73152" marT="27432" marB="27432" anchor="ctr">
                    <a:solidFill>
                      <a:srgbClr val="0F4C5C"/>
                    </a:solidFill>
                  </a:tcPr>
                </a:tc>
                <a:tc>
                  <a:txBody>
                    <a:bodyPr/>
                    <a:lstStyle/>
                    <a:p>
                      <a:pPr algn="ctr"/>
                      <a:r>
                        <a:rPr sz="1500" b="1">
                          <a:solidFill>
                            <a:srgbClr val="FFFFFF"/>
                          </a:solidFill>
                          <a:latin typeface="Calibri"/>
                        </a:rPr>
                        <a:t>Promedio</a:t>
                      </a:r>
                    </a:p>
                  </a:txBody>
                  <a:tcPr marL="73152" marR="73152" marT="27432" marB="27432" anchor="ctr">
                    <a:solidFill>
                      <a:srgbClr val="0F4C5C"/>
                    </a:solidFill>
                  </a:tcPr>
                </a:tc>
              </a:tr>
              <a:tr h="351282">
                <a:tc>
                  <a:txBody>
                    <a:bodyPr/>
                    <a:lstStyle/>
                    <a:p>
                      <a:pPr algn="ctr"/>
                      <a:r>
                        <a:rPr sz="1600" b="1">
                          <a:solidFill>
                            <a:srgbClr val="E36414"/>
                          </a:solidFill>
                          <a:latin typeface="Calibri"/>
                        </a:rPr>
                        <a:t>−</a:t>
                      </a:r>
                    </a:p>
                  </a:txBody>
                  <a:tcPr marL="73152" marR="73152" marT="27432" marB="27432" anchor="ctr">
                    <a:solidFill>
                      <a:srgbClr val="FDE8D7"/>
                    </a:solidFill>
                  </a:tcPr>
                </a:tc>
                <a:tc>
                  <a:txBody>
                    <a:bodyPr/>
                    <a:lstStyle/>
                    <a:p>
                      <a:pPr algn="ctr"/>
                      <a:r>
                        <a:rPr sz="1600" b="1">
                          <a:solidFill>
                            <a:srgbClr val="E36414"/>
                          </a:solidFill>
                          <a:latin typeface="Calibri"/>
                        </a:rPr>
                        <a:t>−</a:t>
                      </a:r>
                    </a:p>
                  </a:txBody>
                  <a:tcPr marL="73152" marR="73152" marT="27432" marB="27432" anchor="ctr">
                    <a:solidFill>
                      <a:srgbClr val="FDE8D7"/>
                    </a:solidFill>
                  </a:tcPr>
                </a:tc>
                <a:tc>
                  <a:txBody>
                    <a:bodyPr/>
                    <a:lstStyle/>
                    <a:p>
                      <a:pPr algn="ctr"/>
                      <a:r>
                        <a:rPr sz="1500" b="0">
                          <a:solidFill>
                            <a:srgbClr val="142B33"/>
                          </a:solidFill>
                          <a:latin typeface="Calibri"/>
                        </a:rPr>
                        <a:t>6,  4,  8,  16</a:t>
                      </a:r>
                    </a:p>
                  </a:txBody>
                  <a:tcPr marL="73152" marR="73152" marT="27432" marB="27432" anchor="ctr">
                    <a:solidFill>
                      <a:srgbClr val="FDE8D7"/>
                    </a:solidFill>
                  </a:tcPr>
                </a:tc>
                <a:tc>
                  <a:txBody>
                    <a:bodyPr/>
                    <a:lstStyle/>
                    <a:p>
                      <a:pPr algn="ctr"/>
                      <a:r>
                        <a:rPr sz="1500" b="0">
                          <a:solidFill>
                            <a:srgbClr val="142B33"/>
                          </a:solidFill>
                          <a:latin typeface="Calibri"/>
                        </a:rPr>
                        <a:t>8.50</a:t>
                      </a:r>
                    </a:p>
                  </a:txBody>
                  <a:tcPr marL="73152" marR="73152" marT="27432" marB="27432" anchor="ctr">
                    <a:solidFill>
                      <a:srgbClr val="FDE8D7"/>
                    </a:solidFill>
                  </a:tcPr>
                </a:tc>
              </a:tr>
              <a:tr h="351282">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10,  15,  12,  5</a:t>
                      </a:r>
                    </a:p>
                  </a:txBody>
                  <a:tcPr marL="73152" marR="73152" marT="27432" marB="27432" anchor="ctr">
                    <a:solidFill>
                      <a:srgbClr val="F4F8F9"/>
                    </a:solidFill>
                  </a:tcPr>
                </a:tc>
                <a:tc>
                  <a:txBody>
                    <a:bodyPr/>
                    <a:lstStyle/>
                    <a:p>
                      <a:pPr algn="ctr"/>
                      <a:r>
                        <a:rPr sz="1500" b="0">
                          <a:solidFill>
                            <a:srgbClr val="142B33"/>
                          </a:solidFill>
                          <a:latin typeface="Calibri"/>
                        </a:rPr>
                        <a:t>10.50</a:t>
                      </a:r>
                    </a:p>
                  </a:txBody>
                  <a:tcPr marL="73152" marR="73152" marT="27432" marB="27432" anchor="ctr">
                    <a:solidFill>
                      <a:srgbClr val="F4F8F9"/>
                    </a:solidFill>
                  </a:tcPr>
                </a:tc>
              </a:tr>
              <a:tr h="351282">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32,  26,  34,  37</a:t>
                      </a:r>
                    </a:p>
                  </a:txBody>
                  <a:tcPr marL="73152" marR="73152" marT="27432" marB="27432" anchor="ctr">
                    <a:solidFill>
                      <a:srgbClr val="FFFFFF"/>
                    </a:solidFill>
                  </a:tcPr>
                </a:tc>
                <a:tc>
                  <a:txBody>
                    <a:bodyPr/>
                    <a:lstStyle/>
                    <a:p>
                      <a:pPr algn="ctr"/>
                      <a:r>
                        <a:rPr sz="1500" b="0">
                          <a:solidFill>
                            <a:srgbClr val="142B33"/>
                          </a:solidFill>
                          <a:latin typeface="Calibri"/>
                        </a:rPr>
                        <a:t>32.25</a:t>
                      </a:r>
                    </a:p>
                  </a:txBody>
                  <a:tcPr marL="73152" marR="73152" marT="27432" marB="27432" anchor="ctr">
                    <a:solidFill>
                      <a:srgbClr val="FFFFFF"/>
                    </a:solidFill>
                  </a:tcPr>
                </a:tc>
              </a:tr>
              <a:tr h="351282">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60,  60,  60,  52</a:t>
                      </a:r>
                    </a:p>
                  </a:txBody>
                  <a:tcPr marL="73152" marR="73152" marT="27432" marB="27432" anchor="ctr">
                    <a:solidFill>
                      <a:srgbClr val="F4F8F9"/>
                    </a:solidFill>
                  </a:tcPr>
                </a:tc>
                <a:tc>
                  <a:txBody>
                    <a:bodyPr/>
                    <a:lstStyle/>
                    <a:p>
                      <a:pPr algn="ctr"/>
                      <a:r>
                        <a:rPr sz="1500" b="0">
                          <a:solidFill>
                            <a:srgbClr val="142B33"/>
                          </a:solidFill>
                          <a:latin typeface="Calibri"/>
                        </a:rPr>
                        <a:t>58.00</a:t>
                      </a:r>
                    </a:p>
                  </a:txBody>
                  <a:tcPr marL="73152" marR="73152" marT="27432" marB="27432" anchor="ctr">
                    <a:solidFill>
                      <a:srgbClr val="F4F8F9"/>
                    </a:solidFill>
                  </a:tcPr>
                </a:tc>
              </a:tr>
            </a:tbl>
          </a:graphicData>
        </a:graphic>
      </p:graphicFrame>
      <p:sp>
        <p:nvSpPr>
          <p:cNvPr id="4" name="Rounded Rectangle 3"/>
          <p:cNvSpPr/>
          <p:nvPr/>
        </p:nvSpPr>
        <p:spPr>
          <a:xfrm>
            <a:off x="548640" y="3607308"/>
            <a:ext cx="5341467"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Cada combinación de A y B aparece </a:t>
            </a:r>
            <a:r>
              <a:rPr sz="1500" b="1">
                <a:solidFill>
                  <a:srgbClr val="142B33"/>
                </a:solidFill>
                <a:latin typeface="Calibri"/>
              </a:rPr>
              <a:t>4 veces</a:t>
            </a:r>
            <a:r>
              <a:rPr sz="1500" b="0">
                <a:solidFill>
                  <a:srgbClr val="142B33"/>
                </a:solidFill>
                <a:latin typeface="Calibri"/>
              </a:rPr>
              <a:t>: cuatro réplicas de un </a:t>
            </a:r>
            <a:r>
              <a:rPr sz="1500" b="1">
                <a:solidFill>
                  <a:srgbClr val="142B33"/>
                </a:solidFill>
                <a:latin typeface="Calibri"/>
              </a:rPr>
              <a:t>2</a:t>
            </a:r>
            <a:r>
              <a:rPr sz="1500" b="1" baseline="30000">
                <a:solidFill>
                  <a:srgbClr val="142B33"/>
                </a:solidFill>
                <a:latin typeface="Calibri"/>
              </a:rPr>
              <a:t>2</a:t>
            </a:r>
            <a:r>
              <a:rPr sz="1500" b="0">
                <a:solidFill>
                  <a:srgbClr val="142B33"/>
                </a:solidFill>
                <a:latin typeface="Calibri"/>
              </a:rPr>
              <a:t>  →  </a:t>
            </a:r>
            <a:r>
              <a:rPr sz="1500" b="1">
                <a:solidFill>
                  <a:srgbClr val="142B33"/>
                </a:solidFill>
                <a:latin typeface="Calibri"/>
              </a:rPr>
              <a:t>12 g.l.</a:t>
            </a:r>
            <a:r>
              <a:rPr sz="1500" b="0">
                <a:solidFill>
                  <a:srgbClr val="142B33"/>
                </a:solidFill>
                <a:latin typeface="Calibri"/>
              </a:rPr>
              <a:t> de error puro</a:t>
            </a:r>
          </a:p>
        </p:txBody>
      </p:sp>
      <p:sp>
        <p:nvSpPr>
          <p:cNvPr id="5" name="Rounded Rectangle 4"/>
          <p:cNvSpPr/>
          <p:nvPr/>
        </p:nvSpPr>
        <p:spPr>
          <a:xfrm>
            <a:off x="548640" y="4547616"/>
            <a:ext cx="5341467" cy="491235"/>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400" b="0">
                <a:solidFill>
                  <a:srgbClr val="142B33"/>
                </a:solidFill>
                <a:latin typeface="Calibri"/>
              </a:rPr>
              <a:t>Así se obtienen los 12 g.l. del error del ANOVA</a:t>
            </a:r>
          </a:p>
        </p:txBody>
      </p:sp>
      <p:graphicFrame>
        <p:nvGraphicFramePr>
          <p:cNvPr id="6" name="Chart 5"/>
          <p:cNvGraphicFramePr>
            <a:graphicFrameLocks noGrp="1"/>
          </p:cNvGraphicFramePr>
          <p:nvPr/>
        </p:nvGraphicFramePr>
        <p:xfrm>
          <a:off x="6301587" y="1417320"/>
          <a:ext cx="5341467" cy="3566160"/>
        </p:xfrm>
        <a:graphic>
          <a:graphicData uri="http://schemas.openxmlformats.org/drawingml/2006/chart">
            <c:chart xmlns:c="http://schemas.openxmlformats.org/drawingml/2006/chart" r:id="rId2"/>
          </a:graphicData>
        </a:graphic>
      </p:graphicFrame>
      <p:sp>
        <p:nvSpPr>
          <p:cNvPr id="7" name="Rounded Rectangle 6"/>
          <p:cNvSpPr/>
          <p:nvPr/>
        </p:nvSpPr>
        <p:spPr>
          <a:xfrm>
            <a:off x="6301587" y="5184648"/>
            <a:ext cx="5341467"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Con </a:t>
            </a:r>
            <a:r>
              <a:rPr sz="1500" b="1">
                <a:solidFill>
                  <a:srgbClr val="142B33"/>
                </a:solidFill>
                <a:latin typeface="Calibri"/>
              </a:rPr>
              <a:t>B bajo</a:t>
            </a:r>
            <a:r>
              <a:rPr sz="1500" b="0">
                <a:solidFill>
                  <a:srgbClr val="142B33"/>
                </a:solidFill>
                <a:latin typeface="Calibri"/>
              </a:rPr>
              <a:t> la contracción es pequeña a cualquier temperatura. Recomendación: </a:t>
            </a:r>
            <a:r>
              <a:rPr sz="1500" b="1">
                <a:solidFill>
                  <a:srgbClr val="142B33"/>
                </a:solidFill>
                <a:latin typeface="Calibri"/>
              </a:rPr>
              <a:t>A y B bajos</a:t>
            </a:r>
          </a:p>
        </p:txBody>
      </p:sp>
      <p:sp>
        <p:nvSpPr>
          <p:cNvPr id="8" name="TextBox 7"/>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La fracción un cuarto 2</a:t>
            </a:r>
            <a:r>
              <a:rPr sz="1000" b="0" baseline="30000">
                <a:solidFill>
                  <a:srgbClr val="5B6B73"/>
                </a:solidFill>
                <a:latin typeface="Calibri"/>
              </a:rPr>
              <a:t>k−2</a:t>
            </a:r>
          </a:p>
        </p:txBody>
      </p:sp>
      <p:sp>
        <p:nvSpPr>
          <p:cNvPr id="9" name="TextBox 8"/>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52</a:t>
            </a:r>
          </a:p>
        </p:txBody>
      </p:sp>
      <p:sp>
        <p:nvSpPr>
          <p:cNvPr id="10" name="Rounded Rectangle 9"/>
          <p:cNvSpPr/>
          <p:nvPr/>
        </p:nvSpPr>
        <p:spPr>
          <a:xfrm>
            <a:off x="548640" y="91440"/>
            <a:ext cx="3131820"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6 · La fracción un cuarto 2</a:t>
            </a:r>
            <a:r>
              <a:rPr sz="1100" b="1" baseline="30000">
                <a:solidFill>
                  <a:srgbClr val="FFFFFF"/>
                </a:solidFill>
                <a:latin typeface="Calibri"/>
              </a:rPr>
              <a:t>k−2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F4C5C"/>
        </a:solidFill>
        <a:effectLst/>
      </p:bgPr>
    </p:bg>
    <p:spTree>
      <p:nvGrpSpPr>
        <p:cNvPr id="1" name=""/>
        <p:cNvGrpSpPr/>
        <p:nvPr/>
      </p:nvGrpSpPr>
      <p:grpSpPr/>
      <p:sp>
        <p:nvSpPr>
          <p:cNvPr id="2" name="Title 1"/>
          <p:cNvSpPr>
            <a:spLocks noGrp="1"/>
          </p:cNvSpPr>
          <p:nvPr>
            <p:ph type="title"/>
          </p:nvPr>
        </p:nvSpPr>
        <p:spPr>
          <a:xfrm>
            <a:off x="548640" y="3383280"/>
            <a:ext cx="11094415" cy="914400"/>
          </a:xfrm>
        </p:spPr>
        <p:txBody>
          <a:bodyPr wrap="square" anchor="t" lIns="0" rIns="0" tIns="0" bIns="0"/>
          <a:lstStyle/>
          <a:p>
            <a:pPr algn="l"/>
            <a:r>
              <a:rPr sz="4400" b="1">
                <a:solidFill>
                  <a:srgbClr val="FFFFFF"/>
                </a:solidFill>
                <a:latin typeface="Cambria"/>
              </a:rPr>
              <a:t>El diseño 2</a:t>
            </a:r>
            <a:r>
              <a:rPr sz="4400" b="1" baseline="30000">
                <a:solidFill>
                  <a:srgbClr val="FFFFFF"/>
                </a:solidFill>
                <a:latin typeface="Cambria"/>
              </a:rPr>
              <a:t>k−p</a:t>
            </a:r>
            <a:r>
              <a:rPr sz="4400" b="1">
                <a:solidFill>
                  <a:srgbClr val="FFFFFF"/>
                </a:solidFill>
                <a:latin typeface="Cambria"/>
              </a:rPr>
              <a:t> general</a:t>
            </a:r>
          </a:p>
        </p:txBody>
      </p:sp>
      <p:sp>
        <p:nvSpPr>
          <p:cNvPr id="3" name="Oval 2"/>
          <p:cNvSpPr/>
          <p:nvPr/>
        </p:nvSpPr>
        <p:spPr>
          <a:xfrm>
            <a:off x="548640" y="2011680"/>
            <a:ext cx="1188720" cy="1188720"/>
          </a:xfrm>
          <a:prstGeom prst="ellipse">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FFFFFF"/>
                </a:solidFill>
                <a:latin typeface="Cambria"/>
              </a:rPr>
              <a:t>7</a:t>
            </a:r>
          </a:p>
        </p:txBody>
      </p:sp>
      <p:sp>
        <p:nvSpPr>
          <p:cNvPr id="4" name="TextBox 3"/>
          <p:cNvSpPr txBox="1"/>
          <p:nvPr/>
        </p:nvSpPr>
        <p:spPr>
          <a:xfrm>
            <a:off x="548640" y="4343400"/>
            <a:ext cx="11094415" cy="548640"/>
          </a:xfrm>
          <a:prstGeom prst="rect">
            <a:avLst/>
          </a:prstGeom>
          <a:noFill/>
        </p:spPr>
        <p:txBody>
          <a:bodyPr wrap="square" anchor="t" lIns="0" rIns="0" tIns="0" bIns="0">
            <a:spAutoFit/>
          </a:bodyPr>
          <a:lstStyle/>
          <a:p>
            <a:r>
              <a:rPr sz="2000" b="0">
                <a:solidFill>
                  <a:srgbClr val="CFE3E8"/>
                </a:solidFill>
                <a:latin typeface="Calibri"/>
              </a:rPr>
              <a:t>Elección, protocolo, análisis, supuestos, proyección y bloques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El caso general 2</a:t>
            </a:r>
            <a:r>
              <a:rPr sz="3000" b="1" baseline="30000">
                <a:solidFill>
                  <a:srgbClr val="0F4C5C"/>
                </a:solidFill>
                <a:latin typeface="Cambria"/>
              </a:rPr>
              <a:t>k−p</a:t>
            </a:r>
          </a:p>
        </p:txBody>
      </p:sp>
      <p:graphicFrame>
        <p:nvGraphicFramePr>
          <p:cNvPr id="3" name="Table 2"/>
          <p:cNvGraphicFramePr>
            <a:graphicFrameLocks noGrp="1"/>
          </p:cNvGraphicFramePr>
          <p:nvPr/>
        </p:nvGraphicFramePr>
        <p:xfrm>
          <a:off x="548640" y="1417320"/>
          <a:ext cx="11094415" cy="3667760"/>
        </p:xfrm>
        <a:graphic>
          <a:graphicData uri="http://schemas.openxmlformats.org/drawingml/2006/table">
            <a:tbl>
              <a:tblPr firstRow="0" bandRow="0">
                <a:tableStyleId>{5C22544A-7EE6-4342-B048-85BDC9FD1C3A}</a:tableStyleId>
              </a:tblPr>
              <a:tblGrid>
                <a:gridCol w="4437766"/>
                <a:gridCol w="6656649"/>
              </a:tblGrid>
              <a:tr h="366776">
                <a:tc>
                  <a:txBody>
                    <a:bodyPr/>
                    <a:lstStyle/>
                    <a:p>
                      <a:pPr algn="l"/>
                      <a:r>
                        <a:rPr sz="1600" b="1">
                          <a:solidFill>
                            <a:srgbClr val="FFFFFF"/>
                          </a:solidFill>
                          <a:latin typeface="Calibri"/>
                        </a:rPr>
                        <a:t>Concepto</a:t>
                      </a:r>
                    </a:p>
                  </a:txBody>
                  <a:tcPr marL="73152" marR="73152" marT="27432" marB="27432" anchor="ctr">
                    <a:solidFill>
                      <a:srgbClr val="0F4C5C"/>
                    </a:solidFill>
                  </a:tcPr>
                </a:tc>
                <a:tc>
                  <a:txBody>
                    <a:bodyPr/>
                    <a:lstStyle/>
                    <a:p>
                      <a:pPr algn="l"/>
                      <a:r>
                        <a:rPr sz="1600" b="1">
                          <a:solidFill>
                            <a:srgbClr val="FFFFFF"/>
                          </a:solidFill>
                          <a:latin typeface="Calibri"/>
                        </a:rPr>
                        <a:t>Regla</a:t>
                      </a:r>
                    </a:p>
                  </a:txBody>
                  <a:tcPr marL="73152" marR="73152" marT="27432" marB="27432" anchor="ctr">
                    <a:solidFill>
                      <a:srgbClr val="0F4C5C"/>
                    </a:solidFill>
                  </a:tcPr>
                </a:tc>
              </a:tr>
              <a:tr h="366776">
                <a:tc>
                  <a:txBody>
                    <a:bodyPr/>
                    <a:lstStyle/>
                    <a:p>
                      <a:pPr algn="l"/>
                      <a:r>
                        <a:rPr sz="1600" b="0">
                          <a:solidFill>
                            <a:srgbClr val="142B33"/>
                          </a:solidFill>
                          <a:latin typeface="Calibri"/>
                        </a:rPr>
                        <a:t>Corridas</a:t>
                      </a:r>
                    </a:p>
                  </a:txBody>
                  <a:tcPr marL="73152" marR="73152" marT="27432" marB="27432" anchor="ctr">
                    <a:solidFill>
                      <a:srgbClr val="FFFFFF"/>
                    </a:solidFill>
                  </a:tcPr>
                </a:tc>
                <a:tc>
                  <a:txBody>
                    <a:bodyPr/>
                    <a:lstStyle/>
                    <a:p>
                      <a:pPr algn="l"/>
                      <a:r>
                        <a:rPr sz="1600" b="0">
                          <a:solidFill>
                            <a:srgbClr val="142B33"/>
                          </a:solidFill>
                          <a:latin typeface="Calibri"/>
                        </a:rPr>
                        <a:t>N = 2</a:t>
                      </a:r>
                      <a:r>
                        <a:rPr sz="1600" b="0" baseline="30000">
                          <a:solidFill>
                            <a:srgbClr val="142B33"/>
                          </a:solidFill>
                          <a:latin typeface="Calibri"/>
                        </a:rPr>
                        <a:t>k−p</a:t>
                      </a:r>
                    </a:p>
                  </a:txBody>
                  <a:tcPr marL="73152" marR="73152" marT="27432" marB="27432" anchor="ctr">
                    <a:solidFill>
                      <a:srgbClr val="FFFFFF"/>
                    </a:solidFill>
                  </a:tcPr>
                </a:tc>
              </a:tr>
              <a:tr h="366776">
                <a:tc>
                  <a:txBody>
                    <a:bodyPr/>
                    <a:lstStyle/>
                    <a:p>
                      <a:pPr algn="l"/>
                      <a:r>
                        <a:rPr sz="1600" b="0">
                          <a:solidFill>
                            <a:srgbClr val="142B33"/>
                          </a:solidFill>
                          <a:latin typeface="Calibri"/>
                        </a:rPr>
                        <a:t>Generadores independientes</a:t>
                      </a:r>
                    </a:p>
                  </a:txBody>
                  <a:tcPr marL="73152" marR="73152" marT="27432" marB="27432" anchor="ctr">
                    <a:solidFill>
                      <a:srgbClr val="F4F8F9"/>
                    </a:solidFill>
                  </a:tcPr>
                </a:tc>
                <a:tc>
                  <a:txBody>
                    <a:bodyPr/>
                    <a:lstStyle/>
                    <a:p>
                      <a:pPr algn="l"/>
                      <a:r>
                        <a:rPr sz="1600" b="0">
                          <a:solidFill>
                            <a:srgbClr val="142B33"/>
                          </a:solidFill>
                          <a:latin typeface="Calibri"/>
                        </a:rPr>
                        <a:t>p</a:t>
                      </a:r>
                    </a:p>
                  </a:txBody>
                  <a:tcPr marL="73152" marR="73152" marT="27432" marB="27432" anchor="ctr">
                    <a:solidFill>
                      <a:srgbClr val="F4F8F9"/>
                    </a:solidFill>
                  </a:tcPr>
                </a:tc>
              </a:tr>
              <a:tr h="366776">
                <a:tc>
                  <a:txBody>
                    <a:bodyPr/>
                    <a:lstStyle/>
                    <a:p>
                      <a:pPr algn="l"/>
                      <a:r>
                        <a:rPr sz="1600" b="0">
                          <a:solidFill>
                            <a:srgbClr val="142B33"/>
                          </a:solidFill>
                          <a:latin typeface="Calibri"/>
                        </a:rPr>
                        <a:t>Palabras de la relación de definición</a:t>
                      </a:r>
                    </a:p>
                  </a:txBody>
                  <a:tcPr marL="73152" marR="73152" marT="27432" marB="27432" anchor="ctr">
                    <a:solidFill>
                      <a:srgbClr val="FFFFFF"/>
                    </a:solidFill>
                  </a:tcPr>
                </a:tc>
                <a:tc>
                  <a:txBody>
                    <a:bodyPr/>
                    <a:lstStyle/>
                    <a:p>
                      <a:pPr algn="l"/>
                      <a:r>
                        <a:rPr sz="1600" b="0">
                          <a:solidFill>
                            <a:srgbClr val="142B33"/>
                          </a:solidFill>
                          <a:latin typeface="Calibri"/>
                        </a:rPr>
                        <a:t>2</a:t>
                      </a:r>
                      <a:r>
                        <a:rPr sz="1600" b="0" baseline="30000">
                          <a:solidFill>
                            <a:srgbClr val="142B33"/>
                          </a:solidFill>
                          <a:latin typeface="Calibri"/>
                        </a:rPr>
                        <a:t>p</a:t>
                      </a:r>
                      <a:r>
                        <a:rPr sz="1600" b="0">
                          <a:solidFill>
                            <a:srgbClr val="142B33"/>
                          </a:solidFill>
                          <a:latin typeface="Calibri"/>
                        </a:rPr>
                        <a:t> − 1  (generadores y todos sus productos)</a:t>
                      </a:r>
                    </a:p>
                  </a:txBody>
                  <a:tcPr marL="73152" marR="73152" marT="27432" marB="27432" anchor="ctr">
                    <a:solidFill>
                      <a:srgbClr val="FFFFFF"/>
                    </a:solidFill>
                  </a:tcPr>
                </a:tc>
              </a:tr>
              <a:tr h="366776">
                <a:tc>
                  <a:txBody>
                    <a:bodyPr/>
                    <a:lstStyle/>
                    <a:p>
                      <a:pPr algn="l"/>
                      <a:r>
                        <a:rPr sz="1600" b="0">
                          <a:solidFill>
                            <a:srgbClr val="142B33"/>
                          </a:solidFill>
                          <a:latin typeface="Calibri"/>
                        </a:rPr>
                        <a:t>Alias de cada efecto</a:t>
                      </a:r>
                    </a:p>
                  </a:txBody>
                  <a:tcPr marL="73152" marR="73152" marT="27432" marB="27432" anchor="ctr">
                    <a:solidFill>
                      <a:srgbClr val="F4F8F9"/>
                    </a:solidFill>
                  </a:tcPr>
                </a:tc>
                <a:tc>
                  <a:txBody>
                    <a:bodyPr/>
                    <a:lstStyle/>
                    <a:p>
                      <a:pPr algn="l"/>
                      <a:r>
                        <a:rPr sz="1600" b="0">
                          <a:solidFill>
                            <a:srgbClr val="142B33"/>
                          </a:solidFill>
                          <a:latin typeface="Calibri"/>
                        </a:rPr>
                        <a:t>2</a:t>
                      </a:r>
                      <a:r>
                        <a:rPr sz="1600" b="0" baseline="30000">
                          <a:solidFill>
                            <a:srgbClr val="142B33"/>
                          </a:solidFill>
                          <a:latin typeface="Calibri"/>
                        </a:rPr>
                        <a:t>p</a:t>
                      </a:r>
                      <a:r>
                        <a:rPr sz="1600" b="0">
                          <a:solidFill>
                            <a:srgbClr val="142B33"/>
                          </a:solidFill>
                          <a:latin typeface="Calibri"/>
                        </a:rPr>
                        <a:t> − 1  (efecto × cada palabra)</a:t>
                      </a:r>
                    </a:p>
                  </a:txBody>
                  <a:tcPr marL="73152" marR="73152" marT="27432" marB="27432" anchor="ctr">
                    <a:solidFill>
                      <a:srgbClr val="F4F8F9"/>
                    </a:solidFill>
                  </a:tcPr>
                </a:tc>
              </a:tr>
              <a:tr h="366776">
                <a:tc>
                  <a:txBody>
                    <a:bodyPr/>
                    <a:lstStyle/>
                    <a:p>
                      <a:pPr algn="l"/>
                      <a:r>
                        <a:rPr sz="1600" b="0">
                          <a:solidFill>
                            <a:srgbClr val="142B33"/>
                          </a:solidFill>
                          <a:latin typeface="Calibri"/>
                        </a:rPr>
                        <a:t>Cadenas de alias estimables</a:t>
                      </a:r>
                    </a:p>
                  </a:txBody>
                  <a:tcPr marL="73152" marR="73152" marT="27432" marB="27432" anchor="ctr">
                    <a:solidFill>
                      <a:srgbClr val="FFFFFF"/>
                    </a:solidFill>
                  </a:tcPr>
                </a:tc>
                <a:tc>
                  <a:txBody>
                    <a:bodyPr/>
                    <a:lstStyle/>
                    <a:p>
                      <a:pPr algn="l"/>
                      <a:r>
                        <a:rPr sz="1600" b="0">
                          <a:solidFill>
                            <a:srgbClr val="142B33"/>
                          </a:solidFill>
                          <a:latin typeface="Calibri"/>
                        </a:rPr>
                        <a:t>2</a:t>
                      </a:r>
                      <a:r>
                        <a:rPr sz="1600" b="0" baseline="30000">
                          <a:solidFill>
                            <a:srgbClr val="142B33"/>
                          </a:solidFill>
                          <a:latin typeface="Calibri"/>
                        </a:rPr>
                        <a:t>k−p</a:t>
                      </a:r>
                      <a:r>
                        <a:rPr sz="1600" b="0">
                          <a:solidFill>
                            <a:srgbClr val="142B33"/>
                          </a:solidFill>
                          <a:latin typeface="Calibri"/>
                        </a:rPr>
                        <a:t> − 1  (una por grado de libertad)</a:t>
                      </a:r>
                    </a:p>
                  </a:txBody>
                  <a:tcPr marL="73152" marR="73152" marT="27432" marB="27432" anchor="ctr">
                    <a:solidFill>
                      <a:srgbClr val="FFFFFF"/>
                    </a:solidFill>
                  </a:tcPr>
                </a:tc>
              </a:tr>
              <a:tr h="366776">
                <a:tc>
                  <a:txBody>
                    <a:bodyPr/>
                    <a:lstStyle/>
                    <a:p>
                      <a:pPr algn="l"/>
                      <a:r>
                        <a:rPr sz="1600" b="0">
                          <a:solidFill>
                            <a:srgbClr val="142B33"/>
                          </a:solidFill>
                          <a:latin typeface="Calibri"/>
                        </a:rPr>
                        <a:t>Resolución</a:t>
                      </a:r>
                    </a:p>
                  </a:txBody>
                  <a:tcPr marL="73152" marR="73152" marT="27432" marB="27432" anchor="ctr">
                    <a:solidFill>
                      <a:srgbClr val="F4F8F9"/>
                    </a:solidFill>
                  </a:tcPr>
                </a:tc>
                <a:tc>
                  <a:txBody>
                    <a:bodyPr/>
                    <a:lstStyle/>
                    <a:p>
                      <a:pPr algn="l"/>
                      <a:r>
                        <a:rPr sz="1600" b="0">
                          <a:solidFill>
                            <a:srgbClr val="142B33"/>
                          </a:solidFill>
                          <a:latin typeface="Calibri"/>
                        </a:rPr>
                        <a:t>Longitud de la palabra más corta</a:t>
                      </a:r>
                    </a:p>
                  </a:txBody>
                  <a:tcPr marL="73152" marR="73152" marT="27432" marB="27432" anchor="ctr">
                    <a:solidFill>
                      <a:srgbClr val="F4F8F9"/>
                    </a:solidFill>
                  </a:tcPr>
                </a:tc>
              </a:tr>
              <a:tr h="366776">
                <a:tc>
                  <a:txBody>
                    <a:bodyPr/>
                    <a:lstStyle/>
                    <a:p>
                      <a:pPr algn="l"/>
                      <a:r>
                        <a:rPr sz="1600" b="0">
                          <a:solidFill>
                            <a:srgbClr val="142B33"/>
                          </a:solidFill>
                          <a:latin typeface="Calibri"/>
                        </a:rPr>
                        <a:t>Construcción (dos pasos)</a:t>
                      </a:r>
                    </a:p>
                  </a:txBody>
                  <a:tcPr marL="73152" marR="73152" marT="27432" marB="27432" anchor="ctr">
                    <a:solidFill>
                      <a:srgbClr val="FFFFFF"/>
                    </a:solidFill>
                  </a:tcPr>
                </a:tc>
                <a:tc>
                  <a:txBody>
                    <a:bodyPr/>
                    <a:lstStyle/>
                    <a:p>
                      <a:pPr algn="l"/>
                      <a:r>
                        <a:rPr sz="1600" b="0">
                          <a:solidFill>
                            <a:srgbClr val="142B33"/>
                          </a:solidFill>
                          <a:latin typeface="Calibri"/>
                        </a:rPr>
                        <a:t>Factorial completo en k − p factores + p columnas generadas</a:t>
                      </a:r>
                    </a:p>
                  </a:txBody>
                  <a:tcPr marL="73152" marR="73152" marT="27432" marB="27432" anchor="ctr">
                    <a:solidFill>
                      <a:srgbClr val="FFFFFF"/>
                    </a:solidFill>
                  </a:tcPr>
                </a:tc>
              </a:tr>
              <a:tr h="366776">
                <a:tc>
                  <a:txBody>
                    <a:bodyPr/>
                    <a:lstStyle/>
                    <a:p>
                      <a:pPr algn="l"/>
                      <a:r>
                        <a:rPr sz="1600" b="0">
                          <a:solidFill>
                            <a:srgbClr val="142B33"/>
                          </a:solidFill>
                          <a:latin typeface="Calibri"/>
                        </a:rPr>
                        <a:t>Efecto (una réplica)</a:t>
                      </a:r>
                    </a:p>
                  </a:txBody>
                  <a:tcPr marL="73152" marR="73152" marT="27432" marB="27432" anchor="ctr">
                    <a:solidFill>
                      <a:srgbClr val="F4F8F9"/>
                    </a:solidFill>
                  </a:tcPr>
                </a:tc>
                <a:tc>
                  <a:txBody>
                    <a:bodyPr/>
                    <a:lstStyle/>
                    <a:p>
                      <a:pPr algn="l"/>
                      <a:r>
                        <a:rPr sz="1600" b="0">
                          <a:solidFill>
                            <a:srgbClr val="142B33"/>
                          </a:solidFill>
                          <a:latin typeface="Calibri"/>
                        </a:rPr>
                        <a:t>Contraste / 2</a:t>
                      </a:r>
                      <a:r>
                        <a:rPr sz="1600" b="0" baseline="30000">
                          <a:solidFill>
                            <a:srgbClr val="142B33"/>
                          </a:solidFill>
                          <a:latin typeface="Calibri"/>
                        </a:rPr>
                        <a:t>k−p−1</a:t>
                      </a:r>
                    </a:p>
                  </a:txBody>
                  <a:tcPr marL="73152" marR="73152" marT="27432" marB="27432" anchor="ctr">
                    <a:solidFill>
                      <a:srgbClr val="F4F8F9"/>
                    </a:solidFill>
                  </a:tcPr>
                </a:tc>
              </a:tr>
              <a:tr h="366776">
                <a:tc>
                  <a:txBody>
                    <a:bodyPr/>
                    <a:lstStyle/>
                    <a:p>
                      <a:pPr algn="l"/>
                      <a:r>
                        <a:rPr sz="1600" b="0">
                          <a:solidFill>
                            <a:srgbClr val="142B33"/>
                          </a:solidFill>
                          <a:latin typeface="Calibri"/>
                        </a:rPr>
                        <a:t>Suma de cuadrados</a:t>
                      </a:r>
                    </a:p>
                  </a:txBody>
                  <a:tcPr marL="73152" marR="73152" marT="27432" marB="27432" anchor="ctr">
                    <a:solidFill>
                      <a:srgbClr val="FFFFFF"/>
                    </a:solidFill>
                  </a:tcPr>
                </a:tc>
                <a:tc>
                  <a:txBody>
                    <a:bodyPr/>
                    <a:lstStyle/>
                    <a:p>
                      <a:pPr algn="l"/>
                      <a:r>
                        <a:rPr sz="1600" b="0">
                          <a:solidFill>
                            <a:srgbClr val="142B33"/>
                          </a:solidFill>
                          <a:latin typeface="Calibri"/>
                        </a:rPr>
                        <a:t>Contraste</a:t>
                      </a:r>
                      <a:r>
                        <a:rPr sz="1600" b="0" baseline="30000">
                          <a:solidFill>
                            <a:srgbClr val="142B33"/>
                          </a:solidFill>
                          <a:latin typeface="Calibri"/>
                        </a:rPr>
                        <a:t>2</a:t>
                      </a:r>
                      <a:r>
                        <a:rPr sz="1600" b="0">
                          <a:solidFill>
                            <a:srgbClr val="142B33"/>
                          </a:solidFill>
                          <a:latin typeface="Calibri"/>
                        </a:rPr>
                        <a:t> / 2</a:t>
                      </a:r>
                      <a:r>
                        <a:rPr sz="1600" b="0" baseline="30000">
                          <a:solidFill>
                            <a:srgbClr val="142B33"/>
                          </a:solidFill>
                          <a:latin typeface="Calibri"/>
                        </a:rPr>
                        <a:t>k−p</a:t>
                      </a:r>
                      <a:r>
                        <a:rPr sz="1600" b="0">
                          <a:solidFill>
                            <a:srgbClr val="142B33"/>
                          </a:solidFill>
                          <a:latin typeface="Calibri"/>
                        </a:rPr>
                        <a:t>,  1 g.l.</a:t>
                      </a:r>
                    </a:p>
                  </a:txBody>
                  <a:tcPr marL="73152" marR="73152" marT="27432" marB="27432" anchor="ctr">
                    <a:solidFill>
                      <a:srgbClr val="FFFFFF"/>
                    </a:solidFill>
                  </a:tcPr>
                </a:tc>
              </a:tr>
            </a:tbl>
          </a:graphicData>
        </a:graphic>
      </p:graphicFrame>
      <p:sp>
        <p:nvSpPr>
          <p:cNvPr id="4" name="Rounded Rectangle 3"/>
          <p:cNvSpPr/>
          <p:nvPr/>
        </p:nvSpPr>
        <p:spPr>
          <a:xfrm>
            <a:off x="548640" y="5286248"/>
            <a:ext cx="11094415" cy="50673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Al excluir un efecto del modelo se excluyen </a:t>
            </a:r>
            <a:r>
              <a:rPr sz="1500" b="1">
                <a:solidFill>
                  <a:srgbClr val="142B33"/>
                </a:solidFill>
                <a:latin typeface="Calibri"/>
              </a:rPr>
              <a:t>todos sus alias</a:t>
            </a:r>
            <a:r>
              <a:rPr sz="1500" b="0">
                <a:solidFill>
                  <a:srgbClr val="142B33"/>
                </a:solidFill>
                <a:latin typeface="Calibri"/>
              </a:rPr>
              <a:t>: son la misma columna (Gutiérrez)</a:t>
            </a:r>
          </a:p>
        </p:txBody>
      </p:sp>
      <p:sp>
        <p:nvSpPr>
          <p:cNvPr id="5" name="TextBox 4"/>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El diseño 2</a:t>
            </a:r>
            <a:r>
              <a:rPr sz="1000" b="0" baseline="30000">
                <a:solidFill>
                  <a:srgbClr val="5B6B73"/>
                </a:solidFill>
                <a:latin typeface="Calibri"/>
              </a:rPr>
              <a:t>k−p</a:t>
            </a:r>
            <a:r>
              <a:rPr sz="1000" b="0">
                <a:solidFill>
                  <a:srgbClr val="5B6B73"/>
                </a:solidFill>
                <a:latin typeface="Calibri"/>
              </a:rPr>
              <a:t> general</a:t>
            </a:r>
          </a:p>
        </p:txBody>
      </p:sp>
      <p:sp>
        <p:nvSpPr>
          <p:cNvPr id="6" name="TextBox 5"/>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54</a:t>
            </a:r>
          </a:p>
        </p:txBody>
      </p:sp>
      <p:sp>
        <p:nvSpPr>
          <p:cNvPr id="7" name="Rounded Rectangle 6"/>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7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¿Cómo se escogen los generadores?</a:t>
            </a:r>
          </a:p>
        </p:txBody>
      </p:sp>
      <p:sp>
        <p:nvSpPr>
          <p:cNvPr id="3" name="TextBox 2"/>
          <p:cNvSpPr txBox="1"/>
          <p:nvPr/>
        </p:nvSpPr>
        <p:spPr>
          <a:xfrm>
            <a:off x="548640" y="1417320"/>
            <a:ext cx="5341467" cy="4129024"/>
          </a:xfrm>
          <a:prstGeom prst="rect">
            <a:avLst/>
          </a:prstGeom>
          <a:noFill/>
        </p:spPr>
        <p:txBody>
          <a:bodyPr wrap="square" anchor="t" lIns="0" rIns="0" tIns="0" bIns="0">
            <a:spAutoFit/>
          </a:bodyPr>
          <a:lstStyle/>
          <a:p>
            <a:pPr marL="320040" indent="-320040">
              <a:spcAft>
                <a:spcPts val="600"/>
              </a:spcAft>
              <a:buClr>
                <a:srgbClr val="E36414"/>
              </a:buClr>
              <a:buFont typeface="+mj-lt"/>
              <a:buAutoNum type="arabicPeriod"/>
            </a:pPr>
            <a:r>
              <a:rPr sz="1400" b="0">
                <a:solidFill>
                  <a:srgbClr val="142B33"/>
                </a:solidFill>
                <a:latin typeface="Calibri"/>
              </a:rPr>
              <a:t>Fijar k y las corridas N que se pueden pagar: </a:t>
            </a:r>
            <a:r>
              <a:rPr sz="1400" b="1">
                <a:solidFill>
                  <a:srgbClr val="142B33"/>
                </a:solidFill>
                <a:latin typeface="Calibri"/>
              </a:rPr>
              <a:t>p = k − log₂N</a:t>
            </a:r>
            <a:r>
              <a:rPr sz="1400" b="0">
                <a:solidFill>
                  <a:srgbClr val="142B33"/>
                </a:solidFill>
                <a:latin typeface="Calibri"/>
              </a:rPr>
              <a:t> generadores</a:t>
            </a:r>
          </a:p>
          <a:p>
            <a:pPr marL="320040" indent="-320040">
              <a:spcAft>
                <a:spcPts val="600"/>
              </a:spcAft>
              <a:buClr>
                <a:srgbClr val="E36414"/>
              </a:buClr>
              <a:buFont typeface="+mj-lt"/>
              <a:buAutoNum type="arabicPeriod"/>
            </a:pPr>
            <a:r>
              <a:rPr sz="1400" b="0">
                <a:solidFill>
                  <a:srgbClr val="142B33"/>
                </a:solidFill>
                <a:latin typeface="Calibri"/>
              </a:rPr>
              <a:t>Decidir la </a:t>
            </a:r>
            <a:r>
              <a:rPr sz="1400" b="1">
                <a:solidFill>
                  <a:srgbClr val="142B33"/>
                </a:solidFill>
                <a:latin typeface="Calibri"/>
              </a:rPr>
              <a:t>resolución</a:t>
            </a:r>
            <a:r>
              <a:rPr sz="1400" b="0">
                <a:solidFill>
                  <a:srgbClr val="142B33"/>
                </a:solidFill>
                <a:latin typeface="Calibri"/>
              </a:rPr>
              <a:t> necesaria: III solo principales; IV principales libres de dobles; V dobles libres entre sí</a:t>
            </a:r>
          </a:p>
          <a:p>
            <a:pPr marL="320040" indent="-320040">
              <a:spcAft>
                <a:spcPts val="600"/>
              </a:spcAft>
              <a:buClr>
                <a:srgbClr val="E36414"/>
              </a:buClr>
              <a:buFont typeface="+mj-lt"/>
              <a:buAutoNum type="arabicPeriod"/>
            </a:pPr>
            <a:r>
              <a:rPr sz="1400" b="0">
                <a:solidFill>
                  <a:srgbClr val="142B33"/>
                </a:solidFill>
                <a:latin typeface="Calibri"/>
              </a:rPr>
              <a:t>Escribir el </a:t>
            </a:r>
            <a:r>
              <a:rPr sz="1400" b="1">
                <a:solidFill>
                  <a:srgbClr val="142B33"/>
                </a:solidFill>
                <a:latin typeface="Calibri"/>
              </a:rPr>
              <a:t>diseño básico</a:t>
            </a:r>
            <a:r>
              <a:rPr sz="1400" b="0">
                <a:solidFill>
                  <a:srgbClr val="142B33"/>
                </a:solidFill>
                <a:latin typeface="Calibri"/>
              </a:rPr>
              <a:t>: 2</a:t>
            </a:r>
            <a:r>
              <a:rPr sz="1400" b="0" baseline="30000">
                <a:solidFill>
                  <a:srgbClr val="142B33"/>
                </a:solidFill>
                <a:latin typeface="Calibri"/>
              </a:rPr>
              <a:t>k−p</a:t>
            </a:r>
            <a:r>
              <a:rPr sz="1400" b="0">
                <a:solidFill>
                  <a:srgbClr val="142B33"/>
                </a:solidFill>
                <a:latin typeface="Calibri"/>
              </a:rPr>
              <a:t> completo en los primeros k − p factores (A, B, C, D)</a:t>
            </a:r>
          </a:p>
          <a:p>
            <a:pPr marL="320040" indent="-320040">
              <a:spcAft>
                <a:spcPts val="600"/>
              </a:spcAft>
              <a:buClr>
                <a:srgbClr val="E36414"/>
              </a:buClr>
              <a:buFont typeface="+mj-lt"/>
              <a:buAutoNum type="arabicPeriod"/>
            </a:pPr>
            <a:r>
              <a:rPr sz="1400" b="0">
                <a:solidFill>
                  <a:srgbClr val="142B33"/>
                </a:solidFill>
                <a:latin typeface="Calibri"/>
              </a:rPr>
              <a:t>A cada factor sobrante, una </a:t>
            </a:r>
            <a:r>
              <a:rPr sz="1400" b="1">
                <a:solidFill>
                  <a:srgbClr val="142B33"/>
                </a:solidFill>
                <a:latin typeface="Calibri"/>
              </a:rPr>
              <a:t>columna de interacción</a:t>
            </a:r>
            <a:r>
              <a:rPr sz="1400" b="0">
                <a:solidFill>
                  <a:srgbClr val="142B33"/>
                </a:solidFill>
                <a:latin typeface="Calibri"/>
              </a:rPr>
              <a:t> distinta del básico: E = ABC ⇒ generador </a:t>
            </a:r>
            <a:r>
              <a:rPr sz="1400" b="1">
                <a:solidFill>
                  <a:srgbClr val="142B33"/>
                </a:solidFill>
                <a:latin typeface="Calibri"/>
              </a:rPr>
              <a:t>I = ABCE</a:t>
            </a:r>
          </a:p>
          <a:p>
            <a:pPr marL="320040" indent="-320040">
              <a:spcAft>
                <a:spcPts val="600"/>
              </a:spcAft>
              <a:buClr>
                <a:srgbClr val="E36414"/>
              </a:buClr>
              <a:buFont typeface="+mj-lt"/>
              <a:buAutoNum type="arabicPeriod"/>
            </a:pPr>
            <a:r>
              <a:rPr sz="1400" b="0">
                <a:solidFill>
                  <a:srgbClr val="142B33"/>
                </a:solidFill>
                <a:latin typeface="Calibri"/>
              </a:rPr>
              <a:t>Multiplicar los generadores entre sí, cancelando letras repetidas (A² = I): </a:t>
            </a:r>
            <a:r>
              <a:rPr sz="1400" b="1">
                <a:solidFill>
                  <a:srgbClr val="142B33"/>
                </a:solidFill>
                <a:latin typeface="Calibri"/>
              </a:rPr>
              <a:t>2</a:t>
            </a:r>
            <a:r>
              <a:rPr sz="1400" b="1" baseline="30000">
                <a:solidFill>
                  <a:srgbClr val="142B33"/>
                </a:solidFill>
                <a:latin typeface="Calibri"/>
              </a:rPr>
              <a:t>p</a:t>
            </a:r>
            <a:r>
              <a:rPr sz="1400" b="1">
                <a:solidFill>
                  <a:srgbClr val="142B33"/>
                </a:solidFill>
                <a:latin typeface="Calibri"/>
              </a:rPr>
              <a:t> − 1 palabras</a:t>
            </a:r>
          </a:p>
          <a:p>
            <a:pPr marL="320040" indent="-320040">
              <a:spcAft>
                <a:spcPts val="600"/>
              </a:spcAft>
              <a:buClr>
                <a:srgbClr val="E36414"/>
              </a:buClr>
              <a:buFont typeface="+mj-lt"/>
              <a:buAutoNum type="arabicPeriod"/>
            </a:pPr>
            <a:r>
              <a:rPr sz="1400" b="0">
                <a:solidFill>
                  <a:srgbClr val="142B33"/>
                </a:solidFill>
                <a:latin typeface="Calibri"/>
              </a:rPr>
              <a:t>​</a:t>
            </a:r>
            <a:r>
              <a:rPr sz="1400" b="1">
                <a:solidFill>
                  <a:srgbClr val="142B33"/>
                </a:solidFill>
                <a:latin typeface="Calibri"/>
              </a:rPr>
              <a:t>Resolución</a:t>
            </a:r>
            <a:r>
              <a:rPr sz="1400" b="0">
                <a:solidFill>
                  <a:srgbClr val="142B33"/>
                </a:solidFill>
                <a:latin typeface="Calibri"/>
              </a:rPr>
              <a:t> = longitud de la palabra más corta; si no alcanza, volver al paso 4 con otras columnas</a:t>
            </a:r>
          </a:p>
          <a:p>
            <a:pPr marL="320040" indent="-320040">
              <a:spcAft>
                <a:spcPts val="600"/>
              </a:spcAft>
              <a:buClr>
                <a:srgbClr val="E36414"/>
              </a:buClr>
              <a:buFont typeface="+mj-lt"/>
              <a:buAutoNum type="arabicPeriod"/>
            </a:pPr>
            <a:r>
              <a:rPr sz="1400" b="0">
                <a:solidFill>
                  <a:srgbClr val="142B33"/>
                </a:solidFill>
                <a:latin typeface="Calibri"/>
              </a:rPr>
              <a:t>Si hay empate en resolución: </a:t>
            </a:r>
            <a:r>
              <a:rPr sz="1400" b="1">
                <a:solidFill>
                  <a:srgbClr val="142B33"/>
                </a:solidFill>
                <a:latin typeface="Calibri"/>
              </a:rPr>
              <a:t>aberración mínima</a:t>
            </a:r>
            <a:r>
              <a:rPr sz="1400" b="0">
                <a:solidFill>
                  <a:srgbClr val="142B33"/>
                </a:solidFill>
                <a:latin typeface="Calibri"/>
              </a:rPr>
              <a:t> (siguiente diapositiva)</a:t>
            </a:r>
          </a:p>
          <a:p>
            <a:pPr marL="320040" indent="-320040">
              <a:spcAft>
                <a:spcPts val="600"/>
              </a:spcAft>
              <a:buClr>
                <a:srgbClr val="E36414"/>
              </a:buClr>
              <a:buFont typeface="+mj-lt"/>
              <a:buAutoNum type="arabicPeriod"/>
            </a:pPr>
            <a:r>
              <a:rPr sz="1400" b="0">
                <a:solidFill>
                  <a:srgbClr val="142B33"/>
                </a:solidFill>
                <a:latin typeface="Calibri"/>
              </a:rPr>
              <a:t>Escribir los alias y </a:t>
            </a:r>
            <a:r>
              <a:rPr sz="1400" b="1">
                <a:solidFill>
                  <a:srgbClr val="142B33"/>
                </a:solidFill>
                <a:latin typeface="Calibri"/>
              </a:rPr>
              <a:t>asignar</a:t>
            </a:r>
            <a:r>
              <a:rPr sz="1400" b="0">
                <a:solidFill>
                  <a:srgbClr val="142B33"/>
                </a:solidFill>
                <a:latin typeface="Calibri"/>
              </a:rPr>
              <a:t> los factores reales a las letras, sin poner en la misma cadena los que pueden interactuar</a:t>
            </a:r>
          </a:p>
        </p:txBody>
      </p:sp>
      <p:sp>
        <p:nvSpPr>
          <p:cNvPr id="4" name="TextBox 3"/>
          <p:cNvSpPr txBox="1"/>
          <p:nvPr/>
        </p:nvSpPr>
        <p:spPr>
          <a:xfrm>
            <a:off x="6301587" y="1417320"/>
            <a:ext cx="5341467" cy="501396"/>
          </a:xfrm>
          <a:prstGeom prst="rect">
            <a:avLst/>
          </a:prstGeom>
          <a:noFill/>
        </p:spPr>
        <p:txBody>
          <a:bodyPr wrap="square" anchor="t" lIns="0" rIns="0" tIns="0" bIns="0">
            <a:spAutoFit/>
          </a:bodyPr>
          <a:lstStyle/>
          <a:p>
            <a:r>
              <a:rPr sz="1500" b="1">
                <a:solidFill>
                  <a:srgbClr val="142B33"/>
                </a:solidFill>
                <a:latin typeface="Calibri"/>
              </a:rPr>
              <a:t>Ejemplo</a:t>
            </a:r>
            <a:r>
              <a:rPr sz="1500" b="0">
                <a:solidFill>
                  <a:srgbClr val="142B33"/>
                </a:solidFill>
                <a:latin typeface="Calibri"/>
              </a:rPr>
              <a:t>: 6 factores, 16 corridas ⇒ p = 2, básico 2</a:t>
            </a:r>
            <a:r>
              <a:rPr sz="1500" b="0" baseline="30000">
                <a:solidFill>
                  <a:srgbClr val="142B33"/>
                </a:solidFill>
                <a:latin typeface="Calibri"/>
              </a:rPr>
              <a:t>4</a:t>
            </a:r>
            <a:r>
              <a:rPr sz="1500" b="0">
                <a:solidFill>
                  <a:srgbClr val="142B33"/>
                </a:solidFill>
                <a:latin typeface="Calibri"/>
              </a:rPr>
              <a:t> en A, B, C, D</a:t>
            </a:r>
          </a:p>
        </p:txBody>
      </p:sp>
      <p:graphicFrame>
        <p:nvGraphicFramePr>
          <p:cNvPr id="5" name="Table 4"/>
          <p:cNvGraphicFramePr>
            <a:graphicFrameLocks noGrp="1"/>
          </p:cNvGraphicFramePr>
          <p:nvPr/>
        </p:nvGraphicFramePr>
        <p:xfrm>
          <a:off x="6301587" y="2119884"/>
          <a:ext cx="5341466" cy="1343152"/>
        </p:xfrm>
        <a:graphic>
          <a:graphicData uri="http://schemas.openxmlformats.org/drawingml/2006/table">
            <a:tbl>
              <a:tblPr firstRow="0" bandRow="0">
                <a:tableStyleId>{5C22544A-7EE6-4342-B048-85BDC9FD1C3A}</a:tableStyleId>
              </a:tblPr>
              <a:tblGrid>
                <a:gridCol w="1922928"/>
                <a:gridCol w="2670733"/>
                <a:gridCol w="747805"/>
              </a:tblGrid>
              <a:tr h="335788">
                <a:tc>
                  <a:txBody>
                    <a:bodyPr/>
                    <a:lstStyle/>
                    <a:p>
                      <a:pPr algn="l"/>
                      <a:r>
                        <a:rPr sz="1400" b="1">
                          <a:solidFill>
                            <a:srgbClr val="FFFFFF"/>
                          </a:solidFill>
                          <a:latin typeface="Calibri"/>
                        </a:rPr>
                        <a:t>Generadores</a:t>
                      </a:r>
                    </a:p>
                  </a:txBody>
                  <a:tcPr marL="73152" marR="73152" marT="27432" marB="27432" anchor="ctr">
                    <a:solidFill>
                      <a:srgbClr val="0F4C5C"/>
                    </a:solidFill>
                  </a:tcPr>
                </a:tc>
                <a:tc>
                  <a:txBody>
                    <a:bodyPr/>
                    <a:lstStyle/>
                    <a:p>
                      <a:pPr algn="ctr"/>
                      <a:r>
                        <a:rPr sz="1400" b="1">
                          <a:solidFill>
                            <a:srgbClr val="FFFFFF"/>
                          </a:solidFill>
                          <a:latin typeface="Calibri"/>
                        </a:rPr>
                        <a:t>Palabras</a:t>
                      </a:r>
                    </a:p>
                  </a:txBody>
                  <a:tcPr marL="73152" marR="73152" marT="27432" marB="27432" anchor="ctr">
                    <a:solidFill>
                      <a:srgbClr val="0F4C5C"/>
                    </a:solidFill>
                  </a:tcPr>
                </a:tc>
                <a:tc>
                  <a:txBody>
                    <a:bodyPr/>
                    <a:lstStyle/>
                    <a:p>
                      <a:pPr algn="ctr"/>
                      <a:r>
                        <a:rPr sz="1400" b="1">
                          <a:solidFill>
                            <a:srgbClr val="FFFFFF"/>
                          </a:solidFill>
                          <a:latin typeface="Calibri"/>
                        </a:rPr>
                        <a:t>R</a:t>
                      </a:r>
                    </a:p>
                  </a:txBody>
                  <a:tcPr marL="73152" marR="73152" marT="27432" marB="27432" anchor="ctr">
                    <a:solidFill>
                      <a:srgbClr val="0F4C5C"/>
                    </a:solidFill>
                  </a:tcPr>
                </a:tc>
              </a:tr>
              <a:tr h="335788">
                <a:tc>
                  <a:txBody>
                    <a:bodyPr/>
                    <a:lstStyle/>
                    <a:p>
                      <a:pPr algn="l"/>
                      <a:r>
                        <a:rPr sz="1400" b="0">
                          <a:solidFill>
                            <a:srgbClr val="142B33"/>
                          </a:solidFill>
                          <a:latin typeface="Calibri"/>
                        </a:rPr>
                        <a:t>E = ABC,  F = BCD</a:t>
                      </a:r>
                    </a:p>
                  </a:txBody>
                  <a:tcPr marL="73152" marR="73152" marT="27432" marB="27432" anchor="ctr">
                    <a:solidFill>
                      <a:srgbClr val="FDE8D7"/>
                    </a:solidFill>
                  </a:tcPr>
                </a:tc>
                <a:tc>
                  <a:txBody>
                    <a:bodyPr/>
                    <a:lstStyle/>
                    <a:p>
                      <a:pPr algn="ctr"/>
                      <a:r>
                        <a:rPr sz="1400" b="0">
                          <a:solidFill>
                            <a:srgbClr val="142B33"/>
                          </a:solidFill>
                          <a:latin typeface="Calibri"/>
                        </a:rPr>
                        <a:t>ABCE, BCDF, ADEF</a:t>
                      </a:r>
                    </a:p>
                  </a:txBody>
                  <a:tcPr marL="73152" marR="73152" marT="27432" marB="27432" anchor="ctr">
                    <a:solidFill>
                      <a:srgbClr val="FDE8D7"/>
                    </a:solidFill>
                  </a:tcPr>
                </a:tc>
                <a:tc>
                  <a:txBody>
                    <a:bodyPr/>
                    <a:lstStyle/>
                    <a:p>
                      <a:pPr algn="ctr"/>
                      <a:r>
                        <a:rPr sz="1400" b="0">
                          <a:solidFill>
                            <a:srgbClr val="142B33"/>
                          </a:solidFill>
                          <a:latin typeface="Calibri"/>
                        </a:rPr>
                        <a:t>IV</a:t>
                      </a:r>
                    </a:p>
                  </a:txBody>
                  <a:tcPr marL="73152" marR="73152" marT="27432" marB="27432" anchor="ctr">
                    <a:solidFill>
                      <a:srgbClr val="FDE8D7"/>
                    </a:solidFill>
                  </a:tcPr>
                </a:tc>
              </a:tr>
              <a:tr h="335788">
                <a:tc>
                  <a:txBody>
                    <a:bodyPr/>
                    <a:lstStyle/>
                    <a:p>
                      <a:pPr algn="l"/>
                      <a:r>
                        <a:rPr sz="1400" b="0">
                          <a:solidFill>
                            <a:srgbClr val="142B33"/>
                          </a:solidFill>
                          <a:latin typeface="Calibri"/>
                        </a:rPr>
                        <a:t>E = ABC,  F = ABCD</a:t>
                      </a:r>
                    </a:p>
                  </a:txBody>
                  <a:tcPr marL="73152" marR="73152" marT="27432" marB="27432" anchor="ctr">
                    <a:solidFill>
                      <a:srgbClr val="F4F8F9"/>
                    </a:solidFill>
                  </a:tcPr>
                </a:tc>
                <a:tc>
                  <a:txBody>
                    <a:bodyPr/>
                    <a:lstStyle/>
                    <a:p>
                      <a:pPr algn="ctr"/>
                      <a:r>
                        <a:rPr sz="1400" b="0">
                          <a:solidFill>
                            <a:srgbClr val="142B33"/>
                          </a:solidFill>
                          <a:latin typeface="Calibri"/>
                        </a:rPr>
                        <a:t>ABCE, ABCDF, </a:t>
                      </a:r>
                      <a:r>
                        <a:rPr sz="1400" b="1">
                          <a:solidFill>
                            <a:srgbClr val="142B33"/>
                          </a:solidFill>
                          <a:latin typeface="Calibri"/>
                        </a:rPr>
                        <a:t>DEF</a:t>
                      </a:r>
                    </a:p>
                  </a:txBody>
                  <a:tcPr marL="73152" marR="73152" marT="27432" marB="27432" anchor="ctr">
                    <a:solidFill>
                      <a:srgbClr val="F4F8F9"/>
                    </a:solidFill>
                  </a:tcPr>
                </a:tc>
                <a:tc>
                  <a:txBody>
                    <a:bodyPr/>
                    <a:lstStyle/>
                    <a:p>
                      <a:pPr algn="ctr"/>
                      <a:r>
                        <a:rPr sz="1400" b="0">
                          <a:solidFill>
                            <a:srgbClr val="142B33"/>
                          </a:solidFill>
                          <a:latin typeface="Calibri"/>
                        </a:rPr>
                        <a:t>III</a:t>
                      </a:r>
                    </a:p>
                  </a:txBody>
                  <a:tcPr marL="73152" marR="73152" marT="27432" marB="27432" anchor="ctr">
                    <a:solidFill>
                      <a:srgbClr val="F4F8F9"/>
                    </a:solidFill>
                  </a:tcPr>
                </a:tc>
              </a:tr>
              <a:tr h="335788">
                <a:tc>
                  <a:txBody>
                    <a:bodyPr/>
                    <a:lstStyle/>
                    <a:p>
                      <a:pPr algn="l"/>
                      <a:r>
                        <a:rPr sz="1400" b="0">
                          <a:solidFill>
                            <a:srgbClr val="142B33"/>
                          </a:solidFill>
                          <a:latin typeface="Calibri"/>
                        </a:rPr>
                        <a:t>E = ABCD,  F = ABCD</a:t>
                      </a:r>
                    </a:p>
                  </a:txBody>
                  <a:tcPr marL="73152" marR="73152" marT="27432" marB="27432" anchor="ctr">
                    <a:solidFill>
                      <a:srgbClr val="FFFFFF"/>
                    </a:solidFill>
                  </a:tcPr>
                </a:tc>
                <a:tc>
                  <a:txBody>
                    <a:bodyPr/>
                    <a:lstStyle/>
                    <a:p>
                      <a:pPr algn="ctr"/>
                      <a:r>
                        <a:rPr sz="1400" b="0">
                          <a:solidFill>
                            <a:srgbClr val="142B33"/>
                          </a:solidFill>
                          <a:latin typeface="Calibri"/>
                        </a:rPr>
                        <a:t>ABCDE, ABCDF, </a:t>
                      </a:r>
                      <a:r>
                        <a:rPr sz="1400" b="1">
                          <a:solidFill>
                            <a:srgbClr val="142B33"/>
                          </a:solidFill>
                          <a:latin typeface="Calibri"/>
                        </a:rPr>
                        <a:t>EF</a:t>
                      </a:r>
                    </a:p>
                  </a:txBody>
                  <a:tcPr marL="73152" marR="73152" marT="27432" marB="27432" anchor="ctr">
                    <a:solidFill>
                      <a:srgbClr val="FFFFFF"/>
                    </a:solidFill>
                  </a:tcPr>
                </a:tc>
                <a:tc>
                  <a:txBody>
                    <a:bodyPr/>
                    <a:lstStyle/>
                    <a:p>
                      <a:pPr algn="ctr"/>
                      <a:r>
                        <a:rPr sz="1400" b="0">
                          <a:solidFill>
                            <a:srgbClr val="142B33"/>
                          </a:solidFill>
                          <a:latin typeface="Calibri"/>
                        </a:rPr>
                        <a:t>II</a:t>
                      </a:r>
                    </a:p>
                  </a:txBody>
                  <a:tcPr marL="73152" marR="73152" marT="27432" marB="27432" anchor="ctr">
                    <a:solidFill>
                      <a:srgbClr val="FFFFFF"/>
                    </a:solidFill>
                  </a:tcPr>
                </a:tc>
              </a:tr>
            </a:tbl>
          </a:graphicData>
        </a:graphic>
      </p:graphicFrame>
      <p:sp>
        <p:nvSpPr>
          <p:cNvPr id="6" name="Rounded Rectangle 5"/>
          <p:cNvSpPr/>
          <p:nvPr/>
        </p:nvSpPr>
        <p:spPr>
          <a:xfrm>
            <a:off x="6301587" y="3664204"/>
            <a:ext cx="5341467" cy="708151"/>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400" b="0">
                <a:solidFill>
                  <a:srgbClr val="142B33"/>
                </a:solidFill>
                <a:latin typeface="Calibri"/>
              </a:rPr>
              <a:t>Generadores </a:t>
            </a:r>
            <a:r>
              <a:rPr sz="1400" b="1">
                <a:solidFill>
                  <a:srgbClr val="142B33"/>
                </a:solidFill>
                <a:latin typeface="Calibri"/>
              </a:rPr>
              <a:t>largos</a:t>
            </a:r>
            <a:r>
              <a:rPr sz="1400" b="0">
                <a:solidFill>
                  <a:srgbClr val="142B33"/>
                </a:solidFill>
                <a:latin typeface="Calibri"/>
              </a:rPr>
              <a:t> que compartan </a:t>
            </a:r>
            <a:r>
              <a:rPr sz="1400" b="1">
                <a:solidFill>
                  <a:srgbClr val="142B33"/>
                </a:solidFill>
                <a:latin typeface="Calibri"/>
              </a:rPr>
              <a:t>pocas letras</a:t>
            </a:r>
            <a:r>
              <a:rPr sz="1400" b="0">
                <a:solidFill>
                  <a:srgbClr val="142B33"/>
                </a:solidFill>
                <a:latin typeface="Calibri"/>
              </a:rPr>
              <a:t>: ABCE y ABCDF comparten ABC y su producto es DEF</a:t>
            </a:r>
          </a:p>
        </p:txBody>
      </p:sp>
      <p:sp>
        <p:nvSpPr>
          <p:cNvPr id="7" name="Rounded Rectangle 6"/>
          <p:cNvSpPr/>
          <p:nvPr/>
        </p:nvSpPr>
        <p:spPr>
          <a:xfrm>
            <a:off x="6301587" y="4573524"/>
            <a:ext cx="5341467" cy="708151"/>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400" b="0">
                <a:solidFill>
                  <a:srgbClr val="142B33"/>
                </a:solidFill>
                <a:latin typeface="Calibri"/>
              </a:rPr>
              <a:t>Con 16 corridas no hay 2</a:t>
            </a:r>
            <a:r>
              <a:rPr sz="1400" b="0" baseline="30000">
                <a:solidFill>
                  <a:srgbClr val="142B33"/>
                </a:solidFill>
                <a:latin typeface="Calibri"/>
              </a:rPr>
              <a:t>6−2</a:t>
            </a:r>
            <a:r>
              <a:rPr sz="1400" b="0" baseline="-25000">
                <a:solidFill>
                  <a:srgbClr val="142B33"/>
                </a:solidFill>
                <a:latin typeface="Calibri"/>
              </a:rPr>
              <a:t>V</a:t>
            </a:r>
            <a:r>
              <a:rPr sz="1400" b="0">
                <a:solidFill>
                  <a:srgbClr val="142B33"/>
                </a:solidFill>
                <a:latin typeface="Calibri"/>
              </a:rPr>
              <a:t>: solo existe una columna de 4 letras, ABCD</a:t>
            </a:r>
          </a:p>
        </p:txBody>
      </p:sp>
      <p:sp>
        <p:nvSpPr>
          <p:cNvPr id="8" name="TextBox 7"/>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El diseño 2</a:t>
            </a:r>
            <a:r>
              <a:rPr sz="1000" b="0" baseline="30000">
                <a:solidFill>
                  <a:srgbClr val="5B6B73"/>
                </a:solidFill>
                <a:latin typeface="Calibri"/>
              </a:rPr>
              <a:t>k−p</a:t>
            </a:r>
            <a:r>
              <a:rPr sz="1000" b="0">
                <a:solidFill>
                  <a:srgbClr val="5B6B73"/>
                </a:solidFill>
                <a:latin typeface="Calibri"/>
              </a:rPr>
              <a:t> general</a:t>
            </a:r>
          </a:p>
        </p:txBody>
      </p:sp>
      <p:sp>
        <p:nvSpPr>
          <p:cNvPr id="9" name="TextBox 8"/>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55</a:t>
            </a:r>
          </a:p>
        </p:txBody>
      </p:sp>
      <p:sp>
        <p:nvSpPr>
          <p:cNvPr id="10" name="Rounded Rectangle 9"/>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7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¿Cómo se desempata entre diseños de igual resolución?</a:t>
            </a:r>
          </a:p>
        </p:txBody>
      </p:sp>
      <p:graphicFrame>
        <p:nvGraphicFramePr>
          <p:cNvPr id="3" name="Table 2"/>
          <p:cNvGraphicFramePr>
            <a:graphicFrameLocks noGrp="1"/>
          </p:cNvGraphicFramePr>
          <p:nvPr/>
        </p:nvGraphicFramePr>
        <p:xfrm>
          <a:off x="548640" y="1417320"/>
          <a:ext cx="11094412" cy="2081784"/>
        </p:xfrm>
        <a:graphic>
          <a:graphicData uri="http://schemas.openxmlformats.org/drawingml/2006/table">
            <a:tbl>
              <a:tblPr firstRow="0" bandRow="0">
                <a:tableStyleId>{5C22544A-7EE6-4342-B048-85BDC9FD1C3A}</a:tableStyleId>
              </a:tblPr>
              <a:tblGrid>
                <a:gridCol w="2773603"/>
                <a:gridCol w="2773603"/>
                <a:gridCol w="2773603"/>
                <a:gridCol w="2773603"/>
              </a:tblGrid>
              <a:tr h="366776">
                <a:tc>
                  <a:txBody>
                    <a:bodyPr/>
                    <a:lstStyle/>
                    <a:p>
                      <a:pPr algn="l"/>
                    </a:p>
                  </a:txBody>
                  <a:tcPr marL="73152" marR="73152" marT="27432" marB="27432" anchor="ctr">
                    <a:solidFill>
                      <a:srgbClr val="0F4C5C"/>
                    </a:solidFill>
                  </a:tcPr>
                </a:tc>
                <a:tc>
                  <a:txBody>
                    <a:bodyPr/>
                    <a:lstStyle/>
                    <a:p>
                      <a:pPr algn="ctr"/>
                      <a:r>
                        <a:rPr sz="1600" b="1">
                          <a:solidFill>
                            <a:srgbClr val="FFFFFF"/>
                          </a:solidFill>
                          <a:latin typeface="Calibri"/>
                        </a:rPr>
                        <a:t>Diseño A</a:t>
                      </a:r>
                    </a:p>
                  </a:txBody>
                  <a:tcPr marL="73152" marR="73152" marT="27432" marB="27432" anchor="ctr">
                    <a:solidFill>
                      <a:srgbClr val="0F4C5C"/>
                    </a:solidFill>
                  </a:tcPr>
                </a:tc>
                <a:tc>
                  <a:txBody>
                    <a:bodyPr/>
                    <a:lstStyle/>
                    <a:p>
                      <a:pPr algn="ctr"/>
                      <a:r>
                        <a:rPr sz="1600" b="1">
                          <a:solidFill>
                            <a:srgbClr val="FFFFFF"/>
                          </a:solidFill>
                          <a:latin typeface="Calibri"/>
                        </a:rPr>
                        <a:t>Diseño B</a:t>
                      </a:r>
                    </a:p>
                  </a:txBody>
                  <a:tcPr marL="73152" marR="73152" marT="27432" marB="27432" anchor="ctr">
                    <a:solidFill>
                      <a:srgbClr val="0F4C5C"/>
                    </a:solidFill>
                  </a:tcPr>
                </a:tc>
                <a:tc>
                  <a:txBody>
                    <a:bodyPr/>
                    <a:lstStyle/>
                    <a:p>
                      <a:pPr algn="ctr"/>
                      <a:r>
                        <a:rPr sz="1600" b="1">
                          <a:solidFill>
                            <a:srgbClr val="FFFFFF"/>
                          </a:solidFill>
                          <a:latin typeface="Calibri"/>
                        </a:rPr>
                        <a:t>Diseño C</a:t>
                      </a:r>
                    </a:p>
                  </a:txBody>
                  <a:tcPr marL="73152" marR="73152" marT="27432" marB="27432" anchor="ctr">
                    <a:solidFill>
                      <a:srgbClr val="0F4C5C"/>
                    </a:solidFill>
                  </a:tcPr>
                </a:tc>
              </a:tr>
              <a:tr h="366776">
                <a:tc>
                  <a:txBody>
                    <a:bodyPr/>
                    <a:lstStyle/>
                    <a:p>
                      <a:pPr algn="l"/>
                      <a:r>
                        <a:rPr sz="1600" b="0">
                          <a:solidFill>
                            <a:srgbClr val="142B33"/>
                          </a:solidFill>
                          <a:latin typeface="Calibri"/>
                        </a:rPr>
                        <a:t>Generadores</a:t>
                      </a:r>
                    </a:p>
                  </a:txBody>
                  <a:tcPr marL="73152" marR="73152" marT="27432" marB="27432" anchor="ctr">
                    <a:solidFill>
                      <a:srgbClr val="FFFFFF"/>
                    </a:solidFill>
                  </a:tcPr>
                </a:tc>
                <a:tc>
                  <a:txBody>
                    <a:bodyPr/>
                    <a:lstStyle/>
                    <a:p>
                      <a:pPr algn="ctr"/>
                      <a:r>
                        <a:rPr sz="1600" b="0">
                          <a:solidFill>
                            <a:srgbClr val="142B33"/>
                          </a:solidFill>
                          <a:latin typeface="Calibri"/>
                        </a:rPr>
                        <a:t>F = ABC,  G = BCD</a:t>
                      </a:r>
                    </a:p>
                  </a:txBody>
                  <a:tcPr marL="73152" marR="73152" marT="27432" marB="27432" anchor="ctr">
                    <a:solidFill>
                      <a:srgbClr val="FFFFFF"/>
                    </a:solidFill>
                  </a:tcPr>
                </a:tc>
                <a:tc>
                  <a:txBody>
                    <a:bodyPr/>
                    <a:lstStyle/>
                    <a:p>
                      <a:pPr algn="ctr"/>
                      <a:r>
                        <a:rPr sz="1600" b="0">
                          <a:solidFill>
                            <a:srgbClr val="142B33"/>
                          </a:solidFill>
                          <a:latin typeface="Calibri"/>
                        </a:rPr>
                        <a:t>F = ABC,  G = ADE</a:t>
                      </a:r>
                    </a:p>
                  </a:txBody>
                  <a:tcPr marL="73152" marR="73152" marT="27432" marB="27432" anchor="ctr">
                    <a:solidFill>
                      <a:srgbClr val="FFFFFF"/>
                    </a:solidFill>
                  </a:tcPr>
                </a:tc>
                <a:tc>
                  <a:txBody>
                    <a:bodyPr/>
                    <a:lstStyle/>
                    <a:p>
                      <a:pPr algn="ctr"/>
                      <a:r>
                        <a:rPr sz="1600" b="0">
                          <a:solidFill>
                            <a:srgbClr val="142B33"/>
                          </a:solidFill>
                          <a:latin typeface="Calibri"/>
                        </a:rPr>
                        <a:t>F = ABCD,  G = ABDE</a:t>
                      </a:r>
                    </a:p>
                  </a:txBody>
                  <a:tcPr marL="73152" marR="73152" marT="27432" marB="27432" anchor="ctr">
                    <a:solidFill>
                      <a:srgbClr val="FFFFFF"/>
                    </a:solidFill>
                  </a:tcPr>
                </a:tc>
              </a:tr>
              <a:tr h="366776">
                <a:tc>
                  <a:txBody>
                    <a:bodyPr/>
                    <a:lstStyle/>
                    <a:p>
                      <a:pPr algn="l"/>
                      <a:r>
                        <a:rPr sz="1600" b="0">
                          <a:solidFill>
                            <a:srgbClr val="142B33"/>
                          </a:solidFill>
                          <a:latin typeface="Calibri"/>
                        </a:rPr>
                        <a:t>Relación de definición</a:t>
                      </a:r>
                    </a:p>
                  </a:txBody>
                  <a:tcPr marL="73152" marR="73152" marT="27432" marB="27432" anchor="ctr">
                    <a:solidFill>
                      <a:srgbClr val="F4F8F9"/>
                    </a:solidFill>
                  </a:tcPr>
                </a:tc>
                <a:tc>
                  <a:txBody>
                    <a:bodyPr/>
                    <a:lstStyle/>
                    <a:p>
                      <a:pPr algn="ctr"/>
                      <a:r>
                        <a:rPr sz="1600" b="0">
                          <a:solidFill>
                            <a:srgbClr val="142B33"/>
                          </a:solidFill>
                          <a:latin typeface="Calibri"/>
                        </a:rPr>
                        <a:t>I = ABCF = BCDG = ADFG</a:t>
                      </a:r>
                    </a:p>
                  </a:txBody>
                  <a:tcPr marL="73152" marR="73152" marT="27432" marB="27432" anchor="ctr">
                    <a:solidFill>
                      <a:srgbClr val="F4F8F9"/>
                    </a:solidFill>
                  </a:tcPr>
                </a:tc>
                <a:tc>
                  <a:txBody>
                    <a:bodyPr/>
                    <a:lstStyle/>
                    <a:p>
                      <a:pPr algn="ctr"/>
                      <a:r>
                        <a:rPr sz="1600" b="0">
                          <a:solidFill>
                            <a:srgbClr val="142B33"/>
                          </a:solidFill>
                          <a:latin typeface="Calibri"/>
                        </a:rPr>
                        <a:t>I = ABCF = ADEG = BCDEFG</a:t>
                      </a:r>
                    </a:p>
                  </a:txBody>
                  <a:tcPr marL="73152" marR="73152" marT="27432" marB="27432" anchor="ctr">
                    <a:solidFill>
                      <a:srgbClr val="F4F8F9"/>
                    </a:solidFill>
                  </a:tcPr>
                </a:tc>
                <a:tc>
                  <a:txBody>
                    <a:bodyPr/>
                    <a:lstStyle/>
                    <a:p>
                      <a:pPr algn="ctr"/>
                      <a:r>
                        <a:rPr sz="1600" b="0">
                          <a:solidFill>
                            <a:srgbClr val="142B33"/>
                          </a:solidFill>
                          <a:latin typeface="Calibri"/>
                        </a:rPr>
                        <a:t>I = ABCDF = ABDEG = CEFG</a:t>
                      </a:r>
                    </a:p>
                  </a:txBody>
                  <a:tcPr marL="73152" marR="73152" marT="27432" marB="27432" anchor="ctr">
                    <a:solidFill>
                      <a:srgbClr val="F4F8F9"/>
                    </a:solidFill>
                  </a:tcPr>
                </a:tc>
              </a:tr>
              <a:tr h="366776">
                <a:tc>
                  <a:txBody>
                    <a:bodyPr/>
                    <a:lstStyle/>
                    <a:p>
                      <a:pPr algn="l"/>
                      <a:r>
                        <a:rPr sz="1600" b="0">
                          <a:solidFill>
                            <a:srgbClr val="142B33"/>
                          </a:solidFill>
                          <a:latin typeface="Calibri"/>
                        </a:rPr>
                        <a:t>Longitud de las palabras</a:t>
                      </a:r>
                    </a:p>
                  </a:txBody>
                  <a:tcPr marL="73152" marR="73152" marT="27432" marB="27432" anchor="ctr">
                    <a:solidFill>
                      <a:srgbClr val="FFFFFF"/>
                    </a:solidFill>
                  </a:tcPr>
                </a:tc>
                <a:tc>
                  <a:txBody>
                    <a:bodyPr/>
                    <a:lstStyle/>
                    <a:p>
                      <a:pPr algn="ctr"/>
                      <a:r>
                        <a:rPr sz="1600" b="0">
                          <a:solidFill>
                            <a:srgbClr val="142B33"/>
                          </a:solidFill>
                          <a:latin typeface="Calibri"/>
                        </a:rPr>
                        <a:t>4, 4, 4</a:t>
                      </a:r>
                    </a:p>
                  </a:txBody>
                  <a:tcPr marL="73152" marR="73152" marT="27432" marB="27432" anchor="ctr">
                    <a:solidFill>
                      <a:srgbClr val="FFFFFF"/>
                    </a:solidFill>
                  </a:tcPr>
                </a:tc>
                <a:tc>
                  <a:txBody>
                    <a:bodyPr/>
                    <a:lstStyle/>
                    <a:p>
                      <a:pPr algn="ctr"/>
                      <a:r>
                        <a:rPr sz="1600" b="0">
                          <a:solidFill>
                            <a:srgbClr val="142B33"/>
                          </a:solidFill>
                          <a:latin typeface="Calibri"/>
                        </a:rPr>
                        <a:t>4, 4, 6</a:t>
                      </a:r>
                    </a:p>
                  </a:txBody>
                  <a:tcPr marL="73152" marR="73152" marT="27432" marB="27432" anchor="ctr">
                    <a:solidFill>
                      <a:srgbClr val="FFFFFF"/>
                    </a:solidFill>
                  </a:tcPr>
                </a:tc>
                <a:tc>
                  <a:txBody>
                    <a:bodyPr/>
                    <a:lstStyle/>
                    <a:p>
                      <a:pPr algn="ctr"/>
                      <a:r>
                        <a:rPr sz="1600" b="0">
                          <a:solidFill>
                            <a:srgbClr val="142B33"/>
                          </a:solidFill>
                          <a:latin typeface="Calibri"/>
                        </a:rPr>
                        <a:t>4, 5, 5</a:t>
                      </a:r>
                    </a:p>
                  </a:txBody>
                  <a:tcPr marL="73152" marR="73152" marT="27432" marB="27432" anchor="ctr">
                    <a:solidFill>
                      <a:srgbClr val="FFFFFF"/>
                    </a:solidFill>
                  </a:tcPr>
                </a:tc>
              </a:tr>
              <a:tr h="614680">
                <a:tc>
                  <a:txBody>
                    <a:bodyPr/>
                    <a:lstStyle/>
                    <a:p>
                      <a:pPr algn="l"/>
                      <a:r>
                        <a:rPr sz="1600" b="0">
                          <a:solidFill>
                            <a:srgbClr val="142B33"/>
                          </a:solidFill>
                          <a:latin typeface="Calibri"/>
                        </a:rPr>
                        <a:t>Cadenas de interacciones dobles aliadas</a:t>
                      </a:r>
                    </a:p>
                  </a:txBody>
                  <a:tcPr marL="73152" marR="73152" marT="27432" marB="27432" anchor="ctr">
                    <a:solidFill>
                      <a:srgbClr val="F4F8F9"/>
                    </a:solidFill>
                  </a:tcPr>
                </a:tc>
                <a:tc>
                  <a:txBody>
                    <a:bodyPr/>
                    <a:lstStyle/>
                    <a:p>
                      <a:pPr algn="ctr"/>
                      <a:r>
                        <a:rPr sz="1600" b="0">
                          <a:solidFill>
                            <a:srgbClr val="142B33"/>
                          </a:solidFill>
                          <a:latin typeface="Calibri"/>
                        </a:rPr>
                        <a:t>7</a:t>
                      </a:r>
                    </a:p>
                  </a:txBody>
                  <a:tcPr marL="73152" marR="73152" marT="27432" marB="27432" anchor="ctr">
                    <a:solidFill>
                      <a:srgbClr val="F4F8F9"/>
                    </a:solidFill>
                  </a:tcPr>
                </a:tc>
                <a:tc>
                  <a:txBody>
                    <a:bodyPr/>
                    <a:lstStyle/>
                    <a:p>
                      <a:pPr algn="ctr"/>
                      <a:r>
                        <a:rPr sz="1600" b="0">
                          <a:solidFill>
                            <a:srgbClr val="142B33"/>
                          </a:solidFill>
                          <a:latin typeface="Calibri"/>
                        </a:rPr>
                        <a:t>6</a:t>
                      </a:r>
                    </a:p>
                  </a:txBody>
                  <a:tcPr marL="73152" marR="73152" marT="27432" marB="27432" anchor="ctr">
                    <a:solidFill>
                      <a:srgbClr val="F4F8F9"/>
                    </a:solidFill>
                  </a:tcPr>
                </a:tc>
                <a:tc>
                  <a:txBody>
                    <a:bodyPr/>
                    <a:lstStyle/>
                    <a:p>
                      <a:pPr algn="ctr"/>
                      <a:r>
                        <a:rPr sz="1600" b="0">
                          <a:solidFill>
                            <a:srgbClr val="142B33"/>
                          </a:solidFill>
                          <a:latin typeface="Calibri"/>
                        </a:rPr>
                        <a:t>3</a:t>
                      </a:r>
                    </a:p>
                  </a:txBody>
                  <a:tcPr marL="73152" marR="73152" marT="27432" marB="27432" anchor="ctr">
                    <a:solidFill>
                      <a:srgbClr val="F4F8F9"/>
                    </a:solidFill>
                  </a:tcPr>
                </a:tc>
              </a:tr>
            </a:tbl>
          </a:graphicData>
        </a:graphic>
      </p:graphicFrame>
      <p:sp>
        <p:nvSpPr>
          <p:cNvPr id="4" name="TextBox 3"/>
          <p:cNvSpPr txBox="1"/>
          <p:nvPr/>
        </p:nvSpPr>
        <p:spPr>
          <a:xfrm>
            <a:off x="548640" y="3700272"/>
            <a:ext cx="11094415" cy="1258823"/>
          </a:xfrm>
          <a:prstGeom prst="rect">
            <a:avLst/>
          </a:prstGeom>
          <a:noFill/>
        </p:spPr>
        <p:txBody>
          <a:bodyPr wrap="square" anchor="t" lIns="0" rIns="0" tIns="0" bIns="0">
            <a:spAutoFit/>
          </a:bodyPr>
          <a:lstStyle/>
          <a:p>
            <a:pPr marL="320040" indent="-320040">
              <a:spcAft>
                <a:spcPts val="600"/>
              </a:spcAft>
              <a:buClr>
                <a:srgbClr val="E36414"/>
              </a:buClr>
              <a:buFont typeface="+mj-lt"/>
              <a:buAutoNum type="arabicPeriod"/>
            </a:pPr>
            <a:r>
              <a:rPr sz="1500" b="0">
                <a:solidFill>
                  <a:srgbClr val="142B33"/>
                </a:solidFill>
                <a:latin typeface="Calibri"/>
              </a:rPr>
              <a:t>Escribir la </a:t>
            </a:r>
            <a:r>
              <a:rPr sz="1500" b="1">
                <a:solidFill>
                  <a:srgbClr val="142B33"/>
                </a:solidFill>
                <a:latin typeface="Calibri"/>
              </a:rPr>
              <a:t>relación de definición</a:t>
            </a:r>
            <a:r>
              <a:rPr sz="1500" b="0">
                <a:solidFill>
                  <a:srgbClr val="142B33"/>
                </a:solidFill>
                <a:latin typeface="Calibri"/>
              </a:rPr>
              <a:t> de cada candidato y la longitud de cada palabra</a:t>
            </a:r>
          </a:p>
          <a:p>
            <a:pPr marL="320040" indent="-320040">
              <a:spcAft>
                <a:spcPts val="600"/>
              </a:spcAft>
              <a:buClr>
                <a:srgbClr val="E36414"/>
              </a:buClr>
              <a:buFont typeface="+mj-lt"/>
              <a:buAutoNum type="arabicPeriod"/>
            </a:pPr>
            <a:r>
              <a:rPr sz="1500" b="0">
                <a:solidFill>
                  <a:srgbClr val="142B33"/>
                </a:solidFill>
                <a:latin typeface="Calibri"/>
              </a:rPr>
              <a:t>Descartar los de menor </a:t>
            </a:r>
            <a:r>
              <a:rPr sz="1500" b="1">
                <a:solidFill>
                  <a:srgbClr val="142B33"/>
                </a:solidFill>
                <a:latin typeface="Calibri"/>
              </a:rPr>
              <a:t>resolución</a:t>
            </a:r>
          </a:p>
          <a:p>
            <a:pPr marL="320040" indent="-320040">
              <a:spcAft>
                <a:spcPts val="600"/>
              </a:spcAft>
              <a:buClr>
                <a:srgbClr val="E36414"/>
              </a:buClr>
              <a:buFont typeface="+mj-lt"/>
              <a:buAutoNum type="arabicPeriod"/>
            </a:pPr>
            <a:r>
              <a:rPr sz="1500" b="0">
                <a:solidFill>
                  <a:srgbClr val="142B33"/>
                </a:solidFill>
                <a:latin typeface="Calibri"/>
              </a:rPr>
              <a:t>Entre los que quedan, contar las palabras de </a:t>
            </a:r>
            <a:r>
              <a:rPr sz="1500" b="1">
                <a:solidFill>
                  <a:srgbClr val="142B33"/>
                </a:solidFill>
                <a:latin typeface="Calibri"/>
              </a:rPr>
              <a:t>longitud mínima</a:t>
            </a:r>
            <a:r>
              <a:rPr sz="1500" b="0">
                <a:solidFill>
                  <a:srgbClr val="142B33"/>
                </a:solidFill>
                <a:latin typeface="Calibri"/>
              </a:rPr>
              <a:t>: gana el que tiene </a:t>
            </a:r>
            <a:r>
              <a:rPr sz="1500" b="1">
                <a:solidFill>
                  <a:srgbClr val="142B33"/>
                </a:solidFill>
                <a:latin typeface="Calibri"/>
              </a:rPr>
              <a:t>menos</a:t>
            </a:r>
          </a:p>
          <a:p>
            <a:pPr marL="320040" indent="-320040">
              <a:spcAft>
                <a:spcPts val="600"/>
              </a:spcAft>
              <a:buClr>
                <a:srgbClr val="E36414"/>
              </a:buClr>
              <a:buFont typeface="+mj-lt"/>
              <a:buAutoNum type="arabicPeriod"/>
            </a:pPr>
            <a:r>
              <a:rPr sz="1500" b="0">
                <a:solidFill>
                  <a:srgbClr val="142B33"/>
                </a:solidFill>
                <a:latin typeface="Calibri"/>
              </a:rPr>
              <a:t>Comprobar: menos </a:t>
            </a:r>
            <a:r>
              <a:rPr sz="1500" b="1">
                <a:solidFill>
                  <a:srgbClr val="142B33"/>
                </a:solidFill>
                <a:latin typeface="Calibri"/>
              </a:rPr>
              <a:t>cadenas de interacciones dobles</a:t>
            </a:r>
            <a:r>
              <a:rPr sz="1500" b="0">
                <a:solidFill>
                  <a:srgbClr val="142B33"/>
                </a:solidFill>
                <a:latin typeface="Calibri"/>
              </a:rPr>
              <a:t> aliadas entre sí</a:t>
            </a:r>
          </a:p>
        </p:txBody>
      </p:sp>
      <p:sp>
        <p:nvSpPr>
          <p:cNvPr id="5" name="Rounded Rectangle 4"/>
          <p:cNvSpPr/>
          <p:nvPr/>
        </p:nvSpPr>
        <p:spPr>
          <a:xfrm>
            <a:off x="548640" y="5160264"/>
            <a:ext cx="11094415"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Los tres son IV; el diseño C tiene una sola palabra de 4 letras: es el de </a:t>
            </a:r>
            <a:r>
              <a:rPr sz="1500" b="1">
                <a:solidFill>
                  <a:srgbClr val="142B33"/>
                </a:solidFill>
                <a:latin typeface="Calibri"/>
              </a:rPr>
              <a:t>aberración mínima</a:t>
            </a:r>
            <a:r>
              <a:rPr sz="1500" b="0">
                <a:solidFill>
                  <a:srgbClr val="142B33"/>
                </a:solidFill>
                <a:latin typeface="Calibri"/>
              </a:rPr>
              <a:t>. Con el patrón W de Gutiérrez: C = (0, 0, 0, </a:t>
            </a:r>
            <a:r>
              <a:rPr sz="1500" b="1">
                <a:solidFill>
                  <a:srgbClr val="142B33"/>
                </a:solidFill>
                <a:latin typeface="Calibri"/>
              </a:rPr>
              <a:t>1</a:t>
            </a:r>
            <a:r>
              <a:rPr sz="1500" b="0">
                <a:solidFill>
                  <a:srgbClr val="142B33"/>
                </a:solidFill>
                <a:latin typeface="Calibri"/>
              </a:rPr>
              <a:t>, 2, 0, 0) frente a A = (0, 0, 0, </a:t>
            </a:r>
            <a:r>
              <a:rPr sz="1500" b="1">
                <a:solidFill>
                  <a:srgbClr val="142B33"/>
                </a:solidFill>
                <a:latin typeface="Calibri"/>
              </a:rPr>
              <a:t>3</a:t>
            </a:r>
            <a:r>
              <a:rPr sz="1500" b="0">
                <a:solidFill>
                  <a:srgbClr val="142B33"/>
                </a:solidFill>
                <a:latin typeface="Calibri"/>
              </a:rPr>
              <a:t>, 0, 0, 0)</a:t>
            </a:r>
          </a:p>
        </p:txBody>
      </p:sp>
      <p:sp>
        <p:nvSpPr>
          <p:cNvPr id="6" name="TextBox 5"/>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El diseño 2</a:t>
            </a:r>
            <a:r>
              <a:rPr sz="1000" b="0" baseline="30000">
                <a:solidFill>
                  <a:srgbClr val="5B6B73"/>
                </a:solidFill>
                <a:latin typeface="Calibri"/>
              </a:rPr>
              <a:t>k−p</a:t>
            </a:r>
            <a:r>
              <a:rPr sz="1000" b="0">
                <a:solidFill>
                  <a:srgbClr val="5B6B73"/>
                </a:solidFill>
                <a:latin typeface="Calibri"/>
              </a:rPr>
              <a:t> general</a:t>
            </a:r>
          </a:p>
        </p:txBody>
      </p:sp>
      <p:sp>
        <p:nvSpPr>
          <p:cNvPr id="7" name="TextBox 6"/>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56</a:t>
            </a:r>
          </a:p>
        </p:txBody>
      </p:sp>
      <p:sp>
        <p:nvSpPr>
          <p:cNvPr id="8" name="Rounded Rectangle 7"/>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7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didáctico · Enunciado: generadores para un pan</a:t>
            </a:r>
          </a:p>
        </p:txBody>
      </p:sp>
      <p:sp>
        <p:nvSpPr>
          <p:cNvPr id="3" name="TextBox 2"/>
          <p:cNvSpPr txBox="1"/>
          <p:nvPr/>
        </p:nvSpPr>
        <p:spPr>
          <a:xfrm>
            <a:off x="548640" y="1417320"/>
            <a:ext cx="6196102" cy="1276096"/>
          </a:xfrm>
          <a:prstGeom prst="rect">
            <a:avLst/>
          </a:prstGeom>
          <a:noFill/>
        </p:spPr>
        <p:txBody>
          <a:bodyPr wrap="square" anchor="t" lIns="0" rIns="0" tIns="0" bIns="0">
            <a:spAutoFit/>
          </a:bodyPr>
          <a:lstStyle/>
          <a:p>
            <a:r>
              <a:rPr sz="1600" b="0">
                <a:solidFill>
                  <a:srgbClr val="142B33"/>
                </a:solidFill>
                <a:latin typeface="Calibri"/>
              </a:rPr>
              <a:t>Una panadería quiere aumentar el </a:t>
            </a:r>
            <a:r>
              <a:rPr sz="1600" b="1">
                <a:solidFill>
                  <a:srgbClr val="142B33"/>
                </a:solidFill>
                <a:latin typeface="Calibri"/>
              </a:rPr>
              <a:t>volumen</a:t>
            </a:r>
            <a:r>
              <a:rPr sz="1600" b="0">
                <a:solidFill>
                  <a:srgbClr val="142B33"/>
                </a:solidFill>
                <a:latin typeface="Calibri"/>
              </a:rPr>
              <a:t> de su pan (mL). Se estudian cinco factores a dos niveles: A levadura (1 o 2 %), B temperatura del horno (180 o 200 °C), C tiempo de horneado (25 o 30 min), D azúcar (3 o 6 %) y E humedad de la masa (60 o 65 %).</a:t>
            </a:r>
          </a:p>
        </p:txBody>
      </p:sp>
      <p:sp>
        <p:nvSpPr>
          <p:cNvPr id="4" name="TextBox 3"/>
          <p:cNvSpPr txBox="1"/>
          <p:nvPr/>
        </p:nvSpPr>
        <p:spPr>
          <a:xfrm>
            <a:off x="548640" y="2894584"/>
            <a:ext cx="6196102" cy="1523999"/>
          </a:xfrm>
          <a:prstGeom prst="rect">
            <a:avLst/>
          </a:prstGeom>
          <a:noFill/>
        </p:spPr>
        <p:txBody>
          <a:bodyPr wrap="square" anchor="t" lIns="0" rIns="0" tIns="0" bIns="0">
            <a:spAutoFit/>
          </a:bodyPr>
          <a:lstStyle/>
          <a:p>
            <a:r>
              <a:rPr sz="1600" b="0">
                <a:solidFill>
                  <a:srgbClr val="142B33"/>
                </a:solidFill>
                <a:latin typeface="Calibri"/>
              </a:rPr>
              <a:t>Cada corrida ocupa el horno una tarde. El presupuesto es de </a:t>
            </a:r>
            <a:r>
              <a:rPr sz="1600" b="1">
                <a:solidFill>
                  <a:srgbClr val="142B33"/>
                </a:solidFill>
                <a:latin typeface="Calibri"/>
              </a:rPr>
              <a:t>8 corridas</a:t>
            </a:r>
            <a:r>
              <a:rPr sz="1600" b="0">
                <a:solidFill>
                  <a:srgbClr val="142B33"/>
                </a:solidFill>
                <a:latin typeface="Calibri"/>
              </a:rPr>
              <a:t>; con esfuerzo se podrían pagar 16. El panadero está seguro de que hay una </a:t>
            </a:r>
            <a:r>
              <a:rPr sz="1600" b="1">
                <a:solidFill>
                  <a:srgbClr val="142B33"/>
                </a:solidFill>
                <a:latin typeface="Calibri"/>
              </a:rPr>
              <a:t>interacción temperatura × tiempo</a:t>
            </a:r>
            <a:r>
              <a:rPr sz="1600" b="0">
                <a:solidFill>
                  <a:srgbClr val="142B33"/>
                </a:solidFill>
                <a:latin typeface="Calibri"/>
              </a:rPr>
              <a:t> y quiere que ningún efecto principal quede mezclado con ella; las interacciones de tres o más factores se consideran despreciables.</a:t>
            </a:r>
          </a:p>
        </p:txBody>
      </p:sp>
      <p:sp>
        <p:nvSpPr>
          <p:cNvPr id="5" name="TextBox 4"/>
          <p:cNvSpPr txBox="1"/>
          <p:nvPr/>
        </p:nvSpPr>
        <p:spPr>
          <a:xfrm>
            <a:off x="548640" y="4619752"/>
            <a:ext cx="6196102" cy="222504"/>
          </a:xfrm>
          <a:prstGeom prst="rect">
            <a:avLst/>
          </a:prstGeom>
          <a:noFill/>
        </p:spPr>
        <p:txBody>
          <a:bodyPr wrap="square" anchor="t" lIns="0" rIns="0" tIns="0" bIns="0">
            <a:spAutoFit/>
          </a:bodyPr>
          <a:lstStyle/>
          <a:p>
            <a:r>
              <a:rPr sz="1200" b="0">
                <a:solidFill>
                  <a:srgbClr val="5B6B73"/>
                </a:solidFill>
                <a:latin typeface="Calibri"/>
              </a:rPr>
              <a:t>Fuente: ejemplo construido para la clase</a:t>
            </a:r>
          </a:p>
        </p:txBody>
      </p:sp>
      <p:sp>
        <p:nvSpPr>
          <p:cNvPr id="6" name="Rounded Rectangle 5"/>
          <p:cNvSpPr/>
          <p:nvPr/>
        </p:nvSpPr>
        <p:spPr>
          <a:xfrm>
            <a:off x="7156222" y="1417320"/>
            <a:ext cx="4486832" cy="1249426"/>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700" b="1">
                <a:solidFill>
                  <a:srgbClr val="0F4C5C"/>
                </a:solidFill>
                <a:latin typeface="Cambria"/>
              </a:rPr>
              <a:t>Objetivo</a:t>
            </a:r>
          </a:p>
          <a:p>
            <a:pPr algn="l"/>
            <a:r>
              <a:rPr sz="1500" b="0">
                <a:solidFill>
                  <a:srgbClr val="142B33"/>
                </a:solidFill>
                <a:latin typeface="Calibri"/>
              </a:rPr>
              <a:t>Escoger los generadores con el procedimiento de ocho pasos.</a:t>
            </a:r>
          </a:p>
        </p:txBody>
      </p:sp>
      <p:sp>
        <p:nvSpPr>
          <p:cNvPr id="7" name="TextBox 6"/>
          <p:cNvSpPr txBox="1"/>
          <p:nvPr/>
        </p:nvSpPr>
        <p:spPr>
          <a:xfrm>
            <a:off x="7156222" y="2867914"/>
            <a:ext cx="4486832" cy="299973"/>
          </a:xfrm>
          <a:prstGeom prst="rect">
            <a:avLst/>
          </a:prstGeom>
          <a:noFill/>
        </p:spPr>
        <p:txBody>
          <a:bodyPr wrap="square" anchor="t" lIns="0" rIns="0" tIns="0" bIns="0">
            <a:spAutoFit/>
          </a:bodyPr>
          <a:lstStyle/>
          <a:p>
            <a:r>
              <a:rPr sz="1700" b="1">
                <a:solidFill>
                  <a:srgbClr val="142B33"/>
                </a:solidFill>
                <a:latin typeface="Calibri"/>
              </a:rPr>
              <a:t>Se pide</a:t>
            </a:r>
          </a:p>
        </p:txBody>
      </p:sp>
      <p:sp>
        <p:nvSpPr>
          <p:cNvPr id="8" name="TextBox 7"/>
          <p:cNvSpPr txBox="1"/>
          <p:nvPr/>
        </p:nvSpPr>
        <p:spPr>
          <a:xfrm>
            <a:off x="7156222" y="3369056"/>
            <a:ext cx="4486832" cy="1956053"/>
          </a:xfrm>
          <a:prstGeom prst="rect">
            <a:avLst/>
          </a:prstGeom>
          <a:noFill/>
        </p:spPr>
        <p:txBody>
          <a:bodyPr wrap="square" anchor="t" lIns="0" rIns="0" tIns="0" bIns="0">
            <a:spAutoFit/>
          </a:bodyPr>
          <a:lstStyle/>
          <a:p>
            <a:pPr marL="320040" indent="-320040">
              <a:spcAft>
                <a:spcPts val="600"/>
              </a:spcAft>
              <a:buClr>
                <a:srgbClr val="E36414"/>
              </a:buClr>
              <a:buFont typeface="+mj-lt"/>
              <a:buAutoNum type="arabicPeriod"/>
            </a:pPr>
            <a:r>
              <a:rPr sz="1500" b="0">
                <a:solidFill>
                  <a:srgbClr val="142B33"/>
                </a:solidFill>
                <a:latin typeface="Calibri"/>
              </a:rPr>
              <a:t>Calcular p con 8 corridas y la resolución que hace falta</a:t>
            </a:r>
          </a:p>
          <a:p>
            <a:pPr marL="320040" indent="-320040">
              <a:spcAft>
                <a:spcPts val="600"/>
              </a:spcAft>
              <a:buClr>
                <a:srgbClr val="E36414"/>
              </a:buClr>
              <a:buFont typeface="+mj-lt"/>
              <a:buAutoNum type="arabicPeriod"/>
            </a:pPr>
            <a:r>
              <a:rPr sz="1500" b="0">
                <a:solidFill>
                  <a:srgbClr val="142B33"/>
                </a:solidFill>
                <a:latin typeface="Calibri"/>
              </a:rPr>
              <a:t>Probar generadores y decir si alguno alcanza esa resolución</a:t>
            </a:r>
          </a:p>
          <a:p>
            <a:pPr marL="320040" indent="-320040">
              <a:spcAft>
                <a:spcPts val="600"/>
              </a:spcAft>
              <a:buClr>
                <a:srgbClr val="E36414"/>
              </a:buClr>
              <a:buFont typeface="+mj-lt"/>
              <a:buAutoNum type="arabicPeriod"/>
            </a:pPr>
            <a:r>
              <a:rPr sz="1500" b="0">
                <a:solidFill>
                  <a:srgbClr val="142B33"/>
                </a:solidFill>
                <a:latin typeface="Calibri"/>
              </a:rPr>
              <a:t>Decidir qué hacer si no alcanza: pagar más corridas o asignar bien los factores</a:t>
            </a:r>
          </a:p>
          <a:p>
            <a:pPr marL="320040" indent="-320040">
              <a:spcAft>
                <a:spcPts val="600"/>
              </a:spcAft>
              <a:buClr>
                <a:srgbClr val="E36414"/>
              </a:buClr>
              <a:buFont typeface="+mj-lt"/>
              <a:buAutoNum type="arabicPeriod"/>
            </a:pPr>
            <a:r>
              <a:rPr sz="1500" b="0">
                <a:solidFill>
                  <a:srgbClr val="142B33"/>
                </a:solidFill>
                <a:latin typeface="Calibri"/>
              </a:rPr>
              <a:t>Escribir los alias del diseño elegido</a:t>
            </a:r>
          </a:p>
        </p:txBody>
      </p:sp>
      <p:sp>
        <p:nvSpPr>
          <p:cNvPr id="9" name="TextBox 8"/>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El diseño 2</a:t>
            </a:r>
            <a:r>
              <a:rPr sz="1000" b="0" baseline="30000">
                <a:solidFill>
                  <a:srgbClr val="5B6B73"/>
                </a:solidFill>
                <a:latin typeface="Calibri"/>
              </a:rPr>
              <a:t>k−p</a:t>
            </a:r>
            <a:r>
              <a:rPr sz="1000" b="0">
                <a:solidFill>
                  <a:srgbClr val="5B6B73"/>
                </a:solidFill>
                <a:latin typeface="Calibri"/>
              </a:rPr>
              <a:t> general</a:t>
            </a:r>
          </a:p>
        </p:txBody>
      </p:sp>
      <p:sp>
        <p:nvSpPr>
          <p:cNvPr id="10" name="TextBox 9"/>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57</a:t>
            </a:r>
          </a:p>
        </p:txBody>
      </p:sp>
      <p:sp>
        <p:nvSpPr>
          <p:cNvPr id="11" name="Rounded Rectangle 10"/>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7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didáctico · Pasos 1 a 6: ¿alcanzan 8 corridas?</a:t>
            </a:r>
          </a:p>
        </p:txBody>
      </p:sp>
      <p:sp>
        <p:nvSpPr>
          <p:cNvPr id="3" name="TextBox 2"/>
          <p:cNvSpPr txBox="1"/>
          <p:nvPr/>
        </p:nvSpPr>
        <p:spPr>
          <a:xfrm>
            <a:off x="548640" y="1417320"/>
            <a:ext cx="5341467" cy="2503170"/>
          </a:xfrm>
          <a:prstGeom prst="rect">
            <a:avLst/>
          </a:prstGeom>
          <a:noFill/>
        </p:spPr>
        <p:txBody>
          <a:bodyPr wrap="square" anchor="t" lIns="0" rIns="0" tIns="0" bIns="0">
            <a:spAutoFit/>
          </a:bodyPr>
          <a:lstStyle/>
          <a:p>
            <a:pPr marL="320040" indent="-320040">
              <a:spcAft>
                <a:spcPts val="600"/>
              </a:spcAft>
              <a:buClr>
                <a:srgbClr val="E36414"/>
              </a:buClr>
              <a:buFont typeface="+mj-lt"/>
              <a:buAutoNum type="arabicPeriod"/>
            </a:pPr>
            <a:r>
              <a:rPr sz="1500" b="0">
                <a:solidFill>
                  <a:srgbClr val="142B33"/>
                </a:solidFill>
                <a:latin typeface="Calibri"/>
              </a:rPr>
              <a:t>k = 5, N = 8  ⇒  </a:t>
            </a:r>
            <a:r>
              <a:rPr sz="1500" b="1">
                <a:solidFill>
                  <a:srgbClr val="142B33"/>
                </a:solidFill>
                <a:latin typeface="Calibri"/>
              </a:rPr>
              <a:t>p = 2</a:t>
            </a:r>
            <a:r>
              <a:rPr sz="1500" b="0">
                <a:solidFill>
                  <a:srgbClr val="142B33"/>
                </a:solidFill>
                <a:latin typeface="Calibri"/>
              </a:rPr>
              <a:t>: un 2</a:t>
            </a:r>
            <a:r>
              <a:rPr sz="1500" b="0" baseline="30000">
                <a:solidFill>
                  <a:srgbClr val="142B33"/>
                </a:solidFill>
                <a:latin typeface="Calibri"/>
              </a:rPr>
              <a:t>5−2</a:t>
            </a:r>
          </a:p>
          <a:p>
            <a:pPr marL="320040" indent="-320040">
              <a:spcAft>
                <a:spcPts val="600"/>
              </a:spcAft>
              <a:buClr>
                <a:srgbClr val="E36414"/>
              </a:buClr>
              <a:buFont typeface="+mj-lt"/>
              <a:buAutoNum type="arabicPeriod"/>
            </a:pPr>
            <a:r>
              <a:rPr sz="1500" b="0">
                <a:solidFill>
                  <a:srgbClr val="142B33"/>
                </a:solidFill>
                <a:latin typeface="Calibri"/>
              </a:rPr>
              <a:t>Efectos principales libres de interacciones dobles  ⇒  hace falta </a:t>
            </a:r>
            <a:r>
              <a:rPr sz="1500" b="1">
                <a:solidFill>
                  <a:srgbClr val="142B33"/>
                </a:solidFill>
                <a:latin typeface="Calibri"/>
              </a:rPr>
              <a:t>resolución IV</a:t>
            </a:r>
          </a:p>
          <a:p>
            <a:pPr marL="320040" indent="-320040">
              <a:spcAft>
                <a:spcPts val="600"/>
              </a:spcAft>
              <a:buClr>
                <a:srgbClr val="E36414"/>
              </a:buClr>
              <a:buFont typeface="+mj-lt"/>
              <a:buAutoNum type="arabicPeriod"/>
            </a:pPr>
            <a:r>
              <a:rPr sz="1500" b="0">
                <a:solidFill>
                  <a:srgbClr val="142B33"/>
                </a:solidFill>
                <a:latin typeface="Calibri"/>
              </a:rPr>
              <a:t>Diseño básico: </a:t>
            </a:r>
            <a:r>
              <a:rPr sz="1500" b="1">
                <a:solidFill>
                  <a:srgbClr val="142B33"/>
                </a:solidFill>
                <a:latin typeface="Calibri"/>
              </a:rPr>
              <a:t>2</a:t>
            </a:r>
            <a:r>
              <a:rPr sz="1500" b="1" baseline="30000">
                <a:solidFill>
                  <a:srgbClr val="142B33"/>
                </a:solidFill>
                <a:latin typeface="Calibri"/>
              </a:rPr>
              <a:t>3</a:t>
            </a:r>
            <a:r>
              <a:rPr sz="1500" b="0">
                <a:solidFill>
                  <a:srgbClr val="142B33"/>
                </a:solidFill>
                <a:latin typeface="Calibri"/>
              </a:rPr>
              <a:t> en A, B, C. Columnas disponibles: </a:t>
            </a:r>
            <a:r>
              <a:rPr sz="1500" b="1">
                <a:solidFill>
                  <a:srgbClr val="142B33"/>
                </a:solidFill>
                <a:latin typeface="Calibri"/>
              </a:rPr>
              <a:t>AB, AC, BC, ABC</a:t>
            </a:r>
          </a:p>
          <a:p>
            <a:pPr marL="320040" indent="-320040">
              <a:spcAft>
                <a:spcPts val="600"/>
              </a:spcAft>
              <a:buClr>
                <a:srgbClr val="E36414"/>
              </a:buClr>
              <a:buFont typeface="+mj-lt"/>
              <a:buAutoNum type="arabicPeriod"/>
            </a:pPr>
            <a:r>
              <a:rPr sz="1500" b="0">
                <a:solidFill>
                  <a:srgbClr val="142B33"/>
                </a:solidFill>
                <a:latin typeface="Calibri"/>
              </a:rPr>
              <a:t>Asignar a D y E dos columnas distintas y multiplicar los generadores</a:t>
            </a:r>
          </a:p>
          <a:p>
            <a:pPr marL="320040" indent="-320040">
              <a:spcAft>
                <a:spcPts val="600"/>
              </a:spcAft>
              <a:buClr>
                <a:srgbClr val="E36414"/>
              </a:buClr>
              <a:buFont typeface="+mj-lt"/>
              <a:buAutoNum type="arabicPeriod"/>
            </a:pPr>
            <a:r>
              <a:rPr sz="1500" b="0">
                <a:solidFill>
                  <a:srgbClr val="142B33"/>
                </a:solidFill>
                <a:latin typeface="Calibri"/>
              </a:rPr>
              <a:t>Leer la palabra más corta: </a:t>
            </a:r>
            <a:r>
              <a:rPr sz="1500" b="1">
                <a:solidFill>
                  <a:srgbClr val="142B33"/>
                </a:solidFill>
                <a:latin typeface="Calibri"/>
              </a:rPr>
              <a:t>3 letras</a:t>
            </a:r>
            <a:r>
              <a:rPr sz="1500" b="0">
                <a:solidFill>
                  <a:srgbClr val="142B33"/>
                </a:solidFill>
                <a:latin typeface="Calibri"/>
              </a:rPr>
              <a:t> en todos  ⇒  </a:t>
            </a:r>
            <a:r>
              <a:rPr sz="1500" b="1">
                <a:solidFill>
                  <a:srgbClr val="142B33"/>
                </a:solidFill>
                <a:latin typeface="Calibri"/>
              </a:rPr>
              <a:t>resolución III</a:t>
            </a:r>
          </a:p>
        </p:txBody>
      </p:sp>
      <p:graphicFrame>
        <p:nvGraphicFramePr>
          <p:cNvPr id="4" name="Table 3"/>
          <p:cNvGraphicFramePr>
            <a:graphicFrameLocks noGrp="1"/>
          </p:cNvGraphicFramePr>
          <p:nvPr/>
        </p:nvGraphicFramePr>
        <p:xfrm>
          <a:off x="6301587" y="1417320"/>
          <a:ext cx="5341466" cy="1343152"/>
        </p:xfrm>
        <a:graphic>
          <a:graphicData uri="http://schemas.openxmlformats.org/drawingml/2006/table">
            <a:tbl>
              <a:tblPr firstRow="0" bandRow="0">
                <a:tableStyleId>{5C22544A-7EE6-4342-B048-85BDC9FD1C3A}</a:tableStyleId>
              </a:tblPr>
              <a:tblGrid>
                <a:gridCol w="1922928"/>
                <a:gridCol w="2670733"/>
                <a:gridCol w="747805"/>
              </a:tblGrid>
              <a:tr h="335788">
                <a:tc>
                  <a:txBody>
                    <a:bodyPr/>
                    <a:lstStyle/>
                    <a:p>
                      <a:pPr algn="l"/>
                      <a:r>
                        <a:rPr sz="1400" b="1">
                          <a:solidFill>
                            <a:srgbClr val="FFFFFF"/>
                          </a:solidFill>
                          <a:latin typeface="Calibri"/>
                        </a:rPr>
                        <a:t>Generadores</a:t>
                      </a:r>
                    </a:p>
                  </a:txBody>
                  <a:tcPr marL="73152" marR="73152" marT="27432" marB="27432" anchor="ctr">
                    <a:solidFill>
                      <a:srgbClr val="0F4C5C"/>
                    </a:solidFill>
                  </a:tcPr>
                </a:tc>
                <a:tc>
                  <a:txBody>
                    <a:bodyPr/>
                    <a:lstStyle/>
                    <a:p>
                      <a:pPr algn="ctr"/>
                      <a:r>
                        <a:rPr sz="1400" b="1">
                          <a:solidFill>
                            <a:srgbClr val="FFFFFF"/>
                          </a:solidFill>
                          <a:latin typeface="Calibri"/>
                        </a:rPr>
                        <a:t>Palabras</a:t>
                      </a:r>
                    </a:p>
                  </a:txBody>
                  <a:tcPr marL="73152" marR="73152" marT="27432" marB="27432" anchor="ctr">
                    <a:solidFill>
                      <a:srgbClr val="0F4C5C"/>
                    </a:solidFill>
                  </a:tcPr>
                </a:tc>
                <a:tc>
                  <a:txBody>
                    <a:bodyPr/>
                    <a:lstStyle/>
                    <a:p>
                      <a:pPr algn="ctr"/>
                      <a:r>
                        <a:rPr sz="1400" b="1">
                          <a:solidFill>
                            <a:srgbClr val="FFFFFF"/>
                          </a:solidFill>
                          <a:latin typeface="Calibri"/>
                        </a:rPr>
                        <a:t>R</a:t>
                      </a:r>
                    </a:p>
                  </a:txBody>
                  <a:tcPr marL="73152" marR="73152" marT="27432" marB="27432" anchor="ctr">
                    <a:solidFill>
                      <a:srgbClr val="0F4C5C"/>
                    </a:solidFill>
                  </a:tcPr>
                </a:tc>
              </a:tr>
              <a:tr h="335788">
                <a:tc>
                  <a:txBody>
                    <a:bodyPr/>
                    <a:lstStyle/>
                    <a:p>
                      <a:pPr algn="l"/>
                      <a:r>
                        <a:rPr sz="1400" b="0">
                          <a:solidFill>
                            <a:srgbClr val="142B33"/>
                          </a:solidFill>
                          <a:latin typeface="Calibri"/>
                        </a:rPr>
                        <a:t>D = AB,  E = AC</a:t>
                      </a:r>
                    </a:p>
                  </a:txBody>
                  <a:tcPr marL="73152" marR="73152" marT="27432" marB="27432" anchor="ctr">
                    <a:solidFill>
                      <a:srgbClr val="FFFFFF"/>
                    </a:solidFill>
                  </a:tcPr>
                </a:tc>
                <a:tc>
                  <a:txBody>
                    <a:bodyPr/>
                    <a:lstStyle/>
                    <a:p>
                      <a:pPr algn="ctr"/>
                      <a:r>
                        <a:rPr sz="1400" b="0">
                          <a:solidFill>
                            <a:srgbClr val="142B33"/>
                          </a:solidFill>
                          <a:latin typeface="Calibri"/>
                        </a:rPr>
                        <a:t>ABD, ACE, BCDE</a:t>
                      </a:r>
                    </a:p>
                  </a:txBody>
                  <a:tcPr marL="73152" marR="73152" marT="27432" marB="27432" anchor="ctr">
                    <a:solidFill>
                      <a:srgbClr val="FFFFFF"/>
                    </a:solidFill>
                  </a:tcPr>
                </a:tc>
                <a:tc>
                  <a:txBody>
                    <a:bodyPr/>
                    <a:lstStyle/>
                    <a:p>
                      <a:pPr algn="ctr"/>
                      <a:r>
                        <a:rPr sz="1400" b="0">
                          <a:solidFill>
                            <a:srgbClr val="142B33"/>
                          </a:solidFill>
                          <a:latin typeface="Calibri"/>
                        </a:rPr>
                        <a:t>III</a:t>
                      </a:r>
                    </a:p>
                  </a:txBody>
                  <a:tcPr marL="73152" marR="73152" marT="27432" marB="27432" anchor="ctr">
                    <a:solidFill>
                      <a:srgbClr val="FFFFFF"/>
                    </a:solidFill>
                  </a:tcPr>
                </a:tc>
              </a:tr>
              <a:tr h="335788">
                <a:tc>
                  <a:txBody>
                    <a:bodyPr/>
                    <a:lstStyle/>
                    <a:p>
                      <a:pPr algn="l"/>
                      <a:r>
                        <a:rPr sz="1400" b="0">
                          <a:solidFill>
                            <a:srgbClr val="142B33"/>
                          </a:solidFill>
                          <a:latin typeface="Calibri"/>
                        </a:rPr>
                        <a:t>D = ABC,  E = AB</a:t>
                      </a:r>
                    </a:p>
                  </a:txBody>
                  <a:tcPr marL="73152" marR="73152" marT="27432" marB="27432" anchor="ctr">
                    <a:solidFill>
                      <a:srgbClr val="F4F8F9"/>
                    </a:solidFill>
                  </a:tcPr>
                </a:tc>
                <a:tc>
                  <a:txBody>
                    <a:bodyPr/>
                    <a:lstStyle/>
                    <a:p>
                      <a:pPr algn="ctr"/>
                      <a:r>
                        <a:rPr sz="1400" b="0">
                          <a:solidFill>
                            <a:srgbClr val="142B33"/>
                          </a:solidFill>
                          <a:latin typeface="Calibri"/>
                        </a:rPr>
                        <a:t>ABCD, ABE, CDE</a:t>
                      </a:r>
                    </a:p>
                  </a:txBody>
                  <a:tcPr marL="73152" marR="73152" marT="27432" marB="27432" anchor="ctr">
                    <a:solidFill>
                      <a:srgbClr val="F4F8F9"/>
                    </a:solidFill>
                  </a:tcPr>
                </a:tc>
                <a:tc>
                  <a:txBody>
                    <a:bodyPr/>
                    <a:lstStyle/>
                    <a:p>
                      <a:pPr algn="ctr"/>
                      <a:r>
                        <a:rPr sz="1400" b="0">
                          <a:solidFill>
                            <a:srgbClr val="142B33"/>
                          </a:solidFill>
                          <a:latin typeface="Calibri"/>
                        </a:rPr>
                        <a:t>III</a:t>
                      </a:r>
                    </a:p>
                  </a:txBody>
                  <a:tcPr marL="73152" marR="73152" marT="27432" marB="27432" anchor="ctr">
                    <a:solidFill>
                      <a:srgbClr val="F4F8F9"/>
                    </a:solidFill>
                  </a:tcPr>
                </a:tc>
              </a:tr>
              <a:tr h="335788">
                <a:tc>
                  <a:txBody>
                    <a:bodyPr/>
                    <a:lstStyle/>
                    <a:p>
                      <a:pPr algn="l"/>
                      <a:r>
                        <a:rPr sz="1400" b="0">
                          <a:solidFill>
                            <a:srgbClr val="142B33"/>
                          </a:solidFill>
                          <a:latin typeface="Calibri"/>
                        </a:rPr>
                        <a:t>D = ABC,  E = BC</a:t>
                      </a:r>
                    </a:p>
                  </a:txBody>
                  <a:tcPr marL="73152" marR="73152" marT="27432" marB="27432" anchor="ctr">
                    <a:solidFill>
                      <a:srgbClr val="FFFFFF"/>
                    </a:solidFill>
                  </a:tcPr>
                </a:tc>
                <a:tc>
                  <a:txBody>
                    <a:bodyPr/>
                    <a:lstStyle/>
                    <a:p>
                      <a:pPr algn="ctr"/>
                      <a:r>
                        <a:rPr sz="1400" b="0">
                          <a:solidFill>
                            <a:srgbClr val="142B33"/>
                          </a:solidFill>
                          <a:latin typeface="Calibri"/>
                        </a:rPr>
                        <a:t>ABCD, BCE, ADE</a:t>
                      </a:r>
                    </a:p>
                  </a:txBody>
                  <a:tcPr marL="73152" marR="73152" marT="27432" marB="27432" anchor="ctr">
                    <a:solidFill>
                      <a:srgbClr val="FFFFFF"/>
                    </a:solidFill>
                  </a:tcPr>
                </a:tc>
                <a:tc>
                  <a:txBody>
                    <a:bodyPr/>
                    <a:lstStyle/>
                    <a:p>
                      <a:pPr algn="ctr"/>
                      <a:r>
                        <a:rPr sz="1400" b="0">
                          <a:solidFill>
                            <a:srgbClr val="142B33"/>
                          </a:solidFill>
                          <a:latin typeface="Calibri"/>
                        </a:rPr>
                        <a:t>III</a:t>
                      </a:r>
                    </a:p>
                  </a:txBody>
                  <a:tcPr marL="73152" marR="73152" marT="27432" marB="27432" anchor="ctr">
                    <a:solidFill>
                      <a:srgbClr val="FFFFFF"/>
                    </a:solidFill>
                  </a:tcPr>
                </a:tc>
              </a:tr>
            </a:tbl>
          </a:graphicData>
        </a:graphic>
      </p:graphicFrame>
      <p:sp>
        <p:nvSpPr>
          <p:cNvPr id="5" name="Rounded Rectangle 4"/>
          <p:cNvSpPr/>
          <p:nvPr/>
        </p:nvSpPr>
        <p:spPr>
          <a:xfrm>
            <a:off x="6301587" y="2961640"/>
            <a:ext cx="5341467"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Las </a:t>
            </a:r>
            <a:r>
              <a:rPr sz="1500" b="1">
                <a:solidFill>
                  <a:srgbClr val="142B33"/>
                </a:solidFill>
                <a:latin typeface="Calibri"/>
              </a:rPr>
              <a:t>12</a:t>
            </a:r>
            <a:r>
              <a:rPr sz="1500" b="0">
                <a:solidFill>
                  <a:srgbClr val="142B33"/>
                </a:solidFill>
                <a:latin typeface="Calibri"/>
              </a:rPr>
              <a:t> asignaciones posibles dan </a:t>
            </a:r>
            <a:r>
              <a:rPr sz="1500" b="1">
                <a:solidFill>
                  <a:srgbClr val="142B33"/>
                </a:solidFill>
                <a:latin typeface="Calibri"/>
              </a:rPr>
              <a:t>resolución III</a:t>
            </a:r>
            <a:r>
              <a:rPr sz="1500" b="0">
                <a:solidFill>
                  <a:srgbClr val="142B33"/>
                </a:solidFill>
                <a:latin typeface="Calibri"/>
              </a:rPr>
              <a:t>: solo hay una columna de 3 letras, ABC</a:t>
            </a:r>
          </a:p>
        </p:txBody>
      </p:sp>
      <p:sp>
        <p:nvSpPr>
          <p:cNvPr id="6" name="Rounded Rectangle 5"/>
          <p:cNvSpPr/>
          <p:nvPr/>
        </p:nvSpPr>
        <p:spPr>
          <a:xfrm>
            <a:off x="6301587" y="3901948"/>
            <a:ext cx="5341467"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Paso 6: </a:t>
            </a:r>
            <a:r>
              <a:rPr sz="1500" b="1">
                <a:solidFill>
                  <a:srgbClr val="142B33"/>
                </a:solidFill>
                <a:latin typeface="Calibri"/>
              </a:rPr>
              <a:t>no alcanza</a:t>
            </a:r>
            <a:r>
              <a:rPr sz="1500" b="0">
                <a:solidFill>
                  <a:srgbClr val="142B33"/>
                </a:solidFill>
                <a:latin typeface="Calibri"/>
              </a:rPr>
              <a:t>. Con 8 corridas la resolución IV es imposible para 5 factores</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El diseño 2</a:t>
            </a:r>
            <a:r>
              <a:rPr sz="1000" b="0" baseline="30000">
                <a:solidFill>
                  <a:srgbClr val="5B6B73"/>
                </a:solidFill>
                <a:latin typeface="Calibri"/>
              </a:rPr>
              <a:t>k−p</a:t>
            </a:r>
            <a:r>
              <a:rPr sz="1000" b="0">
                <a:solidFill>
                  <a:srgbClr val="5B6B73"/>
                </a:solidFill>
                <a:latin typeface="Calibri"/>
              </a:rPr>
              <a:t> general</a:t>
            </a:r>
          </a:p>
        </p:txBody>
      </p:sp>
      <p:sp>
        <p:nvSpPr>
          <p:cNvPr id="8" name="TextBox 7"/>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58</a:t>
            </a:r>
          </a:p>
        </p:txBody>
      </p:sp>
      <p:sp>
        <p:nvSpPr>
          <p:cNvPr id="9" name="Rounded Rectangle 8"/>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7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didáctico · Decisión y pasos 7 y 8</a:t>
            </a:r>
          </a:p>
        </p:txBody>
      </p:sp>
      <p:sp>
        <p:nvSpPr>
          <p:cNvPr id="3" name="TextBox 2"/>
          <p:cNvSpPr txBox="1"/>
          <p:nvPr/>
        </p:nvSpPr>
        <p:spPr>
          <a:xfrm>
            <a:off x="548640" y="1417320"/>
            <a:ext cx="5127808" cy="284479"/>
          </a:xfrm>
          <a:prstGeom prst="rect">
            <a:avLst/>
          </a:prstGeom>
          <a:noFill/>
        </p:spPr>
        <p:txBody>
          <a:bodyPr wrap="square" anchor="t" lIns="0" rIns="0" tIns="0" bIns="0">
            <a:spAutoFit/>
          </a:bodyPr>
          <a:lstStyle/>
          <a:p>
            <a:r>
              <a:rPr sz="1600" b="1">
                <a:solidFill>
                  <a:srgbClr val="142B33"/>
                </a:solidFill>
                <a:latin typeface="Calibri"/>
              </a:rPr>
              <a:t>Opción 1 · pagar 16 corridas</a:t>
            </a:r>
          </a:p>
        </p:txBody>
      </p:sp>
      <p:sp>
        <p:nvSpPr>
          <p:cNvPr id="4" name="TextBox 3"/>
          <p:cNvSpPr txBox="1"/>
          <p:nvPr/>
        </p:nvSpPr>
        <p:spPr>
          <a:xfrm>
            <a:off x="548640" y="1902968"/>
            <a:ext cx="5127808" cy="944117"/>
          </a:xfrm>
          <a:prstGeom prst="rect">
            <a:avLst/>
          </a:prstGeom>
          <a:noFill/>
        </p:spPr>
        <p:txBody>
          <a:bodyPr wrap="square" anchor="t" lIns="0" rIns="0" tIns="0" bIns="0">
            <a:spAutoFit/>
          </a:bodyPr>
          <a:lstStyle/>
          <a:p>
            <a:pPr marL="320040" indent="-320040">
              <a:spcAft>
                <a:spcPts val="600"/>
              </a:spcAft>
              <a:buClr>
                <a:srgbClr val="E36414"/>
              </a:buClr>
              <a:buFont typeface="Arial"/>
              <a:buChar char="•"/>
            </a:pPr>
            <a:r>
              <a:rPr sz="1500" b="0">
                <a:solidFill>
                  <a:srgbClr val="142B33"/>
                </a:solidFill>
                <a:latin typeface="Calibri"/>
              </a:rPr>
              <a:t>p = 1, básico 2</a:t>
            </a:r>
            <a:r>
              <a:rPr sz="1500" b="0" baseline="30000">
                <a:solidFill>
                  <a:srgbClr val="142B33"/>
                </a:solidFill>
                <a:latin typeface="Calibri"/>
              </a:rPr>
              <a:t>4</a:t>
            </a:r>
            <a:r>
              <a:rPr sz="1500" b="0">
                <a:solidFill>
                  <a:srgbClr val="142B33"/>
                </a:solidFill>
                <a:latin typeface="Calibri"/>
              </a:rPr>
              <a:t> en A, B, C, D</a:t>
            </a:r>
          </a:p>
          <a:p>
            <a:pPr marL="320040" indent="-320040">
              <a:spcAft>
                <a:spcPts val="600"/>
              </a:spcAft>
              <a:buClr>
                <a:srgbClr val="E36414"/>
              </a:buClr>
              <a:buFont typeface="Arial"/>
              <a:buChar char="•"/>
            </a:pPr>
            <a:r>
              <a:rPr sz="1500" b="1">
                <a:solidFill>
                  <a:srgbClr val="142B33"/>
                </a:solidFill>
                <a:latin typeface="Calibri"/>
              </a:rPr>
              <a:t>E = ABCD</a:t>
            </a:r>
            <a:r>
              <a:rPr sz="1500" b="0">
                <a:solidFill>
                  <a:srgbClr val="142B33"/>
                </a:solidFill>
                <a:latin typeface="Calibri"/>
              </a:rPr>
              <a:t>  ⇒  I = ABCDE: </a:t>
            </a:r>
            <a:r>
              <a:rPr sz="1500" b="1">
                <a:solidFill>
                  <a:srgbClr val="142B33"/>
                </a:solidFill>
                <a:latin typeface="Calibri"/>
              </a:rPr>
              <a:t>resolución V</a:t>
            </a:r>
          </a:p>
          <a:p>
            <a:pPr marL="320040" indent="-320040">
              <a:spcAft>
                <a:spcPts val="600"/>
              </a:spcAft>
              <a:buClr>
                <a:srgbClr val="E36414"/>
              </a:buClr>
              <a:buFont typeface="Arial"/>
              <a:buChar char="•"/>
            </a:pPr>
            <a:r>
              <a:rPr sz="1500" b="0">
                <a:solidFill>
                  <a:srgbClr val="142B33"/>
                </a:solidFill>
                <a:latin typeface="Calibri"/>
              </a:rPr>
              <a:t>Temperatura × tiempo se estima </a:t>
            </a:r>
            <a:r>
              <a:rPr sz="1500" b="1">
                <a:solidFill>
                  <a:srgbClr val="142B33"/>
                </a:solidFill>
                <a:latin typeface="Calibri"/>
              </a:rPr>
              <a:t>limpia</a:t>
            </a:r>
          </a:p>
        </p:txBody>
      </p:sp>
      <p:sp>
        <p:nvSpPr>
          <p:cNvPr id="5" name="TextBox 4"/>
          <p:cNvSpPr txBox="1"/>
          <p:nvPr/>
        </p:nvSpPr>
        <p:spPr>
          <a:xfrm>
            <a:off x="548640" y="3048254"/>
            <a:ext cx="5127808" cy="284479"/>
          </a:xfrm>
          <a:prstGeom prst="rect">
            <a:avLst/>
          </a:prstGeom>
          <a:noFill/>
        </p:spPr>
        <p:txBody>
          <a:bodyPr wrap="square" anchor="t" lIns="0" rIns="0" tIns="0" bIns="0">
            <a:spAutoFit/>
          </a:bodyPr>
          <a:lstStyle/>
          <a:p>
            <a:r>
              <a:rPr sz="1600" b="1">
                <a:solidFill>
                  <a:srgbClr val="142B33"/>
                </a:solidFill>
                <a:latin typeface="Calibri"/>
              </a:rPr>
              <a:t>Opción 2 · quedarse en 8 corridas</a:t>
            </a:r>
          </a:p>
        </p:txBody>
      </p:sp>
      <p:sp>
        <p:nvSpPr>
          <p:cNvPr id="6" name="TextBox 5"/>
          <p:cNvSpPr txBox="1"/>
          <p:nvPr/>
        </p:nvSpPr>
        <p:spPr>
          <a:xfrm>
            <a:off x="548640" y="3533901"/>
            <a:ext cx="5127808" cy="861821"/>
          </a:xfrm>
          <a:prstGeom prst="rect">
            <a:avLst/>
          </a:prstGeom>
          <a:noFill/>
        </p:spPr>
        <p:txBody>
          <a:bodyPr wrap="square" anchor="t" lIns="0" rIns="0" tIns="0" bIns="0">
            <a:spAutoFit/>
          </a:bodyPr>
          <a:lstStyle/>
          <a:p>
            <a:pPr marL="320040" indent="-320040">
              <a:spcAft>
                <a:spcPts val="600"/>
              </a:spcAft>
              <a:buClr>
                <a:srgbClr val="E36414"/>
              </a:buClr>
              <a:buFont typeface="Arial"/>
              <a:buChar char="•"/>
            </a:pPr>
            <a:r>
              <a:rPr sz="1500" b="0">
                <a:solidFill>
                  <a:srgbClr val="142B33"/>
                </a:solidFill>
                <a:latin typeface="Calibri"/>
              </a:rPr>
              <a:t>D = AB, E = AC: I = ABD = ACE = BCDE</a:t>
            </a:r>
          </a:p>
          <a:p>
            <a:pPr marL="320040" indent="-320040">
              <a:spcAft>
                <a:spcPts val="600"/>
              </a:spcAft>
              <a:buClr>
                <a:srgbClr val="E36414"/>
              </a:buClr>
              <a:buFont typeface="Arial"/>
              <a:buChar char="•"/>
            </a:pPr>
            <a:r>
              <a:rPr sz="1500" b="0">
                <a:solidFill>
                  <a:srgbClr val="142B33"/>
                </a:solidFill>
                <a:latin typeface="Calibri"/>
              </a:rPr>
              <a:t>Paso 8: temperatura y tiempo en </a:t>
            </a:r>
            <a:r>
              <a:rPr sz="1500" b="1">
                <a:solidFill>
                  <a:srgbClr val="142B33"/>
                </a:solidFill>
                <a:latin typeface="Calibri"/>
              </a:rPr>
              <a:t>B y C</a:t>
            </a:r>
            <a:r>
              <a:rPr sz="1500" b="0">
                <a:solidFill>
                  <a:srgbClr val="142B33"/>
                </a:solidFill>
                <a:latin typeface="Calibri"/>
              </a:rPr>
              <a:t>, porque BC no está aliada con ningún efecto principal</a:t>
            </a:r>
          </a:p>
        </p:txBody>
      </p:sp>
      <p:graphicFrame>
        <p:nvGraphicFramePr>
          <p:cNvPr id="7" name="Table 6"/>
          <p:cNvGraphicFramePr>
            <a:graphicFrameLocks noGrp="1"/>
          </p:cNvGraphicFramePr>
          <p:nvPr/>
        </p:nvGraphicFramePr>
        <p:xfrm>
          <a:off x="6087928" y="1417320"/>
          <a:ext cx="5555125" cy="2903219"/>
        </p:xfrm>
        <a:graphic>
          <a:graphicData uri="http://schemas.openxmlformats.org/drawingml/2006/table">
            <a:tbl>
              <a:tblPr firstRow="0" bandRow="0">
                <a:tableStyleId>{5C22544A-7EE6-4342-B048-85BDC9FD1C3A}</a:tableStyleId>
              </a:tblPr>
              <a:tblGrid>
                <a:gridCol w="3444178"/>
                <a:gridCol w="2110947"/>
              </a:tblGrid>
              <a:tr h="552703">
                <a:tc>
                  <a:txBody>
                    <a:bodyPr/>
                    <a:lstStyle/>
                    <a:p>
                      <a:pPr algn="l"/>
                      <a:r>
                        <a:rPr sz="1400" b="1">
                          <a:solidFill>
                            <a:srgbClr val="FFFFFF"/>
                          </a:solidFill>
                          <a:latin typeface="Calibri"/>
                        </a:rPr>
                        <a:t>Cadena de alias (2</a:t>
                      </a:r>
                      <a:r>
                        <a:rPr sz="1400" b="1" baseline="30000">
                          <a:solidFill>
                            <a:srgbClr val="FFFFFF"/>
                          </a:solidFill>
                          <a:latin typeface="Calibri"/>
                        </a:rPr>
                        <a:t>5−2</a:t>
                      </a:r>
                      <a:r>
                        <a:rPr sz="1400" b="1">
                          <a:solidFill>
                            <a:srgbClr val="FFFFFF"/>
                          </a:solidFill>
                          <a:latin typeface="Calibri"/>
                        </a:rPr>
                        <a:t>, D = AB, E = AC)</a:t>
                      </a:r>
                    </a:p>
                  </a:txBody>
                  <a:tcPr marL="73152" marR="73152" marT="27432" marB="27432" anchor="ctr">
                    <a:solidFill>
                      <a:srgbClr val="0F4C5C"/>
                    </a:solidFill>
                  </a:tcPr>
                </a:tc>
                <a:tc>
                  <a:txBody>
                    <a:bodyPr/>
                    <a:lstStyle/>
                    <a:p>
                      <a:pPr algn="ctr"/>
                      <a:r>
                        <a:rPr sz="1400" b="1">
                          <a:solidFill>
                            <a:srgbClr val="FFFFFF"/>
                          </a:solidFill>
                          <a:latin typeface="Calibri"/>
                        </a:rPr>
                        <a:t>¿Mezcla un efecto principal?</a:t>
                      </a:r>
                    </a:p>
                  </a:txBody>
                  <a:tcPr marL="73152" marR="73152" marT="27432" marB="27432" anchor="ctr">
                    <a:solidFill>
                      <a:srgbClr val="0F4C5C"/>
                    </a:solidFill>
                  </a:tcPr>
                </a:tc>
              </a:tr>
              <a:tr h="335788">
                <a:tc>
                  <a:txBody>
                    <a:bodyPr/>
                    <a:lstStyle/>
                    <a:p>
                      <a:pPr algn="l"/>
                      <a:r>
                        <a:rPr sz="1400" b="0">
                          <a:solidFill>
                            <a:srgbClr val="142B33"/>
                          </a:solidFill>
                          <a:latin typeface="Calibri"/>
                        </a:rPr>
                        <a:t>A = BD = CE</a:t>
                      </a:r>
                    </a:p>
                  </a:txBody>
                  <a:tcPr marL="73152" marR="73152" marT="27432" marB="27432" anchor="ctr">
                    <a:solidFill>
                      <a:srgbClr val="FFFFFF"/>
                    </a:solidFill>
                  </a:tcPr>
                </a:tc>
                <a:tc>
                  <a:txBody>
                    <a:bodyPr/>
                    <a:lstStyle/>
                    <a:p>
                      <a:pPr algn="ctr"/>
                      <a:r>
                        <a:rPr sz="1400" b="0">
                          <a:solidFill>
                            <a:srgbClr val="142B33"/>
                          </a:solidFill>
                          <a:latin typeface="Calibri"/>
                        </a:rPr>
                        <a:t>Sí</a:t>
                      </a:r>
                    </a:p>
                  </a:txBody>
                  <a:tcPr marL="73152" marR="73152" marT="27432" marB="27432" anchor="ctr">
                    <a:solidFill>
                      <a:srgbClr val="FFFFFF"/>
                    </a:solidFill>
                  </a:tcPr>
                </a:tc>
              </a:tr>
              <a:tr h="335788">
                <a:tc>
                  <a:txBody>
                    <a:bodyPr/>
                    <a:lstStyle/>
                    <a:p>
                      <a:pPr algn="l"/>
                      <a:r>
                        <a:rPr sz="1400" b="0">
                          <a:solidFill>
                            <a:srgbClr val="142B33"/>
                          </a:solidFill>
                          <a:latin typeface="Calibri"/>
                        </a:rPr>
                        <a:t>B = AD</a:t>
                      </a:r>
                    </a:p>
                  </a:txBody>
                  <a:tcPr marL="73152" marR="73152" marT="27432" marB="27432" anchor="ctr">
                    <a:solidFill>
                      <a:srgbClr val="F4F8F9"/>
                    </a:solidFill>
                  </a:tcPr>
                </a:tc>
                <a:tc>
                  <a:txBody>
                    <a:bodyPr/>
                    <a:lstStyle/>
                    <a:p>
                      <a:pPr algn="ctr"/>
                      <a:r>
                        <a:rPr sz="1400" b="0">
                          <a:solidFill>
                            <a:srgbClr val="142B33"/>
                          </a:solidFill>
                          <a:latin typeface="Calibri"/>
                        </a:rPr>
                        <a:t>Sí</a:t>
                      </a:r>
                    </a:p>
                  </a:txBody>
                  <a:tcPr marL="73152" marR="73152" marT="27432" marB="27432" anchor="ctr">
                    <a:solidFill>
                      <a:srgbClr val="F4F8F9"/>
                    </a:solidFill>
                  </a:tcPr>
                </a:tc>
              </a:tr>
              <a:tr h="335788">
                <a:tc>
                  <a:txBody>
                    <a:bodyPr/>
                    <a:lstStyle/>
                    <a:p>
                      <a:pPr algn="l"/>
                      <a:r>
                        <a:rPr sz="1400" b="0">
                          <a:solidFill>
                            <a:srgbClr val="142B33"/>
                          </a:solidFill>
                          <a:latin typeface="Calibri"/>
                        </a:rPr>
                        <a:t>C = AE</a:t>
                      </a:r>
                    </a:p>
                  </a:txBody>
                  <a:tcPr marL="73152" marR="73152" marT="27432" marB="27432" anchor="ctr">
                    <a:solidFill>
                      <a:srgbClr val="FFFFFF"/>
                    </a:solidFill>
                  </a:tcPr>
                </a:tc>
                <a:tc>
                  <a:txBody>
                    <a:bodyPr/>
                    <a:lstStyle/>
                    <a:p>
                      <a:pPr algn="ctr"/>
                      <a:r>
                        <a:rPr sz="1400" b="0">
                          <a:solidFill>
                            <a:srgbClr val="142B33"/>
                          </a:solidFill>
                          <a:latin typeface="Calibri"/>
                        </a:rPr>
                        <a:t>Sí</a:t>
                      </a:r>
                    </a:p>
                  </a:txBody>
                  <a:tcPr marL="73152" marR="73152" marT="27432" marB="27432" anchor="ctr">
                    <a:solidFill>
                      <a:srgbClr val="FFFFFF"/>
                    </a:solidFill>
                  </a:tcPr>
                </a:tc>
              </a:tr>
              <a:tr h="335788">
                <a:tc>
                  <a:txBody>
                    <a:bodyPr/>
                    <a:lstStyle/>
                    <a:p>
                      <a:pPr algn="l"/>
                      <a:r>
                        <a:rPr sz="1400" b="0">
                          <a:solidFill>
                            <a:srgbClr val="142B33"/>
                          </a:solidFill>
                          <a:latin typeface="Calibri"/>
                        </a:rPr>
                        <a:t>D = AB</a:t>
                      </a:r>
                    </a:p>
                  </a:txBody>
                  <a:tcPr marL="73152" marR="73152" marT="27432" marB="27432" anchor="ctr">
                    <a:solidFill>
                      <a:srgbClr val="F4F8F9"/>
                    </a:solidFill>
                  </a:tcPr>
                </a:tc>
                <a:tc>
                  <a:txBody>
                    <a:bodyPr/>
                    <a:lstStyle/>
                    <a:p>
                      <a:pPr algn="ctr"/>
                      <a:r>
                        <a:rPr sz="1400" b="0">
                          <a:solidFill>
                            <a:srgbClr val="142B33"/>
                          </a:solidFill>
                          <a:latin typeface="Calibri"/>
                        </a:rPr>
                        <a:t>Sí</a:t>
                      </a:r>
                    </a:p>
                  </a:txBody>
                  <a:tcPr marL="73152" marR="73152" marT="27432" marB="27432" anchor="ctr">
                    <a:solidFill>
                      <a:srgbClr val="F4F8F9"/>
                    </a:solidFill>
                  </a:tcPr>
                </a:tc>
              </a:tr>
              <a:tr h="335788">
                <a:tc>
                  <a:txBody>
                    <a:bodyPr/>
                    <a:lstStyle/>
                    <a:p>
                      <a:pPr algn="l"/>
                      <a:r>
                        <a:rPr sz="1400" b="0">
                          <a:solidFill>
                            <a:srgbClr val="142B33"/>
                          </a:solidFill>
                          <a:latin typeface="Calibri"/>
                        </a:rPr>
                        <a:t>E = AC</a:t>
                      </a:r>
                    </a:p>
                  </a:txBody>
                  <a:tcPr marL="73152" marR="73152" marT="27432" marB="27432" anchor="ctr">
                    <a:solidFill>
                      <a:srgbClr val="FFFFFF"/>
                    </a:solidFill>
                  </a:tcPr>
                </a:tc>
                <a:tc>
                  <a:txBody>
                    <a:bodyPr/>
                    <a:lstStyle/>
                    <a:p>
                      <a:pPr algn="ctr"/>
                      <a:r>
                        <a:rPr sz="1400" b="0">
                          <a:solidFill>
                            <a:srgbClr val="142B33"/>
                          </a:solidFill>
                          <a:latin typeface="Calibri"/>
                        </a:rPr>
                        <a:t>Sí</a:t>
                      </a:r>
                    </a:p>
                  </a:txBody>
                  <a:tcPr marL="73152" marR="73152" marT="27432" marB="27432" anchor="ctr">
                    <a:solidFill>
                      <a:srgbClr val="FFFFFF"/>
                    </a:solidFill>
                  </a:tcPr>
                </a:tc>
              </a:tr>
              <a:tr h="335788">
                <a:tc>
                  <a:txBody>
                    <a:bodyPr/>
                    <a:lstStyle/>
                    <a:p>
                      <a:pPr algn="l"/>
                      <a:r>
                        <a:rPr sz="1400" b="1">
                          <a:solidFill>
                            <a:srgbClr val="142B33"/>
                          </a:solidFill>
                          <a:latin typeface="Calibri"/>
                        </a:rPr>
                        <a:t>BC = DE</a:t>
                      </a:r>
                      <a:r>
                        <a:rPr sz="1400" b="0">
                          <a:solidFill>
                            <a:srgbClr val="142B33"/>
                          </a:solidFill>
                          <a:latin typeface="Calibri"/>
                        </a:rPr>
                        <a:t>  (temperatura × tiempo)</a:t>
                      </a:r>
                    </a:p>
                  </a:txBody>
                  <a:tcPr marL="73152" marR="73152" marT="27432" marB="27432" anchor="ctr">
                    <a:solidFill>
                      <a:srgbClr val="FDE8D7"/>
                    </a:solidFill>
                  </a:tcPr>
                </a:tc>
                <a:tc>
                  <a:txBody>
                    <a:bodyPr/>
                    <a:lstStyle/>
                    <a:p>
                      <a:pPr algn="ctr"/>
                      <a:r>
                        <a:rPr sz="1400" b="1">
                          <a:solidFill>
                            <a:srgbClr val="142B33"/>
                          </a:solidFill>
                          <a:latin typeface="Calibri"/>
                        </a:rPr>
                        <a:t>No</a:t>
                      </a:r>
                    </a:p>
                  </a:txBody>
                  <a:tcPr marL="73152" marR="73152" marT="27432" marB="27432" anchor="ctr">
                    <a:solidFill>
                      <a:srgbClr val="FDE8D7"/>
                    </a:solidFill>
                  </a:tcPr>
                </a:tc>
              </a:tr>
              <a:tr h="335788">
                <a:tc>
                  <a:txBody>
                    <a:bodyPr/>
                    <a:lstStyle/>
                    <a:p>
                      <a:pPr algn="l"/>
                      <a:r>
                        <a:rPr sz="1400" b="0">
                          <a:solidFill>
                            <a:srgbClr val="142B33"/>
                          </a:solidFill>
                          <a:latin typeface="Calibri"/>
                        </a:rPr>
                        <a:t>BE = CD</a:t>
                      </a:r>
                    </a:p>
                  </a:txBody>
                  <a:tcPr marL="73152" marR="73152" marT="27432" marB="27432" anchor="ctr">
                    <a:solidFill>
                      <a:srgbClr val="FFFFFF"/>
                    </a:solidFill>
                  </a:tcPr>
                </a:tc>
                <a:tc>
                  <a:txBody>
                    <a:bodyPr/>
                    <a:lstStyle/>
                    <a:p>
                      <a:pPr algn="ctr"/>
                      <a:r>
                        <a:rPr sz="1400" b="0">
                          <a:solidFill>
                            <a:srgbClr val="142B33"/>
                          </a:solidFill>
                          <a:latin typeface="Calibri"/>
                        </a:rPr>
                        <a:t>No</a:t>
                      </a:r>
                    </a:p>
                  </a:txBody>
                  <a:tcPr marL="73152" marR="73152" marT="27432" marB="27432" anchor="ctr">
                    <a:solidFill>
                      <a:srgbClr val="FFFFFF"/>
                    </a:solidFill>
                  </a:tcPr>
                </a:tc>
              </a:tr>
            </a:tbl>
          </a:graphicData>
        </a:graphic>
      </p:graphicFrame>
      <p:sp>
        <p:nvSpPr>
          <p:cNvPr id="8" name="Rounded Rectangle 7"/>
          <p:cNvSpPr/>
          <p:nvPr/>
        </p:nvSpPr>
        <p:spPr>
          <a:xfrm>
            <a:off x="6087928" y="4521708"/>
            <a:ext cx="5555126" cy="925067"/>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400" b="0">
                <a:solidFill>
                  <a:srgbClr val="142B33"/>
                </a:solidFill>
                <a:latin typeface="Calibri"/>
              </a:rPr>
              <a:t>Opción 2: la interacción temida queda </a:t>
            </a:r>
            <a:r>
              <a:rPr sz="1400" b="1">
                <a:solidFill>
                  <a:srgbClr val="142B33"/>
                </a:solidFill>
                <a:latin typeface="Calibri"/>
              </a:rPr>
              <a:t>lejos de los efectos principales</a:t>
            </a:r>
            <a:r>
              <a:rPr sz="1400" b="0">
                <a:solidFill>
                  <a:srgbClr val="142B33"/>
                </a:solidFill>
                <a:latin typeface="Calibri"/>
              </a:rPr>
              <a:t>, pero cada principal sigue aliado con una doble</a:t>
            </a:r>
          </a:p>
        </p:txBody>
      </p:sp>
      <p:sp>
        <p:nvSpPr>
          <p:cNvPr id="9" name="TextBox 8"/>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El diseño 2</a:t>
            </a:r>
            <a:r>
              <a:rPr sz="1000" b="0" baseline="30000">
                <a:solidFill>
                  <a:srgbClr val="5B6B73"/>
                </a:solidFill>
                <a:latin typeface="Calibri"/>
              </a:rPr>
              <a:t>k−p</a:t>
            </a:r>
            <a:r>
              <a:rPr sz="1000" b="0">
                <a:solidFill>
                  <a:srgbClr val="5B6B73"/>
                </a:solidFill>
                <a:latin typeface="Calibri"/>
              </a:rPr>
              <a:t> general</a:t>
            </a:r>
          </a:p>
        </p:txBody>
      </p:sp>
      <p:sp>
        <p:nvSpPr>
          <p:cNvPr id="10" name="TextBox 9"/>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59</a:t>
            </a:r>
          </a:p>
        </p:txBody>
      </p:sp>
      <p:sp>
        <p:nvSpPr>
          <p:cNvPr id="11" name="Rounded Rectangle 10"/>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7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Diseños recomendados hasta 32 corridas</a:t>
            </a:r>
          </a:p>
        </p:txBody>
      </p:sp>
      <p:graphicFrame>
        <p:nvGraphicFramePr>
          <p:cNvPr id="3" name="Table 2"/>
          <p:cNvGraphicFramePr>
            <a:graphicFrameLocks noGrp="1"/>
          </p:cNvGraphicFramePr>
          <p:nvPr/>
        </p:nvGraphicFramePr>
        <p:xfrm>
          <a:off x="548640" y="1417320"/>
          <a:ext cx="11094412" cy="4365244"/>
        </p:xfrm>
        <a:graphic>
          <a:graphicData uri="http://schemas.openxmlformats.org/drawingml/2006/table">
            <a:tbl>
              <a:tblPr firstRow="0" bandRow="0">
                <a:tableStyleId>{5C22544A-7EE6-4342-B048-85BDC9FD1C3A}</a:tableStyleId>
              </a:tblPr>
              <a:tblGrid>
                <a:gridCol w="1442273"/>
                <a:gridCol w="1886050"/>
                <a:gridCol w="1442273"/>
                <a:gridCol w="6323816"/>
              </a:tblGrid>
              <a:tr h="335788">
                <a:tc>
                  <a:txBody>
                    <a:bodyPr/>
                    <a:lstStyle/>
                    <a:p>
                      <a:pPr algn="ctr"/>
                      <a:r>
                        <a:rPr sz="1400" b="1">
                          <a:solidFill>
                            <a:srgbClr val="FFFFFF"/>
                          </a:solidFill>
                          <a:latin typeface="Calibri"/>
                        </a:rPr>
                        <a:t>Factores</a:t>
                      </a:r>
                    </a:p>
                  </a:txBody>
                  <a:tcPr marL="73152" marR="73152" marT="27432" marB="27432" anchor="ctr">
                    <a:solidFill>
                      <a:srgbClr val="0F4C5C"/>
                    </a:solidFill>
                  </a:tcPr>
                </a:tc>
                <a:tc>
                  <a:txBody>
                    <a:bodyPr/>
                    <a:lstStyle/>
                    <a:p>
                      <a:pPr algn="ctr"/>
                      <a:r>
                        <a:rPr sz="1400" b="1">
                          <a:solidFill>
                            <a:srgbClr val="FFFFFF"/>
                          </a:solidFill>
                          <a:latin typeface="Calibri"/>
                        </a:rPr>
                        <a:t>Diseño</a:t>
                      </a:r>
                    </a:p>
                  </a:txBody>
                  <a:tcPr marL="73152" marR="73152" marT="27432" marB="27432" anchor="ctr">
                    <a:solidFill>
                      <a:srgbClr val="0F4C5C"/>
                    </a:solidFill>
                  </a:tcPr>
                </a:tc>
                <a:tc>
                  <a:txBody>
                    <a:bodyPr/>
                    <a:lstStyle/>
                    <a:p>
                      <a:pPr algn="ctr"/>
                      <a:r>
                        <a:rPr sz="1400" b="1">
                          <a:solidFill>
                            <a:srgbClr val="FFFFFF"/>
                          </a:solidFill>
                          <a:latin typeface="Calibri"/>
                        </a:rPr>
                        <a:t>Corridas</a:t>
                      </a:r>
                    </a:p>
                  </a:txBody>
                  <a:tcPr marL="73152" marR="73152" marT="27432" marB="27432" anchor="ctr">
                    <a:solidFill>
                      <a:srgbClr val="0F4C5C"/>
                    </a:solidFill>
                  </a:tcPr>
                </a:tc>
                <a:tc>
                  <a:txBody>
                    <a:bodyPr/>
                    <a:lstStyle/>
                    <a:p>
                      <a:pPr algn="ctr"/>
                      <a:r>
                        <a:rPr sz="1400" b="1">
                          <a:solidFill>
                            <a:srgbClr val="FFFFFF"/>
                          </a:solidFill>
                          <a:latin typeface="Calibri"/>
                        </a:rPr>
                        <a:t>Generadores</a:t>
                      </a:r>
                    </a:p>
                  </a:txBody>
                  <a:tcPr marL="73152" marR="73152" marT="27432" marB="27432" anchor="ctr">
                    <a:solidFill>
                      <a:srgbClr val="0F4C5C"/>
                    </a:solidFill>
                  </a:tcPr>
                </a:tc>
              </a:tr>
              <a:tr h="335788">
                <a:tc>
                  <a:txBody>
                    <a:bodyPr/>
                    <a:lstStyle/>
                    <a:p>
                      <a:pPr algn="ctr"/>
                      <a:r>
                        <a:rPr sz="1400" b="0">
                          <a:solidFill>
                            <a:srgbClr val="142B33"/>
                          </a:solidFill>
                          <a:latin typeface="Calibri"/>
                        </a:rPr>
                        <a:t>3</a:t>
                      </a:r>
                    </a:p>
                  </a:txBody>
                  <a:tcPr marL="73152" marR="73152" marT="27432" marB="27432" anchor="ctr">
                    <a:solidFill>
                      <a:srgbClr val="FFFFFF"/>
                    </a:solidFill>
                  </a:tcPr>
                </a:tc>
                <a:tc>
                  <a:txBody>
                    <a:bodyPr/>
                    <a:lstStyle/>
                    <a:p>
                      <a:pPr algn="ctr"/>
                      <a:r>
                        <a:rPr sz="1400" b="0">
                          <a:solidFill>
                            <a:srgbClr val="142B33"/>
                          </a:solidFill>
                          <a:latin typeface="Calibri"/>
                        </a:rPr>
                        <a:t>2</a:t>
                      </a:r>
                      <a:r>
                        <a:rPr sz="1400" b="0" baseline="30000">
                          <a:solidFill>
                            <a:srgbClr val="142B33"/>
                          </a:solidFill>
                          <a:latin typeface="Calibri"/>
                        </a:rPr>
                        <a:t>3−1</a:t>
                      </a:r>
                      <a:r>
                        <a:rPr sz="1400" b="0" baseline="-25000">
                          <a:solidFill>
                            <a:srgbClr val="142B33"/>
                          </a:solidFill>
                          <a:latin typeface="Calibri"/>
                        </a:rPr>
                        <a:t>III</a:t>
                      </a:r>
                    </a:p>
                  </a:txBody>
                  <a:tcPr marL="73152" marR="73152" marT="27432" marB="27432" anchor="ctr">
                    <a:solidFill>
                      <a:srgbClr val="FFFFFF"/>
                    </a:solidFill>
                  </a:tcPr>
                </a:tc>
                <a:tc>
                  <a:txBody>
                    <a:bodyPr/>
                    <a:lstStyle/>
                    <a:p>
                      <a:pPr algn="ctr"/>
                      <a:r>
                        <a:rPr sz="1400" b="0">
                          <a:solidFill>
                            <a:srgbClr val="142B33"/>
                          </a:solidFill>
                          <a:latin typeface="Calibri"/>
                        </a:rPr>
                        <a:t>4</a:t>
                      </a:r>
                    </a:p>
                  </a:txBody>
                  <a:tcPr marL="73152" marR="73152" marT="27432" marB="27432" anchor="ctr">
                    <a:solidFill>
                      <a:srgbClr val="FFFFFF"/>
                    </a:solidFill>
                  </a:tcPr>
                </a:tc>
                <a:tc>
                  <a:txBody>
                    <a:bodyPr/>
                    <a:lstStyle/>
                    <a:p>
                      <a:pPr algn="ctr"/>
                      <a:r>
                        <a:rPr sz="1400" b="0">
                          <a:solidFill>
                            <a:srgbClr val="142B33"/>
                          </a:solidFill>
                          <a:latin typeface="Calibri"/>
                        </a:rPr>
                        <a:t>C = AB</a:t>
                      </a:r>
                    </a:p>
                  </a:txBody>
                  <a:tcPr marL="73152" marR="73152" marT="27432" marB="27432" anchor="ctr">
                    <a:solidFill>
                      <a:srgbClr val="FFFFFF"/>
                    </a:solidFill>
                  </a:tcPr>
                </a:tc>
              </a:tr>
              <a:tr h="335788">
                <a:tc>
                  <a:txBody>
                    <a:bodyPr/>
                    <a:lstStyle/>
                    <a:p>
                      <a:pPr algn="ctr"/>
                      <a:r>
                        <a:rPr sz="1400" b="0">
                          <a:solidFill>
                            <a:srgbClr val="142B33"/>
                          </a:solidFill>
                          <a:latin typeface="Calibri"/>
                        </a:rPr>
                        <a:t>4</a:t>
                      </a:r>
                    </a:p>
                  </a:txBody>
                  <a:tcPr marL="73152" marR="73152" marT="27432" marB="27432" anchor="ctr">
                    <a:solidFill>
                      <a:srgbClr val="F4F8F9"/>
                    </a:solidFill>
                  </a:tcPr>
                </a:tc>
                <a:tc>
                  <a:txBody>
                    <a:bodyPr/>
                    <a:lstStyle/>
                    <a:p>
                      <a:pPr algn="ctr"/>
                      <a:r>
                        <a:rPr sz="1400" b="0">
                          <a:solidFill>
                            <a:srgbClr val="142B33"/>
                          </a:solidFill>
                          <a:latin typeface="Calibri"/>
                        </a:rPr>
                        <a:t>2</a:t>
                      </a:r>
                      <a:r>
                        <a:rPr sz="1400" b="0" baseline="30000">
                          <a:solidFill>
                            <a:srgbClr val="142B33"/>
                          </a:solidFill>
                          <a:latin typeface="Calibri"/>
                        </a:rPr>
                        <a:t>4−1</a:t>
                      </a:r>
                      <a:r>
                        <a:rPr sz="1400" b="0" baseline="-25000">
                          <a:solidFill>
                            <a:srgbClr val="142B33"/>
                          </a:solidFill>
                          <a:latin typeface="Calibri"/>
                        </a:rPr>
                        <a:t>IV</a:t>
                      </a:r>
                    </a:p>
                  </a:txBody>
                  <a:tcPr marL="73152" marR="73152" marT="27432" marB="27432" anchor="ctr">
                    <a:solidFill>
                      <a:srgbClr val="F4F8F9"/>
                    </a:solidFill>
                  </a:tcPr>
                </a:tc>
                <a:tc>
                  <a:txBody>
                    <a:bodyPr/>
                    <a:lstStyle/>
                    <a:p>
                      <a:pPr algn="ctr"/>
                      <a:r>
                        <a:rPr sz="1400" b="0">
                          <a:solidFill>
                            <a:srgbClr val="142B33"/>
                          </a:solidFill>
                          <a:latin typeface="Calibri"/>
                        </a:rPr>
                        <a:t>8</a:t>
                      </a:r>
                    </a:p>
                  </a:txBody>
                  <a:tcPr marL="73152" marR="73152" marT="27432" marB="27432" anchor="ctr">
                    <a:solidFill>
                      <a:srgbClr val="F4F8F9"/>
                    </a:solidFill>
                  </a:tcPr>
                </a:tc>
                <a:tc>
                  <a:txBody>
                    <a:bodyPr/>
                    <a:lstStyle/>
                    <a:p>
                      <a:pPr algn="ctr"/>
                      <a:r>
                        <a:rPr sz="1400" b="0">
                          <a:solidFill>
                            <a:srgbClr val="142B33"/>
                          </a:solidFill>
                          <a:latin typeface="Calibri"/>
                        </a:rPr>
                        <a:t>D = ABC</a:t>
                      </a:r>
                    </a:p>
                  </a:txBody>
                  <a:tcPr marL="73152" marR="73152" marT="27432" marB="27432" anchor="ctr">
                    <a:solidFill>
                      <a:srgbClr val="F4F8F9"/>
                    </a:solidFill>
                  </a:tcPr>
                </a:tc>
              </a:tr>
              <a:tr h="335788">
                <a:tc>
                  <a:txBody>
                    <a:bodyPr/>
                    <a:lstStyle/>
                    <a:p>
                      <a:pPr algn="ctr"/>
                      <a:r>
                        <a:rPr sz="1400" b="0">
                          <a:solidFill>
                            <a:srgbClr val="142B33"/>
                          </a:solidFill>
                          <a:latin typeface="Calibri"/>
                        </a:rPr>
                        <a:t>5</a:t>
                      </a:r>
                    </a:p>
                  </a:txBody>
                  <a:tcPr marL="73152" marR="73152" marT="27432" marB="27432" anchor="ctr">
                    <a:solidFill>
                      <a:srgbClr val="FFFFFF"/>
                    </a:solidFill>
                  </a:tcPr>
                </a:tc>
                <a:tc>
                  <a:txBody>
                    <a:bodyPr/>
                    <a:lstStyle/>
                    <a:p>
                      <a:pPr algn="ctr"/>
                      <a:r>
                        <a:rPr sz="1400" b="0">
                          <a:solidFill>
                            <a:srgbClr val="142B33"/>
                          </a:solidFill>
                          <a:latin typeface="Calibri"/>
                        </a:rPr>
                        <a:t>2</a:t>
                      </a:r>
                      <a:r>
                        <a:rPr sz="1400" b="0" baseline="30000">
                          <a:solidFill>
                            <a:srgbClr val="142B33"/>
                          </a:solidFill>
                          <a:latin typeface="Calibri"/>
                        </a:rPr>
                        <a:t>5−1</a:t>
                      </a:r>
                      <a:r>
                        <a:rPr sz="1400" b="0" baseline="-25000">
                          <a:solidFill>
                            <a:srgbClr val="142B33"/>
                          </a:solidFill>
                          <a:latin typeface="Calibri"/>
                        </a:rPr>
                        <a:t>V</a:t>
                      </a:r>
                    </a:p>
                  </a:txBody>
                  <a:tcPr marL="73152" marR="73152" marT="27432" marB="27432" anchor="ctr">
                    <a:solidFill>
                      <a:srgbClr val="FFFFFF"/>
                    </a:solidFill>
                  </a:tcPr>
                </a:tc>
                <a:tc>
                  <a:txBody>
                    <a:bodyPr/>
                    <a:lstStyle/>
                    <a:p>
                      <a:pPr algn="ctr"/>
                      <a:r>
                        <a:rPr sz="1400" b="0">
                          <a:solidFill>
                            <a:srgbClr val="142B33"/>
                          </a:solidFill>
                          <a:latin typeface="Calibri"/>
                        </a:rPr>
                        <a:t>16</a:t>
                      </a:r>
                    </a:p>
                  </a:txBody>
                  <a:tcPr marL="73152" marR="73152" marT="27432" marB="27432" anchor="ctr">
                    <a:solidFill>
                      <a:srgbClr val="FFFFFF"/>
                    </a:solidFill>
                  </a:tcPr>
                </a:tc>
                <a:tc>
                  <a:txBody>
                    <a:bodyPr/>
                    <a:lstStyle/>
                    <a:p>
                      <a:pPr algn="ctr"/>
                      <a:r>
                        <a:rPr sz="1400" b="0">
                          <a:solidFill>
                            <a:srgbClr val="142B33"/>
                          </a:solidFill>
                          <a:latin typeface="Calibri"/>
                        </a:rPr>
                        <a:t>E = ABCD</a:t>
                      </a:r>
                    </a:p>
                  </a:txBody>
                  <a:tcPr marL="73152" marR="73152" marT="27432" marB="27432" anchor="ctr">
                    <a:solidFill>
                      <a:srgbClr val="FFFFFF"/>
                    </a:solidFill>
                  </a:tcPr>
                </a:tc>
              </a:tr>
              <a:tr h="335788">
                <a:tc>
                  <a:txBody>
                    <a:bodyPr/>
                    <a:lstStyle/>
                    <a:p>
                      <a:pPr algn="ctr"/>
                      <a:r>
                        <a:rPr sz="1400" b="0">
                          <a:solidFill>
                            <a:srgbClr val="142B33"/>
                          </a:solidFill>
                          <a:latin typeface="Calibri"/>
                        </a:rPr>
                        <a:t>5</a:t>
                      </a:r>
                    </a:p>
                  </a:txBody>
                  <a:tcPr marL="73152" marR="73152" marT="27432" marB="27432" anchor="ctr">
                    <a:solidFill>
                      <a:srgbClr val="F4F8F9"/>
                    </a:solidFill>
                  </a:tcPr>
                </a:tc>
                <a:tc>
                  <a:txBody>
                    <a:bodyPr/>
                    <a:lstStyle/>
                    <a:p>
                      <a:pPr algn="ctr"/>
                      <a:r>
                        <a:rPr sz="1400" b="0">
                          <a:solidFill>
                            <a:srgbClr val="142B33"/>
                          </a:solidFill>
                          <a:latin typeface="Calibri"/>
                        </a:rPr>
                        <a:t>2</a:t>
                      </a:r>
                      <a:r>
                        <a:rPr sz="1400" b="0" baseline="30000">
                          <a:solidFill>
                            <a:srgbClr val="142B33"/>
                          </a:solidFill>
                          <a:latin typeface="Calibri"/>
                        </a:rPr>
                        <a:t>5−2</a:t>
                      </a:r>
                      <a:r>
                        <a:rPr sz="1400" b="0" baseline="-25000">
                          <a:solidFill>
                            <a:srgbClr val="142B33"/>
                          </a:solidFill>
                          <a:latin typeface="Calibri"/>
                        </a:rPr>
                        <a:t>III</a:t>
                      </a:r>
                    </a:p>
                  </a:txBody>
                  <a:tcPr marL="73152" marR="73152" marT="27432" marB="27432" anchor="ctr">
                    <a:solidFill>
                      <a:srgbClr val="F4F8F9"/>
                    </a:solidFill>
                  </a:tcPr>
                </a:tc>
                <a:tc>
                  <a:txBody>
                    <a:bodyPr/>
                    <a:lstStyle/>
                    <a:p>
                      <a:pPr algn="ctr"/>
                      <a:r>
                        <a:rPr sz="1400" b="0">
                          <a:solidFill>
                            <a:srgbClr val="142B33"/>
                          </a:solidFill>
                          <a:latin typeface="Calibri"/>
                        </a:rPr>
                        <a:t>8</a:t>
                      </a:r>
                    </a:p>
                  </a:txBody>
                  <a:tcPr marL="73152" marR="73152" marT="27432" marB="27432" anchor="ctr">
                    <a:solidFill>
                      <a:srgbClr val="F4F8F9"/>
                    </a:solidFill>
                  </a:tcPr>
                </a:tc>
                <a:tc>
                  <a:txBody>
                    <a:bodyPr/>
                    <a:lstStyle/>
                    <a:p>
                      <a:pPr algn="ctr"/>
                      <a:r>
                        <a:rPr sz="1400" b="0">
                          <a:solidFill>
                            <a:srgbClr val="142B33"/>
                          </a:solidFill>
                          <a:latin typeface="Calibri"/>
                        </a:rPr>
                        <a:t>D = AB,  E = AC</a:t>
                      </a:r>
                    </a:p>
                  </a:txBody>
                  <a:tcPr marL="73152" marR="73152" marT="27432" marB="27432" anchor="ctr">
                    <a:solidFill>
                      <a:srgbClr val="F4F8F9"/>
                    </a:solidFill>
                  </a:tcPr>
                </a:tc>
              </a:tr>
              <a:tr h="335788">
                <a:tc>
                  <a:txBody>
                    <a:bodyPr/>
                    <a:lstStyle/>
                    <a:p>
                      <a:pPr algn="ctr"/>
                      <a:r>
                        <a:rPr sz="1400" b="0">
                          <a:solidFill>
                            <a:srgbClr val="142B33"/>
                          </a:solidFill>
                          <a:latin typeface="Calibri"/>
                        </a:rPr>
                        <a:t>6</a:t>
                      </a:r>
                    </a:p>
                  </a:txBody>
                  <a:tcPr marL="73152" marR="73152" marT="27432" marB="27432" anchor="ctr">
                    <a:solidFill>
                      <a:srgbClr val="FFFFFF"/>
                    </a:solidFill>
                  </a:tcPr>
                </a:tc>
                <a:tc>
                  <a:txBody>
                    <a:bodyPr/>
                    <a:lstStyle/>
                    <a:p>
                      <a:pPr algn="ctr"/>
                      <a:r>
                        <a:rPr sz="1400" b="0">
                          <a:solidFill>
                            <a:srgbClr val="142B33"/>
                          </a:solidFill>
                          <a:latin typeface="Calibri"/>
                        </a:rPr>
                        <a:t>2</a:t>
                      </a:r>
                      <a:r>
                        <a:rPr sz="1400" b="0" baseline="30000">
                          <a:solidFill>
                            <a:srgbClr val="142B33"/>
                          </a:solidFill>
                          <a:latin typeface="Calibri"/>
                        </a:rPr>
                        <a:t>6−1</a:t>
                      </a:r>
                      <a:r>
                        <a:rPr sz="1400" b="0" baseline="-25000">
                          <a:solidFill>
                            <a:srgbClr val="142B33"/>
                          </a:solidFill>
                          <a:latin typeface="Calibri"/>
                        </a:rPr>
                        <a:t>VI</a:t>
                      </a:r>
                    </a:p>
                  </a:txBody>
                  <a:tcPr marL="73152" marR="73152" marT="27432" marB="27432" anchor="ctr">
                    <a:solidFill>
                      <a:srgbClr val="FFFFFF"/>
                    </a:solidFill>
                  </a:tcPr>
                </a:tc>
                <a:tc>
                  <a:txBody>
                    <a:bodyPr/>
                    <a:lstStyle/>
                    <a:p>
                      <a:pPr algn="ctr"/>
                      <a:r>
                        <a:rPr sz="1400" b="0">
                          <a:solidFill>
                            <a:srgbClr val="142B33"/>
                          </a:solidFill>
                          <a:latin typeface="Calibri"/>
                        </a:rPr>
                        <a:t>32</a:t>
                      </a:r>
                    </a:p>
                  </a:txBody>
                  <a:tcPr marL="73152" marR="73152" marT="27432" marB="27432" anchor="ctr">
                    <a:solidFill>
                      <a:srgbClr val="FFFFFF"/>
                    </a:solidFill>
                  </a:tcPr>
                </a:tc>
                <a:tc>
                  <a:txBody>
                    <a:bodyPr/>
                    <a:lstStyle/>
                    <a:p>
                      <a:pPr algn="ctr"/>
                      <a:r>
                        <a:rPr sz="1400" b="0">
                          <a:solidFill>
                            <a:srgbClr val="142B33"/>
                          </a:solidFill>
                          <a:latin typeface="Calibri"/>
                        </a:rPr>
                        <a:t>F = ABCDE</a:t>
                      </a:r>
                    </a:p>
                  </a:txBody>
                  <a:tcPr marL="73152" marR="73152" marT="27432" marB="27432" anchor="ctr">
                    <a:solidFill>
                      <a:srgbClr val="FFFFFF"/>
                    </a:solidFill>
                  </a:tcPr>
                </a:tc>
              </a:tr>
              <a:tr h="335788">
                <a:tc>
                  <a:txBody>
                    <a:bodyPr/>
                    <a:lstStyle/>
                    <a:p>
                      <a:pPr algn="ctr"/>
                      <a:r>
                        <a:rPr sz="1400" b="0">
                          <a:solidFill>
                            <a:srgbClr val="142B33"/>
                          </a:solidFill>
                          <a:latin typeface="Calibri"/>
                        </a:rPr>
                        <a:t>6</a:t>
                      </a:r>
                    </a:p>
                  </a:txBody>
                  <a:tcPr marL="73152" marR="73152" marT="27432" marB="27432" anchor="ctr">
                    <a:solidFill>
                      <a:srgbClr val="F4F8F9"/>
                    </a:solidFill>
                  </a:tcPr>
                </a:tc>
                <a:tc>
                  <a:txBody>
                    <a:bodyPr/>
                    <a:lstStyle/>
                    <a:p>
                      <a:pPr algn="ctr"/>
                      <a:r>
                        <a:rPr sz="1400" b="0">
                          <a:solidFill>
                            <a:srgbClr val="142B33"/>
                          </a:solidFill>
                          <a:latin typeface="Calibri"/>
                        </a:rPr>
                        <a:t>2</a:t>
                      </a:r>
                      <a:r>
                        <a:rPr sz="1400" b="0" baseline="30000">
                          <a:solidFill>
                            <a:srgbClr val="142B33"/>
                          </a:solidFill>
                          <a:latin typeface="Calibri"/>
                        </a:rPr>
                        <a:t>6−2</a:t>
                      </a:r>
                      <a:r>
                        <a:rPr sz="1400" b="0" baseline="-25000">
                          <a:solidFill>
                            <a:srgbClr val="142B33"/>
                          </a:solidFill>
                          <a:latin typeface="Calibri"/>
                        </a:rPr>
                        <a:t>IV</a:t>
                      </a:r>
                    </a:p>
                  </a:txBody>
                  <a:tcPr marL="73152" marR="73152" marT="27432" marB="27432" anchor="ctr">
                    <a:solidFill>
                      <a:srgbClr val="F4F8F9"/>
                    </a:solidFill>
                  </a:tcPr>
                </a:tc>
                <a:tc>
                  <a:txBody>
                    <a:bodyPr/>
                    <a:lstStyle/>
                    <a:p>
                      <a:pPr algn="ctr"/>
                      <a:r>
                        <a:rPr sz="1400" b="0">
                          <a:solidFill>
                            <a:srgbClr val="142B33"/>
                          </a:solidFill>
                          <a:latin typeface="Calibri"/>
                        </a:rPr>
                        <a:t>16</a:t>
                      </a:r>
                    </a:p>
                  </a:txBody>
                  <a:tcPr marL="73152" marR="73152" marT="27432" marB="27432" anchor="ctr">
                    <a:solidFill>
                      <a:srgbClr val="F4F8F9"/>
                    </a:solidFill>
                  </a:tcPr>
                </a:tc>
                <a:tc>
                  <a:txBody>
                    <a:bodyPr/>
                    <a:lstStyle/>
                    <a:p>
                      <a:pPr algn="ctr"/>
                      <a:r>
                        <a:rPr sz="1400" b="0">
                          <a:solidFill>
                            <a:srgbClr val="142B33"/>
                          </a:solidFill>
                          <a:latin typeface="Calibri"/>
                        </a:rPr>
                        <a:t>E = ABC,  F = BCD</a:t>
                      </a:r>
                    </a:p>
                  </a:txBody>
                  <a:tcPr marL="73152" marR="73152" marT="27432" marB="27432" anchor="ctr">
                    <a:solidFill>
                      <a:srgbClr val="F4F8F9"/>
                    </a:solidFill>
                  </a:tcPr>
                </a:tc>
              </a:tr>
              <a:tr h="335788">
                <a:tc>
                  <a:txBody>
                    <a:bodyPr/>
                    <a:lstStyle/>
                    <a:p>
                      <a:pPr algn="ctr"/>
                      <a:r>
                        <a:rPr sz="1400" b="0">
                          <a:solidFill>
                            <a:srgbClr val="142B33"/>
                          </a:solidFill>
                          <a:latin typeface="Calibri"/>
                        </a:rPr>
                        <a:t>6</a:t>
                      </a:r>
                    </a:p>
                  </a:txBody>
                  <a:tcPr marL="73152" marR="73152" marT="27432" marB="27432" anchor="ctr">
                    <a:solidFill>
                      <a:srgbClr val="FFFFFF"/>
                    </a:solidFill>
                  </a:tcPr>
                </a:tc>
                <a:tc>
                  <a:txBody>
                    <a:bodyPr/>
                    <a:lstStyle/>
                    <a:p>
                      <a:pPr algn="ctr"/>
                      <a:r>
                        <a:rPr sz="1400" b="0">
                          <a:solidFill>
                            <a:srgbClr val="142B33"/>
                          </a:solidFill>
                          <a:latin typeface="Calibri"/>
                        </a:rPr>
                        <a:t>2</a:t>
                      </a:r>
                      <a:r>
                        <a:rPr sz="1400" b="0" baseline="30000">
                          <a:solidFill>
                            <a:srgbClr val="142B33"/>
                          </a:solidFill>
                          <a:latin typeface="Calibri"/>
                        </a:rPr>
                        <a:t>6−3</a:t>
                      </a:r>
                      <a:r>
                        <a:rPr sz="1400" b="0" baseline="-25000">
                          <a:solidFill>
                            <a:srgbClr val="142B33"/>
                          </a:solidFill>
                          <a:latin typeface="Calibri"/>
                        </a:rPr>
                        <a:t>III</a:t>
                      </a:r>
                    </a:p>
                  </a:txBody>
                  <a:tcPr marL="73152" marR="73152" marT="27432" marB="27432" anchor="ctr">
                    <a:solidFill>
                      <a:srgbClr val="FFFFFF"/>
                    </a:solidFill>
                  </a:tcPr>
                </a:tc>
                <a:tc>
                  <a:txBody>
                    <a:bodyPr/>
                    <a:lstStyle/>
                    <a:p>
                      <a:pPr algn="ctr"/>
                      <a:r>
                        <a:rPr sz="1400" b="0">
                          <a:solidFill>
                            <a:srgbClr val="142B33"/>
                          </a:solidFill>
                          <a:latin typeface="Calibri"/>
                        </a:rPr>
                        <a:t>8</a:t>
                      </a:r>
                    </a:p>
                  </a:txBody>
                  <a:tcPr marL="73152" marR="73152" marT="27432" marB="27432" anchor="ctr">
                    <a:solidFill>
                      <a:srgbClr val="FFFFFF"/>
                    </a:solidFill>
                  </a:tcPr>
                </a:tc>
                <a:tc>
                  <a:txBody>
                    <a:bodyPr/>
                    <a:lstStyle/>
                    <a:p>
                      <a:pPr algn="ctr"/>
                      <a:r>
                        <a:rPr sz="1400" b="0">
                          <a:solidFill>
                            <a:srgbClr val="142B33"/>
                          </a:solidFill>
                          <a:latin typeface="Calibri"/>
                        </a:rPr>
                        <a:t>D = AB,  E = AC,  F = BC</a:t>
                      </a:r>
                    </a:p>
                  </a:txBody>
                  <a:tcPr marL="73152" marR="73152" marT="27432" marB="27432" anchor="ctr">
                    <a:solidFill>
                      <a:srgbClr val="FFFFFF"/>
                    </a:solidFill>
                  </a:tcPr>
                </a:tc>
              </a:tr>
              <a:tr h="335788">
                <a:tc>
                  <a:txBody>
                    <a:bodyPr/>
                    <a:lstStyle/>
                    <a:p>
                      <a:pPr algn="ctr"/>
                      <a:r>
                        <a:rPr sz="1400" b="0">
                          <a:solidFill>
                            <a:srgbClr val="142B33"/>
                          </a:solidFill>
                          <a:latin typeface="Calibri"/>
                        </a:rPr>
                        <a:t>7</a:t>
                      </a:r>
                    </a:p>
                  </a:txBody>
                  <a:tcPr marL="73152" marR="73152" marT="27432" marB="27432" anchor="ctr">
                    <a:solidFill>
                      <a:srgbClr val="F4F8F9"/>
                    </a:solidFill>
                  </a:tcPr>
                </a:tc>
                <a:tc>
                  <a:txBody>
                    <a:bodyPr/>
                    <a:lstStyle/>
                    <a:p>
                      <a:pPr algn="ctr"/>
                      <a:r>
                        <a:rPr sz="1400" b="0">
                          <a:solidFill>
                            <a:srgbClr val="142B33"/>
                          </a:solidFill>
                          <a:latin typeface="Calibri"/>
                        </a:rPr>
                        <a:t>2</a:t>
                      </a:r>
                      <a:r>
                        <a:rPr sz="1400" b="0" baseline="30000">
                          <a:solidFill>
                            <a:srgbClr val="142B33"/>
                          </a:solidFill>
                          <a:latin typeface="Calibri"/>
                        </a:rPr>
                        <a:t>7−2</a:t>
                      </a:r>
                      <a:r>
                        <a:rPr sz="1400" b="0" baseline="-25000">
                          <a:solidFill>
                            <a:srgbClr val="142B33"/>
                          </a:solidFill>
                          <a:latin typeface="Calibri"/>
                        </a:rPr>
                        <a:t>IV</a:t>
                      </a:r>
                    </a:p>
                  </a:txBody>
                  <a:tcPr marL="73152" marR="73152" marT="27432" marB="27432" anchor="ctr">
                    <a:solidFill>
                      <a:srgbClr val="F4F8F9"/>
                    </a:solidFill>
                  </a:tcPr>
                </a:tc>
                <a:tc>
                  <a:txBody>
                    <a:bodyPr/>
                    <a:lstStyle/>
                    <a:p>
                      <a:pPr algn="ctr"/>
                      <a:r>
                        <a:rPr sz="1400" b="0">
                          <a:solidFill>
                            <a:srgbClr val="142B33"/>
                          </a:solidFill>
                          <a:latin typeface="Calibri"/>
                        </a:rPr>
                        <a:t>32</a:t>
                      </a:r>
                    </a:p>
                  </a:txBody>
                  <a:tcPr marL="73152" marR="73152" marT="27432" marB="27432" anchor="ctr">
                    <a:solidFill>
                      <a:srgbClr val="F4F8F9"/>
                    </a:solidFill>
                  </a:tcPr>
                </a:tc>
                <a:tc>
                  <a:txBody>
                    <a:bodyPr/>
                    <a:lstStyle/>
                    <a:p>
                      <a:pPr algn="ctr"/>
                      <a:r>
                        <a:rPr sz="1400" b="0">
                          <a:solidFill>
                            <a:srgbClr val="142B33"/>
                          </a:solidFill>
                          <a:latin typeface="Calibri"/>
                        </a:rPr>
                        <a:t>F = ABCD,  G = ABDE</a:t>
                      </a:r>
                    </a:p>
                  </a:txBody>
                  <a:tcPr marL="73152" marR="73152" marT="27432" marB="27432" anchor="ctr">
                    <a:solidFill>
                      <a:srgbClr val="F4F8F9"/>
                    </a:solidFill>
                  </a:tcPr>
                </a:tc>
              </a:tr>
              <a:tr h="335788">
                <a:tc>
                  <a:txBody>
                    <a:bodyPr/>
                    <a:lstStyle/>
                    <a:p>
                      <a:pPr algn="ctr"/>
                      <a:r>
                        <a:rPr sz="1400" b="0">
                          <a:solidFill>
                            <a:srgbClr val="142B33"/>
                          </a:solidFill>
                          <a:latin typeface="Calibri"/>
                        </a:rPr>
                        <a:t>7</a:t>
                      </a:r>
                    </a:p>
                  </a:txBody>
                  <a:tcPr marL="73152" marR="73152" marT="27432" marB="27432" anchor="ctr">
                    <a:solidFill>
                      <a:srgbClr val="FFFFFF"/>
                    </a:solidFill>
                  </a:tcPr>
                </a:tc>
                <a:tc>
                  <a:txBody>
                    <a:bodyPr/>
                    <a:lstStyle/>
                    <a:p>
                      <a:pPr algn="ctr"/>
                      <a:r>
                        <a:rPr sz="1400" b="0">
                          <a:solidFill>
                            <a:srgbClr val="142B33"/>
                          </a:solidFill>
                          <a:latin typeface="Calibri"/>
                        </a:rPr>
                        <a:t>2</a:t>
                      </a:r>
                      <a:r>
                        <a:rPr sz="1400" b="0" baseline="30000">
                          <a:solidFill>
                            <a:srgbClr val="142B33"/>
                          </a:solidFill>
                          <a:latin typeface="Calibri"/>
                        </a:rPr>
                        <a:t>7−3</a:t>
                      </a:r>
                      <a:r>
                        <a:rPr sz="1400" b="0" baseline="-25000">
                          <a:solidFill>
                            <a:srgbClr val="142B33"/>
                          </a:solidFill>
                          <a:latin typeface="Calibri"/>
                        </a:rPr>
                        <a:t>IV</a:t>
                      </a:r>
                    </a:p>
                  </a:txBody>
                  <a:tcPr marL="73152" marR="73152" marT="27432" marB="27432" anchor="ctr">
                    <a:solidFill>
                      <a:srgbClr val="FFFFFF"/>
                    </a:solidFill>
                  </a:tcPr>
                </a:tc>
                <a:tc>
                  <a:txBody>
                    <a:bodyPr/>
                    <a:lstStyle/>
                    <a:p>
                      <a:pPr algn="ctr"/>
                      <a:r>
                        <a:rPr sz="1400" b="0">
                          <a:solidFill>
                            <a:srgbClr val="142B33"/>
                          </a:solidFill>
                          <a:latin typeface="Calibri"/>
                        </a:rPr>
                        <a:t>16</a:t>
                      </a:r>
                    </a:p>
                  </a:txBody>
                  <a:tcPr marL="73152" marR="73152" marT="27432" marB="27432" anchor="ctr">
                    <a:solidFill>
                      <a:srgbClr val="FFFFFF"/>
                    </a:solidFill>
                  </a:tcPr>
                </a:tc>
                <a:tc>
                  <a:txBody>
                    <a:bodyPr/>
                    <a:lstStyle/>
                    <a:p>
                      <a:pPr algn="ctr"/>
                      <a:r>
                        <a:rPr sz="1400" b="0">
                          <a:solidFill>
                            <a:srgbClr val="142B33"/>
                          </a:solidFill>
                          <a:latin typeface="Calibri"/>
                        </a:rPr>
                        <a:t>E = ABC,  F = BCD,  G = ACD</a:t>
                      </a:r>
                    </a:p>
                  </a:txBody>
                  <a:tcPr marL="73152" marR="73152" marT="27432" marB="27432" anchor="ctr">
                    <a:solidFill>
                      <a:srgbClr val="FFFFFF"/>
                    </a:solidFill>
                  </a:tcPr>
                </a:tc>
              </a:tr>
              <a:tr h="335788">
                <a:tc>
                  <a:txBody>
                    <a:bodyPr/>
                    <a:lstStyle/>
                    <a:p>
                      <a:pPr algn="ctr"/>
                      <a:r>
                        <a:rPr sz="1400" b="0">
                          <a:solidFill>
                            <a:srgbClr val="142B33"/>
                          </a:solidFill>
                          <a:latin typeface="Calibri"/>
                        </a:rPr>
                        <a:t>7</a:t>
                      </a:r>
                    </a:p>
                  </a:txBody>
                  <a:tcPr marL="73152" marR="73152" marT="27432" marB="27432" anchor="ctr">
                    <a:solidFill>
                      <a:srgbClr val="F4F8F9"/>
                    </a:solidFill>
                  </a:tcPr>
                </a:tc>
                <a:tc>
                  <a:txBody>
                    <a:bodyPr/>
                    <a:lstStyle/>
                    <a:p>
                      <a:pPr algn="ctr"/>
                      <a:r>
                        <a:rPr sz="1400" b="0">
                          <a:solidFill>
                            <a:srgbClr val="142B33"/>
                          </a:solidFill>
                          <a:latin typeface="Calibri"/>
                        </a:rPr>
                        <a:t>2</a:t>
                      </a:r>
                      <a:r>
                        <a:rPr sz="1400" b="0" baseline="30000">
                          <a:solidFill>
                            <a:srgbClr val="142B33"/>
                          </a:solidFill>
                          <a:latin typeface="Calibri"/>
                        </a:rPr>
                        <a:t>7−4</a:t>
                      </a:r>
                      <a:r>
                        <a:rPr sz="1400" b="0" baseline="-25000">
                          <a:solidFill>
                            <a:srgbClr val="142B33"/>
                          </a:solidFill>
                          <a:latin typeface="Calibri"/>
                        </a:rPr>
                        <a:t>III</a:t>
                      </a:r>
                    </a:p>
                  </a:txBody>
                  <a:tcPr marL="73152" marR="73152" marT="27432" marB="27432" anchor="ctr">
                    <a:solidFill>
                      <a:srgbClr val="F4F8F9"/>
                    </a:solidFill>
                  </a:tcPr>
                </a:tc>
                <a:tc>
                  <a:txBody>
                    <a:bodyPr/>
                    <a:lstStyle/>
                    <a:p>
                      <a:pPr algn="ctr"/>
                      <a:r>
                        <a:rPr sz="1400" b="0">
                          <a:solidFill>
                            <a:srgbClr val="142B33"/>
                          </a:solidFill>
                          <a:latin typeface="Calibri"/>
                        </a:rPr>
                        <a:t>8</a:t>
                      </a:r>
                    </a:p>
                  </a:txBody>
                  <a:tcPr marL="73152" marR="73152" marT="27432" marB="27432" anchor="ctr">
                    <a:solidFill>
                      <a:srgbClr val="F4F8F9"/>
                    </a:solidFill>
                  </a:tcPr>
                </a:tc>
                <a:tc>
                  <a:txBody>
                    <a:bodyPr/>
                    <a:lstStyle/>
                    <a:p>
                      <a:pPr algn="ctr"/>
                      <a:r>
                        <a:rPr sz="1400" b="0">
                          <a:solidFill>
                            <a:srgbClr val="142B33"/>
                          </a:solidFill>
                          <a:latin typeface="Calibri"/>
                        </a:rPr>
                        <a:t>D = AB,  E = AC,  F = BC,  G = ABC</a:t>
                      </a:r>
                    </a:p>
                  </a:txBody>
                  <a:tcPr marL="73152" marR="73152" marT="27432" marB="27432" anchor="ctr">
                    <a:solidFill>
                      <a:srgbClr val="F4F8F9"/>
                    </a:solidFill>
                  </a:tcPr>
                </a:tc>
              </a:tr>
              <a:tr h="335788">
                <a:tc>
                  <a:txBody>
                    <a:bodyPr/>
                    <a:lstStyle/>
                    <a:p>
                      <a:pPr algn="ctr"/>
                      <a:r>
                        <a:rPr sz="1400" b="0">
                          <a:solidFill>
                            <a:srgbClr val="142B33"/>
                          </a:solidFill>
                          <a:latin typeface="Calibri"/>
                        </a:rPr>
                        <a:t>8</a:t>
                      </a:r>
                    </a:p>
                  </a:txBody>
                  <a:tcPr marL="73152" marR="73152" marT="27432" marB="27432" anchor="ctr">
                    <a:solidFill>
                      <a:srgbClr val="FFFFFF"/>
                    </a:solidFill>
                  </a:tcPr>
                </a:tc>
                <a:tc>
                  <a:txBody>
                    <a:bodyPr/>
                    <a:lstStyle/>
                    <a:p>
                      <a:pPr algn="ctr"/>
                      <a:r>
                        <a:rPr sz="1400" b="0">
                          <a:solidFill>
                            <a:srgbClr val="142B33"/>
                          </a:solidFill>
                          <a:latin typeface="Calibri"/>
                        </a:rPr>
                        <a:t>2</a:t>
                      </a:r>
                      <a:r>
                        <a:rPr sz="1400" b="0" baseline="30000">
                          <a:solidFill>
                            <a:srgbClr val="142B33"/>
                          </a:solidFill>
                          <a:latin typeface="Calibri"/>
                        </a:rPr>
                        <a:t>8−3</a:t>
                      </a:r>
                      <a:r>
                        <a:rPr sz="1400" b="0" baseline="-25000">
                          <a:solidFill>
                            <a:srgbClr val="142B33"/>
                          </a:solidFill>
                          <a:latin typeface="Calibri"/>
                        </a:rPr>
                        <a:t>IV</a:t>
                      </a:r>
                    </a:p>
                  </a:txBody>
                  <a:tcPr marL="73152" marR="73152" marT="27432" marB="27432" anchor="ctr">
                    <a:solidFill>
                      <a:srgbClr val="FFFFFF"/>
                    </a:solidFill>
                  </a:tcPr>
                </a:tc>
                <a:tc>
                  <a:txBody>
                    <a:bodyPr/>
                    <a:lstStyle/>
                    <a:p>
                      <a:pPr algn="ctr"/>
                      <a:r>
                        <a:rPr sz="1400" b="0">
                          <a:solidFill>
                            <a:srgbClr val="142B33"/>
                          </a:solidFill>
                          <a:latin typeface="Calibri"/>
                        </a:rPr>
                        <a:t>32</a:t>
                      </a:r>
                    </a:p>
                  </a:txBody>
                  <a:tcPr marL="73152" marR="73152" marT="27432" marB="27432" anchor="ctr">
                    <a:solidFill>
                      <a:srgbClr val="FFFFFF"/>
                    </a:solidFill>
                  </a:tcPr>
                </a:tc>
                <a:tc>
                  <a:txBody>
                    <a:bodyPr/>
                    <a:lstStyle/>
                    <a:p>
                      <a:pPr algn="ctr"/>
                      <a:r>
                        <a:rPr sz="1400" b="0">
                          <a:solidFill>
                            <a:srgbClr val="142B33"/>
                          </a:solidFill>
                          <a:latin typeface="Calibri"/>
                        </a:rPr>
                        <a:t>F = ABC,  G = ABD,  H = BCDE</a:t>
                      </a:r>
                    </a:p>
                  </a:txBody>
                  <a:tcPr marL="73152" marR="73152" marT="27432" marB="27432" anchor="ctr">
                    <a:solidFill>
                      <a:srgbClr val="FFFFFF"/>
                    </a:solidFill>
                  </a:tcPr>
                </a:tc>
              </a:tr>
              <a:tr h="335788">
                <a:tc>
                  <a:txBody>
                    <a:bodyPr/>
                    <a:lstStyle/>
                    <a:p>
                      <a:pPr algn="ctr"/>
                      <a:r>
                        <a:rPr sz="1400" b="0">
                          <a:solidFill>
                            <a:srgbClr val="142B33"/>
                          </a:solidFill>
                          <a:latin typeface="Calibri"/>
                        </a:rPr>
                        <a:t>8</a:t>
                      </a:r>
                    </a:p>
                  </a:txBody>
                  <a:tcPr marL="73152" marR="73152" marT="27432" marB="27432" anchor="ctr">
                    <a:solidFill>
                      <a:srgbClr val="F4F8F9"/>
                    </a:solidFill>
                  </a:tcPr>
                </a:tc>
                <a:tc>
                  <a:txBody>
                    <a:bodyPr/>
                    <a:lstStyle/>
                    <a:p>
                      <a:pPr algn="ctr"/>
                      <a:r>
                        <a:rPr sz="1400" b="0">
                          <a:solidFill>
                            <a:srgbClr val="142B33"/>
                          </a:solidFill>
                          <a:latin typeface="Calibri"/>
                        </a:rPr>
                        <a:t>2</a:t>
                      </a:r>
                      <a:r>
                        <a:rPr sz="1400" b="0" baseline="30000">
                          <a:solidFill>
                            <a:srgbClr val="142B33"/>
                          </a:solidFill>
                          <a:latin typeface="Calibri"/>
                        </a:rPr>
                        <a:t>8−4</a:t>
                      </a:r>
                      <a:r>
                        <a:rPr sz="1400" b="0" baseline="-25000">
                          <a:solidFill>
                            <a:srgbClr val="142B33"/>
                          </a:solidFill>
                          <a:latin typeface="Calibri"/>
                        </a:rPr>
                        <a:t>IV</a:t>
                      </a:r>
                    </a:p>
                  </a:txBody>
                  <a:tcPr marL="73152" marR="73152" marT="27432" marB="27432" anchor="ctr">
                    <a:solidFill>
                      <a:srgbClr val="F4F8F9"/>
                    </a:solidFill>
                  </a:tcPr>
                </a:tc>
                <a:tc>
                  <a:txBody>
                    <a:bodyPr/>
                    <a:lstStyle/>
                    <a:p>
                      <a:pPr algn="ctr"/>
                      <a:r>
                        <a:rPr sz="1400" b="0">
                          <a:solidFill>
                            <a:srgbClr val="142B33"/>
                          </a:solidFill>
                          <a:latin typeface="Calibri"/>
                        </a:rPr>
                        <a:t>16</a:t>
                      </a:r>
                    </a:p>
                  </a:txBody>
                  <a:tcPr marL="73152" marR="73152" marT="27432" marB="27432" anchor="ctr">
                    <a:solidFill>
                      <a:srgbClr val="F4F8F9"/>
                    </a:solidFill>
                  </a:tcPr>
                </a:tc>
                <a:tc>
                  <a:txBody>
                    <a:bodyPr/>
                    <a:lstStyle/>
                    <a:p>
                      <a:pPr algn="ctr"/>
                      <a:r>
                        <a:rPr sz="1400" b="0">
                          <a:solidFill>
                            <a:srgbClr val="142B33"/>
                          </a:solidFill>
                          <a:latin typeface="Calibri"/>
                        </a:rPr>
                        <a:t>E = BCD,  F = ACD,  G = ABC,  H = ABD</a:t>
                      </a:r>
                    </a:p>
                  </a:txBody>
                  <a:tcPr marL="73152" marR="73152" marT="27432" marB="27432" anchor="ctr">
                    <a:solidFill>
                      <a:srgbClr val="F4F8F9"/>
                    </a:solidFill>
                  </a:tcPr>
                </a:tc>
              </a:tr>
            </a:tbl>
          </a:graphicData>
        </a:graphic>
      </p:graphicFrame>
      <p:sp>
        <p:nvSpPr>
          <p:cNvPr id="4" name="TextBox 3"/>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El diseño 2</a:t>
            </a:r>
            <a:r>
              <a:rPr sz="1000" b="0" baseline="30000">
                <a:solidFill>
                  <a:srgbClr val="5B6B73"/>
                </a:solidFill>
                <a:latin typeface="Calibri"/>
              </a:rPr>
              <a:t>k−p</a:t>
            </a:r>
            <a:r>
              <a:rPr sz="1000" b="0">
                <a:solidFill>
                  <a:srgbClr val="5B6B73"/>
                </a:solidFill>
                <a:latin typeface="Calibri"/>
              </a:rPr>
              <a:t> general</a:t>
            </a:r>
          </a:p>
        </p:txBody>
      </p:sp>
      <p:sp>
        <p:nvSpPr>
          <p:cNvPr id="5" name="TextBox 4"/>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60</a:t>
            </a:r>
          </a:p>
        </p:txBody>
      </p:sp>
      <p:sp>
        <p:nvSpPr>
          <p:cNvPr id="6" name="Rounded Rectangle 5"/>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7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¿Cómo elijo un diseño para siete factores? (pasos 1 y 2)</a:t>
            </a:r>
          </a:p>
        </p:txBody>
      </p:sp>
      <p:sp>
        <p:nvSpPr>
          <p:cNvPr id="3" name="TextBox 2"/>
          <p:cNvSpPr txBox="1"/>
          <p:nvPr/>
        </p:nvSpPr>
        <p:spPr>
          <a:xfrm>
            <a:off x="548640" y="1417320"/>
            <a:ext cx="5020979" cy="501396"/>
          </a:xfrm>
          <a:prstGeom prst="rect">
            <a:avLst/>
          </a:prstGeom>
          <a:noFill/>
        </p:spPr>
        <p:txBody>
          <a:bodyPr wrap="square" anchor="t" lIns="0" rIns="0" tIns="0" bIns="0">
            <a:spAutoFit/>
          </a:bodyPr>
          <a:lstStyle/>
          <a:p>
            <a:r>
              <a:rPr sz="1500" b="1">
                <a:solidFill>
                  <a:srgbClr val="142B33"/>
                </a:solidFill>
                <a:latin typeface="Calibri"/>
              </a:rPr>
              <a:t>Objetivo</a:t>
            </a:r>
            <a:r>
              <a:rPr sz="1500" b="0">
                <a:solidFill>
                  <a:srgbClr val="142B33"/>
                </a:solidFill>
                <a:latin typeface="Calibri"/>
              </a:rPr>
              <a:t>: 7 efectos principales y una idea de las interacciones dobles; triples despreciables</a:t>
            </a:r>
          </a:p>
        </p:txBody>
      </p:sp>
      <p:sp>
        <p:nvSpPr>
          <p:cNvPr id="4" name="TextBox 3"/>
          <p:cNvSpPr txBox="1"/>
          <p:nvPr/>
        </p:nvSpPr>
        <p:spPr>
          <a:xfrm>
            <a:off x="548640" y="2119884"/>
            <a:ext cx="5020979" cy="1094232"/>
          </a:xfrm>
          <a:prstGeom prst="rect">
            <a:avLst/>
          </a:prstGeom>
          <a:noFill/>
        </p:spPr>
        <p:txBody>
          <a:bodyPr wrap="square" anchor="t" lIns="0" rIns="0" tIns="0" bIns="0">
            <a:spAutoFit/>
          </a:bodyPr>
          <a:lstStyle/>
          <a:p>
            <a:pPr marL="320040" indent="-320040">
              <a:spcAft>
                <a:spcPts val="600"/>
              </a:spcAft>
              <a:buClr>
                <a:srgbClr val="E36414"/>
              </a:buClr>
              <a:buFont typeface="+mj-lt"/>
              <a:buAutoNum type="arabicPeriod"/>
            </a:pPr>
            <a:r>
              <a:rPr sz="1500" b="0">
                <a:solidFill>
                  <a:srgbClr val="142B33"/>
                </a:solidFill>
                <a:latin typeface="Calibri"/>
              </a:rPr>
              <a:t>​</a:t>
            </a:r>
            <a:r>
              <a:rPr sz="1500" b="1">
                <a:solidFill>
                  <a:srgbClr val="142B33"/>
                </a:solidFill>
                <a:latin typeface="Calibri"/>
              </a:rPr>
              <a:t>Paso 2</a:t>
            </a:r>
            <a:r>
              <a:rPr sz="1500" b="0">
                <a:solidFill>
                  <a:srgbClr val="142B33"/>
                </a:solidFill>
                <a:latin typeface="Calibri"/>
              </a:rPr>
              <a:t>: principales libres de dobles  ⇒  </a:t>
            </a:r>
            <a:r>
              <a:rPr sz="1500" b="1">
                <a:solidFill>
                  <a:srgbClr val="142B33"/>
                </a:solidFill>
                <a:latin typeface="Calibri"/>
              </a:rPr>
              <a:t>resolución IV</a:t>
            </a:r>
          </a:p>
          <a:p>
            <a:pPr marL="320040" indent="-320040">
              <a:spcAft>
                <a:spcPts val="600"/>
              </a:spcAft>
              <a:buClr>
                <a:srgbClr val="E36414"/>
              </a:buClr>
              <a:buFont typeface="+mj-lt"/>
              <a:buAutoNum type="arabicPeriod"/>
            </a:pPr>
            <a:r>
              <a:rPr sz="1500" b="0">
                <a:solidFill>
                  <a:srgbClr val="142B33"/>
                </a:solidFill>
                <a:latin typeface="Calibri"/>
              </a:rPr>
              <a:t>​</a:t>
            </a:r>
            <a:r>
              <a:rPr sz="1500" b="1">
                <a:solidFill>
                  <a:srgbClr val="142B33"/>
                </a:solidFill>
                <a:latin typeface="Calibri"/>
              </a:rPr>
              <a:t>Paso 1</a:t>
            </a:r>
            <a:r>
              <a:rPr sz="1500" b="0">
                <a:solidFill>
                  <a:srgbClr val="142B33"/>
                </a:solidFill>
                <a:latin typeface="Calibri"/>
              </a:rPr>
              <a:t>: probar N = 8, 16, 32, … y quedarse con el </a:t>
            </a:r>
            <a:r>
              <a:rPr sz="1500" b="1">
                <a:solidFill>
                  <a:srgbClr val="142B33"/>
                </a:solidFill>
                <a:latin typeface="Calibri"/>
              </a:rPr>
              <a:t>menor</a:t>
            </a:r>
            <a:r>
              <a:rPr sz="1500" b="0">
                <a:solidFill>
                  <a:srgbClr val="142B33"/>
                </a:solidFill>
                <a:latin typeface="Calibri"/>
              </a:rPr>
              <a:t> que da IV</a:t>
            </a:r>
          </a:p>
        </p:txBody>
      </p:sp>
      <p:sp>
        <p:nvSpPr>
          <p:cNvPr id="5" name="Rounded Rectangle 4"/>
          <p:cNvSpPr/>
          <p:nvPr/>
        </p:nvSpPr>
        <p:spPr>
          <a:xfrm>
            <a:off x="548640" y="3415284"/>
            <a:ext cx="5020979" cy="925067"/>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400" b="0">
                <a:solidFill>
                  <a:srgbClr val="142B33"/>
                </a:solidFill>
                <a:latin typeface="Calibri"/>
              </a:rPr>
              <a:t>Con 8 corridas el básico 2</a:t>
            </a:r>
            <a:r>
              <a:rPr sz="1400" b="0" baseline="30000">
                <a:solidFill>
                  <a:srgbClr val="142B33"/>
                </a:solidFill>
                <a:latin typeface="Calibri"/>
              </a:rPr>
              <a:t>3</a:t>
            </a:r>
            <a:r>
              <a:rPr sz="1400" b="0">
                <a:solidFill>
                  <a:srgbClr val="142B33"/>
                </a:solidFill>
                <a:latin typeface="Calibri"/>
              </a:rPr>
              <a:t> solo tiene 4 columnas (AB, AC, BC, ABC) para 4 factores nuevos: tres generadores de 3 letras  ⇒  </a:t>
            </a:r>
            <a:r>
              <a:rPr sz="1400" b="1">
                <a:solidFill>
                  <a:srgbClr val="142B33"/>
                </a:solidFill>
                <a:latin typeface="Calibri"/>
              </a:rPr>
              <a:t>III</a:t>
            </a:r>
            <a:r>
              <a:rPr sz="1400" b="0">
                <a:solidFill>
                  <a:srgbClr val="142B33"/>
                </a:solidFill>
                <a:latin typeface="Calibri"/>
              </a:rPr>
              <a:t> forzosamente</a:t>
            </a:r>
          </a:p>
        </p:txBody>
      </p:sp>
      <p:graphicFrame>
        <p:nvGraphicFramePr>
          <p:cNvPr id="6" name="Table 5"/>
          <p:cNvGraphicFramePr>
            <a:graphicFrameLocks noGrp="1"/>
          </p:cNvGraphicFramePr>
          <p:nvPr/>
        </p:nvGraphicFramePr>
        <p:xfrm>
          <a:off x="5981099" y="1417320"/>
          <a:ext cx="5661954" cy="2453640"/>
        </p:xfrm>
        <a:graphic>
          <a:graphicData uri="http://schemas.openxmlformats.org/drawingml/2006/table">
            <a:tbl>
              <a:tblPr firstRow="0" bandRow="0">
                <a:tableStyleId>{5C22544A-7EE6-4342-B048-85BDC9FD1C3A}</a:tableStyleId>
              </a:tblPr>
              <a:tblGrid>
                <a:gridCol w="1132391"/>
                <a:gridCol w="566195"/>
                <a:gridCol w="1585347"/>
                <a:gridCol w="2378021"/>
              </a:tblGrid>
              <a:tr h="583692">
                <a:tc>
                  <a:txBody>
                    <a:bodyPr/>
                    <a:lstStyle/>
                    <a:p>
                      <a:pPr algn="ctr"/>
                      <a:r>
                        <a:rPr sz="1500" b="1">
                          <a:solidFill>
                            <a:srgbClr val="FFFFFF"/>
                          </a:solidFill>
                          <a:latin typeface="Calibri"/>
                        </a:rPr>
                        <a:t>Corridas N</a:t>
                      </a:r>
                    </a:p>
                  </a:txBody>
                  <a:tcPr marL="73152" marR="73152" marT="27432" marB="27432" anchor="ctr">
                    <a:solidFill>
                      <a:srgbClr val="0F4C5C"/>
                    </a:solidFill>
                  </a:tcPr>
                </a:tc>
                <a:tc>
                  <a:txBody>
                    <a:bodyPr/>
                    <a:lstStyle/>
                    <a:p>
                      <a:pPr algn="ctr"/>
                      <a:r>
                        <a:rPr sz="1500" b="1">
                          <a:solidFill>
                            <a:srgbClr val="FFFFFF"/>
                          </a:solidFill>
                          <a:latin typeface="Calibri"/>
                        </a:rPr>
                        <a:t>p</a:t>
                      </a:r>
                    </a:p>
                  </a:txBody>
                  <a:tcPr marL="73152" marR="73152" marT="27432" marB="27432" anchor="ctr">
                    <a:solidFill>
                      <a:srgbClr val="0F4C5C"/>
                    </a:solidFill>
                  </a:tcPr>
                </a:tc>
                <a:tc>
                  <a:txBody>
                    <a:bodyPr/>
                    <a:lstStyle/>
                    <a:p>
                      <a:pPr algn="ctr"/>
                      <a:r>
                        <a:rPr sz="1500" b="1">
                          <a:solidFill>
                            <a:srgbClr val="FFFFFF"/>
                          </a:solidFill>
                          <a:latin typeface="Calibri"/>
                        </a:rPr>
                        <a:t>Mejor diseño</a:t>
                      </a:r>
                    </a:p>
                  </a:txBody>
                  <a:tcPr marL="73152" marR="73152" marT="27432" marB="27432" anchor="ctr">
                    <a:solidFill>
                      <a:srgbClr val="0F4C5C"/>
                    </a:solidFill>
                  </a:tcPr>
                </a:tc>
                <a:tc>
                  <a:txBody>
                    <a:bodyPr/>
                    <a:lstStyle/>
                    <a:p>
                      <a:pPr algn="ctr"/>
                      <a:r>
                        <a:rPr sz="1500" b="1">
                          <a:solidFill>
                            <a:srgbClr val="FFFFFF"/>
                          </a:solidFill>
                          <a:latin typeface="Calibri"/>
                        </a:rPr>
                        <a:t>¿Cumple IV?</a:t>
                      </a:r>
                    </a:p>
                  </a:txBody>
                  <a:tcPr marL="73152" marR="73152" marT="27432" marB="27432" anchor="ctr">
                    <a:solidFill>
                      <a:srgbClr val="0F4C5C"/>
                    </a:solidFill>
                  </a:tcPr>
                </a:tc>
              </a:tr>
              <a:tr h="351282">
                <a:tc>
                  <a:txBody>
                    <a:bodyPr/>
                    <a:lstStyle/>
                    <a:p>
                      <a:pPr algn="ctr"/>
                      <a:r>
                        <a:rPr sz="1500" b="0">
                          <a:solidFill>
                            <a:srgbClr val="142B33"/>
                          </a:solidFill>
                          <a:latin typeface="Calibri"/>
                        </a:rPr>
                        <a:t>8</a:t>
                      </a:r>
                    </a:p>
                  </a:txBody>
                  <a:tcPr marL="73152" marR="73152" marT="27432" marB="27432" anchor="ctr">
                    <a:solidFill>
                      <a:srgbClr val="FFFFFF"/>
                    </a:solidFill>
                  </a:tcPr>
                </a:tc>
                <a:tc>
                  <a:txBody>
                    <a:bodyPr/>
                    <a:lstStyle/>
                    <a:p>
                      <a:pPr algn="ctr"/>
                      <a:r>
                        <a:rPr sz="1500" b="0">
                          <a:solidFill>
                            <a:srgbClr val="142B33"/>
                          </a:solidFill>
                          <a:latin typeface="Calibri"/>
                        </a:rPr>
                        <a:t>4</a:t>
                      </a:r>
                    </a:p>
                  </a:txBody>
                  <a:tcPr marL="73152" marR="73152" marT="27432" marB="27432" anchor="ctr">
                    <a:solidFill>
                      <a:srgbClr val="FFFFFF"/>
                    </a:solidFill>
                  </a:tcPr>
                </a:tc>
                <a:tc>
                  <a:txBody>
                    <a:bodyPr/>
                    <a:lstStyle/>
                    <a:p>
                      <a:pPr algn="ctr"/>
                      <a:r>
                        <a:rPr sz="1500" b="0">
                          <a:solidFill>
                            <a:srgbClr val="142B33"/>
                          </a:solidFill>
                          <a:latin typeface="Calibri"/>
                        </a:rPr>
                        <a:t>2</a:t>
                      </a:r>
                      <a:r>
                        <a:rPr sz="1500" b="0" baseline="30000">
                          <a:solidFill>
                            <a:srgbClr val="142B33"/>
                          </a:solidFill>
                          <a:latin typeface="Calibri"/>
                        </a:rPr>
                        <a:t>7−4</a:t>
                      </a:r>
                      <a:r>
                        <a:rPr sz="1500" b="0" baseline="-25000">
                          <a:solidFill>
                            <a:srgbClr val="142B33"/>
                          </a:solidFill>
                          <a:latin typeface="Calibri"/>
                        </a:rPr>
                        <a:t>III</a:t>
                      </a:r>
                    </a:p>
                  </a:txBody>
                  <a:tcPr marL="73152" marR="73152" marT="27432" marB="27432" anchor="ctr">
                    <a:solidFill>
                      <a:srgbClr val="FFFFFF"/>
                    </a:solidFill>
                  </a:tcPr>
                </a:tc>
                <a:tc>
                  <a:txBody>
                    <a:bodyPr/>
                    <a:lstStyle/>
                    <a:p>
                      <a:pPr algn="ctr"/>
                      <a:r>
                        <a:rPr sz="1500" b="0">
                          <a:solidFill>
                            <a:srgbClr val="142B33"/>
                          </a:solidFill>
                          <a:latin typeface="Calibri"/>
                        </a:rPr>
                        <a:t>No</a:t>
                      </a:r>
                    </a:p>
                  </a:txBody>
                  <a:tcPr marL="73152" marR="73152" marT="27432" marB="27432" anchor="ctr">
                    <a:solidFill>
                      <a:srgbClr val="FFFFFF"/>
                    </a:solidFill>
                  </a:tcPr>
                </a:tc>
              </a:tr>
              <a:tr h="583692">
                <a:tc>
                  <a:txBody>
                    <a:bodyPr/>
                    <a:lstStyle/>
                    <a:p>
                      <a:pPr algn="ctr"/>
                      <a:r>
                        <a:rPr sz="1500" b="1">
                          <a:solidFill>
                            <a:srgbClr val="142B33"/>
                          </a:solidFill>
                          <a:latin typeface="Calibri"/>
                        </a:rPr>
                        <a:t>16</a:t>
                      </a:r>
                    </a:p>
                  </a:txBody>
                  <a:tcPr marL="73152" marR="73152" marT="27432" marB="27432" anchor="ctr">
                    <a:solidFill>
                      <a:srgbClr val="FDE8D7"/>
                    </a:solidFill>
                  </a:tcPr>
                </a:tc>
                <a:tc>
                  <a:txBody>
                    <a:bodyPr/>
                    <a:lstStyle/>
                    <a:p>
                      <a:pPr algn="ctr"/>
                      <a:r>
                        <a:rPr sz="1500" b="1">
                          <a:solidFill>
                            <a:srgbClr val="142B33"/>
                          </a:solidFill>
                          <a:latin typeface="Calibri"/>
                        </a:rPr>
                        <a:t>3</a:t>
                      </a:r>
                    </a:p>
                  </a:txBody>
                  <a:tcPr marL="73152" marR="73152" marT="27432" marB="27432" anchor="ctr">
                    <a:solidFill>
                      <a:srgbClr val="FDE8D7"/>
                    </a:solidFill>
                  </a:tcPr>
                </a:tc>
                <a:tc>
                  <a:txBody>
                    <a:bodyPr/>
                    <a:lstStyle/>
                    <a:p>
                      <a:pPr algn="ctr"/>
                      <a:r>
                        <a:rPr sz="1500" b="1">
                          <a:solidFill>
                            <a:srgbClr val="142B33"/>
                          </a:solidFill>
                          <a:latin typeface="Calibri"/>
                        </a:rPr>
                        <a:t>2</a:t>
                      </a:r>
                      <a:r>
                        <a:rPr sz="1500" b="1" baseline="30000">
                          <a:solidFill>
                            <a:srgbClr val="142B33"/>
                          </a:solidFill>
                          <a:latin typeface="Calibri"/>
                        </a:rPr>
                        <a:t>7−3</a:t>
                      </a:r>
                      <a:r>
                        <a:rPr sz="1500" b="1" baseline="-25000">
                          <a:solidFill>
                            <a:srgbClr val="142B33"/>
                          </a:solidFill>
                          <a:latin typeface="Calibri"/>
                        </a:rPr>
                        <a:t>IV</a:t>
                      </a:r>
                    </a:p>
                  </a:txBody>
                  <a:tcPr marL="73152" marR="73152" marT="27432" marB="27432" anchor="ctr">
                    <a:solidFill>
                      <a:srgbClr val="FDE8D7"/>
                    </a:solidFill>
                  </a:tcPr>
                </a:tc>
                <a:tc>
                  <a:txBody>
                    <a:bodyPr/>
                    <a:lstStyle/>
                    <a:p>
                      <a:pPr algn="ctr"/>
                      <a:r>
                        <a:rPr sz="1500" b="1">
                          <a:solidFill>
                            <a:srgbClr val="142B33"/>
                          </a:solidFill>
                          <a:latin typeface="Calibri"/>
                        </a:rPr>
                        <a:t>Sí</a:t>
                      </a:r>
                      <a:r>
                        <a:rPr sz="1500" b="0">
                          <a:solidFill>
                            <a:srgbClr val="142B33"/>
                          </a:solidFill>
                          <a:latin typeface="Calibri"/>
                        </a:rPr>
                        <a:t>: dobles en grupos de 3</a:t>
                      </a:r>
                    </a:p>
                  </a:txBody>
                  <a:tcPr marL="73152" marR="73152" marT="27432" marB="27432" anchor="ctr">
                    <a:solidFill>
                      <a:srgbClr val="FDE8D7"/>
                    </a:solidFill>
                  </a:tcPr>
                </a:tc>
              </a:tr>
              <a:tr h="583692">
                <a:tc>
                  <a:txBody>
                    <a:bodyPr/>
                    <a:lstStyle/>
                    <a:p>
                      <a:pPr algn="ctr"/>
                      <a:r>
                        <a:rPr sz="1500" b="0">
                          <a:solidFill>
                            <a:srgbClr val="142B33"/>
                          </a:solidFill>
                          <a:latin typeface="Calibri"/>
                        </a:rPr>
                        <a:t>32</a:t>
                      </a:r>
                    </a:p>
                  </a:txBody>
                  <a:tcPr marL="73152" marR="73152" marT="27432" marB="27432" anchor="ctr">
                    <a:solidFill>
                      <a:srgbClr val="FFFFFF"/>
                    </a:solidFill>
                  </a:tcPr>
                </a:tc>
                <a:tc>
                  <a:txBody>
                    <a:bodyPr/>
                    <a:lstStyle/>
                    <a:p>
                      <a:pPr algn="ctr"/>
                      <a:r>
                        <a:rPr sz="1500" b="0">
                          <a:solidFill>
                            <a:srgbClr val="142B33"/>
                          </a:solidFill>
                          <a:latin typeface="Calibri"/>
                        </a:rPr>
                        <a:t>2</a:t>
                      </a:r>
                    </a:p>
                  </a:txBody>
                  <a:tcPr marL="73152" marR="73152" marT="27432" marB="27432" anchor="ctr">
                    <a:solidFill>
                      <a:srgbClr val="FFFFFF"/>
                    </a:solidFill>
                  </a:tcPr>
                </a:tc>
                <a:tc>
                  <a:txBody>
                    <a:bodyPr/>
                    <a:lstStyle/>
                    <a:p>
                      <a:pPr algn="ctr"/>
                      <a:r>
                        <a:rPr sz="1500" b="0">
                          <a:solidFill>
                            <a:srgbClr val="142B33"/>
                          </a:solidFill>
                          <a:latin typeface="Calibri"/>
                        </a:rPr>
                        <a:t>2</a:t>
                      </a:r>
                      <a:r>
                        <a:rPr sz="1500" b="0" baseline="30000">
                          <a:solidFill>
                            <a:srgbClr val="142B33"/>
                          </a:solidFill>
                          <a:latin typeface="Calibri"/>
                        </a:rPr>
                        <a:t>7−2</a:t>
                      </a:r>
                      <a:r>
                        <a:rPr sz="1500" b="0" baseline="-25000">
                          <a:solidFill>
                            <a:srgbClr val="142B33"/>
                          </a:solidFill>
                          <a:latin typeface="Calibri"/>
                        </a:rPr>
                        <a:t>IV</a:t>
                      </a:r>
                    </a:p>
                  </a:txBody>
                  <a:tcPr marL="73152" marR="73152" marT="27432" marB="27432" anchor="ctr">
                    <a:solidFill>
                      <a:srgbClr val="FFFFFF"/>
                    </a:solidFill>
                  </a:tcPr>
                </a:tc>
                <a:tc>
                  <a:txBody>
                    <a:bodyPr/>
                    <a:lstStyle/>
                    <a:p>
                      <a:pPr algn="ctr"/>
                      <a:r>
                        <a:rPr sz="1500" b="0">
                          <a:solidFill>
                            <a:srgbClr val="142B33"/>
                          </a:solidFill>
                          <a:latin typeface="Calibri"/>
                        </a:rPr>
                        <a:t>Sí: 15 de 21 dobles limpias</a:t>
                      </a:r>
                    </a:p>
                  </a:txBody>
                  <a:tcPr marL="73152" marR="73152" marT="27432" marB="27432" anchor="ctr">
                    <a:solidFill>
                      <a:srgbClr val="FFFFFF"/>
                    </a:solidFill>
                  </a:tcPr>
                </a:tc>
              </a:tr>
              <a:tr h="351282">
                <a:tc>
                  <a:txBody>
                    <a:bodyPr/>
                    <a:lstStyle/>
                    <a:p>
                      <a:pPr algn="ctr"/>
                      <a:r>
                        <a:rPr sz="1500" b="0">
                          <a:solidFill>
                            <a:srgbClr val="142B33"/>
                          </a:solidFill>
                          <a:latin typeface="Calibri"/>
                        </a:rPr>
                        <a:t>64</a:t>
                      </a:r>
                    </a:p>
                  </a:txBody>
                  <a:tcPr marL="73152" marR="73152" marT="27432" marB="27432" anchor="ctr">
                    <a:solidFill>
                      <a:srgbClr val="F4F8F9"/>
                    </a:solidFill>
                  </a:tcPr>
                </a:tc>
                <a:tc>
                  <a:txBody>
                    <a:bodyPr/>
                    <a:lstStyle/>
                    <a:p>
                      <a:pPr algn="ctr"/>
                      <a:r>
                        <a:rPr sz="1500" b="0">
                          <a:solidFill>
                            <a:srgbClr val="142B33"/>
                          </a:solidFill>
                          <a:latin typeface="Calibri"/>
                        </a:rPr>
                        <a:t>1</a:t>
                      </a:r>
                    </a:p>
                  </a:txBody>
                  <a:tcPr marL="73152" marR="73152" marT="27432" marB="27432" anchor="ctr">
                    <a:solidFill>
                      <a:srgbClr val="F4F8F9"/>
                    </a:solidFill>
                  </a:tcPr>
                </a:tc>
                <a:tc>
                  <a:txBody>
                    <a:bodyPr/>
                    <a:lstStyle/>
                    <a:p>
                      <a:pPr algn="ctr"/>
                      <a:r>
                        <a:rPr sz="1500" b="0">
                          <a:solidFill>
                            <a:srgbClr val="142B33"/>
                          </a:solidFill>
                          <a:latin typeface="Calibri"/>
                        </a:rPr>
                        <a:t>2</a:t>
                      </a:r>
                      <a:r>
                        <a:rPr sz="1500" b="0" baseline="30000">
                          <a:solidFill>
                            <a:srgbClr val="142B33"/>
                          </a:solidFill>
                          <a:latin typeface="Calibri"/>
                        </a:rPr>
                        <a:t>7−1</a:t>
                      </a:r>
                      <a:r>
                        <a:rPr sz="1500" b="0" baseline="-25000">
                          <a:solidFill>
                            <a:srgbClr val="142B33"/>
                          </a:solidFill>
                          <a:latin typeface="Calibri"/>
                        </a:rPr>
                        <a:t>VII</a:t>
                      </a:r>
                    </a:p>
                  </a:txBody>
                  <a:tcPr marL="73152" marR="73152" marT="27432" marB="27432" anchor="ctr">
                    <a:solidFill>
                      <a:srgbClr val="F4F8F9"/>
                    </a:solidFill>
                  </a:tcPr>
                </a:tc>
                <a:tc>
                  <a:txBody>
                    <a:bodyPr/>
                    <a:lstStyle/>
                    <a:p>
                      <a:pPr algn="ctr"/>
                      <a:r>
                        <a:rPr sz="1500" b="0">
                          <a:solidFill>
                            <a:srgbClr val="142B33"/>
                          </a:solidFill>
                          <a:latin typeface="Calibri"/>
                        </a:rPr>
                        <a:t>Sí, de sobra</a:t>
                      </a:r>
                    </a:p>
                  </a:txBody>
                  <a:tcPr marL="73152" marR="73152" marT="27432" marB="27432" anchor="ctr">
                    <a:solidFill>
                      <a:srgbClr val="F4F8F9"/>
                    </a:solidFill>
                  </a:tcPr>
                </a:tc>
              </a:tr>
            </a:tbl>
          </a:graphicData>
        </a:graphic>
      </p:graphicFrame>
      <p:sp>
        <p:nvSpPr>
          <p:cNvPr id="7" name="Rounded Rectangle 6"/>
          <p:cNvSpPr/>
          <p:nvPr/>
        </p:nvSpPr>
        <p:spPr>
          <a:xfrm>
            <a:off x="5981099" y="4072128"/>
            <a:ext cx="5661955"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Se elige el diseño </a:t>
            </a:r>
            <a:r>
              <a:rPr sz="1500" b="1">
                <a:solidFill>
                  <a:srgbClr val="142B33"/>
                </a:solidFill>
                <a:latin typeface="Calibri"/>
              </a:rPr>
              <a:t>más pequeño</a:t>
            </a:r>
            <a:r>
              <a:rPr sz="1500" b="0">
                <a:solidFill>
                  <a:srgbClr val="142B33"/>
                </a:solidFill>
                <a:latin typeface="Calibri"/>
              </a:rPr>
              <a:t> que cumple el objetivo: el </a:t>
            </a:r>
            <a:r>
              <a:rPr sz="1500" b="1">
                <a:solidFill>
                  <a:srgbClr val="142B33"/>
                </a:solidFill>
                <a:latin typeface="Calibri"/>
              </a:rPr>
              <a:t>2</a:t>
            </a:r>
            <a:r>
              <a:rPr sz="1500" b="1" baseline="30000">
                <a:solidFill>
                  <a:srgbClr val="142B33"/>
                </a:solidFill>
                <a:latin typeface="Calibri"/>
              </a:rPr>
              <a:t>7−3</a:t>
            </a:r>
            <a:r>
              <a:rPr sz="1500" b="1" baseline="-25000">
                <a:solidFill>
                  <a:srgbClr val="142B33"/>
                </a:solidFill>
                <a:latin typeface="Calibri"/>
              </a:rPr>
              <a:t>IV</a:t>
            </a:r>
            <a:r>
              <a:rPr sz="1500" b="0">
                <a:solidFill>
                  <a:srgbClr val="142B33"/>
                </a:solidFill>
                <a:latin typeface="Calibri"/>
              </a:rPr>
              <a:t> de 16 corridas</a:t>
            </a:r>
          </a:p>
        </p:txBody>
      </p:sp>
      <p:sp>
        <p:nvSpPr>
          <p:cNvPr id="8" name="TextBox 7"/>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El diseño 2</a:t>
            </a:r>
            <a:r>
              <a:rPr sz="1000" b="0" baseline="30000">
                <a:solidFill>
                  <a:srgbClr val="5B6B73"/>
                </a:solidFill>
                <a:latin typeface="Calibri"/>
              </a:rPr>
              <a:t>k−p</a:t>
            </a:r>
            <a:r>
              <a:rPr sz="1000" b="0">
                <a:solidFill>
                  <a:srgbClr val="5B6B73"/>
                </a:solidFill>
                <a:latin typeface="Calibri"/>
              </a:rPr>
              <a:t> general</a:t>
            </a:r>
          </a:p>
        </p:txBody>
      </p:sp>
      <p:sp>
        <p:nvSpPr>
          <p:cNvPr id="9" name="TextBox 8"/>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61</a:t>
            </a:r>
          </a:p>
        </p:txBody>
      </p:sp>
      <p:sp>
        <p:nvSpPr>
          <p:cNvPr id="10" name="Rounded Rectangle 9"/>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7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¿Cómo elijo un diseño para siete factores? (pasos 3 a 8)</a:t>
            </a:r>
          </a:p>
        </p:txBody>
      </p:sp>
      <p:sp>
        <p:nvSpPr>
          <p:cNvPr id="3" name="TextBox 2"/>
          <p:cNvSpPr txBox="1"/>
          <p:nvPr/>
        </p:nvSpPr>
        <p:spPr>
          <a:xfrm>
            <a:off x="548640" y="1417320"/>
            <a:ext cx="5341467" cy="2817875"/>
          </a:xfrm>
          <a:prstGeom prst="rect">
            <a:avLst/>
          </a:prstGeom>
          <a:noFill/>
        </p:spPr>
        <p:txBody>
          <a:bodyPr wrap="square" anchor="t" lIns="0" rIns="0" tIns="0" bIns="0">
            <a:spAutoFit/>
          </a:bodyPr>
          <a:lstStyle/>
          <a:p>
            <a:pPr marL="320040" indent="-320040">
              <a:spcAft>
                <a:spcPts val="600"/>
              </a:spcAft>
              <a:buClr>
                <a:srgbClr val="E36414"/>
              </a:buClr>
              <a:buFont typeface="Arial"/>
              <a:buChar char="•"/>
            </a:pPr>
            <a:r>
              <a:rPr sz="1500" b="1">
                <a:solidFill>
                  <a:srgbClr val="142B33"/>
                </a:solidFill>
                <a:latin typeface="Calibri"/>
              </a:rPr>
              <a:t>Paso 3</a:t>
            </a:r>
            <a:r>
              <a:rPr sz="1500" b="0">
                <a:solidFill>
                  <a:srgbClr val="142B33"/>
                </a:solidFill>
                <a:latin typeface="Calibri"/>
              </a:rPr>
              <a:t>: básico </a:t>
            </a:r>
            <a:r>
              <a:rPr sz="1500" b="1">
                <a:solidFill>
                  <a:srgbClr val="142B33"/>
                </a:solidFill>
                <a:latin typeface="Calibri"/>
              </a:rPr>
              <a:t>2</a:t>
            </a:r>
            <a:r>
              <a:rPr sz="1500" b="1" baseline="30000">
                <a:solidFill>
                  <a:srgbClr val="142B33"/>
                </a:solidFill>
                <a:latin typeface="Calibri"/>
              </a:rPr>
              <a:t>4</a:t>
            </a:r>
            <a:r>
              <a:rPr sz="1500" b="0">
                <a:solidFill>
                  <a:srgbClr val="142B33"/>
                </a:solidFill>
                <a:latin typeface="Calibri"/>
              </a:rPr>
              <a:t> en A, B, C, D (16 corridas)</a:t>
            </a:r>
          </a:p>
          <a:p>
            <a:pPr marL="320040" indent="-320040">
              <a:spcAft>
                <a:spcPts val="600"/>
              </a:spcAft>
              <a:buClr>
                <a:srgbClr val="E36414"/>
              </a:buClr>
              <a:buFont typeface="Arial"/>
              <a:buChar char="•"/>
            </a:pPr>
            <a:r>
              <a:rPr sz="1500" b="1">
                <a:solidFill>
                  <a:srgbClr val="142B33"/>
                </a:solidFill>
                <a:latin typeface="Calibri"/>
              </a:rPr>
              <a:t>Paso 4</a:t>
            </a:r>
            <a:r>
              <a:rPr sz="1500" b="0">
                <a:solidFill>
                  <a:srgbClr val="142B33"/>
                </a:solidFill>
                <a:latin typeface="Calibri"/>
              </a:rPr>
              <a:t>: E, F, G en </a:t>
            </a:r>
            <a:r>
              <a:rPr sz="1500" b="1">
                <a:solidFill>
                  <a:srgbClr val="142B33"/>
                </a:solidFill>
                <a:latin typeface="Calibri"/>
              </a:rPr>
              <a:t>tres de las cuatro columnas de 3 letras</a:t>
            </a:r>
            <a:r>
              <a:rPr sz="1500" b="0">
                <a:solidFill>
                  <a:srgbClr val="142B33"/>
                </a:solidFill>
                <a:latin typeface="Calibri"/>
              </a:rPr>
              <a:t>: E = ABC, F = BCD, G = ACD</a:t>
            </a:r>
          </a:p>
          <a:p>
            <a:pPr marL="320040" indent="-320040">
              <a:spcAft>
                <a:spcPts val="600"/>
              </a:spcAft>
              <a:buClr>
                <a:srgbClr val="E36414"/>
              </a:buClr>
              <a:buFont typeface="Arial"/>
              <a:buChar char="•"/>
            </a:pPr>
            <a:r>
              <a:rPr sz="1500" b="1">
                <a:solidFill>
                  <a:srgbClr val="142B33"/>
                </a:solidFill>
                <a:latin typeface="Calibri"/>
              </a:rPr>
              <a:t>Paso 5</a:t>
            </a:r>
            <a:r>
              <a:rPr sz="1500" b="0">
                <a:solidFill>
                  <a:srgbClr val="142B33"/>
                </a:solidFill>
                <a:latin typeface="Calibri"/>
              </a:rPr>
              <a:t>: 3 generadores + 3 productos de dos en dos + 1 de los tres = </a:t>
            </a:r>
            <a:r>
              <a:rPr sz="1500" b="1">
                <a:solidFill>
                  <a:srgbClr val="142B33"/>
                </a:solidFill>
                <a:latin typeface="Calibri"/>
              </a:rPr>
              <a:t>7 palabras</a:t>
            </a:r>
          </a:p>
          <a:p>
            <a:pPr marL="320040" indent="-320040">
              <a:spcAft>
                <a:spcPts val="600"/>
              </a:spcAft>
              <a:buClr>
                <a:srgbClr val="E36414"/>
              </a:buClr>
              <a:buFont typeface="Arial"/>
              <a:buChar char="•"/>
            </a:pPr>
            <a:r>
              <a:rPr sz="1500" b="1">
                <a:solidFill>
                  <a:srgbClr val="142B33"/>
                </a:solidFill>
                <a:latin typeface="Calibri"/>
              </a:rPr>
              <a:t>Paso 6</a:t>
            </a:r>
            <a:r>
              <a:rPr sz="1500" b="0">
                <a:solidFill>
                  <a:srgbClr val="142B33"/>
                </a:solidFill>
                <a:latin typeface="Calibri"/>
              </a:rPr>
              <a:t>: todas de 4 letras  ⇒  </a:t>
            </a:r>
            <a:r>
              <a:rPr sz="1500" b="1">
                <a:solidFill>
                  <a:srgbClr val="142B33"/>
                </a:solidFill>
                <a:latin typeface="Calibri"/>
              </a:rPr>
              <a:t>resolución IV</a:t>
            </a:r>
          </a:p>
          <a:p>
            <a:pPr marL="320040" indent="-320040">
              <a:spcAft>
                <a:spcPts val="600"/>
              </a:spcAft>
              <a:buClr>
                <a:srgbClr val="E36414"/>
              </a:buClr>
              <a:buFont typeface="Arial"/>
              <a:buChar char="•"/>
            </a:pPr>
            <a:r>
              <a:rPr sz="1500" b="1">
                <a:solidFill>
                  <a:srgbClr val="142B33"/>
                </a:solidFill>
                <a:latin typeface="Calibri"/>
              </a:rPr>
              <a:t>Paso 7</a:t>
            </a:r>
            <a:r>
              <a:rPr sz="1500" b="0">
                <a:solidFill>
                  <a:srgbClr val="142B33"/>
                </a:solidFill>
                <a:latin typeface="Calibri"/>
              </a:rPr>
              <a:t>: las 4 opciones válidas tienen el mismo patrón: </a:t>
            </a:r>
            <a:r>
              <a:rPr sz="1500" b="1">
                <a:solidFill>
                  <a:srgbClr val="142B33"/>
                </a:solidFill>
                <a:latin typeface="Calibri"/>
              </a:rPr>
              <a:t>sin empate</a:t>
            </a:r>
          </a:p>
          <a:p>
            <a:pPr marL="320040" indent="-320040">
              <a:spcAft>
                <a:spcPts val="600"/>
              </a:spcAft>
              <a:buClr>
                <a:srgbClr val="E36414"/>
              </a:buClr>
              <a:buFont typeface="Arial"/>
              <a:buChar char="•"/>
            </a:pPr>
            <a:r>
              <a:rPr sz="1500" b="1">
                <a:solidFill>
                  <a:srgbClr val="142B33"/>
                </a:solidFill>
                <a:latin typeface="Calibri"/>
              </a:rPr>
              <a:t>Paso 8</a:t>
            </a:r>
            <a:r>
              <a:rPr sz="1500" b="0">
                <a:solidFill>
                  <a:srgbClr val="142B33"/>
                </a:solidFill>
                <a:latin typeface="Calibri"/>
              </a:rPr>
              <a:t>: factores </a:t>
            </a:r>
            <a:r>
              <a:rPr sz="1500" b="1">
                <a:solidFill>
                  <a:srgbClr val="142B33"/>
                </a:solidFill>
                <a:latin typeface="Calibri"/>
              </a:rPr>
              <a:t>importantes</a:t>
            </a:r>
            <a:r>
              <a:rPr sz="1500" b="0">
                <a:solidFill>
                  <a:srgbClr val="142B33"/>
                </a:solidFill>
                <a:latin typeface="Calibri"/>
              </a:rPr>
              <a:t> en A, B, C, D; </a:t>
            </a:r>
            <a:r>
              <a:rPr sz="1500" b="1">
                <a:solidFill>
                  <a:srgbClr val="142B33"/>
                </a:solidFill>
                <a:latin typeface="Calibri"/>
              </a:rPr>
              <a:t>menores</a:t>
            </a:r>
            <a:r>
              <a:rPr sz="1500" b="0">
                <a:solidFill>
                  <a:srgbClr val="142B33"/>
                </a:solidFill>
                <a:latin typeface="Calibri"/>
              </a:rPr>
              <a:t> en E, F, G</a:t>
            </a:r>
          </a:p>
        </p:txBody>
      </p:sp>
      <p:sp>
        <p:nvSpPr>
          <p:cNvPr id="4" name="Rounded Rectangle 3"/>
          <p:cNvSpPr/>
          <p:nvPr/>
        </p:nvSpPr>
        <p:spPr>
          <a:xfrm>
            <a:off x="548640" y="4436364"/>
            <a:ext cx="5341467" cy="708151"/>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400" b="0">
                <a:solidFill>
                  <a:srgbClr val="142B33"/>
                </a:solidFill>
                <a:latin typeface="Calibri"/>
              </a:rPr>
              <a:t>Solo </a:t>
            </a:r>
            <a:r>
              <a:rPr sz="1400" b="1">
                <a:solidFill>
                  <a:srgbClr val="142B33"/>
                </a:solidFill>
                <a:latin typeface="Calibri"/>
              </a:rPr>
              <a:t>4 de 165</a:t>
            </a:r>
            <a:r>
              <a:rPr sz="1400" b="0">
                <a:solidFill>
                  <a:srgbClr val="142B33"/>
                </a:solidFill>
                <a:latin typeface="Calibri"/>
              </a:rPr>
              <a:t> elecciones dan IV. Con ABCD: ABCE · ABCDG = </a:t>
            </a:r>
            <a:r>
              <a:rPr sz="1400" b="1">
                <a:solidFill>
                  <a:srgbClr val="142B33"/>
                </a:solidFill>
                <a:latin typeface="Calibri"/>
              </a:rPr>
              <a:t>DEG</a:t>
            </a:r>
            <a:r>
              <a:rPr sz="1400" b="0">
                <a:solidFill>
                  <a:srgbClr val="142B33"/>
                </a:solidFill>
                <a:latin typeface="Calibri"/>
              </a:rPr>
              <a:t>  ⇒  III</a:t>
            </a:r>
          </a:p>
        </p:txBody>
      </p:sp>
      <p:sp>
        <p:nvSpPr>
          <p:cNvPr id="5" name="Rounded Rectangle 4"/>
          <p:cNvSpPr/>
          <p:nvPr/>
        </p:nvSpPr>
        <p:spPr>
          <a:xfrm>
            <a:off x="6301587" y="1417320"/>
            <a:ext cx="5341467" cy="829624"/>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0">
                <a:solidFill>
                  <a:srgbClr val="0F4C5C"/>
                </a:solidFill>
                <a:latin typeface="Cambria Math"/>
              </a:rPr>
              <a:t>I = ABCE = BCDF = ACDG = ADEF</a:t>
            </a:r>
          </a:p>
          <a:p>
            <a:pPr algn="ctr"/>
            <a:r>
              <a:rPr sz="1600" b="0">
                <a:solidFill>
                  <a:srgbClr val="0F4C5C"/>
                </a:solidFill>
                <a:latin typeface="Cambria Math"/>
              </a:rPr>
              <a:t>= BDEG = ABFG = CEFG</a:t>
            </a:r>
          </a:p>
        </p:txBody>
      </p:sp>
      <p:graphicFrame>
        <p:nvGraphicFramePr>
          <p:cNvPr id="6" name="Table 5"/>
          <p:cNvGraphicFramePr>
            <a:graphicFrameLocks noGrp="1"/>
          </p:cNvGraphicFramePr>
          <p:nvPr/>
        </p:nvGraphicFramePr>
        <p:xfrm>
          <a:off x="6301587" y="2448112"/>
          <a:ext cx="5341467" cy="2050280"/>
        </p:xfrm>
        <a:graphic>
          <a:graphicData uri="http://schemas.openxmlformats.org/drawingml/2006/table">
            <a:tbl>
              <a:tblPr firstRow="0" bandRow="0">
                <a:tableStyleId>{5C22544A-7EE6-4342-B048-85BDC9FD1C3A}</a:tableStyleId>
              </a:tblPr>
              <a:tblGrid>
                <a:gridCol w="5341467"/>
              </a:tblGrid>
              <a:tr h="256285">
                <a:tc>
                  <a:txBody>
                    <a:bodyPr/>
                    <a:lstStyle/>
                    <a:p>
                      <a:pPr algn="ctr"/>
                      <a:r>
                        <a:rPr sz="1300" b="1">
                          <a:solidFill>
                            <a:srgbClr val="FFFFFF"/>
                          </a:solidFill>
                          <a:latin typeface="Calibri"/>
                        </a:rPr>
                        <a:t>Interacciones dobles aliadas (7 cadenas)</a:t>
                      </a:r>
                    </a:p>
                  </a:txBody>
                  <a:tcPr marL="73152" marR="73152" marT="27432" marB="27432" anchor="ctr">
                    <a:solidFill>
                      <a:srgbClr val="0F4C5C"/>
                    </a:solidFill>
                  </a:tcPr>
                </a:tc>
              </a:tr>
              <a:tr h="256285">
                <a:tc>
                  <a:txBody>
                    <a:bodyPr/>
                    <a:lstStyle/>
                    <a:p>
                      <a:pPr algn="ctr"/>
                      <a:r>
                        <a:rPr sz="1300" b="0">
                          <a:solidFill>
                            <a:srgbClr val="142B33"/>
                          </a:solidFill>
                          <a:latin typeface="Calibri"/>
                        </a:rPr>
                        <a:t>AB = CE = FG</a:t>
                      </a:r>
                    </a:p>
                  </a:txBody>
                  <a:tcPr marL="73152" marR="73152" marT="27432" marB="27432" anchor="ctr">
                    <a:solidFill>
                      <a:srgbClr val="FFFFFF"/>
                    </a:solidFill>
                  </a:tcPr>
                </a:tc>
              </a:tr>
              <a:tr h="256285">
                <a:tc>
                  <a:txBody>
                    <a:bodyPr/>
                    <a:lstStyle/>
                    <a:p>
                      <a:pPr algn="ctr"/>
                      <a:r>
                        <a:rPr sz="1300" b="0">
                          <a:solidFill>
                            <a:srgbClr val="142B33"/>
                          </a:solidFill>
                          <a:latin typeface="Calibri"/>
                        </a:rPr>
                        <a:t>AC = BE = DG</a:t>
                      </a:r>
                    </a:p>
                  </a:txBody>
                  <a:tcPr marL="73152" marR="73152" marT="27432" marB="27432" anchor="ctr">
                    <a:solidFill>
                      <a:srgbClr val="F4F8F9"/>
                    </a:solidFill>
                  </a:tcPr>
                </a:tc>
              </a:tr>
              <a:tr h="256285">
                <a:tc>
                  <a:txBody>
                    <a:bodyPr/>
                    <a:lstStyle/>
                    <a:p>
                      <a:pPr algn="ctr"/>
                      <a:r>
                        <a:rPr sz="1300" b="0">
                          <a:solidFill>
                            <a:srgbClr val="142B33"/>
                          </a:solidFill>
                          <a:latin typeface="Calibri"/>
                        </a:rPr>
                        <a:t>AD = CG = EF</a:t>
                      </a:r>
                    </a:p>
                  </a:txBody>
                  <a:tcPr marL="73152" marR="73152" marT="27432" marB="27432" anchor="ctr">
                    <a:solidFill>
                      <a:srgbClr val="FFFFFF"/>
                    </a:solidFill>
                  </a:tcPr>
                </a:tc>
              </a:tr>
              <a:tr h="256285">
                <a:tc>
                  <a:txBody>
                    <a:bodyPr/>
                    <a:lstStyle/>
                    <a:p>
                      <a:pPr algn="ctr"/>
                      <a:r>
                        <a:rPr sz="1300" b="0">
                          <a:solidFill>
                            <a:srgbClr val="142B33"/>
                          </a:solidFill>
                          <a:latin typeface="Calibri"/>
                        </a:rPr>
                        <a:t>AE = BC = DF</a:t>
                      </a:r>
                    </a:p>
                  </a:txBody>
                  <a:tcPr marL="73152" marR="73152" marT="27432" marB="27432" anchor="ctr">
                    <a:solidFill>
                      <a:srgbClr val="F4F8F9"/>
                    </a:solidFill>
                  </a:tcPr>
                </a:tc>
              </a:tr>
              <a:tr h="256285">
                <a:tc>
                  <a:txBody>
                    <a:bodyPr/>
                    <a:lstStyle/>
                    <a:p>
                      <a:pPr algn="ctr"/>
                      <a:r>
                        <a:rPr sz="1300" b="0">
                          <a:solidFill>
                            <a:srgbClr val="142B33"/>
                          </a:solidFill>
                          <a:latin typeface="Calibri"/>
                        </a:rPr>
                        <a:t>AF = BG = DE</a:t>
                      </a:r>
                    </a:p>
                  </a:txBody>
                  <a:tcPr marL="73152" marR="73152" marT="27432" marB="27432" anchor="ctr">
                    <a:solidFill>
                      <a:srgbClr val="FFFFFF"/>
                    </a:solidFill>
                  </a:tcPr>
                </a:tc>
              </a:tr>
              <a:tr h="256285">
                <a:tc>
                  <a:txBody>
                    <a:bodyPr/>
                    <a:lstStyle/>
                    <a:p>
                      <a:pPr algn="ctr"/>
                      <a:r>
                        <a:rPr sz="1300" b="0">
                          <a:solidFill>
                            <a:srgbClr val="142B33"/>
                          </a:solidFill>
                          <a:latin typeface="Calibri"/>
                        </a:rPr>
                        <a:t>AG = BF = CD</a:t>
                      </a:r>
                    </a:p>
                  </a:txBody>
                  <a:tcPr marL="73152" marR="73152" marT="27432" marB="27432" anchor="ctr">
                    <a:solidFill>
                      <a:srgbClr val="F4F8F9"/>
                    </a:solidFill>
                  </a:tcPr>
                </a:tc>
              </a:tr>
              <a:tr h="256285">
                <a:tc>
                  <a:txBody>
                    <a:bodyPr/>
                    <a:lstStyle/>
                    <a:p>
                      <a:pPr algn="ctr"/>
                      <a:r>
                        <a:rPr sz="1300" b="0">
                          <a:solidFill>
                            <a:srgbClr val="142B33"/>
                          </a:solidFill>
                          <a:latin typeface="Calibri"/>
                        </a:rPr>
                        <a:t>BD = CF = EG</a:t>
                      </a:r>
                    </a:p>
                  </a:txBody>
                  <a:tcPr marL="73152" marR="73152" marT="27432" marB="27432" anchor="ctr">
                    <a:solidFill>
                      <a:srgbClr val="FFFFFF"/>
                    </a:solidFill>
                  </a:tcPr>
                </a:tc>
              </a:tr>
            </a:tbl>
          </a:graphicData>
        </a:graphic>
      </p:graphicFrame>
      <p:sp>
        <p:nvSpPr>
          <p:cNvPr id="7" name="Rounded Rectangle 6"/>
          <p:cNvSpPr/>
          <p:nvPr/>
        </p:nvSpPr>
        <p:spPr>
          <a:xfrm>
            <a:off x="6301587" y="4699568"/>
            <a:ext cx="5341467" cy="708151"/>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400" b="0">
                <a:solidFill>
                  <a:srgbClr val="142B33"/>
                </a:solidFill>
                <a:latin typeface="Calibri"/>
              </a:rPr>
              <a:t>Principales: cada uno con </a:t>
            </a:r>
            <a:r>
              <a:rPr sz="1400" b="1">
                <a:solidFill>
                  <a:srgbClr val="142B33"/>
                </a:solidFill>
                <a:latin typeface="Calibri"/>
              </a:rPr>
              <a:t>4 triples</a:t>
            </a:r>
            <a:r>
              <a:rPr sz="1400" b="0">
                <a:solidFill>
                  <a:srgbClr val="142B33"/>
                </a:solidFill>
                <a:latin typeface="Calibri"/>
              </a:rPr>
              <a:t>, p. ej. A = BCE = BFG = CDG = DEF</a:t>
            </a:r>
          </a:p>
        </p:txBody>
      </p:sp>
      <p:sp>
        <p:nvSpPr>
          <p:cNvPr id="8" name="TextBox 7"/>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El diseño 2</a:t>
            </a:r>
            <a:r>
              <a:rPr sz="1000" b="0" baseline="30000">
                <a:solidFill>
                  <a:srgbClr val="5B6B73"/>
                </a:solidFill>
                <a:latin typeface="Calibri"/>
              </a:rPr>
              <a:t>k−p</a:t>
            </a:r>
            <a:r>
              <a:rPr sz="1000" b="0">
                <a:solidFill>
                  <a:srgbClr val="5B6B73"/>
                </a:solidFill>
                <a:latin typeface="Calibri"/>
              </a:rPr>
              <a:t> general</a:t>
            </a:r>
          </a:p>
        </p:txBody>
      </p:sp>
      <p:sp>
        <p:nvSpPr>
          <p:cNvPr id="9" name="TextBox 8"/>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62</a:t>
            </a:r>
          </a:p>
        </p:txBody>
      </p:sp>
      <p:sp>
        <p:nvSpPr>
          <p:cNvPr id="10" name="Rounded Rectangle 9"/>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7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¿Cómo debo recolectar los datos?</a:t>
            </a:r>
          </a:p>
        </p:txBody>
      </p:sp>
      <p:sp>
        <p:nvSpPr>
          <p:cNvPr id="3" name="TextBox 2"/>
          <p:cNvSpPr txBox="1"/>
          <p:nvPr/>
        </p:nvSpPr>
        <p:spPr>
          <a:xfrm>
            <a:off x="548640" y="1417320"/>
            <a:ext cx="11094415" cy="3137408"/>
          </a:xfrm>
          <a:prstGeom prst="rect">
            <a:avLst/>
          </a:prstGeom>
          <a:noFill/>
        </p:spPr>
        <p:txBody>
          <a:bodyPr wrap="square" anchor="t" lIns="0" rIns="0" tIns="0" bIns="0">
            <a:spAutoFit/>
          </a:bodyPr>
          <a:lstStyle/>
          <a:p>
            <a:pPr marL="320040" indent="-320040">
              <a:spcAft>
                <a:spcPts val="600"/>
              </a:spcAft>
              <a:buClr>
                <a:srgbClr val="E36414"/>
              </a:buClr>
              <a:buFont typeface="+mj-lt"/>
              <a:buAutoNum type="arabicPeriod"/>
            </a:pPr>
            <a:r>
              <a:rPr sz="2000" b="0">
                <a:solidFill>
                  <a:srgbClr val="142B33"/>
                </a:solidFill>
                <a:latin typeface="Calibri"/>
              </a:rPr>
              <a:t>Definir la </a:t>
            </a:r>
            <a:r>
              <a:rPr sz="2000" b="1">
                <a:solidFill>
                  <a:srgbClr val="142B33"/>
                </a:solidFill>
                <a:latin typeface="Calibri"/>
              </a:rPr>
              <a:t>respuesta</a:t>
            </a:r>
            <a:r>
              <a:rPr sz="2000" b="0">
                <a:solidFill>
                  <a:srgbClr val="142B33"/>
                </a:solidFill>
                <a:latin typeface="Calibri"/>
              </a:rPr>
              <a:t>, los </a:t>
            </a:r>
            <a:r>
              <a:rPr sz="2000" b="1">
                <a:solidFill>
                  <a:srgbClr val="142B33"/>
                </a:solidFill>
                <a:latin typeface="Calibri"/>
              </a:rPr>
              <a:t>factores</a:t>
            </a:r>
            <a:r>
              <a:rPr sz="2000" b="0">
                <a:solidFill>
                  <a:srgbClr val="142B33"/>
                </a:solidFill>
                <a:latin typeface="Calibri"/>
              </a:rPr>
              <a:t> y sus dos </a:t>
            </a:r>
            <a:r>
              <a:rPr sz="2000" b="1">
                <a:solidFill>
                  <a:srgbClr val="142B33"/>
                </a:solidFill>
                <a:latin typeface="Calibri"/>
              </a:rPr>
              <a:t>niveles</a:t>
            </a:r>
          </a:p>
          <a:p>
            <a:pPr marL="320040" indent="-320040">
              <a:spcAft>
                <a:spcPts val="600"/>
              </a:spcAft>
              <a:buClr>
                <a:srgbClr val="E36414"/>
              </a:buClr>
              <a:buFont typeface="+mj-lt"/>
              <a:buAutoNum type="arabicPeriod"/>
            </a:pPr>
            <a:r>
              <a:rPr sz="2000" b="0">
                <a:solidFill>
                  <a:srgbClr val="142B33"/>
                </a:solidFill>
                <a:latin typeface="Calibri"/>
              </a:rPr>
              <a:t>Decidir qué interacciones se pueden despreciar  →  </a:t>
            </a:r>
            <a:r>
              <a:rPr sz="2000" b="1">
                <a:solidFill>
                  <a:srgbClr val="142B33"/>
                </a:solidFill>
                <a:latin typeface="Calibri"/>
              </a:rPr>
              <a:t>resolución</a:t>
            </a:r>
            <a:r>
              <a:rPr sz="2000" b="0">
                <a:solidFill>
                  <a:srgbClr val="142B33"/>
                </a:solidFill>
                <a:latin typeface="Calibri"/>
              </a:rPr>
              <a:t> requerida</a:t>
            </a:r>
          </a:p>
          <a:p>
            <a:pPr marL="320040" indent="-320040">
              <a:spcAft>
                <a:spcPts val="600"/>
              </a:spcAft>
              <a:buClr>
                <a:srgbClr val="E36414"/>
              </a:buClr>
              <a:buFont typeface="+mj-lt"/>
              <a:buAutoNum type="arabicPeriod"/>
            </a:pPr>
            <a:r>
              <a:rPr sz="2000" b="0">
                <a:solidFill>
                  <a:srgbClr val="142B33"/>
                </a:solidFill>
                <a:latin typeface="Calibri"/>
              </a:rPr>
              <a:t>Elegir el diseño 2</a:t>
            </a:r>
            <a:r>
              <a:rPr sz="2000" b="0" baseline="30000">
                <a:solidFill>
                  <a:srgbClr val="142B33"/>
                </a:solidFill>
                <a:latin typeface="Calibri"/>
              </a:rPr>
              <a:t>k−p</a:t>
            </a:r>
            <a:r>
              <a:rPr sz="2000" b="0">
                <a:solidFill>
                  <a:srgbClr val="142B33"/>
                </a:solidFill>
                <a:latin typeface="Calibri"/>
              </a:rPr>
              <a:t> y </a:t>
            </a:r>
            <a:r>
              <a:rPr sz="2000" b="1">
                <a:solidFill>
                  <a:srgbClr val="142B33"/>
                </a:solidFill>
                <a:latin typeface="Calibri"/>
              </a:rPr>
              <a:t>revisar sus alias</a:t>
            </a:r>
            <a:r>
              <a:rPr sz="2000" b="0">
                <a:solidFill>
                  <a:srgbClr val="142B33"/>
                </a:solidFill>
                <a:latin typeface="Calibri"/>
              </a:rPr>
              <a:t> antes de correr</a:t>
            </a:r>
          </a:p>
          <a:p>
            <a:pPr marL="320040" indent="-320040">
              <a:spcAft>
                <a:spcPts val="600"/>
              </a:spcAft>
              <a:buClr>
                <a:srgbClr val="E36414"/>
              </a:buClr>
              <a:buFont typeface="+mj-lt"/>
              <a:buAutoNum type="arabicPeriod"/>
            </a:pPr>
            <a:r>
              <a:rPr sz="2000" b="0">
                <a:solidFill>
                  <a:srgbClr val="142B33"/>
                </a:solidFill>
                <a:latin typeface="Calibri"/>
              </a:rPr>
              <a:t>​</a:t>
            </a:r>
            <a:r>
              <a:rPr sz="2000" b="1">
                <a:solidFill>
                  <a:srgbClr val="142B33"/>
                </a:solidFill>
                <a:latin typeface="Calibri"/>
              </a:rPr>
              <a:t>Asignar</a:t>
            </a:r>
            <a:r>
              <a:rPr sz="2000" b="0">
                <a:solidFill>
                  <a:srgbClr val="142B33"/>
                </a:solidFill>
                <a:latin typeface="Calibri"/>
              </a:rPr>
              <a:t> los factores reales a las letras (los importantes, sin aliarse entre sí)</a:t>
            </a:r>
          </a:p>
          <a:p>
            <a:pPr marL="320040" indent="-320040">
              <a:spcAft>
                <a:spcPts val="600"/>
              </a:spcAft>
              <a:buClr>
                <a:srgbClr val="E36414"/>
              </a:buClr>
              <a:buFont typeface="+mj-lt"/>
              <a:buAutoNum type="arabicPeriod"/>
            </a:pPr>
            <a:r>
              <a:rPr sz="2000" b="0">
                <a:solidFill>
                  <a:srgbClr val="142B33"/>
                </a:solidFill>
                <a:latin typeface="Calibri"/>
              </a:rPr>
              <a:t>Construir la </a:t>
            </a:r>
            <a:r>
              <a:rPr sz="2000" b="1">
                <a:solidFill>
                  <a:srgbClr val="142B33"/>
                </a:solidFill>
                <a:latin typeface="Calibri"/>
              </a:rPr>
              <a:t>matriz de diseño</a:t>
            </a:r>
            <a:r>
              <a:rPr sz="2000" b="0">
                <a:solidFill>
                  <a:srgbClr val="142B33"/>
                </a:solidFill>
                <a:latin typeface="Calibri"/>
              </a:rPr>
              <a:t>: diseño básico + columnas generadas</a:t>
            </a:r>
          </a:p>
          <a:p>
            <a:pPr marL="320040" indent="-320040">
              <a:spcAft>
                <a:spcPts val="600"/>
              </a:spcAft>
              <a:buClr>
                <a:srgbClr val="E36414"/>
              </a:buClr>
              <a:buFont typeface="+mj-lt"/>
              <a:buAutoNum type="arabicPeriod"/>
            </a:pPr>
            <a:r>
              <a:rPr sz="2000" b="0">
                <a:solidFill>
                  <a:srgbClr val="142B33"/>
                </a:solidFill>
                <a:latin typeface="Calibri"/>
              </a:rPr>
              <a:t>​</a:t>
            </a:r>
            <a:r>
              <a:rPr sz="2000" b="1">
                <a:solidFill>
                  <a:srgbClr val="142B33"/>
                </a:solidFill>
                <a:latin typeface="Calibri"/>
              </a:rPr>
              <a:t>Aleatorizar</a:t>
            </a:r>
            <a:r>
              <a:rPr sz="2000" b="0">
                <a:solidFill>
                  <a:srgbClr val="142B33"/>
                </a:solidFill>
                <a:latin typeface="Calibri"/>
              </a:rPr>
              <a:t> el orden de las corridas (dentro de bloques, si los hay)</a:t>
            </a:r>
          </a:p>
          <a:p>
            <a:pPr marL="320040" indent="-320040">
              <a:spcAft>
                <a:spcPts val="600"/>
              </a:spcAft>
              <a:buClr>
                <a:srgbClr val="E36414"/>
              </a:buClr>
              <a:buFont typeface="+mj-lt"/>
              <a:buAutoNum type="arabicPeriod"/>
            </a:pPr>
            <a:r>
              <a:rPr sz="2000" b="0">
                <a:solidFill>
                  <a:srgbClr val="142B33"/>
                </a:solidFill>
                <a:latin typeface="Calibri"/>
              </a:rPr>
              <a:t>Ejecutar y </a:t>
            </a:r>
            <a:r>
              <a:rPr sz="2000" b="1">
                <a:solidFill>
                  <a:srgbClr val="142B33"/>
                </a:solidFill>
                <a:latin typeface="Calibri"/>
              </a:rPr>
              <a:t>registrar el orden real</a:t>
            </a:r>
            <a:r>
              <a:rPr sz="2000" b="0">
                <a:solidFill>
                  <a:srgbClr val="142B33"/>
                </a:solidFill>
                <a:latin typeface="Calibri"/>
              </a:rPr>
              <a:t> de corrida</a:t>
            </a:r>
          </a:p>
          <a:p>
            <a:pPr marL="320040" indent="-320040">
              <a:spcAft>
                <a:spcPts val="600"/>
              </a:spcAft>
              <a:buClr>
                <a:srgbClr val="E36414"/>
              </a:buClr>
              <a:buFont typeface="+mj-lt"/>
              <a:buAutoNum type="arabicPeriod"/>
            </a:pPr>
            <a:r>
              <a:rPr sz="2000" b="0">
                <a:solidFill>
                  <a:srgbClr val="142B33"/>
                </a:solidFill>
                <a:latin typeface="Calibri"/>
              </a:rPr>
              <a:t>Planear la </a:t>
            </a:r>
            <a:r>
              <a:rPr sz="2000" b="1">
                <a:solidFill>
                  <a:srgbClr val="142B33"/>
                </a:solidFill>
                <a:latin typeface="Calibri"/>
              </a:rPr>
              <a:t>confirmación</a:t>
            </a:r>
            <a:r>
              <a:rPr sz="2000" b="0">
                <a:solidFill>
                  <a:srgbClr val="142B33"/>
                </a:solidFill>
                <a:latin typeface="Calibri"/>
              </a:rPr>
              <a:t>: corrida de verificación o segunda fracción</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El diseño 2</a:t>
            </a:r>
            <a:r>
              <a:rPr sz="1000" b="0" baseline="30000">
                <a:solidFill>
                  <a:srgbClr val="5B6B73"/>
                </a:solidFill>
                <a:latin typeface="Calibri"/>
              </a:rPr>
              <a:t>k−p</a:t>
            </a:r>
            <a:r>
              <a:rPr sz="1000" b="0">
                <a:solidFill>
                  <a:srgbClr val="5B6B73"/>
                </a:solidFill>
                <a:latin typeface="Calibri"/>
              </a:rPr>
              <a:t> general</a:t>
            </a:r>
          </a:p>
        </p:txBody>
      </p:sp>
      <p:sp>
        <p:nvSpPr>
          <p:cNvPr id="5" name="TextBox 4"/>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63</a:t>
            </a:r>
          </a:p>
        </p:txBody>
      </p:sp>
      <p:sp>
        <p:nvSpPr>
          <p:cNvPr id="6" name="Rounded Rectangle 5"/>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7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¿Cómo debo aleatorizar el diseño?</a:t>
            </a:r>
          </a:p>
        </p:txBody>
      </p:sp>
      <p:sp>
        <p:nvSpPr>
          <p:cNvPr id="3" name="TextBox 2"/>
          <p:cNvSpPr txBox="1"/>
          <p:nvPr/>
        </p:nvSpPr>
        <p:spPr>
          <a:xfrm>
            <a:off x="548640" y="1417320"/>
            <a:ext cx="4807320" cy="2560320"/>
          </a:xfrm>
          <a:prstGeom prst="rect">
            <a:avLst/>
          </a:prstGeom>
          <a:noFill/>
        </p:spPr>
        <p:txBody>
          <a:bodyPr wrap="square" anchor="t" lIns="0" rIns="0" tIns="0" bIns="0">
            <a:spAutoFit/>
          </a:bodyPr>
          <a:lstStyle/>
          <a:p>
            <a:pPr marL="320040" indent="-320040">
              <a:spcAft>
                <a:spcPts val="600"/>
              </a:spcAft>
              <a:buClr>
                <a:srgbClr val="E36414"/>
              </a:buClr>
              <a:buFont typeface="Arial"/>
              <a:buChar char="•"/>
            </a:pPr>
            <a:r>
              <a:rPr sz="1800" b="0">
                <a:solidFill>
                  <a:srgbClr val="142B33"/>
                </a:solidFill>
                <a:latin typeface="Calibri"/>
              </a:rPr>
              <a:t>El orden de ejecución se </a:t>
            </a:r>
            <a:r>
              <a:rPr sz="1800" b="1">
                <a:solidFill>
                  <a:srgbClr val="142B33"/>
                </a:solidFill>
                <a:latin typeface="Calibri"/>
              </a:rPr>
              <a:t>sortea</a:t>
            </a:r>
            <a:r>
              <a:rPr sz="1800" b="0">
                <a:solidFill>
                  <a:srgbClr val="142B33"/>
                </a:solidFill>
                <a:latin typeface="Calibri"/>
              </a:rPr>
              <a:t>; no se corre en orden estándar</a:t>
            </a:r>
          </a:p>
          <a:p>
            <a:pPr marL="320040" indent="-320040">
              <a:spcAft>
                <a:spcPts val="600"/>
              </a:spcAft>
              <a:buClr>
                <a:srgbClr val="E36414"/>
              </a:buClr>
              <a:buFont typeface="Arial"/>
              <a:buChar char="•"/>
            </a:pPr>
            <a:r>
              <a:rPr sz="1800" b="0">
                <a:solidFill>
                  <a:srgbClr val="142B33"/>
                </a:solidFill>
                <a:latin typeface="Calibri"/>
              </a:rPr>
              <a:t>En cada corrida se </a:t>
            </a:r>
            <a:r>
              <a:rPr sz="1800" b="1">
                <a:solidFill>
                  <a:srgbClr val="142B33"/>
                </a:solidFill>
                <a:latin typeface="Calibri"/>
              </a:rPr>
              <a:t>reajustan</a:t>
            </a:r>
            <a:r>
              <a:rPr sz="1800" b="0">
                <a:solidFill>
                  <a:srgbClr val="142B33"/>
                </a:solidFill>
                <a:latin typeface="Calibri"/>
              </a:rPr>
              <a:t> todos los niveles</a:t>
            </a:r>
          </a:p>
          <a:p>
            <a:pPr marL="320040" indent="-320040">
              <a:spcAft>
                <a:spcPts val="600"/>
              </a:spcAft>
              <a:buClr>
                <a:srgbClr val="E36414"/>
              </a:buClr>
              <a:buFont typeface="Arial"/>
              <a:buChar char="•"/>
            </a:pPr>
            <a:r>
              <a:rPr sz="1800" b="0">
                <a:solidFill>
                  <a:srgbClr val="142B33"/>
                </a:solidFill>
                <a:latin typeface="Calibri"/>
              </a:rPr>
              <a:t>Se guarda el </a:t>
            </a:r>
            <a:r>
              <a:rPr sz="1800" b="1">
                <a:solidFill>
                  <a:srgbClr val="142B33"/>
                </a:solidFill>
                <a:latin typeface="Calibri"/>
              </a:rPr>
              <a:t>orden de corrida</a:t>
            </a:r>
            <a:r>
              <a:rPr sz="1800" b="0">
                <a:solidFill>
                  <a:srgbClr val="142B33"/>
                </a:solidFill>
                <a:latin typeface="Calibri"/>
              </a:rPr>
              <a:t>: se usa para verificar independencia</a:t>
            </a:r>
          </a:p>
          <a:p>
            <a:pPr marL="320040" indent="-320040">
              <a:spcAft>
                <a:spcPts val="600"/>
              </a:spcAft>
              <a:buClr>
                <a:srgbClr val="E36414"/>
              </a:buClr>
              <a:buFont typeface="Arial"/>
              <a:buChar char="•"/>
            </a:pPr>
            <a:r>
              <a:rPr sz="1800" b="0">
                <a:solidFill>
                  <a:srgbClr val="142B33"/>
                </a:solidFill>
                <a:latin typeface="Calibri"/>
              </a:rPr>
              <a:t>Sin condiciones homogéneas: </a:t>
            </a:r>
            <a:r>
              <a:rPr sz="1800" b="1">
                <a:solidFill>
                  <a:srgbClr val="142B33"/>
                </a:solidFill>
                <a:latin typeface="Calibri"/>
              </a:rPr>
              <a:t>bloques</a:t>
            </a:r>
            <a:r>
              <a:rPr sz="1800" b="0">
                <a:solidFill>
                  <a:srgbClr val="142B33"/>
                </a:solidFill>
                <a:latin typeface="Calibri"/>
              </a:rPr>
              <a:t>, confundiendo una cadena de orden alto</a:t>
            </a:r>
          </a:p>
        </p:txBody>
      </p:sp>
      <p:sp>
        <p:nvSpPr>
          <p:cNvPr id="4" name="Rounded Rectangle 3"/>
          <p:cNvSpPr/>
          <p:nvPr/>
        </p:nvSpPr>
        <p:spPr>
          <a:xfrm>
            <a:off x="548640" y="4178808"/>
            <a:ext cx="4807320" cy="770128"/>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600" b="0">
                <a:solidFill>
                  <a:srgbClr val="142B33"/>
                </a:solidFill>
                <a:latin typeface="Calibri"/>
              </a:rPr>
              <a:t>«Forme bloques con lo que pueda y aleatorice lo que no pueda» (Box, Hunter y Hunter)</a:t>
            </a:r>
          </a:p>
        </p:txBody>
      </p:sp>
      <p:graphicFrame>
        <p:nvGraphicFramePr>
          <p:cNvPr id="5" name="Table 4"/>
          <p:cNvGraphicFramePr>
            <a:graphicFrameLocks noGrp="1"/>
          </p:cNvGraphicFramePr>
          <p:nvPr/>
        </p:nvGraphicFramePr>
        <p:xfrm>
          <a:off x="5767440" y="1417320"/>
          <a:ext cx="5875613" cy="3161538"/>
        </p:xfrm>
        <a:graphic>
          <a:graphicData uri="http://schemas.openxmlformats.org/drawingml/2006/table">
            <a:tbl>
              <a:tblPr firstRow="0" bandRow="0">
                <a:tableStyleId>{5C22544A-7EE6-4342-B048-85BDC9FD1C3A}</a:tableStyleId>
              </a:tblPr>
              <a:tblGrid>
                <a:gridCol w="1865147"/>
                <a:gridCol w="1657019"/>
                <a:gridCol w="304187"/>
                <a:gridCol w="304187"/>
                <a:gridCol w="304187"/>
                <a:gridCol w="304187"/>
                <a:gridCol w="1136699"/>
              </a:tblGrid>
              <a:tr h="351282">
                <a:tc>
                  <a:txBody>
                    <a:bodyPr/>
                    <a:lstStyle/>
                    <a:p>
                      <a:pPr algn="ctr"/>
                      <a:r>
                        <a:rPr sz="1500" b="1">
                          <a:solidFill>
                            <a:srgbClr val="FFFFFF"/>
                          </a:solidFill>
                          <a:latin typeface="Calibri"/>
                        </a:rPr>
                        <a:t>Orden de corrida</a:t>
                      </a:r>
                    </a:p>
                  </a:txBody>
                  <a:tcPr marL="73152" marR="73152" marT="27432" marB="27432" anchor="ctr">
                    <a:solidFill>
                      <a:srgbClr val="0F4C5C"/>
                    </a:solidFill>
                  </a:tcPr>
                </a:tc>
                <a:tc>
                  <a:txBody>
                    <a:bodyPr/>
                    <a:lstStyle/>
                    <a:p>
                      <a:pPr algn="ctr"/>
                      <a:r>
                        <a:rPr sz="1500" b="1">
                          <a:solidFill>
                            <a:srgbClr val="FFFFFF"/>
                          </a:solidFill>
                          <a:latin typeface="Calibri"/>
                        </a:rPr>
                        <a:t>Orden estándar</a:t>
                      </a:r>
                    </a:p>
                  </a:txBody>
                  <a:tcPr marL="73152" marR="73152" marT="27432" marB="27432" anchor="ctr">
                    <a:solidFill>
                      <a:srgbClr val="0F4C5C"/>
                    </a:solidFill>
                  </a:tcPr>
                </a:tc>
                <a:tc>
                  <a:txBody>
                    <a:bodyPr/>
                    <a:lstStyle/>
                    <a:p>
                      <a:pPr algn="ctr"/>
                      <a:r>
                        <a:rPr sz="1500" b="1">
                          <a:solidFill>
                            <a:srgbClr val="FFFFFF"/>
                          </a:solidFill>
                          <a:latin typeface="Calibri"/>
                        </a:rPr>
                        <a:t>A</a:t>
                      </a:r>
                    </a:p>
                  </a:txBody>
                  <a:tcPr marL="73152" marR="73152" marT="27432" marB="27432" anchor="ctr">
                    <a:solidFill>
                      <a:srgbClr val="0F4C5C"/>
                    </a:solidFill>
                  </a:tcPr>
                </a:tc>
                <a:tc>
                  <a:txBody>
                    <a:bodyPr/>
                    <a:lstStyle/>
                    <a:p>
                      <a:pPr algn="ctr"/>
                      <a:r>
                        <a:rPr sz="1500" b="1">
                          <a:solidFill>
                            <a:srgbClr val="FFFFFF"/>
                          </a:solidFill>
                          <a:latin typeface="Calibri"/>
                        </a:rPr>
                        <a:t>B</a:t>
                      </a:r>
                    </a:p>
                  </a:txBody>
                  <a:tcPr marL="73152" marR="73152" marT="27432" marB="27432" anchor="ctr">
                    <a:solidFill>
                      <a:srgbClr val="0F4C5C"/>
                    </a:solidFill>
                  </a:tcPr>
                </a:tc>
                <a:tc>
                  <a:txBody>
                    <a:bodyPr/>
                    <a:lstStyle/>
                    <a:p>
                      <a:pPr algn="ctr"/>
                      <a:r>
                        <a:rPr sz="1500" b="1">
                          <a:solidFill>
                            <a:srgbClr val="FFFFFF"/>
                          </a:solidFill>
                          <a:latin typeface="Calibri"/>
                        </a:rPr>
                        <a:t>C</a:t>
                      </a:r>
                    </a:p>
                  </a:txBody>
                  <a:tcPr marL="73152" marR="73152" marT="27432" marB="27432" anchor="ctr">
                    <a:solidFill>
                      <a:srgbClr val="0F4C5C"/>
                    </a:solidFill>
                  </a:tcPr>
                </a:tc>
                <a:tc>
                  <a:txBody>
                    <a:bodyPr/>
                    <a:lstStyle/>
                    <a:p>
                      <a:pPr algn="ctr"/>
                      <a:r>
                        <a:rPr sz="1500" b="1">
                          <a:solidFill>
                            <a:srgbClr val="FFFFFF"/>
                          </a:solidFill>
                          <a:latin typeface="Calibri"/>
                        </a:rPr>
                        <a:t>D</a:t>
                      </a:r>
                    </a:p>
                  </a:txBody>
                  <a:tcPr marL="73152" marR="73152" marT="27432" marB="27432" anchor="ctr">
                    <a:solidFill>
                      <a:srgbClr val="0F4C5C"/>
                    </a:solidFill>
                  </a:tcPr>
                </a:tc>
                <a:tc>
                  <a:txBody>
                    <a:bodyPr/>
                    <a:lstStyle/>
                    <a:p>
                      <a:pPr algn="ctr"/>
                      <a:r>
                        <a:rPr sz="1500" b="1">
                          <a:solidFill>
                            <a:srgbClr val="FFFFFF"/>
                          </a:solidFill>
                          <a:latin typeface="Calibri"/>
                        </a:rPr>
                        <a:t>Respuesta</a:t>
                      </a:r>
                    </a:p>
                  </a:txBody>
                  <a:tcPr marL="73152" marR="73152" marT="27432" marB="27432" anchor="ctr">
                    <a:solidFill>
                      <a:srgbClr val="0F4C5C"/>
                    </a:solidFill>
                  </a:tcPr>
                </a:tc>
              </a:tr>
              <a:tr h="351282">
                <a:tc>
                  <a:txBody>
                    <a:bodyPr/>
                    <a:lstStyle/>
                    <a:p>
                      <a:pPr algn="ctr"/>
                      <a:r>
                        <a:rPr sz="1500" b="0">
                          <a:solidFill>
                            <a:srgbClr val="142B33"/>
                          </a:solidFill>
                          <a:latin typeface="Calibri"/>
                        </a:rPr>
                        <a:t>1</a:t>
                      </a:r>
                    </a:p>
                  </a:txBody>
                  <a:tcPr marL="73152" marR="73152" marT="27432" marB="27432" anchor="ctr">
                    <a:solidFill>
                      <a:srgbClr val="FFFFFF"/>
                    </a:solidFill>
                  </a:tcPr>
                </a:tc>
                <a:tc>
                  <a:txBody>
                    <a:bodyPr/>
                    <a:lstStyle/>
                    <a:p>
                      <a:pPr algn="ctr"/>
                      <a:r>
                        <a:rPr sz="1500" b="0">
                          <a:solidFill>
                            <a:srgbClr val="142B33"/>
                          </a:solidFill>
                          <a:latin typeface="Calibri"/>
                        </a:rPr>
                        <a:t>5</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p>
                  </a:txBody>
                  <a:tcPr marL="73152" marR="73152" marT="27432" marB="27432" anchor="ctr">
                    <a:solidFill>
                      <a:srgbClr val="FFFFFF"/>
                    </a:solidFill>
                  </a:tcPr>
                </a:tc>
              </a:tr>
              <a:tr h="351282">
                <a:tc>
                  <a:txBody>
                    <a:bodyPr/>
                    <a:lstStyle/>
                    <a:p>
                      <a:pPr algn="ctr"/>
                      <a:r>
                        <a:rPr sz="1500" b="0">
                          <a:solidFill>
                            <a:srgbClr val="142B33"/>
                          </a:solidFill>
                          <a:latin typeface="Calibri"/>
                        </a:rPr>
                        <a:t>2</a:t>
                      </a:r>
                    </a:p>
                  </a:txBody>
                  <a:tcPr marL="73152" marR="73152" marT="27432" marB="27432" anchor="ctr">
                    <a:solidFill>
                      <a:srgbClr val="F4F8F9"/>
                    </a:solidFill>
                  </a:tcPr>
                </a:tc>
                <a:tc>
                  <a:txBody>
                    <a:bodyPr/>
                    <a:lstStyle/>
                    <a:p>
                      <a:pPr algn="ctr"/>
                      <a:r>
                        <a:rPr sz="1500" b="0">
                          <a:solidFill>
                            <a:srgbClr val="142B33"/>
                          </a:solidFill>
                          <a:latin typeface="Calibri"/>
                        </a:rPr>
                        <a:t>8</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p>
                  </a:txBody>
                  <a:tcPr marL="73152" marR="73152" marT="27432" marB="27432" anchor="ctr">
                    <a:solidFill>
                      <a:srgbClr val="F4F8F9"/>
                    </a:solidFill>
                  </a:tcPr>
                </a:tc>
              </a:tr>
              <a:tr h="351282">
                <a:tc>
                  <a:txBody>
                    <a:bodyPr/>
                    <a:lstStyle/>
                    <a:p>
                      <a:pPr algn="ctr"/>
                      <a:r>
                        <a:rPr sz="1500" b="0">
                          <a:solidFill>
                            <a:srgbClr val="142B33"/>
                          </a:solidFill>
                          <a:latin typeface="Calibri"/>
                        </a:rPr>
                        <a:t>3</a:t>
                      </a:r>
                    </a:p>
                  </a:txBody>
                  <a:tcPr marL="73152" marR="73152" marT="27432" marB="27432" anchor="ctr">
                    <a:solidFill>
                      <a:srgbClr val="FFFFFF"/>
                    </a:solidFill>
                  </a:tcPr>
                </a:tc>
                <a:tc>
                  <a:txBody>
                    <a:bodyPr/>
                    <a:lstStyle/>
                    <a:p>
                      <a:pPr algn="ctr"/>
                      <a:r>
                        <a:rPr sz="1500" b="0">
                          <a:solidFill>
                            <a:srgbClr val="142B33"/>
                          </a:solidFill>
                          <a:latin typeface="Calibri"/>
                        </a:rPr>
                        <a:t>6</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p>
                  </a:txBody>
                  <a:tcPr marL="73152" marR="73152" marT="27432" marB="27432" anchor="ctr">
                    <a:solidFill>
                      <a:srgbClr val="FFFFFF"/>
                    </a:solidFill>
                  </a:tcPr>
                </a:tc>
              </a:tr>
              <a:tr h="351282">
                <a:tc>
                  <a:txBody>
                    <a:bodyPr/>
                    <a:lstStyle/>
                    <a:p>
                      <a:pPr algn="ctr"/>
                      <a:r>
                        <a:rPr sz="1500" b="0">
                          <a:solidFill>
                            <a:srgbClr val="142B33"/>
                          </a:solidFill>
                          <a:latin typeface="Calibri"/>
                        </a:rPr>
                        <a:t>4</a:t>
                      </a:r>
                    </a:p>
                  </a:txBody>
                  <a:tcPr marL="73152" marR="73152" marT="27432" marB="27432" anchor="ctr">
                    <a:solidFill>
                      <a:srgbClr val="F4F8F9"/>
                    </a:solidFill>
                  </a:tcPr>
                </a:tc>
                <a:tc>
                  <a:txBody>
                    <a:bodyPr/>
                    <a:lstStyle/>
                    <a:p>
                      <a:pPr algn="ctr"/>
                      <a:r>
                        <a:rPr sz="1500" b="0">
                          <a:solidFill>
                            <a:srgbClr val="142B33"/>
                          </a:solidFill>
                          <a:latin typeface="Calibri"/>
                        </a:rPr>
                        <a:t>7</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p>
                  </a:txBody>
                  <a:tcPr marL="73152" marR="73152" marT="27432" marB="27432" anchor="ctr">
                    <a:solidFill>
                      <a:srgbClr val="F4F8F9"/>
                    </a:solidFill>
                  </a:tcPr>
                </a:tc>
              </a:tr>
              <a:tr h="351282">
                <a:tc>
                  <a:txBody>
                    <a:bodyPr/>
                    <a:lstStyle/>
                    <a:p>
                      <a:pPr algn="ctr"/>
                      <a:r>
                        <a:rPr sz="1500" b="0">
                          <a:solidFill>
                            <a:srgbClr val="142B33"/>
                          </a:solidFill>
                          <a:latin typeface="Calibri"/>
                        </a:rPr>
                        <a:t>5</a:t>
                      </a:r>
                    </a:p>
                  </a:txBody>
                  <a:tcPr marL="73152" marR="73152" marT="27432" marB="27432" anchor="ctr">
                    <a:solidFill>
                      <a:srgbClr val="FFFFFF"/>
                    </a:solidFill>
                  </a:tcPr>
                </a:tc>
                <a:tc>
                  <a:txBody>
                    <a:bodyPr/>
                    <a:lstStyle/>
                    <a:p>
                      <a:pPr algn="ctr"/>
                      <a:r>
                        <a:rPr sz="1500" b="0">
                          <a:solidFill>
                            <a:srgbClr val="142B33"/>
                          </a:solidFill>
                          <a:latin typeface="Calibri"/>
                        </a:rPr>
                        <a:t>4</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p>
                  </a:txBody>
                  <a:tcPr marL="73152" marR="73152" marT="27432" marB="27432" anchor="ctr">
                    <a:solidFill>
                      <a:srgbClr val="FFFFFF"/>
                    </a:solidFill>
                  </a:tcPr>
                </a:tc>
              </a:tr>
              <a:tr h="351282">
                <a:tc>
                  <a:txBody>
                    <a:bodyPr/>
                    <a:lstStyle/>
                    <a:p>
                      <a:pPr algn="ctr"/>
                      <a:r>
                        <a:rPr sz="1500" b="0">
                          <a:solidFill>
                            <a:srgbClr val="142B33"/>
                          </a:solidFill>
                          <a:latin typeface="Calibri"/>
                        </a:rPr>
                        <a:t>6</a:t>
                      </a:r>
                    </a:p>
                  </a:txBody>
                  <a:tcPr marL="73152" marR="73152" marT="27432" marB="27432" anchor="ctr">
                    <a:solidFill>
                      <a:srgbClr val="F4F8F9"/>
                    </a:solidFill>
                  </a:tcPr>
                </a:tc>
                <a:tc>
                  <a:txBody>
                    <a:bodyPr/>
                    <a:lstStyle/>
                    <a:p>
                      <a:pPr algn="ctr"/>
                      <a:r>
                        <a:rPr sz="1500" b="0">
                          <a:solidFill>
                            <a:srgbClr val="142B33"/>
                          </a:solidFill>
                          <a:latin typeface="Calibri"/>
                        </a:rPr>
                        <a:t>1</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p>
                  </a:txBody>
                  <a:tcPr marL="73152" marR="73152" marT="27432" marB="27432" anchor="ctr">
                    <a:solidFill>
                      <a:srgbClr val="F4F8F9"/>
                    </a:solidFill>
                  </a:tcPr>
                </a:tc>
              </a:tr>
              <a:tr h="351282">
                <a:tc>
                  <a:txBody>
                    <a:bodyPr/>
                    <a:lstStyle/>
                    <a:p>
                      <a:pPr algn="ctr"/>
                      <a:r>
                        <a:rPr sz="1500" b="0">
                          <a:solidFill>
                            <a:srgbClr val="142B33"/>
                          </a:solidFill>
                          <a:latin typeface="Calibri"/>
                        </a:rPr>
                        <a:t>7</a:t>
                      </a:r>
                    </a:p>
                  </a:txBody>
                  <a:tcPr marL="73152" marR="73152" marT="27432" marB="27432" anchor="ctr">
                    <a:solidFill>
                      <a:srgbClr val="FFFFFF"/>
                    </a:solidFill>
                  </a:tcPr>
                </a:tc>
                <a:tc>
                  <a:txBody>
                    <a:bodyPr/>
                    <a:lstStyle/>
                    <a:p>
                      <a:pPr algn="ctr"/>
                      <a:r>
                        <a:rPr sz="1500" b="0">
                          <a:solidFill>
                            <a:srgbClr val="142B33"/>
                          </a:solidFill>
                          <a:latin typeface="Calibri"/>
                        </a:rPr>
                        <a:t>3</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p>
                  </a:txBody>
                  <a:tcPr marL="73152" marR="73152" marT="27432" marB="27432" anchor="ctr">
                    <a:solidFill>
                      <a:srgbClr val="FFFFFF"/>
                    </a:solidFill>
                  </a:tcPr>
                </a:tc>
              </a:tr>
              <a:tr h="351282">
                <a:tc>
                  <a:txBody>
                    <a:bodyPr/>
                    <a:lstStyle/>
                    <a:p>
                      <a:pPr algn="ctr"/>
                      <a:r>
                        <a:rPr sz="1500" b="0">
                          <a:solidFill>
                            <a:srgbClr val="142B33"/>
                          </a:solidFill>
                          <a:latin typeface="Calibri"/>
                        </a:rPr>
                        <a:t>8</a:t>
                      </a:r>
                    </a:p>
                  </a:txBody>
                  <a:tcPr marL="73152" marR="73152" marT="27432" marB="27432" anchor="ctr">
                    <a:solidFill>
                      <a:srgbClr val="F4F8F9"/>
                    </a:solidFill>
                  </a:tcPr>
                </a:tc>
                <a:tc>
                  <a:txBody>
                    <a:bodyPr/>
                    <a:lstStyle/>
                    <a:p>
                      <a:pPr algn="ctr"/>
                      <a:r>
                        <a:rPr sz="1500" b="0">
                          <a:solidFill>
                            <a:srgbClr val="142B33"/>
                          </a:solidFill>
                          <a:latin typeface="Calibri"/>
                        </a:rPr>
                        <a:t>2</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p>
                  </a:txBody>
                  <a:tcPr marL="73152" marR="73152" marT="27432" marB="27432" anchor="ctr">
                    <a:solidFill>
                      <a:srgbClr val="F4F8F9"/>
                    </a:solidFill>
                  </a:tcPr>
                </a:tc>
              </a:tr>
            </a:tbl>
          </a:graphicData>
        </a:graphic>
      </p:graphicFrame>
      <p:sp>
        <p:nvSpPr>
          <p:cNvPr id="6" name="TextBox 5"/>
          <p:cNvSpPr txBox="1"/>
          <p:nvPr/>
        </p:nvSpPr>
        <p:spPr>
          <a:xfrm>
            <a:off x="5767440" y="4780026"/>
            <a:ext cx="5875614" cy="237998"/>
          </a:xfrm>
          <a:prstGeom prst="rect">
            <a:avLst/>
          </a:prstGeom>
          <a:noFill/>
        </p:spPr>
        <p:txBody>
          <a:bodyPr wrap="square" anchor="t" lIns="0" rIns="0" tIns="0" bIns="0">
            <a:spAutoFit/>
          </a:bodyPr>
          <a:lstStyle/>
          <a:p>
            <a:r>
              <a:rPr sz="1300" b="0">
                <a:solidFill>
                  <a:srgbClr val="5B6B73"/>
                </a:solidFill>
                <a:latin typeface="Calibri"/>
              </a:rPr>
              <a:t>Ejemplo de orden aleatorio para un 2</a:t>
            </a:r>
            <a:r>
              <a:rPr sz="1300" b="0" baseline="30000">
                <a:solidFill>
                  <a:srgbClr val="5B6B73"/>
                </a:solidFill>
                <a:latin typeface="Calibri"/>
              </a:rPr>
              <a:t>4−1</a:t>
            </a:r>
            <a:r>
              <a:rPr sz="1300" b="0">
                <a:solidFill>
                  <a:srgbClr val="5B6B73"/>
                </a:solidFill>
                <a:latin typeface="Calibri"/>
              </a:rPr>
              <a:t> (D = ABC)</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El diseño 2</a:t>
            </a:r>
            <a:r>
              <a:rPr sz="1000" b="0" baseline="30000">
                <a:solidFill>
                  <a:srgbClr val="5B6B73"/>
                </a:solidFill>
                <a:latin typeface="Calibri"/>
              </a:rPr>
              <a:t>k−p</a:t>
            </a:r>
            <a:r>
              <a:rPr sz="1000" b="0">
                <a:solidFill>
                  <a:srgbClr val="5B6B73"/>
                </a:solidFill>
                <a:latin typeface="Calibri"/>
              </a:rPr>
              <a:t> general</a:t>
            </a:r>
          </a:p>
        </p:txBody>
      </p:sp>
      <p:sp>
        <p:nvSpPr>
          <p:cNvPr id="8" name="TextBox 7"/>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64</a:t>
            </a:r>
          </a:p>
        </p:txBody>
      </p:sp>
      <p:sp>
        <p:nvSpPr>
          <p:cNvPr id="9" name="Rounded Rectangle 8"/>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7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¿Cuál es el modelo matemático del diseño?</a:t>
            </a:r>
          </a:p>
        </p:txBody>
      </p:sp>
      <p:sp>
        <p:nvSpPr>
          <p:cNvPr id="3" name="Rounded Rectangle 2"/>
          <p:cNvSpPr/>
          <p:nvPr/>
        </p:nvSpPr>
        <p:spPr>
          <a:xfrm>
            <a:off x="548640" y="1417320"/>
            <a:ext cx="11094415" cy="1107277"/>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2400" b="0">
                <a:solidFill>
                  <a:srgbClr val="0F4C5C"/>
                </a:solidFill>
                <a:latin typeface="Cambria Math"/>
              </a:rPr>
              <a:t>Y = β</a:t>
            </a:r>
            <a:r>
              <a:rPr sz="2400" b="0" baseline="-25000">
                <a:solidFill>
                  <a:srgbClr val="0F4C5C"/>
                </a:solidFill>
                <a:latin typeface="Cambria Math"/>
              </a:rPr>
              <a:t>0</a:t>
            </a:r>
            <a:r>
              <a:rPr sz="2400" b="0">
                <a:solidFill>
                  <a:srgbClr val="0F4C5C"/>
                </a:solidFill>
                <a:latin typeface="Cambria Math"/>
              </a:rPr>
              <a:t> + Σ β</a:t>
            </a:r>
            <a:r>
              <a:rPr sz="2400" b="0" baseline="-25000">
                <a:solidFill>
                  <a:srgbClr val="0F4C5C"/>
                </a:solidFill>
                <a:latin typeface="Cambria Math"/>
              </a:rPr>
              <a:t>j</a:t>
            </a:r>
            <a:r>
              <a:rPr sz="2400" b="0">
                <a:solidFill>
                  <a:srgbClr val="0F4C5C"/>
                </a:solidFill>
                <a:latin typeface="Cambria Math"/>
              </a:rPr>
              <a:t> x</a:t>
            </a:r>
            <a:r>
              <a:rPr sz="2400" b="0" baseline="-25000">
                <a:solidFill>
                  <a:srgbClr val="0F4C5C"/>
                </a:solidFill>
                <a:latin typeface="Cambria Math"/>
              </a:rPr>
              <a:t>j</a:t>
            </a:r>
            <a:r>
              <a:rPr sz="2400" b="0">
                <a:solidFill>
                  <a:srgbClr val="0F4C5C"/>
                </a:solidFill>
                <a:latin typeface="Cambria Math"/>
              </a:rPr>
              <a:t> + ΣΣ β</a:t>
            </a:r>
            <a:r>
              <a:rPr sz="2400" b="0" baseline="-25000">
                <a:solidFill>
                  <a:srgbClr val="0F4C5C"/>
                </a:solidFill>
                <a:latin typeface="Cambria Math"/>
              </a:rPr>
              <a:t>ij</a:t>
            </a:r>
            <a:r>
              <a:rPr sz="2400" b="0">
                <a:solidFill>
                  <a:srgbClr val="0F4C5C"/>
                </a:solidFill>
                <a:latin typeface="Cambria Math"/>
              </a:rPr>
              <a:t> x</a:t>
            </a:r>
            <a:r>
              <a:rPr sz="2400" b="0" baseline="-25000">
                <a:solidFill>
                  <a:srgbClr val="0F4C5C"/>
                </a:solidFill>
                <a:latin typeface="Cambria Math"/>
              </a:rPr>
              <a:t>i</a:t>
            </a:r>
            <a:r>
              <a:rPr sz="2400" b="0">
                <a:solidFill>
                  <a:srgbClr val="0F4C5C"/>
                </a:solidFill>
                <a:latin typeface="Cambria Math"/>
              </a:rPr>
              <a:t> x</a:t>
            </a:r>
            <a:r>
              <a:rPr sz="2400" b="0" baseline="-25000">
                <a:solidFill>
                  <a:srgbClr val="0F4C5C"/>
                </a:solidFill>
                <a:latin typeface="Cambria Math"/>
              </a:rPr>
              <a:t>j</a:t>
            </a:r>
            <a:r>
              <a:rPr sz="2400" b="0">
                <a:solidFill>
                  <a:srgbClr val="0F4C5C"/>
                </a:solidFill>
                <a:latin typeface="Cambria Math"/>
              </a:rPr>
              <a:t> + ε</a:t>
            </a:r>
          </a:p>
          <a:p>
            <a:pPr algn="ctr"/>
            <a:r>
              <a:rPr sz="2400" b="0">
                <a:solidFill>
                  <a:srgbClr val="0F4C5C"/>
                </a:solidFill>
                <a:latin typeface="Cambria Math"/>
              </a:rPr>
              <a:t>ε ~ NID(0, σ</a:t>
            </a:r>
            <a:r>
              <a:rPr sz="2400" b="0" baseline="30000">
                <a:solidFill>
                  <a:srgbClr val="0F4C5C"/>
                </a:solidFill>
                <a:latin typeface="Cambria Math"/>
              </a:rPr>
              <a:t>2</a:t>
            </a:r>
            <a:r>
              <a:rPr sz="2400" b="0">
                <a:solidFill>
                  <a:srgbClr val="0F4C5C"/>
                </a:solidFill>
                <a:latin typeface="Cambria Math"/>
              </a:rPr>
              <a:t>)</a:t>
            </a:r>
          </a:p>
        </p:txBody>
      </p:sp>
      <p:sp>
        <p:nvSpPr>
          <p:cNvPr id="4" name="TextBox 3"/>
          <p:cNvSpPr txBox="1"/>
          <p:nvPr/>
        </p:nvSpPr>
        <p:spPr>
          <a:xfrm>
            <a:off x="548640" y="2725765"/>
            <a:ext cx="11094415" cy="1444752"/>
          </a:xfrm>
          <a:prstGeom prst="rect">
            <a:avLst/>
          </a:prstGeom>
          <a:noFill/>
        </p:spPr>
        <p:txBody>
          <a:bodyPr wrap="square" anchor="t" lIns="0" rIns="0" tIns="0" bIns="0">
            <a:spAutoFit/>
          </a:bodyPr>
          <a:lstStyle/>
          <a:p>
            <a:pPr marL="320040" indent="-320040">
              <a:spcAft>
                <a:spcPts val="600"/>
              </a:spcAft>
              <a:buClr>
                <a:srgbClr val="E36414"/>
              </a:buClr>
              <a:buFont typeface="Arial"/>
              <a:buChar char="•"/>
            </a:pPr>
            <a:r>
              <a:rPr sz="1800" b="1">
                <a:solidFill>
                  <a:srgbClr val="142B33"/>
                </a:solidFill>
                <a:latin typeface="Calibri"/>
              </a:rPr>
              <a:t>x</a:t>
            </a:r>
            <a:r>
              <a:rPr sz="1800" b="1" baseline="-25000">
                <a:solidFill>
                  <a:srgbClr val="142B33"/>
                </a:solidFill>
                <a:latin typeface="Calibri"/>
              </a:rPr>
              <a:t>j</a:t>
            </a:r>
            <a:r>
              <a:rPr sz="1800" b="0">
                <a:solidFill>
                  <a:srgbClr val="142B33"/>
                </a:solidFill>
                <a:latin typeface="Calibri"/>
              </a:rPr>
              <a:t> = −1 (nivel bajo) o +1 (nivel alto) del factor j</a:t>
            </a:r>
          </a:p>
          <a:p>
            <a:pPr marL="320040" indent="-320040">
              <a:spcAft>
                <a:spcPts val="600"/>
              </a:spcAft>
              <a:buClr>
                <a:srgbClr val="E36414"/>
              </a:buClr>
              <a:buFont typeface="Arial"/>
              <a:buChar char="•"/>
            </a:pPr>
            <a:r>
              <a:rPr sz="1800" b="0">
                <a:solidFill>
                  <a:srgbClr val="142B33"/>
                </a:solidFill>
                <a:latin typeface="Calibri"/>
              </a:rPr>
              <a:t>Se estiman así:  </a:t>
            </a:r>
            <a:r>
              <a:rPr sz="1800" b="1">
                <a:solidFill>
                  <a:srgbClr val="142B33"/>
                </a:solidFill>
                <a:latin typeface="Calibri"/>
              </a:rPr>
              <a:t>β</a:t>
            </a:r>
            <a:r>
              <a:rPr sz="1800" b="1" baseline="-25000">
                <a:solidFill>
                  <a:srgbClr val="142B33"/>
                </a:solidFill>
                <a:latin typeface="Calibri"/>
              </a:rPr>
              <a:t>0</a:t>
            </a:r>
            <a:r>
              <a:rPr sz="1800" b="0">
                <a:solidFill>
                  <a:srgbClr val="142B33"/>
                </a:solidFill>
                <a:latin typeface="Calibri"/>
              </a:rPr>
              <a:t> con el promedio general;  </a:t>
            </a:r>
            <a:r>
              <a:rPr sz="1800" b="1">
                <a:solidFill>
                  <a:srgbClr val="142B33"/>
                </a:solidFill>
                <a:latin typeface="Calibri"/>
              </a:rPr>
              <a:t>β</a:t>
            </a:r>
            <a:r>
              <a:rPr sz="1800" b="1" baseline="-25000">
                <a:solidFill>
                  <a:srgbClr val="142B33"/>
                </a:solidFill>
                <a:latin typeface="Calibri"/>
              </a:rPr>
              <a:t>j</a:t>
            </a:r>
            <a:r>
              <a:rPr sz="1800" b="0">
                <a:solidFill>
                  <a:srgbClr val="142B33"/>
                </a:solidFill>
                <a:latin typeface="Calibri"/>
              </a:rPr>
              <a:t> con efecto / 2;  </a:t>
            </a:r>
            <a:r>
              <a:rPr sz="1800" b="1">
                <a:solidFill>
                  <a:srgbClr val="142B33"/>
                </a:solidFill>
                <a:latin typeface="Calibri"/>
              </a:rPr>
              <a:t>β</a:t>
            </a:r>
            <a:r>
              <a:rPr sz="1800" b="1" baseline="-25000">
                <a:solidFill>
                  <a:srgbClr val="142B33"/>
                </a:solidFill>
                <a:latin typeface="Calibri"/>
              </a:rPr>
              <a:t>ij</a:t>
            </a:r>
            <a:r>
              <a:rPr sz="1800" b="0">
                <a:solidFill>
                  <a:srgbClr val="142B33"/>
                </a:solidFill>
                <a:latin typeface="Calibri"/>
              </a:rPr>
              <a:t> con efecto de interacción / 2</a:t>
            </a:r>
          </a:p>
          <a:p>
            <a:pPr marL="320040" indent="-320040">
              <a:spcAft>
                <a:spcPts val="600"/>
              </a:spcAft>
              <a:buClr>
                <a:srgbClr val="E36414"/>
              </a:buClr>
              <a:buFont typeface="Arial"/>
              <a:buChar char="•"/>
            </a:pPr>
            <a:r>
              <a:rPr sz="1800" b="0">
                <a:solidFill>
                  <a:srgbClr val="142B33"/>
                </a:solidFill>
                <a:latin typeface="Calibri"/>
              </a:rPr>
              <a:t>En la fracción cada columna estima una </a:t>
            </a:r>
            <a:r>
              <a:rPr sz="1800" b="1">
                <a:solidFill>
                  <a:srgbClr val="142B33"/>
                </a:solidFill>
                <a:latin typeface="Calibri"/>
              </a:rPr>
              <a:t>cadena de alias</a:t>
            </a:r>
            <a:r>
              <a:rPr sz="1800" b="0">
                <a:solidFill>
                  <a:srgbClr val="142B33"/>
                </a:solidFill>
                <a:latin typeface="Calibri"/>
              </a:rPr>
              <a:t>:  ℓ</a:t>
            </a:r>
            <a:r>
              <a:rPr sz="1800" b="0" baseline="-25000">
                <a:solidFill>
                  <a:srgbClr val="142B33"/>
                </a:solidFill>
                <a:latin typeface="Calibri"/>
              </a:rPr>
              <a:t>A</a:t>
            </a:r>
            <a:r>
              <a:rPr sz="1800" b="0">
                <a:solidFill>
                  <a:srgbClr val="142B33"/>
                </a:solidFill>
                <a:latin typeface="Calibri"/>
              </a:rPr>
              <a:t> → A + BCD</a:t>
            </a:r>
          </a:p>
          <a:p>
            <a:pPr marL="320040" indent="-320040">
              <a:spcAft>
                <a:spcPts val="600"/>
              </a:spcAft>
              <a:buClr>
                <a:srgbClr val="E36414"/>
              </a:buClr>
              <a:buFont typeface="Arial"/>
              <a:buChar char="•"/>
            </a:pPr>
            <a:r>
              <a:rPr sz="1800" b="0">
                <a:solidFill>
                  <a:srgbClr val="142B33"/>
                </a:solidFill>
                <a:latin typeface="Calibri"/>
              </a:rPr>
              <a:t>El modelo final lleva </a:t>
            </a:r>
            <a:r>
              <a:rPr sz="1800" b="1">
                <a:solidFill>
                  <a:srgbClr val="142B33"/>
                </a:solidFill>
                <a:latin typeface="Calibri"/>
              </a:rPr>
              <a:t>un término por cada cadena activa</a:t>
            </a:r>
            <a:r>
              <a:rPr sz="1800" b="0">
                <a:solidFill>
                  <a:srgbClr val="142B33"/>
                </a:solidFill>
                <a:latin typeface="Calibri"/>
              </a:rPr>
              <a:t>: el más razonable</a:t>
            </a:r>
          </a:p>
        </p:txBody>
      </p:sp>
      <p:sp>
        <p:nvSpPr>
          <p:cNvPr id="5" name="Rounded Rectangle 4"/>
          <p:cNvSpPr/>
          <p:nvPr/>
        </p:nvSpPr>
        <p:spPr>
          <a:xfrm>
            <a:off x="548640" y="4371685"/>
            <a:ext cx="11094415" cy="522224"/>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600" b="0">
                <a:solidFill>
                  <a:srgbClr val="142B33"/>
                </a:solidFill>
                <a:latin typeface="Calibri"/>
              </a:rPr>
              <a:t>Se supone que las interacciones de orden alto de cada cadena son despreciables</a:t>
            </a:r>
          </a:p>
        </p:txBody>
      </p:sp>
      <p:sp>
        <p:nvSpPr>
          <p:cNvPr id="6" name="TextBox 5"/>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El diseño 2</a:t>
            </a:r>
            <a:r>
              <a:rPr sz="1000" b="0" baseline="30000">
                <a:solidFill>
                  <a:srgbClr val="5B6B73"/>
                </a:solidFill>
                <a:latin typeface="Calibri"/>
              </a:rPr>
              <a:t>k−p</a:t>
            </a:r>
            <a:r>
              <a:rPr sz="1000" b="0">
                <a:solidFill>
                  <a:srgbClr val="5B6B73"/>
                </a:solidFill>
                <a:latin typeface="Calibri"/>
              </a:rPr>
              <a:t> general</a:t>
            </a:r>
          </a:p>
        </p:txBody>
      </p:sp>
      <p:sp>
        <p:nvSpPr>
          <p:cNvPr id="7" name="TextBox 6"/>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65</a:t>
            </a:r>
          </a:p>
        </p:txBody>
      </p:sp>
      <p:sp>
        <p:nvSpPr>
          <p:cNvPr id="8" name="Rounded Rectangle 7"/>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7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¿Cuál es la hipótesis del diseño?</a:t>
            </a:r>
          </a:p>
        </p:txBody>
      </p:sp>
      <p:sp>
        <p:nvSpPr>
          <p:cNvPr id="3" name="Rounded Rectangle 2"/>
          <p:cNvSpPr/>
          <p:nvPr/>
        </p:nvSpPr>
        <p:spPr>
          <a:xfrm>
            <a:off x="548640" y="1417320"/>
            <a:ext cx="5341467" cy="1107277"/>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2400" b="0">
                <a:solidFill>
                  <a:srgbClr val="0F4C5C"/>
                </a:solidFill>
                <a:latin typeface="Cambria Math"/>
              </a:rPr>
              <a:t>H</a:t>
            </a:r>
            <a:r>
              <a:rPr sz="2400" b="0" baseline="-25000">
                <a:solidFill>
                  <a:srgbClr val="0F4C5C"/>
                </a:solidFill>
                <a:latin typeface="Cambria Math"/>
              </a:rPr>
              <a:t>0</a:t>
            </a:r>
            <a:r>
              <a:rPr sz="2400" b="0">
                <a:solidFill>
                  <a:srgbClr val="0F4C5C"/>
                </a:solidFill>
                <a:latin typeface="Cambria Math"/>
              </a:rPr>
              <a:t>: efecto de la cadena = 0</a:t>
            </a:r>
          </a:p>
          <a:p>
            <a:pPr algn="ctr"/>
            <a:r>
              <a:rPr sz="2400" b="0">
                <a:solidFill>
                  <a:srgbClr val="0F4C5C"/>
                </a:solidFill>
                <a:latin typeface="Cambria Math"/>
              </a:rPr>
              <a:t>H</a:t>
            </a:r>
            <a:r>
              <a:rPr sz="2400" b="0" baseline="-25000">
                <a:solidFill>
                  <a:srgbClr val="0F4C5C"/>
                </a:solidFill>
                <a:latin typeface="Cambria Math"/>
              </a:rPr>
              <a:t>A</a:t>
            </a:r>
            <a:r>
              <a:rPr sz="2400" b="0">
                <a:solidFill>
                  <a:srgbClr val="0F4C5C"/>
                </a:solidFill>
                <a:latin typeface="Cambria Math"/>
              </a:rPr>
              <a:t>: efecto de la cadena ≠ 0</a:t>
            </a:r>
          </a:p>
        </p:txBody>
      </p:sp>
      <p:sp>
        <p:nvSpPr>
          <p:cNvPr id="4" name="TextBox 3"/>
          <p:cNvSpPr txBox="1"/>
          <p:nvPr/>
        </p:nvSpPr>
        <p:spPr>
          <a:xfrm>
            <a:off x="548640" y="2725765"/>
            <a:ext cx="5341467" cy="284479"/>
          </a:xfrm>
          <a:prstGeom prst="rect">
            <a:avLst/>
          </a:prstGeom>
          <a:noFill/>
        </p:spPr>
        <p:txBody>
          <a:bodyPr wrap="square" anchor="t" lIns="0" rIns="0" tIns="0" bIns="0">
            <a:spAutoFit/>
          </a:bodyPr>
          <a:lstStyle/>
          <a:p>
            <a:r>
              <a:rPr sz="1600" b="0">
                <a:solidFill>
                  <a:srgbClr val="142B33"/>
                </a:solidFill>
                <a:latin typeface="Calibri"/>
              </a:rPr>
              <a:t>Ejemplo, columna A del 2</a:t>
            </a:r>
            <a:r>
              <a:rPr sz="1600" b="0" baseline="30000">
                <a:solidFill>
                  <a:srgbClr val="142B33"/>
                </a:solidFill>
                <a:latin typeface="Calibri"/>
              </a:rPr>
              <a:t>4−1</a:t>
            </a:r>
            <a:r>
              <a:rPr sz="1600" b="0">
                <a:solidFill>
                  <a:srgbClr val="142B33"/>
                </a:solidFill>
                <a:latin typeface="Calibri"/>
              </a:rPr>
              <a:t>:   H</a:t>
            </a:r>
            <a:r>
              <a:rPr sz="1600" b="0" baseline="-25000">
                <a:solidFill>
                  <a:srgbClr val="142B33"/>
                </a:solidFill>
                <a:latin typeface="Calibri"/>
              </a:rPr>
              <a:t>0</a:t>
            </a:r>
            <a:r>
              <a:rPr sz="1600" b="0">
                <a:solidFill>
                  <a:srgbClr val="142B33"/>
                </a:solidFill>
                <a:latin typeface="Calibri"/>
              </a:rPr>
              <a:t>: β</a:t>
            </a:r>
            <a:r>
              <a:rPr sz="1600" b="0" baseline="-25000">
                <a:solidFill>
                  <a:srgbClr val="142B33"/>
                </a:solidFill>
                <a:latin typeface="Calibri"/>
              </a:rPr>
              <a:t>A</a:t>
            </a:r>
            <a:r>
              <a:rPr sz="1600" b="0">
                <a:solidFill>
                  <a:srgbClr val="142B33"/>
                </a:solidFill>
                <a:latin typeface="Calibri"/>
              </a:rPr>
              <a:t> + β</a:t>
            </a:r>
            <a:r>
              <a:rPr sz="1600" b="0" baseline="-25000">
                <a:solidFill>
                  <a:srgbClr val="142B33"/>
                </a:solidFill>
                <a:latin typeface="Calibri"/>
              </a:rPr>
              <a:t>BCD</a:t>
            </a:r>
            <a:r>
              <a:rPr sz="1600" b="0">
                <a:solidFill>
                  <a:srgbClr val="142B33"/>
                </a:solidFill>
                <a:latin typeface="Calibri"/>
              </a:rPr>
              <a:t> = 0</a:t>
            </a:r>
          </a:p>
        </p:txBody>
      </p:sp>
      <p:sp>
        <p:nvSpPr>
          <p:cNvPr id="5" name="Rounded Rectangle 4"/>
          <p:cNvSpPr/>
          <p:nvPr/>
        </p:nvSpPr>
        <p:spPr>
          <a:xfrm>
            <a:off x="548640" y="3211413"/>
            <a:ext cx="5341467" cy="968451"/>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2000" b="0">
                <a:solidFill>
                  <a:srgbClr val="0F4C5C"/>
                </a:solidFill>
                <a:latin typeface="Cambria Math"/>
              </a:rPr>
              <a:t>Se rechaza H</a:t>
            </a:r>
            <a:r>
              <a:rPr sz="2000" b="0" baseline="-25000">
                <a:solidFill>
                  <a:srgbClr val="0F4C5C"/>
                </a:solidFill>
                <a:latin typeface="Cambria Math"/>
              </a:rPr>
              <a:t>0</a:t>
            </a:r>
            <a:r>
              <a:rPr sz="2000" b="0">
                <a:solidFill>
                  <a:srgbClr val="0F4C5C"/>
                </a:solidFill>
                <a:latin typeface="Cambria Math"/>
              </a:rPr>
              <a:t> si  F</a:t>
            </a:r>
            <a:r>
              <a:rPr sz="2000" b="0" baseline="-25000">
                <a:solidFill>
                  <a:srgbClr val="0F4C5C"/>
                </a:solidFill>
                <a:latin typeface="Cambria Math"/>
              </a:rPr>
              <a:t>0</a:t>
            </a:r>
            <a:r>
              <a:rPr sz="2000" b="0">
                <a:solidFill>
                  <a:srgbClr val="0F4C5C"/>
                </a:solidFill>
                <a:latin typeface="Cambria Math"/>
              </a:rPr>
              <a:t> &gt; F</a:t>
            </a:r>
            <a:r>
              <a:rPr sz="2000" b="0" baseline="-25000">
                <a:solidFill>
                  <a:srgbClr val="0F4C5C"/>
                </a:solidFill>
                <a:latin typeface="Cambria Math"/>
              </a:rPr>
              <a:t>α, 1, gl del error</a:t>
            </a:r>
          </a:p>
          <a:p>
            <a:pPr algn="ctr"/>
            <a:r>
              <a:rPr sz="2000" b="0">
                <a:solidFill>
                  <a:srgbClr val="0F4C5C"/>
                </a:solidFill>
                <a:latin typeface="Cambria Math"/>
              </a:rPr>
              <a:t>o si  valor p &lt; α</a:t>
            </a:r>
          </a:p>
        </p:txBody>
      </p:sp>
      <p:sp>
        <p:nvSpPr>
          <p:cNvPr id="6" name="TextBox 5"/>
          <p:cNvSpPr txBox="1"/>
          <p:nvPr/>
        </p:nvSpPr>
        <p:spPr>
          <a:xfrm>
            <a:off x="6301587" y="1417320"/>
            <a:ext cx="5341467" cy="2002536"/>
          </a:xfrm>
          <a:prstGeom prst="rect">
            <a:avLst/>
          </a:prstGeom>
          <a:noFill/>
        </p:spPr>
        <p:txBody>
          <a:bodyPr wrap="square" anchor="t" lIns="0" rIns="0" tIns="0" bIns="0">
            <a:spAutoFit/>
          </a:bodyPr>
          <a:lstStyle/>
          <a:p>
            <a:pPr marL="320040" indent="-320040">
              <a:spcAft>
                <a:spcPts val="600"/>
              </a:spcAft>
              <a:buClr>
                <a:srgbClr val="E36414"/>
              </a:buClr>
              <a:buFont typeface="Arial"/>
              <a:buChar char="•"/>
            </a:pPr>
            <a:r>
              <a:rPr sz="1800" b="0">
                <a:solidFill>
                  <a:srgbClr val="142B33"/>
                </a:solidFill>
                <a:latin typeface="Calibri"/>
              </a:rPr>
              <a:t>Una hipótesis por cada </a:t>
            </a:r>
            <a:r>
              <a:rPr sz="1800" b="1">
                <a:solidFill>
                  <a:srgbClr val="142B33"/>
                </a:solidFill>
                <a:latin typeface="Calibri"/>
              </a:rPr>
              <a:t>cadena de alias</a:t>
            </a:r>
            <a:r>
              <a:rPr sz="1800" b="0">
                <a:solidFill>
                  <a:srgbClr val="142B33"/>
                </a:solidFill>
                <a:latin typeface="Calibri"/>
              </a:rPr>
              <a:t> que entra al modelo</a:t>
            </a:r>
          </a:p>
          <a:p>
            <a:pPr marL="320040" indent="-320040">
              <a:spcAft>
                <a:spcPts val="600"/>
              </a:spcAft>
              <a:buClr>
                <a:srgbClr val="E36414"/>
              </a:buClr>
              <a:buFont typeface="Arial"/>
              <a:buChar char="•"/>
            </a:pPr>
            <a:r>
              <a:rPr sz="1800" b="0">
                <a:solidFill>
                  <a:srgbClr val="142B33"/>
                </a:solidFill>
                <a:latin typeface="Calibri"/>
              </a:rPr>
              <a:t>Se prueba la </a:t>
            </a:r>
            <a:r>
              <a:rPr sz="1800" b="1">
                <a:solidFill>
                  <a:srgbClr val="142B33"/>
                </a:solidFill>
                <a:latin typeface="Calibri"/>
              </a:rPr>
              <a:t>cadena completa</a:t>
            </a:r>
            <a:r>
              <a:rPr sz="1800" b="0">
                <a:solidFill>
                  <a:srgbClr val="142B33"/>
                </a:solidFill>
                <a:latin typeface="Calibri"/>
              </a:rPr>
              <a:t>: A + BCD, no A sola (siguientes diapositivas)</a:t>
            </a:r>
          </a:p>
          <a:p>
            <a:pPr marL="320040" indent="-320040">
              <a:spcAft>
                <a:spcPts val="600"/>
              </a:spcAft>
              <a:buClr>
                <a:srgbClr val="E36414"/>
              </a:buClr>
              <a:buFont typeface="Arial"/>
              <a:buChar char="•"/>
            </a:pPr>
            <a:r>
              <a:rPr sz="1800" b="0">
                <a:solidFill>
                  <a:srgbClr val="142B33"/>
                </a:solidFill>
                <a:latin typeface="Calibri"/>
              </a:rPr>
              <a:t>Si BCD es </a:t>
            </a:r>
            <a:r>
              <a:rPr sz="1800" b="1">
                <a:solidFill>
                  <a:srgbClr val="142B33"/>
                </a:solidFill>
                <a:latin typeface="Calibri"/>
              </a:rPr>
              <a:t>despreciable</a:t>
            </a:r>
            <a:r>
              <a:rPr sz="1800" b="0">
                <a:solidFill>
                  <a:srgbClr val="142B33"/>
                </a:solidFill>
                <a:latin typeface="Calibri"/>
              </a:rPr>
              <a:t>, equivale a  H</a:t>
            </a:r>
            <a:r>
              <a:rPr sz="1800" b="0" baseline="-25000">
                <a:solidFill>
                  <a:srgbClr val="142B33"/>
                </a:solidFill>
                <a:latin typeface="Calibri"/>
              </a:rPr>
              <a:t>0</a:t>
            </a:r>
            <a:r>
              <a:rPr sz="1800" b="0">
                <a:solidFill>
                  <a:srgbClr val="142B33"/>
                </a:solidFill>
                <a:latin typeface="Calibri"/>
              </a:rPr>
              <a:t>: β</a:t>
            </a:r>
            <a:r>
              <a:rPr sz="1800" b="0" baseline="-25000">
                <a:solidFill>
                  <a:srgbClr val="142B33"/>
                </a:solidFill>
                <a:latin typeface="Calibri"/>
              </a:rPr>
              <a:t>A</a:t>
            </a:r>
            <a:r>
              <a:rPr sz="1800" b="0">
                <a:solidFill>
                  <a:srgbClr val="142B33"/>
                </a:solidFill>
                <a:latin typeface="Calibri"/>
              </a:rPr>
              <a:t> = 0</a:t>
            </a:r>
          </a:p>
          <a:p>
            <a:pPr marL="320040" indent="-320040">
              <a:spcAft>
                <a:spcPts val="600"/>
              </a:spcAft>
              <a:buClr>
                <a:srgbClr val="E36414"/>
              </a:buClr>
              <a:buFont typeface="Arial"/>
              <a:buChar char="•"/>
            </a:pPr>
            <a:r>
              <a:rPr sz="1800" b="0">
                <a:solidFill>
                  <a:srgbClr val="142B33"/>
                </a:solidFill>
                <a:latin typeface="Calibri"/>
              </a:rPr>
              <a:t>Nivel de significancia habitual: </a:t>
            </a:r>
            <a:r>
              <a:rPr sz="1800" b="1">
                <a:solidFill>
                  <a:srgbClr val="142B33"/>
                </a:solidFill>
                <a:latin typeface="Calibri"/>
              </a:rPr>
              <a:t>α = 0.05</a:t>
            </a:r>
          </a:p>
        </p:txBody>
      </p:sp>
      <p:sp>
        <p:nvSpPr>
          <p:cNvPr id="7" name="Rounded Rectangle 6"/>
          <p:cNvSpPr/>
          <p:nvPr/>
        </p:nvSpPr>
        <p:spPr>
          <a:xfrm>
            <a:off x="6301587" y="3621024"/>
            <a:ext cx="5341467" cy="770128"/>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600" b="0">
                <a:solidFill>
                  <a:srgbClr val="142B33"/>
                </a:solidFill>
                <a:latin typeface="Calibri"/>
              </a:rPr>
              <a:t>H</a:t>
            </a:r>
            <a:r>
              <a:rPr sz="1600" b="0" baseline="-25000">
                <a:solidFill>
                  <a:srgbClr val="142B33"/>
                </a:solidFill>
                <a:latin typeface="Calibri"/>
              </a:rPr>
              <a:t>0</a:t>
            </a:r>
            <a:r>
              <a:rPr sz="1600" b="0">
                <a:solidFill>
                  <a:srgbClr val="142B33"/>
                </a:solidFill>
                <a:latin typeface="Calibri"/>
              </a:rPr>
              <a:t>: el factor no afecta la respuesta.  H</a:t>
            </a:r>
            <a:r>
              <a:rPr sz="1600" b="0" baseline="-25000">
                <a:solidFill>
                  <a:srgbClr val="142B33"/>
                </a:solidFill>
                <a:latin typeface="Calibri"/>
              </a:rPr>
              <a:t>A</a:t>
            </a:r>
            <a:r>
              <a:rPr sz="1600" b="0">
                <a:solidFill>
                  <a:srgbClr val="142B33"/>
                </a:solidFill>
                <a:latin typeface="Calibri"/>
              </a:rPr>
              <a:t>: el factor sí la afecta.</a:t>
            </a:r>
          </a:p>
        </p:txBody>
      </p:sp>
      <p:sp>
        <p:nvSpPr>
          <p:cNvPr id="8" name="TextBox 7"/>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El diseño 2</a:t>
            </a:r>
            <a:r>
              <a:rPr sz="1000" b="0" baseline="30000">
                <a:solidFill>
                  <a:srgbClr val="5B6B73"/>
                </a:solidFill>
                <a:latin typeface="Calibri"/>
              </a:rPr>
              <a:t>k−p</a:t>
            </a:r>
            <a:r>
              <a:rPr sz="1000" b="0">
                <a:solidFill>
                  <a:srgbClr val="5B6B73"/>
                </a:solidFill>
                <a:latin typeface="Calibri"/>
              </a:rPr>
              <a:t> general</a:t>
            </a:r>
          </a:p>
        </p:txBody>
      </p:sp>
      <p:sp>
        <p:nvSpPr>
          <p:cNvPr id="9" name="TextBox 8"/>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66</a:t>
            </a:r>
          </a:p>
        </p:txBody>
      </p:sp>
      <p:sp>
        <p:nvSpPr>
          <p:cNvPr id="10" name="Rounded Rectangle 9"/>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7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¿Por qué se prueba la cadena completa?</a:t>
            </a:r>
          </a:p>
        </p:txBody>
      </p:sp>
      <p:graphicFrame>
        <p:nvGraphicFramePr>
          <p:cNvPr id="3" name="Table 2"/>
          <p:cNvGraphicFramePr>
            <a:graphicFrameLocks noGrp="1"/>
          </p:cNvGraphicFramePr>
          <p:nvPr/>
        </p:nvGraphicFramePr>
        <p:xfrm>
          <a:off x="548640" y="1417320"/>
          <a:ext cx="4486830" cy="2528307"/>
        </p:xfrm>
        <a:graphic>
          <a:graphicData uri="http://schemas.openxmlformats.org/drawingml/2006/table">
            <a:tbl>
              <a:tblPr firstRow="0" bandRow="0">
                <a:tableStyleId>{5C22544A-7EE6-4342-B048-85BDC9FD1C3A}</a:tableStyleId>
              </a:tblPr>
              <a:tblGrid>
                <a:gridCol w="1380563"/>
                <a:gridCol w="452253"/>
                <a:gridCol w="1999437"/>
                <a:gridCol w="654577"/>
              </a:tblGrid>
              <a:tr h="280923">
                <a:tc>
                  <a:txBody>
                    <a:bodyPr/>
                    <a:lstStyle/>
                    <a:p>
                      <a:pPr algn="ctr"/>
                      <a:r>
                        <a:rPr sz="1400" b="1">
                          <a:solidFill>
                            <a:srgbClr val="FFFFFF"/>
                          </a:solidFill>
                          <a:latin typeface="Calibri"/>
                        </a:rPr>
                        <a:t>Corrida</a:t>
                      </a:r>
                    </a:p>
                  </a:txBody>
                  <a:tcPr marL="73152" marR="73152" marT="27432" marB="27432" anchor="ctr">
                    <a:solidFill>
                      <a:srgbClr val="0F4C5C"/>
                    </a:solidFill>
                  </a:tcPr>
                </a:tc>
                <a:tc>
                  <a:txBody>
                    <a:bodyPr/>
                    <a:lstStyle/>
                    <a:p>
                      <a:pPr algn="ctr"/>
                      <a:r>
                        <a:rPr sz="1400" b="1">
                          <a:solidFill>
                            <a:srgbClr val="FFFFFF"/>
                          </a:solidFill>
                          <a:latin typeface="Calibri"/>
                        </a:rPr>
                        <a:t>A</a:t>
                      </a:r>
                    </a:p>
                  </a:txBody>
                  <a:tcPr marL="73152" marR="73152" marT="27432" marB="27432" anchor="ctr">
                    <a:solidFill>
                      <a:srgbClr val="0F4C5C"/>
                    </a:solidFill>
                  </a:tcPr>
                </a:tc>
                <a:tc>
                  <a:txBody>
                    <a:bodyPr/>
                    <a:lstStyle/>
                    <a:p>
                      <a:pPr algn="ctr"/>
                      <a:r>
                        <a:rPr sz="1400" b="1">
                          <a:solidFill>
                            <a:srgbClr val="FFFFFF"/>
                          </a:solidFill>
                          <a:latin typeface="Calibri"/>
                        </a:rPr>
                        <a:t>BCD = B·C·D</a:t>
                      </a:r>
                    </a:p>
                  </a:txBody>
                  <a:tcPr marL="73152" marR="73152" marT="27432" marB="27432" anchor="ctr">
                    <a:solidFill>
                      <a:srgbClr val="0F4C5C"/>
                    </a:solidFill>
                  </a:tcPr>
                </a:tc>
                <a:tc>
                  <a:txBody>
                    <a:bodyPr/>
                    <a:lstStyle/>
                    <a:p>
                      <a:pPr algn="ctr"/>
                      <a:r>
                        <a:rPr sz="1400" b="1">
                          <a:solidFill>
                            <a:srgbClr val="FFFFFF"/>
                          </a:solidFill>
                          <a:latin typeface="Calibri"/>
                        </a:rPr>
                        <a:t>y</a:t>
                      </a:r>
                    </a:p>
                  </a:txBody>
                  <a:tcPr marL="73152" marR="73152" marT="27432" marB="27432" anchor="ctr">
                    <a:solidFill>
                      <a:srgbClr val="0F4C5C"/>
                    </a:solidFill>
                  </a:tcPr>
                </a:tc>
              </a:tr>
              <a:tr h="280923">
                <a:tc>
                  <a:txBody>
                    <a:bodyPr/>
                    <a:lstStyle/>
                    <a:p>
                      <a:pPr algn="ctr"/>
                      <a:r>
                        <a:rPr sz="1400" b="0">
                          <a:solidFill>
                            <a:srgbClr val="142B33"/>
                          </a:solidFill>
                          <a:latin typeface="Calibri"/>
                        </a:rPr>
                        <a:t>(1)</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400" b="0">
                          <a:solidFill>
                            <a:srgbClr val="142B33"/>
                          </a:solidFill>
                          <a:latin typeface="Calibri"/>
                        </a:rPr>
                        <a:t>45</a:t>
                      </a:r>
                    </a:p>
                  </a:txBody>
                  <a:tcPr marL="73152" marR="73152" marT="27432" marB="27432" anchor="ctr">
                    <a:solidFill>
                      <a:srgbClr val="FFFFFF"/>
                    </a:solidFill>
                  </a:tcPr>
                </a:tc>
              </a:tr>
              <a:tr h="280923">
                <a:tc>
                  <a:txBody>
                    <a:bodyPr/>
                    <a:lstStyle/>
                    <a:p>
                      <a:pPr algn="ctr"/>
                      <a:r>
                        <a:rPr sz="1400" b="0">
                          <a:solidFill>
                            <a:srgbClr val="142B33"/>
                          </a:solidFill>
                          <a:latin typeface="Calibri"/>
                        </a:rPr>
                        <a:t>ad</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400" b="0">
                          <a:solidFill>
                            <a:srgbClr val="142B33"/>
                          </a:solidFill>
                          <a:latin typeface="Calibri"/>
                        </a:rPr>
                        <a:t>100</a:t>
                      </a:r>
                    </a:p>
                  </a:txBody>
                  <a:tcPr marL="73152" marR="73152" marT="27432" marB="27432" anchor="ctr">
                    <a:solidFill>
                      <a:srgbClr val="F4F8F9"/>
                    </a:solidFill>
                  </a:tcPr>
                </a:tc>
              </a:tr>
              <a:tr h="280923">
                <a:tc>
                  <a:txBody>
                    <a:bodyPr/>
                    <a:lstStyle/>
                    <a:p>
                      <a:pPr algn="ctr"/>
                      <a:r>
                        <a:rPr sz="1400" b="0">
                          <a:solidFill>
                            <a:srgbClr val="142B33"/>
                          </a:solidFill>
                          <a:latin typeface="Calibri"/>
                        </a:rPr>
                        <a:t>bd</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400" b="0">
                          <a:solidFill>
                            <a:srgbClr val="142B33"/>
                          </a:solidFill>
                          <a:latin typeface="Calibri"/>
                        </a:rPr>
                        <a:t>45</a:t>
                      </a:r>
                    </a:p>
                  </a:txBody>
                  <a:tcPr marL="73152" marR="73152" marT="27432" marB="27432" anchor="ctr">
                    <a:solidFill>
                      <a:srgbClr val="FFFFFF"/>
                    </a:solidFill>
                  </a:tcPr>
                </a:tc>
              </a:tr>
              <a:tr h="280923">
                <a:tc>
                  <a:txBody>
                    <a:bodyPr/>
                    <a:lstStyle/>
                    <a:p>
                      <a:pPr algn="ctr"/>
                      <a:r>
                        <a:rPr sz="1400" b="0">
                          <a:solidFill>
                            <a:srgbClr val="142B33"/>
                          </a:solidFill>
                          <a:latin typeface="Calibri"/>
                        </a:rPr>
                        <a:t>ab</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400" b="0">
                          <a:solidFill>
                            <a:srgbClr val="142B33"/>
                          </a:solidFill>
                          <a:latin typeface="Calibri"/>
                        </a:rPr>
                        <a:t>65</a:t>
                      </a:r>
                    </a:p>
                  </a:txBody>
                  <a:tcPr marL="73152" marR="73152" marT="27432" marB="27432" anchor="ctr">
                    <a:solidFill>
                      <a:srgbClr val="F4F8F9"/>
                    </a:solidFill>
                  </a:tcPr>
                </a:tc>
              </a:tr>
              <a:tr h="280923">
                <a:tc>
                  <a:txBody>
                    <a:bodyPr/>
                    <a:lstStyle/>
                    <a:p>
                      <a:pPr algn="ctr"/>
                      <a:r>
                        <a:rPr sz="1400" b="0">
                          <a:solidFill>
                            <a:srgbClr val="142B33"/>
                          </a:solidFill>
                          <a:latin typeface="Calibri"/>
                        </a:rPr>
                        <a:t>cd</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400" b="0">
                          <a:solidFill>
                            <a:srgbClr val="142B33"/>
                          </a:solidFill>
                          <a:latin typeface="Calibri"/>
                        </a:rPr>
                        <a:t>75</a:t>
                      </a:r>
                    </a:p>
                  </a:txBody>
                  <a:tcPr marL="73152" marR="73152" marT="27432" marB="27432" anchor="ctr">
                    <a:solidFill>
                      <a:srgbClr val="FFFFFF"/>
                    </a:solidFill>
                  </a:tcPr>
                </a:tc>
              </a:tr>
              <a:tr h="280923">
                <a:tc>
                  <a:txBody>
                    <a:bodyPr/>
                    <a:lstStyle/>
                    <a:p>
                      <a:pPr algn="ctr"/>
                      <a:r>
                        <a:rPr sz="1400" b="0">
                          <a:solidFill>
                            <a:srgbClr val="142B33"/>
                          </a:solidFill>
                          <a:latin typeface="Calibri"/>
                        </a:rPr>
                        <a:t>ac</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400" b="0">
                          <a:solidFill>
                            <a:srgbClr val="142B33"/>
                          </a:solidFill>
                          <a:latin typeface="Calibri"/>
                        </a:rPr>
                        <a:t>60</a:t>
                      </a:r>
                    </a:p>
                  </a:txBody>
                  <a:tcPr marL="73152" marR="73152" marT="27432" marB="27432" anchor="ctr">
                    <a:solidFill>
                      <a:srgbClr val="F4F8F9"/>
                    </a:solidFill>
                  </a:tcPr>
                </a:tc>
              </a:tr>
              <a:tr h="280923">
                <a:tc>
                  <a:txBody>
                    <a:bodyPr/>
                    <a:lstStyle/>
                    <a:p>
                      <a:pPr algn="ctr"/>
                      <a:r>
                        <a:rPr sz="1400" b="0">
                          <a:solidFill>
                            <a:srgbClr val="142B33"/>
                          </a:solidFill>
                          <a:latin typeface="Calibri"/>
                        </a:rPr>
                        <a:t>bc</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400" b="0">
                          <a:solidFill>
                            <a:srgbClr val="142B33"/>
                          </a:solidFill>
                          <a:latin typeface="Calibri"/>
                        </a:rPr>
                        <a:t>80</a:t>
                      </a:r>
                    </a:p>
                  </a:txBody>
                  <a:tcPr marL="73152" marR="73152" marT="27432" marB="27432" anchor="ctr">
                    <a:solidFill>
                      <a:srgbClr val="FFFFFF"/>
                    </a:solidFill>
                  </a:tcPr>
                </a:tc>
              </a:tr>
              <a:tr h="280923">
                <a:tc>
                  <a:txBody>
                    <a:bodyPr/>
                    <a:lstStyle/>
                    <a:p>
                      <a:pPr algn="ctr"/>
                      <a:r>
                        <a:rPr sz="1400" b="0">
                          <a:solidFill>
                            <a:srgbClr val="142B33"/>
                          </a:solidFill>
                          <a:latin typeface="Calibri"/>
                        </a:rPr>
                        <a:t>abcd</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400" b="0">
                          <a:solidFill>
                            <a:srgbClr val="142B33"/>
                          </a:solidFill>
                          <a:latin typeface="Calibri"/>
                        </a:rPr>
                        <a:t>96</a:t>
                      </a:r>
                    </a:p>
                  </a:txBody>
                  <a:tcPr marL="73152" marR="73152" marT="27432" marB="27432" anchor="ctr">
                    <a:solidFill>
                      <a:srgbClr val="F4F8F9"/>
                    </a:solidFill>
                  </a:tcPr>
                </a:tc>
              </a:tr>
            </a:tbl>
          </a:graphicData>
        </a:graphic>
      </p:graphicFrame>
      <p:sp>
        <p:nvSpPr>
          <p:cNvPr id="4" name="Rounded Rectangle 3"/>
          <p:cNvSpPr/>
          <p:nvPr/>
        </p:nvSpPr>
        <p:spPr>
          <a:xfrm>
            <a:off x="548640" y="4146804"/>
            <a:ext cx="4486832" cy="708151"/>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400" b="0">
                <a:solidFill>
                  <a:srgbClr val="142B33"/>
                </a:solidFill>
                <a:latin typeface="Calibri"/>
              </a:rPr>
              <a:t>Columnas </a:t>
            </a:r>
            <a:r>
              <a:rPr sz="1400" b="1">
                <a:solidFill>
                  <a:srgbClr val="142B33"/>
                </a:solidFill>
                <a:latin typeface="Calibri"/>
              </a:rPr>
              <a:t>idénticas</a:t>
            </a:r>
            <a:r>
              <a:rPr sz="1400" b="0">
                <a:solidFill>
                  <a:srgbClr val="142B33"/>
                </a:solidFill>
                <a:latin typeface="Calibri"/>
              </a:rPr>
              <a:t>: el contraste de A es también el de BCD</a:t>
            </a:r>
          </a:p>
        </p:txBody>
      </p:sp>
      <p:sp>
        <p:nvSpPr>
          <p:cNvPr id="5" name="Rounded Rectangle 4"/>
          <p:cNvSpPr/>
          <p:nvPr/>
        </p:nvSpPr>
        <p:spPr>
          <a:xfrm>
            <a:off x="5446952" y="1417320"/>
            <a:ext cx="6196102" cy="569325"/>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700" b="0">
                <a:solidFill>
                  <a:srgbClr val="0F4C5C"/>
                </a:solidFill>
                <a:latin typeface="Cambria Math"/>
              </a:rPr>
              <a:t>ℓ</a:t>
            </a:r>
            <a:r>
              <a:rPr sz="1700" b="0" baseline="-25000">
                <a:solidFill>
                  <a:srgbClr val="0F4C5C"/>
                </a:solidFill>
                <a:latin typeface="Cambria Math"/>
              </a:rPr>
              <a:t>A</a:t>
            </a:r>
            <a:r>
              <a:rPr sz="1700" b="0">
                <a:solidFill>
                  <a:srgbClr val="0F4C5C"/>
                </a:solidFill>
                <a:latin typeface="Cambria Math"/>
              </a:rPr>
              <a:t> = (321 − 245) / 4 = 19.00  →  estima A + BCD</a:t>
            </a:r>
          </a:p>
        </p:txBody>
      </p:sp>
      <p:graphicFrame>
        <p:nvGraphicFramePr>
          <p:cNvPr id="6" name="Table 5"/>
          <p:cNvGraphicFramePr>
            <a:graphicFrameLocks noGrp="1"/>
          </p:cNvGraphicFramePr>
          <p:nvPr/>
        </p:nvGraphicFramePr>
        <p:xfrm>
          <a:off x="5446952" y="2187813"/>
          <a:ext cx="6196100" cy="1678940"/>
        </p:xfrm>
        <a:graphic>
          <a:graphicData uri="http://schemas.openxmlformats.org/drawingml/2006/table">
            <a:tbl>
              <a:tblPr firstRow="0" bandRow="0">
                <a:tableStyleId>{5C22544A-7EE6-4342-B048-85BDC9FD1C3A}</a:tableStyleId>
              </a:tblPr>
              <a:tblGrid>
                <a:gridCol w="2106674"/>
                <a:gridCol w="1115298"/>
                <a:gridCol w="1115298"/>
                <a:gridCol w="1858830"/>
              </a:tblGrid>
              <a:tr h="335788">
                <a:tc>
                  <a:txBody>
                    <a:bodyPr/>
                    <a:lstStyle/>
                    <a:p>
                      <a:pPr algn="l"/>
                      <a:r>
                        <a:rPr sz="1400" b="1">
                          <a:solidFill>
                            <a:srgbClr val="FFFFFF"/>
                          </a:solidFill>
                          <a:latin typeface="Calibri"/>
                        </a:rPr>
                        <a:t>Mundo posible</a:t>
                      </a:r>
                    </a:p>
                  </a:txBody>
                  <a:tcPr marL="73152" marR="73152" marT="27432" marB="27432" anchor="ctr">
                    <a:solidFill>
                      <a:srgbClr val="0F4C5C"/>
                    </a:solidFill>
                  </a:tcPr>
                </a:tc>
                <a:tc>
                  <a:txBody>
                    <a:bodyPr/>
                    <a:lstStyle/>
                    <a:p>
                      <a:pPr algn="ctr"/>
                      <a:r>
                        <a:rPr sz="1400" b="1">
                          <a:solidFill>
                            <a:srgbClr val="FFFFFF"/>
                          </a:solidFill>
                          <a:latin typeface="Calibri"/>
                        </a:rPr>
                        <a:t>A</a:t>
                      </a:r>
                    </a:p>
                  </a:txBody>
                  <a:tcPr marL="73152" marR="73152" marT="27432" marB="27432" anchor="ctr">
                    <a:solidFill>
                      <a:srgbClr val="0F4C5C"/>
                    </a:solidFill>
                  </a:tcPr>
                </a:tc>
                <a:tc>
                  <a:txBody>
                    <a:bodyPr/>
                    <a:lstStyle/>
                    <a:p>
                      <a:pPr algn="ctr"/>
                      <a:r>
                        <a:rPr sz="1400" b="1">
                          <a:solidFill>
                            <a:srgbClr val="FFFFFF"/>
                          </a:solidFill>
                          <a:latin typeface="Calibri"/>
                        </a:rPr>
                        <a:t>BCD</a:t>
                      </a:r>
                    </a:p>
                  </a:txBody>
                  <a:tcPr marL="73152" marR="73152" marT="27432" marB="27432" anchor="ctr">
                    <a:solidFill>
                      <a:srgbClr val="0F4C5C"/>
                    </a:solidFill>
                  </a:tcPr>
                </a:tc>
                <a:tc>
                  <a:txBody>
                    <a:bodyPr/>
                    <a:lstStyle/>
                    <a:p>
                      <a:pPr algn="ctr"/>
                      <a:r>
                        <a:rPr sz="1400" b="1">
                          <a:solidFill>
                            <a:srgbClr val="FFFFFF"/>
                          </a:solidFill>
                          <a:latin typeface="Calibri"/>
                        </a:rPr>
                        <a:t>ℓ</a:t>
                      </a:r>
                      <a:r>
                        <a:rPr sz="1400" b="1" baseline="-25000">
                          <a:solidFill>
                            <a:srgbClr val="FFFFFF"/>
                          </a:solidFill>
                          <a:latin typeface="Calibri"/>
                        </a:rPr>
                        <a:t>A</a:t>
                      </a:r>
                      <a:r>
                        <a:rPr sz="1400" b="1">
                          <a:solidFill>
                            <a:srgbClr val="FFFFFF"/>
                          </a:solidFill>
                          <a:latin typeface="Calibri"/>
                        </a:rPr>
                        <a:t> observado</a:t>
                      </a:r>
                    </a:p>
                  </a:txBody>
                  <a:tcPr marL="73152" marR="73152" marT="27432" marB="27432" anchor="ctr">
                    <a:solidFill>
                      <a:srgbClr val="0F4C5C"/>
                    </a:solidFill>
                  </a:tcPr>
                </a:tc>
              </a:tr>
              <a:tr h="335788">
                <a:tc>
                  <a:txBody>
                    <a:bodyPr/>
                    <a:lstStyle/>
                    <a:p>
                      <a:pPr algn="l"/>
                      <a:r>
                        <a:rPr sz="1400" b="0">
                          <a:solidFill>
                            <a:srgbClr val="142B33"/>
                          </a:solidFill>
                          <a:latin typeface="Calibri"/>
                        </a:rPr>
                        <a:t>Solo A</a:t>
                      </a:r>
                    </a:p>
                  </a:txBody>
                  <a:tcPr marL="73152" marR="73152" marT="27432" marB="27432" anchor="ctr">
                    <a:solidFill>
                      <a:srgbClr val="FFFFFF"/>
                    </a:solidFill>
                  </a:tcPr>
                </a:tc>
                <a:tc>
                  <a:txBody>
                    <a:bodyPr/>
                    <a:lstStyle/>
                    <a:p>
                      <a:pPr algn="ctr"/>
                      <a:r>
                        <a:rPr sz="1400" b="0">
                          <a:solidFill>
                            <a:srgbClr val="142B33"/>
                          </a:solidFill>
                          <a:latin typeface="Calibri"/>
                        </a:rPr>
                        <a:t>19.00</a:t>
                      </a:r>
                    </a:p>
                  </a:txBody>
                  <a:tcPr marL="73152" marR="73152" marT="27432" marB="27432" anchor="ctr">
                    <a:solidFill>
                      <a:srgbClr val="FFFFFF"/>
                    </a:solidFill>
                  </a:tcPr>
                </a:tc>
                <a:tc>
                  <a:txBody>
                    <a:bodyPr/>
                    <a:lstStyle/>
                    <a:p>
                      <a:pPr algn="ctr"/>
                      <a:r>
                        <a:rPr sz="1400" b="0">
                          <a:solidFill>
                            <a:srgbClr val="142B33"/>
                          </a:solidFill>
                          <a:latin typeface="Calibri"/>
                        </a:rPr>
                        <a:t>0</a:t>
                      </a:r>
                    </a:p>
                  </a:txBody>
                  <a:tcPr marL="73152" marR="73152" marT="27432" marB="27432" anchor="ctr">
                    <a:solidFill>
                      <a:srgbClr val="FFFFFF"/>
                    </a:solidFill>
                  </a:tcPr>
                </a:tc>
                <a:tc>
                  <a:txBody>
                    <a:bodyPr/>
                    <a:lstStyle/>
                    <a:p>
                      <a:pPr algn="ctr"/>
                      <a:r>
                        <a:rPr sz="1400" b="0">
                          <a:solidFill>
                            <a:srgbClr val="142B33"/>
                          </a:solidFill>
                          <a:latin typeface="Calibri"/>
                        </a:rPr>
                        <a:t>19.00</a:t>
                      </a:r>
                    </a:p>
                  </a:txBody>
                  <a:tcPr marL="73152" marR="73152" marT="27432" marB="27432" anchor="ctr">
                    <a:solidFill>
                      <a:srgbClr val="FFFFFF"/>
                    </a:solidFill>
                  </a:tcPr>
                </a:tc>
              </a:tr>
              <a:tr h="335788">
                <a:tc>
                  <a:txBody>
                    <a:bodyPr/>
                    <a:lstStyle/>
                    <a:p>
                      <a:pPr algn="l"/>
                      <a:r>
                        <a:rPr sz="1400" b="0">
                          <a:solidFill>
                            <a:srgbClr val="142B33"/>
                          </a:solidFill>
                          <a:latin typeface="Calibri"/>
                        </a:rPr>
                        <a:t>Solo BCD</a:t>
                      </a:r>
                    </a:p>
                  </a:txBody>
                  <a:tcPr marL="73152" marR="73152" marT="27432" marB="27432" anchor="ctr">
                    <a:solidFill>
                      <a:srgbClr val="F4F8F9"/>
                    </a:solidFill>
                  </a:tcPr>
                </a:tc>
                <a:tc>
                  <a:txBody>
                    <a:bodyPr/>
                    <a:lstStyle/>
                    <a:p>
                      <a:pPr algn="ctr"/>
                      <a:r>
                        <a:rPr sz="1400" b="0">
                          <a:solidFill>
                            <a:srgbClr val="142B33"/>
                          </a:solidFill>
                          <a:latin typeface="Calibri"/>
                        </a:rPr>
                        <a:t>0</a:t>
                      </a:r>
                    </a:p>
                  </a:txBody>
                  <a:tcPr marL="73152" marR="73152" marT="27432" marB="27432" anchor="ctr">
                    <a:solidFill>
                      <a:srgbClr val="F4F8F9"/>
                    </a:solidFill>
                  </a:tcPr>
                </a:tc>
                <a:tc>
                  <a:txBody>
                    <a:bodyPr/>
                    <a:lstStyle/>
                    <a:p>
                      <a:pPr algn="ctr"/>
                      <a:r>
                        <a:rPr sz="1400" b="0">
                          <a:solidFill>
                            <a:srgbClr val="142B33"/>
                          </a:solidFill>
                          <a:latin typeface="Calibri"/>
                        </a:rPr>
                        <a:t>19.00</a:t>
                      </a:r>
                    </a:p>
                  </a:txBody>
                  <a:tcPr marL="73152" marR="73152" marT="27432" marB="27432" anchor="ctr">
                    <a:solidFill>
                      <a:srgbClr val="F4F8F9"/>
                    </a:solidFill>
                  </a:tcPr>
                </a:tc>
                <a:tc>
                  <a:txBody>
                    <a:bodyPr/>
                    <a:lstStyle/>
                    <a:p>
                      <a:pPr algn="ctr"/>
                      <a:r>
                        <a:rPr sz="1400" b="0">
                          <a:solidFill>
                            <a:srgbClr val="142B33"/>
                          </a:solidFill>
                          <a:latin typeface="Calibri"/>
                        </a:rPr>
                        <a:t>19.00</a:t>
                      </a:r>
                    </a:p>
                  </a:txBody>
                  <a:tcPr marL="73152" marR="73152" marT="27432" marB="27432" anchor="ctr">
                    <a:solidFill>
                      <a:srgbClr val="F4F8F9"/>
                    </a:solidFill>
                  </a:tcPr>
                </a:tc>
              </a:tr>
              <a:tr h="335788">
                <a:tc>
                  <a:txBody>
                    <a:bodyPr/>
                    <a:lstStyle/>
                    <a:p>
                      <a:pPr algn="l"/>
                      <a:r>
                        <a:rPr sz="1400" b="0">
                          <a:solidFill>
                            <a:srgbClr val="142B33"/>
                          </a:solidFill>
                          <a:latin typeface="Calibri"/>
                        </a:rPr>
                        <a:t>Se reparten</a:t>
                      </a:r>
                    </a:p>
                  </a:txBody>
                  <a:tcPr marL="73152" marR="73152" marT="27432" marB="27432" anchor="ctr">
                    <a:solidFill>
                      <a:srgbClr val="FFFFFF"/>
                    </a:solidFill>
                  </a:tcPr>
                </a:tc>
                <a:tc>
                  <a:txBody>
                    <a:bodyPr/>
                    <a:lstStyle/>
                    <a:p>
                      <a:pPr algn="ctr"/>
                      <a:r>
                        <a:rPr sz="1400" b="0">
                          <a:solidFill>
                            <a:srgbClr val="142B33"/>
                          </a:solidFill>
                          <a:latin typeface="Calibri"/>
                        </a:rPr>
                        <a:t>10.00</a:t>
                      </a:r>
                    </a:p>
                  </a:txBody>
                  <a:tcPr marL="73152" marR="73152" marT="27432" marB="27432" anchor="ctr">
                    <a:solidFill>
                      <a:srgbClr val="FFFFFF"/>
                    </a:solidFill>
                  </a:tcPr>
                </a:tc>
                <a:tc>
                  <a:txBody>
                    <a:bodyPr/>
                    <a:lstStyle/>
                    <a:p>
                      <a:pPr algn="ctr"/>
                      <a:r>
                        <a:rPr sz="1400" b="0">
                          <a:solidFill>
                            <a:srgbClr val="142B33"/>
                          </a:solidFill>
                          <a:latin typeface="Calibri"/>
                        </a:rPr>
                        <a:t>9.00</a:t>
                      </a:r>
                    </a:p>
                  </a:txBody>
                  <a:tcPr marL="73152" marR="73152" marT="27432" marB="27432" anchor="ctr">
                    <a:solidFill>
                      <a:srgbClr val="FFFFFF"/>
                    </a:solidFill>
                  </a:tcPr>
                </a:tc>
                <a:tc>
                  <a:txBody>
                    <a:bodyPr/>
                    <a:lstStyle/>
                    <a:p>
                      <a:pPr algn="ctr"/>
                      <a:r>
                        <a:rPr sz="1400" b="0">
                          <a:solidFill>
                            <a:srgbClr val="142B33"/>
                          </a:solidFill>
                          <a:latin typeface="Calibri"/>
                        </a:rPr>
                        <a:t>19.00</a:t>
                      </a:r>
                    </a:p>
                  </a:txBody>
                  <a:tcPr marL="73152" marR="73152" marT="27432" marB="27432" anchor="ctr">
                    <a:solidFill>
                      <a:srgbClr val="FFFFFF"/>
                    </a:solidFill>
                  </a:tcPr>
                </a:tc>
              </a:tr>
              <a:tr h="335788">
                <a:tc>
                  <a:txBody>
                    <a:bodyPr/>
                    <a:lstStyle/>
                    <a:p>
                      <a:pPr algn="l"/>
                      <a:r>
                        <a:rPr sz="1400" b="0">
                          <a:solidFill>
                            <a:srgbClr val="142B33"/>
                          </a:solidFill>
                          <a:latin typeface="Calibri"/>
                        </a:rPr>
                        <a:t>Se cancelan</a:t>
                      </a:r>
                    </a:p>
                  </a:txBody>
                  <a:tcPr marL="73152" marR="73152" marT="27432" marB="27432" anchor="ctr">
                    <a:solidFill>
                      <a:srgbClr val="FDE8D7"/>
                    </a:solidFill>
                  </a:tcPr>
                </a:tc>
                <a:tc>
                  <a:txBody>
                    <a:bodyPr/>
                    <a:lstStyle/>
                    <a:p>
                      <a:pPr algn="ctr"/>
                      <a:r>
                        <a:rPr sz="1400" b="0">
                          <a:solidFill>
                            <a:srgbClr val="142B33"/>
                          </a:solidFill>
                          <a:latin typeface="Calibri"/>
                        </a:rPr>
                        <a:t>19.00</a:t>
                      </a:r>
                    </a:p>
                  </a:txBody>
                  <a:tcPr marL="73152" marR="73152" marT="27432" marB="27432" anchor="ctr">
                    <a:solidFill>
                      <a:srgbClr val="FDE8D7"/>
                    </a:solidFill>
                  </a:tcPr>
                </a:tc>
                <a:tc>
                  <a:txBody>
                    <a:bodyPr/>
                    <a:lstStyle/>
                    <a:p>
                      <a:pPr algn="ctr"/>
                      <a:r>
                        <a:rPr sz="1400" b="0">
                          <a:solidFill>
                            <a:srgbClr val="142B33"/>
                          </a:solidFill>
                          <a:latin typeface="Calibri"/>
                        </a:rPr>
                        <a:t>−19.00</a:t>
                      </a:r>
                    </a:p>
                  </a:txBody>
                  <a:tcPr marL="73152" marR="73152" marT="27432" marB="27432" anchor="ctr">
                    <a:solidFill>
                      <a:srgbClr val="FDE8D7"/>
                    </a:solidFill>
                  </a:tcPr>
                </a:tc>
                <a:tc>
                  <a:txBody>
                    <a:bodyPr/>
                    <a:lstStyle/>
                    <a:p>
                      <a:pPr algn="ctr"/>
                      <a:r>
                        <a:rPr sz="1400" b="1">
                          <a:solidFill>
                            <a:srgbClr val="142B33"/>
                          </a:solidFill>
                          <a:latin typeface="Calibri"/>
                        </a:rPr>
                        <a:t>0.00</a:t>
                      </a:r>
                    </a:p>
                  </a:txBody>
                  <a:tcPr marL="73152" marR="73152" marT="27432" marB="27432" anchor="ctr">
                    <a:solidFill>
                      <a:srgbClr val="FDE8D7"/>
                    </a:solidFill>
                  </a:tcPr>
                </a:tc>
              </a:tr>
            </a:tbl>
          </a:graphicData>
        </a:graphic>
      </p:graphicFrame>
      <p:sp>
        <p:nvSpPr>
          <p:cNvPr id="7" name="TextBox 6"/>
          <p:cNvSpPr txBox="1"/>
          <p:nvPr/>
        </p:nvSpPr>
        <p:spPr>
          <a:xfrm>
            <a:off x="5446952" y="4067921"/>
            <a:ext cx="6196102" cy="1043685"/>
          </a:xfrm>
          <a:prstGeom prst="rect">
            <a:avLst/>
          </a:prstGeom>
          <a:noFill/>
        </p:spPr>
        <p:txBody>
          <a:bodyPr wrap="square" anchor="t" lIns="0" rIns="0" tIns="0" bIns="0">
            <a:spAutoFit/>
          </a:bodyPr>
          <a:lstStyle/>
          <a:p>
            <a:r>
              <a:rPr sz="1300" b="0">
                <a:solidFill>
                  <a:srgbClr val="5B6B73"/>
                </a:solidFill>
                <a:latin typeface="Calibri"/>
              </a:rPr>
              <a:t>Varios «mundos» distintos producen exactamente los mismos datos: que A valga 19.00 y BCD cero; que A sea cero y BCD valga 19.00; o que se repartan, por ejemplo 10 y 9. Los datos no pueden distinguirlos. Incluso puede pasar lo contrario: si A valiera 19 y BCD −19, la columna daría cero y A parecería inactivo aunque no lo es (cancelación; es rara, pero posible).</a:t>
            </a:r>
          </a:p>
        </p:txBody>
      </p:sp>
      <p:sp>
        <p:nvSpPr>
          <p:cNvPr id="8" name="Rounded Rectangle 7"/>
          <p:cNvSpPr/>
          <p:nvPr/>
        </p:nvSpPr>
        <p:spPr>
          <a:xfrm>
            <a:off x="5446952" y="5312775"/>
            <a:ext cx="6196102" cy="50673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Los datos solo ven la </a:t>
            </a:r>
            <a:r>
              <a:rPr sz="1500" b="1">
                <a:solidFill>
                  <a:srgbClr val="142B33"/>
                </a:solidFill>
                <a:latin typeface="Calibri"/>
              </a:rPr>
              <a:t>suma</a:t>
            </a:r>
            <a:r>
              <a:rPr sz="1500" b="0">
                <a:solidFill>
                  <a:srgbClr val="142B33"/>
                </a:solidFill>
                <a:latin typeface="Calibri"/>
              </a:rPr>
              <a:t>: H</a:t>
            </a:r>
            <a:r>
              <a:rPr sz="1500" b="0" baseline="-25000">
                <a:solidFill>
                  <a:srgbClr val="142B33"/>
                </a:solidFill>
                <a:latin typeface="Calibri"/>
              </a:rPr>
              <a:t>0</a:t>
            </a:r>
            <a:r>
              <a:rPr sz="1500" b="0">
                <a:solidFill>
                  <a:srgbClr val="142B33"/>
                </a:solidFill>
                <a:latin typeface="Calibri"/>
              </a:rPr>
              <a:t>: β</a:t>
            </a:r>
            <a:r>
              <a:rPr sz="1500" b="0" baseline="-25000">
                <a:solidFill>
                  <a:srgbClr val="142B33"/>
                </a:solidFill>
                <a:latin typeface="Calibri"/>
              </a:rPr>
              <a:t>A</a:t>
            </a:r>
            <a:r>
              <a:rPr sz="1500" b="0">
                <a:solidFill>
                  <a:srgbClr val="142B33"/>
                </a:solidFill>
                <a:latin typeface="Calibri"/>
              </a:rPr>
              <a:t> + β</a:t>
            </a:r>
            <a:r>
              <a:rPr sz="1500" b="0" baseline="-25000">
                <a:solidFill>
                  <a:srgbClr val="142B33"/>
                </a:solidFill>
                <a:latin typeface="Calibri"/>
              </a:rPr>
              <a:t>BCD</a:t>
            </a:r>
            <a:r>
              <a:rPr sz="1500" b="0">
                <a:solidFill>
                  <a:srgbClr val="142B33"/>
                </a:solidFill>
                <a:latin typeface="Calibri"/>
              </a:rPr>
              <a:t> = 0</a:t>
            </a:r>
          </a:p>
        </p:txBody>
      </p:sp>
      <p:sp>
        <p:nvSpPr>
          <p:cNvPr id="9" name="TextBox 8"/>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El diseño 2</a:t>
            </a:r>
            <a:r>
              <a:rPr sz="1000" b="0" baseline="30000">
                <a:solidFill>
                  <a:srgbClr val="5B6B73"/>
                </a:solidFill>
                <a:latin typeface="Calibri"/>
              </a:rPr>
              <a:t>k−p</a:t>
            </a:r>
            <a:r>
              <a:rPr sz="1000" b="0">
                <a:solidFill>
                  <a:srgbClr val="5B6B73"/>
                </a:solidFill>
                <a:latin typeface="Calibri"/>
              </a:rPr>
              <a:t> general</a:t>
            </a:r>
          </a:p>
        </p:txBody>
      </p:sp>
      <p:sp>
        <p:nvSpPr>
          <p:cNvPr id="10" name="TextBox 9"/>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67</a:t>
            </a:r>
          </a:p>
        </p:txBody>
      </p:sp>
      <p:sp>
        <p:nvSpPr>
          <p:cNvPr id="11" name="Rounded Rectangle 10"/>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7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¿Cómo se lee la decisión de cada cadena y a qué término se atribuye?</a:t>
            </a:r>
          </a:p>
        </p:txBody>
      </p:sp>
      <p:sp>
        <p:nvSpPr>
          <p:cNvPr id="3" name="Rounded Rectangle 2"/>
          <p:cNvSpPr/>
          <p:nvPr/>
        </p:nvSpPr>
        <p:spPr>
          <a:xfrm>
            <a:off x="548640" y="1417320"/>
            <a:ext cx="4486832" cy="1357884"/>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500" b="1">
                <a:solidFill>
                  <a:srgbClr val="0F4C5C"/>
                </a:solidFill>
                <a:latin typeface="Cambria"/>
              </a:rPr>
              <a:t>1 · Decisión estadística</a:t>
            </a:r>
          </a:p>
          <a:p>
            <a:pPr algn="l"/>
            <a:r>
              <a:rPr sz="1300" b="0">
                <a:solidFill>
                  <a:srgbClr val="142B33"/>
                </a:solidFill>
                <a:latin typeface="Calibri"/>
              </a:rPr>
              <a:t>Sobre la </a:t>
            </a:r>
            <a:r>
              <a:rPr sz="1300" b="1">
                <a:solidFill>
                  <a:srgbClr val="142B33"/>
                </a:solidFill>
                <a:latin typeface="Calibri"/>
              </a:rPr>
              <a:t>cadena</a:t>
            </a:r>
            <a:r>
              <a:rPr sz="1300" b="0">
                <a:solidFill>
                  <a:srgbClr val="142B33"/>
                </a:solidFill>
                <a:latin typeface="Calibri"/>
              </a:rPr>
              <a:t>: se rechaza H</a:t>
            </a:r>
            <a:r>
              <a:rPr sz="1300" b="0" baseline="-25000">
                <a:solidFill>
                  <a:srgbClr val="142B33"/>
                </a:solidFill>
                <a:latin typeface="Calibri"/>
              </a:rPr>
              <a:t>0</a:t>
            </a:r>
            <a:r>
              <a:rPr sz="1300" b="0">
                <a:solidFill>
                  <a:srgbClr val="142B33"/>
                </a:solidFill>
                <a:latin typeface="Calibri"/>
              </a:rPr>
              <a:t> ⇒ </a:t>
            </a:r>
            <a:r>
              <a:rPr sz="1300" b="1">
                <a:solidFill>
                  <a:srgbClr val="142B33"/>
                </a:solidFill>
                <a:latin typeface="Calibri"/>
              </a:rPr>
              <a:t>la cadena está activa</a:t>
            </a:r>
            <a:r>
              <a:rPr sz="1300" b="0">
                <a:solidFill>
                  <a:srgbClr val="142B33"/>
                </a:solidFill>
                <a:latin typeface="Calibri"/>
              </a:rPr>
              <a:t>. Daniel, Pareto y ANOVA ven </a:t>
            </a:r>
            <a:r>
              <a:rPr sz="1300" b="1">
                <a:solidFill>
                  <a:srgbClr val="142B33"/>
                </a:solidFill>
                <a:latin typeface="Calibri"/>
              </a:rPr>
              <a:t>cadenas</a:t>
            </a:r>
            <a:r>
              <a:rPr sz="1300" b="0">
                <a:solidFill>
                  <a:srgbClr val="142B33"/>
                </a:solidFill>
                <a:latin typeface="Calibri"/>
              </a:rPr>
              <a:t>, no factores</a:t>
            </a:r>
          </a:p>
        </p:txBody>
      </p:sp>
      <p:sp>
        <p:nvSpPr>
          <p:cNvPr id="4" name="Rounded Rectangle 3"/>
          <p:cNvSpPr/>
          <p:nvPr/>
        </p:nvSpPr>
        <p:spPr>
          <a:xfrm>
            <a:off x="548640" y="3003804"/>
            <a:ext cx="4486832" cy="1357884"/>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500" b="1">
                <a:solidFill>
                  <a:srgbClr val="0F4C5C"/>
                </a:solidFill>
                <a:latin typeface="Cambria"/>
              </a:rPr>
              <a:t>2 · Atribución razonada</a:t>
            </a:r>
          </a:p>
          <a:p>
            <a:pPr algn="l"/>
            <a:r>
              <a:rPr sz="1300" b="0">
                <a:solidFill>
                  <a:srgbClr val="142B33"/>
                </a:solidFill>
                <a:latin typeface="Calibri"/>
              </a:rPr>
              <a:t>Sobre el </a:t>
            </a:r>
            <a:r>
              <a:rPr sz="1300" b="1">
                <a:solidFill>
                  <a:srgbClr val="142B33"/>
                </a:solidFill>
                <a:latin typeface="Calibri"/>
              </a:rPr>
              <a:t>término</a:t>
            </a:r>
            <a:r>
              <a:rPr sz="1300" b="0">
                <a:solidFill>
                  <a:srgbClr val="142B33"/>
                </a:solidFill>
                <a:latin typeface="Calibri"/>
              </a:rPr>
              <a:t>: </a:t>
            </a:r>
            <a:r>
              <a:rPr sz="1300" b="1">
                <a:solidFill>
                  <a:srgbClr val="142B33"/>
                </a:solidFill>
                <a:latin typeface="Calibri"/>
              </a:rPr>
              <a:t>jerarquía</a:t>
            </a:r>
            <a:r>
              <a:rPr sz="1300" b="0">
                <a:solidFill>
                  <a:srgbClr val="142B33"/>
                </a:solidFill>
                <a:latin typeface="Calibri"/>
              </a:rPr>
              <a:t> (A + BCD → A), </a:t>
            </a:r>
            <a:r>
              <a:rPr sz="1300" b="1">
                <a:solidFill>
                  <a:srgbClr val="142B33"/>
                </a:solidFill>
                <a:latin typeface="Calibri"/>
              </a:rPr>
              <a:t>herencia</a:t>
            </a:r>
            <a:r>
              <a:rPr sz="1300" b="0">
                <a:solidFill>
                  <a:srgbClr val="142B33"/>
                </a:solidFill>
                <a:latin typeface="Calibri"/>
              </a:rPr>
              <a:t> (AC + BD → AC: A y C activos, B no), conocimiento del proceso. No es estadística; se declara</a:t>
            </a:r>
          </a:p>
        </p:txBody>
      </p:sp>
      <p:sp>
        <p:nvSpPr>
          <p:cNvPr id="5" name="Rounded Rectangle 4"/>
          <p:cNvSpPr/>
          <p:nvPr/>
        </p:nvSpPr>
        <p:spPr>
          <a:xfrm>
            <a:off x="548640" y="4590288"/>
            <a:ext cx="4486832" cy="1357884"/>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500" b="1">
                <a:solidFill>
                  <a:srgbClr val="0F4C5C"/>
                </a:solidFill>
                <a:latin typeface="Cambria"/>
              </a:rPr>
              <a:t>3 · Para saberlo: más corridas</a:t>
            </a:r>
          </a:p>
          <a:p>
            <a:pPr algn="l"/>
            <a:r>
              <a:rPr sz="1300" b="0">
                <a:solidFill>
                  <a:srgbClr val="142B33"/>
                </a:solidFill>
                <a:latin typeface="Calibri"/>
              </a:rPr>
              <a:t>La </a:t>
            </a:r>
            <a:r>
              <a:rPr sz="1300" b="1">
                <a:solidFill>
                  <a:srgbClr val="142B33"/>
                </a:solidFill>
                <a:latin typeface="Calibri"/>
              </a:rPr>
              <a:t>fracción alterna</a:t>
            </a:r>
            <a:r>
              <a:rPr sz="1300" b="0">
                <a:solidFill>
                  <a:srgbClr val="142B33"/>
                </a:solidFill>
                <a:latin typeface="Calibri"/>
              </a:rPr>
              <a:t> o el </a:t>
            </a:r>
            <a:r>
              <a:rPr sz="1300" b="1">
                <a:solidFill>
                  <a:srgbClr val="142B33"/>
                </a:solidFill>
                <a:latin typeface="Calibri"/>
              </a:rPr>
              <a:t>doblez</a:t>
            </a:r>
            <a:r>
              <a:rPr sz="1300" b="0">
                <a:solidFill>
                  <a:srgbClr val="142B33"/>
                </a:solidFill>
                <a:latin typeface="Calibri"/>
              </a:rPr>
              <a:t> separan la cadena. Ejemplo 1: A = 21.63 y BCD = −2.63; AC = −18.13 y BD = −0.38</a:t>
            </a:r>
          </a:p>
        </p:txBody>
      </p:sp>
      <p:graphicFrame>
        <p:nvGraphicFramePr>
          <p:cNvPr id="6" name="Table 5"/>
          <p:cNvGraphicFramePr>
            <a:graphicFrameLocks noGrp="1"/>
          </p:cNvGraphicFramePr>
          <p:nvPr/>
        </p:nvGraphicFramePr>
        <p:xfrm>
          <a:off x="5446952" y="1417320"/>
          <a:ext cx="6196100" cy="2572508"/>
        </p:xfrm>
        <a:graphic>
          <a:graphicData uri="http://schemas.openxmlformats.org/drawingml/2006/table">
            <a:tbl>
              <a:tblPr firstRow="0" bandRow="0">
                <a:tableStyleId>{5C22544A-7EE6-4342-B048-85BDC9FD1C3A}</a:tableStyleId>
              </a:tblPr>
              <a:tblGrid>
                <a:gridCol w="929415"/>
                <a:gridCol w="743532"/>
                <a:gridCol w="743532"/>
                <a:gridCol w="805493"/>
                <a:gridCol w="805493"/>
                <a:gridCol w="2168635"/>
              </a:tblGrid>
              <a:tr h="490727">
                <a:tc>
                  <a:txBody>
                    <a:bodyPr/>
                    <a:lstStyle/>
                    <a:p>
                      <a:pPr algn="l"/>
                      <a:r>
                        <a:rPr sz="1200" b="1">
                          <a:solidFill>
                            <a:srgbClr val="FFFFFF"/>
                          </a:solidFill>
                          <a:latin typeface="Calibri"/>
                        </a:rPr>
                        <a:t>Cadena</a:t>
                      </a:r>
                    </a:p>
                  </a:txBody>
                  <a:tcPr marL="73152" marR="73152" marT="27432" marB="27432" anchor="ctr">
                    <a:solidFill>
                      <a:srgbClr val="0F4C5C"/>
                    </a:solidFill>
                  </a:tcPr>
                </a:tc>
                <a:tc>
                  <a:txBody>
                    <a:bodyPr/>
                    <a:lstStyle/>
                    <a:p>
                      <a:pPr algn="ctr"/>
                      <a:r>
                        <a:rPr sz="1200" b="1">
                          <a:solidFill>
                            <a:srgbClr val="FFFFFF"/>
                          </a:solidFill>
                          <a:latin typeface="Calibri"/>
                        </a:rPr>
                        <a:t>F</a:t>
                      </a:r>
                      <a:r>
                        <a:rPr sz="1200" b="1" baseline="-25000">
                          <a:solidFill>
                            <a:srgbClr val="FFFFFF"/>
                          </a:solidFill>
                          <a:latin typeface="Calibri"/>
                        </a:rPr>
                        <a:t>0</a:t>
                      </a:r>
                    </a:p>
                  </a:txBody>
                  <a:tcPr marL="73152" marR="73152" marT="27432" marB="27432" anchor="ctr">
                    <a:solidFill>
                      <a:srgbClr val="0F4C5C"/>
                    </a:solidFill>
                  </a:tcPr>
                </a:tc>
                <a:tc>
                  <a:txBody>
                    <a:bodyPr/>
                    <a:lstStyle/>
                    <a:p>
                      <a:pPr algn="ctr"/>
                      <a:r>
                        <a:rPr sz="1200" b="1">
                          <a:solidFill>
                            <a:srgbClr val="FFFFFF"/>
                          </a:solidFill>
                          <a:latin typeface="Calibri"/>
                        </a:rPr>
                        <a:t>Valor p</a:t>
                      </a:r>
                    </a:p>
                  </a:txBody>
                  <a:tcPr marL="73152" marR="73152" marT="27432" marB="27432" anchor="ctr">
                    <a:solidFill>
                      <a:srgbClr val="0F4C5C"/>
                    </a:solidFill>
                  </a:tcPr>
                </a:tc>
                <a:tc>
                  <a:txBody>
                    <a:bodyPr/>
                    <a:lstStyle/>
                    <a:p>
                      <a:pPr algn="ctr"/>
                      <a:r>
                        <a:rPr sz="1200" b="1">
                          <a:solidFill>
                            <a:srgbClr val="FFFFFF"/>
                          </a:solidFill>
                          <a:latin typeface="Calibri"/>
                        </a:rPr>
                        <a:t>¿Rechaza H</a:t>
                      </a:r>
                      <a:r>
                        <a:rPr sz="1200" b="1" baseline="-25000">
                          <a:solidFill>
                            <a:srgbClr val="FFFFFF"/>
                          </a:solidFill>
                          <a:latin typeface="Calibri"/>
                        </a:rPr>
                        <a:t>0</a:t>
                      </a:r>
                      <a:r>
                        <a:rPr sz="1200" b="1">
                          <a:solidFill>
                            <a:srgbClr val="FFFFFF"/>
                          </a:solidFill>
                          <a:latin typeface="Calibri"/>
                        </a:rPr>
                        <a:t>?</a:t>
                      </a:r>
                    </a:p>
                  </a:txBody>
                  <a:tcPr marL="73152" marR="73152" marT="27432" marB="27432" anchor="ctr">
                    <a:solidFill>
                      <a:srgbClr val="0F4C5C"/>
                    </a:solidFill>
                  </a:tcPr>
                </a:tc>
                <a:tc>
                  <a:txBody>
                    <a:bodyPr/>
                    <a:lstStyle/>
                    <a:p>
                      <a:pPr algn="ctr"/>
                      <a:r>
                        <a:rPr sz="1200" b="1">
                          <a:solidFill>
                            <a:srgbClr val="FFFFFF"/>
                          </a:solidFill>
                          <a:latin typeface="Calibri"/>
                        </a:rPr>
                        <a:t>Se atribuye a</a:t>
                      </a:r>
                    </a:p>
                  </a:txBody>
                  <a:tcPr marL="73152" marR="73152" marT="27432" marB="27432" anchor="ctr">
                    <a:solidFill>
                      <a:srgbClr val="0F4C5C"/>
                    </a:solidFill>
                  </a:tcPr>
                </a:tc>
                <a:tc>
                  <a:txBody>
                    <a:bodyPr/>
                    <a:lstStyle/>
                    <a:p>
                      <a:pPr algn="l"/>
                      <a:r>
                        <a:rPr sz="1200" b="1">
                          <a:solidFill>
                            <a:srgbClr val="FFFFFF"/>
                          </a:solidFill>
                          <a:latin typeface="Calibri"/>
                        </a:rPr>
                        <a:t>Por qué</a:t>
                      </a:r>
                    </a:p>
                  </a:txBody>
                  <a:tcPr marL="73152" marR="73152" marT="27432" marB="27432" anchor="ctr">
                    <a:solidFill>
                      <a:srgbClr val="0F4C5C"/>
                    </a:solidFill>
                  </a:tcPr>
                </a:tc>
              </a:tr>
              <a:tr h="490727">
                <a:tc>
                  <a:txBody>
                    <a:bodyPr/>
                    <a:lstStyle/>
                    <a:p>
                      <a:pPr algn="l"/>
                      <a:r>
                        <a:rPr sz="1200" b="0">
                          <a:solidFill>
                            <a:srgbClr val="142B33"/>
                          </a:solidFill>
                          <a:latin typeface="Calibri"/>
                        </a:rPr>
                        <a:t>A + BCD</a:t>
                      </a:r>
                    </a:p>
                  </a:txBody>
                  <a:tcPr marL="73152" marR="73152" marT="27432" marB="27432" anchor="ctr">
                    <a:solidFill>
                      <a:srgbClr val="FFFFFF"/>
                    </a:solidFill>
                  </a:tcPr>
                </a:tc>
                <a:tc>
                  <a:txBody>
                    <a:bodyPr/>
                    <a:lstStyle/>
                    <a:p>
                      <a:pPr algn="ctr"/>
                      <a:r>
                        <a:rPr sz="1200" b="0">
                          <a:solidFill>
                            <a:srgbClr val="142B33"/>
                          </a:solidFill>
                          <a:latin typeface="Calibri"/>
                        </a:rPr>
                        <a:t>222.15</a:t>
                      </a:r>
                    </a:p>
                  </a:txBody>
                  <a:tcPr marL="73152" marR="73152" marT="27432" marB="27432" anchor="ctr">
                    <a:solidFill>
                      <a:srgbClr val="FFFFFF"/>
                    </a:solidFill>
                  </a:tcPr>
                </a:tc>
                <a:tc>
                  <a:txBody>
                    <a:bodyPr/>
                    <a:lstStyle/>
                    <a:p>
                      <a:pPr algn="ctr"/>
                      <a:r>
                        <a:rPr sz="1200" b="0">
                          <a:solidFill>
                            <a:srgbClr val="142B33"/>
                          </a:solidFill>
                          <a:latin typeface="Calibri"/>
                        </a:rPr>
                        <a:t>0.0045</a:t>
                      </a:r>
                    </a:p>
                  </a:txBody>
                  <a:tcPr marL="73152" marR="73152" marT="27432" marB="27432" anchor="ctr">
                    <a:solidFill>
                      <a:srgbClr val="FFFFFF"/>
                    </a:solidFill>
                  </a:tcPr>
                </a:tc>
                <a:tc>
                  <a:txBody>
                    <a:bodyPr/>
                    <a:lstStyle/>
                    <a:p>
                      <a:pPr algn="ctr"/>
                      <a:r>
                        <a:rPr sz="1200" b="0">
                          <a:solidFill>
                            <a:srgbClr val="142B33"/>
                          </a:solidFill>
                          <a:latin typeface="Calibri"/>
                        </a:rPr>
                        <a:t>Sí</a:t>
                      </a:r>
                    </a:p>
                  </a:txBody>
                  <a:tcPr marL="73152" marR="73152" marT="27432" marB="27432" anchor="ctr">
                    <a:solidFill>
                      <a:srgbClr val="FFFFFF"/>
                    </a:solidFill>
                  </a:tcPr>
                </a:tc>
                <a:tc>
                  <a:txBody>
                    <a:bodyPr/>
                    <a:lstStyle/>
                    <a:p>
                      <a:pPr algn="ctr"/>
                      <a:r>
                        <a:rPr sz="1200" b="0">
                          <a:solidFill>
                            <a:srgbClr val="142B33"/>
                          </a:solidFill>
                          <a:latin typeface="Calibri"/>
                        </a:rPr>
                        <a:t>A</a:t>
                      </a:r>
                    </a:p>
                  </a:txBody>
                  <a:tcPr marL="73152" marR="73152" marT="27432" marB="27432" anchor="ctr">
                    <a:solidFill>
                      <a:srgbClr val="FFFFFF"/>
                    </a:solidFill>
                  </a:tcPr>
                </a:tc>
                <a:tc>
                  <a:txBody>
                    <a:bodyPr/>
                    <a:lstStyle/>
                    <a:p>
                      <a:pPr algn="l"/>
                      <a:r>
                        <a:rPr sz="1200" b="0">
                          <a:solidFill>
                            <a:srgbClr val="142B33"/>
                          </a:solidFill>
                          <a:latin typeface="Calibri"/>
                        </a:rPr>
                        <a:t>Jerarquía: la triple BCD se supone despreciable</a:t>
                      </a:r>
                    </a:p>
                  </a:txBody>
                  <a:tcPr marL="73152" marR="73152" marT="27432" marB="27432" anchor="ctr">
                    <a:solidFill>
                      <a:srgbClr val="FFFFFF"/>
                    </a:solidFill>
                  </a:tcPr>
                </a:tc>
              </a:tr>
              <a:tr h="304800">
                <a:tc>
                  <a:txBody>
                    <a:bodyPr/>
                    <a:lstStyle/>
                    <a:p>
                      <a:pPr algn="l"/>
                      <a:r>
                        <a:rPr sz="1200" b="0">
                          <a:solidFill>
                            <a:srgbClr val="142B33"/>
                          </a:solidFill>
                          <a:latin typeface="Calibri"/>
                        </a:rPr>
                        <a:t>C + ABD</a:t>
                      </a:r>
                    </a:p>
                  </a:txBody>
                  <a:tcPr marL="73152" marR="73152" marT="27432" marB="27432" anchor="ctr">
                    <a:solidFill>
                      <a:srgbClr val="F4F8F9"/>
                    </a:solidFill>
                  </a:tcPr>
                </a:tc>
                <a:tc>
                  <a:txBody>
                    <a:bodyPr/>
                    <a:lstStyle/>
                    <a:p>
                      <a:pPr algn="ctr"/>
                      <a:r>
                        <a:rPr sz="1200" b="0">
                          <a:solidFill>
                            <a:srgbClr val="142B33"/>
                          </a:solidFill>
                          <a:latin typeface="Calibri"/>
                        </a:rPr>
                        <a:t>120.62</a:t>
                      </a:r>
                    </a:p>
                  </a:txBody>
                  <a:tcPr marL="73152" marR="73152" marT="27432" marB="27432" anchor="ctr">
                    <a:solidFill>
                      <a:srgbClr val="F4F8F9"/>
                    </a:solidFill>
                  </a:tcPr>
                </a:tc>
                <a:tc>
                  <a:txBody>
                    <a:bodyPr/>
                    <a:lstStyle/>
                    <a:p>
                      <a:pPr algn="ctr"/>
                      <a:r>
                        <a:rPr sz="1200" b="0">
                          <a:solidFill>
                            <a:srgbClr val="142B33"/>
                          </a:solidFill>
                          <a:latin typeface="Calibri"/>
                        </a:rPr>
                        <a:t>0.0082</a:t>
                      </a:r>
                    </a:p>
                  </a:txBody>
                  <a:tcPr marL="73152" marR="73152" marT="27432" marB="27432" anchor="ctr">
                    <a:solidFill>
                      <a:srgbClr val="F4F8F9"/>
                    </a:solidFill>
                  </a:tcPr>
                </a:tc>
                <a:tc>
                  <a:txBody>
                    <a:bodyPr/>
                    <a:lstStyle/>
                    <a:p>
                      <a:pPr algn="ctr"/>
                      <a:r>
                        <a:rPr sz="1200" b="0">
                          <a:solidFill>
                            <a:srgbClr val="142B33"/>
                          </a:solidFill>
                          <a:latin typeface="Calibri"/>
                        </a:rPr>
                        <a:t>Sí</a:t>
                      </a:r>
                    </a:p>
                  </a:txBody>
                  <a:tcPr marL="73152" marR="73152" marT="27432" marB="27432" anchor="ctr">
                    <a:solidFill>
                      <a:srgbClr val="F4F8F9"/>
                    </a:solidFill>
                  </a:tcPr>
                </a:tc>
                <a:tc>
                  <a:txBody>
                    <a:bodyPr/>
                    <a:lstStyle/>
                    <a:p>
                      <a:pPr algn="ctr"/>
                      <a:r>
                        <a:rPr sz="1200" b="0">
                          <a:solidFill>
                            <a:srgbClr val="142B33"/>
                          </a:solidFill>
                          <a:latin typeface="Calibri"/>
                        </a:rPr>
                        <a:t>C</a:t>
                      </a:r>
                    </a:p>
                  </a:txBody>
                  <a:tcPr marL="73152" marR="73152" marT="27432" marB="27432" anchor="ctr">
                    <a:solidFill>
                      <a:srgbClr val="F4F8F9"/>
                    </a:solidFill>
                  </a:tcPr>
                </a:tc>
                <a:tc>
                  <a:txBody>
                    <a:bodyPr/>
                    <a:lstStyle/>
                    <a:p>
                      <a:pPr algn="l"/>
                      <a:r>
                        <a:rPr sz="1200" b="0">
                          <a:solidFill>
                            <a:srgbClr val="142B33"/>
                          </a:solidFill>
                          <a:latin typeface="Calibri"/>
                        </a:rPr>
                        <a:t>Jerarquía</a:t>
                      </a:r>
                    </a:p>
                  </a:txBody>
                  <a:tcPr marL="73152" marR="73152" marT="27432" marB="27432" anchor="ctr">
                    <a:solidFill>
                      <a:srgbClr val="F4F8F9"/>
                    </a:solidFill>
                  </a:tcPr>
                </a:tc>
              </a:tr>
              <a:tr h="304800">
                <a:tc>
                  <a:txBody>
                    <a:bodyPr/>
                    <a:lstStyle/>
                    <a:p>
                      <a:pPr algn="l"/>
                      <a:r>
                        <a:rPr sz="1200" b="0">
                          <a:solidFill>
                            <a:srgbClr val="142B33"/>
                          </a:solidFill>
                          <a:latin typeface="Calibri"/>
                        </a:rPr>
                        <a:t>D + ABC</a:t>
                      </a:r>
                    </a:p>
                  </a:txBody>
                  <a:tcPr marL="73152" marR="73152" marT="27432" marB="27432" anchor="ctr">
                    <a:solidFill>
                      <a:srgbClr val="FFFFFF"/>
                    </a:solidFill>
                  </a:tcPr>
                </a:tc>
                <a:tc>
                  <a:txBody>
                    <a:bodyPr/>
                    <a:lstStyle/>
                    <a:p>
                      <a:pPr algn="ctr"/>
                      <a:r>
                        <a:rPr sz="1200" b="0">
                          <a:solidFill>
                            <a:srgbClr val="142B33"/>
                          </a:solidFill>
                          <a:latin typeface="Calibri"/>
                        </a:rPr>
                        <a:t>167.54</a:t>
                      </a:r>
                    </a:p>
                  </a:txBody>
                  <a:tcPr marL="73152" marR="73152" marT="27432" marB="27432" anchor="ctr">
                    <a:solidFill>
                      <a:srgbClr val="FFFFFF"/>
                    </a:solidFill>
                  </a:tcPr>
                </a:tc>
                <a:tc>
                  <a:txBody>
                    <a:bodyPr/>
                    <a:lstStyle/>
                    <a:p>
                      <a:pPr algn="ctr"/>
                      <a:r>
                        <a:rPr sz="1200" b="0">
                          <a:solidFill>
                            <a:srgbClr val="142B33"/>
                          </a:solidFill>
                          <a:latin typeface="Calibri"/>
                        </a:rPr>
                        <a:t>0.0059</a:t>
                      </a:r>
                    </a:p>
                  </a:txBody>
                  <a:tcPr marL="73152" marR="73152" marT="27432" marB="27432" anchor="ctr">
                    <a:solidFill>
                      <a:srgbClr val="FFFFFF"/>
                    </a:solidFill>
                  </a:tcPr>
                </a:tc>
                <a:tc>
                  <a:txBody>
                    <a:bodyPr/>
                    <a:lstStyle/>
                    <a:p>
                      <a:pPr algn="ctr"/>
                      <a:r>
                        <a:rPr sz="1200" b="0">
                          <a:solidFill>
                            <a:srgbClr val="142B33"/>
                          </a:solidFill>
                          <a:latin typeface="Calibri"/>
                        </a:rPr>
                        <a:t>Sí</a:t>
                      </a:r>
                    </a:p>
                  </a:txBody>
                  <a:tcPr marL="73152" marR="73152" marT="27432" marB="27432" anchor="ctr">
                    <a:solidFill>
                      <a:srgbClr val="FFFFFF"/>
                    </a:solidFill>
                  </a:tcPr>
                </a:tc>
                <a:tc>
                  <a:txBody>
                    <a:bodyPr/>
                    <a:lstStyle/>
                    <a:p>
                      <a:pPr algn="ctr"/>
                      <a:r>
                        <a:rPr sz="1200" b="0">
                          <a:solidFill>
                            <a:srgbClr val="142B33"/>
                          </a:solidFill>
                          <a:latin typeface="Calibri"/>
                        </a:rPr>
                        <a:t>D</a:t>
                      </a:r>
                    </a:p>
                  </a:txBody>
                  <a:tcPr marL="73152" marR="73152" marT="27432" marB="27432" anchor="ctr">
                    <a:solidFill>
                      <a:srgbClr val="FFFFFF"/>
                    </a:solidFill>
                  </a:tcPr>
                </a:tc>
                <a:tc>
                  <a:txBody>
                    <a:bodyPr/>
                    <a:lstStyle/>
                    <a:p>
                      <a:pPr algn="l"/>
                      <a:r>
                        <a:rPr sz="1200" b="0">
                          <a:solidFill>
                            <a:srgbClr val="142B33"/>
                          </a:solidFill>
                          <a:latin typeface="Calibri"/>
                        </a:rPr>
                        <a:t>Jerarquía</a:t>
                      </a:r>
                    </a:p>
                  </a:txBody>
                  <a:tcPr marL="73152" marR="73152" marT="27432" marB="27432" anchor="ctr">
                    <a:solidFill>
                      <a:srgbClr val="FFFFFF"/>
                    </a:solidFill>
                  </a:tcPr>
                </a:tc>
              </a:tr>
              <a:tr h="490727">
                <a:tc>
                  <a:txBody>
                    <a:bodyPr/>
                    <a:lstStyle/>
                    <a:p>
                      <a:pPr algn="l"/>
                      <a:r>
                        <a:rPr sz="1200" b="0">
                          <a:solidFill>
                            <a:srgbClr val="142B33"/>
                          </a:solidFill>
                          <a:latin typeface="Calibri"/>
                        </a:rPr>
                        <a:t>AC + BD</a:t>
                      </a:r>
                    </a:p>
                  </a:txBody>
                  <a:tcPr marL="73152" marR="73152" marT="27432" marB="27432" anchor="ctr">
                    <a:solidFill>
                      <a:srgbClr val="F4F8F9"/>
                    </a:solidFill>
                  </a:tcPr>
                </a:tc>
                <a:tc>
                  <a:txBody>
                    <a:bodyPr/>
                    <a:lstStyle/>
                    <a:p>
                      <a:pPr algn="ctr"/>
                      <a:r>
                        <a:rPr sz="1200" b="0">
                          <a:solidFill>
                            <a:srgbClr val="142B33"/>
                          </a:solidFill>
                          <a:latin typeface="Calibri"/>
                        </a:rPr>
                        <a:t>210.62</a:t>
                      </a:r>
                    </a:p>
                  </a:txBody>
                  <a:tcPr marL="73152" marR="73152" marT="27432" marB="27432" anchor="ctr">
                    <a:solidFill>
                      <a:srgbClr val="F4F8F9"/>
                    </a:solidFill>
                  </a:tcPr>
                </a:tc>
                <a:tc>
                  <a:txBody>
                    <a:bodyPr/>
                    <a:lstStyle/>
                    <a:p>
                      <a:pPr algn="ctr"/>
                      <a:r>
                        <a:rPr sz="1200" b="0">
                          <a:solidFill>
                            <a:srgbClr val="142B33"/>
                          </a:solidFill>
                          <a:latin typeface="Calibri"/>
                        </a:rPr>
                        <a:t>0.0047</a:t>
                      </a:r>
                    </a:p>
                  </a:txBody>
                  <a:tcPr marL="73152" marR="73152" marT="27432" marB="27432" anchor="ctr">
                    <a:solidFill>
                      <a:srgbClr val="F4F8F9"/>
                    </a:solidFill>
                  </a:tcPr>
                </a:tc>
                <a:tc>
                  <a:txBody>
                    <a:bodyPr/>
                    <a:lstStyle/>
                    <a:p>
                      <a:pPr algn="ctr"/>
                      <a:r>
                        <a:rPr sz="1200" b="0">
                          <a:solidFill>
                            <a:srgbClr val="142B33"/>
                          </a:solidFill>
                          <a:latin typeface="Calibri"/>
                        </a:rPr>
                        <a:t>Sí</a:t>
                      </a:r>
                    </a:p>
                  </a:txBody>
                  <a:tcPr marL="73152" marR="73152" marT="27432" marB="27432" anchor="ctr">
                    <a:solidFill>
                      <a:srgbClr val="F4F8F9"/>
                    </a:solidFill>
                  </a:tcPr>
                </a:tc>
                <a:tc>
                  <a:txBody>
                    <a:bodyPr/>
                    <a:lstStyle/>
                    <a:p>
                      <a:pPr algn="ctr"/>
                      <a:r>
                        <a:rPr sz="1200" b="0">
                          <a:solidFill>
                            <a:srgbClr val="142B33"/>
                          </a:solidFill>
                          <a:latin typeface="Calibri"/>
                        </a:rPr>
                        <a:t>AC</a:t>
                      </a:r>
                    </a:p>
                  </a:txBody>
                  <a:tcPr marL="73152" marR="73152" marT="27432" marB="27432" anchor="ctr">
                    <a:solidFill>
                      <a:srgbClr val="F4F8F9"/>
                    </a:solidFill>
                  </a:tcPr>
                </a:tc>
                <a:tc>
                  <a:txBody>
                    <a:bodyPr/>
                    <a:lstStyle/>
                    <a:p>
                      <a:pPr algn="l"/>
                      <a:r>
                        <a:rPr sz="1200" b="0">
                          <a:solidFill>
                            <a:srgbClr val="142B33"/>
                          </a:solidFill>
                          <a:latin typeface="Calibri"/>
                        </a:rPr>
                        <a:t>Herencia: A y C activos, B inactivo</a:t>
                      </a:r>
                    </a:p>
                  </a:txBody>
                  <a:tcPr marL="73152" marR="73152" marT="27432" marB="27432" anchor="ctr">
                    <a:solidFill>
                      <a:srgbClr val="F4F8F9"/>
                    </a:solidFill>
                  </a:tcPr>
                </a:tc>
              </a:tr>
              <a:tr h="490727">
                <a:tc>
                  <a:txBody>
                    <a:bodyPr/>
                    <a:lstStyle/>
                    <a:p>
                      <a:pPr algn="l"/>
                      <a:r>
                        <a:rPr sz="1200" b="0">
                          <a:solidFill>
                            <a:srgbClr val="142B33"/>
                          </a:solidFill>
                          <a:latin typeface="Calibri"/>
                        </a:rPr>
                        <a:t>AD + BC</a:t>
                      </a:r>
                    </a:p>
                  </a:txBody>
                  <a:tcPr marL="73152" marR="73152" marT="27432" marB="27432" anchor="ctr">
                    <a:solidFill>
                      <a:srgbClr val="FFFFFF"/>
                    </a:solidFill>
                  </a:tcPr>
                </a:tc>
                <a:tc>
                  <a:txBody>
                    <a:bodyPr/>
                    <a:lstStyle/>
                    <a:p>
                      <a:pPr algn="ctr"/>
                      <a:r>
                        <a:rPr sz="1200" b="0">
                          <a:solidFill>
                            <a:srgbClr val="142B33"/>
                          </a:solidFill>
                          <a:latin typeface="Calibri"/>
                        </a:rPr>
                        <a:t>222.15</a:t>
                      </a:r>
                    </a:p>
                  </a:txBody>
                  <a:tcPr marL="73152" marR="73152" marT="27432" marB="27432" anchor="ctr">
                    <a:solidFill>
                      <a:srgbClr val="FFFFFF"/>
                    </a:solidFill>
                  </a:tcPr>
                </a:tc>
                <a:tc>
                  <a:txBody>
                    <a:bodyPr/>
                    <a:lstStyle/>
                    <a:p>
                      <a:pPr algn="ctr"/>
                      <a:r>
                        <a:rPr sz="1200" b="0">
                          <a:solidFill>
                            <a:srgbClr val="142B33"/>
                          </a:solidFill>
                          <a:latin typeface="Calibri"/>
                        </a:rPr>
                        <a:t>0.0045</a:t>
                      </a:r>
                    </a:p>
                  </a:txBody>
                  <a:tcPr marL="73152" marR="73152" marT="27432" marB="27432" anchor="ctr">
                    <a:solidFill>
                      <a:srgbClr val="FFFFFF"/>
                    </a:solidFill>
                  </a:tcPr>
                </a:tc>
                <a:tc>
                  <a:txBody>
                    <a:bodyPr/>
                    <a:lstStyle/>
                    <a:p>
                      <a:pPr algn="ctr"/>
                      <a:r>
                        <a:rPr sz="1200" b="0">
                          <a:solidFill>
                            <a:srgbClr val="142B33"/>
                          </a:solidFill>
                          <a:latin typeface="Calibri"/>
                        </a:rPr>
                        <a:t>Sí</a:t>
                      </a:r>
                    </a:p>
                  </a:txBody>
                  <a:tcPr marL="73152" marR="73152" marT="27432" marB="27432" anchor="ctr">
                    <a:solidFill>
                      <a:srgbClr val="FFFFFF"/>
                    </a:solidFill>
                  </a:tcPr>
                </a:tc>
                <a:tc>
                  <a:txBody>
                    <a:bodyPr/>
                    <a:lstStyle/>
                    <a:p>
                      <a:pPr algn="ctr"/>
                      <a:r>
                        <a:rPr sz="1200" b="0">
                          <a:solidFill>
                            <a:srgbClr val="142B33"/>
                          </a:solidFill>
                          <a:latin typeface="Calibri"/>
                        </a:rPr>
                        <a:t>AD</a:t>
                      </a:r>
                    </a:p>
                  </a:txBody>
                  <a:tcPr marL="73152" marR="73152" marT="27432" marB="27432" anchor="ctr">
                    <a:solidFill>
                      <a:srgbClr val="FFFFFF"/>
                    </a:solidFill>
                  </a:tcPr>
                </a:tc>
                <a:tc>
                  <a:txBody>
                    <a:bodyPr/>
                    <a:lstStyle/>
                    <a:p>
                      <a:pPr algn="l"/>
                      <a:r>
                        <a:rPr sz="1200" b="0">
                          <a:solidFill>
                            <a:srgbClr val="142B33"/>
                          </a:solidFill>
                          <a:latin typeface="Calibri"/>
                        </a:rPr>
                        <a:t>Herencia: A y D activos, B inactivo</a:t>
                      </a:r>
                    </a:p>
                  </a:txBody>
                  <a:tcPr marL="73152" marR="73152" marT="27432" marB="27432" anchor="ctr">
                    <a:solidFill>
                      <a:srgbClr val="FFFFFF"/>
                    </a:solidFill>
                  </a:tcPr>
                </a:tc>
              </a:tr>
            </a:tbl>
          </a:graphicData>
        </a:graphic>
      </p:graphicFrame>
      <p:sp>
        <p:nvSpPr>
          <p:cNvPr id="7" name="TextBox 6"/>
          <p:cNvSpPr txBox="1"/>
          <p:nvPr/>
        </p:nvSpPr>
        <p:spPr>
          <a:xfrm>
            <a:off x="5446952" y="4191000"/>
            <a:ext cx="6196102" cy="222504"/>
          </a:xfrm>
          <a:prstGeom prst="rect">
            <a:avLst/>
          </a:prstGeom>
          <a:noFill/>
        </p:spPr>
        <p:txBody>
          <a:bodyPr wrap="square" anchor="t" lIns="0" rIns="0" tIns="0" bIns="0">
            <a:spAutoFit/>
          </a:bodyPr>
          <a:lstStyle/>
          <a:p>
            <a:r>
              <a:rPr sz="1200" b="0">
                <a:solidFill>
                  <a:srgbClr val="5B6B73"/>
                </a:solidFill>
                <a:latin typeface="Calibri"/>
              </a:rPr>
              <a:t>Ejemplo 1 (2</a:t>
            </a:r>
            <a:r>
              <a:rPr sz="1200" b="0" baseline="30000">
                <a:solidFill>
                  <a:srgbClr val="5B6B73"/>
                </a:solidFill>
                <a:latin typeface="Calibri"/>
              </a:rPr>
              <a:t>4−1</a:t>
            </a:r>
            <a:r>
              <a:rPr sz="1200" b="0">
                <a:solidFill>
                  <a:srgbClr val="5B6B73"/>
                </a:solidFill>
                <a:latin typeface="Calibri"/>
              </a:rPr>
              <a:t>, I = ABCD), modelo reducido, gl del error = 2</a:t>
            </a:r>
          </a:p>
        </p:txBody>
      </p:sp>
      <p:sp>
        <p:nvSpPr>
          <p:cNvPr id="8" name="Rounded Rectangle 7"/>
          <p:cNvSpPr/>
          <p:nvPr/>
        </p:nvSpPr>
        <p:spPr>
          <a:xfrm>
            <a:off x="5446952" y="4614672"/>
            <a:ext cx="6196102" cy="708151"/>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400" b="0">
                <a:solidFill>
                  <a:srgbClr val="142B33"/>
                </a:solidFill>
                <a:latin typeface="Calibri"/>
              </a:rPr>
              <a:t>Rechazar H</a:t>
            </a:r>
            <a:r>
              <a:rPr sz="1400" b="0" baseline="-25000">
                <a:solidFill>
                  <a:srgbClr val="142B33"/>
                </a:solidFill>
                <a:latin typeface="Calibri"/>
              </a:rPr>
              <a:t>0</a:t>
            </a:r>
            <a:r>
              <a:rPr sz="1400" b="0">
                <a:solidFill>
                  <a:srgbClr val="142B33"/>
                </a:solidFill>
                <a:latin typeface="Calibri"/>
              </a:rPr>
              <a:t> en AC + BD dice que </a:t>
            </a:r>
            <a:r>
              <a:rPr sz="1400" b="1">
                <a:solidFill>
                  <a:srgbClr val="142B33"/>
                </a:solidFill>
                <a:latin typeface="Calibri"/>
              </a:rPr>
              <a:t>la cadena</a:t>
            </a:r>
            <a:r>
              <a:rPr sz="1400" b="0">
                <a:solidFill>
                  <a:srgbClr val="142B33"/>
                </a:solidFill>
                <a:latin typeface="Calibri"/>
              </a:rPr>
              <a:t> pesa; que sea </a:t>
            </a:r>
            <a:r>
              <a:rPr sz="1400" b="1">
                <a:solidFill>
                  <a:srgbClr val="142B33"/>
                </a:solidFill>
                <a:latin typeface="Calibri"/>
              </a:rPr>
              <a:t>AC</a:t>
            </a:r>
            <a:r>
              <a:rPr sz="1400" b="0">
                <a:solidFill>
                  <a:srgbClr val="142B33"/>
                </a:solidFill>
                <a:latin typeface="Calibri"/>
              </a:rPr>
              <a:t> lo dice la herencia y lo </a:t>
            </a:r>
            <a:r>
              <a:rPr sz="1400" b="1">
                <a:solidFill>
                  <a:srgbClr val="142B33"/>
                </a:solidFill>
                <a:latin typeface="Calibri"/>
              </a:rPr>
              <a:t>confirman</a:t>
            </a:r>
            <a:r>
              <a:rPr sz="1400" b="0">
                <a:solidFill>
                  <a:srgbClr val="142B33"/>
                </a:solidFill>
                <a:latin typeface="Calibri"/>
              </a:rPr>
              <a:t> las corridas adicionales</a:t>
            </a:r>
          </a:p>
        </p:txBody>
      </p:sp>
      <p:sp>
        <p:nvSpPr>
          <p:cNvPr id="9" name="TextBox 8"/>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El diseño 2</a:t>
            </a:r>
            <a:r>
              <a:rPr sz="1000" b="0" baseline="30000">
                <a:solidFill>
                  <a:srgbClr val="5B6B73"/>
                </a:solidFill>
                <a:latin typeface="Calibri"/>
              </a:rPr>
              <a:t>k−p</a:t>
            </a:r>
            <a:r>
              <a:rPr sz="1000" b="0">
                <a:solidFill>
                  <a:srgbClr val="5B6B73"/>
                </a:solidFill>
                <a:latin typeface="Calibri"/>
              </a:rPr>
              <a:t> general</a:t>
            </a:r>
          </a:p>
        </p:txBody>
      </p:sp>
      <p:sp>
        <p:nvSpPr>
          <p:cNvPr id="10" name="TextBox 9"/>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68</a:t>
            </a:r>
          </a:p>
        </p:txBody>
      </p:sp>
      <p:sp>
        <p:nvSpPr>
          <p:cNvPr id="11" name="Rounded Rectangle 10"/>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7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¿Cómo debo analizar los datos recolectados?</a:t>
            </a:r>
          </a:p>
        </p:txBody>
      </p:sp>
      <p:sp>
        <p:nvSpPr>
          <p:cNvPr id="3" name="TextBox 2"/>
          <p:cNvSpPr txBox="1"/>
          <p:nvPr/>
        </p:nvSpPr>
        <p:spPr>
          <a:xfrm>
            <a:off x="548640" y="1417320"/>
            <a:ext cx="11094415" cy="2931160"/>
          </a:xfrm>
          <a:prstGeom prst="rect">
            <a:avLst/>
          </a:prstGeom>
          <a:noFill/>
        </p:spPr>
        <p:txBody>
          <a:bodyPr wrap="square" anchor="t" lIns="0" rIns="0" tIns="0" bIns="0">
            <a:spAutoFit/>
          </a:bodyPr>
          <a:lstStyle/>
          <a:p>
            <a:pPr marL="320040" indent="-320040">
              <a:spcAft>
                <a:spcPts val="600"/>
              </a:spcAft>
              <a:buClr>
                <a:srgbClr val="E36414"/>
              </a:buClr>
              <a:buFont typeface="+mj-lt"/>
              <a:buAutoNum type="arabicPeriod"/>
            </a:pPr>
            <a:r>
              <a:rPr sz="1900" b="0">
                <a:solidFill>
                  <a:srgbClr val="142B33"/>
                </a:solidFill>
                <a:latin typeface="Calibri"/>
              </a:rPr>
              <a:t>Calcular </a:t>
            </a:r>
            <a:r>
              <a:rPr sz="1900" b="1">
                <a:solidFill>
                  <a:srgbClr val="142B33"/>
                </a:solidFill>
                <a:latin typeface="Calibri"/>
              </a:rPr>
              <a:t>contrastes y efectos</a:t>
            </a:r>
            <a:r>
              <a:rPr sz="1900" b="0">
                <a:solidFill>
                  <a:srgbClr val="142B33"/>
                </a:solidFill>
                <a:latin typeface="Calibri"/>
              </a:rPr>
              <a:t> de todas las cadenas de alias</a:t>
            </a:r>
          </a:p>
          <a:p>
            <a:pPr marL="320040" indent="-320040">
              <a:spcAft>
                <a:spcPts val="600"/>
              </a:spcAft>
              <a:buClr>
                <a:srgbClr val="E36414"/>
              </a:buClr>
              <a:buFont typeface="+mj-lt"/>
              <a:buAutoNum type="arabicPeriod"/>
            </a:pPr>
            <a:r>
              <a:rPr sz="1900" b="0">
                <a:solidFill>
                  <a:srgbClr val="142B33"/>
                </a:solidFill>
                <a:latin typeface="Calibri"/>
              </a:rPr>
              <a:t>Análisis gráfico primero: </a:t>
            </a:r>
            <a:r>
              <a:rPr sz="1900" b="1">
                <a:solidFill>
                  <a:srgbClr val="142B33"/>
                </a:solidFill>
                <a:latin typeface="Calibri"/>
              </a:rPr>
              <a:t>Pareto</a:t>
            </a:r>
            <a:r>
              <a:rPr sz="1900" b="0">
                <a:solidFill>
                  <a:srgbClr val="142B33"/>
                </a:solidFill>
                <a:latin typeface="Calibri"/>
              </a:rPr>
              <a:t> de efectos y gráfico de </a:t>
            </a:r>
            <a:r>
              <a:rPr sz="1900" b="1">
                <a:solidFill>
                  <a:srgbClr val="142B33"/>
                </a:solidFill>
                <a:latin typeface="Calibri"/>
              </a:rPr>
              <a:t>Daniel</a:t>
            </a:r>
            <a:r>
              <a:rPr sz="1900" b="0">
                <a:solidFill>
                  <a:srgbClr val="142B33"/>
                </a:solidFill>
                <a:latin typeface="Calibri"/>
              </a:rPr>
              <a:t> (y Lenth)</a:t>
            </a:r>
          </a:p>
          <a:p>
            <a:pPr marL="320040" indent="-320040">
              <a:spcAft>
                <a:spcPts val="600"/>
              </a:spcAft>
              <a:buClr>
                <a:srgbClr val="E36414"/>
              </a:buClr>
              <a:buFont typeface="+mj-lt"/>
              <a:buAutoNum type="arabicPeriod"/>
            </a:pPr>
            <a:r>
              <a:rPr sz="1900" b="0">
                <a:solidFill>
                  <a:srgbClr val="142B33"/>
                </a:solidFill>
                <a:latin typeface="Calibri"/>
              </a:rPr>
              <a:t>​</a:t>
            </a:r>
            <a:r>
              <a:rPr sz="1900" b="1">
                <a:solidFill>
                  <a:srgbClr val="142B33"/>
                </a:solidFill>
                <a:latin typeface="Calibri"/>
              </a:rPr>
              <a:t>Interpretar las cadenas</a:t>
            </a:r>
            <a:r>
              <a:rPr sz="1900" b="0">
                <a:solidFill>
                  <a:srgbClr val="142B33"/>
                </a:solidFill>
                <a:latin typeface="Calibri"/>
              </a:rPr>
              <a:t> activas: ¿a qué efecto se atribuye cada una?</a:t>
            </a:r>
          </a:p>
          <a:p>
            <a:pPr marL="320040" indent="-320040">
              <a:spcAft>
                <a:spcPts val="600"/>
              </a:spcAft>
              <a:buClr>
                <a:srgbClr val="E36414"/>
              </a:buClr>
              <a:buFont typeface="+mj-lt"/>
              <a:buAutoNum type="arabicPeriod"/>
            </a:pPr>
            <a:r>
              <a:rPr sz="1900" b="0">
                <a:solidFill>
                  <a:srgbClr val="142B33"/>
                </a:solidFill>
                <a:latin typeface="Calibri"/>
              </a:rPr>
              <a:t>​</a:t>
            </a:r>
            <a:r>
              <a:rPr sz="1900" b="1">
                <a:solidFill>
                  <a:srgbClr val="142B33"/>
                </a:solidFill>
                <a:latin typeface="Calibri"/>
              </a:rPr>
              <a:t>Mejor ANOVA</a:t>
            </a:r>
            <a:r>
              <a:rPr sz="1900" b="0">
                <a:solidFill>
                  <a:srgbClr val="142B33"/>
                </a:solidFill>
                <a:latin typeface="Calibri"/>
              </a:rPr>
              <a:t>: los efectos alineados (y todos sus alias) van al </a:t>
            </a:r>
            <a:r>
              <a:rPr sz="1900" b="1">
                <a:solidFill>
                  <a:srgbClr val="142B33"/>
                </a:solidFill>
                <a:latin typeface="Calibri"/>
              </a:rPr>
              <a:t>error</a:t>
            </a:r>
          </a:p>
          <a:p>
            <a:pPr marL="320040" indent="-320040">
              <a:spcAft>
                <a:spcPts val="600"/>
              </a:spcAft>
              <a:buClr>
                <a:srgbClr val="E36414"/>
              </a:buClr>
              <a:buFont typeface="+mj-lt"/>
              <a:buAutoNum type="arabicPeriod"/>
            </a:pPr>
            <a:r>
              <a:rPr sz="1900" b="0">
                <a:solidFill>
                  <a:srgbClr val="142B33"/>
                </a:solidFill>
                <a:latin typeface="Calibri"/>
              </a:rPr>
              <a:t>​</a:t>
            </a:r>
            <a:r>
              <a:rPr sz="1900" b="1">
                <a:solidFill>
                  <a:srgbClr val="142B33"/>
                </a:solidFill>
                <a:latin typeface="Calibri"/>
              </a:rPr>
              <a:t>Verificar los supuestos</a:t>
            </a:r>
            <a:r>
              <a:rPr sz="1900" b="0">
                <a:solidFill>
                  <a:srgbClr val="142B33"/>
                </a:solidFill>
                <a:latin typeface="Calibri"/>
              </a:rPr>
              <a:t> con los residuos</a:t>
            </a:r>
          </a:p>
          <a:p>
            <a:pPr marL="320040" indent="-320040">
              <a:spcAft>
                <a:spcPts val="600"/>
              </a:spcAft>
              <a:buClr>
                <a:srgbClr val="E36414"/>
              </a:buClr>
              <a:buFont typeface="+mj-lt"/>
              <a:buAutoNum type="arabicPeriod"/>
            </a:pPr>
            <a:r>
              <a:rPr sz="1900" b="0">
                <a:solidFill>
                  <a:srgbClr val="142B33"/>
                </a:solidFill>
                <a:latin typeface="Calibri"/>
              </a:rPr>
              <a:t>Gráficas de efectos, de interacción y de cubo: </a:t>
            </a:r>
            <a:r>
              <a:rPr sz="1900" b="1">
                <a:solidFill>
                  <a:srgbClr val="142B33"/>
                </a:solidFill>
                <a:latin typeface="Calibri"/>
              </a:rPr>
              <a:t>mejor tratamiento</a:t>
            </a:r>
            <a:r>
              <a:rPr sz="1900" b="0">
                <a:solidFill>
                  <a:srgbClr val="142B33"/>
                </a:solidFill>
                <a:latin typeface="Calibri"/>
              </a:rPr>
              <a:t>; inactivos por </a:t>
            </a:r>
            <a:r>
              <a:rPr sz="1900" b="1">
                <a:solidFill>
                  <a:srgbClr val="142B33"/>
                </a:solidFill>
                <a:latin typeface="Calibri"/>
              </a:rPr>
              <a:t>criterio económico</a:t>
            </a:r>
          </a:p>
          <a:p>
            <a:pPr marL="320040" indent="-320040">
              <a:spcAft>
                <a:spcPts val="600"/>
              </a:spcAft>
              <a:buClr>
                <a:srgbClr val="E36414"/>
              </a:buClr>
              <a:buFont typeface="+mj-lt"/>
              <a:buAutoNum type="arabicPeriod"/>
            </a:pPr>
            <a:r>
              <a:rPr sz="1900" b="0">
                <a:solidFill>
                  <a:srgbClr val="142B33"/>
                </a:solidFill>
                <a:latin typeface="Calibri"/>
              </a:rPr>
              <a:t>Concluir </a:t>
            </a:r>
            <a:r>
              <a:rPr sz="1900" b="1">
                <a:solidFill>
                  <a:srgbClr val="142B33"/>
                </a:solidFill>
                <a:latin typeface="Calibri"/>
              </a:rPr>
              <a:t>en términos del problema</a:t>
            </a:r>
            <a:r>
              <a:rPr sz="1900" b="0">
                <a:solidFill>
                  <a:srgbClr val="142B33"/>
                </a:solidFill>
                <a:latin typeface="Calibri"/>
              </a:rPr>
              <a:t> y confirmar con nuevas corridas</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El diseño 2</a:t>
            </a:r>
            <a:r>
              <a:rPr sz="1000" b="0" baseline="30000">
                <a:solidFill>
                  <a:srgbClr val="5B6B73"/>
                </a:solidFill>
                <a:latin typeface="Calibri"/>
              </a:rPr>
              <a:t>k−p</a:t>
            </a:r>
            <a:r>
              <a:rPr sz="1000" b="0">
                <a:solidFill>
                  <a:srgbClr val="5B6B73"/>
                </a:solidFill>
                <a:latin typeface="Calibri"/>
              </a:rPr>
              <a:t> general</a:t>
            </a:r>
          </a:p>
        </p:txBody>
      </p:sp>
      <p:sp>
        <p:nvSpPr>
          <p:cNvPr id="5" name="TextBox 4"/>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69</a:t>
            </a:r>
          </a:p>
        </p:txBody>
      </p:sp>
      <p:sp>
        <p:nvSpPr>
          <p:cNvPr id="6" name="Rounded Rectangle 5"/>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7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¿Qué estadísticos debo calcular?</a:t>
            </a:r>
          </a:p>
        </p:txBody>
      </p:sp>
      <p:graphicFrame>
        <p:nvGraphicFramePr>
          <p:cNvPr id="3" name="Table 2"/>
          <p:cNvGraphicFramePr>
            <a:graphicFrameLocks noGrp="1"/>
          </p:cNvGraphicFramePr>
          <p:nvPr/>
        </p:nvGraphicFramePr>
        <p:xfrm>
          <a:off x="548640" y="1417320"/>
          <a:ext cx="11094413" cy="2825496"/>
        </p:xfrm>
        <a:graphic>
          <a:graphicData uri="http://schemas.openxmlformats.org/drawingml/2006/table">
            <a:tbl>
              <a:tblPr firstRow="0" bandRow="0">
                <a:tableStyleId>{5C22544A-7EE6-4342-B048-85BDC9FD1C3A}</a:tableStyleId>
              </a:tblPr>
              <a:tblGrid>
                <a:gridCol w="1775106"/>
                <a:gridCol w="2884547"/>
                <a:gridCol w="2995492"/>
                <a:gridCol w="3439268"/>
              </a:tblGrid>
              <a:tr h="366776">
                <a:tc>
                  <a:txBody>
                    <a:bodyPr/>
                    <a:lstStyle/>
                    <a:p>
                      <a:pPr algn="l"/>
                      <a:r>
                        <a:rPr sz="1600" b="1">
                          <a:solidFill>
                            <a:srgbClr val="FFFFFF"/>
                          </a:solidFill>
                          <a:latin typeface="Calibri"/>
                        </a:rPr>
                        <a:t>Estadístico</a:t>
                      </a:r>
                    </a:p>
                  </a:txBody>
                  <a:tcPr marL="73152" marR="73152" marT="27432" marB="27432" anchor="ctr">
                    <a:solidFill>
                      <a:srgbClr val="0F4C5C"/>
                    </a:solidFill>
                  </a:tcPr>
                </a:tc>
                <a:tc>
                  <a:txBody>
                    <a:bodyPr/>
                    <a:lstStyle/>
                    <a:p>
                      <a:pPr algn="ctr"/>
                      <a:r>
                        <a:rPr sz="1600" b="1">
                          <a:solidFill>
                            <a:srgbClr val="FFFFFF"/>
                          </a:solidFill>
                          <a:latin typeface="Calibri"/>
                        </a:rPr>
                        <a:t>Fórmula</a:t>
                      </a:r>
                    </a:p>
                  </a:txBody>
                  <a:tcPr marL="73152" marR="73152" marT="27432" marB="27432" anchor="ctr">
                    <a:solidFill>
                      <a:srgbClr val="0F4C5C"/>
                    </a:solidFill>
                  </a:tcPr>
                </a:tc>
                <a:tc>
                  <a:txBody>
                    <a:bodyPr/>
                    <a:lstStyle/>
                    <a:p>
                      <a:pPr algn="l"/>
                      <a:r>
                        <a:rPr sz="1600" b="1">
                          <a:solidFill>
                            <a:srgbClr val="FFFFFF"/>
                          </a:solidFill>
                          <a:latin typeface="Calibri"/>
                        </a:rPr>
                        <a:t>Qué mide</a:t>
                      </a:r>
                    </a:p>
                  </a:txBody>
                  <a:tcPr marL="73152" marR="73152" marT="27432" marB="27432" anchor="ctr">
                    <a:solidFill>
                      <a:srgbClr val="0F4C5C"/>
                    </a:solidFill>
                  </a:tcPr>
                </a:tc>
                <a:tc>
                  <a:txBody>
                    <a:bodyPr/>
                    <a:lstStyle/>
                    <a:p>
                      <a:pPr algn="l"/>
                      <a:r>
                        <a:rPr sz="1600" b="1">
                          <a:solidFill>
                            <a:srgbClr val="FFFFFF"/>
                          </a:solidFill>
                          <a:latin typeface="Calibri"/>
                        </a:rPr>
                        <a:t>Ejemplo 1, factor A (N = 8)</a:t>
                      </a:r>
                    </a:p>
                  </a:txBody>
                  <a:tcPr marL="73152" marR="73152" marT="27432" marB="27432" anchor="ctr">
                    <a:solidFill>
                      <a:srgbClr val="0F4C5C"/>
                    </a:solidFill>
                  </a:tcPr>
                </a:tc>
              </a:tr>
              <a:tr h="614680">
                <a:tc>
                  <a:txBody>
                    <a:bodyPr/>
                    <a:lstStyle/>
                    <a:p>
                      <a:pPr algn="l"/>
                      <a:r>
                        <a:rPr sz="1600" b="0">
                          <a:solidFill>
                            <a:srgbClr val="142B33"/>
                          </a:solidFill>
                          <a:latin typeface="Calibri"/>
                        </a:rPr>
                        <a:t>Contraste</a:t>
                      </a:r>
                    </a:p>
                  </a:txBody>
                  <a:tcPr marL="73152" marR="73152" marT="27432" marB="27432" anchor="ctr">
                    <a:solidFill>
                      <a:srgbClr val="FFFFFF"/>
                    </a:solidFill>
                  </a:tcPr>
                </a:tc>
                <a:tc>
                  <a:txBody>
                    <a:bodyPr/>
                    <a:lstStyle/>
                    <a:p>
                      <a:pPr algn="ctr"/>
                      <a:r>
                        <a:rPr sz="1600" b="0">
                          <a:solidFill>
                            <a:srgbClr val="142B33"/>
                          </a:solidFill>
                          <a:latin typeface="Calibri"/>
                        </a:rPr>
                        <a:t>Contraste</a:t>
                      </a:r>
                      <a:r>
                        <a:rPr sz="1600" b="0" baseline="-25000">
                          <a:solidFill>
                            <a:srgbClr val="142B33"/>
                          </a:solidFill>
                          <a:latin typeface="Calibri"/>
                        </a:rPr>
                        <a:t>i</a:t>
                      </a:r>
                      <a:r>
                        <a:rPr sz="1600" b="0">
                          <a:solidFill>
                            <a:srgbClr val="142B33"/>
                          </a:solidFill>
                          <a:latin typeface="Calibri"/>
                        </a:rPr>
                        <a:t> = Σ (signo</a:t>
                      </a:r>
                      <a:r>
                        <a:rPr sz="1600" b="0" baseline="-25000">
                          <a:solidFill>
                            <a:srgbClr val="142B33"/>
                          </a:solidFill>
                          <a:latin typeface="Calibri"/>
                        </a:rPr>
                        <a:t>i</a:t>
                      </a:r>
                      <a:r>
                        <a:rPr sz="1600" b="0">
                          <a:solidFill>
                            <a:srgbClr val="142B33"/>
                          </a:solidFill>
                          <a:latin typeface="Calibri"/>
                        </a:rPr>
                        <a:t>) · y</a:t>
                      </a:r>
                    </a:p>
                  </a:txBody>
                  <a:tcPr marL="73152" marR="73152" marT="27432" marB="27432" anchor="ctr">
                    <a:solidFill>
                      <a:srgbClr val="FFFFFF"/>
                    </a:solidFill>
                  </a:tcPr>
                </a:tc>
                <a:tc>
                  <a:txBody>
                    <a:bodyPr/>
                    <a:lstStyle/>
                    <a:p>
                      <a:pPr algn="l"/>
                      <a:r>
                        <a:rPr sz="1600" b="0">
                          <a:solidFill>
                            <a:srgbClr val="142B33"/>
                          </a:solidFill>
                          <a:latin typeface="Calibri"/>
                        </a:rPr>
                        <a:t>Suma con signos de la columna i</a:t>
                      </a:r>
                    </a:p>
                  </a:txBody>
                  <a:tcPr marL="73152" marR="73152" marT="27432" marB="27432" anchor="ctr">
                    <a:solidFill>
                      <a:srgbClr val="FFFFFF"/>
                    </a:solidFill>
                  </a:tcPr>
                </a:tc>
                <a:tc>
                  <a:txBody>
                    <a:bodyPr/>
                    <a:lstStyle/>
                    <a:p>
                      <a:pPr algn="l"/>
                      <a:r>
                        <a:rPr sz="1600" b="0">
                          <a:solidFill>
                            <a:srgbClr val="142B33"/>
                          </a:solidFill>
                          <a:latin typeface="Calibri"/>
                        </a:rPr>
                        <a:t>−45 + 100 − 45 + 65 − 75 + 60 − 80 + 96 = 76</a:t>
                      </a:r>
                    </a:p>
                  </a:txBody>
                  <a:tcPr marL="73152" marR="73152" marT="27432" marB="27432" anchor="ctr">
                    <a:solidFill>
                      <a:srgbClr val="FFFFFF"/>
                    </a:solidFill>
                  </a:tcPr>
                </a:tc>
              </a:tr>
              <a:tr h="614680">
                <a:tc>
                  <a:txBody>
                    <a:bodyPr/>
                    <a:lstStyle/>
                    <a:p>
                      <a:pPr algn="l"/>
                      <a:r>
                        <a:rPr sz="1600" b="0">
                          <a:solidFill>
                            <a:srgbClr val="142B33"/>
                          </a:solidFill>
                          <a:latin typeface="Calibri"/>
                        </a:rPr>
                        <a:t>Efecto</a:t>
                      </a:r>
                    </a:p>
                  </a:txBody>
                  <a:tcPr marL="73152" marR="73152" marT="27432" marB="27432" anchor="ctr">
                    <a:solidFill>
                      <a:srgbClr val="F4F8F9"/>
                    </a:solidFill>
                  </a:tcPr>
                </a:tc>
                <a:tc>
                  <a:txBody>
                    <a:bodyPr/>
                    <a:lstStyle/>
                    <a:p>
                      <a:pPr algn="ctr"/>
                      <a:r>
                        <a:rPr sz="1600" b="0">
                          <a:solidFill>
                            <a:srgbClr val="142B33"/>
                          </a:solidFill>
                          <a:latin typeface="Calibri"/>
                        </a:rPr>
                        <a:t>ℓ</a:t>
                      </a:r>
                      <a:r>
                        <a:rPr sz="1600" b="0" baseline="-25000">
                          <a:solidFill>
                            <a:srgbClr val="142B33"/>
                          </a:solidFill>
                          <a:latin typeface="Calibri"/>
                        </a:rPr>
                        <a:t>i</a:t>
                      </a:r>
                      <a:r>
                        <a:rPr sz="1600" b="0">
                          <a:solidFill>
                            <a:srgbClr val="142B33"/>
                          </a:solidFill>
                          <a:latin typeface="Calibri"/>
                        </a:rPr>
                        <a:t> = Contraste</a:t>
                      </a:r>
                      <a:r>
                        <a:rPr sz="1600" b="0" baseline="-25000">
                          <a:solidFill>
                            <a:srgbClr val="142B33"/>
                          </a:solidFill>
                          <a:latin typeface="Calibri"/>
                        </a:rPr>
                        <a:t>i</a:t>
                      </a:r>
                      <a:r>
                        <a:rPr sz="1600" b="0">
                          <a:solidFill>
                            <a:srgbClr val="142B33"/>
                          </a:solidFill>
                          <a:latin typeface="Calibri"/>
                        </a:rPr>
                        <a:t> / (N/2)</a:t>
                      </a:r>
                    </a:p>
                  </a:txBody>
                  <a:tcPr marL="73152" marR="73152" marT="27432" marB="27432" anchor="ctr">
                    <a:solidFill>
                      <a:srgbClr val="F4F8F9"/>
                    </a:solidFill>
                  </a:tcPr>
                </a:tc>
                <a:tc>
                  <a:txBody>
                    <a:bodyPr/>
                    <a:lstStyle/>
                    <a:p>
                      <a:pPr algn="l"/>
                      <a:r>
                        <a:rPr sz="1600" b="0">
                          <a:solidFill>
                            <a:srgbClr val="142B33"/>
                          </a:solidFill>
                          <a:latin typeface="Calibri"/>
                        </a:rPr>
                        <a:t>Promedio en (+) menos promedio en (−)</a:t>
                      </a:r>
                    </a:p>
                  </a:txBody>
                  <a:tcPr marL="73152" marR="73152" marT="27432" marB="27432" anchor="ctr">
                    <a:solidFill>
                      <a:srgbClr val="F4F8F9"/>
                    </a:solidFill>
                  </a:tcPr>
                </a:tc>
                <a:tc>
                  <a:txBody>
                    <a:bodyPr/>
                    <a:lstStyle/>
                    <a:p>
                      <a:pPr algn="l"/>
                      <a:r>
                        <a:rPr sz="1600" b="0">
                          <a:solidFill>
                            <a:srgbClr val="142B33"/>
                          </a:solidFill>
                          <a:latin typeface="Calibri"/>
                        </a:rPr>
                        <a:t>76 / 4 = 19.00</a:t>
                      </a:r>
                    </a:p>
                  </a:txBody>
                  <a:tcPr marL="73152" marR="73152" marT="27432" marB="27432" anchor="ctr">
                    <a:solidFill>
                      <a:srgbClr val="F4F8F9"/>
                    </a:solidFill>
                  </a:tcPr>
                </a:tc>
              </a:tr>
              <a:tr h="614680">
                <a:tc>
                  <a:txBody>
                    <a:bodyPr/>
                    <a:lstStyle/>
                    <a:p>
                      <a:pPr algn="l"/>
                      <a:r>
                        <a:rPr sz="1600" b="0">
                          <a:solidFill>
                            <a:srgbClr val="142B33"/>
                          </a:solidFill>
                          <a:latin typeface="Calibri"/>
                        </a:rPr>
                        <a:t>Coeficiente</a:t>
                      </a:r>
                    </a:p>
                  </a:txBody>
                  <a:tcPr marL="73152" marR="73152" marT="27432" marB="27432" anchor="ctr">
                    <a:solidFill>
                      <a:srgbClr val="FFFFFF"/>
                    </a:solidFill>
                  </a:tcPr>
                </a:tc>
                <a:tc>
                  <a:txBody>
                    <a:bodyPr/>
                    <a:lstStyle/>
                    <a:p>
                      <a:pPr algn="ctr"/>
                      <a:r>
                        <a:rPr sz="1600" b="0">
                          <a:solidFill>
                            <a:srgbClr val="142B33"/>
                          </a:solidFill>
                          <a:latin typeface="Calibri"/>
                        </a:rPr>
                        <a:t>β</a:t>
                      </a:r>
                      <a:r>
                        <a:rPr sz="1600" b="0" baseline="-25000">
                          <a:solidFill>
                            <a:srgbClr val="142B33"/>
                          </a:solidFill>
                          <a:latin typeface="Calibri"/>
                        </a:rPr>
                        <a:t>i</a:t>
                      </a:r>
                      <a:r>
                        <a:rPr sz="1600" b="0">
                          <a:solidFill>
                            <a:srgbClr val="142B33"/>
                          </a:solidFill>
                          <a:latin typeface="Calibri"/>
                        </a:rPr>
                        <a:t> estimado = ℓ</a:t>
                      </a:r>
                      <a:r>
                        <a:rPr sz="1600" b="0" baseline="-25000">
                          <a:solidFill>
                            <a:srgbClr val="142B33"/>
                          </a:solidFill>
                          <a:latin typeface="Calibri"/>
                        </a:rPr>
                        <a:t>i</a:t>
                      </a:r>
                      <a:r>
                        <a:rPr sz="1600" b="0">
                          <a:solidFill>
                            <a:srgbClr val="142B33"/>
                          </a:solidFill>
                          <a:latin typeface="Calibri"/>
                        </a:rPr>
                        <a:t> / 2</a:t>
                      </a:r>
                    </a:p>
                  </a:txBody>
                  <a:tcPr marL="73152" marR="73152" marT="27432" marB="27432" anchor="ctr">
                    <a:solidFill>
                      <a:srgbClr val="FFFFFF"/>
                    </a:solidFill>
                  </a:tcPr>
                </a:tc>
                <a:tc>
                  <a:txBody>
                    <a:bodyPr/>
                    <a:lstStyle/>
                    <a:p>
                      <a:pPr algn="l"/>
                      <a:r>
                        <a:rPr sz="1600" b="0">
                          <a:solidFill>
                            <a:srgbClr val="142B33"/>
                          </a:solidFill>
                          <a:latin typeface="Calibri"/>
                        </a:rPr>
                        <a:t>Cambio en Y por unidad codificada</a:t>
                      </a:r>
                    </a:p>
                  </a:txBody>
                  <a:tcPr marL="73152" marR="73152" marT="27432" marB="27432" anchor="ctr">
                    <a:solidFill>
                      <a:srgbClr val="FFFFFF"/>
                    </a:solidFill>
                  </a:tcPr>
                </a:tc>
                <a:tc>
                  <a:txBody>
                    <a:bodyPr/>
                    <a:lstStyle/>
                    <a:p>
                      <a:pPr algn="l"/>
                      <a:r>
                        <a:rPr sz="1600" b="0">
                          <a:solidFill>
                            <a:srgbClr val="142B33"/>
                          </a:solidFill>
                          <a:latin typeface="Calibri"/>
                        </a:rPr>
                        <a:t>19.00 / 2 = 9.50</a:t>
                      </a:r>
                    </a:p>
                  </a:txBody>
                  <a:tcPr marL="73152" marR="73152" marT="27432" marB="27432" anchor="ctr">
                    <a:solidFill>
                      <a:srgbClr val="FFFFFF"/>
                    </a:solidFill>
                  </a:tcPr>
                </a:tc>
              </a:tr>
              <a:tr h="614680">
                <a:tc>
                  <a:txBody>
                    <a:bodyPr/>
                    <a:lstStyle/>
                    <a:p>
                      <a:pPr algn="l"/>
                      <a:r>
                        <a:rPr sz="1600" b="0">
                          <a:solidFill>
                            <a:srgbClr val="142B33"/>
                          </a:solidFill>
                          <a:latin typeface="Calibri"/>
                        </a:rPr>
                        <a:t>Suma de cuadrados</a:t>
                      </a:r>
                    </a:p>
                  </a:txBody>
                  <a:tcPr marL="73152" marR="73152" marT="27432" marB="27432" anchor="ctr">
                    <a:solidFill>
                      <a:srgbClr val="F4F8F9"/>
                    </a:solidFill>
                  </a:tcPr>
                </a:tc>
                <a:tc>
                  <a:txBody>
                    <a:bodyPr/>
                    <a:lstStyle/>
                    <a:p>
                      <a:pPr algn="ctr"/>
                      <a:r>
                        <a:rPr sz="1600" b="0">
                          <a:solidFill>
                            <a:srgbClr val="142B33"/>
                          </a:solidFill>
                          <a:latin typeface="Calibri"/>
                        </a:rPr>
                        <a:t>SS</a:t>
                      </a:r>
                      <a:r>
                        <a:rPr sz="1600" b="0" baseline="-25000">
                          <a:solidFill>
                            <a:srgbClr val="142B33"/>
                          </a:solidFill>
                          <a:latin typeface="Calibri"/>
                        </a:rPr>
                        <a:t>i</a:t>
                      </a:r>
                      <a:r>
                        <a:rPr sz="1600" b="0">
                          <a:solidFill>
                            <a:srgbClr val="142B33"/>
                          </a:solidFill>
                          <a:latin typeface="Calibri"/>
                        </a:rPr>
                        <a:t> = (Contraste</a:t>
                      </a:r>
                      <a:r>
                        <a:rPr sz="1600" b="0" baseline="-25000">
                          <a:solidFill>
                            <a:srgbClr val="142B33"/>
                          </a:solidFill>
                          <a:latin typeface="Calibri"/>
                        </a:rPr>
                        <a:t>i</a:t>
                      </a:r>
                      <a:r>
                        <a:rPr sz="1600" b="0">
                          <a:solidFill>
                            <a:srgbClr val="142B33"/>
                          </a:solidFill>
                          <a:latin typeface="Calibri"/>
                        </a:rPr>
                        <a:t>)</a:t>
                      </a:r>
                      <a:r>
                        <a:rPr sz="1600" b="0" baseline="30000">
                          <a:solidFill>
                            <a:srgbClr val="142B33"/>
                          </a:solidFill>
                          <a:latin typeface="Calibri"/>
                        </a:rPr>
                        <a:t>2</a:t>
                      </a:r>
                      <a:r>
                        <a:rPr sz="1600" b="0">
                          <a:solidFill>
                            <a:srgbClr val="142B33"/>
                          </a:solidFill>
                          <a:latin typeface="Calibri"/>
                        </a:rPr>
                        <a:t> / N</a:t>
                      </a:r>
                    </a:p>
                  </a:txBody>
                  <a:tcPr marL="73152" marR="73152" marT="27432" marB="27432" anchor="ctr">
                    <a:solidFill>
                      <a:srgbClr val="F4F8F9"/>
                    </a:solidFill>
                  </a:tcPr>
                </a:tc>
                <a:tc>
                  <a:txBody>
                    <a:bodyPr/>
                    <a:lstStyle/>
                    <a:p>
                      <a:pPr algn="l"/>
                      <a:r>
                        <a:rPr sz="1600" b="0">
                          <a:solidFill>
                            <a:srgbClr val="142B33"/>
                          </a:solidFill>
                          <a:latin typeface="Calibri"/>
                        </a:rPr>
                        <a:t>Variabilidad explicada (1 g.l.)</a:t>
                      </a:r>
                    </a:p>
                  </a:txBody>
                  <a:tcPr marL="73152" marR="73152" marT="27432" marB="27432" anchor="ctr">
                    <a:solidFill>
                      <a:srgbClr val="F4F8F9"/>
                    </a:solidFill>
                  </a:tcPr>
                </a:tc>
                <a:tc>
                  <a:txBody>
                    <a:bodyPr/>
                    <a:lstStyle/>
                    <a:p>
                      <a:pPr algn="l"/>
                      <a:r>
                        <a:rPr sz="1600" b="0">
                          <a:solidFill>
                            <a:srgbClr val="142B33"/>
                          </a:solidFill>
                          <a:latin typeface="Calibri"/>
                        </a:rPr>
                        <a:t>76</a:t>
                      </a:r>
                      <a:r>
                        <a:rPr sz="1600" b="0" baseline="30000">
                          <a:solidFill>
                            <a:srgbClr val="142B33"/>
                          </a:solidFill>
                          <a:latin typeface="Calibri"/>
                        </a:rPr>
                        <a:t>2</a:t>
                      </a:r>
                      <a:r>
                        <a:rPr sz="1600" b="0">
                          <a:solidFill>
                            <a:srgbClr val="142B33"/>
                          </a:solidFill>
                          <a:latin typeface="Calibri"/>
                        </a:rPr>
                        <a:t> / 8 = 722.0</a:t>
                      </a:r>
                    </a:p>
                  </a:txBody>
                  <a:tcPr marL="73152" marR="73152" marT="27432" marB="27432" anchor="ctr">
                    <a:solidFill>
                      <a:srgbClr val="F4F8F9"/>
                    </a:solidFill>
                  </a:tcPr>
                </a:tc>
              </a:tr>
            </a:tbl>
          </a:graphicData>
        </a:graphic>
      </p:graphicFrame>
      <p:sp>
        <p:nvSpPr>
          <p:cNvPr id="4" name="Rounded Rectangle 3"/>
          <p:cNvSpPr/>
          <p:nvPr/>
        </p:nvSpPr>
        <p:spPr>
          <a:xfrm>
            <a:off x="548640" y="4443984"/>
            <a:ext cx="11094415" cy="522224"/>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600" b="0">
                <a:solidFill>
                  <a:srgbClr val="142B33"/>
                </a:solidFill>
                <a:latin typeface="Calibri"/>
              </a:rPr>
              <a:t>Con una sola réplica, N = 2</a:t>
            </a:r>
            <a:r>
              <a:rPr sz="1600" b="0" baseline="30000">
                <a:solidFill>
                  <a:srgbClr val="142B33"/>
                </a:solidFill>
                <a:latin typeface="Calibri"/>
              </a:rPr>
              <a:t>k−p</a:t>
            </a:r>
            <a:r>
              <a:rPr sz="1600" b="0">
                <a:solidFill>
                  <a:srgbClr val="142B33"/>
                </a:solidFill>
                <a:latin typeface="Calibri"/>
              </a:rPr>
              <a:t>. El intercepto es el promedio general:  β</a:t>
            </a:r>
            <a:r>
              <a:rPr sz="1600" b="0" baseline="-25000">
                <a:solidFill>
                  <a:srgbClr val="142B33"/>
                </a:solidFill>
                <a:latin typeface="Calibri"/>
              </a:rPr>
              <a:t>0</a:t>
            </a:r>
            <a:r>
              <a:rPr sz="1600" b="0">
                <a:solidFill>
                  <a:srgbClr val="142B33"/>
                </a:solidFill>
                <a:latin typeface="Calibri"/>
              </a:rPr>
              <a:t> = ȳ</a:t>
            </a:r>
          </a:p>
        </p:txBody>
      </p:sp>
      <p:sp>
        <p:nvSpPr>
          <p:cNvPr id="5" name="TextBox 4"/>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El diseño 2</a:t>
            </a:r>
            <a:r>
              <a:rPr sz="1000" b="0" baseline="30000">
                <a:solidFill>
                  <a:srgbClr val="5B6B73"/>
                </a:solidFill>
                <a:latin typeface="Calibri"/>
              </a:rPr>
              <a:t>k−p</a:t>
            </a:r>
            <a:r>
              <a:rPr sz="1000" b="0">
                <a:solidFill>
                  <a:srgbClr val="5B6B73"/>
                </a:solidFill>
                <a:latin typeface="Calibri"/>
              </a:rPr>
              <a:t> general</a:t>
            </a:r>
          </a:p>
        </p:txBody>
      </p:sp>
      <p:sp>
        <p:nvSpPr>
          <p:cNvPr id="6" name="TextBox 5"/>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70</a:t>
            </a:r>
          </a:p>
        </p:txBody>
      </p:sp>
      <p:sp>
        <p:nvSpPr>
          <p:cNvPr id="7" name="Rounded Rectangle 6"/>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7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Tabla ANOVA del factorial fraccionado</a:t>
            </a:r>
          </a:p>
        </p:txBody>
      </p:sp>
      <p:graphicFrame>
        <p:nvGraphicFramePr>
          <p:cNvPr id="3" name="Table 2"/>
          <p:cNvGraphicFramePr>
            <a:graphicFrameLocks noGrp="1"/>
          </p:cNvGraphicFramePr>
          <p:nvPr/>
        </p:nvGraphicFramePr>
        <p:xfrm>
          <a:off x="548640" y="1417320"/>
          <a:ext cx="11094412" cy="2055872"/>
        </p:xfrm>
        <a:graphic>
          <a:graphicData uri="http://schemas.openxmlformats.org/drawingml/2006/table">
            <a:tbl>
              <a:tblPr firstRow="0" bandRow="0">
                <a:tableStyleId>{5C22544A-7EE6-4342-B048-85BDC9FD1C3A}</a:tableStyleId>
              </a:tblPr>
              <a:tblGrid>
                <a:gridCol w="2773603"/>
                <a:gridCol w="3661157"/>
                <a:gridCol w="1442273"/>
                <a:gridCol w="1886050"/>
                <a:gridCol w="1331329"/>
              </a:tblGrid>
              <a:tr h="382269">
                <a:tc>
                  <a:txBody>
                    <a:bodyPr/>
                    <a:lstStyle/>
                    <a:p>
                      <a:pPr algn="l"/>
                      <a:r>
                        <a:rPr sz="1700" b="1">
                          <a:solidFill>
                            <a:srgbClr val="FFFFFF"/>
                          </a:solidFill>
                          <a:latin typeface="Calibri"/>
                        </a:rPr>
                        <a:t>SV</a:t>
                      </a:r>
                    </a:p>
                  </a:txBody>
                  <a:tcPr marL="73152" marR="73152" marT="27432" marB="27432" anchor="ctr">
                    <a:solidFill>
                      <a:srgbClr val="0F4C5C"/>
                    </a:solidFill>
                  </a:tcPr>
                </a:tc>
                <a:tc>
                  <a:txBody>
                    <a:bodyPr/>
                    <a:lstStyle/>
                    <a:p>
                      <a:pPr algn="l"/>
                      <a:r>
                        <a:rPr sz="1700" b="1">
                          <a:solidFill>
                            <a:srgbClr val="FFFFFF"/>
                          </a:solidFill>
                          <a:latin typeface="Calibri"/>
                        </a:rPr>
                        <a:t>SS</a:t>
                      </a:r>
                    </a:p>
                  </a:txBody>
                  <a:tcPr marL="73152" marR="73152" marT="27432" marB="27432" anchor="ctr">
                    <a:solidFill>
                      <a:srgbClr val="0F4C5C"/>
                    </a:solidFill>
                  </a:tcPr>
                </a:tc>
                <a:tc>
                  <a:txBody>
                    <a:bodyPr/>
                    <a:lstStyle/>
                    <a:p>
                      <a:pPr algn="ctr"/>
                      <a:r>
                        <a:rPr sz="1700" b="1">
                          <a:solidFill>
                            <a:srgbClr val="FFFFFF"/>
                          </a:solidFill>
                          <a:latin typeface="Calibri"/>
                        </a:rPr>
                        <a:t>DF</a:t>
                      </a:r>
                    </a:p>
                  </a:txBody>
                  <a:tcPr marL="73152" marR="73152" marT="27432" marB="27432" anchor="ctr">
                    <a:solidFill>
                      <a:srgbClr val="0F4C5C"/>
                    </a:solidFill>
                  </a:tcPr>
                </a:tc>
                <a:tc>
                  <a:txBody>
                    <a:bodyPr/>
                    <a:lstStyle/>
                    <a:p>
                      <a:pPr algn="ctr"/>
                      <a:r>
                        <a:rPr sz="1700" b="1">
                          <a:solidFill>
                            <a:srgbClr val="FFFFFF"/>
                          </a:solidFill>
                          <a:latin typeface="Calibri"/>
                        </a:rPr>
                        <a:t>MS</a:t>
                      </a:r>
                    </a:p>
                  </a:txBody>
                  <a:tcPr marL="73152" marR="73152" marT="27432" marB="27432" anchor="ctr">
                    <a:solidFill>
                      <a:srgbClr val="0F4C5C"/>
                    </a:solidFill>
                  </a:tcPr>
                </a:tc>
                <a:tc>
                  <a:txBody>
                    <a:bodyPr/>
                    <a:lstStyle/>
                    <a:p>
                      <a:pPr algn="ctr"/>
                      <a:r>
                        <a:rPr sz="1700" b="1">
                          <a:solidFill>
                            <a:srgbClr val="FFFFFF"/>
                          </a:solidFill>
                          <a:latin typeface="Calibri"/>
                        </a:rPr>
                        <a:t>F</a:t>
                      </a:r>
                      <a:r>
                        <a:rPr sz="1700" b="1" baseline="-25000">
                          <a:solidFill>
                            <a:srgbClr val="FFFFFF"/>
                          </a:solidFill>
                          <a:latin typeface="Calibri"/>
                        </a:rPr>
                        <a:t>0</a:t>
                      </a:r>
                    </a:p>
                  </a:txBody>
                  <a:tcPr marL="73152" marR="73152" marT="27432" marB="27432" anchor="ctr">
                    <a:solidFill>
                      <a:srgbClr val="0F4C5C"/>
                    </a:solidFill>
                  </a:tcPr>
                </a:tc>
              </a:tr>
              <a:tr h="645667">
                <a:tc>
                  <a:txBody>
                    <a:bodyPr/>
                    <a:lstStyle/>
                    <a:p>
                      <a:pPr algn="l"/>
                      <a:r>
                        <a:rPr sz="1700" b="0">
                          <a:solidFill>
                            <a:srgbClr val="142B33"/>
                          </a:solidFill>
                          <a:latin typeface="Calibri"/>
                        </a:rPr>
                        <a:t>Efecto i (cadena de alias)</a:t>
                      </a:r>
                    </a:p>
                  </a:txBody>
                  <a:tcPr marL="73152" marR="73152" marT="27432" marB="27432" anchor="ctr">
                    <a:solidFill>
                      <a:srgbClr val="FFFFFF"/>
                    </a:solidFill>
                  </a:tcPr>
                </a:tc>
                <a:tc>
                  <a:txBody>
                    <a:bodyPr/>
                    <a:lstStyle/>
                    <a:p>
                      <a:pPr algn="l"/>
                      <a:r>
                        <a:rPr sz="1700" b="0">
                          <a:solidFill>
                            <a:srgbClr val="142B33"/>
                          </a:solidFill>
                          <a:latin typeface="Calibri"/>
                        </a:rPr>
                        <a:t>SS</a:t>
                      </a:r>
                      <a:r>
                        <a:rPr sz="1700" b="0" baseline="-25000">
                          <a:solidFill>
                            <a:srgbClr val="142B33"/>
                          </a:solidFill>
                          <a:latin typeface="Calibri"/>
                        </a:rPr>
                        <a:t>i</a:t>
                      </a:r>
                      <a:r>
                        <a:rPr sz="1700" b="0">
                          <a:solidFill>
                            <a:srgbClr val="142B33"/>
                          </a:solidFill>
                          <a:latin typeface="Calibri"/>
                        </a:rPr>
                        <a:t> = (Contraste</a:t>
                      </a:r>
                      <a:r>
                        <a:rPr sz="1700" b="0" baseline="-25000">
                          <a:solidFill>
                            <a:srgbClr val="142B33"/>
                          </a:solidFill>
                          <a:latin typeface="Calibri"/>
                        </a:rPr>
                        <a:t>i</a:t>
                      </a:r>
                      <a:r>
                        <a:rPr sz="1700" b="0">
                          <a:solidFill>
                            <a:srgbClr val="142B33"/>
                          </a:solidFill>
                          <a:latin typeface="Calibri"/>
                        </a:rPr>
                        <a:t>)</a:t>
                      </a:r>
                      <a:r>
                        <a:rPr sz="1700" b="0" baseline="30000">
                          <a:solidFill>
                            <a:srgbClr val="142B33"/>
                          </a:solidFill>
                          <a:latin typeface="Calibri"/>
                        </a:rPr>
                        <a:t>2</a:t>
                      </a:r>
                      <a:r>
                        <a:rPr sz="1700" b="0">
                          <a:solidFill>
                            <a:srgbClr val="142B33"/>
                          </a:solidFill>
                          <a:latin typeface="Calibri"/>
                        </a:rPr>
                        <a:t> / N</a:t>
                      </a:r>
                    </a:p>
                  </a:txBody>
                  <a:tcPr marL="73152" marR="73152" marT="27432" marB="27432" anchor="ctr">
                    <a:solidFill>
                      <a:srgbClr val="FFFFFF"/>
                    </a:solidFill>
                  </a:tcPr>
                </a:tc>
                <a:tc>
                  <a:txBody>
                    <a:bodyPr/>
                    <a:lstStyle/>
                    <a:p>
                      <a:pPr algn="ctr"/>
                      <a:r>
                        <a:rPr sz="1700" b="0">
                          <a:solidFill>
                            <a:srgbClr val="142B33"/>
                          </a:solidFill>
                          <a:latin typeface="Calibri"/>
                        </a:rPr>
                        <a:t>1</a:t>
                      </a:r>
                    </a:p>
                  </a:txBody>
                  <a:tcPr marL="73152" marR="73152" marT="27432" marB="27432" anchor="ctr">
                    <a:solidFill>
                      <a:srgbClr val="FFFFFF"/>
                    </a:solidFill>
                  </a:tcPr>
                </a:tc>
                <a:tc>
                  <a:txBody>
                    <a:bodyPr/>
                    <a:lstStyle/>
                    <a:p>
                      <a:pPr algn="ctr"/>
                      <a:r>
                        <a:rPr sz="1700" b="0">
                          <a:solidFill>
                            <a:srgbClr val="142B33"/>
                          </a:solidFill>
                          <a:latin typeface="Calibri"/>
                        </a:rPr>
                        <a:t>MS</a:t>
                      </a:r>
                      <a:r>
                        <a:rPr sz="1700" b="0" baseline="-25000">
                          <a:solidFill>
                            <a:srgbClr val="142B33"/>
                          </a:solidFill>
                          <a:latin typeface="Calibri"/>
                        </a:rPr>
                        <a:t>i</a:t>
                      </a:r>
                      <a:r>
                        <a:rPr sz="1700" b="0">
                          <a:solidFill>
                            <a:srgbClr val="142B33"/>
                          </a:solidFill>
                          <a:latin typeface="Calibri"/>
                        </a:rPr>
                        <a:t> = SS</a:t>
                      </a:r>
                      <a:r>
                        <a:rPr sz="1700" b="0" baseline="-25000">
                          <a:solidFill>
                            <a:srgbClr val="142B33"/>
                          </a:solidFill>
                          <a:latin typeface="Calibri"/>
                        </a:rPr>
                        <a:t>i</a:t>
                      </a:r>
                    </a:p>
                  </a:txBody>
                  <a:tcPr marL="73152" marR="73152" marT="27432" marB="27432" anchor="ctr">
                    <a:solidFill>
                      <a:srgbClr val="FFFFFF"/>
                    </a:solidFill>
                  </a:tcPr>
                </a:tc>
                <a:tc>
                  <a:txBody>
                    <a:bodyPr/>
                    <a:lstStyle/>
                    <a:p>
                      <a:pPr algn="ctr"/>
                      <a:r>
                        <a:rPr sz="1700" b="0">
                          <a:solidFill>
                            <a:srgbClr val="142B33"/>
                          </a:solidFill>
                          <a:latin typeface="Calibri"/>
                        </a:rPr>
                        <a:t>MS</a:t>
                      </a:r>
                      <a:r>
                        <a:rPr sz="1700" b="0" baseline="-25000">
                          <a:solidFill>
                            <a:srgbClr val="142B33"/>
                          </a:solidFill>
                          <a:latin typeface="Calibri"/>
                        </a:rPr>
                        <a:t>i</a:t>
                      </a:r>
                      <a:r>
                        <a:rPr sz="1700" b="0">
                          <a:solidFill>
                            <a:srgbClr val="142B33"/>
                          </a:solidFill>
                          <a:latin typeface="Calibri"/>
                        </a:rPr>
                        <a:t> / MS</a:t>
                      </a:r>
                      <a:r>
                        <a:rPr sz="1700" b="0" baseline="-25000">
                          <a:solidFill>
                            <a:srgbClr val="142B33"/>
                          </a:solidFill>
                          <a:latin typeface="Calibri"/>
                        </a:rPr>
                        <a:t>E</a:t>
                      </a:r>
                    </a:p>
                  </a:txBody>
                  <a:tcPr marL="73152" marR="73152" marT="27432" marB="27432" anchor="ctr">
                    <a:solidFill>
                      <a:srgbClr val="FFFFFF"/>
                    </a:solidFill>
                  </a:tcPr>
                </a:tc>
              </a:tr>
              <a:tr h="645667">
                <a:tc>
                  <a:txBody>
                    <a:bodyPr/>
                    <a:lstStyle/>
                    <a:p>
                      <a:pPr algn="l"/>
                      <a:r>
                        <a:rPr sz="1700" b="0">
                          <a:solidFill>
                            <a:srgbClr val="142B33"/>
                          </a:solidFill>
                          <a:latin typeface="Calibri"/>
                        </a:rPr>
                        <a:t>Error</a:t>
                      </a:r>
                    </a:p>
                  </a:txBody>
                  <a:tcPr marL="73152" marR="73152" marT="27432" marB="27432" anchor="ctr">
                    <a:solidFill>
                      <a:srgbClr val="F4F8F9"/>
                    </a:solidFill>
                  </a:tcPr>
                </a:tc>
                <a:tc>
                  <a:txBody>
                    <a:bodyPr/>
                    <a:lstStyle/>
                    <a:p>
                      <a:pPr algn="l"/>
                      <a:r>
                        <a:rPr sz="1700" b="0">
                          <a:solidFill>
                            <a:srgbClr val="142B33"/>
                          </a:solidFill>
                          <a:latin typeface="Calibri"/>
                        </a:rPr>
                        <a:t>SS</a:t>
                      </a:r>
                      <a:r>
                        <a:rPr sz="1700" b="0" baseline="-25000">
                          <a:solidFill>
                            <a:srgbClr val="142B33"/>
                          </a:solidFill>
                          <a:latin typeface="Calibri"/>
                        </a:rPr>
                        <a:t>E</a:t>
                      </a:r>
                      <a:r>
                        <a:rPr sz="1700" b="0">
                          <a:solidFill>
                            <a:srgbClr val="142B33"/>
                          </a:solidFill>
                          <a:latin typeface="Calibri"/>
                        </a:rPr>
                        <a:t> = SS</a:t>
                      </a:r>
                      <a:r>
                        <a:rPr sz="1700" b="0" baseline="-25000">
                          <a:solidFill>
                            <a:srgbClr val="142B33"/>
                          </a:solidFill>
                          <a:latin typeface="Calibri"/>
                        </a:rPr>
                        <a:t>T</a:t>
                      </a:r>
                      <a:r>
                        <a:rPr sz="1700" b="0">
                          <a:solidFill>
                            <a:srgbClr val="142B33"/>
                          </a:solidFill>
                          <a:latin typeface="Calibri"/>
                        </a:rPr>
                        <a:t> − Σ SS</a:t>
                      </a:r>
                      <a:r>
                        <a:rPr sz="1700" b="0" baseline="-25000">
                          <a:solidFill>
                            <a:srgbClr val="142B33"/>
                          </a:solidFill>
                          <a:latin typeface="Calibri"/>
                        </a:rPr>
                        <a:t>i</a:t>
                      </a:r>
                      <a:r>
                        <a:rPr sz="1700" b="0">
                          <a:solidFill>
                            <a:srgbClr val="142B33"/>
                          </a:solidFill>
                          <a:latin typeface="Calibri"/>
                        </a:rPr>
                        <a:t>  (por sustracción)</a:t>
                      </a:r>
                    </a:p>
                  </a:txBody>
                  <a:tcPr marL="73152" marR="73152" marT="27432" marB="27432" anchor="ctr">
                    <a:solidFill>
                      <a:srgbClr val="F4F8F9"/>
                    </a:solidFill>
                  </a:tcPr>
                </a:tc>
                <a:tc>
                  <a:txBody>
                    <a:bodyPr/>
                    <a:lstStyle/>
                    <a:p>
                      <a:pPr algn="ctr"/>
                      <a:r>
                        <a:rPr sz="1700" b="0">
                          <a:solidFill>
                            <a:srgbClr val="142B33"/>
                          </a:solidFill>
                          <a:latin typeface="Calibri"/>
                        </a:rPr>
                        <a:t>N − 1 − m</a:t>
                      </a:r>
                    </a:p>
                  </a:txBody>
                  <a:tcPr marL="73152" marR="73152" marT="27432" marB="27432" anchor="ctr">
                    <a:solidFill>
                      <a:srgbClr val="F4F8F9"/>
                    </a:solidFill>
                  </a:tcPr>
                </a:tc>
                <a:tc>
                  <a:txBody>
                    <a:bodyPr/>
                    <a:lstStyle/>
                    <a:p>
                      <a:pPr algn="ctr"/>
                      <a:r>
                        <a:rPr sz="1700" b="0">
                          <a:solidFill>
                            <a:srgbClr val="142B33"/>
                          </a:solidFill>
                          <a:latin typeface="Calibri"/>
                        </a:rPr>
                        <a:t>SS</a:t>
                      </a:r>
                      <a:r>
                        <a:rPr sz="1700" b="0" baseline="-25000">
                          <a:solidFill>
                            <a:srgbClr val="142B33"/>
                          </a:solidFill>
                          <a:latin typeface="Calibri"/>
                        </a:rPr>
                        <a:t>E</a:t>
                      </a:r>
                      <a:r>
                        <a:rPr sz="1700" b="0">
                          <a:solidFill>
                            <a:srgbClr val="142B33"/>
                          </a:solidFill>
                          <a:latin typeface="Calibri"/>
                        </a:rPr>
                        <a:t> / (N − 1 − m)</a:t>
                      </a:r>
                    </a:p>
                  </a:txBody>
                  <a:tcPr marL="73152" marR="73152" marT="27432" marB="27432" anchor="ctr">
                    <a:solidFill>
                      <a:srgbClr val="F4F8F9"/>
                    </a:solidFill>
                  </a:tcPr>
                </a:tc>
                <a:tc>
                  <a:txBody>
                    <a:bodyPr/>
                    <a:lstStyle/>
                    <a:p>
                      <a:pPr algn="ctr"/>
                    </a:p>
                  </a:txBody>
                  <a:tcPr marL="73152" marR="73152" marT="27432" marB="27432" anchor="ctr">
                    <a:solidFill>
                      <a:srgbClr val="F4F8F9"/>
                    </a:solidFill>
                  </a:tcPr>
                </a:tc>
              </a:tr>
              <a:tr h="382269">
                <a:tc>
                  <a:txBody>
                    <a:bodyPr/>
                    <a:lstStyle/>
                    <a:p>
                      <a:pPr algn="l"/>
                      <a:r>
                        <a:rPr sz="1700" b="0">
                          <a:solidFill>
                            <a:srgbClr val="142B33"/>
                          </a:solidFill>
                          <a:latin typeface="Calibri"/>
                        </a:rPr>
                        <a:t>Total</a:t>
                      </a:r>
                    </a:p>
                  </a:txBody>
                  <a:tcPr marL="73152" marR="73152" marT="27432" marB="27432" anchor="ctr">
                    <a:solidFill>
                      <a:srgbClr val="FFFFFF"/>
                    </a:solidFill>
                  </a:tcPr>
                </a:tc>
                <a:tc>
                  <a:txBody>
                    <a:bodyPr/>
                    <a:lstStyle/>
                    <a:p>
                      <a:pPr algn="l"/>
                      <a:r>
                        <a:rPr sz="1700" b="0">
                          <a:solidFill>
                            <a:srgbClr val="142B33"/>
                          </a:solidFill>
                          <a:latin typeface="Calibri"/>
                        </a:rPr>
                        <a:t>SS</a:t>
                      </a:r>
                      <a:r>
                        <a:rPr sz="1700" b="0" baseline="-25000">
                          <a:solidFill>
                            <a:srgbClr val="142B33"/>
                          </a:solidFill>
                          <a:latin typeface="Calibri"/>
                        </a:rPr>
                        <a:t>T</a:t>
                      </a:r>
                      <a:r>
                        <a:rPr sz="1700" b="0">
                          <a:solidFill>
                            <a:srgbClr val="142B33"/>
                          </a:solidFill>
                          <a:latin typeface="Calibri"/>
                        </a:rPr>
                        <a:t> = Σ y</a:t>
                      </a:r>
                      <a:r>
                        <a:rPr sz="1700" b="0" baseline="30000">
                          <a:solidFill>
                            <a:srgbClr val="142B33"/>
                          </a:solidFill>
                          <a:latin typeface="Calibri"/>
                        </a:rPr>
                        <a:t>2</a:t>
                      </a:r>
                      <a:r>
                        <a:rPr sz="1700" b="0">
                          <a:solidFill>
                            <a:srgbClr val="142B33"/>
                          </a:solidFill>
                          <a:latin typeface="Calibri"/>
                        </a:rPr>
                        <a:t> − (Σ y)</a:t>
                      </a:r>
                      <a:r>
                        <a:rPr sz="1700" b="0" baseline="30000">
                          <a:solidFill>
                            <a:srgbClr val="142B33"/>
                          </a:solidFill>
                          <a:latin typeface="Calibri"/>
                        </a:rPr>
                        <a:t>2</a:t>
                      </a:r>
                      <a:r>
                        <a:rPr sz="1700" b="0">
                          <a:solidFill>
                            <a:srgbClr val="142B33"/>
                          </a:solidFill>
                          <a:latin typeface="Calibri"/>
                        </a:rPr>
                        <a:t> / N</a:t>
                      </a:r>
                    </a:p>
                  </a:txBody>
                  <a:tcPr marL="73152" marR="73152" marT="27432" marB="27432" anchor="ctr">
                    <a:solidFill>
                      <a:srgbClr val="FFFFFF"/>
                    </a:solidFill>
                  </a:tcPr>
                </a:tc>
                <a:tc>
                  <a:txBody>
                    <a:bodyPr/>
                    <a:lstStyle/>
                    <a:p>
                      <a:pPr algn="ctr"/>
                      <a:r>
                        <a:rPr sz="1700" b="0">
                          <a:solidFill>
                            <a:srgbClr val="142B33"/>
                          </a:solidFill>
                          <a:latin typeface="Calibri"/>
                        </a:rPr>
                        <a:t>N − 1</a:t>
                      </a:r>
                    </a:p>
                  </a:txBody>
                  <a:tcPr marL="73152" marR="73152" marT="27432" marB="27432" anchor="ctr">
                    <a:solidFill>
                      <a:srgbClr val="FFFFFF"/>
                    </a:solidFill>
                  </a:tcPr>
                </a:tc>
                <a:tc>
                  <a:txBody>
                    <a:bodyPr/>
                    <a:lstStyle/>
                    <a:p>
                      <a:pPr algn="ctr"/>
                    </a:p>
                  </a:txBody>
                  <a:tcPr marL="73152" marR="73152" marT="27432" marB="27432" anchor="ctr">
                    <a:solidFill>
                      <a:srgbClr val="FFFFFF"/>
                    </a:solidFill>
                  </a:tcPr>
                </a:tc>
                <a:tc>
                  <a:txBody>
                    <a:bodyPr/>
                    <a:lstStyle/>
                    <a:p>
                      <a:pPr algn="ctr"/>
                    </a:p>
                  </a:txBody>
                  <a:tcPr marL="73152" marR="73152" marT="27432" marB="27432" anchor="ctr">
                    <a:solidFill>
                      <a:srgbClr val="FFFFFF"/>
                    </a:solidFill>
                  </a:tcPr>
                </a:tc>
              </a:tr>
            </a:tbl>
          </a:graphicData>
        </a:graphic>
      </p:graphicFrame>
      <p:sp>
        <p:nvSpPr>
          <p:cNvPr id="4" name="TextBox 3"/>
          <p:cNvSpPr txBox="1"/>
          <p:nvPr/>
        </p:nvSpPr>
        <p:spPr>
          <a:xfrm>
            <a:off x="548640" y="3674364"/>
            <a:ext cx="11094415" cy="1037081"/>
          </a:xfrm>
          <a:prstGeom prst="rect">
            <a:avLst/>
          </a:prstGeom>
          <a:noFill/>
        </p:spPr>
        <p:txBody>
          <a:bodyPr wrap="square" anchor="t" lIns="0" rIns="0" tIns="0" bIns="0">
            <a:spAutoFit/>
          </a:bodyPr>
          <a:lstStyle/>
          <a:p>
            <a:pPr marL="320040" indent="-320040">
              <a:spcAft>
                <a:spcPts val="600"/>
              </a:spcAft>
              <a:buClr>
                <a:srgbClr val="E36414"/>
              </a:buClr>
              <a:buFont typeface="Arial"/>
              <a:buChar char="•"/>
            </a:pPr>
            <a:r>
              <a:rPr sz="1700" b="1">
                <a:solidFill>
                  <a:srgbClr val="142B33"/>
                </a:solidFill>
                <a:latin typeface="Calibri"/>
              </a:rPr>
              <a:t>m</a:t>
            </a:r>
            <a:r>
              <a:rPr sz="1700" b="0">
                <a:solidFill>
                  <a:srgbClr val="142B33"/>
                </a:solidFill>
                <a:latin typeface="Calibri"/>
              </a:rPr>
              <a:t>: número de efectos incluidos en el modelo; </a:t>
            </a:r>
            <a:r>
              <a:rPr sz="1700" b="1">
                <a:solidFill>
                  <a:srgbClr val="142B33"/>
                </a:solidFill>
                <a:latin typeface="Calibri"/>
              </a:rPr>
              <a:t>N</a:t>
            </a:r>
            <a:r>
              <a:rPr sz="1700" b="0">
                <a:solidFill>
                  <a:srgbClr val="142B33"/>
                </a:solidFill>
                <a:latin typeface="Calibri"/>
              </a:rPr>
              <a:t>: total de corridas</a:t>
            </a:r>
          </a:p>
          <a:p>
            <a:pPr marL="320040" indent="-320040">
              <a:spcAft>
                <a:spcPts val="600"/>
              </a:spcAft>
              <a:buClr>
                <a:srgbClr val="E36414"/>
              </a:buClr>
              <a:buFont typeface="Arial"/>
              <a:buChar char="•"/>
            </a:pPr>
            <a:r>
              <a:rPr sz="1700" b="0">
                <a:solidFill>
                  <a:srgbClr val="142B33"/>
                </a:solidFill>
                <a:latin typeface="Calibri"/>
              </a:rPr>
              <a:t>Se rechaza H</a:t>
            </a:r>
            <a:r>
              <a:rPr sz="1700" b="0" baseline="-25000">
                <a:solidFill>
                  <a:srgbClr val="142B33"/>
                </a:solidFill>
                <a:latin typeface="Calibri"/>
              </a:rPr>
              <a:t>0</a:t>
            </a:r>
            <a:r>
              <a:rPr sz="1700" b="0">
                <a:solidFill>
                  <a:srgbClr val="142B33"/>
                </a:solidFill>
                <a:latin typeface="Calibri"/>
              </a:rPr>
              <a:t> si  </a:t>
            </a:r>
            <a:r>
              <a:rPr sz="1700" b="1">
                <a:solidFill>
                  <a:srgbClr val="142B33"/>
                </a:solidFill>
                <a:latin typeface="Calibri"/>
              </a:rPr>
              <a:t>F</a:t>
            </a:r>
            <a:r>
              <a:rPr sz="1700" b="1" baseline="-25000">
                <a:solidFill>
                  <a:srgbClr val="142B33"/>
                </a:solidFill>
                <a:latin typeface="Calibri"/>
              </a:rPr>
              <a:t>0</a:t>
            </a:r>
            <a:r>
              <a:rPr sz="1700" b="1">
                <a:solidFill>
                  <a:srgbClr val="142B33"/>
                </a:solidFill>
                <a:latin typeface="Calibri"/>
              </a:rPr>
              <a:t> &gt; F</a:t>
            </a:r>
            <a:r>
              <a:rPr sz="1700" b="1" baseline="-25000">
                <a:solidFill>
                  <a:srgbClr val="142B33"/>
                </a:solidFill>
                <a:latin typeface="Calibri"/>
              </a:rPr>
              <a:t>α, 1, N−1−m</a:t>
            </a:r>
            <a:r>
              <a:rPr sz="1700" b="0">
                <a:solidFill>
                  <a:srgbClr val="142B33"/>
                </a:solidFill>
                <a:latin typeface="Calibri"/>
              </a:rPr>
              <a:t>  o si el valor p &lt; α</a:t>
            </a:r>
          </a:p>
          <a:p>
            <a:pPr marL="320040" indent="-320040">
              <a:spcAft>
                <a:spcPts val="600"/>
              </a:spcAft>
              <a:buClr>
                <a:srgbClr val="E36414"/>
              </a:buClr>
              <a:buFont typeface="Arial"/>
              <a:buChar char="•"/>
            </a:pPr>
            <a:r>
              <a:rPr sz="1700" b="0">
                <a:solidFill>
                  <a:srgbClr val="142B33"/>
                </a:solidFill>
                <a:latin typeface="Calibri"/>
              </a:rPr>
              <a:t>Con </a:t>
            </a:r>
            <a:r>
              <a:rPr sz="1700" b="1">
                <a:solidFill>
                  <a:srgbClr val="142B33"/>
                </a:solidFill>
                <a:latin typeface="Calibri"/>
              </a:rPr>
              <a:t>n réplicas</a:t>
            </a:r>
            <a:r>
              <a:rPr sz="1700" b="0">
                <a:solidFill>
                  <a:srgbClr val="142B33"/>
                </a:solidFill>
                <a:latin typeface="Calibri"/>
              </a:rPr>
              <a:t>:  N = n · 2</a:t>
            </a:r>
            <a:r>
              <a:rPr sz="1700" b="0" baseline="30000">
                <a:solidFill>
                  <a:srgbClr val="142B33"/>
                </a:solidFill>
                <a:latin typeface="Calibri"/>
              </a:rPr>
              <a:t>k−p</a:t>
            </a:r>
            <a:r>
              <a:rPr sz="1700" b="0">
                <a:solidFill>
                  <a:srgbClr val="142B33"/>
                </a:solidFill>
                <a:latin typeface="Calibri"/>
              </a:rPr>
              <a:t>  y hay error puro con 2</a:t>
            </a:r>
            <a:r>
              <a:rPr sz="1700" b="0" baseline="30000">
                <a:solidFill>
                  <a:srgbClr val="142B33"/>
                </a:solidFill>
                <a:latin typeface="Calibri"/>
              </a:rPr>
              <a:t>k−p</a:t>
            </a:r>
            <a:r>
              <a:rPr sz="1700" b="0">
                <a:solidFill>
                  <a:srgbClr val="142B33"/>
                </a:solidFill>
                <a:latin typeface="Calibri"/>
              </a:rPr>
              <a:t>(n − 1) g.l.</a:t>
            </a:r>
          </a:p>
        </p:txBody>
      </p:sp>
      <p:sp>
        <p:nvSpPr>
          <p:cNvPr id="5" name="TextBox 4"/>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El diseño 2</a:t>
            </a:r>
            <a:r>
              <a:rPr sz="1000" b="0" baseline="30000">
                <a:solidFill>
                  <a:srgbClr val="5B6B73"/>
                </a:solidFill>
                <a:latin typeface="Calibri"/>
              </a:rPr>
              <a:t>k−p</a:t>
            </a:r>
            <a:r>
              <a:rPr sz="1000" b="0">
                <a:solidFill>
                  <a:srgbClr val="5B6B73"/>
                </a:solidFill>
                <a:latin typeface="Calibri"/>
              </a:rPr>
              <a:t> general</a:t>
            </a:r>
          </a:p>
        </p:txBody>
      </p:sp>
      <p:sp>
        <p:nvSpPr>
          <p:cNvPr id="6" name="TextBox 5"/>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71</a:t>
            </a:r>
          </a:p>
        </p:txBody>
      </p:sp>
      <p:sp>
        <p:nvSpPr>
          <p:cNvPr id="7" name="Rounded Rectangle 6"/>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7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Sin réplicas no hay error: ¿cómo decido?</a:t>
            </a:r>
          </a:p>
        </p:txBody>
      </p:sp>
      <p:sp>
        <p:nvSpPr>
          <p:cNvPr id="3" name="TextBox 2"/>
          <p:cNvSpPr txBox="1"/>
          <p:nvPr/>
        </p:nvSpPr>
        <p:spPr>
          <a:xfrm>
            <a:off x="548640" y="1417320"/>
            <a:ext cx="11094415" cy="1362456"/>
          </a:xfrm>
          <a:prstGeom prst="rect">
            <a:avLst/>
          </a:prstGeom>
          <a:noFill/>
        </p:spPr>
        <p:txBody>
          <a:bodyPr wrap="square" anchor="t" lIns="0" rIns="0" tIns="0" bIns="0">
            <a:spAutoFit/>
          </a:bodyPr>
          <a:lstStyle/>
          <a:p>
            <a:pPr marL="320040" indent="-320040">
              <a:spcAft>
                <a:spcPts val="600"/>
              </a:spcAft>
              <a:buClr>
                <a:srgbClr val="E36414"/>
              </a:buClr>
              <a:buFont typeface="Arial"/>
              <a:buChar char="•"/>
            </a:pPr>
            <a:r>
              <a:rPr sz="1800" b="1">
                <a:solidFill>
                  <a:srgbClr val="142B33"/>
                </a:solidFill>
                <a:latin typeface="Calibri"/>
              </a:rPr>
              <a:t>Gráfica normal o seminormal de efectos</a:t>
            </a:r>
            <a:r>
              <a:rPr sz="1800" b="0">
                <a:solidFill>
                  <a:srgbClr val="142B33"/>
                </a:solidFill>
                <a:latin typeface="Calibri"/>
              </a:rPr>
              <a:t>: los inactivos caen sobre una recta</a:t>
            </a:r>
          </a:p>
          <a:p>
            <a:pPr marL="320040" indent="-320040">
              <a:spcAft>
                <a:spcPts val="600"/>
              </a:spcAft>
              <a:buClr>
                <a:srgbClr val="E36414"/>
              </a:buClr>
              <a:buFont typeface="Arial"/>
              <a:buChar char="•"/>
            </a:pPr>
            <a:r>
              <a:rPr sz="1800" b="1">
                <a:solidFill>
                  <a:srgbClr val="142B33"/>
                </a:solidFill>
                <a:latin typeface="Calibri"/>
              </a:rPr>
              <a:t>Pareto con método de Lenth</a:t>
            </a:r>
            <a:r>
              <a:rPr sz="1800" b="0">
                <a:solidFill>
                  <a:srgbClr val="142B33"/>
                </a:solidFill>
                <a:latin typeface="Calibri"/>
              </a:rPr>
              <a:t>: activo si |efecto| &gt; margen de error; complementa la gráfica normal, no la sustituye</a:t>
            </a:r>
          </a:p>
          <a:p>
            <a:pPr marL="320040" indent="-320040">
              <a:spcAft>
                <a:spcPts val="600"/>
              </a:spcAft>
              <a:buClr>
                <a:srgbClr val="E36414"/>
              </a:buClr>
              <a:buFont typeface="Arial"/>
              <a:buChar char="•"/>
            </a:pPr>
            <a:r>
              <a:rPr sz="1800" b="0">
                <a:solidFill>
                  <a:srgbClr val="142B33"/>
                </a:solidFill>
                <a:latin typeface="Calibri"/>
              </a:rPr>
              <a:t>Los efectos descartados pasan a formar el </a:t>
            </a:r>
            <a:r>
              <a:rPr sz="1800" b="1">
                <a:solidFill>
                  <a:srgbClr val="142B33"/>
                </a:solidFill>
                <a:latin typeface="Calibri"/>
              </a:rPr>
              <a:t>error</a:t>
            </a:r>
            <a:r>
              <a:rPr sz="1800" b="0">
                <a:solidFill>
                  <a:srgbClr val="142B33"/>
                </a:solidFill>
                <a:latin typeface="Calibri"/>
              </a:rPr>
              <a:t> del ANOVA</a:t>
            </a:r>
          </a:p>
        </p:txBody>
      </p:sp>
      <p:sp>
        <p:nvSpPr>
          <p:cNvPr id="4" name="Rounded Rectangle 3"/>
          <p:cNvSpPr/>
          <p:nvPr/>
        </p:nvSpPr>
        <p:spPr>
          <a:xfrm>
            <a:off x="548640" y="2980944"/>
            <a:ext cx="11094415" cy="1159337"/>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700" b="0">
                <a:solidFill>
                  <a:srgbClr val="0F4C5C"/>
                </a:solidFill>
                <a:latin typeface="Cambria Math"/>
              </a:rPr>
              <a:t>s</a:t>
            </a:r>
            <a:r>
              <a:rPr sz="1700" b="0" baseline="-25000">
                <a:solidFill>
                  <a:srgbClr val="0F4C5C"/>
                </a:solidFill>
                <a:latin typeface="Cambria Math"/>
              </a:rPr>
              <a:t>0</a:t>
            </a:r>
            <a:r>
              <a:rPr sz="1700" b="0">
                <a:solidFill>
                  <a:srgbClr val="0F4C5C"/>
                </a:solidFill>
                <a:latin typeface="Cambria Math"/>
              </a:rPr>
              <a:t> = 1.5 · mediana |ℓ</a:t>
            </a:r>
            <a:r>
              <a:rPr sz="1700" b="0" baseline="-25000">
                <a:solidFill>
                  <a:srgbClr val="0F4C5C"/>
                </a:solidFill>
                <a:latin typeface="Cambria Math"/>
              </a:rPr>
              <a:t>i</a:t>
            </a:r>
            <a:r>
              <a:rPr sz="1700" b="0">
                <a:solidFill>
                  <a:srgbClr val="0F4C5C"/>
                </a:solidFill>
                <a:latin typeface="Cambria Math"/>
              </a:rPr>
              <a:t>|</a:t>
            </a:r>
          </a:p>
          <a:p>
            <a:pPr algn="ctr"/>
            <a:r>
              <a:rPr sz="1700" b="0">
                <a:solidFill>
                  <a:srgbClr val="0F4C5C"/>
                </a:solidFill>
                <a:latin typeface="Cambria Math"/>
              </a:rPr>
              <a:t>PSE = 1.5 · mediana { |ℓ</a:t>
            </a:r>
            <a:r>
              <a:rPr sz="1700" b="0" baseline="-25000">
                <a:solidFill>
                  <a:srgbClr val="0F4C5C"/>
                </a:solidFill>
                <a:latin typeface="Cambria Math"/>
              </a:rPr>
              <a:t>i</a:t>
            </a:r>
            <a:r>
              <a:rPr sz="1700" b="0">
                <a:solidFill>
                  <a:srgbClr val="0F4C5C"/>
                </a:solidFill>
                <a:latin typeface="Cambria Math"/>
              </a:rPr>
              <a:t>| : |ℓ</a:t>
            </a:r>
            <a:r>
              <a:rPr sz="1700" b="0" baseline="-25000">
                <a:solidFill>
                  <a:srgbClr val="0F4C5C"/>
                </a:solidFill>
                <a:latin typeface="Cambria Math"/>
              </a:rPr>
              <a:t>i</a:t>
            </a:r>
            <a:r>
              <a:rPr sz="1700" b="0">
                <a:solidFill>
                  <a:srgbClr val="0F4C5C"/>
                </a:solidFill>
                <a:latin typeface="Cambria Math"/>
              </a:rPr>
              <a:t>| &lt; 2.5 s</a:t>
            </a:r>
            <a:r>
              <a:rPr sz="1700" b="0" baseline="-25000">
                <a:solidFill>
                  <a:srgbClr val="0F4C5C"/>
                </a:solidFill>
                <a:latin typeface="Cambria Math"/>
              </a:rPr>
              <a:t>0</a:t>
            </a:r>
            <a:r>
              <a:rPr sz="1700" b="0">
                <a:solidFill>
                  <a:srgbClr val="0F4C5C"/>
                </a:solidFill>
                <a:latin typeface="Cambria Math"/>
              </a:rPr>
              <a:t> }</a:t>
            </a:r>
          </a:p>
          <a:p>
            <a:pPr algn="ctr"/>
            <a:r>
              <a:rPr sz="1700" b="0">
                <a:solidFill>
                  <a:srgbClr val="0F4C5C"/>
                </a:solidFill>
                <a:latin typeface="Cambria Math"/>
              </a:rPr>
              <a:t>ME = t</a:t>
            </a:r>
            <a:r>
              <a:rPr sz="1700" b="0" baseline="-25000">
                <a:solidFill>
                  <a:srgbClr val="0F4C5C"/>
                </a:solidFill>
                <a:latin typeface="Cambria Math"/>
              </a:rPr>
              <a:t>0.025, m/3</a:t>
            </a:r>
            <a:r>
              <a:rPr sz="1700" b="0">
                <a:solidFill>
                  <a:srgbClr val="0F4C5C"/>
                </a:solidFill>
                <a:latin typeface="Cambria Math"/>
              </a:rPr>
              <a:t> · PSE</a:t>
            </a:r>
          </a:p>
        </p:txBody>
      </p:sp>
      <p:sp>
        <p:nvSpPr>
          <p:cNvPr id="5" name="Rounded Rectangle 4"/>
          <p:cNvSpPr/>
          <p:nvPr/>
        </p:nvSpPr>
        <p:spPr>
          <a:xfrm>
            <a:off x="548640" y="4341449"/>
            <a:ext cx="11094415"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Lenth solo es razonable con </a:t>
            </a:r>
            <a:r>
              <a:rPr sz="1500" b="1">
                <a:solidFill>
                  <a:srgbClr val="142B33"/>
                </a:solidFill>
                <a:latin typeface="Calibri"/>
              </a:rPr>
              <a:t>pocos efectos activos</a:t>
            </a:r>
            <a:r>
              <a:rPr sz="1500" b="0">
                <a:solidFill>
                  <a:srgbClr val="142B33"/>
                </a:solidFill>
                <a:latin typeface="Calibri"/>
              </a:rPr>
              <a:t>: en el ejemplo 1, con cinco de siete efectos grandes, no detecta ninguno (PSE = 24.75). Las cadenas activas se atribuyen con escasez, jerarquía y herencia</a:t>
            </a:r>
          </a:p>
        </p:txBody>
      </p:sp>
      <p:sp>
        <p:nvSpPr>
          <p:cNvPr id="6" name="TextBox 5"/>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El diseño 2</a:t>
            </a:r>
            <a:r>
              <a:rPr sz="1000" b="0" baseline="30000">
                <a:solidFill>
                  <a:srgbClr val="5B6B73"/>
                </a:solidFill>
                <a:latin typeface="Calibri"/>
              </a:rPr>
              <a:t>k−p</a:t>
            </a:r>
            <a:r>
              <a:rPr sz="1000" b="0">
                <a:solidFill>
                  <a:srgbClr val="5B6B73"/>
                </a:solidFill>
                <a:latin typeface="Calibri"/>
              </a:rPr>
              <a:t> general</a:t>
            </a:r>
          </a:p>
        </p:txBody>
      </p:sp>
      <p:sp>
        <p:nvSpPr>
          <p:cNvPr id="7" name="TextBox 6"/>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72</a:t>
            </a:r>
          </a:p>
        </p:txBody>
      </p:sp>
      <p:sp>
        <p:nvSpPr>
          <p:cNvPr id="8" name="Rounded Rectangle 7"/>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7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¿Qué debemos verificar sobre el modelo?</a:t>
            </a:r>
          </a:p>
        </p:txBody>
      </p:sp>
      <p:sp>
        <p:nvSpPr>
          <p:cNvPr id="3" name="Rounded Rectangle 2"/>
          <p:cNvSpPr/>
          <p:nvPr/>
        </p:nvSpPr>
        <p:spPr>
          <a:xfrm>
            <a:off x="548640" y="1417320"/>
            <a:ext cx="3845856" cy="725505"/>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2600" b="0">
                <a:solidFill>
                  <a:srgbClr val="0F4C5C"/>
                </a:solidFill>
                <a:latin typeface="Cambria Math"/>
              </a:rPr>
              <a:t>e = y − ŷ</a:t>
            </a:r>
          </a:p>
        </p:txBody>
      </p:sp>
      <p:sp>
        <p:nvSpPr>
          <p:cNvPr id="4" name="TextBox 3"/>
          <p:cNvSpPr txBox="1"/>
          <p:nvPr/>
        </p:nvSpPr>
        <p:spPr>
          <a:xfrm>
            <a:off x="548640" y="2343993"/>
            <a:ext cx="3845856" cy="532384"/>
          </a:xfrm>
          <a:prstGeom prst="rect">
            <a:avLst/>
          </a:prstGeom>
          <a:noFill/>
        </p:spPr>
        <p:txBody>
          <a:bodyPr wrap="square" anchor="t" lIns="0" rIns="0" tIns="0" bIns="0">
            <a:spAutoFit/>
          </a:bodyPr>
          <a:lstStyle/>
          <a:p>
            <a:r>
              <a:rPr sz="1600" b="0">
                <a:solidFill>
                  <a:srgbClr val="142B33"/>
                </a:solidFill>
                <a:latin typeface="Calibri"/>
              </a:rPr>
              <a:t>Residuo: respuesta observada menos valor ajustado por el modelo</a:t>
            </a:r>
          </a:p>
        </p:txBody>
      </p:sp>
      <p:sp>
        <p:nvSpPr>
          <p:cNvPr id="5" name="Rounded Rectangle 4"/>
          <p:cNvSpPr/>
          <p:nvPr/>
        </p:nvSpPr>
        <p:spPr>
          <a:xfrm>
            <a:off x="548640" y="3077545"/>
            <a:ext cx="3845856" cy="770128"/>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600" b="0">
                <a:solidFill>
                  <a:srgbClr val="142B33"/>
                </a:solidFill>
                <a:latin typeface="Calibri"/>
              </a:rPr>
              <a:t>Con pocos g.l. en el error, la verificación tiene </a:t>
            </a:r>
            <a:r>
              <a:rPr sz="1600" b="1">
                <a:solidFill>
                  <a:srgbClr val="142B33"/>
                </a:solidFill>
                <a:latin typeface="Calibri"/>
              </a:rPr>
              <a:t>poca potencia</a:t>
            </a:r>
          </a:p>
        </p:txBody>
      </p:sp>
      <p:graphicFrame>
        <p:nvGraphicFramePr>
          <p:cNvPr id="6" name="Table 5"/>
          <p:cNvGraphicFramePr>
            <a:graphicFrameLocks noGrp="1"/>
          </p:cNvGraphicFramePr>
          <p:nvPr/>
        </p:nvGraphicFramePr>
        <p:xfrm>
          <a:off x="4805976" y="1417320"/>
          <a:ext cx="6837077" cy="2210816"/>
        </p:xfrm>
        <a:graphic>
          <a:graphicData uri="http://schemas.openxmlformats.org/drawingml/2006/table">
            <a:tbl>
              <a:tblPr firstRow="0" bandRow="0">
                <a:tableStyleId>{5C22544A-7EE6-4342-B048-85BDC9FD1C3A}</a:tableStyleId>
              </a:tblPr>
              <a:tblGrid>
                <a:gridCol w="1777640"/>
                <a:gridCol w="2734831"/>
                <a:gridCol w="2324606"/>
              </a:tblGrid>
              <a:tr h="366776">
                <a:tc>
                  <a:txBody>
                    <a:bodyPr/>
                    <a:lstStyle/>
                    <a:p>
                      <a:pPr algn="l"/>
                      <a:r>
                        <a:rPr sz="1600" b="1">
                          <a:solidFill>
                            <a:srgbClr val="FFFFFF"/>
                          </a:solidFill>
                          <a:latin typeface="Calibri"/>
                        </a:rPr>
                        <a:t>Supuesto</a:t>
                      </a:r>
                    </a:p>
                  </a:txBody>
                  <a:tcPr marL="73152" marR="73152" marT="27432" marB="27432" anchor="ctr">
                    <a:solidFill>
                      <a:srgbClr val="0F4C5C"/>
                    </a:solidFill>
                  </a:tcPr>
                </a:tc>
                <a:tc>
                  <a:txBody>
                    <a:bodyPr/>
                    <a:lstStyle/>
                    <a:p>
                      <a:pPr algn="l"/>
                      <a:r>
                        <a:rPr sz="1600" b="1">
                          <a:solidFill>
                            <a:srgbClr val="FFFFFF"/>
                          </a:solidFill>
                          <a:latin typeface="Calibri"/>
                        </a:rPr>
                        <a:t>Prueba gráfica</a:t>
                      </a:r>
                    </a:p>
                  </a:txBody>
                  <a:tcPr marL="73152" marR="73152" marT="27432" marB="27432" anchor="ctr">
                    <a:solidFill>
                      <a:srgbClr val="0F4C5C"/>
                    </a:solidFill>
                  </a:tcPr>
                </a:tc>
                <a:tc>
                  <a:txBody>
                    <a:bodyPr/>
                    <a:lstStyle/>
                    <a:p>
                      <a:pPr algn="ctr"/>
                      <a:r>
                        <a:rPr sz="1600" b="1">
                          <a:solidFill>
                            <a:srgbClr val="FFFFFF"/>
                          </a:solidFill>
                          <a:latin typeface="Calibri"/>
                        </a:rPr>
                        <a:t>Prueba analítica</a:t>
                      </a:r>
                    </a:p>
                  </a:txBody>
                  <a:tcPr marL="73152" marR="73152" marT="27432" marB="27432" anchor="ctr">
                    <a:solidFill>
                      <a:srgbClr val="0F4C5C"/>
                    </a:solidFill>
                  </a:tcPr>
                </a:tc>
              </a:tr>
              <a:tr h="614680">
                <a:tc>
                  <a:txBody>
                    <a:bodyPr/>
                    <a:lstStyle/>
                    <a:p>
                      <a:pPr algn="l"/>
                      <a:r>
                        <a:rPr sz="1600" b="0">
                          <a:solidFill>
                            <a:srgbClr val="142B33"/>
                          </a:solidFill>
                          <a:latin typeface="Calibri"/>
                        </a:rPr>
                        <a:t>Normalidad</a:t>
                      </a:r>
                    </a:p>
                  </a:txBody>
                  <a:tcPr marL="73152" marR="73152" marT="27432" marB="27432" anchor="ctr">
                    <a:solidFill>
                      <a:srgbClr val="FFFFFF"/>
                    </a:solidFill>
                  </a:tcPr>
                </a:tc>
                <a:tc>
                  <a:txBody>
                    <a:bodyPr/>
                    <a:lstStyle/>
                    <a:p>
                      <a:pPr algn="l"/>
                      <a:r>
                        <a:rPr sz="1600" b="0">
                          <a:solidFill>
                            <a:srgbClr val="142B33"/>
                          </a:solidFill>
                          <a:latin typeface="Calibri"/>
                        </a:rPr>
                        <a:t>Probabilidad normal de residuos</a:t>
                      </a:r>
                    </a:p>
                  </a:txBody>
                  <a:tcPr marL="73152" marR="73152" marT="27432" marB="27432" anchor="ctr">
                    <a:solidFill>
                      <a:srgbClr val="FFFFFF"/>
                    </a:solidFill>
                  </a:tcPr>
                </a:tc>
                <a:tc>
                  <a:txBody>
                    <a:bodyPr/>
                    <a:lstStyle/>
                    <a:p>
                      <a:pPr algn="ctr"/>
                      <a:r>
                        <a:rPr sz="1600" b="0">
                          <a:solidFill>
                            <a:srgbClr val="142B33"/>
                          </a:solidFill>
                          <a:latin typeface="Calibri"/>
                        </a:rPr>
                        <a:t>Anderson-Darling, Shapiro-Wilk</a:t>
                      </a:r>
                    </a:p>
                  </a:txBody>
                  <a:tcPr marL="73152" marR="73152" marT="27432" marB="27432" anchor="ctr">
                    <a:solidFill>
                      <a:srgbClr val="FFFFFF"/>
                    </a:solidFill>
                  </a:tcPr>
                </a:tc>
              </a:tr>
              <a:tr h="614680">
                <a:tc>
                  <a:txBody>
                    <a:bodyPr/>
                    <a:lstStyle/>
                    <a:p>
                      <a:pPr algn="l"/>
                      <a:r>
                        <a:rPr sz="1600" b="0">
                          <a:solidFill>
                            <a:srgbClr val="142B33"/>
                          </a:solidFill>
                          <a:latin typeface="Calibri"/>
                        </a:rPr>
                        <a:t>Varianza constante</a:t>
                      </a:r>
                    </a:p>
                  </a:txBody>
                  <a:tcPr marL="73152" marR="73152" marT="27432" marB="27432" anchor="ctr">
                    <a:solidFill>
                      <a:srgbClr val="F4F8F9"/>
                    </a:solidFill>
                  </a:tcPr>
                </a:tc>
                <a:tc>
                  <a:txBody>
                    <a:bodyPr/>
                    <a:lstStyle/>
                    <a:p>
                      <a:pPr algn="l"/>
                      <a:r>
                        <a:rPr sz="1600" b="0">
                          <a:solidFill>
                            <a:srgbClr val="142B33"/>
                          </a:solidFill>
                          <a:latin typeface="Calibri"/>
                        </a:rPr>
                        <a:t>Residuos contra ajustados y contra cada factor</a:t>
                      </a:r>
                    </a:p>
                  </a:txBody>
                  <a:tcPr marL="73152" marR="73152" marT="27432" marB="27432" anchor="ctr">
                    <a:solidFill>
                      <a:srgbClr val="F4F8F9"/>
                    </a:solidFill>
                  </a:tcPr>
                </a:tc>
                <a:tc>
                  <a:txBody>
                    <a:bodyPr/>
                    <a:lstStyle/>
                    <a:p>
                      <a:pPr algn="ctr"/>
                      <a:r>
                        <a:rPr sz="1600" b="0">
                          <a:solidFill>
                            <a:srgbClr val="142B33"/>
                          </a:solidFill>
                          <a:latin typeface="Calibri"/>
                        </a:rPr>
                        <a:t>Bartlett, Levene modificada</a:t>
                      </a:r>
                    </a:p>
                  </a:txBody>
                  <a:tcPr marL="73152" marR="73152" marT="27432" marB="27432" anchor="ctr">
                    <a:solidFill>
                      <a:srgbClr val="F4F8F9"/>
                    </a:solidFill>
                  </a:tcPr>
                </a:tc>
              </a:tr>
              <a:tr h="614680">
                <a:tc>
                  <a:txBody>
                    <a:bodyPr/>
                    <a:lstStyle/>
                    <a:p>
                      <a:pPr algn="l"/>
                      <a:r>
                        <a:rPr sz="1600" b="0">
                          <a:solidFill>
                            <a:srgbClr val="142B33"/>
                          </a:solidFill>
                          <a:latin typeface="Calibri"/>
                        </a:rPr>
                        <a:t>Independencia</a:t>
                      </a:r>
                    </a:p>
                  </a:txBody>
                  <a:tcPr marL="73152" marR="73152" marT="27432" marB="27432" anchor="ctr">
                    <a:solidFill>
                      <a:srgbClr val="FFFFFF"/>
                    </a:solidFill>
                  </a:tcPr>
                </a:tc>
                <a:tc>
                  <a:txBody>
                    <a:bodyPr/>
                    <a:lstStyle/>
                    <a:p>
                      <a:pPr algn="l"/>
                      <a:r>
                        <a:rPr sz="1600" b="0">
                          <a:solidFill>
                            <a:srgbClr val="142B33"/>
                          </a:solidFill>
                          <a:latin typeface="Calibri"/>
                        </a:rPr>
                        <a:t>Residuos contra orden de corrida</a:t>
                      </a:r>
                    </a:p>
                  </a:txBody>
                  <a:tcPr marL="73152" marR="73152" marT="27432" marB="27432" anchor="ctr">
                    <a:solidFill>
                      <a:srgbClr val="FFFFFF"/>
                    </a:solidFill>
                  </a:tcPr>
                </a:tc>
                <a:tc>
                  <a:txBody>
                    <a:bodyPr/>
                    <a:lstStyle/>
                    <a:p>
                      <a:pPr algn="ctr"/>
                      <a:r>
                        <a:rPr sz="1600" b="0">
                          <a:solidFill>
                            <a:srgbClr val="142B33"/>
                          </a:solidFill>
                          <a:latin typeface="Calibri"/>
                        </a:rPr>
                        <a:t>Durbin-Watson</a:t>
                      </a:r>
                    </a:p>
                  </a:txBody>
                  <a:tcPr marL="73152" marR="73152" marT="27432" marB="27432" anchor="ctr">
                    <a:solidFill>
                      <a:srgbClr val="FFFFFF"/>
                    </a:solidFill>
                  </a:tcPr>
                </a:tc>
              </a:tr>
            </a:tbl>
          </a:graphicData>
        </a:graphic>
      </p:graphicFrame>
      <p:sp>
        <p:nvSpPr>
          <p:cNvPr id="7" name="TextBox 6"/>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El diseño 2</a:t>
            </a:r>
            <a:r>
              <a:rPr sz="1000" b="0" baseline="30000">
                <a:solidFill>
                  <a:srgbClr val="5B6B73"/>
                </a:solidFill>
                <a:latin typeface="Calibri"/>
              </a:rPr>
              <a:t>k−p</a:t>
            </a:r>
            <a:r>
              <a:rPr sz="1000" b="0">
                <a:solidFill>
                  <a:srgbClr val="5B6B73"/>
                </a:solidFill>
                <a:latin typeface="Calibri"/>
              </a:rPr>
              <a:t> general</a:t>
            </a:r>
          </a:p>
        </p:txBody>
      </p:sp>
      <p:sp>
        <p:nvSpPr>
          <p:cNvPr id="8" name="TextBox 7"/>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73</a:t>
            </a:r>
          </a:p>
        </p:txBody>
      </p:sp>
      <p:sp>
        <p:nvSpPr>
          <p:cNvPr id="9" name="Rounded Rectangle 8"/>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7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2 · Normalidad de los residuos</a:t>
            </a:r>
          </a:p>
        </p:txBody>
      </p:sp>
      <p:graphicFrame>
        <p:nvGraphicFramePr>
          <p:cNvPr id="3" name="Chart 2"/>
          <p:cNvGraphicFramePr>
            <a:graphicFrameLocks noGrp="1"/>
          </p:cNvGraphicFramePr>
          <p:nvPr/>
        </p:nvGraphicFramePr>
        <p:xfrm>
          <a:off x="548640" y="1417320"/>
          <a:ext cx="5768785" cy="4206240"/>
        </p:xfrm>
        <a:graphic>
          <a:graphicData uri="http://schemas.openxmlformats.org/drawingml/2006/chart">
            <c:chart xmlns:c="http://schemas.openxmlformats.org/drawingml/2006/chart" r:id="rId2"/>
          </a:graphicData>
        </a:graphic>
      </p:graphicFrame>
      <p:sp>
        <p:nvSpPr>
          <p:cNvPr id="4" name="Rounded Rectangle 3"/>
          <p:cNvSpPr/>
          <p:nvPr/>
        </p:nvSpPr>
        <p:spPr>
          <a:xfrm>
            <a:off x="6728905" y="1417320"/>
            <a:ext cx="4914150" cy="899038"/>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800" b="0">
                <a:solidFill>
                  <a:srgbClr val="0F4C5C"/>
                </a:solidFill>
                <a:latin typeface="Cambria Math"/>
              </a:rPr>
              <a:t>H</a:t>
            </a:r>
            <a:r>
              <a:rPr sz="1800" b="0" baseline="-25000">
                <a:solidFill>
                  <a:srgbClr val="0F4C5C"/>
                </a:solidFill>
                <a:latin typeface="Cambria Math"/>
              </a:rPr>
              <a:t>0</a:t>
            </a:r>
            <a:r>
              <a:rPr sz="1800" b="0">
                <a:solidFill>
                  <a:srgbClr val="0F4C5C"/>
                </a:solidFill>
                <a:latin typeface="Cambria Math"/>
              </a:rPr>
              <a:t>: los residuos son normales</a:t>
            </a:r>
          </a:p>
          <a:p>
            <a:pPr algn="ctr"/>
            <a:r>
              <a:rPr sz="1800" b="0">
                <a:solidFill>
                  <a:srgbClr val="0F4C5C"/>
                </a:solidFill>
                <a:latin typeface="Cambria Math"/>
              </a:rPr>
              <a:t>H</a:t>
            </a:r>
            <a:r>
              <a:rPr sz="1800" b="0" baseline="-25000">
                <a:solidFill>
                  <a:srgbClr val="0F4C5C"/>
                </a:solidFill>
                <a:latin typeface="Cambria Math"/>
              </a:rPr>
              <a:t>A</a:t>
            </a:r>
            <a:r>
              <a:rPr sz="1800" b="0">
                <a:solidFill>
                  <a:srgbClr val="0F4C5C"/>
                </a:solidFill>
                <a:latin typeface="Cambria Math"/>
              </a:rPr>
              <a:t>: los residuos no son normales</a:t>
            </a:r>
          </a:p>
        </p:txBody>
      </p:sp>
      <p:graphicFrame>
        <p:nvGraphicFramePr>
          <p:cNvPr id="5" name="Table 4"/>
          <p:cNvGraphicFramePr>
            <a:graphicFrameLocks noGrp="1"/>
          </p:cNvGraphicFramePr>
          <p:nvPr/>
        </p:nvGraphicFramePr>
        <p:xfrm>
          <a:off x="6728905" y="2517526"/>
          <a:ext cx="4914149" cy="1146807"/>
        </p:xfrm>
        <a:graphic>
          <a:graphicData uri="http://schemas.openxmlformats.org/drawingml/2006/table">
            <a:tbl>
              <a:tblPr firstRow="0" bandRow="0">
                <a:tableStyleId>{5C22544A-7EE6-4342-B048-85BDC9FD1C3A}</a:tableStyleId>
              </a:tblPr>
              <a:tblGrid>
                <a:gridCol w="3544882"/>
                <a:gridCol w="1369267"/>
              </a:tblGrid>
              <a:tr h="382269">
                <a:tc>
                  <a:txBody>
                    <a:bodyPr/>
                    <a:lstStyle/>
                    <a:p>
                      <a:pPr algn="l"/>
                      <a:r>
                        <a:rPr sz="1700" b="1">
                          <a:solidFill>
                            <a:srgbClr val="FFFFFF"/>
                          </a:solidFill>
                          <a:latin typeface="Calibri"/>
                        </a:rPr>
                        <a:t>Anderson-Darling</a:t>
                      </a:r>
                    </a:p>
                  </a:txBody>
                  <a:tcPr marL="73152" marR="73152" marT="27432" marB="27432" anchor="ctr">
                    <a:solidFill>
                      <a:srgbClr val="0F4C5C"/>
                    </a:solidFill>
                  </a:tcPr>
                </a:tc>
                <a:tc>
                  <a:txBody>
                    <a:bodyPr/>
                    <a:lstStyle/>
                    <a:p>
                      <a:pPr algn="ctr"/>
                      <a:r>
                        <a:rPr sz="1700" b="1">
                          <a:solidFill>
                            <a:srgbClr val="FFFFFF"/>
                          </a:solidFill>
                          <a:latin typeface="Calibri"/>
                        </a:rPr>
                        <a:t>Valor</a:t>
                      </a:r>
                    </a:p>
                  </a:txBody>
                  <a:tcPr marL="73152" marR="73152" marT="27432" marB="27432" anchor="ctr">
                    <a:solidFill>
                      <a:srgbClr val="0F4C5C"/>
                    </a:solidFill>
                  </a:tcPr>
                </a:tc>
              </a:tr>
              <a:tr h="382269">
                <a:tc>
                  <a:txBody>
                    <a:bodyPr/>
                    <a:lstStyle/>
                    <a:p>
                      <a:pPr algn="l"/>
                      <a:r>
                        <a:rPr sz="1700" b="0">
                          <a:solidFill>
                            <a:srgbClr val="142B33"/>
                          </a:solidFill>
                          <a:latin typeface="Calibri"/>
                        </a:rPr>
                        <a:t>A</a:t>
                      </a:r>
                      <a:r>
                        <a:rPr sz="1700" b="0" baseline="30000">
                          <a:solidFill>
                            <a:srgbClr val="142B33"/>
                          </a:solidFill>
                          <a:latin typeface="Calibri"/>
                        </a:rPr>
                        <a:t>2</a:t>
                      </a:r>
                    </a:p>
                  </a:txBody>
                  <a:tcPr marL="73152" marR="73152" marT="27432" marB="27432" anchor="ctr">
                    <a:solidFill>
                      <a:srgbClr val="FFFFFF"/>
                    </a:solidFill>
                  </a:tcPr>
                </a:tc>
                <a:tc>
                  <a:txBody>
                    <a:bodyPr/>
                    <a:lstStyle/>
                    <a:p>
                      <a:pPr algn="ctr"/>
                      <a:r>
                        <a:rPr sz="1700" b="0">
                          <a:solidFill>
                            <a:srgbClr val="142B33"/>
                          </a:solidFill>
                          <a:latin typeface="Calibri"/>
                        </a:rPr>
                        <a:t>0.314</a:t>
                      </a:r>
                    </a:p>
                  </a:txBody>
                  <a:tcPr marL="73152" marR="73152" marT="27432" marB="27432" anchor="ctr">
                    <a:solidFill>
                      <a:srgbClr val="FFFFFF"/>
                    </a:solidFill>
                  </a:tcPr>
                </a:tc>
              </a:tr>
              <a:tr h="382269">
                <a:tc>
                  <a:txBody>
                    <a:bodyPr/>
                    <a:lstStyle/>
                    <a:p>
                      <a:pPr algn="l"/>
                      <a:r>
                        <a:rPr sz="1700" b="0">
                          <a:solidFill>
                            <a:srgbClr val="142B33"/>
                          </a:solidFill>
                          <a:latin typeface="Calibri"/>
                        </a:rPr>
                        <a:t>Valor p</a:t>
                      </a:r>
                    </a:p>
                  </a:txBody>
                  <a:tcPr marL="73152" marR="73152" marT="27432" marB="27432" anchor="ctr">
                    <a:solidFill>
                      <a:srgbClr val="F4F8F9"/>
                    </a:solidFill>
                  </a:tcPr>
                </a:tc>
                <a:tc>
                  <a:txBody>
                    <a:bodyPr/>
                    <a:lstStyle/>
                    <a:p>
                      <a:pPr algn="ctr"/>
                      <a:r>
                        <a:rPr sz="1700" b="0">
                          <a:solidFill>
                            <a:srgbClr val="142B33"/>
                          </a:solidFill>
                          <a:latin typeface="Calibri"/>
                        </a:rPr>
                        <a:t>0.513</a:t>
                      </a:r>
                    </a:p>
                  </a:txBody>
                  <a:tcPr marL="73152" marR="73152" marT="27432" marB="27432" anchor="ctr">
                    <a:solidFill>
                      <a:srgbClr val="F4F8F9"/>
                    </a:solidFill>
                  </a:tcPr>
                </a:tc>
              </a:tr>
            </a:tbl>
          </a:graphicData>
        </a:graphic>
      </p:graphicFrame>
      <p:sp>
        <p:nvSpPr>
          <p:cNvPr id="6" name="Rounded Rectangle 5"/>
          <p:cNvSpPr/>
          <p:nvPr/>
        </p:nvSpPr>
        <p:spPr>
          <a:xfrm>
            <a:off x="6728905" y="3865504"/>
            <a:ext cx="4914150" cy="770128"/>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600" b="0">
                <a:solidFill>
                  <a:srgbClr val="142B33"/>
                </a:solidFill>
                <a:latin typeface="Calibri"/>
              </a:rPr>
              <a:t>Valor p &gt; 0.05: </a:t>
            </a:r>
            <a:r>
              <a:rPr sz="1600" b="1">
                <a:solidFill>
                  <a:srgbClr val="142B33"/>
                </a:solidFill>
                <a:latin typeface="Calibri"/>
              </a:rPr>
              <a:t>no se rechaza H</a:t>
            </a:r>
            <a:r>
              <a:rPr sz="1600" b="1" baseline="-25000">
                <a:solidFill>
                  <a:srgbClr val="142B33"/>
                </a:solidFill>
                <a:latin typeface="Calibri"/>
              </a:rPr>
              <a:t>0</a:t>
            </a:r>
            <a:r>
              <a:rPr sz="1600" b="0">
                <a:solidFill>
                  <a:srgbClr val="142B33"/>
                </a:solidFill>
                <a:latin typeface="Calibri"/>
              </a:rPr>
              <a:t>, los residuos son normales</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El diseño 2</a:t>
            </a:r>
            <a:r>
              <a:rPr sz="1000" b="0" baseline="30000">
                <a:solidFill>
                  <a:srgbClr val="5B6B73"/>
                </a:solidFill>
                <a:latin typeface="Calibri"/>
              </a:rPr>
              <a:t>k−p</a:t>
            </a:r>
            <a:r>
              <a:rPr sz="1000" b="0">
                <a:solidFill>
                  <a:srgbClr val="5B6B73"/>
                </a:solidFill>
                <a:latin typeface="Calibri"/>
              </a:rPr>
              <a:t> general</a:t>
            </a:r>
          </a:p>
        </p:txBody>
      </p:sp>
      <p:sp>
        <p:nvSpPr>
          <p:cNvPr id="8" name="TextBox 7"/>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74</a:t>
            </a:r>
          </a:p>
        </p:txBody>
      </p:sp>
      <p:sp>
        <p:nvSpPr>
          <p:cNvPr id="9" name="Rounded Rectangle 8"/>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7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2 · Varianza constante e independencia</a:t>
            </a:r>
          </a:p>
        </p:txBody>
      </p:sp>
      <p:graphicFrame>
        <p:nvGraphicFramePr>
          <p:cNvPr id="3" name="Chart 2"/>
          <p:cNvGraphicFramePr>
            <a:graphicFrameLocks noGrp="1"/>
          </p:cNvGraphicFramePr>
          <p:nvPr/>
        </p:nvGraphicFramePr>
        <p:xfrm>
          <a:off x="548640" y="1417320"/>
          <a:ext cx="5768785" cy="4206240"/>
        </p:xfrm>
        <a:graphic>
          <a:graphicData uri="http://schemas.openxmlformats.org/drawingml/2006/chart">
            <c:chart xmlns:c="http://schemas.openxmlformats.org/drawingml/2006/chart" r:id="rId2"/>
          </a:graphicData>
        </a:graphic>
      </p:graphicFrame>
      <p:sp>
        <p:nvSpPr>
          <p:cNvPr id="4" name="TextBox 3"/>
          <p:cNvSpPr txBox="1"/>
          <p:nvPr/>
        </p:nvSpPr>
        <p:spPr>
          <a:xfrm>
            <a:off x="6728905" y="1417320"/>
            <a:ext cx="4914150" cy="1563877"/>
          </a:xfrm>
          <a:prstGeom prst="rect">
            <a:avLst/>
          </a:prstGeom>
          <a:noFill/>
        </p:spPr>
        <p:txBody>
          <a:bodyPr wrap="square" anchor="t" lIns="0" rIns="0" tIns="0" bIns="0">
            <a:spAutoFit/>
          </a:bodyPr>
          <a:lstStyle/>
          <a:p>
            <a:pPr marL="320040" indent="-320040">
              <a:spcAft>
                <a:spcPts val="600"/>
              </a:spcAft>
              <a:buClr>
                <a:srgbClr val="E36414"/>
              </a:buClr>
              <a:buFont typeface="Arial"/>
              <a:buChar char="•"/>
            </a:pPr>
            <a:r>
              <a:rPr sz="1700" b="1">
                <a:solidFill>
                  <a:srgbClr val="142B33"/>
                </a:solidFill>
                <a:latin typeface="Calibri"/>
              </a:rPr>
              <a:t>Varianza constante:</a:t>
            </a:r>
            <a:r>
              <a:rPr sz="1700" b="0">
                <a:solidFill>
                  <a:srgbClr val="142B33"/>
                </a:solidFill>
                <a:latin typeface="Calibri"/>
              </a:rPr>
              <a:t> banda horizontal, sin forma de embudo  →  se cumple</a:t>
            </a:r>
          </a:p>
          <a:p>
            <a:pPr marL="320040" indent="-320040">
              <a:spcAft>
                <a:spcPts val="600"/>
              </a:spcAft>
              <a:buClr>
                <a:srgbClr val="E36414"/>
              </a:buClr>
              <a:buFont typeface="Arial"/>
              <a:buChar char="•"/>
            </a:pPr>
            <a:r>
              <a:rPr sz="1700" b="1">
                <a:solidFill>
                  <a:srgbClr val="142B33"/>
                </a:solidFill>
                <a:latin typeface="Calibri"/>
              </a:rPr>
              <a:t>Independencia:</a:t>
            </a:r>
            <a:r>
              <a:rPr sz="1700" b="0">
                <a:solidFill>
                  <a:srgbClr val="142B33"/>
                </a:solidFill>
                <a:latin typeface="Calibri"/>
              </a:rPr>
              <a:t> residuos contra </a:t>
            </a:r>
            <a:r>
              <a:rPr sz="1700" b="1">
                <a:solidFill>
                  <a:srgbClr val="142B33"/>
                </a:solidFill>
                <a:latin typeface="Calibri"/>
              </a:rPr>
              <a:t>orden de corrida</a:t>
            </a:r>
            <a:r>
              <a:rPr sz="1700" b="0">
                <a:solidFill>
                  <a:srgbClr val="142B33"/>
                </a:solidFill>
                <a:latin typeface="Calibri"/>
              </a:rPr>
              <a:t>; sin tendencias ni rachas</a:t>
            </a:r>
          </a:p>
          <a:p>
            <a:pPr marL="320040" indent="-320040">
              <a:spcAft>
                <a:spcPts val="600"/>
              </a:spcAft>
              <a:buClr>
                <a:srgbClr val="E36414"/>
              </a:buClr>
              <a:buFont typeface="Arial"/>
              <a:buChar char="•"/>
            </a:pPr>
            <a:r>
              <a:rPr sz="1700" b="0">
                <a:solidFill>
                  <a:srgbClr val="142B33"/>
                </a:solidFill>
                <a:latin typeface="Calibri"/>
              </a:rPr>
              <a:t>Prueba analítica: </a:t>
            </a:r>
            <a:r>
              <a:rPr sz="1700" b="1">
                <a:solidFill>
                  <a:srgbClr val="142B33"/>
                </a:solidFill>
                <a:latin typeface="Calibri"/>
              </a:rPr>
              <a:t>Durbin-Watson</a:t>
            </a:r>
          </a:p>
        </p:txBody>
      </p:sp>
      <p:sp>
        <p:nvSpPr>
          <p:cNvPr id="5" name="Rounded Rectangle 4"/>
          <p:cNvSpPr/>
          <p:nvPr/>
        </p:nvSpPr>
        <p:spPr>
          <a:xfrm>
            <a:off x="6728905" y="3182365"/>
            <a:ext cx="4914150" cy="586679"/>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800" b="0">
                <a:solidFill>
                  <a:srgbClr val="0F4C5C"/>
                </a:solidFill>
                <a:latin typeface="Cambria Math"/>
              </a:rPr>
              <a:t>d = Σ (e</a:t>
            </a:r>
            <a:r>
              <a:rPr sz="1800" b="0" baseline="-25000">
                <a:solidFill>
                  <a:srgbClr val="0F4C5C"/>
                </a:solidFill>
                <a:latin typeface="Cambria Math"/>
              </a:rPr>
              <a:t>t</a:t>
            </a:r>
            <a:r>
              <a:rPr sz="1800" b="0">
                <a:solidFill>
                  <a:srgbClr val="0F4C5C"/>
                </a:solidFill>
                <a:latin typeface="Cambria Math"/>
              </a:rPr>
              <a:t> − e</a:t>
            </a:r>
            <a:r>
              <a:rPr sz="1800" b="0" baseline="-25000">
                <a:solidFill>
                  <a:srgbClr val="0F4C5C"/>
                </a:solidFill>
                <a:latin typeface="Cambria Math"/>
              </a:rPr>
              <a:t>t−1</a:t>
            </a:r>
            <a:r>
              <a:rPr sz="1800" b="0">
                <a:solidFill>
                  <a:srgbClr val="0F4C5C"/>
                </a:solidFill>
                <a:latin typeface="Cambria Math"/>
              </a:rPr>
              <a:t>)</a:t>
            </a:r>
            <a:r>
              <a:rPr sz="1800" b="0" baseline="30000">
                <a:solidFill>
                  <a:srgbClr val="0F4C5C"/>
                </a:solidFill>
                <a:latin typeface="Cambria Math"/>
              </a:rPr>
              <a:t>2</a:t>
            </a:r>
            <a:r>
              <a:rPr sz="1800" b="0">
                <a:solidFill>
                  <a:srgbClr val="0F4C5C"/>
                </a:solidFill>
                <a:latin typeface="Cambria Math"/>
              </a:rPr>
              <a:t> / Σ e</a:t>
            </a:r>
            <a:r>
              <a:rPr sz="1800" b="0" baseline="-25000">
                <a:solidFill>
                  <a:srgbClr val="0F4C5C"/>
                </a:solidFill>
                <a:latin typeface="Cambria Math"/>
              </a:rPr>
              <a:t>t</a:t>
            </a:r>
            <a:r>
              <a:rPr sz="1800" b="0" baseline="30000">
                <a:solidFill>
                  <a:srgbClr val="0F4C5C"/>
                </a:solidFill>
                <a:latin typeface="Cambria Math"/>
              </a:rPr>
              <a:t>2</a:t>
            </a:r>
          </a:p>
        </p:txBody>
      </p:sp>
      <p:sp>
        <p:nvSpPr>
          <p:cNvPr id="6" name="Rounded Rectangle 5"/>
          <p:cNvSpPr/>
          <p:nvPr/>
        </p:nvSpPr>
        <p:spPr>
          <a:xfrm>
            <a:off x="6728905" y="3970213"/>
            <a:ext cx="4914150"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Sin el orden de corrida registrado, la independencia </a:t>
            </a:r>
            <a:r>
              <a:rPr sz="1500" b="1">
                <a:solidFill>
                  <a:srgbClr val="142B33"/>
                </a:solidFill>
                <a:latin typeface="Calibri"/>
              </a:rPr>
              <a:t>no se puede verificar</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El diseño 2</a:t>
            </a:r>
            <a:r>
              <a:rPr sz="1000" b="0" baseline="30000">
                <a:solidFill>
                  <a:srgbClr val="5B6B73"/>
                </a:solidFill>
                <a:latin typeface="Calibri"/>
              </a:rPr>
              <a:t>k−p</a:t>
            </a:r>
            <a:r>
              <a:rPr sz="1000" b="0">
                <a:solidFill>
                  <a:srgbClr val="5B6B73"/>
                </a:solidFill>
                <a:latin typeface="Calibri"/>
              </a:rPr>
              <a:t> general</a:t>
            </a:r>
          </a:p>
        </p:txBody>
      </p:sp>
      <p:sp>
        <p:nvSpPr>
          <p:cNvPr id="8" name="TextBox 7"/>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75</a:t>
            </a:r>
          </a:p>
        </p:txBody>
      </p:sp>
      <p:sp>
        <p:nvSpPr>
          <p:cNvPr id="9" name="Rounded Rectangle 8"/>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7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¿Qué hago si se viola un supuesto?</a:t>
            </a:r>
          </a:p>
        </p:txBody>
      </p:sp>
      <p:graphicFrame>
        <p:nvGraphicFramePr>
          <p:cNvPr id="3" name="Table 2"/>
          <p:cNvGraphicFramePr>
            <a:graphicFrameLocks noGrp="1"/>
          </p:cNvGraphicFramePr>
          <p:nvPr/>
        </p:nvGraphicFramePr>
        <p:xfrm>
          <a:off x="548640" y="1417320"/>
          <a:ext cx="11094414" cy="2825496"/>
        </p:xfrm>
        <a:graphic>
          <a:graphicData uri="http://schemas.openxmlformats.org/drawingml/2006/table">
            <a:tbl>
              <a:tblPr firstRow="0" bandRow="0">
                <a:tableStyleId>{5C22544A-7EE6-4342-B048-85BDC9FD1C3A}</a:tableStyleId>
              </a:tblPr>
              <a:tblGrid>
                <a:gridCol w="2218883"/>
                <a:gridCol w="3993989"/>
                <a:gridCol w="4881542"/>
              </a:tblGrid>
              <a:tr h="366776">
                <a:tc>
                  <a:txBody>
                    <a:bodyPr/>
                    <a:lstStyle/>
                    <a:p>
                      <a:pPr algn="l"/>
                      <a:r>
                        <a:rPr sz="1600" b="1">
                          <a:solidFill>
                            <a:srgbClr val="FFFFFF"/>
                          </a:solidFill>
                          <a:latin typeface="Calibri"/>
                        </a:rPr>
                        <a:t>Problema</a:t>
                      </a:r>
                    </a:p>
                  </a:txBody>
                  <a:tcPr marL="73152" marR="73152" marT="27432" marB="27432" anchor="ctr">
                    <a:solidFill>
                      <a:srgbClr val="0F4C5C"/>
                    </a:solidFill>
                  </a:tcPr>
                </a:tc>
                <a:tc>
                  <a:txBody>
                    <a:bodyPr/>
                    <a:lstStyle/>
                    <a:p>
                      <a:pPr algn="l"/>
                      <a:r>
                        <a:rPr sz="1600" b="1">
                          <a:solidFill>
                            <a:srgbClr val="FFFFFF"/>
                          </a:solidFill>
                          <a:latin typeface="Calibri"/>
                        </a:rPr>
                        <a:t>Síntoma</a:t>
                      </a:r>
                    </a:p>
                  </a:txBody>
                  <a:tcPr marL="73152" marR="73152" marT="27432" marB="27432" anchor="ctr">
                    <a:solidFill>
                      <a:srgbClr val="0F4C5C"/>
                    </a:solidFill>
                  </a:tcPr>
                </a:tc>
                <a:tc>
                  <a:txBody>
                    <a:bodyPr/>
                    <a:lstStyle/>
                    <a:p>
                      <a:pPr algn="l"/>
                      <a:r>
                        <a:rPr sz="1600" b="1">
                          <a:solidFill>
                            <a:srgbClr val="FFFFFF"/>
                          </a:solidFill>
                          <a:latin typeface="Calibri"/>
                        </a:rPr>
                        <a:t>Qué hacer</a:t>
                      </a:r>
                    </a:p>
                  </a:txBody>
                  <a:tcPr marL="73152" marR="73152" marT="27432" marB="27432" anchor="ctr">
                    <a:solidFill>
                      <a:srgbClr val="0F4C5C"/>
                    </a:solidFill>
                  </a:tcPr>
                </a:tc>
              </a:tr>
              <a:tr h="614680">
                <a:tc>
                  <a:txBody>
                    <a:bodyPr/>
                    <a:lstStyle/>
                    <a:p>
                      <a:pPr algn="l"/>
                      <a:r>
                        <a:rPr sz="1600" b="0">
                          <a:solidFill>
                            <a:srgbClr val="142B33"/>
                          </a:solidFill>
                          <a:latin typeface="Calibri"/>
                        </a:rPr>
                        <a:t>No normalidad</a:t>
                      </a:r>
                    </a:p>
                  </a:txBody>
                  <a:tcPr marL="73152" marR="73152" marT="27432" marB="27432" anchor="ctr">
                    <a:solidFill>
                      <a:srgbClr val="FFFFFF"/>
                    </a:solidFill>
                  </a:tcPr>
                </a:tc>
                <a:tc>
                  <a:txBody>
                    <a:bodyPr/>
                    <a:lstStyle/>
                    <a:p>
                      <a:pPr algn="l"/>
                      <a:r>
                        <a:rPr sz="1600" b="0">
                          <a:solidFill>
                            <a:srgbClr val="142B33"/>
                          </a:solidFill>
                          <a:latin typeface="Calibri"/>
                        </a:rPr>
                        <a:t>Curvatura o puntos alejados en la gráfica normal</a:t>
                      </a:r>
                    </a:p>
                  </a:txBody>
                  <a:tcPr marL="73152" marR="73152" marT="27432" marB="27432" anchor="ctr">
                    <a:solidFill>
                      <a:srgbClr val="FFFFFF"/>
                    </a:solidFill>
                  </a:tcPr>
                </a:tc>
                <a:tc>
                  <a:txBody>
                    <a:bodyPr/>
                    <a:lstStyle/>
                    <a:p>
                      <a:pPr algn="l"/>
                      <a:r>
                        <a:rPr sz="1600" b="0">
                          <a:solidFill>
                            <a:srgbClr val="142B33"/>
                          </a:solidFill>
                          <a:latin typeface="Calibri"/>
                        </a:rPr>
                        <a:t>Revisar atípicos; transformar la respuesta</a:t>
                      </a:r>
                    </a:p>
                  </a:txBody>
                  <a:tcPr marL="73152" marR="73152" marT="27432" marB="27432" anchor="ctr">
                    <a:solidFill>
                      <a:srgbClr val="FFFFFF"/>
                    </a:solidFill>
                  </a:tcPr>
                </a:tc>
              </a:tr>
              <a:tr h="614680">
                <a:tc>
                  <a:txBody>
                    <a:bodyPr/>
                    <a:lstStyle/>
                    <a:p>
                      <a:pPr algn="l"/>
                      <a:r>
                        <a:rPr sz="1600" b="0">
                          <a:solidFill>
                            <a:srgbClr val="142B33"/>
                          </a:solidFill>
                          <a:latin typeface="Calibri"/>
                        </a:rPr>
                        <a:t>Varianza no constante</a:t>
                      </a:r>
                    </a:p>
                  </a:txBody>
                  <a:tcPr marL="73152" marR="73152" marT="27432" marB="27432" anchor="ctr">
                    <a:solidFill>
                      <a:srgbClr val="F4F8F9"/>
                    </a:solidFill>
                  </a:tcPr>
                </a:tc>
                <a:tc>
                  <a:txBody>
                    <a:bodyPr/>
                    <a:lstStyle/>
                    <a:p>
                      <a:pPr algn="l"/>
                      <a:r>
                        <a:rPr sz="1600" b="0">
                          <a:solidFill>
                            <a:srgbClr val="142B33"/>
                          </a:solidFill>
                          <a:latin typeface="Calibri"/>
                        </a:rPr>
                        <a:t>Embudo en residuos contra ajustados</a:t>
                      </a:r>
                    </a:p>
                  </a:txBody>
                  <a:tcPr marL="73152" marR="73152" marT="27432" marB="27432" anchor="ctr">
                    <a:solidFill>
                      <a:srgbClr val="F4F8F9"/>
                    </a:solidFill>
                  </a:tcPr>
                </a:tc>
                <a:tc>
                  <a:txBody>
                    <a:bodyPr/>
                    <a:lstStyle/>
                    <a:p>
                      <a:pPr algn="l"/>
                      <a:r>
                        <a:rPr sz="1600" b="0">
                          <a:solidFill>
                            <a:srgbClr val="142B33"/>
                          </a:solidFill>
                          <a:latin typeface="Calibri"/>
                        </a:rPr>
                        <a:t>Transformar la respuesta (logaritmo, raíz, Box-Cox)</a:t>
                      </a:r>
                    </a:p>
                  </a:txBody>
                  <a:tcPr marL="73152" marR="73152" marT="27432" marB="27432" anchor="ctr">
                    <a:solidFill>
                      <a:srgbClr val="F4F8F9"/>
                    </a:solidFill>
                  </a:tcPr>
                </a:tc>
              </a:tr>
              <a:tr h="614680">
                <a:tc>
                  <a:txBody>
                    <a:bodyPr/>
                    <a:lstStyle/>
                    <a:p>
                      <a:pPr algn="l"/>
                      <a:r>
                        <a:rPr sz="1600" b="0">
                          <a:solidFill>
                            <a:srgbClr val="142B33"/>
                          </a:solidFill>
                          <a:latin typeface="Calibri"/>
                        </a:rPr>
                        <a:t>Dependencia</a:t>
                      </a:r>
                    </a:p>
                  </a:txBody>
                  <a:tcPr marL="73152" marR="73152" marT="27432" marB="27432" anchor="ctr">
                    <a:solidFill>
                      <a:srgbClr val="FFFFFF"/>
                    </a:solidFill>
                  </a:tcPr>
                </a:tc>
                <a:tc>
                  <a:txBody>
                    <a:bodyPr/>
                    <a:lstStyle/>
                    <a:p>
                      <a:pPr algn="l"/>
                      <a:r>
                        <a:rPr sz="1600" b="0">
                          <a:solidFill>
                            <a:srgbClr val="142B33"/>
                          </a:solidFill>
                          <a:latin typeface="Calibri"/>
                        </a:rPr>
                        <a:t>Tendencia o rachas contra el orden de corrida</a:t>
                      </a:r>
                    </a:p>
                  </a:txBody>
                  <a:tcPr marL="73152" marR="73152" marT="27432" marB="27432" anchor="ctr">
                    <a:solidFill>
                      <a:srgbClr val="FFFFFF"/>
                    </a:solidFill>
                  </a:tcPr>
                </a:tc>
                <a:tc>
                  <a:txBody>
                    <a:bodyPr/>
                    <a:lstStyle/>
                    <a:p>
                      <a:pPr algn="l"/>
                      <a:r>
                        <a:rPr sz="1600" b="0">
                          <a:solidFill>
                            <a:srgbClr val="142B33"/>
                          </a:solidFill>
                          <a:latin typeface="Calibri"/>
                        </a:rPr>
                        <a:t>Difícil de corregir: prevenir aleatorizando; incluir la fuente como bloque o covariable</a:t>
                      </a:r>
                    </a:p>
                  </a:txBody>
                  <a:tcPr marL="73152" marR="73152" marT="27432" marB="27432" anchor="ctr">
                    <a:solidFill>
                      <a:srgbClr val="FFFFFF"/>
                    </a:solidFill>
                  </a:tcPr>
                </a:tc>
              </a:tr>
              <a:tr h="614680">
                <a:tc>
                  <a:txBody>
                    <a:bodyPr/>
                    <a:lstStyle/>
                    <a:p>
                      <a:pPr algn="l"/>
                      <a:r>
                        <a:rPr sz="1600" b="0">
                          <a:solidFill>
                            <a:srgbClr val="142B33"/>
                          </a:solidFill>
                          <a:latin typeface="Calibri"/>
                        </a:rPr>
                        <a:t>Modelo incompleto</a:t>
                      </a:r>
                    </a:p>
                  </a:txBody>
                  <a:tcPr marL="73152" marR="73152" marT="27432" marB="27432" anchor="ctr">
                    <a:solidFill>
                      <a:srgbClr val="F4F8F9"/>
                    </a:solidFill>
                  </a:tcPr>
                </a:tc>
                <a:tc>
                  <a:txBody>
                    <a:bodyPr/>
                    <a:lstStyle/>
                    <a:p>
                      <a:pPr algn="l"/>
                      <a:r>
                        <a:rPr sz="1600" b="0">
                          <a:solidFill>
                            <a:srgbClr val="142B33"/>
                          </a:solidFill>
                          <a:latin typeface="Calibri"/>
                        </a:rPr>
                        <a:t>Patrón en los residuos</a:t>
                      </a:r>
                    </a:p>
                  </a:txBody>
                  <a:tcPr marL="73152" marR="73152" marT="27432" marB="27432" anchor="ctr">
                    <a:solidFill>
                      <a:srgbClr val="F4F8F9"/>
                    </a:solidFill>
                  </a:tcPr>
                </a:tc>
                <a:tc>
                  <a:txBody>
                    <a:bodyPr/>
                    <a:lstStyle/>
                    <a:p>
                      <a:pPr algn="l"/>
                      <a:r>
                        <a:rPr sz="1600" b="0">
                          <a:solidFill>
                            <a:srgbClr val="142B33"/>
                          </a:solidFill>
                          <a:latin typeface="Calibri"/>
                        </a:rPr>
                        <a:t>Revisar cadenas de alias; agregar términos o corridas</a:t>
                      </a:r>
                    </a:p>
                  </a:txBody>
                  <a:tcPr marL="73152" marR="73152" marT="27432" marB="27432" anchor="ctr">
                    <a:solidFill>
                      <a:srgbClr val="F4F8F9"/>
                    </a:solidFill>
                  </a:tcPr>
                </a:tc>
              </a:tr>
            </a:tbl>
          </a:graphicData>
        </a:graphic>
      </p:graphicFrame>
      <p:sp>
        <p:nvSpPr>
          <p:cNvPr id="4" name="TextBox 3"/>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El diseño 2</a:t>
            </a:r>
            <a:r>
              <a:rPr sz="1000" b="0" baseline="30000">
                <a:solidFill>
                  <a:srgbClr val="5B6B73"/>
                </a:solidFill>
                <a:latin typeface="Calibri"/>
              </a:rPr>
              <a:t>k−p</a:t>
            </a:r>
            <a:r>
              <a:rPr sz="1000" b="0">
                <a:solidFill>
                  <a:srgbClr val="5B6B73"/>
                </a:solidFill>
                <a:latin typeface="Calibri"/>
              </a:rPr>
              <a:t> general</a:t>
            </a:r>
          </a:p>
        </p:txBody>
      </p:sp>
      <p:sp>
        <p:nvSpPr>
          <p:cNvPr id="5" name="TextBox 4"/>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76</a:t>
            </a:r>
          </a:p>
        </p:txBody>
      </p:sp>
      <p:sp>
        <p:nvSpPr>
          <p:cNvPr id="6" name="Rounded Rectangle 5"/>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7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¿Cómo aprovecho la proyección al asignar los factores a las columnas?</a:t>
            </a:r>
          </a:p>
        </p:txBody>
      </p:sp>
      <p:graphicFrame>
        <p:nvGraphicFramePr>
          <p:cNvPr id="3" name="Table 2"/>
          <p:cNvGraphicFramePr>
            <a:graphicFrameLocks noGrp="1"/>
          </p:cNvGraphicFramePr>
          <p:nvPr/>
        </p:nvGraphicFramePr>
        <p:xfrm>
          <a:off x="548640" y="1417320"/>
          <a:ext cx="5127808" cy="2810256"/>
        </p:xfrm>
        <a:graphic>
          <a:graphicData uri="http://schemas.openxmlformats.org/drawingml/2006/table">
            <a:tbl>
              <a:tblPr firstRow="0" bandRow="0">
                <a:tableStyleId>{5C22544A-7EE6-4342-B048-85BDC9FD1C3A}</a:tableStyleId>
              </a:tblPr>
              <a:tblGrid>
                <a:gridCol w="1538342"/>
                <a:gridCol w="3589466"/>
              </a:tblGrid>
              <a:tr h="351282">
                <a:tc>
                  <a:txBody>
                    <a:bodyPr/>
                    <a:lstStyle/>
                    <a:p>
                      <a:pPr algn="l"/>
                      <a:r>
                        <a:rPr sz="1500" b="1">
                          <a:solidFill>
                            <a:srgbClr val="FFFFFF"/>
                          </a:solidFill>
                          <a:latin typeface="Calibri"/>
                        </a:rPr>
                        <a:t>Columna</a:t>
                      </a:r>
                    </a:p>
                  </a:txBody>
                  <a:tcPr marL="73152" marR="73152" marT="27432" marB="27432" anchor="ctr">
                    <a:solidFill>
                      <a:srgbClr val="0F4C5C"/>
                    </a:solidFill>
                  </a:tcPr>
                </a:tc>
                <a:tc>
                  <a:txBody>
                    <a:bodyPr/>
                    <a:lstStyle/>
                    <a:p>
                      <a:pPr algn="ctr"/>
                      <a:r>
                        <a:rPr sz="1500" b="1">
                          <a:solidFill>
                            <a:srgbClr val="FFFFFF"/>
                          </a:solidFill>
                          <a:latin typeface="Calibri"/>
                        </a:rPr>
                        <a:t>Factor del molino de bolas</a:t>
                      </a:r>
                    </a:p>
                  </a:txBody>
                  <a:tcPr marL="73152" marR="73152" marT="27432" marB="27432" anchor="ctr">
                    <a:solidFill>
                      <a:srgbClr val="0F4C5C"/>
                    </a:solidFill>
                  </a:tcPr>
                </a:tc>
              </a:tr>
              <a:tr h="351282">
                <a:tc>
                  <a:txBody>
                    <a:bodyPr/>
                    <a:lstStyle/>
                    <a:p>
                      <a:pPr algn="l"/>
                      <a:r>
                        <a:rPr sz="1500" b="0">
                          <a:solidFill>
                            <a:srgbClr val="142B33"/>
                          </a:solidFill>
                          <a:latin typeface="Calibri"/>
                        </a:rPr>
                        <a:t>A</a:t>
                      </a:r>
                    </a:p>
                  </a:txBody>
                  <a:tcPr marL="73152" marR="73152" marT="27432" marB="27432" anchor="ctr">
                    <a:solidFill>
                      <a:srgbClr val="FDE8D7"/>
                    </a:solidFill>
                  </a:tcPr>
                </a:tc>
                <a:tc>
                  <a:txBody>
                    <a:bodyPr/>
                    <a:lstStyle/>
                    <a:p>
                      <a:pPr algn="ctr"/>
                      <a:r>
                        <a:rPr sz="1500" b="0">
                          <a:solidFill>
                            <a:srgbClr val="142B33"/>
                          </a:solidFill>
                          <a:latin typeface="Calibri"/>
                        </a:rPr>
                        <a:t>Velocidad del motor</a:t>
                      </a:r>
                    </a:p>
                  </a:txBody>
                  <a:tcPr marL="73152" marR="73152" marT="27432" marB="27432" anchor="ctr">
                    <a:solidFill>
                      <a:srgbClr val="FDE8D7"/>
                    </a:solidFill>
                  </a:tcPr>
                </a:tc>
              </a:tr>
              <a:tr h="351282">
                <a:tc>
                  <a:txBody>
                    <a:bodyPr/>
                    <a:lstStyle/>
                    <a:p>
                      <a:pPr algn="l"/>
                      <a:r>
                        <a:rPr sz="1500" b="0">
                          <a:solidFill>
                            <a:srgbClr val="142B33"/>
                          </a:solidFill>
                          <a:latin typeface="Calibri"/>
                        </a:rPr>
                        <a:t>B</a:t>
                      </a:r>
                    </a:p>
                  </a:txBody>
                  <a:tcPr marL="73152" marR="73152" marT="27432" marB="27432" anchor="ctr">
                    <a:solidFill>
                      <a:srgbClr val="FDE8D7"/>
                    </a:solidFill>
                  </a:tcPr>
                </a:tc>
                <a:tc>
                  <a:txBody>
                    <a:bodyPr/>
                    <a:lstStyle/>
                    <a:p>
                      <a:pPr algn="ctr"/>
                      <a:r>
                        <a:rPr sz="1500" b="0">
                          <a:solidFill>
                            <a:srgbClr val="142B33"/>
                          </a:solidFill>
                          <a:latin typeface="Calibri"/>
                        </a:rPr>
                        <a:t>Modo de alimentación</a:t>
                      </a:r>
                    </a:p>
                  </a:txBody>
                  <a:tcPr marL="73152" marR="73152" marT="27432" marB="27432" anchor="ctr">
                    <a:solidFill>
                      <a:srgbClr val="FDE8D7"/>
                    </a:solidFill>
                  </a:tcPr>
                </a:tc>
              </a:tr>
              <a:tr h="351282">
                <a:tc>
                  <a:txBody>
                    <a:bodyPr/>
                    <a:lstStyle/>
                    <a:p>
                      <a:pPr algn="l"/>
                      <a:r>
                        <a:rPr sz="1500" b="0">
                          <a:solidFill>
                            <a:srgbClr val="142B33"/>
                          </a:solidFill>
                          <a:latin typeface="Calibri"/>
                        </a:rPr>
                        <a:t>C</a:t>
                      </a:r>
                    </a:p>
                  </a:txBody>
                  <a:tcPr marL="73152" marR="73152" marT="27432" marB="27432" anchor="ctr">
                    <a:solidFill>
                      <a:srgbClr val="FDE8D7"/>
                    </a:solidFill>
                  </a:tcPr>
                </a:tc>
                <a:tc>
                  <a:txBody>
                    <a:bodyPr/>
                    <a:lstStyle/>
                    <a:p>
                      <a:pPr algn="ctr"/>
                      <a:r>
                        <a:rPr sz="1500" b="0">
                          <a:solidFill>
                            <a:srgbClr val="142B33"/>
                          </a:solidFill>
                          <a:latin typeface="Calibri"/>
                        </a:rPr>
                        <a:t>Tamaño de la alimentación</a:t>
                      </a:r>
                    </a:p>
                  </a:txBody>
                  <a:tcPr marL="73152" marR="73152" marT="27432" marB="27432" anchor="ctr">
                    <a:solidFill>
                      <a:srgbClr val="FDE8D7"/>
                    </a:solidFill>
                  </a:tcPr>
                </a:tc>
              </a:tr>
              <a:tr h="351282">
                <a:tc>
                  <a:txBody>
                    <a:bodyPr/>
                    <a:lstStyle/>
                    <a:p>
                      <a:pPr algn="l"/>
                      <a:r>
                        <a:rPr sz="1500" b="0">
                          <a:solidFill>
                            <a:srgbClr val="142B33"/>
                          </a:solidFill>
                          <a:latin typeface="Calibri"/>
                        </a:rPr>
                        <a:t>D</a:t>
                      </a:r>
                    </a:p>
                  </a:txBody>
                  <a:tcPr marL="73152" marR="73152" marT="27432" marB="27432" anchor="ctr">
                    <a:solidFill>
                      <a:srgbClr val="FDE8D7"/>
                    </a:solidFill>
                  </a:tcPr>
                </a:tc>
                <a:tc>
                  <a:txBody>
                    <a:bodyPr/>
                    <a:lstStyle/>
                    <a:p>
                      <a:pPr algn="ctr"/>
                      <a:r>
                        <a:rPr sz="1500" b="0">
                          <a:solidFill>
                            <a:srgbClr val="142B33"/>
                          </a:solidFill>
                          <a:latin typeface="Calibri"/>
                        </a:rPr>
                        <a:t>Tipo de material</a:t>
                      </a:r>
                    </a:p>
                  </a:txBody>
                  <a:tcPr marL="73152" marR="73152" marT="27432" marB="27432" anchor="ctr">
                    <a:solidFill>
                      <a:srgbClr val="FDE8D7"/>
                    </a:solidFill>
                  </a:tcPr>
                </a:tc>
              </a:tr>
              <a:tr h="351282">
                <a:tc>
                  <a:txBody>
                    <a:bodyPr/>
                    <a:lstStyle/>
                    <a:p>
                      <a:pPr algn="l"/>
                      <a:r>
                        <a:rPr sz="1500" b="0">
                          <a:solidFill>
                            <a:srgbClr val="142B33"/>
                          </a:solidFill>
                          <a:latin typeface="Calibri"/>
                        </a:rPr>
                        <a:t>E = ABC</a:t>
                      </a:r>
                    </a:p>
                  </a:txBody>
                  <a:tcPr marL="73152" marR="73152" marT="27432" marB="27432" anchor="ctr">
                    <a:solidFill>
                      <a:srgbClr val="FFFFFF"/>
                    </a:solidFill>
                  </a:tcPr>
                </a:tc>
                <a:tc>
                  <a:txBody>
                    <a:bodyPr/>
                    <a:lstStyle/>
                    <a:p>
                      <a:pPr algn="ctr"/>
                      <a:r>
                        <a:rPr sz="1500" b="0">
                          <a:solidFill>
                            <a:srgbClr val="142B33"/>
                          </a:solidFill>
                          <a:latin typeface="Calibri"/>
                        </a:rPr>
                        <a:t>Muesca</a:t>
                      </a:r>
                    </a:p>
                  </a:txBody>
                  <a:tcPr marL="73152" marR="73152" marT="27432" marB="27432" anchor="ctr">
                    <a:solidFill>
                      <a:srgbClr val="FFFFFF"/>
                    </a:solidFill>
                  </a:tcPr>
                </a:tc>
              </a:tr>
              <a:tr h="351282">
                <a:tc>
                  <a:txBody>
                    <a:bodyPr/>
                    <a:lstStyle/>
                    <a:p>
                      <a:pPr algn="l"/>
                      <a:r>
                        <a:rPr sz="1500" b="0">
                          <a:solidFill>
                            <a:srgbClr val="142B33"/>
                          </a:solidFill>
                          <a:latin typeface="Calibri"/>
                        </a:rPr>
                        <a:t>F = BCD</a:t>
                      </a:r>
                    </a:p>
                  </a:txBody>
                  <a:tcPr marL="73152" marR="73152" marT="27432" marB="27432" anchor="ctr">
                    <a:solidFill>
                      <a:srgbClr val="F4F8F9"/>
                    </a:solidFill>
                  </a:tcPr>
                </a:tc>
                <a:tc>
                  <a:txBody>
                    <a:bodyPr/>
                    <a:lstStyle/>
                    <a:p>
                      <a:pPr algn="ctr"/>
                      <a:r>
                        <a:rPr sz="1500" b="0">
                          <a:solidFill>
                            <a:srgbClr val="142B33"/>
                          </a:solidFill>
                          <a:latin typeface="Calibri"/>
                        </a:rPr>
                        <a:t>Ángulo de la criba</a:t>
                      </a:r>
                    </a:p>
                  </a:txBody>
                  <a:tcPr marL="73152" marR="73152" marT="27432" marB="27432" anchor="ctr">
                    <a:solidFill>
                      <a:srgbClr val="F4F8F9"/>
                    </a:solidFill>
                  </a:tcPr>
                </a:tc>
              </a:tr>
              <a:tr h="351282">
                <a:tc>
                  <a:txBody>
                    <a:bodyPr/>
                    <a:lstStyle/>
                    <a:p>
                      <a:pPr algn="l"/>
                      <a:r>
                        <a:rPr sz="1500" b="0">
                          <a:solidFill>
                            <a:srgbClr val="142B33"/>
                          </a:solidFill>
                          <a:latin typeface="Calibri"/>
                        </a:rPr>
                        <a:t>G = ACD</a:t>
                      </a:r>
                    </a:p>
                  </a:txBody>
                  <a:tcPr marL="73152" marR="73152" marT="27432" marB="27432" anchor="ctr">
                    <a:solidFill>
                      <a:srgbClr val="FFFFFF"/>
                    </a:solidFill>
                  </a:tcPr>
                </a:tc>
                <a:tc>
                  <a:txBody>
                    <a:bodyPr/>
                    <a:lstStyle/>
                    <a:p>
                      <a:pPr algn="ctr"/>
                      <a:r>
                        <a:rPr sz="1500" b="0">
                          <a:solidFill>
                            <a:srgbClr val="142B33"/>
                          </a:solidFill>
                          <a:latin typeface="Calibri"/>
                        </a:rPr>
                        <a:t>Nivel de vibración de la criba</a:t>
                      </a:r>
                    </a:p>
                  </a:txBody>
                  <a:tcPr marL="73152" marR="73152" marT="27432" marB="27432" anchor="ctr">
                    <a:solidFill>
                      <a:srgbClr val="FFFFFF"/>
                    </a:solidFill>
                  </a:tcPr>
                </a:tc>
              </a:tr>
            </a:tbl>
          </a:graphicData>
        </a:graphic>
      </p:graphicFrame>
      <p:sp>
        <p:nvSpPr>
          <p:cNvPr id="4" name="TextBox 3"/>
          <p:cNvSpPr txBox="1"/>
          <p:nvPr/>
        </p:nvSpPr>
        <p:spPr>
          <a:xfrm>
            <a:off x="6087928" y="1417320"/>
            <a:ext cx="5555126" cy="2890519"/>
          </a:xfrm>
          <a:prstGeom prst="rect">
            <a:avLst/>
          </a:prstGeom>
          <a:noFill/>
        </p:spPr>
        <p:txBody>
          <a:bodyPr wrap="square" anchor="t" lIns="0" rIns="0" tIns="0" bIns="0">
            <a:spAutoFit/>
          </a:bodyPr>
          <a:lstStyle/>
          <a:p>
            <a:pPr marL="320040" indent="-320040">
              <a:spcAft>
                <a:spcPts val="600"/>
              </a:spcAft>
              <a:buClr>
                <a:srgbClr val="E36414"/>
              </a:buClr>
              <a:buFont typeface="Arial"/>
              <a:buChar char="•"/>
            </a:pPr>
            <a:r>
              <a:rPr sz="1600" b="0">
                <a:solidFill>
                  <a:srgbClr val="142B33"/>
                </a:solidFill>
                <a:latin typeface="Calibri"/>
              </a:rPr>
              <a:t>Resolución </a:t>
            </a:r>
            <a:r>
              <a:rPr sz="1600" b="1">
                <a:solidFill>
                  <a:srgbClr val="142B33"/>
                </a:solidFill>
                <a:latin typeface="Calibri"/>
              </a:rPr>
              <a:t>R</a:t>
            </a:r>
            <a:r>
              <a:rPr sz="1600" b="0">
                <a:solidFill>
                  <a:srgbClr val="142B33"/>
                </a:solidFill>
                <a:latin typeface="Calibri"/>
              </a:rPr>
              <a:t> ⇒ factorial completo en cualquier subconjunto de </a:t>
            </a:r>
            <a:r>
              <a:rPr sz="1600" b="1">
                <a:solidFill>
                  <a:srgbClr val="142B33"/>
                </a:solidFill>
                <a:latin typeface="Calibri"/>
              </a:rPr>
              <a:t>R − 1</a:t>
            </a:r>
            <a:r>
              <a:rPr sz="1600" b="0">
                <a:solidFill>
                  <a:srgbClr val="142B33"/>
                </a:solidFill>
                <a:latin typeface="Calibri"/>
              </a:rPr>
              <a:t> factores; en general, en todo subconjunto que </a:t>
            </a:r>
            <a:r>
              <a:rPr sz="1600" b="1">
                <a:solidFill>
                  <a:srgbClr val="142B33"/>
                </a:solidFill>
                <a:latin typeface="Calibri"/>
              </a:rPr>
              <a:t>no contenga una palabra</a:t>
            </a:r>
          </a:p>
          <a:p>
            <a:pPr marL="320040" indent="-320040">
              <a:spcAft>
                <a:spcPts val="600"/>
              </a:spcAft>
              <a:buClr>
                <a:srgbClr val="E36414"/>
              </a:buClr>
              <a:buFont typeface="Arial"/>
              <a:buChar char="•"/>
            </a:pPr>
            <a:r>
              <a:rPr sz="1600" b="0">
                <a:solidFill>
                  <a:srgbClr val="142B33"/>
                </a:solidFill>
                <a:latin typeface="Calibri"/>
              </a:rPr>
              <a:t>Factores </a:t>
            </a:r>
            <a:r>
              <a:rPr sz="1600" b="1">
                <a:solidFill>
                  <a:srgbClr val="142B33"/>
                </a:solidFill>
                <a:latin typeface="Calibri"/>
              </a:rPr>
              <a:t>importantes</a:t>
            </a:r>
            <a:r>
              <a:rPr sz="1600" b="0">
                <a:solidFill>
                  <a:srgbClr val="142B33"/>
                </a:solidFill>
                <a:latin typeface="Calibri"/>
              </a:rPr>
              <a:t> y que pueden interactuar: columnas del </a:t>
            </a:r>
            <a:r>
              <a:rPr sz="1600" b="1">
                <a:solidFill>
                  <a:srgbClr val="142B33"/>
                </a:solidFill>
                <a:latin typeface="Calibri"/>
              </a:rPr>
              <a:t>diseño básico</a:t>
            </a:r>
          </a:p>
          <a:p>
            <a:pPr marL="320040" indent="-320040">
              <a:spcAft>
                <a:spcPts val="600"/>
              </a:spcAft>
              <a:buClr>
                <a:srgbClr val="E36414"/>
              </a:buClr>
              <a:buFont typeface="Arial"/>
              <a:buChar char="•"/>
            </a:pPr>
            <a:r>
              <a:rPr sz="1600" b="0">
                <a:solidFill>
                  <a:srgbClr val="142B33"/>
                </a:solidFill>
                <a:latin typeface="Calibri"/>
              </a:rPr>
              <a:t>Factores </a:t>
            </a:r>
            <a:r>
              <a:rPr sz="1600" b="1">
                <a:solidFill>
                  <a:srgbClr val="142B33"/>
                </a:solidFill>
                <a:latin typeface="Calibri"/>
              </a:rPr>
              <a:t>menores</a:t>
            </a:r>
            <a:r>
              <a:rPr sz="1600" b="0">
                <a:solidFill>
                  <a:srgbClr val="142B33"/>
                </a:solidFill>
                <a:latin typeface="Calibri"/>
              </a:rPr>
              <a:t>: columnas generadas</a:t>
            </a:r>
          </a:p>
          <a:p>
            <a:pPr marL="320040" indent="-320040">
              <a:spcAft>
                <a:spcPts val="600"/>
              </a:spcAft>
              <a:buClr>
                <a:srgbClr val="E36414"/>
              </a:buClr>
              <a:buFont typeface="Arial"/>
              <a:buChar char="•"/>
            </a:pPr>
            <a:r>
              <a:rPr sz="1600" b="0">
                <a:solidFill>
                  <a:srgbClr val="142B33"/>
                </a:solidFill>
                <a:latin typeface="Calibri"/>
              </a:rPr>
              <a:t>Si los menores no influyen, queda un </a:t>
            </a:r>
            <a:r>
              <a:rPr sz="1600" b="1">
                <a:solidFill>
                  <a:srgbClr val="142B33"/>
                </a:solidFill>
                <a:latin typeface="Calibri"/>
              </a:rPr>
              <a:t>2</a:t>
            </a:r>
            <a:r>
              <a:rPr sz="1600" b="1" baseline="30000">
                <a:solidFill>
                  <a:srgbClr val="142B33"/>
                </a:solidFill>
                <a:latin typeface="Calibri"/>
              </a:rPr>
              <a:t>4</a:t>
            </a:r>
            <a:r>
              <a:rPr sz="1600" b="1">
                <a:solidFill>
                  <a:srgbClr val="142B33"/>
                </a:solidFill>
                <a:latin typeface="Calibri"/>
              </a:rPr>
              <a:t> completo</a:t>
            </a:r>
            <a:r>
              <a:rPr sz="1600" b="0">
                <a:solidFill>
                  <a:srgbClr val="142B33"/>
                </a:solidFill>
                <a:latin typeface="Calibri"/>
              </a:rPr>
              <a:t> en los importantes</a:t>
            </a:r>
          </a:p>
          <a:p>
            <a:pPr marL="320040" indent="-320040">
              <a:spcAft>
                <a:spcPts val="600"/>
              </a:spcAft>
              <a:buClr>
                <a:srgbClr val="E36414"/>
              </a:buClr>
              <a:buFont typeface="Arial"/>
              <a:buChar char="•"/>
            </a:pPr>
            <a:r>
              <a:rPr sz="1600" b="0">
                <a:solidFill>
                  <a:srgbClr val="142B33"/>
                </a:solidFill>
                <a:latin typeface="Calibri"/>
              </a:rPr>
              <a:t>De 35 subconjuntos de 4 factores, </a:t>
            </a:r>
            <a:r>
              <a:rPr sz="1600" b="1">
                <a:solidFill>
                  <a:srgbClr val="142B33"/>
                </a:solidFill>
                <a:latin typeface="Calibri"/>
              </a:rPr>
              <a:t>28</a:t>
            </a:r>
            <a:r>
              <a:rPr sz="1600" b="0">
                <a:solidFill>
                  <a:srgbClr val="142B33"/>
                </a:solidFill>
                <a:latin typeface="Calibri"/>
              </a:rPr>
              <a:t> dan un 2</a:t>
            </a:r>
            <a:r>
              <a:rPr sz="1600" b="0" baseline="30000">
                <a:solidFill>
                  <a:srgbClr val="142B33"/>
                </a:solidFill>
                <a:latin typeface="Calibri"/>
              </a:rPr>
              <a:t>4</a:t>
            </a:r>
            <a:r>
              <a:rPr sz="1600" b="0">
                <a:solidFill>
                  <a:srgbClr val="142B33"/>
                </a:solidFill>
                <a:latin typeface="Calibri"/>
              </a:rPr>
              <a:t> completo</a:t>
            </a:r>
          </a:p>
        </p:txBody>
      </p:sp>
      <p:sp>
        <p:nvSpPr>
          <p:cNvPr id="5" name="Rounded Rectangle 4"/>
          <p:cNvSpPr/>
          <p:nvPr/>
        </p:nvSpPr>
        <p:spPr>
          <a:xfrm>
            <a:off x="6087928" y="4509008"/>
            <a:ext cx="5555126"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Las conclusiones son </a:t>
            </a:r>
            <a:r>
              <a:rPr sz="1500" b="1">
                <a:solidFill>
                  <a:srgbClr val="142B33"/>
                </a:solidFill>
                <a:latin typeface="Calibri"/>
              </a:rPr>
              <a:t>tentativas</a:t>
            </a:r>
            <a:r>
              <a:rPr sz="1500" b="0">
                <a:solidFill>
                  <a:srgbClr val="142B33"/>
                </a:solidFill>
                <a:latin typeface="Calibri"/>
              </a:rPr>
              <a:t>: puede haber explicaciones con interacciones de orden alto</a:t>
            </a:r>
          </a:p>
        </p:txBody>
      </p:sp>
      <p:sp>
        <p:nvSpPr>
          <p:cNvPr id="6" name="TextBox 5"/>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El diseño 2</a:t>
            </a:r>
            <a:r>
              <a:rPr sz="1000" b="0" baseline="30000">
                <a:solidFill>
                  <a:srgbClr val="5B6B73"/>
                </a:solidFill>
                <a:latin typeface="Calibri"/>
              </a:rPr>
              <a:t>k−p</a:t>
            </a:r>
            <a:r>
              <a:rPr sz="1000" b="0">
                <a:solidFill>
                  <a:srgbClr val="5B6B73"/>
                </a:solidFill>
                <a:latin typeface="Calibri"/>
              </a:rPr>
              <a:t> general</a:t>
            </a:r>
          </a:p>
        </p:txBody>
      </p:sp>
      <p:sp>
        <p:nvSpPr>
          <p:cNvPr id="7" name="TextBox 6"/>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77</a:t>
            </a:r>
          </a:p>
        </p:txBody>
      </p:sp>
      <p:sp>
        <p:nvSpPr>
          <p:cNvPr id="8" name="Rounded Rectangle 7"/>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7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¿Qué es un bloque? Un caso concreto</a:t>
            </a:r>
          </a:p>
        </p:txBody>
      </p:sp>
      <p:sp>
        <p:nvSpPr>
          <p:cNvPr id="3" name="TextBox 2"/>
          <p:cNvSpPr txBox="1"/>
          <p:nvPr/>
        </p:nvSpPr>
        <p:spPr>
          <a:xfrm>
            <a:off x="548640" y="1417320"/>
            <a:ext cx="4700491" cy="966216"/>
          </a:xfrm>
          <a:prstGeom prst="rect">
            <a:avLst/>
          </a:prstGeom>
          <a:noFill/>
        </p:spPr>
        <p:txBody>
          <a:bodyPr wrap="square" anchor="t" lIns="0" rIns="0" tIns="0" bIns="0">
            <a:spAutoFit/>
          </a:bodyPr>
          <a:lstStyle/>
          <a:p>
            <a:r>
              <a:rPr sz="1500" b="1">
                <a:solidFill>
                  <a:srgbClr val="142B33"/>
                </a:solidFill>
                <a:latin typeface="Calibri"/>
              </a:rPr>
              <a:t>Ejemplo 3, moldeo</a:t>
            </a:r>
            <a:r>
              <a:rPr sz="1500" b="0">
                <a:solidFill>
                  <a:srgbClr val="142B33"/>
                </a:solidFill>
                <a:latin typeface="Calibri"/>
              </a:rPr>
              <a:t>: 2</a:t>
            </a:r>
            <a:r>
              <a:rPr sz="1500" b="0" baseline="30000">
                <a:solidFill>
                  <a:srgbClr val="142B33"/>
                </a:solidFill>
                <a:latin typeface="Calibri"/>
              </a:rPr>
              <a:t>6−2</a:t>
            </a:r>
            <a:r>
              <a:rPr sz="1500" b="0" baseline="-25000">
                <a:solidFill>
                  <a:srgbClr val="142B33"/>
                </a:solidFill>
                <a:latin typeface="Calibri"/>
              </a:rPr>
              <a:t>IV</a:t>
            </a:r>
            <a:r>
              <a:rPr sz="1500" b="0">
                <a:solidFill>
                  <a:srgbClr val="142B33"/>
                </a:solidFill>
                <a:latin typeface="Calibri"/>
              </a:rPr>
              <a:t>, 16 corridas. La inyectora solo permite </a:t>
            </a:r>
            <a:r>
              <a:rPr sz="1500" b="1">
                <a:solidFill>
                  <a:srgbClr val="142B33"/>
                </a:solidFill>
                <a:latin typeface="Calibri"/>
              </a:rPr>
              <a:t>8 corridas por turno</a:t>
            </a:r>
            <a:r>
              <a:rPr sz="1500" b="0">
                <a:solidFill>
                  <a:srgbClr val="142B33"/>
                </a:solidFill>
                <a:latin typeface="Calibri"/>
              </a:rPr>
              <a:t>: mañana y tarde. En la tarde la máquina está más caliente: </a:t>
            </a:r>
            <a:r>
              <a:rPr sz="1500" b="1">
                <a:solidFill>
                  <a:srgbClr val="142B33"/>
                </a:solidFill>
                <a:latin typeface="Calibri"/>
              </a:rPr>
              <a:t>+5</a:t>
            </a:r>
            <a:r>
              <a:rPr sz="1500" b="0">
                <a:solidFill>
                  <a:srgbClr val="142B33"/>
                </a:solidFill>
                <a:latin typeface="Calibri"/>
              </a:rPr>
              <a:t> de contracción en todas sus corridas</a:t>
            </a:r>
          </a:p>
        </p:txBody>
      </p:sp>
      <p:sp>
        <p:nvSpPr>
          <p:cNvPr id="4" name="Rounded Rectangle 3"/>
          <p:cNvSpPr/>
          <p:nvPr/>
        </p:nvSpPr>
        <p:spPr>
          <a:xfrm>
            <a:off x="548640" y="2584704"/>
            <a:ext cx="4700491" cy="1636775"/>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600" b="1">
                <a:solidFill>
                  <a:srgbClr val="0F4C5C"/>
                </a:solidFill>
                <a:latin typeface="Cambria"/>
              </a:rPr>
              <a:t>Bloque</a:t>
            </a:r>
          </a:p>
          <a:p>
            <a:pPr algn="l"/>
            <a:r>
              <a:rPr sz="1400" b="0">
                <a:solidFill>
                  <a:srgbClr val="142B33"/>
                </a:solidFill>
                <a:latin typeface="Calibri"/>
              </a:rPr>
              <a:t>Cada grupo de corridas hechas en las </a:t>
            </a:r>
            <a:r>
              <a:rPr sz="1400" b="1">
                <a:solidFill>
                  <a:srgbClr val="142B33"/>
                </a:solidFill>
                <a:latin typeface="Calibri"/>
              </a:rPr>
              <a:t>mismas condiciones</a:t>
            </a:r>
            <a:r>
              <a:rPr sz="1400" b="0">
                <a:solidFill>
                  <a:srgbClr val="142B33"/>
                </a:solidFill>
                <a:latin typeface="Calibri"/>
              </a:rPr>
              <a:t> (aquí, el mismo turno). El turno no se estudia: es variación </a:t>
            </a:r>
            <a:r>
              <a:rPr sz="1400" b="1">
                <a:solidFill>
                  <a:srgbClr val="142B33"/>
                </a:solidFill>
                <a:latin typeface="Calibri"/>
              </a:rPr>
              <a:t>molesta</a:t>
            </a:r>
            <a:r>
              <a:rPr sz="1400" b="0">
                <a:solidFill>
                  <a:srgbClr val="142B33"/>
                </a:solidFill>
                <a:latin typeface="Calibri"/>
              </a:rPr>
              <a:t> que no se puede quitar</a:t>
            </a:r>
          </a:p>
        </p:txBody>
      </p:sp>
      <p:sp>
        <p:nvSpPr>
          <p:cNvPr id="5" name="Rounded Rectangle 4"/>
          <p:cNvSpPr/>
          <p:nvPr/>
        </p:nvSpPr>
        <p:spPr>
          <a:xfrm>
            <a:off x="548640" y="4450080"/>
            <a:ext cx="4700491" cy="1636775"/>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600" b="1">
                <a:solidFill>
                  <a:srgbClr val="0F4C5C"/>
                </a:solidFill>
                <a:latin typeface="Cambria"/>
              </a:rPr>
              <a:t>La decisión</a:t>
            </a:r>
          </a:p>
          <a:p>
            <a:pPr algn="l"/>
            <a:r>
              <a:rPr sz="1400" b="0">
                <a:solidFill>
                  <a:srgbClr val="142B33"/>
                </a:solidFill>
                <a:latin typeface="Calibri"/>
              </a:rPr>
              <a:t>¿Qué 8 corridas van en la mañana y cuáles en la tarde?</a:t>
            </a:r>
          </a:p>
        </p:txBody>
      </p:sp>
      <p:sp>
        <p:nvSpPr>
          <p:cNvPr id="6" name="TextBox 5"/>
          <p:cNvSpPr txBox="1"/>
          <p:nvPr/>
        </p:nvSpPr>
        <p:spPr>
          <a:xfrm>
            <a:off x="5660611" y="1417320"/>
            <a:ext cx="5982443" cy="501396"/>
          </a:xfrm>
          <a:prstGeom prst="rect">
            <a:avLst/>
          </a:prstGeom>
          <a:noFill/>
        </p:spPr>
        <p:txBody>
          <a:bodyPr wrap="square" anchor="t" lIns="0" rIns="0" tIns="0" bIns="0">
            <a:spAutoFit/>
          </a:bodyPr>
          <a:lstStyle/>
          <a:p>
            <a:r>
              <a:rPr sz="1500" b="1">
                <a:solidFill>
                  <a:srgbClr val="142B33"/>
                </a:solidFill>
                <a:latin typeface="Calibri"/>
              </a:rPr>
              <a:t>Reparto ingenuo</a:t>
            </a:r>
            <a:r>
              <a:rPr sz="1500" b="0">
                <a:solidFill>
                  <a:srgbClr val="142B33"/>
                </a:solidFill>
                <a:latin typeface="Calibri"/>
              </a:rPr>
              <a:t>: las 8 primeras del orden estándar en la mañana</a:t>
            </a:r>
          </a:p>
        </p:txBody>
      </p:sp>
      <p:graphicFrame>
        <p:nvGraphicFramePr>
          <p:cNvPr id="7" name="Table 6"/>
          <p:cNvGraphicFramePr>
            <a:graphicFrameLocks noGrp="1"/>
          </p:cNvGraphicFramePr>
          <p:nvPr/>
        </p:nvGraphicFramePr>
        <p:xfrm>
          <a:off x="5660611" y="2119884"/>
          <a:ext cx="5982441" cy="2224278"/>
        </p:xfrm>
        <a:graphic>
          <a:graphicData uri="http://schemas.openxmlformats.org/drawingml/2006/table">
            <a:tbl>
              <a:tblPr firstRow="0" bandRow="0">
                <a:tableStyleId>{5C22544A-7EE6-4342-B048-85BDC9FD1C3A}</a:tableStyleId>
              </a:tblPr>
              <a:tblGrid>
                <a:gridCol w="1385156"/>
                <a:gridCol w="1229923"/>
                <a:gridCol w="453758"/>
                <a:gridCol w="1385156"/>
                <a:gridCol w="1074690"/>
                <a:gridCol w="453758"/>
              </a:tblGrid>
              <a:tr h="247142">
                <a:tc>
                  <a:txBody>
                    <a:bodyPr/>
                    <a:lstStyle/>
                    <a:p>
                      <a:pPr algn="ctr"/>
                      <a:r>
                        <a:rPr sz="1300" b="1">
                          <a:solidFill>
                            <a:srgbClr val="FFFFFF"/>
                          </a:solidFill>
                          <a:latin typeface="Calibri"/>
                        </a:rPr>
                        <a:t>Corrida</a:t>
                      </a:r>
                    </a:p>
                  </a:txBody>
                  <a:tcPr marL="73152" marR="73152" marT="27432" marB="27432" anchor="ctr">
                    <a:solidFill>
                      <a:srgbClr val="0F4C5C"/>
                    </a:solidFill>
                  </a:tcPr>
                </a:tc>
                <a:tc>
                  <a:txBody>
                    <a:bodyPr/>
                    <a:lstStyle/>
                    <a:p>
                      <a:pPr algn="ctr"/>
                      <a:r>
                        <a:rPr sz="1300" b="1">
                          <a:solidFill>
                            <a:srgbClr val="FFFFFF"/>
                          </a:solidFill>
                          <a:latin typeface="Calibri"/>
                        </a:rPr>
                        <a:t>Mañana</a:t>
                      </a:r>
                    </a:p>
                  </a:txBody>
                  <a:tcPr marL="73152" marR="73152" marT="27432" marB="27432" anchor="ctr">
                    <a:solidFill>
                      <a:srgbClr val="0F4C5C"/>
                    </a:solidFill>
                  </a:tcPr>
                </a:tc>
                <a:tc>
                  <a:txBody>
                    <a:bodyPr/>
                    <a:lstStyle/>
                    <a:p>
                      <a:pPr algn="ctr"/>
                      <a:r>
                        <a:rPr sz="1300" b="1">
                          <a:solidFill>
                            <a:srgbClr val="FFFFFF"/>
                          </a:solidFill>
                          <a:latin typeface="Calibri"/>
                        </a:rPr>
                        <a:t>D</a:t>
                      </a:r>
                    </a:p>
                  </a:txBody>
                  <a:tcPr marL="73152" marR="73152" marT="27432" marB="27432" anchor="ctr">
                    <a:solidFill>
                      <a:srgbClr val="0F4C5C"/>
                    </a:solidFill>
                  </a:tcPr>
                </a:tc>
                <a:tc>
                  <a:txBody>
                    <a:bodyPr/>
                    <a:lstStyle/>
                    <a:p>
                      <a:pPr algn="ctr"/>
                      <a:r>
                        <a:rPr sz="1300" b="1">
                          <a:solidFill>
                            <a:srgbClr val="FFFFFF"/>
                          </a:solidFill>
                          <a:latin typeface="Calibri"/>
                        </a:rPr>
                        <a:t>Corrida</a:t>
                      </a:r>
                    </a:p>
                  </a:txBody>
                  <a:tcPr marL="73152" marR="73152" marT="27432" marB="27432" anchor="ctr">
                    <a:solidFill>
                      <a:srgbClr val="0F4C5C"/>
                    </a:solidFill>
                  </a:tcPr>
                </a:tc>
                <a:tc>
                  <a:txBody>
                    <a:bodyPr/>
                    <a:lstStyle/>
                    <a:p>
                      <a:pPr algn="ctr"/>
                      <a:r>
                        <a:rPr sz="1300" b="1">
                          <a:solidFill>
                            <a:srgbClr val="FFFFFF"/>
                          </a:solidFill>
                          <a:latin typeface="Calibri"/>
                        </a:rPr>
                        <a:t>Tarde</a:t>
                      </a:r>
                    </a:p>
                  </a:txBody>
                  <a:tcPr marL="73152" marR="73152" marT="27432" marB="27432" anchor="ctr">
                    <a:solidFill>
                      <a:srgbClr val="0F4C5C"/>
                    </a:solidFill>
                  </a:tcPr>
                </a:tc>
                <a:tc>
                  <a:txBody>
                    <a:bodyPr/>
                    <a:lstStyle/>
                    <a:p>
                      <a:pPr algn="ctr"/>
                      <a:r>
                        <a:rPr sz="1300" b="1">
                          <a:solidFill>
                            <a:srgbClr val="FFFFFF"/>
                          </a:solidFill>
                          <a:latin typeface="Calibri"/>
                        </a:rPr>
                        <a:t>D</a:t>
                      </a:r>
                    </a:p>
                  </a:txBody>
                  <a:tcPr marL="73152" marR="73152" marT="27432" marB="27432" anchor="ctr">
                    <a:solidFill>
                      <a:srgbClr val="0F4C5C"/>
                    </a:solidFill>
                  </a:tcPr>
                </a:tc>
              </a:tr>
              <a:tr h="247142">
                <a:tc>
                  <a:txBody>
                    <a:bodyPr/>
                    <a:lstStyle/>
                    <a:p>
                      <a:pPr algn="ctr"/>
                      <a:r>
                        <a:rPr sz="1300" b="0">
                          <a:solidFill>
                            <a:srgbClr val="142B33"/>
                          </a:solidFill>
                          <a:latin typeface="Calibri"/>
                        </a:rPr>
                        <a:t>1</a:t>
                      </a:r>
                    </a:p>
                  </a:txBody>
                  <a:tcPr marL="73152" marR="73152" marT="27432" marB="27432" anchor="ctr">
                    <a:solidFill>
                      <a:srgbClr val="FFFFFF"/>
                    </a:solidFill>
                  </a:tcPr>
                </a:tc>
                <a:tc>
                  <a:txBody>
                    <a:bodyPr/>
                    <a:lstStyle/>
                    <a:p>
                      <a:pPr algn="ctr"/>
                      <a:r>
                        <a:rPr sz="1300" b="0">
                          <a:solidFill>
                            <a:srgbClr val="142B33"/>
                          </a:solidFill>
                          <a:latin typeface="Calibri"/>
                        </a:rPr>
                        <a:t>(1)</a:t>
                      </a:r>
                    </a:p>
                  </a:txBody>
                  <a:tcPr marL="73152" marR="73152" marT="27432" marB="27432" anchor="ctr">
                    <a:solidFill>
                      <a:srgbClr val="FFFFFF"/>
                    </a:solidFill>
                  </a:tcPr>
                </a:tc>
                <a:tc>
                  <a:txBody>
                    <a:bodyPr/>
                    <a:lstStyle/>
                    <a:p>
                      <a:pPr algn="ctr"/>
                      <a:r>
                        <a:rPr sz="1400" b="1">
                          <a:solidFill>
                            <a:srgbClr val="E36414"/>
                          </a:solidFill>
                          <a:latin typeface="Calibri"/>
                        </a:rPr>
                        <a:t>−</a:t>
                      </a:r>
                    </a:p>
                  </a:txBody>
                  <a:tcPr marL="73152" marR="73152" marT="27432" marB="27432" anchor="ctr">
                    <a:solidFill>
                      <a:srgbClr val="FFFFFF"/>
                    </a:solidFill>
                  </a:tcPr>
                </a:tc>
                <a:tc>
                  <a:txBody>
                    <a:bodyPr/>
                    <a:lstStyle/>
                    <a:p>
                      <a:pPr algn="ctr"/>
                      <a:r>
                        <a:rPr sz="1300" b="0">
                          <a:solidFill>
                            <a:srgbClr val="142B33"/>
                          </a:solidFill>
                          <a:latin typeface="Calibri"/>
                        </a:rPr>
                        <a:t>9</a:t>
                      </a:r>
                    </a:p>
                  </a:txBody>
                  <a:tcPr marL="73152" marR="73152" marT="27432" marB="27432" anchor="ctr">
                    <a:solidFill>
                      <a:srgbClr val="FFFFFF"/>
                    </a:solidFill>
                  </a:tcPr>
                </a:tc>
                <a:tc>
                  <a:txBody>
                    <a:bodyPr/>
                    <a:lstStyle/>
                    <a:p>
                      <a:pPr algn="ctr"/>
                      <a:r>
                        <a:rPr sz="1300" b="0">
                          <a:solidFill>
                            <a:srgbClr val="142B33"/>
                          </a:solidFill>
                          <a:latin typeface="Calibri"/>
                        </a:rPr>
                        <a:t>df</a:t>
                      </a:r>
                    </a:p>
                  </a:txBody>
                  <a:tcPr marL="73152" marR="73152" marT="27432" marB="27432" anchor="ctr">
                    <a:solidFill>
                      <a:srgbClr val="FFFFFF"/>
                    </a:solidFill>
                  </a:tcPr>
                </a:tc>
                <a:tc>
                  <a:txBody>
                    <a:bodyPr/>
                    <a:lstStyle/>
                    <a:p>
                      <a:pPr algn="ctr"/>
                      <a:r>
                        <a:rPr sz="1400" b="1">
                          <a:solidFill>
                            <a:srgbClr val="0F4C5C"/>
                          </a:solidFill>
                          <a:latin typeface="Calibri"/>
                        </a:rPr>
                        <a:t>+</a:t>
                      </a:r>
                    </a:p>
                  </a:txBody>
                  <a:tcPr marL="73152" marR="73152" marT="27432" marB="27432" anchor="ctr">
                    <a:solidFill>
                      <a:srgbClr val="FFFFFF"/>
                    </a:solidFill>
                  </a:tcPr>
                </a:tc>
              </a:tr>
              <a:tr h="247142">
                <a:tc>
                  <a:txBody>
                    <a:bodyPr/>
                    <a:lstStyle/>
                    <a:p>
                      <a:pPr algn="ctr"/>
                      <a:r>
                        <a:rPr sz="1300" b="0">
                          <a:solidFill>
                            <a:srgbClr val="142B33"/>
                          </a:solidFill>
                          <a:latin typeface="Calibri"/>
                        </a:rPr>
                        <a:t>2</a:t>
                      </a:r>
                    </a:p>
                  </a:txBody>
                  <a:tcPr marL="73152" marR="73152" marT="27432" marB="27432" anchor="ctr">
                    <a:solidFill>
                      <a:srgbClr val="F4F8F9"/>
                    </a:solidFill>
                  </a:tcPr>
                </a:tc>
                <a:tc>
                  <a:txBody>
                    <a:bodyPr/>
                    <a:lstStyle/>
                    <a:p>
                      <a:pPr algn="ctr"/>
                      <a:r>
                        <a:rPr sz="1300" b="0">
                          <a:solidFill>
                            <a:srgbClr val="142B33"/>
                          </a:solidFill>
                          <a:latin typeface="Calibri"/>
                        </a:rPr>
                        <a:t>ae</a:t>
                      </a:r>
                    </a:p>
                  </a:txBody>
                  <a:tcPr marL="73152" marR="73152" marT="27432" marB="27432" anchor="ctr">
                    <a:solidFill>
                      <a:srgbClr val="F4F8F9"/>
                    </a:solidFill>
                  </a:tcPr>
                </a:tc>
                <a:tc>
                  <a:txBody>
                    <a:bodyPr/>
                    <a:lstStyle/>
                    <a:p>
                      <a:pPr algn="ctr"/>
                      <a:r>
                        <a:rPr sz="1400" b="1">
                          <a:solidFill>
                            <a:srgbClr val="E36414"/>
                          </a:solidFill>
                          <a:latin typeface="Calibri"/>
                        </a:rPr>
                        <a:t>−</a:t>
                      </a:r>
                    </a:p>
                  </a:txBody>
                  <a:tcPr marL="73152" marR="73152" marT="27432" marB="27432" anchor="ctr">
                    <a:solidFill>
                      <a:srgbClr val="F4F8F9"/>
                    </a:solidFill>
                  </a:tcPr>
                </a:tc>
                <a:tc>
                  <a:txBody>
                    <a:bodyPr/>
                    <a:lstStyle/>
                    <a:p>
                      <a:pPr algn="ctr"/>
                      <a:r>
                        <a:rPr sz="1300" b="0">
                          <a:solidFill>
                            <a:srgbClr val="142B33"/>
                          </a:solidFill>
                          <a:latin typeface="Calibri"/>
                        </a:rPr>
                        <a:t>10</a:t>
                      </a:r>
                    </a:p>
                  </a:txBody>
                  <a:tcPr marL="73152" marR="73152" marT="27432" marB="27432" anchor="ctr">
                    <a:solidFill>
                      <a:srgbClr val="F4F8F9"/>
                    </a:solidFill>
                  </a:tcPr>
                </a:tc>
                <a:tc>
                  <a:txBody>
                    <a:bodyPr/>
                    <a:lstStyle/>
                    <a:p>
                      <a:pPr algn="ctr"/>
                      <a:r>
                        <a:rPr sz="1300" b="0">
                          <a:solidFill>
                            <a:srgbClr val="142B33"/>
                          </a:solidFill>
                          <a:latin typeface="Calibri"/>
                        </a:rPr>
                        <a:t>adef</a:t>
                      </a:r>
                    </a:p>
                  </a:txBody>
                  <a:tcPr marL="73152" marR="73152" marT="27432" marB="27432" anchor="ctr">
                    <a:solidFill>
                      <a:srgbClr val="F4F8F9"/>
                    </a:solidFill>
                  </a:tcPr>
                </a:tc>
                <a:tc>
                  <a:txBody>
                    <a:bodyPr/>
                    <a:lstStyle/>
                    <a:p>
                      <a:pPr algn="ctr"/>
                      <a:r>
                        <a:rPr sz="1400" b="1">
                          <a:solidFill>
                            <a:srgbClr val="0F4C5C"/>
                          </a:solidFill>
                          <a:latin typeface="Calibri"/>
                        </a:rPr>
                        <a:t>+</a:t>
                      </a:r>
                    </a:p>
                  </a:txBody>
                  <a:tcPr marL="73152" marR="73152" marT="27432" marB="27432" anchor="ctr">
                    <a:solidFill>
                      <a:srgbClr val="F4F8F9"/>
                    </a:solidFill>
                  </a:tcPr>
                </a:tc>
              </a:tr>
              <a:tr h="247142">
                <a:tc>
                  <a:txBody>
                    <a:bodyPr/>
                    <a:lstStyle/>
                    <a:p>
                      <a:pPr algn="ctr"/>
                      <a:r>
                        <a:rPr sz="1300" b="0">
                          <a:solidFill>
                            <a:srgbClr val="142B33"/>
                          </a:solidFill>
                          <a:latin typeface="Calibri"/>
                        </a:rPr>
                        <a:t>3</a:t>
                      </a:r>
                    </a:p>
                  </a:txBody>
                  <a:tcPr marL="73152" marR="73152" marT="27432" marB="27432" anchor="ctr">
                    <a:solidFill>
                      <a:srgbClr val="FFFFFF"/>
                    </a:solidFill>
                  </a:tcPr>
                </a:tc>
                <a:tc>
                  <a:txBody>
                    <a:bodyPr/>
                    <a:lstStyle/>
                    <a:p>
                      <a:pPr algn="ctr"/>
                      <a:r>
                        <a:rPr sz="1300" b="0">
                          <a:solidFill>
                            <a:srgbClr val="142B33"/>
                          </a:solidFill>
                          <a:latin typeface="Calibri"/>
                        </a:rPr>
                        <a:t>bef</a:t>
                      </a:r>
                    </a:p>
                  </a:txBody>
                  <a:tcPr marL="73152" marR="73152" marT="27432" marB="27432" anchor="ctr">
                    <a:solidFill>
                      <a:srgbClr val="FFFFFF"/>
                    </a:solidFill>
                  </a:tcPr>
                </a:tc>
                <a:tc>
                  <a:txBody>
                    <a:bodyPr/>
                    <a:lstStyle/>
                    <a:p>
                      <a:pPr algn="ctr"/>
                      <a:r>
                        <a:rPr sz="1400" b="1">
                          <a:solidFill>
                            <a:srgbClr val="E36414"/>
                          </a:solidFill>
                          <a:latin typeface="Calibri"/>
                        </a:rPr>
                        <a:t>−</a:t>
                      </a:r>
                    </a:p>
                  </a:txBody>
                  <a:tcPr marL="73152" marR="73152" marT="27432" marB="27432" anchor="ctr">
                    <a:solidFill>
                      <a:srgbClr val="FFFFFF"/>
                    </a:solidFill>
                  </a:tcPr>
                </a:tc>
                <a:tc>
                  <a:txBody>
                    <a:bodyPr/>
                    <a:lstStyle/>
                    <a:p>
                      <a:pPr algn="ctr"/>
                      <a:r>
                        <a:rPr sz="1300" b="0">
                          <a:solidFill>
                            <a:srgbClr val="142B33"/>
                          </a:solidFill>
                          <a:latin typeface="Calibri"/>
                        </a:rPr>
                        <a:t>11</a:t>
                      </a:r>
                    </a:p>
                  </a:txBody>
                  <a:tcPr marL="73152" marR="73152" marT="27432" marB="27432" anchor="ctr">
                    <a:solidFill>
                      <a:srgbClr val="FFFFFF"/>
                    </a:solidFill>
                  </a:tcPr>
                </a:tc>
                <a:tc>
                  <a:txBody>
                    <a:bodyPr/>
                    <a:lstStyle/>
                    <a:p>
                      <a:pPr algn="ctr"/>
                      <a:r>
                        <a:rPr sz="1300" b="0">
                          <a:solidFill>
                            <a:srgbClr val="142B33"/>
                          </a:solidFill>
                          <a:latin typeface="Calibri"/>
                        </a:rPr>
                        <a:t>bde</a:t>
                      </a:r>
                    </a:p>
                  </a:txBody>
                  <a:tcPr marL="73152" marR="73152" marT="27432" marB="27432" anchor="ctr">
                    <a:solidFill>
                      <a:srgbClr val="FFFFFF"/>
                    </a:solidFill>
                  </a:tcPr>
                </a:tc>
                <a:tc>
                  <a:txBody>
                    <a:bodyPr/>
                    <a:lstStyle/>
                    <a:p>
                      <a:pPr algn="ctr"/>
                      <a:r>
                        <a:rPr sz="1400" b="1">
                          <a:solidFill>
                            <a:srgbClr val="0F4C5C"/>
                          </a:solidFill>
                          <a:latin typeface="Calibri"/>
                        </a:rPr>
                        <a:t>+</a:t>
                      </a:r>
                    </a:p>
                  </a:txBody>
                  <a:tcPr marL="73152" marR="73152" marT="27432" marB="27432" anchor="ctr">
                    <a:solidFill>
                      <a:srgbClr val="FFFFFF"/>
                    </a:solidFill>
                  </a:tcPr>
                </a:tc>
              </a:tr>
              <a:tr h="247142">
                <a:tc>
                  <a:txBody>
                    <a:bodyPr/>
                    <a:lstStyle/>
                    <a:p>
                      <a:pPr algn="ctr"/>
                      <a:r>
                        <a:rPr sz="1300" b="0">
                          <a:solidFill>
                            <a:srgbClr val="142B33"/>
                          </a:solidFill>
                          <a:latin typeface="Calibri"/>
                        </a:rPr>
                        <a:t>4</a:t>
                      </a:r>
                    </a:p>
                  </a:txBody>
                  <a:tcPr marL="73152" marR="73152" marT="27432" marB="27432" anchor="ctr">
                    <a:solidFill>
                      <a:srgbClr val="F4F8F9"/>
                    </a:solidFill>
                  </a:tcPr>
                </a:tc>
                <a:tc>
                  <a:txBody>
                    <a:bodyPr/>
                    <a:lstStyle/>
                    <a:p>
                      <a:pPr algn="ctr"/>
                      <a:r>
                        <a:rPr sz="1300" b="0">
                          <a:solidFill>
                            <a:srgbClr val="142B33"/>
                          </a:solidFill>
                          <a:latin typeface="Calibri"/>
                        </a:rPr>
                        <a:t>abf</a:t>
                      </a:r>
                    </a:p>
                  </a:txBody>
                  <a:tcPr marL="73152" marR="73152" marT="27432" marB="27432" anchor="ctr">
                    <a:solidFill>
                      <a:srgbClr val="F4F8F9"/>
                    </a:solidFill>
                  </a:tcPr>
                </a:tc>
                <a:tc>
                  <a:txBody>
                    <a:bodyPr/>
                    <a:lstStyle/>
                    <a:p>
                      <a:pPr algn="ctr"/>
                      <a:r>
                        <a:rPr sz="1400" b="1">
                          <a:solidFill>
                            <a:srgbClr val="E36414"/>
                          </a:solidFill>
                          <a:latin typeface="Calibri"/>
                        </a:rPr>
                        <a:t>−</a:t>
                      </a:r>
                    </a:p>
                  </a:txBody>
                  <a:tcPr marL="73152" marR="73152" marT="27432" marB="27432" anchor="ctr">
                    <a:solidFill>
                      <a:srgbClr val="F4F8F9"/>
                    </a:solidFill>
                  </a:tcPr>
                </a:tc>
                <a:tc>
                  <a:txBody>
                    <a:bodyPr/>
                    <a:lstStyle/>
                    <a:p>
                      <a:pPr algn="ctr"/>
                      <a:r>
                        <a:rPr sz="1300" b="0">
                          <a:solidFill>
                            <a:srgbClr val="142B33"/>
                          </a:solidFill>
                          <a:latin typeface="Calibri"/>
                        </a:rPr>
                        <a:t>12</a:t>
                      </a:r>
                    </a:p>
                  </a:txBody>
                  <a:tcPr marL="73152" marR="73152" marT="27432" marB="27432" anchor="ctr">
                    <a:solidFill>
                      <a:srgbClr val="F4F8F9"/>
                    </a:solidFill>
                  </a:tcPr>
                </a:tc>
                <a:tc>
                  <a:txBody>
                    <a:bodyPr/>
                    <a:lstStyle/>
                    <a:p>
                      <a:pPr algn="ctr"/>
                      <a:r>
                        <a:rPr sz="1300" b="0">
                          <a:solidFill>
                            <a:srgbClr val="142B33"/>
                          </a:solidFill>
                          <a:latin typeface="Calibri"/>
                        </a:rPr>
                        <a:t>abd</a:t>
                      </a:r>
                    </a:p>
                  </a:txBody>
                  <a:tcPr marL="73152" marR="73152" marT="27432" marB="27432" anchor="ctr">
                    <a:solidFill>
                      <a:srgbClr val="F4F8F9"/>
                    </a:solidFill>
                  </a:tcPr>
                </a:tc>
                <a:tc>
                  <a:txBody>
                    <a:bodyPr/>
                    <a:lstStyle/>
                    <a:p>
                      <a:pPr algn="ctr"/>
                      <a:r>
                        <a:rPr sz="1400" b="1">
                          <a:solidFill>
                            <a:srgbClr val="0F4C5C"/>
                          </a:solidFill>
                          <a:latin typeface="Calibri"/>
                        </a:rPr>
                        <a:t>+</a:t>
                      </a:r>
                    </a:p>
                  </a:txBody>
                  <a:tcPr marL="73152" marR="73152" marT="27432" marB="27432" anchor="ctr">
                    <a:solidFill>
                      <a:srgbClr val="F4F8F9"/>
                    </a:solidFill>
                  </a:tcPr>
                </a:tc>
              </a:tr>
              <a:tr h="247142">
                <a:tc>
                  <a:txBody>
                    <a:bodyPr/>
                    <a:lstStyle/>
                    <a:p>
                      <a:pPr algn="ctr"/>
                      <a:r>
                        <a:rPr sz="1300" b="0">
                          <a:solidFill>
                            <a:srgbClr val="142B33"/>
                          </a:solidFill>
                          <a:latin typeface="Calibri"/>
                        </a:rPr>
                        <a:t>5</a:t>
                      </a:r>
                    </a:p>
                  </a:txBody>
                  <a:tcPr marL="73152" marR="73152" marT="27432" marB="27432" anchor="ctr">
                    <a:solidFill>
                      <a:srgbClr val="FFFFFF"/>
                    </a:solidFill>
                  </a:tcPr>
                </a:tc>
                <a:tc>
                  <a:txBody>
                    <a:bodyPr/>
                    <a:lstStyle/>
                    <a:p>
                      <a:pPr algn="ctr"/>
                      <a:r>
                        <a:rPr sz="1300" b="0">
                          <a:solidFill>
                            <a:srgbClr val="142B33"/>
                          </a:solidFill>
                          <a:latin typeface="Calibri"/>
                        </a:rPr>
                        <a:t>cef</a:t>
                      </a:r>
                    </a:p>
                  </a:txBody>
                  <a:tcPr marL="73152" marR="73152" marT="27432" marB="27432" anchor="ctr">
                    <a:solidFill>
                      <a:srgbClr val="FFFFFF"/>
                    </a:solidFill>
                  </a:tcPr>
                </a:tc>
                <a:tc>
                  <a:txBody>
                    <a:bodyPr/>
                    <a:lstStyle/>
                    <a:p>
                      <a:pPr algn="ctr"/>
                      <a:r>
                        <a:rPr sz="1400" b="1">
                          <a:solidFill>
                            <a:srgbClr val="E36414"/>
                          </a:solidFill>
                          <a:latin typeface="Calibri"/>
                        </a:rPr>
                        <a:t>−</a:t>
                      </a:r>
                    </a:p>
                  </a:txBody>
                  <a:tcPr marL="73152" marR="73152" marT="27432" marB="27432" anchor="ctr">
                    <a:solidFill>
                      <a:srgbClr val="FFFFFF"/>
                    </a:solidFill>
                  </a:tcPr>
                </a:tc>
                <a:tc>
                  <a:txBody>
                    <a:bodyPr/>
                    <a:lstStyle/>
                    <a:p>
                      <a:pPr algn="ctr"/>
                      <a:r>
                        <a:rPr sz="1300" b="0">
                          <a:solidFill>
                            <a:srgbClr val="142B33"/>
                          </a:solidFill>
                          <a:latin typeface="Calibri"/>
                        </a:rPr>
                        <a:t>13</a:t>
                      </a:r>
                    </a:p>
                  </a:txBody>
                  <a:tcPr marL="73152" marR="73152" marT="27432" marB="27432" anchor="ctr">
                    <a:solidFill>
                      <a:srgbClr val="FFFFFF"/>
                    </a:solidFill>
                  </a:tcPr>
                </a:tc>
                <a:tc>
                  <a:txBody>
                    <a:bodyPr/>
                    <a:lstStyle/>
                    <a:p>
                      <a:pPr algn="ctr"/>
                      <a:r>
                        <a:rPr sz="1300" b="0">
                          <a:solidFill>
                            <a:srgbClr val="142B33"/>
                          </a:solidFill>
                          <a:latin typeface="Calibri"/>
                        </a:rPr>
                        <a:t>cde</a:t>
                      </a:r>
                    </a:p>
                  </a:txBody>
                  <a:tcPr marL="73152" marR="73152" marT="27432" marB="27432" anchor="ctr">
                    <a:solidFill>
                      <a:srgbClr val="FFFFFF"/>
                    </a:solidFill>
                  </a:tcPr>
                </a:tc>
                <a:tc>
                  <a:txBody>
                    <a:bodyPr/>
                    <a:lstStyle/>
                    <a:p>
                      <a:pPr algn="ctr"/>
                      <a:r>
                        <a:rPr sz="1400" b="1">
                          <a:solidFill>
                            <a:srgbClr val="0F4C5C"/>
                          </a:solidFill>
                          <a:latin typeface="Calibri"/>
                        </a:rPr>
                        <a:t>+</a:t>
                      </a:r>
                    </a:p>
                  </a:txBody>
                  <a:tcPr marL="73152" marR="73152" marT="27432" marB="27432" anchor="ctr">
                    <a:solidFill>
                      <a:srgbClr val="FFFFFF"/>
                    </a:solidFill>
                  </a:tcPr>
                </a:tc>
              </a:tr>
              <a:tr h="247142">
                <a:tc>
                  <a:txBody>
                    <a:bodyPr/>
                    <a:lstStyle/>
                    <a:p>
                      <a:pPr algn="ctr"/>
                      <a:r>
                        <a:rPr sz="1300" b="0">
                          <a:solidFill>
                            <a:srgbClr val="142B33"/>
                          </a:solidFill>
                          <a:latin typeface="Calibri"/>
                        </a:rPr>
                        <a:t>6</a:t>
                      </a:r>
                    </a:p>
                  </a:txBody>
                  <a:tcPr marL="73152" marR="73152" marT="27432" marB="27432" anchor="ctr">
                    <a:solidFill>
                      <a:srgbClr val="F4F8F9"/>
                    </a:solidFill>
                  </a:tcPr>
                </a:tc>
                <a:tc>
                  <a:txBody>
                    <a:bodyPr/>
                    <a:lstStyle/>
                    <a:p>
                      <a:pPr algn="ctr"/>
                      <a:r>
                        <a:rPr sz="1300" b="0">
                          <a:solidFill>
                            <a:srgbClr val="142B33"/>
                          </a:solidFill>
                          <a:latin typeface="Calibri"/>
                        </a:rPr>
                        <a:t>acf</a:t>
                      </a:r>
                    </a:p>
                  </a:txBody>
                  <a:tcPr marL="73152" marR="73152" marT="27432" marB="27432" anchor="ctr">
                    <a:solidFill>
                      <a:srgbClr val="F4F8F9"/>
                    </a:solidFill>
                  </a:tcPr>
                </a:tc>
                <a:tc>
                  <a:txBody>
                    <a:bodyPr/>
                    <a:lstStyle/>
                    <a:p>
                      <a:pPr algn="ctr"/>
                      <a:r>
                        <a:rPr sz="1400" b="1">
                          <a:solidFill>
                            <a:srgbClr val="E36414"/>
                          </a:solidFill>
                          <a:latin typeface="Calibri"/>
                        </a:rPr>
                        <a:t>−</a:t>
                      </a:r>
                    </a:p>
                  </a:txBody>
                  <a:tcPr marL="73152" marR="73152" marT="27432" marB="27432" anchor="ctr">
                    <a:solidFill>
                      <a:srgbClr val="F4F8F9"/>
                    </a:solidFill>
                  </a:tcPr>
                </a:tc>
                <a:tc>
                  <a:txBody>
                    <a:bodyPr/>
                    <a:lstStyle/>
                    <a:p>
                      <a:pPr algn="ctr"/>
                      <a:r>
                        <a:rPr sz="1300" b="0">
                          <a:solidFill>
                            <a:srgbClr val="142B33"/>
                          </a:solidFill>
                          <a:latin typeface="Calibri"/>
                        </a:rPr>
                        <a:t>14</a:t>
                      </a:r>
                    </a:p>
                  </a:txBody>
                  <a:tcPr marL="73152" marR="73152" marT="27432" marB="27432" anchor="ctr">
                    <a:solidFill>
                      <a:srgbClr val="F4F8F9"/>
                    </a:solidFill>
                  </a:tcPr>
                </a:tc>
                <a:tc>
                  <a:txBody>
                    <a:bodyPr/>
                    <a:lstStyle/>
                    <a:p>
                      <a:pPr algn="ctr"/>
                      <a:r>
                        <a:rPr sz="1300" b="0">
                          <a:solidFill>
                            <a:srgbClr val="142B33"/>
                          </a:solidFill>
                          <a:latin typeface="Calibri"/>
                        </a:rPr>
                        <a:t>acd</a:t>
                      </a:r>
                    </a:p>
                  </a:txBody>
                  <a:tcPr marL="73152" marR="73152" marT="27432" marB="27432" anchor="ctr">
                    <a:solidFill>
                      <a:srgbClr val="F4F8F9"/>
                    </a:solidFill>
                  </a:tcPr>
                </a:tc>
                <a:tc>
                  <a:txBody>
                    <a:bodyPr/>
                    <a:lstStyle/>
                    <a:p>
                      <a:pPr algn="ctr"/>
                      <a:r>
                        <a:rPr sz="1400" b="1">
                          <a:solidFill>
                            <a:srgbClr val="0F4C5C"/>
                          </a:solidFill>
                          <a:latin typeface="Calibri"/>
                        </a:rPr>
                        <a:t>+</a:t>
                      </a:r>
                    </a:p>
                  </a:txBody>
                  <a:tcPr marL="73152" marR="73152" marT="27432" marB="27432" anchor="ctr">
                    <a:solidFill>
                      <a:srgbClr val="F4F8F9"/>
                    </a:solidFill>
                  </a:tcPr>
                </a:tc>
              </a:tr>
              <a:tr h="247142">
                <a:tc>
                  <a:txBody>
                    <a:bodyPr/>
                    <a:lstStyle/>
                    <a:p>
                      <a:pPr algn="ctr"/>
                      <a:r>
                        <a:rPr sz="1300" b="0">
                          <a:solidFill>
                            <a:srgbClr val="142B33"/>
                          </a:solidFill>
                          <a:latin typeface="Calibri"/>
                        </a:rPr>
                        <a:t>7</a:t>
                      </a:r>
                    </a:p>
                  </a:txBody>
                  <a:tcPr marL="73152" marR="73152" marT="27432" marB="27432" anchor="ctr">
                    <a:solidFill>
                      <a:srgbClr val="FFFFFF"/>
                    </a:solidFill>
                  </a:tcPr>
                </a:tc>
                <a:tc>
                  <a:txBody>
                    <a:bodyPr/>
                    <a:lstStyle/>
                    <a:p>
                      <a:pPr algn="ctr"/>
                      <a:r>
                        <a:rPr sz="1300" b="0">
                          <a:solidFill>
                            <a:srgbClr val="142B33"/>
                          </a:solidFill>
                          <a:latin typeface="Calibri"/>
                        </a:rPr>
                        <a:t>bc</a:t>
                      </a:r>
                    </a:p>
                  </a:txBody>
                  <a:tcPr marL="73152" marR="73152" marT="27432" marB="27432" anchor="ctr">
                    <a:solidFill>
                      <a:srgbClr val="FFFFFF"/>
                    </a:solidFill>
                  </a:tcPr>
                </a:tc>
                <a:tc>
                  <a:txBody>
                    <a:bodyPr/>
                    <a:lstStyle/>
                    <a:p>
                      <a:pPr algn="ctr"/>
                      <a:r>
                        <a:rPr sz="1400" b="1">
                          <a:solidFill>
                            <a:srgbClr val="E36414"/>
                          </a:solidFill>
                          <a:latin typeface="Calibri"/>
                        </a:rPr>
                        <a:t>−</a:t>
                      </a:r>
                    </a:p>
                  </a:txBody>
                  <a:tcPr marL="73152" marR="73152" marT="27432" marB="27432" anchor="ctr">
                    <a:solidFill>
                      <a:srgbClr val="FFFFFF"/>
                    </a:solidFill>
                  </a:tcPr>
                </a:tc>
                <a:tc>
                  <a:txBody>
                    <a:bodyPr/>
                    <a:lstStyle/>
                    <a:p>
                      <a:pPr algn="ctr"/>
                      <a:r>
                        <a:rPr sz="1300" b="0">
                          <a:solidFill>
                            <a:srgbClr val="142B33"/>
                          </a:solidFill>
                          <a:latin typeface="Calibri"/>
                        </a:rPr>
                        <a:t>15</a:t>
                      </a:r>
                    </a:p>
                  </a:txBody>
                  <a:tcPr marL="73152" marR="73152" marT="27432" marB="27432" anchor="ctr">
                    <a:solidFill>
                      <a:srgbClr val="FFFFFF"/>
                    </a:solidFill>
                  </a:tcPr>
                </a:tc>
                <a:tc>
                  <a:txBody>
                    <a:bodyPr/>
                    <a:lstStyle/>
                    <a:p>
                      <a:pPr algn="ctr"/>
                      <a:r>
                        <a:rPr sz="1300" b="0">
                          <a:solidFill>
                            <a:srgbClr val="142B33"/>
                          </a:solidFill>
                          <a:latin typeface="Calibri"/>
                        </a:rPr>
                        <a:t>bcdf</a:t>
                      </a:r>
                    </a:p>
                  </a:txBody>
                  <a:tcPr marL="73152" marR="73152" marT="27432" marB="27432" anchor="ctr">
                    <a:solidFill>
                      <a:srgbClr val="FFFFFF"/>
                    </a:solidFill>
                  </a:tcPr>
                </a:tc>
                <a:tc>
                  <a:txBody>
                    <a:bodyPr/>
                    <a:lstStyle/>
                    <a:p>
                      <a:pPr algn="ctr"/>
                      <a:r>
                        <a:rPr sz="1400" b="1">
                          <a:solidFill>
                            <a:srgbClr val="0F4C5C"/>
                          </a:solidFill>
                          <a:latin typeface="Calibri"/>
                        </a:rPr>
                        <a:t>+</a:t>
                      </a:r>
                    </a:p>
                  </a:txBody>
                  <a:tcPr marL="73152" marR="73152" marT="27432" marB="27432" anchor="ctr">
                    <a:solidFill>
                      <a:srgbClr val="FFFFFF"/>
                    </a:solidFill>
                  </a:tcPr>
                </a:tc>
              </a:tr>
              <a:tr h="247142">
                <a:tc>
                  <a:txBody>
                    <a:bodyPr/>
                    <a:lstStyle/>
                    <a:p>
                      <a:pPr algn="ctr"/>
                      <a:r>
                        <a:rPr sz="1300" b="0">
                          <a:solidFill>
                            <a:srgbClr val="142B33"/>
                          </a:solidFill>
                          <a:latin typeface="Calibri"/>
                        </a:rPr>
                        <a:t>8</a:t>
                      </a:r>
                    </a:p>
                  </a:txBody>
                  <a:tcPr marL="73152" marR="73152" marT="27432" marB="27432" anchor="ctr">
                    <a:solidFill>
                      <a:srgbClr val="F4F8F9"/>
                    </a:solidFill>
                  </a:tcPr>
                </a:tc>
                <a:tc>
                  <a:txBody>
                    <a:bodyPr/>
                    <a:lstStyle/>
                    <a:p>
                      <a:pPr algn="ctr"/>
                      <a:r>
                        <a:rPr sz="1300" b="0">
                          <a:solidFill>
                            <a:srgbClr val="142B33"/>
                          </a:solidFill>
                          <a:latin typeface="Calibri"/>
                        </a:rPr>
                        <a:t>abce</a:t>
                      </a:r>
                    </a:p>
                  </a:txBody>
                  <a:tcPr marL="73152" marR="73152" marT="27432" marB="27432" anchor="ctr">
                    <a:solidFill>
                      <a:srgbClr val="F4F8F9"/>
                    </a:solidFill>
                  </a:tcPr>
                </a:tc>
                <a:tc>
                  <a:txBody>
                    <a:bodyPr/>
                    <a:lstStyle/>
                    <a:p>
                      <a:pPr algn="ctr"/>
                      <a:r>
                        <a:rPr sz="1400" b="1">
                          <a:solidFill>
                            <a:srgbClr val="E36414"/>
                          </a:solidFill>
                          <a:latin typeface="Calibri"/>
                        </a:rPr>
                        <a:t>−</a:t>
                      </a:r>
                    </a:p>
                  </a:txBody>
                  <a:tcPr marL="73152" marR="73152" marT="27432" marB="27432" anchor="ctr">
                    <a:solidFill>
                      <a:srgbClr val="F4F8F9"/>
                    </a:solidFill>
                  </a:tcPr>
                </a:tc>
                <a:tc>
                  <a:txBody>
                    <a:bodyPr/>
                    <a:lstStyle/>
                    <a:p>
                      <a:pPr algn="ctr"/>
                      <a:r>
                        <a:rPr sz="1300" b="0">
                          <a:solidFill>
                            <a:srgbClr val="142B33"/>
                          </a:solidFill>
                          <a:latin typeface="Calibri"/>
                        </a:rPr>
                        <a:t>16</a:t>
                      </a:r>
                    </a:p>
                  </a:txBody>
                  <a:tcPr marL="73152" marR="73152" marT="27432" marB="27432" anchor="ctr">
                    <a:solidFill>
                      <a:srgbClr val="F4F8F9"/>
                    </a:solidFill>
                  </a:tcPr>
                </a:tc>
                <a:tc>
                  <a:txBody>
                    <a:bodyPr/>
                    <a:lstStyle/>
                    <a:p>
                      <a:pPr algn="ctr"/>
                      <a:r>
                        <a:rPr sz="1300" b="0">
                          <a:solidFill>
                            <a:srgbClr val="142B33"/>
                          </a:solidFill>
                          <a:latin typeface="Calibri"/>
                        </a:rPr>
                        <a:t>abcdef</a:t>
                      </a:r>
                    </a:p>
                  </a:txBody>
                  <a:tcPr marL="73152" marR="73152" marT="27432" marB="27432" anchor="ctr">
                    <a:solidFill>
                      <a:srgbClr val="F4F8F9"/>
                    </a:solidFill>
                  </a:tcPr>
                </a:tc>
                <a:tc>
                  <a:txBody>
                    <a:bodyPr/>
                    <a:lstStyle/>
                    <a:p>
                      <a:pPr algn="ctr"/>
                      <a:r>
                        <a:rPr sz="1400" b="1">
                          <a:solidFill>
                            <a:srgbClr val="0F4C5C"/>
                          </a:solidFill>
                          <a:latin typeface="Calibri"/>
                        </a:rPr>
                        <a:t>+</a:t>
                      </a:r>
                    </a:p>
                  </a:txBody>
                  <a:tcPr marL="73152" marR="73152" marT="27432" marB="27432" anchor="ctr">
                    <a:solidFill>
                      <a:srgbClr val="F4F8F9"/>
                    </a:solidFill>
                  </a:tcPr>
                </a:tc>
              </a:tr>
            </a:tbl>
          </a:graphicData>
        </a:graphic>
      </p:graphicFrame>
      <p:sp>
        <p:nvSpPr>
          <p:cNvPr id="8" name="Rounded Rectangle 7"/>
          <p:cNvSpPr/>
          <p:nvPr/>
        </p:nvSpPr>
        <p:spPr>
          <a:xfrm>
            <a:off x="5660611" y="4545330"/>
            <a:ext cx="5982443" cy="708151"/>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400" b="0">
                <a:solidFill>
                  <a:srgbClr val="142B33"/>
                </a:solidFill>
                <a:latin typeface="Calibri"/>
              </a:rPr>
              <a:t>Toda la mañana tiene </a:t>
            </a:r>
            <a:r>
              <a:rPr sz="1400" b="1">
                <a:solidFill>
                  <a:srgbClr val="142B33"/>
                </a:solidFill>
                <a:latin typeface="Calibri"/>
              </a:rPr>
              <a:t>D −</a:t>
            </a:r>
            <a:r>
              <a:rPr sz="1400" b="0">
                <a:solidFill>
                  <a:srgbClr val="142B33"/>
                </a:solidFill>
                <a:latin typeface="Calibri"/>
              </a:rPr>
              <a:t> y toda la tarde </a:t>
            </a:r>
            <a:r>
              <a:rPr sz="1400" b="1">
                <a:solidFill>
                  <a:srgbClr val="142B33"/>
                </a:solidFill>
                <a:latin typeface="Calibri"/>
              </a:rPr>
              <a:t>D +</a:t>
            </a:r>
            <a:r>
              <a:rPr sz="1400" b="0">
                <a:solidFill>
                  <a:srgbClr val="142B33"/>
                </a:solidFill>
                <a:latin typeface="Calibri"/>
              </a:rPr>
              <a:t>: el turno queda </a:t>
            </a:r>
            <a:r>
              <a:rPr sz="1400" b="1">
                <a:solidFill>
                  <a:srgbClr val="142B33"/>
                </a:solidFill>
                <a:latin typeface="Calibri"/>
              </a:rPr>
              <a:t>mezclado con D</a:t>
            </a:r>
          </a:p>
        </p:txBody>
      </p:sp>
      <p:sp>
        <p:nvSpPr>
          <p:cNvPr id="9" name="TextBox 8"/>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El diseño 2</a:t>
            </a:r>
            <a:r>
              <a:rPr sz="1000" b="0" baseline="30000">
                <a:solidFill>
                  <a:srgbClr val="5B6B73"/>
                </a:solidFill>
                <a:latin typeface="Calibri"/>
              </a:rPr>
              <a:t>k−p</a:t>
            </a:r>
            <a:r>
              <a:rPr sz="1000" b="0">
                <a:solidFill>
                  <a:srgbClr val="5B6B73"/>
                </a:solidFill>
                <a:latin typeface="Calibri"/>
              </a:rPr>
              <a:t> general</a:t>
            </a:r>
          </a:p>
        </p:txBody>
      </p:sp>
      <p:sp>
        <p:nvSpPr>
          <p:cNvPr id="10" name="TextBox 9"/>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78</a:t>
            </a:r>
          </a:p>
        </p:txBody>
      </p:sp>
      <p:sp>
        <p:nvSpPr>
          <p:cNvPr id="11" name="Rounded Rectangle 10"/>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7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¿Qué pasa con los efectos según cómo se reparta?</a:t>
            </a:r>
          </a:p>
        </p:txBody>
      </p:sp>
      <p:graphicFrame>
        <p:nvGraphicFramePr>
          <p:cNvPr id="3" name="Table 2"/>
          <p:cNvGraphicFramePr>
            <a:graphicFrameLocks noGrp="1"/>
          </p:cNvGraphicFramePr>
          <p:nvPr/>
        </p:nvGraphicFramePr>
        <p:xfrm>
          <a:off x="548640" y="1417320"/>
          <a:ext cx="5875612" cy="2784346"/>
        </p:xfrm>
        <a:graphic>
          <a:graphicData uri="http://schemas.openxmlformats.org/drawingml/2006/table">
            <a:tbl>
              <a:tblPr firstRow="0" bandRow="0">
                <a:tableStyleId>{5C22544A-7EE6-4342-B048-85BDC9FD1C3A}</a:tableStyleId>
              </a:tblPr>
              <a:tblGrid>
                <a:gridCol w="1997708"/>
                <a:gridCol w="1057610"/>
                <a:gridCol w="1527659"/>
                <a:gridCol w="1292635"/>
              </a:tblGrid>
              <a:tr h="552703">
                <a:tc>
                  <a:txBody>
                    <a:bodyPr/>
                    <a:lstStyle/>
                    <a:p>
                      <a:pPr algn="l"/>
                      <a:r>
                        <a:rPr sz="1400" b="1">
                          <a:solidFill>
                            <a:srgbClr val="FFFFFF"/>
                          </a:solidFill>
                          <a:latin typeface="Calibri"/>
                        </a:rPr>
                        <a:t>Efecto</a:t>
                      </a:r>
                    </a:p>
                  </a:txBody>
                  <a:tcPr marL="73152" marR="73152" marT="27432" marB="27432" anchor="ctr">
                    <a:solidFill>
                      <a:srgbClr val="0F4C5C"/>
                    </a:solidFill>
                  </a:tcPr>
                </a:tc>
                <a:tc>
                  <a:txBody>
                    <a:bodyPr/>
                    <a:lstStyle/>
                    <a:p>
                      <a:pPr algn="ctr"/>
                      <a:r>
                        <a:rPr sz="1400" b="1">
                          <a:solidFill>
                            <a:srgbClr val="FFFFFF"/>
                          </a:solidFill>
                          <a:latin typeface="Calibri"/>
                        </a:rPr>
                        <a:t>Sin turnos</a:t>
                      </a:r>
                    </a:p>
                  </a:txBody>
                  <a:tcPr marL="73152" marR="73152" marT="27432" marB="27432" anchor="ctr">
                    <a:solidFill>
                      <a:srgbClr val="0F4C5C"/>
                    </a:solidFill>
                  </a:tcPr>
                </a:tc>
                <a:tc>
                  <a:txBody>
                    <a:bodyPr/>
                    <a:lstStyle/>
                    <a:p>
                      <a:pPr algn="ctr"/>
                      <a:r>
                        <a:rPr sz="1400" b="1">
                          <a:solidFill>
                            <a:srgbClr val="FFFFFF"/>
                          </a:solidFill>
                          <a:latin typeface="Calibri"/>
                        </a:rPr>
                        <a:t>Reparto ingenuo (por D)</a:t>
                      </a:r>
                    </a:p>
                  </a:txBody>
                  <a:tcPr marL="73152" marR="73152" marT="27432" marB="27432" anchor="ctr">
                    <a:solidFill>
                      <a:srgbClr val="0F4C5C"/>
                    </a:solidFill>
                  </a:tcPr>
                </a:tc>
                <a:tc>
                  <a:txBody>
                    <a:bodyPr/>
                    <a:lstStyle/>
                    <a:p>
                      <a:pPr algn="ctr"/>
                      <a:r>
                        <a:rPr sz="1400" b="1">
                          <a:solidFill>
                            <a:srgbClr val="FFFFFF"/>
                          </a:solidFill>
                          <a:latin typeface="Calibri"/>
                        </a:rPr>
                        <a:t>Reparto por ABD</a:t>
                      </a:r>
                    </a:p>
                  </a:txBody>
                  <a:tcPr marL="73152" marR="73152" marT="27432" marB="27432" anchor="ctr">
                    <a:solidFill>
                      <a:srgbClr val="0F4C5C"/>
                    </a:solidFill>
                  </a:tcPr>
                </a:tc>
              </a:tr>
              <a:tr h="335788">
                <a:tc>
                  <a:txBody>
                    <a:bodyPr/>
                    <a:lstStyle/>
                    <a:p>
                      <a:pPr algn="l"/>
                      <a:r>
                        <a:rPr sz="1400" b="0">
                          <a:solidFill>
                            <a:srgbClr val="142B33"/>
                          </a:solidFill>
                          <a:latin typeface="Calibri"/>
                        </a:rPr>
                        <a:t>A</a:t>
                      </a:r>
                    </a:p>
                  </a:txBody>
                  <a:tcPr marL="73152" marR="73152" marT="27432" marB="27432" anchor="ctr">
                    <a:solidFill>
                      <a:srgbClr val="FFFFFF"/>
                    </a:solidFill>
                  </a:tcPr>
                </a:tc>
                <a:tc>
                  <a:txBody>
                    <a:bodyPr/>
                    <a:lstStyle/>
                    <a:p>
                      <a:pPr algn="ctr"/>
                      <a:r>
                        <a:rPr sz="1400" b="0">
                          <a:solidFill>
                            <a:srgbClr val="142B33"/>
                          </a:solidFill>
                          <a:latin typeface="Calibri"/>
                        </a:rPr>
                        <a:t>13.88</a:t>
                      </a:r>
                    </a:p>
                  </a:txBody>
                  <a:tcPr marL="73152" marR="73152" marT="27432" marB="27432" anchor="ctr">
                    <a:solidFill>
                      <a:srgbClr val="FFFFFF"/>
                    </a:solidFill>
                  </a:tcPr>
                </a:tc>
                <a:tc>
                  <a:txBody>
                    <a:bodyPr/>
                    <a:lstStyle/>
                    <a:p>
                      <a:pPr algn="ctr"/>
                      <a:r>
                        <a:rPr sz="1400" b="0">
                          <a:solidFill>
                            <a:srgbClr val="142B33"/>
                          </a:solidFill>
                          <a:latin typeface="Calibri"/>
                        </a:rPr>
                        <a:t>13.88</a:t>
                      </a:r>
                    </a:p>
                  </a:txBody>
                  <a:tcPr marL="73152" marR="73152" marT="27432" marB="27432" anchor="ctr">
                    <a:solidFill>
                      <a:srgbClr val="FFFFFF"/>
                    </a:solidFill>
                  </a:tcPr>
                </a:tc>
                <a:tc>
                  <a:txBody>
                    <a:bodyPr/>
                    <a:lstStyle/>
                    <a:p>
                      <a:pPr algn="ctr"/>
                      <a:r>
                        <a:rPr sz="1400" b="0">
                          <a:solidFill>
                            <a:srgbClr val="142B33"/>
                          </a:solidFill>
                          <a:latin typeface="Calibri"/>
                        </a:rPr>
                        <a:t>13.88</a:t>
                      </a:r>
                    </a:p>
                  </a:txBody>
                  <a:tcPr marL="73152" marR="73152" marT="27432" marB="27432" anchor="ctr">
                    <a:solidFill>
                      <a:srgbClr val="FFFFFF"/>
                    </a:solidFill>
                  </a:tcPr>
                </a:tc>
              </a:tr>
              <a:tr h="335788">
                <a:tc>
                  <a:txBody>
                    <a:bodyPr/>
                    <a:lstStyle/>
                    <a:p>
                      <a:pPr algn="l"/>
                      <a:r>
                        <a:rPr sz="1400" b="0">
                          <a:solidFill>
                            <a:srgbClr val="142B33"/>
                          </a:solidFill>
                          <a:latin typeface="Calibri"/>
                        </a:rPr>
                        <a:t>B</a:t>
                      </a:r>
                    </a:p>
                  </a:txBody>
                  <a:tcPr marL="73152" marR="73152" marT="27432" marB="27432" anchor="ctr">
                    <a:solidFill>
                      <a:srgbClr val="F4F8F9"/>
                    </a:solidFill>
                  </a:tcPr>
                </a:tc>
                <a:tc>
                  <a:txBody>
                    <a:bodyPr/>
                    <a:lstStyle/>
                    <a:p>
                      <a:pPr algn="ctr"/>
                      <a:r>
                        <a:rPr sz="1400" b="0">
                          <a:solidFill>
                            <a:srgbClr val="142B33"/>
                          </a:solidFill>
                          <a:latin typeface="Calibri"/>
                        </a:rPr>
                        <a:t>35.63</a:t>
                      </a:r>
                    </a:p>
                  </a:txBody>
                  <a:tcPr marL="73152" marR="73152" marT="27432" marB="27432" anchor="ctr">
                    <a:solidFill>
                      <a:srgbClr val="F4F8F9"/>
                    </a:solidFill>
                  </a:tcPr>
                </a:tc>
                <a:tc>
                  <a:txBody>
                    <a:bodyPr/>
                    <a:lstStyle/>
                    <a:p>
                      <a:pPr algn="ctr"/>
                      <a:r>
                        <a:rPr sz="1400" b="0">
                          <a:solidFill>
                            <a:srgbClr val="142B33"/>
                          </a:solidFill>
                          <a:latin typeface="Calibri"/>
                        </a:rPr>
                        <a:t>35.63</a:t>
                      </a:r>
                    </a:p>
                  </a:txBody>
                  <a:tcPr marL="73152" marR="73152" marT="27432" marB="27432" anchor="ctr">
                    <a:solidFill>
                      <a:srgbClr val="F4F8F9"/>
                    </a:solidFill>
                  </a:tcPr>
                </a:tc>
                <a:tc>
                  <a:txBody>
                    <a:bodyPr/>
                    <a:lstStyle/>
                    <a:p>
                      <a:pPr algn="ctr"/>
                      <a:r>
                        <a:rPr sz="1400" b="0">
                          <a:solidFill>
                            <a:srgbClr val="142B33"/>
                          </a:solidFill>
                          <a:latin typeface="Calibri"/>
                        </a:rPr>
                        <a:t>35.63</a:t>
                      </a:r>
                    </a:p>
                  </a:txBody>
                  <a:tcPr marL="73152" marR="73152" marT="27432" marB="27432" anchor="ctr">
                    <a:solidFill>
                      <a:srgbClr val="F4F8F9"/>
                    </a:solidFill>
                  </a:tcPr>
                </a:tc>
              </a:tr>
              <a:tr h="335788">
                <a:tc>
                  <a:txBody>
                    <a:bodyPr/>
                    <a:lstStyle/>
                    <a:p>
                      <a:pPr algn="l"/>
                      <a:r>
                        <a:rPr sz="1400" b="0">
                          <a:solidFill>
                            <a:srgbClr val="142B33"/>
                          </a:solidFill>
                          <a:latin typeface="Calibri"/>
                        </a:rPr>
                        <a:t>D</a:t>
                      </a:r>
                    </a:p>
                  </a:txBody>
                  <a:tcPr marL="73152" marR="73152" marT="27432" marB="27432" anchor="ctr">
                    <a:solidFill>
                      <a:srgbClr val="FDE8D7"/>
                    </a:solidFill>
                  </a:tcPr>
                </a:tc>
                <a:tc>
                  <a:txBody>
                    <a:bodyPr/>
                    <a:lstStyle/>
                    <a:p>
                      <a:pPr algn="ctr"/>
                      <a:r>
                        <a:rPr sz="1400" b="0">
                          <a:solidFill>
                            <a:srgbClr val="142B33"/>
                          </a:solidFill>
                          <a:latin typeface="Calibri"/>
                        </a:rPr>
                        <a:t>1.38</a:t>
                      </a:r>
                    </a:p>
                  </a:txBody>
                  <a:tcPr marL="73152" marR="73152" marT="27432" marB="27432" anchor="ctr">
                    <a:solidFill>
                      <a:srgbClr val="FDE8D7"/>
                    </a:solidFill>
                  </a:tcPr>
                </a:tc>
                <a:tc>
                  <a:txBody>
                    <a:bodyPr/>
                    <a:lstStyle/>
                    <a:p>
                      <a:pPr algn="ctr"/>
                      <a:r>
                        <a:rPr sz="1400" b="0">
                          <a:solidFill>
                            <a:srgbClr val="142B33"/>
                          </a:solidFill>
                          <a:latin typeface="Calibri"/>
                        </a:rPr>
                        <a:t>6.38</a:t>
                      </a:r>
                    </a:p>
                  </a:txBody>
                  <a:tcPr marL="73152" marR="73152" marT="27432" marB="27432" anchor="ctr">
                    <a:solidFill>
                      <a:srgbClr val="FDE8D7"/>
                    </a:solidFill>
                  </a:tcPr>
                </a:tc>
                <a:tc>
                  <a:txBody>
                    <a:bodyPr/>
                    <a:lstStyle/>
                    <a:p>
                      <a:pPr algn="ctr"/>
                      <a:r>
                        <a:rPr sz="1400" b="0">
                          <a:solidFill>
                            <a:srgbClr val="142B33"/>
                          </a:solidFill>
                          <a:latin typeface="Calibri"/>
                        </a:rPr>
                        <a:t>1.38</a:t>
                      </a:r>
                    </a:p>
                  </a:txBody>
                  <a:tcPr marL="73152" marR="73152" marT="27432" marB="27432" anchor="ctr">
                    <a:solidFill>
                      <a:srgbClr val="FDE8D7"/>
                    </a:solidFill>
                  </a:tcPr>
                </a:tc>
              </a:tr>
              <a:tr h="335788">
                <a:tc>
                  <a:txBody>
                    <a:bodyPr/>
                    <a:lstStyle/>
                    <a:p>
                      <a:pPr algn="l"/>
                      <a:r>
                        <a:rPr sz="1400" b="0">
                          <a:solidFill>
                            <a:srgbClr val="142B33"/>
                          </a:solidFill>
                          <a:latin typeface="Calibri"/>
                        </a:rPr>
                        <a:t>AB</a:t>
                      </a:r>
                    </a:p>
                  </a:txBody>
                  <a:tcPr marL="73152" marR="73152" marT="27432" marB="27432" anchor="ctr">
                    <a:solidFill>
                      <a:srgbClr val="F4F8F9"/>
                    </a:solidFill>
                  </a:tcPr>
                </a:tc>
                <a:tc>
                  <a:txBody>
                    <a:bodyPr/>
                    <a:lstStyle/>
                    <a:p>
                      <a:pPr algn="ctr"/>
                      <a:r>
                        <a:rPr sz="1400" b="0">
                          <a:solidFill>
                            <a:srgbClr val="142B33"/>
                          </a:solidFill>
                          <a:latin typeface="Calibri"/>
                        </a:rPr>
                        <a:t>11.88</a:t>
                      </a:r>
                    </a:p>
                  </a:txBody>
                  <a:tcPr marL="73152" marR="73152" marT="27432" marB="27432" anchor="ctr">
                    <a:solidFill>
                      <a:srgbClr val="F4F8F9"/>
                    </a:solidFill>
                  </a:tcPr>
                </a:tc>
                <a:tc>
                  <a:txBody>
                    <a:bodyPr/>
                    <a:lstStyle/>
                    <a:p>
                      <a:pPr algn="ctr"/>
                      <a:r>
                        <a:rPr sz="1400" b="0">
                          <a:solidFill>
                            <a:srgbClr val="142B33"/>
                          </a:solidFill>
                          <a:latin typeface="Calibri"/>
                        </a:rPr>
                        <a:t>11.88</a:t>
                      </a:r>
                    </a:p>
                  </a:txBody>
                  <a:tcPr marL="73152" marR="73152" marT="27432" marB="27432" anchor="ctr">
                    <a:solidFill>
                      <a:srgbClr val="F4F8F9"/>
                    </a:solidFill>
                  </a:tcPr>
                </a:tc>
                <a:tc>
                  <a:txBody>
                    <a:bodyPr/>
                    <a:lstStyle/>
                    <a:p>
                      <a:pPr algn="ctr"/>
                      <a:r>
                        <a:rPr sz="1400" b="0">
                          <a:solidFill>
                            <a:srgbClr val="142B33"/>
                          </a:solidFill>
                          <a:latin typeface="Calibri"/>
                        </a:rPr>
                        <a:t>11.88</a:t>
                      </a:r>
                    </a:p>
                  </a:txBody>
                  <a:tcPr marL="73152" marR="73152" marT="27432" marB="27432" anchor="ctr">
                    <a:solidFill>
                      <a:srgbClr val="F4F8F9"/>
                    </a:solidFill>
                  </a:tcPr>
                </a:tc>
              </a:tr>
              <a:tr h="335788">
                <a:tc>
                  <a:txBody>
                    <a:bodyPr/>
                    <a:lstStyle/>
                    <a:p>
                      <a:pPr algn="l"/>
                      <a:r>
                        <a:rPr sz="1400" b="0">
                          <a:solidFill>
                            <a:srgbClr val="142B33"/>
                          </a:solidFill>
                          <a:latin typeface="Calibri"/>
                        </a:rPr>
                        <a:t>AD</a:t>
                      </a:r>
                    </a:p>
                  </a:txBody>
                  <a:tcPr marL="73152" marR="73152" marT="27432" marB="27432" anchor="ctr">
                    <a:solidFill>
                      <a:srgbClr val="FFFFFF"/>
                    </a:solidFill>
                  </a:tcPr>
                </a:tc>
                <a:tc>
                  <a:txBody>
                    <a:bodyPr/>
                    <a:lstStyle/>
                    <a:p>
                      <a:pPr algn="ctr"/>
                      <a:r>
                        <a:rPr sz="1400" b="0">
                          <a:solidFill>
                            <a:srgbClr val="142B33"/>
                          </a:solidFill>
                          <a:latin typeface="Calibri"/>
                        </a:rPr>
                        <a:t>−5.38</a:t>
                      </a:r>
                    </a:p>
                  </a:txBody>
                  <a:tcPr marL="73152" marR="73152" marT="27432" marB="27432" anchor="ctr">
                    <a:solidFill>
                      <a:srgbClr val="FFFFFF"/>
                    </a:solidFill>
                  </a:tcPr>
                </a:tc>
                <a:tc>
                  <a:txBody>
                    <a:bodyPr/>
                    <a:lstStyle/>
                    <a:p>
                      <a:pPr algn="ctr"/>
                      <a:r>
                        <a:rPr sz="1400" b="0">
                          <a:solidFill>
                            <a:srgbClr val="142B33"/>
                          </a:solidFill>
                          <a:latin typeface="Calibri"/>
                        </a:rPr>
                        <a:t>−5.38</a:t>
                      </a:r>
                    </a:p>
                  </a:txBody>
                  <a:tcPr marL="73152" marR="73152" marT="27432" marB="27432" anchor="ctr">
                    <a:solidFill>
                      <a:srgbClr val="FFFFFF"/>
                    </a:solidFill>
                  </a:tcPr>
                </a:tc>
                <a:tc>
                  <a:txBody>
                    <a:bodyPr/>
                    <a:lstStyle/>
                    <a:p>
                      <a:pPr algn="ctr"/>
                      <a:r>
                        <a:rPr sz="1400" b="0">
                          <a:solidFill>
                            <a:srgbClr val="142B33"/>
                          </a:solidFill>
                          <a:latin typeface="Calibri"/>
                        </a:rPr>
                        <a:t>−5.38</a:t>
                      </a:r>
                    </a:p>
                  </a:txBody>
                  <a:tcPr marL="73152" marR="73152" marT="27432" marB="27432" anchor="ctr">
                    <a:solidFill>
                      <a:srgbClr val="FFFFFF"/>
                    </a:solidFill>
                  </a:tcPr>
                </a:tc>
              </a:tr>
              <a:tr h="552703">
                <a:tc>
                  <a:txBody>
                    <a:bodyPr/>
                    <a:lstStyle/>
                    <a:p>
                      <a:pPr algn="l"/>
                      <a:r>
                        <a:rPr sz="1400" b="0">
                          <a:solidFill>
                            <a:srgbClr val="142B33"/>
                          </a:solidFill>
                          <a:latin typeface="Calibri"/>
                        </a:rPr>
                        <a:t>ABD (+ ACF + BEF + CDE)</a:t>
                      </a:r>
                    </a:p>
                  </a:txBody>
                  <a:tcPr marL="73152" marR="73152" marT="27432" marB="27432" anchor="ctr">
                    <a:solidFill>
                      <a:srgbClr val="FDE8D7"/>
                    </a:solidFill>
                  </a:tcPr>
                </a:tc>
                <a:tc>
                  <a:txBody>
                    <a:bodyPr/>
                    <a:lstStyle/>
                    <a:p>
                      <a:pPr algn="ctr"/>
                      <a:r>
                        <a:rPr sz="1400" b="0">
                          <a:solidFill>
                            <a:srgbClr val="142B33"/>
                          </a:solidFill>
                          <a:latin typeface="Calibri"/>
                        </a:rPr>
                        <a:t>0.13</a:t>
                      </a:r>
                    </a:p>
                  </a:txBody>
                  <a:tcPr marL="73152" marR="73152" marT="27432" marB="27432" anchor="ctr">
                    <a:solidFill>
                      <a:srgbClr val="FDE8D7"/>
                    </a:solidFill>
                  </a:tcPr>
                </a:tc>
                <a:tc>
                  <a:txBody>
                    <a:bodyPr/>
                    <a:lstStyle/>
                    <a:p>
                      <a:pPr algn="ctr"/>
                      <a:r>
                        <a:rPr sz="1400" b="0">
                          <a:solidFill>
                            <a:srgbClr val="142B33"/>
                          </a:solidFill>
                          <a:latin typeface="Calibri"/>
                        </a:rPr>
                        <a:t>0.13</a:t>
                      </a:r>
                    </a:p>
                  </a:txBody>
                  <a:tcPr marL="73152" marR="73152" marT="27432" marB="27432" anchor="ctr">
                    <a:solidFill>
                      <a:srgbClr val="FDE8D7"/>
                    </a:solidFill>
                  </a:tcPr>
                </a:tc>
                <a:tc>
                  <a:txBody>
                    <a:bodyPr/>
                    <a:lstStyle/>
                    <a:p>
                      <a:pPr algn="ctr"/>
                      <a:r>
                        <a:rPr sz="1400" b="0">
                          <a:solidFill>
                            <a:srgbClr val="142B33"/>
                          </a:solidFill>
                          <a:latin typeface="Calibri"/>
                        </a:rPr>
                        <a:t>5.13</a:t>
                      </a:r>
                    </a:p>
                  </a:txBody>
                  <a:tcPr marL="73152" marR="73152" marT="27432" marB="27432" anchor="ctr">
                    <a:solidFill>
                      <a:srgbClr val="FDE8D7"/>
                    </a:solidFill>
                  </a:tcPr>
                </a:tc>
              </a:tr>
            </a:tbl>
          </a:graphicData>
        </a:graphic>
      </p:graphicFrame>
      <p:sp>
        <p:nvSpPr>
          <p:cNvPr id="4" name="TextBox 3"/>
          <p:cNvSpPr txBox="1"/>
          <p:nvPr/>
        </p:nvSpPr>
        <p:spPr>
          <a:xfrm>
            <a:off x="548640" y="4402836"/>
            <a:ext cx="5875614" cy="222504"/>
          </a:xfrm>
          <a:prstGeom prst="rect">
            <a:avLst/>
          </a:prstGeom>
          <a:noFill/>
        </p:spPr>
        <p:txBody>
          <a:bodyPr wrap="square" anchor="t" lIns="0" rIns="0" tIns="0" bIns="0">
            <a:spAutoFit/>
          </a:bodyPr>
          <a:lstStyle/>
          <a:p>
            <a:r>
              <a:rPr sz="1200" b="0">
                <a:solidFill>
                  <a:srgbClr val="5B6B73"/>
                </a:solidFill>
                <a:latin typeface="Calibri"/>
              </a:rPr>
              <a:t>Datos del ejemplo 3; a la tarde se le suman 5 unidades</a:t>
            </a:r>
          </a:p>
        </p:txBody>
      </p:sp>
      <p:sp>
        <p:nvSpPr>
          <p:cNvPr id="5" name="TextBox 4"/>
          <p:cNvSpPr txBox="1"/>
          <p:nvPr/>
        </p:nvSpPr>
        <p:spPr>
          <a:xfrm>
            <a:off x="6835734" y="1417320"/>
            <a:ext cx="4807320" cy="1176528"/>
          </a:xfrm>
          <a:prstGeom prst="rect">
            <a:avLst/>
          </a:prstGeom>
          <a:noFill/>
        </p:spPr>
        <p:txBody>
          <a:bodyPr wrap="square" anchor="t" lIns="0" rIns="0" tIns="0" bIns="0">
            <a:spAutoFit/>
          </a:bodyPr>
          <a:lstStyle/>
          <a:p>
            <a:pPr marL="320040" indent="-320040">
              <a:spcAft>
                <a:spcPts val="600"/>
              </a:spcAft>
              <a:buClr>
                <a:srgbClr val="E36414"/>
              </a:buClr>
              <a:buFont typeface="Arial"/>
              <a:buChar char="•"/>
            </a:pPr>
            <a:r>
              <a:rPr sz="1500" b="1">
                <a:solidFill>
                  <a:srgbClr val="142B33"/>
                </a:solidFill>
                <a:latin typeface="Calibri"/>
              </a:rPr>
              <a:t>Ingenuo</a:t>
            </a:r>
            <a:r>
              <a:rPr sz="1500" b="0">
                <a:solidFill>
                  <a:srgbClr val="142B33"/>
                </a:solidFill>
                <a:latin typeface="Calibri"/>
              </a:rPr>
              <a:t>: D pasa de 1.38 a </a:t>
            </a:r>
            <a:r>
              <a:rPr sz="1500" b="1">
                <a:solidFill>
                  <a:srgbClr val="142B33"/>
                </a:solidFill>
                <a:latin typeface="Calibri"/>
              </a:rPr>
              <a:t>6.38</a:t>
            </a:r>
            <a:r>
              <a:rPr sz="1500" b="0">
                <a:solidFill>
                  <a:srgbClr val="142B33"/>
                </a:solidFill>
                <a:latin typeface="Calibri"/>
              </a:rPr>
              <a:t>: parece activo y no lo es</a:t>
            </a:r>
          </a:p>
          <a:p>
            <a:pPr marL="320040" indent="-320040">
              <a:spcAft>
                <a:spcPts val="600"/>
              </a:spcAft>
              <a:buClr>
                <a:srgbClr val="E36414"/>
              </a:buClr>
              <a:buFont typeface="Arial"/>
              <a:buChar char="•"/>
            </a:pPr>
            <a:r>
              <a:rPr sz="1500" b="1">
                <a:solidFill>
                  <a:srgbClr val="142B33"/>
                </a:solidFill>
                <a:latin typeface="Calibri"/>
              </a:rPr>
              <a:t>Por ABD</a:t>
            </a:r>
            <a:r>
              <a:rPr sz="1500" b="0">
                <a:solidFill>
                  <a:srgbClr val="142B33"/>
                </a:solidFill>
                <a:latin typeface="Calibri"/>
              </a:rPr>
              <a:t>: solo cambia la cadena ABD, de 0.13 a </a:t>
            </a:r>
            <a:r>
              <a:rPr sz="1500" b="1">
                <a:solidFill>
                  <a:srgbClr val="142B33"/>
                </a:solidFill>
                <a:latin typeface="Calibri"/>
              </a:rPr>
              <a:t>5.13</a:t>
            </a:r>
          </a:p>
          <a:p>
            <a:pPr marL="320040" indent="-320040">
              <a:spcAft>
                <a:spcPts val="600"/>
              </a:spcAft>
              <a:buClr>
                <a:srgbClr val="E36414"/>
              </a:buClr>
              <a:buFont typeface="Arial"/>
              <a:buChar char="•"/>
            </a:pPr>
            <a:r>
              <a:rPr sz="1500" b="0">
                <a:solidFill>
                  <a:srgbClr val="142B33"/>
                </a:solidFill>
                <a:latin typeface="Calibri"/>
              </a:rPr>
              <a:t>Principales y dobles: </a:t>
            </a:r>
            <a:r>
              <a:rPr sz="1500" b="1">
                <a:solidFill>
                  <a:srgbClr val="142B33"/>
                </a:solidFill>
                <a:latin typeface="Calibri"/>
              </a:rPr>
              <a:t>iguales</a:t>
            </a:r>
            <a:r>
              <a:rPr sz="1500" b="0">
                <a:solidFill>
                  <a:srgbClr val="142B33"/>
                </a:solidFill>
                <a:latin typeface="Calibri"/>
              </a:rPr>
              <a:t> que sin turnos</a:t>
            </a:r>
          </a:p>
        </p:txBody>
      </p:sp>
      <p:sp>
        <p:nvSpPr>
          <p:cNvPr id="6" name="Rounded Rectangle 5"/>
          <p:cNvSpPr/>
          <p:nvPr/>
        </p:nvSpPr>
        <p:spPr>
          <a:xfrm>
            <a:off x="6835734" y="2795016"/>
            <a:ext cx="4807320" cy="97155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La diferencia entre bloques </a:t>
            </a:r>
            <a:r>
              <a:rPr sz="1500" b="1">
                <a:solidFill>
                  <a:srgbClr val="142B33"/>
                </a:solidFill>
                <a:latin typeface="Calibri"/>
              </a:rPr>
              <a:t>siempre</a:t>
            </a:r>
            <a:r>
              <a:rPr sz="1500" b="0">
                <a:solidFill>
                  <a:srgbClr val="142B33"/>
                </a:solidFill>
                <a:latin typeface="Calibri"/>
              </a:rPr>
              <a:t> cae en una columna: se escoge </a:t>
            </a:r>
            <a:r>
              <a:rPr sz="1500" b="1">
                <a:solidFill>
                  <a:srgbClr val="142B33"/>
                </a:solidFill>
                <a:latin typeface="Calibri"/>
              </a:rPr>
              <a:t>cuál se sacrifica</a:t>
            </a:r>
            <a:r>
              <a:rPr sz="1500" b="0">
                <a:solidFill>
                  <a:srgbClr val="142B33"/>
                </a:solidFill>
                <a:latin typeface="Calibri"/>
              </a:rPr>
              <a:t>, una de orden alto</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El diseño 2</a:t>
            </a:r>
            <a:r>
              <a:rPr sz="1000" b="0" baseline="30000">
                <a:solidFill>
                  <a:srgbClr val="5B6B73"/>
                </a:solidFill>
                <a:latin typeface="Calibri"/>
              </a:rPr>
              <a:t>k−p</a:t>
            </a:r>
            <a:r>
              <a:rPr sz="1000" b="0">
                <a:solidFill>
                  <a:srgbClr val="5B6B73"/>
                </a:solidFill>
                <a:latin typeface="Calibri"/>
              </a:rPr>
              <a:t> general</a:t>
            </a:r>
          </a:p>
        </p:txBody>
      </p:sp>
      <p:sp>
        <p:nvSpPr>
          <p:cNvPr id="8" name="TextBox 7"/>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79</a:t>
            </a:r>
          </a:p>
        </p:txBody>
      </p:sp>
      <p:sp>
        <p:nvSpPr>
          <p:cNvPr id="9" name="Rounded Rectangle 8"/>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7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¿Cómo se separa un fraccionado en bloques?</a:t>
            </a:r>
          </a:p>
        </p:txBody>
      </p:sp>
      <p:graphicFrame>
        <p:nvGraphicFramePr>
          <p:cNvPr id="3" name="Table 2"/>
          <p:cNvGraphicFramePr>
            <a:graphicFrameLocks noGrp="1"/>
          </p:cNvGraphicFramePr>
          <p:nvPr/>
        </p:nvGraphicFramePr>
        <p:xfrm>
          <a:off x="548640" y="1417320"/>
          <a:ext cx="4700490" cy="2507988"/>
        </p:xfrm>
        <a:graphic>
          <a:graphicData uri="http://schemas.openxmlformats.org/drawingml/2006/table">
            <a:tbl>
              <a:tblPr firstRow="0" bandRow="0">
                <a:tableStyleId>{5C22544A-7EE6-4342-B048-85BDC9FD1C3A}</a:tableStyleId>
              </a:tblPr>
              <a:tblGrid>
                <a:gridCol w="1363142"/>
                <a:gridCol w="987103"/>
                <a:gridCol w="1363142"/>
                <a:gridCol w="987103"/>
              </a:tblGrid>
              <a:tr h="457708">
                <a:tc>
                  <a:txBody>
                    <a:bodyPr/>
                    <a:lstStyle/>
                    <a:p>
                      <a:pPr algn="ctr"/>
                      <a:r>
                        <a:rPr sz="1300" b="1">
                          <a:solidFill>
                            <a:srgbClr val="FFFFFF"/>
                          </a:solidFill>
                          <a:latin typeface="Calibri"/>
                        </a:rPr>
                        <a:t>Mañana · ABD −</a:t>
                      </a:r>
                    </a:p>
                  </a:txBody>
                  <a:tcPr marL="73152" marR="73152" marT="27432" marB="27432" anchor="ctr">
                    <a:solidFill>
                      <a:srgbClr val="0F4C5C"/>
                    </a:solidFill>
                  </a:tcPr>
                </a:tc>
                <a:tc>
                  <a:txBody>
                    <a:bodyPr/>
                    <a:lstStyle/>
                    <a:p>
                      <a:pPr algn="ctr"/>
                      <a:r>
                        <a:rPr sz="1300" b="1">
                          <a:solidFill>
                            <a:srgbClr val="FFFFFF"/>
                          </a:solidFill>
                          <a:latin typeface="Calibri"/>
                        </a:rPr>
                        <a:t>Letras en común</a:t>
                      </a:r>
                    </a:p>
                  </a:txBody>
                  <a:tcPr marL="73152" marR="73152" marT="27432" marB="27432" anchor="ctr">
                    <a:solidFill>
                      <a:srgbClr val="0F4C5C"/>
                    </a:solidFill>
                  </a:tcPr>
                </a:tc>
                <a:tc>
                  <a:txBody>
                    <a:bodyPr/>
                    <a:lstStyle/>
                    <a:p>
                      <a:pPr algn="ctr"/>
                      <a:r>
                        <a:rPr sz="1300" b="1">
                          <a:solidFill>
                            <a:srgbClr val="FFFFFF"/>
                          </a:solidFill>
                          <a:latin typeface="Calibri"/>
                        </a:rPr>
                        <a:t>Tarde · ABD +</a:t>
                      </a:r>
                    </a:p>
                  </a:txBody>
                  <a:tcPr marL="73152" marR="73152" marT="27432" marB="27432" anchor="ctr">
                    <a:solidFill>
                      <a:srgbClr val="0F4C5C"/>
                    </a:solidFill>
                  </a:tcPr>
                </a:tc>
                <a:tc>
                  <a:txBody>
                    <a:bodyPr/>
                    <a:lstStyle/>
                    <a:p>
                      <a:pPr algn="ctr"/>
                      <a:r>
                        <a:rPr sz="1300" b="1">
                          <a:solidFill>
                            <a:srgbClr val="FFFFFF"/>
                          </a:solidFill>
                          <a:latin typeface="Calibri"/>
                        </a:rPr>
                        <a:t>Letras en común</a:t>
                      </a:r>
                    </a:p>
                  </a:txBody>
                  <a:tcPr marL="73152" marR="73152" marT="27432" marB="27432" anchor="ctr">
                    <a:solidFill>
                      <a:srgbClr val="0F4C5C"/>
                    </a:solidFill>
                  </a:tcPr>
                </a:tc>
              </a:tr>
              <a:tr h="256285">
                <a:tc>
                  <a:txBody>
                    <a:bodyPr/>
                    <a:lstStyle/>
                    <a:p>
                      <a:pPr algn="ctr"/>
                      <a:r>
                        <a:rPr sz="1300" b="0">
                          <a:solidFill>
                            <a:srgbClr val="142B33"/>
                          </a:solidFill>
                          <a:latin typeface="Calibri"/>
                        </a:rPr>
                        <a:t>(1)</a:t>
                      </a:r>
                    </a:p>
                  </a:txBody>
                  <a:tcPr marL="73152" marR="73152" marT="27432" marB="27432" anchor="ctr">
                    <a:solidFill>
                      <a:srgbClr val="FFFFFF"/>
                    </a:solidFill>
                  </a:tcPr>
                </a:tc>
                <a:tc>
                  <a:txBody>
                    <a:bodyPr/>
                    <a:lstStyle/>
                    <a:p>
                      <a:pPr algn="ctr"/>
                      <a:r>
                        <a:rPr sz="1300" b="0">
                          <a:solidFill>
                            <a:srgbClr val="142B33"/>
                          </a:solidFill>
                          <a:latin typeface="Calibri"/>
                        </a:rPr>
                        <a:t>0</a:t>
                      </a:r>
                    </a:p>
                  </a:txBody>
                  <a:tcPr marL="73152" marR="73152" marT="27432" marB="27432" anchor="ctr">
                    <a:solidFill>
                      <a:srgbClr val="FFFFFF"/>
                    </a:solidFill>
                  </a:tcPr>
                </a:tc>
                <a:tc>
                  <a:txBody>
                    <a:bodyPr/>
                    <a:lstStyle/>
                    <a:p>
                      <a:pPr algn="ctr"/>
                      <a:r>
                        <a:rPr sz="1300" b="0">
                          <a:solidFill>
                            <a:srgbClr val="142B33"/>
                          </a:solidFill>
                          <a:latin typeface="Calibri"/>
                        </a:rPr>
                        <a:t>ae</a:t>
                      </a:r>
                    </a:p>
                  </a:txBody>
                  <a:tcPr marL="73152" marR="73152" marT="27432" marB="27432" anchor="ctr">
                    <a:solidFill>
                      <a:srgbClr val="FFFFFF"/>
                    </a:solidFill>
                  </a:tcPr>
                </a:tc>
                <a:tc>
                  <a:txBody>
                    <a:bodyPr/>
                    <a:lstStyle/>
                    <a:p>
                      <a:pPr algn="ctr"/>
                      <a:r>
                        <a:rPr sz="1300" b="0">
                          <a:solidFill>
                            <a:srgbClr val="142B33"/>
                          </a:solidFill>
                          <a:latin typeface="Calibri"/>
                        </a:rPr>
                        <a:t>1</a:t>
                      </a:r>
                    </a:p>
                  </a:txBody>
                  <a:tcPr marL="73152" marR="73152" marT="27432" marB="27432" anchor="ctr">
                    <a:solidFill>
                      <a:srgbClr val="FFFFFF"/>
                    </a:solidFill>
                  </a:tcPr>
                </a:tc>
              </a:tr>
              <a:tr h="256285">
                <a:tc>
                  <a:txBody>
                    <a:bodyPr/>
                    <a:lstStyle/>
                    <a:p>
                      <a:pPr algn="ctr"/>
                      <a:r>
                        <a:rPr sz="1300" b="0">
                          <a:solidFill>
                            <a:srgbClr val="142B33"/>
                          </a:solidFill>
                          <a:latin typeface="Calibri"/>
                        </a:rPr>
                        <a:t>abf</a:t>
                      </a:r>
                    </a:p>
                  </a:txBody>
                  <a:tcPr marL="73152" marR="73152" marT="27432" marB="27432" anchor="ctr">
                    <a:solidFill>
                      <a:srgbClr val="F4F8F9"/>
                    </a:solidFill>
                  </a:tcPr>
                </a:tc>
                <a:tc>
                  <a:txBody>
                    <a:bodyPr/>
                    <a:lstStyle/>
                    <a:p>
                      <a:pPr algn="ctr"/>
                      <a:r>
                        <a:rPr sz="1300" b="0">
                          <a:solidFill>
                            <a:srgbClr val="142B33"/>
                          </a:solidFill>
                          <a:latin typeface="Calibri"/>
                        </a:rPr>
                        <a:t>2</a:t>
                      </a:r>
                    </a:p>
                  </a:txBody>
                  <a:tcPr marL="73152" marR="73152" marT="27432" marB="27432" anchor="ctr">
                    <a:solidFill>
                      <a:srgbClr val="F4F8F9"/>
                    </a:solidFill>
                  </a:tcPr>
                </a:tc>
                <a:tc>
                  <a:txBody>
                    <a:bodyPr/>
                    <a:lstStyle/>
                    <a:p>
                      <a:pPr algn="ctr"/>
                      <a:r>
                        <a:rPr sz="1300" b="0">
                          <a:solidFill>
                            <a:srgbClr val="142B33"/>
                          </a:solidFill>
                          <a:latin typeface="Calibri"/>
                        </a:rPr>
                        <a:t>bef</a:t>
                      </a:r>
                    </a:p>
                  </a:txBody>
                  <a:tcPr marL="73152" marR="73152" marT="27432" marB="27432" anchor="ctr">
                    <a:solidFill>
                      <a:srgbClr val="F4F8F9"/>
                    </a:solidFill>
                  </a:tcPr>
                </a:tc>
                <a:tc>
                  <a:txBody>
                    <a:bodyPr/>
                    <a:lstStyle/>
                    <a:p>
                      <a:pPr algn="ctr"/>
                      <a:r>
                        <a:rPr sz="1300" b="0">
                          <a:solidFill>
                            <a:srgbClr val="142B33"/>
                          </a:solidFill>
                          <a:latin typeface="Calibri"/>
                        </a:rPr>
                        <a:t>1</a:t>
                      </a:r>
                    </a:p>
                  </a:txBody>
                  <a:tcPr marL="73152" marR="73152" marT="27432" marB="27432" anchor="ctr">
                    <a:solidFill>
                      <a:srgbClr val="F4F8F9"/>
                    </a:solidFill>
                  </a:tcPr>
                </a:tc>
              </a:tr>
              <a:tr h="256285">
                <a:tc>
                  <a:txBody>
                    <a:bodyPr/>
                    <a:lstStyle/>
                    <a:p>
                      <a:pPr algn="ctr"/>
                      <a:r>
                        <a:rPr sz="1300" b="0">
                          <a:solidFill>
                            <a:srgbClr val="142B33"/>
                          </a:solidFill>
                          <a:latin typeface="Calibri"/>
                        </a:rPr>
                        <a:t>cef</a:t>
                      </a:r>
                    </a:p>
                  </a:txBody>
                  <a:tcPr marL="73152" marR="73152" marT="27432" marB="27432" anchor="ctr">
                    <a:solidFill>
                      <a:srgbClr val="FFFFFF"/>
                    </a:solidFill>
                  </a:tcPr>
                </a:tc>
                <a:tc>
                  <a:txBody>
                    <a:bodyPr/>
                    <a:lstStyle/>
                    <a:p>
                      <a:pPr algn="ctr"/>
                      <a:r>
                        <a:rPr sz="1300" b="0">
                          <a:solidFill>
                            <a:srgbClr val="142B33"/>
                          </a:solidFill>
                          <a:latin typeface="Calibri"/>
                        </a:rPr>
                        <a:t>0</a:t>
                      </a:r>
                    </a:p>
                  </a:txBody>
                  <a:tcPr marL="73152" marR="73152" marT="27432" marB="27432" anchor="ctr">
                    <a:solidFill>
                      <a:srgbClr val="FFFFFF"/>
                    </a:solidFill>
                  </a:tcPr>
                </a:tc>
                <a:tc>
                  <a:txBody>
                    <a:bodyPr/>
                    <a:lstStyle/>
                    <a:p>
                      <a:pPr algn="ctr"/>
                      <a:r>
                        <a:rPr sz="1300" b="0">
                          <a:solidFill>
                            <a:srgbClr val="142B33"/>
                          </a:solidFill>
                          <a:latin typeface="Calibri"/>
                        </a:rPr>
                        <a:t>acf</a:t>
                      </a:r>
                    </a:p>
                  </a:txBody>
                  <a:tcPr marL="73152" marR="73152" marT="27432" marB="27432" anchor="ctr">
                    <a:solidFill>
                      <a:srgbClr val="FFFFFF"/>
                    </a:solidFill>
                  </a:tcPr>
                </a:tc>
                <a:tc>
                  <a:txBody>
                    <a:bodyPr/>
                    <a:lstStyle/>
                    <a:p>
                      <a:pPr algn="ctr"/>
                      <a:r>
                        <a:rPr sz="1300" b="0">
                          <a:solidFill>
                            <a:srgbClr val="142B33"/>
                          </a:solidFill>
                          <a:latin typeface="Calibri"/>
                        </a:rPr>
                        <a:t>1</a:t>
                      </a:r>
                    </a:p>
                  </a:txBody>
                  <a:tcPr marL="73152" marR="73152" marT="27432" marB="27432" anchor="ctr">
                    <a:solidFill>
                      <a:srgbClr val="FFFFFF"/>
                    </a:solidFill>
                  </a:tcPr>
                </a:tc>
              </a:tr>
              <a:tr h="256285">
                <a:tc>
                  <a:txBody>
                    <a:bodyPr/>
                    <a:lstStyle/>
                    <a:p>
                      <a:pPr algn="ctr"/>
                      <a:r>
                        <a:rPr sz="1300" b="0">
                          <a:solidFill>
                            <a:srgbClr val="142B33"/>
                          </a:solidFill>
                          <a:latin typeface="Calibri"/>
                        </a:rPr>
                        <a:t>abce</a:t>
                      </a:r>
                    </a:p>
                  </a:txBody>
                  <a:tcPr marL="73152" marR="73152" marT="27432" marB="27432" anchor="ctr">
                    <a:solidFill>
                      <a:srgbClr val="F4F8F9"/>
                    </a:solidFill>
                  </a:tcPr>
                </a:tc>
                <a:tc>
                  <a:txBody>
                    <a:bodyPr/>
                    <a:lstStyle/>
                    <a:p>
                      <a:pPr algn="ctr"/>
                      <a:r>
                        <a:rPr sz="1300" b="0">
                          <a:solidFill>
                            <a:srgbClr val="142B33"/>
                          </a:solidFill>
                          <a:latin typeface="Calibri"/>
                        </a:rPr>
                        <a:t>2</a:t>
                      </a:r>
                    </a:p>
                  </a:txBody>
                  <a:tcPr marL="73152" marR="73152" marT="27432" marB="27432" anchor="ctr">
                    <a:solidFill>
                      <a:srgbClr val="F4F8F9"/>
                    </a:solidFill>
                  </a:tcPr>
                </a:tc>
                <a:tc>
                  <a:txBody>
                    <a:bodyPr/>
                    <a:lstStyle/>
                    <a:p>
                      <a:pPr algn="ctr"/>
                      <a:r>
                        <a:rPr sz="1300" b="0">
                          <a:solidFill>
                            <a:srgbClr val="142B33"/>
                          </a:solidFill>
                          <a:latin typeface="Calibri"/>
                        </a:rPr>
                        <a:t>bc</a:t>
                      </a:r>
                    </a:p>
                  </a:txBody>
                  <a:tcPr marL="73152" marR="73152" marT="27432" marB="27432" anchor="ctr">
                    <a:solidFill>
                      <a:srgbClr val="F4F8F9"/>
                    </a:solidFill>
                  </a:tcPr>
                </a:tc>
                <a:tc>
                  <a:txBody>
                    <a:bodyPr/>
                    <a:lstStyle/>
                    <a:p>
                      <a:pPr algn="ctr"/>
                      <a:r>
                        <a:rPr sz="1300" b="0">
                          <a:solidFill>
                            <a:srgbClr val="142B33"/>
                          </a:solidFill>
                          <a:latin typeface="Calibri"/>
                        </a:rPr>
                        <a:t>1</a:t>
                      </a:r>
                    </a:p>
                  </a:txBody>
                  <a:tcPr marL="73152" marR="73152" marT="27432" marB="27432" anchor="ctr">
                    <a:solidFill>
                      <a:srgbClr val="F4F8F9"/>
                    </a:solidFill>
                  </a:tcPr>
                </a:tc>
              </a:tr>
              <a:tr h="256285">
                <a:tc>
                  <a:txBody>
                    <a:bodyPr/>
                    <a:lstStyle/>
                    <a:p>
                      <a:pPr algn="ctr"/>
                      <a:r>
                        <a:rPr sz="1300" b="0">
                          <a:solidFill>
                            <a:srgbClr val="142B33"/>
                          </a:solidFill>
                          <a:latin typeface="Calibri"/>
                        </a:rPr>
                        <a:t>adef</a:t>
                      </a:r>
                    </a:p>
                  </a:txBody>
                  <a:tcPr marL="73152" marR="73152" marT="27432" marB="27432" anchor="ctr">
                    <a:solidFill>
                      <a:srgbClr val="FFFFFF"/>
                    </a:solidFill>
                  </a:tcPr>
                </a:tc>
                <a:tc>
                  <a:txBody>
                    <a:bodyPr/>
                    <a:lstStyle/>
                    <a:p>
                      <a:pPr algn="ctr"/>
                      <a:r>
                        <a:rPr sz="1300" b="0">
                          <a:solidFill>
                            <a:srgbClr val="142B33"/>
                          </a:solidFill>
                          <a:latin typeface="Calibri"/>
                        </a:rPr>
                        <a:t>2</a:t>
                      </a:r>
                    </a:p>
                  </a:txBody>
                  <a:tcPr marL="73152" marR="73152" marT="27432" marB="27432" anchor="ctr">
                    <a:solidFill>
                      <a:srgbClr val="FFFFFF"/>
                    </a:solidFill>
                  </a:tcPr>
                </a:tc>
                <a:tc>
                  <a:txBody>
                    <a:bodyPr/>
                    <a:lstStyle/>
                    <a:p>
                      <a:pPr algn="ctr"/>
                      <a:r>
                        <a:rPr sz="1300" b="0">
                          <a:solidFill>
                            <a:srgbClr val="142B33"/>
                          </a:solidFill>
                          <a:latin typeface="Calibri"/>
                        </a:rPr>
                        <a:t>df</a:t>
                      </a:r>
                    </a:p>
                  </a:txBody>
                  <a:tcPr marL="73152" marR="73152" marT="27432" marB="27432" anchor="ctr">
                    <a:solidFill>
                      <a:srgbClr val="FFFFFF"/>
                    </a:solidFill>
                  </a:tcPr>
                </a:tc>
                <a:tc>
                  <a:txBody>
                    <a:bodyPr/>
                    <a:lstStyle/>
                    <a:p>
                      <a:pPr algn="ctr"/>
                      <a:r>
                        <a:rPr sz="1300" b="0">
                          <a:solidFill>
                            <a:srgbClr val="142B33"/>
                          </a:solidFill>
                          <a:latin typeface="Calibri"/>
                        </a:rPr>
                        <a:t>1</a:t>
                      </a:r>
                    </a:p>
                  </a:txBody>
                  <a:tcPr marL="73152" marR="73152" marT="27432" marB="27432" anchor="ctr">
                    <a:solidFill>
                      <a:srgbClr val="FFFFFF"/>
                    </a:solidFill>
                  </a:tcPr>
                </a:tc>
              </a:tr>
              <a:tr h="256285">
                <a:tc>
                  <a:txBody>
                    <a:bodyPr/>
                    <a:lstStyle/>
                    <a:p>
                      <a:pPr algn="ctr"/>
                      <a:r>
                        <a:rPr sz="1300" b="0">
                          <a:solidFill>
                            <a:srgbClr val="142B33"/>
                          </a:solidFill>
                          <a:latin typeface="Calibri"/>
                        </a:rPr>
                        <a:t>bde</a:t>
                      </a:r>
                    </a:p>
                  </a:txBody>
                  <a:tcPr marL="73152" marR="73152" marT="27432" marB="27432" anchor="ctr">
                    <a:solidFill>
                      <a:srgbClr val="F4F8F9"/>
                    </a:solidFill>
                  </a:tcPr>
                </a:tc>
                <a:tc>
                  <a:txBody>
                    <a:bodyPr/>
                    <a:lstStyle/>
                    <a:p>
                      <a:pPr algn="ctr"/>
                      <a:r>
                        <a:rPr sz="1300" b="0">
                          <a:solidFill>
                            <a:srgbClr val="142B33"/>
                          </a:solidFill>
                          <a:latin typeface="Calibri"/>
                        </a:rPr>
                        <a:t>2</a:t>
                      </a:r>
                    </a:p>
                  </a:txBody>
                  <a:tcPr marL="73152" marR="73152" marT="27432" marB="27432" anchor="ctr">
                    <a:solidFill>
                      <a:srgbClr val="F4F8F9"/>
                    </a:solidFill>
                  </a:tcPr>
                </a:tc>
                <a:tc>
                  <a:txBody>
                    <a:bodyPr/>
                    <a:lstStyle/>
                    <a:p>
                      <a:pPr algn="ctr"/>
                      <a:r>
                        <a:rPr sz="1300" b="0">
                          <a:solidFill>
                            <a:srgbClr val="142B33"/>
                          </a:solidFill>
                          <a:latin typeface="Calibri"/>
                        </a:rPr>
                        <a:t>abd</a:t>
                      </a:r>
                    </a:p>
                  </a:txBody>
                  <a:tcPr marL="73152" marR="73152" marT="27432" marB="27432" anchor="ctr">
                    <a:solidFill>
                      <a:srgbClr val="F4F8F9"/>
                    </a:solidFill>
                  </a:tcPr>
                </a:tc>
                <a:tc>
                  <a:txBody>
                    <a:bodyPr/>
                    <a:lstStyle/>
                    <a:p>
                      <a:pPr algn="ctr"/>
                      <a:r>
                        <a:rPr sz="1300" b="0">
                          <a:solidFill>
                            <a:srgbClr val="142B33"/>
                          </a:solidFill>
                          <a:latin typeface="Calibri"/>
                        </a:rPr>
                        <a:t>3</a:t>
                      </a:r>
                    </a:p>
                  </a:txBody>
                  <a:tcPr marL="73152" marR="73152" marT="27432" marB="27432" anchor="ctr">
                    <a:solidFill>
                      <a:srgbClr val="F4F8F9"/>
                    </a:solidFill>
                  </a:tcPr>
                </a:tc>
              </a:tr>
              <a:tr h="256285">
                <a:tc>
                  <a:txBody>
                    <a:bodyPr/>
                    <a:lstStyle/>
                    <a:p>
                      <a:pPr algn="ctr"/>
                      <a:r>
                        <a:rPr sz="1300" b="0">
                          <a:solidFill>
                            <a:srgbClr val="142B33"/>
                          </a:solidFill>
                          <a:latin typeface="Calibri"/>
                        </a:rPr>
                        <a:t>acd</a:t>
                      </a:r>
                    </a:p>
                  </a:txBody>
                  <a:tcPr marL="73152" marR="73152" marT="27432" marB="27432" anchor="ctr">
                    <a:solidFill>
                      <a:srgbClr val="FFFFFF"/>
                    </a:solidFill>
                  </a:tcPr>
                </a:tc>
                <a:tc>
                  <a:txBody>
                    <a:bodyPr/>
                    <a:lstStyle/>
                    <a:p>
                      <a:pPr algn="ctr"/>
                      <a:r>
                        <a:rPr sz="1300" b="0">
                          <a:solidFill>
                            <a:srgbClr val="142B33"/>
                          </a:solidFill>
                          <a:latin typeface="Calibri"/>
                        </a:rPr>
                        <a:t>2</a:t>
                      </a:r>
                    </a:p>
                  </a:txBody>
                  <a:tcPr marL="73152" marR="73152" marT="27432" marB="27432" anchor="ctr">
                    <a:solidFill>
                      <a:srgbClr val="FFFFFF"/>
                    </a:solidFill>
                  </a:tcPr>
                </a:tc>
                <a:tc>
                  <a:txBody>
                    <a:bodyPr/>
                    <a:lstStyle/>
                    <a:p>
                      <a:pPr algn="ctr"/>
                      <a:r>
                        <a:rPr sz="1300" b="0">
                          <a:solidFill>
                            <a:srgbClr val="142B33"/>
                          </a:solidFill>
                          <a:latin typeface="Calibri"/>
                        </a:rPr>
                        <a:t>cde</a:t>
                      </a:r>
                    </a:p>
                  </a:txBody>
                  <a:tcPr marL="73152" marR="73152" marT="27432" marB="27432" anchor="ctr">
                    <a:solidFill>
                      <a:srgbClr val="FFFFFF"/>
                    </a:solidFill>
                  </a:tcPr>
                </a:tc>
                <a:tc>
                  <a:txBody>
                    <a:bodyPr/>
                    <a:lstStyle/>
                    <a:p>
                      <a:pPr algn="ctr"/>
                      <a:r>
                        <a:rPr sz="1300" b="0">
                          <a:solidFill>
                            <a:srgbClr val="142B33"/>
                          </a:solidFill>
                          <a:latin typeface="Calibri"/>
                        </a:rPr>
                        <a:t>1</a:t>
                      </a:r>
                    </a:p>
                  </a:txBody>
                  <a:tcPr marL="73152" marR="73152" marT="27432" marB="27432" anchor="ctr">
                    <a:solidFill>
                      <a:srgbClr val="FFFFFF"/>
                    </a:solidFill>
                  </a:tcPr>
                </a:tc>
              </a:tr>
              <a:tr h="256285">
                <a:tc>
                  <a:txBody>
                    <a:bodyPr/>
                    <a:lstStyle/>
                    <a:p>
                      <a:pPr algn="ctr"/>
                      <a:r>
                        <a:rPr sz="1300" b="0">
                          <a:solidFill>
                            <a:srgbClr val="142B33"/>
                          </a:solidFill>
                          <a:latin typeface="Calibri"/>
                        </a:rPr>
                        <a:t>bcdf</a:t>
                      </a:r>
                    </a:p>
                  </a:txBody>
                  <a:tcPr marL="73152" marR="73152" marT="27432" marB="27432" anchor="ctr">
                    <a:solidFill>
                      <a:srgbClr val="F4F8F9"/>
                    </a:solidFill>
                  </a:tcPr>
                </a:tc>
                <a:tc>
                  <a:txBody>
                    <a:bodyPr/>
                    <a:lstStyle/>
                    <a:p>
                      <a:pPr algn="ctr"/>
                      <a:r>
                        <a:rPr sz="1300" b="0">
                          <a:solidFill>
                            <a:srgbClr val="142B33"/>
                          </a:solidFill>
                          <a:latin typeface="Calibri"/>
                        </a:rPr>
                        <a:t>2</a:t>
                      </a:r>
                    </a:p>
                  </a:txBody>
                  <a:tcPr marL="73152" marR="73152" marT="27432" marB="27432" anchor="ctr">
                    <a:solidFill>
                      <a:srgbClr val="F4F8F9"/>
                    </a:solidFill>
                  </a:tcPr>
                </a:tc>
                <a:tc>
                  <a:txBody>
                    <a:bodyPr/>
                    <a:lstStyle/>
                    <a:p>
                      <a:pPr algn="ctr"/>
                      <a:r>
                        <a:rPr sz="1300" b="0">
                          <a:solidFill>
                            <a:srgbClr val="142B33"/>
                          </a:solidFill>
                          <a:latin typeface="Calibri"/>
                        </a:rPr>
                        <a:t>abcdef</a:t>
                      </a:r>
                    </a:p>
                  </a:txBody>
                  <a:tcPr marL="73152" marR="73152" marT="27432" marB="27432" anchor="ctr">
                    <a:solidFill>
                      <a:srgbClr val="F4F8F9"/>
                    </a:solidFill>
                  </a:tcPr>
                </a:tc>
                <a:tc>
                  <a:txBody>
                    <a:bodyPr/>
                    <a:lstStyle/>
                    <a:p>
                      <a:pPr algn="ctr"/>
                      <a:r>
                        <a:rPr sz="1300" b="0">
                          <a:solidFill>
                            <a:srgbClr val="142B33"/>
                          </a:solidFill>
                          <a:latin typeface="Calibri"/>
                        </a:rPr>
                        <a:t>3</a:t>
                      </a:r>
                    </a:p>
                  </a:txBody>
                  <a:tcPr marL="73152" marR="73152" marT="27432" marB="27432" anchor="ctr">
                    <a:solidFill>
                      <a:srgbClr val="F4F8F9"/>
                    </a:solidFill>
                  </a:tcPr>
                </a:tc>
              </a:tr>
            </a:tbl>
          </a:graphicData>
        </a:graphic>
      </p:graphicFrame>
      <p:sp>
        <p:nvSpPr>
          <p:cNvPr id="4" name="TextBox 3"/>
          <p:cNvSpPr txBox="1"/>
          <p:nvPr/>
        </p:nvSpPr>
        <p:spPr>
          <a:xfrm>
            <a:off x="548640" y="4126484"/>
            <a:ext cx="4700491" cy="207010"/>
          </a:xfrm>
          <a:prstGeom prst="rect">
            <a:avLst/>
          </a:prstGeom>
          <a:noFill/>
        </p:spPr>
        <p:txBody>
          <a:bodyPr wrap="square" anchor="t" lIns="0" rIns="0" tIns="0" bIns="0">
            <a:spAutoFit/>
          </a:bodyPr>
          <a:lstStyle/>
          <a:p>
            <a:r>
              <a:rPr sz="1100" b="0">
                <a:solidFill>
                  <a:srgbClr val="5B6B73"/>
                </a:solidFill>
                <a:latin typeface="Calibri"/>
              </a:rPr>
              <a:t>Montgomery, fig. 8-18 (la figura imprime «abef»; debe ser adef)</a:t>
            </a:r>
          </a:p>
        </p:txBody>
      </p:sp>
      <p:sp>
        <p:nvSpPr>
          <p:cNvPr id="5" name="TextBox 4"/>
          <p:cNvSpPr txBox="1"/>
          <p:nvPr/>
        </p:nvSpPr>
        <p:spPr>
          <a:xfrm>
            <a:off x="5660611" y="1417320"/>
            <a:ext cx="5982443" cy="2224278"/>
          </a:xfrm>
          <a:prstGeom prst="rect">
            <a:avLst/>
          </a:prstGeom>
          <a:noFill/>
        </p:spPr>
        <p:txBody>
          <a:bodyPr wrap="square" anchor="t" lIns="0" rIns="0" tIns="0" bIns="0">
            <a:spAutoFit/>
          </a:bodyPr>
          <a:lstStyle/>
          <a:p>
            <a:pPr marL="320040" indent="-320040">
              <a:spcAft>
                <a:spcPts val="600"/>
              </a:spcAft>
              <a:buClr>
                <a:srgbClr val="E36414"/>
              </a:buClr>
              <a:buFont typeface="+mj-lt"/>
              <a:buAutoNum type="arabicPeriod"/>
            </a:pPr>
            <a:r>
              <a:rPr sz="1300" b="0">
                <a:solidFill>
                  <a:srgbClr val="142B33"/>
                </a:solidFill>
                <a:latin typeface="Calibri"/>
              </a:rPr>
              <a:t>Decidir cuántos bloques: </a:t>
            </a:r>
            <a:r>
              <a:rPr sz="1300" b="1">
                <a:solidFill>
                  <a:srgbClr val="142B33"/>
                </a:solidFill>
                <a:latin typeface="Calibri"/>
              </a:rPr>
              <a:t>2</a:t>
            </a:r>
            <a:r>
              <a:rPr sz="1300" b="0">
                <a:solidFill>
                  <a:srgbClr val="142B33"/>
                </a:solidFill>
                <a:latin typeface="Calibri"/>
              </a:rPr>
              <a:t> bloques confunden </a:t>
            </a:r>
            <a:r>
              <a:rPr sz="1300" b="1">
                <a:solidFill>
                  <a:srgbClr val="142B33"/>
                </a:solidFill>
                <a:latin typeface="Calibri"/>
              </a:rPr>
              <a:t>1</a:t>
            </a:r>
            <a:r>
              <a:rPr sz="1300" b="0">
                <a:solidFill>
                  <a:srgbClr val="142B33"/>
                </a:solidFill>
                <a:latin typeface="Calibri"/>
              </a:rPr>
              <a:t> columna; </a:t>
            </a:r>
            <a:r>
              <a:rPr sz="1300" b="1">
                <a:solidFill>
                  <a:srgbClr val="142B33"/>
                </a:solidFill>
                <a:latin typeface="Calibri"/>
              </a:rPr>
              <a:t>4</a:t>
            </a:r>
            <a:r>
              <a:rPr sz="1300" b="0">
                <a:solidFill>
                  <a:srgbClr val="142B33"/>
                </a:solidFill>
                <a:latin typeface="Calibri"/>
              </a:rPr>
              <a:t> confunden </a:t>
            </a:r>
            <a:r>
              <a:rPr sz="1300" b="1">
                <a:solidFill>
                  <a:srgbClr val="142B33"/>
                </a:solidFill>
                <a:latin typeface="Calibri"/>
              </a:rPr>
              <a:t>2</a:t>
            </a:r>
            <a:r>
              <a:rPr sz="1300" b="0">
                <a:solidFill>
                  <a:srgbClr val="142B33"/>
                </a:solidFill>
                <a:latin typeface="Calibri"/>
              </a:rPr>
              <a:t> y su producto</a:t>
            </a:r>
          </a:p>
          <a:p>
            <a:pPr marL="320040" indent="-320040">
              <a:spcAft>
                <a:spcPts val="600"/>
              </a:spcAft>
              <a:buClr>
                <a:srgbClr val="E36414"/>
              </a:buClr>
              <a:buFont typeface="+mj-lt"/>
              <a:buAutoNum type="arabicPeriod"/>
            </a:pPr>
            <a:r>
              <a:rPr sz="1300" b="0">
                <a:solidFill>
                  <a:srgbClr val="142B33"/>
                </a:solidFill>
                <a:latin typeface="Calibri"/>
              </a:rPr>
              <a:t>Escribir las </a:t>
            </a:r>
            <a:r>
              <a:rPr sz="1300" b="1">
                <a:solidFill>
                  <a:srgbClr val="142B33"/>
                </a:solidFill>
                <a:latin typeface="Calibri"/>
              </a:rPr>
              <a:t>cadenas de alias</a:t>
            </a:r>
            <a:r>
              <a:rPr sz="1300" b="0">
                <a:solidFill>
                  <a:srgbClr val="142B33"/>
                </a:solidFill>
                <a:latin typeface="Calibri"/>
              </a:rPr>
              <a:t> del fraccionado</a:t>
            </a:r>
          </a:p>
          <a:p>
            <a:pPr marL="320040" indent="-320040">
              <a:spcAft>
                <a:spcPts val="600"/>
              </a:spcAft>
              <a:buClr>
                <a:srgbClr val="E36414"/>
              </a:buClr>
              <a:buFont typeface="+mj-lt"/>
              <a:buAutoNum type="arabicPeriod"/>
            </a:pPr>
            <a:r>
              <a:rPr sz="1300" b="0">
                <a:solidFill>
                  <a:srgbClr val="142B33"/>
                </a:solidFill>
                <a:latin typeface="Calibri"/>
              </a:rPr>
              <a:t>Escoger una cadena con </a:t>
            </a:r>
            <a:r>
              <a:rPr sz="1300" b="1">
                <a:solidFill>
                  <a:srgbClr val="142B33"/>
                </a:solidFill>
                <a:latin typeface="Calibri"/>
              </a:rPr>
              <a:t>solo interacciones de orden alto</a:t>
            </a:r>
            <a:r>
              <a:rPr sz="1300" b="0">
                <a:solidFill>
                  <a:srgbClr val="142B33"/>
                </a:solidFill>
                <a:latin typeface="Calibri"/>
              </a:rPr>
              <a:t>: aquí ABD = ACF = BEF = CDE</a:t>
            </a:r>
          </a:p>
          <a:p>
            <a:pPr marL="320040" indent="-320040">
              <a:spcAft>
                <a:spcPts val="600"/>
              </a:spcAft>
              <a:buClr>
                <a:srgbClr val="E36414"/>
              </a:buClr>
              <a:buFont typeface="+mj-lt"/>
              <a:buAutoNum type="arabicPeriod"/>
            </a:pPr>
            <a:r>
              <a:rPr sz="1300" b="0">
                <a:solidFill>
                  <a:srgbClr val="142B33"/>
                </a:solidFill>
                <a:latin typeface="Calibri"/>
              </a:rPr>
              <a:t>Calcular el </a:t>
            </a:r>
            <a:r>
              <a:rPr sz="1300" b="1">
                <a:solidFill>
                  <a:srgbClr val="142B33"/>
                </a:solidFill>
                <a:latin typeface="Calibri"/>
              </a:rPr>
              <a:t>signo de ABD</a:t>
            </a:r>
            <a:r>
              <a:rPr sz="1300" b="0">
                <a:solidFill>
                  <a:srgbClr val="142B33"/>
                </a:solidFill>
                <a:latin typeface="Calibri"/>
              </a:rPr>
              <a:t> en cada corrida: signo de A × signo de B × signo de D</a:t>
            </a:r>
          </a:p>
          <a:p>
            <a:pPr marL="320040" indent="-320040">
              <a:spcAft>
                <a:spcPts val="600"/>
              </a:spcAft>
              <a:buClr>
                <a:srgbClr val="E36414"/>
              </a:buClr>
              <a:buFont typeface="+mj-lt"/>
              <a:buAutoNum type="arabicPeriod"/>
            </a:pPr>
            <a:r>
              <a:rPr sz="1300" b="0">
                <a:solidFill>
                  <a:srgbClr val="142B33"/>
                </a:solidFill>
                <a:latin typeface="Calibri"/>
              </a:rPr>
              <a:t>Repartir: </a:t>
            </a:r>
            <a:r>
              <a:rPr sz="1300" b="1">
                <a:solidFill>
                  <a:srgbClr val="142B33"/>
                </a:solidFill>
                <a:latin typeface="Calibri"/>
              </a:rPr>
              <a:t>ABD = −</a:t>
            </a:r>
            <a:r>
              <a:rPr sz="1300" b="0">
                <a:solidFill>
                  <a:srgbClr val="142B33"/>
                </a:solidFill>
                <a:latin typeface="Calibri"/>
              </a:rPr>
              <a:t> a la mañana (bloque 1), </a:t>
            </a:r>
            <a:r>
              <a:rPr sz="1300" b="1">
                <a:solidFill>
                  <a:srgbClr val="142B33"/>
                </a:solidFill>
                <a:latin typeface="Calibri"/>
              </a:rPr>
              <a:t>ABD = +</a:t>
            </a:r>
            <a:r>
              <a:rPr sz="1300" b="0">
                <a:solidFill>
                  <a:srgbClr val="142B33"/>
                </a:solidFill>
                <a:latin typeface="Calibri"/>
              </a:rPr>
              <a:t> a la tarde (bloque 2); ABD queda </a:t>
            </a:r>
            <a:r>
              <a:rPr sz="1300" b="1">
                <a:solidFill>
                  <a:srgbClr val="142B33"/>
                </a:solidFill>
                <a:latin typeface="Calibri"/>
              </a:rPr>
              <a:t>confundida</a:t>
            </a:r>
            <a:r>
              <a:rPr sz="1300" b="0">
                <a:solidFill>
                  <a:srgbClr val="142B33"/>
                </a:solidFill>
                <a:latin typeface="Calibri"/>
              </a:rPr>
              <a:t> con el turno</a:t>
            </a:r>
          </a:p>
        </p:txBody>
      </p:sp>
      <p:sp>
        <p:nvSpPr>
          <p:cNvPr id="6" name="Rounded Rectangle 5"/>
          <p:cNvSpPr/>
          <p:nvPr/>
        </p:nvSpPr>
        <p:spPr>
          <a:xfrm>
            <a:off x="5660611" y="3842766"/>
            <a:ext cx="5982443" cy="677164"/>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300" b="1">
                <a:solidFill>
                  <a:srgbClr val="142B33"/>
                </a:solidFill>
                <a:latin typeface="Calibri"/>
              </a:rPr>
              <a:t>Atajo</a:t>
            </a:r>
            <a:r>
              <a:rPr sz="1300" b="0">
                <a:solidFill>
                  <a:srgbClr val="142B33"/>
                </a:solidFill>
                <a:latin typeface="Calibri"/>
              </a:rPr>
              <a:t>: letras en común con ABD. </a:t>
            </a:r>
            <a:r>
              <a:rPr sz="1300" b="1">
                <a:solidFill>
                  <a:srgbClr val="142B33"/>
                </a:solidFill>
                <a:latin typeface="Calibri"/>
              </a:rPr>
              <a:t>Par</a:t>
            </a:r>
            <a:r>
              <a:rPr sz="1300" b="0">
                <a:solidFill>
                  <a:srgbClr val="142B33"/>
                </a:solidFill>
                <a:latin typeface="Calibri"/>
              </a:rPr>
              <a:t> (0 o 2) → mañana; </a:t>
            </a:r>
            <a:r>
              <a:rPr sz="1300" b="1">
                <a:solidFill>
                  <a:srgbClr val="142B33"/>
                </a:solidFill>
                <a:latin typeface="Calibri"/>
              </a:rPr>
              <a:t>impar</a:t>
            </a:r>
            <a:r>
              <a:rPr sz="1300" b="0">
                <a:solidFill>
                  <a:srgbClr val="142B33"/>
                </a:solidFill>
                <a:latin typeface="Calibri"/>
              </a:rPr>
              <a:t> (1 o 3) → tarde. abf: a, b = 2 → mañana.  ae: a = 1 → tarde</a:t>
            </a:r>
          </a:p>
        </p:txBody>
      </p:sp>
      <p:sp>
        <p:nvSpPr>
          <p:cNvPr id="7" name="Rounded Rectangle 6"/>
          <p:cNvSpPr/>
          <p:nvPr/>
        </p:nvSpPr>
        <p:spPr>
          <a:xfrm>
            <a:off x="5660611" y="4721098"/>
            <a:ext cx="5982443" cy="1080008"/>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300" b="1">
                <a:solidFill>
                  <a:srgbClr val="142B33"/>
                </a:solidFill>
                <a:latin typeface="Calibri"/>
              </a:rPr>
              <a:t>Se pierde</a:t>
            </a:r>
            <a:r>
              <a:rPr sz="1300" b="0">
                <a:solidFill>
                  <a:srgbClr val="142B33"/>
                </a:solidFill>
                <a:latin typeface="Calibri"/>
              </a:rPr>
              <a:t> la cadena ABD = ACF = BEF = CDE: su contraste es la diferencia entre turnos (fila de </a:t>
            </a:r>
            <a:r>
              <a:rPr sz="1300" b="1">
                <a:solidFill>
                  <a:srgbClr val="142B33"/>
                </a:solidFill>
                <a:latin typeface="Calibri"/>
              </a:rPr>
              <a:t>bloques</a:t>
            </a:r>
            <a:r>
              <a:rPr sz="1300" b="0">
                <a:solidFill>
                  <a:srgbClr val="142B33"/>
                </a:solidFill>
                <a:latin typeface="Calibri"/>
              </a:rPr>
              <a:t> del ANOVA, 1 g.l.). </a:t>
            </a:r>
            <a:r>
              <a:rPr sz="1300" b="1">
                <a:solidFill>
                  <a:srgbClr val="142B33"/>
                </a:solidFill>
                <a:latin typeface="Calibri"/>
              </a:rPr>
              <a:t>Se conserva</a:t>
            </a:r>
            <a:r>
              <a:rPr sz="1300" b="0">
                <a:solidFill>
                  <a:srgbClr val="142B33"/>
                </a:solidFill>
                <a:latin typeface="Calibri"/>
              </a:rPr>
              <a:t> el resto: las otras 13 cadenas tienen 4 + y 4 − en cada turno y la diferencia se cancela en sus contrastes</a:t>
            </a:r>
          </a:p>
        </p:txBody>
      </p:sp>
      <p:sp>
        <p:nvSpPr>
          <p:cNvPr id="8" name="TextBox 7"/>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El diseño 2</a:t>
            </a:r>
            <a:r>
              <a:rPr sz="1000" b="0" baseline="30000">
                <a:solidFill>
                  <a:srgbClr val="5B6B73"/>
                </a:solidFill>
                <a:latin typeface="Calibri"/>
              </a:rPr>
              <a:t>k−p</a:t>
            </a:r>
            <a:r>
              <a:rPr sz="1000" b="0">
                <a:solidFill>
                  <a:srgbClr val="5B6B73"/>
                </a:solidFill>
                <a:latin typeface="Calibri"/>
              </a:rPr>
              <a:t> general</a:t>
            </a:r>
          </a:p>
        </p:txBody>
      </p:sp>
      <p:sp>
        <p:nvSpPr>
          <p:cNvPr id="9" name="TextBox 8"/>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80</a:t>
            </a:r>
          </a:p>
        </p:txBody>
      </p:sp>
      <p:sp>
        <p:nvSpPr>
          <p:cNvPr id="10" name="Rounded Rectangle 9"/>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7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4 · Enunciado: máquina CNC</a:t>
            </a:r>
          </a:p>
        </p:txBody>
      </p:sp>
      <p:sp>
        <p:nvSpPr>
          <p:cNvPr id="3" name="TextBox 2"/>
          <p:cNvSpPr txBox="1"/>
          <p:nvPr/>
        </p:nvSpPr>
        <p:spPr>
          <a:xfrm>
            <a:off x="548640" y="1417320"/>
            <a:ext cx="6196102" cy="1276096"/>
          </a:xfrm>
          <a:prstGeom prst="rect">
            <a:avLst/>
          </a:prstGeom>
          <a:noFill/>
        </p:spPr>
        <p:txBody>
          <a:bodyPr wrap="square" anchor="t" lIns="0" rIns="0" tIns="0" bIns="0">
            <a:spAutoFit/>
          </a:bodyPr>
          <a:lstStyle/>
          <a:p>
            <a:r>
              <a:rPr sz="1600" b="0">
                <a:solidFill>
                  <a:srgbClr val="142B33"/>
                </a:solidFill>
                <a:latin typeface="Calibri"/>
              </a:rPr>
              <a:t>Una máquina CNC de cinco ejes produce el impulsor de un motor de turbina. Una característica de calidad clave es el </a:t>
            </a:r>
            <a:r>
              <a:rPr sz="1600" b="1">
                <a:solidFill>
                  <a:srgbClr val="142B33"/>
                </a:solidFill>
                <a:latin typeface="Calibri"/>
              </a:rPr>
              <a:t>perfil de los álabes</a:t>
            </a:r>
            <a:r>
              <a:rPr sz="1600" b="0">
                <a:solidFill>
                  <a:srgbClr val="142B33"/>
                </a:solidFill>
                <a:latin typeface="Calibri"/>
              </a:rPr>
              <a:t>: interesa su desviación respecto al perfil especificado en el plano, medida como la desviación estándar de la diferencia entre ambos.</a:t>
            </a:r>
          </a:p>
        </p:txBody>
      </p:sp>
      <p:sp>
        <p:nvSpPr>
          <p:cNvPr id="4" name="TextBox 3"/>
          <p:cNvSpPr txBox="1"/>
          <p:nvPr/>
        </p:nvSpPr>
        <p:spPr>
          <a:xfrm>
            <a:off x="548640" y="2894584"/>
            <a:ext cx="6196102" cy="1276096"/>
          </a:xfrm>
          <a:prstGeom prst="rect">
            <a:avLst/>
          </a:prstGeom>
          <a:noFill/>
        </p:spPr>
        <p:txBody>
          <a:bodyPr wrap="square" anchor="t" lIns="0" rIns="0" tIns="0" bIns="0">
            <a:spAutoFit/>
          </a:bodyPr>
          <a:lstStyle/>
          <a:p>
            <a:r>
              <a:rPr sz="1600" b="0">
                <a:solidFill>
                  <a:srgbClr val="142B33"/>
                </a:solidFill>
                <a:latin typeface="Calibri"/>
              </a:rPr>
              <a:t>Se quiere saber </a:t>
            </a:r>
            <a:r>
              <a:rPr sz="1600" b="1">
                <a:solidFill>
                  <a:srgbClr val="142B33"/>
                </a:solidFill>
                <a:latin typeface="Calibri"/>
              </a:rPr>
              <a:t>qué parámetros de la máquina</a:t>
            </a:r>
            <a:r>
              <a:rPr sz="1600" b="0">
                <a:solidFill>
                  <a:srgbClr val="142B33"/>
                </a:solidFill>
                <a:latin typeface="Calibri"/>
              </a:rPr>
              <a:t> afectan esa desviación. Se eligen ocho factores a dos niveles: desviaciones de los ejes x, y, z y a, fabricante de la herramienta, velocidad del husillo, altura de la plantilla sujetadora y velocidad de alimentación.</a:t>
            </a:r>
          </a:p>
        </p:txBody>
      </p:sp>
      <p:sp>
        <p:nvSpPr>
          <p:cNvPr id="5" name="TextBox 4"/>
          <p:cNvSpPr txBox="1"/>
          <p:nvPr/>
        </p:nvSpPr>
        <p:spPr>
          <a:xfrm>
            <a:off x="548640" y="4371848"/>
            <a:ext cx="6196102" cy="1276096"/>
          </a:xfrm>
          <a:prstGeom prst="rect">
            <a:avLst/>
          </a:prstGeom>
          <a:noFill/>
        </p:spPr>
        <p:txBody>
          <a:bodyPr wrap="square" anchor="t" lIns="0" rIns="0" tIns="0" bIns="0">
            <a:spAutoFit/>
          </a:bodyPr>
          <a:lstStyle/>
          <a:p>
            <a:r>
              <a:rPr sz="1600" b="0">
                <a:solidFill>
                  <a:srgbClr val="142B33"/>
                </a:solidFill>
                <a:latin typeface="Calibri"/>
              </a:rPr>
              <a:t>La máquina tiene </a:t>
            </a:r>
            <a:r>
              <a:rPr sz="1600" b="1">
                <a:solidFill>
                  <a:srgbClr val="142B33"/>
                </a:solidFill>
                <a:latin typeface="Calibri"/>
              </a:rPr>
              <a:t>cuatro husillos</a:t>
            </a:r>
            <a:r>
              <a:rPr sz="1600" b="0">
                <a:solidFill>
                  <a:srgbClr val="142B33"/>
                </a:solidFill>
                <a:latin typeface="Calibri"/>
              </a:rPr>
              <a:t> (la traducción del libro los llama areómetros) que pueden diferir entre sí; deben tratarse como </a:t>
            </a:r>
            <a:r>
              <a:rPr sz="1600" b="1">
                <a:solidFill>
                  <a:srgbClr val="142B33"/>
                </a:solidFill>
                <a:latin typeface="Calibri"/>
              </a:rPr>
              <a:t>bloques</a:t>
            </a:r>
            <a:r>
              <a:rPr sz="1600" b="0">
                <a:solidFill>
                  <a:srgbClr val="142B33"/>
                </a:solidFill>
                <a:latin typeface="Calibri"/>
              </a:rPr>
              <a:t>. Los ingenieros creen que las interacciones de tres o más factores son despreciables, pero no quieren ignorar las de dos.</a:t>
            </a:r>
          </a:p>
        </p:txBody>
      </p:sp>
      <p:sp>
        <p:nvSpPr>
          <p:cNvPr id="6" name="TextBox 5"/>
          <p:cNvSpPr txBox="1"/>
          <p:nvPr/>
        </p:nvSpPr>
        <p:spPr>
          <a:xfrm>
            <a:off x="548640" y="5849112"/>
            <a:ext cx="6196102" cy="222504"/>
          </a:xfrm>
          <a:prstGeom prst="rect">
            <a:avLst/>
          </a:prstGeom>
          <a:noFill/>
        </p:spPr>
        <p:txBody>
          <a:bodyPr wrap="square" anchor="t" lIns="0" rIns="0" tIns="0" bIns="0">
            <a:spAutoFit/>
          </a:bodyPr>
          <a:lstStyle/>
          <a:p>
            <a:r>
              <a:rPr sz="1200" b="0">
                <a:solidFill>
                  <a:srgbClr val="5B6B73"/>
                </a:solidFill>
                <a:latin typeface="Calibri"/>
              </a:rPr>
              <a:t>Fuente: Montgomery, ejemplo 8-6</a:t>
            </a:r>
          </a:p>
        </p:txBody>
      </p:sp>
      <p:sp>
        <p:nvSpPr>
          <p:cNvPr id="7" name="Rounded Rectangle 6"/>
          <p:cNvSpPr/>
          <p:nvPr/>
        </p:nvSpPr>
        <p:spPr>
          <a:xfrm>
            <a:off x="7156222" y="1417320"/>
            <a:ext cx="4486832" cy="1481836"/>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700" b="1">
                <a:solidFill>
                  <a:srgbClr val="0F4C5C"/>
                </a:solidFill>
                <a:latin typeface="Cambria"/>
              </a:rPr>
              <a:t>Objetivo</a:t>
            </a:r>
          </a:p>
          <a:p>
            <a:pPr algn="l"/>
            <a:r>
              <a:rPr sz="1500" b="0">
                <a:solidFill>
                  <a:srgbClr val="142B33"/>
                </a:solidFill>
                <a:latin typeface="Calibri"/>
              </a:rPr>
              <a:t>Identificar los parámetros de la máquina que </a:t>
            </a:r>
            <a:r>
              <a:rPr sz="1500" b="1">
                <a:solidFill>
                  <a:srgbClr val="142B33"/>
                </a:solidFill>
                <a:latin typeface="Calibri"/>
              </a:rPr>
              <a:t>más afectan la desviación del perfil</a:t>
            </a:r>
            <a:r>
              <a:rPr sz="1500" b="0">
                <a:solidFill>
                  <a:srgbClr val="142B33"/>
                </a:solidFill>
                <a:latin typeface="Calibri"/>
              </a:rPr>
              <a:t>, controlando la diferencia entre husillos</a:t>
            </a:r>
          </a:p>
        </p:txBody>
      </p:sp>
      <p:sp>
        <p:nvSpPr>
          <p:cNvPr id="8" name="TextBox 7"/>
          <p:cNvSpPr txBox="1"/>
          <p:nvPr/>
        </p:nvSpPr>
        <p:spPr>
          <a:xfrm>
            <a:off x="7156222" y="3100324"/>
            <a:ext cx="4486832" cy="299973"/>
          </a:xfrm>
          <a:prstGeom prst="rect">
            <a:avLst/>
          </a:prstGeom>
          <a:noFill/>
        </p:spPr>
        <p:txBody>
          <a:bodyPr wrap="square" anchor="t" lIns="0" rIns="0" tIns="0" bIns="0">
            <a:spAutoFit/>
          </a:bodyPr>
          <a:lstStyle/>
          <a:p>
            <a:r>
              <a:rPr sz="1700" b="1">
                <a:solidFill>
                  <a:srgbClr val="142B33"/>
                </a:solidFill>
                <a:latin typeface="Calibri"/>
              </a:rPr>
              <a:t>Se pide</a:t>
            </a:r>
          </a:p>
        </p:txBody>
      </p:sp>
      <p:sp>
        <p:nvSpPr>
          <p:cNvPr id="9" name="TextBox 8"/>
          <p:cNvSpPr txBox="1"/>
          <p:nvPr/>
        </p:nvSpPr>
        <p:spPr>
          <a:xfrm>
            <a:off x="7156222" y="3601465"/>
            <a:ext cx="4486832" cy="1491233"/>
          </a:xfrm>
          <a:prstGeom prst="rect">
            <a:avLst/>
          </a:prstGeom>
          <a:noFill/>
        </p:spPr>
        <p:txBody>
          <a:bodyPr wrap="square" anchor="t" lIns="0" rIns="0" tIns="0" bIns="0">
            <a:spAutoFit/>
          </a:bodyPr>
          <a:lstStyle/>
          <a:p>
            <a:pPr marL="320040" indent="-320040">
              <a:spcAft>
                <a:spcPts val="600"/>
              </a:spcAft>
              <a:buClr>
                <a:srgbClr val="E36414"/>
              </a:buClr>
              <a:buFont typeface="+mj-lt"/>
              <a:buAutoNum type="arabicPeriod"/>
            </a:pPr>
            <a:r>
              <a:rPr sz="1500" b="0">
                <a:solidFill>
                  <a:srgbClr val="142B33"/>
                </a:solidFill>
                <a:latin typeface="Calibri"/>
              </a:rPr>
              <a:t>Elegir entre 16 y 32 corridas y justificarlo</a:t>
            </a:r>
          </a:p>
          <a:p>
            <a:pPr marL="320040" indent="-320040">
              <a:spcAft>
                <a:spcPts val="600"/>
              </a:spcAft>
              <a:buClr>
                <a:srgbClr val="E36414"/>
              </a:buClr>
              <a:buFont typeface="+mj-lt"/>
              <a:buAutoNum type="arabicPeriod"/>
            </a:pPr>
            <a:r>
              <a:rPr sz="1500" b="0">
                <a:solidFill>
                  <a:srgbClr val="142B33"/>
                </a:solidFill>
                <a:latin typeface="Calibri"/>
              </a:rPr>
              <a:t>Repartir el diseño en cuatro bloques y ver qué se confunde</a:t>
            </a:r>
          </a:p>
          <a:p>
            <a:pPr marL="320040" indent="-320040">
              <a:spcAft>
                <a:spcPts val="600"/>
              </a:spcAft>
              <a:buClr>
                <a:srgbClr val="E36414"/>
              </a:buClr>
              <a:buFont typeface="+mj-lt"/>
              <a:buAutoNum type="arabicPeriod"/>
            </a:pPr>
            <a:r>
              <a:rPr sz="1500" b="0">
                <a:solidFill>
                  <a:srgbClr val="142B33"/>
                </a:solidFill>
                <a:latin typeface="Calibri"/>
              </a:rPr>
              <a:t>Estimar los efectos y ajustar el modelo</a:t>
            </a:r>
          </a:p>
          <a:p>
            <a:pPr marL="320040" indent="-320040">
              <a:spcAft>
                <a:spcPts val="600"/>
              </a:spcAft>
              <a:buClr>
                <a:srgbClr val="E36414"/>
              </a:buClr>
              <a:buFont typeface="+mj-lt"/>
              <a:buAutoNum type="arabicPeriod"/>
            </a:pPr>
            <a:r>
              <a:rPr sz="1500" b="0">
                <a:solidFill>
                  <a:srgbClr val="142B33"/>
                </a:solidFill>
                <a:latin typeface="Calibri"/>
              </a:rPr>
              <a:t>Interpretar los alias que queden ambiguos</a:t>
            </a:r>
          </a:p>
        </p:txBody>
      </p:sp>
      <p:sp>
        <p:nvSpPr>
          <p:cNvPr id="10" name="TextBox 9"/>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El diseño 2</a:t>
            </a:r>
            <a:r>
              <a:rPr sz="1000" b="0" baseline="30000">
                <a:solidFill>
                  <a:srgbClr val="5B6B73"/>
                </a:solidFill>
                <a:latin typeface="Calibri"/>
              </a:rPr>
              <a:t>k−p</a:t>
            </a:r>
            <a:r>
              <a:rPr sz="1000" b="0">
                <a:solidFill>
                  <a:srgbClr val="5B6B73"/>
                </a:solidFill>
                <a:latin typeface="Calibri"/>
              </a:rPr>
              <a:t> general</a:t>
            </a:r>
          </a:p>
        </p:txBody>
      </p:sp>
      <p:sp>
        <p:nvSpPr>
          <p:cNvPr id="11" name="TextBox 10"/>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81</a:t>
            </a:r>
          </a:p>
        </p:txBody>
      </p:sp>
      <p:sp>
        <p:nvSpPr>
          <p:cNvPr id="12" name="Rounded Rectangle 11"/>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7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4 · Pasos 1 y 2: respuesta, factores y resolución</a:t>
            </a:r>
          </a:p>
        </p:txBody>
      </p:sp>
      <p:graphicFrame>
        <p:nvGraphicFramePr>
          <p:cNvPr id="3" name="Table 2"/>
          <p:cNvGraphicFramePr>
            <a:graphicFrameLocks noGrp="1"/>
          </p:cNvGraphicFramePr>
          <p:nvPr/>
        </p:nvGraphicFramePr>
        <p:xfrm>
          <a:off x="548640" y="1417320"/>
          <a:ext cx="5341466" cy="2882646"/>
        </p:xfrm>
        <a:graphic>
          <a:graphicData uri="http://schemas.openxmlformats.org/drawingml/2006/table">
            <a:tbl>
              <a:tblPr firstRow="0" bandRow="0">
                <a:tableStyleId>{5C22544A-7EE6-4342-B048-85BDC9FD1C3A}</a:tableStyleId>
              </a:tblPr>
              <a:tblGrid>
                <a:gridCol w="3204880"/>
                <a:gridCol w="1068293"/>
                <a:gridCol w="1068293"/>
              </a:tblGrid>
              <a:tr h="320294">
                <a:tc>
                  <a:txBody>
                    <a:bodyPr/>
                    <a:lstStyle/>
                    <a:p>
                      <a:pPr algn="l"/>
                      <a:r>
                        <a:rPr sz="1300" b="1">
                          <a:solidFill>
                            <a:srgbClr val="FFFFFF"/>
                          </a:solidFill>
                          <a:latin typeface="Calibri"/>
                        </a:rPr>
                        <a:t>Factor</a:t>
                      </a:r>
                    </a:p>
                  </a:txBody>
                  <a:tcPr marL="73152" marR="73152" marT="27432" marB="27432" anchor="ctr">
                    <a:solidFill>
                      <a:srgbClr val="0F4C5C"/>
                    </a:solidFill>
                  </a:tcPr>
                </a:tc>
                <a:tc>
                  <a:txBody>
                    <a:bodyPr/>
                    <a:lstStyle/>
                    <a:p>
                      <a:pPr algn="ctr"/>
                      <a:r>
                        <a:rPr sz="1300" b="1">
                          <a:solidFill>
                            <a:srgbClr val="FFFFFF"/>
                          </a:solidFill>
                          <a:latin typeface="Calibri"/>
                        </a:rPr>
                        <a:t>Bajo (−)</a:t>
                      </a:r>
                    </a:p>
                  </a:txBody>
                  <a:tcPr marL="73152" marR="73152" marT="27432" marB="27432" anchor="ctr">
                    <a:solidFill>
                      <a:srgbClr val="0F4C5C"/>
                    </a:solidFill>
                  </a:tcPr>
                </a:tc>
                <a:tc>
                  <a:txBody>
                    <a:bodyPr/>
                    <a:lstStyle/>
                    <a:p>
                      <a:pPr algn="ctr"/>
                      <a:r>
                        <a:rPr sz="1300" b="1">
                          <a:solidFill>
                            <a:srgbClr val="FFFFFF"/>
                          </a:solidFill>
                          <a:latin typeface="Calibri"/>
                        </a:rPr>
                        <a:t>Alto (+)</a:t>
                      </a:r>
                    </a:p>
                  </a:txBody>
                  <a:tcPr marL="73152" marR="73152" marT="27432" marB="27432" anchor="ctr">
                    <a:solidFill>
                      <a:srgbClr val="0F4C5C"/>
                    </a:solidFill>
                  </a:tcPr>
                </a:tc>
              </a:tr>
              <a:tr h="320294">
                <a:tc>
                  <a:txBody>
                    <a:bodyPr/>
                    <a:lstStyle/>
                    <a:p>
                      <a:pPr algn="l"/>
                      <a:r>
                        <a:rPr sz="1300" b="0">
                          <a:solidFill>
                            <a:srgbClr val="142B33"/>
                          </a:solidFill>
                          <a:latin typeface="Calibri"/>
                        </a:rPr>
                        <a:t>A  Desviación eje x (0.001 pulg)</a:t>
                      </a:r>
                    </a:p>
                  </a:txBody>
                  <a:tcPr marL="73152" marR="73152" marT="27432" marB="27432" anchor="ctr">
                    <a:solidFill>
                      <a:srgbClr val="FFFFFF"/>
                    </a:solidFill>
                  </a:tcPr>
                </a:tc>
                <a:tc>
                  <a:txBody>
                    <a:bodyPr/>
                    <a:lstStyle/>
                    <a:p>
                      <a:pPr algn="ctr"/>
                      <a:r>
                        <a:rPr sz="1300" b="0">
                          <a:solidFill>
                            <a:srgbClr val="142B33"/>
                          </a:solidFill>
                          <a:latin typeface="Calibri"/>
                        </a:rPr>
                        <a:t>0</a:t>
                      </a:r>
                    </a:p>
                  </a:txBody>
                  <a:tcPr marL="73152" marR="73152" marT="27432" marB="27432" anchor="ctr">
                    <a:solidFill>
                      <a:srgbClr val="FFFFFF"/>
                    </a:solidFill>
                  </a:tcPr>
                </a:tc>
                <a:tc>
                  <a:txBody>
                    <a:bodyPr/>
                    <a:lstStyle/>
                    <a:p>
                      <a:pPr algn="ctr"/>
                      <a:r>
                        <a:rPr sz="1300" b="0">
                          <a:solidFill>
                            <a:srgbClr val="142B33"/>
                          </a:solidFill>
                          <a:latin typeface="Calibri"/>
                        </a:rPr>
                        <a:t>15</a:t>
                      </a:r>
                    </a:p>
                  </a:txBody>
                  <a:tcPr marL="73152" marR="73152" marT="27432" marB="27432" anchor="ctr">
                    <a:solidFill>
                      <a:srgbClr val="FFFFFF"/>
                    </a:solidFill>
                  </a:tcPr>
                </a:tc>
              </a:tr>
              <a:tr h="320294">
                <a:tc>
                  <a:txBody>
                    <a:bodyPr/>
                    <a:lstStyle/>
                    <a:p>
                      <a:pPr algn="l"/>
                      <a:r>
                        <a:rPr sz="1300" b="0">
                          <a:solidFill>
                            <a:srgbClr val="142B33"/>
                          </a:solidFill>
                          <a:latin typeface="Calibri"/>
                        </a:rPr>
                        <a:t>B  Desviación eje y (0.001 pulg)</a:t>
                      </a:r>
                    </a:p>
                  </a:txBody>
                  <a:tcPr marL="73152" marR="73152" marT="27432" marB="27432" anchor="ctr">
                    <a:solidFill>
                      <a:srgbClr val="F4F8F9"/>
                    </a:solidFill>
                  </a:tcPr>
                </a:tc>
                <a:tc>
                  <a:txBody>
                    <a:bodyPr/>
                    <a:lstStyle/>
                    <a:p>
                      <a:pPr algn="ctr"/>
                      <a:r>
                        <a:rPr sz="1300" b="0">
                          <a:solidFill>
                            <a:srgbClr val="142B33"/>
                          </a:solidFill>
                          <a:latin typeface="Calibri"/>
                        </a:rPr>
                        <a:t>0</a:t>
                      </a:r>
                    </a:p>
                  </a:txBody>
                  <a:tcPr marL="73152" marR="73152" marT="27432" marB="27432" anchor="ctr">
                    <a:solidFill>
                      <a:srgbClr val="F4F8F9"/>
                    </a:solidFill>
                  </a:tcPr>
                </a:tc>
                <a:tc>
                  <a:txBody>
                    <a:bodyPr/>
                    <a:lstStyle/>
                    <a:p>
                      <a:pPr algn="ctr"/>
                      <a:r>
                        <a:rPr sz="1300" b="0">
                          <a:solidFill>
                            <a:srgbClr val="142B33"/>
                          </a:solidFill>
                          <a:latin typeface="Calibri"/>
                        </a:rPr>
                        <a:t>15</a:t>
                      </a:r>
                    </a:p>
                  </a:txBody>
                  <a:tcPr marL="73152" marR="73152" marT="27432" marB="27432" anchor="ctr">
                    <a:solidFill>
                      <a:srgbClr val="F4F8F9"/>
                    </a:solidFill>
                  </a:tcPr>
                </a:tc>
              </a:tr>
              <a:tr h="320294">
                <a:tc>
                  <a:txBody>
                    <a:bodyPr/>
                    <a:lstStyle/>
                    <a:p>
                      <a:pPr algn="l"/>
                      <a:r>
                        <a:rPr sz="1300" b="0">
                          <a:solidFill>
                            <a:srgbClr val="142B33"/>
                          </a:solidFill>
                          <a:latin typeface="Calibri"/>
                        </a:rPr>
                        <a:t>C  Desviación eje z (0.001 pulg)</a:t>
                      </a:r>
                    </a:p>
                  </a:txBody>
                  <a:tcPr marL="73152" marR="73152" marT="27432" marB="27432" anchor="ctr">
                    <a:solidFill>
                      <a:srgbClr val="FFFFFF"/>
                    </a:solidFill>
                  </a:tcPr>
                </a:tc>
                <a:tc>
                  <a:txBody>
                    <a:bodyPr/>
                    <a:lstStyle/>
                    <a:p>
                      <a:pPr algn="ctr"/>
                      <a:r>
                        <a:rPr sz="1300" b="0">
                          <a:solidFill>
                            <a:srgbClr val="142B33"/>
                          </a:solidFill>
                          <a:latin typeface="Calibri"/>
                        </a:rPr>
                        <a:t>0</a:t>
                      </a:r>
                    </a:p>
                  </a:txBody>
                  <a:tcPr marL="73152" marR="73152" marT="27432" marB="27432" anchor="ctr">
                    <a:solidFill>
                      <a:srgbClr val="FFFFFF"/>
                    </a:solidFill>
                  </a:tcPr>
                </a:tc>
                <a:tc>
                  <a:txBody>
                    <a:bodyPr/>
                    <a:lstStyle/>
                    <a:p>
                      <a:pPr algn="ctr"/>
                      <a:r>
                        <a:rPr sz="1300" b="0">
                          <a:solidFill>
                            <a:srgbClr val="142B33"/>
                          </a:solidFill>
                          <a:latin typeface="Calibri"/>
                        </a:rPr>
                        <a:t>15</a:t>
                      </a:r>
                    </a:p>
                  </a:txBody>
                  <a:tcPr marL="73152" marR="73152" marT="27432" marB="27432" anchor="ctr">
                    <a:solidFill>
                      <a:srgbClr val="FFFFFF"/>
                    </a:solidFill>
                  </a:tcPr>
                </a:tc>
              </a:tr>
              <a:tr h="320294">
                <a:tc>
                  <a:txBody>
                    <a:bodyPr/>
                    <a:lstStyle/>
                    <a:p>
                      <a:pPr algn="l"/>
                      <a:r>
                        <a:rPr sz="1300" b="0">
                          <a:solidFill>
                            <a:srgbClr val="142B33"/>
                          </a:solidFill>
                          <a:latin typeface="Calibri"/>
                        </a:rPr>
                        <a:t>D  Fabricante de la herramienta</a:t>
                      </a:r>
                    </a:p>
                  </a:txBody>
                  <a:tcPr marL="73152" marR="73152" marT="27432" marB="27432" anchor="ctr">
                    <a:solidFill>
                      <a:srgbClr val="F4F8F9"/>
                    </a:solidFill>
                  </a:tcPr>
                </a:tc>
                <a:tc>
                  <a:txBody>
                    <a:bodyPr/>
                    <a:lstStyle/>
                    <a:p>
                      <a:pPr algn="ctr"/>
                      <a:r>
                        <a:rPr sz="1300" b="0">
                          <a:solidFill>
                            <a:srgbClr val="142B33"/>
                          </a:solidFill>
                          <a:latin typeface="Calibri"/>
                        </a:rPr>
                        <a:t>1</a:t>
                      </a:r>
                    </a:p>
                  </a:txBody>
                  <a:tcPr marL="73152" marR="73152" marT="27432" marB="27432" anchor="ctr">
                    <a:solidFill>
                      <a:srgbClr val="F4F8F9"/>
                    </a:solidFill>
                  </a:tcPr>
                </a:tc>
                <a:tc>
                  <a:txBody>
                    <a:bodyPr/>
                    <a:lstStyle/>
                    <a:p>
                      <a:pPr algn="ctr"/>
                      <a:r>
                        <a:rPr sz="1300" b="0">
                          <a:solidFill>
                            <a:srgbClr val="142B33"/>
                          </a:solidFill>
                          <a:latin typeface="Calibri"/>
                        </a:rPr>
                        <a:t>2</a:t>
                      </a:r>
                    </a:p>
                  </a:txBody>
                  <a:tcPr marL="73152" marR="73152" marT="27432" marB="27432" anchor="ctr">
                    <a:solidFill>
                      <a:srgbClr val="F4F8F9"/>
                    </a:solidFill>
                  </a:tcPr>
                </a:tc>
              </a:tr>
              <a:tr h="320294">
                <a:tc>
                  <a:txBody>
                    <a:bodyPr/>
                    <a:lstStyle/>
                    <a:p>
                      <a:pPr algn="l"/>
                      <a:r>
                        <a:rPr sz="1300" b="0">
                          <a:solidFill>
                            <a:srgbClr val="142B33"/>
                          </a:solidFill>
                          <a:latin typeface="Calibri"/>
                        </a:rPr>
                        <a:t>E  Desviación eje a (0.001 grados)</a:t>
                      </a:r>
                    </a:p>
                  </a:txBody>
                  <a:tcPr marL="73152" marR="73152" marT="27432" marB="27432" anchor="ctr">
                    <a:solidFill>
                      <a:srgbClr val="FFFFFF"/>
                    </a:solidFill>
                  </a:tcPr>
                </a:tc>
                <a:tc>
                  <a:txBody>
                    <a:bodyPr/>
                    <a:lstStyle/>
                    <a:p>
                      <a:pPr algn="ctr"/>
                      <a:r>
                        <a:rPr sz="1300" b="0">
                          <a:solidFill>
                            <a:srgbClr val="142B33"/>
                          </a:solidFill>
                          <a:latin typeface="Calibri"/>
                        </a:rPr>
                        <a:t>0</a:t>
                      </a:r>
                    </a:p>
                  </a:txBody>
                  <a:tcPr marL="73152" marR="73152" marT="27432" marB="27432" anchor="ctr">
                    <a:solidFill>
                      <a:srgbClr val="FFFFFF"/>
                    </a:solidFill>
                  </a:tcPr>
                </a:tc>
                <a:tc>
                  <a:txBody>
                    <a:bodyPr/>
                    <a:lstStyle/>
                    <a:p>
                      <a:pPr algn="ctr"/>
                      <a:r>
                        <a:rPr sz="1300" b="0">
                          <a:solidFill>
                            <a:srgbClr val="142B33"/>
                          </a:solidFill>
                          <a:latin typeface="Calibri"/>
                        </a:rPr>
                        <a:t>30</a:t>
                      </a:r>
                    </a:p>
                  </a:txBody>
                  <a:tcPr marL="73152" marR="73152" marT="27432" marB="27432" anchor="ctr">
                    <a:solidFill>
                      <a:srgbClr val="FFFFFF"/>
                    </a:solidFill>
                  </a:tcPr>
                </a:tc>
              </a:tr>
              <a:tr h="320294">
                <a:tc>
                  <a:txBody>
                    <a:bodyPr/>
                    <a:lstStyle/>
                    <a:p>
                      <a:pPr algn="l"/>
                      <a:r>
                        <a:rPr sz="1300" b="0">
                          <a:solidFill>
                            <a:srgbClr val="142B33"/>
                          </a:solidFill>
                          <a:latin typeface="Calibri"/>
                        </a:rPr>
                        <a:t>F  Velocidad del husillo (%)</a:t>
                      </a:r>
                    </a:p>
                  </a:txBody>
                  <a:tcPr marL="73152" marR="73152" marT="27432" marB="27432" anchor="ctr">
                    <a:solidFill>
                      <a:srgbClr val="F4F8F9"/>
                    </a:solidFill>
                  </a:tcPr>
                </a:tc>
                <a:tc>
                  <a:txBody>
                    <a:bodyPr/>
                    <a:lstStyle/>
                    <a:p>
                      <a:pPr algn="ctr"/>
                      <a:r>
                        <a:rPr sz="1300" b="0">
                          <a:solidFill>
                            <a:srgbClr val="142B33"/>
                          </a:solidFill>
                          <a:latin typeface="Calibri"/>
                        </a:rPr>
                        <a:t>90</a:t>
                      </a:r>
                    </a:p>
                  </a:txBody>
                  <a:tcPr marL="73152" marR="73152" marT="27432" marB="27432" anchor="ctr">
                    <a:solidFill>
                      <a:srgbClr val="F4F8F9"/>
                    </a:solidFill>
                  </a:tcPr>
                </a:tc>
                <a:tc>
                  <a:txBody>
                    <a:bodyPr/>
                    <a:lstStyle/>
                    <a:p>
                      <a:pPr algn="ctr"/>
                      <a:r>
                        <a:rPr sz="1300" b="0">
                          <a:solidFill>
                            <a:srgbClr val="142B33"/>
                          </a:solidFill>
                          <a:latin typeface="Calibri"/>
                        </a:rPr>
                        <a:t>110</a:t>
                      </a:r>
                    </a:p>
                  </a:txBody>
                  <a:tcPr marL="73152" marR="73152" marT="27432" marB="27432" anchor="ctr">
                    <a:solidFill>
                      <a:srgbClr val="F4F8F9"/>
                    </a:solidFill>
                  </a:tcPr>
                </a:tc>
              </a:tr>
              <a:tr h="320294">
                <a:tc>
                  <a:txBody>
                    <a:bodyPr/>
                    <a:lstStyle/>
                    <a:p>
                      <a:pPr algn="l"/>
                      <a:r>
                        <a:rPr sz="1300" b="0">
                          <a:solidFill>
                            <a:srgbClr val="142B33"/>
                          </a:solidFill>
                          <a:latin typeface="Calibri"/>
                        </a:rPr>
                        <a:t>G  Altura de la plantilla (0.001 pulg)</a:t>
                      </a:r>
                    </a:p>
                  </a:txBody>
                  <a:tcPr marL="73152" marR="73152" marT="27432" marB="27432" anchor="ctr">
                    <a:solidFill>
                      <a:srgbClr val="FFFFFF"/>
                    </a:solidFill>
                  </a:tcPr>
                </a:tc>
                <a:tc>
                  <a:txBody>
                    <a:bodyPr/>
                    <a:lstStyle/>
                    <a:p>
                      <a:pPr algn="ctr"/>
                      <a:r>
                        <a:rPr sz="1300" b="0">
                          <a:solidFill>
                            <a:srgbClr val="142B33"/>
                          </a:solidFill>
                          <a:latin typeface="Calibri"/>
                        </a:rPr>
                        <a:t>0</a:t>
                      </a:r>
                    </a:p>
                  </a:txBody>
                  <a:tcPr marL="73152" marR="73152" marT="27432" marB="27432" anchor="ctr">
                    <a:solidFill>
                      <a:srgbClr val="FFFFFF"/>
                    </a:solidFill>
                  </a:tcPr>
                </a:tc>
                <a:tc>
                  <a:txBody>
                    <a:bodyPr/>
                    <a:lstStyle/>
                    <a:p>
                      <a:pPr algn="ctr"/>
                      <a:r>
                        <a:rPr sz="1300" b="0">
                          <a:solidFill>
                            <a:srgbClr val="142B33"/>
                          </a:solidFill>
                          <a:latin typeface="Calibri"/>
                        </a:rPr>
                        <a:t>15</a:t>
                      </a:r>
                    </a:p>
                  </a:txBody>
                  <a:tcPr marL="73152" marR="73152" marT="27432" marB="27432" anchor="ctr">
                    <a:solidFill>
                      <a:srgbClr val="FFFFFF"/>
                    </a:solidFill>
                  </a:tcPr>
                </a:tc>
              </a:tr>
              <a:tr h="320294">
                <a:tc>
                  <a:txBody>
                    <a:bodyPr/>
                    <a:lstStyle/>
                    <a:p>
                      <a:pPr algn="l"/>
                      <a:r>
                        <a:rPr sz="1300" b="0">
                          <a:solidFill>
                            <a:srgbClr val="142B33"/>
                          </a:solidFill>
                          <a:latin typeface="Calibri"/>
                        </a:rPr>
                        <a:t>H  Velocidad de alimentación (%)</a:t>
                      </a:r>
                    </a:p>
                  </a:txBody>
                  <a:tcPr marL="73152" marR="73152" marT="27432" marB="27432" anchor="ctr">
                    <a:solidFill>
                      <a:srgbClr val="F4F8F9"/>
                    </a:solidFill>
                  </a:tcPr>
                </a:tc>
                <a:tc>
                  <a:txBody>
                    <a:bodyPr/>
                    <a:lstStyle/>
                    <a:p>
                      <a:pPr algn="ctr"/>
                      <a:r>
                        <a:rPr sz="1300" b="0">
                          <a:solidFill>
                            <a:srgbClr val="142B33"/>
                          </a:solidFill>
                          <a:latin typeface="Calibri"/>
                        </a:rPr>
                        <a:t>90</a:t>
                      </a:r>
                    </a:p>
                  </a:txBody>
                  <a:tcPr marL="73152" marR="73152" marT="27432" marB="27432" anchor="ctr">
                    <a:solidFill>
                      <a:srgbClr val="F4F8F9"/>
                    </a:solidFill>
                  </a:tcPr>
                </a:tc>
                <a:tc>
                  <a:txBody>
                    <a:bodyPr/>
                    <a:lstStyle/>
                    <a:p>
                      <a:pPr algn="ctr"/>
                      <a:r>
                        <a:rPr sz="1300" b="0">
                          <a:solidFill>
                            <a:srgbClr val="142B33"/>
                          </a:solidFill>
                          <a:latin typeface="Calibri"/>
                        </a:rPr>
                        <a:t>110</a:t>
                      </a:r>
                    </a:p>
                  </a:txBody>
                  <a:tcPr marL="73152" marR="73152" marT="27432" marB="27432" anchor="ctr">
                    <a:solidFill>
                      <a:srgbClr val="F4F8F9"/>
                    </a:solidFill>
                  </a:tcPr>
                </a:tc>
              </a:tr>
            </a:tbl>
          </a:graphicData>
        </a:graphic>
      </p:graphicFrame>
      <p:sp>
        <p:nvSpPr>
          <p:cNvPr id="4" name="TextBox 3"/>
          <p:cNvSpPr txBox="1"/>
          <p:nvPr/>
        </p:nvSpPr>
        <p:spPr>
          <a:xfrm>
            <a:off x="6301587" y="1417320"/>
            <a:ext cx="5341467" cy="1956053"/>
          </a:xfrm>
          <a:prstGeom prst="rect">
            <a:avLst/>
          </a:prstGeom>
          <a:noFill/>
        </p:spPr>
        <p:txBody>
          <a:bodyPr wrap="square" anchor="t" lIns="0" rIns="0" tIns="0" bIns="0">
            <a:spAutoFit/>
          </a:bodyPr>
          <a:lstStyle/>
          <a:p>
            <a:pPr marL="320040" indent="-320040">
              <a:spcAft>
                <a:spcPts val="600"/>
              </a:spcAft>
              <a:buClr>
                <a:srgbClr val="E36414"/>
              </a:buClr>
              <a:buFont typeface="+mj-lt"/>
              <a:buAutoNum type="arabicPeriod"/>
            </a:pPr>
            <a:r>
              <a:rPr sz="1500" b="0">
                <a:solidFill>
                  <a:srgbClr val="142B33"/>
                </a:solidFill>
                <a:latin typeface="Calibri"/>
              </a:rPr>
              <a:t>​</a:t>
            </a:r>
            <a:r>
              <a:rPr sz="1500" b="1">
                <a:solidFill>
                  <a:srgbClr val="142B33"/>
                </a:solidFill>
                <a:latin typeface="Calibri"/>
              </a:rPr>
              <a:t>Respuesta</a:t>
            </a:r>
            <a:r>
              <a:rPr sz="1500" b="0">
                <a:solidFill>
                  <a:srgbClr val="142B33"/>
                </a:solidFill>
                <a:latin typeface="Calibri"/>
              </a:rPr>
              <a:t>: ln(desviación estándar × 10</a:t>
            </a:r>
            <a:r>
              <a:rPr sz="1500" b="0" baseline="30000">
                <a:solidFill>
                  <a:srgbClr val="142B33"/>
                </a:solidFill>
                <a:latin typeface="Calibri"/>
              </a:rPr>
              <a:t>3</a:t>
            </a:r>
            <a:r>
              <a:rPr sz="1500" b="0">
                <a:solidFill>
                  <a:srgbClr val="142B33"/>
                </a:solidFill>
                <a:latin typeface="Calibri"/>
              </a:rPr>
              <a:t>); el logaritmo estabiliza la varianza</a:t>
            </a:r>
          </a:p>
          <a:p>
            <a:pPr marL="320040" indent="-320040">
              <a:spcAft>
                <a:spcPts val="600"/>
              </a:spcAft>
              <a:buClr>
                <a:srgbClr val="E36414"/>
              </a:buClr>
              <a:buFont typeface="+mj-lt"/>
              <a:buAutoNum type="arabicPeriod"/>
            </a:pPr>
            <a:r>
              <a:rPr sz="1500" b="0">
                <a:solidFill>
                  <a:srgbClr val="142B33"/>
                </a:solidFill>
                <a:latin typeface="Calibri"/>
              </a:rPr>
              <a:t>​</a:t>
            </a:r>
            <a:r>
              <a:rPr sz="1500" b="1">
                <a:solidFill>
                  <a:srgbClr val="142B33"/>
                </a:solidFill>
                <a:latin typeface="Calibri"/>
              </a:rPr>
              <a:t>Supuestos</a:t>
            </a:r>
            <a:r>
              <a:rPr sz="1500" b="0">
                <a:solidFill>
                  <a:srgbClr val="142B33"/>
                </a:solidFill>
                <a:latin typeface="Calibri"/>
              </a:rPr>
              <a:t>: triples despreciables; dobles </a:t>
            </a:r>
            <a:r>
              <a:rPr sz="1500" b="1">
                <a:solidFill>
                  <a:srgbClr val="142B33"/>
                </a:solidFill>
                <a:latin typeface="Calibri"/>
              </a:rPr>
              <a:t>no</a:t>
            </a:r>
            <a:r>
              <a:rPr sz="1500" b="0">
                <a:solidFill>
                  <a:srgbClr val="142B33"/>
                </a:solidFill>
                <a:latin typeface="Calibri"/>
              </a:rPr>
              <a:t> se ignoran</a:t>
            </a:r>
          </a:p>
          <a:p>
            <a:pPr marL="320040" indent="-320040">
              <a:spcAft>
                <a:spcPts val="600"/>
              </a:spcAft>
              <a:buClr>
                <a:srgbClr val="E36414"/>
              </a:buClr>
              <a:buFont typeface="+mj-lt"/>
              <a:buAutoNum type="arabicPeriod"/>
            </a:pPr>
            <a:r>
              <a:rPr sz="1500" b="0">
                <a:solidFill>
                  <a:srgbClr val="142B33"/>
                </a:solidFill>
                <a:latin typeface="Calibri"/>
              </a:rPr>
              <a:t>​</a:t>
            </a:r>
            <a:r>
              <a:rPr sz="1500" b="1">
                <a:solidFill>
                  <a:srgbClr val="142B33"/>
                </a:solidFill>
                <a:latin typeface="Calibri"/>
              </a:rPr>
              <a:t>III</a:t>
            </a:r>
            <a:r>
              <a:rPr sz="1500" b="0">
                <a:solidFill>
                  <a:srgbClr val="142B33"/>
                </a:solidFill>
                <a:latin typeface="Calibri"/>
              </a:rPr>
              <a:t> no sirve (principales + dobles); </a:t>
            </a:r>
            <a:r>
              <a:rPr sz="1500" b="1">
                <a:solidFill>
                  <a:srgbClr val="142B33"/>
                </a:solidFill>
                <a:latin typeface="Calibri"/>
              </a:rPr>
              <a:t>IV</a:t>
            </a:r>
            <a:r>
              <a:rPr sz="1500" b="0">
                <a:solidFill>
                  <a:srgbClr val="142B33"/>
                </a:solidFill>
                <a:latin typeface="Calibri"/>
              </a:rPr>
              <a:t> basta; </a:t>
            </a:r>
            <a:r>
              <a:rPr sz="1500" b="1">
                <a:solidFill>
                  <a:srgbClr val="142B33"/>
                </a:solidFill>
                <a:latin typeface="Calibri"/>
              </a:rPr>
              <a:t>V</a:t>
            </a:r>
            <a:r>
              <a:rPr sz="1500" b="0">
                <a:solidFill>
                  <a:srgbClr val="142B33"/>
                </a:solidFill>
                <a:latin typeface="Calibri"/>
              </a:rPr>
              <a:t> pide 64 corridas</a:t>
            </a:r>
          </a:p>
          <a:p>
            <a:pPr marL="320040" indent="-320040">
              <a:spcAft>
                <a:spcPts val="600"/>
              </a:spcAft>
              <a:buClr>
                <a:srgbClr val="E36414"/>
              </a:buClr>
              <a:buFont typeface="+mj-lt"/>
              <a:buAutoNum type="arabicPeriod"/>
            </a:pPr>
            <a:r>
              <a:rPr sz="1500" b="0">
                <a:solidFill>
                  <a:srgbClr val="142B33"/>
                </a:solidFill>
                <a:latin typeface="Calibri"/>
              </a:rPr>
              <a:t>​</a:t>
            </a:r>
            <a:r>
              <a:rPr sz="1500" b="1">
                <a:solidFill>
                  <a:srgbClr val="142B33"/>
                </a:solidFill>
                <a:latin typeface="Calibri"/>
              </a:rPr>
              <a:t>Restricción</a:t>
            </a:r>
            <a:r>
              <a:rPr sz="1500" b="0">
                <a:solidFill>
                  <a:srgbClr val="142B33"/>
                </a:solidFill>
                <a:latin typeface="Calibri"/>
              </a:rPr>
              <a:t>: 4 husillos que pueden diferir  ⇒  el diseño va en </a:t>
            </a:r>
            <a:r>
              <a:rPr sz="1500" b="1">
                <a:solidFill>
                  <a:srgbClr val="142B33"/>
                </a:solidFill>
                <a:latin typeface="Calibri"/>
              </a:rPr>
              <a:t>4 bloques</a:t>
            </a:r>
          </a:p>
        </p:txBody>
      </p:sp>
      <p:sp>
        <p:nvSpPr>
          <p:cNvPr id="5" name="Rounded Rectangle 4"/>
          <p:cNvSpPr/>
          <p:nvPr/>
        </p:nvSpPr>
        <p:spPr>
          <a:xfrm>
            <a:off x="6301587" y="3574542"/>
            <a:ext cx="5341467" cy="50673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Resolución requerida: </a:t>
            </a:r>
            <a:r>
              <a:rPr sz="1500" b="1">
                <a:solidFill>
                  <a:srgbClr val="142B33"/>
                </a:solidFill>
                <a:latin typeface="Calibri"/>
              </a:rPr>
              <a:t>IV</a:t>
            </a:r>
            <a:r>
              <a:rPr sz="1500" b="0">
                <a:solidFill>
                  <a:srgbClr val="142B33"/>
                </a:solidFill>
                <a:latin typeface="Calibri"/>
              </a:rPr>
              <a:t>, corrida en </a:t>
            </a:r>
            <a:r>
              <a:rPr sz="1500" b="1">
                <a:solidFill>
                  <a:srgbClr val="142B33"/>
                </a:solidFill>
                <a:latin typeface="Calibri"/>
              </a:rPr>
              <a:t>cuatro bloques</a:t>
            </a:r>
          </a:p>
        </p:txBody>
      </p:sp>
      <p:sp>
        <p:nvSpPr>
          <p:cNvPr id="6" name="TextBox 5"/>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El diseño 2</a:t>
            </a:r>
            <a:r>
              <a:rPr sz="1000" b="0" baseline="30000">
                <a:solidFill>
                  <a:srgbClr val="5B6B73"/>
                </a:solidFill>
                <a:latin typeface="Calibri"/>
              </a:rPr>
              <a:t>k−p</a:t>
            </a:r>
            <a:r>
              <a:rPr sz="1000" b="0">
                <a:solidFill>
                  <a:srgbClr val="5B6B73"/>
                </a:solidFill>
                <a:latin typeface="Calibri"/>
              </a:rPr>
              <a:t> general</a:t>
            </a:r>
          </a:p>
        </p:txBody>
      </p:sp>
      <p:sp>
        <p:nvSpPr>
          <p:cNvPr id="7" name="TextBox 6"/>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82</a:t>
            </a:r>
          </a:p>
        </p:txBody>
      </p:sp>
      <p:sp>
        <p:nvSpPr>
          <p:cNvPr id="8" name="Rounded Rectangle 7"/>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7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4 · Paso 3: ¿16 o 32 corridas? Qué significa «confundir con bloques»</a:t>
            </a:r>
          </a:p>
        </p:txBody>
      </p:sp>
      <p:sp>
        <p:nvSpPr>
          <p:cNvPr id="3" name="Rounded Rectangle 2"/>
          <p:cNvSpPr/>
          <p:nvPr/>
        </p:nvSpPr>
        <p:spPr>
          <a:xfrm>
            <a:off x="548640" y="1417320"/>
            <a:ext cx="4807320" cy="2163572"/>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500" b="1">
                <a:solidFill>
                  <a:srgbClr val="0F4C5C"/>
                </a:solidFill>
                <a:latin typeface="Cambria"/>
              </a:rPr>
              <a:t>¿Qué es confundir?</a:t>
            </a:r>
          </a:p>
          <a:p>
            <a:pPr algn="l"/>
            <a:r>
              <a:rPr sz="1300" b="0">
                <a:solidFill>
                  <a:srgbClr val="142B33"/>
                </a:solidFill>
                <a:latin typeface="Calibri"/>
              </a:rPr>
              <a:t>Dos efectos están </a:t>
            </a:r>
            <a:r>
              <a:rPr sz="1300" b="1">
                <a:solidFill>
                  <a:srgbClr val="142B33"/>
                </a:solidFill>
                <a:latin typeface="Calibri"/>
              </a:rPr>
              <a:t>confundidos</a:t>
            </a:r>
            <a:r>
              <a:rPr sz="1300" b="0">
                <a:solidFill>
                  <a:srgbClr val="142B33"/>
                </a:solidFill>
                <a:latin typeface="Calibri"/>
              </a:rPr>
              <a:t> cuando se estiman con la </a:t>
            </a:r>
            <a:r>
              <a:rPr sz="1300" b="1">
                <a:solidFill>
                  <a:srgbClr val="142B33"/>
                </a:solidFill>
                <a:latin typeface="Calibri"/>
              </a:rPr>
              <a:t>misma columna de signos</a:t>
            </a:r>
            <a:r>
              <a:rPr sz="1300" b="0">
                <a:solidFill>
                  <a:srgbClr val="142B33"/>
                </a:solidFill>
                <a:latin typeface="Calibri"/>
              </a:rPr>
              <a:t>: el contraste mide su </a:t>
            </a:r>
            <a:r>
              <a:rPr sz="1300" b="1">
                <a:solidFill>
                  <a:srgbClr val="142B33"/>
                </a:solidFill>
                <a:latin typeface="Calibri"/>
              </a:rPr>
              <a:t>suma</a:t>
            </a:r>
            <a:r>
              <a:rPr sz="1300" b="0">
                <a:solidFill>
                  <a:srgbClr val="142B33"/>
                </a:solidFill>
                <a:latin typeface="Calibri"/>
              </a:rPr>
              <a:t> y los datos no los separan. Entre efectos de factores se llama </a:t>
            </a:r>
            <a:r>
              <a:rPr sz="1300" b="1">
                <a:solidFill>
                  <a:srgbClr val="142B33"/>
                </a:solidFill>
                <a:latin typeface="Calibri"/>
              </a:rPr>
              <a:t>alias</a:t>
            </a:r>
            <a:r>
              <a:rPr sz="1300" b="0">
                <a:solidFill>
                  <a:srgbClr val="142B33"/>
                </a:solidFill>
                <a:latin typeface="Calibri"/>
              </a:rPr>
              <a:t>; cuando uno de los dos es la diferencia entre bloques, </a:t>
            </a:r>
            <a:r>
              <a:rPr sz="1300" b="1">
                <a:solidFill>
                  <a:srgbClr val="142B33"/>
                </a:solidFill>
                <a:latin typeface="Calibri"/>
              </a:rPr>
              <a:t>confundido con bloques</a:t>
            </a:r>
            <a:r>
              <a:rPr sz="1300" b="0">
                <a:solidFill>
                  <a:srgbClr val="142B33"/>
                </a:solidFill>
                <a:latin typeface="Calibri"/>
              </a:rPr>
              <a:t>. Moldeo: ABD era − en la mañana y + en la tarde, su contraste medía ABD </a:t>
            </a:r>
            <a:r>
              <a:rPr sz="1300" b="1">
                <a:solidFill>
                  <a:srgbClr val="142B33"/>
                </a:solidFill>
                <a:latin typeface="Calibri"/>
              </a:rPr>
              <a:t>más</a:t>
            </a:r>
            <a:r>
              <a:rPr sz="1300" b="0">
                <a:solidFill>
                  <a:srgbClr val="142B33"/>
                </a:solidFill>
                <a:latin typeface="Calibri"/>
              </a:rPr>
              <a:t> el turno</a:t>
            </a:r>
          </a:p>
        </p:txBody>
      </p:sp>
      <p:sp>
        <p:nvSpPr>
          <p:cNvPr id="4" name="Rounded Rectangle 3"/>
          <p:cNvSpPr/>
          <p:nvPr/>
        </p:nvSpPr>
        <p:spPr>
          <a:xfrm>
            <a:off x="548640" y="3809492"/>
            <a:ext cx="4807320" cy="2163572"/>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500" b="1">
                <a:solidFill>
                  <a:srgbClr val="0F4C5C"/>
                </a:solidFill>
                <a:latin typeface="Cambria"/>
              </a:rPr>
              <a:t>¿Por qué 4 bloques cuestan 3 columnas?</a:t>
            </a:r>
          </a:p>
          <a:p>
            <a:pPr algn="l"/>
            <a:r>
              <a:rPr sz="1300" b="0">
                <a:solidFill>
                  <a:srgbClr val="142B33"/>
                </a:solidFill>
                <a:latin typeface="Calibri"/>
              </a:rPr>
              <a:t>Dos columnas </a:t>
            </a:r>
            <a:r>
              <a:rPr sz="1300" b="1">
                <a:solidFill>
                  <a:srgbClr val="142B33"/>
                </a:solidFill>
                <a:latin typeface="Calibri"/>
              </a:rPr>
              <a:t>P</a:t>
            </a:r>
            <a:r>
              <a:rPr sz="1300" b="0">
                <a:solidFill>
                  <a:srgbClr val="142B33"/>
                </a:solidFill>
                <a:latin typeface="Calibri"/>
              </a:rPr>
              <a:t> y </a:t>
            </a:r>
            <a:r>
              <a:rPr sz="1300" b="1">
                <a:solidFill>
                  <a:srgbClr val="142B33"/>
                </a:solidFill>
                <a:latin typeface="Calibri"/>
              </a:rPr>
              <a:t>Q</a:t>
            </a:r>
            <a:r>
              <a:rPr sz="1300" b="0">
                <a:solidFill>
                  <a:srgbClr val="142B33"/>
                </a:solidFill>
                <a:latin typeface="Calibri"/>
              </a:rPr>
              <a:t> reparten las corridas por sus 4 combinaciones de signos. Dentro de cada bloque P, Q y su producto </a:t>
            </a:r>
            <a:r>
              <a:rPr sz="1300" b="1">
                <a:solidFill>
                  <a:srgbClr val="142B33"/>
                </a:solidFill>
                <a:latin typeface="Calibri"/>
              </a:rPr>
              <a:t>PQ</a:t>
            </a:r>
            <a:r>
              <a:rPr sz="1300" b="0">
                <a:solidFill>
                  <a:srgbClr val="142B33"/>
                </a:solidFill>
                <a:latin typeface="Calibri"/>
              </a:rPr>
              <a:t> son constantes: las tres quedan confundidas (</a:t>
            </a:r>
            <a:r>
              <a:rPr sz="1300" b="1">
                <a:solidFill>
                  <a:srgbClr val="142B33"/>
                </a:solidFill>
                <a:latin typeface="Calibri"/>
              </a:rPr>
              <a:t>3 g.l.</a:t>
            </a:r>
            <a:r>
              <a:rPr sz="1300" b="0">
                <a:solidFill>
                  <a:srgbClr val="142B33"/>
                </a:solidFill>
                <a:latin typeface="Calibri"/>
              </a:rPr>
              <a:t>), y cada columna arrastra su </a:t>
            </a:r>
            <a:r>
              <a:rPr sz="1300" b="1">
                <a:solidFill>
                  <a:srgbClr val="142B33"/>
                </a:solidFill>
                <a:latin typeface="Calibri"/>
              </a:rPr>
              <a:t>cadena de alias completa</a:t>
            </a:r>
          </a:p>
        </p:txBody>
      </p:sp>
      <p:graphicFrame>
        <p:nvGraphicFramePr>
          <p:cNvPr id="5" name="Table 4"/>
          <p:cNvGraphicFramePr>
            <a:graphicFrameLocks noGrp="1"/>
          </p:cNvGraphicFramePr>
          <p:nvPr/>
        </p:nvGraphicFramePr>
        <p:xfrm>
          <a:off x="5767440" y="1417320"/>
          <a:ext cx="5875613" cy="2526027"/>
        </p:xfrm>
        <a:graphic>
          <a:graphicData uri="http://schemas.openxmlformats.org/drawingml/2006/table">
            <a:tbl>
              <a:tblPr firstRow="0" bandRow="0">
                <a:tableStyleId>{5C22544A-7EE6-4342-B048-85BDC9FD1C3A}</a:tableStyleId>
              </a:tblPr>
              <a:tblGrid>
                <a:gridCol w="2115221"/>
                <a:gridCol w="1880196"/>
                <a:gridCol w="1880196"/>
              </a:tblGrid>
              <a:tr h="320294">
                <a:tc>
                  <a:txBody>
                    <a:bodyPr/>
                    <a:lstStyle/>
                    <a:p>
                      <a:pPr algn="l"/>
                    </a:p>
                  </a:txBody>
                  <a:tcPr marL="73152" marR="73152" marT="27432" marB="27432" anchor="ctr">
                    <a:solidFill>
                      <a:srgbClr val="0F4C5C"/>
                    </a:solidFill>
                  </a:tcPr>
                </a:tc>
                <a:tc>
                  <a:txBody>
                    <a:bodyPr/>
                    <a:lstStyle/>
                    <a:p>
                      <a:pPr algn="l"/>
                      <a:r>
                        <a:rPr sz="1300" b="1">
                          <a:solidFill>
                            <a:srgbClr val="FFFFFF"/>
                          </a:solidFill>
                          <a:latin typeface="Calibri"/>
                        </a:rPr>
                        <a:t>2</a:t>
                      </a:r>
                      <a:r>
                        <a:rPr sz="1300" b="1" baseline="30000">
                          <a:solidFill>
                            <a:srgbClr val="FFFFFF"/>
                          </a:solidFill>
                          <a:latin typeface="Calibri"/>
                        </a:rPr>
                        <a:t>8−4</a:t>
                      </a:r>
                      <a:r>
                        <a:rPr sz="1300" b="1" baseline="-25000">
                          <a:solidFill>
                            <a:srgbClr val="FFFFFF"/>
                          </a:solidFill>
                          <a:latin typeface="Calibri"/>
                        </a:rPr>
                        <a:t>IV</a:t>
                      </a:r>
                    </a:p>
                  </a:txBody>
                  <a:tcPr marL="73152" marR="73152" marT="27432" marB="27432" anchor="ctr">
                    <a:solidFill>
                      <a:srgbClr val="0F4C5C"/>
                    </a:solidFill>
                  </a:tcPr>
                </a:tc>
                <a:tc>
                  <a:txBody>
                    <a:bodyPr/>
                    <a:lstStyle/>
                    <a:p>
                      <a:pPr algn="l"/>
                      <a:r>
                        <a:rPr sz="1300" b="1">
                          <a:solidFill>
                            <a:srgbClr val="FFFFFF"/>
                          </a:solidFill>
                          <a:latin typeface="Calibri"/>
                        </a:rPr>
                        <a:t>2</a:t>
                      </a:r>
                      <a:r>
                        <a:rPr sz="1300" b="1" baseline="30000">
                          <a:solidFill>
                            <a:srgbClr val="FFFFFF"/>
                          </a:solidFill>
                          <a:latin typeface="Calibri"/>
                        </a:rPr>
                        <a:t>8−3</a:t>
                      </a:r>
                      <a:r>
                        <a:rPr sz="1300" b="1" baseline="-25000">
                          <a:solidFill>
                            <a:srgbClr val="FFFFFF"/>
                          </a:solidFill>
                          <a:latin typeface="Calibri"/>
                        </a:rPr>
                        <a:t>IV</a:t>
                      </a:r>
                    </a:p>
                  </a:txBody>
                  <a:tcPr marL="73152" marR="73152" marT="27432" marB="27432" anchor="ctr">
                    <a:solidFill>
                      <a:srgbClr val="0F4C5C"/>
                    </a:solidFill>
                  </a:tcPr>
                </a:tc>
              </a:tr>
              <a:tr h="320294">
                <a:tc>
                  <a:txBody>
                    <a:bodyPr/>
                    <a:lstStyle/>
                    <a:p>
                      <a:pPr algn="l"/>
                      <a:r>
                        <a:rPr sz="1300" b="0">
                          <a:solidFill>
                            <a:srgbClr val="142B33"/>
                          </a:solidFill>
                          <a:latin typeface="Calibri"/>
                        </a:rPr>
                        <a:t>Corridas</a:t>
                      </a:r>
                    </a:p>
                  </a:txBody>
                  <a:tcPr marL="73152" marR="73152" marT="27432" marB="27432" anchor="ctr">
                    <a:solidFill>
                      <a:srgbClr val="FFFFFF"/>
                    </a:solidFill>
                  </a:tcPr>
                </a:tc>
                <a:tc>
                  <a:txBody>
                    <a:bodyPr/>
                    <a:lstStyle/>
                    <a:p>
                      <a:pPr algn="l"/>
                      <a:r>
                        <a:rPr sz="1300" b="0">
                          <a:solidFill>
                            <a:srgbClr val="142B33"/>
                          </a:solidFill>
                          <a:latin typeface="Calibri"/>
                        </a:rPr>
                        <a:t>16</a:t>
                      </a:r>
                    </a:p>
                  </a:txBody>
                  <a:tcPr marL="73152" marR="73152" marT="27432" marB="27432" anchor="ctr">
                    <a:solidFill>
                      <a:srgbClr val="FFFFFF"/>
                    </a:solidFill>
                  </a:tcPr>
                </a:tc>
                <a:tc>
                  <a:txBody>
                    <a:bodyPr/>
                    <a:lstStyle/>
                    <a:p>
                      <a:pPr algn="l"/>
                      <a:r>
                        <a:rPr sz="1300" b="0">
                          <a:solidFill>
                            <a:srgbClr val="142B33"/>
                          </a:solidFill>
                          <a:latin typeface="Calibri"/>
                        </a:rPr>
                        <a:t>32</a:t>
                      </a:r>
                    </a:p>
                  </a:txBody>
                  <a:tcPr marL="73152" marR="73152" marT="27432" marB="27432" anchor="ctr">
                    <a:solidFill>
                      <a:srgbClr val="FFFFFF"/>
                    </a:solidFill>
                  </a:tcPr>
                </a:tc>
              </a:tr>
              <a:tr h="521715">
                <a:tc>
                  <a:txBody>
                    <a:bodyPr/>
                    <a:lstStyle/>
                    <a:p>
                      <a:pPr algn="l"/>
                      <a:r>
                        <a:rPr sz="1300" b="0">
                          <a:solidFill>
                            <a:srgbClr val="142B33"/>
                          </a:solidFill>
                          <a:latin typeface="Calibri"/>
                        </a:rPr>
                        <a:t>Columnas (grados de libertad)</a:t>
                      </a:r>
                    </a:p>
                  </a:txBody>
                  <a:tcPr marL="73152" marR="73152" marT="27432" marB="27432" anchor="ctr">
                    <a:solidFill>
                      <a:srgbClr val="F4F8F9"/>
                    </a:solidFill>
                  </a:tcPr>
                </a:tc>
                <a:tc>
                  <a:txBody>
                    <a:bodyPr/>
                    <a:lstStyle/>
                    <a:p>
                      <a:pPr algn="l"/>
                      <a:r>
                        <a:rPr sz="1300" b="0">
                          <a:solidFill>
                            <a:srgbClr val="142B33"/>
                          </a:solidFill>
                          <a:latin typeface="Calibri"/>
                        </a:rPr>
                        <a:t>15</a:t>
                      </a:r>
                    </a:p>
                  </a:txBody>
                  <a:tcPr marL="73152" marR="73152" marT="27432" marB="27432" anchor="ctr">
                    <a:solidFill>
                      <a:srgbClr val="F4F8F9"/>
                    </a:solidFill>
                  </a:tcPr>
                </a:tc>
                <a:tc>
                  <a:txBody>
                    <a:bodyPr/>
                    <a:lstStyle/>
                    <a:p>
                      <a:pPr algn="l"/>
                      <a:r>
                        <a:rPr sz="1300" b="0">
                          <a:solidFill>
                            <a:srgbClr val="142B33"/>
                          </a:solidFill>
                          <a:latin typeface="Calibri"/>
                        </a:rPr>
                        <a:t>31</a:t>
                      </a:r>
                    </a:p>
                  </a:txBody>
                  <a:tcPr marL="73152" marR="73152" marT="27432" marB="27432" anchor="ctr">
                    <a:solidFill>
                      <a:srgbClr val="F4F8F9"/>
                    </a:solidFill>
                  </a:tcPr>
                </a:tc>
              </a:tr>
              <a:tr h="320294">
                <a:tc>
                  <a:txBody>
                    <a:bodyPr/>
                    <a:lstStyle/>
                    <a:p>
                      <a:pPr algn="l"/>
                      <a:r>
                        <a:rPr sz="1300" b="0">
                          <a:solidFill>
                            <a:srgbClr val="142B33"/>
                          </a:solidFill>
                          <a:latin typeface="Calibri"/>
                        </a:rPr>
                        <a:t>Cadenas solo de triples</a:t>
                      </a:r>
                    </a:p>
                  </a:txBody>
                  <a:tcPr marL="73152" marR="73152" marT="27432" marB="27432" anchor="ctr">
                    <a:solidFill>
                      <a:srgbClr val="FFFFFF"/>
                    </a:solidFill>
                  </a:tcPr>
                </a:tc>
                <a:tc>
                  <a:txBody>
                    <a:bodyPr/>
                    <a:lstStyle/>
                    <a:p>
                      <a:pPr algn="l"/>
                      <a:r>
                        <a:rPr sz="1300" b="1">
                          <a:solidFill>
                            <a:srgbClr val="142B33"/>
                          </a:solidFill>
                          <a:latin typeface="Calibri"/>
                        </a:rPr>
                        <a:t>ninguna</a:t>
                      </a:r>
                    </a:p>
                  </a:txBody>
                  <a:tcPr marL="73152" marR="73152" marT="27432" marB="27432" anchor="ctr">
                    <a:solidFill>
                      <a:srgbClr val="FFFFFF"/>
                    </a:solidFill>
                  </a:tcPr>
                </a:tc>
                <a:tc>
                  <a:txBody>
                    <a:bodyPr/>
                    <a:lstStyle/>
                    <a:p>
                      <a:pPr algn="l"/>
                      <a:r>
                        <a:rPr sz="1300" b="0">
                          <a:solidFill>
                            <a:srgbClr val="142B33"/>
                          </a:solidFill>
                          <a:latin typeface="Calibri"/>
                        </a:rPr>
                        <a:t>varias</a:t>
                      </a:r>
                    </a:p>
                  </a:txBody>
                  <a:tcPr marL="73152" marR="73152" marT="27432" marB="27432" anchor="ctr">
                    <a:solidFill>
                      <a:srgbClr val="FFFFFF"/>
                    </a:solidFill>
                  </a:tcPr>
                </a:tc>
              </a:tr>
              <a:tr h="521715">
                <a:tc>
                  <a:txBody>
                    <a:bodyPr/>
                    <a:lstStyle/>
                    <a:p>
                      <a:pPr algn="l"/>
                      <a:r>
                        <a:rPr sz="1300" b="0">
                          <a:solidFill>
                            <a:srgbClr val="142B33"/>
                          </a:solidFill>
                          <a:latin typeface="Calibri"/>
                        </a:rPr>
                        <a:t>Cadenas de dobles</a:t>
                      </a:r>
                    </a:p>
                  </a:txBody>
                  <a:tcPr marL="73152" marR="73152" marT="27432" marB="27432" anchor="ctr">
                    <a:solidFill>
                      <a:srgbClr val="F4F8F9"/>
                    </a:solidFill>
                  </a:tcPr>
                </a:tc>
                <a:tc>
                  <a:txBody>
                    <a:bodyPr/>
                    <a:lstStyle/>
                    <a:p>
                      <a:pPr algn="l"/>
                      <a:r>
                        <a:rPr sz="1300" b="0">
                          <a:solidFill>
                            <a:srgbClr val="142B33"/>
                          </a:solidFill>
                          <a:latin typeface="Calibri"/>
                        </a:rPr>
                        <a:t>7, de </a:t>
                      </a:r>
                      <a:r>
                        <a:rPr sz="1300" b="1">
                          <a:solidFill>
                            <a:srgbClr val="142B33"/>
                          </a:solidFill>
                          <a:latin typeface="Calibri"/>
                        </a:rPr>
                        <a:t>4 dobles</a:t>
                      </a:r>
                      <a:r>
                        <a:rPr sz="1300" b="0">
                          <a:solidFill>
                            <a:srgbClr val="142B33"/>
                          </a:solidFill>
                          <a:latin typeface="Calibri"/>
                        </a:rPr>
                        <a:t> cada una</a:t>
                      </a:r>
                    </a:p>
                  </a:txBody>
                  <a:tcPr marL="73152" marR="73152" marT="27432" marB="27432" anchor="ctr">
                    <a:solidFill>
                      <a:srgbClr val="F4F8F9"/>
                    </a:solidFill>
                  </a:tcPr>
                </a:tc>
                <a:tc>
                  <a:txBody>
                    <a:bodyPr/>
                    <a:lstStyle/>
                    <a:p>
                      <a:pPr algn="l"/>
                      <a:r>
                        <a:rPr sz="1300" b="0">
                          <a:solidFill>
                            <a:srgbClr val="142B33"/>
                          </a:solidFill>
                          <a:latin typeface="Calibri"/>
                        </a:rPr>
                        <a:t>7 con alias; el resto, dobles solas</a:t>
                      </a:r>
                    </a:p>
                  </a:txBody>
                  <a:tcPr marL="73152" marR="73152" marT="27432" marB="27432" anchor="ctr">
                    <a:solidFill>
                      <a:srgbClr val="F4F8F9"/>
                    </a:solidFill>
                  </a:tcPr>
                </a:tc>
              </a:tr>
              <a:tr h="521715">
                <a:tc>
                  <a:txBody>
                    <a:bodyPr/>
                    <a:lstStyle/>
                    <a:p>
                      <a:pPr algn="l"/>
                      <a:r>
                        <a:rPr sz="1300" b="0">
                          <a:solidFill>
                            <a:srgbClr val="142B33"/>
                          </a:solidFill>
                          <a:latin typeface="Calibri"/>
                        </a:rPr>
                        <a:t>Con 4 bloques se pierden</a:t>
                      </a:r>
                    </a:p>
                  </a:txBody>
                  <a:tcPr marL="73152" marR="73152" marT="27432" marB="27432" anchor="ctr">
                    <a:solidFill>
                      <a:srgbClr val="FDE8D7"/>
                    </a:solidFill>
                  </a:tcPr>
                </a:tc>
                <a:tc>
                  <a:txBody>
                    <a:bodyPr/>
                    <a:lstStyle/>
                    <a:p>
                      <a:pPr algn="l"/>
                      <a:r>
                        <a:rPr sz="1300" b="1">
                          <a:solidFill>
                            <a:srgbClr val="142B33"/>
                          </a:solidFill>
                          <a:latin typeface="Calibri"/>
                        </a:rPr>
                        <a:t>3 cadenas de dobles</a:t>
                      </a:r>
                      <a:r>
                        <a:rPr sz="1300" b="0">
                          <a:solidFill>
                            <a:srgbClr val="142B33"/>
                          </a:solidFill>
                          <a:latin typeface="Calibri"/>
                        </a:rPr>
                        <a:t> (12 dobles)</a:t>
                      </a:r>
                    </a:p>
                  </a:txBody>
                  <a:tcPr marL="73152" marR="73152" marT="27432" marB="27432" anchor="ctr">
                    <a:solidFill>
                      <a:srgbClr val="FDE8D7"/>
                    </a:solidFill>
                  </a:tcPr>
                </a:tc>
                <a:tc>
                  <a:txBody>
                    <a:bodyPr/>
                    <a:lstStyle/>
                    <a:p>
                      <a:pPr algn="l"/>
                      <a:r>
                        <a:rPr sz="1300" b="0">
                          <a:solidFill>
                            <a:srgbClr val="142B33"/>
                          </a:solidFill>
                          <a:latin typeface="Calibri"/>
                        </a:rPr>
                        <a:t>2 cadenas triples y </a:t>
                      </a:r>
                      <a:r>
                        <a:rPr sz="1300" b="1">
                          <a:solidFill>
                            <a:srgbClr val="142B33"/>
                          </a:solidFill>
                          <a:latin typeface="Calibri"/>
                        </a:rPr>
                        <a:t>EH</a:t>
                      </a:r>
                    </a:p>
                  </a:txBody>
                  <a:tcPr marL="73152" marR="73152" marT="27432" marB="27432" anchor="ctr">
                    <a:solidFill>
                      <a:srgbClr val="FDE8D7"/>
                    </a:solidFill>
                  </a:tcPr>
                </a:tc>
              </a:tr>
            </a:tbl>
          </a:graphicData>
        </a:graphic>
      </p:graphicFrame>
      <p:sp>
        <p:nvSpPr>
          <p:cNvPr id="6" name="Rounded Rectangle 5"/>
          <p:cNvSpPr/>
          <p:nvPr/>
        </p:nvSpPr>
        <p:spPr>
          <a:xfrm>
            <a:off x="5767440" y="4144518"/>
            <a:ext cx="5875614" cy="878585"/>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300" b="0">
                <a:solidFill>
                  <a:srgbClr val="142B33"/>
                </a:solidFill>
                <a:latin typeface="Calibri"/>
              </a:rPr>
              <a:t>Montgomery: el de 16 «no puede correrse en cuatro bloques sin </a:t>
            </a:r>
            <a:r>
              <a:rPr sz="1300" b="1">
                <a:solidFill>
                  <a:srgbClr val="142B33"/>
                </a:solidFill>
                <a:latin typeface="Calibri"/>
              </a:rPr>
              <a:t>confundir cuatro interacciones de dos factores</a:t>
            </a:r>
            <a:r>
              <a:rPr sz="1300" b="0">
                <a:solidFill>
                  <a:srgbClr val="142B33"/>
                </a:solidFill>
                <a:latin typeface="Calibri"/>
              </a:rPr>
              <a:t> con los bloques»: toda columna de bloques sería una cadena de 4 dobles</a:t>
            </a:r>
          </a:p>
        </p:txBody>
      </p:sp>
      <p:sp>
        <p:nvSpPr>
          <p:cNvPr id="7" name="Rounded Rectangle 6"/>
          <p:cNvSpPr/>
          <p:nvPr/>
        </p:nvSpPr>
        <p:spPr>
          <a:xfrm>
            <a:off x="5767440" y="5224272"/>
            <a:ext cx="5875614" cy="1156461"/>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500" b="1">
                <a:solidFill>
                  <a:srgbClr val="0F4C5C"/>
                </a:solidFill>
                <a:latin typeface="Cambria"/>
              </a:rPr>
              <a:t>Decisión</a:t>
            </a:r>
          </a:p>
          <a:p>
            <a:pPr algn="l"/>
            <a:r>
              <a:rPr sz="1300" b="0">
                <a:solidFill>
                  <a:srgbClr val="142B33"/>
                </a:solidFill>
                <a:latin typeface="Calibri"/>
              </a:rPr>
              <a:t>Se elige el </a:t>
            </a:r>
            <a:r>
              <a:rPr sz="1300" b="1">
                <a:solidFill>
                  <a:srgbClr val="142B33"/>
                </a:solidFill>
                <a:latin typeface="Calibri"/>
              </a:rPr>
              <a:t>2</a:t>
            </a:r>
            <a:r>
              <a:rPr sz="1300" b="1" baseline="30000">
                <a:solidFill>
                  <a:srgbClr val="142B33"/>
                </a:solidFill>
                <a:latin typeface="Calibri"/>
              </a:rPr>
              <a:t>8−3</a:t>
            </a:r>
            <a:r>
              <a:rPr sz="1300" b="1" baseline="-25000">
                <a:solidFill>
                  <a:srgbClr val="142B33"/>
                </a:solidFill>
                <a:latin typeface="Calibri"/>
              </a:rPr>
              <a:t>IV</a:t>
            </a:r>
            <a:r>
              <a:rPr sz="1300" b="0">
                <a:solidFill>
                  <a:srgbClr val="142B33"/>
                </a:solidFill>
                <a:latin typeface="Calibri"/>
              </a:rPr>
              <a:t> en </a:t>
            </a:r>
            <a:r>
              <a:rPr sz="1300" b="1">
                <a:solidFill>
                  <a:srgbClr val="142B33"/>
                </a:solidFill>
                <a:latin typeface="Calibri"/>
              </a:rPr>
              <a:t>4 bloques de 8</a:t>
            </a:r>
            <a:r>
              <a:rPr sz="1300" b="0">
                <a:solidFill>
                  <a:srgbClr val="142B33"/>
                </a:solidFill>
                <a:latin typeface="Calibri"/>
              </a:rPr>
              <a:t>: los bloques obligan a duplicar el experimento para no perder interacciones dobles</a:t>
            </a:r>
          </a:p>
        </p:txBody>
      </p:sp>
      <p:sp>
        <p:nvSpPr>
          <p:cNvPr id="8" name="TextBox 7"/>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El diseño 2</a:t>
            </a:r>
            <a:r>
              <a:rPr sz="1000" b="0" baseline="30000">
                <a:solidFill>
                  <a:srgbClr val="5B6B73"/>
                </a:solidFill>
                <a:latin typeface="Calibri"/>
              </a:rPr>
              <a:t>k−p</a:t>
            </a:r>
            <a:r>
              <a:rPr sz="1000" b="0">
                <a:solidFill>
                  <a:srgbClr val="5B6B73"/>
                </a:solidFill>
                <a:latin typeface="Calibri"/>
              </a:rPr>
              <a:t> general</a:t>
            </a:r>
          </a:p>
        </p:txBody>
      </p:sp>
      <p:sp>
        <p:nvSpPr>
          <p:cNvPr id="9" name="TextBox 8"/>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83</a:t>
            </a:r>
          </a:p>
        </p:txBody>
      </p:sp>
      <p:sp>
        <p:nvSpPr>
          <p:cNvPr id="10" name="Rounded Rectangle 9"/>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7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4 · Paso 4: generadores, relación de definición y alias</a:t>
            </a:r>
          </a:p>
        </p:txBody>
      </p:sp>
      <p:sp>
        <p:nvSpPr>
          <p:cNvPr id="3" name="Rounded Rectangle 2"/>
          <p:cNvSpPr/>
          <p:nvPr/>
        </p:nvSpPr>
        <p:spPr>
          <a:xfrm>
            <a:off x="548640" y="1417320"/>
            <a:ext cx="5341467" cy="586679"/>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800" b="0">
                <a:solidFill>
                  <a:srgbClr val="0F4C5C"/>
                </a:solidFill>
                <a:latin typeface="Cambria Math"/>
              </a:rPr>
              <a:t>F = ABC,   G = ABD,   H = BCDE</a:t>
            </a:r>
          </a:p>
        </p:txBody>
      </p:sp>
      <p:sp>
        <p:nvSpPr>
          <p:cNvPr id="4" name="Rounded Rectangle 3"/>
          <p:cNvSpPr/>
          <p:nvPr/>
        </p:nvSpPr>
        <p:spPr>
          <a:xfrm>
            <a:off x="548640" y="2205167"/>
            <a:ext cx="5341467" cy="829624"/>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0">
                <a:solidFill>
                  <a:srgbClr val="0F4C5C"/>
                </a:solidFill>
                <a:latin typeface="Cambria Math"/>
              </a:rPr>
              <a:t>I = ABCF = ABDG = CDFG = BCDEH</a:t>
            </a:r>
          </a:p>
          <a:p>
            <a:pPr algn="ctr"/>
            <a:r>
              <a:rPr sz="1600" b="0">
                <a:solidFill>
                  <a:srgbClr val="0F4C5C"/>
                </a:solidFill>
                <a:latin typeface="Cambria Math"/>
              </a:rPr>
              <a:t>= ADEFH = ACEGH = BEFGH</a:t>
            </a:r>
          </a:p>
        </p:txBody>
      </p:sp>
      <p:sp>
        <p:nvSpPr>
          <p:cNvPr id="5" name="Rounded Rectangle 4"/>
          <p:cNvSpPr/>
          <p:nvPr/>
        </p:nvSpPr>
        <p:spPr>
          <a:xfrm>
            <a:off x="548640" y="3235960"/>
            <a:ext cx="5341467" cy="50673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Palabra más corta: </a:t>
            </a:r>
            <a:r>
              <a:rPr sz="1500" b="1">
                <a:solidFill>
                  <a:srgbClr val="142B33"/>
                </a:solidFill>
                <a:latin typeface="Calibri"/>
              </a:rPr>
              <a:t>4 letras</a:t>
            </a:r>
            <a:r>
              <a:rPr sz="1500" b="0">
                <a:solidFill>
                  <a:srgbClr val="142B33"/>
                </a:solidFill>
                <a:latin typeface="Calibri"/>
              </a:rPr>
              <a:t>  ⇒  </a:t>
            </a:r>
            <a:r>
              <a:rPr sz="1500" b="1">
                <a:solidFill>
                  <a:srgbClr val="142B33"/>
                </a:solidFill>
                <a:latin typeface="Calibri"/>
              </a:rPr>
              <a:t>resolución IV</a:t>
            </a:r>
          </a:p>
        </p:txBody>
      </p:sp>
      <p:graphicFrame>
        <p:nvGraphicFramePr>
          <p:cNvPr id="6" name="Table 5"/>
          <p:cNvGraphicFramePr>
            <a:graphicFrameLocks noGrp="1"/>
          </p:cNvGraphicFramePr>
          <p:nvPr/>
        </p:nvGraphicFramePr>
        <p:xfrm>
          <a:off x="6301587" y="1417320"/>
          <a:ext cx="5341467" cy="2174232"/>
        </p:xfrm>
        <a:graphic>
          <a:graphicData uri="http://schemas.openxmlformats.org/drawingml/2006/table">
            <a:tbl>
              <a:tblPr firstRow="0" bandRow="0">
                <a:tableStyleId>{5C22544A-7EE6-4342-B048-85BDC9FD1C3A}</a:tableStyleId>
              </a:tblPr>
              <a:tblGrid>
                <a:gridCol w="5341467"/>
              </a:tblGrid>
              <a:tr h="271779">
                <a:tc>
                  <a:txBody>
                    <a:bodyPr/>
                    <a:lstStyle/>
                    <a:p>
                      <a:pPr algn="ctr"/>
                      <a:r>
                        <a:rPr sz="1400" b="1">
                          <a:solidFill>
                            <a:srgbClr val="FFFFFF"/>
                          </a:solidFill>
                          <a:latin typeface="Calibri"/>
                        </a:rPr>
                        <a:t>Cadenas con más de una interacción doble</a:t>
                      </a:r>
                    </a:p>
                  </a:txBody>
                  <a:tcPr marL="73152" marR="73152" marT="27432" marB="27432" anchor="ctr">
                    <a:solidFill>
                      <a:srgbClr val="0F4C5C"/>
                    </a:solidFill>
                  </a:tcPr>
                </a:tc>
              </a:tr>
              <a:tr h="271779">
                <a:tc>
                  <a:txBody>
                    <a:bodyPr/>
                    <a:lstStyle/>
                    <a:p>
                      <a:pPr algn="ctr"/>
                      <a:r>
                        <a:rPr sz="1400" b="0">
                          <a:solidFill>
                            <a:srgbClr val="142B33"/>
                          </a:solidFill>
                          <a:latin typeface="Calibri"/>
                        </a:rPr>
                        <a:t>AB = CF = DG</a:t>
                      </a:r>
                    </a:p>
                  </a:txBody>
                  <a:tcPr marL="73152" marR="73152" marT="27432" marB="27432" anchor="ctr">
                    <a:solidFill>
                      <a:srgbClr val="FFFFFF"/>
                    </a:solidFill>
                  </a:tcPr>
                </a:tc>
              </a:tr>
              <a:tr h="271779">
                <a:tc>
                  <a:txBody>
                    <a:bodyPr/>
                    <a:lstStyle/>
                    <a:p>
                      <a:pPr algn="ctr"/>
                      <a:r>
                        <a:rPr sz="1400" b="0">
                          <a:solidFill>
                            <a:srgbClr val="142B33"/>
                          </a:solidFill>
                          <a:latin typeface="Calibri"/>
                        </a:rPr>
                        <a:t>AC = BF</a:t>
                      </a:r>
                    </a:p>
                  </a:txBody>
                  <a:tcPr marL="73152" marR="73152" marT="27432" marB="27432" anchor="ctr">
                    <a:solidFill>
                      <a:srgbClr val="F4F8F9"/>
                    </a:solidFill>
                  </a:tcPr>
                </a:tc>
              </a:tr>
              <a:tr h="271779">
                <a:tc>
                  <a:txBody>
                    <a:bodyPr/>
                    <a:lstStyle/>
                    <a:p>
                      <a:pPr algn="ctr"/>
                      <a:r>
                        <a:rPr sz="1400" b="1">
                          <a:solidFill>
                            <a:srgbClr val="142B33"/>
                          </a:solidFill>
                          <a:latin typeface="Calibri"/>
                        </a:rPr>
                        <a:t>AD = BG</a:t>
                      </a:r>
                    </a:p>
                  </a:txBody>
                  <a:tcPr marL="73152" marR="73152" marT="27432" marB="27432" anchor="ctr">
                    <a:solidFill>
                      <a:srgbClr val="FDE8D7"/>
                    </a:solidFill>
                  </a:tcPr>
                </a:tc>
              </a:tr>
              <a:tr h="271779">
                <a:tc>
                  <a:txBody>
                    <a:bodyPr/>
                    <a:lstStyle/>
                    <a:p>
                      <a:pPr algn="ctr"/>
                      <a:r>
                        <a:rPr sz="1400" b="0">
                          <a:solidFill>
                            <a:srgbClr val="142B33"/>
                          </a:solidFill>
                          <a:latin typeface="Calibri"/>
                        </a:rPr>
                        <a:t>AF = BC</a:t>
                      </a:r>
                    </a:p>
                  </a:txBody>
                  <a:tcPr marL="73152" marR="73152" marT="27432" marB="27432" anchor="ctr">
                    <a:solidFill>
                      <a:srgbClr val="F4F8F9"/>
                    </a:solidFill>
                  </a:tcPr>
                </a:tc>
              </a:tr>
              <a:tr h="271779">
                <a:tc>
                  <a:txBody>
                    <a:bodyPr/>
                    <a:lstStyle/>
                    <a:p>
                      <a:pPr algn="ctr"/>
                      <a:r>
                        <a:rPr sz="1400" b="0">
                          <a:solidFill>
                            <a:srgbClr val="142B33"/>
                          </a:solidFill>
                          <a:latin typeface="Calibri"/>
                        </a:rPr>
                        <a:t>AG = BD</a:t>
                      </a:r>
                    </a:p>
                  </a:txBody>
                  <a:tcPr marL="73152" marR="73152" marT="27432" marB="27432" anchor="ctr">
                    <a:solidFill>
                      <a:srgbClr val="FFFFFF"/>
                    </a:solidFill>
                  </a:tcPr>
                </a:tc>
              </a:tr>
              <a:tr h="271779">
                <a:tc>
                  <a:txBody>
                    <a:bodyPr/>
                    <a:lstStyle/>
                    <a:p>
                      <a:pPr algn="ctr"/>
                      <a:r>
                        <a:rPr sz="1400" b="0">
                          <a:solidFill>
                            <a:srgbClr val="142B33"/>
                          </a:solidFill>
                          <a:latin typeface="Calibri"/>
                        </a:rPr>
                        <a:t>CD = FG</a:t>
                      </a:r>
                    </a:p>
                  </a:txBody>
                  <a:tcPr marL="73152" marR="73152" marT="27432" marB="27432" anchor="ctr">
                    <a:solidFill>
                      <a:srgbClr val="F4F8F9"/>
                    </a:solidFill>
                  </a:tcPr>
                </a:tc>
              </a:tr>
              <a:tr h="271779">
                <a:tc>
                  <a:txBody>
                    <a:bodyPr/>
                    <a:lstStyle/>
                    <a:p>
                      <a:pPr algn="ctr"/>
                      <a:r>
                        <a:rPr sz="1400" b="0">
                          <a:solidFill>
                            <a:srgbClr val="142B33"/>
                          </a:solidFill>
                          <a:latin typeface="Calibri"/>
                        </a:rPr>
                        <a:t>CG = DF</a:t>
                      </a:r>
                    </a:p>
                  </a:txBody>
                  <a:tcPr marL="73152" marR="73152" marT="27432" marB="27432" anchor="ctr">
                    <a:solidFill>
                      <a:srgbClr val="FFFFFF"/>
                    </a:solidFill>
                  </a:tcPr>
                </a:tc>
              </a:tr>
            </a:tbl>
          </a:graphicData>
        </a:graphic>
      </p:graphicFrame>
      <p:sp>
        <p:nvSpPr>
          <p:cNvPr id="7" name="TextBox 6"/>
          <p:cNvSpPr txBox="1"/>
          <p:nvPr/>
        </p:nvSpPr>
        <p:spPr>
          <a:xfrm>
            <a:off x="6301587" y="3792728"/>
            <a:ext cx="5341467" cy="470407"/>
          </a:xfrm>
          <a:prstGeom prst="rect">
            <a:avLst/>
          </a:prstGeom>
          <a:noFill/>
        </p:spPr>
        <p:txBody>
          <a:bodyPr wrap="square" anchor="t" lIns="0" rIns="0" tIns="0" bIns="0">
            <a:spAutoFit/>
          </a:bodyPr>
          <a:lstStyle/>
          <a:p>
            <a:r>
              <a:rPr sz="1400" b="0">
                <a:solidFill>
                  <a:srgbClr val="5B6B73"/>
                </a:solidFill>
                <a:latin typeface="Calibri"/>
              </a:rPr>
              <a:t>Los 8 principales, limpios; las otras 13 dobles, </a:t>
            </a:r>
            <a:r>
              <a:rPr sz="1400" b="1">
                <a:solidFill>
                  <a:srgbClr val="5B6B73"/>
                </a:solidFill>
                <a:latin typeface="Calibri"/>
              </a:rPr>
              <a:t>solas</a:t>
            </a:r>
            <a:r>
              <a:rPr sz="1400" b="0">
                <a:solidFill>
                  <a:srgbClr val="5B6B73"/>
                </a:solidFill>
                <a:latin typeface="Calibri"/>
              </a:rPr>
              <a:t> en su cadena</a:t>
            </a:r>
          </a:p>
        </p:txBody>
      </p:sp>
      <p:sp>
        <p:nvSpPr>
          <p:cNvPr id="8" name="TextBox 7"/>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El diseño 2</a:t>
            </a:r>
            <a:r>
              <a:rPr sz="1000" b="0" baseline="30000">
                <a:solidFill>
                  <a:srgbClr val="5B6B73"/>
                </a:solidFill>
                <a:latin typeface="Calibri"/>
              </a:rPr>
              <a:t>k−p</a:t>
            </a:r>
            <a:r>
              <a:rPr sz="1000" b="0">
                <a:solidFill>
                  <a:srgbClr val="5B6B73"/>
                </a:solidFill>
                <a:latin typeface="Calibri"/>
              </a:rPr>
              <a:t> general</a:t>
            </a:r>
          </a:p>
        </p:txBody>
      </p:sp>
      <p:sp>
        <p:nvSpPr>
          <p:cNvPr id="9" name="TextBox 8"/>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84</a:t>
            </a:r>
          </a:p>
        </p:txBody>
      </p:sp>
      <p:sp>
        <p:nvSpPr>
          <p:cNvPr id="10" name="Rounded Rectangle 9"/>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7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4 · Paso 5: ¿cómo se reparten en los 4 husillos?</a:t>
            </a:r>
          </a:p>
        </p:txBody>
      </p:sp>
      <p:graphicFrame>
        <p:nvGraphicFramePr>
          <p:cNvPr id="3" name="Table 2"/>
          <p:cNvGraphicFramePr>
            <a:graphicFrameLocks noGrp="1"/>
          </p:cNvGraphicFramePr>
          <p:nvPr/>
        </p:nvGraphicFramePr>
        <p:xfrm>
          <a:off x="548640" y="1417320"/>
          <a:ext cx="5982442" cy="1203955"/>
        </p:xfrm>
        <a:graphic>
          <a:graphicData uri="http://schemas.openxmlformats.org/drawingml/2006/table">
            <a:tbl>
              <a:tblPr firstRow="0" bandRow="0">
                <a:tableStyleId>{5C22544A-7EE6-4342-B048-85BDC9FD1C3A}</a:tableStyleId>
              </a:tblPr>
              <a:tblGrid>
                <a:gridCol w="837542"/>
                <a:gridCol w="478595"/>
                <a:gridCol w="478595"/>
                <a:gridCol w="478595"/>
                <a:gridCol w="3709115"/>
              </a:tblGrid>
              <a:tr h="240791">
                <a:tc>
                  <a:txBody>
                    <a:bodyPr/>
                    <a:lstStyle/>
                    <a:p>
                      <a:pPr algn="ctr"/>
                      <a:r>
                        <a:rPr sz="1200" b="1">
                          <a:solidFill>
                            <a:srgbClr val="FFFFFF"/>
                          </a:solidFill>
                          <a:latin typeface="Calibri"/>
                        </a:rPr>
                        <a:t>Husillo</a:t>
                      </a:r>
                    </a:p>
                  </a:txBody>
                  <a:tcPr marL="73152" marR="73152" marT="27432" marB="27432" anchor="ctr">
                    <a:solidFill>
                      <a:srgbClr val="0F4C5C"/>
                    </a:solidFill>
                  </a:tcPr>
                </a:tc>
                <a:tc>
                  <a:txBody>
                    <a:bodyPr/>
                    <a:lstStyle/>
                    <a:p>
                      <a:pPr algn="ctr"/>
                      <a:r>
                        <a:rPr sz="1200" b="1">
                          <a:solidFill>
                            <a:srgbClr val="FFFFFF"/>
                          </a:solidFill>
                          <a:latin typeface="Calibri"/>
                        </a:rPr>
                        <a:t>ABE</a:t>
                      </a:r>
                    </a:p>
                  </a:txBody>
                  <a:tcPr marL="73152" marR="73152" marT="27432" marB="27432" anchor="ctr">
                    <a:solidFill>
                      <a:srgbClr val="0F4C5C"/>
                    </a:solidFill>
                  </a:tcPr>
                </a:tc>
                <a:tc>
                  <a:txBody>
                    <a:bodyPr/>
                    <a:lstStyle/>
                    <a:p>
                      <a:pPr algn="ctr"/>
                      <a:r>
                        <a:rPr sz="1200" b="1">
                          <a:solidFill>
                            <a:srgbClr val="FFFFFF"/>
                          </a:solidFill>
                          <a:latin typeface="Calibri"/>
                        </a:rPr>
                        <a:t>ABH</a:t>
                      </a:r>
                    </a:p>
                  </a:txBody>
                  <a:tcPr marL="73152" marR="73152" marT="27432" marB="27432" anchor="ctr">
                    <a:solidFill>
                      <a:srgbClr val="0F4C5C"/>
                    </a:solidFill>
                  </a:tcPr>
                </a:tc>
                <a:tc>
                  <a:txBody>
                    <a:bodyPr/>
                    <a:lstStyle/>
                    <a:p>
                      <a:pPr algn="ctr"/>
                      <a:r>
                        <a:rPr sz="1200" b="1">
                          <a:solidFill>
                            <a:srgbClr val="FFFFFF"/>
                          </a:solidFill>
                          <a:latin typeface="Calibri"/>
                        </a:rPr>
                        <a:t>EH</a:t>
                      </a:r>
                    </a:p>
                  </a:txBody>
                  <a:tcPr marL="73152" marR="73152" marT="27432" marB="27432" anchor="ctr">
                    <a:solidFill>
                      <a:srgbClr val="0F4C5C"/>
                    </a:solidFill>
                  </a:tcPr>
                </a:tc>
                <a:tc>
                  <a:txBody>
                    <a:bodyPr/>
                    <a:lstStyle/>
                    <a:p>
                      <a:pPr algn="ctr"/>
                      <a:r>
                        <a:rPr sz="1200" b="1">
                          <a:solidFill>
                            <a:srgbClr val="FFFFFF"/>
                          </a:solidFill>
                          <a:latin typeface="Calibri"/>
                        </a:rPr>
                        <a:t>Sus 8 corridas</a:t>
                      </a:r>
                    </a:p>
                  </a:txBody>
                  <a:tcPr marL="73152" marR="73152" marT="27432" marB="27432" anchor="ctr">
                    <a:solidFill>
                      <a:srgbClr val="0F4C5C"/>
                    </a:solidFill>
                  </a:tcPr>
                </a:tc>
              </a:tr>
              <a:tr h="240791">
                <a:tc>
                  <a:txBody>
                    <a:bodyPr/>
                    <a:lstStyle/>
                    <a:p>
                      <a:pPr algn="ctr"/>
                      <a:r>
                        <a:rPr sz="1200" b="0">
                          <a:solidFill>
                            <a:srgbClr val="142B33"/>
                          </a:solidFill>
                          <a:latin typeface="Calibri"/>
                        </a:rPr>
                        <a:t>Husillo 1</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200" b="0">
                          <a:solidFill>
                            <a:srgbClr val="142B33"/>
                          </a:solidFill>
                          <a:latin typeface="Calibri"/>
                        </a:rPr>
                        <a:t>ab, cf, dg, abcdfg, befgh, acegh, adefh, bcdeh</a:t>
                      </a:r>
                    </a:p>
                  </a:txBody>
                  <a:tcPr marL="73152" marR="73152" marT="27432" marB="27432" anchor="ctr">
                    <a:solidFill>
                      <a:srgbClr val="FFFFFF"/>
                    </a:solidFill>
                  </a:tcPr>
                </a:tc>
              </a:tr>
              <a:tr h="240791">
                <a:tc>
                  <a:txBody>
                    <a:bodyPr/>
                    <a:lstStyle/>
                    <a:p>
                      <a:pPr algn="ctr"/>
                      <a:r>
                        <a:rPr sz="1200" b="0">
                          <a:solidFill>
                            <a:srgbClr val="142B33"/>
                          </a:solidFill>
                          <a:latin typeface="Calibri"/>
                        </a:rPr>
                        <a:t>Husillo 2</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200" b="0">
                          <a:solidFill>
                            <a:srgbClr val="142B33"/>
                          </a:solidFill>
                          <a:latin typeface="Calibri"/>
                        </a:rPr>
                        <a:t>h, abcfh, abdgh, cdfgh, aefg, bceg, bdef, acde</a:t>
                      </a:r>
                    </a:p>
                  </a:txBody>
                  <a:tcPr marL="73152" marR="73152" marT="27432" marB="27432" anchor="ctr">
                    <a:solidFill>
                      <a:srgbClr val="F4F8F9"/>
                    </a:solidFill>
                  </a:tcPr>
                </a:tc>
              </a:tr>
              <a:tr h="240791">
                <a:tc>
                  <a:txBody>
                    <a:bodyPr/>
                    <a:lstStyle/>
                    <a:p>
                      <a:pPr algn="ctr"/>
                      <a:r>
                        <a:rPr sz="1200" b="0">
                          <a:solidFill>
                            <a:srgbClr val="142B33"/>
                          </a:solidFill>
                          <a:latin typeface="Calibri"/>
                        </a:rPr>
                        <a:t>Husillo 3</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200" b="0">
                          <a:solidFill>
                            <a:srgbClr val="142B33"/>
                          </a:solidFill>
                          <a:latin typeface="Calibri"/>
                        </a:rPr>
                        <a:t>afgh, bcgh, bdfh, acdh, e, abcef, abdeg, cdefg</a:t>
                      </a:r>
                    </a:p>
                  </a:txBody>
                  <a:tcPr marL="73152" marR="73152" marT="27432" marB="27432" anchor="ctr">
                    <a:solidFill>
                      <a:srgbClr val="FFFFFF"/>
                    </a:solidFill>
                  </a:tcPr>
                </a:tc>
              </a:tr>
              <a:tr h="240791">
                <a:tc>
                  <a:txBody>
                    <a:bodyPr/>
                    <a:lstStyle/>
                    <a:p>
                      <a:pPr algn="ctr"/>
                      <a:r>
                        <a:rPr sz="1200" b="0">
                          <a:solidFill>
                            <a:srgbClr val="142B33"/>
                          </a:solidFill>
                          <a:latin typeface="Calibri"/>
                        </a:rPr>
                        <a:t>Husillo 4</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200" b="0">
                          <a:solidFill>
                            <a:srgbClr val="142B33"/>
                          </a:solidFill>
                          <a:latin typeface="Calibri"/>
                        </a:rPr>
                        <a:t>bfg, acg, adf, bcd, abeh, cefh, degh, abcdefgh</a:t>
                      </a:r>
                    </a:p>
                  </a:txBody>
                  <a:tcPr marL="73152" marR="73152" marT="27432" marB="27432" anchor="ctr">
                    <a:solidFill>
                      <a:srgbClr val="F4F8F9"/>
                    </a:solidFill>
                  </a:tcPr>
                </a:tc>
              </a:tr>
            </a:tbl>
          </a:graphicData>
        </a:graphic>
      </p:graphicFrame>
      <p:sp>
        <p:nvSpPr>
          <p:cNvPr id="4" name="TextBox 3"/>
          <p:cNvSpPr txBox="1"/>
          <p:nvPr/>
        </p:nvSpPr>
        <p:spPr>
          <a:xfrm>
            <a:off x="548640" y="2822448"/>
            <a:ext cx="5982443" cy="222504"/>
          </a:xfrm>
          <a:prstGeom prst="rect">
            <a:avLst/>
          </a:prstGeom>
          <a:noFill/>
        </p:spPr>
        <p:txBody>
          <a:bodyPr wrap="square" anchor="t" lIns="0" rIns="0" tIns="0" bIns="0">
            <a:spAutoFit/>
          </a:bodyPr>
          <a:lstStyle/>
          <a:p>
            <a:r>
              <a:rPr sz="1200" b="0">
                <a:solidFill>
                  <a:srgbClr val="5B6B73"/>
                </a:solidFill>
                <a:latin typeface="Calibri"/>
              </a:rPr>
              <a:t>Las 32 corridas del 2</a:t>
            </a:r>
            <a:r>
              <a:rPr sz="1200" b="0" baseline="30000">
                <a:solidFill>
                  <a:srgbClr val="5B6B73"/>
                </a:solidFill>
                <a:latin typeface="Calibri"/>
              </a:rPr>
              <a:t>8−3</a:t>
            </a:r>
            <a:r>
              <a:rPr sz="1200" b="0" baseline="-25000">
                <a:solidFill>
                  <a:srgbClr val="5B6B73"/>
                </a:solidFill>
                <a:latin typeface="Calibri"/>
              </a:rPr>
              <a:t>IV</a:t>
            </a:r>
            <a:r>
              <a:rPr sz="1200" b="0">
                <a:solidFill>
                  <a:srgbClr val="5B6B73"/>
                </a:solidFill>
                <a:latin typeface="Calibri"/>
              </a:rPr>
              <a:t> repartidas por los signos de ABE y ABH</a:t>
            </a:r>
          </a:p>
        </p:txBody>
      </p:sp>
      <p:sp>
        <p:nvSpPr>
          <p:cNvPr id="5" name="TextBox 4"/>
          <p:cNvSpPr txBox="1"/>
          <p:nvPr/>
        </p:nvSpPr>
        <p:spPr>
          <a:xfrm>
            <a:off x="548640" y="3246120"/>
            <a:ext cx="5982443" cy="897635"/>
          </a:xfrm>
          <a:prstGeom prst="rect">
            <a:avLst/>
          </a:prstGeom>
          <a:noFill/>
        </p:spPr>
        <p:txBody>
          <a:bodyPr wrap="square" anchor="t" lIns="0" rIns="0" tIns="0" bIns="0">
            <a:spAutoFit/>
          </a:bodyPr>
          <a:lstStyle/>
          <a:p>
            <a:pPr marL="320040" indent="-320040">
              <a:spcAft>
                <a:spcPts val="600"/>
              </a:spcAft>
              <a:buClr>
                <a:srgbClr val="E36414"/>
              </a:buClr>
              <a:buFont typeface="+mj-lt"/>
              <a:buAutoNum type="arabicPeriod"/>
            </a:pPr>
            <a:r>
              <a:rPr sz="1400" b="0">
                <a:solidFill>
                  <a:srgbClr val="142B33"/>
                </a:solidFill>
                <a:latin typeface="Calibri"/>
              </a:rPr>
              <a:t>Escoger </a:t>
            </a:r>
            <a:r>
              <a:rPr sz="1400" b="1">
                <a:solidFill>
                  <a:srgbClr val="142B33"/>
                </a:solidFill>
                <a:latin typeface="Calibri"/>
              </a:rPr>
              <a:t>P = ABE</a:t>
            </a:r>
            <a:r>
              <a:rPr sz="1400" b="0">
                <a:solidFill>
                  <a:srgbClr val="142B33"/>
                </a:solidFill>
                <a:latin typeface="Calibri"/>
              </a:rPr>
              <a:t> y </a:t>
            </a:r>
            <a:r>
              <a:rPr sz="1400" b="1">
                <a:solidFill>
                  <a:srgbClr val="142B33"/>
                </a:solidFill>
                <a:latin typeface="Calibri"/>
              </a:rPr>
              <a:t>Q = ABH</a:t>
            </a:r>
            <a:r>
              <a:rPr sz="1400" b="0">
                <a:solidFill>
                  <a:srgbClr val="142B33"/>
                </a:solidFill>
                <a:latin typeface="Calibri"/>
              </a:rPr>
              <a:t>: cadenas </a:t>
            </a:r>
            <a:r>
              <a:rPr sz="1400" b="1">
                <a:solidFill>
                  <a:srgbClr val="142B33"/>
                </a:solidFill>
                <a:latin typeface="Calibri"/>
              </a:rPr>
              <a:t>solo de triples</a:t>
            </a:r>
          </a:p>
          <a:p>
            <a:pPr marL="320040" indent="-320040">
              <a:spcAft>
                <a:spcPts val="600"/>
              </a:spcAft>
              <a:buClr>
                <a:srgbClr val="E36414"/>
              </a:buClr>
              <a:buFont typeface="+mj-lt"/>
              <a:buAutoNum type="arabicPeriod"/>
            </a:pPr>
            <a:r>
              <a:rPr sz="1400" b="0">
                <a:solidFill>
                  <a:srgbClr val="142B33"/>
                </a:solidFill>
                <a:latin typeface="Calibri"/>
              </a:rPr>
              <a:t>Cada combinación de signos (P, Q) es un </a:t>
            </a:r>
            <a:r>
              <a:rPr sz="1400" b="1">
                <a:solidFill>
                  <a:srgbClr val="142B33"/>
                </a:solidFill>
                <a:latin typeface="Calibri"/>
              </a:rPr>
              <a:t>husillo</a:t>
            </a:r>
          </a:p>
          <a:p>
            <a:pPr marL="320040" indent="-320040">
              <a:spcAft>
                <a:spcPts val="600"/>
              </a:spcAft>
              <a:buClr>
                <a:srgbClr val="E36414"/>
              </a:buClr>
              <a:buFont typeface="+mj-lt"/>
              <a:buAutoNum type="arabicPeriod"/>
            </a:pPr>
            <a:r>
              <a:rPr sz="1400" b="0">
                <a:solidFill>
                  <a:srgbClr val="142B33"/>
                </a:solidFill>
                <a:latin typeface="Calibri"/>
              </a:rPr>
              <a:t>​</a:t>
            </a:r>
            <a:r>
              <a:rPr sz="1400" b="1">
                <a:solidFill>
                  <a:srgbClr val="142B33"/>
                </a:solidFill>
                <a:latin typeface="Calibri"/>
              </a:rPr>
              <a:t>PQ = ABE · ABH = EH</a:t>
            </a:r>
            <a:r>
              <a:rPr sz="1400" b="0">
                <a:solidFill>
                  <a:srgbClr val="142B33"/>
                </a:solidFill>
                <a:latin typeface="Calibri"/>
              </a:rPr>
              <a:t> queda confundida también: es el precio</a:t>
            </a:r>
          </a:p>
        </p:txBody>
      </p:sp>
      <p:sp>
        <p:nvSpPr>
          <p:cNvPr id="6" name="Rounded Rectangle 5"/>
          <p:cNvSpPr/>
          <p:nvPr/>
        </p:nvSpPr>
        <p:spPr>
          <a:xfrm>
            <a:off x="6942563" y="1417320"/>
            <a:ext cx="4700491" cy="1156461"/>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500" b="1">
                <a:solidFill>
                  <a:srgbClr val="0F4C5C"/>
                </a:solidFill>
                <a:latin typeface="Cambria"/>
              </a:rPr>
              <a:t>Se pierde</a:t>
            </a:r>
          </a:p>
          <a:p>
            <a:pPr algn="l"/>
            <a:r>
              <a:rPr sz="1300" b="0">
                <a:solidFill>
                  <a:srgbClr val="142B33"/>
                </a:solidFill>
                <a:latin typeface="Calibri"/>
              </a:rPr>
              <a:t>ABE, ABH y </a:t>
            </a:r>
            <a:r>
              <a:rPr sz="1300" b="1">
                <a:solidFill>
                  <a:srgbClr val="142B33"/>
                </a:solidFill>
                <a:latin typeface="Calibri"/>
              </a:rPr>
              <a:t>EH</a:t>
            </a:r>
            <a:r>
              <a:rPr sz="1300" b="0">
                <a:solidFill>
                  <a:srgbClr val="142B33"/>
                </a:solidFill>
                <a:latin typeface="Calibri"/>
              </a:rPr>
              <a:t> (eje a × velocidad de alimentación, considerada muy improbable)</a:t>
            </a:r>
          </a:p>
        </p:txBody>
      </p:sp>
      <p:sp>
        <p:nvSpPr>
          <p:cNvPr id="7" name="Rounded Rectangle 6"/>
          <p:cNvSpPr/>
          <p:nvPr/>
        </p:nvSpPr>
        <p:spPr>
          <a:xfrm>
            <a:off x="6942563" y="2802382"/>
            <a:ext cx="4700491" cy="1156461"/>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500" b="1">
                <a:solidFill>
                  <a:srgbClr val="0F4C5C"/>
                </a:solidFill>
                <a:latin typeface="Cambria"/>
              </a:rPr>
              <a:t>Se conserva</a:t>
            </a:r>
          </a:p>
          <a:p>
            <a:pPr algn="l"/>
            <a:r>
              <a:rPr sz="1300" b="0">
                <a:solidFill>
                  <a:srgbClr val="142B33"/>
                </a:solidFill>
                <a:latin typeface="Calibri"/>
              </a:rPr>
              <a:t>Los 8 principales y las demás dobles: </a:t>
            </a:r>
            <a:r>
              <a:rPr sz="1300" b="1">
                <a:solidFill>
                  <a:srgbClr val="142B33"/>
                </a:solidFill>
                <a:latin typeface="Calibri"/>
              </a:rPr>
              <a:t>4 + y 4 −</a:t>
            </a:r>
            <a:r>
              <a:rPr sz="1300" b="0">
                <a:solidFill>
                  <a:srgbClr val="142B33"/>
                </a:solidFill>
                <a:latin typeface="Calibri"/>
              </a:rPr>
              <a:t> en cada husillo</a:t>
            </a:r>
          </a:p>
        </p:txBody>
      </p:sp>
      <p:sp>
        <p:nvSpPr>
          <p:cNvPr id="8" name="Rounded Rectangle 7"/>
          <p:cNvSpPr/>
          <p:nvPr/>
        </p:nvSpPr>
        <p:spPr>
          <a:xfrm>
            <a:off x="6942563" y="4187444"/>
            <a:ext cx="4700491" cy="1156461"/>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500" b="1">
                <a:solidFill>
                  <a:srgbClr val="0F4C5C"/>
                </a:solidFill>
                <a:latin typeface="Cambria"/>
              </a:rPr>
              <a:t>Aleatorización</a:t>
            </a:r>
          </a:p>
          <a:p>
            <a:pPr algn="l"/>
            <a:r>
              <a:rPr sz="1300" b="0">
                <a:solidFill>
                  <a:srgbClr val="142B33"/>
                </a:solidFill>
                <a:latin typeface="Calibri"/>
              </a:rPr>
              <a:t>El orden se sortea </a:t>
            </a:r>
            <a:r>
              <a:rPr sz="1300" b="1">
                <a:solidFill>
                  <a:srgbClr val="142B33"/>
                </a:solidFill>
                <a:latin typeface="Calibri"/>
              </a:rPr>
              <a:t>dentro</a:t>
            </a:r>
            <a:r>
              <a:rPr sz="1300" b="0">
                <a:solidFill>
                  <a:srgbClr val="142B33"/>
                </a:solidFill>
                <a:latin typeface="Calibri"/>
              </a:rPr>
              <a:t> de cada husillo</a:t>
            </a:r>
          </a:p>
        </p:txBody>
      </p:sp>
      <p:sp>
        <p:nvSpPr>
          <p:cNvPr id="9" name="TextBox 8"/>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El diseño 2</a:t>
            </a:r>
            <a:r>
              <a:rPr sz="1000" b="0" baseline="30000">
                <a:solidFill>
                  <a:srgbClr val="5B6B73"/>
                </a:solidFill>
                <a:latin typeface="Calibri"/>
              </a:rPr>
              <a:t>k−p</a:t>
            </a:r>
            <a:r>
              <a:rPr sz="1000" b="0">
                <a:solidFill>
                  <a:srgbClr val="5B6B73"/>
                </a:solidFill>
                <a:latin typeface="Calibri"/>
              </a:rPr>
              <a:t> general</a:t>
            </a:r>
          </a:p>
        </p:txBody>
      </p:sp>
      <p:sp>
        <p:nvSpPr>
          <p:cNvPr id="10" name="TextBox 9"/>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85</a:t>
            </a:r>
          </a:p>
        </p:txBody>
      </p:sp>
      <p:sp>
        <p:nvSpPr>
          <p:cNvPr id="11" name="Rounded Rectangle 10"/>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7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4 · Paso 6: ¿qué efectos son activos?</a:t>
            </a:r>
          </a:p>
        </p:txBody>
      </p:sp>
      <p:graphicFrame>
        <p:nvGraphicFramePr>
          <p:cNvPr id="3" name="Chart 2"/>
          <p:cNvGraphicFramePr>
            <a:graphicFrameLocks noGrp="1"/>
          </p:cNvGraphicFramePr>
          <p:nvPr/>
        </p:nvGraphicFramePr>
        <p:xfrm>
          <a:off x="548640" y="1417320"/>
          <a:ext cx="5555126" cy="3840480"/>
        </p:xfrm>
        <a:graphic>
          <a:graphicData uri="http://schemas.openxmlformats.org/drawingml/2006/chart">
            <c:chart xmlns:c="http://schemas.openxmlformats.org/drawingml/2006/chart" r:id="rId2"/>
          </a:graphicData>
        </a:graphic>
      </p:graphicFrame>
      <p:sp>
        <p:nvSpPr>
          <p:cNvPr id="4" name="TextBox 3"/>
          <p:cNvSpPr txBox="1"/>
          <p:nvPr/>
        </p:nvSpPr>
        <p:spPr>
          <a:xfrm>
            <a:off x="548640" y="5458968"/>
            <a:ext cx="5555126" cy="222504"/>
          </a:xfrm>
          <a:prstGeom prst="rect">
            <a:avLst/>
          </a:prstGeom>
          <a:noFill/>
        </p:spPr>
        <p:txBody>
          <a:bodyPr wrap="square" anchor="t" lIns="0" rIns="0" tIns="0" bIns="0">
            <a:spAutoFit/>
          </a:bodyPr>
          <a:lstStyle/>
          <a:p>
            <a:r>
              <a:rPr sz="1200" b="0">
                <a:solidFill>
                  <a:srgbClr val="5B6B73"/>
                </a:solidFill>
                <a:latin typeface="Calibri"/>
              </a:rPr>
              <a:t>Sin ABE, ABH y EH, confundidas con los husillos</a:t>
            </a:r>
          </a:p>
        </p:txBody>
      </p:sp>
      <p:sp>
        <p:nvSpPr>
          <p:cNvPr id="5" name="TextBox 4"/>
          <p:cNvSpPr txBox="1"/>
          <p:nvPr/>
        </p:nvSpPr>
        <p:spPr>
          <a:xfrm>
            <a:off x="6515246" y="1417320"/>
            <a:ext cx="5127808" cy="1491233"/>
          </a:xfrm>
          <a:prstGeom prst="rect">
            <a:avLst/>
          </a:prstGeom>
          <a:noFill/>
        </p:spPr>
        <p:txBody>
          <a:bodyPr wrap="square" anchor="t" lIns="0" rIns="0" tIns="0" bIns="0">
            <a:spAutoFit/>
          </a:bodyPr>
          <a:lstStyle/>
          <a:p>
            <a:pPr marL="320040" indent="-320040">
              <a:spcAft>
                <a:spcPts val="600"/>
              </a:spcAft>
              <a:buClr>
                <a:srgbClr val="E36414"/>
              </a:buClr>
              <a:buFont typeface="+mj-lt"/>
              <a:buAutoNum type="arabicPeriod"/>
            </a:pPr>
            <a:r>
              <a:rPr sz="1500" b="0">
                <a:solidFill>
                  <a:srgbClr val="142B33"/>
                </a:solidFill>
                <a:latin typeface="Calibri"/>
              </a:rPr>
              <a:t>​</a:t>
            </a:r>
            <a:r>
              <a:rPr sz="1500" b="1">
                <a:solidFill>
                  <a:srgbClr val="142B33"/>
                </a:solidFill>
                <a:latin typeface="Calibri"/>
              </a:rPr>
              <a:t>Se apartan</a:t>
            </a:r>
            <a:r>
              <a:rPr sz="1500" b="0">
                <a:solidFill>
                  <a:srgbClr val="142B33"/>
                </a:solidFill>
                <a:latin typeface="Calibri"/>
              </a:rPr>
              <a:t>: AD + BG = −0.374, A = 0.290, B = −0.201</a:t>
            </a:r>
          </a:p>
          <a:p>
            <a:pPr marL="320040" indent="-320040">
              <a:spcAft>
                <a:spcPts val="600"/>
              </a:spcAft>
              <a:buClr>
                <a:srgbClr val="E36414"/>
              </a:buClr>
              <a:buFont typeface="+mj-lt"/>
              <a:buAutoNum type="arabicPeriod"/>
            </a:pPr>
            <a:r>
              <a:rPr sz="1500" b="0">
                <a:solidFill>
                  <a:srgbClr val="142B33"/>
                </a:solidFill>
                <a:latin typeface="Calibri"/>
              </a:rPr>
              <a:t>​</a:t>
            </a:r>
            <a:r>
              <a:rPr sz="1500" b="1">
                <a:solidFill>
                  <a:srgbClr val="142B33"/>
                </a:solidFill>
                <a:latin typeface="Calibri"/>
              </a:rPr>
              <a:t>Menores</a:t>
            </a:r>
            <a:r>
              <a:rPr sz="1500" b="0">
                <a:solidFill>
                  <a:srgbClr val="142B33"/>
                </a:solidFill>
                <a:latin typeface="Calibri"/>
              </a:rPr>
              <a:t>: G = 0.116, D = 0.108, BE = 0.099</a:t>
            </a:r>
          </a:p>
          <a:p>
            <a:pPr marL="320040" indent="-320040">
              <a:spcAft>
                <a:spcPts val="600"/>
              </a:spcAft>
              <a:buClr>
                <a:srgbClr val="E36414"/>
              </a:buClr>
              <a:buFont typeface="+mj-lt"/>
              <a:buAutoNum type="arabicPeriod"/>
            </a:pPr>
            <a:r>
              <a:rPr sz="1500" b="0">
                <a:solidFill>
                  <a:srgbClr val="142B33"/>
                </a:solidFill>
                <a:latin typeface="Calibri"/>
              </a:rPr>
              <a:t>​</a:t>
            </a:r>
            <a:r>
              <a:rPr sz="1500" b="1">
                <a:solidFill>
                  <a:srgbClr val="142B33"/>
                </a:solidFill>
                <a:latin typeface="Calibri"/>
              </a:rPr>
              <a:t>Lenth</a:t>
            </a:r>
            <a:r>
              <a:rPr sz="1500" b="0">
                <a:solidFill>
                  <a:srgbClr val="142B33"/>
                </a:solidFill>
                <a:latin typeface="Calibri"/>
              </a:rPr>
              <a:t>: ME = 0.116, SME = 0.223. AD + BG y A &gt; SME; B &gt; ME; G en el límite; D y BE &lt; ME</a:t>
            </a:r>
          </a:p>
          <a:p>
            <a:pPr marL="320040" indent="-320040">
              <a:spcAft>
                <a:spcPts val="600"/>
              </a:spcAft>
              <a:buClr>
                <a:srgbClr val="E36414"/>
              </a:buClr>
              <a:buFont typeface="+mj-lt"/>
              <a:buAutoNum type="arabicPeriod"/>
            </a:pPr>
            <a:r>
              <a:rPr sz="1500" b="0">
                <a:solidFill>
                  <a:srgbClr val="142B33"/>
                </a:solidFill>
                <a:latin typeface="Calibri"/>
              </a:rPr>
              <a:t>Al </a:t>
            </a:r>
            <a:r>
              <a:rPr sz="1500" b="1">
                <a:solidFill>
                  <a:srgbClr val="142B33"/>
                </a:solidFill>
                <a:latin typeface="Calibri"/>
              </a:rPr>
              <a:t>modelo</a:t>
            </a:r>
            <a:r>
              <a:rPr sz="1500" b="0">
                <a:solidFill>
                  <a:srgbClr val="142B33"/>
                </a:solidFill>
                <a:latin typeface="Calibri"/>
              </a:rPr>
              <a:t>: A, B y la cadena AD + BG</a:t>
            </a:r>
          </a:p>
        </p:txBody>
      </p:sp>
      <p:sp>
        <p:nvSpPr>
          <p:cNvPr id="6" name="Rounded Rectangle 5"/>
          <p:cNvSpPr/>
          <p:nvPr/>
        </p:nvSpPr>
        <p:spPr>
          <a:xfrm>
            <a:off x="6515246" y="3109721"/>
            <a:ext cx="5127808" cy="708151"/>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400" b="0">
                <a:solidFill>
                  <a:srgbClr val="142B33"/>
                </a:solidFill>
                <a:latin typeface="Calibri"/>
              </a:rPr>
              <a:t>Las 3 columnas de los husillos </a:t>
            </a:r>
            <a:r>
              <a:rPr sz="1400" b="1">
                <a:solidFill>
                  <a:srgbClr val="142B33"/>
                </a:solidFill>
                <a:latin typeface="Calibri"/>
              </a:rPr>
              <a:t>no se grafican</a:t>
            </a:r>
            <a:r>
              <a:rPr sz="1400" b="0">
                <a:solidFill>
                  <a:srgbClr val="142B33"/>
                </a:solidFill>
                <a:latin typeface="Calibri"/>
              </a:rPr>
              <a:t>: no son efectos de factores</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El diseño 2</a:t>
            </a:r>
            <a:r>
              <a:rPr sz="1000" b="0" baseline="30000">
                <a:solidFill>
                  <a:srgbClr val="5B6B73"/>
                </a:solidFill>
                <a:latin typeface="Calibri"/>
              </a:rPr>
              <a:t>k−p</a:t>
            </a:r>
            <a:r>
              <a:rPr sz="1000" b="0">
                <a:solidFill>
                  <a:srgbClr val="5B6B73"/>
                </a:solidFill>
                <a:latin typeface="Calibri"/>
              </a:rPr>
              <a:t> general</a:t>
            </a:r>
          </a:p>
        </p:txBody>
      </p:sp>
      <p:sp>
        <p:nvSpPr>
          <p:cNvPr id="8" name="TextBox 7"/>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86</a:t>
            </a:r>
          </a:p>
        </p:txBody>
      </p:sp>
      <p:sp>
        <p:nvSpPr>
          <p:cNvPr id="9" name="Rounded Rectangle 8"/>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7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4 · Paso 7: ¿la cadena es AD o BG?</a:t>
            </a:r>
          </a:p>
        </p:txBody>
      </p:sp>
      <p:graphicFrame>
        <p:nvGraphicFramePr>
          <p:cNvPr id="3" name="Table 2"/>
          <p:cNvGraphicFramePr>
            <a:graphicFrameLocks noGrp="1"/>
          </p:cNvGraphicFramePr>
          <p:nvPr/>
        </p:nvGraphicFramePr>
        <p:xfrm>
          <a:off x="548640" y="1417320"/>
          <a:ext cx="11094414" cy="1756410"/>
        </p:xfrm>
        <a:graphic>
          <a:graphicData uri="http://schemas.openxmlformats.org/drawingml/2006/table">
            <a:tbl>
              <a:tblPr firstRow="0" bandRow="0">
                <a:tableStyleId>{5C22544A-7EE6-4342-B048-85BDC9FD1C3A}</a:tableStyleId>
              </a:tblPr>
              <a:tblGrid>
                <a:gridCol w="3328324"/>
                <a:gridCol w="3883045"/>
                <a:gridCol w="3883045"/>
              </a:tblGrid>
              <a:tr h="351282">
                <a:tc>
                  <a:txBody>
                    <a:bodyPr/>
                    <a:lstStyle/>
                    <a:p>
                      <a:pPr algn="l"/>
                    </a:p>
                  </a:txBody>
                  <a:tcPr marL="73152" marR="73152" marT="27432" marB="27432" anchor="ctr">
                    <a:solidFill>
                      <a:srgbClr val="0F4C5C"/>
                    </a:solidFill>
                  </a:tcPr>
                </a:tc>
                <a:tc>
                  <a:txBody>
                    <a:bodyPr/>
                    <a:lstStyle/>
                    <a:p>
                      <a:pPr algn="ctr"/>
                      <a:r>
                        <a:rPr sz="1500" b="1">
                          <a:solidFill>
                            <a:srgbClr val="FFFFFF"/>
                          </a:solidFill>
                          <a:latin typeface="Calibri"/>
                        </a:rPr>
                        <a:t>AD (eje x × fabricante)</a:t>
                      </a:r>
                    </a:p>
                  </a:txBody>
                  <a:tcPr marL="73152" marR="73152" marT="27432" marB="27432" anchor="ctr">
                    <a:solidFill>
                      <a:srgbClr val="0F4C5C"/>
                    </a:solidFill>
                  </a:tcPr>
                </a:tc>
                <a:tc>
                  <a:txBody>
                    <a:bodyPr/>
                    <a:lstStyle/>
                    <a:p>
                      <a:pPr algn="ctr"/>
                      <a:r>
                        <a:rPr sz="1500" b="1">
                          <a:solidFill>
                            <a:srgbClr val="FFFFFF"/>
                          </a:solidFill>
                          <a:latin typeface="Calibri"/>
                        </a:rPr>
                        <a:t>BG (eje y × altura de plantilla)</a:t>
                      </a:r>
                    </a:p>
                  </a:txBody>
                  <a:tcPr marL="73152" marR="73152" marT="27432" marB="27432" anchor="ctr">
                    <a:solidFill>
                      <a:srgbClr val="0F4C5C"/>
                    </a:solidFill>
                  </a:tcPr>
                </a:tc>
              </a:tr>
              <a:tr h="351282">
                <a:tc>
                  <a:txBody>
                    <a:bodyPr/>
                    <a:lstStyle/>
                    <a:p>
                      <a:pPr algn="l"/>
                      <a:r>
                        <a:rPr sz="1500" b="0">
                          <a:solidFill>
                            <a:srgbClr val="142B33"/>
                          </a:solidFill>
                          <a:latin typeface="Calibri"/>
                        </a:rPr>
                        <a:t>Jerarquía</a:t>
                      </a:r>
                    </a:p>
                  </a:txBody>
                  <a:tcPr marL="73152" marR="73152" marT="27432" marB="27432" anchor="ctr">
                    <a:solidFill>
                      <a:srgbClr val="FFFFFF"/>
                    </a:solidFill>
                  </a:tcPr>
                </a:tc>
                <a:tc>
                  <a:txBody>
                    <a:bodyPr/>
                    <a:lstStyle/>
                    <a:p>
                      <a:pPr algn="ctr"/>
                      <a:r>
                        <a:rPr sz="1500" b="0">
                          <a:solidFill>
                            <a:srgbClr val="142B33"/>
                          </a:solidFill>
                          <a:latin typeface="Calibri"/>
                        </a:rPr>
                        <a:t>Interacción doble</a:t>
                      </a:r>
                    </a:p>
                  </a:txBody>
                  <a:tcPr marL="73152" marR="73152" marT="27432" marB="27432" anchor="ctr">
                    <a:solidFill>
                      <a:srgbClr val="FFFFFF"/>
                    </a:solidFill>
                  </a:tcPr>
                </a:tc>
                <a:tc>
                  <a:txBody>
                    <a:bodyPr/>
                    <a:lstStyle/>
                    <a:p>
                      <a:pPr algn="ctr"/>
                      <a:r>
                        <a:rPr sz="1500" b="0">
                          <a:solidFill>
                            <a:srgbClr val="142B33"/>
                          </a:solidFill>
                          <a:latin typeface="Calibri"/>
                        </a:rPr>
                        <a:t>Interacción doble</a:t>
                      </a:r>
                    </a:p>
                  </a:txBody>
                  <a:tcPr marL="73152" marR="73152" marT="27432" marB="27432" anchor="ctr">
                    <a:solidFill>
                      <a:srgbClr val="FFFFFF"/>
                    </a:solidFill>
                  </a:tcPr>
                </a:tc>
              </a:tr>
              <a:tr h="351282">
                <a:tc>
                  <a:txBody>
                    <a:bodyPr/>
                    <a:lstStyle/>
                    <a:p>
                      <a:pPr algn="l"/>
                      <a:r>
                        <a:rPr sz="1500" b="0">
                          <a:solidFill>
                            <a:srgbClr val="142B33"/>
                          </a:solidFill>
                          <a:latin typeface="Calibri"/>
                        </a:rPr>
                        <a:t>Herencia: principal grande</a:t>
                      </a:r>
                    </a:p>
                  </a:txBody>
                  <a:tcPr marL="73152" marR="73152" marT="27432" marB="27432" anchor="ctr">
                    <a:solidFill>
                      <a:srgbClr val="F4F8F9"/>
                    </a:solidFill>
                  </a:tcPr>
                </a:tc>
                <a:tc>
                  <a:txBody>
                    <a:bodyPr/>
                    <a:lstStyle/>
                    <a:p>
                      <a:pPr algn="ctr"/>
                      <a:r>
                        <a:rPr sz="1500" b="0">
                          <a:solidFill>
                            <a:srgbClr val="142B33"/>
                          </a:solidFill>
                          <a:latin typeface="Calibri"/>
                        </a:rPr>
                        <a:t>A = 0.290</a:t>
                      </a:r>
                    </a:p>
                  </a:txBody>
                  <a:tcPr marL="73152" marR="73152" marT="27432" marB="27432" anchor="ctr">
                    <a:solidFill>
                      <a:srgbClr val="F4F8F9"/>
                    </a:solidFill>
                  </a:tcPr>
                </a:tc>
                <a:tc>
                  <a:txBody>
                    <a:bodyPr/>
                    <a:lstStyle/>
                    <a:p>
                      <a:pPr algn="ctr"/>
                      <a:r>
                        <a:rPr sz="1500" b="0">
                          <a:solidFill>
                            <a:srgbClr val="142B33"/>
                          </a:solidFill>
                          <a:latin typeface="Calibri"/>
                        </a:rPr>
                        <a:t>B = −0.201</a:t>
                      </a:r>
                    </a:p>
                  </a:txBody>
                  <a:tcPr marL="73152" marR="73152" marT="27432" marB="27432" anchor="ctr">
                    <a:solidFill>
                      <a:srgbClr val="F4F8F9"/>
                    </a:solidFill>
                  </a:tcPr>
                </a:tc>
              </a:tr>
              <a:tr h="351282">
                <a:tc>
                  <a:txBody>
                    <a:bodyPr/>
                    <a:lstStyle/>
                    <a:p>
                      <a:pPr algn="l"/>
                      <a:r>
                        <a:rPr sz="1500" b="0">
                          <a:solidFill>
                            <a:srgbClr val="142B33"/>
                          </a:solidFill>
                          <a:latin typeface="Calibri"/>
                        </a:rPr>
                        <a:t>Herencia: principal pequeño</a:t>
                      </a:r>
                    </a:p>
                  </a:txBody>
                  <a:tcPr marL="73152" marR="73152" marT="27432" marB="27432" anchor="ctr">
                    <a:solidFill>
                      <a:srgbClr val="FFFFFF"/>
                    </a:solidFill>
                  </a:tcPr>
                </a:tc>
                <a:tc>
                  <a:txBody>
                    <a:bodyPr/>
                    <a:lstStyle/>
                    <a:p>
                      <a:pPr algn="ctr"/>
                      <a:r>
                        <a:rPr sz="1500" b="0">
                          <a:solidFill>
                            <a:srgbClr val="142B33"/>
                          </a:solidFill>
                          <a:latin typeface="Calibri"/>
                        </a:rPr>
                        <a:t>D = 0.108</a:t>
                      </a:r>
                    </a:p>
                  </a:txBody>
                  <a:tcPr marL="73152" marR="73152" marT="27432" marB="27432" anchor="ctr">
                    <a:solidFill>
                      <a:srgbClr val="FFFFFF"/>
                    </a:solidFill>
                  </a:tcPr>
                </a:tc>
                <a:tc>
                  <a:txBody>
                    <a:bodyPr/>
                    <a:lstStyle/>
                    <a:p>
                      <a:pPr algn="ctr"/>
                      <a:r>
                        <a:rPr sz="1500" b="0">
                          <a:solidFill>
                            <a:srgbClr val="142B33"/>
                          </a:solidFill>
                          <a:latin typeface="Calibri"/>
                        </a:rPr>
                        <a:t>G = 0.116</a:t>
                      </a:r>
                    </a:p>
                  </a:txBody>
                  <a:tcPr marL="73152" marR="73152" marT="27432" marB="27432" anchor="ctr">
                    <a:solidFill>
                      <a:srgbClr val="FFFFFF"/>
                    </a:solidFill>
                  </a:tcPr>
                </a:tc>
              </a:tr>
              <a:tr h="351282">
                <a:tc>
                  <a:txBody>
                    <a:bodyPr/>
                    <a:lstStyle/>
                    <a:p>
                      <a:pPr algn="l"/>
                      <a:r>
                        <a:rPr sz="1500" b="0">
                          <a:solidFill>
                            <a:srgbClr val="142B33"/>
                          </a:solidFill>
                          <a:latin typeface="Calibri"/>
                        </a:rPr>
                        <a:t>Conclusión</a:t>
                      </a:r>
                    </a:p>
                  </a:txBody>
                  <a:tcPr marL="73152" marR="73152" marT="27432" marB="27432" anchor="ctr">
                    <a:solidFill>
                      <a:srgbClr val="F4F8F9"/>
                    </a:solidFill>
                  </a:tcPr>
                </a:tc>
                <a:tc>
                  <a:txBody>
                    <a:bodyPr/>
                    <a:lstStyle/>
                    <a:p>
                      <a:pPr algn="ctr"/>
                      <a:r>
                        <a:rPr sz="1500" b="1">
                          <a:solidFill>
                            <a:srgbClr val="142B33"/>
                          </a:solidFill>
                          <a:latin typeface="Calibri"/>
                        </a:rPr>
                        <a:t>Empate</a:t>
                      </a:r>
                      <a:r>
                        <a:rPr sz="1500" b="0">
                          <a:solidFill>
                            <a:srgbClr val="142B33"/>
                          </a:solidFill>
                          <a:latin typeface="Calibri"/>
                        </a:rPr>
                        <a:t>: los datos no deciden</a:t>
                      </a:r>
                    </a:p>
                  </a:txBody>
                  <a:tcPr marL="73152" marR="73152" marT="27432" marB="27432" anchor="ctr">
                    <a:solidFill>
                      <a:srgbClr val="F4F8F9"/>
                    </a:solidFill>
                  </a:tcPr>
                </a:tc>
                <a:tc>
                  <a:txBody>
                    <a:bodyPr/>
                    <a:lstStyle/>
                    <a:p>
                      <a:pPr algn="ctr"/>
                      <a:r>
                        <a:rPr sz="1500" b="1">
                          <a:solidFill>
                            <a:srgbClr val="142B33"/>
                          </a:solidFill>
                          <a:latin typeface="Calibri"/>
                        </a:rPr>
                        <a:t>Empate</a:t>
                      </a:r>
                      <a:r>
                        <a:rPr sz="1500" b="0">
                          <a:solidFill>
                            <a:srgbClr val="142B33"/>
                          </a:solidFill>
                          <a:latin typeface="Calibri"/>
                        </a:rPr>
                        <a:t>: los datos no deciden</a:t>
                      </a:r>
                    </a:p>
                  </a:txBody>
                  <a:tcPr marL="73152" marR="73152" marT="27432" marB="27432" anchor="ctr">
                    <a:solidFill>
                      <a:srgbClr val="F4F8F9"/>
                    </a:solidFill>
                  </a:tcPr>
                </a:tc>
              </a:tr>
            </a:tbl>
          </a:graphicData>
        </a:graphic>
      </p:graphicFrame>
      <p:sp>
        <p:nvSpPr>
          <p:cNvPr id="4" name="Rounded Rectangle 3"/>
          <p:cNvSpPr/>
          <p:nvPr/>
        </p:nvSpPr>
        <p:spPr>
          <a:xfrm>
            <a:off x="548640" y="3374898"/>
            <a:ext cx="3545738" cy="1358392"/>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600" b="1">
                <a:solidFill>
                  <a:srgbClr val="0F4C5C"/>
                </a:solidFill>
                <a:latin typeface="Cambria"/>
              </a:rPr>
              <a:t>Conocimiento del proceso</a:t>
            </a:r>
          </a:p>
          <a:p>
            <a:pPr algn="l"/>
            <a:r>
              <a:rPr sz="1400" b="0">
                <a:solidFill>
                  <a:srgbClr val="142B33"/>
                </a:solidFill>
                <a:latin typeface="Calibri"/>
              </a:rPr>
              <a:t>Los ingenieros juzgan que la interacción real es </a:t>
            </a:r>
            <a:r>
              <a:rPr sz="1400" b="1">
                <a:solidFill>
                  <a:srgbClr val="142B33"/>
                </a:solidFill>
                <a:latin typeface="Calibri"/>
              </a:rPr>
              <a:t>AD</a:t>
            </a:r>
          </a:p>
        </p:txBody>
      </p:sp>
      <p:sp>
        <p:nvSpPr>
          <p:cNvPr id="5" name="Rounded Rectangle 4"/>
          <p:cNvSpPr/>
          <p:nvPr/>
        </p:nvSpPr>
        <p:spPr>
          <a:xfrm>
            <a:off x="4322978" y="3374898"/>
            <a:ext cx="3545738" cy="1358392"/>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600" b="1">
                <a:solidFill>
                  <a:srgbClr val="0F4C5C"/>
                </a:solidFill>
                <a:latin typeface="Cambria"/>
              </a:rPr>
              <a:t>Más corridas</a:t>
            </a:r>
          </a:p>
          <a:p>
            <a:pPr algn="l"/>
            <a:r>
              <a:rPr sz="1400" b="0">
                <a:solidFill>
                  <a:srgbClr val="142B33"/>
                </a:solidFill>
                <a:latin typeface="Calibri"/>
              </a:rPr>
              <a:t>Un </a:t>
            </a:r>
            <a:r>
              <a:rPr sz="1400" b="1">
                <a:solidFill>
                  <a:srgbClr val="142B33"/>
                </a:solidFill>
                <a:latin typeface="Calibri"/>
              </a:rPr>
              <a:t>doblez</a:t>
            </a:r>
            <a:r>
              <a:rPr sz="1400" b="0">
                <a:solidFill>
                  <a:srgbClr val="142B33"/>
                </a:solidFill>
                <a:latin typeface="Calibri"/>
              </a:rPr>
              <a:t> de A o de D separaría AD de BG</a:t>
            </a:r>
          </a:p>
        </p:txBody>
      </p:sp>
      <p:sp>
        <p:nvSpPr>
          <p:cNvPr id="6" name="Rounded Rectangle 5"/>
          <p:cNvSpPr/>
          <p:nvPr/>
        </p:nvSpPr>
        <p:spPr>
          <a:xfrm>
            <a:off x="8097316" y="3374898"/>
            <a:ext cx="3545738" cy="1358392"/>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600" b="1">
                <a:solidFill>
                  <a:srgbClr val="0F4C5C"/>
                </a:solidFill>
                <a:latin typeface="Cambria"/>
              </a:rPr>
              <a:t>Modelo</a:t>
            </a:r>
          </a:p>
          <a:p>
            <a:pPr algn="l"/>
            <a:r>
              <a:rPr sz="1400" b="1">
                <a:solidFill>
                  <a:srgbClr val="142B33"/>
                </a:solidFill>
                <a:latin typeface="Calibri"/>
              </a:rPr>
              <a:t>A, B, D y AD</a:t>
            </a:r>
            <a:r>
              <a:rPr sz="1400" b="0">
                <a:solidFill>
                  <a:srgbClr val="142B33"/>
                </a:solidFill>
                <a:latin typeface="Calibri"/>
              </a:rPr>
              <a:t>; D entra por </a:t>
            </a:r>
            <a:r>
              <a:rPr sz="1400" b="1">
                <a:solidFill>
                  <a:srgbClr val="142B33"/>
                </a:solidFill>
                <a:latin typeface="Calibri"/>
              </a:rPr>
              <a:t>jerarquía</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El diseño 2</a:t>
            </a:r>
            <a:r>
              <a:rPr sz="1000" b="0" baseline="30000">
                <a:solidFill>
                  <a:srgbClr val="5B6B73"/>
                </a:solidFill>
                <a:latin typeface="Calibri"/>
              </a:rPr>
              <a:t>k−p</a:t>
            </a:r>
            <a:r>
              <a:rPr sz="1000" b="0">
                <a:solidFill>
                  <a:srgbClr val="5B6B73"/>
                </a:solidFill>
                <a:latin typeface="Calibri"/>
              </a:rPr>
              <a:t> general</a:t>
            </a:r>
          </a:p>
        </p:txBody>
      </p:sp>
      <p:sp>
        <p:nvSpPr>
          <p:cNvPr id="8" name="TextBox 7"/>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87</a:t>
            </a:r>
          </a:p>
        </p:txBody>
      </p:sp>
      <p:sp>
        <p:nvSpPr>
          <p:cNvPr id="9" name="Rounded Rectangle 8"/>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7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4 · Paso 8: hipótesis, modelo y ANOVA con bloques</a:t>
            </a:r>
          </a:p>
        </p:txBody>
      </p:sp>
      <p:graphicFrame>
        <p:nvGraphicFramePr>
          <p:cNvPr id="3" name="Table 2"/>
          <p:cNvGraphicFramePr>
            <a:graphicFrameLocks noGrp="1"/>
          </p:cNvGraphicFramePr>
          <p:nvPr/>
        </p:nvGraphicFramePr>
        <p:xfrm>
          <a:off x="548640" y="1417320"/>
          <a:ext cx="5555123" cy="2686304"/>
        </p:xfrm>
        <a:graphic>
          <a:graphicData uri="http://schemas.openxmlformats.org/drawingml/2006/table">
            <a:tbl>
              <a:tblPr firstRow="0" bandRow="0">
                <a:tableStyleId>{5C22544A-7EE6-4342-B048-85BDC9FD1C3A}</a:tableStyleId>
              </a:tblPr>
              <a:tblGrid>
                <a:gridCol w="1040901"/>
                <a:gridCol w="931332"/>
                <a:gridCol w="558799"/>
                <a:gridCol w="931332"/>
                <a:gridCol w="821764"/>
                <a:gridCol w="1270995"/>
              </a:tblGrid>
              <a:tr h="335788">
                <a:tc>
                  <a:txBody>
                    <a:bodyPr/>
                    <a:lstStyle/>
                    <a:p>
                      <a:pPr algn="l"/>
                      <a:r>
                        <a:rPr sz="1400" b="1">
                          <a:solidFill>
                            <a:srgbClr val="FFFFFF"/>
                          </a:solidFill>
                          <a:latin typeface="Calibri"/>
                        </a:rPr>
                        <a:t>SV</a:t>
                      </a:r>
                    </a:p>
                  </a:txBody>
                  <a:tcPr marL="73152" marR="73152" marT="27432" marB="27432" anchor="ctr">
                    <a:solidFill>
                      <a:srgbClr val="0F4C5C"/>
                    </a:solidFill>
                  </a:tcPr>
                </a:tc>
                <a:tc>
                  <a:txBody>
                    <a:bodyPr/>
                    <a:lstStyle/>
                    <a:p>
                      <a:pPr algn="ctr"/>
                      <a:r>
                        <a:rPr sz="1400" b="1">
                          <a:solidFill>
                            <a:srgbClr val="FFFFFF"/>
                          </a:solidFill>
                          <a:latin typeface="Calibri"/>
                        </a:rPr>
                        <a:t>SS</a:t>
                      </a:r>
                    </a:p>
                  </a:txBody>
                  <a:tcPr marL="73152" marR="73152" marT="27432" marB="27432" anchor="ctr">
                    <a:solidFill>
                      <a:srgbClr val="0F4C5C"/>
                    </a:solidFill>
                  </a:tcPr>
                </a:tc>
                <a:tc>
                  <a:txBody>
                    <a:bodyPr/>
                    <a:lstStyle/>
                    <a:p>
                      <a:pPr algn="ctr"/>
                      <a:r>
                        <a:rPr sz="1400" b="1">
                          <a:solidFill>
                            <a:srgbClr val="FFFFFF"/>
                          </a:solidFill>
                          <a:latin typeface="Calibri"/>
                        </a:rPr>
                        <a:t>DF</a:t>
                      </a:r>
                    </a:p>
                  </a:txBody>
                  <a:tcPr marL="73152" marR="73152" marT="27432" marB="27432" anchor="ctr">
                    <a:solidFill>
                      <a:srgbClr val="0F4C5C"/>
                    </a:solidFill>
                  </a:tcPr>
                </a:tc>
                <a:tc>
                  <a:txBody>
                    <a:bodyPr/>
                    <a:lstStyle/>
                    <a:p>
                      <a:pPr algn="ctr"/>
                      <a:r>
                        <a:rPr sz="1400" b="1">
                          <a:solidFill>
                            <a:srgbClr val="FFFFFF"/>
                          </a:solidFill>
                          <a:latin typeface="Calibri"/>
                        </a:rPr>
                        <a:t>MS</a:t>
                      </a:r>
                    </a:p>
                  </a:txBody>
                  <a:tcPr marL="73152" marR="73152" marT="27432" marB="27432" anchor="ctr">
                    <a:solidFill>
                      <a:srgbClr val="0F4C5C"/>
                    </a:solidFill>
                  </a:tcPr>
                </a:tc>
                <a:tc>
                  <a:txBody>
                    <a:bodyPr/>
                    <a:lstStyle/>
                    <a:p>
                      <a:pPr algn="ctr"/>
                      <a:r>
                        <a:rPr sz="1400" b="1">
                          <a:solidFill>
                            <a:srgbClr val="FFFFFF"/>
                          </a:solidFill>
                          <a:latin typeface="Calibri"/>
                        </a:rPr>
                        <a:t>F</a:t>
                      </a:r>
                      <a:r>
                        <a:rPr sz="1400" b="1" baseline="-25000">
                          <a:solidFill>
                            <a:srgbClr val="FFFFFF"/>
                          </a:solidFill>
                          <a:latin typeface="Calibri"/>
                        </a:rPr>
                        <a:t>0</a:t>
                      </a:r>
                    </a:p>
                  </a:txBody>
                  <a:tcPr marL="73152" marR="73152" marT="27432" marB="27432" anchor="ctr">
                    <a:solidFill>
                      <a:srgbClr val="0F4C5C"/>
                    </a:solidFill>
                  </a:tcPr>
                </a:tc>
                <a:tc>
                  <a:txBody>
                    <a:bodyPr/>
                    <a:lstStyle/>
                    <a:p>
                      <a:pPr algn="ctr"/>
                      <a:r>
                        <a:rPr sz="1400" b="1">
                          <a:solidFill>
                            <a:srgbClr val="FFFFFF"/>
                          </a:solidFill>
                          <a:latin typeface="Calibri"/>
                        </a:rPr>
                        <a:t>P-Value</a:t>
                      </a:r>
                    </a:p>
                  </a:txBody>
                  <a:tcPr marL="73152" marR="73152" marT="27432" marB="27432" anchor="ctr">
                    <a:solidFill>
                      <a:srgbClr val="0F4C5C"/>
                    </a:solidFill>
                  </a:tcPr>
                </a:tc>
              </a:tr>
              <a:tr h="335788">
                <a:tc>
                  <a:txBody>
                    <a:bodyPr/>
                    <a:lstStyle/>
                    <a:p>
                      <a:pPr algn="l"/>
                      <a:r>
                        <a:rPr sz="1400" b="0">
                          <a:solidFill>
                            <a:srgbClr val="142B33"/>
                          </a:solidFill>
                          <a:latin typeface="Calibri"/>
                        </a:rPr>
                        <a:t>A</a:t>
                      </a:r>
                    </a:p>
                  </a:txBody>
                  <a:tcPr marL="73152" marR="73152" marT="27432" marB="27432" anchor="ctr">
                    <a:solidFill>
                      <a:srgbClr val="FFFFFF"/>
                    </a:solidFill>
                  </a:tcPr>
                </a:tc>
                <a:tc>
                  <a:txBody>
                    <a:bodyPr/>
                    <a:lstStyle/>
                    <a:p>
                      <a:pPr algn="ctr"/>
                      <a:r>
                        <a:rPr sz="1400" b="0">
                          <a:solidFill>
                            <a:srgbClr val="142B33"/>
                          </a:solidFill>
                          <a:latin typeface="Calibri"/>
                        </a:rPr>
                        <a:t>0.6740</a:t>
                      </a:r>
                    </a:p>
                  </a:txBody>
                  <a:tcPr marL="73152" marR="73152" marT="27432" marB="27432" anchor="ctr">
                    <a:solidFill>
                      <a:srgbClr val="FFFFFF"/>
                    </a:solidFill>
                  </a:tcPr>
                </a:tc>
                <a:tc>
                  <a:txBody>
                    <a:bodyPr/>
                    <a:lstStyle/>
                    <a:p>
                      <a:pPr algn="ctr"/>
                      <a:r>
                        <a:rPr sz="1400" b="0">
                          <a:solidFill>
                            <a:srgbClr val="142B33"/>
                          </a:solidFill>
                          <a:latin typeface="Calibri"/>
                        </a:rPr>
                        <a:t>1</a:t>
                      </a:r>
                    </a:p>
                  </a:txBody>
                  <a:tcPr marL="73152" marR="73152" marT="27432" marB="27432" anchor="ctr">
                    <a:solidFill>
                      <a:srgbClr val="FFFFFF"/>
                    </a:solidFill>
                  </a:tcPr>
                </a:tc>
                <a:tc>
                  <a:txBody>
                    <a:bodyPr/>
                    <a:lstStyle/>
                    <a:p>
                      <a:pPr algn="ctr"/>
                      <a:r>
                        <a:rPr sz="1400" b="0">
                          <a:solidFill>
                            <a:srgbClr val="142B33"/>
                          </a:solidFill>
                          <a:latin typeface="Calibri"/>
                        </a:rPr>
                        <a:t>0.6740</a:t>
                      </a:r>
                    </a:p>
                  </a:txBody>
                  <a:tcPr marL="73152" marR="73152" marT="27432" marB="27432" anchor="ctr">
                    <a:solidFill>
                      <a:srgbClr val="FFFFFF"/>
                    </a:solidFill>
                  </a:tcPr>
                </a:tc>
                <a:tc>
                  <a:txBody>
                    <a:bodyPr/>
                    <a:lstStyle/>
                    <a:p>
                      <a:pPr algn="ctr"/>
                      <a:r>
                        <a:rPr sz="1400" b="0">
                          <a:solidFill>
                            <a:srgbClr val="142B33"/>
                          </a:solidFill>
                          <a:latin typeface="Calibri"/>
                        </a:rPr>
                        <a:t>39.42</a:t>
                      </a:r>
                    </a:p>
                  </a:txBody>
                  <a:tcPr marL="73152" marR="73152" marT="27432" marB="27432" anchor="ctr">
                    <a:solidFill>
                      <a:srgbClr val="FFFFFF"/>
                    </a:solidFill>
                  </a:tcPr>
                </a:tc>
                <a:tc>
                  <a:txBody>
                    <a:bodyPr/>
                    <a:lstStyle/>
                    <a:p>
                      <a:pPr algn="ctr"/>
                      <a:r>
                        <a:rPr sz="1400" b="0">
                          <a:solidFill>
                            <a:srgbClr val="142B33"/>
                          </a:solidFill>
                          <a:latin typeface="Calibri"/>
                        </a:rPr>
                        <a:t>&lt;0.0001</a:t>
                      </a:r>
                    </a:p>
                  </a:txBody>
                  <a:tcPr marL="73152" marR="73152" marT="27432" marB="27432" anchor="ctr">
                    <a:solidFill>
                      <a:srgbClr val="FFFFFF"/>
                    </a:solidFill>
                  </a:tcPr>
                </a:tc>
              </a:tr>
              <a:tr h="335788">
                <a:tc>
                  <a:txBody>
                    <a:bodyPr/>
                    <a:lstStyle/>
                    <a:p>
                      <a:pPr algn="l"/>
                      <a:r>
                        <a:rPr sz="1400" b="0">
                          <a:solidFill>
                            <a:srgbClr val="142B33"/>
                          </a:solidFill>
                          <a:latin typeface="Calibri"/>
                        </a:rPr>
                        <a:t>B</a:t>
                      </a:r>
                    </a:p>
                  </a:txBody>
                  <a:tcPr marL="73152" marR="73152" marT="27432" marB="27432" anchor="ctr">
                    <a:solidFill>
                      <a:srgbClr val="F4F8F9"/>
                    </a:solidFill>
                  </a:tcPr>
                </a:tc>
                <a:tc>
                  <a:txBody>
                    <a:bodyPr/>
                    <a:lstStyle/>
                    <a:p>
                      <a:pPr algn="ctr"/>
                      <a:r>
                        <a:rPr sz="1400" b="0">
                          <a:solidFill>
                            <a:srgbClr val="142B33"/>
                          </a:solidFill>
                          <a:latin typeface="Calibri"/>
                        </a:rPr>
                        <a:t>0.3217</a:t>
                      </a:r>
                    </a:p>
                  </a:txBody>
                  <a:tcPr marL="73152" marR="73152" marT="27432" marB="27432" anchor="ctr">
                    <a:solidFill>
                      <a:srgbClr val="F4F8F9"/>
                    </a:solidFill>
                  </a:tcPr>
                </a:tc>
                <a:tc>
                  <a:txBody>
                    <a:bodyPr/>
                    <a:lstStyle/>
                    <a:p>
                      <a:pPr algn="ctr"/>
                      <a:r>
                        <a:rPr sz="1400" b="0">
                          <a:solidFill>
                            <a:srgbClr val="142B33"/>
                          </a:solidFill>
                          <a:latin typeface="Calibri"/>
                        </a:rPr>
                        <a:t>1</a:t>
                      </a:r>
                    </a:p>
                  </a:txBody>
                  <a:tcPr marL="73152" marR="73152" marT="27432" marB="27432" anchor="ctr">
                    <a:solidFill>
                      <a:srgbClr val="F4F8F9"/>
                    </a:solidFill>
                  </a:tcPr>
                </a:tc>
                <a:tc>
                  <a:txBody>
                    <a:bodyPr/>
                    <a:lstStyle/>
                    <a:p>
                      <a:pPr algn="ctr"/>
                      <a:r>
                        <a:rPr sz="1400" b="0">
                          <a:solidFill>
                            <a:srgbClr val="142B33"/>
                          </a:solidFill>
                          <a:latin typeface="Calibri"/>
                        </a:rPr>
                        <a:t>0.3217</a:t>
                      </a:r>
                    </a:p>
                  </a:txBody>
                  <a:tcPr marL="73152" marR="73152" marT="27432" marB="27432" anchor="ctr">
                    <a:solidFill>
                      <a:srgbClr val="F4F8F9"/>
                    </a:solidFill>
                  </a:tcPr>
                </a:tc>
                <a:tc>
                  <a:txBody>
                    <a:bodyPr/>
                    <a:lstStyle/>
                    <a:p>
                      <a:pPr algn="ctr"/>
                      <a:r>
                        <a:rPr sz="1400" b="0">
                          <a:solidFill>
                            <a:srgbClr val="142B33"/>
                          </a:solidFill>
                          <a:latin typeface="Calibri"/>
                        </a:rPr>
                        <a:t>18.81</a:t>
                      </a:r>
                    </a:p>
                  </a:txBody>
                  <a:tcPr marL="73152" marR="73152" marT="27432" marB="27432" anchor="ctr">
                    <a:solidFill>
                      <a:srgbClr val="F4F8F9"/>
                    </a:solidFill>
                  </a:tcPr>
                </a:tc>
                <a:tc>
                  <a:txBody>
                    <a:bodyPr/>
                    <a:lstStyle/>
                    <a:p>
                      <a:pPr algn="ctr"/>
                      <a:r>
                        <a:rPr sz="1400" b="0">
                          <a:solidFill>
                            <a:srgbClr val="142B33"/>
                          </a:solidFill>
                          <a:latin typeface="Calibri"/>
                        </a:rPr>
                        <a:t>0.0002</a:t>
                      </a:r>
                    </a:p>
                  </a:txBody>
                  <a:tcPr marL="73152" marR="73152" marT="27432" marB="27432" anchor="ctr">
                    <a:solidFill>
                      <a:srgbClr val="F4F8F9"/>
                    </a:solidFill>
                  </a:tcPr>
                </a:tc>
              </a:tr>
              <a:tr h="335788">
                <a:tc>
                  <a:txBody>
                    <a:bodyPr/>
                    <a:lstStyle/>
                    <a:p>
                      <a:pPr algn="l"/>
                      <a:r>
                        <a:rPr sz="1400" b="0">
                          <a:solidFill>
                            <a:srgbClr val="142B33"/>
                          </a:solidFill>
                          <a:latin typeface="Calibri"/>
                        </a:rPr>
                        <a:t>D</a:t>
                      </a:r>
                    </a:p>
                  </a:txBody>
                  <a:tcPr marL="73152" marR="73152" marT="27432" marB="27432" anchor="ctr">
                    <a:solidFill>
                      <a:srgbClr val="FFFFFF"/>
                    </a:solidFill>
                  </a:tcPr>
                </a:tc>
                <a:tc>
                  <a:txBody>
                    <a:bodyPr/>
                    <a:lstStyle/>
                    <a:p>
                      <a:pPr algn="ctr"/>
                      <a:r>
                        <a:rPr sz="1400" b="0">
                          <a:solidFill>
                            <a:srgbClr val="142B33"/>
                          </a:solidFill>
                          <a:latin typeface="Calibri"/>
                        </a:rPr>
                        <a:t>0.0935</a:t>
                      </a:r>
                    </a:p>
                  </a:txBody>
                  <a:tcPr marL="73152" marR="73152" marT="27432" marB="27432" anchor="ctr">
                    <a:solidFill>
                      <a:srgbClr val="FFFFFF"/>
                    </a:solidFill>
                  </a:tcPr>
                </a:tc>
                <a:tc>
                  <a:txBody>
                    <a:bodyPr/>
                    <a:lstStyle/>
                    <a:p>
                      <a:pPr algn="ctr"/>
                      <a:r>
                        <a:rPr sz="1400" b="0">
                          <a:solidFill>
                            <a:srgbClr val="142B33"/>
                          </a:solidFill>
                          <a:latin typeface="Calibri"/>
                        </a:rPr>
                        <a:t>1</a:t>
                      </a:r>
                    </a:p>
                  </a:txBody>
                  <a:tcPr marL="73152" marR="73152" marT="27432" marB="27432" anchor="ctr">
                    <a:solidFill>
                      <a:srgbClr val="FFFFFF"/>
                    </a:solidFill>
                  </a:tcPr>
                </a:tc>
                <a:tc>
                  <a:txBody>
                    <a:bodyPr/>
                    <a:lstStyle/>
                    <a:p>
                      <a:pPr algn="ctr"/>
                      <a:r>
                        <a:rPr sz="1400" b="0">
                          <a:solidFill>
                            <a:srgbClr val="142B33"/>
                          </a:solidFill>
                          <a:latin typeface="Calibri"/>
                        </a:rPr>
                        <a:t>0.0935</a:t>
                      </a:r>
                    </a:p>
                  </a:txBody>
                  <a:tcPr marL="73152" marR="73152" marT="27432" marB="27432" anchor="ctr">
                    <a:solidFill>
                      <a:srgbClr val="FFFFFF"/>
                    </a:solidFill>
                  </a:tcPr>
                </a:tc>
                <a:tc>
                  <a:txBody>
                    <a:bodyPr/>
                    <a:lstStyle/>
                    <a:p>
                      <a:pPr algn="ctr"/>
                      <a:r>
                        <a:rPr sz="1400" b="0">
                          <a:solidFill>
                            <a:srgbClr val="142B33"/>
                          </a:solidFill>
                          <a:latin typeface="Calibri"/>
                        </a:rPr>
                        <a:t>5.47</a:t>
                      </a:r>
                    </a:p>
                  </a:txBody>
                  <a:tcPr marL="73152" marR="73152" marT="27432" marB="27432" anchor="ctr">
                    <a:solidFill>
                      <a:srgbClr val="FFFFFF"/>
                    </a:solidFill>
                  </a:tcPr>
                </a:tc>
                <a:tc>
                  <a:txBody>
                    <a:bodyPr/>
                    <a:lstStyle/>
                    <a:p>
                      <a:pPr algn="ctr"/>
                      <a:r>
                        <a:rPr sz="1400" b="0">
                          <a:solidFill>
                            <a:srgbClr val="142B33"/>
                          </a:solidFill>
                          <a:latin typeface="Calibri"/>
                        </a:rPr>
                        <a:t>0.0280</a:t>
                      </a:r>
                    </a:p>
                  </a:txBody>
                  <a:tcPr marL="73152" marR="73152" marT="27432" marB="27432" anchor="ctr">
                    <a:solidFill>
                      <a:srgbClr val="FFFFFF"/>
                    </a:solidFill>
                  </a:tcPr>
                </a:tc>
              </a:tr>
              <a:tr h="335788">
                <a:tc>
                  <a:txBody>
                    <a:bodyPr/>
                    <a:lstStyle/>
                    <a:p>
                      <a:pPr algn="l"/>
                      <a:r>
                        <a:rPr sz="1400" b="0">
                          <a:solidFill>
                            <a:srgbClr val="142B33"/>
                          </a:solidFill>
                          <a:latin typeface="Calibri"/>
                        </a:rPr>
                        <a:t>AD</a:t>
                      </a:r>
                    </a:p>
                  </a:txBody>
                  <a:tcPr marL="73152" marR="73152" marT="27432" marB="27432" anchor="ctr">
                    <a:solidFill>
                      <a:srgbClr val="F4F8F9"/>
                    </a:solidFill>
                  </a:tcPr>
                </a:tc>
                <a:tc>
                  <a:txBody>
                    <a:bodyPr/>
                    <a:lstStyle/>
                    <a:p>
                      <a:pPr algn="ctr"/>
                      <a:r>
                        <a:rPr sz="1400" b="0">
                          <a:solidFill>
                            <a:srgbClr val="142B33"/>
                          </a:solidFill>
                          <a:latin typeface="Calibri"/>
                        </a:rPr>
                        <a:t>1.1197</a:t>
                      </a:r>
                    </a:p>
                  </a:txBody>
                  <a:tcPr marL="73152" marR="73152" marT="27432" marB="27432" anchor="ctr">
                    <a:solidFill>
                      <a:srgbClr val="F4F8F9"/>
                    </a:solidFill>
                  </a:tcPr>
                </a:tc>
                <a:tc>
                  <a:txBody>
                    <a:bodyPr/>
                    <a:lstStyle/>
                    <a:p>
                      <a:pPr algn="ctr"/>
                      <a:r>
                        <a:rPr sz="1400" b="0">
                          <a:solidFill>
                            <a:srgbClr val="142B33"/>
                          </a:solidFill>
                          <a:latin typeface="Calibri"/>
                        </a:rPr>
                        <a:t>1</a:t>
                      </a:r>
                    </a:p>
                  </a:txBody>
                  <a:tcPr marL="73152" marR="73152" marT="27432" marB="27432" anchor="ctr">
                    <a:solidFill>
                      <a:srgbClr val="F4F8F9"/>
                    </a:solidFill>
                  </a:tcPr>
                </a:tc>
                <a:tc>
                  <a:txBody>
                    <a:bodyPr/>
                    <a:lstStyle/>
                    <a:p>
                      <a:pPr algn="ctr"/>
                      <a:r>
                        <a:rPr sz="1400" b="0">
                          <a:solidFill>
                            <a:srgbClr val="142B33"/>
                          </a:solidFill>
                          <a:latin typeface="Calibri"/>
                        </a:rPr>
                        <a:t>1.1197</a:t>
                      </a:r>
                    </a:p>
                  </a:txBody>
                  <a:tcPr marL="73152" marR="73152" marT="27432" marB="27432" anchor="ctr">
                    <a:solidFill>
                      <a:srgbClr val="F4F8F9"/>
                    </a:solidFill>
                  </a:tcPr>
                </a:tc>
                <a:tc>
                  <a:txBody>
                    <a:bodyPr/>
                    <a:lstStyle/>
                    <a:p>
                      <a:pPr algn="ctr"/>
                      <a:r>
                        <a:rPr sz="1400" b="0">
                          <a:solidFill>
                            <a:srgbClr val="142B33"/>
                          </a:solidFill>
                          <a:latin typeface="Calibri"/>
                        </a:rPr>
                        <a:t>65.48</a:t>
                      </a:r>
                    </a:p>
                  </a:txBody>
                  <a:tcPr marL="73152" marR="73152" marT="27432" marB="27432" anchor="ctr">
                    <a:solidFill>
                      <a:srgbClr val="F4F8F9"/>
                    </a:solidFill>
                  </a:tcPr>
                </a:tc>
                <a:tc>
                  <a:txBody>
                    <a:bodyPr/>
                    <a:lstStyle/>
                    <a:p>
                      <a:pPr algn="ctr"/>
                      <a:r>
                        <a:rPr sz="1400" b="0">
                          <a:solidFill>
                            <a:srgbClr val="142B33"/>
                          </a:solidFill>
                          <a:latin typeface="Calibri"/>
                        </a:rPr>
                        <a:t>&lt;0.0001</a:t>
                      </a:r>
                    </a:p>
                  </a:txBody>
                  <a:tcPr marL="73152" marR="73152" marT="27432" marB="27432" anchor="ctr">
                    <a:solidFill>
                      <a:srgbClr val="F4F8F9"/>
                    </a:solidFill>
                  </a:tcPr>
                </a:tc>
              </a:tr>
              <a:tr h="335788">
                <a:tc>
                  <a:txBody>
                    <a:bodyPr/>
                    <a:lstStyle/>
                    <a:p>
                      <a:pPr algn="l"/>
                      <a:r>
                        <a:rPr sz="1400" b="1">
                          <a:solidFill>
                            <a:srgbClr val="142B33"/>
                          </a:solidFill>
                          <a:latin typeface="Calibri"/>
                        </a:rPr>
                        <a:t>Bloques</a:t>
                      </a:r>
                    </a:p>
                  </a:txBody>
                  <a:tcPr marL="73152" marR="73152" marT="27432" marB="27432" anchor="ctr">
                    <a:solidFill>
                      <a:srgbClr val="FDE8D7"/>
                    </a:solidFill>
                  </a:tcPr>
                </a:tc>
                <a:tc>
                  <a:txBody>
                    <a:bodyPr/>
                    <a:lstStyle/>
                    <a:p>
                      <a:pPr algn="ctr"/>
                      <a:r>
                        <a:rPr sz="1400" b="1">
                          <a:solidFill>
                            <a:srgbClr val="142B33"/>
                          </a:solidFill>
                          <a:latin typeface="Calibri"/>
                        </a:rPr>
                        <a:t>0.0201</a:t>
                      </a:r>
                    </a:p>
                  </a:txBody>
                  <a:tcPr marL="73152" marR="73152" marT="27432" marB="27432" anchor="ctr">
                    <a:solidFill>
                      <a:srgbClr val="FDE8D7"/>
                    </a:solidFill>
                  </a:tcPr>
                </a:tc>
                <a:tc>
                  <a:txBody>
                    <a:bodyPr/>
                    <a:lstStyle/>
                    <a:p>
                      <a:pPr algn="ctr"/>
                      <a:r>
                        <a:rPr sz="1400" b="1">
                          <a:solidFill>
                            <a:srgbClr val="142B33"/>
                          </a:solidFill>
                          <a:latin typeface="Calibri"/>
                        </a:rPr>
                        <a:t>3</a:t>
                      </a:r>
                    </a:p>
                  </a:txBody>
                  <a:tcPr marL="73152" marR="73152" marT="27432" marB="27432" anchor="ctr">
                    <a:solidFill>
                      <a:srgbClr val="FDE8D7"/>
                    </a:solidFill>
                  </a:tcPr>
                </a:tc>
                <a:tc>
                  <a:txBody>
                    <a:bodyPr/>
                    <a:lstStyle/>
                    <a:p>
                      <a:pPr algn="ctr"/>
                      <a:r>
                        <a:rPr sz="1400" b="1">
                          <a:solidFill>
                            <a:srgbClr val="142B33"/>
                          </a:solidFill>
                          <a:latin typeface="Calibri"/>
                        </a:rPr>
                        <a:t>0.0067</a:t>
                      </a:r>
                    </a:p>
                  </a:txBody>
                  <a:tcPr marL="73152" marR="73152" marT="27432" marB="27432" anchor="ctr">
                    <a:solidFill>
                      <a:srgbClr val="FDE8D7"/>
                    </a:solidFill>
                  </a:tcPr>
                </a:tc>
                <a:tc>
                  <a:txBody>
                    <a:bodyPr/>
                    <a:lstStyle/>
                    <a:p>
                      <a:pPr algn="ctr"/>
                    </a:p>
                  </a:txBody>
                  <a:tcPr marL="73152" marR="73152" marT="27432" marB="27432" anchor="ctr">
                    <a:solidFill>
                      <a:srgbClr val="FDE8D7"/>
                    </a:solidFill>
                  </a:tcPr>
                </a:tc>
                <a:tc>
                  <a:txBody>
                    <a:bodyPr/>
                    <a:lstStyle/>
                    <a:p>
                      <a:pPr algn="ctr"/>
                    </a:p>
                  </a:txBody>
                  <a:tcPr marL="73152" marR="73152" marT="27432" marB="27432" anchor="ctr">
                    <a:solidFill>
                      <a:srgbClr val="FDE8D7"/>
                    </a:solidFill>
                  </a:tcPr>
                </a:tc>
              </a:tr>
              <a:tr h="335788">
                <a:tc>
                  <a:txBody>
                    <a:bodyPr/>
                    <a:lstStyle/>
                    <a:p>
                      <a:pPr algn="l"/>
                      <a:r>
                        <a:rPr sz="1400" b="0">
                          <a:solidFill>
                            <a:srgbClr val="142B33"/>
                          </a:solidFill>
                          <a:latin typeface="Calibri"/>
                        </a:rPr>
                        <a:t>Error</a:t>
                      </a:r>
                    </a:p>
                  </a:txBody>
                  <a:tcPr marL="73152" marR="73152" marT="27432" marB="27432" anchor="ctr">
                    <a:solidFill>
                      <a:srgbClr val="F4F8F9"/>
                    </a:solidFill>
                  </a:tcPr>
                </a:tc>
                <a:tc>
                  <a:txBody>
                    <a:bodyPr/>
                    <a:lstStyle/>
                    <a:p>
                      <a:pPr algn="ctr"/>
                      <a:r>
                        <a:rPr sz="1400" b="0">
                          <a:solidFill>
                            <a:srgbClr val="142B33"/>
                          </a:solidFill>
                          <a:latin typeface="Calibri"/>
                        </a:rPr>
                        <a:t>0.4099</a:t>
                      </a:r>
                    </a:p>
                  </a:txBody>
                  <a:tcPr marL="73152" marR="73152" marT="27432" marB="27432" anchor="ctr">
                    <a:solidFill>
                      <a:srgbClr val="F4F8F9"/>
                    </a:solidFill>
                  </a:tcPr>
                </a:tc>
                <a:tc>
                  <a:txBody>
                    <a:bodyPr/>
                    <a:lstStyle/>
                    <a:p>
                      <a:pPr algn="ctr"/>
                      <a:r>
                        <a:rPr sz="1400" b="0">
                          <a:solidFill>
                            <a:srgbClr val="142B33"/>
                          </a:solidFill>
                          <a:latin typeface="Calibri"/>
                        </a:rPr>
                        <a:t>24</a:t>
                      </a:r>
                    </a:p>
                  </a:txBody>
                  <a:tcPr marL="73152" marR="73152" marT="27432" marB="27432" anchor="ctr">
                    <a:solidFill>
                      <a:srgbClr val="F4F8F9"/>
                    </a:solidFill>
                  </a:tcPr>
                </a:tc>
                <a:tc>
                  <a:txBody>
                    <a:bodyPr/>
                    <a:lstStyle/>
                    <a:p>
                      <a:pPr algn="ctr"/>
                      <a:r>
                        <a:rPr sz="1400" b="0">
                          <a:solidFill>
                            <a:srgbClr val="142B33"/>
                          </a:solidFill>
                          <a:latin typeface="Calibri"/>
                        </a:rPr>
                        <a:t>0.0171</a:t>
                      </a:r>
                    </a:p>
                  </a:txBody>
                  <a:tcPr marL="73152" marR="73152" marT="27432" marB="27432" anchor="ctr">
                    <a:solidFill>
                      <a:srgbClr val="F4F8F9"/>
                    </a:solidFill>
                  </a:tcPr>
                </a:tc>
                <a:tc>
                  <a:txBody>
                    <a:bodyPr/>
                    <a:lstStyle/>
                    <a:p>
                      <a:pPr algn="ctr"/>
                    </a:p>
                  </a:txBody>
                  <a:tcPr marL="73152" marR="73152" marT="27432" marB="27432" anchor="ctr">
                    <a:solidFill>
                      <a:srgbClr val="F4F8F9"/>
                    </a:solidFill>
                  </a:tcPr>
                </a:tc>
                <a:tc>
                  <a:txBody>
                    <a:bodyPr/>
                    <a:lstStyle/>
                    <a:p>
                      <a:pPr algn="ctr"/>
                    </a:p>
                  </a:txBody>
                  <a:tcPr marL="73152" marR="73152" marT="27432" marB="27432" anchor="ctr">
                    <a:solidFill>
                      <a:srgbClr val="F4F8F9"/>
                    </a:solidFill>
                  </a:tcPr>
                </a:tc>
              </a:tr>
              <a:tr h="335788">
                <a:tc>
                  <a:txBody>
                    <a:bodyPr/>
                    <a:lstStyle/>
                    <a:p>
                      <a:pPr algn="l"/>
                      <a:r>
                        <a:rPr sz="1400" b="0">
                          <a:solidFill>
                            <a:srgbClr val="142B33"/>
                          </a:solidFill>
                          <a:latin typeface="Calibri"/>
                        </a:rPr>
                        <a:t>Total</a:t>
                      </a:r>
                    </a:p>
                  </a:txBody>
                  <a:tcPr marL="73152" marR="73152" marT="27432" marB="27432" anchor="ctr">
                    <a:solidFill>
                      <a:srgbClr val="FFFFFF"/>
                    </a:solidFill>
                  </a:tcPr>
                </a:tc>
                <a:tc>
                  <a:txBody>
                    <a:bodyPr/>
                    <a:lstStyle/>
                    <a:p>
                      <a:pPr algn="ctr"/>
                      <a:r>
                        <a:rPr sz="1400" b="0">
                          <a:solidFill>
                            <a:srgbClr val="142B33"/>
                          </a:solidFill>
                          <a:latin typeface="Calibri"/>
                        </a:rPr>
                        <a:t>2.6389</a:t>
                      </a:r>
                    </a:p>
                  </a:txBody>
                  <a:tcPr marL="73152" marR="73152" marT="27432" marB="27432" anchor="ctr">
                    <a:solidFill>
                      <a:srgbClr val="FFFFFF"/>
                    </a:solidFill>
                  </a:tcPr>
                </a:tc>
                <a:tc>
                  <a:txBody>
                    <a:bodyPr/>
                    <a:lstStyle/>
                    <a:p>
                      <a:pPr algn="ctr"/>
                      <a:r>
                        <a:rPr sz="1400" b="0">
                          <a:solidFill>
                            <a:srgbClr val="142B33"/>
                          </a:solidFill>
                          <a:latin typeface="Calibri"/>
                        </a:rPr>
                        <a:t>31</a:t>
                      </a:r>
                    </a:p>
                  </a:txBody>
                  <a:tcPr marL="73152" marR="73152" marT="27432" marB="27432" anchor="ctr">
                    <a:solidFill>
                      <a:srgbClr val="FFFFFF"/>
                    </a:solidFill>
                  </a:tcPr>
                </a:tc>
                <a:tc>
                  <a:txBody>
                    <a:bodyPr/>
                    <a:lstStyle/>
                    <a:p>
                      <a:pPr algn="ctr"/>
                    </a:p>
                  </a:txBody>
                  <a:tcPr marL="73152" marR="73152" marT="27432" marB="27432" anchor="ctr">
                    <a:solidFill>
                      <a:srgbClr val="FFFFFF"/>
                    </a:solidFill>
                  </a:tcPr>
                </a:tc>
                <a:tc>
                  <a:txBody>
                    <a:bodyPr/>
                    <a:lstStyle/>
                    <a:p>
                      <a:pPr algn="ctr"/>
                    </a:p>
                  </a:txBody>
                  <a:tcPr marL="73152" marR="73152" marT="27432" marB="27432" anchor="ctr">
                    <a:solidFill>
                      <a:srgbClr val="FFFFFF"/>
                    </a:solidFill>
                  </a:tcPr>
                </a:tc>
                <a:tc>
                  <a:txBody>
                    <a:bodyPr/>
                    <a:lstStyle/>
                    <a:p>
                      <a:pPr algn="ctr"/>
                    </a:p>
                  </a:txBody>
                  <a:tcPr marL="73152" marR="73152" marT="27432" marB="27432" anchor="ctr">
                    <a:solidFill>
                      <a:srgbClr val="FFFFFF"/>
                    </a:solidFill>
                  </a:tcPr>
                </a:tc>
              </a:tr>
            </a:tbl>
          </a:graphicData>
        </a:graphic>
      </p:graphicFrame>
      <p:sp>
        <p:nvSpPr>
          <p:cNvPr id="4" name="Rounded Rectangle 3"/>
          <p:cNvSpPr/>
          <p:nvPr/>
        </p:nvSpPr>
        <p:spPr>
          <a:xfrm>
            <a:off x="548640" y="4304792"/>
            <a:ext cx="5555126" cy="534619"/>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500" b="0">
                <a:solidFill>
                  <a:srgbClr val="0F4C5C"/>
                </a:solidFill>
                <a:latin typeface="Cambria Math"/>
              </a:rPr>
              <a:t>H</a:t>
            </a:r>
            <a:r>
              <a:rPr sz="1500" b="0" baseline="-25000">
                <a:solidFill>
                  <a:srgbClr val="0F4C5C"/>
                </a:solidFill>
                <a:latin typeface="Cambria Math"/>
              </a:rPr>
              <a:t>0</a:t>
            </a:r>
            <a:r>
              <a:rPr sz="1500" b="0">
                <a:solidFill>
                  <a:srgbClr val="0F4C5C"/>
                </a:solidFill>
                <a:latin typeface="Cambria Math"/>
              </a:rPr>
              <a:t>: β</a:t>
            </a:r>
            <a:r>
              <a:rPr sz="1500" b="0" baseline="-25000">
                <a:solidFill>
                  <a:srgbClr val="0F4C5C"/>
                </a:solidFill>
                <a:latin typeface="Cambria Math"/>
              </a:rPr>
              <a:t>AD</a:t>
            </a:r>
            <a:r>
              <a:rPr sz="1500" b="0">
                <a:solidFill>
                  <a:srgbClr val="0F4C5C"/>
                </a:solidFill>
                <a:latin typeface="Cambria Math"/>
              </a:rPr>
              <a:t> + β</a:t>
            </a:r>
            <a:r>
              <a:rPr sz="1500" b="0" baseline="-25000">
                <a:solidFill>
                  <a:srgbClr val="0F4C5C"/>
                </a:solidFill>
                <a:latin typeface="Cambria Math"/>
              </a:rPr>
              <a:t>BG</a:t>
            </a:r>
            <a:r>
              <a:rPr sz="1500" b="0">
                <a:solidFill>
                  <a:srgbClr val="0F4C5C"/>
                </a:solidFill>
                <a:latin typeface="Cambria Math"/>
              </a:rPr>
              <a:t> = 0,   F</a:t>
            </a:r>
            <a:r>
              <a:rPr sz="1500" b="0" baseline="-25000">
                <a:solidFill>
                  <a:srgbClr val="0F4C5C"/>
                </a:solidFill>
                <a:latin typeface="Cambria Math"/>
              </a:rPr>
              <a:t>0.05, 1, 24</a:t>
            </a:r>
            <a:r>
              <a:rPr sz="1500" b="0">
                <a:solidFill>
                  <a:srgbClr val="0F4C5C"/>
                </a:solidFill>
                <a:latin typeface="Cambria Math"/>
              </a:rPr>
              <a:t> = 4.26</a:t>
            </a:r>
          </a:p>
        </p:txBody>
      </p:sp>
      <p:sp>
        <p:nvSpPr>
          <p:cNvPr id="5" name="Rounded Rectangle 4"/>
          <p:cNvSpPr/>
          <p:nvPr/>
        </p:nvSpPr>
        <p:spPr>
          <a:xfrm>
            <a:off x="6515246" y="1417320"/>
            <a:ext cx="5127808" cy="1156461"/>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500" b="1">
                <a:solidFill>
                  <a:srgbClr val="0F4C5C"/>
                </a:solidFill>
                <a:latin typeface="Cambria"/>
              </a:rPr>
              <a:t>Bloques = las 3 columnas de los husillos</a:t>
            </a:r>
          </a:p>
          <a:p>
            <a:pPr algn="l"/>
            <a:r>
              <a:rPr sz="1300" b="0">
                <a:solidFill>
                  <a:srgbClr val="142B33"/>
                </a:solidFill>
                <a:latin typeface="Calibri"/>
              </a:rPr>
              <a:t>SS(ABE) + SS(ABH) + SS(EH) = </a:t>
            </a:r>
            <a:r>
              <a:rPr sz="1300" b="1">
                <a:solidFill>
                  <a:srgbClr val="142B33"/>
                </a:solidFill>
                <a:latin typeface="Calibri"/>
              </a:rPr>
              <a:t>0.0201</a:t>
            </a:r>
            <a:r>
              <a:rPr sz="1300" b="0">
                <a:solidFill>
                  <a:srgbClr val="142B33"/>
                </a:solidFill>
                <a:latin typeface="Calibri"/>
              </a:rPr>
              <a:t> con </a:t>
            </a:r>
            <a:r>
              <a:rPr sz="1300" b="1">
                <a:solidFill>
                  <a:srgbClr val="142B33"/>
                </a:solidFill>
                <a:latin typeface="Calibri"/>
              </a:rPr>
              <a:t>3 g.l.</a:t>
            </a:r>
          </a:p>
        </p:txBody>
      </p:sp>
      <p:sp>
        <p:nvSpPr>
          <p:cNvPr id="6" name="Rounded Rectangle 5"/>
          <p:cNvSpPr/>
          <p:nvPr/>
        </p:nvSpPr>
        <p:spPr>
          <a:xfrm>
            <a:off x="6515246" y="2802382"/>
            <a:ext cx="5127808" cy="1156461"/>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500" b="1">
                <a:solidFill>
                  <a:srgbClr val="0F4C5C"/>
                </a:solidFill>
                <a:latin typeface="Cambria"/>
              </a:rPr>
              <a:t>¿Por qué separarlos?</a:t>
            </a:r>
          </a:p>
          <a:p>
            <a:pPr algn="l"/>
            <a:r>
              <a:rPr sz="1300" b="0">
                <a:solidFill>
                  <a:srgbClr val="142B33"/>
                </a:solidFill>
                <a:latin typeface="Calibri"/>
              </a:rPr>
              <a:t>Para que la diferencia entre husillos </a:t>
            </a:r>
            <a:r>
              <a:rPr sz="1300" b="1">
                <a:solidFill>
                  <a:srgbClr val="142B33"/>
                </a:solidFill>
                <a:latin typeface="Calibri"/>
              </a:rPr>
              <a:t>no infle el error</a:t>
            </a:r>
          </a:p>
        </p:txBody>
      </p:sp>
      <p:sp>
        <p:nvSpPr>
          <p:cNvPr id="7" name="Rounded Rectangle 6"/>
          <p:cNvSpPr/>
          <p:nvPr/>
        </p:nvSpPr>
        <p:spPr>
          <a:xfrm>
            <a:off x="6515246" y="4187444"/>
            <a:ext cx="5127808" cy="1156461"/>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500" b="1">
                <a:solidFill>
                  <a:srgbClr val="0F4C5C"/>
                </a:solidFill>
                <a:latin typeface="Cambria"/>
              </a:rPr>
              <a:t>¿Por qué sin F</a:t>
            </a:r>
            <a:r>
              <a:rPr sz="1500" b="1" baseline="-25000">
                <a:solidFill>
                  <a:srgbClr val="0F4C5C"/>
                </a:solidFill>
                <a:latin typeface="Cambria"/>
              </a:rPr>
              <a:t>0</a:t>
            </a:r>
            <a:r>
              <a:rPr sz="1500" b="1">
                <a:solidFill>
                  <a:srgbClr val="0F4C5C"/>
                </a:solidFill>
                <a:latin typeface="Cambria"/>
              </a:rPr>
              <a:t>?</a:t>
            </a:r>
          </a:p>
          <a:p>
            <a:pPr algn="l"/>
            <a:r>
              <a:rPr sz="1300" b="0">
                <a:solidFill>
                  <a:srgbClr val="142B33"/>
                </a:solidFill>
                <a:latin typeface="Calibri"/>
              </a:rPr>
              <a:t>Los husillos no se asignaron al azar; MS = 0.0067 &lt; 0.0171: </a:t>
            </a:r>
            <a:r>
              <a:rPr sz="1300" b="1">
                <a:solidFill>
                  <a:srgbClr val="142B33"/>
                </a:solidFill>
                <a:latin typeface="Calibri"/>
              </a:rPr>
              <a:t>casi no difieren</a:t>
            </a:r>
          </a:p>
        </p:txBody>
      </p:sp>
      <p:sp>
        <p:nvSpPr>
          <p:cNvPr id="8" name="Rounded Rectangle 7"/>
          <p:cNvSpPr/>
          <p:nvPr/>
        </p:nvSpPr>
        <p:spPr>
          <a:xfrm>
            <a:off x="6515246" y="5545073"/>
            <a:ext cx="5127808" cy="491235"/>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400" b="0">
                <a:solidFill>
                  <a:srgbClr val="142B33"/>
                </a:solidFill>
                <a:latin typeface="Calibri"/>
              </a:rPr>
              <a:t>Error: 31 − 4 (modelo) − 3 (bloques) = </a:t>
            </a:r>
            <a:r>
              <a:rPr sz="1400" b="1">
                <a:solidFill>
                  <a:srgbClr val="142B33"/>
                </a:solidFill>
                <a:latin typeface="Calibri"/>
              </a:rPr>
              <a:t>24 g.l.</a:t>
            </a:r>
          </a:p>
        </p:txBody>
      </p:sp>
      <p:sp>
        <p:nvSpPr>
          <p:cNvPr id="9" name="TextBox 8"/>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El diseño 2</a:t>
            </a:r>
            <a:r>
              <a:rPr sz="1000" b="0" baseline="30000">
                <a:solidFill>
                  <a:srgbClr val="5B6B73"/>
                </a:solidFill>
                <a:latin typeface="Calibri"/>
              </a:rPr>
              <a:t>k−p</a:t>
            </a:r>
            <a:r>
              <a:rPr sz="1000" b="0">
                <a:solidFill>
                  <a:srgbClr val="5B6B73"/>
                </a:solidFill>
                <a:latin typeface="Calibri"/>
              </a:rPr>
              <a:t> general</a:t>
            </a:r>
          </a:p>
        </p:txBody>
      </p:sp>
      <p:sp>
        <p:nvSpPr>
          <p:cNvPr id="10" name="TextBox 9"/>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88</a:t>
            </a:r>
          </a:p>
        </p:txBody>
      </p:sp>
      <p:sp>
        <p:nvSpPr>
          <p:cNvPr id="11" name="Rounded Rectangle 10"/>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7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4 · Pasos 9 y 10: supuestos e interpretación</a:t>
            </a:r>
          </a:p>
        </p:txBody>
      </p:sp>
      <p:graphicFrame>
        <p:nvGraphicFramePr>
          <p:cNvPr id="3" name="Chart 2"/>
          <p:cNvGraphicFramePr>
            <a:graphicFrameLocks noGrp="1"/>
          </p:cNvGraphicFramePr>
          <p:nvPr/>
        </p:nvGraphicFramePr>
        <p:xfrm>
          <a:off x="548640" y="1417320"/>
          <a:ext cx="5341467" cy="3291840"/>
        </p:xfrm>
        <a:graphic>
          <a:graphicData uri="http://schemas.openxmlformats.org/drawingml/2006/chart">
            <c:chart xmlns:c="http://schemas.openxmlformats.org/drawingml/2006/chart" r:id="rId2"/>
          </a:graphicData>
        </a:graphic>
      </p:graphicFrame>
      <p:sp>
        <p:nvSpPr>
          <p:cNvPr id="4" name="TextBox 3"/>
          <p:cNvSpPr txBox="1"/>
          <p:nvPr/>
        </p:nvSpPr>
        <p:spPr>
          <a:xfrm>
            <a:off x="548640" y="4910328"/>
            <a:ext cx="5341467" cy="222504"/>
          </a:xfrm>
          <a:prstGeom prst="rect">
            <a:avLst/>
          </a:prstGeom>
          <a:noFill/>
        </p:spPr>
        <p:txBody>
          <a:bodyPr wrap="square" anchor="t" lIns="0" rIns="0" tIns="0" bIns="0">
            <a:spAutoFit/>
          </a:bodyPr>
          <a:lstStyle/>
          <a:p>
            <a:r>
              <a:rPr sz="1200" b="0">
                <a:solidFill>
                  <a:srgbClr val="5B6B73"/>
                </a:solidFill>
                <a:latin typeface="Calibri"/>
              </a:rPr>
              <a:t>Promedios del cubo A, B, D de la fig. 8-22</a:t>
            </a:r>
          </a:p>
        </p:txBody>
      </p:sp>
      <p:sp>
        <p:nvSpPr>
          <p:cNvPr id="5" name="TextBox 4"/>
          <p:cNvSpPr txBox="1"/>
          <p:nvPr/>
        </p:nvSpPr>
        <p:spPr>
          <a:xfrm>
            <a:off x="6301587" y="1417320"/>
            <a:ext cx="5341467" cy="1723643"/>
          </a:xfrm>
          <a:prstGeom prst="rect">
            <a:avLst/>
          </a:prstGeom>
          <a:noFill/>
        </p:spPr>
        <p:txBody>
          <a:bodyPr wrap="square" anchor="t" lIns="0" rIns="0" tIns="0" bIns="0">
            <a:spAutoFit/>
          </a:bodyPr>
          <a:lstStyle/>
          <a:p>
            <a:pPr marL="320040" indent="-320040">
              <a:spcAft>
                <a:spcPts val="600"/>
              </a:spcAft>
              <a:buClr>
                <a:srgbClr val="E36414"/>
              </a:buClr>
              <a:buFont typeface="Arial"/>
              <a:buChar char="•"/>
            </a:pPr>
            <a:r>
              <a:rPr sz="1500" b="1">
                <a:solidFill>
                  <a:srgbClr val="142B33"/>
                </a:solidFill>
                <a:latin typeface="Calibri"/>
              </a:rPr>
              <a:t>Residuales</a:t>
            </a:r>
            <a:r>
              <a:rPr sz="1500" b="0">
                <a:solidFill>
                  <a:srgbClr val="142B33"/>
                </a:solidFill>
                <a:latin typeface="Calibri"/>
              </a:rPr>
              <a:t> (fig. 8-20): colas algo gruesas; se podría probar otra transformación</a:t>
            </a:r>
          </a:p>
          <a:p>
            <a:pPr marL="320040" indent="-320040">
              <a:spcAft>
                <a:spcPts val="600"/>
              </a:spcAft>
              <a:buClr>
                <a:srgbClr val="E36414"/>
              </a:buClr>
              <a:buFont typeface="Arial"/>
              <a:buChar char="•"/>
            </a:pPr>
            <a:r>
              <a:rPr sz="1500" b="0">
                <a:solidFill>
                  <a:srgbClr val="142B33"/>
                </a:solidFill>
                <a:latin typeface="Calibri"/>
              </a:rPr>
              <a:t>Proyección: </a:t>
            </a:r>
            <a:r>
              <a:rPr sz="1500" b="1">
                <a:solidFill>
                  <a:srgbClr val="142B33"/>
                </a:solidFill>
                <a:latin typeface="Calibri"/>
              </a:rPr>
              <a:t>4 réplicas de un 2</a:t>
            </a:r>
            <a:r>
              <a:rPr sz="1500" b="1" baseline="30000">
                <a:solidFill>
                  <a:srgbClr val="142B33"/>
                </a:solidFill>
                <a:latin typeface="Calibri"/>
              </a:rPr>
              <a:t>3</a:t>
            </a:r>
            <a:r>
              <a:rPr sz="1500" b="0">
                <a:solidFill>
                  <a:srgbClr val="142B33"/>
                </a:solidFill>
                <a:latin typeface="Calibri"/>
              </a:rPr>
              <a:t> en A, B, D</a:t>
            </a:r>
          </a:p>
          <a:p>
            <a:pPr marL="320040" indent="-320040">
              <a:spcAft>
                <a:spcPts val="600"/>
              </a:spcAft>
              <a:buClr>
                <a:srgbClr val="E36414"/>
              </a:buClr>
              <a:buFont typeface="Arial"/>
              <a:buChar char="•"/>
            </a:pPr>
            <a:r>
              <a:rPr sz="1500" b="0">
                <a:solidFill>
                  <a:srgbClr val="142B33"/>
                </a:solidFill>
                <a:latin typeface="Calibri"/>
              </a:rPr>
              <a:t>Con el </a:t>
            </a:r>
            <a:r>
              <a:rPr sz="1500" b="1">
                <a:solidFill>
                  <a:srgbClr val="142B33"/>
                </a:solidFill>
                <a:latin typeface="Calibri"/>
              </a:rPr>
              <a:t>fabricante 1</a:t>
            </a:r>
            <a:r>
              <a:rPr sz="1500" b="0">
                <a:solidFill>
                  <a:srgbClr val="142B33"/>
                </a:solidFill>
                <a:latin typeface="Calibri"/>
              </a:rPr>
              <a:t>, A sube mucho la desviación; con el </a:t>
            </a:r>
            <a:r>
              <a:rPr sz="1500" b="1">
                <a:solidFill>
                  <a:srgbClr val="142B33"/>
                </a:solidFill>
                <a:latin typeface="Calibri"/>
              </a:rPr>
              <a:t>2</a:t>
            </a:r>
            <a:r>
              <a:rPr sz="1500" b="0">
                <a:solidFill>
                  <a:srgbClr val="142B33"/>
                </a:solidFill>
                <a:latin typeface="Calibri"/>
              </a:rPr>
              <a:t>, casi nada</a:t>
            </a:r>
          </a:p>
          <a:p>
            <a:pPr marL="320040" indent="-320040">
              <a:spcAft>
                <a:spcPts val="600"/>
              </a:spcAft>
              <a:buClr>
                <a:srgbClr val="E36414"/>
              </a:buClr>
              <a:buFont typeface="Arial"/>
              <a:buChar char="•"/>
            </a:pPr>
            <a:r>
              <a:rPr sz="1500" b="0">
                <a:solidFill>
                  <a:srgbClr val="142B33"/>
                </a:solidFill>
                <a:latin typeface="Calibri"/>
              </a:rPr>
              <a:t>B </a:t>
            </a:r>
            <a:r>
              <a:rPr sz="1500" b="1">
                <a:solidFill>
                  <a:srgbClr val="142B33"/>
                </a:solidFill>
                <a:latin typeface="Calibri"/>
              </a:rPr>
              <a:t>alto</a:t>
            </a:r>
            <a:r>
              <a:rPr sz="1500" b="0">
                <a:solidFill>
                  <a:srgbClr val="142B33"/>
                </a:solidFill>
                <a:latin typeface="Calibri"/>
              </a:rPr>
              <a:t> baja la desviación</a:t>
            </a:r>
          </a:p>
        </p:txBody>
      </p:sp>
      <p:sp>
        <p:nvSpPr>
          <p:cNvPr id="6" name="Rounded Rectangle 5"/>
          <p:cNvSpPr/>
          <p:nvPr/>
        </p:nvSpPr>
        <p:spPr>
          <a:xfrm>
            <a:off x="6301587" y="3342132"/>
            <a:ext cx="5341467" cy="708151"/>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400" b="0">
                <a:solidFill>
                  <a:srgbClr val="142B33"/>
                </a:solidFill>
                <a:latin typeface="Calibri"/>
              </a:rPr>
              <a:t>Mejor condición: </a:t>
            </a:r>
            <a:r>
              <a:rPr sz="1400" b="1">
                <a:solidFill>
                  <a:srgbClr val="142B33"/>
                </a:solidFill>
                <a:latin typeface="Calibri"/>
              </a:rPr>
              <a:t>A bajo, B alto, fabricante 1</a:t>
            </a:r>
            <a:r>
              <a:rPr sz="1400" b="0">
                <a:solidFill>
                  <a:srgbClr val="142B33"/>
                </a:solidFill>
                <a:latin typeface="Calibri"/>
              </a:rPr>
              <a:t> (promedio 0.828). Husillos casi iguales. Confirmar AD</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El diseño 2</a:t>
            </a:r>
            <a:r>
              <a:rPr sz="1000" b="0" baseline="30000">
                <a:solidFill>
                  <a:srgbClr val="5B6B73"/>
                </a:solidFill>
                <a:latin typeface="Calibri"/>
              </a:rPr>
              <a:t>k−p</a:t>
            </a:r>
            <a:r>
              <a:rPr sz="1000" b="0">
                <a:solidFill>
                  <a:srgbClr val="5B6B73"/>
                </a:solidFill>
                <a:latin typeface="Calibri"/>
              </a:rPr>
              <a:t> general</a:t>
            </a:r>
          </a:p>
        </p:txBody>
      </p:sp>
      <p:sp>
        <p:nvSpPr>
          <p:cNvPr id="8" name="TextBox 7"/>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89</a:t>
            </a:r>
          </a:p>
        </p:txBody>
      </p:sp>
      <p:sp>
        <p:nvSpPr>
          <p:cNvPr id="9" name="Rounded Rectangle 8"/>
          <p:cNvSpPr/>
          <p:nvPr/>
        </p:nvSpPr>
        <p:spPr>
          <a:xfrm>
            <a:off x="548640" y="91440"/>
            <a:ext cx="282092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7 · El diseño 2</a:t>
            </a:r>
            <a:r>
              <a:rPr sz="1100" b="1" baseline="30000">
                <a:solidFill>
                  <a:srgbClr val="FFFFFF"/>
                </a:solidFill>
                <a:latin typeface="Calibri"/>
              </a:rPr>
              <a:t>k−p</a:t>
            </a:r>
            <a:r>
              <a:rPr sz="1100" b="1">
                <a:solidFill>
                  <a:srgbClr val="FFFFFF"/>
                </a:solidFill>
                <a:latin typeface="Calibri"/>
              </a:rPr>
              <a:t> general</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0F4C5C"/>
        </a:solidFill>
        <a:effectLst/>
      </p:bgPr>
    </p:bg>
    <p:spTree>
      <p:nvGrpSpPr>
        <p:cNvPr id="1" name=""/>
        <p:cNvGrpSpPr/>
        <p:nvPr/>
      </p:nvGrpSpPr>
      <p:grpSpPr/>
      <p:sp>
        <p:nvSpPr>
          <p:cNvPr id="2" name="Title 1"/>
          <p:cNvSpPr>
            <a:spLocks noGrp="1"/>
          </p:cNvSpPr>
          <p:nvPr>
            <p:ph type="title"/>
          </p:nvPr>
        </p:nvSpPr>
        <p:spPr>
          <a:xfrm>
            <a:off x="548640" y="3383280"/>
            <a:ext cx="11094415" cy="914400"/>
          </a:xfrm>
        </p:spPr>
        <p:txBody>
          <a:bodyPr wrap="square" anchor="t" lIns="0" rIns="0" tIns="0" bIns="0"/>
          <a:lstStyle/>
          <a:p>
            <a:pPr algn="l"/>
            <a:r>
              <a:rPr sz="4400" b="1">
                <a:solidFill>
                  <a:srgbClr val="FFFFFF"/>
                </a:solidFill>
                <a:latin typeface="Cambria"/>
              </a:rPr>
              <a:t>Diseños de resolución III</a:t>
            </a:r>
          </a:p>
        </p:txBody>
      </p:sp>
      <p:sp>
        <p:nvSpPr>
          <p:cNvPr id="3" name="Oval 2"/>
          <p:cNvSpPr/>
          <p:nvPr/>
        </p:nvSpPr>
        <p:spPr>
          <a:xfrm>
            <a:off x="548640" y="2011680"/>
            <a:ext cx="1188720" cy="1188720"/>
          </a:xfrm>
          <a:prstGeom prst="ellipse">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FFFFFF"/>
                </a:solidFill>
                <a:latin typeface="Cambria"/>
              </a:rPr>
              <a:t>8</a:t>
            </a:r>
          </a:p>
        </p:txBody>
      </p:sp>
      <p:sp>
        <p:nvSpPr>
          <p:cNvPr id="4" name="TextBox 3"/>
          <p:cNvSpPr txBox="1"/>
          <p:nvPr/>
        </p:nvSpPr>
        <p:spPr>
          <a:xfrm>
            <a:off x="548640" y="4343400"/>
            <a:ext cx="11094415" cy="548640"/>
          </a:xfrm>
          <a:prstGeom prst="rect">
            <a:avLst/>
          </a:prstGeom>
          <a:noFill/>
        </p:spPr>
        <p:txBody>
          <a:bodyPr wrap="square" anchor="t" lIns="0" rIns="0" tIns="0" bIns="0">
            <a:spAutoFit/>
          </a:bodyPr>
          <a:lstStyle/>
          <a:p>
            <a:r>
              <a:rPr sz="2000" b="0">
                <a:solidFill>
                  <a:srgbClr val="CFE3E8"/>
                </a:solidFill>
                <a:latin typeface="Calibri"/>
              </a:rPr>
              <a:t>La vibración de una afiladora, el doblez y los diseños de Plackett-Burman</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¿Qué es un diseño de resolución III? El 2</a:t>
            </a:r>
            <a:r>
              <a:rPr sz="3000" b="1" baseline="30000">
                <a:solidFill>
                  <a:srgbClr val="0F4C5C"/>
                </a:solidFill>
                <a:latin typeface="Cambria"/>
              </a:rPr>
              <a:t>7−4</a:t>
            </a:r>
            <a:r>
              <a:rPr sz="3000" b="1" baseline="-25000">
                <a:solidFill>
                  <a:srgbClr val="0F4C5C"/>
                </a:solidFill>
                <a:latin typeface="Cambria"/>
              </a:rPr>
              <a:t>III</a:t>
            </a:r>
          </a:p>
        </p:txBody>
      </p:sp>
      <p:graphicFrame>
        <p:nvGraphicFramePr>
          <p:cNvPr id="3" name="Table 2"/>
          <p:cNvGraphicFramePr>
            <a:graphicFrameLocks noGrp="1"/>
          </p:cNvGraphicFramePr>
          <p:nvPr/>
        </p:nvGraphicFramePr>
        <p:xfrm>
          <a:off x="548640" y="1417320"/>
          <a:ext cx="5982441" cy="3022092"/>
        </p:xfrm>
        <a:graphic>
          <a:graphicData uri="http://schemas.openxmlformats.org/drawingml/2006/table">
            <a:tbl>
              <a:tblPr firstRow="0" bandRow="0">
                <a:tableStyleId>{5C22544A-7EE6-4342-B048-85BDC9FD1C3A}</a:tableStyleId>
              </a:tblPr>
              <a:tblGrid>
                <a:gridCol w="1059486"/>
                <a:gridCol w="347073"/>
                <a:gridCol w="347073"/>
                <a:gridCol w="347073"/>
                <a:gridCol w="940750"/>
                <a:gridCol w="940750"/>
                <a:gridCol w="940750"/>
                <a:gridCol w="1059486"/>
              </a:tblGrid>
              <a:tr h="335788">
                <a:tc>
                  <a:txBody>
                    <a:bodyPr/>
                    <a:lstStyle/>
                    <a:p>
                      <a:pPr algn="ctr"/>
                      <a:r>
                        <a:rPr sz="1400" b="1">
                          <a:solidFill>
                            <a:srgbClr val="FFFFFF"/>
                          </a:solidFill>
                          <a:latin typeface="Calibri"/>
                        </a:rPr>
                        <a:t>Corrida</a:t>
                      </a:r>
                    </a:p>
                  </a:txBody>
                  <a:tcPr marL="73152" marR="73152" marT="27432" marB="27432" anchor="ctr">
                    <a:solidFill>
                      <a:srgbClr val="0F4C5C"/>
                    </a:solidFill>
                  </a:tcPr>
                </a:tc>
                <a:tc>
                  <a:txBody>
                    <a:bodyPr/>
                    <a:lstStyle/>
                    <a:p>
                      <a:pPr algn="ctr"/>
                      <a:r>
                        <a:rPr sz="1400" b="1">
                          <a:solidFill>
                            <a:srgbClr val="FFFFFF"/>
                          </a:solidFill>
                          <a:latin typeface="Calibri"/>
                        </a:rPr>
                        <a:t>A</a:t>
                      </a:r>
                    </a:p>
                  </a:txBody>
                  <a:tcPr marL="73152" marR="73152" marT="27432" marB="27432" anchor="ctr">
                    <a:solidFill>
                      <a:srgbClr val="0F4C5C"/>
                    </a:solidFill>
                  </a:tcPr>
                </a:tc>
                <a:tc>
                  <a:txBody>
                    <a:bodyPr/>
                    <a:lstStyle/>
                    <a:p>
                      <a:pPr algn="ctr"/>
                      <a:r>
                        <a:rPr sz="1400" b="1">
                          <a:solidFill>
                            <a:srgbClr val="FFFFFF"/>
                          </a:solidFill>
                          <a:latin typeface="Calibri"/>
                        </a:rPr>
                        <a:t>B</a:t>
                      </a:r>
                    </a:p>
                  </a:txBody>
                  <a:tcPr marL="73152" marR="73152" marT="27432" marB="27432" anchor="ctr">
                    <a:solidFill>
                      <a:srgbClr val="0F4C5C"/>
                    </a:solidFill>
                  </a:tcPr>
                </a:tc>
                <a:tc>
                  <a:txBody>
                    <a:bodyPr/>
                    <a:lstStyle/>
                    <a:p>
                      <a:pPr algn="ctr"/>
                      <a:r>
                        <a:rPr sz="1400" b="1">
                          <a:solidFill>
                            <a:srgbClr val="FFFFFF"/>
                          </a:solidFill>
                          <a:latin typeface="Calibri"/>
                        </a:rPr>
                        <a:t>C</a:t>
                      </a:r>
                    </a:p>
                  </a:txBody>
                  <a:tcPr marL="73152" marR="73152" marT="27432" marB="27432" anchor="ctr">
                    <a:solidFill>
                      <a:srgbClr val="0F4C5C"/>
                    </a:solidFill>
                  </a:tcPr>
                </a:tc>
                <a:tc>
                  <a:txBody>
                    <a:bodyPr/>
                    <a:lstStyle/>
                    <a:p>
                      <a:pPr algn="ctr"/>
                      <a:r>
                        <a:rPr sz="1400" b="1">
                          <a:solidFill>
                            <a:srgbClr val="FFFFFF"/>
                          </a:solidFill>
                          <a:latin typeface="Calibri"/>
                        </a:rPr>
                        <a:t>D = AB</a:t>
                      </a:r>
                    </a:p>
                  </a:txBody>
                  <a:tcPr marL="73152" marR="73152" marT="27432" marB="27432" anchor="ctr">
                    <a:solidFill>
                      <a:srgbClr val="0F4C5C"/>
                    </a:solidFill>
                  </a:tcPr>
                </a:tc>
                <a:tc>
                  <a:txBody>
                    <a:bodyPr/>
                    <a:lstStyle/>
                    <a:p>
                      <a:pPr algn="ctr"/>
                      <a:r>
                        <a:rPr sz="1400" b="1">
                          <a:solidFill>
                            <a:srgbClr val="FFFFFF"/>
                          </a:solidFill>
                          <a:latin typeface="Calibri"/>
                        </a:rPr>
                        <a:t>E = AC</a:t>
                      </a:r>
                    </a:p>
                  </a:txBody>
                  <a:tcPr marL="73152" marR="73152" marT="27432" marB="27432" anchor="ctr">
                    <a:solidFill>
                      <a:srgbClr val="0F4C5C"/>
                    </a:solidFill>
                  </a:tcPr>
                </a:tc>
                <a:tc>
                  <a:txBody>
                    <a:bodyPr/>
                    <a:lstStyle/>
                    <a:p>
                      <a:pPr algn="ctr"/>
                      <a:r>
                        <a:rPr sz="1400" b="1">
                          <a:solidFill>
                            <a:srgbClr val="FFFFFF"/>
                          </a:solidFill>
                          <a:latin typeface="Calibri"/>
                        </a:rPr>
                        <a:t>F = BC</a:t>
                      </a:r>
                    </a:p>
                  </a:txBody>
                  <a:tcPr marL="73152" marR="73152" marT="27432" marB="27432" anchor="ctr">
                    <a:solidFill>
                      <a:srgbClr val="0F4C5C"/>
                    </a:solidFill>
                  </a:tcPr>
                </a:tc>
                <a:tc>
                  <a:txBody>
                    <a:bodyPr/>
                    <a:lstStyle/>
                    <a:p>
                      <a:pPr algn="ctr"/>
                      <a:r>
                        <a:rPr sz="1400" b="1">
                          <a:solidFill>
                            <a:srgbClr val="FFFFFF"/>
                          </a:solidFill>
                          <a:latin typeface="Calibri"/>
                        </a:rPr>
                        <a:t>G = ABC</a:t>
                      </a:r>
                    </a:p>
                  </a:txBody>
                  <a:tcPr marL="73152" marR="73152" marT="27432" marB="27432" anchor="ctr">
                    <a:solidFill>
                      <a:srgbClr val="0F4C5C"/>
                    </a:solidFill>
                  </a:tcPr>
                </a:tc>
              </a:tr>
              <a:tr h="335788">
                <a:tc>
                  <a:txBody>
                    <a:bodyPr/>
                    <a:lstStyle/>
                    <a:p>
                      <a:pPr algn="ctr"/>
                      <a:r>
                        <a:rPr sz="1400" b="0">
                          <a:solidFill>
                            <a:srgbClr val="142B33"/>
                          </a:solidFill>
                          <a:latin typeface="Calibri"/>
                        </a:rPr>
                        <a:t>1</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r>
              <a:tr h="335788">
                <a:tc>
                  <a:txBody>
                    <a:bodyPr/>
                    <a:lstStyle/>
                    <a:p>
                      <a:pPr algn="ctr"/>
                      <a:r>
                        <a:rPr sz="1400" b="0">
                          <a:solidFill>
                            <a:srgbClr val="142B33"/>
                          </a:solidFill>
                          <a:latin typeface="Calibri"/>
                        </a:rPr>
                        <a:t>2</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r>
              <a:tr h="335788">
                <a:tc>
                  <a:txBody>
                    <a:bodyPr/>
                    <a:lstStyle/>
                    <a:p>
                      <a:pPr algn="ctr"/>
                      <a:r>
                        <a:rPr sz="1400" b="0">
                          <a:solidFill>
                            <a:srgbClr val="142B33"/>
                          </a:solidFill>
                          <a:latin typeface="Calibri"/>
                        </a:rPr>
                        <a:t>3</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tr>
              <a:tr h="335788">
                <a:tc>
                  <a:txBody>
                    <a:bodyPr/>
                    <a:lstStyle/>
                    <a:p>
                      <a:pPr algn="ctr"/>
                      <a:r>
                        <a:rPr sz="1400" b="0">
                          <a:solidFill>
                            <a:srgbClr val="142B33"/>
                          </a:solidFill>
                          <a:latin typeface="Calibri"/>
                        </a:rPr>
                        <a:t>4</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tr>
              <a:tr h="335788">
                <a:tc>
                  <a:txBody>
                    <a:bodyPr/>
                    <a:lstStyle/>
                    <a:p>
                      <a:pPr algn="ctr"/>
                      <a:r>
                        <a:rPr sz="1400" b="0">
                          <a:solidFill>
                            <a:srgbClr val="142B33"/>
                          </a:solidFill>
                          <a:latin typeface="Calibri"/>
                        </a:rPr>
                        <a:t>5</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tr>
              <a:tr h="335788">
                <a:tc>
                  <a:txBody>
                    <a:bodyPr/>
                    <a:lstStyle/>
                    <a:p>
                      <a:pPr algn="ctr"/>
                      <a:r>
                        <a:rPr sz="1400" b="0">
                          <a:solidFill>
                            <a:srgbClr val="142B33"/>
                          </a:solidFill>
                          <a:latin typeface="Calibri"/>
                        </a:rPr>
                        <a:t>6</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tr>
              <a:tr h="335788">
                <a:tc>
                  <a:txBody>
                    <a:bodyPr/>
                    <a:lstStyle/>
                    <a:p>
                      <a:pPr algn="ctr"/>
                      <a:r>
                        <a:rPr sz="1400" b="0">
                          <a:solidFill>
                            <a:srgbClr val="142B33"/>
                          </a:solidFill>
                          <a:latin typeface="Calibri"/>
                        </a:rPr>
                        <a:t>7</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r>
              <a:tr h="335788">
                <a:tc>
                  <a:txBody>
                    <a:bodyPr/>
                    <a:lstStyle/>
                    <a:p>
                      <a:pPr algn="ctr"/>
                      <a:r>
                        <a:rPr sz="1400" b="0">
                          <a:solidFill>
                            <a:srgbClr val="142B33"/>
                          </a:solidFill>
                          <a:latin typeface="Calibri"/>
                        </a:rPr>
                        <a:t>8</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r>
            </a:tbl>
          </a:graphicData>
        </a:graphic>
      </p:graphicFrame>
      <p:sp>
        <p:nvSpPr>
          <p:cNvPr id="4" name="TextBox 3"/>
          <p:cNvSpPr txBox="1"/>
          <p:nvPr/>
        </p:nvSpPr>
        <p:spPr>
          <a:xfrm>
            <a:off x="548640" y="4640580"/>
            <a:ext cx="5982443" cy="904239"/>
          </a:xfrm>
          <a:prstGeom prst="rect">
            <a:avLst/>
          </a:prstGeom>
          <a:noFill/>
        </p:spPr>
        <p:txBody>
          <a:bodyPr wrap="square" anchor="t" lIns="0" rIns="0" tIns="0" bIns="0">
            <a:spAutoFit/>
          </a:bodyPr>
          <a:lstStyle/>
          <a:p>
            <a:r>
              <a:rPr sz="1400" b="1">
                <a:solidFill>
                  <a:srgbClr val="5B6B73"/>
                </a:solidFill>
                <a:latin typeface="Calibri"/>
              </a:rPr>
              <a:t>Resolución III</a:t>
            </a:r>
            <a:r>
              <a:rPr sz="1400" b="0">
                <a:solidFill>
                  <a:srgbClr val="5B6B73"/>
                </a:solidFill>
                <a:latin typeface="Calibri"/>
              </a:rPr>
              <a:t>: la palabra más corta de la relación de definición tiene </a:t>
            </a:r>
            <a:r>
              <a:rPr sz="1400" b="1">
                <a:solidFill>
                  <a:srgbClr val="5B6B73"/>
                </a:solidFill>
                <a:latin typeface="Calibri"/>
              </a:rPr>
              <a:t>tres letras</a:t>
            </a:r>
            <a:r>
              <a:rPr sz="1400" b="0">
                <a:solidFill>
                  <a:srgbClr val="5B6B73"/>
                </a:solidFill>
                <a:latin typeface="Calibri"/>
              </a:rPr>
              <a:t> (I = ABD = ACE = BCF = ABCG = …). Ningún principal se alía con otro principal, pero </a:t>
            </a:r>
            <a:r>
              <a:rPr sz="1400" b="1">
                <a:solidFill>
                  <a:srgbClr val="5B6B73"/>
                </a:solidFill>
                <a:latin typeface="Calibri"/>
              </a:rPr>
              <a:t>cada principal se alía con interacciones dobles</a:t>
            </a:r>
            <a:r>
              <a:rPr sz="1400" b="0">
                <a:solidFill>
                  <a:srgbClr val="5B6B73"/>
                </a:solidFill>
                <a:latin typeface="Calibri"/>
              </a:rPr>
              <a:t>.</a:t>
            </a:r>
          </a:p>
        </p:txBody>
      </p:sp>
      <p:graphicFrame>
        <p:nvGraphicFramePr>
          <p:cNvPr id="5" name="Table 4"/>
          <p:cNvGraphicFramePr>
            <a:graphicFrameLocks noGrp="1"/>
          </p:cNvGraphicFramePr>
          <p:nvPr/>
        </p:nvGraphicFramePr>
        <p:xfrm>
          <a:off x="6942563" y="1417320"/>
          <a:ext cx="4700491" cy="2810256"/>
        </p:xfrm>
        <a:graphic>
          <a:graphicData uri="http://schemas.openxmlformats.org/drawingml/2006/table">
            <a:tbl>
              <a:tblPr firstRow="0" bandRow="0">
                <a:tableStyleId>{5C22544A-7EE6-4342-B048-85BDC9FD1C3A}</a:tableStyleId>
              </a:tblPr>
              <a:tblGrid>
                <a:gridCol w="1811485"/>
                <a:gridCol w="2889006"/>
              </a:tblGrid>
              <a:tr h="351282">
                <a:tc>
                  <a:txBody>
                    <a:bodyPr/>
                    <a:lstStyle/>
                    <a:p>
                      <a:pPr algn="ctr"/>
                      <a:r>
                        <a:rPr sz="1500" b="1">
                          <a:solidFill>
                            <a:srgbClr val="FFFFFF"/>
                          </a:solidFill>
                          <a:latin typeface="Calibri"/>
                        </a:rPr>
                        <a:t>Columna</a:t>
                      </a:r>
                    </a:p>
                  </a:txBody>
                  <a:tcPr marL="73152" marR="73152" marT="27432" marB="27432" anchor="ctr">
                    <a:solidFill>
                      <a:srgbClr val="0F4C5C"/>
                    </a:solidFill>
                  </a:tcPr>
                </a:tc>
                <a:tc>
                  <a:txBody>
                    <a:bodyPr/>
                    <a:lstStyle/>
                    <a:p>
                      <a:pPr algn="ctr"/>
                      <a:r>
                        <a:rPr sz="1500" b="1">
                          <a:solidFill>
                            <a:srgbClr val="FFFFFF"/>
                          </a:solidFill>
                          <a:latin typeface="Calibri"/>
                        </a:rPr>
                        <a:t>Estima</a:t>
                      </a:r>
                    </a:p>
                  </a:txBody>
                  <a:tcPr marL="73152" marR="73152" marT="27432" marB="27432" anchor="ctr">
                    <a:solidFill>
                      <a:srgbClr val="0F4C5C"/>
                    </a:solidFill>
                  </a:tcPr>
                </a:tc>
              </a:tr>
              <a:tr h="351282">
                <a:tc>
                  <a:txBody>
                    <a:bodyPr/>
                    <a:lstStyle/>
                    <a:p>
                      <a:pPr algn="ctr"/>
                      <a:r>
                        <a:rPr sz="1500" b="0">
                          <a:solidFill>
                            <a:srgbClr val="142B33"/>
                          </a:solidFill>
                          <a:latin typeface="Calibri"/>
                        </a:rPr>
                        <a:t>A</a:t>
                      </a:r>
                    </a:p>
                  </a:txBody>
                  <a:tcPr marL="73152" marR="73152" marT="27432" marB="27432" anchor="ctr">
                    <a:solidFill>
                      <a:srgbClr val="FFFFFF"/>
                    </a:solidFill>
                  </a:tcPr>
                </a:tc>
                <a:tc>
                  <a:txBody>
                    <a:bodyPr/>
                    <a:lstStyle/>
                    <a:p>
                      <a:pPr algn="ctr"/>
                      <a:r>
                        <a:rPr sz="1500" b="0">
                          <a:solidFill>
                            <a:srgbClr val="142B33"/>
                          </a:solidFill>
                          <a:latin typeface="Calibri"/>
                        </a:rPr>
                        <a:t>A + BD + CE + FG</a:t>
                      </a:r>
                    </a:p>
                  </a:txBody>
                  <a:tcPr marL="73152" marR="73152" marT="27432" marB="27432" anchor="ctr">
                    <a:solidFill>
                      <a:srgbClr val="FFFFFF"/>
                    </a:solidFill>
                  </a:tcPr>
                </a:tc>
              </a:tr>
              <a:tr h="351282">
                <a:tc>
                  <a:txBody>
                    <a:bodyPr/>
                    <a:lstStyle/>
                    <a:p>
                      <a:pPr algn="ctr"/>
                      <a:r>
                        <a:rPr sz="1500" b="0">
                          <a:solidFill>
                            <a:srgbClr val="142B33"/>
                          </a:solidFill>
                          <a:latin typeface="Calibri"/>
                        </a:rPr>
                        <a:t>B</a:t>
                      </a:r>
                    </a:p>
                  </a:txBody>
                  <a:tcPr marL="73152" marR="73152" marT="27432" marB="27432" anchor="ctr">
                    <a:solidFill>
                      <a:srgbClr val="F4F8F9"/>
                    </a:solidFill>
                  </a:tcPr>
                </a:tc>
                <a:tc>
                  <a:txBody>
                    <a:bodyPr/>
                    <a:lstStyle/>
                    <a:p>
                      <a:pPr algn="ctr"/>
                      <a:r>
                        <a:rPr sz="1500" b="0">
                          <a:solidFill>
                            <a:srgbClr val="142B33"/>
                          </a:solidFill>
                          <a:latin typeface="Calibri"/>
                        </a:rPr>
                        <a:t>B + AD + CF + EG</a:t>
                      </a:r>
                    </a:p>
                  </a:txBody>
                  <a:tcPr marL="73152" marR="73152" marT="27432" marB="27432" anchor="ctr">
                    <a:solidFill>
                      <a:srgbClr val="F4F8F9"/>
                    </a:solidFill>
                  </a:tcPr>
                </a:tc>
              </a:tr>
              <a:tr h="351282">
                <a:tc>
                  <a:txBody>
                    <a:bodyPr/>
                    <a:lstStyle/>
                    <a:p>
                      <a:pPr algn="ctr"/>
                      <a:r>
                        <a:rPr sz="1500" b="0">
                          <a:solidFill>
                            <a:srgbClr val="142B33"/>
                          </a:solidFill>
                          <a:latin typeface="Calibri"/>
                        </a:rPr>
                        <a:t>C</a:t>
                      </a:r>
                    </a:p>
                  </a:txBody>
                  <a:tcPr marL="73152" marR="73152" marT="27432" marB="27432" anchor="ctr">
                    <a:solidFill>
                      <a:srgbClr val="FFFFFF"/>
                    </a:solidFill>
                  </a:tcPr>
                </a:tc>
                <a:tc>
                  <a:txBody>
                    <a:bodyPr/>
                    <a:lstStyle/>
                    <a:p>
                      <a:pPr algn="ctr"/>
                      <a:r>
                        <a:rPr sz="1500" b="0">
                          <a:solidFill>
                            <a:srgbClr val="142B33"/>
                          </a:solidFill>
                          <a:latin typeface="Calibri"/>
                        </a:rPr>
                        <a:t>C + AE + BF + DG</a:t>
                      </a:r>
                    </a:p>
                  </a:txBody>
                  <a:tcPr marL="73152" marR="73152" marT="27432" marB="27432" anchor="ctr">
                    <a:solidFill>
                      <a:srgbClr val="FFFFFF"/>
                    </a:solidFill>
                  </a:tcPr>
                </a:tc>
              </a:tr>
              <a:tr h="351282">
                <a:tc>
                  <a:txBody>
                    <a:bodyPr/>
                    <a:lstStyle/>
                    <a:p>
                      <a:pPr algn="ctr"/>
                      <a:r>
                        <a:rPr sz="1500" b="0">
                          <a:solidFill>
                            <a:srgbClr val="142B33"/>
                          </a:solidFill>
                          <a:latin typeface="Calibri"/>
                        </a:rPr>
                        <a:t>D</a:t>
                      </a:r>
                    </a:p>
                  </a:txBody>
                  <a:tcPr marL="73152" marR="73152" marT="27432" marB="27432" anchor="ctr">
                    <a:solidFill>
                      <a:srgbClr val="F4F8F9"/>
                    </a:solidFill>
                  </a:tcPr>
                </a:tc>
                <a:tc>
                  <a:txBody>
                    <a:bodyPr/>
                    <a:lstStyle/>
                    <a:p>
                      <a:pPr algn="ctr"/>
                      <a:r>
                        <a:rPr sz="1500" b="0">
                          <a:solidFill>
                            <a:srgbClr val="142B33"/>
                          </a:solidFill>
                          <a:latin typeface="Calibri"/>
                        </a:rPr>
                        <a:t>D + AB + CG + EF</a:t>
                      </a:r>
                    </a:p>
                  </a:txBody>
                  <a:tcPr marL="73152" marR="73152" marT="27432" marB="27432" anchor="ctr">
                    <a:solidFill>
                      <a:srgbClr val="F4F8F9"/>
                    </a:solidFill>
                  </a:tcPr>
                </a:tc>
              </a:tr>
              <a:tr h="351282">
                <a:tc>
                  <a:txBody>
                    <a:bodyPr/>
                    <a:lstStyle/>
                    <a:p>
                      <a:pPr algn="ctr"/>
                      <a:r>
                        <a:rPr sz="1500" b="0">
                          <a:solidFill>
                            <a:srgbClr val="142B33"/>
                          </a:solidFill>
                          <a:latin typeface="Calibri"/>
                        </a:rPr>
                        <a:t>E</a:t>
                      </a:r>
                    </a:p>
                  </a:txBody>
                  <a:tcPr marL="73152" marR="73152" marT="27432" marB="27432" anchor="ctr">
                    <a:solidFill>
                      <a:srgbClr val="FFFFFF"/>
                    </a:solidFill>
                  </a:tcPr>
                </a:tc>
                <a:tc>
                  <a:txBody>
                    <a:bodyPr/>
                    <a:lstStyle/>
                    <a:p>
                      <a:pPr algn="ctr"/>
                      <a:r>
                        <a:rPr sz="1500" b="0">
                          <a:solidFill>
                            <a:srgbClr val="142B33"/>
                          </a:solidFill>
                          <a:latin typeface="Calibri"/>
                        </a:rPr>
                        <a:t>E + AC + BG + DF</a:t>
                      </a:r>
                    </a:p>
                  </a:txBody>
                  <a:tcPr marL="73152" marR="73152" marT="27432" marB="27432" anchor="ctr">
                    <a:solidFill>
                      <a:srgbClr val="FFFFFF"/>
                    </a:solidFill>
                  </a:tcPr>
                </a:tc>
              </a:tr>
              <a:tr h="351282">
                <a:tc>
                  <a:txBody>
                    <a:bodyPr/>
                    <a:lstStyle/>
                    <a:p>
                      <a:pPr algn="ctr"/>
                      <a:r>
                        <a:rPr sz="1500" b="0">
                          <a:solidFill>
                            <a:srgbClr val="142B33"/>
                          </a:solidFill>
                          <a:latin typeface="Calibri"/>
                        </a:rPr>
                        <a:t>F</a:t>
                      </a:r>
                    </a:p>
                  </a:txBody>
                  <a:tcPr marL="73152" marR="73152" marT="27432" marB="27432" anchor="ctr">
                    <a:solidFill>
                      <a:srgbClr val="F4F8F9"/>
                    </a:solidFill>
                  </a:tcPr>
                </a:tc>
                <a:tc>
                  <a:txBody>
                    <a:bodyPr/>
                    <a:lstStyle/>
                    <a:p>
                      <a:pPr algn="ctr"/>
                      <a:r>
                        <a:rPr sz="1500" b="0">
                          <a:solidFill>
                            <a:srgbClr val="142B33"/>
                          </a:solidFill>
                          <a:latin typeface="Calibri"/>
                        </a:rPr>
                        <a:t>F + BC + AG + DE</a:t>
                      </a:r>
                    </a:p>
                  </a:txBody>
                  <a:tcPr marL="73152" marR="73152" marT="27432" marB="27432" anchor="ctr">
                    <a:solidFill>
                      <a:srgbClr val="F4F8F9"/>
                    </a:solidFill>
                  </a:tcPr>
                </a:tc>
              </a:tr>
              <a:tr h="351282">
                <a:tc>
                  <a:txBody>
                    <a:bodyPr/>
                    <a:lstStyle/>
                    <a:p>
                      <a:pPr algn="ctr"/>
                      <a:r>
                        <a:rPr sz="1500" b="0">
                          <a:solidFill>
                            <a:srgbClr val="142B33"/>
                          </a:solidFill>
                          <a:latin typeface="Calibri"/>
                        </a:rPr>
                        <a:t>G</a:t>
                      </a:r>
                    </a:p>
                  </a:txBody>
                  <a:tcPr marL="73152" marR="73152" marT="27432" marB="27432" anchor="ctr">
                    <a:solidFill>
                      <a:srgbClr val="FFFFFF"/>
                    </a:solidFill>
                  </a:tcPr>
                </a:tc>
                <a:tc>
                  <a:txBody>
                    <a:bodyPr/>
                    <a:lstStyle/>
                    <a:p>
                      <a:pPr algn="ctr"/>
                      <a:r>
                        <a:rPr sz="1500" b="0">
                          <a:solidFill>
                            <a:srgbClr val="142B33"/>
                          </a:solidFill>
                          <a:latin typeface="Calibri"/>
                        </a:rPr>
                        <a:t>G + CD + BE + AF</a:t>
                      </a:r>
                    </a:p>
                  </a:txBody>
                  <a:tcPr marL="73152" marR="73152" marT="27432" marB="27432" anchor="ctr">
                    <a:solidFill>
                      <a:srgbClr val="FFFFFF"/>
                    </a:solidFill>
                  </a:tcPr>
                </a:tc>
              </a:tr>
            </a:tbl>
          </a:graphicData>
        </a:graphic>
      </p:graphicFrame>
      <p:sp>
        <p:nvSpPr>
          <p:cNvPr id="6" name="TextBox 5"/>
          <p:cNvSpPr txBox="1"/>
          <p:nvPr/>
        </p:nvSpPr>
        <p:spPr>
          <a:xfrm>
            <a:off x="6942563" y="4428744"/>
            <a:ext cx="4700491" cy="237998"/>
          </a:xfrm>
          <a:prstGeom prst="rect">
            <a:avLst/>
          </a:prstGeom>
          <a:noFill/>
        </p:spPr>
        <p:txBody>
          <a:bodyPr wrap="square" anchor="t" lIns="0" rIns="0" tIns="0" bIns="0">
            <a:spAutoFit/>
          </a:bodyPr>
          <a:lstStyle/>
          <a:p>
            <a:r>
              <a:rPr sz="1300" b="0">
                <a:solidFill>
                  <a:srgbClr val="5B6B73"/>
                </a:solidFill>
                <a:latin typeface="Calibri"/>
              </a:rPr>
              <a:t>Alias despreciando interacciones de tres o más factores</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Diseños de resolución III</a:t>
            </a:r>
          </a:p>
        </p:txBody>
      </p:sp>
      <p:sp>
        <p:nvSpPr>
          <p:cNvPr id="8" name="TextBox 7"/>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91</a:t>
            </a:r>
          </a:p>
        </p:txBody>
      </p:sp>
      <p:sp>
        <p:nvSpPr>
          <p:cNvPr id="9" name="Rounded Rectangle 8"/>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8 · Diseños de resolución III</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de Gutiérrez · Enunciado: vibración de una afiladora</a:t>
            </a:r>
          </a:p>
        </p:txBody>
      </p:sp>
      <p:sp>
        <p:nvSpPr>
          <p:cNvPr id="3" name="TextBox 2"/>
          <p:cNvSpPr txBox="1"/>
          <p:nvPr/>
        </p:nvSpPr>
        <p:spPr>
          <a:xfrm>
            <a:off x="548640" y="1417320"/>
            <a:ext cx="6196102" cy="1771903"/>
          </a:xfrm>
          <a:prstGeom prst="rect">
            <a:avLst/>
          </a:prstGeom>
          <a:noFill/>
        </p:spPr>
        <p:txBody>
          <a:bodyPr wrap="square" anchor="t" lIns="0" rIns="0" tIns="0" bIns="0">
            <a:spAutoFit/>
          </a:bodyPr>
          <a:lstStyle/>
          <a:p>
            <a:r>
              <a:rPr sz="1600" b="0">
                <a:solidFill>
                  <a:srgbClr val="142B33"/>
                </a:solidFill>
                <a:latin typeface="Calibri"/>
              </a:rPr>
              <a:t>Una compañía compró un equipo de afilado y a la semana notó que el </a:t>
            </a:r>
            <a:r>
              <a:rPr sz="1600" b="1">
                <a:solidFill>
                  <a:srgbClr val="142B33"/>
                </a:solidFill>
                <a:latin typeface="Calibri"/>
              </a:rPr>
              <a:t>exceso de vibración</a:t>
            </a:r>
            <a:r>
              <a:rPr sz="1600" b="0">
                <a:solidFill>
                  <a:srgbClr val="142B33"/>
                </a:solidFill>
                <a:latin typeface="Calibri"/>
              </a:rPr>
              <a:t> era un problema serio. Un equipo de mejora identifica siete factores de la herramienta que pueden influir: A tamaño de grano, B longitud, C diámetro, D revoluciones por minuto, E peso de la precarga, F estructura del material y G velocidad de alimentación, cada uno a dos niveles.</a:t>
            </a:r>
          </a:p>
        </p:txBody>
      </p:sp>
      <p:sp>
        <p:nvSpPr>
          <p:cNvPr id="4" name="TextBox 3"/>
          <p:cNvSpPr txBox="1"/>
          <p:nvPr/>
        </p:nvSpPr>
        <p:spPr>
          <a:xfrm>
            <a:off x="548640" y="3390391"/>
            <a:ext cx="6196102" cy="1028191"/>
          </a:xfrm>
          <a:prstGeom prst="rect">
            <a:avLst/>
          </a:prstGeom>
          <a:noFill/>
        </p:spPr>
        <p:txBody>
          <a:bodyPr wrap="square" anchor="t" lIns="0" rIns="0" tIns="0" bIns="0">
            <a:spAutoFit/>
          </a:bodyPr>
          <a:lstStyle/>
          <a:p>
            <a:r>
              <a:rPr sz="1600" b="0">
                <a:solidFill>
                  <a:srgbClr val="142B33"/>
                </a:solidFill>
                <a:latin typeface="Calibri"/>
              </a:rPr>
              <a:t>La puesta en marcha y el tiempo de corrida tienen un </a:t>
            </a:r>
            <a:r>
              <a:rPr sz="1600" b="1">
                <a:solidFill>
                  <a:srgbClr val="142B33"/>
                </a:solidFill>
                <a:latin typeface="Calibri"/>
              </a:rPr>
              <a:t>alto costo</a:t>
            </a:r>
            <a:r>
              <a:rPr sz="1600" b="0">
                <a:solidFill>
                  <a:srgbClr val="142B33"/>
                </a:solidFill>
                <a:latin typeface="Calibri"/>
              </a:rPr>
              <a:t>, así que el equipo decide hacer solo </a:t>
            </a:r>
            <a:r>
              <a:rPr sz="1600" b="1">
                <a:solidFill>
                  <a:srgbClr val="142B33"/>
                </a:solidFill>
                <a:latin typeface="Calibri"/>
              </a:rPr>
              <a:t>8 corridas</a:t>
            </a:r>
            <a:r>
              <a:rPr sz="1600" b="0">
                <a:solidFill>
                  <a:srgbClr val="142B33"/>
                </a:solidFill>
                <a:latin typeface="Calibri"/>
              </a:rPr>
              <a:t>: el 2</a:t>
            </a:r>
            <a:r>
              <a:rPr sz="1600" b="0" baseline="30000">
                <a:solidFill>
                  <a:srgbClr val="142B33"/>
                </a:solidFill>
                <a:latin typeface="Calibri"/>
              </a:rPr>
              <a:t>7−4</a:t>
            </a:r>
            <a:r>
              <a:rPr sz="1600" b="0" baseline="-25000">
                <a:solidFill>
                  <a:srgbClr val="142B33"/>
                </a:solidFill>
                <a:latin typeface="Calibri"/>
              </a:rPr>
              <a:t>III</a:t>
            </a:r>
            <a:r>
              <a:rPr sz="1600" b="0">
                <a:solidFill>
                  <a:srgbClr val="142B33"/>
                </a:solidFill>
                <a:latin typeface="Calibri"/>
              </a:rPr>
              <a:t> con D = AB, E = AC, F = BC y G = ABC, el mismo diseño de la diapositiva anterior.</a:t>
            </a:r>
          </a:p>
        </p:txBody>
      </p:sp>
      <p:sp>
        <p:nvSpPr>
          <p:cNvPr id="5" name="TextBox 4"/>
          <p:cNvSpPr txBox="1"/>
          <p:nvPr/>
        </p:nvSpPr>
        <p:spPr>
          <a:xfrm>
            <a:off x="548640" y="4619751"/>
            <a:ext cx="6196102" cy="780288"/>
          </a:xfrm>
          <a:prstGeom prst="rect">
            <a:avLst/>
          </a:prstGeom>
          <a:noFill/>
        </p:spPr>
        <p:txBody>
          <a:bodyPr wrap="square" anchor="t" lIns="0" rIns="0" tIns="0" bIns="0">
            <a:spAutoFit/>
          </a:bodyPr>
          <a:lstStyle/>
          <a:p>
            <a:r>
              <a:rPr sz="1600" b="0">
                <a:solidFill>
                  <a:srgbClr val="142B33"/>
                </a:solidFill>
                <a:latin typeface="Calibri"/>
              </a:rPr>
              <a:t>Se supone que las interacciones se pueden considerar despreciables, porque con resolución III cada efecto principal está aliado con tres interacciones dobles.</a:t>
            </a:r>
          </a:p>
        </p:txBody>
      </p:sp>
      <p:sp>
        <p:nvSpPr>
          <p:cNvPr id="6" name="TextBox 5"/>
          <p:cNvSpPr txBox="1"/>
          <p:nvPr/>
        </p:nvSpPr>
        <p:spPr>
          <a:xfrm>
            <a:off x="548640" y="5601207"/>
            <a:ext cx="6196102" cy="222504"/>
          </a:xfrm>
          <a:prstGeom prst="rect">
            <a:avLst/>
          </a:prstGeom>
          <a:noFill/>
        </p:spPr>
        <p:txBody>
          <a:bodyPr wrap="square" anchor="t" lIns="0" rIns="0" tIns="0" bIns="0">
            <a:spAutoFit/>
          </a:bodyPr>
          <a:lstStyle/>
          <a:p>
            <a:r>
              <a:rPr sz="1200" b="0">
                <a:solidFill>
                  <a:srgbClr val="5B6B73"/>
                </a:solidFill>
                <a:latin typeface="Calibri"/>
              </a:rPr>
              <a:t>Fuente: Gutiérrez, «Experimento 2</a:t>
            </a:r>
            <a:r>
              <a:rPr sz="1200" b="0" baseline="30000">
                <a:solidFill>
                  <a:srgbClr val="5B6B73"/>
                </a:solidFill>
                <a:latin typeface="Calibri"/>
              </a:rPr>
              <a:t>7−4</a:t>
            </a:r>
            <a:r>
              <a:rPr sz="1200" b="0">
                <a:solidFill>
                  <a:srgbClr val="5B6B73"/>
                </a:solidFill>
                <a:latin typeface="Calibri"/>
              </a:rPr>
              <a:t>: ejemplo integrador», tablas 8.12 a 8.15</a:t>
            </a:r>
          </a:p>
        </p:txBody>
      </p:sp>
      <p:sp>
        <p:nvSpPr>
          <p:cNvPr id="7" name="Rounded Rectangle 6"/>
          <p:cNvSpPr/>
          <p:nvPr/>
        </p:nvSpPr>
        <p:spPr>
          <a:xfrm>
            <a:off x="7156222" y="1417320"/>
            <a:ext cx="4486832" cy="1249426"/>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700" b="1">
                <a:solidFill>
                  <a:srgbClr val="0F4C5C"/>
                </a:solidFill>
                <a:latin typeface="Cambria"/>
              </a:rPr>
              <a:t>Objetivo</a:t>
            </a:r>
          </a:p>
          <a:p>
            <a:pPr algn="l"/>
            <a:r>
              <a:rPr sz="1500" b="0">
                <a:solidFill>
                  <a:srgbClr val="142B33"/>
                </a:solidFill>
                <a:latin typeface="Calibri"/>
              </a:rPr>
              <a:t>Encontrar la combinación de niveles que </a:t>
            </a:r>
            <a:r>
              <a:rPr sz="1500" b="1">
                <a:solidFill>
                  <a:srgbClr val="142B33"/>
                </a:solidFill>
                <a:latin typeface="Calibri"/>
              </a:rPr>
              <a:t>minimiza la vibración</a:t>
            </a:r>
          </a:p>
        </p:txBody>
      </p:sp>
      <p:sp>
        <p:nvSpPr>
          <p:cNvPr id="8" name="TextBox 7"/>
          <p:cNvSpPr txBox="1"/>
          <p:nvPr/>
        </p:nvSpPr>
        <p:spPr>
          <a:xfrm>
            <a:off x="7156222" y="2867914"/>
            <a:ext cx="4486832" cy="299973"/>
          </a:xfrm>
          <a:prstGeom prst="rect">
            <a:avLst/>
          </a:prstGeom>
          <a:noFill/>
        </p:spPr>
        <p:txBody>
          <a:bodyPr wrap="square" anchor="t" lIns="0" rIns="0" tIns="0" bIns="0">
            <a:spAutoFit/>
          </a:bodyPr>
          <a:lstStyle/>
          <a:p>
            <a:r>
              <a:rPr sz="1700" b="1">
                <a:solidFill>
                  <a:srgbClr val="142B33"/>
                </a:solidFill>
                <a:latin typeface="Calibri"/>
              </a:rPr>
              <a:t>Se pide</a:t>
            </a:r>
          </a:p>
        </p:txBody>
      </p:sp>
      <p:sp>
        <p:nvSpPr>
          <p:cNvPr id="9" name="TextBox 8"/>
          <p:cNvSpPr txBox="1"/>
          <p:nvPr/>
        </p:nvSpPr>
        <p:spPr>
          <a:xfrm>
            <a:off x="7156222" y="3369056"/>
            <a:ext cx="4486832" cy="1491233"/>
          </a:xfrm>
          <a:prstGeom prst="rect">
            <a:avLst/>
          </a:prstGeom>
          <a:noFill/>
        </p:spPr>
        <p:txBody>
          <a:bodyPr wrap="square" anchor="t" lIns="0" rIns="0" tIns="0" bIns="0">
            <a:spAutoFit/>
          </a:bodyPr>
          <a:lstStyle/>
          <a:p>
            <a:pPr marL="320040" indent="-320040">
              <a:spcAft>
                <a:spcPts val="600"/>
              </a:spcAft>
              <a:buClr>
                <a:srgbClr val="E36414"/>
              </a:buClr>
              <a:buFont typeface="+mj-lt"/>
              <a:buAutoNum type="arabicPeriod"/>
            </a:pPr>
            <a:r>
              <a:rPr sz="1500" b="0">
                <a:solidFill>
                  <a:srgbClr val="142B33"/>
                </a:solidFill>
                <a:latin typeface="Calibri"/>
              </a:rPr>
              <a:t>Escribir la estructura de alias reducida</a:t>
            </a:r>
          </a:p>
          <a:p>
            <a:pPr marL="320040" indent="-320040">
              <a:spcAft>
                <a:spcPts val="600"/>
              </a:spcAft>
              <a:buClr>
                <a:srgbClr val="E36414"/>
              </a:buClr>
              <a:buFont typeface="+mj-lt"/>
              <a:buAutoNum type="arabicPeriod"/>
            </a:pPr>
            <a:r>
              <a:rPr sz="1500" b="0">
                <a:solidFill>
                  <a:srgbClr val="142B33"/>
                </a:solidFill>
                <a:latin typeface="Calibri"/>
              </a:rPr>
              <a:t>Detectar los efectos activos sin grados de libertad para el error</a:t>
            </a:r>
          </a:p>
          <a:p>
            <a:pPr marL="320040" indent="-320040">
              <a:spcAft>
                <a:spcPts val="600"/>
              </a:spcAft>
              <a:buClr>
                <a:srgbClr val="E36414"/>
              </a:buClr>
              <a:buFont typeface="+mj-lt"/>
              <a:buAutoNum type="arabicPeriod"/>
            </a:pPr>
            <a:r>
              <a:rPr sz="1500" b="0">
                <a:solidFill>
                  <a:srgbClr val="142B33"/>
                </a:solidFill>
                <a:latin typeface="Calibri"/>
              </a:rPr>
              <a:t>Construir el mejor ANOVA</a:t>
            </a:r>
          </a:p>
          <a:p>
            <a:pPr marL="320040" indent="-320040">
              <a:spcAft>
                <a:spcPts val="600"/>
              </a:spcAft>
              <a:buClr>
                <a:srgbClr val="E36414"/>
              </a:buClr>
              <a:buFont typeface="+mj-lt"/>
              <a:buAutoNum type="arabicPeriod"/>
            </a:pPr>
            <a:r>
              <a:rPr sz="1500" b="0">
                <a:solidFill>
                  <a:srgbClr val="142B33"/>
                </a:solidFill>
                <a:latin typeface="Calibri"/>
              </a:rPr>
              <a:t>Elegir el mejor tratamiento</a:t>
            </a:r>
          </a:p>
        </p:txBody>
      </p:sp>
      <p:sp>
        <p:nvSpPr>
          <p:cNvPr id="10" name="TextBox 9"/>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Diseños de resolución III</a:t>
            </a:r>
          </a:p>
        </p:txBody>
      </p:sp>
      <p:sp>
        <p:nvSpPr>
          <p:cNvPr id="11" name="TextBox 10"/>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92</a:t>
            </a:r>
          </a:p>
        </p:txBody>
      </p:sp>
      <p:sp>
        <p:nvSpPr>
          <p:cNvPr id="12" name="Rounded Rectangle 11"/>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8 · Diseños de resolución III</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Vibración · Diseño, datos y estructura de alias</a:t>
            </a:r>
          </a:p>
        </p:txBody>
      </p:sp>
      <p:graphicFrame>
        <p:nvGraphicFramePr>
          <p:cNvPr id="3" name="Table 2"/>
          <p:cNvGraphicFramePr>
            <a:graphicFrameLocks noGrp="1"/>
          </p:cNvGraphicFramePr>
          <p:nvPr/>
        </p:nvGraphicFramePr>
        <p:xfrm>
          <a:off x="548640" y="1417320"/>
          <a:ext cx="5875612" cy="3022092"/>
        </p:xfrm>
        <a:graphic>
          <a:graphicData uri="http://schemas.openxmlformats.org/drawingml/2006/table">
            <a:tbl>
              <a:tblPr firstRow="0" bandRow="0">
                <a:tableStyleId>{5C22544A-7EE6-4342-B048-85BDC9FD1C3A}</a:tableStyleId>
              </a:tblPr>
              <a:tblGrid>
                <a:gridCol w="1300708"/>
                <a:gridCol w="426094"/>
                <a:gridCol w="426094"/>
                <a:gridCol w="426094"/>
                <a:gridCol w="426094"/>
                <a:gridCol w="426094"/>
                <a:gridCol w="426094"/>
                <a:gridCol w="426094"/>
                <a:gridCol w="1592246"/>
              </a:tblGrid>
              <a:tr h="335788">
                <a:tc>
                  <a:txBody>
                    <a:bodyPr/>
                    <a:lstStyle/>
                    <a:p>
                      <a:pPr algn="ctr"/>
                      <a:r>
                        <a:rPr sz="1400" b="1">
                          <a:solidFill>
                            <a:srgbClr val="FFFFFF"/>
                          </a:solidFill>
                          <a:latin typeface="Calibri"/>
                        </a:rPr>
                        <a:t>Corrida</a:t>
                      </a:r>
                    </a:p>
                  </a:txBody>
                  <a:tcPr marL="73152" marR="73152" marT="27432" marB="27432" anchor="ctr">
                    <a:solidFill>
                      <a:srgbClr val="0F4C5C"/>
                    </a:solidFill>
                  </a:tcPr>
                </a:tc>
                <a:tc>
                  <a:txBody>
                    <a:bodyPr/>
                    <a:lstStyle/>
                    <a:p>
                      <a:pPr algn="ctr"/>
                      <a:r>
                        <a:rPr sz="1400" b="1">
                          <a:solidFill>
                            <a:srgbClr val="FFFFFF"/>
                          </a:solidFill>
                          <a:latin typeface="Calibri"/>
                        </a:rPr>
                        <a:t>A</a:t>
                      </a:r>
                    </a:p>
                  </a:txBody>
                  <a:tcPr marL="73152" marR="73152" marT="27432" marB="27432" anchor="ctr">
                    <a:solidFill>
                      <a:srgbClr val="0F4C5C"/>
                    </a:solidFill>
                  </a:tcPr>
                </a:tc>
                <a:tc>
                  <a:txBody>
                    <a:bodyPr/>
                    <a:lstStyle/>
                    <a:p>
                      <a:pPr algn="ctr"/>
                      <a:r>
                        <a:rPr sz="1400" b="1">
                          <a:solidFill>
                            <a:srgbClr val="FFFFFF"/>
                          </a:solidFill>
                          <a:latin typeface="Calibri"/>
                        </a:rPr>
                        <a:t>B</a:t>
                      </a:r>
                    </a:p>
                  </a:txBody>
                  <a:tcPr marL="73152" marR="73152" marT="27432" marB="27432" anchor="ctr">
                    <a:solidFill>
                      <a:srgbClr val="0F4C5C"/>
                    </a:solidFill>
                  </a:tcPr>
                </a:tc>
                <a:tc>
                  <a:txBody>
                    <a:bodyPr/>
                    <a:lstStyle/>
                    <a:p>
                      <a:pPr algn="ctr"/>
                      <a:r>
                        <a:rPr sz="1400" b="1">
                          <a:solidFill>
                            <a:srgbClr val="FFFFFF"/>
                          </a:solidFill>
                          <a:latin typeface="Calibri"/>
                        </a:rPr>
                        <a:t>C</a:t>
                      </a:r>
                    </a:p>
                  </a:txBody>
                  <a:tcPr marL="73152" marR="73152" marT="27432" marB="27432" anchor="ctr">
                    <a:solidFill>
                      <a:srgbClr val="0F4C5C"/>
                    </a:solidFill>
                  </a:tcPr>
                </a:tc>
                <a:tc>
                  <a:txBody>
                    <a:bodyPr/>
                    <a:lstStyle/>
                    <a:p>
                      <a:pPr algn="ctr"/>
                      <a:r>
                        <a:rPr sz="1400" b="1">
                          <a:solidFill>
                            <a:srgbClr val="FFFFFF"/>
                          </a:solidFill>
                          <a:latin typeface="Calibri"/>
                        </a:rPr>
                        <a:t>D</a:t>
                      </a:r>
                    </a:p>
                  </a:txBody>
                  <a:tcPr marL="73152" marR="73152" marT="27432" marB="27432" anchor="ctr">
                    <a:solidFill>
                      <a:srgbClr val="0F4C5C"/>
                    </a:solidFill>
                  </a:tcPr>
                </a:tc>
                <a:tc>
                  <a:txBody>
                    <a:bodyPr/>
                    <a:lstStyle/>
                    <a:p>
                      <a:pPr algn="ctr"/>
                      <a:r>
                        <a:rPr sz="1400" b="1">
                          <a:solidFill>
                            <a:srgbClr val="FFFFFF"/>
                          </a:solidFill>
                          <a:latin typeface="Calibri"/>
                        </a:rPr>
                        <a:t>E</a:t>
                      </a:r>
                    </a:p>
                  </a:txBody>
                  <a:tcPr marL="73152" marR="73152" marT="27432" marB="27432" anchor="ctr">
                    <a:solidFill>
                      <a:srgbClr val="0F4C5C"/>
                    </a:solidFill>
                  </a:tcPr>
                </a:tc>
                <a:tc>
                  <a:txBody>
                    <a:bodyPr/>
                    <a:lstStyle/>
                    <a:p>
                      <a:pPr algn="ctr"/>
                      <a:r>
                        <a:rPr sz="1400" b="1">
                          <a:solidFill>
                            <a:srgbClr val="FFFFFF"/>
                          </a:solidFill>
                          <a:latin typeface="Calibri"/>
                        </a:rPr>
                        <a:t>F</a:t>
                      </a:r>
                    </a:p>
                  </a:txBody>
                  <a:tcPr marL="73152" marR="73152" marT="27432" marB="27432" anchor="ctr">
                    <a:solidFill>
                      <a:srgbClr val="0F4C5C"/>
                    </a:solidFill>
                  </a:tcPr>
                </a:tc>
                <a:tc>
                  <a:txBody>
                    <a:bodyPr/>
                    <a:lstStyle/>
                    <a:p>
                      <a:pPr algn="ctr"/>
                      <a:r>
                        <a:rPr sz="1400" b="1">
                          <a:solidFill>
                            <a:srgbClr val="FFFFFF"/>
                          </a:solidFill>
                          <a:latin typeface="Calibri"/>
                        </a:rPr>
                        <a:t>G</a:t>
                      </a:r>
                    </a:p>
                  </a:txBody>
                  <a:tcPr marL="73152" marR="73152" marT="27432" marB="27432" anchor="ctr">
                    <a:solidFill>
                      <a:srgbClr val="0F4C5C"/>
                    </a:solidFill>
                  </a:tcPr>
                </a:tc>
                <a:tc>
                  <a:txBody>
                    <a:bodyPr/>
                    <a:lstStyle/>
                    <a:p>
                      <a:pPr algn="ctr"/>
                      <a:r>
                        <a:rPr sz="1400" b="1">
                          <a:solidFill>
                            <a:srgbClr val="FFFFFF"/>
                          </a:solidFill>
                          <a:latin typeface="Calibri"/>
                        </a:rPr>
                        <a:t>Vibración</a:t>
                      </a:r>
                    </a:p>
                  </a:txBody>
                  <a:tcPr marL="73152" marR="73152" marT="27432" marB="27432" anchor="ctr">
                    <a:solidFill>
                      <a:srgbClr val="0F4C5C"/>
                    </a:solidFill>
                  </a:tcPr>
                </a:tc>
              </a:tr>
              <a:tr h="335788">
                <a:tc>
                  <a:txBody>
                    <a:bodyPr/>
                    <a:lstStyle/>
                    <a:p>
                      <a:pPr algn="ctr"/>
                      <a:r>
                        <a:rPr sz="1400" b="0">
                          <a:solidFill>
                            <a:srgbClr val="142B33"/>
                          </a:solidFill>
                          <a:latin typeface="Calibri"/>
                        </a:rPr>
                        <a:t>1</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400" b="0">
                          <a:solidFill>
                            <a:srgbClr val="142B33"/>
                          </a:solidFill>
                          <a:latin typeface="Calibri"/>
                        </a:rPr>
                        <a:t>77.4</a:t>
                      </a:r>
                    </a:p>
                  </a:txBody>
                  <a:tcPr marL="73152" marR="73152" marT="27432" marB="27432" anchor="ctr">
                    <a:solidFill>
                      <a:srgbClr val="FFFFFF"/>
                    </a:solidFill>
                  </a:tcPr>
                </a:tc>
              </a:tr>
              <a:tr h="335788">
                <a:tc>
                  <a:txBody>
                    <a:bodyPr/>
                    <a:lstStyle/>
                    <a:p>
                      <a:pPr algn="ctr"/>
                      <a:r>
                        <a:rPr sz="1400" b="0">
                          <a:solidFill>
                            <a:srgbClr val="142B33"/>
                          </a:solidFill>
                          <a:latin typeface="Calibri"/>
                        </a:rPr>
                        <a:t>2</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400" b="0">
                          <a:solidFill>
                            <a:srgbClr val="142B33"/>
                          </a:solidFill>
                          <a:latin typeface="Calibri"/>
                        </a:rPr>
                        <a:t>68.3</a:t>
                      </a:r>
                    </a:p>
                  </a:txBody>
                  <a:tcPr marL="73152" marR="73152" marT="27432" marB="27432" anchor="ctr">
                    <a:solidFill>
                      <a:srgbClr val="F4F8F9"/>
                    </a:solidFill>
                  </a:tcPr>
                </a:tc>
              </a:tr>
              <a:tr h="335788">
                <a:tc>
                  <a:txBody>
                    <a:bodyPr/>
                    <a:lstStyle/>
                    <a:p>
                      <a:pPr algn="ctr"/>
                      <a:r>
                        <a:rPr sz="1400" b="0">
                          <a:solidFill>
                            <a:srgbClr val="142B33"/>
                          </a:solidFill>
                          <a:latin typeface="Calibri"/>
                        </a:rPr>
                        <a:t>3</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tc>
                  <a:txBody>
                    <a:bodyPr/>
                    <a:lstStyle/>
                    <a:p>
                      <a:pPr algn="ctr"/>
                      <a:r>
                        <a:rPr sz="1400" b="0">
                          <a:solidFill>
                            <a:srgbClr val="142B33"/>
                          </a:solidFill>
                          <a:latin typeface="Calibri"/>
                        </a:rPr>
                        <a:t>81.9</a:t>
                      </a:r>
                    </a:p>
                  </a:txBody>
                  <a:tcPr marL="73152" marR="73152" marT="27432" marB="27432" anchor="ctr">
                    <a:solidFill>
                      <a:srgbClr val="FFFFFF"/>
                    </a:solidFill>
                  </a:tcPr>
                </a:tc>
              </a:tr>
              <a:tr h="335788">
                <a:tc>
                  <a:txBody>
                    <a:bodyPr/>
                    <a:lstStyle/>
                    <a:p>
                      <a:pPr algn="ctr"/>
                      <a:r>
                        <a:rPr sz="1400" b="0">
                          <a:solidFill>
                            <a:srgbClr val="142B33"/>
                          </a:solidFill>
                          <a:latin typeface="Calibri"/>
                        </a:rPr>
                        <a:t>4</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tc>
                  <a:txBody>
                    <a:bodyPr/>
                    <a:lstStyle/>
                    <a:p>
                      <a:pPr algn="ctr"/>
                      <a:r>
                        <a:rPr sz="1400" b="0">
                          <a:solidFill>
                            <a:srgbClr val="142B33"/>
                          </a:solidFill>
                          <a:latin typeface="Calibri"/>
                        </a:rPr>
                        <a:t>66.2</a:t>
                      </a:r>
                    </a:p>
                  </a:txBody>
                  <a:tcPr marL="73152" marR="73152" marT="27432" marB="27432" anchor="ctr">
                    <a:solidFill>
                      <a:srgbClr val="F4F8F9"/>
                    </a:solidFill>
                  </a:tcPr>
                </a:tc>
              </a:tr>
              <a:tr h="335788">
                <a:tc>
                  <a:txBody>
                    <a:bodyPr/>
                    <a:lstStyle/>
                    <a:p>
                      <a:pPr algn="ctr"/>
                      <a:r>
                        <a:rPr sz="1400" b="0">
                          <a:solidFill>
                            <a:srgbClr val="142B33"/>
                          </a:solidFill>
                          <a:latin typeface="Calibri"/>
                        </a:rPr>
                        <a:t>5</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tc>
                  <a:txBody>
                    <a:bodyPr/>
                    <a:lstStyle/>
                    <a:p>
                      <a:pPr algn="ctr"/>
                      <a:r>
                        <a:rPr sz="1400" b="0">
                          <a:solidFill>
                            <a:srgbClr val="142B33"/>
                          </a:solidFill>
                          <a:latin typeface="Calibri"/>
                        </a:rPr>
                        <a:t>42.1</a:t>
                      </a:r>
                    </a:p>
                  </a:txBody>
                  <a:tcPr marL="73152" marR="73152" marT="27432" marB="27432" anchor="ctr">
                    <a:solidFill>
                      <a:srgbClr val="FFFFFF"/>
                    </a:solidFill>
                  </a:tcPr>
                </a:tc>
              </a:tr>
              <a:tr h="335788">
                <a:tc>
                  <a:txBody>
                    <a:bodyPr/>
                    <a:lstStyle/>
                    <a:p>
                      <a:pPr algn="ctr"/>
                      <a:r>
                        <a:rPr sz="1400" b="0">
                          <a:solidFill>
                            <a:srgbClr val="142B33"/>
                          </a:solidFill>
                          <a:latin typeface="Calibri"/>
                        </a:rPr>
                        <a:t>6</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tc>
                  <a:txBody>
                    <a:bodyPr/>
                    <a:lstStyle/>
                    <a:p>
                      <a:pPr algn="ctr"/>
                      <a:r>
                        <a:rPr sz="1500" b="1">
                          <a:solidFill>
                            <a:srgbClr val="E36414"/>
                          </a:solidFill>
                          <a:latin typeface="Calibri"/>
                        </a:rPr>
                        <a:t>−</a:t>
                      </a:r>
                    </a:p>
                  </a:txBody>
                  <a:tcPr marL="73152" marR="73152" marT="27432" marB="27432" anchor="ctr">
                    <a:solidFill>
                      <a:srgbClr val="F4F8F9"/>
                    </a:solidFill>
                  </a:tcPr>
                </a:tc>
                <a:tc>
                  <a:txBody>
                    <a:bodyPr/>
                    <a:lstStyle/>
                    <a:p>
                      <a:pPr algn="ctr"/>
                      <a:r>
                        <a:rPr sz="1400" b="0">
                          <a:solidFill>
                            <a:srgbClr val="142B33"/>
                          </a:solidFill>
                          <a:latin typeface="Calibri"/>
                        </a:rPr>
                        <a:t>78.3</a:t>
                      </a:r>
                    </a:p>
                  </a:txBody>
                  <a:tcPr marL="73152" marR="73152" marT="27432" marB="27432" anchor="ctr">
                    <a:solidFill>
                      <a:srgbClr val="F4F8F9"/>
                    </a:solidFill>
                  </a:tcPr>
                </a:tc>
              </a:tr>
              <a:tr h="335788">
                <a:tc>
                  <a:txBody>
                    <a:bodyPr/>
                    <a:lstStyle/>
                    <a:p>
                      <a:pPr algn="ctr"/>
                      <a:r>
                        <a:rPr sz="1400" b="0">
                          <a:solidFill>
                            <a:srgbClr val="142B33"/>
                          </a:solidFill>
                          <a:latin typeface="Calibri"/>
                        </a:rPr>
                        <a:t>7</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500" b="1">
                          <a:solidFill>
                            <a:srgbClr val="0F4C5C"/>
                          </a:solidFill>
                          <a:latin typeface="Calibri"/>
                        </a:rPr>
                        <a:t>+</a:t>
                      </a:r>
                    </a:p>
                  </a:txBody>
                  <a:tcPr marL="73152" marR="73152" marT="27432" marB="27432" anchor="ctr">
                    <a:solidFill>
                      <a:srgbClr val="FFFFFF"/>
                    </a:solidFill>
                  </a:tcPr>
                </a:tc>
                <a:tc>
                  <a:txBody>
                    <a:bodyPr/>
                    <a:lstStyle/>
                    <a:p>
                      <a:pPr algn="ctr"/>
                      <a:r>
                        <a:rPr sz="1500" b="1">
                          <a:solidFill>
                            <a:srgbClr val="E36414"/>
                          </a:solidFill>
                          <a:latin typeface="Calibri"/>
                        </a:rPr>
                        <a:t>−</a:t>
                      </a:r>
                    </a:p>
                  </a:txBody>
                  <a:tcPr marL="73152" marR="73152" marT="27432" marB="27432" anchor="ctr">
                    <a:solidFill>
                      <a:srgbClr val="FFFFFF"/>
                    </a:solidFill>
                  </a:tcPr>
                </a:tc>
                <a:tc>
                  <a:txBody>
                    <a:bodyPr/>
                    <a:lstStyle/>
                    <a:p>
                      <a:pPr algn="ctr"/>
                      <a:r>
                        <a:rPr sz="1400" b="0">
                          <a:solidFill>
                            <a:srgbClr val="142B33"/>
                          </a:solidFill>
                          <a:latin typeface="Calibri"/>
                        </a:rPr>
                        <a:t>39.0</a:t>
                      </a:r>
                    </a:p>
                  </a:txBody>
                  <a:tcPr marL="73152" marR="73152" marT="27432" marB="27432" anchor="ctr">
                    <a:solidFill>
                      <a:srgbClr val="FFFFFF"/>
                    </a:solidFill>
                  </a:tcPr>
                </a:tc>
              </a:tr>
              <a:tr h="335788">
                <a:tc>
                  <a:txBody>
                    <a:bodyPr/>
                    <a:lstStyle/>
                    <a:p>
                      <a:pPr algn="ctr"/>
                      <a:r>
                        <a:rPr sz="1400" b="0">
                          <a:solidFill>
                            <a:srgbClr val="142B33"/>
                          </a:solidFill>
                          <a:latin typeface="Calibri"/>
                        </a:rPr>
                        <a:t>8</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500" b="1">
                          <a:solidFill>
                            <a:srgbClr val="0F4C5C"/>
                          </a:solidFill>
                          <a:latin typeface="Calibri"/>
                        </a:rPr>
                        <a:t>+</a:t>
                      </a:r>
                    </a:p>
                  </a:txBody>
                  <a:tcPr marL="73152" marR="73152" marT="27432" marB="27432" anchor="ctr">
                    <a:solidFill>
                      <a:srgbClr val="F4F8F9"/>
                    </a:solidFill>
                  </a:tcPr>
                </a:tc>
                <a:tc>
                  <a:txBody>
                    <a:bodyPr/>
                    <a:lstStyle/>
                    <a:p>
                      <a:pPr algn="ctr"/>
                      <a:r>
                        <a:rPr sz="1400" b="0">
                          <a:solidFill>
                            <a:srgbClr val="142B33"/>
                          </a:solidFill>
                          <a:latin typeface="Calibri"/>
                        </a:rPr>
                        <a:t>68.4</a:t>
                      </a:r>
                    </a:p>
                  </a:txBody>
                  <a:tcPr marL="73152" marR="73152" marT="27432" marB="27432" anchor="ctr">
                    <a:solidFill>
                      <a:srgbClr val="F4F8F9"/>
                    </a:solidFill>
                  </a:tcPr>
                </a:tc>
              </a:tr>
            </a:tbl>
          </a:graphicData>
        </a:graphic>
      </p:graphicFrame>
      <p:sp>
        <p:nvSpPr>
          <p:cNvPr id="4" name="TextBox 3"/>
          <p:cNvSpPr txBox="1"/>
          <p:nvPr/>
        </p:nvSpPr>
        <p:spPr>
          <a:xfrm>
            <a:off x="548640" y="4640580"/>
            <a:ext cx="5875614" cy="408432"/>
          </a:xfrm>
          <a:prstGeom prst="rect">
            <a:avLst/>
          </a:prstGeom>
          <a:noFill/>
        </p:spPr>
        <p:txBody>
          <a:bodyPr wrap="square" anchor="t" lIns="0" rIns="0" tIns="0" bIns="0">
            <a:spAutoFit/>
          </a:bodyPr>
          <a:lstStyle/>
          <a:p>
            <a:r>
              <a:rPr sz="1200" b="0">
                <a:solidFill>
                  <a:srgbClr val="5B6B73"/>
                </a:solidFill>
                <a:latin typeface="Calibri"/>
              </a:rPr>
              <a:t>A grano, B longitud, C diámetro, D RPM, E precarga, F estructura del material, G alimentación</a:t>
            </a:r>
          </a:p>
        </p:txBody>
      </p:sp>
      <p:graphicFrame>
        <p:nvGraphicFramePr>
          <p:cNvPr id="5" name="Table 4"/>
          <p:cNvGraphicFramePr>
            <a:graphicFrameLocks noGrp="1"/>
          </p:cNvGraphicFramePr>
          <p:nvPr/>
        </p:nvGraphicFramePr>
        <p:xfrm>
          <a:off x="6835734" y="1417320"/>
          <a:ext cx="4807320" cy="2686304"/>
        </p:xfrm>
        <a:graphic>
          <a:graphicData uri="http://schemas.openxmlformats.org/drawingml/2006/table">
            <a:tbl>
              <a:tblPr firstRow="0" bandRow="0">
                <a:tableStyleId>{5C22544A-7EE6-4342-B048-85BDC9FD1C3A}</a:tableStyleId>
              </a:tblPr>
              <a:tblGrid>
                <a:gridCol w="1231013"/>
                <a:gridCol w="3576307"/>
              </a:tblGrid>
              <a:tr h="335788">
                <a:tc>
                  <a:txBody>
                    <a:bodyPr/>
                    <a:lstStyle/>
                    <a:p>
                      <a:pPr algn="ctr"/>
                      <a:r>
                        <a:rPr sz="1400" b="1">
                          <a:solidFill>
                            <a:srgbClr val="FFFFFF"/>
                          </a:solidFill>
                          <a:latin typeface="Calibri"/>
                        </a:rPr>
                        <a:t>Columna</a:t>
                      </a:r>
                    </a:p>
                  </a:txBody>
                  <a:tcPr marL="73152" marR="73152" marT="27432" marB="27432" anchor="ctr">
                    <a:solidFill>
                      <a:srgbClr val="0F4C5C"/>
                    </a:solidFill>
                  </a:tcPr>
                </a:tc>
                <a:tc>
                  <a:txBody>
                    <a:bodyPr/>
                    <a:lstStyle/>
                    <a:p>
                      <a:pPr algn="ctr"/>
                      <a:r>
                        <a:rPr sz="1400" b="1">
                          <a:solidFill>
                            <a:srgbClr val="FFFFFF"/>
                          </a:solidFill>
                          <a:latin typeface="Calibri"/>
                        </a:rPr>
                        <a:t>Estima (alias reducidos)</a:t>
                      </a:r>
                    </a:p>
                  </a:txBody>
                  <a:tcPr marL="73152" marR="73152" marT="27432" marB="27432" anchor="ctr">
                    <a:solidFill>
                      <a:srgbClr val="0F4C5C"/>
                    </a:solidFill>
                  </a:tcPr>
                </a:tc>
              </a:tr>
              <a:tr h="335788">
                <a:tc>
                  <a:txBody>
                    <a:bodyPr/>
                    <a:lstStyle/>
                    <a:p>
                      <a:pPr algn="ctr"/>
                      <a:r>
                        <a:rPr sz="1400" b="0">
                          <a:solidFill>
                            <a:srgbClr val="142B33"/>
                          </a:solidFill>
                          <a:latin typeface="Calibri"/>
                        </a:rPr>
                        <a:t>A</a:t>
                      </a:r>
                    </a:p>
                  </a:txBody>
                  <a:tcPr marL="73152" marR="73152" marT="27432" marB="27432" anchor="ctr">
                    <a:solidFill>
                      <a:srgbClr val="FFFFFF"/>
                    </a:solidFill>
                  </a:tcPr>
                </a:tc>
                <a:tc>
                  <a:txBody>
                    <a:bodyPr/>
                    <a:lstStyle/>
                    <a:p>
                      <a:pPr algn="ctr"/>
                      <a:r>
                        <a:rPr sz="1400" b="0">
                          <a:solidFill>
                            <a:srgbClr val="142B33"/>
                          </a:solidFill>
                          <a:latin typeface="Calibri"/>
                        </a:rPr>
                        <a:t>A + BD + CE + FG</a:t>
                      </a:r>
                    </a:p>
                  </a:txBody>
                  <a:tcPr marL="73152" marR="73152" marT="27432" marB="27432" anchor="ctr">
                    <a:solidFill>
                      <a:srgbClr val="FFFFFF"/>
                    </a:solidFill>
                  </a:tcPr>
                </a:tc>
              </a:tr>
              <a:tr h="335788">
                <a:tc>
                  <a:txBody>
                    <a:bodyPr/>
                    <a:lstStyle/>
                    <a:p>
                      <a:pPr algn="ctr"/>
                      <a:r>
                        <a:rPr sz="1400" b="0">
                          <a:solidFill>
                            <a:srgbClr val="142B33"/>
                          </a:solidFill>
                          <a:latin typeface="Calibri"/>
                        </a:rPr>
                        <a:t>B</a:t>
                      </a:r>
                    </a:p>
                  </a:txBody>
                  <a:tcPr marL="73152" marR="73152" marT="27432" marB="27432" anchor="ctr">
                    <a:solidFill>
                      <a:srgbClr val="F4F8F9"/>
                    </a:solidFill>
                  </a:tcPr>
                </a:tc>
                <a:tc>
                  <a:txBody>
                    <a:bodyPr/>
                    <a:lstStyle/>
                    <a:p>
                      <a:pPr algn="ctr"/>
                      <a:r>
                        <a:rPr sz="1400" b="0">
                          <a:solidFill>
                            <a:srgbClr val="142B33"/>
                          </a:solidFill>
                          <a:latin typeface="Calibri"/>
                        </a:rPr>
                        <a:t>B + AD + CF + EG</a:t>
                      </a:r>
                    </a:p>
                  </a:txBody>
                  <a:tcPr marL="73152" marR="73152" marT="27432" marB="27432" anchor="ctr">
                    <a:solidFill>
                      <a:srgbClr val="F4F8F9"/>
                    </a:solidFill>
                  </a:tcPr>
                </a:tc>
              </a:tr>
              <a:tr h="335788">
                <a:tc>
                  <a:txBody>
                    <a:bodyPr/>
                    <a:lstStyle/>
                    <a:p>
                      <a:pPr algn="ctr"/>
                      <a:r>
                        <a:rPr sz="1400" b="0">
                          <a:solidFill>
                            <a:srgbClr val="142B33"/>
                          </a:solidFill>
                          <a:latin typeface="Calibri"/>
                        </a:rPr>
                        <a:t>C</a:t>
                      </a:r>
                    </a:p>
                  </a:txBody>
                  <a:tcPr marL="73152" marR="73152" marT="27432" marB="27432" anchor="ctr">
                    <a:solidFill>
                      <a:srgbClr val="FFFFFF"/>
                    </a:solidFill>
                  </a:tcPr>
                </a:tc>
                <a:tc>
                  <a:txBody>
                    <a:bodyPr/>
                    <a:lstStyle/>
                    <a:p>
                      <a:pPr algn="ctr"/>
                      <a:r>
                        <a:rPr sz="1400" b="0">
                          <a:solidFill>
                            <a:srgbClr val="142B33"/>
                          </a:solidFill>
                          <a:latin typeface="Calibri"/>
                        </a:rPr>
                        <a:t>C + AE + BF + DG</a:t>
                      </a:r>
                    </a:p>
                  </a:txBody>
                  <a:tcPr marL="73152" marR="73152" marT="27432" marB="27432" anchor="ctr">
                    <a:solidFill>
                      <a:srgbClr val="FFFFFF"/>
                    </a:solidFill>
                  </a:tcPr>
                </a:tc>
              </a:tr>
              <a:tr h="335788">
                <a:tc>
                  <a:txBody>
                    <a:bodyPr/>
                    <a:lstStyle/>
                    <a:p>
                      <a:pPr algn="ctr"/>
                      <a:r>
                        <a:rPr sz="1400" b="0">
                          <a:solidFill>
                            <a:srgbClr val="142B33"/>
                          </a:solidFill>
                          <a:latin typeface="Calibri"/>
                        </a:rPr>
                        <a:t>D</a:t>
                      </a:r>
                    </a:p>
                  </a:txBody>
                  <a:tcPr marL="73152" marR="73152" marT="27432" marB="27432" anchor="ctr">
                    <a:solidFill>
                      <a:srgbClr val="F4F8F9"/>
                    </a:solidFill>
                  </a:tcPr>
                </a:tc>
                <a:tc>
                  <a:txBody>
                    <a:bodyPr/>
                    <a:lstStyle/>
                    <a:p>
                      <a:pPr algn="ctr"/>
                      <a:r>
                        <a:rPr sz="1400" b="0">
                          <a:solidFill>
                            <a:srgbClr val="142B33"/>
                          </a:solidFill>
                          <a:latin typeface="Calibri"/>
                        </a:rPr>
                        <a:t>D + AB + CG + EF</a:t>
                      </a:r>
                    </a:p>
                  </a:txBody>
                  <a:tcPr marL="73152" marR="73152" marT="27432" marB="27432" anchor="ctr">
                    <a:solidFill>
                      <a:srgbClr val="F4F8F9"/>
                    </a:solidFill>
                  </a:tcPr>
                </a:tc>
              </a:tr>
              <a:tr h="335788">
                <a:tc>
                  <a:txBody>
                    <a:bodyPr/>
                    <a:lstStyle/>
                    <a:p>
                      <a:pPr algn="ctr"/>
                      <a:r>
                        <a:rPr sz="1400" b="0">
                          <a:solidFill>
                            <a:srgbClr val="142B33"/>
                          </a:solidFill>
                          <a:latin typeface="Calibri"/>
                        </a:rPr>
                        <a:t>E</a:t>
                      </a:r>
                    </a:p>
                  </a:txBody>
                  <a:tcPr marL="73152" marR="73152" marT="27432" marB="27432" anchor="ctr">
                    <a:solidFill>
                      <a:srgbClr val="FFFFFF"/>
                    </a:solidFill>
                  </a:tcPr>
                </a:tc>
                <a:tc>
                  <a:txBody>
                    <a:bodyPr/>
                    <a:lstStyle/>
                    <a:p>
                      <a:pPr algn="ctr"/>
                      <a:r>
                        <a:rPr sz="1400" b="0">
                          <a:solidFill>
                            <a:srgbClr val="142B33"/>
                          </a:solidFill>
                          <a:latin typeface="Calibri"/>
                        </a:rPr>
                        <a:t>E + AC + BG + DF</a:t>
                      </a:r>
                    </a:p>
                  </a:txBody>
                  <a:tcPr marL="73152" marR="73152" marT="27432" marB="27432" anchor="ctr">
                    <a:solidFill>
                      <a:srgbClr val="FFFFFF"/>
                    </a:solidFill>
                  </a:tcPr>
                </a:tc>
              </a:tr>
              <a:tr h="335788">
                <a:tc>
                  <a:txBody>
                    <a:bodyPr/>
                    <a:lstStyle/>
                    <a:p>
                      <a:pPr algn="ctr"/>
                      <a:r>
                        <a:rPr sz="1400" b="0">
                          <a:solidFill>
                            <a:srgbClr val="142B33"/>
                          </a:solidFill>
                          <a:latin typeface="Calibri"/>
                        </a:rPr>
                        <a:t>F</a:t>
                      </a:r>
                    </a:p>
                  </a:txBody>
                  <a:tcPr marL="73152" marR="73152" marT="27432" marB="27432" anchor="ctr">
                    <a:solidFill>
                      <a:srgbClr val="F4F8F9"/>
                    </a:solidFill>
                  </a:tcPr>
                </a:tc>
                <a:tc>
                  <a:txBody>
                    <a:bodyPr/>
                    <a:lstStyle/>
                    <a:p>
                      <a:pPr algn="ctr"/>
                      <a:r>
                        <a:rPr sz="1400" b="0">
                          <a:solidFill>
                            <a:srgbClr val="142B33"/>
                          </a:solidFill>
                          <a:latin typeface="Calibri"/>
                        </a:rPr>
                        <a:t>F + BC + AG + DE</a:t>
                      </a:r>
                    </a:p>
                  </a:txBody>
                  <a:tcPr marL="73152" marR="73152" marT="27432" marB="27432" anchor="ctr">
                    <a:solidFill>
                      <a:srgbClr val="F4F8F9"/>
                    </a:solidFill>
                  </a:tcPr>
                </a:tc>
              </a:tr>
              <a:tr h="335788">
                <a:tc>
                  <a:txBody>
                    <a:bodyPr/>
                    <a:lstStyle/>
                    <a:p>
                      <a:pPr algn="ctr"/>
                      <a:r>
                        <a:rPr sz="1400" b="0">
                          <a:solidFill>
                            <a:srgbClr val="142B33"/>
                          </a:solidFill>
                          <a:latin typeface="Calibri"/>
                        </a:rPr>
                        <a:t>G</a:t>
                      </a:r>
                    </a:p>
                  </a:txBody>
                  <a:tcPr marL="73152" marR="73152" marT="27432" marB="27432" anchor="ctr">
                    <a:solidFill>
                      <a:srgbClr val="FFFFFF"/>
                    </a:solidFill>
                  </a:tcPr>
                </a:tc>
                <a:tc>
                  <a:txBody>
                    <a:bodyPr/>
                    <a:lstStyle/>
                    <a:p>
                      <a:pPr algn="ctr"/>
                      <a:r>
                        <a:rPr sz="1400" b="0">
                          <a:solidFill>
                            <a:srgbClr val="142B33"/>
                          </a:solidFill>
                          <a:latin typeface="Calibri"/>
                        </a:rPr>
                        <a:t>G + CD + BE + AF</a:t>
                      </a:r>
                    </a:p>
                  </a:txBody>
                  <a:tcPr marL="73152" marR="73152" marT="27432" marB="27432" anchor="ctr">
                    <a:solidFill>
                      <a:srgbClr val="FFFFFF"/>
                    </a:solidFill>
                  </a:tcPr>
                </a:tc>
              </a:tr>
            </a:tbl>
          </a:graphicData>
        </a:graphic>
      </p:graphicFrame>
      <p:sp>
        <p:nvSpPr>
          <p:cNvPr id="6" name="Rounded Rectangle 5"/>
          <p:cNvSpPr/>
          <p:nvPr/>
        </p:nvSpPr>
        <p:spPr>
          <a:xfrm>
            <a:off x="6835734" y="4304792"/>
            <a:ext cx="4807320"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8 corridas, 7 efectos: </a:t>
            </a:r>
            <a:r>
              <a:rPr sz="1500" b="1">
                <a:solidFill>
                  <a:srgbClr val="142B33"/>
                </a:solidFill>
                <a:latin typeface="Calibri"/>
              </a:rPr>
              <a:t>0 grados de libertad</a:t>
            </a:r>
            <a:r>
              <a:rPr sz="1500" b="0">
                <a:solidFill>
                  <a:srgbClr val="142B33"/>
                </a:solidFill>
                <a:latin typeface="Calibri"/>
              </a:rPr>
              <a:t> para el error</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Diseños de resolución III</a:t>
            </a:r>
          </a:p>
        </p:txBody>
      </p:sp>
      <p:sp>
        <p:nvSpPr>
          <p:cNvPr id="8" name="TextBox 7"/>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93</a:t>
            </a:r>
          </a:p>
        </p:txBody>
      </p:sp>
      <p:sp>
        <p:nvSpPr>
          <p:cNvPr id="9" name="Rounded Rectangle 8"/>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8 · Diseños de resolución III</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Vibración · Pareto y Daniel: ¿qué efectos son activos?</a:t>
            </a:r>
          </a:p>
        </p:txBody>
      </p:sp>
      <p:graphicFrame>
        <p:nvGraphicFramePr>
          <p:cNvPr id="3" name="Chart 2"/>
          <p:cNvGraphicFramePr>
            <a:graphicFrameLocks noGrp="1"/>
          </p:cNvGraphicFramePr>
          <p:nvPr/>
        </p:nvGraphicFramePr>
        <p:xfrm>
          <a:off x="548640" y="1417320"/>
          <a:ext cx="5341467" cy="3474720"/>
        </p:xfrm>
        <a:graphic>
          <a:graphicData uri="http://schemas.openxmlformats.org/drawingml/2006/chart">
            <c:chart xmlns:c="http://schemas.openxmlformats.org/drawingml/2006/chart" r:id="rId2"/>
          </a:graphicData>
        </a:graphic>
      </p:graphicFrame>
      <p:sp>
        <p:nvSpPr>
          <p:cNvPr id="4" name="Rounded Rectangle 3"/>
          <p:cNvSpPr/>
          <p:nvPr/>
        </p:nvSpPr>
        <p:spPr>
          <a:xfrm>
            <a:off x="548640" y="5093207"/>
            <a:ext cx="5341467" cy="50673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Tres barras grandes: </a:t>
            </a:r>
            <a:r>
              <a:rPr sz="1500" b="1">
                <a:solidFill>
                  <a:srgbClr val="142B33"/>
                </a:solidFill>
                <a:latin typeface="Calibri"/>
              </a:rPr>
              <a:t>E, C y A</a:t>
            </a:r>
          </a:p>
        </p:txBody>
      </p:sp>
      <p:graphicFrame>
        <p:nvGraphicFramePr>
          <p:cNvPr id="5" name="Chart 4"/>
          <p:cNvGraphicFramePr>
            <a:graphicFrameLocks noGrp="1"/>
          </p:cNvGraphicFramePr>
          <p:nvPr/>
        </p:nvGraphicFramePr>
        <p:xfrm>
          <a:off x="6301587" y="1417320"/>
          <a:ext cx="5341467" cy="3474720"/>
        </p:xfrm>
        <a:graphic>
          <a:graphicData uri="http://schemas.openxmlformats.org/drawingml/2006/chart">
            <c:chart xmlns:c="http://schemas.openxmlformats.org/drawingml/2006/chart" r:id="rId3"/>
          </a:graphicData>
        </a:graphic>
      </p:graphicFrame>
      <p:sp>
        <p:nvSpPr>
          <p:cNvPr id="6" name="Rounded Rectangle 5"/>
          <p:cNvSpPr/>
          <p:nvPr/>
        </p:nvSpPr>
        <p:spPr>
          <a:xfrm>
            <a:off x="6301587" y="5093207"/>
            <a:ext cx="5341467" cy="708151"/>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400" b="0">
                <a:solidFill>
                  <a:srgbClr val="142B33"/>
                </a:solidFill>
                <a:latin typeface="Calibri"/>
              </a:rPr>
              <a:t>Sobre la recta: </a:t>
            </a:r>
            <a:r>
              <a:rPr sz="1400" b="1">
                <a:solidFill>
                  <a:srgbClr val="142B33"/>
                </a:solidFill>
                <a:latin typeface="Calibri"/>
              </a:rPr>
              <a:t>B, D, F, G</a:t>
            </a:r>
            <a:r>
              <a:rPr sz="1400" b="0">
                <a:solidFill>
                  <a:srgbClr val="142B33"/>
                </a:solidFill>
                <a:latin typeface="Calibri"/>
              </a:rPr>
              <a:t> → al error.  Fuera: </a:t>
            </a:r>
            <a:r>
              <a:rPr sz="1400" b="1">
                <a:solidFill>
                  <a:srgbClr val="142B33"/>
                </a:solidFill>
                <a:latin typeface="Calibri"/>
              </a:rPr>
              <a:t>A, C, E</a:t>
            </a:r>
            <a:r>
              <a:rPr sz="1400" b="0">
                <a:solidFill>
                  <a:srgbClr val="142B33"/>
                </a:solidFill>
                <a:latin typeface="Calibri"/>
              </a:rPr>
              <a:t> → al modelo</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Diseños de resolución III</a:t>
            </a:r>
          </a:p>
        </p:txBody>
      </p:sp>
      <p:sp>
        <p:nvSpPr>
          <p:cNvPr id="8" name="TextBox 7"/>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94</a:t>
            </a:r>
          </a:p>
        </p:txBody>
      </p:sp>
      <p:sp>
        <p:nvSpPr>
          <p:cNvPr id="9" name="Rounded Rectangle 8"/>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8 · Diseños de resolución III</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Vibración · Mejor ANOVA y mejor tratamiento</a:t>
            </a:r>
          </a:p>
        </p:txBody>
      </p:sp>
      <p:graphicFrame>
        <p:nvGraphicFramePr>
          <p:cNvPr id="3" name="Table 2"/>
          <p:cNvGraphicFramePr>
            <a:graphicFrameLocks noGrp="1"/>
          </p:cNvGraphicFramePr>
          <p:nvPr/>
        </p:nvGraphicFramePr>
        <p:xfrm>
          <a:off x="548640" y="1417320"/>
          <a:ext cx="5555125" cy="2107692"/>
        </p:xfrm>
        <a:graphic>
          <a:graphicData uri="http://schemas.openxmlformats.org/drawingml/2006/table">
            <a:tbl>
              <a:tblPr firstRow="0" bandRow="0">
                <a:tableStyleId>{5C22544A-7EE6-4342-B048-85BDC9FD1C3A}</a:tableStyleId>
              </a:tblPr>
              <a:tblGrid>
                <a:gridCol w="1322649"/>
                <a:gridCol w="930753"/>
                <a:gridCol w="499667"/>
                <a:gridCol w="930753"/>
                <a:gridCol w="734805"/>
                <a:gridCol w="1136498"/>
              </a:tblGrid>
              <a:tr h="351282">
                <a:tc>
                  <a:txBody>
                    <a:bodyPr/>
                    <a:lstStyle/>
                    <a:p>
                      <a:pPr algn="l"/>
                      <a:r>
                        <a:rPr sz="1500" b="1">
                          <a:solidFill>
                            <a:srgbClr val="FFFFFF"/>
                          </a:solidFill>
                          <a:latin typeface="Calibri"/>
                        </a:rPr>
                        <a:t>SV</a:t>
                      </a:r>
                    </a:p>
                  </a:txBody>
                  <a:tcPr marL="73152" marR="73152" marT="27432" marB="27432" anchor="ctr">
                    <a:solidFill>
                      <a:srgbClr val="0F4C5C"/>
                    </a:solidFill>
                  </a:tcPr>
                </a:tc>
                <a:tc>
                  <a:txBody>
                    <a:bodyPr/>
                    <a:lstStyle/>
                    <a:p>
                      <a:pPr algn="ctr"/>
                      <a:r>
                        <a:rPr sz="1500" b="1">
                          <a:solidFill>
                            <a:srgbClr val="FFFFFF"/>
                          </a:solidFill>
                          <a:latin typeface="Calibri"/>
                        </a:rPr>
                        <a:t>SS</a:t>
                      </a:r>
                    </a:p>
                  </a:txBody>
                  <a:tcPr marL="73152" marR="73152" marT="27432" marB="27432" anchor="ctr">
                    <a:solidFill>
                      <a:srgbClr val="0F4C5C"/>
                    </a:solidFill>
                  </a:tcPr>
                </a:tc>
                <a:tc>
                  <a:txBody>
                    <a:bodyPr/>
                    <a:lstStyle/>
                    <a:p>
                      <a:pPr algn="ctr"/>
                      <a:r>
                        <a:rPr sz="1500" b="1">
                          <a:solidFill>
                            <a:srgbClr val="FFFFFF"/>
                          </a:solidFill>
                          <a:latin typeface="Calibri"/>
                        </a:rPr>
                        <a:t>DF</a:t>
                      </a:r>
                    </a:p>
                  </a:txBody>
                  <a:tcPr marL="73152" marR="73152" marT="27432" marB="27432" anchor="ctr">
                    <a:solidFill>
                      <a:srgbClr val="0F4C5C"/>
                    </a:solidFill>
                  </a:tcPr>
                </a:tc>
                <a:tc>
                  <a:txBody>
                    <a:bodyPr/>
                    <a:lstStyle/>
                    <a:p>
                      <a:pPr algn="ctr"/>
                      <a:r>
                        <a:rPr sz="1500" b="1">
                          <a:solidFill>
                            <a:srgbClr val="FFFFFF"/>
                          </a:solidFill>
                          <a:latin typeface="Calibri"/>
                        </a:rPr>
                        <a:t>MS</a:t>
                      </a:r>
                    </a:p>
                  </a:txBody>
                  <a:tcPr marL="73152" marR="73152" marT="27432" marB="27432" anchor="ctr">
                    <a:solidFill>
                      <a:srgbClr val="0F4C5C"/>
                    </a:solidFill>
                  </a:tcPr>
                </a:tc>
                <a:tc>
                  <a:txBody>
                    <a:bodyPr/>
                    <a:lstStyle/>
                    <a:p>
                      <a:pPr algn="ctr"/>
                      <a:r>
                        <a:rPr sz="1500" b="1">
                          <a:solidFill>
                            <a:srgbClr val="FFFFFF"/>
                          </a:solidFill>
                          <a:latin typeface="Calibri"/>
                        </a:rPr>
                        <a:t>F</a:t>
                      </a:r>
                      <a:r>
                        <a:rPr sz="1500" b="1" baseline="-25000">
                          <a:solidFill>
                            <a:srgbClr val="FFFFFF"/>
                          </a:solidFill>
                          <a:latin typeface="Calibri"/>
                        </a:rPr>
                        <a:t>0</a:t>
                      </a:r>
                    </a:p>
                  </a:txBody>
                  <a:tcPr marL="73152" marR="73152" marT="27432" marB="27432" anchor="ctr">
                    <a:solidFill>
                      <a:srgbClr val="0F4C5C"/>
                    </a:solidFill>
                  </a:tcPr>
                </a:tc>
                <a:tc>
                  <a:txBody>
                    <a:bodyPr/>
                    <a:lstStyle/>
                    <a:p>
                      <a:pPr algn="ctr"/>
                      <a:r>
                        <a:rPr sz="1500" b="1">
                          <a:solidFill>
                            <a:srgbClr val="FFFFFF"/>
                          </a:solidFill>
                          <a:latin typeface="Calibri"/>
                        </a:rPr>
                        <a:t>P-Value</a:t>
                      </a:r>
                    </a:p>
                  </a:txBody>
                  <a:tcPr marL="73152" marR="73152" marT="27432" marB="27432" anchor="ctr">
                    <a:solidFill>
                      <a:srgbClr val="0F4C5C"/>
                    </a:solidFill>
                  </a:tcPr>
                </a:tc>
              </a:tr>
              <a:tr h="351282">
                <a:tc>
                  <a:txBody>
                    <a:bodyPr/>
                    <a:lstStyle/>
                    <a:p>
                      <a:pPr algn="l"/>
                      <a:r>
                        <a:rPr sz="1500" b="0">
                          <a:solidFill>
                            <a:srgbClr val="142B33"/>
                          </a:solidFill>
                          <a:latin typeface="Calibri"/>
                        </a:rPr>
                        <a:t>A: grano</a:t>
                      </a:r>
                    </a:p>
                  </a:txBody>
                  <a:tcPr marL="73152" marR="73152" marT="27432" marB="27432" anchor="ctr">
                    <a:solidFill>
                      <a:srgbClr val="FFFFFF"/>
                    </a:solidFill>
                  </a:tcPr>
                </a:tc>
                <a:tc>
                  <a:txBody>
                    <a:bodyPr/>
                    <a:lstStyle/>
                    <a:p>
                      <a:pPr algn="ctr"/>
                      <a:r>
                        <a:rPr sz="1500" b="0">
                          <a:solidFill>
                            <a:srgbClr val="142B33"/>
                          </a:solidFill>
                          <a:latin typeface="Calibri"/>
                        </a:rPr>
                        <a:t>208.08</a:t>
                      </a:r>
                    </a:p>
                  </a:txBody>
                  <a:tcPr marL="73152" marR="73152" marT="27432" marB="27432" anchor="ctr">
                    <a:solidFill>
                      <a:srgbClr val="FFFFFF"/>
                    </a:solidFill>
                  </a:tcPr>
                </a:tc>
                <a:tc>
                  <a:txBody>
                    <a:bodyPr/>
                    <a:lstStyle/>
                    <a:p>
                      <a:pPr algn="ctr"/>
                      <a:r>
                        <a:rPr sz="1500" b="0">
                          <a:solidFill>
                            <a:srgbClr val="142B33"/>
                          </a:solidFill>
                          <a:latin typeface="Calibri"/>
                        </a:rPr>
                        <a:t>1</a:t>
                      </a:r>
                    </a:p>
                  </a:txBody>
                  <a:tcPr marL="73152" marR="73152" marT="27432" marB="27432" anchor="ctr">
                    <a:solidFill>
                      <a:srgbClr val="FFFFFF"/>
                    </a:solidFill>
                  </a:tcPr>
                </a:tc>
                <a:tc>
                  <a:txBody>
                    <a:bodyPr/>
                    <a:lstStyle/>
                    <a:p>
                      <a:pPr algn="ctr"/>
                      <a:r>
                        <a:rPr sz="1500" b="0">
                          <a:solidFill>
                            <a:srgbClr val="142B33"/>
                          </a:solidFill>
                          <a:latin typeface="Calibri"/>
                        </a:rPr>
                        <a:t>208.08</a:t>
                      </a:r>
                    </a:p>
                  </a:txBody>
                  <a:tcPr marL="73152" marR="73152" marT="27432" marB="27432" anchor="ctr">
                    <a:solidFill>
                      <a:srgbClr val="FFFFFF"/>
                    </a:solidFill>
                  </a:tcPr>
                </a:tc>
                <a:tc>
                  <a:txBody>
                    <a:bodyPr/>
                    <a:lstStyle/>
                    <a:p>
                      <a:pPr algn="ctr"/>
                      <a:r>
                        <a:rPr sz="1500" b="0">
                          <a:solidFill>
                            <a:srgbClr val="142B33"/>
                          </a:solidFill>
                          <a:latin typeface="Calibri"/>
                        </a:rPr>
                        <a:t>12.58</a:t>
                      </a:r>
                    </a:p>
                  </a:txBody>
                  <a:tcPr marL="73152" marR="73152" marT="27432" marB="27432" anchor="ctr">
                    <a:solidFill>
                      <a:srgbClr val="FFFFFF"/>
                    </a:solidFill>
                  </a:tcPr>
                </a:tc>
                <a:tc>
                  <a:txBody>
                    <a:bodyPr/>
                    <a:lstStyle/>
                    <a:p>
                      <a:pPr algn="ctr"/>
                      <a:r>
                        <a:rPr sz="1500" b="0">
                          <a:solidFill>
                            <a:srgbClr val="142B33"/>
                          </a:solidFill>
                          <a:latin typeface="Calibri"/>
                        </a:rPr>
                        <a:t>0.0239</a:t>
                      </a:r>
                    </a:p>
                  </a:txBody>
                  <a:tcPr marL="73152" marR="73152" marT="27432" marB="27432" anchor="ctr">
                    <a:solidFill>
                      <a:srgbClr val="FFFFFF"/>
                    </a:solidFill>
                  </a:tcPr>
                </a:tc>
              </a:tr>
              <a:tr h="351282">
                <a:tc>
                  <a:txBody>
                    <a:bodyPr/>
                    <a:lstStyle/>
                    <a:p>
                      <a:pPr algn="l"/>
                      <a:r>
                        <a:rPr sz="1500" b="0">
                          <a:solidFill>
                            <a:srgbClr val="142B33"/>
                          </a:solidFill>
                          <a:latin typeface="Calibri"/>
                        </a:rPr>
                        <a:t>C: diámetro</a:t>
                      </a:r>
                    </a:p>
                  </a:txBody>
                  <a:tcPr marL="73152" marR="73152" marT="27432" marB="27432" anchor="ctr">
                    <a:solidFill>
                      <a:srgbClr val="F4F8F9"/>
                    </a:solidFill>
                  </a:tcPr>
                </a:tc>
                <a:tc>
                  <a:txBody>
                    <a:bodyPr/>
                    <a:lstStyle/>
                    <a:p>
                      <a:pPr algn="ctr"/>
                      <a:r>
                        <a:rPr sz="1500" b="0">
                          <a:solidFill>
                            <a:srgbClr val="142B33"/>
                          </a:solidFill>
                          <a:latin typeface="Calibri"/>
                        </a:rPr>
                        <a:t>544.50</a:t>
                      </a:r>
                    </a:p>
                  </a:txBody>
                  <a:tcPr marL="73152" marR="73152" marT="27432" marB="27432" anchor="ctr">
                    <a:solidFill>
                      <a:srgbClr val="F4F8F9"/>
                    </a:solidFill>
                  </a:tcPr>
                </a:tc>
                <a:tc>
                  <a:txBody>
                    <a:bodyPr/>
                    <a:lstStyle/>
                    <a:p>
                      <a:pPr algn="ctr"/>
                      <a:r>
                        <a:rPr sz="1500" b="0">
                          <a:solidFill>
                            <a:srgbClr val="142B33"/>
                          </a:solidFill>
                          <a:latin typeface="Calibri"/>
                        </a:rPr>
                        <a:t>1</a:t>
                      </a:r>
                    </a:p>
                  </a:txBody>
                  <a:tcPr marL="73152" marR="73152" marT="27432" marB="27432" anchor="ctr">
                    <a:solidFill>
                      <a:srgbClr val="F4F8F9"/>
                    </a:solidFill>
                  </a:tcPr>
                </a:tc>
                <a:tc>
                  <a:txBody>
                    <a:bodyPr/>
                    <a:lstStyle/>
                    <a:p>
                      <a:pPr algn="ctr"/>
                      <a:r>
                        <a:rPr sz="1500" b="0">
                          <a:solidFill>
                            <a:srgbClr val="142B33"/>
                          </a:solidFill>
                          <a:latin typeface="Calibri"/>
                        </a:rPr>
                        <a:t>544.50</a:t>
                      </a:r>
                    </a:p>
                  </a:txBody>
                  <a:tcPr marL="73152" marR="73152" marT="27432" marB="27432" anchor="ctr">
                    <a:solidFill>
                      <a:srgbClr val="F4F8F9"/>
                    </a:solidFill>
                  </a:tcPr>
                </a:tc>
                <a:tc>
                  <a:txBody>
                    <a:bodyPr/>
                    <a:lstStyle/>
                    <a:p>
                      <a:pPr algn="ctr"/>
                      <a:r>
                        <a:rPr sz="1500" b="0">
                          <a:solidFill>
                            <a:srgbClr val="142B33"/>
                          </a:solidFill>
                          <a:latin typeface="Calibri"/>
                        </a:rPr>
                        <a:t>32.93</a:t>
                      </a:r>
                    </a:p>
                  </a:txBody>
                  <a:tcPr marL="73152" marR="73152" marT="27432" marB="27432" anchor="ctr">
                    <a:solidFill>
                      <a:srgbClr val="F4F8F9"/>
                    </a:solidFill>
                  </a:tcPr>
                </a:tc>
                <a:tc>
                  <a:txBody>
                    <a:bodyPr/>
                    <a:lstStyle/>
                    <a:p>
                      <a:pPr algn="ctr"/>
                      <a:r>
                        <a:rPr sz="1500" b="0">
                          <a:solidFill>
                            <a:srgbClr val="142B33"/>
                          </a:solidFill>
                          <a:latin typeface="Calibri"/>
                        </a:rPr>
                        <a:t>0.0046</a:t>
                      </a:r>
                    </a:p>
                  </a:txBody>
                  <a:tcPr marL="73152" marR="73152" marT="27432" marB="27432" anchor="ctr">
                    <a:solidFill>
                      <a:srgbClr val="F4F8F9"/>
                    </a:solidFill>
                  </a:tcPr>
                </a:tc>
              </a:tr>
              <a:tr h="351282">
                <a:tc>
                  <a:txBody>
                    <a:bodyPr/>
                    <a:lstStyle/>
                    <a:p>
                      <a:pPr algn="l"/>
                      <a:r>
                        <a:rPr sz="1500" b="0">
                          <a:solidFill>
                            <a:srgbClr val="142B33"/>
                          </a:solidFill>
                          <a:latin typeface="Calibri"/>
                        </a:rPr>
                        <a:t>E: precarga</a:t>
                      </a:r>
                    </a:p>
                  </a:txBody>
                  <a:tcPr marL="73152" marR="73152" marT="27432" marB="27432" anchor="ctr">
                    <a:solidFill>
                      <a:srgbClr val="FFFFFF"/>
                    </a:solidFill>
                  </a:tcPr>
                </a:tc>
                <a:tc>
                  <a:txBody>
                    <a:bodyPr/>
                    <a:lstStyle/>
                    <a:p>
                      <a:pPr algn="ctr"/>
                      <a:r>
                        <a:rPr sz="1500" b="0">
                          <a:solidFill>
                            <a:srgbClr val="142B33"/>
                          </a:solidFill>
                          <a:latin typeface="Calibri"/>
                        </a:rPr>
                        <a:t>1021.52</a:t>
                      </a:r>
                    </a:p>
                  </a:txBody>
                  <a:tcPr marL="73152" marR="73152" marT="27432" marB="27432" anchor="ctr">
                    <a:solidFill>
                      <a:srgbClr val="FFFFFF"/>
                    </a:solidFill>
                  </a:tcPr>
                </a:tc>
                <a:tc>
                  <a:txBody>
                    <a:bodyPr/>
                    <a:lstStyle/>
                    <a:p>
                      <a:pPr algn="ctr"/>
                      <a:r>
                        <a:rPr sz="1500" b="0">
                          <a:solidFill>
                            <a:srgbClr val="142B33"/>
                          </a:solidFill>
                          <a:latin typeface="Calibri"/>
                        </a:rPr>
                        <a:t>1</a:t>
                      </a:r>
                    </a:p>
                  </a:txBody>
                  <a:tcPr marL="73152" marR="73152" marT="27432" marB="27432" anchor="ctr">
                    <a:solidFill>
                      <a:srgbClr val="FFFFFF"/>
                    </a:solidFill>
                  </a:tcPr>
                </a:tc>
                <a:tc>
                  <a:txBody>
                    <a:bodyPr/>
                    <a:lstStyle/>
                    <a:p>
                      <a:pPr algn="ctr"/>
                      <a:r>
                        <a:rPr sz="1500" b="0">
                          <a:solidFill>
                            <a:srgbClr val="142B33"/>
                          </a:solidFill>
                          <a:latin typeface="Calibri"/>
                        </a:rPr>
                        <a:t>1021.52</a:t>
                      </a:r>
                    </a:p>
                  </a:txBody>
                  <a:tcPr marL="73152" marR="73152" marT="27432" marB="27432" anchor="ctr">
                    <a:solidFill>
                      <a:srgbClr val="FFFFFF"/>
                    </a:solidFill>
                  </a:tcPr>
                </a:tc>
                <a:tc>
                  <a:txBody>
                    <a:bodyPr/>
                    <a:lstStyle/>
                    <a:p>
                      <a:pPr algn="ctr"/>
                      <a:r>
                        <a:rPr sz="1500" b="0">
                          <a:solidFill>
                            <a:srgbClr val="142B33"/>
                          </a:solidFill>
                          <a:latin typeface="Calibri"/>
                        </a:rPr>
                        <a:t>61.78</a:t>
                      </a:r>
                    </a:p>
                  </a:txBody>
                  <a:tcPr marL="73152" marR="73152" marT="27432" marB="27432" anchor="ctr">
                    <a:solidFill>
                      <a:srgbClr val="FFFFFF"/>
                    </a:solidFill>
                  </a:tcPr>
                </a:tc>
                <a:tc>
                  <a:txBody>
                    <a:bodyPr/>
                    <a:lstStyle/>
                    <a:p>
                      <a:pPr algn="ctr"/>
                      <a:r>
                        <a:rPr sz="1500" b="0">
                          <a:solidFill>
                            <a:srgbClr val="142B33"/>
                          </a:solidFill>
                          <a:latin typeface="Calibri"/>
                        </a:rPr>
                        <a:t>0.0014</a:t>
                      </a:r>
                    </a:p>
                  </a:txBody>
                  <a:tcPr marL="73152" marR="73152" marT="27432" marB="27432" anchor="ctr">
                    <a:solidFill>
                      <a:srgbClr val="FFFFFF"/>
                    </a:solidFill>
                  </a:tcPr>
                </a:tc>
              </a:tr>
              <a:tr h="351282">
                <a:tc>
                  <a:txBody>
                    <a:bodyPr/>
                    <a:lstStyle/>
                    <a:p>
                      <a:pPr algn="l"/>
                      <a:r>
                        <a:rPr sz="1500" b="0">
                          <a:solidFill>
                            <a:srgbClr val="142B33"/>
                          </a:solidFill>
                          <a:latin typeface="Calibri"/>
                        </a:rPr>
                        <a:t>Error</a:t>
                      </a:r>
                    </a:p>
                  </a:txBody>
                  <a:tcPr marL="73152" marR="73152" marT="27432" marB="27432" anchor="ctr">
                    <a:solidFill>
                      <a:srgbClr val="F4F8F9"/>
                    </a:solidFill>
                  </a:tcPr>
                </a:tc>
                <a:tc>
                  <a:txBody>
                    <a:bodyPr/>
                    <a:lstStyle/>
                    <a:p>
                      <a:pPr algn="ctr"/>
                      <a:r>
                        <a:rPr sz="1500" b="0">
                          <a:solidFill>
                            <a:srgbClr val="142B33"/>
                          </a:solidFill>
                          <a:latin typeface="Calibri"/>
                        </a:rPr>
                        <a:t>66.14</a:t>
                      </a:r>
                    </a:p>
                  </a:txBody>
                  <a:tcPr marL="73152" marR="73152" marT="27432" marB="27432" anchor="ctr">
                    <a:solidFill>
                      <a:srgbClr val="F4F8F9"/>
                    </a:solidFill>
                  </a:tcPr>
                </a:tc>
                <a:tc>
                  <a:txBody>
                    <a:bodyPr/>
                    <a:lstStyle/>
                    <a:p>
                      <a:pPr algn="ctr"/>
                      <a:r>
                        <a:rPr sz="1500" b="0">
                          <a:solidFill>
                            <a:srgbClr val="142B33"/>
                          </a:solidFill>
                          <a:latin typeface="Calibri"/>
                        </a:rPr>
                        <a:t>4</a:t>
                      </a:r>
                    </a:p>
                  </a:txBody>
                  <a:tcPr marL="73152" marR="73152" marT="27432" marB="27432" anchor="ctr">
                    <a:solidFill>
                      <a:srgbClr val="F4F8F9"/>
                    </a:solidFill>
                  </a:tcPr>
                </a:tc>
                <a:tc>
                  <a:txBody>
                    <a:bodyPr/>
                    <a:lstStyle/>
                    <a:p>
                      <a:pPr algn="ctr"/>
                      <a:r>
                        <a:rPr sz="1500" b="0">
                          <a:solidFill>
                            <a:srgbClr val="142B33"/>
                          </a:solidFill>
                          <a:latin typeface="Calibri"/>
                        </a:rPr>
                        <a:t>16.535</a:t>
                      </a:r>
                    </a:p>
                  </a:txBody>
                  <a:tcPr marL="73152" marR="73152" marT="27432" marB="27432" anchor="ctr">
                    <a:solidFill>
                      <a:srgbClr val="F4F8F9"/>
                    </a:solidFill>
                  </a:tcPr>
                </a:tc>
                <a:tc>
                  <a:txBody>
                    <a:bodyPr/>
                    <a:lstStyle/>
                    <a:p>
                      <a:pPr algn="ctr"/>
                    </a:p>
                  </a:txBody>
                  <a:tcPr marL="73152" marR="73152" marT="27432" marB="27432" anchor="ctr">
                    <a:solidFill>
                      <a:srgbClr val="F4F8F9"/>
                    </a:solidFill>
                  </a:tcPr>
                </a:tc>
                <a:tc>
                  <a:txBody>
                    <a:bodyPr/>
                    <a:lstStyle/>
                    <a:p>
                      <a:pPr algn="ctr"/>
                    </a:p>
                  </a:txBody>
                  <a:tcPr marL="73152" marR="73152" marT="27432" marB="27432" anchor="ctr">
                    <a:solidFill>
                      <a:srgbClr val="F4F8F9"/>
                    </a:solidFill>
                  </a:tcPr>
                </a:tc>
              </a:tr>
              <a:tr h="351282">
                <a:tc>
                  <a:txBody>
                    <a:bodyPr/>
                    <a:lstStyle/>
                    <a:p>
                      <a:pPr algn="l"/>
                      <a:r>
                        <a:rPr sz="1500" b="0">
                          <a:solidFill>
                            <a:srgbClr val="142B33"/>
                          </a:solidFill>
                          <a:latin typeface="Calibri"/>
                        </a:rPr>
                        <a:t>Total</a:t>
                      </a:r>
                    </a:p>
                  </a:txBody>
                  <a:tcPr marL="73152" marR="73152" marT="27432" marB="27432" anchor="ctr">
                    <a:solidFill>
                      <a:srgbClr val="FFFFFF"/>
                    </a:solidFill>
                  </a:tcPr>
                </a:tc>
                <a:tc>
                  <a:txBody>
                    <a:bodyPr/>
                    <a:lstStyle/>
                    <a:p>
                      <a:pPr algn="ctr"/>
                      <a:r>
                        <a:rPr sz="1500" b="0">
                          <a:solidFill>
                            <a:srgbClr val="142B33"/>
                          </a:solidFill>
                          <a:latin typeface="Calibri"/>
                        </a:rPr>
                        <a:t>1840.24</a:t>
                      </a:r>
                    </a:p>
                  </a:txBody>
                  <a:tcPr marL="73152" marR="73152" marT="27432" marB="27432" anchor="ctr">
                    <a:solidFill>
                      <a:srgbClr val="FFFFFF"/>
                    </a:solidFill>
                  </a:tcPr>
                </a:tc>
                <a:tc>
                  <a:txBody>
                    <a:bodyPr/>
                    <a:lstStyle/>
                    <a:p>
                      <a:pPr algn="ctr"/>
                      <a:r>
                        <a:rPr sz="1500" b="0">
                          <a:solidFill>
                            <a:srgbClr val="142B33"/>
                          </a:solidFill>
                          <a:latin typeface="Calibri"/>
                        </a:rPr>
                        <a:t>7</a:t>
                      </a:r>
                    </a:p>
                  </a:txBody>
                  <a:tcPr marL="73152" marR="73152" marT="27432" marB="27432" anchor="ctr">
                    <a:solidFill>
                      <a:srgbClr val="FFFFFF"/>
                    </a:solidFill>
                  </a:tcPr>
                </a:tc>
                <a:tc>
                  <a:txBody>
                    <a:bodyPr/>
                    <a:lstStyle/>
                    <a:p>
                      <a:pPr algn="ctr"/>
                    </a:p>
                  </a:txBody>
                  <a:tcPr marL="73152" marR="73152" marT="27432" marB="27432" anchor="ctr">
                    <a:solidFill>
                      <a:srgbClr val="FFFFFF"/>
                    </a:solidFill>
                  </a:tcPr>
                </a:tc>
                <a:tc>
                  <a:txBody>
                    <a:bodyPr/>
                    <a:lstStyle/>
                    <a:p>
                      <a:pPr algn="ctr"/>
                    </a:p>
                  </a:txBody>
                  <a:tcPr marL="73152" marR="73152" marT="27432" marB="27432" anchor="ctr">
                    <a:solidFill>
                      <a:srgbClr val="FFFFFF"/>
                    </a:solidFill>
                  </a:tcPr>
                </a:tc>
                <a:tc>
                  <a:txBody>
                    <a:bodyPr/>
                    <a:lstStyle/>
                    <a:p>
                      <a:pPr algn="ctr"/>
                    </a:p>
                  </a:txBody>
                  <a:tcPr marL="73152" marR="73152" marT="27432" marB="27432" anchor="ctr">
                    <a:solidFill>
                      <a:srgbClr val="FFFFFF"/>
                    </a:solidFill>
                  </a:tcPr>
                </a:tc>
              </a:tr>
            </a:tbl>
          </a:graphicData>
        </a:graphic>
      </p:graphicFrame>
      <p:sp>
        <p:nvSpPr>
          <p:cNvPr id="4" name="Rounded Rectangle 3"/>
          <p:cNvSpPr/>
          <p:nvPr/>
        </p:nvSpPr>
        <p:spPr>
          <a:xfrm>
            <a:off x="548640" y="3726180"/>
            <a:ext cx="5555126" cy="551972"/>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0">
                <a:solidFill>
                  <a:srgbClr val="0F4C5C"/>
                </a:solidFill>
                <a:latin typeface="Cambria Math"/>
              </a:rPr>
              <a:t>ŷ = 65.20 + 5.10 x</a:t>
            </a:r>
            <a:r>
              <a:rPr sz="1600" b="0" baseline="-25000">
                <a:solidFill>
                  <a:srgbClr val="0F4C5C"/>
                </a:solidFill>
                <a:latin typeface="Cambria Math"/>
              </a:rPr>
              <a:t>A</a:t>
            </a:r>
            <a:r>
              <a:rPr sz="1600" b="0">
                <a:solidFill>
                  <a:srgbClr val="0F4C5C"/>
                </a:solidFill>
                <a:latin typeface="Cambria Math"/>
              </a:rPr>
              <a:t> − 8.25 x</a:t>
            </a:r>
            <a:r>
              <a:rPr sz="1600" b="0" baseline="-25000">
                <a:solidFill>
                  <a:srgbClr val="0F4C5C"/>
                </a:solidFill>
                <a:latin typeface="Cambria Math"/>
              </a:rPr>
              <a:t>C</a:t>
            </a:r>
            <a:r>
              <a:rPr sz="1600" b="0">
                <a:solidFill>
                  <a:srgbClr val="0F4C5C"/>
                </a:solidFill>
                <a:latin typeface="Cambria Math"/>
              </a:rPr>
              <a:t> + 11.30 x</a:t>
            </a:r>
            <a:r>
              <a:rPr sz="1600" b="0" baseline="-25000">
                <a:solidFill>
                  <a:srgbClr val="0F4C5C"/>
                </a:solidFill>
                <a:latin typeface="Cambria Math"/>
              </a:rPr>
              <a:t>E</a:t>
            </a:r>
          </a:p>
        </p:txBody>
      </p:sp>
      <p:sp>
        <p:nvSpPr>
          <p:cNvPr id="5" name="TextBox 4"/>
          <p:cNvSpPr txBox="1"/>
          <p:nvPr/>
        </p:nvSpPr>
        <p:spPr>
          <a:xfrm>
            <a:off x="548640" y="4479320"/>
            <a:ext cx="5555126" cy="222504"/>
          </a:xfrm>
          <a:prstGeom prst="rect">
            <a:avLst/>
          </a:prstGeom>
          <a:noFill/>
        </p:spPr>
        <p:txBody>
          <a:bodyPr wrap="square" anchor="t" lIns="0" rIns="0" tIns="0" bIns="0">
            <a:spAutoFit/>
          </a:bodyPr>
          <a:lstStyle/>
          <a:p>
            <a:r>
              <a:rPr sz="1200" b="0">
                <a:solidFill>
                  <a:srgbClr val="5B6B73"/>
                </a:solidFill>
                <a:latin typeface="Calibri"/>
              </a:rPr>
              <a:t>Gutiérrez, tabla 8.15</a:t>
            </a:r>
          </a:p>
        </p:txBody>
      </p:sp>
      <p:graphicFrame>
        <p:nvGraphicFramePr>
          <p:cNvPr id="6" name="Table 5"/>
          <p:cNvGraphicFramePr>
            <a:graphicFrameLocks noGrp="1"/>
          </p:cNvGraphicFramePr>
          <p:nvPr/>
        </p:nvGraphicFramePr>
        <p:xfrm>
          <a:off x="6515246" y="1417320"/>
          <a:ext cx="5127807" cy="2167119"/>
        </p:xfrm>
        <a:graphic>
          <a:graphicData uri="http://schemas.openxmlformats.org/drawingml/2006/table">
            <a:tbl>
              <a:tblPr firstRow="0" bandRow="0">
                <a:tableStyleId>{5C22544A-7EE6-4342-B048-85BDC9FD1C3A}</a:tableStyleId>
              </a:tblPr>
              <a:tblGrid>
                <a:gridCol w="868358"/>
                <a:gridCol w="1160307"/>
                <a:gridCol w="1160307"/>
                <a:gridCol w="1938835"/>
              </a:tblGrid>
              <a:tr h="240791">
                <a:tc>
                  <a:txBody>
                    <a:bodyPr/>
                    <a:lstStyle/>
                    <a:p>
                      <a:pPr algn="ctr"/>
                      <a:r>
                        <a:rPr sz="1200" b="1">
                          <a:solidFill>
                            <a:srgbClr val="FFFFFF"/>
                          </a:solidFill>
                          <a:latin typeface="Calibri"/>
                        </a:rPr>
                        <a:t>Grano A</a:t>
                      </a:r>
                    </a:p>
                  </a:txBody>
                  <a:tcPr marL="73152" marR="73152" marT="27432" marB="27432" anchor="ctr">
                    <a:solidFill>
                      <a:srgbClr val="0F4C5C"/>
                    </a:solidFill>
                  </a:tcPr>
                </a:tc>
                <a:tc>
                  <a:txBody>
                    <a:bodyPr/>
                    <a:lstStyle/>
                    <a:p>
                      <a:pPr algn="ctr"/>
                      <a:r>
                        <a:rPr sz="1200" b="1">
                          <a:solidFill>
                            <a:srgbClr val="FFFFFF"/>
                          </a:solidFill>
                          <a:latin typeface="Calibri"/>
                        </a:rPr>
                        <a:t>Diámetro C</a:t>
                      </a:r>
                    </a:p>
                  </a:txBody>
                  <a:tcPr marL="73152" marR="73152" marT="27432" marB="27432" anchor="ctr">
                    <a:solidFill>
                      <a:srgbClr val="0F4C5C"/>
                    </a:solidFill>
                  </a:tcPr>
                </a:tc>
                <a:tc>
                  <a:txBody>
                    <a:bodyPr/>
                    <a:lstStyle/>
                    <a:p>
                      <a:pPr algn="ctr"/>
                      <a:r>
                        <a:rPr sz="1200" b="1">
                          <a:solidFill>
                            <a:srgbClr val="FFFFFF"/>
                          </a:solidFill>
                          <a:latin typeface="Calibri"/>
                        </a:rPr>
                        <a:t>Precarga E</a:t>
                      </a:r>
                    </a:p>
                  </a:txBody>
                  <a:tcPr marL="73152" marR="73152" marT="27432" marB="27432" anchor="ctr">
                    <a:solidFill>
                      <a:srgbClr val="0F4C5C"/>
                    </a:solidFill>
                  </a:tcPr>
                </a:tc>
                <a:tc>
                  <a:txBody>
                    <a:bodyPr/>
                    <a:lstStyle/>
                    <a:p>
                      <a:pPr algn="ctr"/>
                      <a:r>
                        <a:rPr sz="1200" b="1">
                          <a:solidFill>
                            <a:srgbClr val="FFFFFF"/>
                          </a:solidFill>
                          <a:latin typeface="Calibri"/>
                        </a:rPr>
                        <a:t>Vibración predicha</a:t>
                      </a:r>
                    </a:p>
                  </a:txBody>
                  <a:tcPr marL="73152" marR="73152" marT="27432" marB="27432" anchor="ctr">
                    <a:solidFill>
                      <a:srgbClr val="0F4C5C"/>
                    </a:solidFill>
                  </a:tcPr>
                </a:tc>
              </a:tr>
              <a:tr h="240791">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200" b="0">
                          <a:solidFill>
                            <a:srgbClr val="142B33"/>
                          </a:solidFill>
                          <a:latin typeface="Calibri"/>
                        </a:rPr>
                        <a:t>57.05</a:t>
                      </a:r>
                    </a:p>
                  </a:txBody>
                  <a:tcPr marL="73152" marR="73152" marT="27432" marB="27432" anchor="ctr">
                    <a:solidFill>
                      <a:srgbClr val="FFFFFF"/>
                    </a:solidFill>
                  </a:tcPr>
                </a:tc>
              </a:tr>
              <a:tr h="240791">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200" b="0">
                          <a:solidFill>
                            <a:srgbClr val="142B33"/>
                          </a:solidFill>
                          <a:latin typeface="Calibri"/>
                        </a:rPr>
                        <a:t>79.65</a:t>
                      </a:r>
                    </a:p>
                  </a:txBody>
                  <a:tcPr marL="73152" marR="73152" marT="27432" marB="27432" anchor="ctr">
                    <a:solidFill>
                      <a:srgbClr val="F4F8F9"/>
                    </a:solidFill>
                  </a:tcPr>
                </a:tc>
              </a:tr>
              <a:tr h="240791">
                <a:tc>
                  <a:txBody>
                    <a:bodyPr/>
                    <a:lstStyle/>
                    <a:p>
                      <a:pPr algn="ctr"/>
                      <a:r>
                        <a:rPr sz="1300" b="1">
                          <a:solidFill>
                            <a:srgbClr val="E36414"/>
                          </a:solidFill>
                          <a:latin typeface="Calibri"/>
                        </a:rPr>
                        <a:t>−</a:t>
                      </a:r>
                    </a:p>
                  </a:txBody>
                  <a:tcPr marL="73152" marR="73152" marT="27432" marB="27432" anchor="ctr">
                    <a:solidFill>
                      <a:srgbClr val="FDE8D7"/>
                    </a:solidFill>
                  </a:tcPr>
                </a:tc>
                <a:tc>
                  <a:txBody>
                    <a:bodyPr/>
                    <a:lstStyle/>
                    <a:p>
                      <a:pPr algn="ctr"/>
                      <a:r>
                        <a:rPr sz="1300" b="1">
                          <a:solidFill>
                            <a:srgbClr val="0F4C5C"/>
                          </a:solidFill>
                          <a:latin typeface="Calibri"/>
                        </a:rPr>
                        <a:t>+</a:t>
                      </a:r>
                    </a:p>
                  </a:txBody>
                  <a:tcPr marL="73152" marR="73152" marT="27432" marB="27432" anchor="ctr">
                    <a:solidFill>
                      <a:srgbClr val="FDE8D7"/>
                    </a:solidFill>
                  </a:tcPr>
                </a:tc>
                <a:tc>
                  <a:txBody>
                    <a:bodyPr/>
                    <a:lstStyle/>
                    <a:p>
                      <a:pPr algn="ctr"/>
                      <a:r>
                        <a:rPr sz="1300" b="1">
                          <a:solidFill>
                            <a:srgbClr val="E36414"/>
                          </a:solidFill>
                          <a:latin typeface="Calibri"/>
                        </a:rPr>
                        <a:t>−</a:t>
                      </a:r>
                    </a:p>
                  </a:txBody>
                  <a:tcPr marL="73152" marR="73152" marT="27432" marB="27432" anchor="ctr">
                    <a:solidFill>
                      <a:srgbClr val="FDE8D7"/>
                    </a:solidFill>
                  </a:tcPr>
                </a:tc>
                <a:tc>
                  <a:txBody>
                    <a:bodyPr/>
                    <a:lstStyle/>
                    <a:p>
                      <a:pPr algn="ctr"/>
                      <a:r>
                        <a:rPr sz="1200" b="0">
                          <a:solidFill>
                            <a:srgbClr val="142B33"/>
                          </a:solidFill>
                          <a:latin typeface="Calibri"/>
                        </a:rPr>
                        <a:t>40.55</a:t>
                      </a:r>
                    </a:p>
                  </a:txBody>
                  <a:tcPr marL="73152" marR="73152" marT="27432" marB="27432" anchor="ctr">
                    <a:solidFill>
                      <a:srgbClr val="FDE8D7"/>
                    </a:solidFill>
                  </a:tcPr>
                </a:tc>
              </a:tr>
              <a:tr h="240791">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200" b="0">
                          <a:solidFill>
                            <a:srgbClr val="142B33"/>
                          </a:solidFill>
                          <a:latin typeface="Calibri"/>
                        </a:rPr>
                        <a:t>63.15</a:t>
                      </a:r>
                    </a:p>
                  </a:txBody>
                  <a:tcPr marL="73152" marR="73152" marT="27432" marB="27432" anchor="ctr">
                    <a:solidFill>
                      <a:srgbClr val="F4F8F9"/>
                    </a:solidFill>
                  </a:tcPr>
                </a:tc>
              </a:tr>
              <a:tr h="240791">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200" b="0">
                          <a:solidFill>
                            <a:srgbClr val="142B33"/>
                          </a:solidFill>
                          <a:latin typeface="Calibri"/>
                        </a:rPr>
                        <a:t>67.25</a:t>
                      </a:r>
                    </a:p>
                  </a:txBody>
                  <a:tcPr marL="73152" marR="73152" marT="27432" marB="27432" anchor="ctr">
                    <a:solidFill>
                      <a:srgbClr val="FFFFFF"/>
                    </a:solidFill>
                  </a:tcPr>
                </a:tc>
              </a:tr>
              <a:tr h="240791">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200" b="0">
                          <a:solidFill>
                            <a:srgbClr val="142B33"/>
                          </a:solidFill>
                          <a:latin typeface="Calibri"/>
                        </a:rPr>
                        <a:t>89.85</a:t>
                      </a:r>
                    </a:p>
                  </a:txBody>
                  <a:tcPr marL="73152" marR="73152" marT="27432" marB="27432" anchor="ctr">
                    <a:solidFill>
                      <a:srgbClr val="F4F8F9"/>
                    </a:solidFill>
                  </a:tcPr>
                </a:tc>
              </a:tr>
              <a:tr h="240791">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200" b="0">
                          <a:solidFill>
                            <a:srgbClr val="142B33"/>
                          </a:solidFill>
                          <a:latin typeface="Calibri"/>
                        </a:rPr>
                        <a:t>50.75</a:t>
                      </a:r>
                    </a:p>
                  </a:txBody>
                  <a:tcPr marL="73152" marR="73152" marT="27432" marB="27432" anchor="ctr">
                    <a:solidFill>
                      <a:srgbClr val="FFFFFF"/>
                    </a:solidFill>
                  </a:tcPr>
                </a:tc>
              </a:tr>
              <a:tr h="240791">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200" b="0">
                          <a:solidFill>
                            <a:srgbClr val="142B33"/>
                          </a:solidFill>
                          <a:latin typeface="Calibri"/>
                        </a:rPr>
                        <a:t>73.35</a:t>
                      </a:r>
                    </a:p>
                  </a:txBody>
                  <a:tcPr marL="73152" marR="73152" marT="27432" marB="27432" anchor="ctr">
                    <a:solidFill>
                      <a:srgbClr val="F4F8F9"/>
                    </a:solidFill>
                  </a:tcPr>
                </a:tc>
              </a:tr>
            </a:tbl>
          </a:graphicData>
        </a:graphic>
      </p:graphicFrame>
      <p:sp>
        <p:nvSpPr>
          <p:cNvPr id="7" name="Rounded Rectangle 6"/>
          <p:cNvSpPr/>
          <p:nvPr/>
        </p:nvSpPr>
        <p:spPr>
          <a:xfrm>
            <a:off x="6515246" y="3785615"/>
            <a:ext cx="5127808" cy="925067"/>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400" b="0">
                <a:solidFill>
                  <a:srgbClr val="142B33"/>
                </a:solidFill>
                <a:latin typeface="Calibri"/>
              </a:rPr>
              <a:t>Mejor tratamiento: </a:t>
            </a:r>
            <a:r>
              <a:rPr sz="1400" b="1">
                <a:solidFill>
                  <a:srgbClr val="142B33"/>
                </a:solidFill>
                <a:latin typeface="Calibri"/>
              </a:rPr>
              <a:t>grano bajo, diámetro alto, precarga baja</a:t>
            </a:r>
            <a:r>
              <a:rPr sz="1400" b="0">
                <a:solidFill>
                  <a:srgbClr val="142B33"/>
                </a:solidFill>
                <a:latin typeface="Calibri"/>
              </a:rPr>
              <a:t> (ŷ = 40.55). Los otros cuatro, por </a:t>
            </a:r>
            <a:r>
              <a:rPr sz="1400" b="1">
                <a:solidFill>
                  <a:srgbClr val="142B33"/>
                </a:solidFill>
                <a:latin typeface="Calibri"/>
              </a:rPr>
              <a:t>criterio económico</a:t>
            </a:r>
          </a:p>
        </p:txBody>
      </p:sp>
      <p:sp>
        <p:nvSpPr>
          <p:cNvPr id="8" name="Rounded Rectangle 7"/>
          <p:cNvSpPr/>
          <p:nvPr/>
        </p:nvSpPr>
        <p:spPr>
          <a:xfrm>
            <a:off x="6515246" y="4911851"/>
            <a:ext cx="5127808" cy="708151"/>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400" b="1">
                <a:solidFill>
                  <a:srgbClr val="142B33"/>
                </a:solidFill>
                <a:latin typeface="Calibri"/>
              </a:rPr>
              <a:t>8 corridas en lugar de 128</a:t>
            </a:r>
            <a:r>
              <a:rPr sz="1400" b="0">
                <a:solidFill>
                  <a:srgbClr val="142B33"/>
                </a:solidFill>
                <a:latin typeface="Calibri"/>
              </a:rPr>
              <a:t>: los tres factores que importan, encontrados</a:t>
            </a:r>
          </a:p>
        </p:txBody>
      </p:sp>
      <p:sp>
        <p:nvSpPr>
          <p:cNvPr id="9" name="TextBox 8"/>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Diseños de resolución III</a:t>
            </a:r>
          </a:p>
        </p:txBody>
      </p:sp>
      <p:sp>
        <p:nvSpPr>
          <p:cNvPr id="10" name="TextBox 9"/>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95</a:t>
            </a:r>
          </a:p>
        </p:txBody>
      </p:sp>
      <p:sp>
        <p:nvSpPr>
          <p:cNvPr id="11" name="Rounded Rectangle 10"/>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8 · Diseños de resolución III</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¿Cómo se aclaran los alias con otra fracción? El doblez</a:t>
            </a:r>
          </a:p>
        </p:txBody>
      </p:sp>
      <p:sp>
        <p:nvSpPr>
          <p:cNvPr id="3" name="TextBox 2"/>
          <p:cNvSpPr txBox="1"/>
          <p:nvPr/>
        </p:nvSpPr>
        <p:spPr>
          <a:xfrm>
            <a:off x="548640" y="1417320"/>
            <a:ext cx="4486832" cy="1734311"/>
          </a:xfrm>
          <a:prstGeom prst="rect">
            <a:avLst/>
          </a:prstGeom>
          <a:noFill/>
        </p:spPr>
        <p:txBody>
          <a:bodyPr wrap="square" anchor="t" lIns="0" rIns="0" tIns="0" bIns="0">
            <a:spAutoFit/>
          </a:bodyPr>
          <a:lstStyle/>
          <a:p>
            <a:pPr marL="320040" indent="-320040">
              <a:spcAft>
                <a:spcPts val="600"/>
              </a:spcAft>
              <a:buClr>
                <a:srgbClr val="E36414"/>
              </a:buClr>
              <a:buFont typeface="Arial"/>
              <a:buChar char="•"/>
            </a:pPr>
            <a:r>
              <a:rPr sz="1600" b="0">
                <a:solidFill>
                  <a:srgbClr val="142B33"/>
                </a:solidFill>
                <a:latin typeface="Calibri"/>
              </a:rPr>
              <a:t>Correr una </a:t>
            </a:r>
            <a:r>
              <a:rPr sz="1600" b="1">
                <a:solidFill>
                  <a:srgbClr val="142B33"/>
                </a:solidFill>
                <a:latin typeface="Calibri"/>
              </a:rPr>
              <a:t>segunda fracción</a:t>
            </a:r>
            <a:r>
              <a:rPr sz="1600" b="0">
                <a:solidFill>
                  <a:srgbClr val="142B33"/>
                </a:solidFill>
                <a:latin typeface="Calibri"/>
              </a:rPr>
              <a:t> con signos invertidos y combinarla con la primera</a:t>
            </a:r>
          </a:p>
          <a:p>
            <a:pPr marL="320040" indent="-320040">
              <a:spcAft>
                <a:spcPts val="600"/>
              </a:spcAft>
              <a:buClr>
                <a:srgbClr val="E36414"/>
              </a:buClr>
              <a:buFont typeface="Arial"/>
              <a:buChar char="•"/>
            </a:pPr>
            <a:r>
              <a:rPr sz="1600" b="0">
                <a:solidFill>
                  <a:srgbClr val="142B33"/>
                </a:solidFill>
                <a:latin typeface="Calibri"/>
              </a:rPr>
              <a:t>Alias de la segunda fracción: </a:t>
            </a:r>
            <a:r>
              <a:rPr sz="1600" b="1">
                <a:solidFill>
                  <a:srgbClr val="142B33"/>
                </a:solidFill>
                <a:latin typeface="Calibri"/>
              </a:rPr>
              <a:t>cambiar el signo</a:t>
            </a:r>
            <a:r>
              <a:rPr sz="1600" b="0">
                <a:solidFill>
                  <a:srgbClr val="142B33"/>
                </a:solidFill>
                <a:latin typeface="Calibri"/>
              </a:rPr>
              <a:t> de los factores invertidos</a:t>
            </a:r>
          </a:p>
          <a:p>
            <a:pPr marL="320040" indent="-320040">
              <a:spcAft>
                <a:spcPts val="600"/>
              </a:spcAft>
              <a:buClr>
                <a:srgbClr val="E36414"/>
              </a:buClr>
              <a:buFont typeface="Arial"/>
              <a:buChar char="•"/>
            </a:pPr>
            <a:r>
              <a:rPr sz="1600" b="0">
                <a:solidFill>
                  <a:srgbClr val="142B33"/>
                </a:solidFill>
                <a:latin typeface="Calibri"/>
              </a:rPr>
              <a:t>Separar con </a:t>
            </a:r>
            <a:r>
              <a:rPr sz="1600" b="1">
                <a:solidFill>
                  <a:srgbClr val="142B33"/>
                </a:solidFill>
                <a:latin typeface="Calibri"/>
              </a:rPr>
              <a:t>½ (ℓ + ℓ′)</a:t>
            </a:r>
            <a:r>
              <a:rPr sz="1600" b="0">
                <a:solidFill>
                  <a:srgbClr val="142B33"/>
                </a:solidFill>
                <a:latin typeface="Calibri"/>
              </a:rPr>
              <a:t> y </a:t>
            </a:r>
            <a:r>
              <a:rPr sz="1600" b="1">
                <a:solidFill>
                  <a:srgbClr val="142B33"/>
                </a:solidFill>
                <a:latin typeface="Calibri"/>
              </a:rPr>
              <a:t>½ (ℓ − ℓ′)</a:t>
            </a:r>
            <a:r>
              <a:rPr sz="1600" b="0">
                <a:solidFill>
                  <a:srgbClr val="142B33"/>
                </a:solidFill>
                <a:latin typeface="Calibri"/>
              </a:rPr>
              <a:t>: cada una aísla una parte de la cadena</a:t>
            </a:r>
          </a:p>
        </p:txBody>
      </p:sp>
      <p:sp>
        <p:nvSpPr>
          <p:cNvPr id="4" name="Rounded Rectangle 3"/>
          <p:cNvSpPr/>
          <p:nvPr/>
        </p:nvSpPr>
        <p:spPr>
          <a:xfrm>
            <a:off x="548640" y="3352800"/>
            <a:ext cx="4486832" cy="50673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Las dos fracciones funcionan como </a:t>
            </a:r>
            <a:r>
              <a:rPr sz="1500" b="1">
                <a:solidFill>
                  <a:srgbClr val="142B33"/>
                </a:solidFill>
                <a:latin typeface="Calibri"/>
              </a:rPr>
              <a:t>bloques</a:t>
            </a:r>
          </a:p>
        </p:txBody>
      </p:sp>
      <p:graphicFrame>
        <p:nvGraphicFramePr>
          <p:cNvPr id="5" name="Table 4"/>
          <p:cNvGraphicFramePr>
            <a:graphicFrameLocks noGrp="1"/>
          </p:cNvGraphicFramePr>
          <p:nvPr/>
        </p:nvGraphicFramePr>
        <p:xfrm>
          <a:off x="5446952" y="1417320"/>
          <a:ext cx="6196100" cy="2329685"/>
        </p:xfrm>
        <a:graphic>
          <a:graphicData uri="http://schemas.openxmlformats.org/drawingml/2006/table">
            <a:tbl>
              <a:tblPr firstRow="0" bandRow="0">
                <a:tableStyleId>{5C22544A-7EE6-4342-B048-85BDC9FD1C3A}</a:tableStyleId>
              </a:tblPr>
              <a:tblGrid>
                <a:gridCol w="1610986"/>
                <a:gridCol w="2230596"/>
                <a:gridCol w="2354518"/>
              </a:tblGrid>
              <a:tr h="335788">
                <a:tc>
                  <a:txBody>
                    <a:bodyPr/>
                    <a:lstStyle/>
                    <a:p>
                      <a:pPr algn="l"/>
                      <a:r>
                        <a:rPr sz="1400" b="1">
                          <a:solidFill>
                            <a:srgbClr val="FFFFFF"/>
                          </a:solidFill>
                          <a:latin typeface="Calibri"/>
                        </a:rPr>
                        <a:t>Estrategia</a:t>
                      </a:r>
                    </a:p>
                  </a:txBody>
                  <a:tcPr marL="73152" marR="73152" marT="27432" marB="27432" anchor="ctr">
                    <a:solidFill>
                      <a:srgbClr val="0F4C5C"/>
                    </a:solidFill>
                  </a:tcPr>
                </a:tc>
                <a:tc>
                  <a:txBody>
                    <a:bodyPr/>
                    <a:lstStyle/>
                    <a:p>
                      <a:pPr algn="ctr"/>
                      <a:r>
                        <a:rPr sz="1400" b="1">
                          <a:solidFill>
                            <a:srgbClr val="FFFFFF"/>
                          </a:solidFill>
                          <a:latin typeface="Calibri"/>
                        </a:rPr>
                        <a:t>Qué se corre</a:t>
                      </a:r>
                    </a:p>
                  </a:txBody>
                  <a:tcPr marL="73152" marR="73152" marT="27432" marB="27432" anchor="ctr">
                    <a:solidFill>
                      <a:srgbClr val="0F4C5C"/>
                    </a:solidFill>
                  </a:tcPr>
                </a:tc>
                <a:tc>
                  <a:txBody>
                    <a:bodyPr/>
                    <a:lstStyle/>
                    <a:p>
                      <a:pPr algn="l"/>
                      <a:r>
                        <a:rPr sz="1400" b="1">
                          <a:solidFill>
                            <a:srgbClr val="FFFFFF"/>
                          </a:solidFill>
                          <a:latin typeface="Calibri"/>
                        </a:rPr>
                        <a:t>Qué se gana</a:t>
                      </a:r>
                    </a:p>
                  </a:txBody>
                  <a:tcPr marL="73152" marR="73152" marT="27432" marB="27432" anchor="ctr">
                    <a:solidFill>
                      <a:srgbClr val="0F4C5C"/>
                    </a:solidFill>
                  </a:tcPr>
                </a:tc>
              </a:tr>
              <a:tr h="552703">
                <a:tc>
                  <a:txBody>
                    <a:bodyPr/>
                    <a:lstStyle/>
                    <a:p>
                      <a:pPr algn="l"/>
                      <a:r>
                        <a:rPr sz="1400" b="0">
                          <a:solidFill>
                            <a:srgbClr val="142B33"/>
                          </a:solidFill>
                          <a:latin typeface="Calibri"/>
                        </a:rPr>
                        <a:t>Confirmación</a:t>
                      </a:r>
                    </a:p>
                  </a:txBody>
                  <a:tcPr marL="73152" marR="73152" marT="27432" marB="27432" anchor="ctr">
                    <a:solidFill>
                      <a:srgbClr val="FFFFFF"/>
                    </a:solidFill>
                  </a:tcPr>
                </a:tc>
                <a:tc>
                  <a:txBody>
                    <a:bodyPr/>
                    <a:lstStyle/>
                    <a:p>
                      <a:pPr algn="ctr"/>
                      <a:r>
                        <a:rPr sz="1400" b="0">
                          <a:solidFill>
                            <a:srgbClr val="142B33"/>
                          </a:solidFill>
                          <a:latin typeface="Calibri"/>
                        </a:rPr>
                        <a:t>Una o pocas corridas nuevas</a:t>
                      </a:r>
                    </a:p>
                  </a:txBody>
                  <a:tcPr marL="73152" marR="73152" marT="27432" marB="27432" anchor="ctr">
                    <a:solidFill>
                      <a:srgbClr val="FFFFFF"/>
                    </a:solidFill>
                  </a:tcPr>
                </a:tc>
                <a:tc>
                  <a:txBody>
                    <a:bodyPr/>
                    <a:lstStyle/>
                    <a:p>
                      <a:pPr algn="l"/>
                      <a:r>
                        <a:rPr sz="1400" b="0">
                          <a:solidFill>
                            <a:srgbClr val="142B33"/>
                          </a:solidFill>
                          <a:latin typeface="Calibri"/>
                        </a:rPr>
                        <a:t>Verifica la predicción del modelo</a:t>
                      </a:r>
                    </a:p>
                  </a:txBody>
                  <a:tcPr marL="73152" marR="73152" marT="27432" marB="27432" anchor="ctr">
                    <a:solidFill>
                      <a:srgbClr val="FFFFFF"/>
                    </a:solidFill>
                  </a:tcPr>
                </a:tc>
              </a:tr>
              <a:tr h="335788">
                <a:tc>
                  <a:txBody>
                    <a:bodyPr/>
                    <a:lstStyle/>
                    <a:p>
                      <a:pPr algn="l"/>
                      <a:r>
                        <a:rPr sz="1400" b="0">
                          <a:solidFill>
                            <a:srgbClr val="142B33"/>
                          </a:solidFill>
                          <a:latin typeface="Calibri"/>
                        </a:rPr>
                        <a:t>Fracción alterna</a:t>
                      </a:r>
                    </a:p>
                  </a:txBody>
                  <a:tcPr marL="73152" marR="73152" marT="27432" marB="27432" anchor="ctr">
                    <a:solidFill>
                      <a:srgbClr val="F4F8F9"/>
                    </a:solidFill>
                  </a:tcPr>
                </a:tc>
                <a:tc>
                  <a:txBody>
                    <a:bodyPr/>
                    <a:lstStyle/>
                    <a:p>
                      <a:pPr algn="ctr"/>
                      <a:r>
                        <a:rPr sz="1400" b="0">
                          <a:solidFill>
                            <a:srgbClr val="142B33"/>
                          </a:solidFill>
                          <a:latin typeface="Calibri"/>
                        </a:rPr>
                        <a:t>La otra mitad del 2</a:t>
                      </a:r>
                      <a:r>
                        <a:rPr sz="1400" b="0" baseline="30000">
                          <a:solidFill>
                            <a:srgbClr val="142B33"/>
                          </a:solidFill>
                          <a:latin typeface="Calibri"/>
                        </a:rPr>
                        <a:t>k−1</a:t>
                      </a:r>
                    </a:p>
                  </a:txBody>
                  <a:tcPr marL="73152" marR="73152" marT="27432" marB="27432" anchor="ctr">
                    <a:solidFill>
                      <a:srgbClr val="F4F8F9"/>
                    </a:solidFill>
                  </a:tcPr>
                </a:tc>
                <a:tc>
                  <a:txBody>
                    <a:bodyPr/>
                    <a:lstStyle/>
                    <a:p>
                      <a:pPr algn="l"/>
                      <a:r>
                        <a:rPr sz="1400" b="0">
                          <a:solidFill>
                            <a:srgbClr val="142B33"/>
                          </a:solidFill>
                          <a:latin typeface="Calibri"/>
                        </a:rPr>
                        <a:t>Completa el factorial</a:t>
                      </a:r>
                    </a:p>
                  </a:txBody>
                  <a:tcPr marL="73152" marR="73152" marT="27432" marB="27432" anchor="ctr">
                    <a:solidFill>
                      <a:srgbClr val="F4F8F9"/>
                    </a:solidFill>
                  </a:tcPr>
                </a:tc>
              </a:tr>
              <a:tr h="552703">
                <a:tc>
                  <a:txBody>
                    <a:bodyPr/>
                    <a:lstStyle/>
                    <a:p>
                      <a:pPr algn="l"/>
                      <a:r>
                        <a:rPr sz="1400" b="0">
                          <a:solidFill>
                            <a:srgbClr val="142B33"/>
                          </a:solidFill>
                          <a:latin typeface="Calibri"/>
                        </a:rPr>
                        <a:t>Doblez completo</a:t>
                      </a:r>
                    </a:p>
                  </a:txBody>
                  <a:tcPr marL="73152" marR="73152" marT="27432" marB="27432" anchor="ctr">
                    <a:solidFill>
                      <a:srgbClr val="FFFFFF"/>
                    </a:solidFill>
                  </a:tcPr>
                </a:tc>
                <a:tc>
                  <a:txBody>
                    <a:bodyPr/>
                    <a:lstStyle/>
                    <a:p>
                      <a:pPr algn="ctr"/>
                      <a:r>
                        <a:rPr sz="1400" b="0">
                          <a:solidFill>
                            <a:srgbClr val="142B33"/>
                          </a:solidFill>
                          <a:latin typeface="Calibri"/>
                        </a:rPr>
                        <a:t>Todos los signos invertidos</a:t>
                      </a:r>
                    </a:p>
                  </a:txBody>
                  <a:tcPr marL="73152" marR="73152" marT="27432" marB="27432" anchor="ctr">
                    <a:solidFill>
                      <a:srgbClr val="FFFFFF"/>
                    </a:solidFill>
                  </a:tcPr>
                </a:tc>
                <a:tc>
                  <a:txBody>
                    <a:bodyPr/>
                    <a:lstStyle/>
                    <a:p>
                      <a:pPr algn="l"/>
                      <a:r>
                        <a:rPr sz="1400" b="0">
                          <a:solidFill>
                            <a:srgbClr val="142B33"/>
                          </a:solidFill>
                          <a:latin typeface="Calibri"/>
                        </a:rPr>
                        <a:t>Principales libres de dobles (III → IV)</a:t>
                      </a:r>
                    </a:p>
                  </a:txBody>
                  <a:tcPr marL="73152" marR="73152" marT="27432" marB="27432" anchor="ctr">
                    <a:solidFill>
                      <a:srgbClr val="FFFFFF"/>
                    </a:solidFill>
                  </a:tcPr>
                </a:tc>
              </a:tr>
              <a:tr h="552703">
                <a:tc>
                  <a:txBody>
                    <a:bodyPr/>
                    <a:lstStyle/>
                    <a:p>
                      <a:pPr algn="l"/>
                      <a:r>
                        <a:rPr sz="1400" b="0">
                          <a:solidFill>
                            <a:srgbClr val="142B33"/>
                          </a:solidFill>
                          <a:latin typeface="Calibri"/>
                        </a:rPr>
                        <a:t>Doblez de un factor</a:t>
                      </a:r>
                    </a:p>
                  </a:txBody>
                  <a:tcPr marL="73152" marR="73152" marT="27432" marB="27432" anchor="ctr">
                    <a:solidFill>
                      <a:srgbClr val="F4F8F9"/>
                    </a:solidFill>
                  </a:tcPr>
                </a:tc>
                <a:tc>
                  <a:txBody>
                    <a:bodyPr/>
                    <a:lstStyle/>
                    <a:p>
                      <a:pPr algn="ctr"/>
                      <a:r>
                        <a:rPr sz="1400" b="0">
                          <a:solidFill>
                            <a:srgbClr val="142B33"/>
                          </a:solidFill>
                          <a:latin typeface="Calibri"/>
                        </a:rPr>
                        <a:t>Signos de </a:t>
                      </a:r>
                      <a:r>
                        <a:rPr sz="1400" b="1">
                          <a:solidFill>
                            <a:srgbClr val="142B33"/>
                          </a:solidFill>
                          <a:latin typeface="Calibri"/>
                        </a:rPr>
                        <a:t>un</a:t>
                      </a:r>
                      <a:r>
                        <a:rPr sz="1400" b="0">
                          <a:solidFill>
                            <a:srgbClr val="142B33"/>
                          </a:solidFill>
                          <a:latin typeface="Calibri"/>
                        </a:rPr>
                        <a:t> factor invertidos</a:t>
                      </a:r>
                    </a:p>
                  </a:txBody>
                  <a:tcPr marL="73152" marR="73152" marT="27432" marB="27432" anchor="ctr">
                    <a:solidFill>
                      <a:srgbClr val="F4F8F9"/>
                    </a:solidFill>
                  </a:tcPr>
                </a:tc>
                <a:tc>
                  <a:txBody>
                    <a:bodyPr/>
                    <a:lstStyle/>
                    <a:p>
                      <a:pPr algn="l"/>
                      <a:r>
                        <a:rPr sz="1400" b="0">
                          <a:solidFill>
                            <a:srgbClr val="142B33"/>
                          </a:solidFill>
                          <a:latin typeface="Calibri"/>
                        </a:rPr>
                        <a:t>Ese factor y sus dobles, limpios</a:t>
                      </a:r>
                    </a:p>
                  </a:txBody>
                  <a:tcPr marL="73152" marR="73152" marT="27432" marB="27432" anchor="ctr">
                    <a:solidFill>
                      <a:srgbClr val="F4F8F9"/>
                    </a:solidFill>
                  </a:tcPr>
                </a:tc>
              </a:tr>
            </a:tbl>
          </a:graphicData>
        </a:graphic>
      </p:graphicFrame>
      <p:sp>
        <p:nvSpPr>
          <p:cNvPr id="6" name="TextBox 5"/>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Diseños de resolución III</a:t>
            </a:r>
          </a:p>
        </p:txBody>
      </p:sp>
      <p:sp>
        <p:nvSpPr>
          <p:cNvPr id="7" name="TextBox 6"/>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96</a:t>
            </a:r>
          </a:p>
        </p:txBody>
      </p:sp>
      <p:sp>
        <p:nvSpPr>
          <p:cNvPr id="8" name="Rounded Rectangle 7"/>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8 · Diseños de resolución III</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Doblez de un solo factor (caso 1 de Gutiérrez)</a:t>
            </a:r>
          </a:p>
        </p:txBody>
      </p:sp>
      <p:graphicFrame>
        <p:nvGraphicFramePr>
          <p:cNvPr id="3" name="Table 2"/>
          <p:cNvGraphicFramePr>
            <a:graphicFrameLocks noGrp="1"/>
          </p:cNvGraphicFramePr>
          <p:nvPr/>
        </p:nvGraphicFramePr>
        <p:xfrm>
          <a:off x="548640" y="1417320"/>
          <a:ext cx="11094412" cy="2686304"/>
        </p:xfrm>
        <a:graphic>
          <a:graphicData uri="http://schemas.openxmlformats.org/drawingml/2006/table">
            <a:tbl>
              <a:tblPr firstRow="0" bandRow="0">
                <a:tableStyleId>{5C22544A-7EE6-4342-B048-85BDC9FD1C3A}</a:tableStyleId>
              </a:tblPr>
              <a:tblGrid>
                <a:gridCol w="665664"/>
                <a:gridCol w="2662659"/>
                <a:gridCol w="2662659"/>
                <a:gridCol w="2440771"/>
                <a:gridCol w="2662659"/>
              </a:tblGrid>
              <a:tr h="335788">
                <a:tc>
                  <a:txBody>
                    <a:bodyPr/>
                    <a:lstStyle/>
                    <a:p>
                      <a:pPr algn="ctr"/>
                      <a:r>
                        <a:rPr sz="1400" b="1">
                          <a:solidFill>
                            <a:srgbClr val="FFFFFF"/>
                          </a:solidFill>
                          <a:latin typeface="Calibri"/>
                        </a:rPr>
                        <a:t>i</a:t>
                      </a:r>
                    </a:p>
                  </a:txBody>
                  <a:tcPr marL="73152" marR="73152" marT="27432" marB="27432" anchor="ctr">
                    <a:solidFill>
                      <a:srgbClr val="0F4C5C"/>
                    </a:solidFill>
                  </a:tcPr>
                </a:tc>
                <a:tc>
                  <a:txBody>
                    <a:bodyPr/>
                    <a:lstStyle/>
                    <a:p>
                      <a:pPr algn="ctr"/>
                      <a:r>
                        <a:rPr sz="1400" b="1">
                          <a:solidFill>
                            <a:srgbClr val="FFFFFF"/>
                          </a:solidFill>
                          <a:latin typeface="Calibri"/>
                        </a:rPr>
                        <a:t>ℓ</a:t>
                      </a:r>
                      <a:r>
                        <a:rPr sz="1400" b="1" baseline="-25000">
                          <a:solidFill>
                            <a:srgbClr val="FFFFFF"/>
                          </a:solidFill>
                          <a:latin typeface="Calibri"/>
                        </a:rPr>
                        <a:t>i</a:t>
                      </a:r>
                      <a:r>
                        <a:rPr sz="1400" b="1">
                          <a:solidFill>
                            <a:srgbClr val="FFFFFF"/>
                          </a:solidFill>
                          <a:latin typeface="Calibri"/>
                        </a:rPr>
                        <a:t>  (1.ª fracción)</a:t>
                      </a:r>
                    </a:p>
                  </a:txBody>
                  <a:tcPr marL="73152" marR="73152" marT="27432" marB="27432" anchor="ctr">
                    <a:solidFill>
                      <a:srgbClr val="0F4C5C"/>
                    </a:solidFill>
                  </a:tcPr>
                </a:tc>
                <a:tc>
                  <a:txBody>
                    <a:bodyPr/>
                    <a:lstStyle/>
                    <a:p>
                      <a:pPr algn="ctr"/>
                      <a:r>
                        <a:rPr sz="1400" b="1">
                          <a:solidFill>
                            <a:srgbClr val="FFFFFF"/>
                          </a:solidFill>
                          <a:latin typeface="Calibri"/>
                        </a:rPr>
                        <a:t>ℓ′</a:t>
                      </a:r>
                      <a:r>
                        <a:rPr sz="1400" b="1" baseline="-25000">
                          <a:solidFill>
                            <a:srgbClr val="FFFFFF"/>
                          </a:solidFill>
                          <a:latin typeface="Calibri"/>
                        </a:rPr>
                        <a:t>i</a:t>
                      </a:r>
                      <a:r>
                        <a:rPr sz="1400" b="1">
                          <a:solidFill>
                            <a:srgbClr val="FFFFFF"/>
                          </a:solidFill>
                          <a:latin typeface="Calibri"/>
                        </a:rPr>
                        <a:t>  (D invertido)</a:t>
                      </a:r>
                    </a:p>
                  </a:txBody>
                  <a:tcPr marL="73152" marR="73152" marT="27432" marB="27432" anchor="ctr">
                    <a:solidFill>
                      <a:srgbClr val="0F4C5C"/>
                    </a:solidFill>
                  </a:tcPr>
                </a:tc>
                <a:tc>
                  <a:txBody>
                    <a:bodyPr/>
                    <a:lstStyle/>
                    <a:p>
                      <a:pPr algn="ctr"/>
                      <a:r>
                        <a:rPr sz="1400" b="1">
                          <a:solidFill>
                            <a:srgbClr val="FFFFFF"/>
                          </a:solidFill>
                          <a:latin typeface="Calibri"/>
                        </a:rPr>
                        <a:t>½ (ℓ</a:t>
                      </a:r>
                      <a:r>
                        <a:rPr sz="1400" b="1" baseline="-25000">
                          <a:solidFill>
                            <a:srgbClr val="FFFFFF"/>
                          </a:solidFill>
                          <a:latin typeface="Calibri"/>
                        </a:rPr>
                        <a:t>i</a:t>
                      </a:r>
                      <a:r>
                        <a:rPr sz="1400" b="1">
                          <a:solidFill>
                            <a:srgbClr val="FFFFFF"/>
                          </a:solidFill>
                          <a:latin typeface="Calibri"/>
                        </a:rPr>
                        <a:t> + ℓ′</a:t>
                      </a:r>
                      <a:r>
                        <a:rPr sz="1400" b="1" baseline="-25000">
                          <a:solidFill>
                            <a:srgbClr val="FFFFFF"/>
                          </a:solidFill>
                          <a:latin typeface="Calibri"/>
                        </a:rPr>
                        <a:t>i</a:t>
                      </a:r>
                      <a:r>
                        <a:rPr sz="1400" b="1">
                          <a:solidFill>
                            <a:srgbClr val="FFFFFF"/>
                          </a:solidFill>
                          <a:latin typeface="Calibri"/>
                        </a:rPr>
                        <a:t>)</a:t>
                      </a:r>
                    </a:p>
                  </a:txBody>
                  <a:tcPr marL="73152" marR="73152" marT="27432" marB="27432" anchor="ctr">
                    <a:solidFill>
                      <a:srgbClr val="0F4C5C"/>
                    </a:solidFill>
                  </a:tcPr>
                </a:tc>
                <a:tc>
                  <a:txBody>
                    <a:bodyPr/>
                    <a:lstStyle/>
                    <a:p>
                      <a:pPr algn="ctr"/>
                      <a:r>
                        <a:rPr sz="1400" b="1">
                          <a:solidFill>
                            <a:srgbClr val="FFFFFF"/>
                          </a:solidFill>
                          <a:latin typeface="Calibri"/>
                        </a:rPr>
                        <a:t>½ (ℓ</a:t>
                      </a:r>
                      <a:r>
                        <a:rPr sz="1400" b="1" baseline="-25000">
                          <a:solidFill>
                            <a:srgbClr val="FFFFFF"/>
                          </a:solidFill>
                          <a:latin typeface="Calibri"/>
                        </a:rPr>
                        <a:t>i</a:t>
                      </a:r>
                      <a:r>
                        <a:rPr sz="1400" b="1">
                          <a:solidFill>
                            <a:srgbClr val="FFFFFF"/>
                          </a:solidFill>
                          <a:latin typeface="Calibri"/>
                        </a:rPr>
                        <a:t> − ℓ′</a:t>
                      </a:r>
                      <a:r>
                        <a:rPr sz="1400" b="1" baseline="-25000">
                          <a:solidFill>
                            <a:srgbClr val="FFFFFF"/>
                          </a:solidFill>
                          <a:latin typeface="Calibri"/>
                        </a:rPr>
                        <a:t>i</a:t>
                      </a:r>
                      <a:r>
                        <a:rPr sz="1400" b="1">
                          <a:solidFill>
                            <a:srgbClr val="FFFFFF"/>
                          </a:solidFill>
                          <a:latin typeface="Calibri"/>
                        </a:rPr>
                        <a:t>)</a:t>
                      </a:r>
                    </a:p>
                  </a:txBody>
                  <a:tcPr marL="73152" marR="73152" marT="27432" marB="27432" anchor="ctr">
                    <a:solidFill>
                      <a:srgbClr val="0F4C5C"/>
                    </a:solidFill>
                  </a:tcPr>
                </a:tc>
              </a:tr>
              <a:tr h="335788">
                <a:tc>
                  <a:txBody>
                    <a:bodyPr/>
                    <a:lstStyle/>
                    <a:p>
                      <a:pPr algn="ctr"/>
                      <a:r>
                        <a:rPr sz="1400" b="0">
                          <a:solidFill>
                            <a:srgbClr val="142B33"/>
                          </a:solidFill>
                          <a:latin typeface="Calibri"/>
                        </a:rPr>
                        <a:t>A</a:t>
                      </a:r>
                    </a:p>
                  </a:txBody>
                  <a:tcPr marL="73152" marR="73152" marT="27432" marB="27432" anchor="ctr">
                    <a:solidFill>
                      <a:srgbClr val="FFFFFF"/>
                    </a:solidFill>
                  </a:tcPr>
                </a:tc>
                <a:tc>
                  <a:txBody>
                    <a:bodyPr/>
                    <a:lstStyle/>
                    <a:p>
                      <a:pPr algn="ctr"/>
                      <a:r>
                        <a:rPr sz="1400" b="0">
                          <a:solidFill>
                            <a:srgbClr val="142B33"/>
                          </a:solidFill>
                          <a:latin typeface="Calibri"/>
                        </a:rPr>
                        <a:t>A + BD + CE + FG</a:t>
                      </a:r>
                    </a:p>
                  </a:txBody>
                  <a:tcPr marL="73152" marR="73152" marT="27432" marB="27432" anchor="ctr">
                    <a:solidFill>
                      <a:srgbClr val="FFFFFF"/>
                    </a:solidFill>
                  </a:tcPr>
                </a:tc>
                <a:tc>
                  <a:txBody>
                    <a:bodyPr/>
                    <a:lstStyle/>
                    <a:p>
                      <a:pPr algn="ctr"/>
                      <a:r>
                        <a:rPr sz="1400" b="0">
                          <a:solidFill>
                            <a:srgbClr val="142B33"/>
                          </a:solidFill>
                          <a:latin typeface="Calibri"/>
                        </a:rPr>
                        <a:t>A − BD + CE + FG</a:t>
                      </a:r>
                    </a:p>
                  </a:txBody>
                  <a:tcPr marL="73152" marR="73152" marT="27432" marB="27432" anchor="ctr">
                    <a:solidFill>
                      <a:srgbClr val="FFFFFF"/>
                    </a:solidFill>
                  </a:tcPr>
                </a:tc>
                <a:tc>
                  <a:txBody>
                    <a:bodyPr/>
                    <a:lstStyle/>
                    <a:p>
                      <a:pPr algn="ctr"/>
                      <a:r>
                        <a:rPr sz="1400" b="0">
                          <a:solidFill>
                            <a:srgbClr val="142B33"/>
                          </a:solidFill>
                          <a:latin typeface="Calibri"/>
                        </a:rPr>
                        <a:t>A + CE + FG</a:t>
                      </a:r>
                    </a:p>
                  </a:txBody>
                  <a:tcPr marL="73152" marR="73152" marT="27432" marB="27432" anchor="ctr">
                    <a:solidFill>
                      <a:srgbClr val="FFFFFF"/>
                    </a:solidFill>
                  </a:tcPr>
                </a:tc>
                <a:tc>
                  <a:txBody>
                    <a:bodyPr/>
                    <a:lstStyle/>
                    <a:p>
                      <a:pPr algn="ctr"/>
                      <a:r>
                        <a:rPr sz="1400" b="0">
                          <a:solidFill>
                            <a:srgbClr val="142B33"/>
                          </a:solidFill>
                          <a:latin typeface="Calibri"/>
                        </a:rPr>
                        <a:t>BD</a:t>
                      </a:r>
                    </a:p>
                  </a:txBody>
                  <a:tcPr marL="73152" marR="73152" marT="27432" marB="27432" anchor="ctr">
                    <a:solidFill>
                      <a:srgbClr val="FFFFFF"/>
                    </a:solidFill>
                  </a:tcPr>
                </a:tc>
              </a:tr>
              <a:tr h="335788">
                <a:tc>
                  <a:txBody>
                    <a:bodyPr/>
                    <a:lstStyle/>
                    <a:p>
                      <a:pPr algn="ctr"/>
                      <a:r>
                        <a:rPr sz="1400" b="0">
                          <a:solidFill>
                            <a:srgbClr val="142B33"/>
                          </a:solidFill>
                          <a:latin typeface="Calibri"/>
                        </a:rPr>
                        <a:t>B</a:t>
                      </a:r>
                    </a:p>
                  </a:txBody>
                  <a:tcPr marL="73152" marR="73152" marT="27432" marB="27432" anchor="ctr">
                    <a:solidFill>
                      <a:srgbClr val="F4F8F9"/>
                    </a:solidFill>
                  </a:tcPr>
                </a:tc>
                <a:tc>
                  <a:txBody>
                    <a:bodyPr/>
                    <a:lstStyle/>
                    <a:p>
                      <a:pPr algn="ctr"/>
                      <a:r>
                        <a:rPr sz="1400" b="0">
                          <a:solidFill>
                            <a:srgbClr val="142B33"/>
                          </a:solidFill>
                          <a:latin typeface="Calibri"/>
                        </a:rPr>
                        <a:t>B + AD + CF + EG</a:t>
                      </a:r>
                    </a:p>
                  </a:txBody>
                  <a:tcPr marL="73152" marR="73152" marT="27432" marB="27432" anchor="ctr">
                    <a:solidFill>
                      <a:srgbClr val="F4F8F9"/>
                    </a:solidFill>
                  </a:tcPr>
                </a:tc>
                <a:tc>
                  <a:txBody>
                    <a:bodyPr/>
                    <a:lstStyle/>
                    <a:p>
                      <a:pPr algn="ctr"/>
                      <a:r>
                        <a:rPr sz="1400" b="0">
                          <a:solidFill>
                            <a:srgbClr val="142B33"/>
                          </a:solidFill>
                          <a:latin typeface="Calibri"/>
                        </a:rPr>
                        <a:t>B − AD + CF + EG</a:t>
                      </a:r>
                    </a:p>
                  </a:txBody>
                  <a:tcPr marL="73152" marR="73152" marT="27432" marB="27432" anchor="ctr">
                    <a:solidFill>
                      <a:srgbClr val="F4F8F9"/>
                    </a:solidFill>
                  </a:tcPr>
                </a:tc>
                <a:tc>
                  <a:txBody>
                    <a:bodyPr/>
                    <a:lstStyle/>
                    <a:p>
                      <a:pPr algn="ctr"/>
                      <a:r>
                        <a:rPr sz="1400" b="0">
                          <a:solidFill>
                            <a:srgbClr val="142B33"/>
                          </a:solidFill>
                          <a:latin typeface="Calibri"/>
                        </a:rPr>
                        <a:t>B + CF + EG</a:t>
                      </a:r>
                    </a:p>
                  </a:txBody>
                  <a:tcPr marL="73152" marR="73152" marT="27432" marB="27432" anchor="ctr">
                    <a:solidFill>
                      <a:srgbClr val="F4F8F9"/>
                    </a:solidFill>
                  </a:tcPr>
                </a:tc>
                <a:tc>
                  <a:txBody>
                    <a:bodyPr/>
                    <a:lstStyle/>
                    <a:p>
                      <a:pPr algn="ctr"/>
                      <a:r>
                        <a:rPr sz="1400" b="0">
                          <a:solidFill>
                            <a:srgbClr val="142B33"/>
                          </a:solidFill>
                          <a:latin typeface="Calibri"/>
                        </a:rPr>
                        <a:t>AD</a:t>
                      </a:r>
                    </a:p>
                  </a:txBody>
                  <a:tcPr marL="73152" marR="73152" marT="27432" marB="27432" anchor="ctr">
                    <a:solidFill>
                      <a:srgbClr val="F4F8F9"/>
                    </a:solidFill>
                  </a:tcPr>
                </a:tc>
              </a:tr>
              <a:tr h="335788">
                <a:tc>
                  <a:txBody>
                    <a:bodyPr/>
                    <a:lstStyle/>
                    <a:p>
                      <a:pPr algn="ctr"/>
                      <a:r>
                        <a:rPr sz="1400" b="0">
                          <a:solidFill>
                            <a:srgbClr val="142B33"/>
                          </a:solidFill>
                          <a:latin typeface="Calibri"/>
                        </a:rPr>
                        <a:t>C</a:t>
                      </a:r>
                    </a:p>
                  </a:txBody>
                  <a:tcPr marL="73152" marR="73152" marT="27432" marB="27432" anchor="ctr">
                    <a:solidFill>
                      <a:srgbClr val="FFFFFF"/>
                    </a:solidFill>
                  </a:tcPr>
                </a:tc>
                <a:tc>
                  <a:txBody>
                    <a:bodyPr/>
                    <a:lstStyle/>
                    <a:p>
                      <a:pPr algn="ctr"/>
                      <a:r>
                        <a:rPr sz="1400" b="0">
                          <a:solidFill>
                            <a:srgbClr val="142B33"/>
                          </a:solidFill>
                          <a:latin typeface="Calibri"/>
                        </a:rPr>
                        <a:t>C + AE + BF + DG</a:t>
                      </a:r>
                    </a:p>
                  </a:txBody>
                  <a:tcPr marL="73152" marR="73152" marT="27432" marB="27432" anchor="ctr">
                    <a:solidFill>
                      <a:srgbClr val="FFFFFF"/>
                    </a:solidFill>
                  </a:tcPr>
                </a:tc>
                <a:tc>
                  <a:txBody>
                    <a:bodyPr/>
                    <a:lstStyle/>
                    <a:p>
                      <a:pPr algn="ctr"/>
                      <a:r>
                        <a:rPr sz="1400" b="0">
                          <a:solidFill>
                            <a:srgbClr val="142B33"/>
                          </a:solidFill>
                          <a:latin typeface="Calibri"/>
                        </a:rPr>
                        <a:t>C + AE + BF − DG</a:t>
                      </a:r>
                    </a:p>
                  </a:txBody>
                  <a:tcPr marL="73152" marR="73152" marT="27432" marB="27432" anchor="ctr">
                    <a:solidFill>
                      <a:srgbClr val="FFFFFF"/>
                    </a:solidFill>
                  </a:tcPr>
                </a:tc>
                <a:tc>
                  <a:txBody>
                    <a:bodyPr/>
                    <a:lstStyle/>
                    <a:p>
                      <a:pPr algn="ctr"/>
                      <a:r>
                        <a:rPr sz="1400" b="0">
                          <a:solidFill>
                            <a:srgbClr val="142B33"/>
                          </a:solidFill>
                          <a:latin typeface="Calibri"/>
                        </a:rPr>
                        <a:t>C + AE + BF</a:t>
                      </a:r>
                    </a:p>
                  </a:txBody>
                  <a:tcPr marL="73152" marR="73152" marT="27432" marB="27432" anchor="ctr">
                    <a:solidFill>
                      <a:srgbClr val="FFFFFF"/>
                    </a:solidFill>
                  </a:tcPr>
                </a:tc>
                <a:tc>
                  <a:txBody>
                    <a:bodyPr/>
                    <a:lstStyle/>
                    <a:p>
                      <a:pPr algn="ctr"/>
                      <a:r>
                        <a:rPr sz="1400" b="0">
                          <a:solidFill>
                            <a:srgbClr val="142B33"/>
                          </a:solidFill>
                          <a:latin typeface="Calibri"/>
                        </a:rPr>
                        <a:t>DG</a:t>
                      </a:r>
                    </a:p>
                  </a:txBody>
                  <a:tcPr marL="73152" marR="73152" marT="27432" marB="27432" anchor="ctr">
                    <a:solidFill>
                      <a:srgbClr val="FFFFFF"/>
                    </a:solidFill>
                  </a:tcPr>
                </a:tc>
              </a:tr>
              <a:tr h="335788">
                <a:tc>
                  <a:txBody>
                    <a:bodyPr/>
                    <a:lstStyle/>
                    <a:p>
                      <a:pPr algn="ctr"/>
                      <a:r>
                        <a:rPr sz="1400" b="0">
                          <a:solidFill>
                            <a:srgbClr val="142B33"/>
                          </a:solidFill>
                          <a:latin typeface="Calibri"/>
                        </a:rPr>
                        <a:t>D</a:t>
                      </a:r>
                    </a:p>
                  </a:txBody>
                  <a:tcPr marL="73152" marR="73152" marT="27432" marB="27432" anchor="ctr">
                    <a:solidFill>
                      <a:srgbClr val="FDE8D7"/>
                    </a:solidFill>
                  </a:tcPr>
                </a:tc>
                <a:tc>
                  <a:txBody>
                    <a:bodyPr/>
                    <a:lstStyle/>
                    <a:p>
                      <a:pPr algn="ctr"/>
                      <a:r>
                        <a:rPr sz="1400" b="0">
                          <a:solidFill>
                            <a:srgbClr val="142B33"/>
                          </a:solidFill>
                          <a:latin typeface="Calibri"/>
                        </a:rPr>
                        <a:t>D + AB + CG + EF</a:t>
                      </a:r>
                    </a:p>
                  </a:txBody>
                  <a:tcPr marL="73152" marR="73152" marT="27432" marB="27432" anchor="ctr">
                    <a:solidFill>
                      <a:srgbClr val="FDE8D7"/>
                    </a:solidFill>
                  </a:tcPr>
                </a:tc>
                <a:tc>
                  <a:txBody>
                    <a:bodyPr/>
                    <a:lstStyle/>
                    <a:p>
                      <a:pPr algn="ctr"/>
                      <a:r>
                        <a:rPr sz="1400" b="0">
                          <a:solidFill>
                            <a:srgbClr val="142B33"/>
                          </a:solidFill>
                          <a:latin typeface="Calibri"/>
                        </a:rPr>
                        <a:t>D − AB − CG − EF</a:t>
                      </a:r>
                    </a:p>
                  </a:txBody>
                  <a:tcPr marL="73152" marR="73152" marT="27432" marB="27432" anchor="ctr">
                    <a:solidFill>
                      <a:srgbClr val="FDE8D7"/>
                    </a:solidFill>
                  </a:tcPr>
                </a:tc>
                <a:tc>
                  <a:txBody>
                    <a:bodyPr/>
                    <a:lstStyle/>
                    <a:p>
                      <a:pPr algn="ctr"/>
                      <a:r>
                        <a:rPr sz="1400" b="0">
                          <a:solidFill>
                            <a:srgbClr val="142B33"/>
                          </a:solidFill>
                          <a:latin typeface="Calibri"/>
                        </a:rPr>
                        <a:t>D</a:t>
                      </a:r>
                    </a:p>
                  </a:txBody>
                  <a:tcPr marL="73152" marR="73152" marT="27432" marB="27432" anchor="ctr">
                    <a:solidFill>
                      <a:srgbClr val="FDE8D7"/>
                    </a:solidFill>
                  </a:tcPr>
                </a:tc>
                <a:tc>
                  <a:txBody>
                    <a:bodyPr/>
                    <a:lstStyle/>
                    <a:p>
                      <a:pPr algn="ctr"/>
                      <a:r>
                        <a:rPr sz="1400" b="0">
                          <a:solidFill>
                            <a:srgbClr val="142B33"/>
                          </a:solidFill>
                          <a:latin typeface="Calibri"/>
                        </a:rPr>
                        <a:t>AB + CG + EF</a:t>
                      </a:r>
                    </a:p>
                  </a:txBody>
                  <a:tcPr marL="73152" marR="73152" marT="27432" marB="27432" anchor="ctr">
                    <a:solidFill>
                      <a:srgbClr val="FDE8D7"/>
                    </a:solidFill>
                  </a:tcPr>
                </a:tc>
              </a:tr>
              <a:tr h="335788">
                <a:tc>
                  <a:txBody>
                    <a:bodyPr/>
                    <a:lstStyle/>
                    <a:p>
                      <a:pPr algn="ctr"/>
                      <a:r>
                        <a:rPr sz="1400" b="0">
                          <a:solidFill>
                            <a:srgbClr val="142B33"/>
                          </a:solidFill>
                          <a:latin typeface="Calibri"/>
                        </a:rPr>
                        <a:t>E</a:t>
                      </a:r>
                    </a:p>
                  </a:txBody>
                  <a:tcPr marL="73152" marR="73152" marT="27432" marB="27432" anchor="ctr">
                    <a:solidFill>
                      <a:srgbClr val="FFFFFF"/>
                    </a:solidFill>
                  </a:tcPr>
                </a:tc>
                <a:tc>
                  <a:txBody>
                    <a:bodyPr/>
                    <a:lstStyle/>
                    <a:p>
                      <a:pPr algn="ctr"/>
                      <a:r>
                        <a:rPr sz="1400" b="0">
                          <a:solidFill>
                            <a:srgbClr val="142B33"/>
                          </a:solidFill>
                          <a:latin typeface="Calibri"/>
                        </a:rPr>
                        <a:t>E + AC + BG + DF</a:t>
                      </a:r>
                    </a:p>
                  </a:txBody>
                  <a:tcPr marL="73152" marR="73152" marT="27432" marB="27432" anchor="ctr">
                    <a:solidFill>
                      <a:srgbClr val="FFFFFF"/>
                    </a:solidFill>
                  </a:tcPr>
                </a:tc>
                <a:tc>
                  <a:txBody>
                    <a:bodyPr/>
                    <a:lstStyle/>
                    <a:p>
                      <a:pPr algn="ctr"/>
                      <a:r>
                        <a:rPr sz="1400" b="0">
                          <a:solidFill>
                            <a:srgbClr val="142B33"/>
                          </a:solidFill>
                          <a:latin typeface="Calibri"/>
                        </a:rPr>
                        <a:t>E + AC + BG − DF</a:t>
                      </a:r>
                    </a:p>
                  </a:txBody>
                  <a:tcPr marL="73152" marR="73152" marT="27432" marB="27432" anchor="ctr">
                    <a:solidFill>
                      <a:srgbClr val="FFFFFF"/>
                    </a:solidFill>
                  </a:tcPr>
                </a:tc>
                <a:tc>
                  <a:txBody>
                    <a:bodyPr/>
                    <a:lstStyle/>
                    <a:p>
                      <a:pPr algn="ctr"/>
                      <a:r>
                        <a:rPr sz="1400" b="0">
                          <a:solidFill>
                            <a:srgbClr val="142B33"/>
                          </a:solidFill>
                          <a:latin typeface="Calibri"/>
                        </a:rPr>
                        <a:t>E + AC + BG</a:t>
                      </a:r>
                    </a:p>
                  </a:txBody>
                  <a:tcPr marL="73152" marR="73152" marT="27432" marB="27432" anchor="ctr">
                    <a:solidFill>
                      <a:srgbClr val="FFFFFF"/>
                    </a:solidFill>
                  </a:tcPr>
                </a:tc>
                <a:tc>
                  <a:txBody>
                    <a:bodyPr/>
                    <a:lstStyle/>
                    <a:p>
                      <a:pPr algn="ctr"/>
                      <a:r>
                        <a:rPr sz="1400" b="0">
                          <a:solidFill>
                            <a:srgbClr val="142B33"/>
                          </a:solidFill>
                          <a:latin typeface="Calibri"/>
                        </a:rPr>
                        <a:t>DF</a:t>
                      </a:r>
                    </a:p>
                  </a:txBody>
                  <a:tcPr marL="73152" marR="73152" marT="27432" marB="27432" anchor="ctr">
                    <a:solidFill>
                      <a:srgbClr val="FFFFFF"/>
                    </a:solidFill>
                  </a:tcPr>
                </a:tc>
              </a:tr>
              <a:tr h="335788">
                <a:tc>
                  <a:txBody>
                    <a:bodyPr/>
                    <a:lstStyle/>
                    <a:p>
                      <a:pPr algn="ctr"/>
                      <a:r>
                        <a:rPr sz="1400" b="0">
                          <a:solidFill>
                            <a:srgbClr val="142B33"/>
                          </a:solidFill>
                          <a:latin typeface="Calibri"/>
                        </a:rPr>
                        <a:t>F</a:t>
                      </a:r>
                    </a:p>
                  </a:txBody>
                  <a:tcPr marL="73152" marR="73152" marT="27432" marB="27432" anchor="ctr">
                    <a:solidFill>
                      <a:srgbClr val="F4F8F9"/>
                    </a:solidFill>
                  </a:tcPr>
                </a:tc>
                <a:tc>
                  <a:txBody>
                    <a:bodyPr/>
                    <a:lstStyle/>
                    <a:p>
                      <a:pPr algn="ctr"/>
                      <a:r>
                        <a:rPr sz="1400" b="0">
                          <a:solidFill>
                            <a:srgbClr val="142B33"/>
                          </a:solidFill>
                          <a:latin typeface="Calibri"/>
                        </a:rPr>
                        <a:t>F + BC + AG + DE</a:t>
                      </a:r>
                    </a:p>
                  </a:txBody>
                  <a:tcPr marL="73152" marR="73152" marT="27432" marB="27432" anchor="ctr">
                    <a:solidFill>
                      <a:srgbClr val="F4F8F9"/>
                    </a:solidFill>
                  </a:tcPr>
                </a:tc>
                <a:tc>
                  <a:txBody>
                    <a:bodyPr/>
                    <a:lstStyle/>
                    <a:p>
                      <a:pPr algn="ctr"/>
                      <a:r>
                        <a:rPr sz="1400" b="0">
                          <a:solidFill>
                            <a:srgbClr val="142B33"/>
                          </a:solidFill>
                          <a:latin typeface="Calibri"/>
                        </a:rPr>
                        <a:t>F + BC + AG − DE</a:t>
                      </a:r>
                    </a:p>
                  </a:txBody>
                  <a:tcPr marL="73152" marR="73152" marT="27432" marB="27432" anchor="ctr">
                    <a:solidFill>
                      <a:srgbClr val="F4F8F9"/>
                    </a:solidFill>
                  </a:tcPr>
                </a:tc>
                <a:tc>
                  <a:txBody>
                    <a:bodyPr/>
                    <a:lstStyle/>
                    <a:p>
                      <a:pPr algn="ctr"/>
                      <a:r>
                        <a:rPr sz="1400" b="0">
                          <a:solidFill>
                            <a:srgbClr val="142B33"/>
                          </a:solidFill>
                          <a:latin typeface="Calibri"/>
                        </a:rPr>
                        <a:t>F + BC + AG</a:t>
                      </a:r>
                    </a:p>
                  </a:txBody>
                  <a:tcPr marL="73152" marR="73152" marT="27432" marB="27432" anchor="ctr">
                    <a:solidFill>
                      <a:srgbClr val="F4F8F9"/>
                    </a:solidFill>
                  </a:tcPr>
                </a:tc>
                <a:tc>
                  <a:txBody>
                    <a:bodyPr/>
                    <a:lstStyle/>
                    <a:p>
                      <a:pPr algn="ctr"/>
                      <a:r>
                        <a:rPr sz="1400" b="0">
                          <a:solidFill>
                            <a:srgbClr val="142B33"/>
                          </a:solidFill>
                          <a:latin typeface="Calibri"/>
                        </a:rPr>
                        <a:t>DE</a:t>
                      </a:r>
                    </a:p>
                  </a:txBody>
                  <a:tcPr marL="73152" marR="73152" marT="27432" marB="27432" anchor="ctr">
                    <a:solidFill>
                      <a:srgbClr val="F4F8F9"/>
                    </a:solidFill>
                  </a:tcPr>
                </a:tc>
              </a:tr>
              <a:tr h="335788">
                <a:tc>
                  <a:txBody>
                    <a:bodyPr/>
                    <a:lstStyle/>
                    <a:p>
                      <a:pPr algn="ctr"/>
                      <a:r>
                        <a:rPr sz="1400" b="0">
                          <a:solidFill>
                            <a:srgbClr val="142B33"/>
                          </a:solidFill>
                          <a:latin typeface="Calibri"/>
                        </a:rPr>
                        <a:t>G</a:t>
                      </a:r>
                    </a:p>
                  </a:txBody>
                  <a:tcPr marL="73152" marR="73152" marT="27432" marB="27432" anchor="ctr">
                    <a:solidFill>
                      <a:srgbClr val="FFFFFF"/>
                    </a:solidFill>
                  </a:tcPr>
                </a:tc>
                <a:tc>
                  <a:txBody>
                    <a:bodyPr/>
                    <a:lstStyle/>
                    <a:p>
                      <a:pPr algn="ctr"/>
                      <a:r>
                        <a:rPr sz="1400" b="0">
                          <a:solidFill>
                            <a:srgbClr val="142B33"/>
                          </a:solidFill>
                          <a:latin typeface="Calibri"/>
                        </a:rPr>
                        <a:t>G + CD + BE + AF</a:t>
                      </a:r>
                    </a:p>
                  </a:txBody>
                  <a:tcPr marL="73152" marR="73152" marT="27432" marB="27432" anchor="ctr">
                    <a:solidFill>
                      <a:srgbClr val="FFFFFF"/>
                    </a:solidFill>
                  </a:tcPr>
                </a:tc>
                <a:tc>
                  <a:txBody>
                    <a:bodyPr/>
                    <a:lstStyle/>
                    <a:p>
                      <a:pPr algn="ctr"/>
                      <a:r>
                        <a:rPr sz="1400" b="0">
                          <a:solidFill>
                            <a:srgbClr val="142B33"/>
                          </a:solidFill>
                          <a:latin typeface="Calibri"/>
                        </a:rPr>
                        <a:t>G − CD + BE + AF</a:t>
                      </a:r>
                    </a:p>
                  </a:txBody>
                  <a:tcPr marL="73152" marR="73152" marT="27432" marB="27432" anchor="ctr">
                    <a:solidFill>
                      <a:srgbClr val="FFFFFF"/>
                    </a:solidFill>
                  </a:tcPr>
                </a:tc>
                <a:tc>
                  <a:txBody>
                    <a:bodyPr/>
                    <a:lstStyle/>
                    <a:p>
                      <a:pPr algn="ctr"/>
                      <a:r>
                        <a:rPr sz="1400" b="0">
                          <a:solidFill>
                            <a:srgbClr val="142B33"/>
                          </a:solidFill>
                          <a:latin typeface="Calibri"/>
                        </a:rPr>
                        <a:t>G + BE + AF</a:t>
                      </a:r>
                    </a:p>
                  </a:txBody>
                  <a:tcPr marL="73152" marR="73152" marT="27432" marB="27432" anchor="ctr">
                    <a:solidFill>
                      <a:srgbClr val="FFFFFF"/>
                    </a:solidFill>
                  </a:tcPr>
                </a:tc>
                <a:tc>
                  <a:txBody>
                    <a:bodyPr/>
                    <a:lstStyle/>
                    <a:p>
                      <a:pPr algn="ctr"/>
                      <a:r>
                        <a:rPr sz="1400" b="0">
                          <a:solidFill>
                            <a:srgbClr val="142B33"/>
                          </a:solidFill>
                          <a:latin typeface="Calibri"/>
                        </a:rPr>
                        <a:t>CD</a:t>
                      </a:r>
                    </a:p>
                  </a:txBody>
                  <a:tcPr marL="73152" marR="73152" marT="27432" marB="27432" anchor="ctr">
                    <a:solidFill>
                      <a:srgbClr val="FFFFFF"/>
                    </a:solidFill>
                  </a:tcPr>
                </a:tc>
              </a:tr>
            </a:tbl>
          </a:graphicData>
        </a:graphic>
      </p:graphicFrame>
      <p:sp>
        <p:nvSpPr>
          <p:cNvPr id="4" name="Rounded Rectangle 3"/>
          <p:cNvSpPr/>
          <p:nvPr/>
        </p:nvSpPr>
        <p:spPr>
          <a:xfrm>
            <a:off x="548640" y="4304792"/>
            <a:ext cx="11094415" cy="522224"/>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600" b="0">
                <a:solidFill>
                  <a:srgbClr val="142B33"/>
                </a:solidFill>
                <a:latin typeface="Calibri"/>
              </a:rPr>
              <a:t>Regla: invertir </a:t>
            </a:r>
            <a:r>
              <a:rPr sz="1600" b="1">
                <a:solidFill>
                  <a:srgbClr val="142B33"/>
                </a:solidFill>
                <a:latin typeface="Calibri"/>
              </a:rPr>
              <a:t>un</a:t>
            </a:r>
            <a:r>
              <a:rPr sz="1600" b="0">
                <a:solidFill>
                  <a:srgbClr val="142B33"/>
                </a:solidFill>
                <a:latin typeface="Calibri"/>
              </a:rPr>
              <a:t> factor deja limpios ese factor y </a:t>
            </a:r>
            <a:r>
              <a:rPr sz="1600" b="1">
                <a:solidFill>
                  <a:srgbClr val="142B33"/>
                </a:solidFill>
                <a:latin typeface="Calibri"/>
              </a:rPr>
              <a:t>todas sus interacciones dobles</a:t>
            </a:r>
          </a:p>
        </p:txBody>
      </p:sp>
      <p:sp>
        <p:nvSpPr>
          <p:cNvPr id="5" name="Rounded Rectangle 4"/>
          <p:cNvSpPr/>
          <p:nvPr/>
        </p:nvSpPr>
        <p:spPr>
          <a:xfrm>
            <a:off x="548640" y="5028184"/>
            <a:ext cx="11094415" cy="50673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Gutiérrez: cambiar el signo de los </a:t>
            </a:r>
            <a:r>
              <a:rPr sz="1500" b="1">
                <a:solidFill>
                  <a:srgbClr val="142B33"/>
                </a:solidFill>
                <a:latin typeface="Calibri"/>
              </a:rPr>
              <a:t>generadores que contienen el factor</a:t>
            </a:r>
            <a:r>
              <a:rPr sz="1500" b="0">
                <a:solidFill>
                  <a:srgbClr val="142B33"/>
                </a:solidFill>
                <a:latin typeface="Calibri"/>
              </a:rPr>
              <a:t>. Para A: I = −ABD = −ACE = +BCF = −ABCG</a:t>
            </a:r>
          </a:p>
        </p:txBody>
      </p:sp>
      <p:sp>
        <p:nvSpPr>
          <p:cNvPr id="6" name="TextBox 5"/>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Diseños de resolución III</a:t>
            </a:r>
          </a:p>
        </p:txBody>
      </p:sp>
      <p:sp>
        <p:nvSpPr>
          <p:cNvPr id="7" name="TextBox 6"/>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97</a:t>
            </a:r>
          </a:p>
        </p:txBody>
      </p:sp>
      <p:sp>
        <p:nvSpPr>
          <p:cNvPr id="8" name="Rounded Rectangle 7"/>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8 · Diseños de resolución III</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Doblez completo (caso 2 de Gutiérrez)</a:t>
            </a:r>
          </a:p>
        </p:txBody>
      </p:sp>
      <p:sp>
        <p:nvSpPr>
          <p:cNvPr id="3" name="Rounded Rectangle 2"/>
          <p:cNvSpPr/>
          <p:nvPr/>
        </p:nvSpPr>
        <p:spPr>
          <a:xfrm>
            <a:off x="548640" y="1417320"/>
            <a:ext cx="5341467" cy="829624"/>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0">
                <a:solidFill>
                  <a:srgbClr val="0F4C5C"/>
                </a:solidFill>
                <a:latin typeface="Cambria Math"/>
              </a:rPr>
              <a:t>Columna de A: se invierte  ·  Columna de BD: (−)(−) = +, no se invierte</a:t>
            </a:r>
          </a:p>
          <a:p>
            <a:pPr algn="ctr"/>
            <a:r>
              <a:rPr sz="1600" b="0">
                <a:solidFill>
                  <a:srgbClr val="0F4C5C"/>
                </a:solidFill>
                <a:latin typeface="Cambria Math"/>
              </a:rPr>
              <a:t>⇒  ℓ′</a:t>
            </a:r>
            <a:r>
              <a:rPr sz="1600" b="0" baseline="-25000">
                <a:solidFill>
                  <a:srgbClr val="0F4C5C"/>
                </a:solidFill>
                <a:latin typeface="Cambria Math"/>
              </a:rPr>
              <a:t>A</a:t>
            </a:r>
            <a:r>
              <a:rPr sz="1600" b="0">
                <a:solidFill>
                  <a:srgbClr val="0F4C5C"/>
                </a:solidFill>
                <a:latin typeface="Cambria Math"/>
              </a:rPr>
              <a:t> → A − BD − CE − FG</a:t>
            </a:r>
          </a:p>
        </p:txBody>
      </p:sp>
      <p:sp>
        <p:nvSpPr>
          <p:cNvPr id="4" name="Rounded Rectangle 3"/>
          <p:cNvSpPr/>
          <p:nvPr/>
        </p:nvSpPr>
        <p:spPr>
          <a:xfrm>
            <a:off x="548640" y="2448112"/>
            <a:ext cx="5341467" cy="899038"/>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800" b="0">
                <a:solidFill>
                  <a:srgbClr val="0F4C5C"/>
                </a:solidFill>
                <a:latin typeface="Cambria Math"/>
              </a:rPr>
              <a:t>½ (ℓ</a:t>
            </a:r>
            <a:r>
              <a:rPr sz="1800" b="0" baseline="-25000">
                <a:solidFill>
                  <a:srgbClr val="0F4C5C"/>
                </a:solidFill>
                <a:latin typeface="Cambria Math"/>
              </a:rPr>
              <a:t>i</a:t>
            </a:r>
            <a:r>
              <a:rPr sz="1800" b="0">
                <a:solidFill>
                  <a:srgbClr val="0F4C5C"/>
                </a:solidFill>
                <a:latin typeface="Cambria Math"/>
              </a:rPr>
              <a:t> + ℓ′</a:t>
            </a:r>
            <a:r>
              <a:rPr sz="1800" b="0" baseline="-25000">
                <a:solidFill>
                  <a:srgbClr val="0F4C5C"/>
                </a:solidFill>
                <a:latin typeface="Cambria Math"/>
              </a:rPr>
              <a:t>i</a:t>
            </a:r>
            <a:r>
              <a:rPr sz="1800" b="0">
                <a:solidFill>
                  <a:srgbClr val="0F4C5C"/>
                </a:solidFill>
                <a:latin typeface="Cambria Math"/>
              </a:rPr>
              <a:t>) → efecto principal</a:t>
            </a:r>
          </a:p>
          <a:p>
            <a:pPr algn="ctr"/>
            <a:r>
              <a:rPr sz="1800" b="0">
                <a:solidFill>
                  <a:srgbClr val="0F4C5C"/>
                </a:solidFill>
                <a:latin typeface="Cambria Math"/>
              </a:rPr>
              <a:t>½ (ℓ</a:t>
            </a:r>
            <a:r>
              <a:rPr sz="1800" b="0" baseline="-25000">
                <a:solidFill>
                  <a:srgbClr val="0F4C5C"/>
                </a:solidFill>
                <a:latin typeface="Cambria Math"/>
              </a:rPr>
              <a:t>i</a:t>
            </a:r>
            <a:r>
              <a:rPr sz="1800" b="0">
                <a:solidFill>
                  <a:srgbClr val="0F4C5C"/>
                </a:solidFill>
                <a:latin typeface="Cambria Math"/>
              </a:rPr>
              <a:t> − ℓ′</a:t>
            </a:r>
            <a:r>
              <a:rPr sz="1800" b="0" baseline="-25000">
                <a:solidFill>
                  <a:srgbClr val="0F4C5C"/>
                </a:solidFill>
                <a:latin typeface="Cambria Math"/>
              </a:rPr>
              <a:t>i</a:t>
            </a:r>
            <a:r>
              <a:rPr sz="1800" b="0">
                <a:solidFill>
                  <a:srgbClr val="0F4C5C"/>
                </a:solidFill>
                <a:latin typeface="Cambria Math"/>
              </a:rPr>
              <a:t>) → cadena de interacciones dobles</a:t>
            </a:r>
          </a:p>
        </p:txBody>
      </p:sp>
      <p:sp>
        <p:nvSpPr>
          <p:cNvPr id="5" name="TextBox 4"/>
          <p:cNvSpPr txBox="1"/>
          <p:nvPr/>
        </p:nvSpPr>
        <p:spPr>
          <a:xfrm>
            <a:off x="6301587" y="1417320"/>
            <a:ext cx="5341467" cy="1816607"/>
          </a:xfrm>
          <a:prstGeom prst="rect">
            <a:avLst/>
          </a:prstGeom>
          <a:noFill/>
        </p:spPr>
        <p:txBody>
          <a:bodyPr wrap="square" anchor="t" lIns="0" rIns="0" tIns="0" bIns="0">
            <a:spAutoFit/>
          </a:bodyPr>
          <a:lstStyle/>
          <a:p>
            <a:pPr marL="320040" indent="-320040">
              <a:spcAft>
                <a:spcPts val="600"/>
              </a:spcAft>
              <a:buClr>
                <a:srgbClr val="E36414"/>
              </a:buClr>
              <a:buFont typeface="Arial"/>
              <a:buChar char="•"/>
            </a:pPr>
            <a:r>
              <a:rPr sz="1600" b="0">
                <a:solidFill>
                  <a:srgbClr val="142B33"/>
                </a:solidFill>
                <a:latin typeface="Calibri"/>
              </a:rPr>
              <a:t>Se invierten los signos de </a:t>
            </a:r>
            <a:r>
              <a:rPr sz="1600" b="1">
                <a:solidFill>
                  <a:srgbClr val="142B33"/>
                </a:solidFill>
                <a:latin typeface="Calibri"/>
              </a:rPr>
              <a:t>todos</a:t>
            </a:r>
            <a:r>
              <a:rPr sz="1600" b="0">
                <a:solidFill>
                  <a:srgbClr val="142B33"/>
                </a:solidFill>
                <a:latin typeface="Calibri"/>
              </a:rPr>
              <a:t> los factores</a:t>
            </a:r>
          </a:p>
          <a:p>
            <a:pPr marL="320040" indent="-320040">
              <a:spcAft>
                <a:spcPts val="600"/>
              </a:spcAft>
              <a:buClr>
                <a:srgbClr val="E36414"/>
              </a:buClr>
              <a:buFont typeface="Arial"/>
              <a:buChar char="•"/>
            </a:pPr>
            <a:r>
              <a:rPr sz="1600" b="0">
                <a:solidFill>
                  <a:srgbClr val="142B33"/>
                </a:solidFill>
                <a:latin typeface="Calibri"/>
              </a:rPr>
              <a:t>Rompe los alias entre </a:t>
            </a:r>
            <a:r>
              <a:rPr sz="1600" b="1">
                <a:solidFill>
                  <a:srgbClr val="142B33"/>
                </a:solidFill>
                <a:latin typeface="Calibri"/>
              </a:rPr>
              <a:t>principales</a:t>
            </a:r>
            <a:r>
              <a:rPr sz="1600" b="0">
                <a:solidFill>
                  <a:srgbClr val="142B33"/>
                </a:solidFill>
                <a:latin typeface="Calibri"/>
              </a:rPr>
              <a:t> e </a:t>
            </a:r>
            <a:r>
              <a:rPr sz="1600" b="1">
                <a:solidFill>
                  <a:srgbClr val="142B33"/>
                </a:solidFill>
                <a:latin typeface="Calibri"/>
              </a:rPr>
              <a:t>interacciones dobles</a:t>
            </a:r>
          </a:p>
          <a:p>
            <a:pPr marL="320040" indent="-320040">
              <a:spcAft>
                <a:spcPts val="600"/>
              </a:spcAft>
              <a:buClr>
                <a:srgbClr val="E36414"/>
              </a:buClr>
              <a:buFont typeface="Arial"/>
              <a:buChar char="•"/>
            </a:pPr>
            <a:r>
              <a:rPr sz="1600" b="0">
                <a:solidFill>
                  <a:srgbClr val="142B33"/>
                </a:solidFill>
                <a:latin typeface="Calibri"/>
              </a:rPr>
              <a:t>Equivale a cambiar el signo de los generadores con </a:t>
            </a:r>
            <a:r>
              <a:rPr sz="1600" b="1">
                <a:solidFill>
                  <a:srgbClr val="142B33"/>
                </a:solidFill>
                <a:latin typeface="Calibri"/>
              </a:rPr>
              <a:t>número impar</a:t>
            </a:r>
            <a:r>
              <a:rPr sz="1600" b="0">
                <a:solidFill>
                  <a:srgbClr val="142B33"/>
                </a:solidFill>
                <a:latin typeface="Calibri"/>
              </a:rPr>
              <a:t> de letras</a:t>
            </a:r>
          </a:p>
          <a:p>
            <a:pPr marL="320040" indent="-320040">
              <a:spcAft>
                <a:spcPts val="600"/>
              </a:spcAft>
              <a:buClr>
                <a:srgbClr val="E36414"/>
              </a:buClr>
              <a:buFont typeface="Arial"/>
              <a:buChar char="•"/>
            </a:pPr>
            <a:r>
              <a:rPr sz="1600" b="0">
                <a:solidFill>
                  <a:srgbClr val="142B33"/>
                </a:solidFill>
                <a:latin typeface="Calibri"/>
              </a:rPr>
              <a:t>En el 2</a:t>
            </a:r>
            <a:r>
              <a:rPr sz="1600" b="0" baseline="30000">
                <a:solidFill>
                  <a:srgbClr val="142B33"/>
                </a:solidFill>
                <a:latin typeface="Calibri"/>
              </a:rPr>
              <a:t>7−4</a:t>
            </a:r>
            <a:r>
              <a:rPr sz="1600" b="0">
                <a:solidFill>
                  <a:srgbClr val="142B33"/>
                </a:solidFill>
                <a:latin typeface="Calibri"/>
              </a:rPr>
              <a:t>: ABD, ACE y BCF cambian; </a:t>
            </a:r>
            <a:r>
              <a:rPr sz="1600" b="1">
                <a:solidFill>
                  <a:srgbClr val="142B33"/>
                </a:solidFill>
                <a:latin typeface="Calibri"/>
              </a:rPr>
              <a:t>ABCG</a:t>
            </a:r>
            <a:r>
              <a:rPr sz="1600" b="0">
                <a:solidFill>
                  <a:srgbClr val="142B33"/>
                </a:solidFill>
                <a:latin typeface="Calibri"/>
              </a:rPr>
              <a:t> no</a:t>
            </a:r>
          </a:p>
        </p:txBody>
      </p:sp>
      <p:sp>
        <p:nvSpPr>
          <p:cNvPr id="6" name="Rounded Rectangle 5"/>
          <p:cNvSpPr/>
          <p:nvPr/>
        </p:nvSpPr>
        <p:spPr>
          <a:xfrm>
            <a:off x="6301587" y="3435096"/>
            <a:ext cx="5341467" cy="97155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Gutiérrez: cambiar el signo de los generadores de </a:t>
            </a:r>
            <a:r>
              <a:rPr sz="1500" b="1">
                <a:solidFill>
                  <a:srgbClr val="142B33"/>
                </a:solidFill>
                <a:latin typeface="Calibri"/>
              </a:rPr>
              <a:t>tres letras</a:t>
            </a:r>
            <a:r>
              <a:rPr sz="1500" b="0">
                <a:solidFill>
                  <a:srgbClr val="142B33"/>
                </a:solidFill>
                <a:latin typeface="Calibri"/>
              </a:rPr>
              <a:t>: I = −ABD = −ACE = −BCF = +ABCG. Combinado: los siete principales limpios (</a:t>
            </a:r>
            <a:r>
              <a:rPr sz="1500" b="1">
                <a:solidFill>
                  <a:srgbClr val="142B33"/>
                </a:solidFill>
                <a:latin typeface="Calibri"/>
              </a:rPr>
              <a:t>resolución IV</a:t>
            </a:r>
            <a:r>
              <a:rPr sz="1500" b="0">
                <a:solidFill>
                  <a:srgbClr val="142B33"/>
                </a:solidFill>
                <a:latin typeface="Calibri"/>
              </a:rPr>
              <a:t>)</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Diseños de resolución III</a:t>
            </a:r>
          </a:p>
        </p:txBody>
      </p:sp>
      <p:sp>
        <p:nvSpPr>
          <p:cNvPr id="8" name="TextBox 7"/>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98</a:t>
            </a:r>
          </a:p>
        </p:txBody>
      </p:sp>
      <p:sp>
        <p:nvSpPr>
          <p:cNvPr id="9" name="Rounded Rectangle 8"/>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8 · Diseños de resolución III</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5 · Enunciado: tiempo de enfoque del ojo</a:t>
            </a:r>
          </a:p>
        </p:txBody>
      </p:sp>
      <p:sp>
        <p:nvSpPr>
          <p:cNvPr id="3" name="TextBox 2"/>
          <p:cNvSpPr txBox="1"/>
          <p:nvPr/>
        </p:nvSpPr>
        <p:spPr>
          <a:xfrm>
            <a:off x="548640" y="1417320"/>
            <a:ext cx="6196102" cy="1523999"/>
          </a:xfrm>
          <a:prstGeom prst="rect">
            <a:avLst/>
          </a:prstGeom>
          <a:noFill/>
        </p:spPr>
        <p:txBody>
          <a:bodyPr wrap="square" anchor="t" lIns="0" rIns="0" tIns="0" bIns="0">
            <a:spAutoFit/>
          </a:bodyPr>
          <a:lstStyle/>
          <a:p>
            <a:r>
              <a:rPr sz="1600" b="0">
                <a:solidFill>
                  <a:srgbClr val="142B33"/>
                </a:solidFill>
                <a:latin typeface="Calibri"/>
              </a:rPr>
              <a:t>Un experimentador estudia el </a:t>
            </a:r>
            <a:r>
              <a:rPr sz="1600" b="1">
                <a:solidFill>
                  <a:srgbClr val="142B33"/>
                </a:solidFill>
                <a:latin typeface="Calibri"/>
              </a:rPr>
              <a:t>tiempo de enfoque del ojo</a:t>
            </a:r>
            <a:r>
              <a:rPr sz="1600" b="0">
                <a:solidFill>
                  <a:srgbClr val="142B33"/>
                </a:solidFill>
                <a:latin typeface="Calibri"/>
              </a:rPr>
              <a:t> (ms) y construyó un aparato en el que puede controlar varios factores durante la prueba. Considera importantes siete, cada uno a dos niveles: A agudeza visual, B distancia del objetivo al ojo, C forma del objetivo, D nivel de iluminación, E tamaño del objetivo, F densidad del objetivo y G sujeto.</a:t>
            </a:r>
          </a:p>
        </p:txBody>
      </p:sp>
      <p:sp>
        <p:nvSpPr>
          <p:cNvPr id="4" name="TextBox 3"/>
          <p:cNvSpPr txBox="1"/>
          <p:nvPr/>
        </p:nvSpPr>
        <p:spPr>
          <a:xfrm>
            <a:off x="548640" y="3142488"/>
            <a:ext cx="6196102" cy="780288"/>
          </a:xfrm>
          <a:prstGeom prst="rect">
            <a:avLst/>
          </a:prstGeom>
          <a:noFill/>
        </p:spPr>
        <p:txBody>
          <a:bodyPr wrap="square" anchor="t" lIns="0" rIns="0" tIns="0" bIns="0">
            <a:spAutoFit/>
          </a:bodyPr>
          <a:lstStyle/>
          <a:p>
            <a:r>
              <a:rPr sz="1600" b="0">
                <a:solidFill>
                  <a:srgbClr val="142B33"/>
                </a:solidFill>
                <a:latin typeface="Calibri"/>
              </a:rPr>
              <a:t>Sospecha que </a:t>
            </a:r>
            <a:r>
              <a:rPr sz="1600" b="1">
                <a:solidFill>
                  <a:srgbClr val="142B33"/>
                </a:solidFill>
                <a:latin typeface="Calibri"/>
              </a:rPr>
              <a:t>solo unos pocos</a:t>
            </a:r>
            <a:r>
              <a:rPr sz="1600" b="0">
                <a:solidFill>
                  <a:srgbClr val="142B33"/>
                </a:solidFill>
                <a:latin typeface="Calibri"/>
              </a:rPr>
              <a:t> de los siete factores son importantes y que las interacciones de orden alto se pueden despreciar.</a:t>
            </a:r>
          </a:p>
        </p:txBody>
      </p:sp>
      <p:sp>
        <p:nvSpPr>
          <p:cNvPr id="5" name="TextBox 4"/>
          <p:cNvSpPr txBox="1"/>
          <p:nvPr/>
        </p:nvSpPr>
        <p:spPr>
          <a:xfrm>
            <a:off x="548640" y="4123944"/>
            <a:ext cx="6196102" cy="1028191"/>
          </a:xfrm>
          <a:prstGeom prst="rect">
            <a:avLst/>
          </a:prstGeom>
          <a:noFill/>
        </p:spPr>
        <p:txBody>
          <a:bodyPr wrap="square" anchor="t" lIns="0" rIns="0" tIns="0" bIns="0">
            <a:spAutoFit/>
          </a:bodyPr>
          <a:lstStyle/>
          <a:p>
            <a:r>
              <a:rPr sz="1600" b="0">
                <a:solidFill>
                  <a:srgbClr val="142B33"/>
                </a:solidFill>
                <a:latin typeface="Calibri"/>
              </a:rPr>
              <a:t>Decide hacer primero un </a:t>
            </a:r>
            <a:r>
              <a:rPr sz="1600" b="1">
                <a:solidFill>
                  <a:srgbClr val="142B33"/>
                </a:solidFill>
                <a:latin typeface="Calibri"/>
              </a:rPr>
              <a:t>experimento de tamizado</a:t>
            </a:r>
            <a:r>
              <a:rPr sz="1600" b="0">
                <a:solidFill>
                  <a:srgbClr val="142B33"/>
                </a:solidFill>
                <a:latin typeface="Calibri"/>
              </a:rPr>
              <a:t> con un 2</a:t>
            </a:r>
            <a:r>
              <a:rPr sz="1600" b="0" baseline="30000">
                <a:solidFill>
                  <a:srgbClr val="142B33"/>
                </a:solidFill>
                <a:latin typeface="Calibri"/>
              </a:rPr>
              <a:t>7−4</a:t>
            </a:r>
            <a:r>
              <a:rPr sz="1600" b="0" baseline="-25000">
                <a:solidFill>
                  <a:srgbClr val="142B33"/>
                </a:solidFill>
                <a:latin typeface="Calibri"/>
              </a:rPr>
              <a:t>III</a:t>
            </a:r>
            <a:r>
              <a:rPr sz="1600" b="0">
                <a:solidFill>
                  <a:srgbClr val="142B33"/>
                </a:solidFill>
                <a:latin typeface="Calibri"/>
              </a:rPr>
              <a:t> de 8 corridas, en orden aleatorio, para identificar los factores importantes y concentrar en ellos el estudio posterior.</a:t>
            </a:r>
          </a:p>
        </p:txBody>
      </p:sp>
      <p:sp>
        <p:nvSpPr>
          <p:cNvPr id="6" name="TextBox 5"/>
          <p:cNvSpPr txBox="1"/>
          <p:nvPr/>
        </p:nvSpPr>
        <p:spPr>
          <a:xfrm>
            <a:off x="548640" y="5353303"/>
            <a:ext cx="6196102" cy="222504"/>
          </a:xfrm>
          <a:prstGeom prst="rect">
            <a:avLst/>
          </a:prstGeom>
          <a:noFill/>
        </p:spPr>
        <p:txBody>
          <a:bodyPr wrap="square" anchor="t" lIns="0" rIns="0" tIns="0" bIns="0">
            <a:spAutoFit/>
          </a:bodyPr>
          <a:lstStyle/>
          <a:p>
            <a:r>
              <a:rPr sz="1200" b="0">
                <a:solidFill>
                  <a:srgbClr val="5B6B73"/>
                </a:solidFill>
                <a:latin typeface="Calibri"/>
              </a:rPr>
              <a:t>Fuente: Montgomery, ejemplo 8-7</a:t>
            </a:r>
          </a:p>
        </p:txBody>
      </p:sp>
      <p:sp>
        <p:nvSpPr>
          <p:cNvPr id="7" name="Rounded Rectangle 6"/>
          <p:cNvSpPr/>
          <p:nvPr/>
        </p:nvSpPr>
        <p:spPr>
          <a:xfrm>
            <a:off x="7156222" y="1417320"/>
            <a:ext cx="4486832" cy="1249426"/>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700" b="1">
                <a:solidFill>
                  <a:srgbClr val="0F4C5C"/>
                </a:solidFill>
                <a:latin typeface="Cambria"/>
              </a:rPr>
              <a:t>Objetivo</a:t>
            </a:r>
          </a:p>
          <a:p>
            <a:pPr algn="l"/>
            <a:r>
              <a:rPr sz="1500" b="1">
                <a:solidFill>
                  <a:srgbClr val="142B33"/>
                </a:solidFill>
                <a:latin typeface="Calibri"/>
              </a:rPr>
              <a:t>Tamizar</a:t>
            </a:r>
            <a:r>
              <a:rPr sz="1500" b="0">
                <a:solidFill>
                  <a:srgbClr val="142B33"/>
                </a:solidFill>
                <a:latin typeface="Calibri"/>
              </a:rPr>
              <a:t>: encontrar los pocos factores que de verdad afectan el tiempo de enfoque</a:t>
            </a:r>
          </a:p>
        </p:txBody>
      </p:sp>
      <p:sp>
        <p:nvSpPr>
          <p:cNvPr id="8" name="TextBox 7"/>
          <p:cNvSpPr txBox="1"/>
          <p:nvPr/>
        </p:nvSpPr>
        <p:spPr>
          <a:xfrm>
            <a:off x="7156222" y="2867914"/>
            <a:ext cx="4486832" cy="299973"/>
          </a:xfrm>
          <a:prstGeom prst="rect">
            <a:avLst/>
          </a:prstGeom>
          <a:noFill/>
        </p:spPr>
        <p:txBody>
          <a:bodyPr wrap="square" anchor="t" lIns="0" rIns="0" tIns="0" bIns="0">
            <a:spAutoFit/>
          </a:bodyPr>
          <a:lstStyle/>
          <a:p>
            <a:r>
              <a:rPr sz="1700" b="1">
                <a:solidFill>
                  <a:srgbClr val="142B33"/>
                </a:solidFill>
                <a:latin typeface="Calibri"/>
              </a:rPr>
              <a:t>Se pide</a:t>
            </a:r>
          </a:p>
        </p:txBody>
      </p:sp>
      <p:sp>
        <p:nvSpPr>
          <p:cNvPr id="9" name="TextBox 8"/>
          <p:cNvSpPr txBox="1"/>
          <p:nvPr/>
        </p:nvSpPr>
        <p:spPr>
          <a:xfrm>
            <a:off x="7156222" y="3369056"/>
            <a:ext cx="4486832" cy="1723643"/>
          </a:xfrm>
          <a:prstGeom prst="rect">
            <a:avLst/>
          </a:prstGeom>
          <a:noFill/>
        </p:spPr>
        <p:txBody>
          <a:bodyPr wrap="square" anchor="t" lIns="0" rIns="0" tIns="0" bIns="0">
            <a:spAutoFit/>
          </a:bodyPr>
          <a:lstStyle/>
          <a:p>
            <a:pPr marL="320040" indent="-320040">
              <a:spcAft>
                <a:spcPts val="600"/>
              </a:spcAft>
              <a:buClr>
                <a:srgbClr val="E36414"/>
              </a:buClr>
              <a:buFont typeface="+mj-lt"/>
              <a:buAutoNum type="arabicPeriod"/>
            </a:pPr>
            <a:r>
              <a:rPr sz="1500" b="0">
                <a:solidFill>
                  <a:srgbClr val="142B33"/>
                </a:solidFill>
                <a:latin typeface="Calibri"/>
              </a:rPr>
              <a:t>Estimar los efectos de la primera fracción</a:t>
            </a:r>
          </a:p>
          <a:p>
            <a:pPr marL="320040" indent="-320040">
              <a:spcAft>
                <a:spcPts val="600"/>
              </a:spcAft>
              <a:buClr>
                <a:srgbClr val="E36414"/>
              </a:buClr>
              <a:buFont typeface="+mj-lt"/>
              <a:buAutoNum type="arabicPeriod"/>
            </a:pPr>
            <a:r>
              <a:rPr sz="1500" b="0">
                <a:solidFill>
                  <a:srgbClr val="142B33"/>
                </a:solidFill>
                <a:latin typeface="Calibri"/>
              </a:rPr>
              <a:t>Listar las explicaciones compatibles con los alias</a:t>
            </a:r>
          </a:p>
          <a:p>
            <a:pPr marL="320040" indent="-320040">
              <a:spcAft>
                <a:spcPts val="600"/>
              </a:spcAft>
              <a:buClr>
                <a:srgbClr val="E36414"/>
              </a:buClr>
              <a:buFont typeface="+mj-lt"/>
              <a:buAutoNum type="arabicPeriod"/>
            </a:pPr>
            <a:r>
              <a:rPr sz="1500" b="0">
                <a:solidFill>
                  <a:srgbClr val="142B33"/>
                </a:solidFill>
                <a:latin typeface="Calibri"/>
              </a:rPr>
              <a:t>Elegir y correr una segunda fracción que las separe</a:t>
            </a:r>
          </a:p>
          <a:p>
            <a:pPr marL="320040" indent="-320040">
              <a:spcAft>
                <a:spcPts val="600"/>
              </a:spcAft>
              <a:buClr>
                <a:srgbClr val="E36414"/>
              </a:buClr>
              <a:buFont typeface="+mj-lt"/>
              <a:buAutoNum type="arabicPeriod"/>
            </a:pPr>
            <a:r>
              <a:rPr sz="1500" b="0">
                <a:solidFill>
                  <a:srgbClr val="142B33"/>
                </a:solidFill>
                <a:latin typeface="Calibri"/>
              </a:rPr>
              <a:t>Decidir qué efectos son los reales</a:t>
            </a:r>
          </a:p>
        </p:txBody>
      </p:sp>
      <p:sp>
        <p:nvSpPr>
          <p:cNvPr id="10" name="TextBox 9"/>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Diseños de resolución III</a:t>
            </a:r>
          </a:p>
        </p:txBody>
      </p:sp>
      <p:sp>
        <p:nvSpPr>
          <p:cNvPr id="11" name="TextBox 10"/>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99</a:t>
            </a:r>
          </a:p>
        </p:txBody>
      </p:sp>
      <p:sp>
        <p:nvSpPr>
          <p:cNvPr id="12" name="Rounded Rectangle 11"/>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8 · Diseños de resolución III</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5 · Una primera fracción ambigua</a:t>
            </a:r>
          </a:p>
        </p:txBody>
      </p:sp>
      <p:graphicFrame>
        <p:nvGraphicFramePr>
          <p:cNvPr id="3" name="Chart 2"/>
          <p:cNvGraphicFramePr>
            <a:graphicFrameLocks noGrp="1"/>
          </p:cNvGraphicFramePr>
          <p:nvPr/>
        </p:nvGraphicFramePr>
        <p:xfrm>
          <a:off x="548640" y="1417320"/>
          <a:ext cx="5341467" cy="3566160"/>
        </p:xfrm>
        <a:graphic>
          <a:graphicData uri="http://schemas.openxmlformats.org/drawingml/2006/chart">
            <c:chart xmlns:c="http://schemas.openxmlformats.org/drawingml/2006/chart" r:id="rId2"/>
          </a:graphicData>
        </a:graphic>
      </p:graphicFrame>
      <p:sp>
        <p:nvSpPr>
          <p:cNvPr id="4" name="Rounded Rectangle 3"/>
          <p:cNvSpPr/>
          <p:nvPr/>
        </p:nvSpPr>
        <p:spPr>
          <a:xfrm>
            <a:off x="548640" y="5184648"/>
            <a:ext cx="5341467" cy="50673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Grandes: ℓ</a:t>
            </a:r>
            <a:r>
              <a:rPr sz="1500" b="0" baseline="-25000">
                <a:solidFill>
                  <a:srgbClr val="142B33"/>
                </a:solidFill>
                <a:latin typeface="Calibri"/>
              </a:rPr>
              <a:t>B</a:t>
            </a:r>
            <a:r>
              <a:rPr sz="1500" b="0">
                <a:solidFill>
                  <a:srgbClr val="142B33"/>
                </a:solidFill>
                <a:latin typeface="Calibri"/>
              </a:rPr>
              <a:t> = 38.38,  ℓ</a:t>
            </a:r>
            <a:r>
              <a:rPr sz="1500" b="0" baseline="-25000">
                <a:solidFill>
                  <a:srgbClr val="142B33"/>
                </a:solidFill>
                <a:latin typeface="Calibri"/>
              </a:rPr>
              <a:t>D</a:t>
            </a:r>
            <a:r>
              <a:rPr sz="1500" b="0">
                <a:solidFill>
                  <a:srgbClr val="142B33"/>
                </a:solidFill>
                <a:latin typeface="Calibri"/>
              </a:rPr>
              <a:t> = 28.88,  ℓ</a:t>
            </a:r>
            <a:r>
              <a:rPr sz="1500" b="0" baseline="-25000">
                <a:solidFill>
                  <a:srgbClr val="142B33"/>
                </a:solidFill>
                <a:latin typeface="Calibri"/>
              </a:rPr>
              <a:t>A</a:t>
            </a:r>
            <a:r>
              <a:rPr sz="1500" b="0">
                <a:solidFill>
                  <a:srgbClr val="142B33"/>
                </a:solidFill>
                <a:latin typeface="Calibri"/>
              </a:rPr>
              <a:t> = 20.63</a:t>
            </a:r>
          </a:p>
        </p:txBody>
      </p:sp>
      <p:sp>
        <p:nvSpPr>
          <p:cNvPr id="5" name="TextBox 4"/>
          <p:cNvSpPr txBox="1"/>
          <p:nvPr/>
        </p:nvSpPr>
        <p:spPr>
          <a:xfrm>
            <a:off x="6301587" y="1417320"/>
            <a:ext cx="5341467" cy="315468"/>
          </a:xfrm>
          <a:prstGeom prst="rect">
            <a:avLst/>
          </a:prstGeom>
          <a:noFill/>
        </p:spPr>
        <p:txBody>
          <a:bodyPr wrap="square" anchor="t" lIns="0" rIns="0" tIns="0" bIns="0">
            <a:spAutoFit/>
          </a:bodyPr>
          <a:lstStyle/>
          <a:p>
            <a:r>
              <a:rPr sz="1800" b="1">
                <a:solidFill>
                  <a:srgbClr val="142B33"/>
                </a:solidFill>
                <a:latin typeface="Calibri"/>
              </a:rPr>
              <a:t>Cuatro explicaciones posibles</a:t>
            </a:r>
          </a:p>
        </p:txBody>
      </p:sp>
      <p:graphicFrame>
        <p:nvGraphicFramePr>
          <p:cNvPr id="6" name="Table 5"/>
          <p:cNvGraphicFramePr>
            <a:graphicFrameLocks noGrp="1"/>
          </p:cNvGraphicFramePr>
          <p:nvPr/>
        </p:nvGraphicFramePr>
        <p:xfrm>
          <a:off x="6301587" y="1933956"/>
          <a:ext cx="5341467" cy="1833880"/>
        </p:xfrm>
        <a:graphic>
          <a:graphicData uri="http://schemas.openxmlformats.org/drawingml/2006/table">
            <a:tbl>
              <a:tblPr firstRow="0" bandRow="0">
                <a:tableStyleId>{5C22544A-7EE6-4342-B048-85BDC9FD1C3A}</a:tableStyleId>
              </a:tblPr>
              <a:tblGrid>
                <a:gridCol w="2072440"/>
                <a:gridCol w="3269027"/>
              </a:tblGrid>
              <a:tr h="366776">
                <a:tc>
                  <a:txBody>
                    <a:bodyPr/>
                    <a:lstStyle/>
                    <a:p>
                      <a:pPr algn="ctr"/>
                      <a:r>
                        <a:rPr sz="1600" b="1">
                          <a:solidFill>
                            <a:srgbClr val="FFFFFF"/>
                          </a:solidFill>
                          <a:latin typeface="Calibri"/>
                        </a:rPr>
                        <a:t>Explicación</a:t>
                      </a:r>
                    </a:p>
                  </a:txBody>
                  <a:tcPr marL="73152" marR="73152" marT="27432" marB="27432" anchor="ctr">
                    <a:solidFill>
                      <a:srgbClr val="0F4C5C"/>
                    </a:solidFill>
                  </a:tcPr>
                </a:tc>
                <a:tc>
                  <a:txBody>
                    <a:bodyPr/>
                    <a:lstStyle/>
                    <a:p>
                      <a:pPr algn="ctr"/>
                      <a:r>
                        <a:rPr sz="1600" b="1">
                          <a:solidFill>
                            <a:srgbClr val="FFFFFF"/>
                          </a:solidFill>
                          <a:latin typeface="Calibri"/>
                        </a:rPr>
                        <a:t>Efectos activos</a:t>
                      </a:r>
                    </a:p>
                  </a:txBody>
                  <a:tcPr marL="73152" marR="73152" marT="27432" marB="27432" anchor="ctr">
                    <a:solidFill>
                      <a:srgbClr val="0F4C5C"/>
                    </a:solidFill>
                  </a:tcPr>
                </a:tc>
              </a:tr>
              <a:tr h="366776">
                <a:tc>
                  <a:txBody>
                    <a:bodyPr/>
                    <a:lstStyle/>
                    <a:p>
                      <a:pPr algn="ctr"/>
                      <a:r>
                        <a:rPr sz="1600" b="0">
                          <a:solidFill>
                            <a:srgbClr val="142B33"/>
                          </a:solidFill>
                          <a:latin typeface="Calibri"/>
                        </a:rPr>
                        <a:t>1</a:t>
                      </a:r>
                    </a:p>
                  </a:txBody>
                  <a:tcPr marL="73152" marR="73152" marT="27432" marB="27432" anchor="ctr">
                    <a:solidFill>
                      <a:srgbClr val="FFFFFF"/>
                    </a:solidFill>
                  </a:tcPr>
                </a:tc>
                <a:tc>
                  <a:txBody>
                    <a:bodyPr/>
                    <a:lstStyle/>
                    <a:p>
                      <a:pPr algn="ctr"/>
                      <a:r>
                        <a:rPr sz="1600" b="0">
                          <a:solidFill>
                            <a:srgbClr val="142B33"/>
                          </a:solidFill>
                          <a:latin typeface="Calibri"/>
                        </a:rPr>
                        <a:t>A, B y D</a:t>
                      </a:r>
                    </a:p>
                  </a:txBody>
                  <a:tcPr marL="73152" marR="73152" marT="27432" marB="27432" anchor="ctr">
                    <a:solidFill>
                      <a:srgbClr val="FFFFFF"/>
                    </a:solidFill>
                  </a:tcPr>
                </a:tc>
              </a:tr>
              <a:tr h="366776">
                <a:tc>
                  <a:txBody>
                    <a:bodyPr/>
                    <a:lstStyle/>
                    <a:p>
                      <a:pPr algn="ctr"/>
                      <a:r>
                        <a:rPr sz="1600" b="0">
                          <a:solidFill>
                            <a:srgbClr val="142B33"/>
                          </a:solidFill>
                          <a:latin typeface="Calibri"/>
                        </a:rPr>
                        <a:t>2</a:t>
                      </a:r>
                    </a:p>
                  </a:txBody>
                  <a:tcPr marL="73152" marR="73152" marT="27432" marB="27432" anchor="ctr">
                    <a:solidFill>
                      <a:srgbClr val="F4F8F9"/>
                    </a:solidFill>
                  </a:tcPr>
                </a:tc>
                <a:tc>
                  <a:txBody>
                    <a:bodyPr/>
                    <a:lstStyle/>
                    <a:p>
                      <a:pPr algn="ctr"/>
                      <a:r>
                        <a:rPr sz="1600" b="0">
                          <a:solidFill>
                            <a:srgbClr val="142B33"/>
                          </a:solidFill>
                          <a:latin typeface="Calibri"/>
                        </a:rPr>
                        <a:t>A, B y la interacción AB</a:t>
                      </a:r>
                    </a:p>
                  </a:txBody>
                  <a:tcPr marL="73152" marR="73152" marT="27432" marB="27432" anchor="ctr">
                    <a:solidFill>
                      <a:srgbClr val="F4F8F9"/>
                    </a:solidFill>
                  </a:tcPr>
                </a:tc>
              </a:tr>
              <a:tr h="366776">
                <a:tc>
                  <a:txBody>
                    <a:bodyPr/>
                    <a:lstStyle/>
                    <a:p>
                      <a:pPr algn="ctr"/>
                      <a:r>
                        <a:rPr sz="1600" b="0">
                          <a:solidFill>
                            <a:srgbClr val="142B33"/>
                          </a:solidFill>
                          <a:latin typeface="Calibri"/>
                        </a:rPr>
                        <a:t>3</a:t>
                      </a:r>
                    </a:p>
                  </a:txBody>
                  <a:tcPr marL="73152" marR="73152" marT="27432" marB="27432" anchor="ctr">
                    <a:solidFill>
                      <a:srgbClr val="FFFFFF"/>
                    </a:solidFill>
                  </a:tcPr>
                </a:tc>
                <a:tc>
                  <a:txBody>
                    <a:bodyPr/>
                    <a:lstStyle/>
                    <a:p>
                      <a:pPr algn="ctr"/>
                      <a:r>
                        <a:rPr sz="1600" b="0">
                          <a:solidFill>
                            <a:srgbClr val="142B33"/>
                          </a:solidFill>
                          <a:latin typeface="Calibri"/>
                        </a:rPr>
                        <a:t>A, D y la interacción AD</a:t>
                      </a:r>
                    </a:p>
                  </a:txBody>
                  <a:tcPr marL="73152" marR="73152" marT="27432" marB="27432" anchor="ctr">
                    <a:solidFill>
                      <a:srgbClr val="FFFFFF"/>
                    </a:solidFill>
                  </a:tcPr>
                </a:tc>
              </a:tr>
              <a:tr h="366776">
                <a:tc>
                  <a:txBody>
                    <a:bodyPr/>
                    <a:lstStyle/>
                    <a:p>
                      <a:pPr algn="ctr"/>
                      <a:r>
                        <a:rPr sz="1600" b="0">
                          <a:solidFill>
                            <a:srgbClr val="142B33"/>
                          </a:solidFill>
                          <a:latin typeface="Calibri"/>
                        </a:rPr>
                        <a:t>4</a:t>
                      </a:r>
                    </a:p>
                  </a:txBody>
                  <a:tcPr marL="73152" marR="73152" marT="27432" marB="27432" anchor="ctr">
                    <a:solidFill>
                      <a:srgbClr val="F4F8F9"/>
                    </a:solidFill>
                  </a:tcPr>
                </a:tc>
                <a:tc>
                  <a:txBody>
                    <a:bodyPr/>
                    <a:lstStyle/>
                    <a:p>
                      <a:pPr algn="ctr"/>
                      <a:r>
                        <a:rPr sz="1600" b="0">
                          <a:solidFill>
                            <a:srgbClr val="142B33"/>
                          </a:solidFill>
                          <a:latin typeface="Calibri"/>
                        </a:rPr>
                        <a:t>B, D y la interacción BD</a:t>
                      </a:r>
                    </a:p>
                  </a:txBody>
                  <a:tcPr marL="73152" marR="73152" marT="27432" marB="27432" anchor="ctr">
                    <a:solidFill>
                      <a:srgbClr val="F4F8F9"/>
                    </a:solidFill>
                  </a:tcPr>
                </a:tc>
              </a:tr>
            </a:tbl>
          </a:graphicData>
        </a:graphic>
      </p:graphicFrame>
      <p:sp>
        <p:nvSpPr>
          <p:cNvPr id="7" name="Rounded Rectangle 6"/>
          <p:cNvSpPr/>
          <p:nvPr/>
        </p:nvSpPr>
        <p:spPr>
          <a:xfrm>
            <a:off x="6301587" y="3969004"/>
            <a:ext cx="5341467" cy="50673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Como </a:t>
            </a:r>
            <a:r>
              <a:rPr sz="1500" b="1">
                <a:solidFill>
                  <a:srgbClr val="142B33"/>
                </a:solidFill>
                <a:latin typeface="Calibri"/>
              </a:rPr>
              <a:t>D = AB</a:t>
            </a:r>
            <a:r>
              <a:rPr sz="1500" b="0">
                <a:solidFill>
                  <a:srgbClr val="142B33"/>
                </a:solidFill>
                <a:latin typeface="Calibri"/>
              </a:rPr>
              <a:t>, la fracción no distingue entre ellas</a:t>
            </a:r>
          </a:p>
        </p:txBody>
      </p:sp>
      <p:sp>
        <p:nvSpPr>
          <p:cNvPr id="8" name="TextBox 7"/>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Diseños de resolución III</a:t>
            </a:r>
          </a:p>
        </p:txBody>
      </p:sp>
      <p:sp>
        <p:nvSpPr>
          <p:cNvPr id="9" name="TextBox 8"/>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100</a:t>
            </a:r>
          </a:p>
        </p:txBody>
      </p:sp>
      <p:sp>
        <p:nvSpPr>
          <p:cNvPr id="10" name="Rounded Rectangle 9"/>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8 · Diseños de resolución III</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5 · Qué aclara el doblez completo</a:t>
            </a:r>
          </a:p>
        </p:txBody>
      </p:sp>
      <p:graphicFrame>
        <p:nvGraphicFramePr>
          <p:cNvPr id="3" name="Table 2"/>
          <p:cNvGraphicFramePr>
            <a:graphicFrameLocks noGrp="1"/>
          </p:cNvGraphicFramePr>
          <p:nvPr/>
        </p:nvGraphicFramePr>
        <p:xfrm>
          <a:off x="548640" y="1417320"/>
          <a:ext cx="11094413" cy="3042666"/>
        </p:xfrm>
        <a:graphic>
          <a:graphicData uri="http://schemas.openxmlformats.org/drawingml/2006/table">
            <a:tbl>
              <a:tblPr firstRow="0" bandRow="0">
                <a:tableStyleId>{5C22544A-7EE6-4342-B048-85BDC9FD1C3A}</a:tableStyleId>
              </a:tblPr>
              <a:tblGrid>
                <a:gridCol w="1331329"/>
                <a:gridCol w="1886050"/>
                <a:gridCol w="1886050"/>
                <a:gridCol w="2218883"/>
                <a:gridCol w="3772101"/>
              </a:tblGrid>
              <a:tr h="583692">
                <a:tc>
                  <a:txBody>
                    <a:bodyPr/>
                    <a:lstStyle/>
                    <a:p>
                      <a:pPr algn="ctr"/>
                      <a:r>
                        <a:rPr sz="1500" b="1">
                          <a:solidFill>
                            <a:srgbClr val="FFFFFF"/>
                          </a:solidFill>
                          <a:latin typeface="Calibri"/>
                        </a:rPr>
                        <a:t>Columna</a:t>
                      </a:r>
                    </a:p>
                  </a:txBody>
                  <a:tcPr marL="73152" marR="73152" marT="27432" marB="27432" anchor="ctr">
                    <a:solidFill>
                      <a:srgbClr val="0F4C5C"/>
                    </a:solidFill>
                  </a:tcPr>
                </a:tc>
                <a:tc>
                  <a:txBody>
                    <a:bodyPr/>
                    <a:lstStyle/>
                    <a:p>
                      <a:pPr algn="ctr"/>
                      <a:r>
                        <a:rPr sz="1500" b="1">
                          <a:solidFill>
                            <a:srgbClr val="FFFFFF"/>
                          </a:solidFill>
                          <a:latin typeface="Calibri"/>
                        </a:rPr>
                        <a:t>ℓ  (1.ª fracción)</a:t>
                      </a:r>
                    </a:p>
                  </a:txBody>
                  <a:tcPr marL="73152" marR="73152" marT="27432" marB="27432" anchor="ctr">
                    <a:solidFill>
                      <a:srgbClr val="0F4C5C"/>
                    </a:solidFill>
                  </a:tcPr>
                </a:tc>
                <a:tc>
                  <a:txBody>
                    <a:bodyPr/>
                    <a:lstStyle/>
                    <a:p>
                      <a:pPr algn="ctr"/>
                      <a:r>
                        <a:rPr sz="1500" b="1">
                          <a:solidFill>
                            <a:srgbClr val="FFFFFF"/>
                          </a:solidFill>
                          <a:latin typeface="Calibri"/>
                        </a:rPr>
                        <a:t>ℓ′  (doblez)</a:t>
                      </a:r>
                    </a:p>
                  </a:txBody>
                  <a:tcPr marL="73152" marR="73152" marT="27432" marB="27432" anchor="ctr">
                    <a:solidFill>
                      <a:srgbClr val="0F4C5C"/>
                    </a:solidFill>
                  </a:tcPr>
                </a:tc>
                <a:tc>
                  <a:txBody>
                    <a:bodyPr/>
                    <a:lstStyle/>
                    <a:p>
                      <a:pPr algn="ctr"/>
                      <a:r>
                        <a:rPr sz="1500" b="1">
                          <a:solidFill>
                            <a:srgbClr val="FFFFFF"/>
                          </a:solidFill>
                          <a:latin typeface="Calibri"/>
                        </a:rPr>
                        <a:t>½ (ℓ + ℓ′)</a:t>
                      </a:r>
                    </a:p>
                  </a:txBody>
                  <a:tcPr marL="73152" marR="73152" marT="27432" marB="27432" anchor="ctr">
                    <a:solidFill>
                      <a:srgbClr val="0F4C5C"/>
                    </a:solidFill>
                  </a:tcPr>
                </a:tc>
                <a:tc>
                  <a:txBody>
                    <a:bodyPr/>
                    <a:lstStyle/>
                    <a:p>
                      <a:pPr algn="ctr"/>
                      <a:r>
                        <a:rPr sz="1500" b="1">
                          <a:solidFill>
                            <a:srgbClr val="FFFFFF"/>
                          </a:solidFill>
                          <a:latin typeface="Calibri"/>
                        </a:rPr>
                        <a:t>½ (ℓ − ℓ′)</a:t>
                      </a:r>
                    </a:p>
                  </a:txBody>
                  <a:tcPr marL="73152" marR="73152" marT="27432" marB="27432" anchor="ctr">
                    <a:solidFill>
                      <a:srgbClr val="0F4C5C"/>
                    </a:solidFill>
                  </a:tcPr>
                </a:tc>
              </a:tr>
              <a:tr h="351282">
                <a:tc>
                  <a:txBody>
                    <a:bodyPr/>
                    <a:lstStyle/>
                    <a:p>
                      <a:pPr algn="ctr"/>
                      <a:r>
                        <a:rPr sz="1500" b="0">
                          <a:solidFill>
                            <a:srgbClr val="142B33"/>
                          </a:solidFill>
                          <a:latin typeface="Calibri"/>
                        </a:rPr>
                        <a:t>A</a:t>
                      </a:r>
                    </a:p>
                  </a:txBody>
                  <a:tcPr marL="73152" marR="73152" marT="27432" marB="27432" anchor="ctr">
                    <a:solidFill>
                      <a:srgbClr val="FDE8D7"/>
                    </a:solidFill>
                  </a:tcPr>
                </a:tc>
                <a:tc>
                  <a:txBody>
                    <a:bodyPr/>
                    <a:lstStyle/>
                    <a:p>
                      <a:pPr algn="ctr"/>
                      <a:r>
                        <a:rPr sz="1500" b="0">
                          <a:solidFill>
                            <a:srgbClr val="142B33"/>
                          </a:solidFill>
                          <a:latin typeface="Calibri"/>
                        </a:rPr>
                        <a:t>20.63</a:t>
                      </a:r>
                    </a:p>
                  </a:txBody>
                  <a:tcPr marL="73152" marR="73152" marT="27432" marB="27432" anchor="ctr">
                    <a:solidFill>
                      <a:srgbClr val="FDE8D7"/>
                    </a:solidFill>
                  </a:tcPr>
                </a:tc>
                <a:tc>
                  <a:txBody>
                    <a:bodyPr/>
                    <a:lstStyle/>
                    <a:p>
                      <a:pPr algn="ctr"/>
                      <a:r>
                        <a:rPr sz="1500" b="0">
                          <a:solidFill>
                            <a:srgbClr val="142B33"/>
                          </a:solidFill>
                          <a:latin typeface="Calibri"/>
                        </a:rPr>
                        <a:t>−17.68</a:t>
                      </a:r>
                    </a:p>
                  </a:txBody>
                  <a:tcPr marL="73152" marR="73152" marT="27432" marB="27432" anchor="ctr">
                    <a:solidFill>
                      <a:srgbClr val="FDE8D7"/>
                    </a:solidFill>
                  </a:tcPr>
                </a:tc>
                <a:tc>
                  <a:txBody>
                    <a:bodyPr/>
                    <a:lstStyle/>
                    <a:p>
                      <a:pPr algn="ctr"/>
                      <a:r>
                        <a:rPr sz="1500" b="0">
                          <a:solidFill>
                            <a:srgbClr val="142B33"/>
                          </a:solidFill>
                          <a:latin typeface="Calibri"/>
                        </a:rPr>
                        <a:t>A = 1.48</a:t>
                      </a:r>
                    </a:p>
                  </a:txBody>
                  <a:tcPr marL="73152" marR="73152" marT="27432" marB="27432" anchor="ctr">
                    <a:solidFill>
                      <a:srgbClr val="FDE8D7"/>
                    </a:solidFill>
                  </a:tcPr>
                </a:tc>
                <a:tc>
                  <a:txBody>
                    <a:bodyPr/>
                    <a:lstStyle/>
                    <a:p>
                      <a:pPr algn="ctr"/>
                      <a:r>
                        <a:rPr sz="1500" b="0">
                          <a:solidFill>
                            <a:srgbClr val="142B33"/>
                          </a:solidFill>
                          <a:latin typeface="Calibri"/>
                        </a:rPr>
                        <a:t>BD + CE + FG = 19.15</a:t>
                      </a:r>
                    </a:p>
                  </a:txBody>
                  <a:tcPr marL="73152" marR="73152" marT="27432" marB="27432" anchor="ctr">
                    <a:solidFill>
                      <a:srgbClr val="FDE8D7"/>
                    </a:solidFill>
                  </a:tcPr>
                </a:tc>
              </a:tr>
              <a:tr h="351282">
                <a:tc>
                  <a:txBody>
                    <a:bodyPr/>
                    <a:lstStyle/>
                    <a:p>
                      <a:pPr algn="ctr"/>
                      <a:r>
                        <a:rPr sz="1500" b="0">
                          <a:solidFill>
                            <a:srgbClr val="142B33"/>
                          </a:solidFill>
                          <a:latin typeface="Calibri"/>
                        </a:rPr>
                        <a:t>B</a:t>
                      </a:r>
                    </a:p>
                  </a:txBody>
                  <a:tcPr marL="73152" marR="73152" marT="27432" marB="27432" anchor="ctr">
                    <a:solidFill>
                      <a:srgbClr val="FDE8D7"/>
                    </a:solidFill>
                  </a:tcPr>
                </a:tc>
                <a:tc>
                  <a:txBody>
                    <a:bodyPr/>
                    <a:lstStyle/>
                    <a:p>
                      <a:pPr algn="ctr"/>
                      <a:r>
                        <a:rPr sz="1500" b="0">
                          <a:solidFill>
                            <a:srgbClr val="142B33"/>
                          </a:solidFill>
                          <a:latin typeface="Calibri"/>
                        </a:rPr>
                        <a:t>38.38</a:t>
                      </a:r>
                    </a:p>
                  </a:txBody>
                  <a:tcPr marL="73152" marR="73152" marT="27432" marB="27432" anchor="ctr">
                    <a:solidFill>
                      <a:srgbClr val="FDE8D7"/>
                    </a:solidFill>
                  </a:tcPr>
                </a:tc>
                <a:tc>
                  <a:txBody>
                    <a:bodyPr/>
                    <a:lstStyle/>
                    <a:p>
                      <a:pPr algn="ctr"/>
                      <a:r>
                        <a:rPr sz="1500" b="0">
                          <a:solidFill>
                            <a:srgbClr val="142B33"/>
                          </a:solidFill>
                          <a:latin typeface="Calibri"/>
                        </a:rPr>
                        <a:t>37.73</a:t>
                      </a:r>
                    </a:p>
                  </a:txBody>
                  <a:tcPr marL="73152" marR="73152" marT="27432" marB="27432" anchor="ctr">
                    <a:solidFill>
                      <a:srgbClr val="FDE8D7"/>
                    </a:solidFill>
                  </a:tcPr>
                </a:tc>
                <a:tc>
                  <a:txBody>
                    <a:bodyPr/>
                    <a:lstStyle/>
                    <a:p>
                      <a:pPr algn="ctr"/>
                      <a:r>
                        <a:rPr sz="1500" b="0">
                          <a:solidFill>
                            <a:srgbClr val="142B33"/>
                          </a:solidFill>
                          <a:latin typeface="Calibri"/>
                        </a:rPr>
                        <a:t>B = 38.05</a:t>
                      </a:r>
                    </a:p>
                  </a:txBody>
                  <a:tcPr marL="73152" marR="73152" marT="27432" marB="27432" anchor="ctr">
                    <a:solidFill>
                      <a:srgbClr val="FDE8D7"/>
                    </a:solidFill>
                  </a:tcPr>
                </a:tc>
                <a:tc>
                  <a:txBody>
                    <a:bodyPr/>
                    <a:lstStyle/>
                    <a:p>
                      <a:pPr algn="ctr"/>
                      <a:r>
                        <a:rPr sz="1500" b="0">
                          <a:solidFill>
                            <a:srgbClr val="142B33"/>
                          </a:solidFill>
                          <a:latin typeface="Calibri"/>
                        </a:rPr>
                        <a:t>AD + CF + EG = 0.33</a:t>
                      </a:r>
                    </a:p>
                  </a:txBody>
                  <a:tcPr marL="73152" marR="73152" marT="27432" marB="27432" anchor="ctr">
                    <a:solidFill>
                      <a:srgbClr val="FDE8D7"/>
                    </a:solidFill>
                  </a:tcPr>
                </a:tc>
              </a:tr>
              <a:tr h="351282">
                <a:tc>
                  <a:txBody>
                    <a:bodyPr/>
                    <a:lstStyle/>
                    <a:p>
                      <a:pPr algn="ctr"/>
                      <a:r>
                        <a:rPr sz="1500" b="0">
                          <a:solidFill>
                            <a:srgbClr val="142B33"/>
                          </a:solidFill>
                          <a:latin typeface="Calibri"/>
                        </a:rPr>
                        <a:t>C</a:t>
                      </a:r>
                    </a:p>
                  </a:txBody>
                  <a:tcPr marL="73152" marR="73152" marT="27432" marB="27432" anchor="ctr">
                    <a:solidFill>
                      <a:srgbClr val="FFFFFF"/>
                    </a:solidFill>
                  </a:tcPr>
                </a:tc>
                <a:tc>
                  <a:txBody>
                    <a:bodyPr/>
                    <a:lstStyle/>
                    <a:p>
                      <a:pPr algn="ctr"/>
                      <a:r>
                        <a:rPr sz="1500" b="0">
                          <a:solidFill>
                            <a:srgbClr val="142B33"/>
                          </a:solidFill>
                          <a:latin typeface="Calibri"/>
                        </a:rPr>
                        <a:t>−0.28</a:t>
                      </a:r>
                    </a:p>
                  </a:txBody>
                  <a:tcPr marL="73152" marR="73152" marT="27432" marB="27432" anchor="ctr">
                    <a:solidFill>
                      <a:srgbClr val="FFFFFF"/>
                    </a:solidFill>
                  </a:tcPr>
                </a:tc>
                <a:tc>
                  <a:txBody>
                    <a:bodyPr/>
                    <a:lstStyle/>
                    <a:p>
                      <a:pPr algn="ctr"/>
                      <a:r>
                        <a:rPr sz="1500" b="0">
                          <a:solidFill>
                            <a:srgbClr val="142B33"/>
                          </a:solidFill>
                          <a:latin typeface="Calibri"/>
                        </a:rPr>
                        <a:t>−3.33</a:t>
                      </a:r>
                    </a:p>
                  </a:txBody>
                  <a:tcPr marL="73152" marR="73152" marT="27432" marB="27432" anchor="ctr">
                    <a:solidFill>
                      <a:srgbClr val="FFFFFF"/>
                    </a:solidFill>
                  </a:tcPr>
                </a:tc>
                <a:tc>
                  <a:txBody>
                    <a:bodyPr/>
                    <a:lstStyle/>
                    <a:p>
                      <a:pPr algn="ctr"/>
                      <a:r>
                        <a:rPr sz="1500" b="0">
                          <a:solidFill>
                            <a:srgbClr val="142B33"/>
                          </a:solidFill>
                          <a:latin typeface="Calibri"/>
                        </a:rPr>
                        <a:t>C = −1.80</a:t>
                      </a:r>
                    </a:p>
                  </a:txBody>
                  <a:tcPr marL="73152" marR="73152" marT="27432" marB="27432" anchor="ctr">
                    <a:solidFill>
                      <a:srgbClr val="FFFFFF"/>
                    </a:solidFill>
                  </a:tcPr>
                </a:tc>
                <a:tc>
                  <a:txBody>
                    <a:bodyPr/>
                    <a:lstStyle/>
                    <a:p>
                      <a:pPr algn="ctr"/>
                      <a:r>
                        <a:rPr sz="1500" b="0">
                          <a:solidFill>
                            <a:srgbClr val="142B33"/>
                          </a:solidFill>
                          <a:latin typeface="Calibri"/>
                        </a:rPr>
                        <a:t>AE + BF + DG = 1.53</a:t>
                      </a:r>
                    </a:p>
                  </a:txBody>
                  <a:tcPr marL="73152" marR="73152" marT="27432" marB="27432" anchor="ctr">
                    <a:solidFill>
                      <a:srgbClr val="FFFFFF"/>
                    </a:solidFill>
                  </a:tcPr>
                </a:tc>
              </a:tr>
              <a:tr h="351282">
                <a:tc>
                  <a:txBody>
                    <a:bodyPr/>
                    <a:lstStyle/>
                    <a:p>
                      <a:pPr algn="ctr"/>
                      <a:r>
                        <a:rPr sz="1500" b="0">
                          <a:solidFill>
                            <a:srgbClr val="142B33"/>
                          </a:solidFill>
                          <a:latin typeface="Calibri"/>
                        </a:rPr>
                        <a:t>D</a:t>
                      </a:r>
                    </a:p>
                  </a:txBody>
                  <a:tcPr marL="73152" marR="73152" marT="27432" marB="27432" anchor="ctr">
                    <a:solidFill>
                      <a:srgbClr val="FDE8D7"/>
                    </a:solidFill>
                  </a:tcPr>
                </a:tc>
                <a:tc>
                  <a:txBody>
                    <a:bodyPr/>
                    <a:lstStyle/>
                    <a:p>
                      <a:pPr algn="ctr"/>
                      <a:r>
                        <a:rPr sz="1500" b="0">
                          <a:solidFill>
                            <a:srgbClr val="142B33"/>
                          </a:solidFill>
                          <a:latin typeface="Calibri"/>
                        </a:rPr>
                        <a:t>28.88</a:t>
                      </a:r>
                    </a:p>
                  </a:txBody>
                  <a:tcPr marL="73152" marR="73152" marT="27432" marB="27432" anchor="ctr">
                    <a:solidFill>
                      <a:srgbClr val="FDE8D7"/>
                    </a:solidFill>
                  </a:tcPr>
                </a:tc>
                <a:tc>
                  <a:txBody>
                    <a:bodyPr/>
                    <a:lstStyle/>
                    <a:p>
                      <a:pPr algn="ctr"/>
                      <a:r>
                        <a:rPr sz="1500" b="0">
                          <a:solidFill>
                            <a:srgbClr val="142B33"/>
                          </a:solidFill>
                          <a:latin typeface="Calibri"/>
                        </a:rPr>
                        <a:t>29.88</a:t>
                      </a:r>
                    </a:p>
                  </a:txBody>
                  <a:tcPr marL="73152" marR="73152" marT="27432" marB="27432" anchor="ctr">
                    <a:solidFill>
                      <a:srgbClr val="FDE8D7"/>
                    </a:solidFill>
                  </a:tcPr>
                </a:tc>
                <a:tc>
                  <a:txBody>
                    <a:bodyPr/>
                    <a:lstStyle/>
                    <a:p>
                      <a:pPr algn="ctr"/>
                      <a:r>
                        <a:rPr sz="1500" b="0">
                          <a:solidFill>
                            <a:srgbClr val="142B33"/>
                          </a:solidFill>
                          <a:latin typeface="Calibri"/>
                        </a:rPr>
                        <a:t>D = 29.38</a:t>
                      </a:r>
                    </a:p>
                  </a:txBody>
                  <a:tcPr marL="73152" marR="73152" marT="27432" marB="27432" anchor="ctr">
                    <a:solidFill>
                      <a:srgbClr val="FDE8D7"/>
                    </a:solidFill>
                  </a:tcPr>
                </a:tc>
                <a:tc>
                  <a:txBody>
                    <a:bodyPr/>
                    <a:lstStyle/>
                    <a:p>
                      <a:pPr algn="ctr"/>
                      <a:r>
                        <a:rPr sz="1500" b="0">
                          <a:solidFill>
                            <a:srgbClr val="142B33"/>
                          </a:solidFill>
                          <a:latin typeface="Calibri"/>
                        </a:rPr>
                        <a:t>AB + CG + EF = −0.50</a:t>
                      </a:r>
                    </a:p>
                  </a:txBody>
                  <a:tcPr marL="73152" marR="73152" marT="27432" marB="27432" anchor="ctr">
                    <a:solidFill>
                      <a:srgbClr val="FDE8D7"/>
                    </a:solidFill>
                  </a:tcPr>
                </a:tc>
              </a:tr>
              <a:tr h="351282">
                <a:tc>
                  <a:txBody>
                    <a:bodyPr/>
                    <a:lstStyle/>
                    <a:p>
                      <a:pPr algn="ctr"/>
                      <a:r>
                        <a:rPr sz="1500" b="0">
                          <a:solidFill>
                            <a:srgbClr val="142B33"/>
                          </a:solidFill>
                          <a:latin typeface="Calibri"/>
                        </a:rPr>
                        <a:t>E</a:t>
                      </a:r>
                    </a:p>
                  </a:txBody>
                  <a:tcPr marL="73152" marR="73152" marT="27432" marB="27432" anchor="ctr">
                    <a:solidFill>
                      <a:srgbClr val="FFFFFF"/>
                    </a:solidFill>
                  </a:tcPr>
                </a:tc>
                <a:tc>
                  <a:txBody>
                    <a:bodyPr/>
                    <a:lstStyle/>
                    <a:p>
                      <a:pPr algn="ctr"/>
                      <a:r>
                        <a:rPr sz="1500" b="0">
                          <a:solidFill>
                            <a:srgbClr val="142B33"/>
                          </a:solidFill>
                          <a:latin typeface="Calibri"/>
                        </a:rPr>
                        <a:t>−0.28</a:t>
                      </a:r>
                    </a:p>
                  </a:txBody>
                  <a:tcPr marL="73152" marR="73152" marT="27432" marB="27432" anchor="ctr">
                    <a:solidFill>
                      <a:srgbClr val="FFFFFF"/>
                    </a:solidFill>
                  </a:tcPr>
                </a:tc>
                <a:tc>
                  <a:txBody>
                    <a:bodyPr/>
                    <a:lstStyle/>
                    <a:p>
                      <a:pPr algn="ctr"/>
                      <a:r>
                        <a:rPr sz="1500" b="0">
                          <a:solidFill>
                            <a:srgbClr val="142B33"/>
                          </a:solidFill>
                          <a:latin typeface="Calibri"/>
                        </a:rPr>
                        <a:t>0.53</a:t>
                      </a:r>
                    </a:p>
                  </a:txBody>
                  <a:tcPr marL="73152" marR="73152" marT="27432" marB="27432" anchor="ctr">
                    <a:solidFill>
                      <a:srgbClr val="FFFFFF"/>
                    </a:solidFill>
                  </a:tcPr>
                </a:tc>
                <a:tc>
                  <a:txBody>
                    <a:bodyPr/>
                    <a:lstStyle/>
                    <a:p>
                      <a:pPr algn="ctr"/>
                      <a:r>
                        <a:rPr sz="1500" b="0">
                          <a:solidFill>
                            <a:srgbClr val="142B33"/>
                          </a:solidFill>
                          <a:latin typeface="Calibri"/>
                        </a:rPr>
                        <a:t>E = 0.13</a:t>
                      </a:r>
                    </a:p>
                  </a:txBody>
                  <a:tcPr marL="73152" marR="73152" marT="27432" marB="27432" anchor="ctr">
                    <a:solidFill>
                      <a:srgbClr val="FFFFFF"/>
                    </a:solidFill>
                  </a:tcPr>
                </a:tc>
                <a:tc>
                  <a:txBody>
                    <a:bodyPr/>
                    <a:lstStyle/>
                    <a:p>
                      <a:pPr algn="ctr"/>
                      <a:r>
                        <a:rPr sz="1500" b="0">
                          <a:solidFill>
                            <a:srgbClr val="142B33"/>
                          </a:solidFill>
                          <a:latin typeface="Calibri"/>
                        </a:rPr>
                        <a:t>AC + BG + DF = −0.40</a:t>
                      </a:r>
                    </a:p>
                  </a:txBody>
                  <a:tcPr marL="73152" marR="73152" marT="27432" marB="27432" anchor="ctr">
                    <a:solidFill>
                      <a:srgbClr val="FFFFFF"/>
                    </a:solidFill>
                  </a:tcPr>
                </a:tc>
              </a:tr>
              <a:tr h="351282">
                <a:tc>
                  <a:txBody>
                    <a:bodyPr/>
                    <a:lstStyle/>
                    <a:p>
                      <a:pPr algn="ctr"/>
                      <a:r>
                        <a:rPr sz="1500" b="0">
                          <a:solidFill>
                            <a:srgbClr val="142B33"/>
                          </a:solidFill>
                          <a:latin typeface="Calibri"/>
                        </a:rPr>
                        <a:t>F</a:t>
                      </a:r>
                    </a:p>
                  </a:txBody>
                  <a:tcPr marL="73152" marR="73152" marT="27432" marB="27432" anchor="ctr">
                    <a:solidFill>
                      <a:srgbClr val="F4F8F9"/>
                    </a:solidFill>
                  </a:tcPr>
                </a:tc>
                <a:tc>
                  <a:txBody>
                    <a:bodyPr/>
                    <a:lstStyle/>
                    <a:p>
                      <a:pPr algn="ctr"/>
                      <a:r>
                        <a:rPr sz="1500" b="0">
                          <a:solidFill>
                            <a:srgbClr val="142B33"/>
                          </a:solidFill>
                          <a:latin typeface="Calibri"/>
                        </a:rPr>
                        <a:t>−0.63</a:t>
                      </a:r>
                    </a:p>
                  </a:txBody>
                  <a:tcPr marL="73152" marR="73152" marT="27432" marB="27432" anchor="ctr">
                    <a:solidFill>
                      <a:srgbClr val="F4F8F9"/>
                    </a:solidFill>
                  </a:tcPr>
                </a:tc>
                <a:tc>
                  <a:txBody>
                    <a:bodyPr/>
                    <a:lstStyle/>
                    <a:p>
                      <a:pPr algn="ctr"/>
                      <a:r>
                        <a:rPr sz="1500" b="0">
                          <a:solidFill>
                            <a:srgbClr val="142B33"/>
                          </a:solidFill>
                          <a:latin typeface="Calibri"/>
                        </a:rPr>
                        <a:t>1.63</a:t>
                      </a:r>
                    </a:p>
                  </a:txBody>
                  <a:tcPr marL="73152" marR="73152" marT="27432" marB="27432" anchor="ctr">
                    <a:solidFill>
                      <a:srgbClr val="F4F8F9"/>
                    </a:solidFill>
                  </a:tcPr>
                </a:tc>
                <a:tc>
                  <a:txBody>
                    <a:bodyPr/>
                    <a:lstStyle/>
                    <a:p>
                      <a:pPr algn="ctr"/>
                      <a:r>
                        <a:rPr sz="1500" b="0">
                          <a:solidFill>
                            <a:srgbClr val="142B33"/>
                          </a:solidFill>
                          <a:latin typeface="Calibri"/>
                        </a:rPr>
                        <a:t>F = 0.50</a:t>
                      </a:r>
                    </a:p>
                  </a:txBody>
                  <a:tcPr marL="73152" marR="73152" marT="27432" marB="27432" anchor="ctr">
                    <a:solidFill>
                      <a:srgbClr val="F4F8F9"/>
                    </a:solidFill>
                  </a:tcPr>
                </a:tc>
                <a:tc>
                  <a:txBody>
                    <a:bodyPr/>
                    <a:lstStyle/>
                    <a:p>
                      <a:pPr algn="ctr"/>
                      <a:r>
                        <a:rPr sz="1500" b="0">
                          <a:solidFill>
                            <a:srgbClr val="142B33"/>
                          </a:solidFill>
                          <a:latin typeface="Calibri"/>
                        </a:rPr>
                        <a:t>BC + AG + DE = −1.13</a:t>
                      </a:r>
                    </a:p>
                  </a:txBody>
                  <a:tcPr marL="73152" marR="73152" marT="27432" marB="27432" anchor="ctr">
                    <a:solidFill>
                      <a:srgbClr val="F4F8F9"/>
                    </a:solidFill>
                  </a:tcPr>
                </a:tc>
              </a:tr>
              <a:tr h="351282">
                <a:tc>
                  <a:txBody>
                    <a:bodyPr/>
                    <a:lstStyle/>
                    <a:p>
                      <a:pPr algn="ctr"/>
                      <a:r>
                        <a:rPr sz="1500" b="0">
                          <a:solidFill>
                            <a:srgbClr val="142B33"/>
                          </a:solidFill>
                          <a:latin typeface="Calibri"/>
                        </a:rPr>
                        <a:t>G</a:t>
                      </a:r>
                    </a:p>
                  </a:txBody>
                  <a:tcPr marL="73152" marR="73152" marT="27432" marB="27432" anchor="ctr">
                    <a:solidFill>
                      <a:srgbClr val="FFFFFF"/>
                    </a:solidFill>
                  </a:tcPr>
                </a:tc>
                <a:tc>
                  <a:txBody>
                    <a:bodyPr/>
                    <a:lstStyle/>
                    <a:p>
                      <a:pPr algn="ctr"/>
                      <a:r>
                        <a:rPr sz="1500" b="0">
                          <a:solidFill>
                            <a:srgbClr val="142B33"/>
                          </a:solidFill>
                          <a:latin typeface="Calibri"/>
                        </a:rPr>
                        <a:t>−2.43</a:t>
                      </a:r>
                    </a:p>
                  </a:txBody>
                  <a:tcPr marL="73152" marR="73152" marT="27432" marB="27432" anchor="ctr">
                    <a:solidFill>
                      <a:srgbClr val="FFFFFF"/>
                    </a:solidFill>
                  </a:tcPr>
                </a:tc>
                <a:tc>
                  <a:txBody>
                    <a:bodyPr/>
                    <a:lstStyle/>
                    <a:p>
                      <a:pPr algn="ctr"/>
                      <a:r>
                        <a:rPr sz="1500" b="0">
                          <a:solidFill>
                            <a:srgbClr val="142B33"/>
                          </a:solidFill>
                          <a:latin typeface="Calibri"/>
                        </a:rPr>
                        <a:t>2.68</a:t>
                      </a:r>
                    </a:p>
                  </a:txBody>
                  <a:tcPr marL="73152" marR="73152" marT="27432" marB="27432" anchor="ctr">
                    <a:solidFill>
                      <a:srgbClr val="FFFFFF"/>
                    </a:solidFill>
                  </a:tcPr>
                </a:tc>
                <a:tc>
                  <a:txBody>
                    <a:bodyPr/>
                    <a:lstStyle/>
                    <a:p>
                      <a:pPr algn="ctr"/>
                      <a:r>
                        <a:rPr sz="1500" b="0">
                          <a:solidFill>
                            <a:srgbClr val="142B33"/>
                          </a:solidFill>
                          <a:latin typeface="Calibri"/>
                        </a:rPr>
                        <a:t>G = 0.13</a:t>
                      </a:r>
                    </a:p>
                  </a:txBody>
                  <a:tcPr marL="73152" marR="73152" marT="27432" marB="27432" anchor="ctr">
                    <a:solidFill>
                      <a:srgbClr val="FFFFFF"/>
                    </a:solidFill>
                  </a:tcPr>
                </a:tc>
                <a:tc>
                  <a:txBody>
                    <a:bodyPr/>
                    <a:lstStyle/>
                    <a:p>
                      <a:pPr algn="ctr"/>
                      <a:r>
                        <a:rPr sz="1500" b="0">
                          <a:solidFill>
                            <a:srgbClr val="142B33"/>
                          </a:solidFill>
                          <a:latin typeface="Calibri"/>
                        </a:rPr>
                        <a:t>CD + BE + AF = −2.55</a:t>
                      </a:r>
                    </a:p>
                  </a:txBody>
                  <a:tcPr marL="73152" marR="73152" marT="27432" marB="27432" anchor="ctr">
                    <a:solidFill>
                      <a:srgbClr val="FFFFFF"/>
                    </a:solidFill>
                  </a:tcPr>
                </a:tc>
              </a:tr>
            </a:tbl>
          </a:graphicData>
        </a:graphic>
      </p:graphicFrame>
      <p:sp>
        <p:nvSpPr>
          <p:cNvPr id="4" name="Rounded Rectangle 3"/>
          <p:cNvSpPr/>
          <p:nvPr/>
        </p:nvSpPr>
        <p:spPr>
          <a:xfrm>
            <a:off x="548640" y="4661154"/>
            <a:ext cx="11094415" cy="770128"/>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600" b="0">
                <a:solidFill>
                  <a:srgbClr val="142B33"/>
                </a:solidFill>
                <a:latin typeface="Calibri"/>
              </a:rPr>
              <a:t>Activos: </a:t>
            </a:r>
            <a:r>
              <a:rPr sz="1600" b="1">
                <a:solidFill>
                  <a:srgbClr val="142B33"/>
                </a:solidFill>
                <a:latin typeface="Calibri"/>
              </a:rPr>
              <a:t>B</a:t>
            </a:r>
            <a:r>
              <a:rPr sz="1600" b="0">
                <a:solidFill>
                  <a:srgbClr val="142B33"/>
                </a:solidFill>
                <a:latin typeface="Calibri"/>
              </a:rPr>
              <a:t>, </a:t>
            </a:r>
            <a:r>
              <a:rPr sz="1600" b="1">
                <a:solidFill>
                  <a:srgbClr val="142B33"/>
                </a:solidFill>
                <a:latin typeface="Calibri"/>
              </a:rPr>
              <a:t>D</a:t>
            </a:r>
            <a:r>
              <a:rPr sz="1600" b="0">
                <a:solidFill>
                  <a:srgbClr val="142B33"/>
                </a:solidFill>
                <a:latin typeface="Calibri"/>
              </a:rPr>
              <a:t> y la cadena </a:t>
            </a:r>
            <a:r>
              <a:rPr sz="1600" b="1">
                <a:solidFill>
                  <a:srgbClr val="142B33"/>
                </a:solidFill>
                <a:latin typeface="Calibri"/>
              </a:rPr>
              <a:t>BD + CE + FG</a:t>
            </a:r>
            <a:r>
              <a:rPr sz="1600" b="0">
                <a:solidFill>
                  <a:srgbClr val="142B33"/>
                </a:solidFill>
                <a:latin typeface="Calibri"/>
              </a:rPr>
              <a:t>, que es razonable atribuir a BD. Diseño combinado: 2</a:t>
            </a:r>
            <a:r>
              <a:rPr sz="1600" b="0" baseline="30000">
                <a:solidFill>
                  <a:srgbClr val="142B33"/>
                </a:solidFill>
                <a:latin typeface="Calibri"/>
              </a:rPr>
              <a:t>7−3</a:t>
            </a:r>
            <a:r>
              <a:rPr sz="1600" b="0">
                <a:solidFill>
                  <a:srgbClr val="142B33"/>
                </a:solidFill>
                <a:latin typeface="Calibri"/>
              </a:rPr>
              <a:t> de resolución </a:t>
            </a:r>
            <a:r>
              <a:rPr sz="1600" b="1">
                <a:solidFill>
                  <a:srgbClr val="142B33"/>
                </a:solidFill>
                <a:latin typeface="Calibri"/>
              </a:rPr>
              <a:t>IV</a:t>
            </a:r>
          </a:p>
        </p:txBody>
      </p:sp>
      <p:sp>
        <p:nvSpPr>
          <p:cNvPr id="5" name="TextBox 4"/>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Diseños de resolución III</a:t>
            </a:r>
          </a:p>
        </p:txBody>
      </p:sp>
      <p:sp>
        <p:nvSpPr>
          <p:cNvPr id="6" name="TextBox 5"/>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101</a:t>
            </a:r>
          </a:p>
        </p:txBody>
      </p:sp>
      <p:sp>
        <p:nvSpPr>
          <p:cNvPr id="7" name="Rounded Rectangle 6"/>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8 · Diseños de resolución III</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¿Cuál es la relación de definición del diseño combinado?</a:t>
            </a:r>
          </a:p>
        </p:txBody>
      </p:sp>
      <p:graphicFrame>
        <p:nvGraphicFramePr>
          <p:cNvPr id="3" name="Table 2"/>
          <p:cNvGraphicFramePr>
            <a:graphicFrameLocks noGrp="1"/>
          </p:cNvGraphicFramePr>
          <p:nvPr/>
        </p:nvGraphicFramePr>
        <p:xfrm>
          <a:off x="548640" y="1417320"/>
          <a:ext cx="4807319" cy="1756410"/>
        </p:xfrm>
        <a:graphic>
          <a:graphicData uri="http://schemas.openxmlformats.org/drawingml/2006/table">
            <a:tbl>
              <a:tblPr firstRow="0" bandRow="0">
                <a:tableStyleId>{5C22544A-7EE6-4342-B048-85BDC9FD1C3A}</a:tableStyleId>
              </a:tblPr>
              <a:tblGrid>
                <a:gridCol w="688272"/>
                <a:gridCol w="1916575"/>
                <a:gridCol w="1090647"/>
                <a:gridCol w="1111825"/>
              </a:tblGrid>
              <a:tr h="351282">
                <a:tc>
                  <a:txBody>
                    <a:bodyPr/>
                    <a:lstStyle/>
                    <a:p>
                      <a:pPr algn="ctr"/>
                    </a:p>
                  </a:txBody>
                  <a:tcPr marL="73152" marR="73152" marT="27432" marB="27432" anchor="ctr">
                    <a:solidFill>
                      <a:srgbClr val="0F4C5C"/>
                    </a:solidFill>
                  </a:tcPr>
                </a:tc>
                <a:tc>
                  <a:txBody>
                    <a:bodyPr/>
                    <a:lstStyle/>
                    <a:p>
                      <a:pPr algn="ctr"/>
                      <a:r>
                        <a:rPr sz="1500" b="1">
                          <a:solidFill>
                            <a:srgbClr val="FFFFFF"/>
                          </a:solidFill>
                          <a:latin typeface="Calibri"/>
                        </a:rPr>
                        <a:t>1.ª fracción</a:t>
                      </a:r>
                    </a:p>
                  </a:txBody>
                  <a:tcPr marL="73152" marR="73152" marT="27432" marB="27432" anchor="ctr">
                    <a:solidFill>
                      <a:srgbClr val="0F4C5C"/>
                    </a:solidFill>
                  </a:tcPr>
                </a:tc>
                <a:tc>
                  <a:txBody>
                    <a:bodyPr/>
                    <a:lstStyle/>
                    <a:p>
                      <a:pPr algn="ctr"/>
                      <a:r>
                        <a:rPr sz="1500" b="1">
                          <a:solidFill>
                            <a:srgbClr val="FFFFFF"/>
                          </a:solidFill>
                          <a:latin typeface="Calibri"/>
                        </a:rPr>
                        <a:t>Doblez</a:t>
                      </a:r>
                    </a:p>
                  </a:txBody>
                  <a:tcPr marL="73152" marR="73152" marT="27432" marB="27432" anchor="ctr">
                    <a:solidFill>
                      <a:srgbClr val="0F4C5C"/>
                    </a:solidFill>
                  </a:tcPr>
                </a:tc>
                <a:tc>
                  <a:txBody>
                    <a:bodyPr/>
                    <a:lstStyle/>
                    <a:p>
                      <a:pPr algn="ctr"/>
                      <a:r>
                        <a:rPr sz="1500" b="1">
                          <a:solidFill>
                            <a:srgbClr val="FFFFFF"/>
                          </a:solidFill>
                          <a:latin typeface="Calibri"/>
                        </a:rPr>
                        <a:t>Signo</a:t>
                      </a:r>
                    </a:p>
                  </a:txBody>
                  <a:tcPr marL="73152" marR="73152" marT="27432" marB="27432" anchor="ctr">
                    <a:solidFill>
                      <a:srgbClr val="0F4C5C"/>
                    </a:solidFill>
                  </a:tcPr>
                </a:tc>
              </a:tr>
              <a:tr h="351282">
                <a:tc>
                  <a:txBody>
                    <a:bodyPr/>
                    <a:lstStyle/>
                    <a:p>
                      <a:pPr algn="ctr"/>
                      <a:r>
                        <a:rPr sz="1500" b="0">
                          <a:solidFill>
                            <a:srgbClr val="142B33"/>
                          </a:solidFill>
                          <a:latin typeface="Calibri"/>
                        </a:rPr>
                        <a:t>ABD</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distinto</a:t>
                      </a:r>
                    </a:p>
                  </a:txBody>
                  <a:tcPr marL="73152" marR="73152" marT="27432" marB="27432" anchor="ctr">
                    <a:solidFill>
                      <a:srgbClr val="FFFFFF"/>
                    </a:solidFill>
                  </a:tcPr>
                </a:tc>
              </a:tr>
              <a:tr h="351282">
                <a:tc>
                  <a:txBody>
                    <a:bodyPr/>
                    <a:lstStyle/>
                    <a:p>
                      <a:pPr algn="ctr"/>
                      <a:r>
                        <a:rPr sz="1500" b="0">
                          <a:solidFill>
                            <a:srgbClr val="142B33"/>
                          </a:solidFill>
                          <a:latin typeface="Calibri"/>
                        </a:rPr>
                        <a:t>ACE</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E36414"/>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distinto</a:t>
                      </a:r>
                    </a:p>
                  </a:txBody>
                  <a:tcPr marL="73152" marR="73152" marT="27432" marB="27432" anchor="ctr">
                    <a:solidFill>
                      <a:srgbClr val="F4F8F9"/>
                    </a:solidFill>
                  </a:tcPr>
                </a:tc>
              </a:tr>
              <a:tr h="351282">
                <a:tc>
                  <a:txBody>
                    <a:bodyPr/>
                    <a:lstStyle/>
                    <a:p>
                      <a:pPr algn="ctr"/>
                      <a:r>
                        <a:rPr sz="1500" b="0">
                          <a:solidFill>
                            <a:srgbClr val="142B33"/>
                          </a:solidFill>
                          <a:latin typeface="Calibri"/>
                        </a:rPr>
                        <a:t>BCF</a:t>
                      </a:r>
                    </a:p>
                  </a:txBody>
                  <a:tcPr marL="73152" marR="73152" marT="27432" marB="27432" anchor="ctr">
                    <a:solidFill>
                      <a:srgbClr val="FFFFFF"/>
                    </a:solidFill>
                  </a:tcPr>
                </a:tc>
                <a:tc>
                  <a:txBody>
                    <a:bodyPr/>
                    <a:lstStyle/>
                    <a:p>
                      <a:pPr algn="ctr"/>
                      <a:r>
                        <a:rPr sz="1600" b="1">
                          <a:solidFill>
                            <a:srgbClr val="0F4C5C"/>
                          </a:solidFill>
                          <a:latin typeface="Calibri"/>
                        </a:rPr>
                        <a:t>+</a:t>
                      </a:r>
                    </a:p>
                  </a:txBody>
                  <a:tcPr marL="73152" marR="73152" marT="27432" marB="27432" anchor="ctr">
                    <a:solidFill>
                      <a:srgbClr val="FFFFFF"/>
                    </a:solidFill>
                  </a:tcPr>
                </a:tc>
                <a:tc>
                  <a:txBody>
                    <a:bodyPr/>
                    <a:lstStyle/>
                    <a:p>
                      <a:pPr algn="ctr"/>
                      <a:r>
                        <a:rPr sz="1600" b="1">
                          <a:solidFill>
                            <a:srgbClr val="E36414"/>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distinto</a:t>
                      </a:r>
                    </a:p>
                  </a:txBody>
                  <a:tcPr marL="73152" marR="73152" marT="27432" marB="27432" anchor="ctr">
                    <a:solidFill>
                      <a:srgbClr val="FFFFFF"/>
                    </a:solidFill>
                  </a:tcPr>
                </a:tc>
              </a:tr>
              <a:tr h="351282">
                <a:tc>
                  <a:txBody>
                    <a:bodyPr/>
                    <a:lstStyle/>
                    <a:p>
                      <a:pPr algn="ctr"/>
                      <a:r>
                        <a:rPr sz="1500" b="0">
                          <a:solidFill>
                            <a:srgbClr val="142B33"/>
                          </a:solidFill>
                          <a:latin typeface="Calibri"/>
                        </a:rPr>
                        <a:t>ABCG</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600" b="1">
                          <a:solidFill>
                            <a:srgbClr val="0F4C5C"/>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igual</a:t>
                      </a:r>
                    </a:p>
                  </a:txBody>
                  <a:tcPr marL="73152" marR="73152" marT="27432" marB="27432" anchor="ctr">
                    <a:solidFill>
                      <a:srgbClr val="F4F8F9"/>
                    </a:solidFill>
                  </a:tcPr>
                </a:tc>
              </a:tr>
            </a:tbl>
          </a:graphicData>
        </a:graphic>
      </p:graphicFrame>
      <p:sp>
        <p:nvSpPr>
          <p:cNvPr id="4" name="Rounded Rectangle 3"/>
          <p:cNvSpPr/>
          <p:nvPr/>
        </p:nvSpPr>
        <p:spPr>
          <a:xfrm>
            <a:off x="548640" y="3374898"/>
            <a:ext cx="4807320" cy="569325"/>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700" b="0">
                <a:solidFill>
                  <a:srgbClr val="0F4C5C"/>
                </a:solidFill>
                <a:latin typeface="Cambria Math"/>
              </a:rPr>
              <a:t>L = 1,  U = 3  ⇒  L + U − 1 = 3 generadores</a:t>
            </a:r>
          </a:p>
        </p:txBody>
      </p:sp>
      <p:sp>
        <p:nvSpPr>
          <p:cNvPr id="5" name="Rounded Rectangle 4"/>
          <p:cNvSpPr/>
          <p:nvPr/>
        </p:nvSpPr>
        <p:spPr>
          <a:xfrm>
            <a:off x="5767440" y="1417320"/>
            <a:ext cx="5875614" cy="551972"/>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0">
                <a:solidFill>
                  <a:srgbClr val="0F4C5C"/>
                </a:solidFill>
                <a:latin typeface="Cambria Math"/>
              </a:rPr>
              <a:t>ABCG,   (ABD)(ACE) = BCDE,   (ABD)(BCF) = ACDF</a:t>
            </a:r>
          </a:p>
        </p:txBody>
      </p:sp>
      <p:sp>
        <p:nvSpPr>
          <p:cNvPr id="6" name="Rounded Rectangle 5"/>
          <p:cNvSpPr/>
          <p:nvPr/>
        </p:nvSpPr>
        <p:spPr>
          <a:xfrm>
            <a:off x="5767440" y="2170460"/>
            <a:ext cx="5875614" cy="899038"/>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800" b="0">
                <a:solidFill>
                  <a:srgbClr val="0F4C5C"/>
                </a:solidFill>
                <a:latin typeface="Cambria Math"/>
              </a:rPr>
              <a:t>I = ABCG = BCDE = ACDF = ADEG</a:t>
            </a:r>
          </a:p>
          <a:p>
            <a:pPr algn="ctr"/>
            <a:r>
              <a:rPr sz="1800" b="0">
                <a:solidFill>
                  <a:srgbClr val="0F4C5C"/>
                </a:solidFill>
                <a:latin typeface="Cambria Math"/>
              </a:rPr>
              <a:t>= BDFG = ABEF = CEFG</a:t>
            </a:r>
          </a:p>
        </p:txBody>
      </p:sp>
      <p:sp>
        <p:nvSpPr>
          <p:cNvPr id="7" name="Rounded Rectangle 6"/>
          <p:cNvSpPr/>
          <p:nvPr/>
        </p:nvSpPr>
        <p:spPr>
          <a:xfrm>
            <a:off x="5767440" y="3270666"/>
            <a:ext cx="5875614" cy="522224"/>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600" b="0">
                <a:solidFill>
                  <a:srgbClr val="142B33"/>
                </a:solidFill>
                <a:latin typeface="Calibri"/>
              </a:rPr>
              <a:t>Siete palabras de 4 letras: </a:t>
            </a:r>
            <a:r>
              <a:rPr sz="1600" b="1">
                <a:solidFill>
                  <a:srgbClr val="142B33"/>
                </a:solidFill>
                <a:latin typeface="Calibri"/>
              </a:rPr>
              <a:t>2</a:t>
            </a:r>
            <a:r>
              <a:rPr sz="1600" b="1" baseline="30000">
                <a:solidFill>
                  <a:srgbClr val="142B33"/>
                </a:solidFill>
                <a:latin typeface="Calibri"/>
              </a:rPr>
              <a:t>7−3</a:t>
            </a:r>
            <a:r>
              <a:rPr sz="1600" b="1" baseline="-25000">
                <a:solidFill>
                  <a:srgbClr val="142B33"/>
                </a:solidFill>
                <a:latin typeface="Calibri"/>
              </a:rPr>
              <a:t>IV</a:t>
            </a:r>
          </a:p>
        </p:txBody>
      </p:sp>
      <p:sp>
        <p:nvSpPr>
          <p:cNvPr id="8" name="TextBox 7"/>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Diseños de resolución III</a:t>
            </a:r>
          </a:p>
        </p:txBody>
      </p:sp>
      <p:sp>
        <p:nvSpPr>
          <p:cNvPr id="9" name="TextBox 8"/>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102</a:t>
            </a:r>
          </a:p>
        </p:txBody>
      </p:sp>
      <p:sp>
        <p:nvSpPr>
          <p:cNvPr id="10" name="Rounded Rectangle 9"/>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8 · Diseños de resolución III</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¿Qué son los diseños de Plackett-Burman?</a:t>
            </a:r>
          </a:p>
        </p:txBody>
      </p:sp>
      <p:sp>
        <p:nvSpPr>
          <p:cNvPr id="3" name="TextBox 2"/>
          <p:cNvSpPr txBox="1"/>
          <p:nvPr/>
        </p:nvSpPr>
        <p:spPr>
          <a:xfrm>
            <a:off x="548640" y="1417320"/>
            <a:ext cx="5555126" cy="1920240"/>
          </a:xfrm>
          <a:prstGeom prst="rect">
            <a:avLst/>
          </a:prstGeom>
          <a:noFill/>
        </p:spPr>
        <p:txBody>
          <a:bodyPr wrap="square" anchor="t" lIns="0" rIns="0" tIns="0" bIns="0">
            <a:spAutoFit/>
          </a:bodyPr>
          <a:lstStyle/>
          <a:p>
            <a:pPr marL="320040" indent="-320040">
              <a:spcAft>
                <a:spcPts val="600"/>
              </a:spcAft>
              <a:buClr>
                <a:srgbClr val="E36414"/>
              </a:buClr>
              <a:buFont typeface="Arial"/>
              <a:buChar char="•"/>
            </a:pPr>
            <a:r>
              <a:rPr sz="1800" b="0">
                <a:solidFill>
                  <a:srgbClr val="142B33"/>
                </a:solidFill>
                <a:latin typeface="Calibri"/>
              </a:rPr>
              <a:t>Resolución III para </a:t>
            </a:r>
            <a:r>
              <a:rPr sz="1800" b="1">
                <a:solidFill>
                  <a:srgbClr val="142B33"/>
                </a:solidFill>
                <a:latin typeface="Calibri"/>
              </a:rPr>
              <a:t>k = N − 1</a:t>
            </a:r>
            <a:r>
              <a:rPr sz="1800" b="0">
                <a:solidFill>
                  <a:srgbClr val="142B33"/>
                </a:solidFill>
                <a:latin typeface="Calibri"/>
              </a:rPr>
              <a:t> factores en N corridas</a:t>
            </a:r>
          </a:p>
          <a:p>
            <a:pPr marL="320040" indent="-320040">
              <a:spcAft>
                <a:spcPts val="600"/>
              </a:spcAft>
              <a:buClr>
                <a:srgbClr val="E36414"/>
              </a:buClr>
              <a:buFont typeface="Arial"/>
              <a:buChar char="•"/>
            </a:pPr>
            <a:r>
              <a:rPr sz="1800" b="0">
                <a:solidFill>
                  <a:srgbClr val="142B33"/>
                </a:solidFill>
                <a:latin typeface="Calibri"/>
              </a:rPr>
              <a:t>N </a:t>
            </a:r>
            <a:r>
              <a:rPr sz="1800" b="1">
                <a:solidFill>
                  <a:srgbClr val="142B33"/>
                </a:solidFill>
                <a:latin typeface="Calibri"/>
              </a:rPr>
              <a:t>múltiplo de 4</a:t>
            </a:r>
            <a:r>
              <a:rPr sz="1800" b="0">
                <a:solidFill>
                  <a:srgbClr val="142B33"/>
                </a:solidFill>
                <a:latin typeface="Calibri"/>
              </a:rPr>
              <a:t>: 12, 20, 24, 28, 36</a:t>
            </a:r>
          </a:p>
          <a:p>
            <a:pPr marL="320040" indent="-320040">
              <a:spcAft>
                <a:spcPts val="600"/>
              </a:spcAft>
              <a:buClr>
                <a:srgbClr val="E36414"/>
              </a:buClr>
              <a:buFont typeface="Arial"/>
              <a:buChar char="•"/>
            </a:pPr>
            <a:r>
              <a:rPr sz="1800" b="0">
                <a:solidFill>
                  <a:srgbClr val="142B33"/>
                </a:solidFill>
                <a:latin typeface="Calibri"/>
              </a:rPr>
              <a:t>Para N = 12, 20, 24 y 36 se construye </a:t>
            </a:r>
            <a:r>
              <a:rPr sz="1800" b="1">
                <a:solidFill>
                  <a:srgbClr val="142B33"/>
                </a:solidFill>
                <a:latin typeface="Calibri"/>
              </a:rPr>
              <a:t>desplazando cíclicamente</a:t>
            </a:r>
            <a:r>
              <a:rPr sz="1800" b="0">
                <a:solidFill>
                  <a:srgbClr val="142B33"/>
                </a:solidFill>
                <a:latin typeface="Calibri"/>
              </a:rPr>
              <a:t> un renglón generador y agregando un renglón de signos −</a:t>
            </a:r>
          </a:p>
        </p:txBody>
      </p:sp>
      <p:graphicFrame>
        <p:nvGraphicFramePr>
          <p:cNvPr id="4" name="Table 3"/>
          <p:cNvGraphicFramePr>
            <a:graphicFrameLocks noGrp="1"/>
          </p:cNvGraphicFramePr>
          <p:nvPr/>
        </p:nvGraphicFramePr>
        <p:xfrm>
          <a:off x="548640" y="3538728"/>
          <a:ext cx="5555125" cy="1343152"/>
        </p:xfrm>
        <a:graphic>
          <a:graphicData uri="http://schemas.openxmlformats.org/drawingml/2006/table">
            <a:tbl>
              <a:tblPr firstRow="0" bandRow="0">
                <a:tableStyleId>{5C22544A-7EE6-4342-B048-85BDC9FD1C3A}</a:tableStyleId>
              </a:tblPr>
              <a:tblGrid>
                <a:gridCol w="555512"/>
                <a:gridCol w="4999613"/>
              </a:tblGrid>
              <a:tr h="335788">
                <a:tc>
                  <a:txBody>
                    <a:bodyPr/>
                    <a:lstStyle/>
                    <a:p>
                      <a:pPr algn="ctr"/>
                      <a:r>
                        <a:rPr sz="1400" b="1">
                          <a:solidFill>
                            <a:srgbClr val="FFFFFF"/>
                          </a:solidFill>
                          <a:latin typeface="Calibri"/>
                        </a:rPr>
                        <a:t>N</a:t>
                      </a:r>
                    </a:p>
                  </a:txBody>
                  <a:tcPr marL="73152" marR="73152" marT="27432" marB="27432" anchor="ctr">
                    <a:solidFill>
                      <a:srgbClr val="0F4C5C"/>
                    </a:solidFill>
                  </a:tcPr>
                </a:tc>
                <a:tc>
                  <a:txBody>
                    <a:bodyPr/>
                    <a:lstStyle/>
                    <a:p>
                      <a:pPr algn="ctr"/>
                      <a:r>
                        <a:rPr sz="1400" b="1">
                          <a:solidFill>
                            <a:srgbClr val="FFFFFF"/>
                          </a:solidFill>
                          <a:latin typeface="Calibri"/>
                        </a:rPr>
                        <a:t>Renglón generador</a:t>
                      </a:r>
                    </a:p>
                  </a:txBody>
                  <a:tcPr marL="73152" marR="73152" marT="27432" marB="27432" anchor="ctr">
                    <a:solidFill>
                      <a:srgbClr val="0F4C5C"/>
                    </a:solidFill>
                  </a:tcPr>
                </a:tc>
              </a:tr>
              <a:tr h="335788">
                <a:tc>
                  <a:txBody>
                    <a:bodyPr/>
                    <a:lstStyle/>
                    <a:p>
                      <a:pPr algn="ctr"/>
                      <a:r>
                        <a:rPr sz="1400" b="0">
                          <a:solidFill>
                            <a:srgbClr val="142B33"/>
                          </a:solidFill>
                          <a:latin typeface="Calibri"/>
                        </a:rPr>
                        <a:t>12</a:t>
                      </a:r>
                    </a:p>
                  </a:txBody>
                  <a:tcPr marL="73152" marR="73152" marT="27432" marB="27432" anchor="ctr">
                    <a:solidFill>
                      <a:srgbClr val="FFFFFF"/>
                    </a:solidFill>
                  </a:tcPr>
                </a:tc>
                <a:tc>
                  <a:txBody>
                    <a:bodyPr/>
                    <a:lstStyle/>
                    <a:p>
                      <a:pPr algn="ctr"/>
                      <a:r>
                        <a:rPr sz="1400" b="0">
                          <a:solidFill>
                            <a:srgbClr val="142B33"/>
                          </a:solidFill>
                          <a:latin typeface="Calibri"/>
                        </a:rPr>
                        <a:t>+ + − + + + − − − + −</a:t>
                      </a:r>
                    </a:p>
                  </a:txBody>
                  <a:tcPr marL="73152" marR="73152" marT="27432" marB="27432" anchor="ctr">
                    <a:solidFill>
                      <a:srgbClr val="FFFFFF"/>
                    </a:solidFill>
                  </a:tcPr>
                </a:tc>
              </a:tr>
              <a:tr h="335788">
                <a:tc>
                  <a:txBody>
                    <a:bodyPr/>
                    <a:lstStyle/>
                    <a:p>
                      <a:pPr algn="ctr"/>
                      <a:r>
                        <a:rPr sz="1400" b="0">
                          <a:solidFill>
                            <a:srgbClr val="142B33"/>
                          </a:solidFill>
                          <a:latin typeface="Calibri"/>
                        </a:rPr>
                        <a:t>20</a:t>
                      </a:r>
                    </a:p>
                  </a:txBody>
                  <a:tcPr marL="73152" marR="73152" marT="27432" marB="27432" anchor="ctr">
                    <a:solidFill>
                      <a:srgbClr val="F4F8F9"/>
                    </a:solidFill>
                  </a:tcPr>
                </a:tc>
                <a:tc>
                  <a:txBody>
                    <a:bodyPr/>
                    <a:lstStyle/>
                    <a:p>
                      <a:pPr algn="ctr"/>
                      <a:r>
                        <a:rPr sz="1400" b="0">
                          <a:solidFill>
                            <a:srgbClr val="142B33"/>
                          </a:solidFill>
                          <a:latin typeface="Calibri"/>
                        </a:rPr>
                        <a:t>+ + − − + + + + − + − + − − − − + + −</a:t>
                      </a:r>
                    </a:p>
                  </a:txBody>
                  <a:tcPr marL="73152" marR="73152" marT="27432" marB="27432" anchor="ctr">
                    <a:solidFill>
                      <a:srgbClr val="F4F8F9"/>
                    </a:solidFill>
                  </a:tcPr>
                </a:tc>
              </a:tr>
              <a:tr h="335788">
                <a:tc>
                  <a:txBody>
                    <a:bodyPr/>
                    <a:lstStyle/>
                    <a:p>
                      <a:pPr algn="ctr"/>
                      <a:r>
                        <a:rPr sz="1400" b="0">
                          <a:solidFill>
                            <a:srgbClr val="142B33"/>
                          </a:solidFill>
                          <a:latin typeface="Calibri"/>
                        </a:rPr>
                        <a:t>24</a:t>
                      </a:r>
                    </a:p>
                  </a:txBody>
                  <a:tcPr marL="73152" marR="73152" marT="27432" marB="27432" anchor="ctr">
                    <a:solidFill>
                      <a:srgbClr val="FFFFFF"/>
                    </a:solidFill>
                  </a:tcPr>
                </a:tc>
                <a:tc>
                  <a:txBody>
                    <a:bodyPr/>
                    <a:lstStyle/>
                    <a:p>
                      <a:pPr algn="ctr"/>
                      <a:r>
                        <a:rPr sz="1400" b="0">
                          <a:solidFill>
                            <a:srgbClr val="142B33"/>
                          </a:solidFill>
                          <a:latin typeface="Calibri"/>
                        </a:rPr>
                        <a:t>+ + + + + − + − + + − − + + − − + − + − − − −</a:t>
                      </a:r>
                    </a:p>
                  </a:txBody>
                  <a:tcPr marL="73152" marR="73152" marT="27432" marB="27432" anchor="ctr">
                    <a:solidFill>
                      <a:srgbClr val="FFFFFF"/>
                    </a:solidFill>
                  </a:tcPr>
                </a:tc>
              </a:tr>
            </a:tbl>
          </a:graphicData>
        </a:graphic>
      </p:graphicFrame>
      <p:sp>
        <p:nvSpPr>
          <p:cNvPr id="5" name="Rounded Rectangle 4"/>
          <p:cNvSpPr/>
          <p:nvPr/>
        </p:nvSpPr>
        <p:spPr>
          <a:xfrm>
            <a:off x="6515246" y="1417320"/>
            <a:ext cx="5127808" cy="1636775"/>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600" b="1">
                <a:solidFill>
                  <a:srgbClr val="0F4C5C"/>
                </a:solidFill>
                <a:latin typeface="Cambria"/>
              </a:rPr>
              <a:t>Alias parciales</a:t>
            </a:r>
          </a:p>
          <a:p>
            <a:pPr algn="l"/>
            <a:r>
              <a:rPr sz="1400" b="0">
                <a:solidFill>
                  <a:srgbClr val="142B33"/>
                </a:solidFill>
                <a:latin typeface="Calibri"/>
              </a:rPr>
              <a:t>En el de 12 corridas cada principal es alias </a:t>
            </a:r>
            <a:r>
              <a:rPr sz="1400" b="1">
                <a:solidFill>
                  <a:srgbClr val="142B33"/>
                </a:solidFill>
                <a:latin typeface="Calibri"/>
              </a:rPr>
              <a:t>parcial</a:t>
            </a:r>
            <a:r>
              <a:rPr sz="1400" b="0">
                <a:solidFill>
                  <a:srgbClr val="142B33"/>
                </a:solidFill>
                <a:latin typeface="Calibri"/>
              </a:rPr>
              <a:t> (con peso fraccionario) de 45 interacciones dobles; una interacción real puede aparecer como </a:t>
            </a:r>
            <a:r>
              <a:rPr sz="1400" b="1">
                <a:solidFill>
                  <a:srgbClr val="142B33"/>
                </a:solidFill>
                <a:latin typeface="Calibri"/>
              </a:rPr>
              <a:t>varios</a:t>
            </a:r>
            <a:r>
              <a:rPr sz="1400" b="0">
                <a:solidFill>
                  <a:srgbClr val="142B33"/>
                </a:solidFill>
                <a:latin typeface="Calibri"/>
              </a:rPr>
              <a:t> falsos principales</a:t>
            </a:r>
          </a:p>
        </p:txBody>
      </p:sp>
      <p:sp>
        <p:nvSpPr>
          <p:cNvPr id="6" name="Rounded Rectangle 5"/>
          <p:cNvSpPr/>
          <p:nvPr/>
        </p:nvSpPr>
        <p:spPr>
          <a:xfrm>
            <a:off x="6515246" y="3282696"/>
            <a:ext cx="5127808" cy="1636775"/>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600" b="1">
                <a:solidFill>
                  <a:srgbClr val="0F4C5C"/>
                </a:solidFill>
                <a:latin typeface="Cambria"/>
              </a:rPr>
              <a:t>Proyectividad 3</a:t>
            </a:r>
          </a:p>
          <a:p>
            <a:pPr algn="l"/>
            <a:r>
              <a:rPr sz="1400" b="0">
                <a:solidFill>
                  <a:srgbClr val="142B33"/>
                </a:solidFill>
                <a:latin typeface="Calibri"/>
              </a:rPr>
              <a:t>En cualquier par: 3 réplicas de un 2</a:t>
            </a:r>
            <a:r>
              <a:rPr sz="1400" b="0" baseline="30000">
                <a:solidFill>
                  <a:srgbClr val="142B33"/>
                </a:solidFill>
                <a:latin typeface="Calibri"/>
              </a:rPr>
              <a:t>2</a:t>
            </a:r>
            <a:r>
              <a:rPr sz="1400" b="0">
                <a:solidFill>
                  <a:srgbClr val="142B33"/>
                </a:solidFill>
                <a:latin typeface="Calibri"/>
              </a:rPr>
              <a:t>; en cualquier trío: un 2</a:t>
            </a:r>
            <a:r>
              <a:rPr sz="1400" b="0" baseline="30000">
                <a:solidFill>
                  <a:srgbClr val="142B33"/>
                </a:solidFill>
                <a:latin typeface="Calibri"/>
              </a:rPr>
              <a:t>3</a:t>
            </a:r>
            <a:r>
              <a:rPr sz="1400" b="0">
                <a:solidFill>
                  <a:srgbClr val="142B33"/>
                </a:solidFill>
                <a:latin typeface="Calibri"/>
              </a:rPr>
              <a:t> completo + un 2</a:t>
            </a:r>
            <a:r>
              <a:rPr sz="1400" b="0" baseline="30000">
                <a:solidFill>
                  <a:srgbClr val="142B33"/>
                </a:solidFill>
                <a:latin typeface="Calibri"/>
              </a:rPr>
              <a:t>3−1</a:t>
            </a:r>
            <a:r>
              <a:rPr sz="1400" b="0">
                <a:solidFill>
                  <a:srgbClr val="142B33"/>
                </a:solidFill>
                <a:latin typeface="Calibri"/>
              </a:rPr>
              <a:t> (no balanceado). Un 2</a:t>
            </a:r>
            <a:r>
              <a:rPr sz="1400" b="0" baseline="30000">
                <a:solidFill>
                  <a:srgbClr val="142B33"/>
                </a:solidFill>
                <a:latin typeface="Calibri"/>
              </a:rPr>
              <a:t>k−p</a:t>
            </a:r>
            <a:r>
              <a:rPr sz="1400" b="0" baseline="-25000">
                <a:solidFill>
                  <a:srgbClr val="142B33"/>
                </a:solidFill>
                <a:latin typeface="Calibri"/>
              </a:rPr>
              <a:t>III</a:t>
            </a:r>
            <a:r>
              <a:rPr sz="1400" b="0">
                <a:solidFill>
                  <a:srgbClr val="142B33"/>
                </a:solidFill>
                <a:latin typeface="Calibri"/>
              </a:rPr>
              <a:t> solo tiene proyectividad 2</a:t>
            </a:r>
          </a:p>
        </p:txBody>
      </p:sp>
      <p:sp>
        <p:nvSpPr>
          <p:cNvPr id="7" name="TextBox 6"/>
          <p:cNvSpPr txBox="1"/>
          <p:nvPr/>
        </p:nvSpPr>
        <p:spPr>
          <a:xfrm>
            <a:off x="6515246" y="5120640"/>
            <a:ext cx="5127808" cy="779525"/>
          </a:xfrm>
          <a:prstGeom prst="rect">
            <a:avLst/>
          </a:prstGeom>
          <a:noFill/>
        </p:spPr>
        <p:txBody>
          <a:bodyPr wrap="square" anchor="t" lIns="0" rIns="0" tIns="0" bIns="0">
            <a:spAutoFit/>
          </a:bodyPr>
          <a:lstStyle/>
          <a:p>
            <a:pPr marL="320040" indent="-320040">
              <a:spcAft>
                <a:spcPts val="600"/>
              </a:spcAft>
              <a:buClr>
                <a:srgbClr val="E36414"/>
              </a:buClr>
              <a:buFont typeface="Arial"/>
              <a:buChar char="•"/>
            </a:pPr>
            <a:r>
              <a:rPr sz="1500" b="0">
                <a:solidFill>
                  <a:srgbClr val="142B33"/>
                </a:solidFill>
                <a:latin typeface="Calibri"/>
              </a:rPr>
              <a:t>Úselos </a:t>
            </a:r>
            <a:r>
              <a:rPr sz="1500" b="1">
                <a:solidFill>
                  <a:srgbClr val="142B33"/>
                </a:solidFill>
                <a:latin typeface="Calibri"/>
              </a:rPr>
              <a:t>con mucho cuidado</a:t>
            </a:r>
            <a:r>
              <a:rPr sz="1500" b="0">
                <a:solidFill>
                  <a:srgbClr val="142B33"/>
                </a:solidFill>
                <a:latin typeface="Calibri"/>
              </a:rPr>
              <a:t>, para tamizado sin interacciones esperadas; un </a:t>
            </a:r>
            <a:r>
              <a:rPr sz="1500" b="1">
                <a:solidFill>
                  <a:srgbClr val="142B33"/>
                </a:solidFill>
                <a:latin typeface="Calibri"/>
              </a:rPr>
              <a:t>2</a:t>
            </a:r>
            <a:r>
              <a:rPr sz="1500" b="1" baseline="30000">
                <a:solidFill>
                  <a:srgbClr val="142B33"/>
                </a:solidFill>
                <a:latin typeface="Calibri"/>
              </a:rPr>
              <a:t>k−p</a:t>
            </a:r>
            <a:r>
              <a:rPr sz="1500" b="0">
                <a:solidFill>
                  <a:srgbClr val="142B33"/>
                </a:solidFill>
                <a:latin typeface="Calibri"/>
              </a:rPr>
              <a:t> de tamaño parecido puede ser mejor elección</a:t>
            </a:r>
          </a:p>
        </p:txBody>
      </p:sp>
      <p:sp>
        <p:nvSpPr>
          <p:cNvPr id="8" name="TextBox 7"/>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Diseños de resolución III</a:t>
            </a:r>
          </a:p>
        </p:txBody>
      </p:sp>
      <p:sp>
        <p:nvSpPr>
          <p:cNvPr id="9" name="TextBox 8"/>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103</a:t>
            </a:r>
          </a:p>
        </p:txBody>
      </p:sp>
      <p:sp>
        <p:nvSpPr>
          <p:cNvPr id="10" name="Rounded Rectangle 9"/>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8 · Diseños de resolución III</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¿Cómo se construye un Plackett-Burman de 12 corridas?</a:t>
            </a:r>
          </a:p>
        </p:txBody>
      </p:sp>
      <p:graphicFrame>
        <p:nvGraphicFramePr>
          <p:cNvPr id="3" name="Table 2"/>
          <p:cNvGraphicFramePr>
            <a:graphicFrameLocks noGrp="1"/>
          </p:cNvGraphicFramePr>
          <p:nvPr/>
        </p:nvGraphicFramePr>
        <p:xfrm>
          <a:off x="548640" y="1417320"/>
          <a:ext cx="7050727" cy="3130283"/>
        </p:xfrm>
        <a:graphic>
          <a:graphicData uri="http://schemas.openxmlformats.org/drawingml/2006/table">
            <a:tbl>
              <a:tblPr firstRow="0" bandRow="0">
                <a:tableStyleId>{5C22544A-7EE6-4342-B048-85BDC9FD1C3A}</a:tableStyleId>
              </a:tblPr>
              <a:tblGrid>
                <a:gridCol w="1531620"/>
                <a:gridCol w="501737"/>
                <a:gridCol w="501737"/>
                <a:gridCol w="501737"/>
                <a:gridCol w="501737"/>
                <a:gridCol w="501737"/>
                <a:gridCol w="501737"/>
                <a:gridCol w="501737"/>
                <a:gridCol w="501737"/>
                <a:gridCol w="501737"/>
                <a:gridCol w="501737"/>
                <a:gridCol w="501737"/>
              </a:tblGrid>
              <a:tr h="240791">
                <a:tc>
                  <a:txBody>
                    <a:bodyPr/>
                    <a:lstStyle/>
                    <a:p>
                      <a:pPr algn="ctr"/>
                      <a:r>
                        <a:rPr sz="1200" b="1">
                          <a:solidFill>
                            <a:srgbClr val="FFFFFF"/>
                          </a:solidFill>
                          <a:latin typeface="Calibri"/>
                        </a:rPr>
                        <a:t>Corrida</a:t>
                      </a:r>
                    </a:p>
                  </a:txBody>
                  <a:tcPr marL="73152" marR="73152" marT="27432" marB="27432" anchor="ctr">
                    <a:solidFill>
                      <a:srgbClr val="0F4C5C"/>
                    </a:solidFill>
                  </a:tcPr>
                </a:tc>
                <a:tc>
                  <a:txBody>
                    <a:bodyPr/>
                    <a:lstStyle/>
                    <a:p>
                      <a:pPr algn="ctr"/>
                      <a:r>
                        <a:rPr sz="1200" b="1">
                          <a:solidFill>
                            <a:srgbClr val="FFFFFF"/>
                          </a:solidFill>
                          <a:latin typeface="Calibri"/>
                        </a:rPr>
                        <a:t>A</a:t>
                      </a:r>
                    </a:p>
                  </a:txBody>
                  <a:tcPr marL="73152" marR="73152" marT="27432" marB="27432" anchor="ctr">
                    <a:solidFill>
                      <a:srgbClr val="0F4C5C"/>
                    </a:solidFill>
                  </a:tcPr>
                </a:tc>
                <a:tc>
                  <a:txBody>
                    <a:bodyPr/>
                    <a:lstStyle/>
                    <a:p>
                      <a:pPr algn="ctr"/>
                      <a:r>
                        <a:rPr sz="1200" b="1">
                          <a:solidFill>
                            <a:srgbClr val="FFFFFF"/>
                          </a:solidFill>
                          <a:latin typeface="Calibri"/>
                        </a:rPr>
                        <a:t>B</a:t>
                      </a:r>
                    </a:p>
                  </a:txBody>
                  <a:tcPr marL="73152" marR="73152" marT="27432" marB="27432" anchor="ctr">
                    <a:solidFill>
                      <a:srgbClr val="0F4C5C"/>
                    </a:solidFill>
                  </a:tcPr>
                </a:tc>
                <a:tc>
                  <a:txBody>
                    <a:bodyPr/>
                    <a:lstStyle/>
                    <a:p>
                      <a:pPr algn="ctr"/>
                      <a:r>
                        <a:rPr sz="1200" b="1">
                          <a:solidFill>
                            <a:srgbClr val="FFFFFF"/>
                          </a:solidFill>
                          <a:latin typeface="Calibri"/>
                        </a:rPr>
                        <a:t>C</a:t>
                      </a:r>
                    </a:p>
                  </a:txBody>
                  <a:tcPr marL="73152" marR="73152" marT="27432" marB="27432" anchor="ctr">
                    <a:solidFill>
                      <a:srgbClr val="0F4C5C"/>
                    </a:solidFill>
                  </a:tcPr>
                </a:tc>
                <a:tc>
                  <a:txBody>
                    <a:bodyPr/>
                    <a:lstStyle/>
                    <a:p>
                      <a:pPr algn="ctr"/>
                      <a:r>
                        <a:rPr sz="1200" b="1">
                          <a:solidFill>
                            <a:srgbClr val="FFFFFF"/>
                          </a:solidFill>
                          <a:latin typeface="Calibri"/>
                        </a:rPr>
                        <a:t>D</a:t>
                      </a:r>
                    </a:p>
                  </a:txBody>
                  <a:tcPr marL="73152" marR="73152" marT="27432" marB="27432" anchor="ctr">
                    <a:solidFill>
                      <a:srgbClr val="0F4C5C"/>
                    </a:solidFill>
                  </a:tcPr>
                </a:tc>
                <a:tc>
                  <a:txBody>
                    <a:bodyPr/>
                    <a:lstStyle/>
                    <a:p>
                      <a:pPr algn="ctr"/>
                      <a:r>
                        <a:rPr sz="1200" b="1">
                          <a:solidFill>
                            <a:srgbClr val="FFFFFF"/>
                          </a:solidFill>
                          <a:latin typeface="Calibri"/>
                        </a:rPr>
                        <a:t>E</a:t>
                      </a:r>
                    </a:p>
                  </a:txBody>
                  <a:tcPr marL="73152" marR="73152" marT="27432" marB="27432" anchor="ctr">
                    <a:solidFill>
                      <a:srgbClr val="0F4C5C"/>
                    </a:solidFill>
                  </a:tcPr>
                </a:tc>
                <a:tc>
                  <a:txBody>
                    <a:bodyPr/>
                    <a:lstStyle/>
                    <a:p>
                      <a:pPr algn="ctr"/>
                      <a:r>
                        <a:rPr sz="1200" b="1">
                          <a:solidFill>
                            <a:srgbClr val="FFFFFF"/>
                          </a:solidFill>
                          <a:latin typeface="Calibri"/>
                        </a:rPr>
                        <a:t>F</a:t>
                      </a:r>
                    </a:p>
                  </a:txBody>
                  <a:tcPr marL="73152" marR="73152" marT="27432" marB="27432" anchor="ctr">
                    <a:solidFill>
                      <a:srgbClr val="0F4C5C"/>
                    </a:solidFill>
                  </a:tcPr>
                </a:tc>
                <a:tc>
                  <a:txBody>
                    <a:bodyPr/>
                    <a:lstStyle/>
                    <a:p>
                      <a:pPr algn="ctr"/>
                      <a:r>
                        <a:rPr sz="1200" b="1">
                          <a:solidFill>
                            <a:srgbClr val="FFFFFF"/>
                          </a:solidFill>
                          <a:latin typeface="Calibri"/>
                        </a:rPr>
                        <a:t>G</a:t>
                      </a:r>
                    </a:p>
                  </a:txBody>
                  <a:tcPr marL="73152" marR="73152" marT="27432" marB="27432" anchor="ctr">
                    <a:solidFill>
                      <a:srgbClr val="0F4C5C"/>
                    </a:solidFill>
                  </a:tcPr>
                </a:tc>
                <a:tc>
                  <a:txBody>
                    <a:bodyPr/>
                    <a:lstStyle/>
                    <a:p>
                      <a:pPr algn="ctr"/>
                      <a:r>
                        <a:rPr sz="1200" b="1">
                          <a:solidFill>
                            <a:srgbClr val="FFFFFF"/>
                          </a:solidFill>
                          <a:latin typeface="Calibri"/>
                        </a:rPr>
                        <a:t>H</a:t>
                      </a:r>
                    </a:p>
                  </a:txBody>
                  <a:tcPr marL="73152" marR="73152" marT="27432" marB="27432" anchor="ctr">
                    <a:solidFill>
                      <a:srgbClr val="0F4C5C"/>
                    </a:solidFill>
                  </a:tcPr>
                </a:tc>
                <a:tc>
                  <a:txBody>
                    <a:bodyPr/>
                    <a:lstStyle/>
                    <a:p>
                      <a:pPr algn="ctr"/>
                      <a:r>
                        <a:rPr sz="1200" b="1">
                          <a:solidFill>
                            <a:srgbClr val="FFFFFF"/>
                          </a:solidFill>
                          <a:latin typeface="Calibri"/>
                        </a:rPr>
                        <a:t>J</a:t>
                      </a:r>
                    </a:p>
                  </a:txBody>
                  <a:tcPr marL="73152" marR="73152" marT="27432" marB="27432" anchor="ctr">
                    <a:solidFill>
                      <a:srgbClr val="0F4C5C"/>
                    </a:solidFill>
                  </a:tcPr>
                </a:tc>
                <a:tc>
                  <a:txBody>
                    <a:bodyPr/>
                    <a:lstStyle/>
                    <a:p>
                      <a:pPr algn="ctr"/>
                      <a:r>
                        <a:rPr sz="1200" b="1">
                          <a:solidFill>
                            <a:srgbClr val="FFFFFF"/>
                          </a:solidFill>
                          <a:latin typeface="Calibri"/>
                        </a:rPr>
                        <a:t>K</a:t>
                      </a:r>
                    </a:p>
                  </a:txBody>
                  <a:tcPr marL="73152" marR="73152" marT="27432" marB="27432" anchor="ctr">
                    <a:solidFill>
                      <a:srgbClr val="0F4C5C"/>
                    </a:solidFill>
                  </a:tcPr>
                </a:tc>
                <a:tc>
                  <a:txBody>
                    <a:bodyPr/>
                    <a:lstStyle/>
                    <a:p>
                      <a:pPr algn="ctr"/>
                      <a:r>
                        <a:rPr sz="1200" b="1">
                          <a:solidFill>
                            <a:srgbClr val="FFFFFF"/>
                          </a:solidFill>
                          <a:latin typeface="Calibri"/>
                        </a:rPr>
                        <a:t>L</a:t>
                      </a:r>
                    </a:p>
                  </a:txBody>
                  <a:tcPr marL="73152" marR="73152" marT="27432" marB="27432" anchor="ctr">
                    <a:solidFill>
                      <a:srgbClr val="0F4C5C"/>
                    </a:solidFill>
                  </a:tcPr>
                </a:tc>
              </a:tr>
              <a:tr h="240791">
                <a:tc>
                  <a:txBody>
                    <a:bodyPr/>
                    <a:lstStyle/>
                    <a:p>
                      <a:pPr algn="ctr"/>
                      <a:r>
                        <a:rPr sz="1200" b="0">
                          <a:solidFill>
                            <a:srgbClr val="142B33"/>
                          </a:solidFill>
                          <a:latin typeface="Calibri"/>
                        </a:rPr>
                        <a:t>1</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r>
              <a:tr h="240791">
                <a:tc>
                  <a:txBody>
                    <a:bodyPr/>
                    <a:lstStyle/>
                    <a:p>
                      <a:pPr algn="ctr"/>
                      <a:r>
                        <a:rPr sz="1200" b="0">
                          <a:solidFill>
                            <a:srgbClr val="142B33"/>
                          </a:solidFill>
                          <a:latin typeface="Calibri"/>
                        </a:rPr>
                        <a:t>2</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r>
              <a:tr h="240791">
                <a:tc>
                  <a:txBody>
                    <a:bodyPr/>
                    <a:lstStyle/>
                    <a:p>
                      <a:pPr algn="ctr"/>
                      <a:r>
                        <a:rPr sz="1200" b="0">
                          <a:solidFill>
                            <a:srgbClr val="142B33"/>
                          </a:solidFill>
                          <a:latin typeface="Calibri"/>
                        </a:rPr>
                        <a:t>3</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r>
              <a:tr h="240791">
                <a:tc>
                  <a:txBody>
                    <a:bodyPr/>
                    <a:lstStyle/>
                    <a:p>
                      <a:pPr algn="ctr"/>
                      <a:r>
                        <a:rPr sz="1200" b="0">
                          <a:solidFill>
                            <a:srgbClr val="142B33"/>
                          </a:solidFill>
                          <a:latin typeface="Calibri"/>
                        </a:rPr>
                        <a:t>4</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r>
              <a:tr h="240791">
                <a:tc>
                  <a:txBody>
                    <a:bodyPr/>
                    <a:lstStyle/>
                    <a:p>
                      <a:pPr algn="ctr"/>
                      <a:r>
                        <a:rPr sz="1200" b="0">
                          <a:solidFill>
                            <a:srgbClr val="142B33"/>
                          </a:solidFill>
                          <a:latin typeface="Calibri"/>
                        </a:rPr>
                        <a:t>5</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r>
              <a:tr h="240791">
                <a:tc>
                  <a:txBody>
                    <a:bodyPr/>
                    <a:lstStyle/>
                    <a:p>
                      <a:pPr algn="ctr"/>
                      <a:r>
                        <a:rPr sz="1200" b="0">
                          <a:solidFill>
                            <a:srgbClr val="142B33"/>
                          </a:solidFill>
                          <a:latin typeface="Calibri"/>
                        </a:rPr>
                        <a:t>6</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r>
              <a:tr h="240791">
                <a:tc>
                  <a:txBody>
                    <a:bodyPr/>
                    <a:lstStyle/>
                    <a:p>
                      <a:pPr algn="ctr"/>
                      <a:r>
                        <a:rPr sz="1200" b="0">
                          <a:solidFill>
                            <a:srgbClr val="142B33"/>
                          </a:solidFill>
                          <a:latin typeface="Calibri"/>
                        </a:rPr>
                        <a:t>7</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r>
              <a:tr h="240791">
                <a:tc>
                  <a:txBody>
                    <a:bodyPr/>
                    <a:lstStyle/>
                    <a:p>
                      <a:pPr algn="ctr"/>
                      <a:r>
                        <a:rPr sz="1200" b="0">
                          <a:solidFill>
                            <a:srgbClr val="142B33"/>
                          </a:solidFill>
                          <a:latin typeface="Calibri"/>
                        </a:rPr>
                        <a:t>8</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r>
              <a:tr h="240791">
                <a:tc>
                  <a:txBody>
                    <a:bodyPr/>
                    <a:lstStyle/>
                    <a:p>
                      <a:pPr algn="ctr"/>
                      <a:r>
                        <a:rPr sz="1200" b="0">
                          <a:solidFill>
                            <a:srgbClr val="142B33"/>
                          </a:solidFill>
                          <a:latin typeface="Calibri"/>
                        </a:rPr>
                        <a:t>9</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r>
              <a:tr h="240791">
                <a:tc>
                  <a:txBody>
                    <a:bodyPr/>
                    <a:lstStyle/>
                    <a:p>
                      <a:pPr algn="ctr"/>
                      <a:r>
                        <a:rPr sz="1200" b="0">
                          <a:solidFill>
                            <a:srgbClr val="142B33"/>
                          </a:solidFill>
                          <a:latin typeface="Calibri"/>
                        </a:rPr>
                        <a:t>10</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r>
              <a:tr h="240791">
                <a:tc>
                  <a:txBody>
                    <a:bodyPr/>
                    <a:lstStyle/>
                    <a:p>
                      <a:pPr algn="ctr"/>
                      <a:r>
                        <a:rPr sz="1200" b="0">
                          <a:solidFill>
                            <a:srgbClr val="142B33"/>
                          </a:solidFill>
                          <a:latin typeface="Calibri"/>
                        </a:rPr>
                        <a:t>11</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r>
              <a:tr h="240791">
                <a:tc>
                  <a:txBody>
                    <a:bodyPr/>
                    <a:lstStyle/>
                    <a:p>
                      <a:pPr algn="ctr"/>
                      <a:r>
                        <a:rPr sz="1200" b="0">
                          <a:solidFill>
                            <a:srgbClr val="142B33"/>
                          </a:solidFill>
                          <a:latin typeface="Calibri"/>
                        </a:rPr>
                        <a:t>12</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r>
            </a:tbl>
          </a:graphicData>
        </a:graphic>
      </p:graphicFrame>
      <p:sp>
        <p:nvSpPr>
          <p:cNvPr id="4" name="TextBox 3"/>
          <p:cNvSpPr txBox="1"/>
          <p:nvPr/>
        </p:nvSpPr>
        <p:spPr>
          <a:xfrm>
            <a:off x="8010857" y="1417320"/>
            <a:ext cx="3632197" cy="1723643"/>
          </a:xfrm>
          <a:prstGeom prst="rect">
            <a:avLst/>
          </a:prstGeom>
          <a:noFill/>
        </p:spPr>
        <p:txBody>
          <a:bodyPr wrap="square" anchor="t" lIns="0" rIns="0" tIns="0" bIns="0">
            <a:spAutoFit/>
          </a:bodyPr>
          <a:lstStyle/>
          <a:p>
            <a:pPr marL="320040" indent="-320040">
              <a:spcAft>
                <a:spcPts val="600"/>
              </a:spcAft>
              <a:buClr>
                <a:srgbClr val="E36414"/>
              </a:buClr>
              <a:buFont typeface="+mj-lt"/>
              <a:buAutoNum type="arabicPeriod"/>
            </a:pPr>
            <a:r>
              <a:rPr sz="1500" b="0">
                <a:solidFill>
                  <a:srgbClr val="142B33"/>
                </a:solidFill>
                <a:latin typeface="Calibri"/>
              </a:rPr>
              <a:t>Escribir el </a:t>
            </a:r>
            <a:r>
              <a:rPr sz="1500" b="1">
                <a:solidFill>
                  <a:srgbClr val="142B33"/>
                </a:solidFill>
                <a:latin typeface="Calibri"/>
              </a:rPr>
              <a:t>renglón generador</a:t>
            </a:r>
            <a:r>
              <a:rPr sz="1500" b="0">
                <a:solidFill>
                  <a:srgbClr val="142B33"/>
                </a:solidFill>
                <a:latin typeface="Calibri"/>
              </a:rPr>
              <a:t> como fila 1</a:t>
            </a:r>
          </a:p>
          <a:p>
            <a:pPr marL="320040" indent="-320040">
              <a:spcAft>
                <a:spcPts val="600"/>
              </a:spcAft>
              <a:buClr>
                <a:srgbClr val="E36414"/>
              </a:buClr>
              <a:buFont typeface="+mj-lt"/>
              <a:buAutoNum type="arabicPeriod"/>
            </a:pPr>
            <a:r>
              <a:rPr sz="1500" b="0">
                <a:solidFill>
                  <a:srgbClr val="142B33"/>
                </a:solidFill>
                <a:latin typeface="Calibri"/>
              </a:rPr>
              <a:t>Desplazar </a:t>
            </a:r>
            <a:r>
              <a:rPr sz="1500" b="1">
                <a:solidFill>
                  <a:srgbClr val="142B33"/>
                </a:solidFill>
                <a:latin typeface="Calibri"/>
              </a:rPr>
              <a:t>una posición</a:t>
            </a:r>
            <a:r>
              <a:rPr sz="1500" b="0">
                <a:solidFill>
                  <a:srgbClr val="142B33"/>
                </a:solidFill>
                <a:latin typeface="Calibri"/>
              </a:rPr>
              <a:t> a la derecha para cada fila nueva</a:t>
            </a:r>
          </a:p>
          <a:p>
            <a:pPr marL="320040" indent="-320040">
              <a:spcAft>
                <a:spcPts val="600"/>
              </a:spcAft>
              <a:buClr>
                <a:srgbClr val="E36414"/>
              </a:buClr>
              <a:buFont typeface="+mj-lt"/>
              <a:buAutoNum type="arabicPeriod"/>
            </a:pPr>
            <a:r>
              <a:rPr sz="1500" b="0">
                <a:solidFill>
                  <a:srgbClr val="142B33"/>
                </a:solidFill>
                <a:latin typeface="Calibri"/>
              </a:rPr>
              <a:t>Repetir hasta </a:t>
            </a:r>
            <a:r>
              <a:rPr sz="1500" b="1">
                <a:solidFill>
                  <a:srgbClr val="142B33"/>
                </a:solidFill>
                <a:latin typeface="Calibri"/>
              </a:rPr>
              <a:t>N − 1</a:t>
            </a:r>
            <a:r>
              <a:rPr sz="1500" b="0">
                <a:solidFill>
                  <a:srgbClr val="142B33"/>
                </a:solidFill>
                <a:latin typeface="Calibri"/>
              </a:rPr>
              <a:t> filas</a:t>
            </a:r>
          </a:p>
          <a:p>
            <a:pPr marL="320040" indent="-320040">
              <a:spcAft>
                <a:spcPts val="600"/>
              </a:spcAft>
              <a:buClr>
                <a:srgbClr val="E36414"/>
              </a:buClr>
              <a:buFont typeface="+mj-lt"/>
              <a:buAutoNum type="arabicPeriod"/>
            </a:pPr>
            <a:r>
              <a:rPr sz="1500" b="0">
                <a:solidFill>
                  <a:srgbClr val="142B33"/>
                </a:solidFill>
                <a:latin typeface="Calibri"/>
              </a:rPr>
              <a:t>Agregar una fila de </a:t>
            </a:r>
            <a:r>
              <a:rPr sz="1500" b="1">
                <a:solidFill>
                  <a:srgbClr val="142B33"/>
                </a:solidFill>
                <a:latin typeface="Calibri"/>
              </a:rPr>
              <a:t>signos −</a:t>
            </a:r>
          </a:p>
        </p:txBody>
      </p:sp>
      <p:sp>
        <p:nvSpPr>
          <p:cNvPr id="5" name="Rounded Rectangle 4"/>
          <p:cNvSpPr/>
          <p:nvPr/>
        </p:nvSpPr>
        <p:spPr>
          <a:xfrm>
            <a:off x="8010857" y="3342132"/>
            <a:ext cx="3632197" cy="534619"/>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500" b="0">
                <a:solidFill>
                  <a:srgbClr val="0F4C5C"/>
                </a:solidFill>
                <a:latin typeface="Cambria Math"/>
              </a:rPr>
              <a:t>N = 12:  + + − + + + − − − + −</a:t>
            </a:r>
          </a:p>
        </p:txBody>
      </p:sp>
      <p:sp>
        <p:nvSpPr>
          <p:cNvPr id="6" name="TextBox 5"/>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Diseños de resolución III</a:t>
            </a:r>
          </a:p>
        </p:txBody>
      </p:sp>
      <p:sp>
        <p:nvSpPr>
          <p:cNvPr id="7" name="TextBox 6"/>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104</a:t>
            </a:r>
          </a:p>
        </p:txBody>
      </p:sp>
      <p:sp>
        <p:nvSpPr>
          <p:cNvPr id="8" name="Rounded Rectangle 7"/>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8 · Diseños de resolución III</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6 · Enunciado: Plackett-Burman con datos simulados</a:t>
            </a:r>
          </a:p>
        </p:txBody>
      </p:sp>
      <p:sp>
        <p:nvSpPr>
          <p:cNvPr id="3" name="TextBox 2"/>
          <p:cNvSpPr txBox="1"/>
          <p:nvPr/>
        </p:nvSpPr>
        <p:spPr>
          <a:xfrm>
            <a:off x="548640" y="1417320"/>
            <a:ext cx="6196102" cy="1028191"/>
          </a:xfrm>
          <a:prstGeom prst="rect">
            <a:avLst/>
          </a:prstGeom>
          <a:noFill/>
        </p:spPr>
        <p:txBody>
          <a:bodyPr wrap="square" anchor="t" lIns="0" rIns="0" tIns="0" bIns="0">
            <a:spAutoFit/>
          </a:bodyPr>
          <a:lstStyle/>
          <a:p>
            <a:r>
              <a:rPr sz="1600" b="0">
                <a:solidFill>
                  <a:srgbClr val="142B33"/>
                </a:solidFill>
                <a:latin typeface="Calibri"/>
              </a:rPr>
              <a:t>Se quiere tamizar </a:t>
            </a:r>
            <a:r>
              <a:rPr sz="1600" b="1">
                <a:solidFill>
                  <a:srgbClr val="142B33"/>
                </a:solidFill>
                <a:latin typeface="Calibri"/>
              </a:rPr>
              <a:t>11 factores</a:t>
            </a:r>
            <a:r>
              <a:rPr sz="1600" b="0">
                <a:solidFill>
                  <a:srgbClr val="142B33"/>
                </a:solidFill>
                <a:latin typeface="Calibri"/>
              </a:rPr>
              <a:t> (A a L, sin I) con el mínimo de corridas. Un Plackett-Burman de </a:t>
            </a:r>
            <a:r>
              <a:rPr sz="1600" b="1">
                <a:solidFill>
                  <a:srgbClr val="142B33"/>
                </a:solidFill>
                <a:latin typeface="Calibri"/>
              </a:rPr>
              <a:t>12 corridas</a:t>
            </a:r>
            <a:r>
              <a:rPr sz="1600" b="0">
                <a:solidFill>
                  <a:srgbClr val="142B33"/>
                </a:solidFill>
                <a:latin typeface="Calibri"/>
              </a:rPr>
              <a:t> lo permite: es de resolución III y cada interacción doble queda repartida parcialmente sobre varios efectos principales.</a:t>
            </a:r>
          </a:p>
        </p:txBody>
      </p:sp>
      <p:sp>
        <p:nvSpPr>
          <p:cNvPr id="4" name="TextBox 3"/>
          <p:cNvSpPr txBox="1"/>
          <p:nvPr/>
        </p:nvSpPr>
        <p:spPr>
          <a:xfrm>
            <a:off x="548640" y="2646680"/>
            <a:ext cx="6196102" cy="1276096"/>
          </a:xfrm>
          <a:prstGeom prst="rect">
            <a:avLst/>
          </a:prstGeom>
          <a:noFill/>
        </p:spPr>
        <p:txBody>
          <a:bodyPr wrap="square" anchor="t" lIns="0" rIns="0" tIns="0" bIns="0">
            <a:spAutoFit/>
          </a:bodyPr>
          <a:lstStyle/>
          <a:p>
            <a:r>
              <a:rPr sz="1600" b="0">
                <a:solidFill>
                  <a:srgbClr val="142B33"/>
                </a:solidFill>
                <a:latin typeface="Calibri"/>
              </a:rPr>
              <a:t>Para ver qué pasa cuando hay interacciones, Montgomery </a:t>
            </a:r>
            <a:r>
              <a:rPr sz="1600" b="1">
                <a:solidFill>
                  <a:srgbClr val="142B33"/>
                </a:solidFill>
                <a:latin typeface="Calibri"/>
              </a:rPr>
              <a:t>simula</a:t>
            </a:r>
            <a:r>
              <a:rPr sz="1600" b="0">
                <a:solidFill>
                  <a:srgbClr val="142B33"/>
                </a:solidFill>
                <a:latin typeface="Calibri"/>
              </a:rPr>
              <a:t> los datos con un modelo conocido: tres efectos principales activos (A, B y D), dos interacciones (AB y AD) y un error normal de varianza 9. Los demás factores no tienen ningún efecto.</a:t>
            </a:r>
          </a:p>
        </p:txBody>
      </p:sp>
      <p:sp>
        <p:nvSpPr>
          <p:cNvPr id="5" name="TextBox 4"/>
          <p:cNvSpPr txBox="1"/>
          <p:nvPr/>
        </p:nvSpPr>
        <p:spPr>
          <a:xfrm>
            <a:off x="548640" y="4123944"/>
            <a:ext cx="6196102" cy="532384"/>
          </a:xfrm>
          <a:prstGeom prst="rect">
            <a:avLst/>
          </a:prstGeom>
          <a:noFill/>
        </p:spPr>
        <p:txBody>
          <a:bodyPr wrap="square" anchor="t" lIns="0" rIns="0" tIns="0" bIns="0">
            <a:spAutoFit/>
          </a:bodyPr>
          <a:lstStyle/>
          <a:p>
            <a:r>
              <a:rPr sz="1600" b="0">
                <a:solidFill>
                  <a:srgbClr val="142B33"/>
                </a:solidFill>
                <a:latin typeface="Calibri"/>
              </a:rPr>
              <a:t>El analista no conoce ese modelo: solo ve las 12 respuestas y analiza el diseño como se haría en la práctica.</a:t>
            </a:r>
          </a:p>
        </p:txBody>
      </p:sp>
      <p:sp>
        <p:nvSpPr>
          <p:cNvPr id="6" name="TextBox 5"/>
          <p:cNvSpPr txBox="1"/>
          <p:nvPr/>
        </p:nvSpPr>
        <p:spPr>
          <a:xfrm>
            <a:off x="548640" y="4857496"/>
            <a:ext cx="6196102" cy="222504"/>
          </a:xfrm>
          <a:prstGeom prst="rect">
            <a:avLst/>
          </a:prstGeom>
          <a:noFill/>
        </p:spPr>
        <p:txBody>
          <a:bodyPr wrap="square" anchor="t" lIns="0" rIns="0" tIns="0" bIns="0">
            <a:spAutoFit/>
          </a:bodyPr>
          <a:lstStyle/>
          <a:p>
            <a:r>
              <a:rPr sz="1200" b="0">
                <a:solidFill>
                  <a:srgbClr val="5B6B73"/>
                </a:solidFill>
                <a:latin typeface="Calibri"/>
              </a:rPr>
              <a:t>Fuente: Montgomery, ejemplo 8-8</a:t>
            </a:r>
          </a:p>
        </p:txBody>
      </p:sp>
      <p:sp>
        <p:nvSpPr>
          <p:cNvPr id="7" name="Rounded Rectangle 6"/>
          <p:cNvSpPr/>
          <p:nvPr/>
        </p:nvSpPr>
        <p:spPr>
          <a:xfrm>
            <a:off x="7156222" y="1417320"/>
            <a:ext cx="4486832" cy="1249426"/>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700" b="1">
                <a:solidFill>
                  <a:srgbClr val="0F4C5C"/>
                </a:solidFill>
                <a:latin typeface="Cambria"/>
              </a:rPr>
              <a:t>Objetivo</a:t>
            </a:r>
          </a:p>
          <a:p>
            <a:pPr algn="l"/>
            <a:r>
              <a:rPr sz="1500" b="0">
                <a:solidFill>
                  <a:srgbClr val="142B33"/>
                </a:solidFill>
                <a:latin typeface="Calibri"/>
              </a:rPr>
              <a:t>Comprobar si el análisis del Plackett-Burman </a:t>
            </a:r>
            <a:r>
              <a:rPr sz="1500" b="1">
                <a:solidFill>
                  <a:srgbClr val="142B33"/>
                </a:solidFill>
                <a:latin typeface="Calibri"/>
              </a:rPr>
              <a:t>recupera el modelo verdadero</a:t>
            </a:r>
          </a:p>
        </p:txBody>
      </p:sp>
      <p:sp>
        <p:nvSpPr>
          <p:cNvPr id="8" name="TextBox 7"/>
          <p:cNvSpPr txBox="1"/>
          <p:nvPr/>
        </p:nvSpPr>
        <p:spPr>
          <a:xfrm>
            <a:off x="7156222" y="2867914"/>
            <a:ext cx="4486832" cy="299973"/>
          </a:xfrm>
          <a:prstGeom prst="rect">
            <a:avLst/>
          </a:prstGeom>
          <a:noFill/>
        </p:spPr>
        <p:txBody>
          <a:bodyPr wrap="square" anchor="t" lIns="0" rIns="0" tIns="0" bIns="0">
            <a:spAutoFit/>
          </a:bodyPr>
          <a:lstStyle/>
          <a:p>
            <a:r>
              <a:rPr sz="1700" b="1">
                <a:solidFill>
                  <a:srgbClr val="142B33"/>
                </a:solidFill>
                <a:latin typeface="Calibri"/>
              </a:rPr>
              <a:t>Se pide</a:t>
            </a:r>
          </a:p>
        </p:txBody>
      </p:sp>
      <p:sp>
        <p:nvSpPr>
          <p:cNvPr id="9" name="TextBox 8"/>
          <p:cNvSpPr txBox="1"/>
          <p:nvPr/>
        </p:nvSpPr>
        <p:spPr>
          <a:xfrm>
            <a:off x="7156222" y="3369056"/>
            <a:ext cx="4486832" cy="1258823"/>
          </a:xfrm>
          <a:prstGeom prst="rect">
            <a:avLst/>
          </a:prstGeom>
          <a:noFill/>
        </p:spPr>
        <p:txBody>
          <a:bodyPr wrap="square" anchor="t" lIns="0" rIns="0" tIns="0" bIns="0">
            <a:spAutoFit/>
          </a:bodyPr>
          <a:lstStyle/>
          <a:p>
            <a:pPr marL="320040" indent="-320040">
              <a:spcAft>
                <a:spcPts val="600"/>
              </a:spcAft>
              <a:buClr>
                <a:srgbClr val="E36414"/>
              </a:buClr>
              <a:buFont typeface="+mj-lt"/>
              <a:buAutoNum type="arabicPeriod"/>
            </a:pPr>
            <a:r>
              <a:rPr sz="1500" b="0">
                <a:solidFill>
                  <a:srgbClr val="142B33"/>
                </a:solidFill>
                <a:latin typeface="Calibri"/>
              </a:rPr>
              <a:t>Estimar los 11 efectos principales</a:t>
            </a:r>
          </a:p>
          <a:p>
            <a:pPr marL="320040" indent="-320040">
              <a:spcAft>
                <a:spcPts val="600"/>
              </a:spcAft>
              <a:buClr>
                <a:srgbClr val="E36414"/>
              </a:buClr>
              <a:buFont typeface="+mj-lt"/>
              <a:buAutoNum type="arabicPeriod"/>
            </a:pPr>
            <a:r>
              <a:rPr sz="1500" b="0">
                <a:solidFill>
                  <a:srgbClr val="142B33"/>
                </a:solidFill>
                <a:latin typeface="Calibri"/>
              </a:rPr>
              <a:t>Compararlos con el modelo que generó los datos</a:t>
            </a:r>
          </a:p>
          <a:p>
            <a:pPr marL="320040" indent="-320040">
              <a:spcAft>
                <a:spcPts val="600"/>
              </a:spcAft>
              <a:buClr>
                <a:srgbClr val="E36414"/>
              </a:buClr>
              <a:buFont typeface="+mj-lt"/>
              <a:buAutoNum type="arabicPeriod"/>
            </a:pPr>
            <a:r>
              <a:rPr sz="1500" b="0">
                <a:solidFill>
                  <a:srgbClr val="142B33"/>
                </a:solidFill>
                <a:latin typeface="Calibri"/>
              </a:rPr>
              <a:t>Explicar de dónde salen los efectos falsos</a:t>
            </a:r>
          </a:p>
          <a:p>
            <a:pPr marL="320040" indent="-320040">
              <a:spcAft>
                <a:spcPts val="600"/>
              </a:spcAft>
              <a:buClr>
                <a:srgbClr val="E36414"/>
              </a:buClr>
              <a:buFont typeface="+mj-lt"/>
              <a:buAutoNum type="arabicPeriod"/>
            </a:pPr>
            <a:r>
              <a:rPr sz="1500" b="0">
                <a:solidFill>
                  <a:srgbClr val="142B33"/>
                </a:solidFill>
                <a:latin typeface="Calibri"/>
              </a:rPr>
              <a:t>Decidir qué diseño habría sido mejor</a:t>
            </a:r>
          </a:p>
        </p:txBody>
      </p:sp>
      <p:sp>
        <p:nvSpPr>
          <p:cNvPr id="10" name="TextBox 9"/>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Diseños de resolución III</a:t>
            </a:r>
          </a:p>
        </p:txBody>
      </p:sp>
      <p:sp>
        <p:nvSpPr>
          <p:cNvPr id="11" name="TextBox 10"/>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105</a:t>
            </a:r>
          </a:p>
        </p:txBody>
      </p:sp>
      <p:sp>
        <p:nvSpPr>
          <p:cNvPr id="12" name="Rounded Rectangle 11"/>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8 · Diseños de resolución III</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6 · Plackett-Burman con datos simulados</a:t>
            </a:r>
          </a:p>
        </p:txBody>
      </p:sp>
      <p:sp>
        <p:nvSpPr>
          <p:cNvPr id="3" name="Rounded Rectangle 2"/>
          <p:cNvSpPr/>
          <p:nvPr/>
        </p:nvSpPr>
        <p:spPr>
          <a:xfrm>
            <a:off x="548640" y="1417320"/>
            <a:ext cx="5875614" cy="551972"/>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0">
                <a:solidFill>
                  <a:srgbClr val="0F4C5C"/>
                </a:solidFill>
                <a:latin typeface="Cambria Math"/>
              </a:rPr>
              <a:t>y = 200 + 8x</a:t>
            </a:r>
            <a:r>
              <a:rPr sz="1600" b="0" baseline="-25000">
                <a:solidFill>
                  <a:srgbClr val="0F4C5C"/>
                </a:solidFill>
                <a:latin typeface="Cambria Math"/>
              </a:rPr>
              <a:t>1</a:t>
            </a:r>
            <a:r>
              <a:rPr sz="1600" b="0">
                <a:solidFill>
                  <a:srgbClr val="0F4C5C"/>
                </a:solidFill>
                <a:latin typeface="Cambria Math"/>
              </a:rPr>
              <a:t> + 10x</a:t>
            </a:r>
            <a:r>
              <a:rPr sz="1600" b="0" baseline="-25000">
                <a:solidFill>
                  <a:srgbClr val="0F4C5C"/>
                </a:solidFill>
                <a:latin typeface="Cambria Math"/>
              </a:rPr>
              <a:t>2</a:t>
            </a:r>
            <a:r>
              <a:rPr sz="1600" b="0">
                <a:solidFill>
                  <a:srgbClr val="0F4C5C"/>
                </a:solidFill>
                <a:latin typeface="Cambria Math"/>
              </a:rPr>
              <a:t> + 12x</a:t>
            </a:r>
            <a:r>
              <a:rPr sz="1600" b="0" baseline="-25000">
                <a:solidFill>
                  <a:srgbClr val="0F4C5C"/>
                </a:solidFill>
                <a:latin typeface="Cambria Math"/>
              </a:rPr>
              <a:t>4</a:t>
            </a:r>
            <a:r>
              <a:rPr sz="1600" b="0">
                <a:solidFill>
                  <a:srgbClr val="0F4C5C"/>
                </a:solidFill>
                <a:latin typeface="Cambria Math"/>
              </a:rPr>
              <a:t> − 12x</a:t>
            </a:r>
            <a:r>
              <a:rPr sz="1600" b="0" baseline="-25000">
                <a:solidFill>
                  <a:srgbClr val="0F4C5C"/>
                </a:solidFill>
                <a:latin typeface="Cambria Math"/>
              </a:rPr>
              <a:t>1</a:t>
            </a:r>
            <a:r>
              <a:rPr sz="1600" b="0">
                <a:solidFill>
                  <a:srgbClr val="0F4C5C"/>
                </a:solidFill>
                <a:latin typeface="Cambria Math"/>
              </a:rPr>
              <a:t>x</a:t>
            </a:r>
            <a:r>
              <a:rPr sz="1600" b="0" baseline="-25000">
                <a:solidFill>
                  <a:srgbClr val="0F4C5C"/>
                </a:solidFill>
                <a:latin typeface="Cambria Math"/>
              </a:rPr>
              <a:t>2</a:t>
            </a:r>
            <a:r>
              <a:rPr sz="1600" b="0">
                <a:solidFill>
                  <a:srgbClr val="0F4C5C"/>
                </a:solidFill>
                <a:latin typeface="Cambria Math"/>
              </a:rPr>
              <a:t> + 9x</a:t>
            </a:r>
            <a:r>
              <a:rPr sz="1600" b="0" baseline="-25000">
                <a:solidFill>
                  <a:srgbClr val="0F4C5C"/>
                </a:solidFill>
                <a:latin typeface="Cambria Math"/>
              </a:rPr>
              <a:t>1</a:t>
            </a:r>
            <a:r>
              <a:rPr sz="1600" b="0">
                <a:solidFill>
                  <a:srgbClr val="0F4C5C"/>
                </a:solidFill>
                <a:latin typeface="Cambria Math"/>
              </a:rPr>
              <a:t>x</a:t>
            </a:r>
            <a:r>
              <a:rPr sz="1600" b="0" baseline="-25000">
                <a:solidFill>
                  <a:srgbClr val="0F4C5C"/>
                </a:solidFill>
                <a:latin typeface="Cambria Math"/>
              </a:rPr>
              <a:t>4</a:t>
            </a:r>
            <a:r>
              <a:rPr sz="1600" b="0">
                <a:solidFill>
                  <a:srgbClr val="0F4C5C"/>
                </a:solidFill>
                <a:latin typeface="Cambria Math"/>
              </a:rPr>
              <a:t> + ε</a:t>
            </a:r>
          </a:p>
        </p:txBody>
      </p:sp>
      <p:graphicFrame>
        <p:nvGraphicFramePr>
          <p:cNvPr id="4" name="Chart 3"/>
          <p:cNvGraphicFramePr>
            <a:graphicFrameLocks noGrp="1"/>
          </p:cNvGraphicFramePr>
          <p:nvPr/>
        </p:nvGraphicFramePr>
        <p:xfrm>
          <a:off x="548640" y="2170460"/>
          <a:ext cx="5875614" cy="3200400"/>
        </p:xfrm>
        <a:graphic>
          <a:graphicData uri="http://schemas.openxmlformats.org/drawingml/2006/chart">
            <c:chart xmlns:c="http://schemas.openxmlformats.org/drawingml/2006/chart" r:id="rId2"/>
          </a:graphicData>
        </a:graphic>
      </p:graphicFrame>
      <p:sp>
        <p:nvSpPr>
          <p:cNvPr id="5" name="Rounded Rectangle 4"/>
          <p:cNvSpPr/>
          <p:nvPr/>
        </p:nvSpPr>
        <p:spPr>
          <a:xfrm>
            <a:off x="6835734" y="1417320"/>
            <a:ext cx="4807320" cy="1249426"/>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700" b="1">
                <a:solidFill>
                  <a:srgbClr val="0F4C5C"/>
                </a:solidFill>
                <a:latin typeface="Cambria"/>
              </a:rPr>
              <a:t>Lo que es real</a:t>
            </a:r>
          </a:p>
          <a:p>
            <a:pPr algn="l"/>
            <a:r>
              <a:rPr sz="1500" b="1">
                <a:solidFill>
                  <a:srgbClr val="142B33"/>
                </a:solidFill>
                <a:latin typeface="Calibri"/>
              </a:rPr>
              <a:t>A, B, D</a:t>
            </a:r>
            <a:r>
              <a:rPr sz="1500" b="0">
                <a:solidFill>
                  <a:srgbClr val="142B33"/>
                </a:solidFill>
                <a:latin typeface="Calibri"/>
              </a:rPr>
              <a:t>, AB y AD</a:t>
            </a:r>
          </a:p>
        </p:txBody>
      </p:sp>
      <p:sp>
        <p:nvSpPr>
          <p:cNvPr id="6" name="Rounded Rectangle 5"/>
          <p:cNvSpPr/>
          <p:nvPr/>
        </p:nvSpPr>
        <p:spPr>
          <a:xfrm>
            <a:off x="6835734" y="2895346"/>
            <a:ext cx="4807320" cy="1249426"/>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700" b="1">
                <a:solidFill>
                  <a:srgbClr val="0F4C5C"/>
                </a:solidFill>
                <a:latin typeface="Cambria"/>
              </a:rPr>
              <a:t>Lo que aparece</a:t>
            </a:r>
          </a:p>
          <a:p>
            <a:pPr algn="l"/>
            <a:r>
              <a:rPr sz="1500" b="1">
                <a:solidFill>
                  <a:srgbClr val="142B33"/>
                </a:solidFill>
                <a:latin typeface="Calibri"/>
              </a:rPr>
              <a:t>Siete</a:t>
            </a:r>
            <a:r>
              <a:rPr sz="1500" b="0">
                <a:solidFill>
                  <a:srgbClr val="142B33"/>
                </a:solidFill>
                <a:latin typeface="Calibri"/>
              </a:rPr>
              <a:t> efectos grandes: A, B, C, D, E, J y K</a:t>
            </a:r>
          </a:p>
        </p:txBody>
      </p:sp>
      <p:sp>
        <p:nvSpPr>
          <p:cNvPr id="7" name="Rounded Rectangle 6"/>
          <p:cNvSpPr/>
          <p:nvPr/>
        </p:nvSpPr>
        <p:spPr>
          <a:xfrm>
            <a:off x="6835734" y="4373372"/>
            <a:ext cx="4807320" cy="1249426"/>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700" b="1">
                <a:solidFill>
                  <a:srgbClr val="0F4C5C"/>
                </a:solidFill>
                <a:latin typeface="Cambria"/>
              </a:rPr>
              <a:t>Recomendación</a:t>
            </a:r>
          </a:p>
          <a:p>
            <a:pPr algn="l"/>
            <a:r>
              <a:rPr sz="1500" b="0">
                <a:solidFill>
                  <a:srgbClr val="142B33"/>
                </a:solidFill>
                <a:latin typeface="Calibri"/>
              </a:rPr>
              <a:t>Preferir un </a:t>
            </a:r>
            <a:r>
              <a:rPr sz="1500" b="1">
                <a:solidFill>
                  <a:srgbClr val="142B33"/>
                </a:solidFill>
                <a:latin typeface="Calibri"/>
              </a:rPr>
              <a:t>2</a:t>
            </a:r>
            <a:r>
              <a:rPr sz="1500" b="1" baseline="30000">
                <a:solidFill>
                  <a:srgbClr val="142B33"/>
                </a:solidFill>
                <a:latin typeface="Calibri"/>
              </a:rPr>
              <a:t>11−7</a:t>
            </a:r>
            <a:r>
              <a:rPr sz="1500" b="1" baseline="-25000">
                <a:solidFill>
                  <a:srgbClr val="142B33"/>
                </a:solidFill>
                <a:latin typeface="Calibri"/>
              </a:rPr>
              <a:t>III</a:t>
            </a:r>
            <a:r>
              <a:rPr sz="1500" b="0">
                <a:solidFill>
                  <a:srgbClr val="142B33"/>
                </a:solidFill>
                <a:latin typeface="Calibri"/>
              </a:rPr>
              <a:t> de 16 corridas a un PB de 12 que haya que doblar</a:t>
            </a:r>
          </a:p>
        </p:txBody>
      </p:sp>
      <p:sp>
        <p:nvSpPr>
          <p:cNvPr id="8" name="TextBox 7"/>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Diseños de resolución III</a:t>
            </a:r>
          </a:p>
        </p:txBody>
      </p:sp>
      <p:sp>
        <p:nvSpPr>
          <p:cNvPr id="9" name="TextBox 8"/>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106</a:t>
            </a:r>
          </a:p>
        </p:txBody>
      </p:sp>
      <p:sp>
        <p:nvSpPr>
          <p:cNvPr id="10" name="Rounded Rectangle 9"/>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8 · Diseños de resolución III</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0F4C5C"/>
        </a:solidFill>
        <a:effectLst/>
      </p:bgPr>
    </p:bg>
    <p:spTree>
      <p:nvGrpSpPr>
        <p:cNvPr id="1" name=""/>
        <p:cNvGrpSpPr/>
        <p:nvPr/>
      </p:nvGrpSpPr>
      <p:grpSpPr/>
      <p:sp>
        <p:nvSpPr>
          <p:cNvPr id="2" name="Title 1"/>
          <p:cNvSpPr>
            <a:spLocks noGrp="1"/>
          </p:cNvSpPr>
          <p:nvPr>
            <p:ph type="title"/>
          </p:nvPr>
        </p:nvSpPr>
        <p:spPr>
          <a:xfrm>
            <a:off x="548640" y="3383280"/>
            <a:ext cx="11094415" cy="914400"/>
          </a:xfrm>
        </p:spPr>
        <p:txBody>
          <a:bodyPr wrap="square" anchor="t" lIns="0" rIns="0" tIns="0" bIns="0"/>
          <a:lstStyle/>
          <a:p>
            <a:pPr algn="l"/>
            <a:r>
              <a:rPr sz="4400" b="1">
                <a:solidFill>
                  <a:srgbClr val="FFFFFF"/>
                </a:solidFill>
                <a:latin typeface="Cambria"/>
              </a:rPr>
              <a:t>Diseños de resolución IV y V</a:t>
            </a:r>
          </a:p>
        </p:txBody>
      </p:sp>
      <p:sp>
        <p:nvSpPr>
          <p:cNvPr id="3" name="Oval 2"/>
          <p:cNvSpPr/>
          <p:nvPr/>
        </p:nvSpPr>
        <p:spPr>
          <a:xfrm>
            <a:off x="548640" y="2011680"/>
            <a:ext cx="1188720" cy="1188720"/>
          </a:xfrm>
          <a:prstGeom prst="ellipse">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FFFFFF"/>
                </a:solidFill>
                <a:latin typeface="Cambria"/>
              </a:rPr>
              <a:t>9</a:t>
            </a:r>
          </a:p>
        </p:txBody>
      </p:sp>
      <p:sp>
        <p:nvSpPr>
          <p:cNvPr id="4" name="TextBox 3"/>
          <p:cNvSpPr txBox="1"/>
          <p:nvPr/>
        </p:nvSpPr>
        <p:spPr>
          <a:xfrm>
            <a:off x="548640" y="4343400"/>
            <a:ext cx="11094415" cy="548640"/>
          </a:xfrm>
          <a:prstGeom prst="rect">
            <a:avLst/>
          </a:prstGeom>
          <a:noFill/>
        </p:spPr>
        <p:txBody>
          <a:bodyPr wrap="square" anchor="t" lIns="0" rIns="0" tIns="0" bIns="0">
            <a:spAutoFit/>
          </a:bodyPr>
          <a:lstStyle/>
          <a:p>
            <a:r>
              <a:rPr sz="2000" b="0">
                <a:solidFill>
                  <a:srgbClr val="CFE3E8"/>
                </a:solidFill>
                <a:latin typeface="Calibri"/>
              </a:rPr>
              <a:t>Diseños mínimos, doblez y fracciones irregulares</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¿Qué es un diseño de resolución IV y cómo se obtiene de uno de resolución III?</a:t>
            </a:r>
          </a:p>
        </p:txBody>
      </p:sp>
      <p:sp>
        <p:nvSpPr>
          <p:cNvPr id="3" name="TextBox 2"/>
          <p:cNvSpPr txBox="1"/>
          <p:nvPr/>
        </p:nvSpPr>
        <p:spPr>
          <a:xfrm>
            <a:off x="548640" y="1417320"/>
            <a:ext cx="5127808" cy="1641348"/>
          </a:xfrm>
          <a:prstGeom prst="rect">
            <a:avLst/>
          </a:prstGeom>
          <a:noFill/>
        </p:spPr>
        <p:txBody>
          <a:bodyPr wrap="square" anchor="t" lIns="0" rIns="0" tIns="0" bIns="0">
            <a:spAutoFit/>
          </a:bodyPr>
          <a:lstStyle/>
          <a:p>
            <a:pPr marL="320040" indent="-320040">
              <a:spcAft>
                <a:spcPts val="600"/>
              </a:spcAft>
              <a:buClr>
                <a:srgbClr val="E36414"/>
              </a:buClr>
              <a:buFont typeface="Arial"/>
              <a:buChar char="•"/>
            </a:pPr>
            <a:r>
              <a:rPr sz="1500" b="0">
                <a:solidFill>
                  <a:srgbClr val="142B33"/>
                </a:solidFill>
                <a:latin typeface="Calibri"/>
              </a:rPr>
              <a:t>Principales </a:t>
            </a:r>
            <a:r>
              <a:rPr sz="1500" b="1">
                <a:solidFill>
                  <a:srgbClr val="142B33"/>
                </a:solidFill>
                <a:latin typeface="Calibri"/>
              </a:rPr>
              <a:t>separados</a:t>
            </a:r>
            <a:r>
              <a:rPr sz="1500" b="0">
                <a:solidFill>
                  <a:srgbClr val="142B33"/>
                </a:solidFill>
                <a:latin typeface="Calibri"/>
              </a:rPr>
              <a:t> de las interacciones dobles; algunas dobles son </a:t>
            </a:r>
            <a:r>
              <a:rPr sz="1500" b="1">
                <a:solidFill>
                  <a:srgbClr val="142B33"/>
                </a:solidFill>
                <a:latin typeface="Calibri"/>
              </a:rPr>
              <a:t>alias entre sí</a:t>
            </a:r>
          </a:p>
          <a:p>
            <a:pPr marL="320040" indent="-320040">
              <a:spcAft>
                <a:spcPts val="600"/>
              </a:spcAft>
              <a:buClr>
                <a:srgbClr val="E36414"/>
              </a:buClr>
              <a:buFont typeface="Arial"/>
              <a:buChar char="•"/>
            </a:pPr>
            <a:r>
              <a:rPr sz="1500" b="0">
                <a:solidFill>
                  <a:srgbClr val="142B33"/>
                </a:solidFill>
                <a:latin typeface="Calibri"/>
              </a:rPr>
              <a:t>Suprimiendo triples, los principales se estiman </a:t>
            </a:r>
            <a:r>
              <a:rPr sz="1500" b="1">
                <a:solidFill>
                  <a:srgbClr val="142B33"/>
                </a:solidFill>
                <a:latin typeface="Calibri"/>
              </a:rPr>
              <a:t>directamente</a:t>
            </a:r>
          </a:p>
          <a:p>
            <a:pPr marL="320040" indent="-320040">
              <a:spcAft>
                <a:spcPts val="600"/>
              </a:spcAft>
              <a:buClr>
                <a:srgbClr val="E36414"/>
              </a:buClr>
              <a:buFont typeface="Arial"/>
              <a:buChar char="•"/>
            </a:pPr>
            <a:r>
              <a:rPr sz="1500" b="0">
                <a:solidFill>
                  <a:srgbClr val="142B33"/>
                </a:solidFill>
                <a:latin typeface="Calibri"/>
              </a:rPr>
              <a:t>Tamaño mínimo </a:t>
            </a:r>
            <a:r>
              <a:rPr sz="1500" b="1">
                <a:solidFill>
                  <a:srgbClr val="142B33"/>
                </a:solidFill>
                <a:latin typeface="Calibri"/>
              </a:rPr>
              <a:t>N ≥ 2k</a:t>
            </a:r>
            <a:r>
              <a:rPr sz="1500" b="0">
                <a:solidFill>
                  <a:srgbClr val="142B33"/>
                </a:solidFill>
                <a:latin typeface="Calibri"/>
              </a:rPr>
              <a:t>; con exactamente 2k corridas se llama diseño </a:t>
            </a:r>
            <a:r>
              <a:rPr sz="1500" b="1">
                <a:solidFill>
                  <a:srgbClr val="142B33"/>
                </a:solidFill>
                <a:latin typeface="Calibri"/>
              </a:rPr>
              <a:t>mínimo</a:t>
            </a:r>
          </a:p>
        </p:txBody>
      </p:sp>
      <p:graphicFrame>
        <p:nvGraphicFramePr>
          <p:cNvPr id="4" name="Table 3"/>
          <p:cNvGraphicFramePr>
            <a:graphicFrameLocks noGrp="1"/>
          </p:cNvGraphicFramePr>
          <p:nvPr/>
        </p:nvGraphicFramePr>
        <p:xfrm>
          <a:off x="548640" y="3259836"/>
          <a:ext cx="5127808" cy="1343152"/>
        </p:xfrm>
        <a:graphic>
          <a:graphicData uri="http://schemas.openxmlformats.org/drawingml/2006/table">
            <a:tbl>
              <a:tblPr firstRow="0" bandRow="0">
                <a:tableStyleId>{5C22544A-7EE6-4342-B048-85BDC9FD1C3A}</a:tableStyleId>
              </a:tblPr>
              <a:tblGrid>
                <a:gridCol w="1924168"/>
                <a:gridCol w="1279472"/>
                <a:gridCol w="1924168"/>
              </a:tblGrid>
              <a:tr h="335788">
                <a:tc>
                  <a:txBody>
                    <a:bodyPr/>
                    <a:lstStyle/>
                    <a:p>
                      <a:pPr algn="ctr"/>
                      <a:r>
                        <a:rPr sz="1400" b="1">
                          <a:solidFill>
                            <a:srgbClr val="FFFFFF"/>
                          </a:solidFill>
                          <a:latin typeface="Calibri"/>
                        </a:rPr>
                        <a:t>Diseño mínimo</a:t>
                      </a:r>
                    </a:p>
                  </a:txBody>
                  <a:tcPr marL="73152" marR="73152" marT="27432" marB="27432" anchor="ctr">
                    <a:solidFill>
                      <a:srgbClr val="0F4C5C"/>
                    </a:solidFill>
                  </a:tcPr>
                </a:tc>
                <a:tc>
                  <a:txBody>
                    <a:bodyPr/>
                    <a:lstStyle/>
                    <a:p>
                      <a:pPr algn="ctr"/>
                      <a:r>
                        <a:rPr sz="1400" b="1">
                          <a:solidFill>
                            <a:srgbClr val="FFFFFF"/>
                          </a:solidFill>
                          <a:latin typeface="Calibri"/>
                        </a:rPr>
                        <a:t>Factores</a:t>
                      </a:r>
                    </a:p>
                  </a:txBody>
                  <a:tcPr marL="73152" marR="73152" marT="27432" marB="27432" anchor="ctr">
                    <a:solidFill>
                      <a:srgbClr val="0F4C5C"/>
                    </a:solidFill>
                  </a:tcPr>
                </a:tc>
                <a:tc>
                  <a:txBody>
                    <a:bodyPr/>
                    <a:lstStyle/>
                    <a:p>
                      <a:pPr algn="ctr"/>
                      <a:r>
                        <a:rPr sz="1400" b="1">
                          <a:solidFill>
                            <a:srgbClr val="FFFFFF"/>
                          </a:solidFill>
                          <a:latin typeface="Calibri"/>
                        </a:rPr>
                        <a:t>Corridas = 2k</a:t>
                      </a:r>
                    </a:p>
                  </a:txBody>
                  <a:tcPr marL="73152" marR="73152" marT="27432" marB="27432" anchor="ctr">
                    <a:solidFill>
                      <a:srgbClr val="0F4C5C"/>
                    </a:solidFill>
                  </a:tcPr>
                </a:tc>
              </a:tr>
              <a:tr h="335788">
                <a:tc>
                  <a:txBody>
                    <a:bodyPr/>
                    <a:lstStyle/>
                    <a:p>
                      <a:pPr algn="ctr"/>
                      <a:r>
                        <a:rPr sz="1400" b="0">
                          <a:solidFill>
                            <a:srgbClr val="142B33"/>
                          </a:solidFill>
                          <a:latin typeface="Calibri"/>
                        </a:rPr>
                        <a:t>2</a:t>
                      </a:r>
                      <a:r>
                        <a:rPr sz="1400" b="0" baseline="30000">
                          <a:solidFill>
                            <a:srgbClr val="142B33"/>
                          </a:solidFill>
                          <a:latin typeface="Calibri"/>
                        </a:rPr>
                        <a:t>4−1</a:t>
                      </a:r>
                      <a:r>
                        <a:rPr sz="1400" b="0" baseline="-25000">
                          <a:solidFill>
                            <a:srgbClr val="142B33"/>
                          </a:solidFill>
                          <a:latin typeface="Calibri"/>
                        </a:rPr>
                        <a:t>IV</a:t>
                      </a:r>
                    </a:p>
                  </a:txBody>
                  <a:tcPr marL="73152" marR="73152" marT="27432" marB="27432" anchor="ctr">
                    <a:solidFill>
                      <a:srgbClr val="FFFFFF"/>
                    </a:solidFill>
                  </a:tcPr>
                </a:tc>
                <a:tc>
                  <a:txBody>
                    <a:bodyPr/>
                    <a:lstStyle/>
                    <a:p>
                      <a:pPr algn="ctr"/>
                      <a:r>
                        <a:rPr sz="1400" b="0">
                          <a:solidFill>
                            <a:srgbClr val="142B33"/>
                          </a:solidFill>
                          <a:latin typeface="Calibri"/>
                        </a:rPr>
                        <a:t>4</a:t>
                      </a:r>
                    </a:p>
                  </a:txBody>
                  <a:tcPr marL="73152" marR="73152" marT="27432" marB="27432" anchor="ctr">
                    <a:solidFill>
                      <a:srgbClr val="FFFFFF"/>
                    </a:solidFill>
                  </a:tcPr>
                </a:tc>
                <a:tc>
                  <a:txBody>
                    <a:bodyPr/>
                    <a:lstStyle/>
                    <a:p>
                      <a:pPr algn="ctr"/>
                      <a:r>
                        <a:rPr sz="1400" b="0">
                          <a:solidFill>
                            <a:srgbClr val="142B33"/>
                          </a:solidFill>
                          <a:latin typeface="Calibri"/>
                        </a:rPr>
                        <a:t>8</a:t>
                      </a:r>
                    </a:p>
                  </a:txBody>
                  <a:tcPr marL="73152" marR="73152" marT="27432" marB="27432" anchor="ctr">
                    <a:solidFill>
                      <a:srgbClr val="FFFFFF"/>
                    </a:solidFill>
                  </a:tcPr>
                </a:tc>
              </a:tr>
              <a:tr h="335788">
                <a:tc>
                  <a:txBody>
                    <a:bodyPr/>
                    <a:lstStyle/>
                    <a:p>
                      <a:pPr algn="ctr"/>
                      <a:r>
                        <a:rPr sz="1400" b="0">
                          <a:solidFill>
                            <a:srgbClr val="142B33"/>
                          </a:solidFill>
                          <a:latin typeface="Calibri"/>
                        </a:rPr>
                        <a:t>2</a:t>
                      </a:r>
                      <a:r>
                        <a:rPr sz="1400" b="0" baseline="30000">
                          <a:solidFill>
                            <a:srgbClr val="142B33"/>
                          </a:solidFill>
                          <a:latin typeface="Calibri"/>
                        </a:rPr>
                        <a:t>8−4</a:t>
                      </a:r>
                      <a:r>
                        <a:rPr sz="1400" b="0" baseline="-25000">
                          <a:solidFill>
                            <a:srgbClr val="142B33"/>
                          </a:solidFill>
                          <a:latin typeface="Calibri"/>
                        </a:rPr>
                        <a:t>IV</a:t>
                      </a:r>
                    </a:p>
                  </a:txBody>
                  <a:tcPr marL="73152" marR="73152" marT="27432" marB="27432" anchor="ctr">
                    <a:solidFill>
                      <a:srgbClr val="F4F8F9"/>
                    </a:solidFill>
                  </a:tcPr>
                </a:tc>
                <a:tc>
                  <a:txBody>
                    <a:bodyPr/>
                    <a:lstStyle/>
                    <a:p>
                      <a:pPr algn="ctr"/>
                      <a:r>
                        <a:rPr sz="1400" b="0">
                          <a:solidFill>
                            <a:srgbClr val="142B33"/>
                          </a:solidFill>
                          <a:latin typeface="Calibri"/>
                        </a:rPr>
                        <a:t>8</a:t>
                      </a:r>
                    </a:p>
                  </a:txBody>
                  <a:tcPr marL="73152" marR="73152" marT="27432" marB="27432" anchor="ctr">
                    <a:solidFill>
                      <a:srgbClr val="F4F8F9"/>
                    </a:solidFill>
                  </a:tcPr>
                </a:tc>
                <a:tc>
                  <a:txBody>
                    <a:bodyPr/>
                    <a:lstStyle/>
                    <a:p>
                      <a:pPr algn="ctr"/>
                      <a:r>
                        <a:rPr sz="1400" b="0">
                          <a:solidFill>
                            <a:srgbClr val="142B33"/>
                          </a:solidFill>
                          <a:latin typeface="Calibri"/>
                        </a:rPr>
                        <a:t>16</a:t>
                      </a:r>
                    </a:p>
                  </a:txBody>
                  <a:tcPr marL="73152" marR="73152" marT="27432" marB="27432" anchor="ctr">
                    <a:solidFill>
                      <a:srgbClr val="F4F8F9"/>
                    </a:solidFill>
                  </a:tcPr>
                </a:tc>
              </a:tr>
              <a:tr h="335788">
                <a:tc>
                  <a:txBody>
                    <a:bodyPr/>
                    <a:lstStyle/>
                    <a:p>
                      <a:pPr algn="ctr"/>
                      <a:r>
                        <a:rPr sz="1400" b="0">
                          <a:solidFill>
                            <a:srgbClr val="142B33"/>
                          </a:solidFill>
                          <a:latin typeface="Calibri"/>
                        </a:rPr>
                        <a:t>2</a:t>
                      </a:r>
                      <a:r>
                        <a:rPr sz="1400" b="0" baseline="30000">
                          <a:solidFill>
                            <a:srgbClr val="142B33"/>
                          </a:solidFill>
                          <a:latin typeface="Calibri"/>
                        </a:rPr>
                        <a:t>16−11</a:t>
                      </a:r>
                      <a:r>
                        <a:rPr sz="1400" b="0" baseline="-25000">
                          <a:solidFill>
                            <a:srgbClr val="142B33"/>
                          </a:solidFill>
                          <a:latin typeface="Calibri"/>
                        </a:rPr>
                        <a:t>IV</a:t>
                      </a:r>
                    </a:p>
                  </a:txBody>
                  <a:tcPr marL="73152" marR="73152" marT="27432" marB="27432" anchor="ctr">
                    <a:solidFill>
                      <a:srgbClr val="FFFFFF"/>
                    </a:solidFill>
                  </a:tcPr>
                </a:tc>
                <a:tc>
                  <a:txBody>
                    <a:bodyPr/>
                    <a:lstStyle/>
                    <a:p>
                      <a:pPr algn="ctr"/>
                      <a:r>
                        <a:rPr sz="1400" b="0">
                          <a:solidFill>
                            <a:srgbClr val="142B33"/>
                          </a:solidFill>
                          <a:latin typeface="Calibri"/>
                        </a:rPr>
                        <a:t>16</a:t>
                      </a:r>
                    </a:p>
                  </a:txBody>
                  <a:tcPr marL="73152" marR="73152" marT="27432" marB="27432" anchor="ctr">
                    <a:solidFill>
                      <a:srgbClr val="FFFFFF"/>
                    </a:solidFill>
                  </a:tcPr>
                </a:tc>
                <a:tc>
                  <a:txBody>
                    <a:bodyPr/>
                    <a:lstStyle/>
                    <a:p>
                      <a:pPr algn="ctr"/>
                      <a:r>
                        <a:rPr sz="1400" b="0">
                          <a:solidFill>
                            <a:srgbClr val="142B33"/>
                          </a:solidFill>
                          <a:latin typeface="Calibri"/>
                        </a:rPr>
                        <a:t>32</a:t>
                      </a:r>
                    </a:p>
                  </a:txBody>
                  <a:tcPr marL="73152" marR="73152" marT="27432" marB="27432" anchor="ctr">
                    <a:solidFill>
                      <a:srgbClr val="FFFFFF"/>
                    </a:solidFill>
                  </a:tcPr>
                </a:tc>
              </a:tr>
            </a:tbl>
          </a:graphicData>
        </a:graphic>
      </p:graphicFrame>
      <p:graphicFrame>
        <p:nvGraphicFramePr>
          <p:cNvPr id="5" name="Table 4"/>
          <p:cNvGraphicFramePr>
            <a:graphicFrameLocks noGrp="1"/>
          </p:cNvGraphicFramePr>
          <p:nvPr/>
        </p:nvGraphicFramePr>
        <p:xfrm>
          <a:off x="6087928" y="1417320"/>
          <a:ext cx="5555124" cy="2388861"/>
        </p:xfrm>
        <a:graphic>
          <a:graphicData uri="http://schemas.openxmlformats.org/drawingml/2006/table">
            <a:tbl>
              <a:tblPr firstRow="0" bandRow="0">
                <a:tableStyleId>{5C22544A-7EE6-4342-B048-85BDC9FD1C3A}</a:tableStyleId>
              </a:tblPr>
              <a:tblGrid>
                <a:gridCol w="3499008"/>
                <a:gridCol w="685372"/>
                <a:gridCol w="685372"/>
                <a:gridCol w="685372"/>
              </a:tblGrid>
              <a:tr h="265429">
                <a:tc>
                  <a:txBody>
                    <a:bodyPr/>
                    <a:lstStyle/>
                    <a:p>
                      <a:pPr algn="ctr"/>
                      <a:r>
                        <a:rPr sz="1300" b="1">
                          <a:solidFill>
                            <a:srgbClr val="FFFFFF"/>
                          </a:solidFill>
                          <a:latin typeface="Calibri"/>
                        </a:rPr>
                        <a:t>D (columna I)</a:t>
                      </a:r>
                    </a:p>
                  </a:txBody>
                  <a:tcPr marL="73152" marR="73152" marT="27432" marB="27432" anchor="ctr">
                    <a:solidFill>
                      <a:srgbClr val="0F4C5C"/>
                    </a:solidFill>
                  </a:tcPr>
                </a:tc>
                <a:tc>
                  <a:txBody>
                    <a:bodyPr/>
                    <a:lstStyle/>
                    <a:p>
                      <a:pPr algn="ctr"/>
                      <a:r>
                        <a:rPr sz="1300" b="1">
                          <a:solidFill>
                            <a:srgbClr val="FFFFFF"/>
                          </a:solidFill>
                          <a:latin typeface="Calibri"/>
                        </a:rPr>
                        <a:t>A</a:t>
                      </a:r>
                    </a:p>
                  </a:txBody>
                  <a:tcPr marL="73152" marR="73152" marT="27432" marB="27432" anchor="ctr">
                    <a:solidFill>
                      <a:srgbClr val="0F4C5C"/>
                    </a:solidFill>
                  </a:tcPr>
                </a:tc>
                <a:tc>
                  <a:txBody>
                    <a:bodyPr/>
                    <a:lstStyle/>
                    <a:p>
                      <a:pPr algn="ctr"/>
                      <a:r>
                        <a:rPr sz="1300" b="1">
                          <a:solidFill>
                            <a:srgbClr val="FFFFFF"/>
                          </a:solidFill>
                          <a:latin typeface="Calibri"/>
                        </a:rPr>
                        <a:t>B</a:t>
                      </a:r>
                    </a:p>
                  </a:txBody>
                  <a:tcPr marL="73152" marR="73152" marT="27432" marB="27432" anchor="ctr">
                    <a:solidFill>
                      <a:srgbClr val="0F4C5C"/>
                    </a:solidFill>
                  </a:tcPr>
                </a:tc>
                <a:tc>
                  <a:txBody>
                    <a:bodyPr/>
                    <a:lstStyle/>
                    <a:p>
                      <a:pPr algn="ctr"/>
                      <a:r>
                        <a:rPr sz="1300" b="1">
                          <a:solidFill>
                            <a:srgbClr val="FFFFFF"/>
                          </a:solidFill>
                          <a:latin typeface="Calibri"/>
                        </a:rPr>
                        <a:t>C</a:t>
                      </a:r>
                    </a:p>
                  </a:txBody>
                  <a:tcPr marL="73152" marR="73152" marT="27432" marB="27432" anchor="ctr">
                    <a:solidFill>
                      <a:srgbClr val="0F4C5C"/>
                    </a:solidFill>
                  </a:tcPr>
                </a:tc>
              </a:tr>
              <a:tr h="265429">
                <a:tc>
                  <a:txBody>
                    <a:bodyPr/>
                    <a:lstStyle/>
                    <a:p>
                      <a:pPr algn="ctr"/>
                      <a:r>
                        <a:rPr sz="1400" b="1">
                          <a:solidFill>
                            <a:srgbClr val="0F4C5C"/>
                          </a:solidFill>
                          <a:latin typeface="Calibri"/>
                        </a:rPr>
                        <a:t>+</a:t>
                      </a:r>
                    </a:p>
                  </a:txBody>
                  <a:tcPr marL="73152" marR="73152" marT="27432" marB="27432" anchor="ctr">
                    <a:solidFill>
                      <a:srgbClr val="FDE8D7"/>
                    </a:solidFill>
                  </a:tcPr>
                </a:tc>
                <a:tc>
                  <a:txBody>
                    <a:bodyPr/>
                    <a:lstStyle/>
                    <a:p>
                      <a:pPr algn="ctr"/>
                      <a:r>
                        <a:rPr sz="1400" b="1">
                          <a:solidFill>
                            <a:srgbClr val="E36414"/>
                          </a:solidFill>
                          <a:latin typeface="Calibri"/>
                        </a:rPr>
                        <a:t>−</a:t>
                      </a:r>
                    </a:p>
                  </a:txBody>
                  <a:tcPr marL="73152" marR="73152" marT="27432" marB="27432" anchor="ctr">
                    <a:solidFill>
                      <a:srgbClr val="FDE8D7"/>
                    </a:solidFill>
                  </a:tcPr>
                </a:tc>
                <a:tc>
                  <a:txBody>
                    <a:bodyPr/>
                    <a:lstStyle/>
                    <a:p>
                      <a:pPr algn="ctr"/>
                      <a:r>
                        <a:rPr sz="1400" b="1">
                          <a:solidFill>
                            <a:srgbClr val="E36414"/>
                          </a:solidFill>
                          <a:latin typeface="Calibri"/>
                        </a:rPr>
                        <a:t>−</a:t>
                      </a:r>
                    </a:p>
                  </a:txBody>
                  <a:tcPr marL="73152" marR="73152" marT="27432" marB="27432" anchor="ctr">
                    <a:solidFill>
                      <a:srgbClr val="FDE8D7"/>
                    </a:solidFill>
                  </a:tcPr>
                </a:tc>
                <a:tc>
                  <a:txBody>
                    <a:bodyPr/>
                    <a:lstStyle/>
                    <a:p>
                      <a:pPr algn="ctr"/>
                      <a:r>
                        <a:rPr sz="1400" b="1">
                          <a:solidFill>
                            <a:srgbClr val="0F4C5C"/>
                          </a:solidFill>
                          <a:latin typeface="Calibri"/>
                        </a:rPr>
                        <a:t>+</a:t>
                      </a:r>
                    </a:p>
                  </a:txBody>
                  <a:tcPr marL="73152" marR="73152" marT="27432" marB="27432" anchor="ctr">
                    <a:solidFill>
                      <a:srgbClr val="FDE8D7"/>
                    </a:solidFill>
                  </a:tcPr>
                </a:tc>
              </a:tr>
              <a:tr h="265429">
                <a:tc>
                  <a:txBody>
                    <a:bodyPr/>
                    <a:lstStyle/>
                    <a:p>
                      <a:pPr algn="ctr"/>
                      <a:r>
                        <a:rPr sz="1400" b="1">
                          <a:solidFill>
                            <a:srgbClr val="0F4C5C"/>
                          </a:solidFill>
                          <a:latin typeface="Calibri"/>
                        </a:rPr>
                        <a:t>+</a:t>
                      </a:r>
                    </a:p>
                  </a:txBody>
                  <a:tcPr marL="73152" marR="73152" marT="27432" marB="27432" anchor="ctr">
                    <a:solidFill>
                      <a:srgbClr val="FDE8D7"/>
                    </a:solidFill>
                  </a:tcPr>
                </a:tc>
                <a:tc>
                  <a:txBody>
                    <a:bodyPr/>
                    <a:lstStyle/>
                    <a:p>
                      <a:pPr algn="ctr"/>
                      <a:r>
                        <a:rPr sz="1400" b="1">
                          <a:solidFill>
                            <a:srgbClr val="0F4C5C"/>
                          </a:solidFill>
                          <a:latin typeface="Calibri"/>
                        </a:rPr>
                        <a:t>+</a:t>
                      </a:r>
                    </a:p>
                  </a:txBody>
                  <a:tcPr marL="73152" marR="73152" marT="27432" marB="27432" anchor="ctr">
                    <a:solidFill>
                      <a:srgbClr val="FDE8D7"/>
                    </a:solidFill>
                  </a:tcPr>
                </a:tc>
                <a:tc>
                  <a:txBody>
                    <a:bodyPr/>
                    <a:lstStyle/>
                    <a:p>
                      <a:pPr algn="ctr"/>
                      <a:r>
                        <a:rPr sz="1400" b="1">
                          <a:solidFill>
                            <a:srgbClr val="E36414"/>
                          </a:solidFill>
                          <a:latin typeface="Calibri"/>
                        </a:rPr>
                        <a:t>−</a:t>
                      </a:r>
                    </a:p>
                  </a:txBody>
                  <a:tcPr marL="73152" marR="73152" marT="27432" marB="27432" anchor="ctr">
                    <a:solidFill>
                      <a:srgbClr val="FDE8D7"/>
                    </a:solidFill>
                  </a:tcPr>
                </a:tc>
                <a:tc>
                  <a:txBody>
                    <a:bodyPr/>
                    <a:lstStyle/>
                    <a:p>
                      <a:pPr algn="ctr"/>
                      <a:r>
                        <a:rPr sz="1400" b="1">
                          <a:solidFill>
                            <a:srgbClr val="E36414"/>
                          </a:solidFill>
                          <a:latin typeface="Calibri"/>
                        </a:rPr>
                        <a:t>−</a:t>
                      </a:r>
                    </a:p>
                  </a:txBody>
                  <a:tcPr marL="73152" marR="73152" marT="27432" marB="27432" anchor="ctr">
                    <a:solidFill>
                      <a:srgbClr val="FDE8D7"/>
                    </a:solidFill>
                  </a:tcPr>
                </a:tc>
              </a:tr>
              <a:tr h="265429">
                <a:tc>
                  <a:txBody>
                    <a:bodyPr/>
                    <a:lstStyle/>
                    <a:p>
                      <a:pPr algn="ctr"/>
                      <a:r>
                        <a:rPr sz="1400" b="1">
                          <a:solidFill>
                            <a:srgbClr val="0F4C5C"/>
                          </a:solidFill>
                          <a:latin typeface="Calibri"/>
                        </a:rPr>
                        <a:t>+</a:t>
                      </a:r>
                    </a:p>
                  </a:txBody>
                  <a:tcPr marL="73152" marR="73152" marT="27432" marB="27432" anchor="ctr">
                    <a:solidFill>
                      <a:srgbClr val="FDE8D7"/>
                    </a:solidFill>
                  </a:tcPr>
                </a:tc>
                <a:tc>
                  <a:txBody>
                    <a:bodyPr/>
                    <a:lstStyle/>
                    <a:p>
                      <a:pPr algn="ctr"/>
                      <a:r>
                        <a:rPr sz="1400" b="1">
                          <a:solidFill>
                            <a:srgbClr val="E36414"/>
                          </a:solidFill>
                          <a:latin typeface="Calibri"/>
                        </a:rPr>
                        <a:t>−</a:t>
                      </a:r>
                    </a:p>
                  </a:txBody>
                  <a:tcPr marL="73152" marR="73152" marT="27432" marB="27432" anchor="ctr">
                    <a:solidFill>
                      <a:srgbClr val="FDE8D7"/>
                    </a:solidFill>
                  </a:tcPr>
                </a:tc>
                <a:tc>
                  <a:txBody>
                    <a:bodyPr/>
                    <a:lstStyle/>
                    <a:p>
                      <a:pPr algn="ctr"/>
                      <a:r>
                        <a:rPr sz="1400" b="1">
                          <a:solidFill>
                            <a:srgbClr val="0F4C5C"/>
                          </a:solidFill>
                          <a:latin typeface="Calibri"/>
                        </a:rPr>
                        <a:t>+</a:t>
                      </a:r>
                    </a:p>
                  </a:txBody>
                  <a:tcPr marL="73152" marR="73152" marT="27432" marB="27432" anchor="ctr">
                    <a:solidFill>
                      <a:srgbClr val="FDE8D7"/>
                    </a:solidFill>
                  </a:tcPr>
                </a:tc>
                <a:tc>
                  <a:txBody>
                    <a:bodyPr/>
                    <a:lstStyle/>
                    <a:p>
                      <a:pPr algn="ctr"/>
                      <a:r>
                        <a:rPr sz="1400" b="1">
                          <a:solidFill>
                            <a:srgbClr val="E36414"/>
                          </a:solidFill>
                          <a:latin typeface="Calibri"/>
                        </a:rPr>
                        <a:t>−</a:t>
                      </a:r>
                    </a:p>
                  </a:txBody>
                  <a:tcPr marL="73152" marR="73152" marT="27432" marB="27432" anchor="ctr">
                    <a:solidFill>
                      <a:srgbClr val="FDE8D7"/>
                    </a:solidFill>
                  </a:tcPr>
                </a:tc>
              </a:tr>
              <a:tr h="265429">
                <a:tc>
                  <a:txBody>
                    <a:bodyPr/>
                    <a:lstStyle/>
                    <a:p>
                      <a:pPr algn="ctr"/>
                      <a:r>
                        <a:rPr sz="1400" b="1">
                          <a:solidFill>
                            <a:srgbClr val="0F4C5C"/>
                          </a:solidFill>
                          <a:latin typeface="Calibri"/>
                        </a:rPr>
                        <a:t>+</a:t>
                      </a:r>
                    </a:p>
                  </a:txBody>
                  <a:tcPr marL="73152" marR="73152" marT="27432" marB="27432" anchor="ctr">
                    <a:solidFill>
                      <a:srgbClr val="FDE8D7"/>
                    </a:solidFill>
                  </a:tcPr>
                </a:tc>
                <a:tc>
                  <a:txBody>
                    <a:bodyPr/>
                    <a:lstStyle/>
                    <a:p>
                      <a:pPr algn="ctr"/>
                      <a:r>
                        <a:rPr sz="1400" b="1">
                          <a:solidFill>
                            <a:srgbClr val="0F4C5C"/>
                          </a:solidFill>
                          <a:latin typeface="Calibri"/>
                        </a:rPr>
                        <a:t>+</a:t>
                      </a:r>
                    </a:p>
                  </a:txBody>
                  <a:tcPr marL="73152" marR="73152" marT="27432" marB="27432" anchor="ctr">
                    <a:solidFill>
                      <a:srgbClr val="FDE8D7"/>
                    </a:solidFill>
                  </a:tcPr>
                </a:tc>
                <a:tc>
                  <a:txBody>
                    <a:bodyPr/>
                    <a:lstStyle/>
                    <a:p>
                      <a:pPr algn="ctr"/>
                      <a:r>
                        <a:rPr sz="1400" b="1">
                          <a:solidFill>
                            <a:srgbClr val="0F4C5C"/>
                          </a:solidFill>
                          <a:latin typeface="Calibri"/>
                        </a:rPr>
                        <a:t>+</a:t>
                      </a:r>
                    </a:p>
                  </a:txBody>
                  <a:tcPr marL="73152" marR="73152" marT="27432" marB="27432" anchor="ctr">
                    <a:solidFill>
                      <a:srgbClr val="FDE8D7"/>
                    </a:solidFill>
                  </a:tcPr>
                </a:tc>
                <a:tc>
                  <a:txBody>
                    <a:bodyPr/>
                    <a:lstStyle/>
                    <a:p>
                      <a:pPr algn="ctr"/>
                      <a:r>
                        <a:rPr sz="1400" b="1">
                          <a:solidFill>
                            <a:srgbClr val="0F4C5C"/>
                          </a:solidFill>
                          <a:latin typeface="Calibri"/>
                        </a:rPr>
                        <a:t>+</a:t>
                      </a:r>
                    </a:p>
                  </a:txBody>
                  <a:tcPr marL="73152" marR="73152" marT="27432" marB="27432" anchor="ctr">
                    <a:solidFill>
                      <a:srgbClr val="FDE8D7"/>
                    </a:solidFill>
                  </a:tcPr>
                </a:tc>
              </a:tr>
              <a:tr h="265429">
                <a:tc>
                  <a:txBody>
                    <a:bodyPr/>
                    <a:lstStyle/>
                    <a:p>
                      <a:pPr algn="ctr"/>
                      <a:r>
                        <a:rPr sz="1400" b="1">
                          <a:solidFill>
                            <a:srgbClr val="E36414"/>
                          </a:solidFill>
                          <a:latin typeface="Calibri"/>
                        </a:rPr>
                        <a:t>−</a:t>
                      </a:r>
                    </a:p>
                  </a:txBody>
                  <a:tcPr marL="73152" marR="73152" marT="27432" marB="27432" anchor="ctr">
                    <a:solidFill>
                      <a:srgbClr val="FFFFFF"/>
                    </a:solidFill>
                  </a:tcPr>
                </a:tc>
                <a:tc>
                  <a:txBody>
                    <a:bodyPr/>
                    <a:lstStyle/>
                    <a:p>
                      <a:pPr algn="ctr"/>
                      <a:r>
                        <a:rPr sz="1400" b="1">
                          <a:solidFill>
                            <a:srgbClr val="0F4C5C"/>
                          </a:solidFill>
                          <a:latin typeface="Calibri"/>
                        </a:rPr>
                        <a:t>+</a:t>
                      </a:r>
                    </a:p>
                  </a:txBody>
                  <a:tcPr marL="73152" marR="73152" marT="27432" marB="27432" anchor="ctr">
                    <a:solidFill>
                      <a:srgbClr val="FFFFFF"/>
                    </a:solidFill>
                  </a:tcPr>
                </a:tc>
                <a:tc>
                  <a:txBody>
                    <a:bodyPr/>
                    <a:lstStyle/>
                    <a:p>
                      <a:pPr algn="ctr"/>
                      <a:r>
                        <a:rPr sz="1400" b="1">
                          <a:solidFill>
                            <a:srgbClr val="0F4C5C"/>
                          </a:solidFill>
                          <a:latin typeface="Calibri"/>
                        </a:rPr>
                        <a:t>+</a:t>
                      </a:r>
                    </a:p>
                  </a:txBody>
                  <a:tcPr marL="73152" marR="73152" marT="27432" marB="27432" anchor="ctr">
                    <a:solidFill>
                      <a:srgbClr val="FFFFFF"/>
                    </a:solidFill>
                  </a:tcPr>
                </a:tc>
                <a:tc>
                  <a:txBody>
                    <a:bodyPr/>
                    <a:lstStyle/>
                    <a:p>
                      <a:pPr algn="ctr"/>
                      <a:r>
                        <a:rPr sz="1400" b="1">
                          <a:solidFill>
                            <a:srgbClr val="E36414"/>
                          </a:solidFill>
                          <a:latin typeface="Calibri"/>
                        </a:rPr>
                        <a:t>−</a:t>
                      </a:r>
                    </a:p>
                  </a:txBody>
                  <a:tcPr marL="73152" marR="73152" marT="27432" marB="27432" anchor="ctr">
                    <a:solidFill>
                      <a:srgbClr val="FFFFFF"/>
                    </a:solidFill>
                  </a:tcPr>
                </a:tc>
              </a:tr>
              <a:tr h="265429">
                <a:tc>
                  <a:txBody>
                    <a:bodyPr/>
                    <a:lstStyle/>
                    <a:p>
                      <a:pPr algn="ctr"/>
                      <a:r>
                        <a:rPr sz="1400" b="1">
                          <a:solidFill>
                            <a:srgbClr val="E36414"/>
                          </a:solidFill>
                          <a:latin typeface="Calibri"/>
                        </a:rPr>
                        <a:t>−</a:t>
                      </a:r>
                    </a:p>
                  </a:txBody>
                  <a:tcPr marL="73152" marR="73152" marT="27432" marB="27432" anchor="ctr">
                    <a:solidFill>
                      <a:srgbClr val="F4F8F9"/>
                    </a:solidFill>
                  </a:tcPr>
                </a:tc>
                <a:tc>
                  <a:txBody>
                    <a:bodyPr/>
                    <a:lstStyle/>
                    <a:p>
                      <a:pPr algn="ctr"/>
                      <a:r>
                        <a:rPr sz="1400" b="1">
                          <a:solidFill>
                            <a:srgbClr val="E36414"/>
                          </a:solidFill>
                          <a:latin typeface="Calibri"/>
                        </a:rPr>
                        <a:t>−</a:t>
                      </a:r>
                    </a:p>
                  </a:txBody>
                  <a:tcPr marL="73152" marR="73152" marT="27432" marB="27432" anchor="ctr">
                    <a:solidFill>
                      <a:srgbClr val="F4F8F9"/>
                    </a:solidFill>
                  </a:tcPr>
                </a:tc>
                <a:tc>
                  <a:txBody>
                    <a:bodyPr/>
                    <a:lstStyle/>
                    <a:p>
                      <a:pPr algn="ctr"/>
                      <a:r>
                        <a:rPr sz="1400" b="1">
                          <a:solidFill>
                            <a:srgbClr val="0F4C5C"/>
                          </a:solidFill>
                          <a:latin typeface="Calibri"/>
                        </a:rPr>
                        <a:t>+</a:t>
                      </a:r>
                    </a:p>
                  </a:txBody>
                  <a:tcPr marL="73152" marR="73152" marT="27432" marB="27432" anchor="ctr">
                    <a:solidFill>
                      <a:srgbClr val="F4F8F9"/>
                    </a:solidFill>
                  </a:tcPr>
                </a:tc>
                <a:tc>
                  <a:txBody>
                    <a:bodyPr/>
                    <a:lstStyle/>
                    <a:p>
                      <a:pPr algn="ctr"/>
                      <a:r>
                        <a:rPr sz="1400" b="1">
                          <a:solidFill>
                            <a:srgbClr val="0F4C5C"/>
                          </a:solidFill>
                          <a:latin typeface="Calibri"/>
                        </a:rPr>
                        <a:t>+</a:t>
                      </a:r>
                    </a:p>
                  </a:txBody>
                  <a:tcPr marL="73152" marR="73152" marT="27432" marB="27432" anchor="ctr">
                    <a:solidFill>
                      <a:srgbClr val="F4F8F9"/>
                    </a:solidFill>
                  </a:tcPr>
                </a:tc>
              </a:tr>
              <a:tr h="265429">
                <a:tc>
                  <a:txBody>
                    <a:bodyPr/>
                    <a:lstStyle/>
                    <a:p>
                      <a:pPr algn="ctr"/>
                      <a:r>
                        <a:rPr sz="1400" b="1">
                          <a:solidFill>
                            <a:srgbClr val="E36414"/>
                          </a:solidFill>
                          <a:latin typeface="Calibri"/>
                        </a:rPr>
                        <a:t>−</a:t>
                      </a:r>
                    </a:p>
                  </a:txBody>
                  <a:tcPr marL="73152" marR="73152" marT="27432" marB="27432" anchor="ctr">
                    <a:solidFill>
                      <a:srgbClr val="FFFFFF"/>
                    </a:solidFill>
                  </a:tcPr>
                </a:tc>
                <a:tc>
                  <a:txBody>
                    <a:bodyPr/>
                    <a:lstStyle/>
                    <a:p>
                      <a:pPr algn="ctr"/>
                      <a:r>
                        <a:rPr sz="1400" b="1">
                          <a:solidFill>
                            <a:srgbClr val="0F4C5C"/>
                          </a:solidFill>
                          <a:latin typeface="Calibri"/>
                        </a:rPr>
                        <a:t>+</a:t>
                      </a:r>
                    </a:p>
                  </a:txBody>
                  <a:tcPr marL="73152" marR="73152" marT="27432" marB="27432" anchor="ctr">
                    <a:solidFill>
                      <a:srgbClr val="FFFFFF"/>
                    </a:solidFill>
                  </a:tcPr>
                </a:tc>
                <a:tc>
                  <a:txBody>
                    <a:bodyPr/>
                    <a:lstStyle/>
                    <a:p>
                      <a:pPr algn="ctr"/>
                      <a:r>
                        <a:rPr sz="1400" b="1">
                          <a:solidFill>
                            <a:srgbClr val="E36414"/>
                          </a:solidFill>
                          <a:latin typeface="Calibri"/>
                        </a:rPr>
                        <a:t>−</a:t>
                      </a:r>
                    </a:p>
                  </a:txBody>
                  <a:tcPr marL="73152" marR="73152" marT="27432" marB="27432" anchor="ctr">
                    <a:solidFill>
                      <a:srgbClr val="FFFFFF"/>
                    </a:solidFill>
                  </a:tcPr>
                </a:tc>
                <a:tc>
                  <a:txBody>
                    <a:bodyPr/>
                    <a:lstStyle/>
                    <a:p>
                      <a:pPr algn="ctr"/>
                      <a:r>
                        <a:rPr sz="1400" b="1">
                          <a:solidFill>
                            <a:srgbClr val="0F4C5C"/>
                          </a:solidFill>
                          <a:latin typeface="Calibri"/>
                        </a:rPr>
                        <a:t>+</a:t>
                      </a:r>
                    </a:p>
                  </a:txBody>
                  <a:tcPr marL="73152" marR="73152" marT="27432" marB="27432" anchor="ctr">
                    <a:solidFill>
                      <a:srgbClr val="FFFFFF"/>
                    </a:solidFill>
                  </a:tcPr>
                </a:tc>
              </a:tr>
              <a:tr h="265429">
                <a:tc>
                  <a:txBody>
                    <a:bodyPr/>
                    <a:lstStyle/>
                    <a:p>
                      <a:pPr algn="ctr"/>
                      <a:r>
                        <a:rPr sz="1400" b="1">
                          <a:solidFill>
                            <a:srgbClr val="E36414"/>
                          </a:solidFill>
                          <a:latin typeface="Calibri"/>
                        </a:rPr>
                        <a:t>−</a:t>
                      </a:r>
                    </a:p>
                  </a:txBody>
                  <a:tcPr marL="73152" marR="73152" marT="27432" marB="27432" anchor="ctr">
                    <a:solidFill>
                      <a:srgbClr val="F4F8F9"/>
                    </a:solidFill>
                  </a:tcPr>
                </a:tc>
                <a:tc>
                  <a:txBody>
                    <a:bodyPr/>
                    <a:lstStyle/>
                    <a:p>
                      <a:pPr algn="ctr"/>
                      <a:r>
                        <a:rPr sz="1400" b="1">
                          <a:solidFill>
                            <a:srgbClr val="E36414"/>
                          </a:solidFill>
                          <a:latin typeface="Calibri"/>
                        </a:rPr>
                        <a:t>−</a:t>
                      </a:r>
                    </a:p>
                  </a:txBody>
                  <a:tcPr marL="73152" marR="73152" marT="27432" marB="27432" anchor="ctr">
                    <a:solidFill>
                      <a:srgbClr val="F4F8F9"/>
                    </a:solidFill>
                  </a:tcPr>
                </a:tc>
                <a:tc>
                  <a:txBody>
                    <a:bodyPr/>
                    <a:lstStyle/>
                    <a:p>
                      <a:pPr algn="ctr"/>
                      <a:r>
                        <a:rPr sz="1400" b="1">
                          <a:solidFill>
                            <a:srgbClr val="E36414"/>
                          </a:solidFill>
                          <a:latin typeface="Calibri"/>
                        </a:rPr>
                        <a:t>−</a:t>
                      </a:r>
                    </a:p>
                  </a:txBody>
                  <a:tcPr marL="73152" marR="73152" marT="27432" marB="27432" anchor="ctr">
                    <a:solidFill>
                      <a:srgbClr val="F4F8F9"/>
                    </a:solidFill>
                  </a:tcPr>
                </a:tc>
                <a:tc>
                  <a:txBody>
                    <a:bodyPr/>
                    <a:lstStyle/>
                    <a:p>
                      <a:pPr algn="ctr"/>
                      <a:r>
                        <a:rPr sz="1400" b="1">
                          <a:solidFill>
                            <a:srgbClr val="E36414"/>
                          </a:solidFill>
                          <a:latin typeface="Calibri"/>
                        </a:rPr>
                        <a:t>−</a:t>
                      </a:r>
                    </a:p>
                  </a:txBody>
                  <a:tcPr marL="73152" marR="73152" marT="27432" marB="27432" anchor="ctr">
                    <a:solidFill>
                      <a:srgbClr val="F4F8F9"/>
                    </a:solidFill>
                  </a:tcPr>
                </a:tc>
              </a:tr>
            </a:tbl>
          </a:graphicData>
        </a:graphic>
      </p:graphicFrame>
      <p:sp>
        <p:nvSpPr>
          <p:cNvPr id="6" name="TextBox 5"/>
          <p:cNvSpPr txBox="1"/>
          <p:nvPr/>
        </p:nvSpPr>
        <p:spPr>
          <a:xfrm>
            <a:off x="6087928" y="4007358"/>
            <a:ext cx="5555126" cy="1032256"/>
          </a:xfrm>
          <a:prstGeom prst="rect">
            <a:avLst/>
          </a:prstGeom>
          <a:noFill/>
        </p:spPr>
        <p:txBody>
          <a:bodyPr wrap="square" anchor="t" lIns="0" rIns="0" tIns="0" bIns="0">
            <a:spAutoFit/>
          </a:bodyPr>
          <a:lstStyle/>
          <a:p>
            <a:pPr marL="320040" indent="-320040">
              <a:spcAft>
                <a:spcPts val="600"/>
              </a:spcAft>
              <a:buClr>
                <a:srgbClr val="E36414"/>
              </a:buClr>
              <a:buFont typeface="+mj-lt"/>
              <a:buAutoNum type="arabicPeriod"/>
            </a:pPr>
            <a:r>
              <a:rPr sz="1400" b="0">
                <a:solidFill>
                  <a:srgbClr val="142B33"/>
                </a:solidFill>
                <a:latin typeface="Calibri"/>
              </a:rPr>
              <a:t>Tomar el </a:t>
            </a:r>
            <a:r>
              <a:rPr sz="1400" b="1">
                <a:solidFill>
                  <a:srgbClr val="142B33"/>
                </a:solidFill>
                <a:latin typeface="Calibri"/>
              </a:rPr>
              <a:t>2</a:t>
            </a:r>
            <a:r>
              <a:rPr sz="1400" b="1" baseline="30000">
                <a:solidFill>
                  <a:srgbClr val="142B33"/>
                </a:solidFill>
                <a:latin typeface="Calibri"/>
              </a:rPr>
              <a:t>k−p</a:t>
            </a:r>
            <a:r>
              <a:rPr sz="1400" b="1" baseline="-25000">
                <a:solidFill>
                  <a:srgbClr val="142B33"/>
                </a:solidFill>
                <a:latin typeface="Calibri"/>
              </a:rPr>
              <a:t>III</a:t>
            </a:r>
            <a:r>
              <a:rPr sz="1400" b="0">
                <a:solidFill>
                  <a:srgbClr val="142B33"/>
                </a:solidFill>
                <a:latin typeface="Calibri"/>
              </a:rPr>
              <a:t> y agregar la fracción con </a:t>
            </a:r>
            <a:r>
              <a:rPr sz="1400" b="1">
                <a:solidFill>
                  <a:srgbClr val="142B33"/>
                </a:solidFill>
                <a:latin typeface="Calibri"/>
              </a:rPr>
              <a:t>todos los signos invertidos</a:t>
            </a:r>
          </a:p>
          <a:p>
            <a:pPr marL="320040" indent="-320040">
              <a:spcAft>
                <a:spcPts val="600"/>
              </a:spcAft>
              <a:buClr>
                <a:srgbClr val="E36414"/>
              </a:buClr>
              <a:buFont typeface="+mj-lt"/>
              <a:buAutoNum type="arabicPeriod"/>
            </a:pPr>
            <a:r>
              <a:rPr sz="1400" b="0">
                <a:solidFill>
                  <a:srgbClr val="142B33"/>
                </a:solidFill>
                <a:latin typeface="Calibri"/>
              </a:rPr>
              <a:t>La columna </a:t>
            </a:r>
            <a:r>
              <a:rPr sz="1400" b="1">
                <a:solidFill>
                  <a:srgbClr val="142B33"/>
                </a:solidFill>
                <a:latin typeface="Calibri"/>
              </a:rPr>
              <a:t>I</a:t>
            </a:r>
            <a:r>
              <a:rPr sz="1400" b="0">
                <a:solidFill>
                  <a:srgbClr val="142B33"/>
                </a:solidFill>
                <a:latin typeface="Calibri"/>
              </a:rPr>
              <a:t> pasa de + a −: se asigna al factor </a:t>
            </a:r>
            <a:r>
              <a:rPr sz="1400" b="1">
                <a:solidFill>
                  <a:srgbClr val="142B33"/>
                </a:solidFill>
                <a:latin typeface="Calibri"/>
              </a:rPr>
              <a:t>k + 1</a:t>
            </a:r>
            <a:r>
              <a:rPr sz="1400" b="0">
                <a:solidFill>
                  <a:srgbClr val="142B33"/>
                </a:solidFill>
                <a:latin typeface="Calibri"/>
              </a:rPr>
              <a:t>  ⇒  2</a:t>
            </a:r>
            <a:r>
              <a:rPr sz="1400" b="0" baseline="30000">
                <a:solidFill>
                  <a:srgbClr val="142B33"/>
                </a:solidFill>
                <a:latin typeface="Calibri"/>
              </a:rPr>
              <a:t>3−1</a:t>
            </a:r>
            <a:r>
              <a:rPr sz="1400" b="0" baseline="-25000">
                <a:solidFill>
                  <a:srgbClr val="142B33"/>
                </a:solidFill>
                <a:latin typeface="Calibri"/>
              </a:rPr>
              <a:t>III</a:t>
            </a:r>
            <a:r>
              <a:rPr sz="1400" b="0">
                <a:solidFill>
                  <a:srgbClr val="142B33"/>
                </a:solidFill>
                <a:latin typeface="Calibri"/>
              </a:rPr>
              <a:t> → 2</a:t>
            </a:r>
            <a:r>
              <a:rPr sz="1400" b="0" baseline="30000">
                <a:solidFill>
                  <a:srgbClr val="142B33"/>
                </a:solidFill>
                <a:latin typeface="Calibri"/>
              </a:rPr>
              <a:t>4−1</a:t>
            </a:r>
            <a:r>
              <a:rPr sz="1400" b="0" baseline="-25000">
                <a:solidFill>
                  <a:srgbClr val="142B33"/>
                </a:solidFill>
                <a:latin typeface="Calibri"/>
              </a:rPr>
              <a:t>IV</a:t>
            </a:r>
            <a:r>
              <a:rPr sz="1400" b="0">
                <a:solidFill>
                  <a:srgbClr val="142B33"/>
                </a:solidFill>
                <a:latin typeface="Calibri"/>
              </a:rPr>
              <a:t>, I = ABCD</a:t>
            </a:r>
          </a:p>
        </p:txBody>
      </p:sp>
      <p:sp>
        <p:nvSpPr>
          <p:cNvPr id="7" name="TextBox 6"/>
          <p:cNvSpPr txBox="1"/>
          <p:nvPr/>
        </p:nvSpPr>
        <p:spPr>
          <a:xfrm>
            <a:off x="6087928" y="5240782"/>
            <a:ext cx="5555126" cy="408432"/>
          </a:xfrm>
          <a:prstGeom prst="rect">
            <a:avLst/>
          </a:prstGeom>
          <a:noFill/>
        </p:spPr>
        <p:txBody>
          <a:bodyPr wrap="square" anchor="t" lIns="0" rIns="0" tIns="0" bIns="0">
            <a:spAutoFit/>
          </a:bodyPr>
          <a:lstStyle/>
          <a:p>
            <a:r>
              <a:rPr sz="1200" b="0">
                <a:solidFill>
                  <a:srgbClr val="5B6B73"/>
                </a:solidFill>
                <a:latin typeface="Calibri"/>
              </a:rPr>
              <a:t>Tabla 8-27 del libro: arriba la fracción original (I = ABC), abajo la invertida</a:t>
            </a:r>
          </a:p>
        </p:txBody>
      </p:sp>
      <p:sp>
        <p:nvSpPr>
          <p:cNvPr id="8" name="TextBox 7"/>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Diseños de resolución IV y V</a:t>
            </a:r>
          </a:p>
        </p:txBody>
      </p:sp>
      <p:sp>
        <p:nvSpPr>
          <p:cNvPr id="9" name="TextBox 8"/>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108</a:t>
            </a:r>
          </a:p>
        </p:txBody>
      </p:sp>
      <p:sp>
        <p:nvSpPr>
          <p:cNvPr id="10" name="Rounded Rectangle 9"/>
          <p:cNvSpPr/>
          <p:nvPr/>
        </p:nvSpPr>
        <p:spPr>
          <a:xfrm>
            <a:off x="548640" y="91440"/>
            <a:ext cx="3287268"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9 · Diseños de resolución IV y V</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¿Cómo se dobla un diseño de resolución IV?</a:t>
            </a:r>
          </a:p>
        </p:txBody>
      </p:sp>
      <p:graphicFrame>
        <p:nvGraphicFramePr>
          <p:cNvPr id="3" name="Table 2"/>
          <p:cNvGraphicFramePr>
            <a:graphicFrameLocks noGrp="1"/>
          </p:cNvGraphicFramePr>
          <p:nvPr/>
        </p:nvGraphicFramePr>
        <p:xfrm>
          <a:off x="548640" y="1417320"/>
          <a:ext cx="11094413" cy="1224279"/>
        </p:xfrm>
        <a:graphic>
          <a:graphicData uri="http://schemas.openxmlformats.org/drawingml/2006/table">
            <a:tbl>
              <a:tblPr firstRow="0" bandRow="0">
                <a:tableStyleId>{5C22544A-7EE6-4342-B048-85BDC9FD1C3A}</a:tableStyleId>
              </a:tblPr>
              <a:tblGrid>
                <a:gridCol w="2995492"/>
                <a:gridCol w="2662659"/>
                <a:gridCol w="2551715"/>
                <a:gridCol w="2884547"/>
              </a:tblGrid>
              <a:tr h="552703">
                <a:tc>
                  <a:txBody>
                    <a:bodyPr/>
                    <a:lstStyle/>
                    <a:p>
                      <a:pPr algn="l"/>
                      <a:r>
                        <a:rPr sz="1400" b="1">
                          <a:solidFill>
                            <a:srgbClr val="FFFFFF"/>
                          </a:solidFill>
                          <a:latin typeface="Calibri"/>
                        </a:rPr>
                        <a:t>Diseño original</a:t>
                      </a:r>
                    </a:p>
                  </a:txBody>
                  <a:tcPr marL="73152" marR="73152" marT="27432" marB="27432" anchor="ctr">
                    <a:solidFill>
                      <a:srgbClr val="0F4C5C"/>
                    </a:solidFill>
                  </a:tcPr>
                </a:tc>
                <a:tc>
                  <a:txBody>
                    <a:bodyPr/>
                    <a:lstStyle/>
                    <a:p>
                      <a:pPr algn="ctr"/>
                      <a:r>
                        <a:rPr sz="1400" b="1">
                          <a:solidFill>
                            <a:srgbClr val="FFFFFF"/>
                          </a:solidFill>
                          <a:latin typeface="Calibri"/>
                        </a:rPr>
                        <a:t>Segunda fracción</a:t>
                      </a:r>
                    </a:p>
                  </a:txBody>
                  <a:tcPr marL="73152" marR="73152" marT="27432" marB="27432" anchor="ctr">
                    <a:solidFill>
                      <a:srgbClr val="0F4C5C"/>
                    </a:solidFill>
                  </a:tcPr>
                </a:tc>
                <a:tc>
                  <a:txBody>
                    <a:bodyPr/>
                    <a:lstStyle/>
                    <a:p>
                      <a:pPr algn="ctr"/>
                      <a:r>
                        <a:rPr sz="1400" b="1">
                          <a:solidFill>
                            <a:srgbClr val="FFFFFF"/>
                          </a:solidFill>
                          <a:latin typeface="Calibri"/>
                        </a:rPr>
                        <a:t>Diseño combinado</a:t>
                      </a:r>
                    </a:p>
                  </a:txBody>
                  <a:tcPr marL="73152" marR="73152" marT="27432" marB="27432" anchor="ctr">
                    <a:solidFill>
                      <a:srgbClr val="0F4C5C"/>
                    </a:solidFill>
                  </a:tcPr>
                </a:tc>
                <a:tc>
                  <a:txBody>
                    <a:bodyPr/>
                    <a:lstStyle/>
                    <a:p>
                      <a:pPr algn="ctr"/>
                      <a:r>
                        <a:rPr sz="1400" b="1">
                          <a:solidFill>
                            <a:srgbClr val="FFFFFF"/>
                          </a:solidFill>
                          <a:latin typeface="Calibri"/>
                        </a:rPr>
                        <a:t>Interacciones dobles que siguen aliadas</a:t>
                      </a:r>
                    </a:p>
                  </a:txBody>
                  <a:tcPr marL="73152" marR="73152" marT="27432" marB="27432" anchor="ctr">
                    <a:solidFill>
                      <a:srgbClr val="0F4C5C"/>
                    </a:solidFill>
                  </a:tcPr>
                </a:tc>
              </a:tr>
              <a:tr h="335788">
                <a:tc>
                  <a:txBody>
                    <a:bodyPr/>
                    <a:lstStyle/>
                    <a:p>
                      <a:pPr algn="l"/>
                      <a:r>
                        <a:rPr sz="1400" b="0">
                          <a:solidFill>
                            <a:srgbClr val="142B33"/>
                          </a:solidFill>
                          <a:latin typeface="Calibri"/>
                        </a:rPr>
                        <a:t>2</a:t>
                      </a:r>
                      <a:r>
                        <a:rPr sz="1400" b="0" baseline="30000">
                          <a:solidFill>
                            <a:srgbClr val="142B33"/>
                          </a:solidFill>
                          <a:latin typeface="Calibri"/>
                        </a:rPr>
                        <a:t>6−2</a:t>
                      </a:r>
                      <a:r>
                        <a:rPr sz="1400" b="0" baseline="-25000">
                          <a:solidFill>
                            <a:srgbClr val="142B33"/>
                          </a:solidFill>
                          <a:latin typeface="Calibri"/>
                        </a:rPr>
                        <a:t>IV</a:t>
                      </a:r>
                      <a:r>
                        <a:rPr sz="1400" b="0">
                          <a:solidFill>
                            <a:srgbClr val="142B33"/>
                          </a:solidFill>
                          <a:latin typeface="Calibri"/>
                        </a:rPr>
                        <a:t>:  I = ABCE,  I = BCDF</a:t>
                      </a:r>
                    </a:p>
                  </a:txBody>
                  <a:tcPr marL="73152" marR="73152" marT="27432" marB="27432" anchor="ctr">
                    <a:solidFill>
                      <a:srgbClr val="FFFFFF"/>
                    </a:solidFill>
                  </a:tcPr>
                </a:tc>
                <a:tc>
                  <a:txBody>
                    <a:bodyPr/>
                    <a:lstStyle/>
                    <a:p>
                      <a:pPr algn="ctr"/>
                      <a:r>
                        <a:rPr sz="1400" b="0">
                          <a:solidFill>
                            <a:srgbClr val="142B33"/>
                          </a:solidFill>
                          <a:latin typeface="Calibri"/>
                        </a:rPr>
                        <a:t>I = −ABCE,  I = −BCDF</a:t>
                      </a:r>
                    </a:p>
                  </a:txBody>
                  <a:tcPr marL="73152" marR="73152" marT="27432" marB="27432" anchor="ctr">
                    <a:solidFill>
                      <a:srgbClr val="FFFFFF"/>
                    </a:solidFill>
                  </a:tcPr>
                </a:tc>
                <a:tc>
                  <a:txBody>
                    <a:bodyPr/>
                    <a:lstStyle/>
                    <a:p>
                      <a:pPr algn="ctr"/>
                      <a:r>
                        <a:rPr sz="1400" b="0">
                          <a:solidFill>
                            <a:srgbClr val="142B33"/>
                          </a:solidFill>
                          <a:latin typeface="Calibri"/>
                        </a:rPr>
                        <a:t>I = ADEF</a:t>
                      </a:r>
                    </a:p>
                  </a:txBody>
                  <a:tcPr marL="73152" marR="73152" marT="27432" marB="27432" anchor="ctr">
                    <a:solidFill>
                      <a:srgbClr val="FFFFFF"/>
                    </a:solidFill>
                  </a:tcPr>
                </a:tc>
                <a:tc>
                  <a:txBody>
                    <a:bodyPr/>
                    <a:lstStyle/>
                    <a:p>
                      <a:pPr algn="ctr"/>
                      <a:r>
                        <a:rPr sz="1400" b="0">
                          <a:solidFill>
                            <a:srgbClr val="142B33"/>
                          </a:solidFill>
                          <a:latin typeface="Calibri"/>
                        </a:rPr>
                        <a:t>AD = EF,  AE = DF,  AF = DE</a:t>
                      </a:r>
                    </a:p>
                  </a:txBody>
                  <a:tcPr marL="73152" marR="73152" marT="27432" marB="27432" anchor="ctr">
                    <a:solidFill>
                      <a:srgbClr val="FFFFFF"/>
                    </a:solidFill>
                  </a:tcPr>
                </a:tc>
              </a:tr>
              <a:tr h="335788">
                <a:tc>
                  <a:txBody>
                    <a:bodyPr/>
                    <a:lstStyle/>
                    <a:p>
                      <a:pPr algn="l"/>
                      <a:r>
                        <a:rPr sz="1400" b="0">
                          <a:solidFill>
                            <a:srgbClr val="142B33"/>
                          </a:solidFill>
                          <a:latin typeface="Calibri"/>
                        </a:rPr>
                        <a:t>2</a:t>
                      </a:r>
                      <a:r>
                        <a:rPr sz="1400" b="0" baseline="30000">
                          <a:solidFill>
                            <a:srgbClr val="142B33"/>
                          </a:solidFill>
                          <a:latin typeface="Calibri"/>
                        </a:rPr>
                        <a:t>8−3</a:t>
                      </a:r>
                      <a:r>
                        <a:rPr sz="1400" b="0" baseline="-25000">
                          <a:solidFill>
                            <a:srgbClr val="142B33"/>
                          </a:solidFill>
                          <a:latin typeface="Calibri"/>
                        </a:rPr>
                        <a:t>IV</a:t>
                      </a:r>
                      <a:r>
                        <a:rPr sz="1400" b="0">
                          <a:solidFill>
                            <a:srgbClr val="142B33"/>
                          </a:solidFill>
                          <a:latin typeface="Calibri"/>
                        </a:rPr>
                        <a:t>:  I = ABCF, ABDG, BCDEH</a:t>
                      </a:r>
                    </a:p>
                  </a:txBody>
                  <a:tcPr marL="73152" marR="73152" marT="27432" marB="27432" anchor="ctr">
                    <a:solidFill>
                      <a:srgbClr val="F4F8F9"/>
                    </a:solidFill>
                  </a:tcPr>
                </a:tc>
                <a:tc>
                  <a:txBody>
                    <a:bodyPr/>
                    <a:lstStyle/>
                    <a:p>
                      <a:pPr algn="ctr"/>
                      <a:r>
                        <a:rPr sz="1400" b="0">
                          <a:solidFill>
                            <a:srgbClr val="142B33"/>
                          </a:solidFill>
                          <a:latin typeface="Calibri"/>
                        </a:rPr>
                        <a:t>I = −ABCF, −ABDG, BCDEH</a:t>
                      </a:r>
                    </a:p>
                  </a:txBody>
                  <a:tcPr marL="73152" marR="73152" marT="27432" marB="27432" anchor="ctr">
                    <a:solidFill>
                      <a:srgbClr val="F4F8F9"/>
                    </a:solidFill>
                  </a:tcPr>
                </a:tc>
                <a:tc>
                  <a:txBody>
                    <a:bodyPr/>
                    <a:lstStyle/>
                    <a:p>
                      <a:pPr algn="ctr"/>
                      <a:r>
                        <a:rPr sz="1400" b="0">
                          <a:solidFill>
                            <a:srgbClr val="142B33"/>
                          </a:solidFill>
                          <a:latin typeface="Calibri"/>
                        </a:rPr>
                        <a:t>I = CDFG = BCDEH = BEFGH</a:t>
                      </a:r>
                    </a:p>
                  </a:txBody>
                  <a:tcPr marL="73152" marR="73152" marT="27432" marB="27432" anchor="ctr">
                    <a:solidFill>
                      <a:srgbClr val="F4F8F9"/>
                    </a:solidFill>
                  </a:tcPr>
                </a:tc>
                <a:tc>
                  <a:txBody>
                    <a:bodyPr/>
                    <a:lstStyle/>
                    <a:p>
                      <a:pPr algn="ctr"/>
                      <a:r>
                        <a:rPr sz="1400" b="0">
                          <a:solidFill>
                            <a:srgbClr val="142B33"/>
                          </a:solidFill>
                          <a:latin typeface="Calibri"/>
                        </a:rPr>
                        <a:t>CD = FG,  CF = DG,  CG = DF</a:t>
                      </a:r>
                    </a:p>
                  </a:txBody>
                  <a:tcPr marL="73152" marR="73152" marT="27432" marB="27432" anchor="ctr">
                    <a:solidFill>
                      <a:srgbClr val="F4F8F9"/>
                    </a:solidFill>
                  </a:tcPr>
                </a:tc>
              </a:tr>
            </a:tbl>
          </a:graphicData>
        </a:graphic>
      </p:graphicFrame>
      <p:sp>
        <p:nvSpPr>
          <p:cNvPr id="4" name="Rounded Rectangle 3"/>
          <p:cNvSpPr/>
          <p:nvPr/>
        </p:nvSpPr>
        <p:spPr>
          <a:xfrm>
            <a:off x="548640" y="2842768"/>
            <a:ext cx="3545738" cy="1575307"/>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600" b="1">
                <a:solidFill>
                  <a:srgbClr val="0F4C5C"/>
                </a:solidFill>
                <a:latin typeface="Cambria"/>
              </a:rPr>
              <a:t>Objetivos</a:t>
            </a:r>
          </a:p>
          <a:p>
            <a:pPr algn="l"/>
            <a:r>
              <a:rPr sz="1400" b="0">
                <a:solidFill>
                  <a:srgbClr val="142B33"/>
                </a:solidFill>
                <a:latin typeface="Calibri"/>
              </a:rPr>
              <a:t>Romper muchas cadenas, una cadena específica, o las de un factor específico</a:t>
            </a:r>
          </a:p>
        </p:txBody>
      </p:sp>
      <p:sp>
        <p:nvSpPr>
          <p:cNvPr id="5" name="Rounded Rectangle 4"/>
          <p:cNvSpPr/>
          <p:nvPr/>
        </p:nvSpPr>
        <p:spPr>
          <a:xfrm>
            <a:off x="4322978" y="2842768"/>
            <a:ext cx="3545738" cy="1575307"/>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600" b="1">
                <a:solidFill>
                  <a:srgbClr val="0F4C5C"/>
                </a:solidFill>
                <a:latin typeface="Cambria"/>
              </a:rPr>
              <a:t>Procedimiento</a:t>
            </a:r>
          </a:p>
          <a:p>
            <a:pPr algn="l"/>
            <a:r>
              <a:rPr sz="1400" b="0">
                <a:solidFill>
                  <a:srgbClr val="142B33"/>
                </a:solidFill>
                <a:latin typeface="Calibri"/>
              </a:rPr>
              <a:t>Invertir los generadores con </a:t>
            </a:r>
            <a:r>
              <a:rPr sz="1400" b="1">
                <a:solidFill>
                  <a:srgbClr val="142B33"/>
                </a:solidFill>
                <a:latin typeface="Calibri"/>
              </a:rPr>
              <a:t>número impar</a:t>
            </a:r>
            <a:r>
              <a:rPr sz="1400" b="0">
                <a:solidFill>
                  <a:srgbClr val="142B33"/>
                </a:solidFill>
                <a:latin typeface="Calibri"/>
              </a:rPr>
              <a:t> de letras</a:t>
            </a:r>
          </a:p>
        </p:txBody>
      </p:sp>
      <p:sp>
        <p:nvSpPr>
          <p:cNvPr id="6" name="Rounded Rectangle 5"/>
          <p:cNvSpPr/>
          <p:nvPr/>
        </p:nvSpPr>
        <p:spPr>
          <a:xfrm>
            <a:off x="8097316" y="2842768"/>
            <a:ext cx="3545738" cy="1575307"/>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600" b="1">
                <a:solidFill>
                  <a:srgbClr val="0F4C5C"/>
                </a:solidFill>
                <a:latin typeface="Cambria"/>
              </a:rPr>
              <a:t>Advertencia</a:t>
            </a:r>
          </a:p>
          <a:p>
            <a:pPr algn="l"/>
            <a:r>
              <a:rPr sz="1400" b="0">
                <a:solidFill>
                  <a:srgbClr val="142B33"/>
                </a:solidFill>
                <a:latin typeface="Calibri"/>
              </a:rPr>
              <a:t>Con cadenas de </a:t>
            </a:r>
            <a:r>
              <a:rPr sz="1400" b="1">
                <a:solidFill>
                  <a:srgbClr val="142B33"/>
                </a:solidFill>
                <a:latin typeface="Calibri"/>
              </a:rPr>
              <a:t>más de dos</a:t>
            </a:r>
            <a:r>
              <a:rPr sz="1400" b="0">
                <a:solidFill>
                  <a:srgbClr val="142B33"/>
                </a:solidFill>
                <a:latin typeface="Calibri"/>
              </a:rPr>
              <a:t> interacciones dobles, no se separan todas</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Diseños de resolución IV y V</a:t>
            </a:r>
          </a:p>
        </p:txBody>
      </p:sp>
      <p:sp>
        <p:nvSpPr>
          <p:cNvPr id="8" name="TextBox 7"/>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109</a:t>
            </a:r>
          </a:p>
        </p:txBody>
      </p:sp>
      <p:sp>
        <p:nvSpPr>
          <p:cNvPr id="9" name="Rounded Rectangle 8"/>
          <p:cNvSpPr/>
          <p:nvPr/>
        </p:nvSpPr>
        <p:spPr>
          <a:xfrm>
            <a:off x="548640" y="91440"/>
            <a:ext cx="3287268"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9 · Diseños de resolución IV y V</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¿Qué es un diseño de resolución V?</a:t>
            </a:r>
          </a:p>
        </p:txBody>
      </p:sp>
      <p:sp>
        <p:nvSpPr>
          <p:cNvPr id="3" name="TextBox 2"/>
          <p:cNvSpPr txBox="1"/>
          <p:nvPr/>
        </p:nvSpPr>
        <p:spPr>
          <a:xfrm>
            <a:off x="548640" y="1417320"/>
            <a:ext cx="5555126" cy="990599"/>
          </a:xfrm>
          <a:prstGeom prst="rect">
            <a:avLst/>
          </a:prstGeom>
          <a:noFill/>
        </p:spPr>
        <p:txBody>
          <a:bodyPr wrap="square" anchor="t" lIns="0" rIns="0" tIns="0" bIns="0">
            <a:spAutoFit/>
          </a:bodyPr>
          <a:lstStyle/>
          <a:p>
            <a:pPr marL="320040" indent="-320040">
              <a:spcAft>
                <a:spcPts val="600"/>
              </a:spcAft>
              <a:buClr>
                <a:srgbClr val="E36414"/>
              </a:buClr>
              <a:buFont typeface="Arial"/>
              <a:buChar char="•"/>
            </a:pPr>
            <a:r>
              <a:rPr sz="1600" b="0">
                <a:solidFill>
                  <a:srgbClr val="142B33"/>
                </a:solidFill>
                <a:latin typeface="Calibri"/>
              </a:rPr>
              <a:t>Principales e interacciones dobles </a:t>
            </a:r>
            <a:r>
              <a:rPr sz="1600" b="1">
                <a:solidFill>
                  <a:srgbClr val="142B33"/>
                </a:solidFill>
                <a:latin typeface="Calibri"/>
              </a:rPr>
              <a:t>sin alias entre sí</a:t>
            </a:r>
          </a:p>
          <a:p>
            <a:pPr marL="320040" indent="-320040">
              <a:spcAft>
                <a:spcPts val="600"/>
              </a:spcAft>
              <a:buClr>
                <a:srgbClr val="E36414"/>
              </a:buClr>
              <a:buFont typeface="Arial"/>
              <a:buChar char="•"/>
            </a:pPr>
            <a:r>
              <a:rPr sz="1600" b="0">
                <a:solidFill>
                  <a:srgbClr val="142B33"/>
                </a:solidFill>
                <a:latin typeface="Calibri"/>
              </a:rPr>
              <a:t>Palabra más corta de </a:t>
            </a:r>
            <a:r>
              <a:rPr sz="1600" b="1">
                <a:solidFill>
                  <a:srgbClr val="142B33"/>
                </a:solidFill>
                <a:latin typeface="Calibri"/>
              </a:rPr>
              <a:t>5 letras</a:t>
            </a:r>
          </a:p>
          <a:p>
            <a:pPr marL="320040" indent="-320040">
              <a:spcAft>
                <a:spcPts val="600"/>
              </a:spcAft>
              <a:buClr>
                <a:srgbClr val="E36414"/>
              </a:buClr>
              <a:buFont typeface="Arial"/>
              <a:buChar char="•"/>
            </a:pPr>
            <a:r>
              <a:rPr sz="1600" b="0">
                <a:solidFill>
                  <a:srgbClr val="142B33"/>
                </a:solidFill>
                <a:latin typeface="Calibri"/>
              </a:rPr>
              <a:t>Ejemplos: </a:t>
            </a:r>
            <a:r>
              <a:rPr sz="1600" b="1">
                <a:solidFill>
                  <a:srgbClr val="142B33"/>
                </a:solidFill>
                <a:latin typeface="Calibri"/>
              </a:rPr>
              <a:t>2</a:t>
            </a:r>
            <a:r>
              <a:rPr sz="1600" b="1" baseline="30000">
                <a:solidFill>
                  <a:srgbClr val="142B33"/>
                </a:solidFill>
                <a:latin typeface="Calibri"/>
              </a:rPr>
              <a:t>5−1</a:t>
            </a:r>
            <a:r>
              <a:rPr sz="1600" b="0">
                <a:solidFill>
                  <a:srgbClr val="142B33"/>
                </a:solidFill>
                <a:latin typeface="Calibri"/>
              </a:rPr>
              <a:t>, I = ABCDE;  </a:t>
            </a:r>
            <a:r>
              <a:rPr sz="1600" b="1">
                <a:solidFill>
                  <a:srgbClr val="142B33"/>
                </a:solidFill>
                <a:latin typeface="Calibri"/>
              </a:rPr>
              <a:t>2</a:t>
            </a:r>
            <a:r>
              <a:rPr sz="1600" b="1" baseline="30000">
                <a:solidFill>
                  <a:srgbClr val="142B33"/>
                </a:solidFill>
                <a:latin typeface="Calibri"/>
              </a:rPr>
              <a:t>8−2</a:t>
            </a:r>
            <a:r>
              <a:rPr sz="1600" b="0">
                <a:solidFill>
                  <a:srgbClr val="142B33"/>
                </a:solidFill>
                <a:latin typeface="Calibri"/>
              </a:rPr>
              <a:t>, I = ABCDG = ABEFH</a:t>
            </a:r>
          </a:p>
        </p:txBody>
      </p:sp>
      <p:sp>
        <p:nvSpPr>
          <p:cNvPr id="4" name="Rounded Rectangle 3"/>
          <p:cNvSpPr/>
          <p:nvPr/>
        </p:nvSpPr>
        <p:spPr>
          <a:xfrm>
            <a:off x="548640" y="2609087"/>
            <a:ext cx="5555126"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1">
                <a:solidFill>
                  <a:srgbClr val="142B33"/>
                </a:solidFill>
                <a:latin typeface="Calibri"/>
              </a:rPr>
              <a:t>Doblez parcial</a:t>
            </a:r>
            <a:r>
              <a:rPr sz="1500" b="0">
                <a:solidFill>
                  <a:srgbClr val="142B33"/>
                </a:solidFill>
                <a:latin typeface="Calibri"/>
              </a:rPr>
              <a:t>: separar una o dos interacciones agregando </a:t>
            </a:r>
            <a:r>
              <a:rPr sz="1500" b="1">
                <a:solidFill>
                  <a:srgbClr val="142B33"/>
                </a:solidFill>
                <a:latin typeface="Calibri"/>
              </a:rPr>
              <a:t>pocas corridas</a:t>
            </a:r>
          </a:p>
        </p:txBody>
      </p:sp>
      <p:graphicFrame>
        <p:nvGraphicFramePr>
          <p:cNvPr id="5" name="Table 4"/>
          <p:cNvGraphicFramePr>
            <a:graphicFrameLocks noGrp="1"/>
          </p:cNvGraphicFramePr>
          <p:nvPr/>
        </p:nvGraphicFramePr>
        <p:xfrm>
          <a:off x="6515246" y="1417320"/>
          <a:ext cx="5127808" cy="2081784"/>
        </p:xfrm>
        <a:graphic>
          <a:graphicData uri="http://schemas.openxmlformats.org/drawingml/2006/table">
            <a:tbl>
              <a:tblPr firstRow="0" bandRow="0">
                <a:tableStyleId>{5C22544A-7EE6-4342-B048-85BDC9FD1C3A}</a:tableStyleId>
              </a:tblPr>
              <a:tblGrid>
                <a:gridCol w="1538342"/>
                <a:gridCol w="3589466"/>
              </a:tblGrid>
              <a:tr h="614680">
                <a:tc>
                  <a:txBody>
                    <a:bodyPr/>
                    <a:lstStyle/>
                    <a:p>
                      <a:pPr algn="ctr"/>
                      <a:r>
                        <a:rPr sz="1600" b="1">
                          <a:solidFill>
                            <a:srgbClr val="FFFFFF"/>
                          </a:solidFill>
                          <a:latin typeface="Calibri"/>
                        </a:rPr>
                        <a:t>Factores</a:t>
                      </a:r>
                    </a:p>
                  </a:txBody>
                  <a:tcPr marL="73152" marR="73152" marT="27432" marB="27432" anchor="ctr">
                    <a:solidFill>
                      <a:srgbClr val="0F4C5C"/>
                    </a:solidFill>
                  </a:tcPr>
                </a:tc>
                <a:tc>
                  <a:txBody>
                    <a:bodyPr/>
                    <a:lstStyle/>
                    <a:p>
                      <a:pPr algn="ctr"/>
                      <a:r>
                        <a:rPr sz="1600" b="1">
                          <a:solidFill>
                            <a:srgbClr val="FFFFFF"/>
                          </a:solidFill>
                          <a:latin typeface="Calibri"/>
                        </a:rPr>
                        <a:t>Fracción irregular de resolución V</a:t>
                      </a:r>
                    </a:p>
                  </a:txBody>
                  <a:tcPr marL="73152" marR="73152" marT="27432" marB="27432" anchor="ctr">
                    <a:solidFill>
                      <a:srgbClr val="0F4C5C"/>
                    </a:solidFill>
                  </a:tcPr>
                </a:tc>
              </a:tr>
              <a:tr h="366776">
                <a:tc>
                  <a:txBody>
                    <a:bodyPr/>
                    <a:lstStyle/>
                    <a:p>
                      <a:pPr algn="ctr"/>
                      <a:r>
                        <a:rPr sz="1600" b="0">
                          <a:solidFill>
                            <a:srgbClr val="142B33"/>
                          </a:solidFill>
                          <a:latin typeface="Calibri"/>
                        </a:rPr>
                        <a:t>4</a:t>
                      </a:r>
                    </a:p>
                  </a:txBody>
                  <a:tcPr marL="73152" marR="73152" marT="27432" marB="27432" anchor="ctr">
                    <a:solidFill>
                      <a:srgbClr val="FFFFFF"/>
                    </a:solidFill>
                  </a:tcPr>
                </a:tc>
                <a:tc>
                  <a:txBody>
                    <a:bodyPr/>
                    <a:lstStyle/>
                    <a:p>
                      <a:pPr algn="ctr"/>
                      <a:r>
                        <a:rPr sz="1600" b="0">
                          <a:solidFill>
                            <a:srgbClr val="142B33"/>
                          </a:solidFill>
                          <a:latin typeface="Calibri"/>
                        </a:rPr>
                        <a:t>12 corridas</a:t>
                      </a:r>
                    </a:p>
                  </a:txBody>
                  <a:tcPr marL="73152" marR="73152" marT="27432" marB="27432" anchor="ctr">
                    <a:solidFill>
                      <a:srgbClr val="FFFFFF"/>
                    </a:solidFill>
                  </a:tcPr>
                </a:tc>
              </a:tr>
              <a:tr h="366776">
                <a:tc>
                  <a:txBody>
                    <a:bodyPr/>
                    <a:lstStyle/>
                    <a:p>
                      <a:pPr algn="ctr"/>
                      <a:r>
                        <a:rPr sz="1600" b="0">
                          <a:solidFill>
                            <a:srgbClr val="142B33"/>
                          </a:solidFill>
                          <a:latin typeface="Calibri"/>
                        </a:rPr>
                        <a:t>5</a:t>
                      </a:r>
                    </a:p>
                  </a:txBody>
                  <a:tcPr marL="73152" marR="73152" marT="27432" marB="27432" anchor="ctr">
                    <a:solidFill>
                      <a:srgbClr val="F4F8F9"/>
                    </a:solidFill>
                  </a:tcPr>
                </a:tc>
                <a:tc>
                  <a:txBody>
                    <a:bodyPr/>
                    <a:lstStyle/>
                    <a:p>
                      <a:pPr algn="ctr"/>
                      <a:r>
                        <a:rPr sz="1600" b="0">
                          <a:solidFill>
                            <a:srgbClr val="142B33"/>
                          </a:solidFill>
                          <a:latin typeface="Calibri"/>
                        </a:rPr>
                        <a:t>24 corridas (3/4 del 2</a:t>
                      </a:r>
                      <a:r>
                        <a:rPr sz="1600" b="0" baseline="30000">
                          <a:solidFill>
                            <a:srgbClr val="142B33"/>
                          </a:solidFill>
                          <a:latin typeface="Calibri"/>
                        </a:rPr>
                        <a:t>5</a:t>
                      </a:r>
                      <a:r>
                        <a:rPr sz="1600" b="0">
                          <a:solidFill>
                            <a:srgbClr val="142B33"/>
                          </a:solidFill>
                          <a:latin typeface="Calibri"/>
                        </a:rPr>
                        <a:t>)</a:t>
                      </a:r>
                    </a:p>
                  </a:txBody>
                  <a:tcPr marL="73152" marR="73152" marT="27432" marB="27432" anchor="ctr">
                    <a:solidFill>
                      <a:srgbClr val="F4F8F9"/>
                    </a:solidFill>
                  </a:tcPr>
                </a:tc>
              </a:tr>
              <a:tr h="366776">
                <a:tc>
                  <a:txBody>
                    <a:bodyPr/>
                    <a:lstStyle/>
                    <a:p>
                      <a:pPr algn="ctr"/>
                      <a:r>
                        <a:rPr sz="1600" b="0">
                          <a:solidFill>
                            <a:srgbClr val="142B33"/>
                          </a:solidFill>
                          <a:latin typeface="Calibri"/>
                        </a:rPr>
                        <a:t>6, 7 u 8</a:t>
                      </a:r>
                    </a:p>
                  </a:txBody>
                  <a:tcPr marL="73152" marR="73152" marT="27432" marB="27432" anchor="ctr">
                    <a:solidFill>
                      <a:srgbClr val="FFFFFF"/>
                    </a:solidFill>
                  </a:tcPr>
                </a:tc>
                <a:tc>
                  <a:txBody>
                    <a:bodyPr/>
                    <a:lstStyle/>
                    <a:p>
                      <a:pPr algn="ctr"/>
                      <a:r>
                        <a:rPr sz="1600" b="0">
                          <a:solidFill>
                            <a:srgbClr val="142B33"/>
                          </a:solidFill>
                          <a:latin typeface="Calibri"/>
                        </a:rPr>
                        <a:t>48 corridas</a:t>
                      </a:r>
                    </a:p>
                  </a:txBody>
                  <a:tcPr marL="73152" marR="73152" marT="27432" marB="27432" anchor="ctr">
                    <a:solidFill>
                      <a:srgbClr val="FFFFFF"/>
                    </a:solidFill>
                  </a:tcPr>
                </a:tc>
              </a:tr>
              <a:tr h="366776">
                <a:tc>
                  <a:txBody>
                    <a:bodyPr/>
                    <a:lstStyle/>
                    <a:p>
                      <a:pPr algn="ctr"/>
                      <a:r>
                        <a:rPr sz="1600" b="0">
                          <a:solidFill>
                            <a:srgbClr val="142B33"/>
                          </a:solidFill>
                          <a:latin typeface="Calibri"/>
                        </a:rPr>
                        <a:t>9</a:t>
                      </a:r>
                    </a:p>
                  </a:txBody>
                  <a:tcPr marL="73152" marR="73152" marT="27432" marB="27432" anchor="ctr">
                    <a:solidFill>
                      <a:srgbClr val="F4F8F9"/>
                    </a:solidFill>
                  </a:tcPr>
                </a:tc>
                <a:tc>
                  <a:txBody>
                    <a:bodyPr/>
                    <a:lstStyle/>
                    <a:p>
                      <a:pPr algn="ctr"/>
                      <a:r>
                        <a:rPr sz="1600" b="0">
                          <a:solidFill>
                            <a:srgbClr val="142B33"/>
                          </a:solidFill>
                          <a:latin typeface="Calibri"/>
                        </a:rPr>
                        <a:t>96 corridas</a:t>
                      </a:r>
                    </a:p>
                  </a:txBody>
                  <a:tcPr marL="73152" marR="73152" marT="27432" marB="27432" anchor="ctr">
                    <a:solidFill>
                      <a:srgbClr val="F4F8F9"/>
                    </a:solidFill>
                  </a:tcPr>
                </a:tc>
              </a:tr>
            </a:tbl>
          </a:graphicData>
        </a:graphic>
      </p:graphicFrame>
      <p:sp>
        <p:nvSpPr>
          <p:cNvPr id="6" name="TextBox 5"/>
          <p:cNvSpPr txBox="1"/>
          <p:nvPr/>
        </p:nvSpPr>
        <p:spPr>
          <a:xfrm>
            <a:off x="6515246" y="3700272"/>
            <a:ext cx="5127808" cy="237998"/>
          </a:xfrm>
          <a:prstGeom prst="rect">
            <a:avLst/>
          </a:prstGeom>
          <a:noFill/>
        </p:spPr>
        <p:txBody>
          <a:bodyPr wrap="square" anchor="t" lIns="0" rIns="0" tIns="0" bIns="0">
            <a:spAutoFit/>
          </a:bodyPr>
          <a:lstStyle/>
          <a:p>
            <a:r>
              <a:rPr sz="1300" b="0">
                <a:solidFill>
                  <a:srgbClr val="5B6B73"/>
                </a:solidFill>
                <a:latin typeface="Calibri"/>
              </a:rPr>
              <a:t>Fuente: Montgomery, sec. 8-6 y tabla 8-28</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Diseños de resolución IV y V</a:t>
            </a:r>
          </a:p>
        </p:txBody>
      </p:sp>
      <p:sp>
        <p:nvSpPr>
          <p:cNvPr id="8" name="TextBox 7"/>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110</a:t>
            </a:r>
          </a:p>
        </p:txBody>
      </p:sp>
      <p:sp>
        <p:nvSpPr>
          <p:cNvPr id="9" name="Rounded Rectangle 8"/>
          <p:cNvSpPr/>
          <p:nvPr/>
        </p:nvSpPr>
        <p:spPr>
          <a:xfrm>
            <a:off x="548640" y="91440"/>
            <a:ext cx="3287268"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9 · Diseños de resolución IV y V</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Resumen · ¿Cuántos factores caben en N corridas?</a:t>
            </a:r>
          </a:p>
        </p:txBody>
      </p:sp>
      <p:graphicFrame>
        <p:nvGraphicFramePr>
          <p:cNvPr id="3" name="Table 2"/>
          <p:cNvGraphicFramePr>
            <a:graphicFrameLocks noGrp="1"/>
          </p:cNvGraphicFramePr>
          <p:nvPr/>
        </p:nvGraphicFramePr>
        <p:xfrm>
          <a:off x="548640" y="1417320"/>
          <a:ext cx="11094413" cy="1988820"/>
        </p:xfrm>
        <a:graphic>
          <a:graphicData uri="http://schemas.openxmlformats.org/drawingml/2006/table">
            <a:tbl>
              <a:tblPr firstRow="0" bandRow="0">
                <a:tableStyleId>{5C22544A-7EE6-4342-B048-85BDC9FD1C3A}</a:tableStyleId>
              </a:tblPr>
              <a:tblGrid>
                <a:gridCol w="3993989"/>
                <a:gridCol w="1775106"/>
                <a:gridCol w="1775106"/>
                <a:gridCol w="1775106"/>
                <a:gridCol w="1775106"/>
              </a:tblGrid>
              <a:tr h="397764">
                <a:tc>
                  <a:txBody>
                    <a:bodyPr/>
                    <a:lstStyle/>
                    <a:p>
                      <a:pPr algn="l"/>
                      <a:r>
                        <a:rPr sz="1800" b="1">
                          <a:solidFill>
                            <a:srgbClr val="FFFFFF"/>
                          </a:solidFill>
                          <a:latin typeface="Calibri"/>
                        </a:rPr>
                        <a:t>Tipo de diseño</a:t>
                      </a:r>
                    </a:p>
                  </a:txBody>
                  <a:tcPr marL="73152" marR="73152" marT="27432" marB="27432" anchor="ctr">
                    <a:solidFill>
                      <a:srgbClr val="0F4C5C"/>
                    </a:solidFill>
                  </a:tcPr>
                </a:tc>
                <a:tc>
                  <a:txBody>
                    <a:bodyPr/>
                    <a:lstStyle/>
                    <a:p>
                      <a:pPr algn="ctr"/>
                      <a:r>
                        <a:rPr sz="1800" b="1">
                          <a:solidFill>
                            <a:srgbClr val="FFFFFF"/>
                          </a:solidFill>
                          <a:latin typeface="Calibri"/>
                        </a:rPr>
                        <a:t>4 corridas</a:t>
                      </a:r>
                    </a:p>
                  </a:txBody>
                  <a:tcPr marL="73152" marR="73152" marT="27432" marB="27432" anchor="ctr">
                    <a:solidFill>
                      <a:srgbClr val="0F4C5C"/>
                    </a:solidFill>
                  </a:tcPr>
                </a:tc>
                <a:tc>
                  <a:txBody>
                    <a:bodyPr/>
                    <a:lstStyle/>
                    <a:p>
                      <a:pPr algn="ctr"/>
                      <a:r>
                        <a:rPr sz="1800" b="1">
                          <a:solidFill>
                            <a:srgbClr val="FFFFFF"/>
                          </a:solidFill>
                          <a:latin typeface="Calibri"/>
                        </a:rPr>
                        <a:t>8 corridas</a:t>
                      </a:r>
                    </a:p>
                  </a:txBody>
                  <a:tcPr marL="73152" marR="73152" marT="27432" marB="27432" anchor="ctr">
                    <a:solidFill>
                      <a:srgbClr val="0F4C5C"/>
                    </a:solidFill>
                  </a:tcPr>
                </a:tc>
                <a:tc>
                  <a:txBody>
                    <a:bodyPr/>
                    <a:lstStyle/>
                    <a:p>
                      <a:pPr algn="ctr"/>
                      <a:r>
                        <a:rPr sz="1800" b="1">
                          <a:solidFill>
                            <a:srgbClr val="FFFFFF"/>
                          </a:solidFill>
                          <a:latin typeface="Calibri"/>
                        </a:rPr>
                        <a:t>16 corridas</a:t>
                      </a:r>
                    </a:p>
                  </a:txBody>
                  <a:tcPr marL="73152" marR="73152" marT="27432" marB="27432" anchor="ctr">
                    <a:solidFill>
                      <a:srgbClr val="0F4C5C"/>
                    </a:solidFill>
                  </a:tcPr>
                </a:tc>
                <a:tc>
                  <a:txBody>
                    <a:bodyPr/>
                    <a:lstStyle/>
                    <a:p>
                      <a:pPr algn="ctr"/>
                      <a:r>
                        <a:rPr sz="1800" b="1">
                          <a:solidFill>
                            <a:srgbClr val="FFFFFF"/>
                          </a:solidFill>
                          <a:latin typeface="Calibri"/>
                        </a:rPr>
                        <a:t>32 corridas</a:t>
                      </a:r>
                    </a:p>
                  </a:txBody>
                  <a:tcPr marL="73152" marR="73152" marT="27432" marB="27432" anchor="ctr">
                    <a:solidFill>
                      <a:srgbClr val="0F4C5C"/>
                    </a:solidFill>
                  </a:tcPr>
                </a:tc>
              </a:tr>
              <a:tr h="397764">
                <a:tc>
                  <a:txBody>
                    <a:bodyPr/>
                    <a:lstStyle/>
                    <a:p>
                      <a:pPr algn="l"/>
                      <a:r>
                        <a:rPr sz="1800" b="0">
                          <a:solidFill>
                            <a:srgbClr val="142B33"/>
                          </a:solidFill>
                          <a:latin typeface="Calibri"/>
                        </a:rPr>
                        <a:t>Factorial completo</a:t>
                      </a:r>
                    </a:p>
                  </a:txBody>
                  <a:tcPr marL="73152" marR="73152" marT="27432" marB="27432" anchor="ctr">
                    <a:solidFill>
                      <a:srgbClr val="FFFFFF"/>
                    </a:solidFill>
                  </a:tcPr>
                </a:tc>
                <a:tc>
                  <a:txBody>
                    <a:bodyPr/>
                    <a:lstStyle/>
                    <a:p>
                      <a:pPr algn="ctr"/>
                      <a:r>
                        <a:rPr sz="1800" b="0">
                          <a:solidFill>
                            <a:srgbClr val="142B33"/>
                          </a:solidFill>
                          <a:latin typeface="Calibri"/>
                        </a:rPr>
                        <a:t>2</a:t>
                      </a:r>
                    </a:p>
                  </a:txBody>
                  <a:tcPr marL="73152" marR="73152" marT="27432" marB="27432" anchor="ctr">
                    <a:solidFill>
                      <a:srgbClr val="FFFFFF"/>
                    </a:solidFill>
                  </a:tcPr>
                </a:tc>
                <a:tc>
                  <a:txBody>
                    <a:bodyPr/>
                    <a:lstStyle/>
                    <a:p>
                      <a:pPr algn="ctr"/>
                      <a:r>
                        <a:rPr sz="1800" b="0">
                          <a:solidFill>
                            <a:srgbClr val="142B33"/>
                          </a:solidFill>
                          <a:latin typeface="Calibri"/>
                        </a:rPr>
                        <a:t>3</a:t>
                      </a:r>
                    </a:p>
                  </a:txBody>
                  <a:tcPr marL="73152" marR="73152" marT="27432" marB="27432" anchor="ctr">
                    <a:solidFill>
                      <a:srgbClr val="FFFFFF"/>
                    </a:solidFill>
                  </a:tcPr>
                </a:tc>
                <a:tc>
                  <a:txBody>
                    <a:bodyPr/>
                    <a:lstStyle/>
                    <a:p>
                      <a:pPr algn="ctr"/>
                      <a:r>
                        <a:rPr sz="1800" b="0">
                          <a:solidFill>
                            <a:srgbClr val="142B33"/>
                          </a:solidFill>
                          <a:latin typeface="Calibri"/>
                        </a:rPr>
                        <a:t>4</a:t>
                      </a:r>
                    </a:p>
                  </a:txBody>
                  <a:tcPr marL="73152" marR="73152" marT="27432" marB="27432" anchor="ctr">
                    <a:solidFill>
                      <a:srgbClr val="FFFFFF"/>
                    </a:solidFill>
                  </a:tcPr>
                </a:tc>
                <a:tc>
                  <a:txBody>
                    <a:bodyPr/>
                    <a:lstStyle/>
                    <a:p>
                      <a:pPr algn="ctr"/>
                      <a:r>
                        <a:rPr sz="1800" b="0">
                          <a:solidFill>
                            <a:srgbClr val="142B33"/>
                          </a:solidFill>
                          <a:latin typeface="Calibri"/>
                        </a:rPr>
                        <a:t>5</a:t>
                      </a:r>
                    </a:p>
                  </a:txBody>
                  <a:tcPr marL="73152" marR="73152" marT="27432" marB="27432" anchor="ctr">
                    <a:solidFill>
                      <a:srgbClr val="FFFFFF"/>
                    </a:solidFill>
                  </a:tcPr>
                </a:tc>
              </a:tr>
              <a:tr h="397764">
                <a:tc>
                  <a:txBody>
                    <a:bodyPr/>
                    <a:lstStyle/>
                    <a:p>
                      <a:pPr algn="l"/>
                      <a:r>
                        <a:rPr sz="1800" b="0">
                          <a:solidFill>
                            <a:srgbClr val="142B33"/>
                          </a:solidFill>
                          <a:latin typeface="Calibri"/>
                        </a:rPr>
                        <a:t>Fracción un medio</a:t>
                      </a:r>
                    </a:p>
                  </a:txBody>
                  <a:tcPr marL="73152" marR="73152" marT="27432" marB="27432" anchor="ctr">
                    <a:solidFill>
                      <a:srgbClr val="F4F8F9"/>
                    </a:solidFill>
                  </a:tcPr>
                </a:tc>
                <a:tc>
                  <a:txBody>
                    <a:bodyPr/>
                    <a:lstStyle/>
                    <a:p>
                      <a:pPr algn="ctr"/>
                      <a:r>
                        <a:rPr sz="1800" b="0">
                          <a:solidFill>
                            <a:srgbClr val="142B33"/>
                          </a:solidFill>
                          <a:latin typeface="Calibri"/>
                        </a:rPr>
                        <a:t>3</a:t>
                      </a:r>
                    </a:p>
                  </a:txBody>
                  <a:tcPr marL="73152" marR="73152" marT="27432" marB="27432" anchor="ctr">
                    <a:solidFill>
                      <a:srgbClr val="F4F8F9"/>
                    </a:solidFill>
                  </a:tcPr>
                </a:tc>
                <a:tc>
                  <a:txBody>
                    <a:bodyPr/>
                    <a:lstStyle/>
                    <a:p>
                      <a:pPr algn="ctr"/>
                      <a:r>
                        <a:rPr sz="1800" b="0">
                          <a:solidFill>
                            <a:srgbClr val="142B33"/>
                          </a:solidFill>
                          <a:latin typeface="Calibri"/>
                        </a:rPr>
                        <a:t>4</a:t>
                      </a:r>
                    </a:p>
                  </a:txBody>
                  <a:tcPr marL="73152" marR="73152" marT="27432" marB="27432" anchor="ctr">
                    <a:solidFill>
                      <a:srgbClr val="F4F8F9"/>
                    </a:solidFill>
                  </a:tcPr>
                </a:tc>
                <a:tc>
                  <a:txBody>
                    <a:bodyPr/>
                    <a:lstStyle/>
                    <a:p>
                      <a:pPr algn="ctr"/>
                      <a:r>
                        <a:rPr sz="1800" b="0">
                          <a:solidFill>
                            <a:srgbClr val="142B33"/>
                          </a:solidFill>
                          <a:latin typeface="Calibri"/>
                        </a:rPr>
                        <a:t>5</a:t>
                      </a:r>
                    </a:p>
                  </a:txBody>
                  <a:tcPr marL="73152" marR="73152" marT="27432" marB="27432" anchor="ctr">
                    <a:solidFill>
                      <a:srgbClr val="F4F8F9"/>
                    </a:solidFill>
                  </a:tcPr>
                </a:tc>
                <a:tc>
                  <a:txBody>
                    <a:bodyPr/>
                    <a:lstStyle/>
                    <a:p>
                      <a:pPr algn="ctr"/>
                      <a:r>
                        <a:rPr sz="1800" b="0">
                          <a:solidFill>
                            <a:srgbClr val="142B33"/>
                          </a:solidFill>
                          <a:latin typeface="Calibri"/>
                        </a:rPr>
                        <a:t>6</a:t>
                      </a:r>
                    </a:p>
                  </a:txBody>
                  <a:tcPr marL="73152" marR="73152" marT="27432" marB="27432" anchor="ctr">
                    <a:solidFill>
                      <a:srgbClr val="F4F8F9"/>
                    </a:solidFill>
                  </a:tcPr>
                </a:tc>
              </a:tr>
              <a:tr h="397764">
                <a:tc>
                  <a:txBody>
                    <a:bodyPr/>
                    <a:lstStyle/>
                    <a:p>
                      <a:pPr algn="l"/>
                      <a:r>
                        <a:rPr sz="1800" b="0">
                          <a:solidFill>
                            <a:srgbClr val="142B33"/>
                          </a:solidFill>
                          <a:latin typeface="Calibri"/>
                        </a:rPr>
                        <a:t>Fracción de resolución IV</a:t>
                      </a:r>
                    </a:p>
                  </a:txBody>
                  <a:tcPr marL="73152" marR="73152" marT="27432" marB="27432" anchor="ctr">
                    <a:solidFill>
                      <a:srgbClr val="FFFFFF"/>
                    </a:solidFill>
                  </a:tcPr>
                </a:tc>
                <a:tc>
                  <a:txBody>
                    <a:bodyPr/>
                    <a:lstStyle/>
                    <a:p>
                      <a:pPr algn="ctr"/>
                      <a:r>
                        <a:rPr sz="1800" b="0">
                          <a:solidFill>
                            <a:srgbClr val="142B33"/>
                          </a:solidFill>
                          <a:latin typeface="Calibri"/>
                        </a:rPr>
                        <a:t>—</a:t>
                      </a:r>
                    </a:p>
                  </a:txBody>
                  <a:tcPr marL="73152" marR="73152" marT="27432" marB="27432" anchor="ctr">
                    <a:solidFill>
                      <a:srgbClr val="FFFFFF"/>
                    </a:solidFill>
                  </a:tcPr>
                </a:tc>
                <a:tc>
                  <a:txBody>
                    <a:bodyPr/>
                    <a:lstStyle/>
                    <a:p>
                      <a:pPr algn="ctr"/>
                      <a:r>
                        <a:rPr sz="1800" b="0">
                          <a:solidFill>
                            <a:srgbClr val="142B33"/>
                          </a:solidFill>
                          <a:latin typeface="Calibri"/>
                        </a:rPr>
                        <a:t>4</a:t>
                      </a:r>
                    </a:p>
                  </a:txBody>
                  <a:tcPr marL="73152" marR="73152" marT="27432" marB="27432" anchor="ctr">
                    <a:solidFill>
                      <a:srgbClr val="FFFFFF"/>
                    </a:solidFill>
                  </a:tcPr>
                </a:tc>
                <a:tc>
                  <a:txBody>
                    <a:bodyPr/>
                    <a:lstStyle/>
                    <a:p>
                      <a:pPr algn="ctr"/>
                      <a:r>
                        <a:rPr sz="1800" b="0">
                          <a:solidFill>
                            <a:srgbClr val="142B33"/>
                          </a:solidFill>
                          <a:latin typeface="Calibri"/>
                        </a:rPr>
                        <a:t>6 a 8</a:t>
                      </a:r>
                    </a:p>
                  </a:txBody>
                  <a:tcPr marL="73152" marR="73152" marT="27432" marB="27432" anchor="ctr">
                    <a:solidFill>
                      <a:srgbClr val="FFFFFF"/>
                    </a:solidFill>
                  </a:tcPr>
                </a:tc>
                <a:tc>
                  <a:txBody>
                    <a:bodyPr/>
                    <a:lstStyle/>
                    <a:p>
                      <a:pPr algn="ctr"/>
                      <a:r>
                        <a:rPr sz="1800" b="0">
                          <a:solidFill>
                            <a:srgbClr val="142B33"/>
                          </a:solidFill>
                          <a:latin typeface="Calibri"/>
                        </a:rPr>
                        <a:t>7 a 16</a:t>
                      </a:r>
                    </a:p>
                  </a:txBody>
                  <a:tcPr marL="73152" marR="73152" marT="27432" marB="27432" anchor="ctr">
                    <a:solidFill>
                      <a:srgbClr val="FFFFFF"/>
                    </a:solidFill>
                  </a:tcPr>
                </a:tc>
              </a:tr>
              <a:tr h="397764">
                <a:tc>
                  <a:txBody>
                    <a:bodyPr/>
                    <a:lstStyle/>
                    <a:p>
                      <a:pPr algn="l"/>
                      <a:r>
                        <a:rPr sz="1800" b="0">
                          <a:solidFill>
                            <a:srgbClr val="142B33"/>
                          </a:solidFill>
                          <a:latin typeface="Calibri"/>
                        </a:rPr>
                        <a:t>Fracción de resolución III</a:t>
                      </a:r>
                    </a:p>
                  </a:txBody>
                  <a:tcPr marL="73152" marR="73152" marT="27432" marB="27432" anchor="ctr">
                    <a:solidFill>
                      <a:srgbClr val="F4F8F9"/>
                    </a:solidFill>
                  </a:tcPr>
                </a:tc>
                <a:tc>
                  <a:txBody>
                    <a:bodyPr/>
                    <a:lstStyle/>
                    <a:p>
                      <a:pPr algn="ctr"/>
                      <a:r>
                        <a:rPr sz="1800" b="0">
                          <a:solidFill>
                            <a:srgbClr val="142B33"/>
                          </a:solidFill>
                          <a:latin typeface="Calibri"/>
                        </a:rPr>
                        <a:t>3</a:t>
                      </a:r>
                    </a:p>
                  </a:txBody>
                  <a:tcPr marL="73152" marR="73152" marT="27432" marB="27432" anchor="ctr">
                    <a:solidFill>
                      <a:srgbClr val="F4F8F9"/>
                    </a:solidFill>
                  </a:tcPr>
                </a:tc>
                <a:tc>
                  <a:txBody>
                    <a:bodyPr/>
                    <a:lstStyle/>
                    <a:p>
                      <a:pPr algn="ctr"/>
                      <a:r>
                        <a:rPr sz="1800" b="0">
                          <a:solidFill>
                            <a:srgbClr val="142B33"/>
                          </a:solidFill>
                          <a:latin typeface="Calibri"/>
                        </a:rPr>
                        <a:t>5 a 7</a:t>
                      </a:r>
                    </a:p>
                  </a:txBody>
                  <a:tcPr marL="73152" marR="73152" marT="27432" marB="27432" anchor="ctr">
                    <a:solidFill>
                      <a:srgbClr val="F4F8F9"/>
                    </a:solidFill>
                  </a:tcPr>
                </a:tc>
                <a:tc>
                  <a:txBody>
                    <a:bodyPr/>
                    <a:lstStyle/>
                    <a:p>
                      <a:pPr algn="ctr"/>
                      <a:r>
                        <a:rPr sz="1800" b="0">
                          <a:solidFill>
                            <a:srgbClr val="142B33"/>
                          </a:solidFill>
                          <a:latin typeface="Calibri"/>
                        </a:rPr>
                        <a:t>9 a 15</a:t>
                      </a:r>
                    </a:p>
                  </a:txBody>
                  <a:tcPr marL="73152" marR="73152" marT="27432" marB="27432" anchor="ctr">
                    <a:solidFill>
                      <a:srgbClr val="F4F8F9"/>
                    </a:solidFill>
                  </a:tcPr>
                </a:tc>
                <a:tc>
                  <a:txBody>
                    <a:bodyPr/>
                    <a:lstStyle/>
                    <a:p>
                      <a:pPr algn="ctr"/>
                      <a:r>
                        <a:rPr sz="1800" b="0">
                          <a:solidFill>
                            <a:srgbClr val="142B33"/>
                          </a:solidFill>
                          <a:latin typeface="Calibri"/>
                        </a:rPr>
                        <a:t>17 a 31</a:t>
                      </a:r>
                    </a:p>
                  </a:txBody>
                  <a:tcPr marL="73152" marR="73152" marT="27432" marB="27432" anchor="ctr">
                    <a:solidFill>
                      <a:srgbClr val="F4F8F9"/>
                    </a:solidFill>
                  </a:tcPr>
                </a:tc>
              </a:tr>
            </a:tbl>
          </a:graphicData>
        </a:graphic>
      </p:graphicFrame>
      <p:sp>
        <p:nvSpPr>
          <p:cNvPr id="4" name="TextBox 3"/>
          <p:cNvSpPr txBox="1"/>
          <p:nvPr/>
        </p:nvSpPr>
        <p:spPr>
          <a:xfrm>
            <a:off x="548640" y="3607308"/>
            <a:ext cx="11094415" cy="268985"/>
          </a:xfrm>
          <a:prstGeom prst="rect">
            <a:avLst/>
          </a:prstGeom>
          <a:noFill/>
        </p:spPr>
        <p:txBody>
          <a:bodyPr wrap="square" anchor="t" lIns="0" rIns="0" tIns="0" bIns="0">
            <a:spAutoFit/>
          </a:bodyPr>
          <a:lstStyle/>
          <a:p>
            <a:r>
              <a:rPr sz="1500" b="0">
                <a:solidFill>
                  <a:srgbClr val="142B33"/>
                </a:solidFill>
                <a:latin typeface="Calibri"/>
              </a:rPr>
              <a:t>Las celdas indican el </a:t>
            </a:r>
            <a:r>
              <a:rPr sz="1500" b="1">
                <a:solidFill>
                  <a:srgbClr val="142B33"/>
                </a:solidFill>
                <a:latin typeface="Calibri"/>
              </a:rPr>
              <a:t>número de factores</a:t>
            </a:r>
            <a:r>
              <a:rPr sz="1500" b="0">
                <a:solidFill>
                  <a:srgbClr val="142B33"/>
                </a:solidFill>
                <a:latin typeface="Calibri"/>
              </a:rPr>
              <a:t> que se pueden estudiar</a:t>
            </a:r>
          </a:p>
        </p:txBody>
      </p:sp>
      <p:sp>
        <p:nvSpPr>
          <p:cNvPr id="5" name="Rounded Rectangle 4"/>
          <p:cNvSpPr/>
          <p:nvPr/>
        </p:nvSpPr>
        <p:spPr>
          <a:xfrm>
            <a:off x="548640" y="4077462"/>
            <a:ext cx="5432907" cy="1234440"/>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900" b="1">
                <a:solidFill>
                  <a:srgbClr val="0F4C5C"/>
                </a:solidFill>
                <a:latin typeface="Cambria"/>
              </a:rPr>
              <a:t>Resolución III</a:t>
            </a:r>
          </a:p>
          <a:p>
            <a:pPr algn="l"/>
            <a:r>
              <a:rPr sz="1700" b="0">
                <a:solidFill>
                  <a:srgbClr val="142B33"/>
                </a:solidFill>
                <a:latin typeface="Calibri"/>
              </a:rPr>
              <a:t>Máximo </a:t>
            </a:r>
            <a:r>
              <a:rPr sz="1700" b="1">
                <a:solidFill>
                  <a:srgbClr val="142B33"/>
                </a:solidFill>
                <a:latin typeface="Calibri"/>
              </a:rPr>
              <a:t>k = N − 1</a:t>
            </a:r>
            <a:r>
              <a:rPr sz="1700" b="0">
                <a:solidFill>
                  <a:srgbClr val="142B33"/>
                </a:solidFill>
                <a:latin typeface="Calibri"/>
              </a:rPr>
              <a:t> factores</a:t>
            </a:r>
          </a:p>
        </p:txBody>
      </p:sp>
      <p:sp>
        <p:nvSpPr>
          <p:cNvPr id="6" name="Rounded Rectangle 5"/>
          <p:cNvSpPr/>
          <p:nvPr/>
        </p:nvSpPr>
        <p:spPr>
          <a:xfrm>
            <a:off x="6210147" y="4077462"/>
            <a:ext cx="5432907" cy="1234440"/>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900" b="1">
                <a:solidFill>
                  <a:srgbClr val="0F4C5C"/>
                </a:solidFill>
                <a:latin typeface="Cambria"/>
              </a:rPr>
              <a:t>Resolución IV</a:t>
            </a:r>
          </a:p>
          <a:p>
            <a:pPr algn="l"/>
            <a:r>
              <a:rPr sz="1700" b="0">
                <a:solidFill>
                  <a:srgbClr val="142B33"/>
                </a:solidFill>
                <a:latin typeface="Calibri"/>
              </a:rPr>
              <a:t>Mínimo </a:t>
            </a:r>
            <a:r>
              <a:rPr sz="1700" b="1">
                <a:solidFill>
                  <a:srgbClr val="142B33"/>
                </a:solidFill>
                <a:latin typeface="Calibri"/>
              </a:rPr>
              <a:t>N = 2k</a:t>
            </a:r>
            <a:r>
              <a:rPr sz="1700" b="0">
                <a:solidFill>
                  <a:srgbClr val="142B33"/>
                </a:solidFill>
                <a:latin typeface="Calibri"/>
              </a:rPr>
              <a:t> corridas</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Diseños de resolución IV y V</a:t>
            </a:r>
          </a:p>
        </p:txBody>
      </p:sp>
      <p:sp>
        <p:nvSpPr>
          <p:cNvPr id="8" name="TextBox 7"/>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111</a:t>
            </a:r>
          </a:p>
        </p:txBody>
      </p:sp>
      <p:sp>
        <p:nvSpPr>
          <p:cNvPr id="9" name="Rounded Rectangle 8"/>
          <p:cNvSpPr/>
          <p:nvPr/>
        </p:nvSpPr>
        <p:spPr>
          <a:xfrm>
            <a:off x="548640" y="91440"/>
            <a:ext cx="3287268"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9 · Diseños de resolución IV y V</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0F4C5C"/>
        </a:solidFill>
        <a:effectLst/>
      </p:bgPr>
    </p:bg>
    <p:spTree>
      <p:nvGrpSpPr>
        <p:cNvPr id="1" name=""/>
        <p:cNvGrpSpPr/>
        <p:nvPr/>
      </p:nvGrpSpPr>
      <p:grpSpPr/>
      <p:sp>
        <p:nvSpPr>
          <p:cNvPr id="2" name="Title 1"/>
          <p:cNvSpPr>
            <a:spLocks noGrp="1"/>
          </p:cNvSpPr>
          <p:nvPr>
            <p:ph type="title"/>
          </p:nvPr>
        </p:nvSpPr>
        <p:spPr>
          <a:xfrm>
            <a:off x="548640" y="3383280"/>
            <a:ext cx="11094415" cy="914400"/>
          </a:xfrm>
        </p:spPr>
        <p:txBody>
          <a:bodyPr wrap="square" anchor="t" lIns="0" rIns="0" tIns="0" bIns="0"/>
          <a:lstStyle/>
          <a:p>
            <a:pPr algn="l"/>
            <a:r>
              <a:rPr sz="4400" b="1">
                <a:solidFill>
                  <a:srgbClr val="FFFFFF"/>
                </a:solidFill>
                <a:latin typeface="Cambria"/>
              </a:rPr>
              <a:t>Cierre</a:t>
            </a:r>
          </a:p>
        </p:txBody>
      </p:sp>
      <p:sp>
        <p:nvSpPr>
          <p:cNvPr id="3" name="Oval 2"/>
          <p:cNvSpPr/>
          <p:nvPr/>
        </p:nvSpPr>
        <p:spPr>
          <a:xfrm>
            <a:off x="548640" y="2011680"/>
            <a:ext cx="1188720" cy="1188720"/>
          </a:xfrm>
          <a:prstGeom prst="ellipse">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FFFFFF"/>
                </a:solidFill>
                <a:latin typeface="Cambria"/>
              </a:rPr>
              <a:t>10</a:t>
            </a:r>
          </a:p>
        </p:txBody>
      </p:sp>
      <p:sp>
        <p:nvSpPr>
          <p:cNvPr id="4" name="TextBox 3"/>
          <p:cNvSpPr txBox="1"/>
          <p:nvPr/>
        </p:nvSpPr>
        <p:spPr>
          <a:xfrm>
            <a:off x="548640" y="4343400"/>
            <a:ext cx="11094415" cy="548640"/>
          </a:xfrm>
          <a:prstGeom prst="rect">
            <a:avLst/>
          </a:prstGeom>
          <a:noFill/>
        </p:spPr>
        <p:txBody>
          <a:bodyPr wrap="square" anchor="t" lIns="0" rIns="0" tIns="0" bIns="0">
            <a:spAutoFit/>
          </a:bodyPr>
          <a:lstStyle/>
          <a:p>
            <a:r>
              <a:rPr sz="2000" b="0">
                <a:solidFill>
                  <a:srgbClr val="CFE3E8"/>
                </a:solidFill>
                <a:latin typeface="Calibri"/>
              </a:rPr>
              <a:t>Lo que hay que recordar</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Lo que hay que recordar</a:t>
            </a:r>
          </a:p>
        </p:txBody>
      </p:sp>
      <p:sp>
        <p:nvSpPr>
          <p:cNvPr id="3" name="TextBox 2"/>
          <p:cNvSpPr txBox="1"/>
          <p:nvPr/>
        </p:nvSpPr>
        <p:spPr>
          <a:xfrm>
            <a:off x="548640" y="1417320"/>
            <a:ext cx="5341467" cy="346455"/>
          </a:xfrm>
          <a:prstGeom prst="rect">
            <a:avLst/>
          </a:prstGeom>
          <a:noFill/>
        </p:spPr>
        <p:txBody>
          <a:bodyPr wrap="square" anchor="t" lIns="0" rIns="0" tIns="0" bIns="0">
            <a:spAutoFit/>
          </a:bodyPr>
          <a:lstStyle/>
          <a:p>
            <a:r>
              <a:rPr sz="2000" b="1">
                <a:solidFill>
                  <a:srgbClr val="142B33"/>
                </a:solidFill>
                <a:latin typeface="Calibri"/>
              </a:rPr>
              <a:t>Ideas clave</a:t>
            </a:r>
          </a:p>
        </p:txBody>
      </p:sp>
      <p:sp>
        <p:nvSpPr>
          <p:cNvPr id="4" name="TextBox 3"/>
          <p:cNvSpPr txBox="1"/>
          <p:nvPr/>
        </p:nvSpPr>
        <p:spPr>
          <a:xfrm>
            <a:off x="548640" y="1964944"/>
            <a:ext cx="5341467" cy="3468623"/>
          </a:xfrm>
          <a:prstGeom prst="rect">
            <a:avLst/>
          </a:prstGeom>
          <a:noFill/>
        </p:spPr>
        <p:txBody>
          <a:bodyPr wrap="square" anchor="t" lIns="0" rIns="0" tIns="0" bIns="0">
            <a:spAutoFit/>
          </a:bodyPr>
          <a:lstStyle/>
          <a:p>
            <a:pPr marL="320040" indent="-320040">
              <a:spcAft>
                <a:spcPts val="600"/>
              </a:spcAft>
              <a:buClr>
                <a:srgbClr val="E36414"/>
              </a:buClr>
              <a:buFont typeface="Arial"/>
              <a:buChar char="•"/>
            </a:pPr>
            <a:r>
              <a:rPr sz="1600" b="0">
                <a:solidFill>
                  <a:srgbClr val="142B33"/>
                </a:solidFill>
                <a:latin typeface="Calibri"/>
              </a:rPr>
              <a:t>Desde k = 5 el completo tiene </a:t>
            </a:r>
            <a:r>
              <a:rPr sz="1600" b="1">
                <a:solidFill>
                  <a:srgbClr val="142B33"/>
                </a:solidFill>
                <a:latin typeface="Calibri"/>
              </a:rPr>
              <a:t>exceso de información</a:t>
            </a:r>
            <a:r>
              <a:rPr sz="1600" b="0">
                <a:solidFill>
                  <a:srgbClr val="142B33"/>
                </a:solidFill>
                <a:latin typeface="Calibri"/>
              </a:rPr>
              <a:t>: se puede fraccionar</a:t>
            </a:r>
          </a:p>
          <a:p>
            <a:pPr marL="320040" indent="-320040">
              <a:spcAft>
                <a:spcPts val="600"/>
              </a:spcAft>
              <a:buClr>
                <a:srgbClr val="E36414"/>
              </a:buClr>
              <a:buFont typeface="Arial"/>
              <a:buChar char="•"/>
            </a:pPr>
            <a:r>
              <a:rPr sz="1600" b="0">
                <a:solidFill>
                  <a:srgbClr val="142B33"/>
                </a:solidFill>
                <a:latin typeface="Calibri"/>
              </a:rPr>
              <a:t>Los </a:t>
            </a:r>
            <a:r>
              <a:rPr sz="1600" b="1">
                <a:solidFill>
                  <a:srgbClr val="142B33"/>
                </a:solidFill>
                <a:latin typeface="Calibri"/>
              </a:rPr>
              <a:t>dos hechos</a:t>
            </a:r>
            <a:r>
              <a:rPr sz="1600" b="0">
                <a:solidFill>
                  <a:srgbClr val="142B33"/>
                </a:solidFill>
                <a:latin typeface="Calibri"/>
              </a:rPr>
              <a:t>: se pierde información y todo efecto tiene </a:t>
            </a:r>
            <a:r>
              <a:rPr sz="1600" b="1">
                <a:solidFill>
                  <a:srgbClr val="142B33"/>
                </a:solidFill>
                <a:latin typeface="Calibri"/>
              </a:rPr>
              <a:t>alias</a:t>
            </a:r>
          </a:p>
          <a:p>
            <a:pPr marL="320040" indent="-320040">
              <a:spcAft>
                <a:spcPts val="600"/>
              </a:spcAft>
              <a:buClr>
                <a:srgbClr val="E36414"/>
              </a:buClr>
              <a:buFont typeface="Arial"/>
              <a:buChar char="•"/>
            </a:pPr>
            <a:r>
              <a:rPr sz="1600" b="0">
                <a:solidFill>
                  <a:srgbClr val="142B33"/>
                </a:solidFill>
                <a:latin typeface="Calibri"/>
              </a:rPr>
              <a:t>Construcción en </a:t>
            </a:r>
            <a:r>
              <a:rPr sz="1600" b="1">
                <a:solidFill>
                  <a:srgbClr val="142B33"/>
                </a:solidFill>
                <a:latin typeface="Calibri"/>
              </a:rPr>
              <a:t>dos pasos</a:t>
            </a:r>
            <a:r>
              <a:rPr sz="1600" b="0">
                <a:solidFill>
                  <a:srgbClr val="142B33"/>
                </a:solidFill>
                <a:latin typeface="Calibri"/>
              </a:rPr>
              <a:t>; la </a:t>
            </a:r>
            <a:r>
              <a:rPr sz="1600" b="1">
                <a:solidFill>
                  <a:srgbClr val="142B33"/>
                </a:solidFill>
                <a:latin typeface="Calibri"/>
              </a:rPr>
              <a:t>relación definidora</a:t>
            </a:r>
            <a:r>
              <a:rPr sz="1600" b="0">
                <a:solidFill>
                  <a:srgbClr val="142B33"/>
                </a:solidFill>
                <a:latin typeface="Calibri"/>
              </a:rPr>
              <a:t> da los alias</a:t>
            </a:r>
          </a:p>
          <a:p>
            <a:pPr marL="320040" indent="-320040">
              <a:spcAft>
                <a:spcPts val="600"/>
              </a:spcAft>
              <a:buClr>
                <a:srgbClr val="E36414"/>
              </a:buClr>
              <a:buFont typeface="Arial"/>
              <a:buChar char="•"/>
            </a:pPr>
            <a:r>
              <a:rPr sz="1600" b="0">
                <a:solidFill>
                  <a:srgbClr val="142B33"/>
                </a:solidFill>
                <a:latin typeface="Calibri"/>
              </a:rPr>
              <a:t>La </a:t>
            </a:r>
            <a:r>
              <a:rPr sz="1600" b="1">
                <a:solidFill>
                  <a:srgbClr val="142B33"/>
                </a:solidFill>
                <a:latin typeface="Calibri"/>
              </a:rPr>
              <a:t>resolución</a:t>
            </a:r>
            <a:r>
              <a:rPr sz="1600" b="0">
                <a:solidFill>
                  <a:srgbClr val="142B33"/>
                </a:solidFill>
                <a:latin typeface="Calibri"/>
              </a:rPr>
              <a:t> dice qué tan bien se estudian los efectos importantes</a:t>
            </a:r>
          </a:p>
          <a:p>
            <a:pPr marL="320040" indent="-320040">
              <a:spcAft>
                <a:spcPts val="600"/>
              </a:spcAft>
              <a:buClr>
                <a:srgbClr val="E36414"/>
              </a:buClr>
              <a:buFont typeface="Arial"/>
              <a:buChar char="•"/>
            </a:pPr>
            <a:r>
              <a:rPr sz="1600" b="0">
                <a:solidFill>
                  <a:srgbClr val="142B33"/>
                </a:solidFill>
                <a:latin typeface="Calibri"/>
              </a:rPr>
              <a:t>Pareto y Daniel → </a:t>
            </a:r>
            <a:r>
              <a:rPr sz="1600" b="1">
                <a:solidFill>
                  <a:srgbClr val="142B33"/>
                </a:solidFill>
                <a:latin typeface="Calibri"/>
              </a:rPr>
              <a:t>mejor ANOVA</a:t>
            </a:r>
            <a:r>
              <a:rPr sz="1600" b="0">
                <a:solidFill>
                  <a:srgbClr val="142B33"/>
                </a:solidFill>
                <a:latin typeface="Calibri"/>
              </a:rPr>
              <a:t> → supuestos → </a:t>
            </a:r>
            <a:r>
              <a:rPr sz="1600" b="1">
                <a:solidFill>
                  <a:srgbClr val="142B33"/>
                </a:solidFill>
                <a:latin typeface="Calibri"/>
              </a:rPr>
              <a:t>mejor tratamiento</a:t>
            </a:r>
          </a:p>
          <a:p>
            <a:pPr marL="320040" indent="-320040">
              <a:spcAft>
                <a:spcPts val="600"/>
              </a:spcAft>
              <a:buClr>
                <a:srgbClr val="E36414"/>
              </a:buClr>
              <a:buFont typeface="Arial"/>
              <a:buChar char="•"/>
            </a:pPr>
            <a:r>
              <a:rPr sz="1600" b="0">
                <a:solidFill>
                  <a:srgbClr val="142B33"/>
                </a:solidFill>
                <a:latin typeface="Calibri"/>
              </a:rPr>
              <a:t>Las conclusiones son </a:t>
            </a:r>
            <a:r>
              <a:rPr sz="1600" b="1">
                <a:solidFill>
                  <a:srgbClr val="142B33"/>
                </a:solidFill>
                <a:latin typeface="Calibri"/>
              </a:rPr>
              <a:t>tentativas</a:t>
            </a:r>
            <a:r>
              <a:rPr sz="1600" b="0">
                <a:solidFill>
                  <a:srgbClr val="142B33"/>
                </a:solidFill>
                <a:latin typeface="Calibri"/>
              </a:rPr>
              <a:t>: otra fracción las confirma</a:t>
            </a:r>
          </a:p>
        </p:txBody>
      </p:sp>
      <p:sp>
        <p:nvSpPr>
          <p:cNvPr id="5" name="TextBox 4"/>
          <p:cNvSpPr txBox="1"/>
          <p:nvPr/>
        </p:nvSpPr>
        <p:spPr>
          <a:xfrm>
            <a:off x="6301587" y="1417320"/>
            <a:ext cx="5341467" cy="346455"/>
          </a:xfrm>
          <a:prstGeom prst="rect">
            <a:avLst/>
          </a:prstGeom>
          <a:noFill/>
        </p:spPr>
        <p:txBody>
          <a:bodyPr wrap="square" anchor="t" lIns="0" rIns="0" tIns="0" bIns="0">
            <a:spAutoFit/>
          </a:bodyPr>
          <a:lstStyle/>
          <a:p>
            <a:r>
              <a:rPr sz="2000" b="1">
                <a:solidFill>
                  <a:srgbClr val="142B33"/>
                </a:solidFill>
                <a:latin typeface="Calibri"/>
              </a:rPr>
              <a:t>Errores frecuentes</a:t>
            </a:r>
          </a:p>
        </p:txBody>
      </p:sp>
      <p:sp>
        <p:nvSpPr>
          <p:cNvPr id="6" name="TextBox 5"/>
          <p:cNvSpPr txBox="1"/>
          <p:nvPr/>
        </p:nvSpPr>
        <p:spPr>
          <a:xfrm>
            <a:off x="6301587" y="1964944"/>
            <a:ext cx="5341467" cy="2255265"/>
          </a:xfrm>
          <a:prstGeom prst="rect">
            <a:avLst/>
          </a:prstGeom>
          <a:noFill/>
        </p:spPr>
        <p:txBody>
          <a:bodyPr wrap="square" anchor="t" lIns="0" rIns="0" tIns="0" bIns="0">
            <a:spAutoFit/>
          </a:bodyPr>
          <a:lstStyle/>
          <a:p>
            <a:pPr marL="320040" indent="-320040">
              <a:spcAft>
                <a:spcPts val="600"/>
              </a:spcAft>
              <a:buClr>
                <a:srgbClr val="E36414"/>
              </a:buClr>
              <a:buFont typeface="Arial"/>
              <a:buChar char="•"/>
            </a:pPr>
            <a:r>
              <a:rPr sz="1700" b="0">
                <a:solidFill>
                  <a:srgbClr val="142B33"/>
                </a:solidFill>
                <a:latin typeface="Calibri"/>
              </a:rPr>
              <a:t>Interpretar un efecto </a:t>
            </a:r>
            <a:r>
              <a:rPr sz="1700" b="1">
                <a:solidFill>
                  <a:srgbClr val="142B33"/>
                </a:solidFill>
                <a:latin typeface="Calibri"/>
              </a:rPr>
              <a:t>sin revisar sus alias</a:t>
            </a:r>
          </a:p>
          <a:p>
            <a:pPr marL="320040" indent="-320040">
              <a:spcAft>
                <a:spcPts val="600"/>
              </a:spcAft>
              <a:buClr>
                <a:srgbClr val="E36414"/>
              </a:buClr>
              <a:buFont typeface="Arial"/>
              <a:buChar char="•"/>
            </a:pPr>
            <a:r>
              <a:rPr sz="1700" b="0">
                <a:solidFill>
                  <a:srgbClr val="142B33"/>
                </a:solidFill>
                <a:latin typeface="Calibri"/>
              </a:rPr>
              <a:t>Usar resolución III </a:t>
            </a:r>
            <a:r>
              <a:rPr sz="1700" b="1">
                <a:solidFill>
                  <a:srgbClr val="142B33"/>
                </a:solidFill>
                <a:latin typeface="Calibri"/>
              </a:rPr>
              <a:t>sin prever un doblez</a:t>
            </a:r>
            <a:r>
              <a:rPr sz="1700" b="0">
                <a:solidFill>
                  <a:srgbClr val="142B33"/>
                </a:solidFill>
                <a:latin typeface="Calibri"/>
              </a:rPr>
              <a:t> cuando puede haber interacciones</a:t>
            </a:r>
          </a:p>
          <a:p>
            <a:pPr marL="320040" indent="-320040">
              <a:spcAft>
                <a:spcPts val="600"/>
              </a:spcAft>
              <a:buClr>
                <a:srgbClr val="E36414"/>
              </a:buClr>
              <a:buFont typeface="Arial"/>
              <a:buChar char="•"/>
            </a:pPr>
            <a:r>
              <a:rPr sz="1700" b="0">
                <a:solidFill>
                  <a:srgbClr val="142B33"/>
                </a:solidFill>
                <a:latin typeface="Calibri"/>
              </a:rPr>
              <a:t>No aleatorizar o no guardar el </a:t>
            </a:r>
            <a:r>
              <a:rPr sz="1700" b="1">
                <a:solidFill>
                  <a:srgbClr val="142B33"/>
                </a:solidFill>
                <a:latin typeface="Calibri"/>
              </a:rPr>
              <a:t>orden de corrida</a:t>
            </a:r>
          </a:p>
          <a:p>
            <a:pPr marL="320040" indent="-320040">
              <a:spcAft>
                <a:spcPts val="600"/>
              </a:spcAft>
              <a:buClr>
                <a:srgbClr val="E36414"/>
              </a:buClr>
              <a:buFont typeface="Arial"/>
              <a:buChar char="•"/>
            </a:pPr>
            <a:r>
              <a:rPr sz="1700" b="0">
                <a:solidFill>
                  <a:srgbClr val="142B33"/>
                </a:solidFill>
                <a:latin typeface="Calibri"/>
              </a:rPr>
              <a:t>No cuidar la </a:t>
            </a:r>
            <a:r>
              <a:rPr sz="1700" b="1">
                <a:solidFill>
                  <a:srgbClr val="142B33"/>
                </a:solidFill>
                <a:latin typeface="Calibri"/>
              </a:rPr>
              <a:t>asignación</a:t>
            </a:r>
            <a:r>
              <a:rPr sz="1700" b="0">
                <a:solidFill>
                  <a:srgbClr val="142B33"/>
                </a:solidFill>
                <a:latin typeface="Calibri"/>
              </a:rPr>
              <a:t> de factores a columnas (alias y proyección)</a:t>
            </a:r>
          </a:p>
          <a:p>
            <a:pPr marL="320040" indent="-320040">
              <a:spcAft>
                <a:spcPts val="600"/>
              </a:spcAft>
              <a:buClr>
                <a:srgbClr val="E36414"/>
              </a:buClr>
              <a:buFont typeface="Arial"/>
              <a:buChar char="•"/>
            </a:pPr>
            <a:r>
              <a:rPr sz="1700" b="0">
                <a:solidFill>
                  <a:srgbClr val="142B33"/>
                </a:solidFill>
                <a:latin typeface="Calibri"/>
              </a:rPr>
              <a:t>Dar por definitivo lo que no se ha confirmado</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Cierre</a:t>
            </a:r>
          </a:p>
        </p:txBody>
      </p:sp>
      <p:sp>
        <p:nvSpPr>
          <p:cNvPr id="8" name="TextBox 7"/>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113</a:t>
            </a:r>
          </a:p>
        </p:txBody>
      </p:sp>
      <p:sp>
        <p:nvSpPr>
          <p:cNvPr id="9" name="Rounded Rectangle 8"/>
          <p:cNvSpPr/>
          <p:nvPr/>
        </p:nvSpPr>
        <p:spPr>
          <a:xfrm>
            <a:off x="548640" y="91440"/>
            <a:ext cx="165506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10 · Cierre</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Referencias</a:t>
            </a:r>
          </a:p>
        </p:txBody>
      </p:sp>
      <p:sp>
        <p:nvSpPr>
          <p:cNvPr id="3" name="TextBox 2"/>
          <p:cNvSpPr txBox="1"/>
          <p:nvPr/>
        </p:nvSpPr>
        <p:spPr>
          <a:xfrm>
            <a:off x="548640" y="1417320"/>
            <a:ext cx="5341467" cy="346455"/>
          </a:xfrm>
          <a:prstGeom prst="rect">
            <a:avLst/>
          </a:prstGeom>
          <a:noFill/>
        </p:spPr>
        <p:txBody>
          <a:bodyPr wrap="square" anchor="t" lIns="0" rIns="0" tIns="0" bIns="0">
            <a:spAutoFit/>
          </a:bodyPr>
          <a:lstStyle/>
          <a:p>
            <a:r>
              <a:rPr sz="2000" b="1">
                <a:solidFill>
                  <a:srgbClr val="142B33"/>
                </a:solidFill>
                <a:latin typeface="Calibri"/>
              </a:rPr>
              <a:t>Fuentes de la teoría y de los ejemplos</a:t>
            </a:r>
          </a:p>
        </p:txBody>
      </p:sp>
      <p:sp>
        <p:nvSpPr>
          <p:cNvPr id="4" name="TextBox 3"/>
          <p:cNvSpPr txBox="1"/>
          <p:nvPr/>
        </p:nvSpPr>
        <p:spPr>
          <a:xfrm>
            <a:off x="548640" y="1964944"/>
            <a:ext cx="5341467" cy="1899919"/>
          </a:xfrm>
          <a:prstGeom prst="rect">
            <a:avLst/>
          </a:prstGeom>
          <a:noFill/>
        </p:spPr>
        <p:txBody>
          <a:bodyPr wrap="square" anchor="t" lIns="0" rIns="0" tIns="0" bIns="0">
            <a:spAutoFit/>
          </a:bodyPr>
          <a:lstStyle/>
          <a:p>
            <a:pPr marL="320040" indent="-320040">
              <a:spcAft>
                <a:spcPts val="600"/>
              </a:spcAft>
              <a:buClr>
                <a:srgbClr val="E36414"/>
              </a:buClr>
              <a:buFont typeface="Arial"/>
              <a:buChar char="•"/>
            </a:pPr>
            <a:r>
              <a:rPr sz="1600" b="0">
                <a:solidFill>
                  <a:srgbClr val="142B33"/>
                </a:solidFill>
                <a:latin typeface="Calibri"/>
              </a:rPr>
              <a:t>Gutiérrez Pulido, H. y De la Vara Salazar, R. (2008). Análisis y diseño de experimentos, 2.ª ed. McGraw-Hill. Capítulo 8: orden, explicaciones y ejemplos de semiconductores y vibración</a:t>
            </a:r>
          </a:p>
          <a:p>
            <a:pPr marL="320040" indent="-320040">
              <a:spcAft>
                <a:spcPts val="600"/>
              </a:spcAft>
              <a:buClr>
                <a:srgbClr val="E36414"/>
              </a:buClr>
              <a:buFont typeface="Arial"/>
              <a:buChar char="•"/>
            </a:pPr>
            <a:r>
              <a:rPr sz="1600" b="0">
                <a:solidFill>
                  <a:srgbClr val="142B33"/>
                </a:solidFill>
                <a:latin typeface="Calibri"/>
              </a:rPr>
              <a:t>Montgomery, D. C. (2004). Diseño y análisis de experimentos, 2.ª ed. Limusa-Wiley. Capítulos 6, 7 y 8: terminología, temas adicionales y ejemplos 8-1 a 8-8</a:t>
            </a:r>
          </a:p>
        </p:txBody>
      </p:sp>
      <p:sp>
        <p:nvSpPr>
          <p:cNvPr id="5" name="Rounded Rectangle 4"/>
          <p:cNvSpPr/>
          <p:nvPr/>
        </p:nvSpPr>
        <p:spPr>
          <a:xfrm>
            <a:off x="548640" y="4066032"/>
            <a:ext cx="5341467"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Todos los cálculos se rehicieron a partir de los datos</a:t>
            </a:r>
          </a:p>
        </p:txBody>
      </p:sp>
      <p:sp>
        <p:nvSpPr>
          <p:cNvPr id="6" name="TextBox 5"/>
          <p:cNvSpPr txBox="1"/>
          <p:nvPr/>
        </p:nvSpPr>
        <p:spPr>
          <a:xfrm>
            <a:off x="6301587" y="1417320"/>
            <a:ext cx="5341467" cy="346455"/>
          </a:xfrm>
          <a:prstGeom prst="rect">
            <a:avLst/>
          </a:prstGeom>
          <a:noFill/>
        </p:spPr>
        <p:txBody>
          <a:bodyPr wrap="square" anchor="t" lIns="0" rIns="0" tIns="0" bIns="0">
            <a:spAutoFit/>
          </a:bodyPr>
          <a:lstStyle/>
          <a:p>
            <a:r>
              <a:rPr sz="2000" b="1">
                <a:solidFill>
                  <a:srgbClr val="142B33"/>
                </a:solidFill>
                <a:latin typeface="Calibri"/>
              </a:rPr>
              <a:t>Bibliografía del curso para profundizar</a:t>
            </a:r>
          </a:p>
        </p:txBody>
      </p:sp>
      <p:sp>
        <p:nvSpPr>
          <p:cNvPr id="7" name="TextBox 6"/>
          <p:cNvSpPr txBox="1"/>
          <p:nvPr/>
        </p:nvSpPr>
        <p:spPr>
          <a:xfrm>
            <a:off x="6301587" y="1964944"/>
            <a:ext cx="5341467" cy="872489"/>
          </a:xfrm>
          <a:prstGeom prst="rect">
            <a:avLst/>
          </a:prstGeom>
          <a:noFill/>
        </p:spPr>
        <p:txBody>
          <a:bodyPr wrap="square" anchor="t" lIns="0" rIns="0" tIns="0" bIns="0">
            <a:spAutoFit/>
          </a:bodyPr>
          <a:lstStyle/>
          <a:p>
            <a:pPr marL="320040" indent="-320040">
              <a:spcAft>
                <a:spcPts val="600"/>
              </a:spcAft>
              <a:buClr>
                <a:srgbClr val="E36414"/>
              </a:buClr>
              <a:buFont typeface="Arial"/>
              <a:buChar char="•"/>
            </a:pPr>
            <a:r>
              <a:rPr sz="1700" b="0">
                <a:solidFill>
                  <a:srgbClr val="142B33"/>
                </a:solidFill>
                <a:latin typeface="Calibri"/>
              </a:rPr>
              <a:t>Box, G. E. P., Hunter, J. S. y Hunter, W. G. (2005). Statistics for Experimenters. John Wiley &amp; Sons</a:t>
            </a:r>
          </a:p>
        </p:txBody>
      </p:sp>
      <p:sp>
        <p:nvSpPr>
          <p:cNvPr id="8" name="TextBox 7"/>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factoriales fraccionados · Montgomery y Gutiérrez · Cierre</a:t>
            </a:r>
          </a:p>
        </p:txBody>
      </p:sp>
      <p:sp>
        <p:nvSpPr>
          <p:cNvPr id="9" name="TextBox 8"/>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114</a:t>
            </a:r>
          </a:p>
        </p:txBody>
      </p:sp>
      <p:sp>
        <p:nvSpPr>
          <p:cNvPr id="10" name="Rounded Rectangle 9"/>
          <p:cNvSpPr/>
          <p:nvPr/>
        </p:nvSpPr>
        <p:spPr>
          <a:xfrm>
            <a:off x="548640" y="91440"/>
            <a:ext cx="1655064"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10 · Cierre</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0F4C5C"/>
        </a:solidFill>
        <a:effectLst/>
      </p:bgPr>
    </p:bg>
    <p:spTree>
      <p:nvGrpSpPr>
        <p:cNvPr id="1" name=""/>
        <p:cNvGrpSpPr/>
        <p:nvPr/>
      </p:nvGrpSpPr>
      <p:grpSpPr/>
      <p:sp>
        <p:nvSpPr>
          <p:cNvPr id="2" name="Title 1"/>
          <p:cNvSpPr>
            <a:spLocks noGrp="1"/>
          </p:cNvSpPr>
          <p:nvPr>
            <p:ph type="title"/>
          </p:nvPr>
        </p:nvSpPr>
        <p:spPr>
          <a:xfrm>
            <a:off x="548640" y="2103120"/>
            <a:ext cx="11094415" cy="1371600"/>
          </a:xfrm>
        </p:spPr>
        <p:txBody>
          <a:bodyPr wrap="square" anchor="b" lIns="0" rIns="0" tIns="0" bIns="0"/>
          <a:lstStyle/>
          <a:p>
            <a:pPr algn="l"/>
            <a:r>
              <a:rPr sz="4600" b="1">
                <a:solidFill>
                  <a:srgbClr val="FFFFFF"/>
                </a:solidFill>
                <a:latin typeface="Cambria"/>
              </a:rPr>
              <a:t>¿Preguntas?</a:t>
            </a:r>
          </a:p>
        </p:txBody>
      </p:sp>
      <p:sp>
        <p:nvSpPr>
          <p:cNvPr id="3" name="TextBox 2"/>
          <p:cNvSpPr txBox="1"/>
          <p:nvPr/>
        </p:nvSpPr>
        <p:spPr>
          <a:xfrm>
            <a:off x="548640" y="3657600"/>
            <a:ext cx="11094415" cy="548640"/>
          </a:xfrm>
          <a:prstGeom prst="rect">
            <a:avLst/>
          </a:prstGeom>
          <a:noFill/>
        </p:spPr>
        <p:txBody>
          <a:bodyPr wrap="square" anchor="t" lIns="0" rIns="0" tIns="0" bIns="0">
            <a:spAutoFit/>
          </a:bodyPr>
          <a:lstStyle/>
          <a:p>
            <a:r>
              <a:rPr sz="2200" b="0">
                <a:solidFill>
                  <a:srgbClr val="CFE3E8"/>
                </a:solidFill>
                <a:latin typeface="Calibri"/>
              </a:rPr>
              <a:t>Diseños factoriales fraccionados 2</a:t>
            </a:r>
            <a:r>
              <a:rPr sz="2200" b="0" baseline="30000">
                <a:solidFill>
                  <a:srgbClr val="CFE3E8"/>
                </a:solidFill>
                <a:latin typeface="Calibri"/>
              </a:rPr>
              <a:t>k−p</a:t>
            </a:r>
          </a:p>
        </p:txBody>
      </p:sp>
      <p:sp>
        <p:nvSpPr>
          <p:cNvPr id="4" name="Oval 3"/>
          <p:cNvSpPr/>
          <p:nvPr/>
        </p:nvSpPr>
        <p:spPr>
          <a:xfrm>
            <a:off x="8899855" y="502920"/>
            <a:ext cx="914400" cy="914400"/>
          </a:xfrm>
          <a:prstGeom prst="ellipse">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3600" b="1">
                <a:solidFill>
                  <a:srgbClr val="FFFFFF"/>
                </a:solidFill>
                <a:latin typeface="Calibri"/>
              </a:rPr>
              <a:t>+</a:t>
            </a:r>
          </a:p>
        </p:txBody>
      </p:sp>
      <p:sp>
        <p:nvSpPr>
          <p:cNvPr id="5" name="Oval 4"/>
          <p:cNvSpPr/>
          <p:nvPr/>
        </p:nvSpPr>
        <p:spPr>
          <a:xfrm>
            <a:off x="10088575" y="502920"/>
            <a:ext cx="914400" cy="9144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3600" b="1">
                <a:solidFill>
                  <a:srgbClr val="0F4C5C"/>
                </a:solidFill>
                <a:latin typeface="Calibri"/>
              </a:rPr>
              <a:t>−</a:t>
            </a:r>
          </a:p>
        </p:txBody>
      </p:sp>
      <p:sp>
        <p:nvSpPr>
          <p:cNvPr id="6" name="Oval 5"/>
          <p:cNvSpPr/>
          <p:nvPr/>
        </p:nvSpPr>
        <p:spPr>
          <a:xfrm>
            <a:off x="8899855" y="1600200"/>
            <a:ext cx="914400" cy="9144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3600" b="1">
                <a:solidFill>
                  <a:srgbClr val="0F4C5C"/>
                </a:solidFill>
                <a:latin typeface="Calibri"/>
              </a:rPr>
              <a:t>+</a:t>
            </a:r>
          </a:p>
        </p:txBody>
      </p:sp>
      <p:sp>
        <p:nvSpPr>
          <p:cNvPr id="7" name="Oval 6"/>
          <p:cNvSpPr/>
          <p:nvPr/>
        </p:nvSpPr>
        <p:spPr>
          <a:xfrm>
            <a:off x="10088575" y="1600200"/>
            <a:ext cx="914400" cy="914400"/>
          </a:xfrm>
          <a:prstGeom prst="ellipse">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3600" b="1">
                <a:solidFill>
                  <a:srgbClr val="FFFFFF"/>
                </a:solidFill>
                <a:latin typeface="Calibri"/>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