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8487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Presentarse y presentar la propuesta en una frase: vamos a calibrar un autocorrelador de intensidad comparando el ancho de pulso que mide con el valor que reporta el fabricante del láser. Todo lo que sigue es la física que hace falta para entender por qué esa comparación es el primer paso correcto.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Anunciar desde el principio adónde vamos: así cada bloque de física se escucha como parte del argumento. La propuesta es un experimento de comparación simple: patrón (dato del fabricante) frente a técnica (autocorrelador de intensidad). Los cinco bloques siguientes construyen las razones; el sexto presenta el diseño.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fs es 10^-15 s. Un fotodiodo rápido responde en decenas de picosegundos y un osciloscopio rápido en picosegundos: el pulso es de 100 a 1000 veces más corto. El detector solo ve la energía total del pulso, no su forma. Por eso la idea central de la técnica es que el pulso se mide a sí mismo. Dejar sembrada la consecuencia: un instrumento así no se verifica con un cronómetro, necesita una referencia externa; esa referencia es el fabricante (bloque 6). Los rangos de los detectores son órdenes de magnitud típicos, no especificaciones de un equipo.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campo es una portadora óptica (a 800 nm oscila cada 2,7 fs) modulada por una envolvente. Lo que se mide es la intensidad, el cuadrado de la envolvente, y el ancho de pulso se define como su ancho a media altura (FWHM). Las dos formas de referencia en la literatura son la gaussiana y la secante hiperbólica al cuadrado; la forma importa porque, como veremos, el ancho que reporta el autocorrelador depende de cuál se suponga.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Tiempo y frecuencia son pares de Fourier: un pulso cinco veces más corto tiene un espectro cinco veces más ancho (figura). El producto Δν·τp tiene un mínimo que depende de la forma: 0,441 para la gaussiana y 0,315 para la sech² (Diels y Rudolph, tabla 1.1, p. 10). Un pulso que alcanza ese mínimo se llama limitado por transformada; si tiene chirp, su espectro es más ancho que el límite (p. 18). Ejemplo: 100 fs gaussianos a 800 nm necesitan Δν = 4,41 THz, unos 9,4 nm. Por eso el espectro es un segundo dato para comparar con el fabricante.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cavidad admite modos longitudinales separados c/(2nL) (Diels y Rudolph, ec. 5.1, p. 278). Si muchos modos oscilan con la misma fase, se suman en un tren de pulsos que se repite cada tiempo de ida y vuelta; con fases al azar solo hay ruido (figura, 15 modos simulados). Más modos en fase, es decir más ancho de banda, dan un pulso más corto. La forma que se supone al medir suele ser sech² o gaussiana (p. 459); la sech² se asocia a la teoría de Haus (1975) y a los solitones (Diels y Rudolph, pp. 296 y 386).</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diapositiva define el patrón del experimento. Faltan los datos del láser: se completan cuando tengamos la ficha técnica. Lo importante es qué tipo de dato es el ancho: un valor típico del modelo, un máximo ("&lt; X fs") o una medición de este equipo en fábrica. También con qué técnica y qué forma supuesta lo midió el fabricante, porque para comparar hay que usar la misma. La antigüedad y el uso del láser desde esa medición es justamente lo que el experimento diagnostica.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vidrio retrasa unas frecuencias más que otras: el pulso sale con chirp y más largo, aunque el espectro sea el mismo. Para un pulso gaussiano sin chirp, el ancho de salida sigue la fórmula de la diapositiva: es la ec. 1.125 de Diels y Rudolph (p. 34) escrita con el FWHM. El ejemplo usa 1 cm de BK7 a 800 nm: k'' ≈ 45 fs²/mm, calculado con n'' = 0,05 µm⁻² de la tabla 2.1 (p. 62). Un pulso de 100 fs casi no cambia, uno de 30 fs crece un 70 %. Mensaje para la comparación: hay que contar todo el vidrio entre el láser y el cristal, incluido el divisor de haz y la lente del autocorrelador.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Tres pasos: dividir el pulso en dos copias, retrasar una de ellas, y combinarlas en un medio no lineal que solo responde cuando las dos copias llegan juntas. El detector es lento y solo integra esa señal; barriendo el retardo se recorre el pulso con el pulso mismo. El retardo sale del camino recorrido: el factor 2 es por la ida y vuelta en el retrorreflector, así que 1 µm de desplazamiento son 6,67 fs. La técnica es la que propuso Armstrong en 1967.</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Esquema genérico de un autocorrelador de barrido tipo Michelson. El rojo es la luz del láser (fundamental) y el violeta el segundo armónico que se genera en el cristal. Se reemplaza por el esquema del montaje real cuando tengamos sus componentes. En geometría colineal los dos haces viajan superpuestos y aparecen franjas y fondo; en la no colineal se cruzan en ángulo y la señal de suma sale sola, sin fondo.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un detector lineal la señal es la autocorrelación del campo, y su transformada de Fourier es el espectro (teorema de Wiener–Khinchin): no hay información de duración que no dé ya un espectrómetro. Diels y Rudolph lo dicen explícitamente en la p. 460. Para medir duración hay que multiplicar las dos intensidades, y eso solo lo hace un proceso de segundo orden: generación de segundo armónico en un cristal o absorción de dos fotones en un semiconductor.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término de segundo orden de la polarización oscila al doble de frecuencia: de 800 nm sale luz a 400 nm. La eficiencia depende del desajuste de fase Δk; en cristales birrefringentes como BBO o KDP se anula girando el cristal (ajuste de fase). El espesor es un compromiso: un cristal más grueso da más señal (crece con L²) pero acepta menos ancho de banda, y si es demasiado largo la traza medida sale más ancha que la real (Diels y Rudolph, p. 468). Desajuste de velocidad de grupo a 800 nm: BBO 187 fs/mm, KDP 77 fs/mm (tabla 3.2, p. 176). Prueba práctica: el espectro del armónico no debe salir más angosto que el fundamental al cuadrado.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Simulación para un pulso sech² de 20 fs. Sin fondo, la traza es la autocorrelación de intensidad A(τ), siempre simétrica. En geometría colineal promediada aparece un fondo y la relación pico/fondo es 3:1; si se resuelven las franjas, la traza interferométrica tiene relación 8:1 (Diels y Rudolph, p. 462 y fig. 9.1). Esas relaciones sirven para revisar la alineación antes de cada serie de mediciones: si no se cumplen, algo está mal.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traza no es el pulso: su ancho τAC es k veces el ancho del pulso, y k depende de la forma que se suponga. Los valores son de la tabla II de Sala et al. (1980, p. 993), que da τp/τAC para diez formas; Diels y Rudolph (tabla 9.1, p. 477) confirman 1,414 y 1,543. La misma traza da 70,7 fs si se supone gaussiana y 64,8 fs si se supone sech²: un 9 % de diferencia. Para comparar con el fabricante hay que usar la misma forma que él. Estos factores son de la autocorrelación de intensidad; la interferométrica usa otros.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ancho se lee sobre el eje de retardo, así que un error de escala en ese eje pasa completo al resultado. Tres formas de calibrarlo que aparecen en las fuentes: mover el brazo una distancia conocida con una platina de precisión (Sala et al., p. 992), insertar una lámina de vidrio de espesor conocido y medir el corrimiento (Diels y Rudolph, fig. 9.6, p. 470), o contar franjas de la traza interferométrica, cada una vale λ/c (Donnelly y Grossman, p. 683). También hay que verificar que la escala sea lineal: Sala et al. reportan ±10 % en los dos tercios centrales de su barrido (p. 995). Es la calibración interna, previa a la comparación con el fabricante.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Tres límites con fuente. Uno: no da la fase; un pulso con chirp puede dar la misma traza que uno más largo sin chirp (Monmayrant et al., p. 19). Dos: Chung y Weiner construyen pulsos distintos con la misma autocorrelación y el mismo espectro, cuyos anchos FWHM difieren del orden de 25 % (p. 665). Tres: si los pulsos del tren no son iguales, el promedio produce un pico angosto sobre un pedestal ancho; el pico no es el pulso, la duración real la indica el pedestal (Ratner et al., p. 2874). La figura es una simulación de ese caso. Para este proyecto basta con el ancho; FROG o SPIDER solo se mencionan.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Diagrama de causa y efecto con todo lo que puede mover el ancho medido, en seis ramas. La lectura clave: el ancho medido cambia por dos razones distintas, porque el pulso que llega cambió (fuente y propagación) o porque la medición lo deforma (proceso no lineal, geometría, detección e interpretación). Las dos diapositivas siguientes detallan cada grupo.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Primer grupo: lo que cambia el pulso real. En la fuente, el bombeo, la alineación de la cavidad, su compensación interna de dispersión y el calentamiento; Sala et al. muestran que desajustar la cavidad 5 µm deshace o ensancha el pulso (p. 995). En la propagación, el vidrio atravesado y cualquier compresor externo. Con potencia alta aparece la automodulación de fase, que cambia el espectro.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Segundo grupo: lo que deforma la medición aunque el pulso no cambie. Cristal: un espesor excesivo alarga la traza (Diels y Rudolph, p. 468). Geometría: ángulo de cruce, tamaño del haz, superposición de los brazos. Retardo: calibración y linealidad del barrido. Detección: saturación, ruido y el promedio sobre pulsos que pueden no ser idénticos (pp. 465–466). Interpretación: forma supuesta, método de ajuste y nivel del fondo.</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bisagra del argumento. Los factores son muchos, interactúan y algunos no se pueden separar en la traza (el chirp de la fuente y el GDD del montaje producen el mismo efecto). Si los variamos ahora, cualquier efecto se confunde con un error del instrumento que todavía no conocemos. Por eso en este trabajo se fijan, cada uno con una razón. Lo que no se puede fijar es el error experimental, y eso es lo que estiman las repeticiones de la comparación.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razones. Un estudio de factores mide cambios del ancho; si el instrumento tiene un sesgo desconocido, esos cambios no se pueden interpretar. El autocorrelador no se puede verificar con otro reloj, así que la referencia disponible es el fabricante. La comparación responde una pregunta práctica sobre el láser. Y es factible en el semestre. La literatura respalda este uso: Monmayrant et al. recomiendan la autocorrelación como chequeo diario e independiente (p. 28), y Diels y Rudolph exigen conocer la función de transferencia del instrumento (p. 457).</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Dos lados. Patrón: el ancho del fabricante (y, si los da, el ancho espectral y la tasa de repetición). Técnica: el ancho medido con el autocorrelador, con la misma forma supuesta y las condiciones fijadas. La respuesta es τp en fs; la respuesta secundaria es el ancho espectral, si hay espectrómetro, para calcular Δν·τp. Las repeticiones deben ser independientes: realinear o volver a barrer entre una y otra, y repartirlas en días distintos para capturar la variación real del láser y del montaje.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 la comparación de una media con un valor especificado (Montgomery, cap. 2, sec. 2-4.6): la media de los anchos medidos frente al ancho del fabricante. Montgomery menciona las especificaciones como origen válido del valor de referencia. Si el fabricante da un máximo, la prueba es de una cola. Si el laboratorio tiene otro autocorrelador de referencia, la comparación pasa a ser de dos tratamientos o pareada (secs. 2-4 y 2-5): es una pregunta para la asesoría.</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Árbol de diagnóstico. Si el ancho coincide con el fabricante y el producto Δν·τp está cerca del límite, láser e instrumento están en especificación y la técnica queda calibrada. Si el pulso sale más largo con el espectro nominal, tiene chirp: dispersión sin compensar. Si sale más largo con el espectro más angosto, el láser perdió modos en fase. Si sale más corto que el nominal, hay que sospechar del instrumento. El espectro es lo que separa 'el láser cambió' de 'el instrumento mide mal'; Donnelly y Grossman hacen esa misma comparación (pp. 682–683). Limitación a declarar: aun con espectro, la forma no queda fija.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Cerrar con los pasos siguientes y la pregunta para la asesoría. El diseño factorial sobre los factores del bloque 5 queda como trabajo futuro, sobre un instrumento ya calibrado.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citadas en las diapositivas, en Normas ICONTEC (NTC 5613). La lista completa de la búsqueda está en bibliografia/autocorrelador-intensidad-referencias.txt.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pic>
        <p:nvPicPr>
          <p:cNvPr id="2" name="Picture 1" descr="portada.png"/>
          <p:cNvPicPr>
            <a:picLocks noChangeAspect="1"/>
          </p:cNvPicPr>
          <p:nvPr/>
        </p:nvPicPr>
        <p:blipFill>
          <a:blip r:embed="rId3"/>
          <a:stretch>
            <a:fillRect/>
          </a:stretch>
        </p:blipFill>
        <p:spPr>
          <a:xfrm>
            <a:off x="6309360" y="822960"/>
            <a:ext cx="5669280" cy="3441157"/>
          </a:xfrm>
          <a:prstGeom prst="rect">
            <a:avLst/>
          </a:prstGeom>
        </p:spPr>
      </p:pic>
      <p:sp>
        <p:nvSpPr>
          <p:cNvPr id="3" name="TextBox 2"/>
          <p:cNvSpPr txBox="1"/>
          <p:nvPr/>
        </p:nvSpPr>
        <p:spPr>
          <a:xfrm>
            <a:off x="548640" y="914400"/>
            <a:ext cx="6400800" cy="365760"/>
          </a:xfrm>
          <a:prstGeom prst="rect">
            <a:avLst/>
          </a:prstGeom>
          <a:noFill/>
        </p:spPr>
        <p:txBody>
          <a:bodyPr wrap="square" lIns="0" tIns="0" rIns="0" bIns="0" anchor="t">
            <a:spAutoFit/>
          </a:bodyPr>
          <a:lstStyle/>
          <a:p>
            <a:pPr algn="l">
              <a:spcAft>
                <a:spcPts val="600"/>
              </a:spcAft>
            </a:pPr>
            <a:r>
              <a:rPr sz="1300" b="0" i="0">
                <a:solidFill>
                  <a:srgbClr val="A99BFF"/>
                </a:solidFill>
                <a:latin typeface="Bahnschrift SemiBold"/>
              </a:rPr>
              <a:t>DISEÑO DE EXPERIMENTOS AVANZADOS · TRABAJO PRÁCTICO</a:t>
            </a:r>
          </a:p>
        </p:txBody>
      </p:sp>
      <p:sp>
        <p:nvSpPr>
          <p:cNvPr id="4" name="TextBox 3"/>
          <p:cNvSpPr txBox="1"/>
          <p:nvPr/>
        </p:nvSpPr>
        <p:spPr>
          <a:xfrm>
            <a:off x="548640" y="1417320"/>
            <a:ext cx="6309360" cy="1828800"/>
          </a:xfrm>
          <a:prstGeom prst="rect">
            <a:avLst/>
          </a:prstGeom>
          <a:noFill/>
        </p:spPr>
        <p:txBody>
          <a:bodyPr wrap="square" lIns="0" tIns="0" rIns="0" bIns="0" anchor="t">
            <a:spAutoFit/>
          </a:bodyPr>
          <a:lstStyle/>
          <a:p>
            <a:pPr algn="l">
              <a:lnSpc>
                <a:spcPct val="95000"/>
              </a:lnSpc>
              <a:spcAft>
                <a:spcPts val="600"/>
              </a:spcAft>
            </a:pPr>
            <a:r>
              <a:rPr sz="4400" b="0" i="0">
                <a:solidFill>
                  <a:srgbClr val="FFFFFF"/>
                </a:solidFill>
                <a:latin typeface="Bahnschrift SemiBold"/>
              </a:rPr>
              <a:t>Calibración de un autocorrelador de intensidad</a:t>
            </a:r>
          </a:p>
        </p:txBody>
      </p:sp>
      <p:sp>
        <p:nvSpPr>
          <p:cNvPr id="5" name="TextBox 4"/>
          <p:cNvSpPr txBox="1"/>
          <p:nvPr/>
        </p:nvSpPr>
        <p:spPr>
          <a:xfrm>
            <a:off x="548640" y="3429000"/>
            <a:ext cx="5852160" cy="1097280"/>
          </a:xfrm>
          <a:prstGeom prst="rect">
            <a:avLst/>
          </a:prstGeom>
          <a:noFill/>
        </p:spPr>
        <p:txBody>
          <a:bodyPr wrap="square" lIns="0" tIns="0" rIns="0" bIns="0" anchor="t">
            <a:spAutoFit/>
          </a:bodyPr>
          <a:lstStyle/>
          <a:p>
            <a:pPr algn="l">
              <a:spcAft>
                <a:spcPts val="600"/>
              </a:spcAft>
            </a:pPr>
            <a:r>
              <a:rPr sz="1900" b="0" i="0">
                <a:solidFill>
                  <a:srgbClr val="C9D1DE"/>
                </a:solidFill>
                <a:latin typeface="Bahnschrift Light"/>
              </a:rPr>
              <a:t>Fundamentos físicos de la medición de pulsos ultracortos y propuesta de un diseño de comparación simple</a:t>
            </a:r>
          </a:p>
        </p:txBody>
      </p:sp>
      <p:sp>
        <p:nvSpPr>
          <p:cNvPr id="6" name="TextBox 5"/>
          <p:cNvSpPr txBox="1"/>
          <p:nvPr/>
        </p:nvSpPr>
        <p:spPr>
          <a:xfrm>
            <a:off x="548640" y="4892040"/>
            <a:ext cx="6400800" cy="822960"/>
          </a:xfrm>
          <a:prstGeom prst="rect">
            <a:avLst/>
          </a:prstGeom>
          <a:noFill/>
        </p:spPr>
        <p:txBody>
          <a:bodyPr wrap="square" lIns="0" tIns="0" rIns="0" bIns="0" anchor="t">
            <a:spAutoFit/>
          </a:bodyPr>
          <a:lstStyle/>
          <a:p>
            <a:pPr algn="l">
              <a:spcAft>
                <a:spcPts val="400"/>
              </a:spcAft>
            </a:pPr>
            <a:r>
              <a:rPr sz="1500" b="0" i="0">
                <a:solidFill>
                  <a:srgbClr val="FFFFFF"/>
                </a:solidFill>
                <a:latin typeface="Bahnschrift"/>
              </a:rPr>
              <a:t>Juan Esteban Rodríguez Ochoa · Sebastián Zapata Henao</a:t>
            </a:r>
          </a:p>
          <a:p>
            <a:pPr algn="l">
              <a:spcAft>
                <a:spcPts val="400"/>
              </a:spcAft>
            </a:pPr>
            <a:r>
              <a:rPr sz="1500" b="0" i="0">
                <a:solidFill>
                  <a:srgbClr val="FFFFFF"/>
                </a:solidFill>
                <a:latin typeface="Bahnschrift"/>
              </a:rPr>
              <a:t>Profesora: Faviana Gutiérrez Rôa</a:t>
            </a:r>
          </a:p>
        </p:txBody>
      </p:sp>
      <p:sp>
        <p:nvSpPr>
          <p:cNvPr id="7" name="TextBox 6"/>
          <p:cNvSpPr txBox="1"/>
          <p:nvPr/>
        </p:nvSpPr>
        <p:spPr>
          <a:xfrm>
            <a:off x="548640" y="5852160"/>
            <a:ext cx="7315200" cy="365760"/>
          </a:xfrm>
          <a:prstGeom prst="rect">
            <a:avLst/>
          </a:prstGeom>
          <a:noFill/>
        </p:spPr>
        <p:txBody>
          <a:bodyPr wrap="square" lIns="0" tIns="0" rIns="0" bIns="0" anchor="t">
            <a:spAutoFit/>
          </a:bodyPr>
          <a:lstStyle/>
          <a:p>
            <a:pPr algn="l">
              <a:spcAft>
                <a:spcPts val="600"/>
              </a:spcAft>
            </a:pPr>
            <a:r>
              <a:rPr sz="1300" b="0" i="0">
                <a:solidFill>
                  <a:srgbClr val="9AA4B5"/>
                </a:solidFill>
                <a:latin typeface="Bahnschrift"/>
              </a:rPr>
              <a:t>Universidad Nacional de Colombia · Sede Medellín · 17 de octubre de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QUÉ PROPONEMOS</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vamos a proponer y cómo llegamos ahí?</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2</a:t>
            </a:r>
          </a:p>
        </p:txBody>
      </p:sp>
      <p:sp>
        <p:nvSpPr>
          <p:cNvPr id="7" name="Rounded Rectangle 6"/>
          <p:cNvSpPr/>
          <p:nvPr/>
        </p:nvSpPr>
        <p:spPr>
          <a:xfrm>
            <a:off x="548640" y="1600200"/>
            <a:ext cx="4937760" cy="448056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1874519"/>
            <a:ext cx="4297680" cy="365760"/>
          </a:xfrm>
          <a:prstGeom prst="rect">
            <a:avLst/>
          </a:prstGeom>
          <a:noFill/>
        </p:spPr>
        <p:txBody>
          <a:bodyPr wrap="square" lIns="0" tIns="0" rIns="0" bIns="0" anchor="t">
            <a:spAutoFit/>
          </a:bodyPr>
          <a:lstStyle/>
          <a:p>
            <a:pPr algn="l">
              <a:spcAft>
                <a:spcPts val="600"/>
              </a:spcAft>
            </a:pPr>
            <a:r>
              <a:rPr sz="1300" b="0" i="0">
                <a:solidFill>
                  <a:srgbClr val="5B3FD9"/>
                </a:solidFill>
                <a:latin typeface="Bahnschrift SemiBold"/>
              </a:rPr>
              <a:t>PROPUESTA</a:t>
            </a:r>
          </a:p>
        </p:txBody>
      </p:sp>
      <p:sp>
        <p:nvSpPr>
          <p:cNvPr id="9" name="TextBox 8"/>
          <p:cNvSpPr txBox="1"/>
          <p:nvPr/>
        </p:nvSpPr>
        <p:spPr>
          <a:xfrm>
            <a:off x="868680" y="2331720"/>
            <a:ext cx="4343400" cy="2377440"/>
          </a:xfrm>
          <a:prstGeom prst="rect">
            <a:avLst/>
          </a:prstGeom>
          <a:noFill/>
        </p:spPr>
        <p:txBody>
          <a:bodyPr wrap="square" lIns="0" tIns="0" rIns="0" bIns="0" anchor="t">
            <a:spAutoFit/>
          </a:bodyPr>
          <a:lstStyle/>
          <a:p>
            <a:pPr algn="l">
              <a:lnSpc>
                <a:spcPct val="105000"/>
              </a:lnSpc>
              <a:spcAft>
                <a:spcPts val="600"/>
              </a:spcAft>
            </a:pPr>
            <a:r>
              <a:rPr sz="2400" b="0" i="0">
                <a:solidFill>
                  <a:srgbClr val="0E1726"/>
                </a:solidFill>
                <a:latin typeface="Bahnschrift SemiBold"/>
              </a:rPr>
              <a:t>Comparar el ancho de pulso medido con el autocorrelador de intensidad contra el valor del fabricante del láser.</a:t>
            </a:r>
          </a:p>
        </p:txBody>
      </p:sp>
      <p:sp>
        <p:nvSpPr>
          <p:cNvPr id="10" name="TextBox 9"/>
          <p:cNvSpPr txBox="1"/>
          <p:nvPr/>
        </p:nvSpPr>
        <p:spPr>
          <a:xfrm>
            <a:off x="868680" y="4572000"/>
            <a:ext cx="4343400" cy="1371600"/>
          </a:xfrm>
          <a:prstGeom prst="rect">
            <a:avLst/>
          </a:prstGeom>
          <a:noFill/>
        </p:spPr>
        <p:txBody>
          <a:bodyPr wrap="square" lIns="0" tIns="0" rIns="0" bIns="0" anchor="t">
            <a:spAutoFit/>
          </a:bodyPr>
          <a:lstStyle/>
          <a:p>
            <a:pPr algn="l">
              <a:spcAft>
                <a:spcPts val="800"/>
              </a:spcAft>
            </a:pPr>
            <a:r>
              <a:rPr sz="1600" b="0" i="0">
                <a:solidFill>
                  <a:srgbClr val="0E1726"/>
                </a:solidFill>
                <a:latin typeface="Bahnschrift SemiBold"/>
              </a:rPr>
              <a:t>Para qué:</a:t>
            </a:r>
            <a:r>
              <a:rPr sz="1600" b="0" i="0">
                <a:solidFill>
                  <a:srgbClr val="0E1726"/>
                </a:solidFill>
                <a:latin typeface="Bahnschrift"/>
              </a:rPr>
              <a:t> calibrar la técnica y diagnosticar el estado del láser.</a:t>
            </a:r>
          </a:p>
          <a:p>
            <a:pPr algn="l">
              <a:spcAft>
                <a:spcPts val="800"/>
              </a:spcAft>
            </a:pPr>
            <a:r>
              <a:rPr sz="1600" b="0" i="0">
                <a:solidFill>
                  <a:srgbClr val="0E1726"/>
                </a:solidFill>
                <a:latin typeface="Bahnschrift SemiBold"/>
              </a:rPr>
              <a:t>Diseño:</a:t>
            </a:r>
            <a:r>
              <a:rPr sz="1600" b="0" i="0">
                <a:solidFill>
                  <a:srgbClr val="0E1726"/>
                </a:solidFill>
                <a:latin typeface="Bahnschrift"/>
              </a:rPr>
              <a:t> comparación simple, patrón frente a técnica.</a:t>
            </a:r>
          </a:p>
        </p:txBody>
      </p:sp>
      <p:sp>
        <p:nvSpPr>
          <p:cNvPr id="11" name="Oval 10"/>
          <p:cNvSpPr/>
          <p:nvPr/>
        </p:nvSpPr>
        <p:spPr>
          <a:xfrm>
            <a:off x="5989320" y="1645920"/>
            <a:ext cx="548640" cy="548640"/>
          </a:xfrm>
          <a:prstGeom prst="ellipse">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989320" y="1645920"/>
            <a:ext cx="548640" cy="548640"/>
          </a:xfrm>
          <a:prstGeom prst="rect">
            <a:avLst/>
          </a:prstGeom>
          <a:noFill/>
        </p:spPr>
        <p:txBody>
          <a:bodyPr wrap="square" lIns="0" tIns="0" rIns="0" bIns="0" anchor="ctr">
            <a:spAutoFit/>
          </a:bodyPr>
          <a:lstStyle/>
          <a:p>
            <a:pPr algn="ctr">
              <a:spcAft>
                <a:spcPts val="600"/>
              </a:spcAft>
            </a:pPr>
            <a:r>
              <a:rPr sz="1800" b="0" i="0">
                <a:solidFill>
                  <a:srgbClr val="FFFFFF"/>
                </a:solidFill>
                <a:latin typeface="Bahnschrift SemiBold"/>
              </a:rPr>
              <a:t>1</a:t>
            </a:r>
          </a:p>
        </p:txBody>
      </p:sp>
      <p:sp>
        <p:nvSpPr>
          <p:cNvPr id="13" name="TextBox 12"/>
          <p:cNvSpPr txBox="1"/>
          <p:nvPr/>
        </p:nvSpPr>
        <p:spPr>
          <a:xfrm>
            <a:off x="6766560" y="1645920"/>
            <a:ext cx="4846320" cy="548640"/>
          </a:xfrm>
          <a:prstGeom prst="rect">
            <a:avLst/>
          </a:prstGeom>
          <a:noFill/>
        </p:spPr>
        <p:txBody>
          <a:bodyPr wrap="square" lIns="0" tIns="0" rIns="0" bIns="0" anchor="ctr">
            <a:spAutoFit/>
          </a:bodyPr>
          <a:lstStyle/>
          <a:p>
            <a:pPr algn="l">
              <a:spcAft>
                <a:spcPts val="600"/>
              </a:spcAft>
            </a:pPr>
            <a:r>
              <a:rPr sz="1800" b="0" i="0">
                <a:solidFill>
                  <a:srgbClr val="0E1726"/>
                </a:solidFill>
                <a:latin typeface="Bahnschrift"/>
              </a:rPr>
              <a:t>¿Qué queremos medir?</a:t>
            </a:r>
          </a:p>
        </p:txBody>
      </p:sp>
      <p:sp>
        <p:nvSpPr>
          <p:cNvPr id="14" name="Oval 13"/>
          <p:cNvSpPr/>
          <p:nvPr/>
        </p:nvSpPr>
        <p:spPr>
          <a:xfrm>
            <a:off x="5989320" y="2386584"/>
            <a:ext cx="548640" cy="548640"/>
          </a:xfrm>
          <a:prstGeom prst="ellipse">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89320" y="2386584"/>
            <a:ext cx="548640" cy="548640"/>
          </a:xfrm>
          <a:prstGeom prst="rect">
            <a:avLst/>
          </a:prstGeom>
          <a:noFill/>
        </p:spPr>
        <p:txBody>
          <a:bodyPr wrap="square" lIns="0" tIns="0" rIns="0" bIns="0" anchor="ctr">
            <a:spAutoFit/>
          </a:bodyPr>
          <a:lstStyle/>
          <a:p>
            <a:pPr algn="ctr">
              <a:spcAft>
                <a:spcPts val="600"/>
              </a:spcAft>
            </a:pPr>
            <a:r>
              <a:rPr sz="1800" b="0" i="0">
                <a:solidFill>
                  <a:srgbClr val="FFFFFF"/>
                </a:solidFill>
                <a:latin typeface="Bahnschrift SemiBold"/>
              </a:rPr>
              <a:t>2</a:t>
            </a:r>
          </a:p>
        </p:txBody>
      </p:sp>
      <p:sp>
        <p:nvSpPr>
          <p:cNvPr id="16" name="TextBox 15"/>
          <p:cNvSpPr txBox="1"/>
          <p:nvPr/>
        </p:nvSpPr>
        <p:spPr>
          <a:xfrm>
            <a:off x="6766560" y="2386584"/>
            <a:ext cx="4846320" cy="548640"/>
          </a:xfrm>
          <a:prstGeom prst="rect">
            <a:avLst/>
          </a:prstGeom>
          <a:noFill/>
        </p:spPr>
        <p:txBody>
          <a:bodyPr wrap="square" lIns="0" tIns="0" rIns="0" bIns="0" anchor="ctr">
            <a:spAutoFit/>
          </a:bodyPr>
          <a:lstStyle/>
          <a:p>
            <a:pPr algn="l">
              <a:spcAft>
                <a:spcPts val="600"/>
              </a:spcAft>
            </a:pPr>
            <a:r>
              <a:rPr sz="1800" b="0" i="0">
                <a:solidFill>
                  <a:srgbClr val="0E1726"/>
                </a:solidFill>
                <a:latin typeface="Bahnschrift"/>
              </a:rPr>
              <a:t>¿De dónde sale el pulso y qué dice el fabricante?</a:t>
            </a:r>
          </a:p>
        </p:txBody>
      </p:sp>
      <p:sp>
        <p:nvSpPr>
          <p:cNvPr id="17" name="Oval 16"/>
          <p:cNvSpPr/>
          <p:nvPr/>
        </p:nvSpPr>
        <p:spPr>
          <a:xfrm>
            <a:off x="5989320" y="3127248"/>
            <a:ext cx="548640" cy="548640"/>
          </a:xfrm>
          <a:prstGeom prst="ellipse">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89320" y="3127248"/>
            <a:ext cx="548640" cy="548640"/>
          </a:xfrm>
          <a:prstGeom prst="rect">
            <a:avLst/>
          </a:prstGeom>
          <a:noFill/>
        </p:spPr>
        <p:txBody>
          <a:bodyPr wrap="square" lIns="0" tIns="0" rIns="0" bIns="0" anchor="ctr">
            <a:spAutoFit/>
          </a:bodyPr>
          <a:lstStyle/>
          <a:p>
            <a:pPr algn="ctr">
              <a:spcAft>
                <a:spcPts val="600"/>
              </a:spcAft>
            </a:pPr>
            <a:r>
              <a:rPr sz="1800" b="0" i="0">
                <a:solidFill>
                  <a:srgbClr val="FFFFFF"/>
                </a:solidFill>
                <a:latin typeface="Bahnschrift SemiBold"/>
              </a:rPr>
              <a:t>3</a:t>
            </a:r>
          </a:p>
        </p:txBody>
      </p:sp>
      <p:sp>
        <p:nvSpPr>
          <p:cNvPr id="19" name="TextBox 18"/>
          <p:cNvSpPr txBox="1"/>
          <p:nvPr/>
        </p:nvSpPr>
        <p:spPr>
          <a:xfrm>
            <a:off x="6766560" y="3127248"/>
            <a:ext cx="4846320" cy="548640"/>
          </a:xfrm>
          <a:prstGeom prst="rect">
            <a:avLst/>
          </a:prstGeom>
          <a:noFill/>
        </p:spPr>
        <p:txBody>
          <a:bodyPr wrap="square" lIns="0" tIns="0" rIns="0" bIns="0" anchor="ctr">
            <a:spAutoFit/>
          </a:bodyPr>
          <a:lstStyle/>
          <a:p>
            <a:pPr algn="l">
              <a:spcAft>
                <a:spcPts val="600"/>
              </a:spcAft>
            </a:pPr>
            <a:r>
              <a:rPr sz="1800" b="0" i="0">
                <a:solidFill>
                  <a:srgbClr val="0E1726"/>
                </a:solidFill>
                <a:latin typeface="Bahnschrift"/>
              </a:rPr>
              <a:t>¿Cómo funciona el autocorrelador?</a:t>
            </a:r>
          </a:p>
        </p:txBody>
      </p:sp>
      <p:sp>
        <p:nvSpPr>
          <p:cNvPr id="20" name="Oval 19"/>
          <p:cNvSpPr/>
          <p:nvPr/>
        </p:nvSpPr>
        <p:spPr>
          <a:xfrm>
            <a:off x="5989320" y="3867912"/>
            <a:ext cx="548640" cy="548640"/>
          </a:xfrm>
          <a:prstGeom prst="ellipse">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989320" y="3867912"/>
            <a:ext cx="548640" cy="548640"/>
          </a:xfrm>
          <a:prstGeom prst="rect">
            <a:avLst/>
          </a:prstGeom>
          <a:noFill/>
        </p:spPr>
        <p:txBody>
          <a:bodyPr wrap="square" lIns="0" tIns="0" rIns="0" bIns="0" anchor="ctr">
            <a:spAutoFit/>
          </a:bodyPr>
          <a:lstStyle/>
          <a:p>
            <a:pPr algn="ctr">
              <a:spcAft>
                <a:spcPts val="600"/>
              </a:spcAft>
            </a:pPr>
            <a:r>
              <a:rPr sz="1800" b="0" i="0">
                <a:solidFill>
                  <a:srgbClr val="FFFFFF"/>
                </a:solidFill>
                <a:latin typeface="Bahnschrift SemiBold"/>
              </a:rPr>
              <a:t>4</a:t>
            </a:r>
          </a:p>
        </p:txBody>
      </p:sp>
      <p:sp>
        <p:nvSpPr>
          <p:cNvPr id="22" name="TextBox 21"/>
          <p:cNvSpPr txBox="1"/>
          <p:nvPr/>
        </p:nvSpPr>
        <p:spPr>
          <a:xfrm>
            <a:off x="6766560" y="3867912"/>
            <a:ext cx="4846320" cy="548640"/>
          </a:xfrm>
          <a:prstGeom prst="rect">
            <a:avLst/>
          </a:prstGeom>
          <a:noFill/>
        </p:spPr>
        <p:txBody>
          <a:bodyPr wrap="square" lIns="0" tIns="0" rIns="0" bIns="0" anchor="ctr">
            <a:spAutoFit/>
          </a:bodyPr>
          <a:lstStyle/>
          <a:p>
            <a:pPr algn="l">
              <a:spcAft>
                <a:spcPts val="600"/>
              </a:spcAft>
            </a:pPr>
            <a:r>
              <a:rPr sz="1800" b="0" i="0">
                <a:solidFill>
                  <a:srgbClr val="0E1726"/>
                </a:solidFill>
                <a:latin typeface="Bahnschrift"/>
              </a:rPr>
              <a:t>¿Cómo se pasa de la traza al ancho del pulso?</a:t>
            </a:r>
          </a:p>
        </p:txBody>
      </p:sp>
      <p:sp>
        <p:nvSpPr>
          <p:cNvPr id="23" name="Oval 22"/>
          <p:cNvSpPr/>
          <p:nvPr/>
        </p:nvSpPr>
        <p:spPr>
          <a:xfrm>
            <a:off x="5989320" y="4608576"/>
            <a:ext cx="548640" cy="548640"/>
          </a:xfrm>
          <a:prstGeom prst="ellipse">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989320" y="4608576"/>
            <a:ext cx="548640" cy="548640"/>
          </a:xfrm>
          <a:prstGeom prst="rect">
            <a:avLst/>
          </a:prstGeom>
          <a:noFill/>
        </p:spPr>
        <p:txBody>
          <a:bodyPr wrap="square" lIns="0" tIns="0" rIns="0" bIns="0" anchor="ctr">
            <a:spAutoFit/>
          </a:bodyPr>
          <a:lstStyle/>
          <a:p>
            <a:pPr algn="ctr">
              <a:spcAft>
                <a:spcPts val="600"/>
              </a:spcAft>
            </a:pPr>
            <a:r>
              <a:rPr sz="1800" b="0" i="0">
                <a:solidFill>
                  <a:srgbClr val="FFFFFF"/>
                </a:solidFill>
                <a:latin typeface="Bahnschrift SemiBold"/>
              </a:rPr>
              <a:t>5</a:t>
            </a:r>
          </a:p>
        </p:txBody>
      </p:sp>
      <p:sp>
        <p:nvSpPr>
          <p:cNvPr id="25" name="TextBox 24"/>
          <p:cNvSpPr txBox="1"/>
          <p:nvPr/>
        </p:nvSpPr>
        <p:spPr>
          <a:xfrm>
            <a:off x="6766560" y="4608576"/>
            <a:ext cx="4846320" cy="548640"/>
          </a:xfrm>
          <a:prstGeom prst="rect">
            <a:avLst/>
          </a:prstGeom>
          <a:noFill/>
        </p:spPr>
        <p:txBody>
          <a:bodyPr wrap="square" lIns="0" tIns="0" rIns="0" bIns="0" anchor="ctr">
            <a:spAutoFit/>
          </a:bodyPr>
          <a:lstStyle/>
          <a:p>
            <a:pPr algn="l">
              <a:spcAft>
                <a:spcPts val="600"/>
              </a:spcAft>
            </a:pPr>
            <a:r>
              <a:rPr sz="1800" b="0" i="0">
                <a:solidFill>
                  <a:srgbClr val="0E1726"/>
                </a:solidFill>
                <a:latin typeface="Bahnschrift"/>
              </a:rPr>
              <a:t>¿Qué puede cambiar el ancho medido?</a:t>
            </a:r>
          </a:p>
        </p:txBody>
      </p:sp>
      <p:sp>
        <p:nvSpPr>
          <p:cNvPr id="26" name="Oval 25"/>
          <p:cNvSpPr/>
          <p:nvPr/>
        </p:nvSpPr>
        <p:spPr>
          <a:xfrm>
            <a:off x="5989320" y="5349240"/>
            <a:ext cx="548640" cy="54864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89320" y="5349240"/>
            <a:ext cx="548640" cy="548640"/>
          </a:xfrm>
          <a:prstGeom prst="rect">
            <a:avLst/>
          </a:prstGeom>
          <a:noFill/>
        </p:spPr>
        <p:txBody>
          <a:bodyPr wrap="square" lIns="0" tIns="0" rIns="0" bIns="0" anchor="ctr">
            <a:spAutoFit/>
          </a:bodyPr>
          <a:lstStyle/>
          <a:p>
            <a:pPr algn="ctr">
              <a:spcAft>
                <a:spcPts val="600"/>
              </a:spcAft>
            </a:pPr>
            <a:r>
              <a:rPr sz="1800" b="0" i="0">
                <a:solidFill>
                  <a:srgbClr val="FFFFFF"/>
                </a:solidFill>
                <a:latin typeface="Bahnschrift SemiBold"/>
              </a:rPr>
              <a:t>6</a:t>
            </a:r>
          </a:p>
        </p:txBody>
      </p:sp>
      <p:sp>
        <p:nvSpPr>
          <p:cNvPr id="28" name="TextBox 27"/>
          <p:cNvSpPr txBox="1"/>
          <p:nvPr/>
        </p:nvSpPr>
        <p:spPr>
          <a:xfrm>
            <a:off x="6766560" y="5349240"/>
            <a:ext cx="4846320" cy="548640"/>
          </a:xfrm>
          <a:prstGeom prst="rect">
            <a:avLst/>
          </a:prstGeom>
          <a:noFill/>
        </p:spPr>
        <p:txBody>
          <a:bodyPr wrap="square" lIns="0" tIns="0" rIns="0" bIns="0" anchor="ctr">
            <a:spAutoFit/>
          </a:bodyPr>
          <a:lstStyle/>
          <a:p>
            <a:pPr algn="l">
              <a:spcAft>
                <a:spcPts val="600"/>
              </a:spcAft>
            </a:pPr>
            <a:r>
              <a:rPr sz="1800" b="0" i="0">
                <a:solidFill>
                  <a:srgbClr val="D7263D"/>
                </a:solidFill>
                <a:latin typeface="Bahnschrift SemiBold"/>
              </a:rPr>
              <a:t>¿Por qué empezar por calibrar?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1 · ¿QUÉ QUEREMOS MEDIR?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¿Por qué no basta un detector para medir el pulso?</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Escalas: órdenes de magnitud típicos</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3</a:t>
            </a:r>
          </a:p>
        </p:txBody>
      </p:sp>
      <p:pic>
        <p:nvPicPr>
          <p:cNvPr id="8" name="Picture 7" descr="escala.png"/>
          <p:cNvPicPr>
            <a:picLocks noChangeAspect="1"/>
          </p:cNvPicPr>
          <p:nvPr/>
        </p:nvPicPr>
        <p:blipFill>
          <a:blip r:embed="rId4"/>
          <a:stretch>
            <a:fillRect/>
          </a:stretch>
        </p:blipFill>
        <p:spPr>
          <a:xfrm>
            <a:off x="868680" y="1554480"/>
            <a:ext cx="10424160" cy="3216787"/>
          </a:xfrm>
          <a:prstGeom prst="rect">
            <a:avLst/>
          </a:prstGeom>
        </p:spPr>
      </p:pic>
      <p:sp>
        <p:nvSpPr>
          <p:cNvPr id="9" name="Rounded Rectangle 8"/>
          <p:cNvSpPr/>
          <p:nvPr/>
        </p:nvSpPr>
        <p:spPr>
          <a:xfrm>
            <a:off x="548640" y="4754880"/>
            <a:ext cx="3520440" cy="14630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4937760"/>
            <a:ext cx="306324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Lo que ve un detector</a:t>
            </a:r>
          </a:p>
        </p:txBody>
      </p:sp>
      <p:sp>
        <p:nvSpPr>
          <p:cNvPr id="11" name="TextBox 10"/>
          <p:cNvSpPr txBox="1"/>
          <p:nvPr/>
        </p:nvSpPr>
        <p:spPr>
          <a:xfrm>
            <a:off x="777240" y="5413248"/>
            <a:ext cx="3063240" cy="68580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Solo la energía integrada del pulso, nunca su forma.</a:t>
            </a:r>
          </a:p>
        </p:txBody>
      </p:sp>
      <p:sp>
        <p:nvSpPr>
          <p:cNvPr id="12" name="Rounded Rectangle 11"/>
          <p:cNvSpPr/>
          <p:nvPr/>
        </p:nvSpPr>
        <p:spPr>
          <a:xfrm>
            <a:off x="4297679" y="4754880"/>
            <a:ext cx="3520440" cy="14630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526279" y="4937760"/>
            <a:ext cx="306324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La idea de la técnica</a:t>
            </a:r>
          </a:p>
        </p:txBody>
      </p:sp>
      <p:sp>
        <p:nvSpPr>
          <p:cNvPr id="14" name="TextBox 13"/>
          <p:cNvSpPr txBox="1"/>
          <p:nvPr/>
        </p:nvSpPr>
        <p:spPr>
          <a:xfrm>
            <a:off x="4526279" y="5413248"/>
            <a:ext cx="3063240" cy="68580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El pulso tiene que medirse </a:t>
            </a:r>
            <a:r>
              <a:rPr sz="1600" b="0" i="0">
                <a:solidFill>
                  <a:srgbClr val="0E1726"/>
                </a:solidFill>
                <a:latin typeface="Bahnschrift SemiBold"/>
              </a:rPr>
              <a:t>a sí mismo</a:t>
            </a:r>
            <a:r>
              <a:rPr sz="1600" b="0" i="0">
                <a:solidFill>
                  <a:srgbClr val="0E1726"/>
                </a:solidFill>
                <a:latin typeface="Bahnschrift"/>
              </a:rPr>
              <a:t>.</a:t>
            </a:r>
          </a:p>
        </p:txBody>
      </p:sp>
      <p:sp>
        <p:nvSpPr>
          <p:cNvPr id="15" name="Rounded Rectangle 14"/>
          <p:cNvSpPr/>
          <p:nvPr/>
        </p:nvSpPr>
        <p:spPr>
          <a:xfrm>
            <a:off x="8046719" y="4754880"/>
            <a:ext cx="3520440" cy="146304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75319" y="4937760"/>
            <a:ext cx="3063240" cy="411480"/>
          </a:xfrm>
          <a:prstGeom prst="rect">
            <a:avLst/>
          </a:prstGeom>
          <a:noFill/>
        </p:spPr>
        <p:txBody>
          <a:bodyPr wrap="square" lIns="0" tIns="0" rIns="0" bIns="0" anchor="t">
            <a:spAutoFit/>
          </a:bodyPr>
          <a:lstStyle/>
          <a:p>
            <a:pPr algn="l">
              <a:spcAft>
                <a:spcPts val="600"/>
              </a:spcAft>
            </a:pPr>
            <a:r>
              <a:rPr sz="1700" b="0" i="0">
                <a:solidFill>
                  <a:srgbClr val="D7263D"/>
                </a:solidFill>
                <a:latin typeface="Bahnschrift SemiBold"/>
              </a:rPr>
              <a:t>La consecuencia</a:t>
            </a:r>
          </a:p>
        </p:txBody>
      </p:sp>
      <p:sp>
        <p:nvSpPr>
          <p:cNvPr id="17" name="TextBox 16"/>
          <p:cNvSpPr txBox="1"/>
          <p:nvPr/>
        </p:nvSpPr>
        <p:spPr>
          <a:xfrm>
            <a:off x="8275319" y="5413248"/>
            <a:ext cx="3063240" cy="68580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Un instrumento así no se verifica con un cronómetro: necesita una </a:t>
            </a:r>
            <a:r>
              <a:rPr sz="1600" b="0" i="0">
                <a:solidFill>
                  <a:srgbClr val="0E1726"/>
                </a:solidFill>
                <a:latin typeface="Bahnschrift SemiBold"/>
              </a:rPr>
              <a:t>referencia externa</a:t>
            </a:r>
            <a:r>
              <a:rPr sz="1600" b="0" i="0">
                <a:solidFill>
                  <a:srgbClr val="0E1726"/>
                </a:solidFill>
                <a:latin typeface="Bahnschrift"/>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1 · ¿QUÉ QUEREMOS MEDIR?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es exactamente un pulso ultracorto?</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Diels y Rudolph (2006), cap. 1</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4</a:t>
            </a:r>
          </a:p>
        </p:txBody>
      </p:sp>
      <p:sp>
        <p:nvSpPr>
          <p:cNvPr id="8" name="Rounded Rectangle 7"/>
          <p:cNvSpPr/>
          <p:nvPr/>
        </p:nvSpPr>
        <p:spPr>
          <a:xfrm>
            <a:off x="548640" y="1600200"/>
            <a:ext cx="5120640" cy="141732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31520" y="1691640"/>
            <a:ext cx="4754879" cy="1234440"/>
          </a:xfrm>
          <a:prstGeom prst="rect">
            <a:avLst/>
          </a:prstGeom>
          <a:noFill/>
        </p:spPr>
        <p:txBody>
          <a:bodyPr wrap="square" lIns="0" tIns="0" rIns="0" bIns="0" anchor="ctr">
            <a:spAutoFit/>
          </a:bodyPr>
          <a:lstStyle/>
          <a:p>
            <a:pPr algn="ctr">
              <a:spcAft>
                <a:spcPts val="400"/>
              </a:spcAft>
            </a:pPr>
            <a:r>
              <a:rPr sz="2400" b="0" i="0">
                <a:solidFill>
                  <a:srgbClr val="0E1726"/>
                </a:solidFill>
                <a:latin typeface="Cambria Math"/>
              </a:rPr>
              <a:t>E(t) = Re{ A(t) · e</a:t>
            </a:r>
            <a:r>
              <a:rPr sz="2400" b="0" i="0" baseline="30000">
                <a:solidFill>
                  <a:srgbClr val="0E1726"/>
                </a:solidFill>
                <a:latin typeface="Cambria Math"/>
              </a:rPr>
              <a:t>iω₀t</a:t>
            </a:r>
            <a:r>
              <a:rPr sz="2400" b="0" i="0">
                <a:solidFill>
                  <a:srgbClr val="0E1726"/>
                </a:solidFill>
                <a:latin typeface="Cambria Math"/>
              </a:rPr>
              <a:t> }</a:t>
            </a:r>
          </a:p>
          <a:p>
            <a:pPr algn="ctr">
              <a:spcAft>
                <a:spcPts val="400"/>
              </a:spcAft>
            </a:pPr>
            <a:r>
              <a:rPr sz="2400" b="0" i="0">
                <a:solidFill>
                  <a:srgbClr val="0E1726"/>
                </a:solidFill>
                <a:latin typeface="Cambria Math"/>
              </a:rPr>
              <a:t>I(t) ∝ |A(t)|²</a:t>
            </a:r>
          </a:p>
        </p:txBody>
      </p:sp>
      <p:sp>
        <p:nvSpPr>
          <p:cNvPr id="10" name="TextBox 9"/>
          <p:cNvSpPr txBox="1"/>
          <p:nvPr/>
        </p:nvSpPr>
        <p:spPr>
          <a:xfrm>
            <a:off x="548640" y="3291840"/>
            <a:ext cx="5120640" cy="2926080"/>
          </a:xfrm>
          <a:prstGeom prst="rect">
            <a:avLst/>
          </a:prstGeom>
          <a:noFill/>
        </p:spPr>
        <p:txBody>
          <a:bodyPr wrap="square" lIns="0" tIns="0" rIns="0" bIns="0" anchor="t">
            <a:spAutoFit/>
          </a:bodyPr>
          <a:lstStyle/>
          <a:p>
            <a:pPr marL="256032" indent="-256032">
              <a:spcAft>
                <a:spcPts val="900"/>
              </a:spcAft>
              <a:buClr>
                <a:srgbClr val="D7263D"/>
              </a:buClr>
              <a:buFont typeface="Arial"/>
              <a:buChar char="■"/>
            </a:pPr>
            <a:r>
              <a:rPr sz="1700" b="0" i="0">
                <a:solidFill>
                  <a:srgbClr val="0E1726"/>
                </a:solidFill>
                <a:latin typeface="Bahnschrift SemiBold"/>
              </a:rPr>
              <a:t>A(t):</a:t>
            </a:r>
            <a:r>
              <a:rPr sz="1700" b="0" i="0">
                <a:solidFill>
                  <a:srgbClr val="0E1726"/>
                </a:solidFill>
                <a:latin typeface="Bahnschrift"/>
              </a:rPr>
              <a:t> envolvente lenta; </a:t>
            </a:r>
            <a:r>
              <a:rPr sz="1700" b="0" i="0">
                <a:solidFill>
                  <a:srgbClr val="0E1726"/>
                </a:solidFill>
                <a:latin typeface="Bahnschrift SemiBold"/>
              </a:rPr>
              <a:t>ω₀:</a:t>
            </a:r>
            <a:r>
              <a:rPr sz="1700" b="0" i="0">
                <a:solidFill>
                  <a:srgbClr val="0E1726"/>
                </a:solidFill>
                <a:latin typeface="Bahnschrift"/>
              </a:rPr>
              <a:t> portadora óptica (a 800 nm, un ciclo dura 2,7 fs).</a:t>
            </a:r>
          </a:p>
          <a:p>
            <a:pPr marL="256032" indent="-256032">
              <a:spcAft>
                <a:spcPts val="900"/>
              </a:spcAft>
              <a:buClr>
                <a:srgbClr val="D7263D"/>
              </a:buClr>
              <a:buFont typeface="Arial"/>
              <a:buChar char="■"/>
            </a:pPr>
            <a:r>
              <a:rPr sz="1700" b="0" i="0">
                <a:solidFill>
                  <a:srgbClr val="0E1726"/>
                </a:solidFill>
                <a:latin typeface="Bahnschrift SemiBold"/>
              </a:rPr>
              <a:t>Ancho de pulso τ</a:t>
            </a:r>
            <a:r>
              <a:rPr sz="1700" b="0" i="0" baseline="-25000">
                <a:solidFill>
                  <a:srgbClr val="0E1726"/>
                </a:solidFill>
                <a:latin typeface="Bahnschrift SemiBold"/>
              </a:rPr>
              <a:t>p</a:t>
            </a:r>
            <a:r>
              <a:rPr sz="1700" b="0" i="0">
                <a:solidFill>
                  <a:srgbClr val="0E1726"/>
                </a:solidFill>
                <a:latin typeface="Bahnschrift SemiBold"/>
              </a:rPr>
              <a:t>:</a:t>
            </a:r>
            <a:r>
              <a:rPr sz="1700" b="0" i="0">
                <a:solidFill>
                  <a:srgbClr val="0E1726"/>
                </a:solidFill>
                <a:latin typeface="Bahnschrift"/>
              </a:rPr>
              <a:t> ancho a media altura (FWHM) de la intensidad I(t).</a:t>
            </a:r>
          </a:p>
          <a:p>
            <a:pPr marL="256032" indent="-256032">
              <a:spcAft>
                <a:spcPts val="900"/>
              </a:spcAft>
              <a:buClr>
                <a:srgbClr val="D7263D"/>
              </a:buClr>
              <a:buFont typeface="Arial"/>
              <a:buChar char="■"/>
            </a:pPr>
            <a:r>
              <a:rPr sz="1700" b="0" i="0">
                <a:solidFill>
                  <a:srgbClr val="0E1726"/>
                </a:solidFill>
                <a:latin typeface="Bahnschrift SemiBold"/>
              </a:rPr>
              <a:t>Formas de referencia:</a:t>
            </a:r>
            <a:r>
              <a:rPr sz="1700" b="0" i="0">
                <a:solidFill>
                  <a:srgbClr val="0E1726"/>
                </a:solidFill>
                <a:latin typeface="Bahnschrift"/>
              </a:rPr>
              <a:t> gaussiana y secante hiperbólica al cuadrado (sech²).</a:t>
            </a:r>
          </a:p>
        </p:txBody>
      </p:sp>
      <p:pic>
        <p:nvPicPr>
          <p:cNvPr id="11" name="Picture 10" descr="pulso.png"/>
          <p:cNvPicPr>
            <a:picLocks noChangeAspect="1"/>
          </p:cNvPicPr>
          <p:nvPr/>
        </p:nvPicPr>
        <p:blipFill>
          <a:blip r:embed="rId4"/>
          <a:stretch>
            <a:fillRect/>
          </a:stretch>
        </p:blipFill>
        <p:spPr>
          <a:xfrm>
            <a:off x="5989320" y="1554480"/>
            <a:ext cx="5669280" cy="37940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1 · ¿QUÉ QUEREMOS MEDIR?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¿Por qué un pulso corto necesita un espectro ancho?</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Diels y Rudolph (2006), tabla 1.1, p. 10 y p. 18</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5</a:t>
            </a:r>
          </a:p>
        </p:txBody>
      </p:sp>
      <p:pic>
        <p:nvPicPr>
          <p:cNvPr id="8" name="Picture 7" descr="fourier.png"/>
          <p:cNvPicPr>
            <a:picLocks noChangeAspect="1"/>
          </p:cNvPicPr>
          <p:nvPr/>
        </p:nvPicPr>
        <p:blipFill>
          <a:blip r:embed="rId4"/>
          <a:stretch>
            <a:fillRect/>
          </a:stretch>
        </p:blipFill>
        <p:spPr>
          <a:xfrm>
            <a:off x="548640" y="1554480"/>
            <a:ext cx="6035040" cy="4662962"/>
          </a:xfrm>
          <a:prstGeom prst="rect">
            <a:avLst/>
          </a:prstGeom>
        </p:spPr>
      </p:pic>
      <p:sp>
        <p:nvSpPr>
          <p:cNvPr id="9" name="Rounded Rectangle 8"/>
          <p:cNvSpPr/>
          <p:nvPr/>
        </p:nvSpPr>
        <p:spPr>
          <a:xfrm>
            <a:off x="6903720" y="1600200"/>
            <a:ext cx="4754880" cy="91440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086600" y="1691640"/>
            <a:ext cx="4389120" cy="731520"/>
          </a:xfrm>
          <a:prstGeom prst="rect">
            <a:avLst/>
          </a:prstGeom>
          <a:noFill/>
        </p:spPr>
        <p:txBody>
          <a:bodyPr wrap="square" lIns="0" tIns="0" rIns="0" bIns="0" anchor="ctr">
            <a:spAutoFit/>
          </a:bodyPr>
          <a:lstStyle/>
          <a:p>
            <a:pPr algn="ctr">
              <a:spcAft>
                <a:spcPts val="400"/>
              </a:spcAft>
            </a:pPr>
            <a:r>
              <a:rPr sz="2600" b="0" i="0">
                <a:solidFill>
                  <a:srgbClr val="0E1726"/>
                </a:solidFill>
                <a:latin typeface="Cambria Math"/>
              </a:rPr>
              <a:t>Δν · τ</a:t>
            </a:r>
            <a:r>
              <a:rPr sz="2600" b="0" i="0" baseline="-25000">
                <a:solidFill>
                  <a:srgbClr val="0E1726"/>
                </a:solidFill>
                <a:latin typeface="Cambria Math"/>
              </a:rPr>
              <a:t>p</a:t>
            </a:r>
            <a:r>
              <a:rPr sz="2600" b="0" i="0">
                <a:solidFill>
                  <a:srgbClr val="0E1726"/>
                </a:solidFill>
                <a:latin typeface="Cambria Math"/>
              </a:rPr>
              <a:t> ≥ K</a:t>
            </a:r>
          </a:p>
        </p:txBody>
      </p:sp>
      <p:graphicFrame>
        <p:nvGraphicFramePr>
          <p:cNvPr id="11" name="Table 10"/>
          <p:cNvGraphicFramePr>
            <a:graphicFrameLocks noGrp="1"/>
          </p:cNvGraphicFramePr>
          <p:nvPr/>
        </p:nvGraphicFramePr>
        <p:xfrm>
          <a:off x="6903720" y="2697480"/>
          <a:ext cx="4754880" cy="1152144"/>
        </p:xfrm>
        <a:graphic>
          <a:graphicData uri="http://schemas.openxmlformats.org/drawingml/2006/table">
            <a:tbl>
              <a:tblPr firstRow="1" bandRow="1">
                <a:tableStyleId>{2D5ABB26-0587-4C30-8999-92F81FD0307C}</a:tableStyleId>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84048">
                <a:tc>
                  <a:txBody>
                    <a:bodyPr/>
                    <a:lstStyle/>
                    <a:p>
                      <a:r>
                        <a:rPr sz="1500" b="0" i="0">
                          <a:solidFill>
                            <a:srgbClr val="FFFFFF"/>
                          </a:solidFill>
                          <a:latin typeface="Bahnschrift SemiBold"/>
                        </a:rPr>
                        <a:t>Forma del pulso</a:t>
                      </a:r>
                    </a:p>
                  </a:txBody>
                  <a:tcPr marT="36576" marB="36576" anchor="ctr">
                    <a:solidFill>
                      <a:srgbClr val="0E1726"/>
                    </a:solidFill>
                  </a:tcPr>
                </a:tc>
                <a:tc>
                  <a:txBody>
                    <a:bodyPr/>
                    <a:lstStyle/>
                    <a:p>
                      <a:r>
                        <a:rPr sz="1500" b="0" i="0">
                          <a:solidFill>
                            <a:srgbClr val="FFFFFF"/>
                          </a:solidFill>
                          <a:latin typeface="Bahnschrift SemiBold"/>
                        </a:rPr>
                        <a:t>K (mínimo)</a:t>
                      </a:r>
                    </a:p>
                  </a:txBody>
                  <a:tcPr marT="36576" marB="36576" anchor="ctr">
                    <a:solidFill>
                      <a:srgbClr val="0E1726"/>
                    </a:solidFill>
                  </a:tcPr>
                </a:tc>
                <a:extLst>
                  <a:ext uri="{0D108BD9-81ED-4DB2-BD59-A6C34878D82A}">
                    <a16:rowId xmlns:a16="http://schemas.microsoft.com/office/drawing/2014/main" val="10000"/>
                  </a:ext>
                </a:extLst>
              </a:tr>
              <a:tr h="384048">
                <a:tc>
                  <a:txBody>
                    <a:bodyPr/>
                    <a:lstStyle/>
                    <a:p>
                      <a:r>
                        <a:rPr sz="1500" b="0" i="0">
                          <a:solidFill>
                            <a:srgbClr val="0E1726"/>
                          </a:solidFill>
                          <a:latin typeface="Bahnschrift"/>
                        </a:rPr>
                        <a:t>Gaussiana</a:t>
                      </a:r>
                    </a:p>
                  </a:txBody>
                  <a:tcPr marT="36576" marB="36576" anchor="ctr">
                    <a:solidFill>
                      <a:srgbClr val="FFFFFF"/>
                    </a:solidFill>
                  </a:tcPr>
                </a:tc>
                <a:tc>
                  <a:txBody>
                    <a:bodyPr/>
                    <a:lstStyle/>
                    <a:p>
                      <a:r>
                        <a:rPr sz="1500" b="0" i="0">
                          <a:solidFill>
                            <a:srgbClr val="0E1726"/>
                          </a:solidFill>
                          <a:latin typeface="Bahnschrift"/>
                        </a:rPr>
                        <a:t>0,441</a:t>
                      </a:r>
                    </a:p>
                  </a:txBody>
                  <a:tcPr marT="36576" marB="36576" anchor="ctr">
                    <a:solidFill>
                      <a:srgbClr val="FFFFFF"/>
                    </a:solidFill>
                  </a:tcPr>
                </a:tc>
                <a:extLst>
                  <a:ext uri="{0D108BD9-81ED-4DB2-BD59-A6C34878D82A}">
                    <a16:rowId xmlns:a16="http://schemas.microsoft.com/office/drawing/2014/main" val="10001"/>
                  </a:ext>
                </a:extLst>
              </a:tr>
              <a:tr h="384048">
                <a:tc>
                  <a:txBody>
                    <a:bodyPr/>
                    <a:lstStyle/>
                    <a:p>
                      <a:r>
                        <a:rPr sz="1500" b="0" i="0">
                          <a:solidFill>
                            <a:srgbClr val="0E1726"/>
                          </a:solidFill>
                          <a:latin typeface="Bahnschrift"/>
                        </a:rPr>
                        <a:t>sech²</a:t>
                      </a:r>
                    </a:p>
                  </a:txBody>
                  <a:tcPr marT="36576" marB="36576" anchor="ctr">
                    <a:solidFill>
                      <a:srgbClr val="F2F4F7"/>
                    </a:solidFill>
                  </a:tcPr>
                </a:tc>
                <a:tc>
                  <a:txBody>
                    <a:bodyPr/>
                    <a:lstStyle/>
                    <a:p>
                      <a:r>
                        <a:rPr sz="1500" b="0" i="0">
                          <a:solidFill>
                            <a:srgbClr val="0E1726"/>
                          </a:solidFill>
                          <a:latin typeface="Bahnschrift"/>
                        </a:rPr>
                        <a:t>0,315</a:t>
                      </a:r>
                    </a:p>
                  </a:txBody>
                  <a:tcPr marT="36576" marB="36576" anchor="ctr">
                    <a:solidFill>
                      <a:srgbClr val="F2F4F7"/>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6903720" y="4114800"/>
            <a:ext cx="4754880" cy="731520"/>
          </a:xfrm>
          <a:prstGeom prst="rect">
            <a:avLst/>
          </a:prstGeom>
          <a:noFill/>
        </p:spPr>
        <p:txBody>
          <a:bodyPr wrap="square" lIns="0" tIns="0" rIns="0" bIns="0" anchor="t">
            <a:spAutoFit/>
          </a:bodyPr>
          <a:lstStyle/>
          <a:p>
            <a:pPr algn="l">
              <a:spcAft>
                <a:spcPts val="600"/>
              </a:spcAft>
            </a:pPr>
            <a:r>
              <a:rPr sz="3000" b="0" i="0">
                <a:solidFill>
                  <a:srgbClr val="D7263D"/>
                </a:solidFill>
                <a:latin typeface="Bahnschrift SemiBold"/>
              </a:rPr>
              <a:t>100 fs → Δλ ≈ 9,4 nm</a:t>
            </a:r>
          </a:p>
        </p:txBody>
      </p:sp>
      <p:sp>
        <p:nvSpPr>
          <p:cNvPr id="13" name="TextBox 12"/>
          <p:cNvSpPr txBox="1"/>
          <p:nvPr/>
        </p:nvSpPr>
        <p:spPr>
          <a:xfrm>
            <a:off x="6903720" y="4846320"/>
            <a:ext cx="4754880" cy="640080"/>
          </a:xfrm>
          <a:prstGeom prst="rect">
            <a:avLst/>
          </a:prstGeom>
          <a:noFill/>
        </p:spPr>
        <p:txBody>
          <a:bodyPr wrap="square" lIns="0" tIns="0" rIns="0" bIns="0" anchor="t">
            <a:spAutoFit/>
          </a:bodyPr>
          <a:lstStyle/>
          <a:p>
            <a:pPr algn="l">
              <a:spcAft>
                <a:spcPts val="600"/>
              </a:spcAft>
            </a:pPr>
            <a:r>
              <a:rPr sz="1350" b="0" i="0">
                <a:solidFill>
                  <a:srgbClr val="5F6B7A"/>
                </a:solidFill>
                <a:latin typeface="Bahnschrift"/>
              </a:rPr>
              <a:t>pulso gaussiano limitado por transformada, centrado en 800 nm</a:t>
            </a:r>
          </a:p>
        </p:txBody>
      </p:sp>
      <p:sp>
        <p:nvSpPr>
          <p:cNvPr id="14" name="TextBox 13"/>
          <p:cNvSpPr txBox="1"/>
          <p:nvPr/>
        </p:nvSpPr>
        <p:spPr>
          <a:xfrm>
            <a:off x="6903720" y="5486400"/>
            <a:ext cx="4754880" cy="73152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El espectro es un </a:t>
            </a:r>
            <a:r>
              <a:rPr sz="1600" b="0" i="0">
                <a:solidFill>
                  <a:srgbClr val="0E1726"/>
                </a:solidFill>
                <a:latin typeface="Bahnschrift SemiBold"/>
              </a:rPr>
              <a:t>segundo dato</a:t>
            </a:r>
            <a:r>
              <a:rPr sz="1600" b="0" i="0">
                <a:solidFill>
                  <a:srgbClr val="0E1726"/>
                </a:solidFill>
                <a:latin typeface="Bahnschrift"/>
              </a:rPr>
              <a:t> para comparar con el fabricante y para validar el ancho medido.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2 · ¿DE DÓNDE SALE EL PULSO?</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¿Cómo genera pulsos un láser de modo amarrado?</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Diels y Rudolph (2006), ec. 5.1, p. 278 y p. 459</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6</a:t>
            </a:r>
          </a:p>
        </p:txBody>
      </p:sp>
      <p:sp>
        <p:nvSpPr>
          <p:cNvPr id="8" name="Rounded Rectangle 7"/>
          <p:cNvSpPr/>
          <p:nvPr/>
        </p:nvSpPr>
        <p:spPr>
          <a:xfrm>
            <a:off x="548640" y="1600200"/>
            <a:ext cx="5120640" cy="137160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31520" y="1691640"/>
            <a:ext cx="4754879" cy="868680"/>
          </a:xfrm>
          <a:prstGeom prst="rect">
            <a:avLst/>
          </a:prstGeom>
          <a:noFill/>
        </p:spPr>
        <p:txBody>
          <a:bodyPr wrap="square" lIns="0" tIns="0" rIns="0" bIns="0" anchor="ctr">
            <a:spAutoFit/>
          </a:bodyPr>
          <a:lstStyle/>
          <a:p>
            <a:pPr algn="ctr">
              <a:spcAft>
                <a:spcPts val="400"/>
              </a:spcAft>
            </a:pPr>
            <a:r>
              <a:rPr sz="2400" b="0" i="0">
                <a:solidFill>
                  <a:srgbClr val="0E1726"/>
                </a:solidFill>
                <a:latin typeface="Cambria Math"/>
              </a:rPr>
              <a:t>Δν = c / (2nL)</a:t>
            </a:r>
          </a:p>
          <a:p>
            <a:pPr algn="ctr">
              <a:spcAft>
                <a:spcPts val="400"/>
              </a:spcAft>
            </a:pPr>
            <a:r>
              <a:rPr sz="2400" b="0" i="0">
                <a:solidFill>
                  <a:srgbClr val="0E1726"/>
                </a:solidFill>
                <a:latin typeface="Cambria Math"/>
              </a:rPr>
              <a:t>T = 2nL / c</a:t>
            </a:r>
          </a:p>
        </p:txBody>
      </p:sp>
      <p:sp>
        <p:nvSpPr>
          <p:cNvPr id="10" name="TextBox 9"/>
          <p:cNvSpPr txBox="1"/>
          <p:nvPr/>
        </p:nvSpPr>
        <p:spPr>
          <a:xfrm>
            <a:off x="731520" y="2587752"/>
            <a:ext cx="4754879" cy="292608"/>
          </a:xfrm>
          <a:prstGeom prst="rect">
            <a:avLst/>
          </a:prstGeom>
          <a:noFill/>
        </p:spPr>
        <p:txBody>
          <a:bodyPr wrap="square" lIns="0" tIns="0" rIns="0" bIns="0" anchor="t">
            <a:spAutoFit/>
          </a:bodyPr>
          <a:lstStyle/>
          <a:p>
            <a:pPr algn="ctr">
              <a:spcAft>
                <a:spcPts val="600"/>
              </a:spcAft>
            </a:pPr>
            <a:r>
              <a:rPr sz="1150" b="0" i="0">
                <a:solidFill>
                  <a:srgbClr val="5F6B7A"/>
                </a:solidFill>
                <a:latin typeface="Bahnschrift"/>
              </a:rPr>
              <a:t>separación entre modos y periodo del tren</a:t>
            </a:r>
          </a:p>
        </p:txBody>
      </p:sp>
      <p:sp>
        <p:nvSpPr>
          <p:cNvPr id="11" name="TextBox 10"/>
          <p:cNvSpPr txBox="1"/>
          <p:nvPr/>
        </p:nvSpPr>
        <p:spPr>
          <a:xfrm>
            <a:off x="548640" y="3246120"/>
            <a:ext cx="5120640" cy="2926080"/>
          </a:xfrm>
          <a:prstGeom prst="rect">
            <a:avLst/>
          </a:prstGeom>
          <a:noFill/>
        </p:spPr>
        <p:txBody>
          <a:bodyPr wrap="square" lIns="0" tIns="0" rIns="0" bIns="0" anchor="t">
            <a:spAutoFit/>
          </a:bodyPr>
          <a:lstStyle/>
          <a:p>
            <a:pPr marL="256032" indent="-256032">
              <a:spcAft>
                <a:spcPts val="900"/>
              </a:spcAft>
              <a:buClr>
                <a:srgbClr val="D7263D"/>
              </a:buClr>
              <a:buFont typeface="Arial"/>
              <a:buChar char="■"/>
            </a:pPr>
            <a:r>
              <a:rPr sz="1700" b="0" i="0">
                <a:solidFill>
                  <a:srgbClr val="0E1726"/>
                </a:solidFill>
                <a:latin typeface="Bahnschrift"/>
              </a:rPr>
              <a:t>Muchos modos longitudinales oscilan con </a:t>
            </a:r>
            <a:r>
              <a:rPr sz="1700" b="0" i="0">
                <a:solidFill>
                  <a:srgbClr val="0E1726"/>
                </a:solidFill>
                <a:latin typeface="Bahnschrift SemiBold"/>
              </a:rPr>
              <a:t>fase fija</a:t>
            </a:r>
            <a:r>
              <a:rPr sz="1700" b="0" i="0">
                <a:solidFill>
                  <a:srgbClr val="0E1726"/>
                </a:solidFill>
                <a:latin typeface="Bahnschrift"/>
              </a:rPr>
              <a:t>: su suma es un tren de pulsos.</a:t>
            </a:r>
          </a:p>
          <a:p>
            <a:pPr marL="256032" indent="-256032">
              <a:spcAft>
                <a:spcPts val="900"/>
              </a:spcAft>
              <a:buClr>
                <a:srgbClr val="D7263D"/>
              </a:buClr>
              <a:buFont typeface="Arial"/>
              <a:buChar char="■"/>
            </a:pPr>
            <a:r>
              <a:rPr sz="1700" b="0" i="0">
                <a:solidFill>
                  <a:srgbClr val="0E1726"/>
                </a:solidFill>
                <a:latin typeface="Bahnschrift SemiBold"/>
              </a:rPr>
              <a:t>Más modos en fase</a:t>
            </a:r>
            <a:r>
              <a:rPr sz="1700" b="0" i="0">
                <a:solidFill>
                  <a:srgbClr val="0E1726"/>
                </a:solidFill>
                <a:latin typeface="Bahnschrift"/>
              </a:rPr>
              <a:t> (más ancho de banda) → pulso más corto.</a:t>
            </a:r>
          </a:p>
          <a:p>
            <a:pPr marL="256032" indent="-256032">
              <a:spcAft>
                <a:spcPts val="900"/>
              </a:spcAft>
              <a:buClr>
                <a:srgbClr val="D7263D"/>
              </a:buClr>
              <a:buFont typeface="Arial"/>
              <a:buChar char="■"/>
            </a:pPr>
            <a:r>
              <a:rPr sz="1700" b="0" i="0">
                <a:solidFill>
                  <a:srgbClr val="0E1726"/>
                </a:solidFill>
                <a:latin typeface="Bahnschrift"/>
              </a:rPr>
              <a:t>Al medir se supone una forma: "generally a sech² or a Gaussian shape" (Diels y Rudolph, p. 459).</a:t>
            </a:r>
          </a:p>
        </p:txBody>
      </p:sp>
      <p:pic>
        <p:nvPicPr>
          <p:cNvPr id="12" name="Picture 11" descr="modos.png"/>
          <p:cNvPicPr>
            <a:picLocks noChangeAspect="1"/>
          </p:cNvPicPr>
          <p:nvPr/>
        </p:nvPicPr>
        <p:blipFill>
          <a:blip r:embed="rId4"/>
          <a:stretch>
            <a:fillRect/>
          </a:stretch>
        </p:blipFill>
        <p:spPr>
          <a:xfrm>
            <a:off x="5989320" y="1554480"/>
            <a:ext cx="5669280" cy="44359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2 · ¿QUÉ DICE EL FABRICANTE?</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especifica el fabricante y cómo lo midió?</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7</a:t>
            </a:r>
          </a:p>
        </p:txBody>
      </p:sp>
      <p:graphicFrame>
        <p:nvGraphicFramePr>
          <p:cNvPr id="7" name="Table 6"/>
          <p:cNvGraphicFramePr>
            <a:graphicFrameLocks noGrp="1"/>
          </p:cNvGraphicFramePr>
          <p:nvPr/>
        </p:nvGraphicFramePr>
        <p:xfrm>
          <a:off x="548640" y="1600200"/>
          <a:ext cx="6949440" cy="4200144"/>
        </p:xfrm>
        <a:graphic>
          <a:graphicData uri="http://schemas.openxmlformats.org/drawingml/2006/table">
            <a:tbl>
              <a:tblPr firstRow="1" bandRow="1">
                <a:tableStyleId>{2D5ABB26-0587-4C30-8999-92F81FD0307C}</a:tableStyleId>
              </a:tblPr>
              <a:tblGrid>
                <a:gridCol w="25146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57200">
                <a:tc>
                  <a:txBody>
                    <a:bodyPr/>
                    <a:lstStyle/>
                    <a:p>
                      <a:r>
                        <a:rPr sz="1400" b="0" i="0">
                          <a:solidFill>
                            <a:srgbClr val="FFFFFF"/>
                          </a:solidFill>
                          <a:latin typeface="Bahnschrift SemiBold"/>
                        </a:rPr>
                        <a:t>Parámetro</a:t>
                      </a:r>
                    </a:p>
                  </a:txBody>
                  <a:tcPr marT="36576" marB="36576" anchor="ctr">
                    <a:solidFill>
                      <a:srgbClr val="0E1726"/>
                    </a:solidFill>
                  </a:tcPr>
                </a:tc>
                <a:tc>
                  <a:txBody>
                    <a:bodyPr/>
                    <a:lstStyle/>
                    <a:p>
                      <a:r>
                        <a:rPr sz="1400" b="0" i="0">
                          <a:solidFill>
                            <a:srgbClr val="FFFFFF"/>
                          </a:solidFill>
                          <a:latin typeface="Bahnschrift SemiBold"/>
                        </a:rPr>
                        <a:t>Valor</a:t>
                      </a:r>
                    </a:p>
                  </a:txBody>
                  <a:tcPr marT="36576" marB="36576" anchor="ctr">
                    <a:solidFill>
                      <a:srgbClr val="0E1726"/>
                    </a:solidFill>
                  </a:tcPr>
                </a:tc>
                <a:tc>
                  <a:txBody>
                    <a:bodyPr/>
                    <a:lstStyle/>
                    <a:p>
                      <a:r>
                        <a:rPr sz="1400" b="0" i="0">
                          <a:solidFill>
                            <a:srgbClr val="FFFFFF"/>
                          </a:solidFill>
                          <a:latin typeface="Bahnschrift SemiBold"/>
                        </a:rPr>
                        <a:t>Lo que hay que averiguar</a:t>
                      </a:r>
                    </a:p>
                  </a:txBody>
                  <a:tcPr marT="36576" marB="36576" anchor="ctr">
                    <a:solidFill>
                      <a:srgbClr val="0E1726"/>
                    </a:solidFill>
                  </a:tcPr>
                </a:tc>
                <a:extLst>
                  <a:ext uri="{0D108BD9-81ED-4DB2-BD59-A6C34878D82A}">
                    <a16:rowId xmlns:a16="http://schemas.microsoft.com/office/drawing/2014/main" val="10000"/>
                  </a:ext>
                </a:extLst>
              </a:tr>
              <a:tr h="457200">
                <a:tc>
                  <a:txBody>
                    <a:bodyPr/>
                    <a:lstStyle/>
                    <a:p>
                      <a:r>
                        <a:rPr sz="1400" b="0" i="0">
                          <a:solidFill>
                            <a:srgbClr val="0E1726"/>
                          </a:solidFill>
                          <a:latin typeface="Bahnschrift"/>
                        </a:rPr>
                        <a:t>Ancho de pulso nominal</a:t>
                      </a:r>
                    </a:p>
                  </a:txBody>
                  <a:tcPr marT="36576" marB="36576" anchor="ctr">
                    <a:solidFill>
                      <a:srgbClr val="FFFFFF"/>
                    </a:solidFill>
                  </a:tcPr>
                </a:tc>
                <a:tc>
                  <a:txBody>
                    <a:bodyPr/>
                    <a:lstStyle/>
                    <a:p>
                      <a:r>
                        <a:rPr sz="1400" b="0" i="1">
                          <a:solidFill>
                            <a:srgbClr val="D7263D"/>
                          </a:solidFill>
                          <a:latin typeface="Bahnschrift"/>
                        </a:rPr>
                        <a:t>Pendiente</a:t>
                      </a:r>
                    </a:p>
                  </a:txBody>
                  <a:tcPr marT="36576" marB="36576" anchor="ctr">
                    <a:solidFill>
                      <a:srgbClr val="FFFFFF"/>
                    </a:solidFill>
                  </a:tcPr>
                </a:tc>
                <a:tc>
                  <a:txBody>
                    <a:bodyPr/>
                    <a:lstStyle/>
                    <a:p>
                      <a:r>
                        <a:rPr sz="1400" b="0" i="0">
                          <a:solidFill>
                            <a:srgbClr val="0E1726"/>
                          </a:solidFill>
                          <a:latin typeface="Bahnschrift"/>
                        </a:rPr>
                        <a:t>¿Típico, máximo o medido en este equipo?</a:t>
                      </a:r>
                    </a:p>
                  </a:txBody>
                  <a:tcPr marT="36576" marB="36576" anchor="ctr">
                    <a:solidFill>
                      <a:srgbClr val="FFFFFF"/>
                    </a:solidFill>
                  </a:tcPr>
                </a:tc>
                <a:extLst>
                  <a:ext uri="{0D108BD9-81ED-4DB2-BD59-A6C34878D82A}">
                    <a16:rowId xmlns:a16="http://schemas.microsoft.com/office/drawing/2014/main" val="10001"/>
                  </a:ext>
                </a:extLst>
              </a:tr>
              <a:tr h="457200">
                <a:tc>
                  <a:txBody>
                    <a:bodyPr/>
                    <a:lstStyle/>
                    <a:p>
                      <a:r>
                        <a:rPr sz="1400" b="0" i="0">
                          <a:solidFill>
                            <a:srgbClr val="0E1726"/>
                          </a:solidFill>
                          <a:latin typeface="Bahnschrift"/>
                        </a:rPr>
                        <a:t>Forma supuesta</a:t>
                      </a:r>
                    </a:p>
                  </a:txBody>
                  <a:tcPr marT="36576" marB="36576" anchor="ctr">
                    <a:solidFill>
                      <a:srgbClr val="F2F4F7"/>
                    </a:solidFill>
                  </a:tcPr>
                </a:tc>
                <a:tc>
                  <a:txBody>
                    <a:bodyPr/>
                    <a:lstStyle/>
                    <a:p>
                      <a:r>
                        <a:rPr sz="1400" b="0" i="1">
                          <a:solidFill>
                            <a:srgbClr val="D7263D"/>
                          </a:solidFill>
                          <a:latin typeface="Bahnschrift"/>
                        </a:rPr>
                        <a:t>Pendiente</a:t>
                      </a:r>
                    </a:p>
                  </a:txBody>
                  <a:tcPr marT="36576" marB="36576" anchor="ctr">
                    <a:solidFill>
                      <a:srgbClr val="F2F4F7"/>
                    </a:solidFill>
                  </a:tcPr>
                </a:tc>
                <a:tc>
                  <a:txBody>
                    <a:bodyPr/>
                    <a:lstStyle/>
                    <a:p>
                      <a:r>
                        <a:rPr sz="1400" b="0" i="0">
                          <a:solidFill>
                            <a:srgbClr val="0E1726"/>
                          </a:solidFill>
                          <a:latin typeface="Bahnschrift"/>
                        </a:rPr>
                        <a:t>¿sech² o gaussiana?</a:t>
                      </a:r>
                    </a:p>
                  </a:txBody>
                  <a:tcPr marT="36576" marB="36576" anchor="ctr">
                    <a:solidFill>
                      <a:srgbClr val="F2F4F7"/>
                    </a:solidFill>
                  </a:tcPr>
                </a:tc>
                <a:extLst>
                  <a:ext uri="{0D108BD9-81ED-4DB2-BD59-A6C34878D82A}">
                    <a16:rowId xmlns:a16="http://schemas.microsoft.com/office/drawing/2014/main" val="10002"/>
                  </a:ext>
                </a:extLst>
              </a:tr>
              <a:tr h="457200">
                <a:tc>
                  <a:txBody>
                    <a:bodyPr/>
                    <a:lstStyle/>
                    <a:p>
                      <a:r>
                        <a:rPr sz="1400" b="0" i="0">
                          <a:solidFill>
                            <a:srgbClr val="0E1726"/>
                          </a:solidFill>
                          <a:latin typeface="Bahnschrift"/>
                        </a:rPr>
                        <a:t>Técnica de medición</a:t>
                      </a:r>
                    </a:p>
                  </a:txBody>
                  <a:tcPr marT="36576" marB="36576" anchor="ctr">
                    <a:solidFill>
                      <a:srgbClr val="FFFFFF"/>
                    </a:solidFill>
                  </a:tcPr>
                </a:tc>
                <a:tc>
                  <a:txBody>
                    <a:bodyPr/>
                    <a:lstStyle/>
                    <a:p>
                      <a:r>
                        <a:rPr sz="1400" b="0" i="1">
                          <a:solidFill>
                            <a:srgbClr val="D7263D"/>
                          </a:solidFill>
                          <a:latin typeface="Bahnschrift"/>
                        </a:rPr>
                        <a:t>Pendiente</a:t>
                      </a:r>
                    </a:p>
                  </a:txBody>
                  <a:tcPr marT="36576" marB="36576" anchor="ctr">
                    <a:solidFill>
                      <a:srgbClr val="FFFFFF"/>
                    </a:solidFill>
                  </a:tcPr>
                </a:tc>
                <a:tc>
                  <a:txBody>
                    <a:bodyPr/>
                    <a:lstStyle/>
                    <a:p>
                      <a:r>
                        <a:rPr sz="1400" b="0" i="0">
                          <a:solidFill>
                            <a:srgbClr val="0E1726"/>
                          </a:solidFill>
                          <a:latin typeface="Bahnschrift"/>
                        </a:rPr>
                        <a:t>¿Autocorrelación? ¿Otra?</a:t>
                      </a:r>
                    </a:p>
                  </a:txBody>
                  <a:tcPr marT="36576" marB="36576" anchor="ctr">
                    <a:solidFill>
                      <a:srgbClr val="FFFFFF"/>
                    </a:solidFill>
                  </a:tcPr>
                </a:tc>
                <a:extLst>
                  <a:ext uri="{0D108BD9-81ED-4DB2-BD59-A6C34878D82A}">
                    <a16:rowId xmlns:a16="http://schemas.microsoft.com/office/drawing/2014/main" val="10003"/>
                  </a:ext>
                </a:extLst>
              </a:tr>
              <a:tr h="457200">
                <a:tc>
                  <a:txBody>
                    <a:bodyPr/>
                    <a:lstStyle/>
                    <a:p>
                      <a:r>
                        <a:rPr sz="1400" b="0" i="0">
                          <a:solidFill>
                            <a:srgbClr val="0E1726"/>
                          </a:solidFill>
                          <a:latin typeface="Bahnschrift"/>
                        </a:rPr>
                        <a:t>Longitud de onda central</a:t>
                      </a:r>
                    </a:p>
                  </a:txBody>
                  <a:tcPr marT="36576" marB="36576" anchor="ctr">
                    <a:solidFill>
                      <a:srgbClr val="F2F4F7"/>
                    </a:solidFill>
                  </a:tcPr>
                </a:tc>
                <a:tc>
                  <a:txBody>
                    <a:bodyPr/>
                    <a:lstStyle/>
                    <a:p>
                      <a:r>
                        <a:rPr sz="1400" b="0" i="1">
                          <a:solidFill>
                            <a:srgbClr val="D7263D"/>
                          </a:solidFill>
                          <a:latin typeface="Bahnschrift"/>
                        </a:rPr>
                        <a:t>Pendiente</a:t>
                      </a:r>
                    </a:p>
                  </a:txBody>
                  <a:tcPr marT="36576" marB="36576" anchor="ctr">
                    <a:solidFill>
                      <a:srgbClr val="F2F4F7"/>
                    </a:solidFill>
                  </a:tcPr>
                </a:tc>
                <a:tc>
                  <a:txBody>
                    <a:bodyPr/>
                    <a:lstStyle/>
                    <a:p>
                      <a:r>
                        <a:rPr sz="1400" b="0" i="0">
                          <a:solidFill>
                            <a:srgbClr val="0E1726"/>
                          </a:solidFill>
                          <a:latin typeface="Bahnschrift"/>
                        </a:rPr>
                        <a:t>—</a:t>
                      </a:r>
                    </a:p>
                  </a:txBody>
                  <a:tcPr marT="36576" marB="36576" anchor="ctr">
                    <a:solidFill>
                      <a:srgbClr val="F2F4F7"/>
                    </a:solidFill>
                  </a:tcPr>
                </a:tc>
                <a:extLst>
                  <a:ext uri="{0D108BD9-81ED-4DB2-BD59-A6C34878D82A}">
                    <a16:rowId xmlns:a16="http://schemas.microsoft.com/office/drawing/2014/main" val="10004"/>
                  </a:ext>
                </a:extLst>
              </a:tr>
              <a:tr h="457200">
                <a:tc>
                  <a:txBody>
                    <a:bodyPr/>
                    <a:lstStyle/>
                    <a:p>
                      <a:r>
                        <a:rPr sz="1400" b="0" i="0">
                          <a:solidFill>
                            <a:srgbClr val="0E1726"/>
                          </a:solidFill>
                          <a:latin typeface="Bahnschrift"/>
                        </a:rPr>
                        <a:t>Ancho espectral</a:t>
                      </a:r>
                    </a:p>
                  </a:txBody>
                  <a:tcPr marT="36576" marB="36576" anchor="ctr">
                    <a:solidFill>
                      <a:srgbClr val="FFFFFF"/>
                    </a:solidFill>
                  </a:tcPr>
                </a:tc>
                <a:tc>
                  <a:txBody>
                    <a:bodyPr/>
                    <a:lstStyle/>
                    <a:p>
                      <a:r>
                        <a:rPr sz="1400" b="0" i="1">
                          <a:solidFill>
                            <a:srgbClr val="D7263D"/>
                          </a:solidFill>
                          <a:latin typeface="Bahnschrift"/>
                        </a:rPr>
                        <a:t>Pendiente</a:t>
                      </a:r>
                    </a:p>
                  </a:txBody>
                  <a:tcPr marT="36576" marB="36576" anchor="ctr">
                    <a:solidFill>
                      <a:srgbClr val="FFFFFF"/>
                    </a:solidFill>
                  </a:tcPr>
                </a:tc>
                <a:tc>
                  <a:txBody>
                    <a:bodyPr/>
                    <a:lstStyle/>
                    <a:p>
                      <a:r>
                        <a:rPr sz="1400" b="0" i="0">
                          <a:solidFill>
                            <a:srgbClr val="0E1726"/>
                          </a:solidFill>
                          <a:latin typeface="Bahnschrift"/>
                        </a:rPr>
                        <a:t>Permite calcular Δν·τ</a:t>
                      </a:r>
                      <a:r>
                        <a:rPr sz="1400" b="0" i="0" baseline="-25000">
                          <a:solidFill>
                            <a:srgbClr val="0E1726"/>
                          </a:solidFill>
                          <a:latin typeface="Bahnschrift"/>
                        </a:rPr>
                        <a:t>p</a:t>
                      </a:r>
                    </a:p>
                  </a:txBody>
                  <a:tcPr marT="36576" marB="36576" anchor="ctr">
                    <a:solidFill>
                      <a:srgbClr val="FFFFFF"/>
                    </a:solidFill>
                  </a:tcPr>
                </a:tc>
                <a:extLst>
                  <a:ext uri="{0D108BD9-81ED-4DB2-BD59-A6C34878D82A}">
                    <a16:rowId xmlns:a16="http://schemas.microsoft.com/office/drawing/2014/main" val="10005"/>
                  </a:ext>
                </a:extLst>
              </a:tr>
              <a:tr h="457200">
                <a:tc>
                  <a:txBody>
                    <a:bodyPr/>
                    <a:lstStyle/>
                    <a:p>
                      <a:r>
                        <a:rPr sz="1400" b="0" i="0">
                          <a:solidFill>
                            <a:srgbClr val="0E1726"/>
                          </a:solidFill>
                          <a:latin typeface="Bahnschrift"/>
                        </a:rPr>
                        <a:t>Tasa de repetición</a:t>
                      </a:r>
                    </a:p>
                  </a:txBody>
                  <a:tcPr marT="36576" marB="36576" anchor="ctr">
                    <a:solidFill>
                      <a:srgbClr val="F2F4F7"/>
                    </a:solidFill>
                  </a:tcPr>
                </a:tc>
                <a:tc>
                  <a:txBody>
                    <a:bodyPr/>
                    <a:lstStyle/>
                    <a:p>
                      <a:r>
                        <a:rPr sz="1400" b="0" i="1">
                          <a:solidFill>
                            <a:srgbClr val="D7263D"/>
                          </a:solidFill>
                          <a:latin typeface="Bahnschrift"/>
                        </a:rPr>
                        <a:t>Pendiente</a:t>
                      </a:r>
                    </a:p>
                  </a:txBody>
                  <a:tcPr marT="36576" marB="36576" anchor="ctr">
                    <a:solidFill>
                      <a:srgbClr val="F2F4F7"/>
                    </a:solidFill>
                  </a:tcPr>
                </a:tc>
                <a:tc>
                  <a:txBody>
                    <a:bodyPr/>
                    <a:lstStyle/>
                    <a:p>
                      <a:r>
                        <a:rPr sz="1400" b="0" i="0">
                          <a:solidFill>
                            <a:srgbClr val="0E1726"/>
                          </a:solidFill>
                          <a:latin typeface="Bahnschrift"/>
                        </a:rPr>
                        <a:t>—</a:t>
                      </a:r>
                    </a:p>
                  </a:txBody>
                  <a:tcPr marT="36576" marB="36576" anchor="ctr">
                    <a:solidFill>
                      <a:srgbClr val="F2F4F7"/>
                    </a:solidFill>
                  </a:tcPr>
                </a:tc>
                <a:extLst>
                  <a:ext uri="{0D108BD9-81ED-4DB2-BD59-A6C34878D82A}">
                    <a16:rowId xmlns:a16="http://schemas.microsoft.com/office/drawing/2014/main" val="10006"/>
                  </a:ext>
                </a:extLst>
              </a:tr>
              <a:tr h="457200">
                <a:tc>
                  <a:txBody>
                    <a:bodyPr/>
                    <a:lstStyle/>
                    <a:p>
                      <a:r>
                        <a:rPr sz="1400" b="0" i="0">
                          <a:solidFill>
                            <a:srgbClr val="0E1726"/>
                          </a:solidFill>
                          <a:latin typeface="Bahnschrift"/>
                        </a:rPr>
                        <a:t>Potencia media</a:t>
                      </a:r>
                    </a:p>
                  </a:txBody>
                  <a:tcPr marT="36576" marB="36576" anchor="ctr">
                    <a:solidFill>
                      <a:srgbClr val="FFFFFF"/>
                    </a:solidFill>
                  </a:tcPr>
                </a:tc>
                <a:tc>
                  <a:txBody>
                    <a:bodyPr/>
                    <a:lstStyle/>
                    <a:p>
                      <a:r>
                        <a:rPr sz="1400" b="0" i="1">
                          <a:solidFill>
                            <a:srgbClr val="D7263D"/>
                          </a:solidFill>
                          <a:latin typeface="Bahnschrift"/>
                        </a:rPr>
                        <a:t>Pendiente</a:t>
                      </a:r>
                    </a:p>
                  </a:txBody>
                  <a:tcPr marT="36576" marB="36576" anchor="ctr">
                    <a:solidFill>
                      <a:srgbClr val="FFFFFF"/>
                    </a:solidFill>
                  </a:tcPr>
                </a:tc>
                <a:tc>
                  <a:txBody>
                    <a:bodyPr/>
                    <a:lstStyle/>
                    <a:p>
                      <a:r>
                        <a:rPr sz="1400" b="0" i="0">
                          <a:solidFill>
                            <a:srgbClr val="0E1726"/>
                          </a:solidFill>
                          <a:latin typeface="Bahnschrift"/>
                        </a:rPr>
                        <a:t>—</a:t>
                      </a:r>
                    </a:p>
                  </a:txBody>
                  <a:tcPr marT="36576" marB="36576" anchor="ctr">
                    <a:solidFill>
                      <a:srgbClr val="FFFFFF"/>
                    </a:solidFill>
                  </a:tcPr>
                </a:tc>
                <a:extLst>
                  <a:ext uri="{0D108BD9-81ED-4DB2-BD59-A6C34878D82A}">
                    <a16:rowId xmlns:a16="http://schemas.microsoft.com/office/drawing/2014/main" val="10007"/>
                  </a:ext>
                </a:extLst>
              </a:tr>
              <a:tr h="457200">
                <a:tc>
                  <a:txBody>
                    <a:bodyPr/>
                    <a:lstStyle/>
                    <a:p>
                      <a:r>
                        <a:rPr sz="1400" b="0" i="0">
                          <a:solidFill>
                            <a:srgbClr val="0E1726"/>
                          </a:solidFill>
                          <a:latin typeface="Bahnschrift"/>
                        </a:rPr>
                        <a:t>Fecha de la medición de fábrica</a:t>
                      </a:r>
                    </a:p>
                  </a:txBody>
                  <a:tcPr marT="36576" marB="36576" anchor="ctr">
                    <a:solidFill>
                      <a:srgbClr val="F2F4F7"/>
                    </a:solidFill>
                  </a:tcPr>
                </a:tc>
                <a:tc>
                  <a:txBody>
                    <a:bodyPr/>
                    <a:lstStyle/>
                    <a:p>
                      <a:r>
                        <a:rPr sz="1400" b="0" i="1">
                          <a:solidFill>
                            <a:srgbClr val="D7263D"/>
                          </a:solidFill>
                          <a:latin typeface="Bahnschrift"/>
                        </a:rPr>
                        <a:t>Pendiente</a:t>
                      </a:r>
                    </a:p>
                  </a:txBody>
                  <a:tcPr marT="36576" marB="36576" anchor="ctr">
                    <a:solidFill>
                      <a:srgbClr val="F2F4F7"/>
                    </a:solidFill>
                  </a:tcPr>
                </a:tc>
                <a:tc>
                  <a:txBody>
                    <a:bodyPr/>
                    <a:lstStyle/>
                    <a:p>
                      <a:r>
                        <a:rPr sz="1400" b="0" i="0">
                          <a:solidFill>
                            <a:srgbClr val="0E1726"/>
                          </a:solidFill>
                          <a:latin typeface="Bahnschrift"/>
                        </a:rPr>
                        <a:t>Uso del equipo desde entonces</a:t>
                      </a:r>
                    </a:p>
                  </a:txBody>
                  <a:tcPr marT="36576" marB="36576" anchor="ctr">
                    <a:solidFill>
                      <a:srgbClr val="F2F4F7"/>
                    </a:solidFill>
                  </a:tcPr>
                </a:tc>
                <a:extLst>
                  <a:ext uri="{0D108BD9-81ED-4DB2-BD59-A6C34878D82A}">
                    <a16:rowId xmlns:a16="http://schemas.microsoft.com/office/drawing/2014/main" val="10008"/>
                  </a:ext>
                </a:extLst>
              </a:tr>
            </a:tbl>
          </a:graphicData>
        </a:graphic>
      </p:graphicFrame>
      <p:sp>
        <p:nvSpPr>
          <p:cNvPr id="8" name="Rounded Rectangle 7"/>
          <p:cNvSpPr/>
          <p:nvPr/>
        </p:nvSpPr>
        <p:spPr>
          <a:xfrm>
            <a:off x="7863840" y="1600200"/>
            <a:ext cx="3776472" cy="233172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092440" y="1801368"/>
            <a:ext cx="3383280" cy="365760"/>
          </a:xfrm>
          <a:prstGeom prst="rect">
            <a:avLst/>
          </a:prstGeom>
          <a:noFill/>
        </p:spPr>
        <p:txBody>
          <a:bodyPr wrap="square" lIns="0" tIns="0" rIns="0" bIns="0" anchor="t">
            <a:spAutoFit/>
          </a:bodyPr>
          <a:lstStyle/>
          <a:p>
            <a:pPr algn="l">
              <a:spcAft>
                <a:spcPts val="600"/>
              </a:spcAft>
            </a:pPr>
            <a:r>
              <a:rPr sz="1300" b="0" i="0">
                <a:solidFill>
                  <a:srgbClr val="D7263D"/>
                </a:solidFill>
                <a:latin typeface="Bahnschrift SemiBold"/>
              </a:rPr>
              <a:t>EL PATRÓN DEL EXPERIMENTO</a:t>
            </a:r>
          </a:p>
        </p:txBody>
      </p:sp>
      <p:sp>
        <p:nvSpPr>
          <p:cNvPr id="10" name="TextBox 9"/>
          <p:cNvSpPr txBox="1"/>
          <p:nvPr/>
        </p:nvSpPr>
        <p:spPr>
          <a:xfrm>
            <a:off x="8092440" y="2240280"/>
            <a:ext cx="3383280" cy="1645920"/>
          </a:xfrm>
          <a:prstGeom prst="rect">
            <a:avLst/>
          </a:prstGeom>
          <a:noFill/>
        </p:spPr>
        <p:txBody>
          <a:bodyPr wrap="square" lIns="0" tIns="0" rIns="0" bIns="0" anchor="t">
            <a:spAutoFit/>
          </a:bodyPr>
          <a:lstStyle/>
          <a:p>
            <a:pPr algn="l">
              <a:spcAft>
                <a:spcPts val="600"/>
              </a:spcAft>
            </a:pPr>
            <a:r>
              <a:rPr sz="1900" b="0" i="0">
                <a:solidFill>
                  <a:srgbClr val="0E1726"/>
                </a:solidFill>
                <a:latin typeface="Bahnschrift SemiBold"/>
              </a:rPr>
              <a:t>El ancho que reporta el fabricante es la referencia contra la que se compara la técnica.</a:t>
            </a:r>
          </a:p>
        </p:txBody>
      </p:sp>
      <p:sp>
        <p:nvSpPr>
          <p:cNvPr id="11" name="Rounded Rectangle 10"/>
          <p:cNvSpPr/>
          <p:nvPr/>
        </p:nvSpPr>
        <p:spPr>
          <a:xfrm>
            <a:off x="7863840" y="4160520"/>
            <a:ext cx="3776472" cy="15544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092440" y="4343400"/>
            <a:ext cx="3319272"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El patrón más fuerte</a:t>
            </a:r>
          </a:p>
        </p:txBody>
      </p:sp>
      <p:sp>
        <p:nvSpPr>
          <p:cNvPr id="13" name="TextBox 12"/>
          <p:cNvSpPr txBox="1"/>
          <p:nvPr/>
        </p:nvSpPr>
        <p:spPr>
          <a:xfrm>
            <a:off x="8092440" y="4818888"/>
            <a:ext cx="3319272" cy="777240"/>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Una hoja de pruebas de fábrica de </a:t>
            </a:r>
            <a:r>
              <a:rPr sz="1500" b="0" i="0">
                <a:solidFill>
                  <a:srgbClr val="0E1726"/>
                </a:solidFill>
                <a:latin typeface="Bahnschrift SemiBold"/>
              </a:rPr>
              <a:t>este</a:t>
            </a:r>
            <a:r>
              <a:rPr sz="1500" b="0" i="0">
                <a:solidFill>
                  <a:srgbClr val="0E1726"/>
                </a:solidFill>
                <a:latin typeface="Bahnschrift"/>
              </a:rPr>
              <a:t> equipo, no el valor típico del modelo.</a:t>
            </a:r>
          </a:p>
        </p:txBody>
      </p:sp>
      <p:sp>
        <p:nvSpPr>
          <p:cNvPr id="14" name="Rounded Rectangle 13"/>
          <p:cNvSpPr/>
          <p:nvPr/>
        </p:nvSpPr>
        <p:spPr>
          <a:xfrm>
            <a:off x="7863840" y="5852160"/>
            <a:ext cx="3776472" cy="502920"/>
          </a:xfrm>
          <a:prstGeom prst="roundRect">
            <a:avLst>
              <a:gd name="adj" fmla="val 6000"/>
            </a:avLst>
          </a:prstGeom>
          <a:solidFill>
            <a:srgbClr val="FFFFFF"/>
          </a:solidFill>
          <a:ln w="19050">
            <a:solidFill>
              <a:srgbClr val="D7263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046719" y="5852160"/>
            <a:ext cx="3410712" cy="502920"/>
          </a:xfrm>
          <a:prstGeom prst="rect">
            <a:avLst/>
          </a:prstGeom>
          <a:noFill/>
        </p:spPr>
        <p:txBody>
          <a:bodyPr wrap="square" lIns="0" tIns="0" rIns="0" bIns="0" anchor="ctr">
            <a:spAutoFit/>
          </a:bodyPr>
          <a:lstStyle/>
          <a:p>
            <a:pPr algn="l">
              <a:spcAft>
                <a:spcPts val="600"/>
              </a:spcAft>
            </a:pPr>
            <a:r>
              <a:rPr sz="1300" b="0" i="0">
                <a:solidFill>
                  <a:srgbClr val="D7263D"/>
                </a:solidFill>
                <a:latin typeface="Bahnschrift"/>
              </a:rPr>
              <a:t>Pendiente: ficha técnica del láser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2 · ¿DE DÓNDE SALE EL PULSO?</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le pasa al pulso antes de llegar al autocorrelador?</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Diels y Rudolph (2006), ec. 1.125, p. 34; tabla 2.1, p. 62</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8</a:t>
            </a:r>
          </a:p>
        </p:txBody>
      </p:sp>
      <p:pic>
        <p:nvPicPr>
          <p:cNvPr id="8" name="Picture 7" descr="gdd.png"/>
          <p:cNvPicPr>
            <a:picLocks noChangeAspect="1"/>
          </p:cNvPicPr>
          <p:nvPr/>
        </p:nvPicPr>
        <p:blipFill>
          <a:blip r:embed="rId4"/>
          <a:stretch>
            <a:fillRect/>
          </a:stretch>
        </p:blipFill>
        <p:spPr>
          <a:xfrm>
            <a:off x="548640" y="1554480"/>
            <a:ext cx="5760720" cy="4073236"/>
          </a:xfrm>
          <a:prstGeom prst="rect">
            <a:avLst/>
          </a:prstGeom>
        </p:spPr>
      </p:pic>
      <p:sp>
        <p:nvSpPr>
          <p:cNvPr id="9" name="Rounded Rectangle 8"/>
          <p:cNvSpPr/>
          <p:nvPr/>
        </p:nvSpPr>
        <p:spPr>
          <a:xfrm>
            <a:off x="6675120" y="1600200"/>
            <a:ext cx="4965192" cy="123444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858000" y="1691640"/>
            <a:ext cx="4599431" cy="731520"/>
          </a:xfrm>
          <a:prstGeom prst="rect">
            <a:avLst/>
          </a:prstGeom>
          <a:noFill/>
        </p:spPr>
        <p:txBody>
          <a:bodyPr wrap="square" lIns="0" tIns="0" rIns="0" bIns="0" anchor="ctr">
            <a:spAutoFit/>
          </a:bodyPr>
          <a:lstStyle/>
          <a:p>
            <a:pPr algn="ctr">
              <a:spcAft>
                <a:spcPts val="400"/>
              </a:spcAft>
            </a:pPr>
            <a:r>
              <a:rPr sz="2000" b="0" i="0">
                <a:solidFill>
                  <a:srgbClr val="0E1726"/>
                </a:solidFill>
                <a:latin typeface="Cambria Math"/>
              </a:rPr>
              <a:t>τ</a:t>
            </a:r>
            <a:r>
              <a:rPr sz="2000" b="0" i="0" baseline="-25000">
                <a:solidFill>
                  <a:srgbClr val="0E1726"/>
                </a:solidFill>
                <a:latin typeface="Cambria Math"/>
              </a:rPr>
              <a:t>sal</a:t>
            </a:r>
            <a:r>
              <a:rPr sz="2000" b="0" i="0">
                <a:solidFill>
                  <a:srgbClr val="0E1726"/>
                </a:solidFill>
                <a:latin typeface="Cambria Math"/>
              </a:rPr>
              <a:t> = τ</a:t>
            </a:r>
            <a:r>
              <a:rPr sz="2000" b="0" i="0" baseline="-25000">
                <a:solidFill>
                  <a:srgbClr val="0E1726"/>
                </a:solidFill>
                <a:latin typeface="Cambria Math"/>
              </a:rPr>
              <a:t>ent</a:t>
            </a:r>
            <a:r>
              <a:rPr sz="2000" b="0" i="0">
                <a:solidFill>
                  <a:srgbClr val="0E1726"/>
                </a:solidFill>
                <a:latin typeface="Cambria Math"/>
              </a:rPr>
              <a:t> · √(1 + (4 ln2 · GDD / τ</a:t>
            </a:r>
            <a:r>
              <a:rPr sz="2000" b="0" i="0" baseline="-25000">
                <a:solidFill>
                  <a:srgbClr val="0E1726"/>
                </a:solidFill>
                <a:latin typeface="Cambria Math"/>
              </a:rPr>
              <a:t>ent</a:t>
            </a:r>
            <a:r>
              <a:rPr sz="2000" b="0" i="0">
                <a:solidFill>
                  <a:srgbClr val="0E1726"/>
                </a:solidFill>
                <a:latin typeface="Cambria Math"/>
              </a:rPr>
              <a:t>²)²)</a:t>
            </a:r>
          </a:p>
        </p:txBody>
      </p:sp>
      <p:sp>
        <p:nvSpPr>
          <p:cNvPr id="11" name="TextBox 10"/>
          <p:cNvSpPr txBox="1"/>
          <p:nvPr/>
        </p:nvSpPr>
        <p:spPr>
          <a:xfrm>
            <a:off x="6858000" y="2450592"/>
            <a:ext cx="4599431" cy="292608"/>
          </a:xfrm>
          <a:prstGeom prst="rect">
            <a:avLst/>
          </a:prstGeom>
          <a:noFill/>
        </p:spPr>
        <p:txBody>
          <a:bodyPr wrap="square" lIns="0" tIns="0" rIns="0" bIns="0" anchor="t">
            <a:spAutoFit/>
          </a:bodyPr>
          <a:lstStyle/>
          <a:p>
            <a:pPr algn="ctr">
              <a:spcAft>
                <a:spcPts val="600"/>
              </a:spcAft>
            </a:pPr>
            <a:r>
              <a:rPr sz="1150" b="0" i="0">
                <a:solidFill>
                  <a:srgbClr val="5F6B7A"/>
                </a:solidFill>
                <a:latin typeface="Bahnschrift"/>
              </a:rPr>
              <a:t>pulso gaussiano sin chirp; GDD = dispersión de retardo de grupo</a:t>
            </a:r>
          </a:p>
        </p:txBody>
      </p:sp>
      <p:sp>
        <p:nvSpPr>
          <p:cNvPr id="12" name="TextBox 11"/>
          <p:cNvSpPr txBox="1"/>
          <p:nvPr/>
        </p:nvSpPr>
        <p:spPr>
          <a:xfrm>
            <a:off x="6675120" y="3063240"/>
            <a:ext cx="4937760" cy="365760"/>
          </a:xfrm>
          <a:prstGeom prst="rect">
            <a:avLst/>
          </a:prstGeom>
          <a:noFill/>
        </p:spPr>
        <p:txBody>
          <a:bodyPr wrap="square" lIns="0" tIns="0" rIns="0" bIns="0" anchor="t">
            <a:spAutoFit/>
          </a:bodyPr>
          <a:lstStyle/>
          <a:p>
            <a:pPr algn="l">
              <a:spcAft>
                <a:spcPts val="600"/>
              </a:spcAft>
            </a:pPr>
            <a:r>
              <a:rPr sz="1500" b="0" i="0">
                <a:solidFill>
                  <a:srgbClr val="5F6B7A"/>
                </a:solidFill>
                <a:latin typeface="Bahnschrift"/>
              </a:rPr>
              <a:t>1 cm de vidrio BK7 a 800 nm (GDD ≈ 450 fs²):</a:t>
            </a:r>
          </a:p>
        </p:txBody>
      </p:sp>
      <p:sp>
        <p:nvSpPr>
          <p:cNvPr id="13" name="TextBox 12"/>
          <p:cNvSpPr txBox="1"/>
          <p:nvPr/>
        </p:nvSpPr>
        <p:spPr>
          <a:xfrm>
            <a:off x="6675120" y="3383280"/>
            <a:ext cx="2377440" cy="731520"/>
          </a:xfrm>
          <a:prstGeom prst="rect">
            <a:avLst/>
          </a:prstGeom>
          <a:noFill/>
        </p:spPr>
        <p:txBody>
          <a:bodyPr wrap="square" lIns="0" tIns="0" rIns="0" bIns="0" anchor="t">
            <a:spAutoFit/>
          </a:bodyPr>
          <a:lstStyle/>
          <a:p>
            <a:pPr algn="l">
              <a:spcAft>
                <a:spcPts val="600"/>
              </a:spcAft>
            </a:pPr>
            <a:r>
              <a:rPr sz="2800" b="0" i="0">
                <a:solidFill>
                  <a:srgbClr val="0E1726"/>
                </a:solidFill>
                <a:latin typeface="Bahnschrift SemiBold"/>
              </a:rPr>
              <a:t>100 → 101 fs</a:t>
            </a:r>
          </a:p>
        </p:txBody>
      </p:sp>
      <p:sp>
        <p:nvSpPr>
          <p:cNvPr id="14" name="TextBox 13"/>
          <p:cNvSpPr txBox="1"/>
          <p:nvPr/>
        </p:nvSpPr>
        <p:spPr>
          <a:xfrm>
            <a:off x="6675120" y="4114800"/>
            <a:ext cx="2377440" cy="640080"/>
          </a:xfrm>
          <a:prstGeom prst="rect">
            <a:avLst/>
          </a:prstGeom>
          <a:noFill/>
        </p:spPr>
        <p:txBody>
          <a:bodyPr wrap="square" lIns="0" tIns="0" rIns="0" bIns="0" anchor="t">
            <a:spAutoFit/>
          </a:bodyPr>
          <a:lstStyle/>
          <a:p>
            <a:pPr algn="l">
              <a:spcAft>
                <a:spcPts val="600"/>
              </a:spcAft>
            </a:pPr>
            <a:r>
              <a:rPr sz="1350" b="0" i="0">
                <a:solidFill>
                  <a:srgbClr val="5F6B7A"/>
                </a:solidFill>
                <a:latin typeface="Bahnschrift"/>
              </a:rPr>
              <a:t>casi no cambia</a:t>
            </a:r>
          </a:p>
        </p:txBody>
      </p:sp>
      <p:sp>
        <p:nvSpPr>
          <p:cNvPr id="15" name="TextBox 14"/>
          <p:cNvSpPr txBox="1"/>
          <p:nvPr/>
        </p:nvSpPr>
        <p:spPr>
          <a:xfrm>
            <a:off x="9235440" y="3383280"/>
            <a:ext cx="2377440" cy="731520"/>
          </a:xfrm>
          <a:prstGeom prst="rect">
            <a:avLst/>
          </a:prstGeom>
          <a:noFill/>
        </p:spPr>
        <p:txBody>
          <a:bodyPr wrap="square" lIns="0" tIns="0" rIns="0" bIns="0" anchor="t">
            <a:spAutoFit/>
          </a:bodyPr>
          <a:lstStyle/>
          <a:p>
            <a:pPr algn="l">
              <a:spcAft>
                <a:spcPts val="600"/>
              </a:spcAft>
            </a:pPr>
            <a:r>
              <a:rPr sz="2800" b="0" i="0">
                <a:solidFill>
                  <a:srgbClr val="D7263D"/>
                </a:solidFill>
                <a:latin typeface="Bahnschrift SemiBold"/>
              </a:rPr>
              <a:t>30 → 51 fs</a:t>
            </a:r>
          </a:p>
        </p:txBody>
      </p:sp>
      <p:sp>
        <p:nvSpPr>
          <p:cNvPr id="16" name="TextBox 15"/>
          <p:cNvSpPr txBox="1"/>
          <p:nvPr/>
        </p:nvSpPr>
        <p:spPr>
          <a:xfrm>
            <a:off x="9235440" y="4114800"/>
            <a:ext cx="2377440" cy="640080"/>
          </a:xfrm>
          <a:prstGeom prst="rect">
            <a:avLst/>
          </a:prstGeom>
          <a:noFill/>
        </p:spPr>
        <p:txBody>
          <a:bodyPr wrap="square" lIns="0" tIns="0" rIns="0" bIns="0" anchor="t">
            <a:spAutoFit/>
          </a:bodyPr>
          <a:lstStyle/>
          <a:p>
            <a:pPr algn="l">
              <a:spcAft>
                <a:spcPts val="600"/>
              </a:spcAft>
            </a:pPr>
            <a:r>
              <a:rPr sz="1350" b="0" i="0">
                <a:solidFill>
                  <a:srgbClr val="5F6B7A"/>
                </a:solidFill>
                <a:latin typeface="Bahnschrift"/>
              </a:rPr>
              <a:t>crece un 70 %</a:t>
            </a:r>
          </a:p>
        </p:txBody>
      </p:sp>
      <p:sp>
        <p:nvSpPr>
          <p:cNvPr id="17" name="Rounded Rectangle 16"/>
          <p:cNvSpPr/>
          <p:nvPr/>
        </p:nvSpPr>
        <p:spPr>
          <a:xfrm>
            <a:off x="6675120" y="4846320"/>
            <a:ext cx="4965192" cy="132588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0" y="4937760"/>
            <a:ext cx="4572000" cy="1188720"/>
          </a:xfrm>
          <a:prstGeom prst="rect">
            <a:avLst/>
          </a:prstGeom>
          <a:noFill/>
        </p:spPr>
        <p:txBody>
          <a:bodyPr wrap="square" lIns="0" tIns="0" rIns="0" bIns="0" anchor="ctr">
            <a:spAutoFit/>
          </a:bodyPr>
          <a:lstStyle/>
          <a:p>
            <a:pPr algn="l">
              <a:spcAft>
                <a:spcPts val="600"/>
              </a:spcAft>
            </a:pPr>
            <a:r>
              <a:rPr sz="1600" b="0" i="0">
                <a:solidFill>
                  <a:srgbClr val="0E1726"/>
                </a:solidFill>
                <a:latin typeface="Bahnschrift"/>
              </a:rPr>
              <a:t>Todo el vidrio entre el láser y el cristal cuenta (divisor de haz, lentes, ventanas): sin descontarlo se mide un pulso </a:t>
            </a:r>
            <a:r>
              <a:rPr sz="1600" b="0" i="0">
                <a:solidFill>
                  <a:srgbClr val="0E1726"/>
                </a:solidFill>
                <a:latin typeface="Bahnschrift SemiBold"/>
              </a:rPr>
              <a:t>más largo</a:t>
            </a:r>
            <a:r>
              <a:rPr sz="1600" b="0" i="0">
                <a:solidFill>
                  <a:srgbClr val="0E1726"/>
                </a:solidFill>
                <a:latin typeface="Bahnschrift"/>
              </a:rPr>
              <a:t> que el que entrega el láser.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3 · ¿CÓMO FUNCIONA EL AUTOCORRELADOR?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¿Cómo se mide algo más rápido que cualquier detector?</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Armstrong (1967); Diels y Rudolph (2006), cap. 9</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9</a:t>
            </a:r>
          </a:p>
        </p:txBody>
      </p:sp>
      <p:sp>
        <p:nvSpPr>
          <p:cNvPr id="8" name="Rounded Rectangle 7"/>
          <p:cNvSpPr/>
          <p:nvPr/>
        </p:nvSpPr>
        <p:spPr>
          <a:xfrm>
            <a:off x="548640" y="1600200"/>
            <a:ext cx="3520440" cy="25146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777240" y="1828800"/>
            <a:ext cx="594360" cy="594360"/>
          </a:xfrm>
          <a:prstGeom prst="ellipse">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1828800"/>
            <a:ext cx="594360" cy="594360"/>
          </a:xfrm>
          <a:prstGeom prst="rect">
            <a:avLst/>
          </a:prstGeom>
          <a:noFill/>
        </p:spPr>
        <p:txBody>
          <a:bodyPr wrap="square" lIns="0" tIns="0" rIns="0" bIns="0" anchor="ctr">
            <a:spAutoFit/>
          </a:bodyPr>
          <a:lstStyle/>
          <a:p>
            <a:pPr algn="ctr">
              <a:spcAft>
                <a:spcPts val="600"/>
              </a:spcAft>
            </a:pPr>
            <a:r>
              <a:rPr sz="2000" b="0" i="0">
                <a:solidFill>
                  <a:srgbClr val="FFFFFF"/>
                </a:solidFill>
                <a:latin typeface="Bahnschrift SemiBold"/>
              </a:rPr>
              <a:t>1</a:t>
            </a:r>
          </a:p>
        </p:txBody>
      </p:sp>
      <p:sp>
        <p:nvSpPr>
          <p:cNvPr id="11" name="TextBox 10"/>
          <p:cNvSpPr txBox="1"/>
          <p:nvPr/>
        </p:nvSpPr>
        <p:spPr>
          <a:xfrm>
            <a:off x="1508760" y="1874519"/>
            <a:ext cx="2377440" cy="502920"/>
          </a:xfrm>
          <a:prstGeom prst="rect">
            <a:avLst/>
          </a:prstGeom>
          <a:noFill/>
        </p:spPr>
        <p:txBody>
          <a:bodyPr wrap="square" lIns="0" tIns="0" rIns="0" bIns="0" anchor="ctr">
            <a:spAutoFit/>
          </a:bodyPr>
          <a:lstStyle/>
          <a:p>
            <a:pPr algn="l">
              <a:spcAft>
                <a:spcPts val="600"/>
              </a:spcAft>
            </a:pPr>
            <a:r>
              <a:rPr sz="2100" b="0" i="0">
                <a:solidFill>
                  <a:srgbClr val="0E1726"/>
                </a:solidFill>
                <a:latin typeface="Bahnschrift SemiBold"/>
              </a:rPr>
              <a:t>Dividir</a:t>
            </a:r>
          </a:p>
        </p:txBody>
      </p:sp>
      <p:sp>
        <p:nvSpPr>
          <p:cNvPr id="12" name="TextBox 11"/>
          <p:cNvSpPr txBox="1"/>
          <p:nvPr/>
        </p:nvSpPr>
        <p:spPr>
          <a:xfrm>
            <a:off x="777240" y="2606040"/>
            <a:ext cx="3063240" cy="146304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Un divisor de haz crea dos copias idénticas del pulso.</a:t>
            </a:r>
          </a:p>
        </p:txBody>
      </p:sp>
      <p:cxnSp>
        <p:nvCxnSpPr>
          <p:cNvPr id="13" name="Connector 12"/>
          <p:cNvCxnSpPr/>
          <p:nvPr/>
        </p:nvCxnSpPr>
        <p:spPr>
          <a:xfrm>
            <a:off x="4096511" y="2852928"/>
            <a:ext cx="173737" cy="0"/>
          </a:xfrm>
          <a:prstGeom prst="line">
            <a:avLst/>
          </a:prstGeom>
          <a:ln w="254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97679" y="1600200"/>
            <a:ext cx="3520440" cy="25146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526279" y="1828800"/>
            <a:ext cx="594360" cy="594360"/>
          </a:xfrm>
          <a:prstGeom prst="ellipse">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526279" y="1828800"/>
            <a:ext cx="594360" cy="594360"/>
          </a:xfrm>
          <a:prstGeom prst="rect">
            <a:avLst/>
          </a:prstGeom>
          <a:noFill/>
        </p:spPr>
        <p:txBody>
          <a:bodyPr wrap="square" lIns="0" tIns="0" rIns="0" bIns="0" anchor="ctr">
            <a:spAutoFit/>
          </a:bodyPr>
          <a:lstStyle/>
          <a:p>
            <a:pPr algn="ctr">
              <a:spcAft>
                <a:spcPts val="600"/>
              </a:spcAft>
            </a:pPr>
            <a:r>
              <a:rPr sz="2000" b="0" i="0">
                <a:solidFill>
                  <a:srgbClr val="FFFFFF"/>
                </a:solidFill>
                <a:latin typeface="Bahnschrift SemiBold"/>
              </a:rPr>
              <a:t>2</a:t>
            </a:r>
          </a:p>
        </p:txBody>
      </p:sp>
      <p:sp>
        <p:nvSpPr>
          <p:cNvPr id="17" name="TextBox 16"/>
          <p:cNvSpPr txBox="1"/>
          <p:nvPr/>
        </p:nvSpPr>
        <p:spPr>
          <a:xfrm>
            <a:off x="5257799" y="1874519"/>
            <a:ext cx="2377440" cy="502920"/>
          </a:xfrm>
          <a:prstGeom prst="rect">
            <a:avLst/>
          </a:prstGeom>
          <a:noFill/>
        </p:spPr>
        <p:txBody>
          <a:bodyPr wrap="square" lIns="0" tIns="0" rIns="0" bIns="0" anchor="ctr">
            <a:spAutoFit/>
          </a:bodyPr>
          <a:lstStyle/>
          <a:p>
            <a:pPr algn="l">
              <a:spcAft>
                <a:spcPts val="600"/>
              </a:spcAft>
            </a:pPr>
            <a:r>
              <a:rPr sz="2100" b="0" i="0">
                <a:solidFill>
                  <a:srgbClr val="0E1726"/>
                </a:solidFill>
                <a:latin typeface="Bahnschrift SemiBold"/>
              </a:rPr>
              <a:t>Retrasar</a:t>
            </a:r>
          </a:p>
        </p:txBody>
      </p:sp>
      <p:sp>
        <p:nvSpPr>
          <p:cNvPr id="18" name="TextBox 17"/>
          <p:cNvSpPr txBox="1"/>
          <p:nvPr/>
        </p:nvSpPr>
        <p:spPr>
          <a:xfrm>
            <a:off x="4526279" y="2606040"/>
            <a:ext cx="3063240" cy="146304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Una copia recorre un camino más largo y llega un tiempo τ después.</a:t>
            </a:r>
          </a:p>
        </p:txBody>
      </p:sp>
      <p:cxnSp>
        <p:nvCxnSpPr>
          <p:cNvPr id="19" name="Connector 18"/>
          <p:cNvCxnSpPr/>
          <p:nvPr/>
        </p:nvCxnSpPr>
        <p:spPr>
          <a:xfrm>
            <a:off x="7845551" y="2852928"/>
            <a:ext cx="173737" cy="0"/>
          </a:xfrm>
          <a:prstGeom prst="line">
            <a:avLst/>
          </a:prstGeom>
          <a:ln w="254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046719" y="1600200"/>
            <a:ext cx="3520440" cy="25146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275319" y="1828800"/>
            <a:ext cx="594360" cy="59436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275319" y="1828800"/>
            <a:ext cx="594360" cy="594360"/>
          </a:xfrm>
          <a:prstGeom prst="rect">
            <a:avLst/>
          </a:prstGeom>
          <a:noFill/>
        </p:spPr>
        <p:txBody>
          <a:bodyPr wrap="square" lIns="0" tIns="0" rIns="0" bIns="0" anchor="ctr">
            <a:spAutoFit/>
          </a:bodyPr>
          <a:lstStyle/>
          <a:p>
            <a:pPr algn="ctr">
              <a:spcAft>
                <a:spcPts val="600"/>
              </a:spcAft>
            </a:pPr>
            <a:r>
              <a:rPr sz="2000" b="0" i="0">
                <a:solidFill>
                  <a:srgbClr val="FFFFFF"/>
                </a:solidFill>
                <a:latin typeface="Bahnschrift SemiBold"/>
              </a:rPr>
              <a:t>3</a:t>
            </a:r>
          </a:p>
        </p:txBody>
      </p:sp>
      <p:sp>
        <p:nvSpPr>
          <p:cNvPr id="23" name="TextBox 22"/>
          <p:cNvSpPr txBox="1"/>
          <p:nvPr/>
        </p:nvSpPr>
        <p:spPr>
          <a:xfrm>
            <a:off x="9006840" y="1874519"/>
            <a:ext cx="2377440" cy="502920"/>
          </a:xfrm>
          <a:prstGeom prst="rect">
            <a:avLst/>
          </a:prstGeom>
          <a:noFill/>
        </p:spPr>
        <p:txBody>
          <a:bodyPr wrap="square" lIns="0" tIns="0" rIns="0" bIns="0" anchor="ctr">
            <a:spAutoFit/>
          </a:bodyPr>
          <a:lstStyle/>
          <a:p>
            <a:pPr algn="l">
              <a:spcAft>
                <a:spcPts val="600"/>
              </a:spcAft>
            </a:pPr>
            <a:r>
              <a:rPr sz="2100" b="0" i="0">
                <a:solidFill>
                  <a:srgbClr val="0E1726"/>
                </a:solidFill>
                <a:latin typeface="Bahnschrift SemiBold"/>
              </a:rPr>
              <a:t>Combinar</a:t>
            </a:r>
          </a:p>
        </p:txBody>
      </p:sp>
      <p:sp>
        <p:nvSpPr>
          <p:cNvPr id="24" name="TextBox 23"/>
          <p:cNvSpPr txBox="1"/>
          <p:nvPr/>
        </p:nvSpPr>
        <p:spPr>
          <a:xfrm>
            <a:off x="8275319" y="2606040"/>
            <a:ext cx="3063240" cy="146304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Un medio no lineal da señal solo cuando las copias se superponen; el detector lento la integra.</a:t>
            </a:r>
          </a:p>
        </p:txBody>
      </p:sp>
      <p:sp>
        <p:nvSpPr>
          <p:cNvPr id="25" name="Rounded Rectangle 24"/>
          <p:cNvSpPr/>
          <p:nvPr/>
        </p:nvSpPr>
        <p:spPr>
          <a:xfrm>
            <a:off x="548640" y="4434840"/>
            <a:ext cx="4572000" cy="146304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31520" y="4526279"/>
            <a:ext cx="4206240" cy="960120"/>
          </a:xfrm>
          <a:prstGeom prst="rect">
            <a:avLst/>
          </a:prstGeom>
          <a:noFill/>
        </p:spPr>
        <p:txBody>
          <a:bodyPr wrap="square" lIns="0" tIns="0" rIns="0" bIns="0" anchor="ctr">
            <a:spAutoFit/>
          </a:bodyPr>
          <a:lstStyle/>
          <a:p>
            <a:pPr algn="ctr">
              <a:spcAft>
                <a:spcPts val="400"/>
              </a:spcAft>
            </a:pPr>
            <a:r>
              <a:rPr sz="3000" b="0" i="0">
                <a:solidFill>
                  <a:srgbClr val="0E1726"/>
                </a:solidFill>
                <a:latin typeface="Cambria Math"/>
              </a:rPr>
              <a:t>τ = 2Δx / c</a:t>
            </a:r>
          </a:p>
        </p:txBody>
      </p:sp>
      <p:sp>
        <p:nvSpPr>
          <p:cNvPr id="27" name="TextBox 26"/>
          <p:cNvSpPr txBox="1"/>
          <p:nvPr/>
        </p:nvSpPr>
        <p:spPr>
          <a:xfrm>
            <a:off x="731520" y="5513831"/>
            <a:ext cx="4206240" cy="292608"/>
          </a:xfrm>
          <a:prstGeom prst="rect">
            <a:avLst/>
          </a:prstGeom>
          <a:noFill/>
        </p:spPr>
        <p:txBody>
          <a:bodyPr wrap="square" lIns="0" tIns="0" rIns="0" bIns="0" anchor="t">
            <a:spAutoFit/>
          </a:bodyPr>
          <a:lstStyle/>
          <a:p>
            <a:pPr algn="ctr">
              <a:spcAft>
                <a:spcPts val="600"/>
              </a:spcAft>
            </a:pPr>
            <a:r>
              <a:rPr sz="1150" b="0" i="0">
                <a:solidFill>
                  <a:srgbClr val="5F6B7A"/>
                </a:solidFill>
                <a:latin typeface="Bahnschrift"/>
              </a:rPr>
              <a:t>Δx: desplazamiento del retrorreflector</a:t>
            </a:r>
          </a:p>
        </p:txBody>
      </p:sp>
      <p:sp>
        <p:nvSpPr>
          <p:cNvPr id="28" name="TextBox 27"/>
          <p:cNvSpPr txBox="1"/>
          <p:nvPr/>
        </p:nvSpPr>
        <p:spPr>
          <a:xfrm>
            <a:off x="5486400" y="4480560"/>
            <a:ext cx="2926080" cy="731520"/>
          </a:xfrm>
          <a:prstGeom prst="rect">
            <a:avLst/>
          </a:prstGeom>
          <a:noFill/>
        </p:spPr>
        <p:txBody>
          <a:bodyPr wrap="square" lIns="0" tIns="0" rIns="0" bIns="0" anchor="t">
            <a:spAutoFit/>
          </a:bodyPr>
          <a:lstStyle/>
          <a:p>
            <a:pPr algn="l">
              <a:spcAft>
                <a:spcPts val="600"/>
              </a:spcAft>
            </a:pPr>
            <a:r>
              <a:rPr sz="4000" b="0" i="0">
                <a:solidFill>
                  <a:srgbClr val="D7263D"/>
                </a:solidFill>
                <a:latin typeface="Bahnschrift SemiBold"/>
              </a:rPr>
              <a:t>6,67 fs</a:t>
            </a:r>
          </a:p>
        </p:txBody>
      </p:sp>
      <p:sp>
        <p:nvSpPr>
          <p:cNvPr id="29" name="TextBox 28"/>
          <p:cNvSpPr txBox="1"/>
          <p:nvPr/>
        </p:nvSpPr>
        <p:spPr>
          <a:xfrm>
            <a:off x="5486400" y="5212080"/>
            <a:ext cx="2926080" cy="640080"/>
          </a:xfrm>
          <a:prstGeom prst="rect">
            <a:avLst/>
          </a:prstGeom>
          <a:noFill/>
        </p:spPr>
        <p:txBody>
          <a:bodyPr wrap="square" lIns="0" tIns="0" rIns="0" bIns="0" anchor="t">
            <a:spAutoFit/>
          </a:bodyPr>
          <a:lstStyle/>
          <a:p>
            <a:pPr algn="l">
              <a:spcAft>
                <a:spcPts val="600"/>
              </a:spcAft>
            </a:pPr>
            <a:r>
              <a:rPr sz="1350" b="0" i="0">
                <a:solidFill>
                  <a:srgbClr val="5F6B7A"/>
                </a:solidFill>
                <a:latin typeface="Bahnschrift"/>
              </a:rPr>
              <a:t>de retardo por cada 1 µm que se mueve el retrorreflector</a:t>
            </a:r>
          </a:p>
        </p:txBody>
      </p:sp>
      <p:sp>
        <p:nvSpPr>
          <p:cNvPr id="30" name="TextBox 29"/>
          <p:cNvSpPr txBox="1"/>
          <p:nvPr/>
        </p:nvSpPr>
        <p:spPr>
          <a:xfrm>
            <a:off x="8686800" y="4526280"/>
            <a:ext cx="2971800" cy="1463040"/>
          </a:xfrm>
          <a:prstGeom prst="rect">
            <a:avLst/>
          </a:prstGeom>
          <a:noFill/>
        </p:spPr>
        <p:txBody>
          <a:bodyPr wrap="square" lIns="0" tIns="0" rIns="0" bIns="0" anchor="ctr">
            <a:spAutoFit/>
          </a:bodyPr>
          <a:lstStyle/>
          <a:p>
            <a:pPr algn="l">
              <a:spcAft>
                <a:spcPts val="600"/>
              </a:spcAft>
            </a:pPr>
            <a:r>
              <a:rPr sz="1900" b="0" i="0">
                <a:solidFill>
                  <a:srgbClr val="0E1726"/>
                </a:solidFill>
                <a:latin typeface="Bahnschrift"/>
              </a:rPr>
              <a:t>Barriendo τ se recorre el pulso </a:t>
            </a:r>
            <a:r>
              <a:rPr sz="1900" b="0" i="0">
                <a:solidFill>
                  <a:srgbClr val="0E1726"/>
                </a:solidFill>
                <a:latin typeface="Bahnschrift SemiBold"/>
              </a:rPr>
              <a:t>con el pulso mismo</a:t>
            </a:r>
            <a:r>
              <a:rPr sz="1900" b="0" i="0">
                <a:solidFill>
                  <a:srgbClr val="0E1726"/>
                </a:solidFill>
                <a:latin typeface="Bahnschrift"/>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3 · ¿CÓMO FUNCIONA EL AUTOCORRELADOR?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¿Cómo está armado el autocorrelador?</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Donnelly y Grossman (1998); Sala et al. (1980)</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10</a:t>
            </a:r>
          </a:p>
        </p:txBody>
      </p:sp>
      <p:sp>
        <p:nvSpPr>
          <p:cNvPr id="8" name="Rounded Rectangle 7"/>
          <p:cNvSpPr/>
          <p:nvPr/>
        </p:nvSpPr>
        <p:spPr>
          <a:xfrm>
            <a:off x="548640" y="2606040"/>
            <a:ext cx="1508760" cy="914400"/>
          </a:xfrm>
          <a:prstGeom prst="roundRect">
            <a:avLst>
              <a:gd name="adj" fmla="val 6000"/>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2606040"/>
            <a:ext cx="1508760" cy="914400"/>
          </a:xfrm>
          <a:prstGeom prst="rect">
            <a:avLst/>
          </a:prstGeom>
          <a:noFill/>
        </p:spPr>
        <p:txBody>
          <a:bodyPr wrap="square" lIns="0" tIns="0" rIns="0" bIns="0" anchor="ctr">
            <a:spAutoFit/>
          </a:bodyPr>
          <a:lstStyle/>
          <a:p>
            <a:pPr algn="ctr">
              <a:spcAft>
                <a:spcPts val="600"/>
              </a:spcAft>
            </a:pPr>
            <a:r>
              <a:rPr sz="1500" b="0" i="0">
                <a:solidFill>
                  <a:srgbClr val="FFFFFF"/>
                </a:solidFill>
                <a:latin typeface="Bahnschrift SemiBold"/>
              </a:rPr>
              <a:t>Láser</a:t>
            </a:r>
          </a:p>
        </p:txBody>
      </p:sp>
      <p:sp>
        <p:nvSpPr>
          <p:cNvPr id="10" name="Rounded Rectangle 9"/>
          <p:cNvSpPr/>
          <p:nvPr/>
        </p:nvSpPr>
        <p:spPr>
          <a:xfrm>
            <a:off x="2514600" y="2606040"/>
            <a:ext cx="1508760" cy="914400"/>
          </a:xfrm>
          <a:prstGeom prst="roundRect">
            <a:avLst>
              <a:gd name="adj" fmla="val 6000"/>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514600" y="2606040"/>
            <a:ext cx="1508760" cy="914400"/>
          </a:xfrm>
          <a:prstGeom prst="rect">
            <a:avLst/>
          </a:prstGeom>
          <a:noFill/>
        </p:spPr>
        <p:txBody>
          <a:bodyPr wrap="square" lIns="0" tIns="0" rIns="0" bIns="0" anchor="ctr">
            <a:spAutoFit/>
          </a:bodyPr>
          <a:lstStyle/>
          <a:p>
            <a:pPr algn="ctr">
              <a:spcAft>
                <a:spcPts val="600"/>
              </a:spcAft>
            </a:pPr>
            <a:r>
              <a:rPr sz="1500" b="0" i="0">
                <a:solidFill>
                  <a:srgbClr val="FFFFFF"/>
                </a:solidFill>
                <a:latin typeface="Bahnschrift SemiBold"/>
              </a:rPr>
              <a:t>Divisor
de haz</a:t>
            </a:r>
          </a:p>
        </p:txBody>
      </p:sp>
      <p:cxnSp>
        <p:nvCxnSpPr>
          <p:cNvPr id="12" name="Connector 11"/>
          <p:cNvCxnSpPr/>
          <p:nvPr/>
        </p:nvCxnSpPr>
        <p:spPr>
          <a:xfrm>
            <a:off x="2075688" y="3063240"/>
            <a:ext cx="420624" cy="0"/>
          </a:xfrm>
          <a:prstGeom prst="line">
            <a:avLst/>
          </a:prstGeom>
          <a:ln w="38100">
            <a:solidFill>
              <a:srgbClr val="D726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26280" y="1920240"/>
            <a:ext cx="2194560" cy="914400"/>
          </a:xfrm>
          <a:prstGeom prst="roundRect">
            <a:avLst>
              <a:gd name="adj" fmla="val 6000"/>
            </a:avLst>
          </a:prstGeom>
          <a:solidFill>
            <a:srgbClr val="F2F4F7"/>
          </a:solidFill>
          <a:ln w="19050">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526280" y="1920240"/>
            <a:ext cx="2194560" cy="914400"/>
          </a:xfrm>
          <a:prstGeom prst="rect">
            <a:avLst/>
          </a:prstGeom>
          <a:noFill/>
        </p:spPr>
        <p:txBody>
          <a:bodyPr wrap="square" lIns="0" tIns="0" rIns="0" bIns="0" anchor="ctr">
            <a:spAutoFit/>
          </a:bodyPr>
          <a:lstStyle/>
          <a:p>
            <a:pPr algn="ctr">
              <a:spcAft>
                <a:spcPts val="600"/>
              </a:spcAft>
            </a:pPr>
            <a:r>
              <a:rPr sz="1400" b="0" i="0">
                <a:solidFill>
                  <a:srgbClr val="0E1726"/>
                </a:solidFill>
                <a:latin typeface="Bahnschrift SemiBold"/>
              </a:rPr>
              <a:t>Brazo fijo</a:t>
            </a:r>
          </a:p>
        </p:txBody>
      </p:sp>
      <p:cxnSp>
        <p:nvCxnSpPr>
          <p:cNvPr id="15" name="Connector 14"/>
          <p:cNvCxnSpPr/>
          <p:nvPr/>
        </p:nvCxnSpPr>
        <p:spPr>
          <a:xfrm flipV="1">
            <a:off x="4041648" y="2377440"/>
            <a:ext cx="466344" cy="685800"/>
          </a:xfrm>
          <a:prstGeom prst="line">
            <a:avLst/>
          </a:prstGeom>
          <a:ln w="38100">
            <a:solidFill>
              <a:srgbClr val="D726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739128" y="2377440"/>
            <a:ext cx="466344" cy="685800"/>
          </a:xfrm>
          <a:prstGeom prst="line">
            <a:avLst/>
          </a:prstGeom>
          <a:ln w="38100">
            <a:solidFill>
              <a:srgbClr val="D726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526280" y="3291840"/>
            <a:ext cx="2194560" cy="914400"/>
          </a:xfrm>
          <a:prstGeom prst="roundRect">
            <a:avLst>
              <a:gd name="adj" fmla="val 6000"/>
            </a:avLst>
          </a:prstGeom>
          <a:solidFill>
            <a:srgbClr val="F2F4F7"/>
          </a:solidFill>
          <a:ln w="19050">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526280" y="3291840"/>
            <a:ext cx="2194560" cy="914400"/>
          </a:xfrm>
          <a:prstGeom prst="rect">
            <a:avLst/>
          </a:prstGeom>
          <a:noFill/>
        </p:spPr>
        <p:txBody>
          <a:bodyPr wrap="square" lIns="0" tIns="0" rIns="0" bIns="0" anchor="ctr">
            <a:spAutoFit/>
          </a:bodyPr>
          <a:lstStyle/>
          <a:p>
            <a:pPr algn="ctr">
              <a:spcAft>
                <a:spcPts val="600"/>
              </a:spcAft>
            </a:pPr>
            <a:r>
              <a:rPr sz="1400" b="0" i="0">
                <a:solidFill>
                  <a:srgbClr val="0E1726"/>
                </a:solidFill>
                <a:latin typeface="Bahnschrift SemiBold"/>
              </a:rPr>
              <a:t>Brazo móvil
retrorreflector · Δx</a:t>
            </a:r>
          </a:p>
        </p:txBody>
      </p:sp>
      <p:cxnSp>
        <p:nvCxnSpPr>
          <p:cNvPr id="19" name="Connector 18"/>
          <p:cNvCxnSpPr/>
          <p:nvPr/>
        </p:nvCxnSpPr>
        <p:spPr>
          <a:xfrm>
            <a:off x="4041648" y="3063240"/>
            <a:ext cx="466344" cy="685799"/>
          </a:xfrm>
          <a:prstGeom prst="line">
            <a:avLst/>
          </a:prstGeom>
          <a:ln w="38100">
            <a:solidFill>
              <a:srgbClr val="D726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739128" y="3063240"/>
            <a:ext cx="466344" cy="685799"/>
          </a:xfrm>
          <a:prstGeom prst="line">
            <a:avLst/>
          </a:prstGeom>
          <a:ln w="38100">
            <a:solidFill>
              <a:srgbClr val="D726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223760" y="2606040"/>
            <a:ext cx="868680" cy="914400"/>
          </a:xfrm>
          <a:prstGeom prst="roundRect">
            <a:avLst>
              <a:gd name="adj" fmla="val 6000"/>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78040" y="2606040"/>
            <a:ext cx="960120" cy="914400"/>
          </a:xfrm>
          <a:prstGeom prst="rect">
            <a:avLst/>
          </a:prstGeom>
          <a:noFill/>
        </p:spPr>
        <p:txBody>
          <a:bodyPr wrap="square" lIns="0" tIns="0" rIns="0" bIns="0" anchor="ctr">
            <a:spAutoFit/>
          </a:bodyPr>
          <a:lstStyle/>
          <a:p>
            <a:pPr algn="ctr">
              <a:spcAft>
                <a:spcPts val="600"/>
              </a:spcAft>
            </a:pPr>
            <a:r>
              <a:rPr sz="1300" b="0" i="0">
                <a:solidFill>
                  <a:srgbClr val="FFFFFF"/>
                </a:solidFill>
                <a:latin typeface="Bahnschrift SemiBold"/>
              </a:rPr>
              <a:t>Lente</a:t>
            </a:r>
          </a:p>
        </p:txBody>
      </p:sp>
      <p:cxnSp>
        <p:nvCxnSpPr>
          <p:cNvPr id="23" name="Connector 22"/>
          <p:cNvCxnSpPr/>
          <p:nvPr/>
        </p:nvCxnSpPr>
        <p:spPr>
          <a:xfrm>
            <a:off x="8110728" y="3063240"/>
            <a:ext cx="100584" cy="0"/>
          </a:xfrm>
          <a:prstGeom prst="line">
            <a:avLst/>
          </a:prstGeom>
          <a:ln w="38100">
            <a:solidFill>
              <a:srgbClr val="D726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229600" y="2606040"/>
            <a:ext cx="868680" cy="914400"/>
          </a:xfrm>
          <a:prstGeom prst="roundRect">
            <a:avLst>
              <a:gd name="adj" fmla="val 6000"/>
            </a:avLst>
          </a:prstGeom>
          <a:solidFill>
            <a:srgbClr val="5B3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183879" y="2606040"/>
            <a:ext cx="960120" cy="914400"/>
          </a:xfrm>
          <a:prstGeom prst="rect">
            <a:avLst/>
          </a:prstGeom>
          <a:noFill/>
        </p:spPr>
        <p:txBody>
          <a:bodyPr wrap="square" lIns="0" tIns="0" rIns="0" bIns="0" anchor="ctr">
            <a:spAutoFit/>
          </a:bodyPr>
          <a:lstStyle/>
          <a:p>
            <a:pPr algn="ctr">
              <a:spcAft>
                <a:spcPts val="600"/>
              </a:spcAft>
            </a:pPr>
            <a:r>
              <a:rPr sz="1300" b="0" i="0">
                <a:solidFill>
                  <a:srgbClr val="FFFFFF"/>
                </a:solidFill>
                <a:latin typeface="Bahnschrift SemiBold"/>
              </a:rPr>
              <a:t>Cristal
SHG</a:t>
            </a:r>
          </a:p>
        </p:txBody>
      </p:sp>
      <p:cxnSp>
        <p:nvCxnSpPr>
          <p:cNvPr id="26" name="Connector 25"/>
          <p:cNvCxnSpPr/>
          <p:nvPr/>
        </p:nvCxnSpPr>
        <p:spPr>
          <a:xfrm>
            <a:off x="9116568" y="3063240"/>
            <a:ext cx="100584" cy="0"/>
          </a:xfrm>
          <a:prstGeom prst="line">
            <a:avLst/>
          </a:prstGeom>
          <a:ln w="38100">
            <a:solidFill>
              <a:srgbClr val="5B3F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235440" y="2606040"/>
            <a:ext cx="868680" cy="914400"/>
          </a:xfrm>
          <a:prstGeom prst="roundRect">
            <a:avLst>
              <a:gd name="adj" fmla="val 6000"/>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189719" y="2606040"/>
            <a:ext cx="960120" cy="914400"/>
          </a:xfrm>
          <a:prstGeom prst="rect">
            <a:avLst/>
          </a:prstGeom>
          <a:noFill/>
        </p:spPr>
        <p:txBody>
          <a:bodyPr wrap="square" lIns="0" tIns="0" rIns="0" bIns="0" anchor="ctr">
            <a:spAutoFit/>
          </a:bodyPr>
          <a:lstStyle/>
          <a:p>
            <a:pPr algn="ctr">
              <a:spcAft>
                <a:spcPts val="600"/>
              </a:spcAft>
            </a:pPr>
            <a:r>
              <a:rPr sz="1300" b="0" i="0">
                <a:solidFill>
                  <a:srgbClr val="FFFFFF"/>
                </a:solidFill>
                <a:latin typeface="Bahnschrift SemiBold"/>
              </a:rPr>
              <a:t>Filtro</a:t>
            </a:r>
          </a:p>
        </p:txBody>
      </p:sp>
      <p:cxnSp>
        <p:nvCxnSpPr>
          <p:cNvPr id="29" name="Connector 28"/>
          <p:cNvCxnSpPr/>
          <p:nvPr/>
        </p:nvCxnSpPr>
        <p:spPr>
          <a:xfrm>
            <a:off x="10122408" y="3063240"/>
            <a:ext cx="100584" cy="0"/>
          </a:xfrm>
          <a:prstGeom prst="line">
            <a:avLst/>
          </a:prstGeom>
          <a:ln w="38100">
            <a:solidFill>
              <a:srgbClr val="5B3F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241280" y="2606040"/>
            <a:ext cx="868680" cy="914400"/>
          </a:xfrm>
          <a:prstGeom prst="roundRect">
            <a:avLst>
              <a:gd name="adj" fmla="val 6000"/>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0195559" y="2606040"/>
            <a:ext cx="960120" cy="914400"/>
          </a:xfrm>
          <a:prstGeom prst="rect">
            <a:avLst/>
          </a:prstGeom>
          <a:noFill/>
        </p:spPr>
        <p:txBody>
          <a:bodyPr wrap="square" lIns="0" tIns="0" rIns="0" bIns="0" anchor="ctr">
            <a:spAutoFit/>
          </a:bodyPr>
          <a:lstStyle/>
          <a:p>
            <a:pPr algn="ctr">
              <a:spcAft>
                <a:spcPts val="600"/>
              </a:spcAft>
            </a:pPr>
            <a:r>
              <a:rPr sz="1300" b="0" i="0">
                <a:solidFill>
                  <a:srgbClr val="FFFFFF"/>
                </a:solidFill>
                <a:latin typeface="Bahnschrift SemiBold"/>
              </a:rPr>
              <a:t>Detector</a:t>
            </a:r>
          </a:p>
        </p:txBody>
      </p:sp>
      <p:sp>
        <p:nvSpPr>
          <p:cNvPr id="32" name="TextBox 31"/>
          <p:cNvSpPr txBox="1"/>
          <p:nvPr/>
        </p:nvSpPr>
        <p:spPr>
          <a:xfrm>
            <a:off x="10058400" y="3611880"/>
            <a:ext cx="1600200" cy="548640"/>
          </a:xfrm>
          <a:prstGeom prst="rect">
            <a:avLst/>
          </a:prstGeom>
          <a:noFill/>
        </p:spPr>
        <p:txBody>
          <a:bodyPr wrap="square" lIns="0" tIns="0" rIns="0" bIns="0" anchor="t">
            <a:spAutoFit/>
          </a:bodyPr>
          <a:lstStyle/>
          <a:p>
            <a:pPr algn="ctr">
              <a:spcAft>
                <a:spcPts val="600"/>
              </a:spcAft>
            </a:pPr>
            <a:r>
              <a:rPr sz="1400" b="0" i="0">
                <a:solidFill>
                  <a:srgbClr val="5B3FD9"/>
                </a:solidFill>
                <a:latin typeface="Bahnschrift SemiBold"/>
              </a:rPr>
              <a:t>señal(τ)</a:t>
            </a:r>
          </a:p>
        </p:txBody>
      </p:sp>
      <p:sp>
        <p:nvSpPr>
          <p:cNvPr id="33" name="TextBox 32"/>
          <p:cNvSpPr txBox="1"/>
          <p:nvPr/>
        </p:nvSpPr>
        <p:spPr>
          <a:xfrm>
            <a:off x="548640" y="4370832"/>
            <a:ext cx="6217920" cy="320040"/>
          </a:xfrm>
          <a:prstGeom prst="rect">
            <a:avLst/>
          </a:prstGeom>
          <a:noFill/>
        </p:spPr>
        <p:txBody>
          <a:bodyPr wrap="square" lIns="0" tIns="0" rIns="0" bIns="0" anchor="t">
            <a:spAutoFit/>
          </a:bodyPr>
          <a:lstStyle/>
          <a:p>
            <a:r>
              <a:rPr sz="1300" b="0" i="0">
                <a:solidFill>
                  <a:srgbClr val="D7263D"/>
                </a:solidFill>
                <a:latin typeface="Bahnschrift"/>
              </a:rPr>
              <a:t>■ </a:t>
            </a:r>
            <a:r>
              <a:rPr sz="1300" b="0" i="0">
                <a:solidFill>
                  <a:srgbClr val="5F6B7A"/>
                </a:solidFill>
                <a:latin typeface="Bahnschrift"/>
              </a:rPr>
              <a:t>Fundamental (≈ 800 nm)      </a:t>
            </a:r>
            <a:r>
              <a:rPr sz="1300" b="0" i="0">
                <a:solidFill>
                  <a:srgbClr val="5B3FD9"/>
                </a:solidFill>
                <a:latin typeface="Bahnschrift"/>
              </a:rPr>
              <a:t>■ </a:t>
            </a:r>
            <a:r>
              <a:rPr sz="1300" b="0" i="0">
                <a:solidFill>
                  <a:srgbClr val="5F6B7A"/>
                </a:solidFill>
                <a:latin typeface="Bahnschrift"/>
              </a:rPr>
              <a:t>Segundo armónico (≈ 400 nm)</a:t>
            </a:r>
          </a:p>
        </p:txBody>
      </p:sp>
      <p:sp>
        <p:nvSpPr>
          <p:cNvPr id="34" name="Rounded Rectangle 33"/>
          <p:cNvSpPr/>
          <p:nvPr/>
        </p:nvSpPr>
        <p:spPr>
          <a:xfrm>
            <a:off x="7223760" y="4315968"/>
            <a:ext cx="4416552" cy="411480"/>
          </a:xfrm>
          <a:prstGeom prst="roundRect">
            <a:avLst>
              <a:gd name="adj" fmla="val 6000"/>
            </a:avLst>
          </a:prstGeom>
          <a:solidFill>
            <a:srgbClr val="FFFFFF"/>
          </a:solidFill>
          <a:ln w="19050">
            <a:solidFill>
              <a:srgbClr val="D7263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406640" y="4315968"/>
            <a:ext cx="4050791" cy="411480"/>
          </a:xfrm>
          <a:prstGeom prst="rect">
            <a:avLst/>
          </a:prstGeom>
          <a:noFill/>
        </p:spPr>
        <p:txBody>
          <a:bodyPr wrap="square" lIns="0" tIns="0" rIns="0" bIns="0" anchor="ctr">
            <a:spAutoFit/>
          </a:bodyPr>
          <a:lstStyle/>
          <a:p>
            <a:pPr algn="l">
              <a:spcAft>
                <a:spcPts val="600"/>
              </a:spcAft>
            </a:pPr>
            <a:r>
              <a:rPr sz="1300" b="0" i="0">
                <a:solidFill>
                  <a:srgbClr val="D7263D"/>
                </a:solidFill>
                <a:latin typeface="Bahnschrift"/>
              </a:rPr>
              <a:t>Pendiente: esquema y componentes del montaje real</a:t>
            </a:r>
          </a:p>
        </p:txBody>
      </p:sp>
      <p:sp>
        <p:nvSpPr>
          <p:cNvPr id="36" name="Rounded Rectangle 35"/>
          <p:cNvSpPr/>
          <p:nvPr/>
        </p:nvSpPr>
        <p:spPr>
          <a:xfrm>
            <a:off x="548640" y="4892040"/>
            <a:ext cx="5394960" cy="13716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77240" y="5074920"/>
            <a:ext cx="493776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Colineal</a:t>
            </a:r>
          </a:p>
        </p:txBody>
      </p:sp>
      <p:sp>
        <p:nvSpPr>
          <p:cNvPr id="38" name="TextBox 37"/>
          <p:cNvSpPr txBox="1"/>
          <p:nvPr/>
        </p:nvSpPr>
        <p:spPr>
          <a:xfrm>
            <a:off x="777240" y="5550407"/>
            <a:ext cx="4937760" cy="594360"/>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Haces superpuestos: aparecen </a:t>
            </a:r>
            <a:r>
              <a:rPr sz="1500" b="0" i="0">
                <a:solidFill>
                  <a:srgbClr val="0E1726"/>
                </a:solidFill>
                <a:latin typeface="Bahnschrift SemiBold"/>
              </a:rPr>
              <a:t>franjas</a:t>
            </a:r>
            <a:r>
              <a:rPr sz="1500" b="0" i="0">
                <a:solidFill>
                  <a:srgbClr val="0E1726"/>
                </a:solidFill>
                <a:latin typeface="Bahnschrift"/>
              </a:rPr>
              <a:t> y </a:t>
            </a:r>
            <a:r>
              <a:rPr sz="1500" b="0" i="0">
                <a:solidFill>
                  <a:srgbClr val="0E1726"/>
                </a:solidFill>
                <a:latin typeface="Bahnschrift SemiBold"/>
              </a:rPr>
              <a:t>fondo</a:t>
            </a:r>
            <a:r>
              <a:rPr sz="1500" b="0" i="0">
                <a:solidFill>
                  <a:srgbClr val="0E1726"/>
                </a:solidFill>
                <a:latin typeface="Bahnschrift"/>
              </a:rPr>
              <a:t>; relación pico/fondo 3:1 u 8:1.</a:t>
            </a:r>
          </a:p>
        </p:txBody>
      </p:sp>
      <p:sp>
        <p:nvSpPr>
          <p:cNvPr id="39" name="Rounded Rectangle 38"/>
          <p:cNvSpPr/>
          <p:nvPr/>
        </p:nvSpPr>
        <p:spPr>
          <a:xfrm>
            <a:off x="6245352" y="4892040"/>
            <a:ext cx="5394960" cy="13716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473952" y="5074920"/>
            <a:ext cx="493776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No colineal</a:t>
            </a:r>
          </a:p>
        </p:txBody>
      </p:sp>
      <p:sp>
        <p:nvSpPr>
          <p:cNvPr id="41" name="TextBox 40"/>
          <p:cNvSpPr txBox="1"/>
          <p:nvPr/>
        </p:nvSpPr>
        <p:spPr>
          <a:xfrm>
            <a:off x="6473952" y="5550407"/>
            <a:ext cx="4937760" cy="594360"/>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Haces cruzados en ángulo: la señal de suma sale por el centro, </a:t>
            </a:r>
            <a:r>
              <a:rPr sz="1500" b="0" i="0">
                <a:solidFill>
                  <a:srgbClr val="0E1726"/>
                </a:solidFill>
                <a:latin typeface="Bahnschrift SemiBold"/>
              </a:rPr>
              <a:t>sin fondo</a:t>
            </a:r>
            <a:r>
              <a:rPr sz="1500" b="0" i="0">
                <a:solidFill>
                  <a:srgbClr val="0E1726"/>
                </a:solidFill>
                <a:latin typeface="Bahnschrift"/>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3 · ¿CÓMO FUNCIONA EL AUTOCORRELADOR?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¿Por qué hace falta un proceso no lineal?</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Diels y Rudolph (2006), p. 460</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11</a:t>
            </a:r>
          </a:p>
        </p:txBody>
      </p:sp>
      <p:sp>
        <p:nvSpPr>
          <p:cNvPr id="8" name="Rounded Rectangle 7"/>
          <p:cNvSpPr/>
          <p:nvPr/>
        </p:nvSpPr>
        <p:spPr>
          <a:xfrm>
            <a:off x="548640" y="1600200"/>
            <a:ext cx="5394960" cy="30632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59" y="1801368"/>
            <a:ext cx="4846320" cy="411480"/>
          </a:xfrm>
          <a:prstGeom prst="rect">
            <a:avLst/>
          </a:prstGeom>
          <a:noFill/>
        </p:spPr>
        <p:txBody>
          <a:bodyPr wrap="square" lIns="0" tIns="0" rIns="0" bIns="0" anchor="t">
            <a:spAutoFit/>
          </a:bodyPr>
          <a:lstStyle/>
          <a:p>
            <a:pPr algn="l">
              <a:spcAft>
                <a:spcPts val="600"/>
              </a:spcAft>
            </a:pPr>
            <a:r>
              <a:rPr sz="2000" b="0" i="0">
                <a:solidFill>
                  <a:srgbClr val="5F6B7A"/>
                </a:solidFill>
                <a:latin typeface="Bahnschrift SemiBold"/>
              </a:rPr>
              <a:t>Detector lineal</a:t>
            </a:r>
          </a:p>
        </p:txBody>
      </p:sp>
      <p:sp>
        <p:nvSpPr>
          <p:cNvPr id="10" name="TextBox 9"/>
          <p:cNvSpPr txBox="1"/>
          <p:nvPr/>
        </p:nvSpPr>
        <p:spPr>
          <a:xfrm>
            <a:off x="822959" y="2331720"/>
            <a:ext cx="4846320" cy="640080"/>
          </a:xfrm>
          <a:prstGeom prst="rect">
            <a:avLst/>
          </a:prstGeom>
          <a:noFill/>
        </p:spPr>
        <p:txBody>
          <a:bodyPr wrap="square" lIns="0" tIns="0" rIns="0" bIns="0" anchor="ctr">
            <a:spAutoFit/>
          </a:bodyPr>
          <a:lstStyle/>
          <a:p>
            <a:pPr algn="ctr">
              <a:spcAft>
                <a:spcPts val="600"/>
              </a:spcAft>
            </a:pPr>
            <a:r>
              <a:rPr sz="2200" b="0" i="0">
                <a:solidFill>
                  <a:srgbClr val="0E1726"/>
                </a:solidFill>
                <a:latin typeface="Cambria Math"/>
              </a:rPr>
              <a:t>∫ |E(t) + E(t − τ)|² dt</a:t>
            </a:r>
          </a:p>
        </p:txBody>
      </p:sp>
      <p:sp>
        <p:nvSpPr>
          <p:cNvPr id="11" name="TextBox 10"/>
          <p:cNvSpPr txBox="1"/>
          <p:nvPr/>
        </p:nvSpPr>
        <p:spPr>
          <a:xfrm>
            <a:off x="822959" y="3108960"/>
            <a:ext cx="4846320" cy="1554480"/>
          </a:xfrm>
          <a:prstGeom prst="rect">
            <a:avLst/>
          </a:prstGeom>
          <a:noFill/>
        </p:spPr>
        <p:txBody>
          <a:bodyPr wrap="square" lIns="0" tIns="0" rIns="0" bIns="0" anchor="t">
            <a:spAutoFit/>
          </a:bodyPr>
          <a:lstStyle/>
          <a:p>
            <a:pPr marL="256032" indent="-256032">
              <a:spcAft>
                <a:spcPts val="500"/>
              </a:spcAft>
              <a:buClr>
                <a:srgbClr val="5F6B7A"/>
              </a:buClr>
              <a:buFont typeface="Arial"/>
              <a:buChar char="■"/>
            </a:pPr>
            <a:r>
              <a:rPr sz="1600" b="0" i="0">
                <a:solidFill>
                  <a:srgbClr val="0E1726"/>
                </a:solidFill>
                <a:latin typeface="Bahnschrift"/>
              </a:rPr>
              <a:t>Mide la autocorrelación del </a:t>
            </a:r>
            <a:r>
              <a:rPr sz="1600" b="0" i="0">
                <a:solidFill>
                  <a:srgbClr val="0E1726"/>
                </a:solidFill>
                <a:latin typeface="Bahnschrift SemiBold"/>
              </a:rPr>
              <a:t>campo</a:t>
            </a:r>
            <a:r>
              <a:rPr sz="1600" b="0" i="0">
                <a:solidFill>
                  <a:srgbClr val="0E1726"/>
                </a:solidFill>
                <a:latin typeface="Bahnschrift"/>
              </a:rPr>
              <a:t>.</a:t>
            </a:r>
          </a:p>
          <a:p>
            <a:pPr marL="256032" indent="-256032">
              <a:spcAft>
                <a:spcPts val="500"/>
              </a:spcAft>
              <a:buClr>
                <a:srgbClr val="5F6B7A"/>
              </a:buClr>
              <a:buFont typeface="Arial"/>
              <a:buChar char="■"/>
            </a:pPr>
            <a:r>
              <a:rPr sz="1600" b="0" i="0">
                <a:solidFill>
                  <a:srgbClr val="0E1726"/>
                </a:solidFill>
                <a:latin typeface="Bahnschrift"/>
              </a:rPr>
              <a:t>Su transformada de Fourier es el espectro.</a:t>
            </a:r>
          </a:p>
          <a:p>
            <a:pPr marL="256032" indent="-256032">
              <a:spcAft>
                <a:spcPts val="500"/>
              </a:spcAft>
              <a:buClr>
                <a:srgbClr val="5F6B7A"/>
              </a:buClr>
              <a:buFont typeface="Arial"/>
              <a:buChar char="■"/>
            </a:pPr>
            <a:r>
              <a:rPr sz="1600" b="0" i="0">
                <a:solidFill>
                  <a:srgbClr val="0E1726"/>
                </a:solidFill>
                <a:latin typeface="Bahnschrift SemiBold"/>
              </a:rPr>
              <a:t>No da el ancho del pulso.</a:t>
            </a:r>
          </a:p>
        </p:txBody>
      </p:sp>
      <p:sp>
        <p:nvSpPr>
          <p:cNvPr id="12" name="Rounded Rectangle 11"/>
          <p:cNvSpPr/>
          <p:nvPr/>
        </p:nvSpPr>
        <p:spPr>
          <a:xfrm>
            <a:off x="6245352" y="1600200"/>
            <a:ext cx="5394960" cy="306324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519672" y="1801368"/>
            <a:ext cx="4846320" cy="411480"/>
          </a:xfrm>
          <a:prstGeom prst="rect">
            <a:avLst/>
          </a:prstGeom>
          <a:noFill/>
        </p:spPr>
        <p:txBody>
          <a:bodyPr wrap="square" lIns="0" tIns="0" rIns="0" bIns="0" anchor="t">
            <a:spAutoFit/>
          </a:bodyPr>
          <a:lstStyle/>
          <a:p>
            <a:pPr algn="l">
              <a:spcAft>
                <a:spcPts val="600"/>
              </a:spcAft>
            </a:pPr>
            <a:r>
              <a:rPr sz="2000" b="0" i="0">
                <a:solidFill>
                  <a:srgbClr val="5B3FD9"/>
                </a:solidFill>
                <a:latin typeface="Bahnschrift SemiBold"/>
              </a:rPr>
              <a:t>Proceso de segundo orden</a:t>
            </a:r>
          </a:p>
        </p:txBody>
      </p:sp>
      <p:sp>
        <p:nvSpPr>
          <p:cNvPr id="14" name="TextBox 13"/>
          <p:cNvSpPr txBox="1"/>
          <p:nvPr/>
        </p:nvSpPr>
        <p:spPr>
          <a:xfrm>
            <a:off x="6519672" y="2331720"/>
            <a:ext cx="4846320" cy="640080"/>
          </a:xfrm>
          <a:prstGeom prst="rect">
            <a:avLst/>
          </a:prstGeom>
          <a:noFill/>
        </p:spPr>
        <p:txBody>
          <a:bodyPr wrap="square" lIns="0" tIns="0" rIns="0" bIns="0" anchor="ctr">
            <a:spAutoFit/>
          </a:bodyPr>
          <a:lstStyle/>
          <a:p>
            <a:pPr algn="ctr">
              <a:spcAft>
                <a:spcPts val="600"/>
              </a:spcAft>
            </a:pPr>
            <a:r>
              <a:rPr sz="2200" b="0" i="0">
                <a:solidFill>
                  <a:srgbClr val="0E1726"/>
                </a:solidFill>
                <a:latin typeface="Cambria Math"/>
              </a:rPr>
              <a:t>∫ I(t) · I(t − τ) dt</a:t>
            </a:r>
          </a:p>
        </p:txBody>
      </p:sp>
      <p:sp>
        <p:nvSpPr>
          <p:cNvPr id="15" name="TextBox 14"/>
          <p:cNvSpPr txBox="1"/>
          <p:nvPr/>
        </p:nvSpPr>
        <p:spPr>
          <a:xfrm>
            <a:off x="6519672" y="3108960"/>
            <a:ext cx="4846320" cy="1554480"/>
          </a:xfrm>
          <a:prstGeom prst="rect">
            <a:avLst/>
          </a:prstGeom>
          <a:noFill/>
        </p:spPr>
        <p:txBody>
          <a:bodyPr wrap="square" lIns="0" tIns="0" rIns="0" bIns="0" anchor="t">
            <a:spAutoFit/>
          </a:bodyPr>
          <a:lstStyle/>
          <a:p>
            <a:pPr marL="256032" indent="-256032">
              <a:spcAft>
                <a:spcPts val="500"/>
              </a:spcAft>
              <a:buClr>
                <a:srgbClr val="5B3FD9"/>
              </a:buClr>
              <a:buFont typeface="Arial"/>
              <a:buChar char="■"/>
            </a:pPr>
            <a:r>
              <a:rPr sz="1600" b="0" i="0">
                <a:solidFill>
                  <a:srgbClr val="0E1726"/>
                </a:solidFill>
                <a:latin typeface="Bahnschrift"/>
              </a:rPr>
              <a:t>Mide la autocorrelación de </a:t>
            </a:r>
            <a:r>
              <a:rPr sz="1600" b="0" i="0">
                <a:solidFill>
                  <a:srgbClr val="0E1726"/>
                </a:solidFill>
                <a:latin typeface="Bahnschrift SemiBold"/>
              </a:rPr>
              <a:t>intensidad</a:t>
            </a:r>
            <a:r>
              <a:rPr sz="1600" b="0" i="0">
                <a:solidFill>
                  <a:srgbClr val="0E1726"/>
                </a:solidFill>
                <a:latin typeface="Bahnschrift"/>
              </a:rPr>
              <a:t>.</a:t>
            </a:r>
          </a:p>
          <a:p>
            <a:pPr marL="256032" indent="-256032">
              <a:spcAft>
                <a:spcPts val="500"/>
              </a:spcAft>
              <a:buClr>
                <a:srgbClr val="5B3FD9"/>
              </a:buClr>
              <a:buFont typeface="Arial"/>
              <a:buChar char="■"/>
            </a:pPr>
            <a:r>
              <a:rPr sz="1600" b="0" i="0">
                <a:solidFill>
                  <a:srgbClr val="0E1726"/>
                </a:solidFill>
                <a:latin typeface="Bahnschrift"/>
              </a:rPr>
              <a:t>Solo hay señal si las copias se superponen.</a:t>
            </a:r>
          </a:p>
          <a:p>
            <a:pPr marL="256032" indent="-256032">
              <a:spcAft>
                <a:spcPts val="500"/>
              </a:spcAft>
              <a:buClr>
                <a:srgbClr val="5B3FD9"/>
              </a:buClr>
              <a:buFont typeface="Arial"/>
              <a:buChar char="■"/>
            </a:pPr>
            <a:r>
              <a:rPr sz="1600" b="0" i="0">
                <a:solidFill>
                  <a:srgbClr val="0E1726"/>
                </a:solidFill>
                <a:latin typeface="Bahnschrift SemiBold"/>
              </a:rPr>
              <a:t>Da el ancho del pulso.</a:t>
            </a:r>
          </a:p>
        </p:txBody>
      </p:sp>
      <p:sp>
        <p:nvSpPr>
          <p:cNvPr id="16" name="Rounded Rectangle 15"/>
          <p:cNvSpPr/>
          <p:nvPr/>
        </p:nvSpPr>
        <p:spPr>
          <a:xfrm>
            <a:off x="548640" y="4892040"/>
            <a:ext cx="11091672" cy="12801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2959" y="5056631"/>
            <a:ext cx="10543032" cy="713231"/>
          </a:xfrm>
          <a:prstGeom prst="rect">
            <a:avLst/>
          </a:prstGeom>
          <a:noFill/>
        </p:spPr>
        <p:txBody>
          <a:bodyPr wrap="square" lIns="0" tIns="0" rIns="0" bIns="0" anchor="t">
            <a:spAutoFit/>
          </a:bodyPr>
          <a:lstStyle/>
          <a:p>
            <a:pPr algn="l">
              <a:spcAft>
                <a:spcPts val="600"/>
              </a:spcAft>
            </a:pPr>
            <a:r>
              <a:rPr sz="1700" b="0" i="1">
                <a:solidFill>
                  <a:srgbClr val="0E1726"/>
                </a:solidFill>
                <a:latin typeface="Bahnschrift Light"/>
              </a:rPr>
              <a:t>“A first-order field autocorrelation does not carry any other information than that provided by a spectrometer.”</a:t>
            </a:r>
          </a:p>
        </p:txBody>
      </p:sp>
      <p:sp>
        <p:nvSpPr>
          <p:cNvPr id="18" name="TextBox 17"/>
          <p:cNvSpPr txBox="1"/>
          <p:nvPr/>
        </p:nvSpPr>
        <p:spPr>
          <a:xfrm>
            <a:off x="822959" y="5760720"/>
            <a:ext cx="10543032" cy="274320"/>
          </a:xfrm>
          <a:prstGeom prst="rect">
            <a:avLst/>
          </a:prstGeom>
          <a:noFill/>
        </p:spPr>
        <p:txBody>
          <a:bodyPr wrap="square" lIns="0" tIns="0" rIns="0" bIns="0" anchor="t">
            <a:spAutoFit/>
          </a:bodyPr>
          <a:lstStyle/>
          <a:p>
            <a:pPr algn="l">
              <a:spcAft>
                <a:spcPts val="600"/>
              </a:spcAft>
            </a:pPr>
            <a:r>
              <a:rPr sz="1200" b="0" i="0">
                <a:solidFill>
                  <a:srgbClr val="5F6B7A"/>
                </a:solidFill>
                <a:latin typeface="Bahnschrift"/>
              </a:rPr>
              <a:t>— Diels y Rudolph (2006), p. 460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3 · ¿CÓMO FUNCIONA EL AUTOCORRELADOR?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es la generación de segundo armónico (SHG)?</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Diels y Rudolph (2006), pp. 175–176 y 468</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12</a:t>
            </a:r>
          </a:p>
        </p:txBody>
      </p:sp>
      <p:sp>
        <p:nvSpPr>
          <p:cNvPr id="8" name="Rounded Rectangle 7"/>
          <p:cNvSpPr/>
          <p:nvPr/>
        </p:nvSpPr>
        <p:spPr>
          <a:xfrm>
            <a:off x="548640" y="1600200"/>
            <a:ext cx="5486400" cy="182880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31520" y="1691640"/>
            <a:ext cx="5120640" cy="1325880"/>
          </a:xfrm>
          <a:prstGeom prst="rect">
            <a:avLst/>
          </a:prstGeom>
          <a:noFill/>
        </p:spPr>
        <p:txBody>
          <a:bodyPr wrap="square" lIns="0" tIns="0" rIns="0" bIns="0" anchor="ctr">
            <a:spAutoFit/>
          </a:bodyPr>
          <a:lstStyle/>
          <a:p>
            <a:pPr algn="ctr">
              <a:spcAft>
                <a:spcPts val="400"/>
              </a:spcAft>
            </a:pPr>
            <a:r>
              <a:rPr sz="2100" b="0" i="0">
                <a:solidFill>
                  <a:srgbClr val="0E1726"/>
                </a:solidFill>
                <a:latin typeface="Cambria Math"/>
              </a:rPr>
              <a:t>P = ε₀ (χ⁽¹⁾E + χ⁽²⁾E² + …)</a:t>
            </a:r>
          </a:p>
          <a:p>
            <a:pPr algn="ctr">
              <a:spcAft>
                <a:spcPts val="400"/>
              </a:spcAft>
            </a:pPr>
            <a:r>
              <a:rPr sz="2100" b="0" i="0">
                <a:solidFill>
                  <a:srgbClr val="0E1726"/>
                </a:solidFill>
                <a:latin typeface="Cambria Math"/>
              </a:rPr>
              <a:t>I</a:t>
            </a:r>
            <a:r>
              <a:rPr sz="2100" b="0" i="0" baseline="-25000">
                <a:solidFill>
                  <a:srgbClr val="0E1726"/>
                </a:solidFill>
                <a:latin typeface="Cambria Math"/>
              </a:rPr>
              <a:t>2ω</a:t>
            </a:r>
            <a:r>
              <a:rPr sz="2100" b="0" i="0">
                <a:solidFill>
                  <a:srgbClr val="0E1726"/>
                </a:solidFill>
                <a:latin typeface="Cambria Math"/>
              </a:rPr>
              <a:t> ∝ L² · I</a:t>
            </a:r>
            <a:r>
              <a:rPr sz="2100" b="0" i="0" baseline="-25000">
                <a:solidFill>
                  <a:srgbClr val="0E1726"/>
                </a:solidFill>
                <a:latin typeface="Cambria Math"/>
              </a:rPr>
              <a:t>ω</a:t>
            </a:r>
            <a:r>
              <a:rPr sz="2100" b="0" i="0">
                <a:solidFill>
                  <a:srgbClr val="0E1726"/>
                </a:solidFill>
                <a:latin typeface="Cambria Math"/>
              </a:rPr>
              <a:t>² · sinc²(ΔkL/2)</a:t>
            </a:r>
          </a:p>
        </p:txBody>
      </p:sp>
      <p:sp>
        <p:nvSpPr>
          <p:cNvPr id="10" name="TextBox 9"/>
          <p:cNvSpPr txBox="1"/>
          <p:nvPr/>
        </p:nvSpPr>
        <p:spPr>
          <a:xfrm>
            <a:off x="731520" y="3044952"/>
            <a:ext cx="5120640" cy="292608"/>
          </a:xfrm>
          <a:prstGeom prst="rect">
            <a:avLst/>
          </a:prstGeom>
          <a:noFill/>
        </p:spPr>
        <p:txBody>
          <a:bodyPr wrap="square" lIns="0" tIns="0" rIns="0" bIns="0" anchor="t">
            <a:spAutoFit/>
          </a:bodyPr>
          <a:lstStyle/>
          <a:p>
            <a:pPr algn="ctr">
              <a:spcAft>
                <a:spcPts val="600"/>
              </a:spcAft>
            </a:pPr>
            <a:r>
              <a:rPr sz="1150" b="0" i="0">
                <a:solidFill>
                  <a:srgbClr val="5F6B7A"/>
                </a:solidFill>
                <a:latin typeface="Bahnschrift"/>
              </a:rPr>
              <a:t>Δk = k(2ω) − 2k(ω): ajuste de fase cuando Δk = 0</a:t>
            </a:r>
          </a:p>
        </p:txBody>
      </p:sp>
      <p:graphicFrame>
        <p:nvGraphicFramePr>
          <p:cNvPr id="11" name="Table 10"/>
          <p:cNvGraphicFramePr>
            <a:graphicFrameLocks noGrp="1"/>
          </p:cNvGraphicFramePr>
          <p:nvPr/>
        </p:nvGraphicFramePr>
        <p:xfrm>
          <a:off x="548640" y="3703320"/>
          <a:ext cx="5486400" cy="1152144"/>
        </p:xfrm>
        <a:graphic>
          <a:graphicData uri="http://schemas.openxmlformats.org/drawingml/2006/table">
            <a:tbl>
              <a:tblPr firstRow="1" bandRow="1">
                <a:tableStyleId>{2D5ABB26-0587-4C30-8999-92F81FD0307C}</a:tableStyleId>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384048">
                <a:tc>
                  <a:txBody>
                    <a:bodyPr/>
                    <a:lstStyle/>
                    <a:p>
                      <a:r>
                        <a:rPr sz="1500" b="0" i="0">
                          <a:solidFill>
                            <a:srgbClr val="FFFFFF"/>
                          </a:solidFill>
                          <a:latin typeface="Bahnschrift SemiBold"/>
                        </a:rPr>
                        <a:t>Cristal (800 nm)</a:t>
                      </a:r>
                    </a:p>
                  </a:txBody>
                  <a:tcPr marT="36576" marB="36576" anchor="ctr">
                    <a:solidFill>
                      <a:srgbClr val="0E1726"/>
                    </a:solidFill>
                  </a:tcPr>
                </a:tc>
                <a:tc>
                  <a:txBody>
                    <a:bodyPr/>
                    <a:lstStyle/>
                    <a:p>
                      <a:r>
                        <a:rPr sz="1500" b="0" i="0">
                          <a:solidFill>
                            <a:srgbClr val="FFFFFF"/>
                          </a:solidFill>
                          <a:latin typeface="Bahnschrift SemiBold"/>
                        </a:rPr>
                        <a:t>Desajuste de velocidad de grupo</a:t>
                      </a:r>
                    </a:p>
                  </a:txBody>
                  <a:tcPr marT="36576" marB="36576" anchor="ctr">
                    <a:solidFill>
                      <a:srgbClr val="0E1726"/>
                    </a:solidFill>
                  </a:tcPr>
                </a:tc>
                <a:extLst>
                  <a:ext uri="{0D108BD9-81ED-4DB2-BD59-A6C34878D82A}">
                    <a16:rowId xmlns:a16="http://schemas.microsoft.com/office/drawing/2014/main" val="10000"/>
                  </a:ext>
                </a:extLst>
              </a:tr>
              <a:tr h="384048">
                <a:tc>
                  <a:txBody>
                    <a:bodyPr/>
                    <a:lstStyle/>
                    <a:p>
                      <a:r>
                        <a:rPr sz="1500" b="0" i="0">
                          <a:solidFill>
                            <a:srgbClr val="0E1726"/>
                          </a:solidFill>
                          <a:latin typeface="Bahnschrift"/>
                        </a:rPr>
                        <a:t>BBO</a:t>
                      </a:r>
                    </a:p>
                  </a:txBody>
                  <a:tcPr marT="36576" marB="36576" anchor="ctr">
                    <a:solidFill>
                      <a:srgbClr val="FFFFFF"/>
                    </a:solidFill>
                  </a:tcPr>
                </a:tc>
                <a:tc>
                  <a:txBody>
                    <a:bodyPr/>
                    <a:lstStyle/>
                    <a:p>
                      <a:r>
                        <a:rPr sz="1500" b="0" i="0">
                          <a:solidFill>
                            <a:srgbClr val="0E1726"/>
                          </a:solidFill>
                          <a:latin typeface="Bahnschrift"/>
                        </a:rPr>
                        <a:t>187 fs/mm</a:t>
                      </a:r>
                    </a:p>
                  </a:txBody>
                  <a:tcPr marT="36576" marB="36576" anchor="ctr">
                    <a:solidFill>
                      <a:srgbClr val="FFFFFF"/>
                    </a:solidFill>
                  </a:tcPr>
                </a:tc>
                <a:extLst>
                  <a:ext uri="{0D108BD9-81ED-4DB2-BD59-A6C34878D82A}">
                    <a16:rowId xmlns:a16="http://schemas.microsoft.com/office/drawing/2014/main" val="10001"/>
                  </a:ext>
                </a:extLst>
              </a:tr>
              <a:tr h="384048">
                <a:tc>
                  <a:txBody>
                    <a:bodyPr/>
                    <a:lstStyle/>
                    <a:p>
                      <a:r>
                        <a:rPr sz="1500" b="0" i="0">
                          <a:solidFill>
                            <a:srgbClr val="0E1726"/>
                          </a:solidFill>
                          <a:latin typeface="Bahnschrift"/>
                        </a:rPr>
                        <a:t>KDP</a:t>
                      </a:r>
                    </a:p>
                  </a:txBody>
                  <a:tcPr marT="36576" marB="36576" anchor="ctr">
                    <a:solidFill>
                      <a:srgbClr val="F2F4F7"/>
                    </a:solidFill>
                  </a:tcPr>
                </a:tc>
                <a:tc>
                  <a:txBody>
                    <a:bodyPr/>
                    <a:lstStyle/>
                    <a:p>
                      <a:r>
                        <a:rPr sz="1500" b="0" i="0">
                          <a:solidFill>
                            <a:srgbClr val="0E1726"/>
                          </a:solidFill>
                          <a:latin typeface="Bahnschrift"/>
                        </a:rPr>
                        <a:t>77 fs/mm</a:t>
                      </a:r>
                    </a:p>
                  </a:txBody>
                  <a:tcPr marT="36576" marB="36576" anchor="ctr">
                    <a:solidFill>
                      <a:srgbClr val="F2F4F7"/>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548640" y="4937760"/>
            <a:ext cx="5486400" cy="274320"/>
          </a:xfrm>
          <a:prstGeom prst="rect">
            <a:avLst/>
          </a:prstGeom>
          <a:noFill/>
        </p:spPr>
        <p:txBody>
          <a:bodyPr wrap="square" lIns="0" tIns="0" rIns="0" bIns="0" anchor="t">
            <a:spAutoFit/>
          </a:bodyPr>
          <a:lstStyle/>
          <a:p>
            <a:pPr algn="l">
              <a:spcAft>
                <a:spcPts val="600"/>
              </a:spcAft>
            </a:pPr>
            <a:r>
              <a:rPr sz="1150" b="0" i="0">
                <a:solidFill>
                  <a:srgbClr val="5F6B7A"/>
                </a:solidFill>
                <a:latin typeface="Bahnschrift"/>
              </a:rPr>
              <a:t>Diels y Rudolph, tabla 3.2, p. 176</a:t>
            </a:r>
          </a:p>
        </p:txBody>
      </p:sp>
      <p:sp>
        <p:nvSpPr>
          <p:cNvPr id="13" name="Rounded Rectangle 12"/>
          <p:cNvSpPr/>
          <p:nvPr/>
        </p:nvSpPr>
        <p:spPr>
          <a:xfrm>
            <a:off x="548640" y="5303520"/>
            <a:ext cx="5486400" cy="91440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5303520"/>
            <a:ext cx="5120640" cy="914400"/>
          </a:xfrm>
          <a:prstGeom prst="rect">
            <a:avLst/>
          </a:prstGeom>
          <a:noFill/>
        </p:spPr>
        <p:txBody>
          <a:bodyPr wrap="square" lIns="0" tIns="0" rIns="0" bIns="0" anchor="ctr">
            <a:spAutoFit/>
          </a:bodyPr>
          <a:lstStyle/>
          <a:p>
            <a:pPr algn="l">
              <a:spcAft>
                <a:spcPts val="600"/>
              </a:spcAft>
            </a:pPr>
            <a:r>
              <a:rPr sz="1600" b="0" i="0">
                <a:solidFill>
                  <a:srgbClr val="0E1726"/>
                </a:solidFill>
                <a:latin typeface="Bahnschrift"/>
              </a:rPr>
              <a:t>Cristal demasiado largo → la traza sale </a:t>
            </a:r>
            <a:r>
              <a:rPr sz="1600" b="0" i="0">
                <a:solidFill>
                  <a:srgbClr val="0E1726"/>
                </a:solidFill>
                <a:latin typeface="Bahnschrift SemiBold"/>
              </a:rPr>
              <a:t>más ancha</a:t>
            </a:r>
            <a:r>
              <a:rPr sz="1600" b="0" i="0">
                <a:solidFill>
                  <a:srgbClr val="0E1726"/>
                </a:solidFill>
                <a:latin typeface="Bahnschrift"/>
              </a:rPr>
              <a:t> que la real (p. 468).</a:t>
            </a:r>
          </a:p>
        </p:txBody>
      </p:sp>
      <p:pic>
        <p:nvPicPr>
          <p:cNvPr id="15" name="Picture 14" descr="sinc.png"/>
          <p:cNvPicPr>
            <a:picLocks noChangeAspect="1"/>
          </p:cNvPicPr>
          <p:nvPr/>
        </p:nvPicPr>
        <p:blipFill>
          <a:blip r:embed="rId4"/>
          <a:stretch>
            <a:fillRect/>
          </a:stretch>
        </p:blipFill>
        <p:spPr>
          <a:xfrm>
            <a:off x="6355080" y="1554480"/>
            <a:ext cx="5303520" cy="33897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3 · ¿CÓMO FUNCIONA EL AUTOCORRELADOR?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señal registra el detector?</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Diels y Rudolph (2006), p. 462 y fig. 9.1</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13</a:t>
            </a:r>
          </a:p>
        </p:txBody>
      </p:sp>
      <p:pic>
        <p:nvPicPr>
          <p:cNvPr id="8" name="Picture 7" descr="trazas.png"/>
          <p:cNvPicPr>
            <a:picLocks noChangeAspect="1"/>
          </p:cNvPicPr>
          <p:nvPr/>
        </p:nvPicPr>
        <p:blipFill>
          <a:blip r:embed="rId4"/>
          <a:stretch>
            <a:fillRect/>
          </a:stretch>
        </p:blipFill>
        <p:spPr>
          <a:xfrm>
            <a:off x="1051560" y="1508760"/>
            <a:ext cx="10058400" cy="3498785"/>
          </a:xfrm>
          <a:prstGeom prst="rect">
            <a:avLst/>
          </a:prstGeom>
        </p:spPr>
      </p:pic>
      <p:sp>
        <p:nvSpPr>
          <p:cNvPr id="9" name="Rounded Rectangle 8"/>
          <p:cNvSpPr/>
          <p:nvPr/>
        </p:nvSpPr>
        <p:spPr>
          <a:xfrm>
            <a:off x="548640" y="5074920"/>
            <a:ext cx="5120640" cy="118872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1520" y="5166359"/>
            <a:ext cx="4754879" cy="685800"/>
          </a:xfrm>
          <a:prstGeom prst="rect">
            <a:avLst/>
          </a:prstGeom>
          <a:noFill/>
        </p:spPr>
        <p:txBody>
          <a:bodyPr wrap="square" lIns="0" tIns="0" rIns="0" bIns="0" anchor="ctr">
            <a:spAutoFit/>
          </a:bodyPr>
          <a:lstStyle/>
          <a:p>
            <a:pPr algn="ctr">
              <a:spcAft>
                <a:spcPts val="400"/>
              </a:spcAft>
            </a:pPr>
            <a:r>
              <a:rPr sz="2400" b="0" i="0">
                <a:solidFill>
                  <a:srgbClr val="0E1726"/>
                </a:solidFill>
                <a:latin typeface="Cambria Math"/>
              </a:rPr>
              <a:t>A(τ) = ∫ I(t) · I(t − τ) dt</a:t>
            </a:r>
          </a:p>
        </p:txBody>
      </p:sp>
      <p:sp>
        <p:nvSpPr>
          <p:cNvPr id="11" name="TextBox 10"/>
          <p:cNvSpPr txBox="1"/>
          <p:nvPr/>
        </p:nvSpPr>
        <p:spPr>
          <a:xfrm>
            <a:off x="731520" y="5879592"/>
            <a:ext cx="4754879" cy="292608"/>
          </a:xfrm>
          <a:prstGeom prst="rect">
            <a:avLst/>
          </a:prstGeom>
          <a:noFill/>
        </p:spPr>
        <p:txBody>
          <a:bodyPr wrap="square" lIns="0" tIns="0" rIns="0" bIns="0" anchor="t">
            <a:spAutoFit/>
          </a:bodyPr>
          <a:lstStyle/>
          <a:p>
            <a:pPr algn="ctr">
              <a:spcAft>
                <a:spcPts val="600"/>
              </a:spcAft>
            </a:pPr>
            <a:r>
              <a:rPr sz="1150" b="0" i="0">
                <a:solidFill>
                  <a:srgbClr val="5F6B7A"/>
                </a:solidFill>
                <a:latin typeface="Bahnschrift"/>
              </a:rPr>
              <a:t>autocorrelación de intensidad: siempre simétrica en τ</a:t>
            </a:r>
          </a:p>
        </p:txBody>
      </p:sp>
      <p:sp>
        <p:nvSpPr>
          <p:cNvPr id="12" name="Rounded Rectangle 11"/>
          <p:cNvSpPr/>
          <p:nvPr/>
        </p:nvSpPr>
        <p:spPr>
          <a:xfrm>
            <a:off x="5943600" y="5074920"/>
            <a:ext cx="5696712" cy="118872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172200" y="5074920"/>
            <a:ext cx="5303520" cy="1188720"/>
          </a:xfrm>
          <a:prstGeom prst="rect">
            <a:avLst/>
          </a:prstGeom>
          <a:noFill/>
        </p:spPr>
        <p:txBody>
          <a:bodyPr wrap="square" lIns="0" tIns="0" rIns="0" bIns="0" anchor="ctr">
            <a:spAutoFit/>
          </a:bodyPr>
          <a:lstStyle/>
          <a:p>
            <a:pPr algn="l">
              <a:spcAft>
                <a:spcPts val="600"/>
              </a:spcAft>
            </a:pPr>
            <a:r>
              <a:rPr sz="1700" b="0" i="0">
                <a:solidFill>
                  <a:srgbClr val="0E1726"/>
                </a:solidFill>
                <a:latin typeface="Bahnschrift"/>
              </a:rPr>
              <a:t>Las relaciones </a:t>
            </a:r>
            <a:r>
              <a:rPr sz="1700" b="0" i="0">
                <a:solidFill>
                  <a:srgbClr val="0E1726"/>
                </a:solidFill>
                <a:latin typeface="Bahnschrift SemiBold"/>
              </a:rPr>
              <a:t>3:1</a:t>
            </a:r>
            <a:r>
              <a:rPr sz="1700" b="0" i="0">
                <a:solidFill>
                  <a:srgbClr val="0E1726"/>
                </a:solidFill>
                <a:latin typeface="Bahnschrift"/>
              </a:rPr>
              <a:t> y </a:t>
            </a:r>
            <a:r>
              <a:rPr sz="1700" b="0" i="0">
                <a:solidFill>
                  <a:srgbClr val="0E1726"/>
                </a:solidFill>
                <a:latin typeface="Bahnschrift SemiBold"/>
              </a:rPr>
              <a:t>8:1</a:t>
            </a:r>
            <a:r>
              <a:rPr sz="1700" b="0" i="0">
                <a:solidFill>
                  <a:srgbClr val="0E1726"/>
                </a:solidFill>
                <a:latin typeface="Bahnschrift"/>
              </a:rPr>
              <a:t> son un control de alineación antes de cada serie de mediciones.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4 · ¿DE LA TRAZA AL ANCHO DEL PULSO?</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¿Cómo se obtiene τ</a:t>
            </a:r>
            <a:r>
              <a:rPr sz="3000" b="0" i="0" baseline="-25000">
                <a:solidFill>
                  <a:srgbClr val="0E1726"/>
                </a:solidFill>
                <a:latin typeface="Bahnschrift SemiBold"/>
              </a:rPr>
              <a:t>p</a:t>
            </a:r>
            <a:r>
              <a:rPr sz="3000" b="0" i="0">
                <a:solidFill>
                  <a:srgbClr val="0E1726"/>
                </a:solidFill>
                <a:latin typeface="Bahnschrift SemiBold"/>
              </a:rPr>
              <a:t> a partir de la traza?</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Sala et al. (1980), tabla II, p. 993; Diels y Rudolph (2006), tabla 9.1</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14</a:t>
            </a:r>
          </a:p>
        </p:txBody>
      </p:sp>
      <p:sp>
        <p:nvSpPr>
          <p:cNvPr id="8" name="Rounded Rectangle 7"/>
          <p:cNvSpPr/>
          <p:nvPr/>
        </p:nvSpPr>
        <p:spPr>
          <a:xfrm>
            <a:off x="548640" y="1600200"/>
            <a:ext cx="5394960" cy="91440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31520" y="1691640"/>
            <a:ext cx="5029200" cy="731520"/>
          </a:xfrm>
          <a:prstGeom prst="rect">
            <a:avLst/>
          </a:prstGeom>
          <a:noFill/>
        </p:spPr>
        <p:txBody>
          <a:bodyPr wrap="square" lIns="0" tIns="0" rIns="0" bIns="0" anchor="ctr">
            <a:spAutoFit/>
          </a:bodyPr>
          <a:lstStyle/>
          <a:p>
            <a:pPr algn="ctr">
              <a:spcAft>
                <a:spcPts val="400"/>
              </a:spcAft>
            </a:pPr>
            <a:r>
              <a:rPr sz="2600" b="0" i="0">
                <a:solidFill>
                  <a:srgbClr val="0E1726"/>
                </a:solidFill>
                <a:latin typeface="Cambria Math"/>
              </a:rPr>
              <a:t>τ</a:t>
            </a:r>
            <a:r>
              <a:rPr sz="2600" b="0" i="0" baseline="-25000">
                <a:solidFill>
                  <a:srgbClr val="0E1726"/>
                </a:solidFill>
                <a:latin typeface="Cambria Math"/>
              </a:rPr>
              <a:t>AC</a:t>
            </a:r>
            <a:r>
              <a:rPr sz="2600" b="0" i="0">
                <a:solidFill>
                  <a:srgbClr val="0E1726"/>
                </a:solidFill>
                <a:latin typeface="Cambria Math"/>
              </a:rPr>
              <a:t> = k · τ</a:t>
            </a:r>
            <a:r>
              <a:rPr sz="2600" b="0" i="0" baseline="-25000">
                <a:solidFill>
                  <a:srgbClr val="0E1726"/>
                </a:solidFill>
                <a:latin typeface="Cambria Math"/>
              </a:rPr>
              <a:t>p</a:t>
            </a:r>
          </a:p>
        </p:txBody>
      </p:sp>
      <p:graphicFrame>
        <p:nvGraphicFramePr>
          <p:cNvPr id="10" name="Table 9"/>
          <p:cNvGraphicFramePr>
            <a:graphicFrameLocks noGrp="1"/>
          </p:cNvGraphicFramePr>
          <p:nvPr/>
        </p:nvGraphicFramePr>
        <p:xfrm>
          <a:off x="548640" y="2697480"/>
          <a:ext cx="5394960" cy="1920240"/>
        </p:xfrm>
        <a:graphic>
          <a:graphicData uri="http://schemas.openxmlformats.org/drawingml/2006/table">
            <a:tbl>
              <a:tblPr firstRow="1" bandRow="1">
                <a:tableStyleId>{2D5ABB26-0587-4C30-8999-92F81FD0307C}</a:tableStyleId>
              </a:tblPr>
              <a:tblGrid>
                <a:gridCol w="21031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84048">
                <a:tc>
                  <a:txBody>
                    <a:bodyPr/>
                    <a:lstStyle/>
                    <a:p>
                      <a:r>
                        <a:rPr sz="1500" b="0" i="0">
                          <a:solidFill>
                            <a:srgbClr val="FFFFFF"/>
                          </a:solidFill>
                          <a:latin typeface="Bahnschrift SemiBold"/>
                        </a:rPr>
                        <a:t>Forma del pulso</a:t>
                      </a:r>
                    </a:p>
                  </a:txBody>
                  <a:tcPr marT="36576" marB="36576" anchor="ctr">
                    <a:solidFill>
                      <a:srgbClr val="0E1726"/>
                    </a:solidFill>
                  </a:tcPr>
                </a:tc>
                <a:tc>
                  <a:txBody>
                    <a:bodyPr/>
                    <a:lstStyle/>
                    <a:p>
                      <a:r>
                        <a:rPr sz="1500" b="0" i="0">
                          <a:solidFill>
                            <a:srgbClr val="FFFFFF"/>
                          </a:solidFill>
                          <a:latin typeface="Bahnschrift SemiBold"/>
                        </a:rPr>
                        <a:t>k = τ</a:t>
                      </a:r>
                      <a:r>
                        <a:rPr sz="1500" b="0" i="0" baseline="-25000">
                          <a:solidFill>
                            <a:srgbClr val="FFFFFF"/>
                          </a:solidFill>
                          <a:latin typeface="Bahnschrift SemiBold"/>
                        </a:rPr>
                        <a:t>AC</a:t>
                      </a:r>
                      <a:r>
                        <a:rPr sz="1500" b="0" i="0">
                          <a:solidFill>
                            <a:srgbClr val="FFFFFF"/>
                          </a:solidFill>
                          <a:latin typeface="Bahnschrift SemiBold"/>
                        </a:rPr>
                        <a:t>/τ</a:t>
                      </a:r>
                      <a:r>
                        <a:rPr sz="1500" b="0" i="0" baseline="-25000">
                          <a:solidFill>
                            <a:srgbClr val="FFFFFF"/>
                          </a:solidFill>
                          <a:latin typeface="Bahnschrift SemiBold"/>
                        </a:rPr>
                        <a:t>p</a:t>
                      </a:r>
                    </a:p>
                  </a:txBody>
                  <a:tcPr marT="36576" marB="36576" anchor="ctr">
                    <a:solidFill>
                      <a:srgbClr val="0E1726"/>
                    </a:solidFill>
                  </a:tcPr>
                </a:tc>
                <a:tc>
                  <a:txBody>
                    <a:bodyPr/>
                    <a:lstStyle/>
                    <a:p>
                      <a:r>
                        <a:rPr sz="1500" b="0" i="0">
                          <a:solidFill>
                            <a:srgbClr val="FFFFFF"/>
                          </a:solidFill>
                          <a:latin typeface="Bahnschrift SemiBold"/>
                        </a:rPr>
                        <a:t>Δν·τ</a:t>
                      </a:r>
                      <a:r>
                        <a:rPr sz="1500" b="0" i="0" baseline="-25000">
                          <a:solidFill>
                            <a:srgbClr val="FFFFFF"/>
                          </a:solidFill>
                          <a:latin typeface="Bahnschrift SemiBold"/>
                        </a:rPr>
                        <a:t>p</a:t>
                      </a:r>
                    </a:p>
                  </a:txBody>
                  <a:tcPr marT="36576" marB="36576" anchor="ctr">
                    <a:solidFill>
                      <a:srgbClr val="0E1726"/>
                    </a:solidFill>
                  </a:tcPr>
                </a:tc>
                <a:extLst>
                  <a:ext uri="{0D108BD9-81ED-4DB2-BD59-A6C34878D82A}">
                    <a16:rowId xmlns:a16="http://schemas.microsoft.com/office/drawing/2014/main" val="10000"/>
                  </a:ext>
                </a:extLst>
              </a:tr>
              <a:tr h="384048">
                <a:tc>
                  <a:txBody>
                    <a:bodyPr/>
                    <a:lstStyle/>
                    <a:p>
                      <a:r>
                        <a:rPr sz="1500" b="0" i="0">
                          <a:solidFill>
                            <a:srgbClr val="0E1726"/>
                          </a:solidFill>
                          <a:latin typeface="Bahnschrift"/>
                        </a:rPr>
                        <a:t>Cuadrada</a:t>
                      </a:r>
                    </a:p>
                  </a:txBody>
                  <a:tcPr marT="36576" marB="36576" anchor="ctr">
                    <a:solidFill>
                      <a:srgbClr val="FFFFFF"/>
                    </a:solidFill>
                  </a:tcPr>
                </a:tc>
                <a:tc>
                  <a:txBody>
                    <a:bodyPr/>
                    <a:lstStyle/>
                    <a:p>
                      <a:r>
                        <a:rPr sz="1500" b="0" i="0">
                          <a:solidFill>
                            <a:srgbClr val="0E1726"/>
                          </a:solidFill>
                          <a:latin typeface="Bahnschrift"/>
                        </a:rPr>
                        <a:t>1</a:t>
                      </a:r>
                    </a:p>
                  </a:txBody>
                  <a:tcPr marT="36576" marB="36576" anchor="ctr">
                    <a:solidFill>
                      <a:srgbClr val="FFFFFF"/>
                    </a:solidFill>
                  </a:tcPr>
                </a:tc>
                <a:tc>
                  <a:txBody>
                    <a:bodyPr/>
                    <a:lstStyle/>
                    <a:p>
                      <a:r>
                        <a:rPr sz="1500" b="0" i="0">
                          <a:solidFill>
                            <a:srgbClr val="0E1726"/>
                          </a:solidFill>
                          <a:latin typeface="Bahnschrift"/>
                        </a:rPr>
                        <a:t>0,886</a:t>
                      </a:r>
                    </a:p>
                  </a:txBody>
                  <a:tcPr marT="36576" marB="36576" anchor="ctr">
                    <a:solidFill>
                      <a:srgbClr val="FFFFFF"/>
                    </a:solidFill>
                  </a:tcPr>
                </a:tc>
                <a:extLst>
                  <a:ext uri="{0D108BD9-81ED-4DB2-BD59-A6C34878D82A}">
                    <a16:rowId xmlns:a16="http://schemas.microsoft.com/office/drawing/2014/main" val="10001"/>
                  </a:ext>
                </a:extLst>
              </a:tr>
              <a:tr h="384048">
                <a:tc>
                  <a:txBody>
                    <a:bodyPr/>
                    <a:lstStyle/>
                    <a:p>
                      <a:r>
                        <a:rPr sz="1500" b="0" i="0">
                          <a:solidFill>
                            <a:srgbClr val="0E1726"/>
                          </a:solidFill>
                          <a:latin typeface="Bahnschrift"/>
                        </a:rPr>
                        <a:t>Gaussiana</a:t>
                      </a:r>
                    </a:p>
                  </a:txBody>
                  <a:tcPr marT="36576" marB="36576" anchor="ctr">
                    <a:solidFill>
                      <a:srgbClr val="F2F4F7"/>
                    </a:solidFill>
                  </a:tcPr>
                </a:tc>
                <a:tc>
                  <a:txBody>
                    <a:bodyPr/>
                    <a:lstStyle/>
                    <a:p>
                      <a:r>
                        <a:rPr sz="1500" b="0" i="0">
                          <a:solidFill>
                            <a:srgbClr val="0E1726"/>
                          </a:solidFill>
                          <a:latin typeface="Bahnschrift"/>
                        </a:rPr>
                        <a:t>1,414</a:t>
                      </a:r>
                    </a:p>
                  </a:txBody>
                  <a:tcPr marT="36576" marB="36576" anchor="ctr">
                    <a:solidFill>
                      <a:srgbClr val="F2F4F7"/>
                    </a:solidFill>
                  </a:tcPr>
                </a:tc>
                <a:tc>
                  <a:txBody>
                    <a:bodyPr/>
                    <a:lstStyle/>
                    <a:p>
                      <a:r>
                        <a:rPr sz="1500" b="0" i="0">
                          <a:solidFill>
                            <a:srgbClr val="0E1726"/>
                          </a:solidFill>
                          <a:latin typeface="Bahnschrift"/>
                        </a:rPr>
                        <a:t>0,441</a:t>
                      </a:r>
                    </a:p>
                  </a:txBody>
                  <a:tcPr marT="36576" marB="36576" anchor="ctr">
                    <a:solidFill>
                      <a:srgbClr val="F2F4F7"/>
                    </a:solidFill>
                  </a:tcPr>
                </a:tc>
                <a:extLst>
                  <a:ext uri="{0D108BD9-81ED-4DB2-BD59-A6C34878D82A}">
                    <a16:rowId xmlns:a16="http://schemas.microsoft.com/office/drawing/2014/main" val="10002"/>
                  </a:ext>
                </a:extLst>
              </a:tr>
              <a:tr h="384048">
                <a:tc>
                  <a:txBody>
                    <a:bodyPr/>
                    <a:lstStyle/>
                    <a:p>
                      <a:r>
                        <a:rPr sz="1500" b="0" i="0">
                          <a:solidFill>
                            <a:srgbClr val="0E1726"/>
                          </a:solidFill>
                          <a:latin typeface="Bahnschrift"/>
                        </a:rPr>
                        <a:t>sech²</a:t>
                      </a:r>
                    </a:p>
                  </a:txBody>
                  <a:tcPr marT="36576" marB="36576" anchor="ctr">
                    <a:solidFill>
                      <a:srgbClr val="FFFFFF"/>
                    </a:solidFill>
                  </a:tcPr>
                </a:tc>
                <a:tc>
                  <a:txBody>
                    <a:bodyPr/>
                    <a:lstStyle/>
                    <a:p>
                      <a:r>
                        <a:rPr sz="1500" b="0" i="0">
                          <a:solidFill>
                            <a:srgbClr val="0E1726"/>
                          </a:solidFill>
                          <a:latin typeface="Bahnschrift"/>
                        </a:rPr>
                        <a:t>1,543</a:t>
                      </a:r>
                    </a:p>
                  </a:txBody>
                  <a:tcPr marT="36576" marB="36576" anchor="ctr">
                    <a:solidFill>
                      <a:srgbClr val="FFFFFF"/>
                    </a:solidFill>
                  </a:tcPr>
                </a:tc>
                <a:tc>
                  <a:txBody>
                    <a:bodyPr/>
                    <a:lstStyle/>
                    <a:p>
                      <a:r>
                        <a:rPr sz="1500" b="0" i="0">
                          <a:solidFill>
                            <a:srgbClr val="0E1726"/>
                          </a:solidFill>
                          <a:latin typeface="Bahnschrift"/>
                        </a:rPr>
                        <a:t>0,315</a:t>
                      </a:r>
                    </a:p>
                  </a:txBody>
                  <a:tcPr marT="36576" marB="36576" anchor="ctr">
                    <a:solidFill>
                      <a:srgbClr val="FFFFFF"/>
                    </a:solidFill>
                  </a:tcPr>
                </a:tc>
                <a:extLst>
                  <a:ext uri="{0D108BD9-81ED-4DB2-BD59-A6C34878D82A}">
                    <a16:rowId xmlns:a16="http://schemas.microsoft.com/office/drawing/2014/main" val="10003"/>
                  </a:ext>
                </a:extLst>
              </a:tr>
              <a:tr h="384048">
                <a:tc>
                  <a:txBody>
                    <a:bodyPr/>
                    <a:lstStyle/>
                    <a:p>
                      <a:r>
                        <a:rPr sz="1500" b="0" i="0">
                          <a:solidFill>
                            <a:srgbClr val="0E1726"/>
                          </a:solidFill>
                          <a:latin typeface="Bahnschrift"/>
                        </a:rPr>
                        <a:t>Lorentziana</a:t>
                      </a:r>
                    </a:p>
                  </a:txBody>
                  <a:tcPr marT="36576" marB="36576" anchor="ctr">
                    <a:solidFill>
                      <a:srgbClr val="F2F4F7"/>
                    </a:solidFill>
                  </a:tcPr>
                </a:tc>
                <a:tc>
                  <a:txBody>
                    <a:bodyPr/>
                    <a:lstStyle/>
                    <a:p>
                      <a:r>
                        <a:rPr sz="1500" b="0" i="0">
                          <a:solidFill>
                            <a:srgbClr val="0E1726"/>
                          </a:solidFill>
                          <a:latin typeface="Bahnschrift"/>
                        </a:rPr>
                        <a:t>2,000</a:t>
                      </a:r>
                    </a:p>
                  </a:txBody>
                  <a:tcPr marT="36576" marB="36576" anchor="ctr">
                    <a:solidFill>
                      <a:srgbClr val="F2F4F7"/>
                    </a:solidFill>
                  </a:tcPr>
                </a:tc>
                <a:tc>
                  <a:txBody>
                    <a:bodyPr/>
                    <a:lstStyle/>
                    <a:p>
                      <a:r>
                        <a:rPr sz="1500" b="0" i="0">
                          <a:solidFill>
                            <a:srgbClr val="0E1726"/>
                          </a:solidFill>
                          <a:latin typeface="Bahnschrift"/>
                        </a:rPr>
                        <a:t>0,221</a:t>
                      </a:r>
                    </a:p>
                  </a:txBody>
                  <a:tcPr marT="36576" marB="36576" anchor="ctr">
                    <a:solidFill>
                      <a:srgbClr val="F2F4F7"/>
                    </a:solidFill>
                  </a:tcPr>
                </a:tc>
                <a:extLst>
                  <a:ext uri="{0D108BD9-81ED-4DB2-BD59-A6C34878D82A}">
                    <a16:rowId xmlns:a16="http://schemas.microsoft.com/office/drawing/2014/main" val="10004"/>
                  </a:ext>
                </a:extLst>
              </a:tr>
            </a:tbl>
          </a:graphicData>
        </a:graphic>
      </p:graphicFrame>
      <p:sp>
        <p:nvSpPr>
          <p:cNvPr id="11" name="Rounded Rectangle 10"/>
          <p:cNvSpPr/>
          <p:nvPr/>
        </p:nvSpPr>
        <p:spPr>
          <a:xfrm>
            <a:off x="548640" y="4846320"/>
            <a:ext cx="5394960" cy="132588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7240" y="4846320"/>
            <a:ext cx="4937760" cy="1325880"/>
          </a:xfrm>
          <a:prstGeom prst="rect">
            <a:avLst/>
          </a:prstGeom>
          <a:noFill/>
        </p:spPr>
        <p:txBody>
          <a:bodyPr wrap="square" lIns="0" tIns="0" rIns="0" bIns="0" anchor="ctr">
            <a:spAutoFit/>
          </a:bodyPr>
          <a:lstStyle/>
          <a:p>
            <a:pPr algn="l">
              <a:spcAft>
                <a:spcPts val="600"/>
              </a:spcAft>
            </a:pPr>
            <a:r>
              <a:rPr sz="1800" b="0" i="0">
                <a:solidFill>
                  <a:srgbClr val="0E1726"/>
                </a:solidFill>
                <a:latin typeface="Bahnschrift"/>
              </a:rPr>
              <a:t>Para comparar con el fabricante hay que usar </a:t>
            </a:r>
            <a:r>
              <a:rPr sz="1800" b="0" i="0">
                <a:solidFill>
                  <a:srgbClr val="0E1726"/>
                </a:solidFill>
                <a:latin typeface="Bahnschrift SemiBold"/>
              </a:rPr>
              <a:t>la misma forma supuesta</a:t>
            </a:r>
            <a:r>
              <a:rPr sz="1800" b="0" i="0">
                <a:solidFill>
                  <a:srgbClr val="0E1726"/>
                </a:solidFill>
                <a:latin typeface="Bahnschrift"/>
              </a:rPr>
              <a:t> que usó él.</a:t>
            </a:r>
          </a:p>
        </p:txBody>
      </p:sp>
      <p:pic>
        <p:nvPicPr>
          <p:cNvPr id="13" name="Picture 12" descr="deconv.png"/>
          <p:cNvPicPr>
            <a:picLocks noChangeAspect="1"/>
          </p:cNvPicPr>
          <p:nvPr/>
        </p:nvPicPr>
        <p:blipFill>
          <a:blip r:embed="rId4"/>
          <a:stretch>
            <a:fillRect/>
          </a:stretch>
        </p:blipFill>
        <p:spPr>
          <a:xfrm>
            <a:off x="6400800" y="1554480"/>
            <a:ext cx="5120640" cy="3626516"/>
          </a:xfrm>
          <a:prstGeom prst="rect">
            <a:avLst/>
          </a:prstGeom>
        </p:spPr>
      </p:pic>
      <p:sp>
        <p:nvSpPr>
          <p:cNvPr id="14" name="TextBox 13"/>
          <p:cNvSpPr txBox="1"/>
          <p:nvPr/>
        </p:nvSpPr>
        <p:spPr>
          <a:xfrm>
            <a:off x="6263640" y="5394960"/>
            <a:ext cx="5394960" cy="82296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Misma traza (τ</a:t>
            </a:r>
            <a:r>
              <a:rPr sz="1600" b="0" i="0" baseline="-25000">
                <a:solidFill>
                  <a:srgbClr val="0E1726"/>
                </a:solidFill>
                <a:latin typeface="Bahnschrift"/>
              </a:rPr>
              <a:t>AC</a:t>
            </a:r>
            <a:r>
              <a:rPr sz="1600" b="0" i="0">
                <a:solidFill>
                  <a:srgbClr val="0E1726"/>
                </a:solidFill>
                <a:latin typeface="Bahnschrift"/>
              </a:rPr>
              <a:t> = 100 fs), dos respuestas: </a:t>
            </a:r>
            <a:r>
              <a:rPr sz="1600" b="0" i="0">
                <a:solidFill>
                  <a:srgbClr val="0E1726"/>
                </a:solidFill>
                <a:latin typeface="Bahnschrift SemiBold"/>
              </a:rPr>
              <a:t>9 % de diferencia</a:t>
            </a:r>
            <a:r>
              <a:rPr sz="1600" b="0" i="0">
                <a:solidFill>
                  <a:srgbClr val="0E1726"/>
                </a:solidFill>
                <a:latin typeface="Bahnschrift"/>
              </a:rPr>
              <a:t> solo por la forma supuesta.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4 · ¿DE LA TRAZA AL ANCHO DEL PULSO?</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¿Cómo se calibra el eje de retardo?</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Sala et al. (1980); Diels y Rudolph (2006), fig. 9.6; Donnelly y Grossman (1998)</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15</a:t>
            </a:r>
          </a:p>
        </p:txBody>
      </p:sp>
      <p:sp>
        <p:nvSpPr>
          <p:cNvPr id="8" name="Rounded Rectangle 7"/>
          <p:cNvSpPr/>
          <p:nvPr/>
        </p:nvSpPr>
        <p:spPr>
          <a:xfrm>
            <a:off x="548640" y="1600200"/>
            <a:ext cx="3520440" cy="26517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7240" y="1801368"/>
            <a:ext cx="3108960" cy="411480"/>
          </a:xfrm>
          <a:prstGeom prst="rect">
            <a:avLst/>
          </a:prstGeom>
          <a:noFill/>
        </p:spPr>
        <p:txBody>
          <a:bodyPr wrap="square" lIns="0" tIns="0" rIns="0" bIns="0" anchor="t">
            <a:spAutoFit/>
          </a:bodyPr>
          <a:lstStyle/>
          <a:p>
            <a:pPr algn="l">
              <a:spcAft>
                <a:spcPts val="600"/>
              </a:spcAft>
            </a:pPr>
            <a:r>
              <a:rPr sz="1900" b="0" i="0">
                <a:solidFill>
                  <a:srgbClr val="5B3FD9"/>
                </a:solidFill>
                <a:latin typeface="Bahnschrift SemiBold"/>
              </a:rPr>
              <a:t>Platina de precisión</a:t>
            </a:r>
          </a:p>
        </p:txBody>
      </p:sp>
      <p:sp>
        <p:nvSpPr>
          <p:cNvPr id="10" name="TextBox 9"/>
          <p:cNvSpPr txBox="1"/>
          <p:nvPr/>
        </p:nvSpPr>
        <p:spPr>
          <a:xfrm>
            <a:off x="777240" y="2331720"/>
            <a:ext cx="3108960" cy="137160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Mover el brazo una distancia conocida y medir cuánto se corre el pico.</a:t>
            </a:r>
          </a:p>
        </p:txBody>
      </p:sp>
      <p:sp>
        <p:nvSpPr>
          <p:cNvPr id="11" name="TextBox 10"/>
          <p:cNvSpPr txBox="1"/>
          <p:nvPr/>
        </p:nvSpPr>
        <p:spPr>
          <a:xfrm>
            <a:off x="777240" y="3794760"/>
            <a:ext cx="3108960" cy="320040"/>
          </a:xfrm>
          <a:prstGeom prst="rect">
            <a:avLst/>
          </a:prstGeom>
          <a:noFill/>
        </p:spPr>
        <p:txBody>
          <a:bodyPr wrap="square" lIns="0" tIns="0" rIns="0" bIns="0" anchor="t">
            <a:spAutoFit/>
          </a:bodyPr>
          <a:lstStyle/>
          <a:p>
            <a:pPr algn="l">
              <a:spcAft>
                <a:spcPts val="600"/>
              </a:spcAft>
            </a:pPr>
            <a:r>
              <a:rPr sz="1150" b="0" i="0">
                <a:solidFill>
                  <a:srgbClr val="5F6B7A"/>
                </a:solidFill>
                <a:latin typeface="Bahnschrift"/>
              </a:rPr>
              <a:t>Sala et al., p. 992</a:t>
            </a:r>
          </a:p>
        </p:txBody>
      </p:sp>
      <p:sp>
        <p:nvSpPr>
          <p:cNvPr id="12" name="Rounded Rectangle 11"/>
          <p:cNvSpPr/>
          <p:nvPr/>
        </p:nvSpPr>
        <p:spPr>
          <a:xfrm>
            <a:off x="4297679" y="1600200"/>
            <a:ext cx="3520440" cy="26517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526279" y="1801368"/>
            <a:ext cx="3108960" cy="411480"/>
          </a:xfrm>
          <a:prstGeom prst="rect">
            <a:avLst/>
          </a:prstGeom>
          <a:noFill/>
        </p:spPr>
        <p:txBody>
          <a:bodyPr wrap="square" lIns="0" tIns="0" rIns="0" bIns="0" anchor="t">
            <a:spAutoFit/>
          </a:bodyPr>
          <a:lstStyle/>
          <a:p>
            <a:pPr algn="l">
              <a:spcAft>
                <a:spcPts val="600"/>
              </a:spcAft>
            </a:pPr>
            <a:r>
              <a:rPr sz="1900" b="0" i="0">
                <a:solidFill>
                  <a:srgbClr val="5B3FD9"/>
                </a:solidFill>
                <a:latin typeface="Bahnschrift SemiBold"/>
              </a:rPr>
              <a:t>Lámina de vidrio</a:t>
            </a:r>
          </a:p>
        </p:txBody>
      </p:sp>
      <p:sp>
        <p:nvSpPr>
          <p:cNvPr id="14" name="TextBox 13"/>
          <p:cNvSpPr txBox="1"/>
          <p:nvPr/>
        </p:nvSpPr>
        <p:spPr>
          <a:xfrm>
            <a:off x="4526279" y="2331720"/>
            <a:ext cx="3108960" cy="137160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Insertar en un brazo una lámina de espesor conocido y medir el corrimiento de la traza.</a:t>
            </a:r>
          </a:p>
        </p:txBody>
      </p:sp>
      <p:sp>
        <p:nvSpPr>
          <p:cNvPr id="15" name="TextBox 14"/>
          <p:cNvSpPr txBox="1"/>
          <p:nvPr/>
        </p:nvSpPr>
        <p:spPr>
          <a:xfrm>
            <a:off x="4526279" y="3794760"/>
            <a:ext cx="3108960" cy="320040"/>
          </a:xfrm>
          <a:prstGeom prst="rect">
            <a:avLst/>
          </a:prstGeom>
          <a:noFill/>
        </p:spPr>
        <p:txBody>
          <a:bodyPr wrap="square" lIns="0" tIns="0" rIns="0" bIns="0" anchor="t">
            <a:spAutoFit/>
          </a:bodyPr>
          <a:lstStyle/>
          <a:p>
            <a:pPr algn="l">
              <a:spcAft>
                <a:spcPts val="600"/>
              </a:spcAft>
            </a:pPr>
            <a:r>
              <a:rPr sz="1150" b="0" i="0">
                <a:solidFill>
                  <a:srgbClr val="5F6B7A"/>
                </a:solidFill>
                <a:latin typeface="Bahnschrift"/>
              </a:rPr>
              <a:t>Diels y Rudolph, fig. 9.6, p. 470</a:t>
            </a:r>
          </a:p>
        </p:txBody>
      </p:sp>
      <p:sp>
        <p:nvSpPr>
          <p:cNvPr id="16" name="Rounded Rectangle 15"/>
          <p:cNvSpPr/>
          <p:nvPr/>
        </p:nvSpPr>
        <p:spPr>
          <a:xfrm>
            <a:off x="8046719" y="1600200"/>
            <a:ext cx="3520440" cy="26517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75319" y="1801368"/>
            <a:ext cx="3108960" cy="411480"/>
          </a:xfrm>
          <a:prstGeom prst="rect">
            <a:avLst/>
          </a:prstGeom>
          <a:noFill/>
        </p:spPr>
        <p:txBody>
          <a:bodyPr wrap="square" lIns="0" tIns="0" rIns="0" bIns="0" anchor="t">
            <a:spAutoFit/>
          </a:bodyPr>
          <a:lstStyle/>
          <a:p>
            <a:pPr algn="l">
              <a:spcAft>
                <a:spcPts val="600"/>
              </a:spcAft>
            </a:pPr>
            <a:r>
              <a:rPr sz="1900" b="0" i="0">
                <a:solidFill>
                  <a:srgbClr val="5B3FD9"/>
                </a:solidFill>
                <a:latin typeface="Bahnschrift SemiBold"/>
              </a:rPr>
              <a:t>Franjas de interferencia</a:t>
            </a:r>
          </a:p>
        </p:txBody>
      </p:sp>
      <p:sp>
        <p:nvSpPr>
          <p:cNvPr id="18" name="TextBox 17"/>
          <p:cNvSpPr txBox="1"/>
          <p:nvPr/>
        </p:nvSpPr>
        <p:spPr>
          <a:xfrm>
            <a:off x="8275319" y="2331720"/>
            <a:ext cx="3108960" cy="137160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Contar franjas: cada una vale λ/c (2,67 fs a 800 nm).</a:t>
            </a:r>
          </a:p>
        </p:txBody>
      </p:sp>
      <p:sp>
        <p:nvSpPr>
          <p:cNvPr id="19" name="TextBox 18"/>
          <p:cNvSpPr txBox="1"/>
          <p:nvPr/>
        </p:nvSpPr>
        <p:spPr>
          <a:xfrm>
            <a:off x="8275319" y="3794760"/>
            <a:ext cx="3108960" cy="320040"/>
          </a:xfrm>
          <a:prstGeom prst="rect">
            <a:avLst/>
          </a:prstGeom>
          <a:noFill/>
        </p:spPr>
        <p:txBody>
          <a:bodyPr wrap="square" lIns="0" tIns="0" rIns="0" bIns="0" anchor="t">
            <a:spAutoFit/>
          </a:bodyPr>
          <a:lstStyle/>
          <a:p>
            <a:pPr algn="l">
              <a:spcAft>
                <a:spcPts val="600"/>
              </a:spcAft>
            </a:pPr>
            <a:r>
              <a:rPr sz="1150" b="0" i="0">
                <a:solidFill>
                  <a:srgbClr val="5F6B7A"/>
                </a:solidFill>
                <a:latin typeface="Bahnschrift"/>
              </a:rPr>
              <a:t>Donnelly y Grossman, p. 683</a:t>
            </a:r>
          </a:p>
        </p:txBody>
      </p:sp>
      <p:sp>
        <p:nvSpPr>
          <p:cNvPr id="20" name="TextBox 19"/>
          <p:cNvSpPr txBox="1"/>
          <p:nvPr/>
        </p:nvSpPr>
        <p:spPr>
          <a:xfrm>
            <a:off x="548640" y="4572000"/>
            <a:ext cx="3840480" cy="731520"/>
          </a:xfrm>
          <a:prstGeom prst="rect">
            <a:avLst/>
          </a:prstGeom>
          <a:noFill/>
        </p:spPr>
        <p:txBody>
          <a:bodyPr wrap="square" lIns="0" tIns="0" rIns="0" bIns="0" anchor="t">
            <a:spAutoFit/>
          </a:bodyPr>
          <a:lstStyle/>
          <a:p>
            <a:pPr algn="l">
              <a:spcAft>
                <a:spcPts val="600"/>
              </a:spcAft>
            </a:pPr>
            <a:r>
              <a:rPr sz="4000" b="0" i="0">
                <a:solidFill>
                  <a:srgbClr val="5B3FD9"/>
                </a:solidFill>
                <a:latin typeface="Bahnschrift SemiBold"/>
              </a:rPr>
              <a:t>±10 %</a:t>
            </a:r>
          </a:p>
        </p:txBody>
      </p:sp>
      <p:sp>
        <p:nvSpPr>
          <p:cNvPr id="21" name="TextBox 20"/>
          <p:cNvSpPr txBox="1"/>
          <p:nvPr/>
        </p:nvSpPr>
        <p:spPr>
          <a:xfrm>
            <a:off x="548640" y="5303520"/>
            <a:ext cx="3840480" cy="640080"/>
          </a:xfrm>
          <a:prstGeom prst="rect">
            <a:avLst/>
          </a:prstGeom>
          <a:noFill/>
        </p:spPr>
        <p:txBody>
          <a:bodyPr wrap="square" lIns="0" tIns="0" rIns="0" bIns="0" anchor="t">
            <a:spAutoFit/>
          </a:bodyPr>
          <a:lstStyle/>
          <a:p>
            <a:pPr algn="l">
              <a:spcAft>
                <a:spcPts val="600"/>
              </a:spcAft>
            </a:pPr>
            <a:r>
              <a:rPr sz="1350" b="0" i="0">
                <a:solidFill>
                  <a:srgbClr val="5F6B7A"/>
                </a:solidFill>
                <a:latin typeface="Bahnschrift"/>
              </a:rPr>
              <a:t>linealidad del barrido reportada por Sala et al. en los 2/3 centrales (p. 995)</a:t>
            </a:r>
          </a:p>
        </p:txBody>
      </p:sp>
      <p:sp>
        <p:nvSpPr>
          <p:cNvPr id="22" name="Rounded Rectangle 21"/>
          <p:cNvSpPr/>
          <p:nvPr/>
        </p:nvSpPr>
        <p:spPr>
          <a:xfrm>
            <a:off x="4754880" y="4572000"/>
            <a:ext cx="6885432" cy="160020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983480" y="4572000"/>
            <a:ext cx="6492240" cy="1600200"/>
          </a:xfrm>
          <a:prstGeom prst="rect">
            <a:avLst/>
          </a:prstGeom>
          <a:noFill/>
        </p:spPr>
        <p:txBody>
          <a:bodyPr wrap="square" lIns="0" tIns="0" rIns="0" bIns="0" anchor="ctr">
            <a:spAutoFit/>
          </a:bodyPr>
          <a:lstStyle/>
          <a:p>
            <a:pPr algn="l">
              <a:spcAft>
                <a:spcPts val="600"/>
              </a:spcAft>
            </a:pPr>
            <a:r>
              <a:rPr sz="1800" b="0" i="0">
                <a:solidFill>
                  <a:srgbClr val="0E1726"/>
                </a:solidFill>
                <a:latin typeface="Bahnschrift"/>
              </a:rPr>
              <a:t>Un error de escala en τ pasa </a:t>
            </a:r>
            <a:r>
              <a:rPr sz="1800" b="0" i="0">
                <a:solidFill>
                  <a:srgbClr val="0E1726"/>
                </a:solidFill>
                <a:latin typeface="Bahnschrift SemiBold"/>
              </a:rPr>
              <a:t>completo</a:t>
            </a:r>
            <a:r>
              <a:rPr sz="1800" b="0" i="0">
                <a:solidFill>
                  <a:srgbClr val="0E1726"/>
                </a:solidFill>
                <a:latin typeface="Bahnschrift"/>
              </a:rPr>
              <a:t> al ancho medido: es la primera calibración, antes de comparar con el fabricante.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4 · ¿DE LA TRAZA AL ANCHO DEL PULSO?</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no puede decirnos la autocorrelación de intensidad?</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Monmayrant et al. (2010); Chung y Weiner (2001); Ratner et al. (2012)</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16</a:t>
            </a:r>
          </a:p>
        </p:txBody>
      </p:sp>
      <p:pic>
        <p:nvPicPr>
          <p:cNvPr id="8" name="Picture 7" descr="artefacto.png"/>
          <p:cNvPicPr>
            <a:picLocks noChangeAspect="1"/>
          </p:cNvPicPr>
          <p:nvPr/>
        </p:nvPicPr>
        <p:blipFill>
          <a:blip r:embed="rId4"/>
          <a:stretch>
            <a:fillRect/>
          </a:stretch>
        </p:blipFill>
        <p:spPr>
          <a:xfrm>
            <a:off x="548640" y="1554480"/>
            <a:ext cx="5669280" cy="3368570"/>
          </a:xfrm>
          <a:prstGeom prst="rect">
            <a:avLst/>
          </a:prstGeom>
        </p:spPr>
      </p:pic>
      <p:sp>
        <p:nvSpPr>
          <p:cNvPr id="9" name="Rounded Rectangle 8"/>
          <p:cNvSpPr/>
          <p:nvPr/>
        </p:nvSpPr>
        <p:spPr>
          <a:xfrm>
            <a:off x="6446520" y="1600200"/>
            <a:ext cx="5193792" cy="14173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75120" y="1737360"/>
            <a:ext cx="4754880" cy="36576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Sin fase ni chirp</a:t>
            </a:r>
          </a:p>
        </p:txBody>
      </p:sp>
      <p:sp>
        <p:nvSpPr>
          <p:cNvPr id="11" name="TextBox 10"/>
          <p:cNvSpPr txBox="1"/>
          <p:nvPr/>
        </p:nvSpPr>
        <p:spPr>
          <a:xfrm>
            <a:off x="6675120" y="2130552"/>
            <a:ext cx="4754880" cy="868680"/>
          </a:xfrm>
          <a:prstGeom prst="rect">
            <a:avLst/>
          </a:prstGeom>
          <a:noFill/>
        </p:spPr>
        <p:txBody>
          <a:bodyPr wrap="square" lIns="0" tIns="0" rIns="0" bIns="0" anchor="t">
            <a:spAutoFit/>
          </a:bodyPr>
          <a:lstStyle/>
          <a:p>
            <a:pPr algn="l">
              <a:spcAft>
                <a:spcPts val="600"/>
              </a:spcAft>
            </a:pPr>
            <a:r>
              <a:rPr sz="1400" b="0" i="0">
                <a:solidFill>
                  <a:srgbClr val="0E1726"/>
                </a:solidFill>
                <a:latin typeface="Bahnschrift"/>
              </a:rPr>
              <a:t>"A chirped pulse can give exactly the same autocorrelation signal as a longer Fourier-limited pulse" (Monmayrant et al., p. 19).</a:t>
            </a:r>
          </a:p>
        </p:txBody>
      </p:sp>
      <p:sp>
        <p:nvSpPr>
          <p:cNvPr id="12" name="Rounded Rectangle 11"/>
          <p:cNvSpPr/>
          <p:nvPr/>
        </p:nvSpPr>
        <p:spPr>
          <a:xfrm>
            <a:off x="6446520" y="3172968"/>
            <a:ext cx="5193792" cy="14173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675120" y="3310127"/>
            <a:ext cx="4754880" cy="36576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Forma ambigua</a:t>
            </a:r>
          </a:p>
        </p:txBody>
      </p:sp>
      <p:sp>
        <p:nvSpPr>
          <p:cNvPr id="14" name="TextBox 13"/>
          <p:cNvSpPr txBox="1"/>
          <p:nvPr/>
        </p:nvSpPr>
        <p:spPr>
          <a:xfrm>
            <a:off x="6675120" y="3703320"/>
            <a:ext cx="4754880" cy="868680"/>
          </a:xfrm>
          <a:prstGeom prst="rect">
            <a:avLst/>
          </a:prstGeom>
          <a:noFill/>
        </p:spPr>
        <p:txBody>
          <a:bodyPr wrap="square" lIns="0" tIns="0" rIns="0" bIns="0" anchor="t">
            <a:spAutoFit/>
          </a:bodyPr>
          <a:lstStyle/>
          <a:p>
            <a:pPr algn="l">
              <a:spcAft>
                <a:spcPts val="600"/>
              </a:spcAft>
            </a:pPr>
            <a:r>
              <a:rPr sz="1400" b="0" i="0">
                <a:solidFill>
                  <a:srgbClr val="0E1726"/>
                </a:solidFill>
                <a:latin typeface="Bahnschrift"/>
              </a:rPr>
              <a:t>Pulsos distintos con igual traza e igual espectro: anchos FWHM que difieren ≈ 25 % (Chung y Weiner, p. 665).</a:t>
            </a:r>
          </a:p>
        </p:txBody>
      </p:sp>
      <p:sp>
        <p:nvSpPr>
          <p:cNvPr id="15" name="Rounded Rectangle 14"/>
          <p:cNvSpPr/>
          <p:nvPr/>
        </p:nvSpPr>
        <p:spPr>
          <a:xfrm>
            <a:off x="6446520" y="4745736"/>
            <a:ext cx="5193792" cy="141732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675120" y="4882896"/>
            <a:ext cx="4754880" cy="365760"/>
          </a:xfrm>
          <a:prstGeom prst="rect">
            <a:avLst/>
          </a:prstGeom>
          <a:noFill/>
        </p:spPr>
        <p:txBody>
          <a:bodyPr wrap="square" lIns="0" tIns="0" rIns="0" bIns="0" anchor="t">
            <a:spAutoFit/>
          </a:bodyPr>
          <a:lstStyle/>
          <a:p>
            <a:pPr algn="l">
              <a:spcAft>
                <a:spcPts val="600"/>
              </a:spcAft>
            </a:pPr>
            <a:r>
              <a:rPr sz="1700" b="0" i="0">
                <a:solidFill>
                  <a:srgbClr val="D7263D"/>
                </a:solidFill>
                <a:latin typeface="Bahnschrift SemiBold"/>
              </a:rPr>
              <a:t>Artefacto coherente</a:t>
            </a:r>
          </a:p>
        </p:txBody>
      </p:sp>
      <p:sp>
        <p:nvSpPr>
          <p:cNvPr id="17" name="TextBox 16"/>
          <p:cNvSpPr txBox="1"/>
          <p:nvPr/>
        </p:nvSpPr>
        <p:spPr>
          <a:xfrm>
            <a:off x="6675120" y="5276088"/>
            <a:ext cx="4754880" cy="868680"/>
          </a:xfrm>
          <a:prstGeom prst="rect">
            <a:avLst/>
          </a:prstGeom>
          <a:noFill/>
        </p:spPr>
        <p:txBody>
          <a:bodyPr wrap="square" lIns="0" tIns="0" rIns="0" bIns="0" anchor="t">
            <a:spAutoFit/>
          </a:bodyPr>
          <a:lstStyle/>
          <a:p>
            <a:pPr algn="l">
              <a:spcAft>
                <a:spcPts val="600"/>
              </a:spcAft>
            </a:pPr>
            <a:r>
              <a:rPr sz="1400" b="0" i="0">
                <a:solidFill>
                  <a:srgbClr val="0E1726"/>
                </a:solidFill>
                <a:latin typeface="Bahnschrift"/>
              </a:rPr>
              <a:t>Con pulsos inestables, un pico angosto subestima la duración; la real la da el pedestal (Ratner et al., p. 2874).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5 · ¿QUÉ PUEDE CAMBIAR EL ANCHO MEDIDO?</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¿Cuáles son las fuentes de variación del ancho medido?</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17</a:t>
            </a:r>
          </a:p>
        </p:txBody>
      </p:sp>
      <p:pic>
        <p:nvPicPr>
          <p:cNvPr id="7" name="Picture 6" descr="ishikawa.png"/>
          <p:cNvPicPr>
            <a:picLocks noChangeAspect="1"/>
          </p:cNvPicPr>
          <p:nvPr/>
        </p:nvPicPr>
        <p:blipFill>
          <a:blip r:embed="rId4"/>
          <a:stretch>
            <a:fillRect/>
          </a:stretch>
        </p:blipFill>
        <p:spPr>
          <a:xfrm>
            <a:off x="1158087" y="1463040"/>
            <a:ext cx="9875520" cy="4053310"/>
          </a:xfrm>
          <a:prstGeom prst="rect">
            <a:avLst/>
          </a:prstGeom>
        </p:spPr>
      </p:pic>
      <p:sp>
        <p:nvSpPr>
          <p:cNvPr id="8" name="Rounded Rectangle 7"/>
          <p:cNvSpPr/>
          <p:nvPr/>
        </p:nvSpPr>
        <p:spPr>
          <a:xfrm>
            <a:off x="548640" y="5669280"/>
            <a:ext cx="11091672" cy="64008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7240" y="5669280"/>
            <a:ext cx="10607040" cy="640080"/>
          </a:xfrm>
          <a:prstGeom prst="rect">
            <a:avLst/>
          </a:prstGeom>
          <a:noFill/>
        </p:spPr>
        <p:txBody>
          <a:bodyPr wrap="square" lIns="0" tIns="0" rIns="0" bIns="0" anchor="ctr">
            <a:spAutoFit/>
          </a:bodyPr>
          <a:lstStyle/>
          <a:p>
            <a:pPr algn="l">
              <a:spcAft>
                <a:spcPts val="600"/>
              </a:spcAft>
            </a:pPr>
            <a:r>
              <a:rPr sz="1800" b="0" i="0">
                <a:solidFill>
                  <a:srgbClr val="0E1726"/>
                </a:solidFill>
                <a:latin typeface="Bahnschrift"/>
              </a:rPr>
              <a:t>El ancho medido cambia porque </a:t>
            </a:r>
            <a:r>
              <a:rPr sz="1800" b="0" i="0">
                <a:solidFill>
                  <a:srgbClr val="0E1726"/>
                </a:solidFill>
                <a:latin typeface="Bahnschrift SemiBold"/>
              </a:rPr>
              <a:t>el pulso cambia</a:t>
            </a:r>
            <a:r>
              <a:rPr sz="1800" b="0" i="0">
                <a:solidFill>
                  <a:srgbClr val="0E1726"/>
                </a:solidFill>
                <a:latin typeface="Bahnschrift"/>
              </a:rPr>
              <a:t> o porque </a:t>
            </a:r>
            <a:r>
              <a:rPr sz="1800" b="0" i="0">
                <a:solidFill>
                  <a:srgbClr val="0E1726"/>
                </a:solidFill>
                <a:latin typeface="Bahnschrift SemiBold"/>
              </a:rPr>
              <a:t>la medición lo deforma</a:t>
            </a:r>
            <a:r>
              <a:rPr sz="1800" b="0" i="0">
                <a:solidFill>
                  <a:srgbClr val="0E1726"/>
                </a:solidFill>
                <a:latin typeface="Bahnschrift"/>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5 · ¿QUÉ PUEDE CAMBIAR EL ANCHO MEDIDO?</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factores cambian el pulso que llega?</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Sala et al. (1980), p. 995; Diels y Rudolph (2006), cap. 1</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18</a:t>
            </a:r>
          </a:p>
        </p:txBody>
      </p:sp>
      <p:sp>
        <p:nvSpPr>
          <p:cNvPr id="8" name="TextBox 7"/>
          <p:cNvSpPr txBox="1"/>
          <p:nvPr/>
        </p:nvSpPr>
        <p:spPr>
          <a:xfrm>
            <a:off x="548640" y="1600200"/>
            <a:ext cx="11064240" cy="411480"/>
          </a:xfrm>
          <a:prstGeom prst="rect">
            <a:avLst/>
          </a:prstGeom>
          <a:noFill/>
        </p:spPr>
        <p:txBody>
          <a:bodyPr wrap="square" lIns="0" tIns="0" rIns="0" bIns="0" anchor="t">
            <a:spAutoFit/>
          </a:bodyPr>
          <a:lstStyle/>
          <a:p>
            <a:pPr algn="l">
              <a:spcAft>
                <a:spcPts val="600"/>
              </a:spcAft>
            </a:pPr>
            <a:r>
              <a:rPr sz="1800" b="0" i="0">
                <a:solidFill>
                  <a:srgbClr val="D7263D"/>
                </a:solidFill>
                <a:latin typeface="Bahnschrift SemiBold"/>
              </a:rPr>
              <a:t>Grupo 1 · Cambian </a:t>
            </a:r>
            <a:r>
              <a:rPr sz="1800" b="1" i="0">
                <a:solidFill>
                  <a:srgbClr val="D7263D"/>
                </a:solidFill>
                <a:latin typeface="Bahnschrift SemiBold"/>
              </a:rPr>
              <a:t>el pulso real</a:t>
            </a:r>
          </a:p>
        </p:txBody>
      </p:sp>
      <p:sp>
        <p:nvSpPr>
          <p:cNvPr id="9" name="Rounded Rectangle 8"/>
          <p:cNvSpPr/>
          <p:nvPr/>
        </p:nvSpPr>
        <p:spPr>
          <a:xfrm>
            <a:off x="548640" y="2194560"/>
            <a:ext cx="3520440" cy="2743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2377440"/>
            <a:ext cx="306324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Fuente</a:t>
            </a:r>
          </a:p>
        </p:txBody>
      </p:sp>
      <p:sp>
        <p:nvSpPr>
          <p:cNvPr id="11" name="TextBox 10"/>
          <p:cNvSpPr txBox="1"/>
          <p:nvPr/>
        </p:nvSpPr>
        <p:spPr>
          <a:xfrm>
            <a:off x="777240" y="2852928"/>
            <a:ext cx="3063240" cy="1965960"/>
          </a:xfrm>
          <a:prstGeom prst="rect">
            <a:avLst/>
          </a:prstGeom>
          <a:noFill/>
        </p:spPr>
        <p:txBody>
          <a:bodyPr wrap="square" lIns="0" tIns="0" rIns="0" bIns="0" anchor="t">
            <a:spAutoFit/>
          </a:bodyPr>
          <a:lstStyle/>
          <a:p>
            <a:pPr marL="256032" indent="-256032">
              <a:spcAft>
                <a:spcPts val="500"/>
              </a:spcAft>
              <a:buClr>
                <a:srgbClr val="5B3FD9"/>
              </a:buClr>
              <a:buFont typeface="Arial"/>
              <a:buChar char="■"/>
            </a:pPr>
            <a:r>
              <a:rPr sz="1500" b="0" i="0">
                <a:solidFill>
                  <a:srgbClr val="0E1726"/>
                </a:solidFill>
                <a:latin typeface="Bahnschrift"/>
              </a:rPr>
              <a:t>Potencia de bombeo</a:t>
            </a:r>
          </a:p>
          <a:p>
            <a:pPr marL="256032" indent="-256032">
              <a:spcAft>
                <a:spcPts val="500"/>
              </a:spcAft>
              <a:buClr>
                <a:srgbClr val="5B3FD9"/>
              </a:buClr>
              <a:buFont typeface="Arial"/>
              <a:buChar char="■"/>
            </a:pPr>
            <a:r>
              <a:rPr sz="1500" b="0" i="0">
                <a:solidFill>
                  <a:srgbClr val="0E1726"/>
                </a:solidFill>
                <a:latin typeface="Bahnschrift"/>
              </a:rPr>
              <a:t>Alineación de la cavidad</a:t>
            </a:r>
          </a:p>
          <a:p>
            <a:pPr marL="256032" indent="-256032">
              <a:spcAft>
                <a:spcPts val="500"/>
              </a:spcAft>
              <a:buClr>
                <a:srgbClr val="5B3FD9"/>
              </a:buClr>
              <a:buFont typeface="Arial"/>
              <a:buChar char="■"/>
            </a:pPr>
            <a:r>
              <a:rPr sz="1500" b="0" i="0">
                <a:solidFill>
                  <a:srgbClr val="0E1726"/>
                </a:solidFill>
                <a:latin typeface="Bahnschrift"/>
              </a:rPr>
              <a:t>Compensación interna de dispersión</a:t>
            </a:r>
          </a:p>
          <a:p>
            <a:pPr marL="256032" indent="-256032">
              <a:spcAft>
                <a:spcPts val="500"/>
              </a:spcAft>
              <a:buClr>
                <a:srgbClr val="5B3FD9"/>
              </a:buClr>
              <a:buFont typeface="Arial"/>
              <a:buChar char="■"/>
            </a:pPr>
            <a:r>
              <a:rPr sz="1500" b="0" i="0">
                <a:solidFill>
                  <a:srgbClr val="0E1726"/>
                </a:solidFill>
                <a:latin typeface="Bahnschrift"/>
              </a:rPr>
              <a:t>Temperatura y calentamiento</a:t>
            </a:r>
          </a:p>
        </p:txBody>
      </p:sp>
      <p:sp>
        <p:nvSpPr>
          <p:cNvPr id="12" name="Rounded Rectangle 11"/>
          <p:cNvSpPr/>
          <p:nvPr/>
        </p:nvSpPr>
        <p:spPr>
          <a:xfrm>
            <a:off x="4297679" y="2194560"/>
            <a:ext cx="3520440" cy="2743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526279" y="2377440"/>
            <a:ext cx="306324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Propagación</a:t>
            </a:r>
          </a:p>
        </p:txBody>
      </p:sp>
      <p:sp>
        <p:nvSpPr>
          <p:cNvPr id="14" name="TextBox 13"/>
          <p:cNvSpPr txBox="1"/>
          <p:nvPr/>
        </p:nvSpPr>
        <p:spPr>
          <a:xfrm>
            <a:off x="4526279" y="2852928"/>
            <a:ext cx="3063240" cy="1965960"/>
          </a:xfrm>
          <a:prstGeom prst="rect">
            <a:avLst/>
          </a:prstGeom>
          <a:noFill/>
        </p:spPr>
        <p:txBody>
          <a:bodyPr wrap="square" lIns="0" tIns="0" rIns="0" bIns="0" anchor="t">
            <a:spAutoFit/>
          </a:bodyPr>
          <a:lstStyle/>
          <a:p>
            <a:pPr marL="256032" indent="-256032">
              <a:spcAft>
                <a:spcPts val="500"/>
              </a:spcAft>
              <a:buClr>
                <a:srgbClr val="5B3FD9"/>
              </a:buClr>
              <a:buFont typeface="Arial"/>
              <a:buChar char="■"/>
            </a:pPr>
            <a:r>
              <a:rPr sz="1500" b="0" i="0">
                <a:solidFill>
                  <a:srgbClr val="0E1726"/>
                </a:solidFill>
                <a:latin typeface="Bahnschrift"/>
              </a:rPr>
              <a:t>Material y espesor de vidrio (GDD)</a:t>
            </a:r>
          </a:p>
          <a:p>
            <a:pPr marL="256032" indent="-256032">
              <a:spcAft>
                <a:spcPts val="500"/>
              </a:spcAft>
              <a:buClr>
                <a:srgbClr val="5B3FD9"/>
              </a:buClr>
              <a:buFont typeface="Arial"/>
              <a:buChar char="■"/>
            </a:pPr>
            <a:r>
              <a:rPr sz="1500" b="0" i="0">
                <a:solidFill>
                  <a:srgbClr val="0E1726"/>
                </a:solidFill>
                <a:latin typeface="Bahnschrift"/>
              </a:rPr>
              <a:t>Compresor externo de prismas o rejillas</a:t>
            </a:r>
          </a:p>
        </p:txBody>
      </p:sp>
      <p:sp>
        <p:nvSpPr>
          <p:cNvPr id="15" name="Rounded Rectangle 14"/>
          <p:cNvSpPr/>
          <p:nvPr/>
        </p:nvSpPr>
        <p:spPr>
          <a:xfrm>
            <a:off x="8046719" y="2194560"/>
            <a:ext cx="3520440" cy="2743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75319" y="2377440"/>
            <a:ext cx="306324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Potencia alta</a:t>
            </a:r>
          </a:p>
        </p:txBody>
      </p:sp>
      <p:sp>
        <p:nvSpPr>
          <p:cNvPr id="17" name="TextBox 16"/>
          <p:cNvSpPr txBox="1"/>
          <p:nvPr/>
        </p:nvSpPr>
        <p:spPr>
          <a:xfrm>
            <a:off x="8275319" y="2852928"/>
            <a:ext cx="3063240" cy="1965960"/>
          </a:xfrm>
          <a:prstGeom prst="rect">
            <a:avLst/>
          </a:prstGeom>
          <a:noFill/>
        </p:spPr>
        <p:txBody>
          <a:bodyPr wrap="square" lIns="0" tIns="0" rIns="0" bIns="0" anchor="t">
            <a:spAutoFit/>
          </a:bodyPr>
          <a:lstStyle/>
          <a:p>
            <a:pPr marL="256032" indent="-256032">
              <a:spcAft>
                <a:spcPts val="500"/>
              </a:spcAft>
              <a:buClr>
                <a:srgbClr val="5B3FD9"/>
              </a:buClr>
              <a:buFont typeface="Arial"/>
              <a:buChar char="■"/>
            </a:pPr>
            <a:r>
              <a:rPr sz="1500" b="0" i="0">
                <a:solidFill>
                  <a:srgbClr val="0E1726"/>
                </a:solidFill>
                <a:latin typeface="Bahnschrift"/>
              </a:rPr>
              <a:t>Automodulación de fase (SPM): cambia el espectro y, con él, el pulso</a:t>
            </a:r>
          </a:p>
        </p:txBody>
      </p:sp>
      <p:sp>
        <p:nvSpPr>
          <p:cNvPr id="18" name="Rounded Rectangle 17"/>
          <p:cNvSpPr/>
          <p:nvPr/>
        </p:nvSpPr>
        <p:spPr>
          <a:xfrm>
            <a:off x="548640" y="5212080"/>
            <a:ext cx="11091672" cy="10058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59" y="5376672"/>
            <a:ext cx="10543032" cy="438912"/>
          </a:xfrm>
          <a:prstGeom prst="rect">
            <a:avLst/>
          </a:prstGeom>
          <a:noFill/>
        </p:spPr>
        <p:txBody>
          <a:bodyPr wrap="square" lIns="0" tIns="0" rIns="0" bIns="0" anchor="t">
            <a:spAutoFit/>
          </a:bodyPr>
          <a:lstStyle/>
          <a:p>
            <a:pPr algn="l">
              <a:spcAft>
                <a:spcPts val="600"/>
              </a:spcAft>
            </a:pPr>
            <a:r>
              <a:rPr sz="1600" b="0" i="1">
                <a:solidFill>
                  <a:srgbClr val="0E1726"/>
                </a:solidFill>
                <a:latin typeface="Bahnschrift Light"/>
              </a:rPr>
              <a:t>“… a shortening by as little as 5 μm producing virtually complete disintegration of the dye laser output”</a:t>
            </a:r>
          </a:p>
        </p:txBody>
      </p:sp>
      <p:sp>
        <p:nvSpPr>
          <p:cNvPr id="20" name="TextBox 19"/>
          <p:cNvSpPr txBox="1"/>
          <p:nvPr/>
        </p:nvSpPr>
        <p:spPr>
          <a:xfrm>
            <a:off x="822959" y="5806440"/>
            <a:ext cx="10543032" cy="274320"/>
          </a:xfrm>
          <a:prstGeom prst="rect">
            <a:avLst/>
          </a:prstGeom>
          <a:noFill/>
        </p:spPr>
        <p:txBody>
          <a:bodyPr wrap="square" lIns="0" tIns="0" rIns="0" bIns="0" anchor="t">
            <a:spAutoFit/>
          </a:bodyPr>
          <a:lstStyle/>
          <a:p>
            <a:pPr algn="l">
              <a:spcAft>
                <a:spcPts val="600"/>
              </a:spcAft>
            </a:pPr>
            <a:r>
              <a:rPr sz="1200" b="0" i="0">
                <a:solidFill>
                  <a:srgbClr val="5F6B7A"/>
                </a:solidFill>
                <a:latin typeface="Bahnschrift"/>
              </a:rPr>
              <a:t>— Sala et al. (1980), p. 995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5 · ¿QUÉ PUEDE CAMBIAR EL ANCHO MEDIDO?</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factores deforman la medición?</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Diels y Rudolph (2006), pp. 465–468</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19</a:t>
            </a:r>
          </a:p>
        </p:txBody>
      </p:sp>
      <p:sp>
        <p:nvSpPr>
          <p:cNvPr id="8" name="TextBox 7"/>
          <p:cNvSpPr txBox="1"/>
          <p:nvPr/>
        </p:nvSpPr>
        <p:spPr>
          <a:xfrm>
            <a:off x="548640" y="1600200"/>
            <a:ext cx="11064240" cy="411480"/>
          </a:xfrm>
          <a:prstGeom prst="rect">
            <a:avLst/>
          </a:prstGeom>
          <a:noFill/>
        </p:spPr>
        <p:txBody>
          <a:bodyPr wrap="square" lIns="0" tIns="0" rIns="0" bIns="0" anchor="t">
            <a:spAutoFit/>
          </a:bodyPr>
          <a:lstStyle/>
          <a:p>
            <a:pPr algn="l">
              <a:spcAft>
                <a:spcPts val="600"/>
              </a:spcAft>
            </a:pPr>
            <a:r>
              <a:rPr sz="1800" b="0" i="0">
                <a:solidFill>
                  <a:srgbClr val="5B3FD9"/>
                </a:solidFill>
                <a:latin typeface="Bahnschrift SemiBold"/>
              </a:rPr>
              <a:t>Grupo 2 · Deforman </a:t>
            </a:r>
            <a:r>
              <a:rPr sz="1800" b="1" i="0">
                <a:solidFill>
                  <a:srgbClr val="5B3FD9"/>
                </a:solidFill>
                <a:latin typeface="Bahnschrift SemiBold"/>
              </a:rPr>
              <a:t>la medición</a:t>
            </a:r>
          </a:p>
        </p:txBody>
      </p:sp>
      <p:sp>
        <p:nvSpPr>
          <p:cNvPr id="9" name="Rounded Rectangle 8"/>
          <p:cNvSpPr/>
          <p:nvPr/>
        </p:nvSpPr>
        <p:spPr>
          <a:xfrm>
            <a:off x="548640" y="2148840"/>
            <a:ext cx="11091672" cy="713232"/>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2148840"/>
            <a:ext cx="2377440" cy="713232"/>
          </a:xfrm>
          <a:prstGeom prst="rect">
            <a:avLst/>
          </a:prstGeom>
          <a:noFill/>
        </p:spPr>
        <p:txBody>
          <a:bodyPr wrap="square" lIns="0" tIns="0" rIns="0" bIns="0" anchor="ctr">
            <a:spAutoFit/>
          </a:bodyPr>
          <a:lstStyle/>
          <a:p>
            <a:pPr algn="l">
              <a:spcAft>
                <a:spcPts val="600"/>
              </a:spcAft>
            </a:pPr>
            <a:r>
              <a:rPr sz="1700" b="0" i="0">
                <a:solidFill>
                  <a:srgbClr val="5B3FD9"/>
                </a:solidFill>
                <a:latin typeface="Bahnschrift SemiBold"/>
              </a:rPr>
              <a:t>Cristal</a:t>
            </a:r>
          </a:p>
        </p:txBody>
      </p:sp>
      <p:sp>
        <p:nvSpPr>
          <p:cNvPr id="11" name="TextBox 10"/>
          <p:cNvSpPr txBox="1"/>
          <p:nvPr/>
        </p:nvSpPr>
        <p:spPr>
          <a:xfrm>
            <a:off x="3200400" y="2148840"/>
            <a:ext cx="8229600" cy="713232"/>
          </a:xfrm>
          <a:prstGeom prst="rect">
            <a:avLst/>
          </a:prstGeom>
          <a:noFill/>
        </p:spPr>
        <p:txBody>
          <a:bodyPr wrap="square" lIns="0" tIns="0" rIns="0" bIns="0" anchor="ctr">
            <a:spAutoFit/>
          </a:bodyPr>
          <a:lstStyle/>
          <a:p>
            <a:pPr algn="l">
              <a:spcAft>
                <a:spcPts val="600"/>
              </a:spcAft>
            </a:pPr>
            <a:r>
              <a:rPr sz="1600" b="0" i="0">
                <a:solidFill>
                  <a:srgbClr val="0E1726"/>
                </a:solidFill>
                <a:latin typeface="Bahnschrift"/>
              </a:rPr>
              <a:t>Espesor y desajuste de velocidad de grupo (alarga la traza); ángulo de ajuste de fase.</a:t>
            </a:r>
          </a:p>
        </p:txBody>
      </p:sp>
      <p:sp>
        <p:nvSpPr>
          <p:cNvPr id="12" name="Rounded Rectangle 11"/>
          <p:cNvSpPr/>
          <p:nvPr/>
        </p:nvSpPr>
        <p:spPr>
          <a:xfrm>
            <a:off x="548640" y="2971800"/>
            <a:ext cx="11091672"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77240" y="2971800"/>
            <a:ext cx="2377440" cy="713232"/>
          </a:xfrm>
          <a:prstGeom prst="rect">
            <a:avLst/>
          </a:prstGeom>
          <a:noFill/>
        </p:spPr>
        <p:txBody>
          <a:bodyPr wrap="square" lIns="0" tIns="0" rIns="0" bIns="0" anchor="ctr">
            <a:spAutoFit/>
          </a:bodyPr>
          <a:lstStyle/>
          <a:p>
            <a:pPr algn="l">
              <a:spcAft>
                <a:spcPts val="600"/>
              </a:spcAft>
            </a:pPr>
            <a:r>
              <a:rPr sz="1700" b="0" i="0">
                <a:solidFill>
                  <a:srgbClr val="5B3FD9"/>
                </a:solidFill>
                <a:latin typeface="Bahnschrift SemiBold"/>
              </a:rPr>
              <a:t>Geometría</a:t>
            </a:r>
          </a:p>
        </p:txBody>
      </p:sp>
      <p:sp>
        <p:nvSpPr>
          <p:cNvPr id="14" name="TextBox 13"/>
          <p:cNvSpPr txBox="1"/>
          <p:nvPr/>
        </p:nvSpPr>
        <p:spPr>
          <a:xfrm>
            <a:off x="3200400" y="2971800"/>
            <a:ext cx="8229600" cy="713232"/>
          </a:xfrm>
          <a:prstGeom prst="rect">
            <a:avLst/>
          </a:prstGeom>
          <a:noFill/>
        </p:spPr>
        <p:txBody>
          <a:bodyPr wrap="square" lIns="0" tIns="0" rIns="0" bIns="0" anchor="ctr">
            <a:spAutoFit/>
          </a:bodyPr>
          <a:lstStyle/>
          <a:p>
            <a:pPr algn="l">
              <a:spcAft>
                <a:spcPts val="600"/>
              </a:spcAft>
            </a:pPr>
            <a:r>
              <a:rPr sz="1600" b="0" i="0">
                <a:solidFill>
                  <a:srgbClr val="0E1726"/>
                </a:solidFill>
                <a:latin typeface="Bahnschrift"/>
              </a:rPr>
              <a:t>Ángulo de cruce y tamaño del haz; superposición de los brazos; enfoque.</a:t>
            </a:r>
          </a:p>
        </p:txBody>
      </p:sp>
      <p:sp>
        <p:nvSpPr>
          <p:cNvPr id="15" name="Rounded Rectangle 14"/>
          <p:cNvSpPr/>
          <p:nvPr/>
        </p:nvSpPr>
        <p:spPr>
          <a:xfrm>
            <a:off x="548640" y="3794760"/>
            <a:ext cx="11091672" cy="713232"/>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7240" y="3794760"/>
            <a:ext cx="2377440" cy="713232"/>
          </a:xfrm>
          <a:prstGeom prst="rect">
            <a:avLst/>
          </a:prstGeom>
          <a:noFill/>
        </p:spPr>
        <p:txBody>
          <a:bodyPr wrap="square" lIns="0" tIns="0" rIns="0" bIns="0" anchor="ctr">
            <a:spAutoFit/>
          </a:bodyPr>
          <a:lstStyle/>
          <a:p>
            <a:pPr algn="l">
              <a:spcAft>
                <a:spcPts val="600"/>
              </a:spcAft>
            </a:pPr>
            <a:r>
              <a:rPr sz="1700" b="0" i="0">
                <a:solidFill>
                  <a:srgbClr val="5B3FD9"/>
                </a:solidFill>
                <a:latin typeface="Bahnschrift SemiBold"/>
              </a:rPr>
              <a:t>Retardo</a:t>
            </a:r>
          </a:p>
        </p:txBody>
      </p:sp>
      <p:sp>
        <p:nvSpPr>
          <p:cNvPr id="17" name="TextBox 16"/>
          <p:cNvSpPr txBox="1"/>
          <p:nvPr/>
        </p:nvSpPr>
        <p:spPr>
          <a:xfrm>
            <a:off x="3200400" y="3794760"/>
            <a:ext cx="8229600" cy="713232"/>
          </a:xfrm>
          <a:prstGeom prst="rect">
            <a:avLst/>
          </a:prstGeom>
          <a:noFill/>
        </p:spPr>
        <p:txBody>
          <a:bodyPr wrap="square" lIns="0" tIns="0" rIns="0" bIns="0" anchor="ctr">
            <a:spAutoFit/>
          </a:bodyPr>
          <a:lstStyle/>
          <a:p>
            <a:pPr algn="l">
              <a:spcAft>
                <a:spcPts val="600"/>
              </a:spcAft>
            </a:pPr>
            <a:r>
              <a:rPr sz="1600" b="0" i="0">
                <a:solidFill>
                  <a:srgbClr val="0E1726"/>
                </a:solidFill>
                <a:latin typeface="Bahnschrift"/>
              </a:rPr>
              <a:t>Calibración del motor; velocidad de barrido frente al tiempo de integración.</a:t>
            </a:r>
          </a:p>
        </p:txBody>
      </p:sp>
      <p:sp>
        <p:nvSpPr>
          <p:cNvPr id="18" name="Rounded Rectangle 17"/>
          <p:cNvSpPr/>
          <p:nvPr/>
        </p:nvSpPr>
        <p:spPr>
          <a:xfrm>
            <a:off x="548640" y="4617720"/>
            <a:ext cx="11091672"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77240" y="4617720"/>
            <a:ext cx="2377440" cy="713232"/>
          </a:xfrm>
          <a:prstGeom prst="rect">
            <a:avLst/>
          </a:prstGeom>
          <a:noFill/>
        </p:spPr>
        <p:txBody>
          <a:bodyPr wrap="square" lIns="0" tIns="0" rIns="0" bIns="0" anchor="ctr">
            <a:spAutoFit/>
          </a:bodyPr>
          <a:lstStyle/>
          <a:p>
            <a:pPr algn="l">
              <a:spcAft>
                <a:spcPts val="600"/>
              </a:spcAft>
            </a:pPr>
            <a:r>
              <a:rPr sz="1700" b="0" i="0">
                <a:solidFill>
                  <a:srgbClr val="5B3FD9"/>
                </a:solidFill>
                <a:latin typeface="Bahnschrift SemiBold"/>
              </a:rPr>
              <a:t>Detección</a:t>
            </a:r>
          </a:p>
        </p:txBody>
      </p:sp>
      <p:sp>
        <p:nvSpPr>
          <p:cNvPr id="20" name="TextBox 19"/>
          <p:cNvSpPr txBox="1"/>
          <p:nvPr/>
        </p:nvSpPr>
        <p:spPr>
          <a:xfrm>
            <a:off x="3200400" y="4617720"/>
            <a:ext cx="8229600" cy="713232"/>
          </a:xfrm>
          <a:prstGeom prst="rect">
            <a:avLst/>
          </a:prstGeom>
          <a:noFill/>
        </p:spPr>
        <p:txBody>
          <a:bodyPr wrap="square" lIns="0" tIns="0" rIns="0" bIns="0" anchor="ctr">
            <a:spAutoFit/>
          </a:bodyPr>
          <a:lstStyle/>
          <a:p>
            <a:pPr algn="l">
              <a:spcAft>
                <a:spcPts val="600"/>
              </a:spcAft>
            </a:pPr>
            <a:r>
              <a:rPr sz="1600" b="0" i="0">
                <a:solidFill>
                  <a:srgbClr val="0E1726"/>
                </a:solidFill>
                <a:latin typeface="Bahnschrift"/>
              </a:rPr>
              <a:t>Saturación o no linealidad del detector; ruido; pulsos promediados que pueden no ser idénticos.</a:t>
            </a:r>
          </a:p>
        </p:txBody>
      </p:sp>
      <p:sp>
        <p:nvSpPr>
          <p:cNvPr id="21" name="Rounded Rectangle 20"/>
          <p:cNvSpPr/>
          <p:nvPr/>
        </p:nvSpPr>
        <p:spPr>
          <a:xfrm>
            <a:off x="548640" y="5440680"/>
            <a:ext cx="11091672" cy="713232"/>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77240" y="5440680"/>
            <a:ext cx="2377440" cy="713232"/>
          </a:xfrm>
          <a:prstGeom prst="rect">
            <a:avLst/>
          </a:prstGeom>
          <a:noFill/>
        </p:spPr>
        <p:txBody>
          <a:bodyPr wrap="square" lIns="0" tIns="0" rIns="0" bIns="0" anchor="ctr">
            <a:spAutoFit/>
          </a:bodyPr>
          <a:lstStyle/>
          <a:p>
            <a:pPr algn="l">
              <a:spcAft>
                <a:spcPts val="600"/>
              </a:spcAft>
            </a:pPr>
            <a:r>
              <a:rPr sz="1700" b="0" i="0">
                <a:solidFill>
                  <a:srgbClr val="5B3FD9"/>
                </a:solidFill>
                <a:latin typeface="Bahnschrift SemiBold"/>
              </a:rPr>
              <a:t>Interpretación</a:t>
            </a:r>
          </a:p>
        </p:txBody>
      </p:sp>
      <p:sp>
        <p:nvSpPr>
          <p:cNvPr id="23" name="TextBox 22"/>
          <p:cNvSpPr txBox="1"/>
          <p:nvPr/>
        </p:nvSpPr>
        <p:spPr>
          <a:xfrm>
            <a:off x="3200400" y="5440680"/>
            <a:ext cx="8229600" cy="713232"/>
          </a:xfrm>
          <a:prstGeom prst="rect">
            <a:avLst/>
          </a:prstGeom>
          <a:noFill/>
        </p:spPr>
        <p:txBody>
          <a:bodyPr wrap="square" lIns="0" tIns="0" rIns="0" bIns="0" anchor="ctr">
            <a:spAutoFit/>
          </a:bodyPr>
          <a:lstStyle/>
          <a:p>
            <a:pPr algn="l">
              <a:spcAft>
                <a:spcPts val="600"/>
              </a:spcAft>
            </a:pPr>
            <a:r>
              <a:rPr sz="1600" b="0" i="0">
                <a:solidFill>
                  <a:srgbClr val="0E1726"/>
                </a:solidFill>
                <a:latin typeface="Bahnschrift"/>
              </a:rPr>
              <a:t>Forma supuesta; método de ajuste; nivel del fondo.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5 · ¿QUÉ PUEDE CAMBIAR EL ANCHO MEDIDO?</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hacemos con todos estos factores?</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20</a:t>
            </a:r>
          </a:p>
        </p:txBody>
      </p:sp>
      <p:graphicFrame>
        <p:nvGraphicFramePr>
          <p:cNvPr id="7" name="Table 6"/>
          <p:cNvGraphicFramePr>
            <a:graphicFrameLocks noGrp="1"/>
          </p:cNvGraphicFramePr>
          <p:nvPr/>
        </p:nvGraphicFramePr>
        <p:xfrm>
          <a:off x="548640" y="1600200"/>
          <a:ext cx="7406640" cy="3840480"/>
        </p:xfrm>
        <a:graphic>
          <a:graphicData uri="http://schemas.openxmlformats.org/drawingml/2006/table">
            <a:tbl>
              <a:tblPr firstRow="1" bandRow="1">
                <a:tableStyleId>{2D5ABB26-0587-4C30-8999-92F81FD0307C}</a:tableStyleId>
              </a:tblPr>
              <a:tblGrid>
                <a:gridCol w="20116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548640">
                <a:tc>
                  <a:txBody>
                    <a:bodyPr/>
                    <a:lstStyle/>
                    <a:p>
                      <a:r>
                        <a:rPr sz="1400" b="0" i="0">
                          <a:solidFill>
                            <a:srgbClr val="FFFFFF"/>
                          </a:solidFill>
                          <a:latin typeface="Bahnschrift SemiBold"/>
                        </a:rPr>
                        <a:t>Factor</a:t>
                      </a:r>
                    </a:p>
                  </a:txBody>
                  <a:tcPr marT="36576" marB="36576" anchor="ctr">
                    <a:solidFill>
                      <a:srgbClr val="0E1726"/>
                    </a:solidFill>
                  </a:tcPr>
                </a:tc>
                <a:tc>
                  <a:txBody>
                    <a:bodyPr/>
                    <a:lstStyle/>
                    <a:p>
                      <a:r>
                        <a:rPr sz="1400" b="0" i="0">
                          <a:solidFill>
                            <a:srgbClr val="FFFFFF"/>
                          </a:solidFill>
                          <a:latin typeface="Bahnschrift SemiBold"/>
                        </a:rPr>
                        <a:t>Cómo se fija</a:t>
                      </a:r>
                    </a:p>
                  </a:txBody>
                  <a:tcPr marT="36576" marB="36576" anchor="ctr">
                    <a:solidFill>
                      <a:srgbClr val="0E1726"/>
                    </a:solidFill>
                  </a:tcPr>
                </a:tc>
                <a:tc>
                  <a:txBody>
                    <a:bodyPr/>
                    <a:lstStyle/>
                    <a:p>
                      <a:r>
                        <a:rPr sz="1400" b="0" i="0">
                          <a:solidFill>
                            <a:srgbClr val="FFFFFF"/>
                          </a:solidFill>
                          <a:latin typeface="Bahnschrift SemiBold"/>
                        </a:rPr>
                        <a:t>Por qué</a:t>
                      </a:r>
                    </a:p>
                  </a:txBody>
                  <a:tcPr marT="36576" marB="36576" anchor="ctr">
                    <a:solidFill>
                      <a:srgbClr val="0E1726"/>
                    </a:solidFill>
                  </a:tcPr>
                </a:tc>
                <a:extLst>
                  <a:ext uri="{0D108BD9-81ED-4DB2-BD59-A6C34878D82A}">
                    <a16:rowId xmlns:a16="http://schemas.microsoft.com/office/drawing/2014/main" val="10000"/>
                  </a:ext>
                </a:extLst>
              </a:tr>
              <a:tr h="548640">
                <a:tc>
                  <a:txBody>
                    <a:bodyPr/>
                    <a:lstStyle/>
                    <a:p>
                      <a:r>
                        <a:rPr sz="1400" b="0" i="0">
                          <a:solidFill>
                            <a:srgbClr val="0E1726"/>
                          </a:solidFill>
                          <a:latin typeface="Bahnschrift"/>
                        </a:rPr>
                        <a:t>Forma supuesta</a:t>
                      </a:r>
                    </a:p>
                  </a:txBody>
                  <a:tcPr marT="36576" marB="36576" anchor="ctr">
                    <a:solidFill>
                      <a:srgbClr val="FFFFFF"/>
                    </a:solidFill>
                  </a:tcPr>
                </a:tc>
                <a:tc>
                  <a:txBody>
                    <a:bodyPr/>
                    <a:lstStyle/>
                    <a:p>
                      <a:r>
                        <a:rPr sz="1400" b="0" i="0">
                          <a:solidFill>
                            <a:srgbClr val="0E1726"/>
                          </a:solidFill>
                          <a:latin typeface="Bahnschrift"/>
                        </a:rPr>
                        <a:t>La misma del fabricante</a:t>
                      </a:r>
                    </a:p>
                  </a:txBody>
                  <a:tcPr marT="36576" marB="36576" anchor="ctr">
                    <a:solidFill>
                      <a:srgbClr val="FFFFFF"/>
                    </a:solidFill>
                  </a:tcPr>
                </a:tc>
                <a:tc>
                  <a:txBody>
                    <a:bodyPr/>
                    <a:lstStyle/>
                    <a:p>
                      <a:r>
                        <a:rPr sz="1400" b="0" i="0">
                          <a:solidFill>
                            <a:srgbClr val="0E1726"/>
                          </a:solidFill>
                          <a:latin typeface="Bahnschrift"/>
                        </a:rPr>
                        <a:t>Cambia el ancho hasta un 9 %</a:t>
                      </a:r>
                    </a:p>
                  </a:txBody>
                  <a:tcPr marT="36576" marB="36576" anchor="ctr">
                    <a:solidFill>
                      <a:srgbClr val="FFFFFF"/>
                    </a:solidFill>
                  </a:tcPr>
                </a:tc>
                <a:extLst>
                  <a:ext uri="{0D108BD9-81ED-4DB2-BD59-A6C34878D82A}">
                    <a16:rowId xmlns:a16="http://schemas.microsoft.com/office/drawing/2014/main" val="10001"/>
                  </a:ext>
                </a:extLst>
              </a:tr>
              <a:tr h="548640">
                <a:tc>
                  <a:txBody>
                    <a:bodyPr/>
                    <a:lstStyle/>
                    <a:p>
                      <a:r>
                        <a:rPr sz="1400" b="0" i="0">
                          <a:solidFill>
                            <a:srgbClr val="0E1726"/>
                          </a:solidFill>
                          <a:latin typeface="Bahnschrift"/>
                        </a:rPr>
                        <a:t>Vidrio en el camino</a:t>
                      </a:r>
                    </a:p>
                  </a:txBody>
                  <a:tcPr marT="36576" marB="36576" anchor="ctr">
                    <a:solidFill>
                      <a:srgbClr val="F2F4F7"/>
                    </a:solidFill>
                  </a:tcPr>
                </a:tc>
                <a:tc>
                  <a:txBody>
                    <a:bodyPr/>
                    <a:lstStyle/>
                    <a:p>
                      <a:r>
                        <a:rPr sz="1400" b="0" i="0">
                          <a:solidFill>
                            <a:srgbClr val="0E1726"/>
                          </a:solidFill>
                          <a:latin typeface="Bahnschrift"/>
                        </a:rPr>
                        <a:t>Medir cerca de la salida; descontar el GDD</a:t>
                      </a:r>
                    </a:p>
                  </a:txBody>
                  <a:tcPr marT="36576" marB="36576" anchor="ctr">
                    <a:solidFill>
                      <a:srgbClr val="F2F4F7"/>
                    </a:solidFill>
                  </a:tcPr>
                </a:tc>
                <a:tc>
                  <a:txBody>
                    <a:bodyPr/>
                    <a:lstStyle/>
                    <a:p>
                      <a:r>
                        <a:rPr sz="1400" b="0" i="0">
                          <a:solidFill>
                            <a:srgbClr val="0E1726"/>
                          </a:solidFill>
                          <a:latin typeface="Bahnschrift"/>
                        </a:rPr>
                        <a:t>Alarga el pulso</a:t>
                      </a:r>
                    </a:p>
                  </a:txBody>
                  <a:tcPr marT="36576" marB="36576" anchor="ctr">
                    <a:solidFill>
                      <a:srgbClr val="F2F4F7"/>
                    </a:solidFill>
                  </a:tcPr>
                </a:tc>
                <a:extLst>
                  <a:ext uri="{0D108BD9-81ED-4DB2-BD59-A6C34878D82A}">
                    <a16:rowId xmlns:a16="http://schemas.microsoft.com/office/drawing/2014/main" val="10002"/>
                  </a:ext>
                </a:extLst>
              </a:tr>
              <a:tr h="548640">
                <a:tc>
                  <a:txBody>
                    <a:bodyPr/>
                    <a:lstStyle/>
                    <a:p>
                      <a:r>
                        <a:rPr sz="1400" b="0" i="0">
                          <a:solidFill>
                            <a:srgbClr val="0E1726"/>
                          </a:solidFill>
                          <a:latin typeface="Bahnschrift"/>
                        </a:rPr>
                        <a:t>Calentamiento</a:t>
                      </a:r>
                    </a:p>
                  </a:txBody>
                  <a:tcPr marT="36576" marB="36576" anchor="ctr">
                    <a:solidFill>
                      <a:srgbClr val="FFFFFF"/>
                    </a:solidFill>
                  </a:tcPr>
                </a:tc>
                <a:tc>
                  <a:txBody>
                    <a:bodyPr/>
                    <a:lstStyle/>
                    <a:p>
                      <a:r>
                        <a:rPr sz="1400" b="0" i="0">
                          <a:solidFill>
                            <a:srgbClr val="0E1726"/>
                          </a:solidFill>
                          <a:latin typeface="Bahnschrift"/>
                        </a:rPr>
                        <a:t>Mismo tiempo antes de cada serie</a:t>
                      </a:r>
                    </a:p>
                  </a:txBody>
                  <a:tcPr marT="36576" marB="36576" anchor="ctr">
                    <a:solidFill>
                      <a:srgbClr val="FFFFFF"/>
                    </a:solidFill>
                  </a:tcPr>
                </a:tc>
                <a:tc>
                  <a:txBody>
                    <a:bodyPr/>
                    <a:lstStyle/>
                    <a:p>
                      <a:r>
                        <a:rPr sz="1400" b="0" i="0">
                          <a:solidFill>
                            <a:srgbClr val="0E1726"/>
                          </a:solidFill>
                          <a:latin typeface="Bahnschrift"/>
                        </a:rPr>
                        <a:t>Estabiliza el láser</a:t>
                      </a:r>
                    </a:p>
                  </a:txBody>
                  <a:tcPr marT="36576" marB="36576" anchor="ctr">
                    <a:solidFill>
                      <a:srgbClr val="FFFFFF"/>
                    </a:solidFill>
                  </a:tcPr>
                </a:tc>
                <a:extLst>
                  <a:ext uri="{0D108BD9-81ED-4DB2-BD59-A6C34878D82A}">
                    <a16:rowId xmlns:a16="http://schemas.microsoft.com/office/drawing/2014/main" val="10003"/>
                  </a:ext>
                </a:extLst>
              </a:tr>
              <a:tr h="548640">
                <a:tc>
                  <a:txBody>
                    <a:bodyPr/>
                    <a:lstStyle/>
                    <a:p>
                      <a:r>
                        <a:rPr sz="1400" b="0" i="0">
                          <a:solidFill>
                            <a:srgbClr val="0E1726"/>
                          </a:solidFill>
                          <a:latin typeface="Bahnschrift"/>
                        </a:rPr>
                        <a:t>Potencia de entrada</a:t>
                      </a:r>
                    </a:p>
                  </a:txBody>
                  <a:tcPr marT="36576" marB="36576" anchor="ctr">
                    <a:solidFill>
                      <a:srgbClr val="F2F4F7"/>
                    </a:solidFill>
                  </a:tcPr>
                </a:tc>
                <a:tc>
                  <a:txBody>
                    <a:bodyPr/>
                    <a:lstStyle/>
                    <a:p>
                      <a:r>
                        <a:rPr sz="1400" b="0" i="0">
                          <a:solidFill>
                            <a:srgbClr val="0E1726"/>
                          </a:solidFill>
                          <a:latin typeface="Bahnschrift"/>
                        </a:rPr>
                        <a:t>Fija, sin saturar el detector</a:t>
                      </a:r>
                    </a:p>
                  </a:txBody>
                  <a:tcPr marT="36576" marB="36576" anchor="ctr">
                    <a:solidFill>
                      <a:srgbClr val="F2F4F7"/>
                    </a:solidFill>
                  </a:tcPr>
                </a:tc>
                <a:tc>
                  <a:txBody>
                    <a:bodyPr/>
                    <a:lstStyle/>
                    <a:p>
                      <a:r>
                        <a:rPr sz="1400" b="0" i="0">
                          <a:solidFill>
                            <a:srgbClr val="0E1726"/>
                          </a:solidFill>
                          <a:latin typeface="Bahnschrift"/>
                        </a:rPr>
                        <a:t>Evita deformar la traza</a:t>
                      </a:r>
                    </a:p>
                  </a:txBody>
                  <a:tcPr marT="36576" marB="36576" anchor="ctr">
                    <a:solidFill>
                      <a:srgbClr val="F2F4F7"/>
                    </a:solidFill>
                  </a:tcPr>
                </a:tc>
                <a:extLst>
                  <a:ext uri="{0D108BD9-81ED-4DB2-BD59-A6C34878D82A}">
                    <a16:rowId xmlns:a16="http://schemas.microsoft.com/office/drawing/2014/main" val="10004"/>
                  </a:ext>
                </a:extLst>
              </a:tr>
              <a:tr h="548640">
                <a:tc>
                  <a:txBody>
                    <a:bodyPr/>
                    <a:lstStyle/>
                    <a:p>
                      <a:r>
                        <a:rPr sz="1400" b="0" i="0">
                          <a:solidFill>
                            <a:srgbClr val="0E1726"/>
                          </a:solidFill>
                          <a:latin typeface="Bahnschrift"/>
                        </a:rPr>
                        <a:t>Eje de retardo</a:t>
                      </a:r>
                    </a:p>
                  </a:txBody>
                  <a:tcPr marT="36576" marB="36576" anchor="ctr">
                    <a:solidFill>
                      <a:srgbClr val="FFFFFF"/>
                    </a:solidFill>
                  </a:tcPr>
                </a:tc>
                <a:tc>
                  <a:txBody>
                    <a:bodyPr/>
                    <a:lstStyle/>
                    <a:p>
                      <a:r>
                        <a:rPr sz="1400" b="0" i="0">
                          <a:solidFill>
                            <a:srgbClr val="0E1726"/>
                          </a:solidFill>
                          <a:latin typeface="Bahnschrift"/>
                        </a:rPr>
                        <a:t>Calibrado antes de comparar</a:t>
                      </a:r>
                    </a:p>
                  </a:txBody>
                  <a:tcPr marT="36576" marB="36576" anchor="ctr">
                    <a:solidFill>
                      <a:srgbClr val="FFFFFF"/>
                    </a:solidFill>
                  </a:tcPr>
                </a:tc>
                <a:tc>
                  <a:txBody>
                    <a:bodyPr/>
                    <a:lstStyle/>
                    <a:p>
                      <a:r>
                        <a:rPr sz="1400" b="0" i="0">
                          <a:solidFill>
                            <a:srgbClr val="0E1726"/>
                          </a:solidFill>
                          <a:latin typeface="Bahnschrift"/>
                        </a:rPr>
                        <a:t>Su error pasa completo al ancho</a:t>
                      </a:r>
                    </a:p>
                  </a:txBody>
                  <a:tcPr marT="36576" marB="36576" anchor="ctr">
                    <a:solidFill>
                      <a:srgbClr val="FFFFFF"/>
                    </a:solidFill>
                  </a:tcPr>
                </a:tc>
                <a:extLst>
                  <a:ext uri="{0D108BD9-81ED-4DB2-BD59-A6C34878D82A}">
                    <a16:rowId xmlns:a16="http://schemas.microsoft.com/office/drawing/2014/main" val="10005"/>
                  </a:ext>
                </a:extLst>
              </a:tr>
              <a:tr h="548640">
                <a:tc>
                  <a:txBody>
                    <a:bodyPr/>
                    <a:lstStyle/>
                    <a:p>
                      <a:r>
                        <a:rPr sz="1400" b="0" i="0">
                          <a:solidFill>
                            <a:srgbClr val="0E1726"/>
                          </a:solidFill>
                          <a:latin typeface="Bahnschrift"/>
                        </a:rPr>
                        <a:t>Alineación</a:t>
                      </a:r>
                    </a:p>
                  </a:txBody>
                  <a:tcPr marT="36576" marB="36576" anchor="ctr">
                    <a:solidFill>
                      <a:srgbClr val="F2F4F7"/>
                    </a:solidFill>
                  </a:tcPr>
                </a:tc>
                <a:tc>
                  <a:txBody>
                    <a:bodyPr/>
                    <a:lstStyle/>
                    <a:p>
                      <a:r>
                        <a:rPr sz="1400" b="0" i="0">
                          <a:solidFill>
                            <a:srgbClr val="0E1726"/>
                          </a:solidFill>
                          <a:latin typeface="Bahnschrift"/>
                        </a:rPr>
                        <a:t>Relación pico/fondo verificada</a:t>
                      </a:r>
                    </a:p>
                  </a:txBody>
                  <a:tcPr marT="36576" marB="36576" anchor="ctr">
                    <a:solidFill>
                      <a:srgbClr val="F2F4F7"/>
                    </a:solidFill>
                  </a:tcPr>
                </a:tc>
                <a:tc>
                  <a:txBody>
                    <a:bodyPr/>
                    <a:lstStyle/>
                    <a:p>
                      <a:r>
                        <a:rPr sz="1400" b="0" i="0">
                          <a:solidFill>
                            <a:srgbClr val="0E1726"/>
                          </a:solidFill>
                          <a:latin typeface="Bahnschrift"/>
                        </a:rPr>
                        <a:t>Detecta un montaje desajustado</a:t>
                      </a:r>
                    </a:p>
                  </a:txBody>
                  <a:tcPr marT="36576" marB="36576" anchor="ctr">
                    <a:solidFill>
                      <a:srgbClr val="F2F4F7"/>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8229600" y="1600200"/>
            <a:ext cx="3410712" cy="237744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458200" y="1783080"/>
            <a:ext cx="3017520" cy="365760"/>
          </a:xfrm>
          <a:prstGeom prst="rect">
            <a:avLst/>
          </a:prstGeom>
          <a:noFill/>
        </p:spPr>
        <p:txBody>
          <a:bodyPr wrap="square" lIns="0" tIns="0" rIns="0" bIns="0" anchor="t">
            <a:spAutoFit/>
          </a:bodyPr>
          <a:lstStyle/>
          <a:p>
            <a:pPr algn="l">
              <a:spcAft>
                <a:spcPts val="600"/>
              </a:spcAft>
            </a:pPr>
            <a:r>
              <a:rPr sz="1300" b="0" i="0">
                <a:solidFill>
                  <a:srgbClr val="D7263D"/>
                </a:solidFill>
                <a:latin typeface="Bahnschrift SemiBold"/>
              </a:rPr>
              <a:t>DECISIÓN</a:t>
            </a:r>
          </a:p>
        </p:txBody>
      </p:sp>
      <p:sp>
        <p:nvSpPr>
          <p:cNvPr id="10" name="TextBox 9"/>
          <p:cNvSpPr txBox="1"/>
          <p:nvPr/>
        </p:nvSpPr>
        <p:spPr>
          <a:xfrm>
            <a:off x="8458200" y="2194560"/>
            <a:ext cx="3017520" cy="1645920"/>
          </a:xfrm>
          <a:prstGeom prst="rect">
            <a:avLst/>
          </a:prstGeom>
          <a:noFill/>
        </p:spPr>
        <p:txBody>
          <a:bodyPr wrap="square" lIns="0" tIns="0" rIns="0" bIns="0" anchor="t">
            <a:spAutoFit/>
          </a:bodyPr>
          <a:lstStyle/>
          <a:p>
            <a:pPr algn="l">
              <a:spcAft>
                <a:spcPts val="600"/>
              </a:spcAft>
            </a:pPr>
            <a:r>
              <a:rPr sz="2200" b="0" i="0">
                <a:solidFill>
                  <a:srgbClr val="0E1726"/>
                </a:solidFill>
                <a:latin typeface="Bahnschrift SemiBold"/>
              </a:rPr>
              <a:t>En este trabajo los factores </a:t>
            </a:r>
            <a:r>
              <a:rPr sz="2200" b="1" i="0">
                <a:solidFill>
                  <a:srgbClr val="0E1726"/>
                </a:solidFill>
                <a:latin typeface="Bahnschrift SemiBold"/>
              </a:rPr>
              <a:t>se fijan</a:t>
            </a:r>
            <a:r>
              <a:rPr sz="2200" b="0" i="0">
                <a:solidFill>
                  <a:srgbClr val="0E1726"/>
                </a:solidFill>
                <a:latin typeface="Bahnschrift SemiBold"/>
              </a:rPr>
              <a:t>; no se varían.</a:t>
            </a:r>
          </a:p>
        </p:txBody>
      </p:sp>
      <p:sp>
        <p:nvSpPr>
          <p:cNvPr id="11" name="Rounded Rectangle 10"/>
          <p:cNvSpPr/>
          <p:nvPr/>
        </p:nvSpPr>
        <p:spPr>
          <a:xfrm>
            <a:off x="8229600" y="4206240"/>
            <a:ext cx="3410712" cy="2011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58200" y="4389120"/>
            <a:ext cx="2953512"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Lo que no se puede fijar</a:t>
            </a:r>
          </a:p>
        </p:txBody>
      </p:sp>
      <p:sp>
        <p:nvSpPr>
          <p:cNvPr id="13" name="TextBox 12"/>
          <p:cNvSpPr txBox="1"/>
          <p:nvPr/>
        </p:nvSpPr>
        <p:spPr>
          <a:xfrm>
            <a:off x="8458200" y="4864607"/>
            <a:ext cx="2953512" cy="1234440"/>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Fluctuaciones del láser y ruido: son el </a:t>
            </a:r>
            <a:r>
              <a:rPr sz="1500" b="0" i="0">
                <a:solidFill>
                  <a:srgbClr val="0E1726"/>
                </a:solidFill>
                <a:latin typeface="Bahnschrift SemiBold"/>
              </a:rPr>
              <a:t>error experimental</a:t>
            </a:r>
            <a:r>
              <a:rPr sz="1500" b="0" i="0">
                <a:solidFill>
                  <a:srgbClr val="0E1726"/>
                </a:solidFill>
                <a:latin typeface="Bahnschrift"/>
              </a:rPr>
              <a:t> que estiman las repeticiones.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6 · ¿POR QUÉ EMPEZAR POR CALIBRAR?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¿Por qué no estudiar directamente los factores?</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Diels y Rudolph (2006), p. 457; Monmayrant et al. (2010), p. 28</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21</a:t>
            </a:r>
          </a:p>
        </p:txBody>
      </p:sp>
      <p:sp>
        <p:nvSpPr>
          <p:cNvPr id="8" name="Rounded Rectangle 7"/>
          <p:cNvSpPr/>
          <p:nvPr/>
        </p:nvSpPr>
        <p:spPr>
          <a:xfrm>
            <a:off x="548640" y="1600200"/>
            <a:ext cx="5394960" cy="1298448"/>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7240" y="1783080"/>
            <a:ext cx="493776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Sin calibrar no hay interpretación</a:t>
            </a:r>
          </a:p>
        </p:txBody>
      </p:sp>
      <p:sp>
        <p:nvSpPr>
          <p:cNvPr id="10" name="TextBox 9"/>
          <p:cNvSpPr txBox="1"/>
          <p:nvPr/>
        </p:nvSpPr>
        <p:spPr>
          <a:xfrm>
            <a:off x="777240" y="2258568"/>
            <a:ext cx="4937760" cy="521207"/>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Un estudio de factores mide </a:t>
            </a:r>
            <a:r>
              <a:rPr sz="1500" b="0" i="0">
                <a:solidFill>
                  <a:srgbClr val="0E1726"/>
                </a:solidFill>
                <a:latin typeface="Bahnschrift SemiBold"/>
              </a:rPr>
              <a:t>cambios</a:t>
            </a:r>
            <a:r>
              <a:rPr sz="1500" b="0" i="0">
                <a:solidFill>
                  <a:srgbClr val="0E1726"/>
                </a:solidFill>
                <a:latin typeface="Bahnschrift"/>
              </a:rPr>
              <a:t>; con un sesgo desconocido no se pueden atribuir.</a:t>
            </a:r>
          </a:p>
        </p:txBody>
      </p:sp>
      <p:sp>
        <p:nvSpPr>
          <p:cNvPr id="11" name="Rounded Rectangle 10"/>
          <p:cNvSpPr/>
          <p:nvPr/>
        </p:nvSpPr>
        <p:spPr>
          <a:xfrm>
            <a:off x="6245352" y="1600200"/>
            <a:ext cx="5394960" cy="1298448"/>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73952" y="1783080"/>
            <a:ext cx="493776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La única referencia disponible</a:t>
            </a:r>
          </a:p>
        </p:txBody>
      </p:sp>
      <p:sp>
        <p:nvSpPr>
          <p:cNvPr id="13" name="TextBox 12"/>
          <p:cNvSpPr txBox="1"/>
          <p:nvPr/>
        </p:nvSpPr>
        <p:spPr>
          <a:xfrm>
            <a:off x="6473952" y="2258568"/>
            <a:ext cx="4937760" cy="521207"/>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El autocorrelador no se verifica con un reloj: el fabricante midió con una técnica equivalente.</a:t>
            </a:r>
          </a:p>
        </p:txBody>
      </p:sp>
      <p:sp>
        <p:nvSpPr>
          <p:cNvPr id="14" name="Rounded Rectangle 13"/>
          <p:cNvSpPr/>
          <p:nvPr/>
        </p:nvSpPr>
        <p:spPr>
          <a:xfrm>
            <a:off x="548640" y="3063240"/>
            <a:ext cx="5394960" cy="1298448"/>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7240" y="3246120"/>
            <a:ext cx="493776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Una pregunta práctica</a:t>
            </a:r>
          </a:p>
        </p:txBody>
      </p:sp>
      <p:sp>
        <p:nvSpPr>
          <p:cNvPr id="16" name="TextBox 15"/>
          <p:cNvSpPr txBox="1"/>
          <p:nvPr/>
        </p:nvSpPr>
        <p:spPr>
          <a:xfrm>
            <a:off x="777240" y="3721608"/>
            <a:ext cx="4937760" cy="521207"/>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¿El láser sigue entregando lo que promete?</a:t>
            </a:r>
          </a:p>
        </p:txBody>
      </p:sp>
      <p:sp>
        <p:nvSpPr>
          <p:cNvPr id="17" name="Rounded Rectangle 16"/>
          <p:cNvSpPr/>
          <p:nvPr/>
        </p:nvSpPr>
        <p:spPr>
          <a:xfrm>
            <a:off x="6245352" y="3063240"/>
            <a:ext cx="5394960" cy="1298448"/>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73952" y="3246120"/>
            <a:ext cx="493776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Factible en el semestre</a:t>
            </a:r>
          </a:p>
        </p:txBody>
      </p:sp>
      <p:sp>
        <p:nvSpPr>
          <p:cNvPr id="19" name="TextBox 18"/>
          <p:cNvSpPr txBox="1"/>
          <p:nvPr/>
        </p:nvSpPr>
        <p:spPr>
          <a:xfrm>
            <a:off x="6473952" y="3721608"/>
            <a:ext cx="4937760" cy="521207"/>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Pocos recursos; el estudio de factores se apoya en ella.</a:t>
            </a:r>
          </a:p>
        </p:txBody>
      </p:sp>
      <p:sp>
        <p:nvSpPr>
          <p:cNvPr id="20" name="Rounded Rectangle 19"/>
          <p:cNvSpPr/>
          <p:nvPr/>
        </p:nvSpPr>
        <p:spPr>
          <a:xfrm>
            <a:off x="548640" y="4617720"/>
            <a:ext cx="11091672" cy="15544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22959" y="4782312"/>
            <a:ext cx="10543032" cy="987552"/>
          </a:xfrm>
          <a:prstGeom prst="rect">
            <a:avLst/>
          </a:prstGeom>
          <a:noFill/>
        </p:spPr>
        <p:txBody>
          <a:bodyPr wrap="square" lIns="0" tIns="0" rIns="0" bIns="0" anchor="t">
            <a:spAutoFit/>
          </a:bodyPr>
          <a:lstStyle/>
          <a:p>
            <a:pPr algn="l">
              <a:spcAft>
                <a:spcPts val="600"/>
              </a:spcAft>
            </a:pPr>
            <a:r>
              <a:rPr sz="1600" b="0" i="1">
                <a:solidFill>
                  <a:srgbClr val="0E1726"/>
                </a:solidFill>
                <a:latin typeface="Bahnschrift Light"/>
              </a:rPr>
              <a:t>“Any measurement technique introduces some perturbation on the parameter to be measured… A careful analysis of the diagnostic instrument is required to find its exact transfer function.”</a:t>
            </a:r>
          </a:p>
        </p:txBody>
      </p:sp>
      <p:sp>
        <p:nvSpPr>
          <p:cNvPr id="22" name="TextBox 21"/>
          <p:cNvSpPr txBox="1"/>
          <p:nvPr/>
        </p:nvSpPr>
        <p:spPr>
          <a:xfrm>
            <a:off x="822959" y="5760720"/>
            <a:ext cx="10543032" cy="274320"/>
          </a:xfrm>
          <a:prstGeom prst="rect">
            <a:avLst/>
          </a:prstGeom>
          <a:noFill/>
        </p:spPr>
        <p:txBody>
          <a:bodyPr wrap="square" lIns="0" tIns="0" rIns="0" bIns="0" anchor="t">
            <a:spAutoFit/>
          </a:bodyPr>
          <a:lstStyle/>
          <a:p>
            <a:pPr algn="l">
              <a:spcAft>
                <a:spcPts val="600"/>
              </a:spcAft>
            </a:pPr>
            <a:r>
              <a:rPr sz="1200" b="0" i="0">
                <a:solidFill>
                  <a:srgbClr val="5F6B7A"/>
                </a:solidFill>
                <a:latin typeface="Bahnschrift"/>
              </a:rPr>
              <a:t>— Diels y Rudolph (2006), p. 457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6 · ¿POR QUÉ EMPEZAR POR CALIBRAR?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se compara exactamente?</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22</a:t>
            </a:r>
          </a:p>
        </p:txBody>
      </p:sp>
      <p:sp>
        <p:nvSpPr>
          <p:cNvPr id="7" name="Rounded Rectangle 6"/>
          <p:cNvSpPr/>
          <p:nvPr/>
        </p:nvSpPr>
        <p:spPr>
          <a:xfrm>
            <a:off x="548640" y="1600200"/>
            <a:ext cx="4983480" cy="251460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2959" y="1801368"/>
            <a:ext cx="4480560" cy="365760"/>
          </a:xfrm>
          <a:prstGeom prst="rect">
            <a:avLst/>
          </a:prstGeom>
          <a:noFill/>
        </p:spPr>
        <p:txBody>
          <a:bodyPr wrap="square" lIns="0" tIns="0" rIns="0" bIns="0" anchor="t">
            <a:spAutoFit/>
          </a:bodyPr>
          <a:lstStyle/>
          <a:p>
            <a:pPr algn="l">
              <a:spcAft>
                <a:spcPts val="600"/>
              </a:spcAft>
            </a:pPr>
            <a:r>
              <a:rPr sz="1400" b="0" i="0">
                <a:solidFill>
                  <a:srgbClr val="D7263D"/>
                </a:solidFill>
                <a:latin typeface="Bahnschrift SemiBold"/>
              </a:rPr>
              <a:t>PATRÓN</a:t>
            </a:r>
          </a:p>
        </p:txBody>
      </p:sp>
      <p:sp>
        <p:nvSpPr>
          <p:cNvPr id="9" name="TextBox 8"/>
          <p:cNvSpPr txBox="1"/>
          <p:nvPr/>
        </p:nvSpPr>
        <p:spPr>
          <a:xfrm>
            <a:off x="822959" y="2194560"/>
            <a:ext cx="4480560" cy="548640"/>
          </a:xfrm>
          <a:prstGeom prst="rect">
            <a:avLst/>
          </a:prstGeom>
          <a:noFill/>
        </p:spPr>
        <p:txBody>
          <a:bodyPr wrap="square" lIns="0" tIns="0" rIns="0" bIns="0" anchor="t">
            <a:spAutoFit/>
          </a:bodyPr>
          <a:lstStyle/>
          <a:p>
            <a:pPr algn="l">
              <a:spcAft>
                <a:spcPts val="600"/>
              </a:spcAft>
            </a:pPr>
            <a:r>
              <a:rPr sz="2200" b="0" i="0">
                <a:solidFill>
                  <a:srgbClr val="0E1726"/>
                </a:solidFill>
                <a:latin typeface="Bahnschrift SemiBold"/>
              </a:rPr>
              <a:t>Dato del fabricante</a:t>
            </a:r>
          </a:p>
        </p:txBody>
      </p:sp>
      <p:sp>
        <p:nvSpPr>
          <p:cNvPr id="10" name="TextBox 9"/>
          <p:cNvSpPr txBox="1"/>
          <p:nvPr/>
        </p:nvSpPr>
        <p:spPr>
          <a:xfrm>
            <a:off x="822959" y="2834640"/>
            <a:ext cx="4480560" cy="1371600"/>
          </a:xfrm>
          <a:prstGeom prst="rect">
            <a:avLst/>
          </a:prstGeom>
          <a:noFill/>
        </p:spPr>
        <p:txBody>
          <a:bodyPr wrap="square" lIns="0" tIns="0" rIns="0" bIns="0" anchor="t">
            <a:spAutoFit/>
          </a:bodyPr>
          <a:lstStyle/>
          <a:p>
            <a:pPr marL="256032" indent="-256032">
              <a:spcAft>
                <a:spcPts val="900"/>
              </a:spcAft>
              <a:buClr>
                <a:srgbClr val="D7263D"/>
              </a:buClr>
              <a:buFont typeface="Arial"/>
              <a:buChar char="■"/>
            </a:pPr>
            <a:r>
              <a:rPr sz="1600" b="0" i="0">
                <a:solidFill>
                  <a:srgbClr val="0E1726"/>
                </a:solidFill>
                <a:latin typeface="Bahnschrift"/>
              </a:rPr>
              <a:t>Ancho de pulso nominal</a:t>
            </a:r>
          </a:p>
          <a:p>
            <a:pPr marL="256032" indent="-256032">
              <a:spcAft>
                <a:spcPts val="900"/>
              </a:spcAft>
              <a:buClr>
                <a:srgbClr val="D7263D"/>
              </a:buClr>
              <a:buFont typeface="Arial"/>
              <a:buChar char="■"/>
            </a:pPr>
            <a:r>
              <a:rPr sz="1600" b="0" i="0">
                <a:solidFill>
                  <a:srgbClr val="0E1726"/>
                </a:solidFill>
                <a:latin typeface="Bahnschrift"/>
              </a:rPr>
              <a:t>Ancho espectral y tasa de repetición, si los da</a:t>
            </a:r>
          </a:p>
        </p:txBody>
      </p:sp>
      <p:sp>
        <p:nvSpPr>
          <p:cNvPr id="11" name="Oval 10"/>
          <p:cNvSpPr/>
          <p:nvPr/>
        </p:nvSpPr>
        <p:spPr>
          <a:xfrm>
            <a:off x="5559552" y="2514600"/>
            <a:ext cx="1051560" cy="1051560"/>
          </a:xfrm>
          <a:prstGeom prst="ellipse">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559552" y="2514600"/>
            <a:ext cx="1051560" cy="1051560"/>
          </a:xfrm>
          <a:prstGeom prst="rect">
            <a:avLst/>
          </a:prstGeom>
          <a:noFill/>
        </p:spPr>
        <p:txBody>
          <a:bodyPr wrap="square" lIns="0" tIns="0" rIns="0" bIns="0" anchor="ctr">
            <a:spAutoFit/>
          </a:bodyPr>
          <a:lstStyle/>
          <a:p>
            <a:pPr algn="ctr">
              <a:spcAft>
                <a:spcPts val="600"/>
              </a:spcAft>
            </a:pPr>
            <a:r>
              <a:rPr sz="2400" b="0" i="0">
                <a:solidFill>
                  <a:srgbClr val="FFFFFF"/>
                </a:solidFill>
                <a:latin typeface="Bahnschrift SemiBold"/>
              </a:rPr>
              <a:t>vs</a:t>
            </a:r>
          </a:p>
        </p:txBody>
      </p:sp>
      <p:sp>
        <p:nvSpPr>
          <p:cNvPr id="13" name="Rounded Rectangle 12"/>
          <p:cNvSpPr/>
          <p:nvPr/>
        </p:nvSpPr>
        <p:spPr>
          <a:xfrm>
            <a:off x="6656832" y="1600200"/>
            <a:ext cx="4983480" cy="251460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931152" y="1801368"/>
            <a:ext cx="4480560" cy="365760"/>
          </a:xfrm>
          <a:prstGeom prst="rect">
            <a:avLst/>
          </a:prstGeom>
          <a:noFill/>
        </p:spPr>
        <p:txBody>
          <a:bodyPr wrap="square" lIns="0" tIns="0" rIns="0" bIns="0" anchor="t">
            <a:spAutoFit/>
          </a:bodyPr>
          <a:lstStyle/>
          <a:p>
            <a:pPr algn="l">
              <a:spcAft>
                <a:spcPts val="600"/>
              </a:spcAft>
            </a:pPr>
            <a:r>
              <a:rPr sz="1400" b="0" i="0">
                <a:solidFill>
                  <a:srgbClr val="5B3FD9"/>
                </a:solidFill>
                <a:latin typeface="Bahnschrift SemiBold"/>
              </a:rPr>
              <a:t>TÉCNICA</a:t>
            </a:r>
          </a:p>
        </p:txBody>
      </p:sp>
      <p:sp>
        <p:nvSpPr>
          <p:cNvPr id="15" name="TextBox 14"/>
          <p:cNvSpPr txBox="1"/>
          <p:nvPr/>
        </p:nvSpPr>
        <p:spPr>
          <a:xfrm>
            <a:off x="6931152" y="2194560"/>
            <a:ext cx="4480560" cy="548640"/>
          </a:xfrm>
          <a:prstGeom prst="rect">
            <a:avLst/>
          </a:prstGeom>
          <a:noFill/>
        </p:spPr>
        <p:txBody>
          <a:bodyPr wrap="square" lIns="0" tIns="0" rIns="0" bIns="0" anchor="t">
            <a:spAutoFit/>
          </a:bodyPr>
          <a:lstStyle/>
          <a:p>
            <a:pPr algn="l">
              <a:spcAft>
                <a:spcPts val="600"/>
              </a:spcAft>
            </a:pPr>
            <a:r>
              <a:rPr sz="2200" b="0" i="0">
                <a:solidFill>
                  <a:srgbClr val="0E1726"/>
                </a:solidFill>
                <a:latin typeface="Bahnschrift SemiBold"/>
              </a:rPr>
              <a:t>Autocorrelador de intensidad</a:t>
            </a:r>
          </a:p>
        </p:txBody>
      </p:sp>
      <p:sp>
        <p:nvSpPr>
          <p:cNvPr id="16" name="TextBox 15"/>
          <p:cNvSpPr txBox="1"/>
          <p:nvPr/>
        </p:nvSpPr>
        <p:spPr>
          <a:xfrm>
            <a:off x="6931152" y="2834640"/>
            <a:ext cx="4480560" cy="1371600"/>
          </a:xfrm>
          <a:prstGeom prst="rect">
            <a:avLst/>
          </a:prstGeom>
          <a:noFill/>
        </p:spPr>
        <p:txBody>
          <a:bodyPr wrap="square" lIns="0" tIns="0" rIns="0" bIns="0" anchor="t">
            <a:spAutoFit/>
          </a:bodyPr>
          <a:lstStyle/>
          <a:p>
            <a:pPr marL="256032" indent="-256032">
              <a:spcAft>
                <a:spcPts val="900"/>
              </a:spcAft>
              <a:buClr>
                <a:srgbClr val="5B3FD9"/>
              </a:buClr>
              <a:buFont typeface="Arial"/>
              <a:buChar char="■"/>
            </a:pPr>
            <a:r>
              <a:rPr sz="1600" b="0" i="0">
                <a:solidFill>
                  <a:srgbClr val="0E1726"/>
                </a:solidFill>
                <a:latin typeface="Bahnschrift"/>
              </a:rPr>
              <a:t>Misma forma supuesta que el fabricante</a:t>
            </a:r>
          </a:p>
          <a:p>
            <a:pPr marL="256032" indent="-256032">
              <a:spcAft>
                <a:spcPts val="900"/>
              </a:spcAft>
              <a:buClr>
                <a:srgbClr val="5B3FD9"/>
              </a:buClr>
              <a:buFont typeface="Arial"/>
              <a:buChar char="■"/>
            </a:pPr>
            <a:r>
              <a:rPr sz="1600" b="0" i="0">
                <a:solidFill>
                  <a:srgbClr val="0E1726"/>
                </a:solidFill>
                <a:latin typeface="Bahnschrift"/>
              </a:rPr>
              <a:t>Condiciones fijadas (diapositiva 20)</a:t>
            </a:r>
          </a:p>
        </p:txBody>
      </p:sp>
      <p:sp>
        <p:nvSpPr>
          <p:cNvPr id="17" name="Rounded Rectangle 16"/>
          <p:cNvSpPr/>
          <p:nvPr/>
        </p:nvSpPr>
        <p:spPr>
          <a:xfrm>
            <a:off x="548640" y="4343400"/>
            <a:ext cx="3520440" cy="13716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7240" y="4526280"/>
            <a:ext cx="3063240" cy="411480"/>
          </a:xfrm>
          <a:prstGeom prst="rect">
            <a:avLst/>
          </a:prstGeom>
          <a:noFill/>
        </p:spPr>
        <p:txBody>
          <a:bodyPr wrap="square" lIns="0" tIns="0" rIns="0" bIns="0" anchor="t">
            <a:spAutoFit/>
          </a:bodyPr>
          <a:lstStyle/>
          <a:p>
            <a:pPr algn="l">
              <a:spcAft>
                <a:spcPts val="600"/>
              </a:spcAft>
            </a:pPr>
            <a:r>
              <a:rPr sz="1600" b="0" i="0">
                <a:solidFill>
                  <a:srgbClr val="5B3FD9"/>
                </a:solidFill>
                <a:latin typeface="Bahnschrift SemiBold"/>
              </a:rPr>
              <a:t>Variable respuesta</a:t>
            </a:r>
          </a:p>
        </p:txBody>
      </p:sp>
      <p:sp>
        <p:nvSpPr>
          <p:cNvPr id="19" name="TextBox 18"/>
          <p:cNvSpPr txBox="1"/>
          <p:nvPr/>
        </p:nvSpPr>
        <p:spPr>
          <a:xfrm>
            <a:off x="777240" y="5001768"/>
            <a:ext cx="3063240" cy="594360"/>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τ</a:t>
            </a:r>
            <a:r>
              <a:rPr sz="1500" b="0" i="0" baseline="-25000">
                <a:solidFill>
                  <a:srgbClr val="0E1726"/>
                </a:solidFill>
                <a:latin typeface="Bahnschrift"/>
              </a:rPr>
              <a:t>p</a:t>
            </a:r>
            <a:r>
              <a:rPr sz="1500" b="0" i="0">
                <a:solidFill>
                  <a:srgbClr val="0E1726"/>
                </a:solidFill>
                <a:latin typeface="Bahnschrift"/>
              </a:rPr>
              <a:t> (fs), ancho de pulso deconvolucionado</a:t>
            </a:r>
          </a:p>
        </p:txBody>
      </p:sp>
      <p:sp>
        <p:nvSpPr>
          <p:cNvPr id="20" name="Rounded Rectangle 19"/>
          <p:cNvSpPr/>
          <p:nvPr/>
        </p:nvSpPr>
        <p:spPr>
          <a:xfrm>
            <a:off x="4297679" y="4343400"/>
            <a:ext cx="3520440" cy="13716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526279" y="4526280"/>
            <a:ext cx="3063240" cy="411480"/>
          </a:xfrm>
          <a:prstGeom prst="rect">
            <a:avLst/>
          </a:prstGeom>
          <a:noFill/>
        </p:spPr>
        <p:txBody>
          <a:bodyPr wrap="square" lIns="0" tIns="0" rIns="0" bIns="0" anchor="t">
            <a:spAutoFit/>
          </a:bodyPr>
          <a:lstStyle/>
          <a:p>
            <a:pPr algn="l">
              <a:spcAft>
                <a:spcPts val="600"/>
              </a:spcAft>
            </a:pPr>
            <a:r>
              <a:rPr sz="1600" b="0" i="0">
                <a:solidFill>
                  <a:srgbClr val="5B3FD9"/>
                </a:solidFill>
                <a:latin typeface="Bahnschrift SemiBold"/>
              </a:rPr>
              <a:t>Respuesta secundaria</a:t>
            </a:r>
          </a:p>
        </p:txBody>
      </p:sp>
      <p:sp>
        <p:nvSpPr>
          <p:cNvPr id="22" name="TextBox 21"/>
          <p:cNvSpPr txBox="1"/>
          <p:nvPr/>
        </p:nvSpPr>
        <p:spPr>
          <a:xfrm>
            <a:off x="4526279" y="5001768"/>
            <a:ext cx="3063240" cy="594360"/>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Δλ medido → Δν·τ</a:t>
            </a:r>
            <a:r>
              <a:rPr sz="1500" b="0" i="0" baseline="-25000">
                <a:solidFill>
                  <a:srgbClr val="0E1726"/>
                </a:solidFill>
                <a:latin typeface="Bahnschrift"/>
              </a:rPr>
              <a:t>p</a:t>
            </a:r>
            <a:r>
              <a:rPr sz="1500" b="0" i="0">
                <a:solidFill>
                  <a:srgbClr val="0E1726"/>
                </a:solidFill>
                <a:latin typeface="Bahnschrift"/>
              </a:rPr>
              <a:t>, si hay espectrómetro</a:t>
            </a:r>
          </a:p>
        </p:txBody>
      </p:sp>
      <p:sp>
        <p:nvSpPr>
          <p:cNvPr id="23" name="Rounded Rectangle 22"/>
          <p:cNvSpPr/>
          <p:nvPr/>
        </p:nvSpPr>
        <p:spPr>
          <a:xfrm>
            <a:off x="8046719" y="4343400"/>
            <a:ext cx="3520440" cy="13716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275319" y="4526280"/>
            <a:ext cx="3063240" cy="411480"/>
          </a:xfrm>
          <a:prstGeom prst="rect">
            <a:avLst/>
          </a:prstGeom>
          <a:noFill/>
        </p:spPr>
        <p:txBody>
          <a:bodyPr wrap="square" lIns="0" tIns="0" rIns="0" bIns="0" anchor="t">
            <a:spAutoFit/>
          </a:bodyPr>
          <a:lstStyle/>
          <a:p>
            <a:pPr algn="l">
              <a:spcAft>
                <a:spcPts val="600"/>
              </a:spcAft>
            </a:pPr>
            <a:r>
              <a:rPr sz="1600" b="0" i="0">
                <a:solidFill>
                  <a:srgbClr val="5B3FD9"/>
                </a:solidFill>
                <a:latin typeface="Bahnschrift SemiBold"/>
              </a:rPr>
              <a:t>Repeticiones</a:t>
            </a:r>
          </a:p>
        </p:txBody>
      </p:sp>
      <p:sp>
        <p:nvSpPr>
          <p:cNvPr id="25" name="TextBox 24"/>
          <p:cNvSpPr txBox="1"/>
          <p:nvPr/>
        </p:nvSpPr>
        <p:spPr>
          <a:xfrm>
            <a:off x="8275319" y="5001768"/>
            <a:ext cx="3063240" cy="594360"/>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n mediciones independientes, en días distintos</a:t>
            </a:r>
          </a:p>
        </p:txBody>
      </p:sp>
      <p:sp>
        <p:nvSpPr>
          <p:cNvPr id="26" name="Rounded Rectangle 25"/>
          <p:cNvSpPr/>
          <p:nvPr/>
        </p:nvSpPr>
        <p:spPr>
          <a:xfrm>
            <a:off x="548640" y="5870448"/>
            <a:ext cx="5486400" cy="384048"/>
          </a:xfrm>
          <a:prstGeom prst="roundRect">
            <a:avLst>
              <a:gd name="adj" fmla="val 6000"/>
            </a:avLst>
          </a:prstGeom>
          <a:solidFill>
            <a:srgbClr val="FFFFFF"/>
          </a:solidFill>
          <a:ln w="19050">
            <a:solidFill>
              <a:srgbClr val="D7263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31520" y="5870448"/>
            <a:ext cx="5120640" cy="384048"/>
          </a:xfrm>
          <a:prstGeom prst="rect">
            <a:avLst/>
          </a:prstGeom>
          <a:noFill/>
        </p:spPr>
        <p:txBody>
          <a:bodyPr wrap="square" lIns="0" tIns="0" rIns="0" bIns="0" anchor="ctr">
            <a:spAutoFit/>
          </a:bodyPr>
          <a:lstStyle/>
          <a:p>
            <a:pPr algn="l">
              <a:spcAft>
                <a:spcPts val="600"/>
              </a:spcAft>
            </a:pPr>
            <a:r>
              <a:rPr sz="1300" b="0" i="0">
                <a:solidFill>
                  <a:srgbClr val="D7263D"/>
                </a:solidFill>
                <a:latin typeface="Bahnschrift"/>
              </a:rPr>
              <a:t>Pendiente: valores del patrón y número de repeticiones 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6 · ¿POR QUÉ EMPEZAR POR CALIBRAR?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¿Cuál es la hipótesis del experimento?</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Montgomery (2004), cap. 2, sec. 2-4.6, ec. 2-37</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23</a:t>
            </a:r>
          </a:p>
        </p:txBody>
      </p:sp>
      <p:sp>
        <p:nvSpPr>
          <p:cNvPr id="8" name="Rounded Rectangle 7"/>
          <p:cNvSpPr/>
          <p:nvPr/>
        </p:nvSpPr>
        <p:spPr>
          <a:xfrm>
            <a:off x="548640" y="1600200"/>
            <a:ext cx="6492240" cy="123444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59" y="1600200"/>
            <a:ext cx="1097280" cy="1234440"/>
          </a:xfrm>
          <a:prstGeom prst="rect">
            <a:avLst/>
          </a:prstGeom>
          <a:noFill/>
        </p:spPr>
        <p:txBody>
          <a:bodyPr wrap="square" lIns="0" tIns="0" rIns="0" bIns="0" anchor="ctr">
            <a:spAutoFit/>
          </a:bodyPr>
          <a:lstStyle/>
          <a:p>
            <a:pPr algn="l">
              <a:spcAft>
                <a:spcPts val="600"/>
              </a:spcAft>
            </a:pPr>
            <a:r>
              <a:rPr sz="3000" b="0" i="0">
                <a:solidFill>
                  <a:srgbClr val="D7263D"/>
                </a:solidFill>
                <a:latin typeface="Bahnschrift SemiBold"/>
              </a:rPr>
              <a:t>H₀:</a:t>
            </a:r>
          </a:p>
        </p:txBody>
      </p:sp>
      <p:sp>
        <p:nvSpPr>
          <p:cNvPr id="10" name="TextBox 9"/>
          <p:cNvSpPr txBox="1"/>
          <p:nvPr/>
        </p:nvSpPr>
        <p:spPr>
          <a:xfrm>
            <a:off x="1920240" y="1600200"/>
            <a:ext cx="4937760" cy="1234440"/>
          </a:xfrm>
          <a:prstGeom prst="rect">
            <a:avLst/>
          </a:prstGeom>
          <a:noFill/>
        </p:spPr>
        <p:txBody>
          <a:bodyPr wrap="square" lIns="0" tIns="0" rIns="0" bIns="0" anchor="ctr">
            <a:spAutoFit/>
          </a:bodyPr>
          <a:lstStyle/>
          <a:p>
            <a:pPr algn="l">
              <a:spcAft>
                <a:spcPts val="200"/>
              </a:spcAft>
            </a:pPr>
            <a:r>
              <a:rPr sz="2600" b="0" i="0">
                <a:solidFill>
                  <a:srgbClr val="0E1726"/>
                </a:solidFill>
                <a:latin typeface="Bahnschrift"/>
              </a:rPr>
              <a:t>μ</a:t>
            </a:r>
            <a:r>
              <a:rPr sz="2600" b="0" i="0" baseline="-25000">
                <a:solidFill>
                  <a:srgbClr val="0E1726"/>
                </a:solidFill>
                <a:latin typeface="Bahnschrift"/>
              </a:rPr>
              <a:t>τ</a:t>
            </a:r>
            <a:r>
              <a:rPr sz="2600" b="0" i="0">
                <a:solidFill>
                  <a:srgbClr val="0E1726"/>
                </a:solidFill>
                <a:latin typeface="Bahnschrift"/>
              </a:rPr>
              <a:t> = τ</a:t>
            </a:r>
            <a:r>
              <a:rPr sz="2600" b="0" i="0" baseline="-25000">
                <a:solidFill>
                  <a:srgbClr val="0E1726"/>
                </a:solidFill>
                <a:latin typeface="Bahnschrift"/>
              </a:rPr>
              <a:t>fabricante</a:t>
            </a:r>
          </a:p>
          <a:p>
            <a:pPr algn="l">
              <a:spcAft>
                <a:spcPts val="200"/>
              </a:spcAft>
            </a:pPr>
            <a:r>
              <a:rPr sz="1700" b="0" i="0">
                <a:solidFill>
                  <a:srgbClr val="0E1726"/>
                </a:solidFill>
                <a:latin typeface="Bahnschrift"/>
              </a:rPr>
              <a:t>la técnica reproduce el patrón: láser e instrumento en especificación</a:t>
            </a:r>
          </a:p>
        </p:txBody>
      </p:sp>
      <p:sp>
        <p:nvSpPr>
          <p:cNvPr id="11" name="Rounded Rectangle 10"/>
          <p:cNvSpPr/>
          <p:nvPr/>
        </p:nvSpPr>
        <p:spPr>
          <a:xfrm>
            <a:off x="548640" y="3017520"/>
            <a:ext cx="6492240" cy="123444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22959" y="3017520"/>
            <a:ext cx="1097280" cy="1234440"/>
          </a:xfrm>
          <a:prstGeom prst="rect">
            <a:avLst/>
          </a:prstGeom>
          <a:noFill/>
        </p:spPr>
        <p:txBody>
          <a:bodyPr wrap="square" lIns="0" tIns="0" rIns="0" bIns="0" anchor="ctr">
            <a:spAutoFit/>
          </a:bodyPr>
          <a:lstStyle/>
          <a:p>
            <a:pPr algn="l">
              <a:spcAft>
                <a:spcPts val="600"/>
              </a:spcAft>
            </a:pPr>
            <a:r>
              <a:rPr sz="3000" b="0" i="0">
                <a:solidFill>
                  <a:srgbClr val="5B3FD9"/>
                </a:solidFill>
                <a:latin typeface="Bahnschrift SemiBold"/>
              </a:rPr>
              <a:t>H</a:t>
            </a:r>
            <a:r>
              <a:rPr sz="3000" b="0" i="0" baseline="-25000">
                <a:solidFill>
                  <a:srgbClr val="5B3FD9"/>
                </a:solidFill>
                <a:latin typeface="Bahnschrift SemiBold"/>
              </a:rPr>
              <a:t>A</a:t>
            </a:r>
            <a:r>
              <a:rPr sz="3000" b="0" i="0">
                <a:solidFill>
                  <a:srgbClr val="5B3FD9"/>
                </a:solidFill>
                <a:latin typeface="Bahnschrift SemiBold"/>
              </a:rPr>
              <a:t>:</a:t>
            </a:r>
          </a:p>
        </p:txBody>
      </p:sp>
      <p:sp>
        <p:nvSpPr>
          <p:cNvPr id="13" name="TextBox 12"/>
          <p:cNvSpPr txBox="1"/>
          <p:nvPr/>
        </p:nvSpPr>
        <p:spPr>
          <a:xfrm>
            <a:off x="1920240" y="3017520"/>
            <a:ext cx="4937760" cy="1234440"/>
          </a:xfrm>
          <a:prstGeom prst="rect">
            <a:avLst/>
          </a:prstGeom>
          <a:noFill/>
        </p:spPr>
        <p:txBody>
          <a:bodyPr wrap="square" lIns="0" tIns="0" rIns="0" bIns="0" anchor="ctr">
            <a:spAutoFit/>
          </a:bodyPr>
          <a:lstStyle/>
          <a:p>
            <a:pPr algn="l">
              <a:spcAft>
                <a:spcPts val="200"/>
              </a:spcAft>
            </a:pPr>
            <a:r>
              <a:rPr sz="2600" b="0" i="0">
                <a:solidFill>
                  <a:srgbClr val="0E1726"/>
                </a:solidFill>
                <a:latin typeface="Bahnschrift"/>
              </a:rPr>
              <a:t>μ</a:t>
            </a:r>
            <a:r>
              <a:rPr sz="2600" b="0" i="0" baseline="-25000">
                <a:solidFill>
                  <a:srgbClr val="0E1726"/>
                </a:solidFill>
                <a:latin typeface="Bahnschrift"/>
              </a:rPr>
              <a:t>τ</a:t>
            </a:r>
            <a:r>
              <a:rPr sz="2600" b="0" i="0">
                <a:solidFill>
                  <a:srgbClr val="0E1726"/>
                </a:solidFill>
                <a:latin typeface="Bahnschrift"/>
              </a:rPr>
              <a:t> ≠ τ</a:t>
            </a:r>
            <a:r>
              <a:rPr sz="2600" b="0" i="0" baseline="-25000">
                <a:solidFill>
                  <a:srgbClr val="0E1726"/>
                </a:solidFill>
                <a:latin typeface="Bahnschrift"/>
              </a:rPr>
              <a:t>fabricante</a:t>
            </a:r>
          </a:p>
          <a:p>
            <a:pPr algn="l">
              <a:spcAft>
                <a:spcPts val="200"/>
              </a:spcAft>
            </a:pPr>
            <a:r>
              <a:rPr sz="1700" b="0" i="0">
                <a:solidFill>
                  <a:srgbClr val="0E1726"/>
                </a:solidFill>
                <a:latin typeface="Bahnschrift"/>
              </a:rPr>
              <a:t>el ancho medido difiere del patrón</a:t>
            </a:r>
          </a:p>
        </p:txBody>
      </p:sp>
      <p:sp>
        <p:nvSpPr>
          <p:cNvPr id="14" name="Rounded Rectangle 13"/>
          <p:cNvSpPr/>
          <p:nvPr/>
        </p:nvSpPr>
        <p:spPr>
          <a:xfrm>
            <a:off x="7315200" y="1600200"/>
            <a:ext cx="4325112" cy="265176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498079" y="1691640"/>
            <a:ext cx="3959352" cy="2148839"/>
          </a:xfrm>
          <a:prstGeom prst="rect">
            <a:avLst/>
          </a:prstGeom>
          <a:noFill/>
        </p:spPr>
        <p:txBody>
          <a:bodyPr wrap="square" lIns="0" tIns="0" rIns="0" bIns="0" anchor="ctr">
            <a:spAutoFit/>
          </a:bodyPr>
          <a:lstStyle/>
          <a:p>
            <a:pPr algn="ctr">
              <a:spcAft>
                <a:spcPts val="400"/>
              </a:spcAft>
            </a:pPr>
            <a:r>
              <a:rPr sz="2400" b="0" i="0">
                <a:solidFill>
                  <a:srgbClr val="0E1726"/>
                </a:solidFill>
                <a:latin typeface="Cambria Math"/>
              </a:rPr>
              <a:t>t₀ = (ȳ − τ</a:t>
            </a:r>
            <a:r>
              <a:rPr sz="2400" b="0" i="0" baseline="-25000">
                <a:solidFill>
                  <a:srgbClr val="0E1726"/>
                </a:solidFill>
                <a:latin typeface="Cambria Math"/>
              </a:rPr>
              <a:t>fab</a:t>
            </a:r>
            <a:r>
              <a:rPr sz="2400" b="0" i="0">
                <a:solidFill>
                  <a:srgbClr val="0E1726"/>
                </a:solidFill>
                <a:latin typeface="Cambria Math"/>
              </a:rPr>
              <a:t>) / (S / √n)</a:t>
            </a:r>
          </a:p>
        </p:txBody>
      </p:sp>
      <p:sp>
        <p:nvSpPr>
          <p:cNvPr id="16" name="TextBox 15"/>
          <p:cNvSpPr txBox="1"/>
          <p:nvPr/>
        </p:nvSpPr>
        <p:spPr>
          <a:xfrm>
            <a:off x="7498079" y="3867912"/>
            <a:ext cx="3959352" cy="292608"/>
          </a:xfrm>
          <a:prstGeom prst="rect">
            <a:avLst/>
          </a:prstGeom>
          <a:noFill/>
        </p:spPr>
        <p:txBody>
          <a:bodyPr wrap="square" lIns="0" tIns="0" rIns="0" bIns="0" anchor="t">
            <a:spAutoFit/>
          </a:bodyPr>
          <a:lstStyle/>
          <a:p>
            <a:pPr algn="ctr">
              <a:spcAft>
                <a:spcPts val="600"/>
              </a:spcAft>
            </a:pPr>
            <a:r>
              <a:rPr sz="1150" b="0" i="0">
                <a:solidFill>
                  <a:srgbClr val="5F6B7A"/>
                </a:solidFill>
                <a:latin typeface="Bahnschrift"/>
              </a:rPr>
              <a:t>Montgomery, ec. 2-37; se compara con t</a:t>
            </a:r>
            <a:r>
              <a:rPr sz="1150" b="0" i="0" baseline="-25000">
                <a:solidFill>
                  <a:srgbClr val="5F6B7A"/>
                </a:solidFill>
                <a:latin typeface="Bahnschrift"/>
              </a:rPr>
              <a:t>α/2, n−1</a:t>
            </a:r>
          </a:p>
        </p:txBody>
      </p:sp>
      <p:sp>
        <p:nvSpPr>
          <p:cNvPr id="17" name="Rounded Rectangle 16"/>
          <p:cNvSpPr/>
          <p:nvPr/>
        </p:nvSpPr>
        <p:spPr>
          <a:xfrm>
            <a:off x="548640" y="4526280"/>
            <a:ext cx="5394960" cy="15087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7240" y="4709160"/>
            <a:ext cx="4937760" cy="411480"/>
          </a:xfrm>
          <a:prstGeom prst="rect">
            <a:avLst/>
          </a:prstGeom>
          <a:noFill/>
        </p:spPr>
        <p:txBody>
          <a:bodyPr wrap="square" lIns="0" tIns="0" rIns="0" bIns="0" anchor="t">
            <a:spAutoFit/>
          </a:bodyPr>
          <a:lstStyle/>
          <a:p>
            <a:pPr algn="l">
              <a:spcAft>
                <a:spcPts val="600"/>
              </a:spcAft>
            </a:pPr>
            <a:r>
              <a:rPr sz="1700" b="0" i="0">
                <a:solidFill>
                  <a:srgbClr val="5B3FD9"/>
                </a:solidFill>
                <a:latin typeface="Bahnschrift SemiBold"/>
              </a:rPr>
              <a:t>Si el fabricante da un máximo</a:t>
            </a:r>
          </a:p>
        </p:txBody>
      </p:sp>
      <p:sp>
        <p:nvSpPr>
          <p:cNvPr id="19" name="TextBox 18"/>
          <p:cNvSpPr txBox="1"/>
          <p:nvPr/>
        </p:nvSpPr>
        <p:spPr>
          <a:xfrm>
            <a:off x="777240" y="5184648"/>
            <a:ext cx="4937760" cy="731519"/>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"&lt; X fs": la prueba es de una cola, H</a:t>
            </a:r>
            <a:r>
              <a:rPr sz="1500" b="0" i="0" baseline="-25000">
                <a:solidFill>
                  <a:srgbClr val="0E1726"/>
                </a:solidFill>
                <a:latin typeface="Bahnschrift"/>
              </a:rPr>
              <a:t>A</a:t>
            </a:r>
            <a:r>
              <a:rPr sz="1500" b="0" i="0">
                <a:solidFill>
                  <a:srgbClr val="0E1726"/>
                </a:solidFill>
                <a:latin typeface="Bahnschrift"/>
              </a:rPr>
              <a:t>: μ</a:t>
            </a:r>
            <a:r>
              <a:rPr sz="1500" b="0" i="0" baseline="-25000">
                <a:solidFill>
                  <a:srgbClr val="0E1726"/>
                </a:solidFill>
                <a:latin typeface="Bahnschrift"/>
              </a:rPr>
              <a:t>τ</a:t>
            </a:r>
            <a:r>
              <a:rPr sz="1500" b="0" i="0">
                <a:solidFill>
                  <a:srgbClr val="0E1726"/>
                </a:solidFill>
                <a:latin typeface="Bahnschrift"/>
              </a:rPr>
              <a:t> &gt; τ</a:t>
            </a:r>
            <a:r>
              <a:rPr sz="1500" b="0" i="0" baseline="-25000">
                <a:solidFill>
                  <a:srgbClr val="0E1726"/>
                </a:solidFill>
                <a:latin typeface="Bahnschrift"/>
              </a:rPr>
              <a:t>fabricante</a:t>
            </a:r>
            <a:r>
              <a:rPr sz="1500" b="0" i="0">
                <a:solidFill>
                  <a:srgbClr val="0E1726"/>
                </a:solidFill>
                <a:latin typeface="Bahnschrift"/>
              </a:rPr>
              <a:t>.</a:t>
            </a:r>
          </a:p>
        </p:txBody>
      </p:sp>
      <p:sp>
        <p:nvSpPr>
          <p:cNvPr id="20" name="Rounded Rectangle 19"/>
          <p:cNvSpPr/>
          <p:nvPr/>
        </p:nvSpPr>
        <p:spPr>
          <a:xfrm>
            <a:off x="6245352" y="4526280"/>
            <a:ext cx="5394960" cy="150876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73952" y="4709160"/>
            <a:ext cx="4937760" cy="411480"/>
          </a:xfrm>
          <a:prstGeom prst="rect">
            <a:avLst/>
          </a:prstGeom>
          <a:noFill/>
        </p:spPr>
        <p:txBody>
          <a:bodyPr wrap="square" lIns="0" tIns="0" rIns="0" bIns="0" anchor="t">
            <a:spAutoFit/>
          </a:bodyPr>
          <a:lstStyle/>
          <a:p>
            <a:pPr algn="l">
              <a:spcAft>
                <a:spcPts val="600"/>
              </a:spcAft>
            </a:pPr>
            <a:r>
              <a:rPr sz="1700" b="0" i="0">
                <a:solidFill>
                  <a:srgbClr val="D7263D"/>
                </a:solidFill>
                <a:latin typeface="Bahnschrift SemiBold"/>
              </a:rPr>
              <a:t>Pregunta para la asesoría</a:t>
            </a:r>
          </a:p>
        </p:txBody>
      </p:sp>
      <p:sp>
        <p:nvSpPr>
          <p:cNvPr id="22" name="TextBox 21"/>
          <p:cNvSpPr txBox="1"/>
          <p:nvPr/>
        </p:nvSpPr>
        <p:spPr>
          <a:xfrm>
            <a:off x="6473952" y="5184648"/>
            <a:ext cx="4937760" cy="731519"/>
          </a:xfrm>
          <a:prstGeom prst="rect">
            <a:avLst/>
          </a:prstGeom>
          <a:noFill/>
        </p:spPr>
        <p:txBody>
          <a:bodyPr wrap="square" lIns="0" tIns="0" rIns="0" bIns="0" anchor="t">
            <a:spAutoFit/>
          </a:bodyPr>
          <a:lstStyle/>
          <a:p>
            <a:pPr algn="l">
              <a:spcAft>
                <a:spcPts val="600"/>
              </a:spcAft>
            </a:pPr>
            <a:r>
              <a:rPr sz="1500" b="0" i="0">
                <a:solidFill>
                  <a:srgbClr val="0E1726"/>
                </a:solidFill>
                <a:latin typeface="Bahnschrift"/>
              </a:rPr>
              <a:t>Si hay otro autocorrelador de referencia: dos tratamientos o comparación pareada (secs. 2-4 y 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6 · ¿POR QUÉ EMPEZAR POR CALIBRAR?</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¿Qué podremos concluir sobre el láser?</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6217920" y="6473952"/>
            <a:ext cx="5120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Donnelly y Grossman (1998), pp. 682–683; Chung y Weiner (2001)</a:t>
            </a:r>
          </a:p>
        </p:txBody>
      </p:sp>
      <p:sp>
        <p:nvSpPr>
          <p:cNvPr id="7" name="TextBox 6"/>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24</a:t>
            </a:r>
          </a:p>
        </p:txBody>
      </p:sp>
      <p:sp>
        <p:nvSpPr>
          <p:cNvPr id="8" name="Rounded Rectangle 7"/>
          <p:cNvSpPr/>
          <p:nvPr/>
        </p:nvSpPr>
        <p:spPr>
          <a:xfrm>
            <a:off x="3337560" y="1600200"/>
            <a:ext cx="5486400" cy="822960"/>
          </a:xfrm>
          <a:prstGeom prst="roundRect">
            <a:avLst>
              <a:gd name="adj" fmla="val 6000"/>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337560" y="1600200"/>
            <a:ext cx="5486400" cy="822960"/>
          </a:xfrm>
          <a:prstGeom prst="rect">
            <a:avLst/>
          </a:prstGeom>
          <a:noFill/>
        </p:spPr>
        <p:txBody>
          <a:bodyPr wrap="square" lIns="0" tIns="0" rIns="0" bIns="0" anchor="ctr">
            <a:spAutoFit/>
          </a:bodyPr>
          <a:lstStyle/>
          <a:p>
            <a:pPr algn="ctr">
              <a:spcAft>
                <a:spcPts val="600"/>
              </a:spcAft>
            </a:pPr>
            <a:r>
              <a:rPr sz="1700" b="0" i="0">
                <a:solidFill>
                  <a:srgbClr val="FFFFFF"/>
                </a:solidFill>
                <a:latin typeface="Bahnschrift SemiBold"/>
              </a:rPr>
              <a:t>Comparar τ</a:t>
            </a:r>
            <a:r>
              <a:rPr sz="1700" b="0" i="0" baseline="-25000">
                <a:solidFill>
                  <a:srgbClr val="FFFFFF"/>
                </a:solidFill>
                <a:latin typeface="Bahnschrift SemiBold"/>
              </a:rPr>
              <a:t>p</a:t>
            </a:r>
            <a:r>
              <a:rPr sz="1700" b="0" i="0">
                <a:solidFill>
                  <a:srgbClr val="FFFFFF"/>
                </a:solidFill>
                <a:latin typeface="Bahnschrift SemiBold"/>
              </a:rPr>
              <a:t> con el fabricante y Δλ con el nominal</a:t>
            </a:r>
          </a:p>
        </p:txBody>
      </p:sp>
      <p:cxnSp>
        <p:nvCxnSpPr>
          <p:cNvPr id="10" name="Connector 9"/>
          <p:cNvCxnSpPr/>
          <p:nvPr/>
        </p:nvCxnSpPr>
        <p:spPr>
          <a:xfrm flipH="1">
            <a:off x="1847088" y="2441448"/>
            <a:ext cx="4233672" cy="420624"/>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2880360"/>
            <a:ext cx="2606040" cy="2743200"/>
          </a:xfrm>
          <a:prstGeom prst="roundRect">
            <a:avLst>
              <a:gd name="adj" fmla="val 6000"/>
            </a:avLst>
          </a:prstGeom>
          <a:solidFill>
            <a:srgbClr val="EF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3017520"/>
            <a:ext cx="2240280" cy="411480"/>
          </a:xfrm>
          <a:prstGeom prst="rect">
            <a:avLst/>
          </a:prstGeom>
          <a:noFill/>
        </p:spPr>
        <p:txBody>
          <a:bodyPr wrap="square" lIns="0" tIns="0" rIns="0" bIns="0" anchor="t">
            <a:spAutoFit/>
          </a:bodyPr>
          <a:lstStyle/>
          <a:p>
            <a:pPr algn="l">
              <a:spcAft>
                <a:spcPts val="600"/>
              </a:spcAft>
            </a:pPr>
            <a:r>
              <a:rPr sz="1800" b="0" i="0">
                <a:solidFill>
                  <a:srgbClr val="5B3FD9"/>
                </a:solidFill>
                <a:latin typeface="Bahnschrift SemiBold"/>
              </a:rPr>
              <a:t>τ</a:t>
            </a:r>
            <a:r>
              <a:rPr sz="1800" b="0" i="0" baseline="-25000">
                <a:solidFill>
                  <a:srgbClr val="5B3FD9"/>
                </a:solidFill>
                <a:latin typeface="Bahnschrift SemiBold"/>
              </a:rPr>
              <a:t>p</a:t>
            </a:r>
            <a:r>
              <a:rPr sz="1800" b="0" i="0">
                <a:solidFill>
                  <a:srgbClr val="5B3FD9"/>
                </a:solidFill>
                <a:latin typeface="Bahnschrift SemiBold"/>
              </a:rPr>
              <a:t> ≈ fabricante</a:t>
            </a:r>
          </a:p>
        </p:txBody>
      </p:sp>
      <p:sp>
        <p:nvSpPr>
          <p:cNvPr id="13" name="TextBox 12"/>
          <p:cNvSpPr txBox="1"/>
          <p:nvPr/>
        </p:nvSpPr>
        <p:spPr>
          <a:xfrm>
            <a:off x="731520" y="3429000"/>
            <a:ext cx="2240280" cy="411480"/>
          </a:xfrm>
          <a:prstGeom prst="rect">
            <a:avLst/>
          </a:prstGeom>
          <a:noFill/>
        </p:spPr>
        <p:txBody>
          <a:bodyPr wrap="square" lIns="0" tIns="0" rIns="0" bIns="0" anchor="t">
            <a:spAutoFit/>
          </a:bodyPr>
          <a:lstStyle/>
          <a:p>
            <a:pPr algn="l">
              <a:spcAft>
                <a:spcPts val="600"/>
              </a:spcAft>
            </a:pPr>
            <a:r>
              <a:rPr sz="1400" b="0" i="0">
                <a:solidFill>
                  <a:srgbClr val="5F6B7A"/>
                </a:solidFill>
                <a:latin typeface="Bahnschrift"/>
              </a:rPr>
              <a:t>Δν·τ</a:t>
            </a:r>
            <a:r>
              <a:rPr sz="1400" b="0" i="0" baseline="-25000">
                <a:solidFill>
                  <a:srgbClr val="5F6B7A"/>
                </a:solidFill>
                <a:latin typeface="Bahnschrift"/>
              </a:rPr>
              <a:t>p</a:t>
            </a:r>
            <a:r>
              <a:rPr sz="1400" b="0" i="0">
                <a:solidFill>
                  <a:srgbClr val="5F6B7A"/>
                </a:solidFill>
                <a:latin typeface="Bahnschrift"/>
              </a:rPr>
              <a:t> cerca del límite</a:t>
            </a:r>
          </a:p>
        </p:txBody>
      </p:sp>
      <p:sp>
        <p:nvSpPr>
          <p:cNvPr id="14" name="TextBox 13"/>
          <p:cNvSpPr txBox="1"/>
          <p:nvPr/>
        </p:nvSpPr>
        <p:spPr>
          <a:xfrm>
            <a:off x="731520" y="3931920"/>
            <a:ext cx="2240280" cy="164592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Láser e instrumento en especificación: </a:t>
            </a:r>
            <a:r>
              <a:rPr sz="1600" b="0" i="0">
                <a:solidFill>
                  <a:srgbClr val="0E1726"/>
                </a:solidFill>
                <a:latin typeface="Bahnschrift SemiBold"/>
              </a:rPr>
              <a:t>técnica calibrada</a:t>
            </a:r>
          </a:p>
        </p:txBody>
      </p:sp>
      <p:cxnSp>
        <p:nvCxnSpPr>
          <p:cNvPr id="15" name="Connector 14"/>
          <p:cNvCxnSpPr/>
          <p:nvPr/>
        </p:nvCxnSpPr>
        <p:spPr>
          <a:xfrm flipH="1">
            <a:off x="4654296" y="2441448"/>
            <a:ext cx="1426464" cy="420624"/>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55848" y="2880360"/>
            <a:ext cx="2606040" cy="2743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538728" y="3017520"/>
            <a:ext cx="2240280" cy="411480"/>
          </a:xfrm>
          <a:prstGeom prst="rect">
            <a:avLst/>
          </a:prstGeom>
          <a:noFill/>
        </p:spPr>
        <p:txBody>
          <a:bodyPr wrap="square" lIns="0" tIns="0" rIns="0" bIns="0" anchor="t">
            <a:spAutoFit/>
          </a:bodyPr>
          <a:lstStyle/>
          <a:p>
            <a:pPr algn="l">
              <a:spcAft>
                <a:spcPts val="600"/>
              </a:spcAft>
            </a:pPr>
            <a:r>
              <a:rPr sz="1800" b="0" i="0">
                <a:solidFill>
                  <a:srgbClr val="0E1726"/>
                </a:solidFill>
                <a:latin typeface="Bahnschrift SemiBold"/>
              </a:rPr>
              <a:t>τ</a:t>
            </a:r>
            <a:r>
              <a:rPr sz="1800" b="0" i="0" baseline="-25000">
                <a:solidFill>
                  <a:srgbClr val="0E1726"/>
                </a:solidFill>
                <a:latin typeface="Bahnschrift SemiBold"/>
              </a:rPr>
              <a:t>p</a:t>
            </a:r>
            <a:r>
              <a:rPr sz="1800" b="0" i="0">
                <a:solidFill>
                  <a:srgbClr val="0E1726"/>
                </a:solidFill>
                <a:latin typeface="Bahnschrift SemiBold"/>
              </a:rPr>
              <a:t> mayor</a:t>
            </a:r>
          </a:p>
        </p:txBody>
      </p:sp>
      <p:sp>
        <p:nvSpPr>
          <p:cNvPr id="18" name="TextBox 17"/>
          <p:cNvSpPr txBox="1"/>
          <p:nvPr/>
        </p:nvSpPr>
        <p:spPr>
          <a:xfrm>
            <a:off x="3538728" y="3429000"/>
            <a:ext cx="2240280" cy="411480"/>
          </a:xfrm>
          <a:prstGeom prst="rect">
            <a:avLst/>
          </a:prstGeom>
          <a:noFill/>
        </p:spPr>
        <p:txBody>
          <a:bodyPr wrap="square" lIns="0" tIns="0" rIns="0" bIns="0" anchor="t">
            <a:spAutoFit/>
          </a:bodyPr>
          <a:lstStyle/>
          <a:p>
            <a:pPr algn="l">
              <a:spcAft>
                <a:spcPts val="600"/>
              </a:spcAft>
            </a:pPr>
            <a:r>
              <a:rPr sz="1400" b="0" i="0">
                <a:solidFill>
                  <a:srgbClr val="5F6B7A"/>
                </a:solidFill>
                <a:latin typeface="Bahnschrift"/>
              </a:rPr>
              <a:t>espectro igual al nominal</a:t>
            </a:r>
          </a:p>
        </p:txBody>
      </p:sp>
      <p:sp>
        <p:nvSpPr>
          <p:cNvPr id="19" name="TextBox 18"/>
          <p:cNvSpPr txBox="1"/>
          <p:nvPr/>
        </p:nvSpPr>
        <p:spPr>
          <a:xfrm>
            <a:off x="3538728" y="3931920"/>
            <a:ext cx="2240280" cy="164592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El pulso tiene </a:t>
            </a:r>
            <a:r>
              <a:rPr sz="1600" b="0" i="0">
                <a:solidFill>
                  <a:srgbClr val="0E1726"/>
                </a:solidFill>
                <a:latin typeface="Bahnschrift SemiBold"/>
              </a:rPr>
              <a:t>chirp</a:t>
            </a:r>
            <a:r>
              <a:rPr sz="1600" b="0" i="0">
                <a:solidFill>
                  <a:srgbClr val="0E1726"/>
                </a:solidFill>
                <a:latin typeface="Bahnschrift"/>
              </a:rPr>
              <a:t>: dispersión sin compensar</a:t>
            </a:r>
          </a:p>
        </p:txBody>
      </p:sp>
      <p:cxnSp>
        <p:nvCxnSpPr>
          <p:cNvPr id="20" name="Connector 19"/>
          <p:cNvCxnSpPr/>
          <p:nvPr/>
        </p:nvCxnSpPr>
        <p:spPr>
          <a:xfrm>
            <a:off x="6080760" y="2441448"/>
            <a:ext cx="1380744" cy="420624"/>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63055" y="2880360"/>
            <a:ext cx="2606040" cy="2743200"/>
          </a:xfrm>
          <a:prstGeom prst="roundRect">
            <a:avLst>
              <a:gd name="adj" fmla="val 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345936" y="3017520"/>
            <a:ext cx="2240280" cy="411480"/>
          </a:xfrm>
          <a:prstGeom prst="rect">
            <a:avLst/>
          </a:prstGeom>
          <a:noFill/>
        </p:spPr>
        <p:txBody>
          <a:bodyPr wrap="square" lIns="0" tIns="0" rIns="0" bIns="0" anchor="t">
            <a:spAutoFit/>
          </a:bodyPr>
          <a:lstStyle/>
          <a:p>
            <a:pPr algn="l">
              <a:spcAft>
                <a:spcPts val="600"/>
              </a:spcAft>
            </a:pPr>
            <a:r>
              <a:rPr sz="1800" b="0" i="0">
                <a:solidFill>
                  <a:srgbClr val="D7263D"/>
                </a:solidFill>
                <a:latin typeface="Bahnschrift SemiBold"/>
              </a:rPr>
              <a:t>τ</a:t>
            </a:r>
            <a:r>
              <a:rPr sz="1800" b="0" i="0" baseline="-25000">
                <a:solidFill>
                  <a:srgbClr val="D7263D"/>
                </a:solidFill>
                <a:latin typeface="Bahnschrift SemiBold"/>
              </a:rPr>
              <a:t>p</a:t>
            </a:r>
            <a:r>
              <a:rPr sz="1800" b="0" i="0">
                <a:solidFill>
                  <a:srgbClr val="D7263D"/>
                </a:solidFill>
                <a:latin typeface="Bahnschrift SemiBold"/>
              </a:rPr>
              <a:t> mayor</a:t>
            </a:r>
          </a:p>
        </p:txBody>
      </p:sp>
      <p:sp>
        <p:nvSpPr>
          <p:cNvPr id="23" name="TextBox 22"/>
          <p:cNvSpPr txBox="1"/>
          <p:nvPr/>
        </p:nvSpPr>
        <p:spPr>
          <a:xfrm>
            <a:off x="6345936" y="3429000"/>
            <a:ext cx="2240280" cy="411480"/>
          </a:xfrm>
          <a:prstGeom prst="rect">
            <a:avLst/>
          </a:prstGeom>
          <a:noFill/>
        </p:spPr>
        <p:txBody>
          <a:bodyPr wrap="square" lIns="0" tIns="0" rIns="0" bIns="0" anchor="t">
            <a:spAutoFit/>
          </a:bodyPr>
          <a:lstStyle/>
          <a:p>
            <a:pPr algn="l">
              <a:spcAft>
                <a:spcPts val="600"/>
              </a:spcAft>
            </a:pPr>
            <a:r>
              <a:rPr sz="1400" b="0" i="0">
                <a:solidFill>
                  <a:srgbClr val="5F6B7A"/>
                </a:solidFill>
                <a:latin typeface="Bahnschrift"/>
              </a:rPr>
              <a:t>espectro más angosto</a:t>
            </a:r>
          </a:p>
        </p:txBody>
      </p:sp>
      <p:sp>
        <p:nvSpPr>
          <p:cNvPr id="24" name="TextBox 23"/>
          <p:cNvSpPr txBox="1"/>
          <p:nvPr/>
        </p:nvSpPr>
        <p:spPr>
          <a:xfrm>
            <a:off x="6345936" y="3931920"/>
            <a:ext cx="2240280" cy="164592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Menos modos en fase: el </a:t>
            </a:r>
            <a:r>
              <a:rPr sz="1600" b="0" i="0">
                <a:solidFill>
                  <a:srgbClr val="0E1726"/>
                </a:solidFill>
                <a:latin typeface="Bahnschrift SemiBold"/>
              </a:rPr>
              <a:t>láser perdió desempeño</a:t>
            </a:r>
          </a:p>
        </p:txBody>
      </p:sp>
      <p:cxnSp>
        <p:nvCxnSpPr>
          <p:cNvPr id="25" name="Connector 24"/>
          <p:cNvCxnSpPr/>
          <p:nvPr/>
        </p:nvCxnSpPr>
        <p:spPr>
          <a:xfrm>
            <a:off x="6080760" y="2441448"/>
            <a:ext cx="4187951" cy="420624"/>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970263" y="2880360"/>
            <a:ext cx="2606040" cy="2743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153143" y="3017520"/>
            <a:ext cx="2240280" cy="411480"/>
          </a:xfrm>
          <a:prstGeom prst="rect">
            <a:avLst/>
          </a:prstGeom>
          <a:noFill/>
        </p:spPr>
        <p:txBody>
          <a:bodyPr wrap="square" lIns="0" tIns="0" rIns="0" bIns="0" anchor="t">
            <a:spAutoFit/>
          </a:bodyPr>
          <a:lstStyle/>
          <a:p>
            <a:pPr algn="l">
              <a:spcAft>
                <a:spcPts val="600"/>
              </a:spcAft>
            </a:pPr>
            <a:r>
              <a:rPr sz="1800" b="0" i="0">
                <a:solidFill>
                  <a:srgbClr val="0E1726"/>
                </a:solidFill>
                <a:latin typeface="Bahnschrift SemiBold"/>
              </a:rPr>
              <a:t>τ</a:t>
            </a:r>
            <a:r>
              <a:rPr sz="1800" b="0" i="0" baseline="-25000">
                <a:solidFill>
                  <a:srgbClr val="0E1726"/>
                </a:solidFill>
                <a:latin typeface="Bahnschrift SemiBold"/>
              </a:rPr>
              <a:t>p</a:t>
            </a:r>
            <a:r>
              <a:rPr sz="1800" b="0" i="0">
                <a:solidFill>
                  <a:srgbClr val="0E1726"/>
                </a:solidFill>
                <a:latin typeface="Bahnschrift SemiBold"/>
              </a:rPr>
              <a:t> menor</a:t>
            </a:r>
          </a:p>
        </p:txBody>
      </p:sp>
      <p:sp>
        <p:nvSpPr>
          <p:cNvPr id="28" name="TextBox 27"/>
          <p:cNvSpPr txBox="1"/>
          <p:nvPr/>
        </p:nvSpPr>
        <p:spPr>
          <a:xfrm>
            <a:off x="9153143" y="3429000"/>
            <a:ext cx="2240280" cy="411480"/>
          </a:xfrm>
          <a:prstGeom prst="rect">
            <a:avLst/>
          </a:prstGeom>
          <a:noFill/>
        </p:spPr>
        <p:txBody>
          <a:bodyPr wrap="square" lIns="0" tIns="0" rIns="0" bIns="0" anchor="t">
            <a:spAutoFit/>
          </a:bodyPr>
          <a:lstStyle/>
          <a:p>
            <a:pPr algn="l">
              <a:spcAft>
                <a:spcPts val="600"/>
              </a:spcAft>
            </a:pPr>
            <a:r>
              <a:rPr sz="1400" b="0" i="0">
                <a:solidFill>
                  <a:srgbClr val="5F6B7A"/>
                </a:solidFill>
                <a:latin typeface="Bahnschrift"/>
              </a:rPr>
              <a:t>que el nominal</a:t>
            </a:r>
          </a:p>
        </p:txBody>
      </p:sp>
      <p:sp>
        <p:nvSpPr>
          <p:cNvPr id="29" name="TextBox 28"/>
          <p:cNvSpPr txBox="1"/>
          <p:nvPr/>
        </p:nvSpPr>
        <p:spPr>
          <a:xfrm>
            <a:off x="9153143" y="3931920"/>
            <a:ext cx="2240280" cy="1645920"/>
          </a:xfrm>
          <a:prstGeom prst="rect">
            <a:avLst/>
          </a:prstGeom>
          <a:noFill/>
        </p:spPr>
        <p:txBody>
          <a:bodyPr wrap="square" lIns="0" tIns="0" rIns="0" bIns="0" anchor="t">
            <a:spAutoFit/>
          </a:bodyPr>
          <a:lstStyle/>
          <a:p>
            <a:pPr algn="l">
              <a:spcAft>
                <a:spcPts val="600"/>
              </a:spcAft>
            </a:pPr>
            <a:r>
              <a:rPr sz="1600" b="0" i="0">
                <a:solidFill>
                  <a:srgbClr val="0E1726"/>
                </a:solidFill>
                <a:latin typeface="Bahnschrift"/>
              </a:rPr>
              <a:t>Sospechar del </a:t>
            </a:r>
            <a:r>
              <a:rPr sz="1600" b="0" i="0">
                <a:solidFill>
                  <a:srgbClr val="0E1726"/>
                </a:solidFill>
                <a:latin typeface="Bahnschrift SemiBold"/>
              </a:rPr>
              <a:t>instrumento</a:t>
            </a:r>
            <a:r>
              <a:rPr sz="1600" b="0" i="0">
                <a:solidFill>
                  <a:srgbClr val="0E1726"/>
                </a:solidFill>
                <a:latin typeface="Bahnschrift"/>
              </a:rPr>
              <a:t>: retardo, forma supuesta o artefacto</a:t>
            </a:r>
          </a:p>
        </p:txBody>
      </p:sp>
      <p:sp>
        <p:nvSpPr>
          <p:cNvPr id="30" name="TextBox 29"/>
          <p:cNvSpPr txBox="1"/>
          <p:nvPr/>
        </p:nvSpPr>
        <p:spPr>
          <a:xfrm>
            <a:off x="548640" y="5806440"/>
            <a:ext cx="11064240" cy="457200"/>
          </a:xfrm>
          <a:prstGeom prst="rect">
            <a:avLst/>
          </a:prstGeom>
          <a:noFill/>
        </p:spPr>
        <p:txBody>
          <a:bodyPr wrap="square" lIns="0" tIns="0" rIns="0" bIns="0" anchor="t">
            <a:spAutoFit/>
          </a:bodyPr>
          <a:lstStyle/>
          <a:p>
            <a:pPr algn="l">
              <a:spcAft>
                <a:spcPts val="600"/>
              </a:spcAft>
            </a:pPr>
            <a:r>
              <a:rPr sz="1500" b="0" i="0">
                <a:solidFill>
                  <a:srgbClr val="5F6B7A"/>
                </a:solidFill>
                <a:latin typeface="Bahnschrift"/>
              </a:rPr>
              <a:t>El espectro separa "el láser cambió" de "el instrumento mide mal". Límite: aun con espectro, la forma del pulso no queda fija (≈ 25 %).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822960"/>
            <a:ext cx="9144000" cy="365760"/>
          </a:xfrm>
          <a:prstGeom prst="rect">
            <a:avLst/>
          </a:prstGeom>
          <a:noFill/>
        </p:spPr>
        <p:txBody>
          <a:bodyPr wrap="square" lIns="0" tIns="0" rIns="0" bIns="0" anchor="t">
            <a:spAutoFit/>
          </a:bodyPr>
          <a:lstStyle/>
          <a:p>
            <a:pPr algn="l">
              <a:spcAft>
                <a:spcPts val="600"/>
              </a:spcAft>
            </a:pPr>
            <a:r>
              <a:rPr sz="1300" b="0" i="0">
                <a:solidFill>
                  <a:srgbClr val="A99BFF"/>
                </a:solidFill>
                <a:latin typeface="Bahnschrift SemiBold"/>
              </a:rPr>
              <a:t>6 · ¿POR QUÉ EMPEZAR POR CALIBRAR?</a:t>
            </a:r>
          </a:p>
        </p:txBody>
      </p:sp>
      <p:sp>
        <p:nvSpPr>
          <p:cNvPr id="3" name="TextBox 2"/>
          <p:cNvSpPr txBox="1"/>
          <p:nvPr/>
        </p:nvSpPr>
        <p:spPr>
          <a:xfrm>
            <a:off x="548640" y="1188720"/>
            <a:ext cx="10058400" cy="822960"/>
          </a:xfrm>
          <a:prstGeom prst="rect">
            <a:avLst/>
          </a:prstGeom>
          <a:noFill/>
        </p:spPr>
        <p:txBody>
          <a:bodyPr wrap="square" lIns="0" tIns="0" rIns="0" bIns="0" anchor="t">
            <a:spAutoFit/>
          </a:bodyPr>
          <a:lstStyle/>
          <a:p>
            <a:pPr algn="l">
              <a:spcAft>
                <a:spcPts val="600"/>
              </a:spcAft>
            </a:pPr>
            <a:r>
              <a:rPr sz="4000" b="0" i="0">
                <a:solidFill>
                  <a:srgbClr val="FFFFFF"/>
                </a:solidFill>
                <a:latin typeface="Bahnschrift SemiBold"/>
              </a:rPr>
              <a:t>¿Qué sigue?</a:t>
            </a:r>
          </a:p>
        </p:txBody>
      </p:sp>
      <p:sp>
        <p:nvSpPr>
          <p:cNvPr id="4" name="Rounded Rectangle 3"/>
          <p:cNvSpPr/>
          <p:nvPr/>
        </p:nvSpPr>
        <p:spPr>
          <a:xfrm>
            <a:off x="548640" y="2514600"/>
            <a:ext cx="2606040" cy="2651760"/>
          </a:xfrm>
          <a:prstGeom prst="roundRect">
            <a:avLst>
              <a:gd name="adj" fmla="val 6000"/>
            </a:avLst>
          </a:prstGeom>
          <a:solidFill>
            <a:srgbClr val="16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2697480"/>
            <a:ext cx="2194560" cy="640080"/>
          </a:xfrm>
          <a:prstGeom prst="rect">
            <a:avLst/>
          </a:prstGeom>
          <a:noFill/>
        </p:spPr>
        <p:txBody>
          <a:bodyPr wrap="square" lIns="0" tIns="0" rIns="0" bIns="0" anchor="t">
            <a:spAutoFit/>
          </a:bodyPr>
          <a:lstStyle/>
          <a:p>
            <a:pPr algn="l">
              <a:spcAft>
                <a:spcPts val="600"/>
              </a:spcAft>
            </a:pPr>
            <a:r>
              <a:rPr sz="3400" b="0" i="0">
                <a:solidFill>
                  <a:srgbClr val="D7263D"/>
                </a:solidFill>
                <a:latin typeface="Bahnschrift SemiBold"/>
              </a:rPr>
              <a:t>1</a:t>
            </a:r>
          </a:p>
        </p:txBody>
      </p:sp>
      <p:sp>
        <p:nvSpPr>
          <p:cNvPr id="6" name="TextBox 5"/>
          <p:cNvSpPr txBox="1"/>
          <p:nvPr/>
        </p:nvSpPr>
        <p:spPr>
          <a:xfrm>
            <a:off x="777240" y="3383280"/>
            <a:ext cx="2194560" cy="731520"/>
          </a:xfrm>
          <a:prstGeom prst="rect">
            <a:avLst/>
          </a:prstGeom>
          <a:noFill/>
        </p:spPr>
        <p:txBody>
          <a:bodyPr wrap="square" lIns="0" tIns="0" rIns="0" bIns="0" anchor="t">
            <a:spAutoFit/>
          </a:bodyPr>
          <a:lstStyle/>
          <a:p>
            <a:pPr algn="l">
              <a:spcAft>
                <a:spcPts val="600"/>
              </a:spcAft>
            </a:pPr>
            <a:r>
              <a:rPr sz="1800" b="0" i="0">
                <a:solidFill>
                  <a:srgbClr val="FFFFFF"/>
                </a:solidFill>
                <a:latin typeface="Bahnschrift SemiBold"/>
              </a:rPr>
              <a:t>Ficha técnica del láser</a:t>
            </a:r>
          </a:p>
        </p:txBody>
      </p:sp>
      <p:sp>
        <p:nvSpPr>
          <p:cNvPr id="7" name="TextBox 6"/>
          <p:cNvSpPr txBox="1"/>
          <p:nvPr/>
        </p:nvSpPr>
        <p:spPr>
          <a:xfrm>
            <a:off x="777240" y="4114800"/>
            <a:ext cx="2194560" cy="1005840"/>
          </a:xfrm>
          <a:prstGeom prst="rect">
            <a:avLst/>
          </a:prstGeom>
          <a:noFill/>
        </p:spPr>
        <p:txBody>
          <a:bodyPr wrap="square" lIns="0" tIns="0" rIns="0" bIns="0" anchor="t">
            <a:spAutoFit/>
          </a:bodyPr>
          <a:lstStyle/>
          <a:p>
            <a:pPr algn="l">
              <a:spcAft>
                <a:spcPts val="600"/>
              </a:spcAft>
            </a:pPr>
            <a:r>
              <a:rPr sz="1450" b="0" i="0">
                <a:solidFill>
                  <a:srgbClr val="C9D1DE"/>
                </a:solidFill>
                <a:latin typeface="Bahnschrift"/>
              </a:rPr>
              <a:t>Fija el patrón: ancho, forma supuesta, espectro.</a:t>
            </a:r>
          </a:p>
        </p:txBody>
      </p:sp>
      <p:sp>
        <p:nvSpPr>
          <p:cNvPr id="8" name="Rounded Rectangle 7"/>
          <p:cNvSpPr/>
          <p:nvPr/>
        </p:nvSpPr>
        <p:spPr>
          <a:xfrm>
            <a:off x="3355848" y="2514600"/>
            <a:ext cx="2606040" cy="2651760"/>
          </a:xfrm>
          <a:prstGeom prst="roundRect">
            <a:avLst>
              <a:gd name="adj" fmla="val 6000"/>
            </a:avLst>
          </a:prstGeom>
          <a:solidFill>
            <a:srgbClr val="16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584448" y="2697480"/>
            <a:ext cx="2194560" cy="640080"/>
          </a:xfrm>
          <a:prstGeom prst="rect">
            <a:avLst/>
          </a:prstGeom>
          <a:noFill/>
        </p:spPr>
        <p:txBody>
          <a:bodyPr wrap="square" lIns="0" tIns="0" rIns="0" bIns="0" anchor="t">
            <a:spAutoFit/>
          </a:bodyPr>
          <a:lstStyle/>
          <a:p>
            <a:pPr algn="l">
              <a:spcAft>
                <a:spcPts val="600"/>
              </a:spcAft>
            </a:pPr>
            <a:r>
              <a:rPr sz="3400" b="0" i="0">
                <a:solidFill>
                  <a:srgbClr val="D7263D"/>
                </a:solidFill>
                <a:latin typeface="Bahnschrift SemiBold"/>
              </a:rPr>
              <a:t>2</a:t>
            </a:r>
          </a:p>
        </p:txBody>
      </p:sp>
      <p:sp>
        <p:nvSpPr>
          <p:cNvPr id="10" name="TextBox 9"/>
          <p:cNvSpPr txBox="1"/>
          <p:nvPr/>
        </p:nvSpPr>
        <p:spPr>
          <a:xfrm>
            <a:off x="3584448" y="3383280"/>
            <a:ext cx="2194560" cy="731520"/>
          </a:xfrm>
          <a:prstGeom prst="rect">
            <a:avLst/>
          </a:prstGeom>
          <a:noFill/>
        </p:spPr>
        <p:txBody>
          <a:bodyPr wrap="square" lIns="0" tIns="0" rIns="0" bIns="0" anchor="t">
            <a:spAutoFit/>
          </a:bodyPr>
          <a:lstStyle/>
          <a:p>
            <a:pPr algn="l">
              <a:spcAft>
                <a:spcPts val="600"/>
              </a:spcAft>
            </a:pPr>
            <a:r>
              <a:rPr sz="1800" b="0" i="0">
                <a:solidFill>
                  <a:srgbClr val="FFFFFF"/>
                </a:solidFill>
                <a:latin typeface="Bahnschrift SemiBold"/>
              </a:rPr>
              <a:t>Calibrar el retardo y alinear</a:t>
            </a:r>
          </a:p>
        </p:txBody>
      </p:sp>
      <p:sp>
        <p:nvSpPr>
          <p:cNvPr id="11" name="TextBox 10"/>
          <p:cNvSpPr txBox="1"/>
          <p:nvPr/>
        </p:nvSpPr>
        <p:spPr>
          <a:xfrm>
            <a:off x="3584448" y="4114800"/>
            <a:ext cx="2194560" cy="1005840"/>
          </a:xfrm>
          <a:prstGeom prst="rect">
            <a:avLst/>
          </a:prstGeom>
          <a:noFill/>
        </p:spPr>
        <p:txBody>
          <a:bodyPr wrap="square" lIns="0" tIns="0" rIns="0" bIns="0" anchor="t">
            <a:spAutoFit/>
          </a:bodyPr>
          <a:lstStyle/>
          <a:p>
            <a:pPr algn="l">
              <a:spcAft>
                <a:spcPts val="600"/>
              </a:spcAft>
            </a:pPr>
            <a:r>
              <a:rPr sz="1450" b="0" i="0">
                <a:solidFill>
                  <a:srgbClr val="C9D1DE"/>
                </a:solidFill>
                <a:latin typeface="Bahnschrift"/>
              </a:rPr>
              <a:t>Escala de τ verificada; relación pico/fondo; sin pedestal.</a:t>
            </a:r>
          </a:p>
        </p:txBody>
      </p:sp>
      <p:sp>
        <p:nvSpPr>
          <p:cNvPr id="12" name="Rounded Rectangle 11"/>
          <p:cNvSpPr/>
          <p:nvPr/>
        </p:nvSpPr>
        <p:spPr>
          <a:xfrm>
            <a:off x="6163055" y="2514600"/>
            <a:ext cx="2606040" cy="2651760"/>
          </a:xfrm>
          <a:prstGeom prst="roundRect">
            <a:avLst>
              <a:gd name="adj" fmla="val 6000"/>
            </a:avLst>
          </a:prstGeom>
          <a:solidFill>
            <a:srgbClr val="16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391655" y="2697480"/>
            <a:ext cx="2194560" cy="640080"/>
          </a:xfrm>
          <a:prstGeom prst="rect">
            <a:avLst/>
          </a:prstGeom>
          <a:noFill/>
        </p:spPr>
        <p:txBody>
          <a:bodyPr wrap="square" lIns="0" tIns="0" rIns="0" bIns="0" anchor="t">
            <a:spAutoFit/>
          </a:bodyPr>
          <a:lstStyle/>
          <a:p>
            <a:pPr algn="l">
              <a:spcAft>
                <a:spcPts val="600"/>
              </a:spcAft>
            </a:pPr>
            <a:r>
              <a:rPr sz="3400" b="0" i="0">
                <a:solidFill>
                  <a:srgbClr val="D7263D"/>
                </a:solidFill>
                <a:latin typeface="Bahnschrift SemiBold"/>
              </a:rPr>
              <a:t>3</a:t>
            </a:r>
          </a:p>
        </p:txBody>
      </p:sp>
      <p:sp>
        <p:nvSpPr>
          <p:cNvPr id="14" name="TextBox 13"/>
          <p:cNvSpPr txBox="1"/>
          <p:nvPr/>
        </p:nvSpPr>
        <p:spPr>
          <a:xfrm>
            <a:off x="6391655" y="3383280"/>
            <a:ext cx="2194560" cy="731520"/>
          </a:xfrm>
          <a:prstGeom prst="rect">
            <a:avLst/>
          </a:prstGeom>
          <a:noFill/>
        </p:spPr>
        <p:txBody>
          <a:bodyPr wrap="square" lIns="0" tIns="0" rIns="0" bIns="0" anchor="t">
            <a:spAutoFit/>
          </a:bodyPr>
          <a:lstStyle/>
          <a:p>
            <a:pPr algn="l">
              <a:spcAft>
                <a:spcPts val="600"/>
              </a:spcAft>
            </a:pPr>
            <a:r>
              <a:rPr sz="1800" b="0" i="0">
                <a:solidFill>
                  <a:srgbClr val="FFFFFF"/>
                </a:solidFill>
                <a:latin typeface="Bahnschrift SemiBold"/>
              </a:rPr>
              <a:t>Serie de mediciones repetidas</a:t>
            </a:r>
          </a:p>
        </p:txBody>
      </p:sp>
      <p:sp>
        <p:nvSpPr>
          <p:cNvPr id="15" name="TextBox 14"/>
          <p:cNvSpPr txBox="1"/>
          <p:nvPr/>
        </p:nvSpPr>
        <p:spPr>
          <a:xfrm>
            <a:off x="6391655" y="4114800"/>
            <a:ext cx="2194560" cy="1005840"/>
          </a:xfrm>
          <a:prstGeom prst="rect">
            <a:avLst/>
          </a:prstGeom>
          <a:noFill/>
        </p:spPr>
        <p:txBody>
          <a:bodyPr wrap="square" lIns="0" tIns="0" rIns="0" bIns="0" anchor="t">
            <a:spAutoFit/>
          </a:bodyPr>
          <a:lstStyle/>
          <a:p>
            <a:pPr algn="l">
              <a:spcAft>
                <a:spcPts val="600"/>
              </a:spcAft>
            </a:pPr>
            <a:r>
              <a:rPr sz="1450" b="0" i="0">
                <a:solidFill>
                  <a:srgbClr val="C9D1DE"/>
                </a:solidFill>
                <a:latin typeface="Bahnschrift"/>
              </a:rPr>
              <a:t>Comparación simple frente al fabricante.</a:t>
            </a:r>
          </a:p>
        </p:txBody>
      </p:sp>
      <p:sp>
        <p:nvSpPr>
          <p:cNvPr id="16" name="Rounded Rectangle 15"/>
          <p:cNvSpPr/>
          <p:nvPr/>
        </p:nvSpPr>
        <p:spPr>
          <a:xfrm>
            <a:off x="8970263" y="2514600"/>
            <a:ext cx="2606040" cy="2651760"/>
          </a:xfrm>
          <a:prstGeom prst="roundRect">
            <a:avLst>
              <a:gd name="adj" fmla="val 6000"/>
            </a:avLst>
          </a:prstGeom>
          <a:solidFill>
            <a:srgbClr val="16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198863" y="2697480"/>
            <a:ext cx="2194560" cy="640080"/>
          </a:xfrm>
          <a:prstGeom prst="rect">
            <a:avLst/>
          </a:prstGeom>
          <a:noFill/>
        </p:spPr>
        <p:txBody>
          <a:bodyPr wrap="square" lIns="0" tIns="0" rIns="0" bIns="0" anchor="t">
            <a:spAutoFit/>
          </a:bodyPr>
          <a:lstStyle/>
          <a:p>
            <a:pPr algn="l">
              <a:spcAft>
                <a:spcPts val="600"/>
              </a:spcAft>
            </a:pPr>
            <a:r>
              <a:rPr sz="3400" b="0" i="0">
                <a:solidFill>
                  <a:srgbClr val="A99BFF"/>
                </a:solidFill>
                <a:latin typeface="Bahnschrift SemiBold"/>
              </a:rPr>
              <a:t>4</a:t>
            </a:r>
          </a:p>
        </p:txBody>
      </p:sp>
      <p:sp>
        <p:nvSpPr>
          <p:cNvPr id="18" name="TextBox 17"/>
          <p:cNvSpPr txBox="1"/>
          <p:nvPr/>
        </p:nvSpPr>
        <p:spPr>
          <a:xfrm>
            <a:off x="9198863" y="3383280"/>
            <a:ext cx="2194560" cy="731520"/>
          </a:xfrm>
          <a:prstGeom prst="rect">
            <a:avLst/>
          </a:prstGeom>
          <a:noFill/>
        </p:spPr>
        <p:txBody>
          <a:bodyPr wrap="square" lIns="0" tIns="0" rIns="0" bIns="0" anchor="t">
            <a:spAutoFit/>
          </a:bodyPr>
          <a:lstStyle/>
          <a:p>
            <a:pPr algn="l">
              <a:spcAft>
                <a:spcPts val="600"/>
              </a:spcAft>
            </a:pPr>
            <a:r>
              <a:rPr sz="1800" b="0" i="0">
                <a:solidFill>
                  <a:srgbClr val="FFFFFF"/>
                </a:solidFill>
                <a:latin typeface="Bahnschrift SemiBold"/>
              </a:rPr>
              <a:t>Trabajo futuro</a:t>
            </a:r>
          </a:p>
        </p:txBody>
      </p:sp>
      <p:sp>
        <p:nvSpPr>
          <p:cNvPr id="19" name="TextBox 18"/>
          <p:cNvSpPr txBox="1"/>
          <p:nvPr/>
        </p:nvSpPr>
        <p:spPr>
          <a:xfrm>
            <a:off x="9198863" y="4114800"/>
            <a:ext cx="2194560" cy="1005840"/>
          </a:xfrm>
          <a:prstGeom prst="rect">
            <a:avLst/>
          </a:prstGeom>
          <a:noFill/>
        </p:spPr>
        <p:txBody>
          <a:bodyPr wrap="square" lIns="0" tIns="0" rIns="0" bIns="0" anchor="t">
            <a:spAutoFit/>
          </a:bodyPr>
          <a:lstStyle/>
          <a:p>
            <a:pPr algn="l">
              <a:spcAft>
                <a:spcPts val="600"/>
              </a:spcAft>
            </a:pPr>
            <a:r>
              <a:rPr sz="1450" b="0" i="0">
                <a:solidFill>
                  <a:srgbClr val="C9D1DE"/>
                </a:solidFill>
                <a:latin typeface="Bahnschrift"/>
              </a:rPr>
              <a:t>Diseño factorial sobre los factores, con el instrumento ya calibrado.</a:t>
            </a:r>
          </a:p>
        </p:txBody>
      </p:sp>
      <p:sp>
        <p:nvSpPr>
          <p:cNvPr id="20" name="TextBox 19"/>
          <p:cNvSpPr txBox="1"/>
          <p:nvPr/>
        </p:nvSpPr>
        <p:spPr>
          <a:xfrm>
            <a:off x="548640" y="5532120"/>
            <a:ext cx="11064240" cy="548640"/>
          </a:xfrm>
          <a:prstGeom prst="rect">
            <a:avLst/>
          </a:prstGeom>
          <a:noFill/>
        </p:spPr>
        <p:txBody>
          <a:bodyPr wrap="square" lIns="0" tIns="0" rIns="0" bIns="0" anchor="t">
            <a:spAutoFit/>
          </a:bodyPr>
          <a:lstStyle/>
          <a:p>
            <a:pPr algn="l">
              <a:spcAft>
                <a:spcPts val="600"/>
              </a:spcAft>
            </a:pPr>
            <a:r>
              <a:rPr sz="1600" b="0" i="1">
                <a:solidFill>
                  <a:srgbClr val="C9D1DE"/>
                </a:solidFill>
                <a:latin typeface="Bahnschrift Light"/>
              </a:rPr>
              <a:t>Pregunta para la asesoría: ¿basta el dato del fabricante como patrón, o hay un instrumento de referencia en el laboratorio?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9184"/>
            <a:ext cx="9601200" cy="320040"/>
          </a:xfrm>
          <a:prstGeom prst="rect">
            <a:avLst/>
          </a:prstGeom>
          <a:noFill/>
        </p:spPr>
        <p:txBody>
          <a:bodyPr wrap="square" lIns="0" tIns="0" rIns="0" bIns="0" anchor="t">
            <a:spAutoFit/>
          </a:bodyPr>
          <a:lstStyle/>
          <a:p>
            <a:pPr algn="l">
              <a:spcAft>
                <a:spcPts val="600"/>
              </a:spcAft>
            </a:pPr>
            <a:r>
              <a:rPr sz="1250" b="0" i="0">
                <a:solidFill>
                  <a:srgbClr val="5B3FD9"/>
                </a:solidFill>
                <a:latin typeface="Bahnschrift SemiBold"/>
              </a:rPr>
              <a:t>REFERENCIAS</a:t>
            </a:r>
          </a:p>
        </p:txBody>
      </p:sp>
      <p:sp>
        <p:nvSpPr>
          <p:cNvPr id="3" name="TextBox 2"/>
          <p:cNvSpPr txBox="1"/>
          <p:nvPr/>
        </p:nvSpPr>
        <p:spPr>
          <a:xfrm>
            <a:off x="548640" y="603504"/>
            <a:ext cx="10607040" cy="868680"/>
          </a:xfrm>
          <a:prstGeom prst="rect">
            <a:avLst/>
          </a:prstGeom>
          <a:noFill/>
        </p:spPr>
        <p:txBody>
          <a:bodyPr wrap="square" lIns="0" tIns="0" rIns="0" bIns="0" anchor="t">
            <a:spAutoFit/>
          </a:bodyPr>
          <a:lstStyle/>
          <a:p>
            <a:pPr algn="l">
              <a:spcAft>
                <a:spcPts val="600"/>
              </a:spcAft>
            </a:pPr>
            <a:r>
              <a:rPr sz="3000" b="0" i="0">
                <a:solidFill>
                  <a:srgbClr val="0E1726"/>
                </a:solidFill>
                <a:latin typeface="Bahnschrift SemiBold"/>
              </a:rPr>
              <a:t>Referencias</a:t>
            </a:r>
          </a:p>
        </p:txBody>
      </p:sp>
      <p:pic>
        <p:nvPicPr>
          <p:cNvPr id="4" name="Picture 3" descr="icono.png"/>
          <p:cNvPicPr>
            <a:picLocks noChangeAspect="1"/>
          </p:cNvPicPr>
          <p:nvPr/>
        </p:nvPicPr>
        <p:blipFill>
          <a:blip r:embed="rId3"/>
          <a:stretch>
            <a:fillRect/>
          </a:stretch>
        </p:blipFill>
        <p:spPr>
          <a:xfrm>
            <a:off x="10774375" y="347472"/>
            <a:ext cx="868680" cy="346942"/>
          </a:xfrm>
          <a:prstGeom prst="rect">
            <a:avLst/>
          </a:prstGeom>
        </p:spPr>
      </p:pic>
      <p:sp>
        <p:nvSpPr>
          <p:cNvPr id="5" name="TextBox 4"/>
          <p:cNvSpPr txBox="1"/>
          <p:nvPr/>
        </p:nvSpPr>
        <p:spPr>
          <a:xfrm>
            <a:off x="548640" y="6473952"/>
            <a:ext cx="8229600" cy="274320"/>
          </a:xfrm>
          <a:prstGeom prst="rect">
            <a:avLst/>
          </a:prstGeom>
          <a:noFill/>
        </p:spPr>
        <p:txBody>
          <a:bodyPr wrap="square" lIns="0" tIns="0" rIns="0" bIns="0" anchor="t">
            <a:spAutoFit/>
          </a:bodyPr>
          <a:lstStyle/>
          <a:p>
            <a:pPr algn="l">
              <a:spcAft>
                <a:spcPts val="600"/>
              </a:spcAft>
            </a:pPr>
            <a:r>
              <a:rPr sz="1000" b="0" i="0">
                <a:solidFill>
                  <a:srgbClr val="5F6B7A"/>
                </a:solidFill>
                <a:latin typeface="Bahnschrift"/>
              </a:rPr>
              <a:t>Autocorrelador de intensidad · Diseño de Experimentos Avanzados · UNAL 2026-II</a:t>
            </a:r>
          </a:p>
        </p:txBody>
      </p:sp>
      <p:sp>
        <p:nvSpPr>
          <p:cNvPr id="6" name="TextBox 5"/>
          <p:cNvSpPr txBox="1"/>
          <p:nvPr/>
        </p:nvSpPr>
        <p:spPr>
          <a:xfrm>
            <a:off x="11094415" y="6473952"/>
            <a:ext cx="548640" cy="274320"/>
          </a:xfrm>
          <a:prstGeom prst="rect">
            <a:avLst/>
          </a:prstGeom>
          <a:noFill/>
        </p:spPr>
        <p:txBody>
          <a:bodyPr wrap="square" lIns="0" tIns="0" rIns="0" bIns="0" anchor="t">
            <a:spAutoFit/>
          </a:bodyPr>
          <a:lstStyle/>
          <a:p>
            <a:pPr algn="r">
              <a:spcAft>
                <a:spcPts val="600"/>
              </a:spcAft>
            </a:pPr>
            <a:r>
              <a:rPr sz="1000" b="0" i="0">
                <a:solidFill>
                  <a:srgbClr val="5F6B7A"/>
                </a:solidFill>
                <a:latin typeface="Bahnschrift"/>
              </a:rPr>
              <a:t>26</a:t>
            </a:r>
          </a:p>
        </p:txBody>
      </p:sp>
      <p:sp>
        <p:nvSpPr>
          <p:cNvPr id="7" name="TextBox 6"/>
          <p:cNvSpPr txBox="1"/>
          <p:nvPr/>
        </p:nvSpPr>
        <p:spPr>
          <a:xfrm>
            <a:off x="548640" y="1508760"/>
            <a:ext cx="11091672" cy="4846320"/>
          </a:xfrm>
          <a:prstGeom prst="rect">
            <a:avLst/>
          </a:prstGeom>
          <a:noFill/>
        </p:spPr>
        <p:txBody>
          <a:bodyPr wrap="square" lIns="0" tIns="0" rIns="0" bIns="0" anchor="t">
            <a:spAutoFit/>
          </a:bodyPr>
          <a:lstStyle/>
          <a:p>
            <a:pPr marL="365760" indent="-365760">
              <a:spcAft>
                <a:spcPts val="900"/>
              </a:spcAft>
            </a:pPr>
            <a:r>
              <a:rPr sz="1400" b="0" i="0">
                <a:solidFill>
                  <a:srgbClr val="0E1726"/>
                </a:solidFill>
                <a:latin typeface="Bahnschrift"/>
              </a:rPr>
              <a:t>ARMSTRONG, J. A. Measurement of picosecond laser pulse widths. En: Applied Physics Letters. 1967. vol. 10, no. 1, p. 16-18.</a:t>
            </a:r>
          </a:p>
          <a:p>
            <a:pPr marL="365760" indent="-365760">
              <a:spcAft>
                <a:spcPts val="900"/>
              </a:spcAft>
            </a:pPr>
            <a:r>
              <a:rPr sz="1400" b="0" i="0">
                <a:solidFill>
                  <a:srgbClr val="0E1726"/>
                </a:solidFill>
                <a:latin typeface="Bahnschrift"/>
              </a:rPr>
              <a:t>CHUNG, Jung-Ho y WEINER, Andrew M. Ambiguity of ultrashort pulse shapes retrieved from the intensity autocorrelation and the power spectrum. En: IEEE Journal of Selected Topics in Quantum Electronics. 2001. vol. 7, no. 4, p. 656-666.</a:t>
            </a:r>
          </a:p>
          <a:p>
            <a:pPr marL="365760" indent="-365760">
              <a:spcAft>
                <a:spcPts val="900"/>
              </a:spcAft>
            </a:pPr>
            <a:r>
              <a:rPr sz="1400" b="0" i="0">
                <a:solidFill>
                  <a:srgbClr val="0E1726"/>
                </a:solidFill>
                <a:latin typeface="Bahnschrift"/>
              </a:rPr>
              <a:t>DIELS, Jean-Claude y RUDOLPH, Wolfgang. Ultrashort laser pulse phenomena: fundamentals, techniques, and applications on a femtosecond time scale. 2 ed. Burlington: Academic Press, 2006.</a:t>
            </a:r>
          </a:p>
          <a:p>
            <a:pPr marL="365760" indent="-365760">
              <a:spcAft>
                <a:spcPts val="900"/>
              </a:spcAft>
            </a:pPr>
            <a:r>
              <a:rPr sz="1400" b="0" i="0">
                <a:solidFill>
                  <a:srgbClr val="0E1726"/>
                </a:solidFill>
                <a:latin typeface="Bahnschrift"/>
              </a:rPr>
              <a:t>DONNELLY, T. D. y GROSSMAN, Carl. Ultrafast phenomena: a laboratory experiment for undergraduates. En: American Journal of Physics. 1998. vol. 66, no. 8, p. 677-685.</a:t>
            </a:r>
          </a:p>
          <a:p>
            <a:pPr marL="365760" indent="-365760">
              <a:spcAft>
                <a:spcPts val="900"/>
              </a:spcAft>
            </a:pPr>
            <a:r>
              <a:rPr sz="1400" b="0" i="0">
                <a:solidFill>
                  <a:srgbClr val="0E1726"/>
                </a:solidFill>
                <a:latin typeface="Bahnschrift"/>
              </a:rPr>
              <a:t>HAUS, Hermann A. Theory of mode locking with a fast saturable absorber. En: Journal of Applied Physics. 1975. vol. 46, no. 7, p. 3049-3058.</a:t>
            </a:r>
          </a:p>
          <a:p>
            <a:pPr marL="365760" indent="-365760">
              <a:spcAft>
                <a:spcPts val="900"/>
              </a:spcAft>
            </a:pPr>
            <a:r>
              <a:rPr sz="1400" b="0" i="0">
                <a:solidFill>
                  <a:srgbClr val="0E1726"/>
                </a:solidFill>
                <a:latin typeface="Bahnschrift"/>
              </a:rPr>
              <a:t>MONMAYRANT, Antoine; WEBER, Sébastien y CHATEL, Béatrice. A newcomer's guide to ultrashort pulse shaping and characterization. En: Journal of Physics B: Atomic, Molecular and Optical Physics. 2010. vol. 43, no. 10, art. 103001.</a:t>
            </a:r>
          </a:p>
          <a:p>
            <a:pPr marL="365760" indent="-365760">
              <a:spcAft>
                <a:spcPts val="900"/>
              </a:spcAft>
            </a:pPr>
            <a:r>
              <a:rPr sz="1400" b="0" i="0">
                <a:solidFill>
                  <a:srgbClr val="0E1726"/>
                </a:solidFill>
                <a:latin typeface="Bahnschrift"/>
              </a:rPr>
              <a:t>MONTGOMERY, Douglas C. Diseño y análisis de experimentos. 2 ed. México: Limusa Wiley, 2004.</a:t>
            </a:r>
          </a:p>
          <a:p>
            <a:pPr marL="365760" indent="-365760">
              <a:spcAft>
                <a:spcPts val="900"/>
              </a:spcAft>
            </a:pPr>
            <a:r>
              <a:rPr sz="1400" b="0" i="0">
                <a:solidFill>
                  <a:srgbClr val="0E1726"/>
                </a:solidFill>
                <a:latin typeface="Bahnschrift"/>
              </a:rPr>
              <a:t>RATNER, Justin, et al. Coherent artifact in modern pulse measurements. En: Optics Letters. 2012. vol. 37, no. 14, p. 2874-2876.</a:t>
            </a:r>
          </a:p>
          <a:p>
            <a:pPr marL="365760" indent="-365760">
              <a:spcAft>
                <a:spcPts val="900"/>
              </a:spcAft>
            </a:pPr>
            <a:r>
              <a:rPr sz="1400" b="0" i="0">
                <a:solidFill>
                  <a:srgbClr val="0E1726"/>
                </a:solidFill>
                <a:latin typeface="Bahnschrift"/>
              </a:rPr>
              <a:t>SALA, K.; KENNEY-WALLACE, G. y HALL, G. CW autocorrelation measurements of picosecond laser pulses. En: IEEE Journal of Quantum Electronics. 1980. vol. 16, no. 9, p. 990-996.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5916</Words>
  <Application>Microsoft Office PowerPoint</Application>
  <PresentationFormat>Panorámica</PresentationFormat>
  <Paragraphs>446</Paragraphs>
  <Slides>26</Slides>
  <Notes>26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Arial</vt:lpstr>
      <vt:lpstr>Bahnschrift</vt:lpstr>
      <vt:lpstr>Bahnschrift Light</vt:lpstr>
      <vt:lpstr>Bahnschrift SemiBold</vt:lpstr>
      <vt:lpstr>Calibri</vt:lpstr>
      <vt:lpstr>Cambria Math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Juan esteban rodri</cp:lastModifiedBy>
  <cp:revision>1</cp:revision>
  <dcterms:created xsi:type="dcterms:W3CDTF">2013-01-27T09:14:16Z</dcterms:created>
  <dcterms:modified xsi:type="dcterms:W3CDTF">2026-10-15T19:49:48Z</dcterms:modified>
  <cp:category/>
</cp:coreProperties>
</file>