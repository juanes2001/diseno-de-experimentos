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a medir el ancho de pulso del láser a tres corrientes y comparar cada una con el valor que el fabricante midió en este mismo equipo. Diseño de comparación simple: una media frente a un valor conocido, repetido en cada corriente.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fabricante midió este láser al entregarlo (hoja de pruebas, tabla 5): ancho de pulso a cada corriente de bombeo. La pregunta es si hoy, nueve años después, sigue dando esos anchos. Es una pregunta por corriente: cada una tiene su valor de referencia y su propia prueba. Se eligieron 5, 6 y 7 A porque son las corrientes altas, con más señal de segundo armónico; 7,23 A supera el máximo del controlador (7,12 A). A 7 A la hoja da 70 fs en la tabla 4 y 54 fs en la tabla 5; se usa la tabla 5 porque mide las tres corrientes con el mismo método, y se declara. El patrón no trae tolerancia ni incertidumbre. Diseño de comparación simple, Montgomery sec. 2-4.6: la media de una muestra frente a un valor conocido, una comparación por corriente.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muestras independientes, una por corriente; cada observación es la media de su corriente más un error normal; el parámetro de interés es μk − τ0,k. Hipótesis de dos colas porque τ0 es un valor medido de este láser, no un máximo: un pulso más corto también diría que algo cambió. De los nueve casos de la comparación simple es el caso 2: se compara una media, una población frente a un patrón fijo (τ0 no tiene varianza) y σ desconocida, estimada con S. No es el caso 6 (pareadas) porque el patrón no es una segunda medición; ni el 4 o 5 porque no hay dos muestras. Cada H0 se decide con su muestra, su S y su t0.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es el ancho de pulso τp, en fs, obtenido de la traza con el método del fabricante: sech² y factor 0,65 sobre el ancho a media altura. El eje de retardo sale del micrómetro con τ = 2Δx/c (6,67 fs por µm, brazo con retrorreflector). El cero de retardo es el pico de la autocorrelación: el centro ajustado; el ancho no depende de dónde se ponga el cero. Con paso de 10 µm (66,7 fs) el máximo leído puede caer hasta 33 fs lejos del pico: por eso el estimador principal es el ajuste por mínimos cuadrados de toda la traza y el FWHM interpolado es la comprobación. Unidad experimental: una traza completa a corriente fija. Réplica: una traza nueva e independiente: corriente fijada de nuevo y barrido nuevo desde el extremo, con lecturas nuevas. Dos lecturas del mismo barrido no son réplicas. No se apaga el láser entre réplicas: la variación del encendido entra a nivel de día.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Quince trazas en orden sorteado, ocho válidas (R08 a R15). La dispersión entre trazas es pequeña, S de 2 a 5 fs (CV ≈ 2 %), y eso es lo que fija el número de réplicas. Las medias están 1,9 a 2,8 veces por encima de la hoja de fábrica y la razón crece con la corriente: no cambia n, pero es la pregunta abierta del informe (dispersión en el vidrio del montaje: un pulso de 54 fs se ensancha más que uno de 107 fs). Entre inicios de trazas válidas pasaron 6,1 min: caben 48 trazas en 5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Método de Montgomery, sec. 2-4.2, curva OC de la t de una muestra. σ conservadora: la mayor S del piloto (4,58 fs, 5 A, n = 5) por 1,558, límite superior de confianza del 80 %. δ = 10 fs tiene tres bases: (1) el margen del propio fabricante, tabla 4 a 7 A: límite &lt; 80 fs y resultado 70 fs, regla 2 del protocolo δ = τmáx − τ0; (2) el error del método: cambiar la forma supuesta de sech² a gaussiana mueve τp un 8,8 %, 9,4 fs a 107 fs, menos que eso no se puede atribuir al láser; (3) está por encima del ruido (S de 2 a 5 fs). α = 0,05 es el nivel convencional; β = 0,10 es más exigente que el 0,20 habitual porque el error tipo II, no ver 10 fs de más, es el que más pesa en una verificación: seguir usando un láser con pulsos más largos sin saberlo. Con d = 1,40 sale n = 8; el plan toma 9 por corriente, con potencia 0,96 para 10 fs y ≈ 1 para 15 fs. Límites: β nunca es cero con n finito (β = 0,001 pediría 16; 0,00001, 22); β depende de δ (con n = 9 es 0,54 para 5 fs); y más réplicas no quitan el sesgo del montaje. Con α = 0,01 harían falta 12 para mantener 0,90.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días, tres réplicas por corriente y por día, nueve trazas al día en orden sorteado con semilla anotada. Las tres pruebas t son independientes, pero las tres muestras comparten montaje, detector y reloj. Si el montaje deriva (alineación, temperatura), con las réplicas agrupadas por corriente la deriva de una hora entra entera en la media de esa corriente (sesgo) y sus réplicas se parecen demasiado (S subestimada): t0 queda mal en numerador y denominador. Con el sorteo el momento de cada traza es aleatorio e intercambiable entre corrientes: lo que el tiempo aporte pasa al error, con media cero en cada muestra, que es lo que supone la prueba t (Montgomery, sec. 1-3). Las corrientes no interfieren: cada traza es una realización física separada y el láser no guarda memoria de la corriente anterior tras 5 min. Es la misma aleatorización de un diseño de un solo factor pero con otro fin: proteger cada muestra del tiempo, no comparar niveles.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Procedimiento fijo. Fijar la corriente del turno, llevar el micrómetro más allá del extremo del barrido y avanzar siempre en el mismo sentido para que el juego del micrómetro no cambie la posición. El recorrido llega a 2 o 3 anchos de la autocorrelación a cada lado; con el paso de 10 µm (resolución del micrómetro, confirmada) son de 15 a 29 lecturas y 4 o 5 dentro del ancho; por eso el ajuste de toda la traza es el estimador principal. Se fija lo demás: forma y factor del fabricante, 30 min de calentamiento, mismo programa de análisis; temperatura y humedad no se miden, se anota la hora y se declara. Registro: una fila por réplica (día, turno, corriente, potencia, horas, hoja, Δτ_AC, τp, válida, observaciones). Se descarta solo por causa anotada en el momento; nunca por el valor que dio; toda traza descartada se repone el jueves.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por corriente. Gráficas: diagrama de puntos con τ0 marcado y τp contra el orden. Supuestos de la t: normalidad con gráfica de probabilidad y Anderson-Darling (con n = 9 manda la gráfica), independencia con τp contra el orden de medición, atípicos con residuos estandarizados y la causa anotada; si falla la normalidad se reporta igual la t y se añade la prueba de signos o Wilcoxon. Prueba t de una muestra con la salida literal de Minitab: n, media, S, error estándar, IC, t, P. La prueba dice si hay diferencia; la verificación pregunta cuánto, por eso se lee el IC del 95 % de μk − τ0,k frente a la banda de ±10 fs: dentro, conforme; fuera, desviación; cruza, no concluyente. No rechazar H0 no prueba conformidad; se puede leer así porque n se fijó con potencia 0,90 para 10 fs. Se reporta también la potencia lograda con el n y la S reales. Tabla de ejemplos con n = 9 y S = 5 fs (semiancho 0,77·S = 3,8 fs): con 9 fs de diferencia la t rechaza H0 porque el IC excluye el cero, pero el IC va de 5 a 13 fs y no se puede afirmar que supere 10 fs: no concluyente. Con 6 fs la diferencia es significativa pero pequeña frente a lo que importa: conforme. La prueba dice si hay diferencia; el intervalo dice si es grande.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Rutas de Minitab en español: n en Potencia y tamaño de la muestra (diferencia 10, σ 7,13, potencia 0,90) da 8; sorteo con Muestra de columnas; normalidad con la gráfica de probabilidad y Anderson-Darling; prueba con t de 1 muestra, media hipotética τ0,k, dos colas, 95 %. Calendario: el láser será retirado, así que se mide lunes, martes y miércoles, con el jueves de reserva para reponer trazas y comprobar el montaje; desde el viernes se desmonta; en noviembre análisis e informe; entrega el 12 de diciembre. Si hay menos tiempo: dos días con 4 + 5 por corriente, o lo que quepa, y se informa la potencia lograda.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cuatro decisiones del protocolo.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Referencias en Normas ICONTEC.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z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05840"/>
            <a:ext cx="5394960" cy="32875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A99BFF"/>
                </a:solidFill>
                <a:latin typeface="Bahnschrift SemiBold"/>
              </a:rPr>
              <a:t>DISEÑO DE EXPERIMENTOS AVANZADOS · TRABAJO PRÁCTICO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760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400" b="0" i="0">
                <a:solidFill>
                  <a:srgbClr val="FFFFFF"/>
                </a:solidFill>
                <a:latin typeface="Bahnschrift SemiBold"/>
              </a:rPr>
              <a:t>Protocolo de experimentación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5760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C9D1DE"/>
                </a:solidFill>
                <a:latin typeface="Bahnschrift Light"/>
              </a:rPr>
              <a:t>Ancho de pulso del láser Carmel CFL-05RFFUNC frente a su hoja de fábrica, a 5, 6 y 7 A. Comparación simple: una prueba por corriente.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Bahnschrift"/>
              </a:rPr>
              <a:t>Juan Esteban Rodríguez Ochoa · Sebastián Zapata Henao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Bahnschrift"/>
              </a:rPr>
              <a:t>Profesora: Faviana Gutiérrez Rôa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AA4B5"/>
                </a:solidFill>
                <a:latin typeface="Bahnschrift"/>
              </a:rPr>
              <a:t>Universidad Nacional de Colombia · Sede Medellín · 25 de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1 · PREGUNTA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¿Qué pregunta responde el experimento?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Hoja de pruebas de fábrica del equipo, serie 881139, tabla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3327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0E1726"/>
                </a:solidFill>
                <a:latin typeface="Bahnschrift"/>
              </a:rPr>
              <a:t>¿El láser entrega hoy, </a:t>
            </a:r>
            <a:r>
              <a:rPr sz="2400" b="0" i="0">
                <a:solidFill>
                  <a:srgbClr val="0E1726"/>
                </a:solidFill>
                <a:latin typeface="Bahnschrift SemiBold"/>
              </a:rPr>
              <a:t>a cada corriente</a:t>
            </a:r>
            <a:r>
              <a:rPr sz="2400" b="0" i="0">
                <a:solidFill>
                  <a:srgbClr val="0E1726"/>
                </a:solidFill>
                <a:latin typeface="Bahnschrift"/>
              </a:rPr>
              <a:t>, pulsos tan cortos como los que el fabricante midió en este mismo equipo al entregarlo?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200400"/>
          <a:ext cx="5120640" cy="201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0160"/>
                <a:gridCol w="1828800"/>
                <a:gridCol w="20116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Nivel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Corriente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τ₀ de fábrica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I₁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5 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107 fs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I₂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6 A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76 fs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I₃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7 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E1726"/>
                          </a:solidFill>
                          <a:latin typeface="Bahnschrift"/>
                        </a:rPr>
                        <a:t>54 fs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035040" y="3200400"/>
            <a:ext cx="5605272" cy="91440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7920" y="3310128"/>
            <a:ext cx="5239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3FD9"/>
                </a:solidFill>
                <a:latin typeface="Bahnschrift SemiBold"/>
              </a:rPr>
              <a:t>Patrón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657600"/>
            <a:ext cx="5239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Hoja de pruebas de fábrica del equipo (serie 881139), tabla 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4206240"/>
            <a:ext cx="5605272" cy="91440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17920" y="4315968"/>
            <a:ext cx="5239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3FD9"/>
                </a:solidFill>
                <a:latin typeface="Bahnschrift SemiBold"/>
              </a:rPr>
              <a:t>Mismo método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663440"/>
            <a:ext cx="5239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Autocorrelación de segundo armónico, sech², factor 0,65.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5212080"/>
            <a:ext cx="5605272" cy="91440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17920" y="5321808"/>
            <a:ext cx="5239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7263D"/>
                </a:solidFill>
                <a:latin typeface="Bahnschrift SemiBold"/>
              </a:rPr>
              <a:t>Una prueba por corriente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669280"/>
            <a:ext cx="5239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Comparación simple: una media frente a un valor conocido.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2 · MODELO E HIPÓTESIS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¿Cuál es el modelo, la hipótesis y el caso?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Montgomery (2004), secs. 2-2 y 2-4.6, ec. 2-37; teoría del 23 oct 2026, parte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394960" cy="118872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5029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0" i="0">
                <a:solidFill>
                  <a:srgbClr val="0E1726"/>
                </a:solidFill>
                <a:latin typeface="Cambria Math"/>
              </a:rPr>
              <a:t>y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kj</a:t>
            </a:r>
            <a:r>
              <a:rPr sz="2200" b="0" i="0">
                <a:solidFill>
                  <a:srgbClr val="0E1726"/>
                </a:solidFill>
                <a:latin typeface="Cambria Math"/>
              </a:rPr>
              <a:t> = μ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2200" b="0" i="0">
                <a:solidFill>
                  <a:srgbClr val="0E1726"/>
                </a:solidFill>
                <a:latin typeface="Cambria Math"/>
              </a:rPr>
              <a:t> + ε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kj</a:t>
            </a:r>
          </a:p>
          <a:p>
            <a:pPr algn="ctr">
              <a:spcAft>
                <a:spcPts val="400"/>
              </a:spcAft>
            </a:pPr>
            <a:r>
              <a:rPr sz="2200" b="0" i="0">
                <a:solidFill>
                  <a:srgbClr val="0E1726"/>
                </a:solidFill>
                <a:latin typeface="Cambria Math"/>
              </a:rPr>
              <a:t>ε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kj</a:t>
            </a:r>
            <a:r>
              <a:rPr sz="2200" b="0" i="0">
                <a:solidFill>
                  <a:srgbClr val="0E1726"/>
                </a:solidFill>
                <a:latin typeface="Cambria Math"/>
              </a:rPr>
              <a:t> ~ NID(0, σ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2200" b="0" i="0">
                <a:solidFill>
                  <a:srgbClr val="0E1726"/>
                </a:solidFill>
                <a:latin typeface="Cambria Math"/>
              </a:rPr>
              <a:t>²) · k = 1, 2, 3 · j = 1, …, 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017520"/>
          <a:ext cx="5394960" cy="19019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1600"/>
                <a:gridCol w="201168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Corriente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H₀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H</a:t>
                      </a:r>
                      <a:r>
                        <a:rPr sz="1600" b="0" i="0" baseline="-25000">
                          <a:solidFill>
                            <a:srgbClr val="FFFFFF"/>
                          </a:solidFill>
                          <a:latin typeface="Bahnschrift SemiBold"/>
                        </a:rPr>
                        <a:t>A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5 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μ₁ = 107 fs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μ₁ ≠ 107 fs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6 A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μ₂ = 76 fs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μ₂ ≠ 76 fs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7 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μ₃ = 54 fs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0E1726"/>
                          </a:solidFill>
                          <a:latin typeface="Bahnschrift"/>
                        </a:rPr>
                        <a:t>μ₃ ≠ 54 fs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02920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5F6B7A"/>
                </a:solidFill>
                <a:latin typeface="Bahnschrift"/>
              </a:rPr>
              <a:t>Dos colas: τ₀ es un valor </a:t>
            </a:r>
            <a:r>
              <a:rPr sz="1450" b="0" i="0">
                <a:solidFill>
                  <a:srgbClr val="5F6B7A"/>
                </a:solidFill>
                <a:latin typeface="Bahnschrift SemiBold"/>
              </a:rPr>
              <a:t>medido</a:t>
            </a:r>
            <a:r>
              <a:rPr sz="1450" b="0" i="0">
                <a:solidFill>
                  <a:srgbClr val="5F6B7A"/>
                </a:solidFill>
                <a:latin typeface="Bahnschrift"/>
              </a:rPr>
              <a:t> de este láser, no un máximo.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600200"/>
            <a:ext cx="1691640" cy="64008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B3FD9"/>
                </a:solidFill>
                <a:latin typeface="Bahnschrift SemiBold"/>
              </a:rPr>
              <a:t>Una media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10144" y="1920240"/>
            <a:ext cx="100583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19872" y="1600200"/>
            <a:ext cx="1691640" cy="64008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19872" y="1600200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B3FD9"/>
                </a:solidFill>
                <a:latin typeface="Bahnschrift SemiBold"/>
              </a:rPr>
              <a:t>Una población frente a un patrón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20656" y="1920240"/>
            <a:ext cx="100584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930384" y="1600200"/>
            <a:ext cx="1691640" cy="64008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930384" y="1600200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B3FD9"/>
                </a:solidFill>
                <a:latin typeface="Bahnschrift SemiBold"/>
              </a:rPr>
              <a:t>σ desconocida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423160"/>
            <a:ext cx="5330952" cy="132588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92240" y="2514600"/>
            <a:ext cx="496519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0E1726"/>
                </a:solidFill>
                <a:latin typeface="Cambria Math"/>
              </a:rPr>
              <a:t>Caso 2 · t de una muestra</a:t>
            </a:r>
          </a:p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0E1726"/>
                </a:solidFill>
                <a:latin typeface="Cambria Math"/>
              </a:rPr>
              <a:t>t₀ = (ȳ</a:t>
            </a:r>
            <a:r>
              <a:rPr sz="20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2000" b="0" i="0">
                <a:solidFill>
                  <a:srgbClr val="0E1726"/>
                </a:solidFill>
                <a:latin typeface="Cambria Math"/>
              </a:rPr>
              <a:t> − τ</a:t>
            </a:r>
            <a:r>
              <a:rPr sz="2000" b="0" i="0" baseline="-25000">
                <a:solidFill>
                  <a:srgbClr val="0E1726"/>
                </a:solidFill>
                <a:latin typeface="Cambria Math"/>
              </a:rPr>
              <a:t>0,k</a:t>
            </a:r>
            <a:r>
              <a:rPr sz="2000" b="0" i="0">
                <a:solidFill>
                  <a:srgbClr val="0E1726"/>
                </a:solidFill>
                <a:latin typeface="Cambria Math"/>
              </a:rPr>
              <a:t>) / (S</a:t>
            </a:r>
            <a:r>
              <a:rPr sz="20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2000" b="0" i="0">
                <a:solidFill>
                  <a:srgbClr val="0E1726"/>
                </a:solidFill>
                <a:latin typeface="Cambria Math"/>
              </a:rPr>
              <a:t>/√n) · t</a:t>
            </a:r>
            <a:r>
              <a:rPr sz="2000" b="0" i="0" baseline="-25000">
                <a:solidFill>
                  <a:srgbClr val="0E1726"/>
                </a:solidFill>
                <a:latin typeface="Cambria Math"/>
              </a:rPr>
              <a:t>n−1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364991"/>
            <a:ext cx="49651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F6B7A"/>
                </a:solidFill>
                <a:latin typeface="Bahnschrift"/>
              </a:rPr>
              <a:t>se rechaza H₀ si |t₀| &gt; t</a:t>
            </a:r>
            <a:r>
              <a:rPr sz="1150" b="0" i="0" baseline="-25000">
                <a:solidFill>
                  <a:srgbClr val="5F6B7A"/>
                </a:solidFill>
                <a:latin typeface="Bahnschrift"/>
              </a:rPr>
              <a:t>0,025; n−1</a:t>
            </a:r>
            <a:r>
              <a:rPr sz="1150" b="0" i="0">
                <a:solidFill>
                  <a:srgbClr val="5F6B7A"/>
                </a:solidFill>
                <a:latin typeface="Bahnschrift"/>
              </a:rPr>
              <a:t> = 2,306 (n = 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886200"/>
            <a:ext cx="5330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F6B7A"/>
                </a:solidFill>
                <a:latin typeface="Bahnschrift SemiBold"/>
              </a:rPr>
              <a:t>LOS NUEVE CASOS DE LA COMPARACIÓN SIMPLE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20624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82512" y="420624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1 · media, σ conocida · Z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19872" y="420624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 w="19050">
            <a:solidFill>
              <a:srgbClr val="D72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93024" y="420624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D7263D"/>
                </a:solidFill>
                <a:latin typeface="Bahnschrift SemiBold"/>
              </a:rPr>
              <a:t>2 · media, σ desconocida · 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30384" y="420624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003536" y="420624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3 · dos medias, σ conocidas · Z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484632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82512" y="484632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4 · dos medias, σ iguales · 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19872" y="484632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93024" y="484632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5 · dos medias, σ distintas · 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30384" y="484632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003536" y="484632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6 · pareadas · 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548640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82512" y="548640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7 · una varianza · χ²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19872" y="548640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193024" y="548640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8 · dos varianzas · F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930384" y="5486400"/>
            <a:ext cx="1691640" cy="5486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003536" y="548640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0E1726"/>
                </a:solidFill>
                <a:latin typeface="Bahnschrift"/>
              </a:rPr>
              <a:t>9 · proporciones · 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3 · QUÉ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¿Qué se mide y qué es una réplica?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Diels y Rudolph (2006), cap. 9; nota 2 de las hojas de datos de Calmar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4</a:t>
            </a:r>
          </a:p>
        </p:txBody>
      </p:sp>
      <p:pic>
        <p:nvPicPr>
          <p:cNvPr id="8" name="Picture 7" descr="traz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4480"/>
            <a:ext cx="5943600" cy="362188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766560" y="1600200"/>
            <a:ext cx="4873752" cy="128016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49440" y="1691640"/>
            <a:ext cx="450799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0" i="0">
                <a:solidFill>
                  <a:srgbClr val="0E1726"/>
                </a:solidFill>
                <a:latin typeface="Cambria Math"/>
              </a:rPr>
              <a:t>τ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p</a:t>
            </a:r>
            <a:r>
              <a:rPr sz="2200" b="0" i="0">
                <a:solidFill>
                  <a:srgbClr val="0E1726"/>
                </a:solidFill>
                <a:latin typeface="Cambria Math"/>
              </a:rPr>
              <a:t> = 0,65 · Δτ</a:t>
            </a:r>
            <a:r>
              <a:rPr sz="2200" b="0" i="0" baseline="-25000">
                <a:solidFill>
                  <a:srgbClr val="0E1726"/>
                </a:solidFill>
                <a:latin typeface="Cambria Math"/>
              </a:rPr>
              <a:t>AC</a:t>
            </a:r>
          </a:p>
          <a:p>
            <a:pPr algn="ctr">
              <a:spcAft>
                <a:spcPts val="400"/>
              </a:spcAft>
            </a:pPr>
            <a:r>
              <a:rPr sz="2200" b="0" i="0">
                <a:solidFill>
                  <a:srgbClr val="0E1726"/>
                </a:solidFill>
                <a:latin typeface="Cambria Math"/>
              </a:rPr>
              <a:t>τ = 2Δx / c = 6,67 fs por µm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108960"/>
            <a:ext cx="48737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56032" indent="-256032">
              <a:spcAft>
                <a:spcPts val="700"/>
              </a:spcAft>
              <a:buClr>
                <a:srgbClr val="D7263D"/>
              </a:buClr>
              <a:buFont typeface="Arial"/>
              <a:buChar char="■"/>
            </a:pPr>
            <a:r>
              <a:rPr sz="1450" b="0" i="0">
                <a:solidFill>
                  <a:srgbClr val="0E1726"/>
                </a:solidFill>
                <a:latin typeface="Bahnschrift SemiBold"/>
              </a:rPr>
              <a:t>Cero de retardo = pico</a:t>
            </a:r>
            <a:r>
              <a:rPr sz="1450" b="0" i="0">
                <a:solidFill>
                  <a:srgbClr val="0E1726"/>
                </a:solidFill>
                <a:latin typeface="Bahnschrift"/>
              </a:rPr>
              <a:t> de la autocorrelación. El ancho no depende del cero.</a:t>
            </a:r>
          </a:p>
          <a:p>
            <a:pPr marL="256032" indent="-256032">
              <a:spcAft>
                <a:spcPts val="700"/>
              </a:spcAft>
              <a:buClr>
                <a:srgbClr val="D7263D"/>
              </a:buClr>
              <a:buFont typeface="Arial"/>
              <a:buChar char="■"/>
            </a:pPr>
            <a:r>
              <a:rPr sz="1450" b="0" i="0">
                <a:solidFill>
                  <a:srgbClr val="0E1726"/>
                </a:solidFill>
                <a:latin typeface="Bahnschrift SemiBold"/>
              </a:rPr>
              <a:t>Estimador:</a:t>
            </a:r>
            <a:r>
              <a:rPr sz="1450" b="0" i="0">
                <a:solidFill>
                  <a:srgbClr val="0E1726"/>
                </a:solidFill>
                <a:latin typeface="Bahnschrift"/>
              </a:rPr>
              <a:t> ajuste sech² de toda la traza; FWHM × 0,65 como comprobación.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4846320"/>
            <a:ext cx="4873752" cy="128016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0" y="4956048"/>
            <a:ext cx="45079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D7263D"/>
                </a:solidFill>
                <a:latin typeface="Bahnschrift SemiBold"/>
              </a:rPr>
              <a:t>Réplica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5303520"/>
            <a:ext cx="4507992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Una traza </a:t>
            </a:r>
            <a:r>
              <a:rPr sz="1350" b="0" i="0">
                <a:solidFill>
                  <a:srgbClr val="0E1726"/>
                </a:solidFill>
                <a:latin typeface="Bahnschrift SemiBold"/>
              </a:rPr>
              <a:t>nueva e independiente</a:t>
            </a:r>
            <a:r>
              <a:rPr sz="1350" b="0" i="0">
                <a:solidFill>
                  <a:srgbClr val="0E1726"/>
                </a:solidFill>
                <a:latin typeface="Bahnschrift"/>
              </a:rPr>
              <a:t>: corriente fijada de nuevo y barrido nuevo desde el extremo.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4 · CUÁNTAS RÉPLICAS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¿Qué dijo el piloto del 24 de octubre?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Informe del piloto, 24 oct 2026, secciones 4 a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5</a:t>
            </a:r>
          </a:p>
        </p:txBody>
      </p:sp>
      <p:pic>
        <p:nvPicPr>
          <p:cNvPr id="8" name="Picture 7" descr="pilo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4480"/>
            <a:ext cx="6035040" cy="36776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0" y="1508760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1B8A5A"/>
                </a:solidFill>
                <a:latin typeface="Bahnschrift SemiBold"/>
              </a:rPr>
              <a:t>S = 2 a 5 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24028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dispersión entre trazas de una misma corriente: es lo que fija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017520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D7263D"/>
                </a:solidFill>
                <a:latin typeface="Bahnschrift SemiBold"/>
              </a:rPr>
              <a:t>2 a 3 × τ₀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3749039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medias sobre la hoja de fábrica; no cambia n, es la pregunta del informe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526280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6,1 min por traza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525780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48 trazas caben en un día de 5 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4 · CUÁNTAS RÉPLICAS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¿Cuántas réplicas, y por qué δ = 10 fs?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Montgomery (2004), sec. 2-4.2 y apéndice V; hoja de pruebas, tabla 4; Diels y Rudolph (2006), cap.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6</a:t>
            </a:r>
          </a:p>
        </p:txBody>
      </p:sp>
      <p:pic>
        <p:nvPicPr>
          <p:cNvPr id="8" name="Picture 7" descr="del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4480"/>
            <a:ext cx="585216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150876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5B3FD9"/>
                </a:solidFill>
                <a:latin typeface="Bahnschrift SemiBold"/>
              </a:rPr>
              <a:t>σ = 7,13 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24028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1,558 × S mayor del piloto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508760"/>
            <a:ext cx="24048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D7263D"/>
                </a:solidFill>
                <a:latin typeface="Bahnschrift SemiBold"/>
              </a:rPr>
              <a:t>δ = 10 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2240280"/>
            <a:ext cx="24048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margen del fabricante: 80 − 70 fs a 7 A; error de la forma 8,8 %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10896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0E1726"/>
                </a:solidFill>
                <a:latin typeface="Bahnschrift SemiBold"/>
              </a:rPr>
              <a:t>n =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84048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α = 0,05 · potencia 0,90 · dos colas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108960"/>
            <a:ext cx="24048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1B8A5A"/>
                </a:solidFill>
                <a:latin typeface="Bahnschrift SemiBold"/>
              </a:rPr>
              <a:t>9 → 0,96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3840480"/>
            <a:ext cx="24048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F6B7A"/>
                </a:solidFill>
                <a:latin typeface="Bahnschrift"/>
              </a:rPr>
              <a:t>potencia real del plan para 10 fs; ≈ 1 para 15 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754880"/>
            <a:ext cx="4965192" cy="137160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4864608"/>
            <a:ext cx="45994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7263D"/>
                </a:solidFill>
                <a:latin typeface="Bahnschrift SemiBold"/>
              </a:rPr>
              <a:t>β pesa más que 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5212080"/>
            <a:ext cx="459943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No ver 10 fs de más es seguir usando un láser fuera de especificación. Más réplicas bajan β, no el sesgo del montaje.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5 · CÓMO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¿Por qué se sortea el orden dentro del día?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Montgomery (2004), secs. 1-3 y 2-4.1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50876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Bahnschrift"/>
              </a:rPr>
              <a:t>deriva del montaje a lo largo de la tarde 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86000" y="1856232"/>
            <a:ext cx="8229600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2011680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D7263D"/>
                </a:solidFill>
                <a:latin typeface="Bahnschrift SemiBold"/>
              </a:rPr>
              <a:t>Agrupado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286000" y="2011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200400" y="2011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114800" y="2011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0" y="2011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43600" y="2011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0" y="2011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0" y="2011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686800" y="2011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0" y="2011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01200" y="2011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256032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D7263D"/>
                </a:solidFill>
                <a:latin typeface="Bahnschrift"/>
              </a:rPr>
              <a:t>la deriva entra entera en ȳ₁ y S₁ queda subestimada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154680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B8A5A"/>
                </a:solidFill>
                <a:latin typeface="Bahnschrift SemiBold"/>
              </a:rPr>
              <a:t>Sorteado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286000" y="3154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200400" y="3154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114800" y="3154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029200" y="3154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I₃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943600" y="3154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858000" y="3154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772400" y="3154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I₃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868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686800" y="3154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01200" y="315468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601200" y="3154680"/>
            <a:ext cx="822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I₂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86000" y="370332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B8A5A"/>
                </a:solidFill>
                <a:latin typeface="Bahnschrift"/>
              </a:rPr>
              <a:t>la deriva se reparte: cada ȳ</a:t>
            </a:r>
            <a:r>
              <a:rPr sz="1350" b="0" i="0" baseline="-25000">
                <a:solidFill>
                  <a:srgbClr val="1B8A5A"/>
                </a:solidFill>
                <a:latin typeface="Bahnschrift"/>
              </a:rPr>
              <a:t>k</a:t>
            </a:r>
            <a:r>
              <a:rPr sz="1350" b="0" i="0">
                <a:solidFill>
                  <a:srgbClr val="1B8A5A"/>
                </a:solidFill>
                <a:latin typeface="Bahnschrift"/>
              </a:rPr>
              <a:t> sin sesgo, cada S</a:t>
            </a:r>
            <a:r>
              <a:rPr sz="1350" b="0" i="0" baseline="-25000">
                <a:solidFill>
                  <a:srgbClr val="1B8A5A"/>
                </a:solidFill>
                <a:latin typeface="Bahnschrift"/>
              </a:rPr>
              <a:t>k</a:t>
            </a:r>
            <a:r>
              <a:rPr sz="1350" b="0" i="0">
                <a:solidFill>
                  <a:srgbClr val="1B8A5A"/>
                </a:solidFill>
                <a:latin typeface="Bahnschrift"/>
              </a:rPr>
              <a:t> la incluye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572000"/>
            <a:ext cx="3593592" cy="155448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31520" y="4681728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3FD9"/>
                </a:solidFill>
                <a:latin typeface="Bahnschrift SemiBold"/>
              </a:rPr>
              <a:t>Plan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5029200"/>
            <a:ext cx="32278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3 días × (3 I₁ + 3 I₂ + 3 I₃). Sorteo completo cada día, semilla anotada.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97679" y="4572000"/>
            <a:ext cx="3593592" cy="15544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480559" y="4681728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E1726"/>
                </a:solidFill>
                <a:latin typeface="Bahnschrift SemiBold"/>
              </a:rPr>
              <a:t>Las corrientes no interfieren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0559" y="5029200"/>
            <a:ext cx="32278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Cada traza es una realización separada; el láser no guarda memoria tras 5 min.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19" y="4572000"/>
            <a:ext cx="3593592" cy="155448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29599" y="4681728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7263D"/>
                </a:solidFill>
                <a:latin typeface="Bahnschrift SemiBold"/>
              </a:rPr>
              <a:t>Por qué quedan independientes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599" y="5029200"/>
            <a:ext cx="32278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El tiempo pasa al error con media cero en cada muestra: lo que supone la prueba 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5 · CÓMO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¿Cómo se toma cada réplica?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Protocolo, sección 5; informe del piloto, conclusión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8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673352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16733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5120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0E1726"/>
                </a:solidFill>
                <a:latin typeface="Bahnschrift"/>
              </a:rPr>
              <a:t>Fijar la corriente; esperar 5 min si cambió; anotar la potencia.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2258568"/>
            <a:ext cx="5120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0E1726"/>
                </a:solidFill>
                <a:latin typeface="Bahnschrift"/>
              </a:rPr>
              <a:t>Llevar el micrómetro más allá del extremo del barrido.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990088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29900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19" y="2916936"/>
            <a:ext cx="5120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0E1726"/>
                </a:solidFill>
                <a:latin typeface="Bahnschrift"/>
              </a:rPr>
              <a:t>Avanzar </a:t>
            </a:r>
            <a:r>
              <a:rPr sz="1450" b="0" i="0">
                <a:solidFill>
                  <a:srgbClr val="0E1726"/>
                </a:solidFill>
                <a:latin typeface="Bahnschrift SemiBold"/>
              </a:rPr>
              <a:t>siempre en el mismo sentido</a:t>
            </a:r>
            <a:r>
              <a:rPr sz="1450" b="0" i="0">
                <a:solidFill>
                  <a:srgbClr val="0E1726"/>
                </a:solidFill>
                <a:latin typeface="Bahnschrift"/>
              </a:rPr>
              <a:t>, paso 10 µm.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3648456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3575304"/>
            <a:ext cx="5120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0E1726"/>
                </a:solidFill>
                <a:latin typeface="Bahnschrift"/>
              </a:rPr>
              <a:t>Anotar posición y potencia óptica en cada lectura, hasta las alas.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4233672"/>
            <a:ext cx="5120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0E1726"/>
                </a:solidFill>
                <a:latin typeface="Bahnschrift"/>
              </a:rPr>
              <a:t>Guardar la hoja Rk. </a:t>
            </a:r>
            <a:r>
              <a:rPr sz="1450" b="0" i="0">
                <a:solidFill>
                  <a:srgbClr val="0E1726"/>
                </a:solidFill>
                <a:latin typeface="Bahnschrift SemiBold"/>
              </a:rPr>
              <a:t>No descartar nada en el momento.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965192"/>
            <a:ext cx="457200" cy="45720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48640" y="4965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19" y="4892040"/>
            <a:ext cx="5120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0E1726"/>
                </a:solidFill>
                <a:latin typeface="Bahnschrift"/>
              </a:rPr>
              <a:t>Analizar con el programa fijo: Δτ</a:t>
            </a:r>
            <a:r>
              <a:rPr sz="1450" b="0" i="0" baseline="-25000">
                <a:solidFill>
                  <a:srgbClr val="0E1726"/>
                </a:solidFill>
                <a:latin typeface="Bahnschrift"/>
              </a:rPr>
              <a:t>AC</a:t>
            </a:r>
            <a:r>
              <a:rPr sz="1450" b="0" i="0">
                <a:solidFill>
                  <a:srgbClr val="0E1726"/>
                </a:solidFill>
                <a:latin typeface="Bahnschrift"/>
              </a:rPr>
              <a:t>, τ</a:t>
            </a:r>
            <a:r>
              <a:rPr sz="1450" b="0" i="0" baseline="-25000">
                <a:solidFill>
                  <a:srgbClr val="0E1726"/>
                </a:solidFill>
                <a:latin typeface="Bahnschrift"/>
              </a:rPr>
              <a:t>p</a:t>
            </a:r>
            <a:r>
              <a:rPr sz="1450" b="0" i="0">
                <a:solidFill>
                  <a:srgbClr val="0E1726"/>
                </a:solidFill>
                <a:latin typeface="Bahnschrift"/>
              </a:rPr>
              <a:t>, estado.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583680" y="1600200"/>
          <a:ext cx="5056632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5840"/>
                <a:gridCol w="1691640"/>
                <a:gridCol w="1490472"/>
                <a:gridCol w="86868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Corriente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Δτ</a:t>
                      </a:r>
                      <a:r>
                        <a:rPr sz="1300" b="0" i="0" baseline="-25000">
                          <a:solidFill>
                            <a:srgbClr val="FFFFFF"/>
                          </a:solidFill>
                          <a:latin typeface="Bahnschrift SemiBold"/>
                        </a:rPr>
                        <a:t>AC</a:t>
                      </a:r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 medido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Barrido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Lecturas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5 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≈ 310 fs = 46 µm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±90 a ±140 µm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19 a 29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6 A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≈ 238 fs = 36 µm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±70 a ±105 µm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15 a 22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7 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≈ 238 fs = 36 µm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±70 a ±105 µm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15 a 22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6583680" y="3566160"/>
            <a:ext cx="5056632" cy="11887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66560" y="3675887"/>
            <a:ext cx="46908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E1726"/>
                </a:solidFill>
                <a:latin typeface="Bahnschrift SemiBold"/>
              </a:rPr>
              <a:t>Fijo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023360"/>
            <a:ext cx="46908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sech² y 0,65 · 30 min de calentamiento · paso 10 µm · mismo programa · temperatura y humedad: limitación declarada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892040"/>
            <a:ext cx="5056632" cy="123444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766560" y="5001768"/>
            <a:ext cx="46908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7263D"/>
                </a:solidFill>
                <a:latin typeface="Bahnschrift SemiBold"/>
              </a:rPr>
              <a:t>Registro y descarte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5349240"/>
            <a:ext cx="46908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"/>
              </a:rPr>
              <a:t>Una fila por réplica. Se descarta </a:t>
            </a:r>
            <a:r>
              <a:rPr sz="1300" b="0" i="0">
                <a:solidFill>
                  <a:srgbClr val="0E1726"/>
                </a:solidFill>
                <a:latin typeface="Bahnschrift SemiBold"/>
              </a:rPr>
              <a:t>solo por causa anotada en el momento</a:t>
            </a:r>
            <a:r>
              <a:rPr sz="1300" b="0" i="0">
                <a:solidFill>
                  <a:srgbClr val="0E1726"/>
                </a:solidFill>
                <a:latin typeface="Bahnschrift"/>
              </a:rPr>
              <a:t>, nunca por el valor; se repone.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6 · ANÁLISIS Y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¿Cómo se analiza y cómo se decide en cada corriente?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Montgomery (2004), secs. 2-4.1, 2-4.2 y 2-4.6, ec. 2-38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3FD9"/>
                </a:solidFill>
                <a:latin typeface="Bahnschrift SemiBold"/>
              </a:rPr>
              <a:t>Gráficas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01168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τ</a:t>
            </a:r>
            <a:r>
              <a:rPr sz="1350" b="0" i="0" baseline="-25000">
                <a:solidFill>
                  <a:srgbClr val="0E1726"/>
                </a:solidFill>
                <a:latin typeface="Bahnschrift"/>
              </a:rPr>
              <a:t>p</a:t>
            </a:r>
            <a:r>
              <a:rPr sz="1350" b="0" i="0">
                <a:solidFill>
                  <a:srgbClr val="0E1726"/>
                </a:solidFill>
                <a:latin typeface="Bahnschrift"/>
              </a:rPr>
              <a:t> por corriente con τ₀ marcado; τ</a:t>
            </a:r>
            <a:r>
              <a:rPr sz="1350" b="0" i="0" baseline="-25000">
                <a:solidFill>
                  <a:srgbClr val="0E1726"/>
                </a:solidFill>
                <a:latin typeface="Bahnschrift"/>
              </a:rPr>
              <a:t>p</a:t>
            </a:r>
            <a:r>
              <a:rPr sz="1350" b="0" i="0">
                <a:solidFill>
                  <a:srgbClr val="0E1726"/>
                </a:solidFill>
                <a:latin typeface="Bahnschrift"/>
              </a:rPr>
              <a:t> contra el orden.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61487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27614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2715768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3FD9"/>
                </a:solidFill>
                <a:latin typeface="Bahnschrift SemiBold"/>
              </a:rPr>
              <a:t>Supuestos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3127248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Normalidad: gráfica de probabilidad y Anderson-Darling. Independencia: orden. Atípicos: causa.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877055"/>
            <a:ext cx="457200" cy="4572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3877055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3831335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3FD9"/>
                </a:solidFill>
                <a:latin typeface="Bahnschrift SemiBold"/>
              </a:rPr>
              <a:t>Prueba 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242816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n, ȳ, S, EE, t₀, valor P e IC. Salida literal de Minitab.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992624"/>
            <a:ext cx="457200" cy="45720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8640" y="49926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Bahnschrift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494690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D7263D"/>
                </a:solidFill>
                <a:latin typeface="Bahnschrift SemiBold"/>
              </a:rPr>
              <a:t>Decisión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19" y="5358384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IC del 95 % de μ</a:t>
            </a:r>
            <a:r>
              <a:rPr sz="1350" b="0" i="0" baseline="-25000">
                <a:solidFill>
                  <a:srgbClr val="0E1726"/>
                </a:solidFill>
                <a:latin typeface="Bahnschrift"/>
              </a:rPr>
              <a:t>k</a:t>
            </a:r>
            <a:r>
              <a:rPr sz="1350" b="0" i="0">
                <a:solidFill>
                  <a:srgbClr val="0E1726"/>
                </a:solidFill>
                <a:latin typeface="Bahnschrift"/>
              </a:rPr>
              <a:t> − τ</a:t>
            </a:r>
            <a:r>
              <a:rPr sz="1350" b="0" i="0" baseline="-25000">
                <a:solidFill>
                  <a:srgbClr val="0E1726"/>
                </a:solidFill>
                <a:latin typeface="Bahnschrift"/>
              </a:rPr>
              <a:t>0,k</a:t>
            </a:r>
            <a:r>
              <a:rPr sz="1350" b="0" i="0">
                <a:solidFill>
                  <a:srgbClr val="0E1726"/>
                </a:solidFill>
                <a:latin typeface="Bahnschrift"/>
              </a:rPr>
              <a:t> frente a ±10 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600200"/>
            <a:ext cx="5239512" cy="1051560"/>
          </a:xfrm>
          <a:prstGeom prst="roundRect">
            <a:avLst>
              <a:gd name="adj" fmla="val 6000"/>
            </a:avLst>
          </a:prstGeom>
          <a:solidFill>
            <a:srgbClr val="EF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83680" y="1691640"/>
            <a:ext cx="487375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0E1726"/>
                </a:solidFill>
                <a:latin typeface="Cambria Math"/>
              </a:rPr>
              <a:t>t₀ = (ȳ</a:t>
            </a:r>
            <a:r>
              <a:rPr sz="18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1800" b="0" i="0">
                <a:solidFill>
                  <a:srgbClr val="0E1726"/>
                </a:solidFill>
                <a:latin typeface="Cambria Math"/>
              </a:rPr>
              <a:t> − τ</a:t>
            </a:r>
            <a:r>
              <a:rPr sz="1800" b="0" i="0" baseline="-25000">
                <a:solidFill>
                  <a:srgbClr val="0E1726"/>
                </a:solidFill>
                <a:latin typeface="Cambria Math"/>
              </a:rPr>
              <a:t>0,k</a:t>
            </a:r>
            <a:r>
              <a:rPr sz="1800" b="0" i="0">
                <a:solidFill>
                  <a:srgbClr val="0E1726"/>
                </a:solidFill>
                <a:latin typeface="Cambria Math"/>
              </a:rPr>
              <a:t>) / (S</a:t>
            </a:r>
            <a:r>
              <a:rPr sz="18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1800" b="0" i="0">
                <a:solidFill>
                  <a:srgbClr val="0E1726"/>
                </a:solidFill>
                <a:latin typeface="Cambria Math"/>
              </a:rPr>
              <a:t>/√n)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0E1726"/>
                </a:solidFill>
                <a:latin typeface="Cambria Math"/>
              </a:rPr>
              <a:t>IC: (ȳ</a:t>
            </a:r>
            <a:r>
              <a:rPr sz="18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1800" b="0" i="0">
                <a:solidFill>
                  <a:srgbClr val="0E1726"/>
                </a:solidFill>
                <a:latin typeface="Cambria Math"/>
              </a:rPr>
              <a:t> − τ</a:t>
            </a:r>
            <a:r>
              <a:rPr sz="1800" b="0" i="0" baseline="-25000">
                <a:solidFill>
                  <a:srgbClr val="0E1726"/>
                </a:solidFill>
                <a:latin typeface="Cambria Math"/>
              </a:rPr>
              <a:t>0,k</a:t>
            </a:r>
            <a:r>
              <a:rPr sz="1800" b="0" i="0">
                <a:solidFill>
                  <a:srgbClr val="0E1726"/>
                </a:solidFill>
                <a:latin typeface="Cambria Math"/>
              </a:rPr>
              <a:t>) ± 2,306 · S</a:t>
            </a:r>
            <a:r>
              <a:rPr sz="1800" b="0" i="0" baseline="-25000">
                <a:solidFill>
                  <a:srgbClr val="0E1726"/>
                </a:solidFill>
                <a:latin typeface="Cambria Math"/>
              </a:rPr>
              <a:t>k</a:t>
            </a:r>
            <a:r>
              <a:rPr sz="1800" b="0" i="0">
                <a:solidFill>
                  <a:srgbClr val="0E1726"/>
                </a:solidFill>
                <a:latin typeface="Cambria Math"/>
              </a:rPr>
              <a:t>/√n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278892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10528" y="284378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8A5A"/>
                </a:solidFill>
                <a:latin typeface="Bahnschrift SemiBold"/>
              </a:rPr>
              <a:t>Conforme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3191256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E1726"/>
                </a:solidFill>
                <a:latin typeface="Bahnschrift"/>
              </a:rPr>
              <a:t>IC dentro de ±10 fs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74736" y="278892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84463" y="284378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7263D"/>
                </a:solidFill>
                <a:latin typeface="Bahnschrift SemiBold"/>
              </a:rPr>
              <a:t>Desviación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4463" y="3191256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E1726"/>
                </a:solidFill>
                <a:latin typeface="Bahnschrift"/>
              </a:rPr>
              <a:t>IC fuera de ±10 fs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48672" y="278892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058399" y="284378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E1726"/>
                </a:solidFill>
                <a:latin typeface="Bahnschrift SemiBold"/>
              </a:rPr>
              <a:t>No concluyente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399" y="3191256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E1726"/>
                </a:solidFill>
                <a:latin typeface="Bahnschrift"/>
              </a:rPr>
              <a:t>IC contiene el límite de 10 fs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400800" y="3840480"/>
          <a:ext cx="5239512" cy="1737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14400"/>
                <a:gridCol w="1417320"/>
                <a:gridCol w="1280160"/>
                <a:gridCol w="162763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ȳ − τ₀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IC del 95 %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¿Rechaza H₀?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Decisión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20 fs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16,2 a 23,8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Sí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Desviación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9 fs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5,2 a 12,8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Sí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No concluyente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6 fs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2,2 a 9,8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Sí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Conforme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3 fs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−0,8 a 6,8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0E1726"/>
                          </a:solidFill>
                          <a:latin typeface="Bahnschrift"/>
                        </a:rPr>
                        <a:t>Conforme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6400800" y="5669280"/>
            <a:ext cx="52395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F6B7A"/>
                </a:solidFill>
                <a:latin typeface="Bahnschrift"/>
              </a:rPr>
              <a:t>Ejemplos con n = 9 y S = 5 fs (semiancho ±3,8 fs). Rechazar H₀ dice que hay diferencia; el IC dice si supera 10 fs.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7 · MINITAB Y CALENDARIO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¿Con qué se calcula y cuándo se mide?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4739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Documentación de Minitab en español; protocolo, sección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5669280" cy="2743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0160"/>
                <a:gridCol w="43891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Para qué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Bahnschrift SemiBold"/>
                        </a:rPr>
                        <a:t>Minitab</a:t>
                      </a:r>
                    </a:p>
                  </a:txBody>
                  <a:tcPr marL="91440" marR="91440" marT="36576" marB="36576" anchor="ctr">
                    <a:solidFill>
                      <a:srgbClr val="0E172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Réplicas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Estadísticas › Potencia y tamaño de la muestra › t de 1 muestra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Sorteo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Calc › Datos aleatorios › Muestra de columnas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Normalidad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Gráfica › Gráfica de probabilidad · Prueba de normalidad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Prueba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1726"/>
                          </a:solidFill>
                          <a:latin typeface="Bahnschrift"/>
                        </a:rPr>
                        <a:t>Estadísticas › Estadísticas básicas › t de 1 muestra</a:t>
                      </a:r>
                    </a:p>
                  </a:txBody>
                  <a:tcPr marL="91440" marR="91440" marT="36576" marB="36576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572000"/>
            <a:ext cx="5669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Bahnschrift"/>
              </a:rPr>
              <a:t>Salida literal por corriente: </a:t>
            </a:r>
            <a:r>
              <a:rPr sz="1400" b="0" i="0">
                <a:solidFill>
                  <a:srgbClr val="5F6B7A"/>
                </a:solidFill>
                <a:latin typeface="Bahnschrift SemiBold"/>
              </a:rPr>
              <a:t>N, Media, Desv.Est., EE, IC 95 %, T, P</a:t>
            </a:r>
            <a:r>
              <a:rPr sz="1400" b="0" i="0">
                <a:solidFill>
                  <a:srgbClr val="5F6B7A"/>
                </a:solidFill>
                <a:latin typeface="Bahnschrift"/>
              </a:rPr>
              <a:t>, más la potencia lograda y las gráficas de supuestos.</a:t>
            </a:r>
          </a:p>
        </p:txBody>
      </p:sp>
      <p:sp>
        <p:nvSpPr>
          <p:cNvPr id="10" name="Oval 9"/>
          <p:cNvSpPr/>
          <p:nvPr/>
        </p:nvSpPr>
        <p:spPr>
          <a:xfrm>
            <a:off x="6675120" y="1691640"/>
            <a:ext cx="411480" cy="41148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269480" y="1600200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3FD9"/>
                </a:solidFill>
                <a:latin typeface="Bahnschrift SemiBold"/>
              </a:rPr>
              <a:t>Lun 26 – Mié 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01168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Días 1, 2 y 3: 9 trazas al día, 3 por corriente, orden sorteado</a:t>
            </a:r>
          </a:p>
        </p:txBody>
      </p:sp>
      <p:sp>
        <p:nvSpPr>
          <p:cNvPr id="13" name="Oval 12"/>
          <p:cNvSpPr/>
          <p:nvPr/>
        </p:nvSpPr>
        <p:spPr>
          <a:xfrm>
            <a:off x="6675120" y="2807208"/>
            <a:ext cx="411480" cy="41148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269480" y="2715768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D7263D"/>
                </a:solidFill>
                <a:latin typeface="Bahnschrift SemiBold"/>
              </a:rPr>
              <a:t>Jue 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127248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Reserva: reponer trazas, comprobar el montaje, copia de seguridad</a:t>
            </a:r>
          </a:p>
        </p:txBody>
      </p:sp>
      <p:sp>
        <p:nvSpPr>
          <p:cNvPr id="16" name="Oval 15"/>
          <p:cNvSpPr/>
          <p:nvPr/>
        </p:nvSpPr>
        <p:spPr>
          <a:xfrm>
            <a:off x="6675120" y="3922775"/>
            <a:ext cx="411480" cy="411480"/>
          </a:xfrm>
          <a:prstGeom prst="ellipse">
            <a:avLst/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69480" y="3831335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E1726"/>
                </a:solidFill>
                <a:latin typeface="Bahnschrift SemiBold"/>
              </a:rPr>
              <a:t>Vie 30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4242816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Desmontaje</a:t>
            </a:r>
          </a:p>
        </p:txBody>
      </p:sp>
      <p:sp>
        <p:nvSpPr>
          <p:cNvPr id="19" name="Oval 18"/>
          <p:cNvSpPr/>
          <p:nvPr/>
        </p:nvSpPr>
        <p:spPr>
          <a:xfrm>
            <a:off x="6675120" y="5038344"/>
            <a:ext cx="411480" cy="411480"/>
          </a:xfrm>
          <a:prstGeom prst="ellipse">
            <a:avLst/>
          </a:prstGeom>
          <a:solidFill>
            <a:srgbClr val="0E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269480" y="4946904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E1726"/>
                </a:solidFill>
                <a:latin typeface="Bahnschrift SemiBold"/>
              </a:rPr>
              <a:t>Nov · 12 dic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5358384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0E1726"/>
                </a:solidFill>
                <a:latin typeface="Bahnschrift"/>
              </a:rPr>
              <a:t>Análisis, informe ICONTEC y exposición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A99BFF"/>
                </a:solidFill>
                <a:latin typeface="Bahnschrift SemiBold"/>
              </a:rPr>
              <a:t>EN UNA PANTALLA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FFFFFF"/>
                </a:solidFill>
                <a:latin typeface="Bahnschrift SemiBold"/>
              </a:rPr>
              <a:t>¿Qué queda decidido?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2651760" cy="2834640"/>
          </a:xfrm>
          <a:prstGeom prst="roundRect">
            <a:avLst>
              <a:gd name="adj" fmla="val 6000"/>
            </a:avLst>
          </a:prstGeom>
          <a:solidFill>
            <a:srgbClr val="16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560320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D7263D"/>
                </a:solidFill>
                <a:latin typeface="Bahnschrift Semi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Bahnschrift SemiBold"/>
              </a:rPr>
              <a:t>Una prueba por corriente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69080"/>
            <a:ext cx="2194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C9D1DE"/>
                </a:solidFill>
                <a:latin typeface="Bahnschrift"/>
              </a:rPr>
              <a:t>H₀: μ</a:t>
            </a:r>
            <a:r>
              <a:rPr sz="1350" b="0" i="0" baseline="-25000">
                <a:solidFill>
                  <a:srgbClr val="C9D1DE"/>
                </a:solidFill>
                <a:latin typeface="Bahnschrift"/>
              </a:rPr>
              <a:t>k</a:t>
            </a:r>
            <a:r>
              <a:rPr sz="1350" b="0" i="0">
                <a:solidFill>
                  <a:srgbClr val="C9D1DE"/>
                </a:solidFill>
                <a:latin typeface="Bahnschrift"/>
              </a:rPr>
              <a:t> = τ</a:t>
            </a:r>
            <a:r>
              <a:rPr sz="1350" b="0" i="0" baseline="-25000">
                <a:solidFill>
                  <a:srgbClr val="C9D1DE"/>
                </a:solidFill>
                <a:latin typeface="Bahnschrift"/>
              </a:rPr>
              <a:t>0,k</a:t>
            </a:r>
            <a:r>
              <a:rPr sz="1350" b="0" i="0">
                <a:solidFill>
                  <a:srgbClr val="C9D1DE"/>
                </a:solidFill>
                <a:latin typeface="Bahnschrift"/>
              </a:rPr>
              <a:t> · dos colas · t de una muestra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2377440"/>
            <a:ext cx="2651760" cy="2834640"/>
          </a:xfrm>
          <a:prstGeom prst="roundRect">
            <a:avLst>
              <a:gd name="adj" fmla="val 6000"/>
            </a:avLst>
          </a:prstGeom>
          <a:solidFill>
            <a:srgbClr val="16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84448" y="2560320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D7263D"/>
                </a:solidFill>
                <a:latin typeface="Bahnschrift S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32004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Bahnschrift SemiBold"/>
              </a:rPr>
              <a:t>9 réplicas por corriente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4069080"/>
            <a:ext cx="2194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C9D1DE"/>
                </a:solidFill>
                <a:latin typeface="Bahnschrift"/>
              </a:rPr>
              <a:t>σ = 7,13 fs · δ = 10 fs · α = 0,05 · potencia 0,96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5" y="2377440"/>
            <a:ext cx="2651760" cy="2834640"/>
          </a:xfrm>
          <a:prstGeom prst="roundRect">
            <a:avLst>
              <a:gd name="adj" fmla="val 6000"/>
            </a:avLst>
          </a:prstGeom>
          <a:solidFill>
            <a:srgbClr val="16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91655" y="2560320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A99BFF"/>
                </a:solidFill>
                <a:latin typeface="Bahnschrift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5" y="32004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Bahnschrift SemiBold"/>
              </a:rPr>
              <a:t>Orden sorteado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5" y="4069080"/>
            <a:ext cx="2194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C9D1DE"/>
                </a:solidFill>
                <a:latin typeface="Bahnschrift"/>
              </a:rPr>
              <a:t>3 días × (3 + 3 + 3) · traza completa por réplica · descarte solo con causa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0263" y="2377440"/>
            <a:ext cx="2651760" cy="2834640"/>
          </a:xfrm>
          <a:prstGeom prst="roundRect">
            <a:avLst>
              <a:gd name="adj" fmla="val 6000"/>
            </a:avLst>
          </a:prstGeom>
          <a:solidFill>
            <a:srgbClr val="16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98863" y="2560320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A99BFF"/>
                </a:solidFill>
                <a:latin typeface="Bahnschrift Semi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3" y="32004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Bahnschrift SemiBold"/>
              </a:rPr>
              <a:t>Decisión con el 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3" y="4069080"/>
            <a:ext cx="2194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C9D1DE"/>
                </a:solidFill>
                <a:latin typeface="Bahnschrift"/>
              </a:rPr>
              <a:t>IC de μ</a:t>
            </a:r>
            <a:r>
              <a:rPr sz="1350" b="0" i="0" baseline="-25000">
                <a:solidFill>
                  <a:srgbClr val="C9D1DE"/>
                </a:solidFill>
                <a:latin typeface="Bahnschrift"/>
              </a:rPr>
              <a:t>k</a:t>
            </a:r>
            <a:r>
              <a:rPr sz="1350" b="0" i="0">
                <a:solidFill>
                  <a:srgbClr val="C9D1DE"/>
                </a:solidFill>
                <a:latin typeface="Bahnschrift"/>
              </a:rPr>
              <a:t> − τ</a:t>
            </a:r>
            <a:r>
              <a:rPr sz="1350" b="0" i="0" baseline="-25000">
                <a:solidFill>
                  <a:srgbClr val="C9D1DE"/>
                </a:solidFill>
                <a:latin typeface="Bahnschrift"/>
              </a:rPr>
              <a:t>0,k</a:t>
            </a:r>
            <a:r>
              <a:rPr sz="1350" b="0" i="0">
                <a:solidFill>
                  <a:srgbClr val="C9D1DE"/>
                </a:solidFill>
                <a:latin typeface="Bahnschrift"/>
              </a:rPr>
              <a:t> frente a ±10 fs: conforme, desviación o no concluyente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C9D1DE"/>
                </a:solidFill>
                <a:latin typeface="Bahnschrift Light"/>
              </a:rPr>
              <a:t>Pendiente: confirmar el brazo de 2 pasos y declarar la discrepancia de la hoja a 7 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3FD9"/>
                </a:solidFill>
                <a:latin typeface="Bahnschrift SemiBold"/>
              </a:rPr>
              <a:t>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0E1726"/>
                </a:solidFill>
                <a:latin typeface="Bahnschrift SemiBold"/>
              </a:rPr>
              <a:t>Referencias</a:t>
            </a:r>
          </a:p>
        </p:txBody>
      </p:sp>
      <p:pic>
        <p:nvPicPr>
          <p:cNvPr id="4" name="Picture 3" descr="ico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347472"/>
            <a:ext cx="868680" cy="3469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Protocolo de experimentación · Diseño de Experimentos Avanzados · UNAL 2026-II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Bahnschrift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91672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E1726"/>
                </a:solidFill>
                <a:latin typeface="Bahnschrift"/>
              </a:rPr>
              <a:t>MONTGOMERY, Douglas C. Diseño y análisis de experimentos. 2 ed. México: Limusa Wiley, 2004. Capítulo 2, Experimentos comparativos simples, p. 21-59.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E1726"/>
                </a:solidFill>
                <a:latin typeface="Bahnschrift"/>
              </a:rPr>
              <a:t>GUTIÉRREZ PULIDO, Humberto y DE LA VARA SALAZAR, Román. Análisis y diseño de experimentos. 2 ed. México: McGraw-Hill, 2008. Capítulo 2, p. 18-59.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E1726"/>
                </a:solidFill>
                <a:latin typeface="Bahnschrift"/>
              </a:rPr>
              <a:t>CALMAR LASER. Carmel CFL-05RFFUNC, serie 881139: hoja de pruebas de fábrica, sección 4, tablas 4 y 5. Documento técnico del equipo.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E1726"/>
                </a:solidFill>
                <a:latin typeface="Bahnschrift"/>
              </a:rPr>
              <a:t>CALMAR LASER. Carmel X-780: 780 nm High Power Fiber Based Femtosecond Laser. Hoja de datos, Rev. E, 2025.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E1726"/>
                </a:solidFill>
                <a:latin typeface="Bahnschrift"/>
              </a:rPr>
              <a:t>DIELS, Jean-Claude y RUDOLPH, Wolfgang. Ultrashort laser pulse phenomena. 2 ed. Burlington: Academic Press, 2006. Capítulo 9, p. 457-489.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E1726"/>
                </a:solidFill>
                <a:latin typeface="Bahnschrift"/>
              </a:rPr>
              <a:t>RODRÍGUEZ OCHOA, Juan Esteban y ZAPATA HENAO, Sebastián. Piloto del 24 de octubre: resultados, revisión del libro de cálculo y número de réplicas. Informe interno, 24 oct.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